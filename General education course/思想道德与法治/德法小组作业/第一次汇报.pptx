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59" r:id="rId4"/>
    <p:sldId id="291" r:id="rId5"/>
    <p:sldId id="292" r:id="rId6"/>
    <p:sldId id="295" r:id="rId7"/>
    <p:sldId id="294" r:id="rId8"/>
    <p:sldId id="293" r:id="rId9"/>
    <p:sldId id="265" r:id="rId10"/>
    <p:sldId id="267" r:id="rId11"/>
    <p:sldId id="269" r:id="rId12"/>
    <p:sldId id="271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4" r:id="rId23"/>
    <p:sldId id="285" r:id="rId24"/>
    <p:sldId id="289" r:id="rId25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 varScale="1">
        <p:scale>
          <a:sx n="88" d="100"/>
          <a:sy n="88" d="100"/>
        </p:scale>
        <p:origin x="69" y="23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t="679" b="820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20000">
                <a:schemeClr val="accent1">
                  <a:lumMod val="75000"/>
                </a:schemeClr>
              </a:gs>
              <a:gs pos="90000">
                <a:schemeClr val="accent1">
                  <a:lumMod val="75000"/>
                  <a:alpha val="0"/>
                </a:schemeClr>
              </a:gs>
            </a:gsLst>
            <a:lin ang="2700000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047750" y="1905000"/>
            <a:ext cx="6000750" cy="1905000"/>
          </a:xfrm>
          <a:prstGeom prst="rect">
            <a:avLst/>
          </a:prstGeom>
        </p:spPr>
        <p:txBody>
          <a:bodyPr anchor="b"/>
          <a:lstStyle>
            <a:lvl1pPr algn="l">
              <a:defRPr sz="6000" b="1" i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Presentation Title Goes Here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1047750" y="4171950"/>
            <a:ext cx="6000750" cy="4762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0" i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add subtitle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76275" y="5781674"/>
            <a:ext cx="1666875" cy="342900"/>
          </a:xfrm>
          <a:prstGeom prst="rect">
            <a:avLst/>
          </a:prstGeom>
        </p:spPr>
        <p:txBody>
          <a:bodyPr vert="horz" rtlCol="0" anchor="ctr"/>
          <a:lstStyle>
            <a:lvl1pPr marL="0" indent="0" algn="l">
              <a:lnSpc>
                <a:spcPct val="100000"/>
              </a:lnSpc>
              <a:buNone/>
              <a:defRPr lang="en-US" altLang="zh-CN" sz="1200" b="0" i="0" smtClean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Presenter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10001250" y="5781674"/>
            <a:ext cx="1514475" cy="342900"/>
          </a:xfrm>
          <a:prstGeom prst="rect">
            <a:avLst/>
          </a:prstGeom>
        </p:spPr>
        <p:txBody>
          <a:bodyPr vert="horz" rtlCol="0" anchor="ctr"/>
          <a:lstStyle>
            <a:lvl1pPr marL="0" indent="0" algn="r">
              <a:lnSpc>
                <a:spcPct val="100000"/>
              </a:lnSpc>
              <a:buNone/>
              <a:defRPr lang="en-US" altLang="zh-CN" sz="1200" b="0" i="0" smtClean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www.officeplus.cn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 hasCustomPrompt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43B38-FCD2-4D0A-90BC-740ACC77290F}" type="datetime1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2025/3/2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grpSp>
        <p:nvGrpSpPr>
          <p:cNvPr id="9" name="Group 8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Freeform: Shape 11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25000" r="8330" b="343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20000">
                <a:schemeClr val="accent1">
                  <a:lumMod val="75000"/>
                </a:schemeClr>
              </a:gs>
              <a:gs pos="90000">
                <a:schemeClr val="accent1">
                  <a:lumMod val="75000"/>
                  <a:alpha val="0"/>
                </a:schemeClr>
              </a:gs>
            </a:gsLst>
            <a:lin ang="10800000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096000" y="2476500"/>
            <a:ext cx="5334000" cy="857250"/>
          </a:xfrm>
          <a:prstGeom prst="rect">
            <a:avLst/>
          </a:prstGeom>
        </p:spPr>
        <p:txBody>
          <a:bodyPr anchor="b"/>
          <a:lstStyle>
            <a:lvl1pPr algn="r">
              <a:defRPr sz="3600" b="1" i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Click to add title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6096000" y="3429000"/>
            <a:ext cx="5334000" cy="952500"/>
          </a:xfrm>
          <a:prstGeom prst="rect">
            <a:avLst/>
          </a:prstGeom>
        </p:spPr>
        <p:txBody>
          <a:bodyPr anchor="t"/>
          <a:lstStyle>
            <a:lvl1pPr marL="0" indent="0" algn="r">
              <a:buNone/>
              <a:defRPr sz="1600" b="0" i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Click to add text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t="-1580" b="-79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2025/3/2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2025/3/2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679" b="820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20000">
                <a:schemeClr val="accent1">
                  <a:lumMod val="75000"/>
                </a:schemeClr>
              </a:gs>
              <a:gs pos="90000">
                <a:schemeClr val="accent1">
                  <a:lumMod val="75000"/>
                  <a:alpha val="0"/>
                </a:schemeClr>
              </a:gs>
            </a:gsLst>
            <a:lin ang="2700000"/>
            <a:tileRect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047750" y="1905000"/>
            <a:ext cx="6000750" cy="1905000"/>
          </a:xfrm>
          <a:prstGeom prst="rect">
            <a:avLst/>
          </a:prstGeom>
        </p:spPr>
        <p:txBody>
          <a:bodyPr anchor="b"/>
          <a:lstStyle>
            <a:lvl1pPr algn="l">
              <a:defRPr sz="6000" b="1" i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76275" y="5781674"/>
            <a:ext cx="1666875" cy="342900"/>
          </a:xfrm>
          <a:prstGeom prst="rect">
            <a:avLst/>
          </a:prstGeom>
        </p:spPr>
        <p:txBody>
          <a:bodyPr vert="horz" rtlCol="0" anchor="ctr"/>
          <a:lstStyle>
            <a:lvl1pPr marL="0" indent="0" algn="l">
              <a:lnSpc>
                <a:spcPct val="100000"/>
              </a:lnSpc>
              <a:buNone/>
              <a:defRPr lang="en-US" altLang="zh-CN" sz="1200" b="0" i="0" smtClean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Speaker name and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10001250" y="5781674"/>
            <a:ext cx="1514475" cy="342900"/>
          </a:xfrm>
          <a:prstGeom prst="rect">
            <a:avLst/>
          </a:prstGeom>
        </p:spPr>
        <p:txBody>
          <a:bodyPr vert="horz" rtlCol="0" anchor="ctr"/>
          <a:lstStyle>
            <a:lvl1pPr marL="0" indent="0" algn="r">
              <a:lnSpc>
                <a:spcPct val="100000"/>
              </a:lnSpc>
              <a:buNone/>
              <a:defRPr lang="en-US" altLang="zh-CN" sz="1200" b="0" i="0" smtClean="0">
                <a:ln>
                  <a:noFill/>
                </a:ln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 dirty="0"/>
              <a:t>OfficePLUS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2025/3/2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tags" Target="../tags/tag31.xml"/><Relationship Id="rId3" Type="http://schemas.openxmlformats.org/officeDocument/2006/relationships/tags" Target="../tags/tag16.xml"/><Relationship Id="rId21" Type="http://schemas.openxmlformats.org/officeDocument/2006/relationships/tags" Target="../tags/tag34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tags" Target="../tags/tag33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23" Type="http://schemas.openxmlformats.org/officeDocument/2006/relationships/slideLayout" Target="../slideLayouts/slideLayout5.xml"/><Relationship Id="rId10" Type="http://schemas.openxmlformats.org/officeDocument/2006/relationships/tags" Target="../tags/tag23.xml"/><Relationship Id="rId19" Type="http://schemas.openxmlformats.org/officeDocument/2006/relationships/tags" Target="../tags/tag32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tags" Target="../tags/tag47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10" Type="http://schemas.openxmlformats.org/officeDocument/2006/relationships/image" Target="../media/image16.png"/><Relationship Id="rId4" Type="http://schemas.openxmlformats.org/officeDocument/2006/relationships/tags" Target="../tags/tag48.xml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image" Target="../media/image20.png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../media/image19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18.jpeg"/><Relationship Id="rId5" Type="http://schemas.openxmlformats.org/officeDocument/2006/relationships/tags" Target="../tags/tag55.xml"/><Relationship Id="rId10" Type="http://schemas.openxmlformats.org/officeDocument/2006/relationships/image" Target="../media/image17.jpeg"/><Relationship Id="rId4" Type="http://schemas.openxmlformats.org/officeDocument/2006/relationships/tags" Target="../tags/tag54.xml"/><Relationship Id="rId9" Type="http://schemas.openxmlformats.org/officeDocument/2006/relationships/slideLayout" Target="../slideLayouts/slideLayout5.xml"/><Relationship Id="rId1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9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9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3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image" Target="../media/image36.jpe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image" Target="../media/image35.jpeg"/><Relationship Id="rId2" Type="http://schemas.openxmlformats.org/officeDocument/2006/relationships/tags" Target="../tags/tag65.xml"/><Relationship Id="rId16" Type="http://schemas.openxmlformats.org/officeDocument/2006/relationships/image" Target="../media/image34.jpe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slideLayout" Target="../slideLayouts/slideLayout5.xml"/><Relationship Id="rId10" Type="http://schemas.openxmlformats.org/officeDocument/2006/relationships/tags" Target="../tags/tag73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8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zh-CN" altLang="en-US" sz="5000" b="1" dirty="0"/>
              <a:t>人工智能的影响</a:t>
            </a:r>
            <a:br>
              <a:rPr lang="en-US" altLang="zh-CN" dirty="0"/>
            </a:br>
            <a:r>
              <a:rPr lang="zh-CN" altLang="en-US" sz="6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与机遇</a:t>
            </a:r>
            <a:endParaRPr lang="zh-CN" alt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61458" y="4156538"/>
            <a:ext cx="6000750" cy="476250"/>
          </a:xfrm>
        </p:spPr>
        <p:txBody>
          <a:bodyPr wrap="square">
            <a:normAutofit lnSpcReduction="10000"/>
          </a:bodyPr>
          <a:lstStyle/>
          <a:p>
            <a:r>
              <a:rPr lang="zh-CN" altLang="en-US" dirty="0"/>
              <a:t>拥抱智能科技，走向未来</a:t>
            </a:r>
            <a:endParaRPr lang="en-US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76275" y="5573486"/>
            <a:ext cx="2453368" cy="551088"/>
          </a:xfrm>
        </p:spPr>
        <p:txBody>
          <a:bodyPr wrap="square">
            <a:normAutofit/>
          </a:bodyPr>
          <a:lstStyle/>
          <a:p>
            <a:pPr lvl="0"/>
            <a:r>
              <a:rPr lang="en-US" altLang="zh-CN" sz="1400" dirty="0"/>
              <a:t>Presenter name</a:t>
            </a:r>
            <a:r>
              <a:rPr lang="zh-CN" altLang="en-US" sz="1400" dirty="0"/>
              <a:t>：张洛宾</a:t>
            </a:r>
            <a:endParaRPr lang="en-US" altLang="zh-CN" sz="14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10341428" y="5742214"/>
            <a:ext cx="996043" cy="382360"/>
          </a:xfrm>
        </p:spPr>
        <p:txBody>
          <a:bodyPr wrap="square">
            <a:noAutofit/>
          </a:bodyPr>
          <a:lstStyle/>
          <a:p>
            <a:pPr lvl="0"/>
            <a:r>
              <a:rPr lang="en-US" altLang="zh-CN" sz="1400" dirty="0"/>
              <a:t>Group 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>
            <p:custDataLst>
              <p:tags r:id="rId2"/>
            </p:custDataLst>
          </p:nvPr>
        </p:nvGrpSpPr>
        <p:grpSpPr>
          <a:xfrm>
            <a:off x="747485" y="1150565"/>
            <a:ext cx="11148839" cy="4418632"/>
            <a:chOff x="747485" y="1150565"/>
            <a:chExt cx="11148839" cy="4418632"/>
          </a:xfrm>
        </p:grpSpPr>
        <p:grpSp>
          <p:nvGrpSpPr>
            <p:cNvPr id="23" name="Group 22"/>
            <p:cNvGrpSpPr/>
            <p:nvPr/>
          </p:nvGrpSpPr>
          <p:grpSpPr>
            <a:xfrm>
              <a:off x="4867200" y="1150565"/>
              <a:ext cx="2444900" cy="830997"/>
              <a:chOff x="4867200" y="1150565"/>
              <a:chExt cx="2444900" cy="830997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4867200" y="1150565"/>
                <a:ext cx="244490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en-US" altLang="zh-CN" sz="4800" b="1" dirty="0">
                    <a:solidFill>
                      <a:schemeClr val="accent1"/>
                    </a:solidFill>
                  </a:rPr>
                  <a:t>Agenda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47485" y="3528562"/>
              <a:ext cx="3145000" cy="2039417"/>
              <a:chOff x="747485" y="3531937"/>
              <a:chExt cx="3145000" cy="2039417"/>
            </a:xfrm>
          </p:grpSpPr>
          <p:grpSp>
            <p:nvGrpSpPr>
              <p:cNvPr id="43" name="Group 42"/>
              <p:cNvGrpSpPr/>
              <p:nvPr/>
            </p:nvGrpSpPr>
            <p:grpSpPr>
              <a:xfrm>
                <a:off x="747485" y="4517434"/>
                <a:ext cx="2387600" cy="1053920"/>
                <a:chOff x="660401" y="4101964"/>
                <a:chExt cx="2387600" cy="1053920"/>
              </a:xfrm>
            </p:grpSpPr>
            <p:sp>
              <p:nvSpPr>
                <p:cNvPr id="45" name="Rectangle 44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451050" y="4101964"/>
                  <a:ext cx="1449216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AI时代的到来</a:t>
                  </a:r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660401" y="4736501"/>
                  <a:ext cx="2387600" cy="41938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4" name="Rectangle 43"/>
              <p:cNvSpPr/>
              <p:nvPr>
                <p:custDataLst>
                  <p:tags r:id="rId9"/>
                </p:custDataLst>
              </p:nvPr>
            </p:nvSpPr>
            <p:spPr>
              <a:xfrm>
                <a:off x="1504884" y="3531937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01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2906584" y="3243327"/>
              <a:ext cx="3451736" cy="1812519"/>
              <a:chOff x="3513086" y="3191804"/>
              <a:chExt cx="3451736" cy="1812519"/>
            </a:xfrm>
          </p:grpSpPr>
          <p:grpSp>
            <p:nvGrpSpPr>
              <p:cNvPr id="39" name="Group 38"/>
              <p:cNvGrpSpPr/>
              <p:nvPr/>
            </p:nvGrpSpPr>
            <p:grpSpPr>
              <a:xfrm>
                <a:off x="3513086" y="4160204"/>
                <a:ext cx="3451736" cy="844119"/>
                <a:chOff x="660401" y="4311765"/>
                <a:chExt cx="3451736" cy="844119"/>
              </a:xfrm>
            </p:grpSpPr>
            <p:sp>
              <p:nvSpPr>
                <p:cNvPr id="41" name="Rectangle 40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51051" y="4311765"/>
                  <a:ext cx="2661086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大学生在AI时代的成长机遇</a:t>
                  </a:r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660401" y="4736501"/>
                  <a:ext cx="2387600" cy="41938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0" name="Rectangle 39"/>
              <p:cNvSpPr/>
              <p:nvPr>
                <p:custDataLst>
                  <p:tags r:id="rId7"/>
                </p:custDataLst>
              </p:nvPr>
            </p:nvSpPr>
            <p:spPr>
              <a:xfrm>
                <a:off x="4279901" y="3191804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02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5065684" y="3618745"/>
              <a:ext cx="3808833" cy="1950452"/>
              <a:chOff x="747485" y="3622120"/>
              <a:chExt cx="3808833" cy="1950452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747485" y="4633667"/>
                <a:ext cx="3808833" cy="938905"/>
                <a:chOff x="660401" y="4218197"/>
                <a:chExt cx="3808833" cy="938905"/>
              </a:xfrm>
            </p:grpSpPr>
            <p:sp>
              <p:nvSpPr>
                <p:cNvPr id="37" name="Rectangle 36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994096" y="4218197"/>
                  <a:ext cx="2475138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民族复兴与AI时代的结合</a:t>
                  </a:r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6" name="Rectangle 35"/>
              <p:cNvSpPr/>
              <p:nvPr>
                <p:custDataLst>
                  <p:tags r:id="rId5"/>
                </p:custDataLst>
              </p:nvPr>
            </p:nvSpPr>
            <p:spPr>
              <a:xfrm>
                <a:off x="2081181" y="3622120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03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7224783" y="2911717"/>
              <a:ext cx="4671541" cy="2145347"/>
              <a:chOff x="3513086" y="2860194"/>
              <a:chExt cx="4671541" cy="2145347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3513086" y="3788731"/>
                <a:ext cx="4671541" cy="1216810"/>
                <a:chOff x="660401" y="3940292"/>
                <a:chExt cx="4671541" cy="1216810"/>
              </a:xfrm>
            </p:grpSpPr>
            <p:sp>
              <p:nvSpPr>
                <p:cNvPr id="33" name="Rectangle 32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625698" y="3940292"/>
                  <a:ext cx="370624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en-US" altLang="zh-CN" sz="1600" b="1" dirty="0">
                      <a:solidFill>
                        <a:schemeClr val="accent1"/>
                      </a:solidFill>
                    </a:rPr>
                    <a:t>AI</a:t>
                  </a: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时代大学生如何为民族复兴贡献力量</a:t>
                  </a:r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2" name="Rectangle 31"/>
              <p:cNvSpPr/>
              <p:nvPr>
                <p:custDataLst>
                  <p:tags r:id="rId3"/>
                </p:custDataLst>
              </p:nvPr>
            </p:nvSpPr>
            <p:spPr>
              <a:xfrm>
                <a:off x="4478383" y="2860194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04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93838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48" name="Group 47"/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50" name="Rectangle 49"/>
                <p:cNvSpPr/>
                <p:nvPr/>
              </p:nvSpPr>
              <p:spPr>
                <a:xfrm>
                  <a:off x="660400" y="4334130"/>
                  <a:ext cx="21817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endParaRPr kumimoji="1" lang="zh-CN" altLang="en-US" sz="16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endParaRPr kumimoji="1"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9" name="Rectangle 48"/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kumimoji="1" lang="en-US" altLang="zh-CN" sz="5400" b="1" dirty="0">
                  <a:solidFill>
                    <a:schemeClr val="tx2"/>
                  </a:solidFill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altLang="zh-CN" sz="4000" dirty="0"/>
              <a:t>01.AI</a:t>
            </a:r>
            <a:r>
              <a:rPr lang="zh-CN" altLang="en-US" sz="4000" dirty="0"/>
              <a:t>时代的到来</a:t>
            </a:r>
            <a:endParaRPr lang="en-US" altLang="zh-CN" sz="4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en-US" altLang="zh-CN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era of AI has arrived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3594085" y="1885513"/>
            <a:ext cx="4802220" cy="4670074"/>
            <a:chOff x="5962278" y="1325571"/>
            <a:chExt cx="4802220" cy="4670074"/>
          </a:xfrm>
        </p:grpSpPr>
        <p:sp>
          <p:nvSpPr>
            <p:cNvPr id="3" name="矩形 2"/>
            <p:cNvSpPr/>
            <p:nvPr>
              <p:custDataLst>
                <p:tags r:id="rId3"/>
              </p:custDataLst>
            </p:nvPr>
          </p:nvSpPr>
          <p:spPr>
            <a:xfrm>
              <a:off x="5962278" y="1344298"/>
              <a:ext cx="2279168" cy="2200926"/>
            </a:xfrm>
            <a:prstGeom prst="rect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                   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6911035" y="1533581"/>
              <a:ext cx="381653" cy="381651"/>
              <a:chOff x="7934736" y="-1331146"/>
              <a:chExt cx="672233" cy="672230"/>
            </a:xfrm>
          </p:grpSpPr>
          <p:sp>
            <p:nvSpPr>
              <p:cNvPr id="14" name="椭圆 13"/>
              <p:cNvSpPr/>
              <p:nvPr>
                <p:custDataLst>
                  <p:tags r:id="rId21"/>
                </p:custDataLst>
              </p:nvPr>
            </p:nvSpPr>
            <p:spPr>
              <a:xfrm>
                <a:off x="7934736" y="-1331146"/>
                <a:ext cx="672233" cy="672230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6" name="任意多边形 15"/>
              <p:cNvSpPr/>
              <p:nvPr>
                <p:custDataLst>
                  <p:tags r:id="rId22"/>
                </p:custDataLst>
              </p:nvPr>
            </p:nvSpPr>
            <p:spPr bwMode="auto">
              <a:xfrm>
                <a:off x="8110781" y="-1170495"/>
                <a:ext cx="320144" cy="350928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26" name="文本框 25"/>
            <p:cNvSpPr txBox="1"/>
            <p:nvPr>
              <p:custDataLst>
                <p:tags r:id="rId4"/>
              </p:custDataLst>
            </p:nvPr>
          </p:nvSpPr>
          <p:spPr>
            <a:xfrm>
              <a:off x="6056764" y="2535839"/>
              <a:ext cx="2090196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AI技术在疾病诊断领域的应用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5"/>
              </p:custDataLst>
            </p:nvPr>
          </p:nvSpPr>
          <p:spPr>
            <a:xfrm>
              <a:off x="6405380" y="2183454"/>
              <a:ext cx="1392965" cy="338554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医疗诊断</a:t>
              </a:r>
            </a:p>
          </p:txBody>
        </p:sp>
        <p:sp>
          <p:nvSpPr>
            <p:cNvPr id="28" name="矩形 27"/>
            <p:cNvSpPr/>
            <p:nvPr>
              <p:custDataLst>
                <p:tags r:id="rId6"/>
              </p:custDataLst>
            </p:nvPr>
          </p:nvSpPr>
          <p:spPr>
            <a:xfrm>
              <a:off x="8485330" y="1325571"/>
              <a:ext cx="2279168" cy="2200926"/>
            </a:xfrm>
            <a:prstGeom prst="rect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                   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7"/>
              </p:custDataLst>
            </p:nvPr>
          </p:nvSpPr>
          <p:spPr>
            <a:xfrm>
              <a:off x="8579816" y="2535839"/>
              <a:ext cx="2090196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AI技术在城市管理中的应用</a:t>
              </a:r>
            </a:p>
          </p:txBody>
        </p:sp>
        <p:sp>
          <p:nvSpPr>
            <p:cNvPr id="33" name="文本框 32"/>
            <p:cNvSpPr txBox="1"/>
            <p:nvPr>
              <p:custDataLst>
                <p:tags r:id="rId8"/>
              </p:custDataLst>
            </p:nvPr>
          </p:nvSpPr>
          <p:spPr>
            <a:xfrm>
              <a:off x="8928432" y="2183454"/>
              <a:ext cx="1392965" cy="338554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智能交通</a:t>
              </a: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9434087" y="1533580"/>
              <a:ext cx="381653" cy="381651"/>
              <a:chOff x="9881791" y="1970102"/>
              <a:chExt cx="519065" cy="519062"/>
            </a:xfrm>
          </p:grpSpPr>
          <p:sp>
            <p:nvSpPr>
              <p:cNvPr id="24" name="椭圆 23"/>
              <p:cNvSpPr/>
              <p:nvPr>
                <p:custDataLst>
                  <p:tags r:id="rId19"/>
                </p:custDataLst>
              </p:nvPr>
            </p:nvSpPr>
            <p:spPr>
              <a:xfrm>
                <a:off x="9881791" y="1970102"/>
                <a:ext cx="519065" cy="519062"/>
              </a:xfrm>
              <a:prstGeom prst="ellipse">
                <a:avLst/>
              </a:prstGeom>
              <a:solidFill>
                <a:schemeClr val="accent5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5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5" name="任意多边形 24"/>
              <p:cNvSpPr/>
              <p:nvPr>
                <p:custDataLst>
                  <p:tags r:id="rId20"/>
                </p:custDataLst>
              </p:nvPr>
            </p:nvSpPr>
            <p:spPr bwMode="auto">
              <a:xfrm>
                <a:off x="9996629" y="2115708"/>
                <a:ext cx="289387" cy="237711"/>
              </a:xfrm>
              <a:custGeom>
                <a:avLst/>
                <a:gdLst>
                  <a:gd name="connsiteX0" fmla="*/ 96626 w 533400"/>
                  <a:gd name="connsiteY0" fmla="*/ 133971 h 438150"/>
                  <a:gd name="connsiteX1" fmla="*/ 125201 w 533400"/>
                  <a:gd name="connsiteY1" fmla="*/ 286371 h 438150"/>
                  <a:gd name="connsiteX2" fmla="*/ 410951 w 533400"/>
                  <a:gd name="connsiteY2" fmla="*/ 286371 h 438150"/>
                  <a:gd name="connsiteX3" fmla="*/ 439526 w 533400"/>
                  <a:gd name="connsiteY3" fmla="*/ 133971 h 438150"/>
                  <a:gd name="connsiteX4" fmla="*/ 534776 w 533400"/>
                  <a:gd name="connsiteY4" fmla="*/ 133971 h 438150"/>
                  <a:gd name="connsiteX5" fmla="*/ 515726 w 533400"/>
                  <a:gd name="connsiteY5" fmla="*/ 381621 h 438150"/>
                  <a:gd name="connsiteX6" fmla="*/ 458576 w 533400"/>
                  <a:gd name="connsiteY6" fmla="*/ 381621 h 438150"/>
                  <a:gd name="connsiteX7" fmla="*/ 458576 w 533400"/>
                  <a:gd name="connsiteY7" fmla="*/ 438771 h 438150"/>
                  <a:gd name="connsiteX8" fmla="*/ 439526 w 533400"/>
                  <a:gd name="connsiteY8" fmla="*/ 438771 h 438150"/>
                  <a:gd name="connsiteX9" fmla="*/ 439526 w 533400"/>
                  <a:gd name="connsiteY9" fmla="*/ 381621 h 438150"/>
                  <a:gd name="connsiteX10" fmla="*/ 96626 w 533400"/>
                  <a:gd name="connsiteY10" fmla="*/ 381621 h 438150"/>
                  <a:gd name="connsiteX11" fmla="*/ 96626 w 533400"/>
                  <a:gd name="connsiteY11" fmla="*/ 438771 h 438150"/>
                  <a:gd name="connsiteX12" fmla="*/ 77576 w 533400"/>
                  <a:gd name="connsiteY12" fmla="*/ 438771 h 438150"/>
                  <a:gd name="connsiteX13" fmla="*/ 77576 w 533400"/>
                  <a:gd name="connsiteY13" fmla="*/ 381621 h 438150"/>
                  <a:gd name="connsiteX14" fmla="*/ 20426 w 533400"/>
                  <a:gd name="connsiteY14" fmla="*/ 381621 h 438150"/>
                  <a:gd name="connsiteX15" fmla="*/ 1376 w 533400"/>
                  <a:gd name="connsiteY15" fmla="*/ 133971 h 438150"/>
                  <a:gd name="connsiteX16" fmla="*/ 96626 w 533400"/>
                  <a:gd name="connsiteY16" fmla="*/ 133971 h 438150"/>
                  <a:gd name="connsiteX17" fmla="*/ 487151 w 533400"/>
                  <a:gd name="connsiteY17" fmla="*/ 621 h 438150"/>
                  <a:gd name="connsiteX18" fmla="*/ 487151 w 533400"/>
                  <a:gd name="connsiteY18" fmla="*/ 114921 h 438150"/>
                  <a:gd name="connsiteX19" fmla="*/ 425239 w 533400"/>
                  <a:gd name="connsiteY19" fmla="*/ 114921 h 438150"/>
                  <a:gd name="connsiteX20" fmla="*/ 396664 w 533400"/>
                  <a:gd name="connsiteY20" fmla="*/ 267321 h 438150"/>
                  <a:gd name="connsiteX21" fmla="*/ 139489 w 533400"/>
                  <a:gd name="connsiteY21" fmla="*/ 267321 h 438150"/>
                  <a:gd name="connsiteX22" fmla="*/ 110914 w 533400"/>
                  <a:gd name="connsiteY22" fmla="*/ 114921 h 438150"/>
                  <a:gd name="connsiteX23" fmla="*/ 58526 w 533400"/>
                  <a:gd name="connsiteY23" fmla="*/ 114921 h 438150"/>
                  <a:gd name="connsiteX24" fmla="*/ 58526 w 533400"/>
                  <a:gd name="connsiteY24" fmla="*/ 621 h 438150"/>
                  <a:gd name="connsiteX25" fmla="*/ 487151 w 533400"/>
                  <a:gd name="connsiteY2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33400" h="438150">
                    <a:moveTo>
                      <a:pt x="96626" y="133971"/>
                    </a:moveTo>
                    <a:lnTo>
                      <a:pt x="125201" y="286371"/>
                    </a:lnTo>
                    <a:lnTo>
                      <a:pt x="410951" y="286371"/>
                    </a:lnTo>
                    <a:lnTo>
                      <a:pt x="439526" y="133971"/>
                    </a:lnTo>
                    <a:lnTo>
                      <a:pt x="534776" y="133971"/>
                    </a:lnTo>
                    <a:lnTo>
                      <a:pt x="515726" y="381621"/>
                    </a:lnTo>
                    <a:lnTo>
                      <a:pt x="458576" y="381621"/>
                    </a:lnTo>
                    <a:lnTo>
                      <a:pt x="458576" y="438771"/>
                    </a:lnTo>
                    <a:lnTo>
                      <a:pt x="439526" y="438771"/>
                    </a:lnTo>
                    <a:lnTo>
                      <a:pt x="439526" y="381621"/>
                    </a:lnTo>
                    <a:lnTo>
                      <a:pt x="96626" y="381621"/>
                    </a:lnTo>
                    <a:lnTo>
                      <a:pt x="96626" y="438771"/>
                    </a:lnTo>
                    <a:lnTo>
                      <a:pt x="77576" y="438771"/>
                    </a:lnTo>
                    <a:lnTo>
                      <a:pt x="77576" y="381621"/>
                    </a:lnTo>
                    <a:lnTo>
                      <a:pt x="20426" y="381621"/>
                    </a:lnTo>
                    <a:lnTo>
                      <a:pt x="1376" y="133971"/>
                    </a:lnTo>
                    <a:lnTo>
                      <a:pt x="96626" y="133971"/>
                    </a:lnTo>
                    <a:close/>
                    <a:moveTo>
                      <a:pt x="487151" y="621"/>
                    </a:moveTo>
                    <a:lnTo>
                      <a:pt x="487151" y="114921"/>
                    </a:lnTo>
                    <a:lnTo>
                      <a:pt x="425239" y="114921"/>
                    </a:lnTo>
                    <a:lnTo>
                      <a:pt x="396664" y="267321"/>
                    </a:lnTo>
                    <a:lnTo>
                      <a:pt x="139489" y="267321"/>
                    </a:lnTo>
                    <a:lnTo>
                      <a:pt x="110914" y="114921"/>
                    </a:lnTo>
                    <a:lnTo>
                      <a:pt x="58526" y="114921"/>
                    </a:lnTo>
                    <a:lnTo>
                      <a:pt x="58526" y="621"/>
                    </a:lnTo>
                    <a:lnTo>
                      <a:pt x="487151" y="62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sp>
          <p:nvSpPr>
            <p:cNvPr id="34" name="矩形 33"/>
            <p:cNvSpPr/>
            <p:nvPr>
              <p:custDataLst>
                <p:tags r:id="rId9"/>
              </p:custDataLst>
            </p:nvPr>
          </p:nvSpPr>
          <p:spPr>
            <a:xfrm>
              <a:off x="5962278" y="3794719"/>
              <a:ext cx="2279168" cy="2200926"/>
            </a:xfrm>
            <a:prstGeom prst="rect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                   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0"/>
              </p:custDataLst>
            </p:nvPr>
          </p:nvSpPr>
          <p:spPr>
            <a:xfrm>
              <a:off x="6056764" y="5004987"/>
              <a:ext cx="2090196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AI技术在农业种植与养殖中的应用</a:t>
              </a:r>
            </a:p>
          </p:txBody>
        </p:sp>
        <p:sp>
          <p:nvSpPr>
            <p:cNvPr id="39" name="文本框 38"/>
            <p:cNvSpPr txBox="1"/>
            <p:nvPr>
              <p:custDataLst>
                <p:tags r:id="rId11"/>
              </p:custDataLst>
            </p:nvPr>
          </p:nvSpPr>
          <p:spPr>
            <a:xfrm>
              <a:off x="6405380" y="4652602"/>
              <a:ext cx="1392965" cy="338554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农业生产</a:t>
              </a:r>
            </a:p>
          </p:txBody>
        </p:sp>
        <p:sp>
          <p:nvSpPr>
            <p:cNvPr id="40" name="矩形 39"/>
            <p:cNvSpPr/>
            <p:nvPr>
              <p:custDataLst>
                <p:tags r:id="rId12"/>
              </p:custDataLst>
            </p:nvPr>
          </p:nvSpPr>
          <p:spPr>
            <a:xfrm>
              <a:off x="8485330" y="3794719"/>
              <a:ext cx="2279168" cy="2200926"/>
            </a:xfrm>
            <a:prstGeom prst="rect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                    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3"/>
              </p:custDataLst>
            </p:nvPr>
          </p:nvSpPr>
          <p:spPr>
            <a:xfrm>
              <a:off x="8579816" y="5004987"/>
              <a:ext cx="2090196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AI技术在教育和教育评估中的应用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14"/>
              </p:custDataLst>
            </p:nvPr>
          </p:nvSpPr>
          <p:spPr>
            <a:xfrm>
              <a:off x="8928432" y="4652602"/>
              <a:ext cx="1392965" cy="338554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教育教学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913412" y="4002729"/>
              <a:ext cx="381653" cy="381651"/>
              <a:chOff x="5759883" y="-1331146"/>
              <a:chExt cx="672233" cy="672230"/>
            </a:xfrm>
          </p:grpSpPr>
          <p:sp>
            <p:nvSpPr>
              <p:cNvPr id="18" name="椭圆 17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59883" y="-1331146"/>
                <a:ext cx="672233" cy="672230"/>
              </a:xfrm>
              <a:prstGeom prst="ellipse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19" name="任意多边形 18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5925724" y="-1150838"/>
                <a:ext cx="324103" cy="295166"/>
              </a:xfrm>
              <a:custGeom>
                <a:avLst/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86396 h 485775"/>
                  <a:gd name="connsiteX10" fmla="*/ 1504 w 533400"/>
                  <a:gd name="connsiteY10" fmla="*/ 486396 h 485775"/>
                  <a:gd name="connsiteX11" fmla="*/ 1504 w 533400"/>
                  <a:gd name="connsiteY11" fmla="*/ 229221 h 485775"/>
                  <a:gd name="connsiteX12" fmla="*/ 125329 w 533400"/>
                  <a:gd name="connsiteY12" fmla="*/ 229221 h 485775"/>
                  <a:gd name="connsiteX13" fmla="*/ 411079 w 533400"/>
                  <a:gd name="connsiteY13" fmla="*/ 621 h 485775"/>
                  <a:gd name="connsiteX14" fmla="*/ 411079 w 533400"/>
                  <a:gd name="connsiteY14" fmla="*/ 114921 h 485775"/>
                  <a:gd name="connsiteX15" fmla="*/ 534904 w 533400"/>
                  <a:gd name="connsiteY15" fmla="*/ 114921 h 485775"/>
                  <a:gd name="connsiteX16" fmla="*/ 534904 w 533400"/>
                  <a:gd name="connsiteY16" fmla="*/ 210171 h 485775"/>
                  <a:gd name="connsiteX17" fmla="*/ 1504 w 533400"/>
                  <a:gd name="connsiteY17" fmla="*/ 210171 h 485775"/>
                  <a:gd name="connsiteX18" fmla="*/ 1504 w 533400"/>
                  <a:gd name="connsiteY18" fmla="*/ 114921 h 485775"/>
                  <a:gd name="connsiteX19" fmla="*/ 125329 w 533400"/>
                  <a:gd name="connsiteY19" fmla="*/ 114921 h 485775"/>
                  <a:gd name="connsiteX20" fmla="*/ 125329 w 533400"/>
                  <a:gd name="connsiteY20" fmla="*/ 621 h 485775"/>
                  <a:gd name="connsiteX21" fmla="*/ 411079 w 533400"/>
                  <a:gd name="connsiteY21" fmla="*/ 621 h 485775"/>
                  <a:gd name="connsiteX22" fmla="*/ 392029 w 533400"/>
                  <a:gd name="connsiteY22" fmla="*/ 19671 h 485775"/>
                  <a:gd name="connsiteX23" fmla="*/ 144379 w 533400"/>
                  <a:gd name="connsiteY23" fmla="*/ 19671 h 485775"/>
                  <a:gd name="connsiteX24" fmla="*/ 144379 w 533400"/>
                  <a:gd name="connsiteY24" fmla="*/ 114921 h 485775"/>
                  <a:gd name="connsiteX25" fmla="*/ 392029 w 533400"/>
                  <a:gd name="connsiteY25" fmla="*/ 114921 h 485775"/>
                  <a:gd name="connsiteX26" fmla="*/ 392029 w 533400"/>
                  <a:gd name="connsiteY26" fmla="*/ 19671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86396"/>
                    </a:lnTo>
                    <a:lnTo>
                      <a:pt x="1504" y="486396"/>
                    </a:ln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411079" y="621"/>
                    </a:moveTo>
                    <a:lnTo>
                      <a:pt x="411079" y="114921"/>
                    </a:lnTo>
                    <a:lnTo>
                      <a:pt x="534904" y="114921"/>
                    </a:ln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14921"/>
                    </a:lnTo>
                    <a:lnTo>
                      <a:pt x="125329" y="114921"/>
                    </a:lnTo>
                    <a:lnTo>
                      <a:pt x="125329" y="621"/>
                    </a:lnTo>
                    <a:lnTo>
                      <a:pt x="411079" y="621"/>
                    </a:lnTo>
                    <a:close/>
                    <a:moveTo>
                      <a:pt x="392029" y="19671"/>
                    </a:moveTo>
                    <a:lnTo>
                      <a:pt x="144379" y="1967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1967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9434087" y="3995529"/>
              <a:ext cx="395171" cy="395170"/>
              <a:chOff x="8185833" y="4590030"/>
              <a:chExt cx="537451" cy="537449"/>
            </a:xfrm>
          </p:grpSpPr>
          <p:sp>
            <p:nvSpPr>
              <p:cNvPr id="21" name="椭圆 20"/>
              <p:cNvSpPr/>
              <p:nvPr>
                <p:custDataLst>
                  <p:tags r:id="rId15"/>
                </p:custDataLst>
              </p:nvPr>
            </p:nvSpPr>
            <p:spPr>
              <a:xfrm>
                <a:off x="8185833" y="4590030"/>
                <a:ext cx="537451" cy="537449"/>
              </a:xfrm>
              <a:prstGeom prst="ellipse">
                <a:avLst/>
              </a:prstGeom>
              <a:solidFill>
                <a:schemeClr val="accent4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4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22" name="任意多边形 21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8344353" y="4722092"/>
                <a:ext cx="220410" cy="268326"/>
              </a:xfrm>
              <a:custGeom>
                <a:avLst/>
                <a:gdLst>
                  <a:gd name="connsiteX0" fmla="*/ 286102 w 438150"/>
                  <a:gd name="connsiteY0" fmla="*/ 621 h 533400"/>
                  <a:gd name="connsiteX1" fmla="*/ 286102 w 438150"/>
                  <a:gd name="connsiteY1" fmla="*/ 153021 h 533400"/>
                  <a:gd name="connsiteX2" fmla="*/ 438502 w 438150"/>
                  <a:gd name="connsiteY2" fmla="*/ 153021 h 533400"/>
                  <a:gd name="connsiteX3" fmla="*/ 438502 w 438150"/>
                  <a:gd name="connsiteY3" fmla="*/ 534021 h 533400"/>
                  <a:gd name="connsiteX4" fmla="*/ 352 w 438150"/>
                  <a:gd name="connsiteY4" fmla="*/ 534021 h 533400"/>
                  <a:gd name="connsiteX5" fmla="*/ 352 w 438150"/>
                  <a:gd name="connsiteY5" fmla="*/ 621 h 533400"/>
                  <a:gd name="connsiteX6" fmla="*/ 286102 w 438150"/>
                  <a:gd name="connsiteY6" fmla="*/ 621 h 533400"/>
                  <a:gd name="connsiteX7" fmla="*/ 248002 w 438150"/>
                  <a:gd name="connsiteY7" fmla="*/ 200646 h 533400"/>
                  <a:gd name="connsiteX8" fmla="*/ 152752 w 438150"/>
                  <a:gd name="connsiteY8" fmla="*/ 200646 h 533400"/>
                  <a:gd name="connsiteX9" fmla="*/ 152752 w 438150"/>
                  <a:gd name="connsiteY9" fmla="*/ 410196 h 533400"/>
                  <a:gd name="connsiteX10" fmla="*/ 171802 w 438150"/>
                  <a:gd name="connsiteY10" fmla="*/ 410196 h 533400"/>
                  <a:gd name="connsiteX11" fmla="*/ 171802 w 438150"/>
                  <a:gd name="connsiteY11" fmla="*/ 314946 h 533400"/>
                  <a:gd name="connsiteX12" fmla="*/ 248002 w 438150"/>
                  <a:gd name="connsiteY12" fmla="*/ 314946 h 533400"/>
                  <a:gd name="connsiteX13" fmla="*/ 250098 w 438150"/>
                  <a:gd name="connsiteY13" fmla="*/ 314946 h 533400"/>
                  <a:gd name="connsiteX14" fmla="*/ 305152 w 438150"/>
                  <a:gd name="connsiteY14" fmla="*/ 257796 h 533400"/>
                  <a:gd name="connsiteX15" fmla="*/ 248002 w 438150"/>
                  <a:gd name="connsiteY15" fmla="*/ 200646 h 533400"/>
                  <a:gd name="connsiteX16" fmla="*/ 248002 w 438150"/>
                  <a:gd name="connsiteY16" fmla="*/ 200646 h 533400"/>
                  <a:gd name="connsiteX17" fmla="*/ 248002 w 438150"/>
                  <a:gd name="connsiteY17" fmla="*/ 219696 h 533400"/>
                  <a:gd name="connsiteX18" fmla="*/ 286102 w 438150"/>
                  <a:gd name="connsiteY18" fmla="*/ 257796 h 533400"/>
                  <a:gd name="connsiteX19" fmla="*/ 248002 w 438150"/>
                  <a:gd name="connsiteY19" fmla="*/ 295896 h 533400"/>
                  <a:gd name="connsiteX20" fmla="*/ 248002 w 438150"/>
                  <a:gd name="connsiteY20" fmla="*/ 295896 h 533400"/>
                  <a:gd name="connsiteX21" fmla="*/ 171802 w 438150"/>
                  <a:gd name="connsiteY21" fmla="*/ 295896 h 533400"/>
                  <a:gd name="connsiteX22" fmla="*/ 171802 w 438150"/>
                  <a:gd name="connsiteY22" fmla="*/ 219696 h 533400"/>
                  <a:gd name="connsiteX23" fmla="*/ 248002 w 438150"/>
                  <a:gd name="connsiteY23" fmla="*/ 219696 h 533400"/>
                  <a:gd name="connsiteX24" fmla="*/ 428977 w 438150"/>
                  <a:gd name="connsiteY24" fmla="*/ 133971 h 533400"/>
                  <a:gd name="connsiteX25" fmla="*/ 305152 w 438150"/>
                  <a:gd name="connsiteY25" fmla="*/ 133971 h 533400"/>
                  <a:gd name="connsiteX26" fmla="*/ 305152 w 438150"/>
                  <a:gd name="connsiteY26" fmla="*/ 10146 h 533400"/>
                  <a:gd name="connsiteX27" fmla="*/ 428977 w 438150"/>
                  <a:gd name="connsiteY27" fmla="*/ 1339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8150" h="533400">
                    <a:moveTo>
                      <a:pt x="286102" y="621"/>
                    </a:moveTo>
                    <a:lnTo>
                      <a:pt x="286102" y="153021"/>
                    </a:lnTo>
                    <a:lnTo>
                      <a:pt x="438502" y="153021"/>
                    </a:lnTo>
                    <a:lnTo>
                      <a:pt x="438502" y="534021"/>
                    </a:lnTo>
                    <a:lnTo>
                      <a:pt x="352" y="534021"/>
                    </a:lnTo>
                    <a:lnTo>
                      <a:pt x="352" y="621"/>
                    </a:lnTo>
                    <a:lnTo>
                      <a:pt x="286102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05152" y="133971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</p:grpSp>
      <p:sp>
        <p:nvSpPr>
          <p:cNvPr id="47" name="文本框 46"/>
          <p:cNvSpPr txBox="1"/>
          <p:nvPr/>
        </p:nvSpPr>
        <p:spPr>
          <a:xfrm>
            <a:off x="926712" y="1196540"/>
            <a:ext cx="8350440" cy="42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AI技术的应用不断拓展，涵盖医疗、教育、农业、交通等多个领域。</a:t>
            </a:r>
          </a:p>
        </p:txBody>
      </p:sp>
      <p:sp>
        <p:nvSpPr>
          <p:cNvPr id="50" name="Title 4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全球AI现状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/>
          <p:cNvSpPr txBox="1"/>
          <p:nvPr/>
        </p:nvSpPr>
        <p:spPr>
          <a:xfrm>
            <a:off x="926712" y="1196540"/>
            <a:ext cx="8350440" cy="42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AI技术在疾病诊断领域的应用</a:t>
            </a:r>
          </a:p>
        </p:txBody>
      </p:sp>
      <p:sp>
        <p:nvSpPr>
          <p:cNvPr id="50" name="Title 4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医疗诊断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29" y="2002548"/>
            <a:ext cx="5275819" cy="351897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153" y="1932577"/>
            <a:ext cx="5085747" cy="365891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72454" y="5820311"/>
            <a:ext cx="2696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AI</a:t>
            </a:r>
            <a:r>
              <a:rPr lang="zh-CN" altLang="en-US" sz="1400" dirty="0"/>
              <a:t>大模型在为老人测量血压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101599" y="5897665"/>
            <a:ext cx="43511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400" b="0" i="0" dirty="0">
                <a:solidFill>
                  <a:srgbClr val="424242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第四代达芬奇手术机器人在国科大肿瘤医院装机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/>
          <p:cNvSpPr txBox="1"/>
          <p:nvPr/>
        </p:nvSpPr>
        <p:spPr>
          <a:xfrm>
            <a:off x="926712" y="1196540"/>
            <a:ext cx="8350440" cy="42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AI技术在城市管理中的应用。</a:t>
            </a:r>
          </a:p>
        </p:txBody>
      </p:sp>
      <p:sp>
        <p:nvSpPr>
          <p:cNvPr id="50" name="Title 4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医疗诊断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12" y="1935652"/>
            <a:ext cx="5157087" cy="38425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96165" y="6087438"/>
            <a:ext cx="1618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城市视觉智慧引擎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600" y="565079"/>
            <a:ext cx="3438527" cy="52642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33113" y="6086601"/>
            <a:ext cx="3488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广东省深圳市的“机器人警察”正在巡逻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/>
          <p:cNvSpPr txBox="1"/>
          <p:nvPr/>
        </p:nvSpPr>
        <p:spPr>
          <a:xfrm>
            <a:off x="906164" y="1196540"/>
            <a:ext cx="4045980" cy="42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AI技术在农业种植与养殖中的应用</a:t>
            </a:r>
          </a:p>
        </p:txBody>
      </p:sp>
      <p:sp>
        <p:nvSpPr>
          <p:cNvPr id="50" name="Title 4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医疗诊断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64" y="1922040"/>
            <a:ext cx="4789455" cy="318498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24701" y="5440344"/>
            <a:ext cx="3462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正在种菜的机器人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816" y="1941043"/>
            <a:ext cx="4746660" cy="31659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28908" y="5440344"/>
            <a:ext cx="2599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四川省成都市的数字农田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/>
          <p:cNvSpPr txBox="1"/>
          <p:nvPr/>
        </p:nvSpPr>
        <p:spPr>
          <a:xfrm>
            <a:off x="926712" y="1196540"/>
            <a:ext cx="4004884" cy="429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AI技术在教育和教育评估中的应用</a:t>
            </a:r>
          </a:p>
        </p:txBody>
      </p:sp>
      <p:sp>
        <p:nvSpPr>
          <p:cNvPr id="50" name="Title 4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医疗诊断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45" y="2050647"/>
            <a:ext cx="4514850" cy="33813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84616" y="5702379"/>
            <a:ext cx="3811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江苏省苏州市的首批人工智能课程的试点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178" y="2050647"/>
            <a:ext cx="5072061" cy="338137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28563" y="5702379"/>
            <a:ext cx="33699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5G+AR</a:t>
            </a:r>
            <a:r>
              <a:rPr lang="zh-CN" altLang="en-US" sz="1400" dirty="0"/>
              <a:t>沉浸式智慧教室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33298" y="2513316"/>
            <a:ext cx="7361434" cy="1468990"/>
          </a:xfrm>
        </p:spPr>
        <p:txBody>
          <a:bodyPr wrap="square">
            <a:normAutofit fontScale="90000"/>
          </a:bodyPr>
          <a:lstStyle/>
          <a:p>
            <a:r>
              <a:rPr lang="en-US" altLang="zh-CN" sz="4000" dirty="0"/>
              <a:t>02.</a:t>
            </a:r>
            <a:r>
              <a:rPr kumimoji="1" lang="zh-CN" altLang="en-US" sz="4400" b="1" dirty="0">
                <a:solidFill>
                  <a:schemeClr val="tx1"/>
                </a:solidFill>
              </a:rPr>
              <a:t>大学生在AI时代的成长机遇</a:t>
            </a:r>
            <a:br>
              <a:rPr kumimoji="1" lang="zh-CN" altLang="en-US" sz="4400" b="1" dirty="0">
                <a:solidFill>
                  <a:schemeClr val="tx1"/>
                </a:solidFill>
              </a:rPr>
            </a:br>
            <a:endParaRPr lang="en-US" altLang="zh-CN" sz="4400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419636" y="3429000"/>
            <a:ext cx="5334000" cy="952500"/>
          </a:xfrm>
        </p:spPr>
        <p:txBody>
          <a:bodyPr wrap="square">
            <a:normAutofit/>
          </a:bodyPr>
          <a:lstStyle/>
          <a:p>
            <a:r>
              <a:rPr lang="en-US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opportunities for college students in the AI era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60400" y="380152"/>
            <a:ext cx="10858500" cy="4342918"/>
            <a:chOff x="660400" y="1222633"/>
            <a:chExt cx="10858500" cy="4342918"/>
          </a:xfrm>
        </p:grpSpPr>
        <p:grpSp>
          <p:nvGrpSpPr>
            <p:cNvPr id="3" name="Group 2"/>
            <p:cNvGrpSpPr/>
            <p:nvPr/>
          </p:nvGrpSpPr>
          <p:grpSpPr>
            <a:xfrm>
              <a:off x="660400" y="2932604"/>
              <a:ext cx="10858500" cy="2632947"/>
              <a:chOff x="660400" y="2932604"/>
              <a:chExt cx="10858500" cy="2632947"/>
            </a:xfrm>
          </p:grpSpPr>
          <p:sp>
            <p:nvSpPr>
              <p:cNvPr id="93" name="Rectangle: Diagonal Corners Rounded 92"/>
              <p:cNvSpPr/>
              <p:nvPr/>
            </p:nvSpPr>
            <p:spPr>
              <a:xfrm>
                <a:off x="660400" y="4139960"/>
                <a:ext cx="2344400" cy="1359227"/>
              </a:xfrm>
              <a:prstGeom prst="round2DiagRect">
                <a:avLst>
                  <a:gd name="adj1" fmla="val 40493"/>
                  <a:gd name="adj2" fmla="val 0"/>
                </a:avLst>
              </a:prstGeom>
              <a:blipFill rotWithShape="0">
                <a:blip r:embed="rId3"/>
                <a:srcRect/>
                <a:stretch>
                  <a:fillRect t="-7660" b="-766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" name="Group 1"/>
              <p:cNvGrpSpPr/>
              <p:nvPr/>
            </p:nvGrpSpPr>
            <p:grpSpPr>
              <a:xfrm>
                <a:off x="3498433" y="2932604"/>
                <a:ext cx="8020467" cy="2632947"/>
                <a:chOff x="3498433" y="2932604"/>
                <a:chExt cx="8020467" cy="2632947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9174499" y="2932604"/>
                  <a:ext cx="2344401" cy="2410130"/>
                  <a:chOff x="4381398" y="2932604"/>
                  <a:chExt cx="3068301" cy="2410130"/>
                </a:xfrm>
              </p:grpSpPr>
              <p:grpSp>
                <p:nvGrpSpPr>
                  <p:cNvPr id="155" name="Group 154"/>
                  <p:cNvGrpSpPr/>
                  <p:nvPr/>
                </p:nvGrpSpPr>
                <p:grpSpPr>
                  <a:xfrm>
                    <a:off x="4381399" y="4139960"/>
                    <a:ext cx="3068300" cy="1202774"/>
                    <a:chOff x="2926262" y="3947957"/>
                    <a:chExt cx="2806761" cy="1202774"/>
                  </a:xfrm>
                </p:grpSpPr>
                <p:grpSp>
                  <p:nvGrpSpPr>
                    <p:cNvPr id="157" name="Group 156"/>
                    <p:cNvGrpSpPr/>
                    <p:nvPr/>
                  </p:nvGrpSpPr>
                  <p:grpSpPr>
                    <a:xfrm>
                      <a:off x="2926262" y="4039744"/>
                      <a:ext cx="2806761" cy="1110987"/>
                      <a:chOff x="2492017" y="2712768"/>
                      <a:chExt cx="2806761" cy="1110987"/>
                    </a:xfrm>
                  </p:grpSpPr>
                  <p:sp>
                    <p:nvSpPr>
                      <p:cNvPr id="159" name="Rectangle 158"/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non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科技创新</a:t>
                        </a:r>
                      </a:p>
                    </p:txBody>
                  </p:sp>
                  <p:sp>
                    <p:nvSpPr>
                      <p:cNvPr id="160" name="Rectangle 159"/>
                      <p:cNvSpPr/>
                      <p:nvPr/>
                    </p:nvSpPr>
                    <p:spPr>
                      <a:xfrm>
                        <a:off x="2492017" y="3182773"/>
                        <a:ext cx="2806761" cy="640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利用新兴的高新科技对已有知识进行创新</a:t>
                        </a:r>
                      </a:p>
                    </p:txBody>
                  </p:sp>
                </p:grpSp>
                <p:cxnSp>
                  <p:nvCxnSpPr>
                    <p:cNvPr id="158" name="Straight Arrow Connector 157"/>
                    <p:cNvCxnSpPr/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6" name="TextBox 155"/>
                  <p:cNvSpPr txBox="1"/>
                  <p:nvPr/>
                </p:nvSpPr>
                <p:spPr>
                  <a:xfrm>
                    <a:off x="4381398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non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03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153" name="Group 152"/>
                <p:cNvGrpSpPr/>
                <p:nvPr/>
              </p:nvGrpSpPr>
              <p:grpSpPr>
                <a:xfrm>
                  <a:off x="3498433" y="2932604"/>
                  <a:ext cx="2344400" cy="2411348"/>
                  <a:chOff x="4381399" y="2932604"/>
                  <a:chExt cx="3068300" cy="2411348"/>
                </a:xfrm>
              </p:grpSpPr>
              <p:grpSp>
                <p:nvGrpSpPr>
                  <p:cNvPr id="113" name="Group 112"/>
                  <p:cNvGrpSpPr/>
                  <p:nvPr/>
                </p:nvGrpSpPr>
                <p:grpSpPr>
                  <a:xfrm>
                    <a:off x="4381399" y="4139960"/>
                    <a:ext cx="3068300" cy="1203992"/>
                    <a:chOff x="2926262" y="3947957"/>
                    <a:chExt cx="2806761" cy="1203992"/>
                  </a:xfrm>
                </p:grpSpPr>
                <p:grpSp>
                  <p:nvGrpSpPr>
                    <p:cNvPr id="114" name="Group 113"/>
                    <p:cNvGrpSpPr/>
                    <p:nvPr/>
                  </p:nvGrpSpPr>
                  <p:grpSpPr>
                    <a:xfrm>
                      <a:off x="2926262" y="4039744"/>
                      <a:ext cx="2806761" cy="1112205"/>
                      <a:chOff x="2492017" y="2712768"/>
                      <a:chExt cx="2806761" cy="1112205"/>
                    </a:xfrm>
                  </p:grpSpPr>
                  <p:sp>
                    <p:nvSpPr>
                      <p:cNvPr id="116" name="Rectangle 115"/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non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en-US" altLang="zh-CN" sz="1600" b="1" dirty="0">
                            <a:solidFill>
                              <a:schemeClr val="tx1"/>
                            </a:solidFill>
                          </a:rPr>
                          <a:t>AI</a:t>
                        </a: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导师</a:t>
                        </a:r>
                      </a:p>
                    </p:txBody>
                  </p:sp>
                  <p:sp>
                    <p:nvSpPr>
                      <p:cNvPr id="117" name="Rectangle 116"/>
                      <p:cNvSpPr/>
                      <p:nvPr/>
                    </p:nvSpPr>
                    <p:spPr>
                      <a:xfrm>
                        <a:off x="2492017" y="3182773"/>
                        <a:ext cx="2806761" cy="64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提供个性化教学，满足学生的独特需求</a:t>
                        </a:r>
                      </a:p>
                    </p:txBody>
                  </p:sp>
                </p:grpSp>
                <p:cxnSp>
                  <p:nvCxnSpPr>
                    <p:cNvPr id="115" name="Straight Arrow Connector 114"/>
                    <p:cNvCxnSpPr/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2" name="TextBox 151"/>
                  <p:cNvSpPr txBox="1"/>
                  <p:nvPr/>
                </p:nvSpPr>
                <p:spPr>
                  <a:xfrm>
                    <a:off x="4381399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non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01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27" name="Group 26"/>
                <p:cNvGrpSpPr/>
                <p:nvPr/>
              </p:nvGrpSpPr>
              <p:grpSpPr>
                <a:xfrm>
                  <a:off x="6336466" y="2932604"/>
                  <a:ext cx="2344400" cy="2632947"/>
                  <a:chOff x="4381399" y="2932604"/>
                  <a:chExt cx="3068300" cy="2632947"/>
                </a:xfrm>
              </p:grpSpPr>
              <p:grpSp>
                <p:nvGrpSpPr>
                  <p:cNvPr id="28" name="Group 27"/>
                  <p:cNvGrpSpPr/>
                  <p:nvPr/>
                </p:nvGrpSpPr>
                <p:grpSpPr>
                  <a:xfrm>
                    <a:off x="4381399" y="4139960"/>
                    <a:ext cx="3068300" cy="1425591"/>
                    <a:chOff x="2926262" y="3947957"/>
                    <a:chExt cx="2806761" cy="1425591"/>
                  </a:xfrm>
                </p:grpSpPr>
                <p:grpSp>
                  <p:nvGrpSpPr>
                    <p:cNvPr id="30" name="Group 29"/>
                    <p:cNvGrpSpPr/>
                    <p:nvPr/>
                  </p:nvGrpSpPr>
                  <p:grpSpPr>
                    <a:xfrm>
                      <a:off x="2926262" y="4039744"/>
                      <a:ext cx="2806761" cy="1333804"/>
                      <a:chOff x="2492017" y="2712768"/>
                      <a:chExt cx="2806761" cy="1333804"/>
                    </a:xfrm>
                  </p:grpSpPr>
                  <p:sp>
                    <p:nvSpPr>
                      <p:cNvPr id="32" name="Rectangle 31"/>
                      <p:cNvSpPr/>
                      <p:nvPr/>
                    </p:nvSpPr>
                    <p:spPr>
                      <a:xfrm>
                        <a:off x="2492017" y="2712768"/>
                        <a:ext cx="2806761" cy="4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none" lIns="108000" tIns="108000" rIns="108000" bIns="108000" rtlCol="0" anchor="b" anchorCtr="0">
                        <a:norm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</a:pPr>
                        <a:r>
                          <a:rPr kumimoji="1" lang="zh-CN" altLang="en-US" sz="1600" b="1" dirty="0">
                            <a:solidFill>
                              <a:schemeClr val="tx1"/>
                            </a:solidFill>
                          </a:rPr>
                          <a:t>在线学习</a:t>
                        </a:r>
                      </a:p>
                    </p:txBody>
                  </p:sp>
                  <p:sp>
                    <p:nvSpPr>
                      <p:cNvPr id="33" name="Rectangle 32"/>
                      <p:cNvSpPr/>
                      <p:nvPr/>
                    </p:nvSpPr>
                    <p:spPr>
                      <a:xfrm>
                        <a:off x="2492017" y="3182773"/>
                        <a:ext cx="2806761" cy="8637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lIns="108000" tIns="108000" rIns="108000" bIns="108000" rtlCol="0" anchor="t" anchorCtr="0">
                        <a:spAutoFit/>
                      </a:bodyPr>
                      <a:lstStyle/>
                      <a:p>
                        <a:pPr>
                          <a:lnSpc>
                            <a:spcPct val="120000"/>
                          </a:lnSpc>
                        </a:pPr>
                        <a:r>
                          <a:rPr kumimoji="1" lang="zh-CN" altLang="en-US" sz="1200" dirty="0">
                            <a:solidFill>
                              <a:schemeClr val="tx1"/>
                            </a:solidFill>
                          </a:rPr>
                          <a:t>通过语音识别、智能教学机器人等技术提供辅助教学和作业批改</a:t>
                        </a:r>
                      </a:p>
                    </p:txBody>
                  </p:sp>
                </p:grpSp>
                <p:cxnSp>
                  <p:nvCxnSpPr>
                    <p:cNvPr id="31" name="Straight Arrow Connector 30"/>
                    <p:cNvCxnSpPr/>
                    <p:nvPr/>
                  </p:nvCxnSpPr>
                  <p:spPr>
                    <a:xfrm>
                      <a:off x="2926262" y="3947957"/>
                      <a:ext cx="2806761" cy="0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" name="TextBox 28"/>
                  <p:cNvSpPr txBox="1"/>
                  <p:nvPr/>
                </p:nvSpPr>
                <p:spPr>
                  <a:xfrm>
                    <a:off x="4381399" y="2932604"/>
                    <a:ext cx="1930270" cy="1572326"/>
                  </a:xfrm>
                  <a:prstGeom prst="rect">
                    <a:avLst/>
                  </a:prstGeom>
                  <a:noFill/>
                </p:spPr>
                <p:txBody>
                  <a:bodyPr wrap="none" lIns="108000" tIns="108000" rIns="108000" bIns="108000" rtlCol="0" anchor="ctr" anchorCtr="0">
                    <a:spAutoFit/>
                  </a:bodyPr>
                  <a:lstStyle/>
                  <a:p>
                    <a:r>
                      <a:rPr kumimoji="1" lang="en-US" altLang="zh-CN" sz="8800" b="1" dirty="0">
                        <a:solidFill>
                          <a:schemeClr val="tx1">
                            <a:lumMod val="50000"/>
                            <a:lumOff val="50000"/>
                            <a:alpha val="20000"/>
                          </a:schemeClr>
                        </a:solidFill>
                      </a:rPr>
                      <a:t>02</a:t>
                    </a:r>
                    <a:endParaRPr kumimoji="1" lang="zh-CN" altLang="en-US" sz="8800" b="1" dirty="0">
                      <a:solidFill>
                        <a:schemeClr val="tx1">
                          <a:lumMod val="50000"/>
                          <a:lumOff val="50000"/>
                          <a:alpha val="20000"/>
                        </a:schemeClr>
                      </a:solidFill>
                    </a:endParaRPr>
                  </a:p>
                </p:txBody>
              </p:sp>
            </p:grpSp>
          </p:grpSp>
        </p:grpSp>
        <p:sp>
          <p:nvSpPr>
            <p:cNvPr id="34" name="Rectangle 33"/>
            <p:cNvSpPr/>
            <p:nvPr/>
          </p:nvSpPr>
          <p:spPr>
            <a:xfrm>
              <a:off x="660402" y="1815748"/>
              <a:ext cx="5540924" cy="4193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endParaRPr kumimoji="1"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60400" y="1222633"/>
              <a:ext cx="5540924" cy="5874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108000" rIns="108000" bIns="108000" rtlCol="0" anchor="b" anchorCtr="0">
              <a:spAutoFit/>
            </a:bodyPr>
            <a:lstStyle/>
            <a:p>
              <a:pPr>
                <a:lnSpc>
                  <a:spcPct val="100000"/>
                </a:lnSpc>
              </a:pPr>
              <a:endParaRPr kumimoji="1" lang="zh-CN" altLang="en-US" sz="2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2" name="Title 1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现代大学生面对的</a:t>
            </a:r>
            <a:r>
              <a:rPr lang="en-US" altLang="zh-CN" dirty="0"/>
              <a:t>AI</a:t>
            </a:r>
            <a:r>
              <a:rPr lang="zh-CN" altLang="en-US" dirty="0"/>
              <a:t>时代机遇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741006" y="1525196"/>
            <a:ext cx="10766426" cy="1731017"/>
          </a:xfrm>
          <a:prstGeom prst="roundRect">
            <a:avLst>
              <a:gd name="adj" fmla="val 9302"/>
            </a:avLst>
          </a:prstGeom>
          <a:solidFill>
            <a:schemeClr val="bg1"/>
          </a:solidFill>
          <a:ln w="19050" cap="rnd">
            <a:noFill/>
            <a:prstDash val="solid"/>
            <a:round/>
          </a:ln>
          <a:effectLst>
            <a:outerShdw blurRad="406400" dist="101600" algn="l" rotWithShape="0">
              <a:schemeClr val="bg1">
                <a:lumMod val="6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49112" y="2388425"/>
            <a:ext cx="4065370" cy="294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13765">
              <a:lnSpc>
                <a:spcPct val="120000"/>
              </a:lnSpc>
              <a:buSzPct val="25000"/>
              <a:defRPr/>
            </a:pPr>
            <a:r>
              <a:rPr lang="zh-CN" altLang="en-US" sz="1200" dirty="0"/>
              <a:t>。</a:t>
            </a:r>
            <a:endParaRPr lang="zh-CN" altLang="en-US" sz="10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6507704" y="4541317"/>
            <a:ext cx="0" cy="1421026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2045977" y="4821425"/>
            <a:ext cx="7740880" cy="1294175"/>
            <a:chOff x="4215381" y="4705574"/>
            <a:chExt cx="7445090" cy="1039281"/>
          </a:xfrm>
        </p:grpSpPr>
        <p:sp>
          <p:nvSpPr>
            <p:cNvPr id="6" name="文本框 5"/>
            <p:cNvSpPr txBox="1"/>
            <p:nvPr/>
          </p:nvSpPr>
          <p:spPr>
            <a:xfrm>
              <a:off x="4215381" y="4975213"/>
              <a:ext cx="1909264" cy="414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R="0" lvl="0" indent="0" algn="ctr" defTabSz="913765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1200" b="0" i="0" dirty="0">
                  <a:solidFill>
                    <a:srgbClr val="060607"/>
                  </a:solidFill>
                  <a:effectLst/>
                  <a:latin typeface="-apple-system"/>
                </a:rPr>
                <a:t>掌握编程技能，为未来科技领域打下坚实基础</a:t>
              </a:r>
              <a:endParaRPr lang="zh-CN" altLang="en-US" sz="1200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215381" y="4705574"/>
              <a:ext cx="1909264" cy="307777"/>
            </a:xfrm>
            <a:prstGeom prst="rect">
              <a:avLst/>
            </a:prstGeom>
            <a:noFill/>
            <a:effectLst/>
          </p:spPr>
          <p:txBody>
            <a:bodyPr wrap="none" rtlCol="0" anchor="b">
              <a:normAutofit/>
            </a:bodyPr>
            <a:lstStyle>
              <a:defPPr>
                <a:defRPr lang="zh-CN"/>
              </a:defPPr>
              <a:lvl1pPr>
                <a:defRPr sz="2000" b="1" i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defRPr>
              </a:lvl1pPr>
            </a:lstStyle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1600" dirty="0">
                  <a:solidFill>
                    <a:schemeClr val="accent3"/>
                  </a:solidFill>
                  <a:effectLst>
                    <a:outerShdw blurRad="76200" dist="50800" dir="5400000" algn="ctr" rotWithShape="0">
                      <a:schemeClr val="accent3">
                        <a:alpha val="20000"/>
                      </a:schemeClr>
                    </a:outerShdw>
                  </a:effectLst>
                </a:rPr>
                <a:t>编程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983294" y="4975213"/>
              <a:ext cx="1909264" cy="414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R="0" lvl="0" indent="0" algn="ctr" defTabSz="913765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1200" b="0" i="0" dirty="0">
                  <a:solidFill>
                    <a:srgbClr val="060607"/>
                  </a:solidFill>
                  <a:effectLst/>
                  <a:latin typeface="-apple-system"/>
                </a:rPr>
                <a:t>学会利用数据分析技术，洞察数据背后的价值。</a:t>
              </a:r>
              <a:endParaRPr lang="zh-CN" altLang="en-US" sz="1200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983294" y="4705574"/>
              <a:ext cx="1909264" cy="307777"/>
            </a:xfrm>
            <a:prstGeom prst="rect">
              <a:avLst/>
            </a:prstGeom>
            <a:noFill/>
            <a:effectLst/>
          </p:spPr>
          <p:txBody>
            <a:bodyPr wrap="none" rtlCol="0" anchor="b">
              <a:normAutofit/>
            </a:bodyPr>
            <a:lstStyle>
              <a:defPPr>
                <a:defRPr lang="zh-CN"/>
              </a:defPPr>
              <a:lvl1pPr>
                <a:defRPr sz="2000" b="1" i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defRPr>
              </a:lvl1pPr>
            </a:lstStyle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1600" dirty="0">
                  <a:solidFill>
                    <a:schemeClr val="accent2"/>
                  </a:solidFill>
                  <a:effectLst>
                    <a:outerShdw blurRad="76200" dist="50800" dir="5400000" algn="ctr" rotWithShape="0">
                      <a:schemeClr val="accent2">
                        <a:alpha val="20000"/>
                      </a:schemeClr>
                    </a:outerShdw>
                  </a:effectLst>
                </a:rPr>
                <a:t>数据分析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751207" y="4975213"/>
              <a:ext cx="1909264" cy="769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marR="0" lvl="0" indent="0" algn="ctr" defTabSz="913765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1200" b="0" i="0" dirty="0">
                  <a:solidFill>
                    <a:srgbClr val="060607"/>
                  </a:solidFill>
                  <a:effectLst/>
                  <a:latin typeface="-apple-system"/>
                </a:rPr>
                <a:t>了解人工智能的基本原理和应用，为智能时代做好准备。</a:t>
              </a:r>
              <a:br>
                <a:rPr lang="zh-CN" altLang="en-US" sz="3200" dirty="0"/>
              </a:br>
              <a:endParaRPr lang="zh-CN" altLang="en-US" sz="120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751207" y="4705574"/>
              <a:ext cx="1909264" cy="307777"/>
            </a:xfrm>
            <a:prstGeom prst="rect">
              <a:avLst/>
            </a:prstGeom>
            <a:noFill/>
            <a:effectLst/>
          </p:spPr>
          <p:txBody>
            <a:bodyPr wrap="none" rtlCol="0" anchor="b">
              <a:normAutofit/>
            </a:bodyPr>
            <a:lstStyle>
              <a:defPPr>
                <a:defRPr lang="zh-CN"/>
              </a:defPPr>
              <a:lvl1pPr>
                <a:defRPr sz="2000" b="1" i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76200" dist="50800" dir="5400000" algn="ctr" rotWithShape="0">
                      <a:schemeClr val="accent1">
                        <a:alpha val="20000"/>
                      </a:schemeClr>
                    </a:outerShdw>
                  </a:effectLst>
                </a:defRPr>
              </a:lvl1pPr>
            </a:lstStyle>
            <a:p>
              <a:pPr algn="ctr">
                <a:lnSpc>
                  <a:spcPct val="100000"/>
                </a:lnSpc>
                <a:buSzPct val="25000"/>
              </a:pPr>
              <a:r>
                <a:rPr lang="en-US" altLang="zh-CN" sz="1600" dirty="0">
                  <a:solidFill>
                    <a:schemeClr val="accent5"/>
                  </a:solidFill>
                  <a:effectLst>
                    <a:outerShdw blurRad="76200" dist="50800" dir="5400000" algn="ctr" rotWithShape="0">
                      <a:schemeClr val="accent5">
                        <a:alpha val="20000"/>
                      </a:schemeClr>
                    </a:outerShdw>
                  </a:effectLst>
                </a:rPr>
                <a:t>AI </a:t>
              </a:r>
              <a:r>
                <a:rPr lang="zh-CN" altLang="en-US" sz="1600" dirty="0">
                  <a:solidFill>
                    <a:schemeClr val="accent5"/>
                  </a:solidFill>
                  <a:effectLst>
                    <a:outerShdw blurRad="76200" dist="50800" dir="5400000" algn="ctr" rotWithShape="0">
                      <a:schemeClr val="accent5">
                        <a:alpha val="20000"/>
                      </a:schemeClr>
                    </a:outerShdw>
                  </a:effectLst>
                </a:rPr>
                <a:t>相关学科知识</a:t>
              </a: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9362115" y="4541317"/>
            <a:ext cx="0" cy="1421026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820830" y="1815269"/>
            <a:ext cx="4493652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spAutoFit/>
          </a:bodyPr>
          <a:lstStyle/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solidFill>
                <a:schemeClr val="tx1"/>
              </a:solidFill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981182" y="1612502"/>
            <a:ext cx="10858500" cy="102870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大学生在这个时代的技能要求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17" y="991776"/>
            <a:ext cx="5215633" cy="327425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r>
              <a:rPr lang="en-US" altLang="zh-CN" dirty="0"/>
              <a:t>03.</a:t>
            </a: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民族复兴与AI时代的结合</a:t>
            </a:r>
            <a:endParaRPr lang="en-US" altLang="zh-C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en-US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combination of national rejuvenation and the AI era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1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军队战斗力提升</a:t>
            </a:r>
          </a:p>
        </p:txBody>
      </p:sp>
      <p:pic>
        <p:nvPicPr>
          <p:cNvPr id="10" name="图片 9" descr="微信截图_20250302221615"/>
          <p:cNvPicPr>
            <a:picLocks noChangeAspect="1"/>
          </p:cNvPicPr>
          <p:nvPr/>
        </p:nvPicPr>
        <p:blipFill>
          <a:blip r:embed="rId3"/>
          <a:srcRect l="359" r="467"/>
          <a:stretch>
            <a:fillRect/>
          </a:stretch>
        </p:blipFill>
        <p:spPr>
          <a:xfrm>
            <a:off x="698500" y="1828820"/>
            <a:ext cx="4689303" cy="3269615"/>
          </a:xfrm>
          <a:prstGeom prst="round2DiagRect">
            <a:avLst>
              <a:gd name="adj1" fmla="val 0"/>
              <a:gd name="adj2" fmla="val 0"/>
            </a:avLst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82A3FE5-ED74-0820-5A0C-B6E9F6881FEF}"/>
              </a:ext>
            </a:extLst>
          </p:cNvPr>
          <p:cNvSpPr txBox="1"/>
          <p:nvPr/>
        </p:nvSpPr>
        <p:spPr>
          <a:xfrm>
            <a:off x="2073728" y="5404757"/>
            <a:ext cx="1807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无人机加入战斗队列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E31753-4EB6-16D4-3875-8845B25B9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716" y="1828820"/>
            <a:ext cx="5733024" cy="326961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F86C4E5-2EBF-1E68-6FCA-2E86B90F1513}"/>
              </a:ext>
            </a:extLst>
          </p:cNvPr>
          <p:cNvSpPr txBox="1"/>
          <p:nvPr/>
        </p:nvSpPr>
        <p:spPr>
          <a:xfrm>
            <a:off x="8131629" y="5382985"/>
            <a:ext cx="1687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机器狗加入解放军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>
            <p:custDataLst>
              <p:tags r:id="rId2"/>
            </p:custDataLst>
          </p:nvPr>
        </p:nvGrpSpPr>
        <p:grpSpPr>
          <a:xfrm>
            <a:off x="660400" y="1132840"/>
            <a:ext cx="10858500" cy="4316751"/>
            <a:chOff x="660400" y="1225540"/>
            <a:chExt cx="10858498" cy="4099403"/>
          </a:xfrm>
        </p:grpSpPr>
        <p:sp>
          <p:nvSpPr>
            <p:cNvPr id="21" name="Rectangle 20"/>
            <p:cNvSpPr/>
            <p:nvPr/>
          </p:nvSpPr>
          <p:spPr>
            <a:xfrm>
              <a:off x="660400" y="1647212"/>
              <a:ext cx="5435600" cy="4371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自主系统的突破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293428" y="1225540"/>
              <a:ext cx="4225470" cy="2799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rPr>
                <a:t>AI系统将能够独立决策和执行任务，具备更高的智能水平。</a:t>
              </a: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1364950" y="4423120"/>
              <a:ext cx="2246014" cy="901823"/>
              <a:chOff x="1631925" y="4423120"/>
              <a:chExt cx="2246014" cy="901823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1631925" y="4423120"/>
                <a:ext cx="2246014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自动驾驶普及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631926" y="4818400"/>
                <a:ext cx="2246012" cy="5065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AI系统将能够独立驾驶汽车，提高行车安全性和效率。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4942857" y="4423120"/>
              <a:ext cx="2246014" cy="691970"/>
              <a:chOff x="4972993" y="4423120"/>
              <a:chExt cx="2246014" cy="691970"/>
            </a:xfrm>
          </p:grpSpPr>
          <p:sp>
            <p:nvSpPr>
              <p:cNvPr id="29" name="Rectangle 28"/>
              <p:cNvSpPr/>
              <p:nvPr>
                <p:custDataLst>
                  <p:tags r:id="rId5"/>
                </p:custDataLst>
              </p:nvPr>
            </p:nvSpPr>
            <p:spPr>
              <a:xfrm>
                <a:off x="4972993" y="4423120"/>
                <a:ext cx="2246014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智能机器人的发展</a:t>
                </a:r>
              </a:p>
            </p:txBody>
          </p:sp>
          <p:sp>
            <p:nvSpPr>
              <p:cNvPr id="30" name="Rectangle 29"/>
              <p:cNvSpPr/>
              <p:nvPr>
                <p:custDataLst>
                  <p:tags r:id="rId6"/>
                </p:custDataLst>
              </p:nvPr>
            </p:nvSpPr>
            <p:spPr>
              <a:xfrm>
                <a:off x="4972994" y="4818400"/>
                <a:ext cx="2246012" cy="296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AI系统的功能和作用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8520764" y="4423120"/>
              <a:ext cx="2246014" cy="691970"/>
              <a:chOff x="8314061" y="4423120"/>
              <a:chExt cx="2246014" cy="691970"/>
            </a:xfrm>
          </p:grpSpPr>
          <p:sp>
            <p:nvSpPr>
              <p:cNvPr id="31" name="Rectangle 30"/>
              <p:cNvSpPr/>
              <p:nvPr>
                <p:custDataLst>
                  <p:tags r:id="rId3"/>
                </p:custDataLst>
              </p:nvPr>
            </p:nvSpPr>
            <p:spPr>
              <a:xfrm>
                <a:off x="8314061" y="4423120"/>
                <a:ext cx="2246014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智能家居的普及</a:t>
                </a:r>
              </a:p>
            </p:txBody>
          </p:sp>
          <p:sp>
            <p:nvSpPr>
              <p:cNvPr id="32" name="Rectangle 31"/>
              <p:cNvSpPr/>
              <p:nvPr>
                <p:custDataLst>
                  <p:tags r:id="rId4"/>
                </p:custDataLst>
              </p:nvPr>
            </p:nvSpPr>
            <p:spPr>
              <a:xfrm>
                <a:off x="8314062" y="4818400"/>
                <a:ext cx="2246012" cy="29669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zh-CN" altLang="en-US" sz="1200" dirty="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sym typeface="Arial" panose="020B0604020202020204" pitchFamily="34" charset="0"/>
                  </a:rPr>
                  <a:t>AI智控家居生活便利</a:t>
                </a:r>
              </a:p>
            </p:txBody>
          </p:sp>
        </p:grpSp>
      </p:grpSp>
      <p:sp>
        <p:nvSpPr>
          <p:cNvPr id="37" name="Title 36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人民生活方便快捷</a:t>
            </a:r>
          </a:p>
        </p:txBody>
      </p:sp>
      <p:pic>
        <p:nvPicPr>
          <p:cNvPr id="23" name="图片 22" descr="微信截图_20250302192302"/>
          <p:cNvPicPr>
            <a:picLocks noChangeAspect="1"/>
          </p:cNvPicPr>
          <p:nvPr/>
        </p:nvPicPr>
        <p:blipFill>
          <a:blip r:embed="rId8"/>
          <a:srcRect l="11514" t="332" r="8663" b="7211"/>
          <a:stretch>
            <a:fillRect/>
          </a:stretch>
        </p:blipFill>
        <p:spPr>
          <a:xfrm>
            <a:off x="8072755" y="2249170"/>
            <a:ext cx="3241675" cy="2061845"/>
          </a:xfrm>
          <a:prstGeom prst="flowChartAlternateProcess">
            <a:avLst/>
          </a:prstGeom>
        </p:spPr>
      </p:pic>
      <p:pic>
        <p:nvPicPr>
          <p:cNvPr id="24" name="图片 23" descr="微信图片_20250302192317"/>
          <p:cNvPicPr>
            <a:picLocks noChangeAspect="1"/>
          </p:cNvPicPr>
          <p:nvPr/>
        </p:nvPicPr>
        <p:blipFill>
          <a:blip r:embed="rId9"/>
          <a:srcRect t="3261" r="-579" b="217"/>
          <a:stretch>
            <a:fillRect/>
          </a:stretch>
        </p:blipFill>
        <p:spPr>
          <a:xfrm>
            <a:off x="869315" y="2242820"/>
            <a:ext cx="3249930" cy="2078990"/>
          </a:xfrm>
          <a:prstGeom prst="flowChartAlternateProcess">
            <a:avLst/>
          </a:prstGeom>
        </p:spPr>
      </p:pic>
      <p:pic>
        <p:nvPicPr>
          <p:cNvPr id="27" name="图片 26" descr="微信图片_20250302192323"/>
          <p:cNvPicPr>
            <a:picLocks noChangeAspect="1"/>
          </p:cNvPicPr>
          <p:nvPr/>
        </p:nvPicPr>
        <p:blipFill>
          <a:blip r:embed="rId10"/>
          <a:srcRect l="706" t="-66" r="27855"/>
          <a:stretch>
            <a:fillRect/>
          </a:stretch>
        </p:blipFill>
        <p:spPr>
          <a:xfrm>
            <a:off x="4471035" y="2240915"/>
            <a:ext cx="3249930" cy="2078990"/>
          </a:xfrm>
          <a:prstGeom prst="flowChartAlternateProcess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>
            <p:custDataLst>
              <p:tags r:id="rId2"/>
            </p:custDataLst>
          </p:nvPr>
        </p:nvGrpSpPr>
        <p:grpSpPr>
          <a:xfrm>
            <a:off x="660400" y="672465"/>
            <a:ext cx="10871200" cy="4828936"/>
            <a:chOff x="660400" y="963295"/>
            <a:chExt cx="10871200" cy="4828936"/>
          </a:xfrm>
        </p:grpSpPr>
        <p:sp>
          <p:nvSpPr>
            <p:cNvPr id="43" name="TextBox 42"/>
            <p:cNvSpPr txBox="1"/>
            <p:nvPr>
              <p:custDataLst>
                <p:tags r:id="rId3"/>
              </p:custDataLst>
            </p:nvPr>
          </p:nvSpPr>
          <p:spPr>
            <a:xfrm>
              <a:off x="1859294" y="4891498"/>
              <a:ext cx="2282820" cy="307777"/>
            </a:xfrm>
            <a:prstGeom prst="rect">
              <a:avLst/>
            </a:prstGeom>
            <a:noFill/>
            <a:effectLst/>
          </p:spPr>
          <p:txBody>
            <a:bodyPr wrap="none" rtlCol="0" anchor="b">
              <a:normAutofit fontScale="92500" lnSpcReduction="10000"/>
            </a:bodyPr>
            <a:lstStyle>
              <a:defPPr>
                <a:defRPr lang="zh-CN"/>
              </a:defPPr>
              <a:lvl1pPr algn="ctr">
                <a:defRPr sz="1400" b="1" i="0">
                  <a:effectLst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 dirty="0"/>
                <a:t>隐私保护</a:t>
              </a:r>
            </a:p>
          </p:txBody>
        </p:sp>
        <p:sp>
          <p:nvSpPr>
            <p:cNvPr id="44" name="TextBox 43"/>
            <p:cNvSpPr txBox="1"/>
            <p:nvPr>
              <p:custDataLst>
                <p:tags r:id="rId4"/>
              </p:custDataLst>
            </p:nvPr>
          </p:nvSpPr>
          <p:spPr>
            <a:xfrm>
              <a:off x="1859294" y="5275808"/>
              <a:ext cx="2282820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个人数据的合法收集和使用</a:t>
              </a:r>
            </a:p>
          </p:txBody>
        </p:sp>
        <p:sp>
          <p:nvSpPr>
            <p:cNvPr id="45" name="TextBox 44"/>
            <p:cNvSpPr txBox="1"/>
            <p:nvPr>
              <p:custDataLst>
                <p:tags r:id="rId5"/>
              </p:custDataLst>
            </p:nvPr>
          </p:nvSpPr>
          <p:spPr>
            <a:xfrm>
              <a:off x="4954591" y="4891498"/>
              <a:ext cx="2282820" cy="307777"/>
            </a:xfrm>
            <a:prstGeom prst="rect">
              <a:avLst/>
            </a:prstGeom>
            <a:noFill/>
            <a:effectLst/>
          </p:spPr>
          <p:txBody>
            <a:bodyPr wrap="none" rtlCol="0" anchor="b">
              <a:normAutofit fontScale="92500" lnSpcReduction="10000"/>
            </a:bodyPr>
            <a:lstStyle>
              <a:defPPr>
                <a:defRPr lang="zh-CN"/>
              </a:defPPr>
              <a:lvl1pPr algn="ctr">
                <a:defRPr sz="1400" b="1" i="0">
                  <a:effectLst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 dirty="0">
                  <a:solidFill>
                    <a:schemeClr val="tx1"/>
                  </a:solidFill>
                </a:rPr>
                <a:t>道德准则</a:t>
              </a:r>
            </a:p>
          </p:txBody>
        </p:sp>
        <p:sp>
          <p:nvSpPr>
            <p:cNvPr id="46" name="TextBox 45"/>
            <p:cNvSpPr txBox="1"/>
            <p:nvPr>
              <p:custDataLst>
                <p:tags r:id="rId6"/>
              </p:custDataLst>
            </p:nvPr>
          </p:nvSpPr>
          <p:spPr>
            <a:xfrm>
              <a:off x="4954591" y="5275808"/>
              <a:ext cx="2282820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rPr>
                <a:t>确保人工智能的道德使用和行为规范</a:t>
              </a:r>
            </a:p>
          </p:txBody>
        </p:sp>
        <p:sp>
          <p:nvSpPr>
            <p:cNvPr id="47" name="TextBox 46"/>
            <p:cNvSpPr txBox="1"/>
            <p:nvPr>
              <p:custDataLst>
                <p:tags r:id="rId7"/>
              </p:custDataLst>
            </p:nvPr>
          </p:nvSpPr>
          <p:spPr>
            <a:xfrm>
              <a:off x="8049887" y="4891498"/>
              <a:ext cx="2282820" cy="307777"/>
            </a:xfrm>
            <a:prstGeom prst="rect">
              <a:avLst/>
            </a:prstGeom>
            <a:noFill/>
            <a:effectLst/>
          </p:spPr>
          <p:txBody>
            <a:bodyPr wrap="none" rtlCol="0" anchor="b">
              <a:normAutofit fontScale="92500" lnSpcReduction="10000"/>
            </a:bodyPr>
            <a:lstStyle>
              <a:defPPr>
                <a:defRPr lang="zh-CN"/>
              </a:defPPr>
              <a:lvl1pPr algn="ctr">
                <a:defRPr sz="1400" b="1" i="0">
                  <a:effectLst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 dirty="0"/>
                <a:t>监管机制</a:t>
              </a:r>
            </a:p>
          </p:txBody>
        </p:sp>
        <p:sp>
          <p:nvSpPr>
            <p:cNvPr id="48" name="TextBox 47"/>
            <p:cNvSpPr txBox="1"/>
            <p:nvPr>
              <p:custDataLst>
                <p:tags r:id="rId8"/>
              </p:custDataLst>
            </p:nvPr>
          </p:nvSpPr>
          <p:spPr>
            <a:xfrm>
              <a:off x="8049887" y="5275808"/>
              <a:ext cx="2282820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建立监管机构和法规以规范人工智能的发展和应用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85800" y="963295"/>
              <a:ext cx="10845800" cy="47244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伦理法规建设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60400" y="1465580"/>
              <a:ext cx="10871200" cy="2908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确保人工智能技术的合理使用和保护个人隐私</a:t>
              </a:r>
            </a:p>
          </p:txBody>
        </p:sp>
      </p:grpSp>
      <p:sp>
        <p:nvSpPr>
          <p:cNvPr id="59" name="Title 58"/>
          <p:cNvSpPr>
            <a:spLocks noGrp="1"/>
          </p:cNvSpPr>
          <p:nvPr>
            <p:ph type="title"/>
          </p:nvPr>
        </p:nvSpPr>
        <p:spPr>
          <a:xfrm>
            <a:off x="685800" y="0"/>
            <a:ext cx="10858500" cy="1028700"/>
          </a:xfrm>
        </p:spPr>
        <p:txBody>
          <a:bodyPr wrap="square">
            <a:normAutofit/>
          </a:bodyPr>
          <a:lstStyle/>
          <a:p>
            <a:pPr lvl="0"/>
            <a:r>
              <a:rPr lang="en-US"/>
              <a:t>AI</a:t>
            </a:r>
            <a:r>
              <a:rPr lang="zh-CN" altLang="en-US"/>
              <a:t>时代的</a:t>
            </a:r>
            <a:r>
              <a:rPr lang="zh-CN" altLang="en-US" dirty="0">
                <a:solidFill>
                  <a:schemeClr val="accent1"/>
                </a:solidFill>
                <a:sym typeface="+mn-ea"/>
              </a:rPr>
              <a:t>法规建设</a:t>
            </a:r>
          </a:p>
        </p:txBody>
      </p:sp>
      <p:pic>
        <p:nvPicPr>
          <p:cNvPr id="6" name="图片 5" descr="微信截图_20250302194553"/>
          <p:cNvPicPr>
            <a:picLocks noChangeAspect="1"/>
          </p:cNvPicPr>
          <p:nvPr/>
        </p:nvPicPr>
        <p:blipFill>
          <a:blip r:embed="rId10"/>
          <a:srcRect l="1205" r="58322"/>
          <a:stretch>
            <a:fillRect/>
          </a:stretch>
        </p:blipFill>
        <p:spPr>
          <a:xfrm>
            <a:off x="4792345" y="1794510"/>
            <a:ext cx="2606675" cy="2606675"/>
          </a:xfrm>
          <a:prstGeom prst="ellipse">
            <a:avLst/>
          </a:prstGeom>
        </p:spPr>
      </p:pic>
      <p:pic>
        <p:nvPicPr>
          <p:cNvPr id="7" name="图片 6" descr="微信截图_20250302194929"/>
          <p:cNvPicPr>
            <a:picLocks noChangeAspect="1"/>
          </p:cNvPicPr>
          <p:nvPr/>
        </p:nvPicPr>
        <p:blipFill>
          <a:blip r:embed="rId11"/>
          <a:srcRect l="17611" r="17611"/>
          <a:stretch>
            <a:fillRect/>
          </a:stretch>
        </p:blipFill>
        <p:spPr>
          <a:xfrm>
            <a:off x="7878445" y="1787525"/>
            <a:ext cx="2614295" cy="2614295"/>
          </a:xfrm>
          <a:prstGeom prst="ellipse">
            <a:avLst/>
          </a:prstGeom>
        </p:spPr>
      </p:pic>
      <p:pic>
        <p:nvPicPr>
          <p:cNvPr id="8" name="图片 7" descr="微信图片_20250302193946"/>
          <p:cNvPicPr>
            <a:picLocks noChangeAspect="1"/>
          </p:cNvPicPr>
          <p:nvPr/>
        </p:nvPicPr>
        <p:blipFill>
          <a:blip r:embed="rId12"/>
          <a:srcRect l="22914" t="22022" r="14803" b="11612"/>
          <a:stretch>
            <a:fillRect/>
          </a:stretch>
        </p:blipFill>
        <p:spPr>
          <a:xfrm>
            <a:off x="1689100" y="1782445"/>
            <a:ext cx="2623820" cy="2618740"/>
          </a:xfrm>
          <a:prstGeom prst="ellipse">
            <a:avLst/>
          </a:prstGeom>
        </p:spPr>
      </p:pic>
      <p:pic>
        <p:nvPicPr>
          <p:cNvPr id="9" name="图片 8" descr="盾牌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58315" y="1889760"/>
            <a:ext cx="2486025" cy="25114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60398" y="1518206"/>
            <a:ext cx="10858502" cy="4248207"/>
            <a:chOff x="660398" y="1518206"/>
            <a:chExt cx="10858502" cy="4248207"/>
          </a:xfrm>
        </p:grpSpPr>
        <p:sp>
          <p:nvSpPr>
            <p:cNvPr id="6" name="Rectangle 5"/>
            <p:cNvSpPr/>
            <p:nvPr/>
          </p:nvSpPr>
          <p:spPr>
            <a:xfrm>
              <a:off x="660401" y="1622742"/>
              <a:ext cx="494030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AI技术的跨学科创新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6176879" y="1518206"/>
              <a:ext cx="5342021" cy="914400"/>
              <a:chOff x="6176879" y="1291780"/>
              <a:chExt cx="5342021" cy="914400"/>
            </a:xfrm>
          </p:grpSpPr>
          <p:sp>
            <p:nvSpPr>
              <p:cNvPr id="89" name="Rectangle 88"/>
              <p:cNvSpPr/>
              <p:nvPr/>
            </p:nvSpPr>
            <p:spPr>
              <a:xfrm>
                <a:off x="6176879" y="1291780"/>
                <a:ext cx="5342021" cy="9144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6176879" y="1291780"/>
                <a:ext cx="914400" cy="914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en-US" altLang="zh-CN" sz="2800" b="1" dirty="0">
                    <a:solidFill>
                      <a:schemeClr val="bg1"/>
                    </a:solidFill>
                  </a:rPr>
                  <a:t>01</a:t>
                </a:r>
                <a:endParaRPr kumimoji="1" lang="zh-CN" altLang="en-US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Rectangle 201"/>
              <p:cNvSpPr/>
              <p:nvPr/>
            </p:nvSpPr>
            <p:spPr>
              <a:xfrm>
                <a:off x="7250657" y="1437300"/>
                <a:ext cx="4268242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脑科学与AI</a:t>
                </a:r>
              </a:p>
            </p:txBody>
          </p:sp>
          <p:sp>
            <p:nvSpPr>
              <p:cNvPr id="203" name="Rectangle 202"/>
              <p:cNvSpPr/>
              <p:nvPr/>
            </p:nvSpPr>
            <p:spPr>
              <a:xfrm>
                <a:off x="7250658" y="1775854"/>
                <a:ext cx="4268242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深入研究人类智能的工作原理</a:t>
                </a:r>
              </a:p>
            </p:txBody>
          </p:sp>
        </p:grpSp>
        <p:grpSp>
          <p:nvGrpSpPr>
            <p:cNvPr id="205" name="Group 204"/>
            <p:cNvGrpSpPr/>
            <p:nvPr/>
          </p:nvGrpSpPr>
          <p:grpSpPr>
            <a:xfrm>
              <a:off x="6176879" y="3175000"/>
              <a:ext cx="5342021" cy="914400"/>
              <a:chOff x="6176879" y="1291780"/>
              <a:chExt cx="5342021" cy="914400"/>
            </a:xfrm>
          </p:grpSpPr>
          <p:sp>
            <p:nvSpPr>
              <p:cNvPr id="206" name="Rectangle 205"/>
              <p:cNvSpPr/>
              <p:nvPr/>
            </p:nvSpPr>
            <p:spPr>
              <a:xfrm>
                <a:off x="6176879" y="1291780"/>
                <a:ext cx="5342021" cy="9144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7" name="Rectangle 206"/>
              <p:cNvSpPr/>
              <p:nvPr/>
            </p:nvSpPr>
            <p:spPr>
              <a:xfrm>
                <a:off x="6176879" y="1291780"/>
                <a:ext cx="914400" cy="91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en-US" altLang="zh-CN" sz="2800" b="1" dirty="0">
                    <a:solidFill>
                      <a:schemeClr val="bg1"/>
                    </a:solidFill>
                  </a:rPr>
                  <a:t>02</a:t>
                </a:r>
                <a:endParaRPr kumimoji="1" lang="zh-CN" altLang="en-US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8" name="Rectangle 207"/>
              <p:cNvSpPr/>
              <p:nvPr/>
            </p:nvSpPr>
            <p:spPr>
              <a:xfrm>
                <a:off x="7250657" y="1437300"/>
                <a:ext cx="4268242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心理学AI融合</a:t>
                </a:r>
              </a:p>
            </p:txBody>
          </p:sp>
          <p:sp>
            <p:nvSpPr>
              <p:cNvPr id="209" name="Rectangle 208"/>
              <p:cNvSpPr/>
              <p:nvPr/>
            </p:nvSpPr>
            <p:spPr>
              <a:xfrm>
                <a:off x="7250658" y="1775854"/>
                <a:ext cx="4268242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理解人类行为和决策过程的基础</a:t>
                </a:r>
              </a:p>
            </p:txBody>
          </p:sp>
        </p:grpSp>
        <p:grpSp>
          <p:nvGrpSpPr>
            <p:cNvPr id="210" name="Group 209"/>
            <p:cNvGrpSpPr/>
            <p:nvPr/>
          </p:nvGrpSpPr>
          <p:grpSpPr>
            <a:xfrm>
              <a:off x="6176879" y="4852013"/>
              <a:ext cx="5342021" cy="914400"/>
              <a:chOff x="6176879" y="1291780"/>
              <a:chExt cx="5342021" cy="914400"/>
            </a:xfrm>
          </p:grpSpPr>
          <p:sp>
            <p:nvSpPr>
              <p:cNvPr id="211" name="Rectangle 210"/>
              <p:cNvSpPr/>
              <p:nvPr/>
            </p:nvSpPr>
            <p:spPr>
              <a:xfrm>
                <a:off x="6176879" y="1291780"/>
                <a:ext cx="5342021" cy="914400"/>
              </a:xfrm>
              <a:prstGeom prst="rect">
                <a:avLst/>
              </a:prstGeom>
              <a:noFill/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6176879" y="1291780"/>
                <a:ext cx="91440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kumimoji="1" lang="en-US" altLang="zh-CN" sz="2800" b="1" dirty="0">
                    <a:solidFill>
                      <a:schemeClr val="bg1"/>
                    </a:solidFill>
                  </a:rPr>
                  <a:t>03</a:t>
                </a:r>
                <a:endParaRPr kumimoji="1" lang="zh-CN" altLang="en-US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/>
              <p:cNvSpPr/>
              <p:nvPr/>
            </p:nvSpPr>
            <p:spPr>
              <a:xfrm>
                <a:off x="7250657" y="1437300"/>
                <a:ext cx="4268242" cy="3385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AI与社会学交叉</a:t>
                </a:r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7250658" y="1775854"/>
                <a:ext cx="4268242" cy="29482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研究人类社会的互动和影响因素</a:t>
                </a:r>
              </a:p>
            </p:txBody>
          </p:sp>
        </p:grpSp>
        <p:sp>
          <p:nvSpPr>
            <p:cNvPr id="222" name="Rectangle 221"/>
            <p:cNvSpPr/>
            <p:nvPr/>
          </p:nvSpPr>
          <p:spPr>
            <a:xfrm>
              <a:off x="660398" y="2208635"/>
              <a:ext cx="4940302" cy="294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 dirty="0">
                  <a:solidFill>
                    <a:schemeClr val="tx1"/>
                  </a:solidFill>
                </a:rPr>
                <a:t>AI技术的发展需要跨学科合作，促进创新和突破。</a:t>
              </a:r>
            </a:p>
          </p:txBody>
        </p:sp>
      </p:grpSp>
      <p:sp>
        <p:nvSpPr>
          <p:cNvPr id="224" name="Title 223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AI</a:t>
            </a:r>
            <a:r>
              <a:rPr lang="zh-CN" altLang="en-US"/>
              <a:t>技术</a:t>
            </a:r>
            <a:r>
              <a:rPr lang="zh-CN" altLang="en-US" dirty="0">
                <a:solidFill>
                  <a:schemeClr val="accent1"/>
                </a:solidFill>
                <a:sym typeface="+mn-ea"/>
              </a:rPr>
              <a:t>的跨学科创新</a:t>
            </a:r>
            <a:r>
              <a:rPr lang="zh-CN" altLang="en-US"/>
              <a:t>推动学术发展</a:t>
            </a:r>
          </a:p>
        </p:txBody>
      </p:sp>
      <p:pic>
        <p:nvPicPr>
          <p:cNvPr id="3" name="图片 2" descr="大脑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2860" y="1518285"/>
            <a:ext cx="914400" cy="914400"/>
          </a:xfrm>
          <a:prstGeom prst="rect">
            <a:avLst/>
          </a:prstGeom>
        </p:spPr>
      </p:pic>
      <p:pic>
        <p:nvPicPr>
          <p:cNvPr id="5" name="图片 4" descr="爱心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2860" y="3175000"/>
            <a:ext cx="914400" cy="914400"/>
          </a:xfrm>
          <a:prstGeom prst="rect">
            <a:avLst/>
          </a:prstGeom>
        </p:spPr>
      </p:pic>
      <p:pic>
        <p:nvPicPr>
          <p:cNvPr id="7" name="图片 6" descr="人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2860" y="4831715"/>
            <a:ext cx="914400" cy="914400"/>
          </a:xfrm>
          <a:prstGeom prst="rect">
            <a:avLst/>
          </a:prstGeom>
        </p:spPr>
      </p:pic>
      <p:pic>
        <p:nvPicPr>
          <p:cNvPr id="9" name="图片 8" descr="微信截图_20250302201958"/>
          <p:cNvPicPr>
            <a:picLocks noChangeAspect="1"/>
          </p:cNvPicPr>
          <p:nvPr/>
        </p:nvPicPr>
        <p:blipFill>
          <a:blip r:embed="rId9">
            <a:alphaModFix amt="96000"/>
          </a:blip>
          <a:srcRect t="935" r="178"/>
          <a:stretch>
            <a:fillRect/>
          </a:stretch>
        </p:blipFill>
        <p:spPr>
          <a:xfrm>
            <a:off x="660400" y="3175000"/>
            <a:ext cx="3919855" cy="2672080"/>
          </a:xfrm>
          <a:prstGeom prst="roundRect">
            <a:avLst/>
          </a:prstGeom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1515" y="2465614"/>
            <a:ext cx="7717971" cy="857250"/>
          </a:xfrm>
        </p:spPr>
        <p:txBody>
          <a:bodyPr wrap="square">
            <a:normAutofit fontScale="90000"/>
          </a:bodyPr>
          <a:lstStyle/>
          <a:p>
            <a:r>
              <a:rPr lang="en-US" altLang="zh-CN" dirty="0"/>
              <a:t>04.</a:t>
            </a:r>
            <a:r>
              <a:rPr kumimoji="1" lang="en-US" altLang="zh-CN" dirty="0">
                <a:solidFill>
                  <a:schemeClr val="tx1"/>
                </a:solidFill>
                <a:sym typeface="+mn-ea"/>
              </a:rPr>
              <a:t>AI</a:t>
            </a:r>
            <a:r>
              <a:rPr kumimoji="1" lang="zh-CN" altLang="en-US" dirty="0">
                <a:solidFill>
                  <a:schemeClr val="tx1"/>
                </a:solidFill>
                <a:sym typeface="+mn-ea"/>
              </a:rPr>
              <a:t>时代大学生如何为民族复兴贡献力量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359729" y="3429000"/>
            <a:ext cx="7266214" cy="952500"/>
          </a:xfrm>
        </p:spPr>
        <p:txBody>
          <a:bodyPr wrap="square">
            <a:normAutofit/>
          </a:bodyPr>
          <a:lstStyle/>
          <a:p>
            <a:r>
              <a:rPr lang="en-US" altLang="zh-CN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college students can contribute to national rejuvenation in the AI era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908334" y="1752376"/>
            <a:ext cx="5305266" cy="4752551"/>
            <a:chOff x="1908334" y="1752376"/>
            <a:chExt cx="5305266" cy="4752551"/>
          </a:xfrm>
        </p:grpSpPr>
        <p:sp>
          <p:nvSpPr>
            <p:cNvPr id="5" name="TextBox 4"/>
            <p:cNvSpPr txBox="1"/>
            <p:nvPr/>
          </p:nvSpPr>
          <p:spPr>
            <a:xfrm flipH="1">
              <a:off x="1908334" y="1752376"/>
              <a:ext cx="2978149" cy="83099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b="1" i="0">
                  <a:solidFill>
                    <a:schemeClr val="tx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2400" dirty="0"/>
                <a:t>人工智能驱动生活变革</a:t>
              </a:r>
            </a:p>
          </p:txBody>
        </p:sp>
        <p:sp>
          <p:nvSpPr>
            <p:cNvPr id="6" name="Rectangle 5"/>
            <p:cNvSpPr/>
            <p:nvPr/>
          </p:nvSpPr>
          <p:spPr>
            <a:xfrm flipH="1">
              <a:off x="1908335" y="2851818"/>
              <a:ext cx="2978150" cy="738023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人工智能技术将深刻改变社会的生活方式，为人们带来更智能、便捷、高效的生活体验。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908334" y="4633595"/>
              <a:ext cx="1485900" cy="1649733"/>
              <a:chOff x="3972083" y="4458976"/>
              <a:chExt cx="1485900" cy="1649733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4072414" y="4458976"/>
                <a:ext cx="410200" cy="410198"/>
                <a:chOff x="6362386" y="4024421"/>
                <a:chExt cx="410200" cy="410198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6362386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Freeform: Shape 11"/>
                <p:cNvSpPr/>
                <p:nvPr/>
              </p:nvSpPr>
              <p:spPr>
                <a:xfrm>
                  <a:off x="6478486" y="4164999"/>
                  <a:ext cx="178001" cy="141741"/>
                </a:xfrm>
                <a:custGeom>
                  <a:avLst/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Rectangle 8"/>
              <p:cNvSpPr/>
              <p:nvPr/>
            </p:nvSpPr>
            <p:spPr>
              <a:xfrm flipH="1">
                <a:off x="3972083" y="5370686"/>
                <a:ext cx="1485900" cy="73802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创造智能化生活环境，实现家居设备的联网控制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3973625" y="5026068"/>
                <a:ext cx="1482817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 anchor="b">
                <a:normAutofit/>
              </a:bodyPr>
              <a:lstStyle>
                <a:defPPr>
                  <a:defRPr lang="zh-CN"/>
                </a:defPPr>
                <a:lvl1pPr algn="ctr">
                  <a:defRPr b="1" i="0">
                    <a:gradFill>
                      <a:gsLst>
                        <a:gs pos="0">
                          <a:schemeClr val="accent6">
                            <a:lumMod val="60000"/>
                            <a:lumOff val="40000"/>
                          </a:schemeClr>
                        </a:gs>
                        <a:gs pos="60000">
                          <a:schemeClr val="accent6"/>
                        </a:gs>
                      </a:gsLst>
                      <a:lin ang="2700000" scaled="0"/>
                    </a:gradFill>
                    <a:effectLst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智能家居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3818017" y="4633595"/>
              <a:ext cx="1485900" cy="1871332"/>
              <a:chOff x="5557827" y="4458976"/>
              <a:chExt cx="1485900" cy="1871332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5658158" y="4458976"/>
                <a:ext cx="410200" cy="410198"/>
                <a:chOff x="8252780" y="4024421"/>
                <a:chExt cx="414650" cy="410198"/>
              </a:xfrm>
            </p:grpSpPr>
            <p:sp>
              <p:nvSpPr>
                <p:cNvPr id="17" name="Rectangle 16"/>
                <p:cNvSpPr/>
                <p:nvPr/>
              </p:nvSpPr>
              <p:spPr>
                <a:xfrm>
                  <a:off x="8252780" y="4024421"/>
                  <a:ext cx="41465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Freeform: Shape 17"/>
                <p:cNvSpPr/>
                <p:nvPr/>
              </p:nvSpPr>
              <p:spPr>
                <a:xfrm>
                  <a:off x="8368880" y="4145290"/>
                  <a:ext cx="178001" cy="162108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" name="Rectangle 14"/>
              <p:cNvSpPr/>
              <p:nvPr/>
            </p:nvSpPr>
            <p:spPr>
              <a:xfrm flipH="1">
                <a:off x="5557827" y="5370686"/>
                <a:ext cx="1485900" cy="959622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人工智能技术将实现智能驾驶，提升交通安全和交通效率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559369" y="5026068"/>
                <a:ext cx="1482817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 anchor="b">
                <a:normAutofit/>
              </a:bodyPr>
              <a:lstStyle>
                <a:defPPr>
                  <a:defRPr lang="zh-CN"/>
                </a:defPPr>
                <a:lvl1pPr algn="ctr">
                  <a:defRPr b="1" i="0">
                    <a:gradFill>
                      <a:gsLst>
                        <a:gs pos="0">
                          <a:schemeClr val="accent6">
                            <a:lumMod val="60000"/>
                            <a:lumOff val="40000"/>
                          </a:schemeClr>
                        </a:gs>
                        <a:gs pos="60000">
                          <a:schemeClr val="accent6"/>
                        </a:gs>
                      </a:gsLst>
                      <a:lin ang="2700000" scaled="0"/>
                    </a:gradFill>
                    <a:effectLst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智能交通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5727700" y="4633595"/>
              <a:ext cx="1485900" cy="1871332"/>
              <a:chOff x="7143571" y="4458976"/>
              <a:chExt cx="1485900" cy="1871332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7243902" y="4458976"/>
                <a:ext cx="410200" cy="410198"/>
                <a:chOff x="7307583" y="4024421"/>
                <a:chExt cx="410200" cy="410198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7307583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60000">
                      <a:schemeClr val="accent5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5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Freeform: Shape 23"/>
                <p:cNvSpPr/>
                <p:nvPr/>
              </p:nvSpPr>
              <p:spPr>
                <a:xfrm>
                  <a:off x="7423682" y="4145283"/>
                  <a:ext cx="178001" cy="174822"/>
                </a:xfrm>
                <a:custGeom>
                  <a:avLst/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408 h 523875"/>
                    <a:gd name="connsiteX30" fmla="*/ 11151 w 533400"/>
                    <a:gd name="connsiteY30" fmla="*/ 175405 h 523875"/>
                    <a:gd name="connsiteX31" fmla="*/ 56300 w 533400"/>
                    <a:gd name="connsiteY31" fmla="*/ 127018 h 523875"/>
                    <a:gd name="connsiteX32" fmla="*/ 8411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576" y="276846"/>
                        <a:pt x="372339" y="289610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1732"/>
                        <a:pt x="359576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552" y="524496"/>
                        <a:pt x="162789" y="511732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610"/>
                        <a:pt x="175552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5305"/>
                        <a:pt x="159741" y="151973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673" y="153021"/>
                        <a:pt x="390341" y="13701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501" y="114921"/>
                        <a:pt x="534264" y="127685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432"/>
                        <a:pt x="521501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512"/>
                        <a:pt x="375387" y="258844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455" y="257796"/>
                        <a:pt x="144787" y="273798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627" y="410196"/>
                        <a:pt x="864" y="397432"/>
                        <a:pt x="864" y="381621"/>
                      </a:cubicBezTo>
                      <a:lnTo>
                        <a:pt x="864" y="201408"/>
                      </a:lnTo>
                      <a:cubicBezTo>
                        <a:pt x="864" y="191788"/>
                        <a:pt x="4484" y="182454"/>
                        <a:pt x="11151" y="175405"/>
                      </a:cubicBezTo>
                      <a:lnTo>
                        <a:pt x="56300" y="127018"/>
                      </a:lnTo>
                      <a:cubicBezTo>
                        <a:pt x="63538" y="119303"/>
                        <a:pt x="73635" y="114921"/>
                        <a:pt x="8411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4921" y="172071"/>
                        <a:pt x="448539" y="178453"/>
                        <a:pt x="448539" y="186359"/>
                      </a:cubicBezTo>
                      <a:cubicBezTo>
                        <a:pt x="448539" y="194264"/>
                        <a:pt x="454921" y="200646"/>
                        <a:pt x="462827" y="200646"/>
                      </a:cubicBezTo>
                      <a:cubicBezTo>
                        <a:pt x="470732" y="200646"/>
                        <a:pt x="477114" y="194264"/>
                        <a:pt x="477114" y="186359"/>
                      </a:cubicBezTo>
                      <a:cubicBezTo>
                        <a:pt x="477114" y="178453"/>
                        <a:pt x="470732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576" y="621"/>
                        <a:pt x="372339" y="13385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207"/>
                        <a:pt x="359576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552" y="133971"/>
                        <a:pt x="162789" y="121207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385"/>
                        <a:pt x="175552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1" name="Rectangle 20"/>
              <p:cNvSpPr/>
              <p:nvPr/>
            </p:nvSpPr>
            <p:spPr>
              <a:xfrm flipH="1">
                <a:off x="7143571" y="5370686"/>
                <a:ext cx="1485900" cy="959622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人工智能技术将推动医疗健康管理的智能化，提供个性化的医疗服务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7145113" y="5026068"/>
                <a:ext cx="1482817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 anchor="b">
                <a:normAutofit/>
              </a:bodyPr>
              <a:lstStyle>
                <a:defPPr>
                  <a:defRPr lang="zh-CN"/>
                </a:defPPr>
                <a:lvl1pPr algn="ctr">
                  <a:defRPr b="1" i="0">
                    <a:gradFill>
                      <a:gsLst>
                        <a:gs pos="0">
                          <a:schemeClr val="accent6">
                            <a:lumMod val="60000"/>
                            <a:lumOff val="40000"/>
                          </a:schemeClr>
                        </a:gs>
                        <a:gs pos="60000">
                          <a:schemeClr val="accent6"/>
                        </a:gs>
                      </a:gsLst>
                      <a:lin ang="2700000" scaled="0"/>
                    </a:gradFill>
                    <a:effectLst/>
                  </a:defRPr>
                </a:lvl1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chemeClr val="tx1"/>
                    </a:solidFill>
                  </a:rPr>
                  <a:t>智能健康</a:t>
                </a:r>
              </a:p>
            </p:txBody>
          </p:sp>
        </p:grpSp>
      </p:grpSp>
      <p:sp>
        <p:nvSpPr>
          <p:cNvPr id="27" name="Title 26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了解</a:t>
            </a:r>
            <a:r>
              <a:rPr lang="en-US" altLang="zh-CN"/>
              <a:t>/</a:t>
            </a:r>
            <a:r>
              <a:rPr lang="zh-CN" altLang="en-US"/>
              <a:t>支持</a:t>
            </a:r>
            <a:r>
              <a:rPr lang="en-US" altLang="zh-CN"/>
              <a:t>/</a:t>
            </a:r>
            <a:r>
              <a:rPr lang="zh-CN" altLang="en-US"/>
              <a:t>助力</a:t>
            </a:r>
            <a:r>
              <a:rPr lang="en-US" altLang="zh-CN"/>
              <a:t> AI</a:t>
            </a:r>
            <a:r>
              <a:rPr lang="zh-CN" altLang="en-US"/>
              <a:t>对</a:t>
            </a:r>
            <a:r>
              <a:rPr lang="en-US"/>
              <a:t>生活方式</a:t>
            </a:r>
            <a:r>
              <a:rPr lang="zh-CN" altLang="en-US"/>
              <a:t>的</a:t>
            </a:r>
            <a:r>
              <a:rPr lang="en-US"/>
              <a:t>变革</a:t>
            </a:r>
          </a:p>
        </p:txBody>
      </p:sp>
      <p:pic>
        <p:nvPicPr>
          <p:cNvPr id="26" name="图片 25" descr="微信截图_20250302202447"/>
          <p:cNvPicPr>
            <a:picLocks noChangeAspect="1"/>
          </p:cNvPicPr>
          <p:nvPr/>
        </p:nvPicPr>
        <p:blipFill>
          <a:blip r:embed="rId3"/>
          <a:srcRect l="27053" t="7720" r="13960" b="6916"/>
          <a:stretch>
            <a:fillRect/>
          </a:stretch>
        </p:blipFill>
        <p:spPr>
          <a:xfrm>
            <a:off x="7737475" y="1752600"/>
            <a:ext cx="3807460" cy="3834765"/>
          </a:xfrm>
          <a:prstGeom prst="round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0" y="1887488"/>
            <a:ext cx="12192000" cy="4226995"/>
            <a:chOff x="0" y="1887488"/>
            <a:chExt cx="12192000" cy="4226995"/>
          </a:xfrm>
        </p:grpSpPr>
        <p:sp>
          <p:nvSpPr>
            <p:cNvPr id="2" name="Rectangle 1"/>
            <p:cNvSpPr/>
            <p:nvPr/>
          </p:nvSpPr>
          <p:spPr>
            <a:xfrm>
              <a:off x="0" y="3968685"/>
              <a:ext cx="12192000" cy="214579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4148757" y="1887488"/>
              <a:ext cx="2001232" cy="1349663"/>
              <a:chOff x="4425744" y="1962755"/>
              <a:chExt cx="2001232" cy="1349663"/>
            </a:xfrm>
          </p:grpSpPr>
          <p:sp>
            <p:nvSpPr>
              <p:cNvPr id="60" name="TextBox 59"/>
              <p:cNvSpPr txBox="1"/>
              <p:nvPr/>
            </p:nvSpPr>
            <p:spPr>
              <a:xfrm>
                <a:off x="4425744" y="2543650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岗位智能化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447763" y="2795995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自动化带来的职业技能转变和发展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  <p:grpSp>
            <p:nvGrpSpPr>
              <p:cNvPr id="62" name="Group 61"/>
              <p:cNvGrpSpPr/>
              <p:nvPr/>
            </p:nvGrpSpPr>
            <p:grpSpPr>
              <a:xfrm>
                <a:off x="4535874" y="1962755"/>
                <a:ext cx="410200" cy="410198"/>
                <a:chOff x="3526795" y="4024421"/>
                <a:chExt cx="410200" cy="410198"/>
              </a:xfrm>
            </p:grpSpPr>
            <p:sp>
              <p:nvSpPr>
                <p:cNvPr id="63" name="Rectangle 62"/>
                <p:cNvSpPr/>
                <p:nvPr/>
              </p:nvSpPr>
              <p:spPr>
                <a:xfrm>
                  <a:off x="3526795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4" name="Freeform: Shape 63"/>
                <p:cNvSpPr/>
                <p:nvPr/>
              </p:nvSpPr>
              <p:spPr>
                <a:xfrm>
                  <a:off x="3642895" y="4162770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78" name="Group 77"/>
            <p:cNvGrpSpPr/>
            <p:nvPr/>
          </p:nvGrpSpPr>
          <p:grpSpPr>
            <a:xfrm>
              <a:off x="6835238" y="1889350"/>
              <a:ext cx="2001232" cy="1345940"/>
              <a:chOff x="6971706" y="1964617"/>
              <a:chExt cx="2001232" cy="1345940"/>
            </a:xfrm>
          </p:grpSpPr>
          <p:grpSp>
            <p:nvGrpSpPr>
              <p:cNvPr id="66" name="Group 65"/>
              <p:cNvGrpSpPr/>
              <p:nvPr/>
            </p:nvGrpSpPr>
            <p:grpSpPr>
              <a:xfrm>
                <a:off x="7092912" y="1964617"/>
                <a:ext cx="410200" cy="410198"/>
                <a:chOff x="4471992" y="4024421"/>
                <a:chExt cx="410200" cy="410198"/>
              </a:xfrm>
            </p:grpSpPr>
            <p:sp>
              <p:nvSpPr>
                <p:cNvPr id="69" name="Rectangle 68"/>
                <p:cNvSpPr/>
                <p:nvPr/>
              </p:nvSpPr>
              <p:spPr>
                <a:xfrm>
                  <a:off x="4471992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0" name="Freeform: Shape 69"/>
                <p:cNvSpPr/>
                <p:nvPr/>
              </p:nvSpPr>
              <p:spPr>
                <a:xfrm>
                  <a:off x="4595899" y="4146869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7" name="TextBox 66"/>
              <p:cNvSpPr txBox="1"/>
              <p:nvPr/>
            </p:nvSpPr>
            <p:spPr>
              <a:xfrm>
                <a:off x="6971706" y="2541789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技术咨询师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6993725" y="2794134"/>
                <a:ext cx="1979213" cy="5164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需具备AI技术知识和能够提供相关咨询和建议</a:t>
                </a:r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9517668" y="1891211"/>
              <a:ext cx="2001232" cy="1563817"/>
              <a:chOff x="9517668" y="1966478"/>
              <a:chExt cx="2001232" cy="1563817"/>
            </a:xfrm>
          </p:grpSpPr>
          <p:grpSp>
            <p:nvGrpSpPr>
              <p:cNvPr id="72" name="Group 71"/>
              <p:cNvGrpSpPr/>
              <p:nvPr/>
            </p:nvGrpSpPr>
            <p:grpSpPr>
              <a:xfrm>
                <a:off x="9639767" y="1966478"/>
                <a:ext cx="410200" cy="410198"/>
                <a:chOff x="5417189" y="4024421"/>
                <a:chExt cx="410200" cy="410198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5417189" y="4024421"/>
                  <a:ext cx="410200" cy="410198"/>
                </a:xfrm>
                <a:prstGeom prst="rect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6" name="Freeform: Shape 75"/>
                <p:cNvSpPr/>
                <p:nvPr/>
              </p:nvSpPr>
              <p:spPr>
                <a:xfrm>
                  <a:off x="5533289" y="4158600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3" name="TextBox 72"/>
              <p:cNvSpPr txBox="1"/>
              <p:nvPr/>
            </p:nvSpPr>
            <p:spPr>
              <a:xfrm>
                <a:off x="9517668" y="2539927"/>
                <a:ext cx="197921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 dirty="0"/>
                  <a:t>数据科学家</a:t>
                </a: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9539687" y="2792272"/>
                <a:ext cx="1979213" cy="738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需掌握数据分析和机器学习等技能，能够利用AI解决实际问题</a:t>
                </a: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4148757" y="4282825"/>
              <a:ext cx="7291258" cy="776592"/>
              <a:chOff x="4148757" y="4282825"/>
              <a:chExt cx="7291258" cy="776592"/>
            </a:xfrm>
          </p:grpSpPr>
          <p:sp>
            <p:nvSpPr>
              <p:cNvPr id="100" name="TextBox 99"/>
              <p:cNvSpPr txBox="1"/>
              <p:nvPr/>
            </p:nvSpPr>
            <p:spPr>
              <a:xfrm>
                <a:off x="4148757" y="4282825"/>
                <a:ext cx="725721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职业角色和技能需求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4182798" y="4764593"/>
                <a:ext cx="7257217" cy="2948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AI技术的发展将对工作岗位带来巨大改变，需要不断学习和适应新技能。</a:t>
                </a:r>
              </a:p>
            </p:txBody>
          </p:sp>
        </p:grpSp>
      </p:grpSp>
      <p:sp>
        <p:nvSpPr>
          <p:cNvPr id="103" name="Title 10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在</a:t>
            </a:r>
            <a:r>
              <a:rPr lang="en-US" altLang="zh-CN"/>
              <a:t>AI</a:t>
            </a:r>
            <a:r>
              <a:rPr lang="zh-CN" altLang="en-US"/>
              <a:t>时代找到合适自己的</a:t>
            </a:r>
            <a:r>
              <a:rPr lang="en-US"/>
              <a:t>工作岗位</a:t>
            </a:r>
            <a:r>
              <a:rPr lang="zh-CN" altLang="en-US"/>
              <a:t>，贡献自己的一份力</a:t>
            </a:r>
          </a:p>
        </p:txBody>
      </p:sp>
      <p:pic>
        <p:nvPicPr>
          <p:cNvPr id="71" name="图片 70" descr="微信截图_20250302202633"/>
          <p:cNvPicPr>
            <a:picLocks noChangeAspect="1"/>
          </p:cNvPicPr>
          <p:nvPr/>
        </p:nvPicPr>
        <p:blipFill>
          <a:blip r:embed="rId3"/>
          <a:srcRect l="16648" t="846" r="19336" b="2195"/>
          <a:stretch>
            <a:fillRect/>
          </a:stretch>
        </p:blipFill>
        <p:spPr>
          <a:xfrm>
            <a:off x="445135" y="2297430"/>
            <a:ext cx="3417570" cy="3460115"/>
          </a:xfrm>
          <a:prstGeom prst="round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0" y="1130300"/>
            <a:ext cx="12192000" cy="5003800"/>
            <a:chOff x="0" y="1130300"/>
            <a:chExt cx="12192000" cy="5003800"/>
          </a:xfrm>
        </p:grpSpPr>
        <p:grpSp>
          <p:nvGrpSpPr>
            <p:cNvPr id="3" name="Group 2"/>
            <p:cNvGrpSpPr/>
            <p:nvPr/>
          </p:nvGrpSpPr>
          <p:grpSpPr>
            <a:xfrm>
              <a:off x="1079028" y="1130300"/>
              <a:ext cx="10021243" cy="1151173"/>
              <a:chOff x="660401" y="4826974"/>
              <a:chExt cx="10858500" cy="1151173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660401" y="5244598"/>
                <a:ext cx="10858499" cy="733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buSzPct val="25000"/>
                </a:pPr>
                <a:r>
                  <a:rPr lang="zh-CN" altLang="en-US" sz="1200" dirty="0"/>
                  <a:t>利用人工智能技术改善教育体系，提供更个性化、高效率的学习方式。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60402" y="4826974"/>
                <a:ext cx="10858499" cy="41762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2400" b="1" dirty="0"/>
                  <a:t>教育体系改良</a:t>
                </a:r>
                <a:endParaRPr lang="id-ID" altLang="zh-CN" b="1" dirty="0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4" name="Rectangle 3"/>
            <p:cNvSpPr/>
            <p:nvPr/>
          </p:nvSpPr>
          <p:spPr>
            <a:xfrm>
              <a:off x="0" y="4390931"/>
              <a:ext cx="12192000" cy="6156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660400" y="4468004"/>
              <a:ext cx="3369248" cy="1666096"/>
              <a:chOff x="743997" y="4468004"/>
              <a:chExt cx="3264572" cy="1666096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743997" y="4468004"/>
                <a:ext cx="3264572" cy="46148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个性化学习</a:t>
                </a:r>
                <a:endParaRPr lang="id-ID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 bwMode="auto">
              <a:xfrm>
                <a:off x="743997" y="5006565"/>
                <a:ext cx="3264572" cy="1127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定制化教学，满足学生的个性化需求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405027" y="4468004"/>
              <a:ext cx="3369248" cy="1666096"/>
              <a:chOff x="743997" y="4468004"/>
              <a:chExt cx="3264572" cy="1666096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743997" y="4468004"/>
                <a:ext cx="3264572" cy="46148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智能辅助教学</a:t>
                </a:r>
                <a:endParaRPr lang="id-ID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 bwMode="auto">
              <a:xfrm>
                <a:off x="743997" y="5006565"/>
                <a:ext cx="3264572" cy="1127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利用人工智能技术提供实时反馈和指导，提高学生的学习效果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8149652" y="4468004"/>
              <a:ext cx="3369248" cy="1666096"/>
              <a:chOff x="743997" y="4468004"/>
              <a:chExt cx="3264572" cy="1666096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743997" y="4468004"/>
                <a:ext cx="3264572" cy="46148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智能评估与管理</a:t>
                </a:r>
                <a:endParaRPr lang="id-ID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 bwMode="auto">
              <a:xfrm>
                <a:off x="743997" y="5006565"/>
                <a:ext cx="3264572" cy="1127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利用人工智能技术进行学生学习情况的评估与管理，帮助教师更好地指导学生</a:t>
                </a:r>
              </a:p>
            </p:txBody>
          </p:sp>
        </p:grpSp>
      </p:grp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使用</a:t>
            </a:r>
            <a:r>
              <a:rPr lang="en-US" altLang="zh-CN"/>
              <a:t>AI</a:t>
            </a:r>
            <a:r>
              <a:rPr lang="zh-CN" altLang="en-US"/>
              <a:t>助力自己的学习进步</a:t>
            </a:r>
          </a:p>
        </p:txBody>
      </p:sp>
      <p:pic>
        <p:nvPicPr>
          <p:cNvPr id="26" name="图片 25" descr="微信截图_20250302203428"/>
          <p:cNvPicPr>
            <a:picLocks noChangeAspect="1"/>
          </p:cNvPicPr>
          <p:nvPr/>
        </p:nvPicPr>
        <p:blipFill>
          <a:blip r:embed="rId3"/>
          <a:srcRect l="26283" t="26719" r="5613" b="7547"/>
          <a:stretch>
            <a:fillRect/>
          </a:stretch>
        </p:blipFill>
        <p:spPr>
          <a:xfrm>
            <a:off x="8388985" y="2464435"/>
            <a:ext cx="2915285" cy="1926590"/>
          </a:xfrm>
          <a:prstGeom prst="round2SameRect">
            <a:avLst/>
          </a:prstGeom>
        </p:spPr>
      </p:pic>
      <p:pic>
        <p:nvPicPr>
          <p:cNvPr id="27" name="图片 26" descr="微信截图_20250302203136"/>
          <p:cNvPicPr>
            <a:picLocks noChangeAspect="1"/>
          </p:cNvPicPr>
          <p:nvPr/>
        </p:nvPicPr>
        <p:blipFill>
          <a:blip r:embed="rId4"/>
          <a:srcRect l="10216" t="10631" r="12068" b="9846"/>
          <a:stretch>
            <a:fillRect/>
          </a:stretch>
        </p:blipFill>
        <p:spPr>
          <a:xfrm>
            <a:off x="4638040" y="2468880"/>
            <a:ext cx="2915920" cy="1922145"/>
          </a:xfrm>
          <a:prstGeom prst="round2SameRect">
            <a:avLst/>
          </a:prstGeom>
        </p:spPr>
      </p:pic>
      <p:pic>
        <p:nvPicPr>
          <p:cNvPr id="28" name="图片 27" descr="微信截图_20250302203048"/>
          <p:cNvPicPr>
            <a:picLocks noChangeAspect="1"/>
          </p:cNvPicPr>
          <p:nvPr/>
        </p:nvPicPr>
        <p:blipFill>
          <a:blip r:embed="rId5"/>
          <a:srcRect l="2188" t="3986" r="3863" b="3489"/>
          <a:stretch>
            <a:fillRect/>
          </a:stretch>
        </p:blipFill>
        <p:spPr>
          <a:xfrm>
            <a:off x="887730" y="2464435"/>
            <a:ext cx="2915285" cy="1926590"/>
          </a:xfrm>
          <a:prstGeom prst="round2Same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截图_20250302205409"/>
          <p:cNvPicPr>
            <a:picLocks noChangeAspect="1"/>
          </p:cNvPicPr>
          <p:nvPr/>
        </p:nvPicPr>
        <p:blipFill>
          <a:blip r:embed="rId16"/>
          <a:srcRect l="14745" t="20219" r="15269" b="9047"/>
          <a:stretch>
            <a:fillRect/>
          </a:stretch>
        </p:blipFill>
        <p:spPr>
          <a:xfrm>
            <a:off x="8178800" y="2571115"/>
            <a:ext cx="2489200" cy="1659890"/>
          </a:xfrm>
          <a:prstGeom prst="round2SameRect">
            <a:avLst/>
          </a:prstGeom>
        </p:spPr>
      </p:pic>
      <p:pic>
        <p:nvPicPr>
          <p:cNvPr id="4" name="图片 3" descr="微信截图_20250302205346"/>
          <p:cNvPicPr>
            <a:picLocks noChangeAspect="1"/>
          </p:cNvPicPr>
          <p:nvPr/>
        </p:nvPicPr>
        <p:blipFill>
          <a:blip r:embed="rId17"/>
          <a:srcRect l="3748" t="-306" r="2544" b="439"/>
          <a:stretch>
            <a:fillRect/>
          </a:stretch>
        </p:blipFill>
        <p:spPr>
          <a:xfrm>
            <a:off x="4854575" y="2562860"/>
            <a:ext cx="2483485" cy="1677035"/>
          </a:xfrm>
          <a:prstGeom prst="round2SameRect">
            <a:avLst/>
          </a:prstGeom>
        </p:spPr>
      </p:pic>
      <p:pic>
        <p:nvPicPr>
          <p:cNvPr id="5" name="图片 4" descr="微信截图_20250302205056"/>
          <p:cNvPicPr>
            <a:picLocks noChangeAspect="1"/>
          </p:cNvPicPr>
          <p:nvPr/>
        </p:nvPicPr>
        <p:blipFill>
          <a:blip r:embed="rId18"/>
          <a:srcRect l="-561" t="1611" r="-252" b="43606"/>
          <a:stretch>
            <a:fillRect/>
          </a:stretch>
        </p:blipFill>
        <p:spPr>
          <a:xfrm>
            <a:off x="1525270" y="2571750"/>
            <a:ext cx="2488565" cy="1672590"/>
          </a:xfrm>
          <a:prstGeom prst="round2SameRect">
            <a:avLst/>
          </a:prstGeom>
        </p:spPr>
      </p:pic>
      <p:grpSp>
        <p:nvGrpSpPr>
          <p:cNvPr id="3" name="Group 2"/>
          <p:cNvGrpSpPr/>
          <p:nvPr>
            <p:custDataLst>
              <p:tags r:id="rId2"/>
            </p:custDataLst>
          </p:nvPr>
        </p:nvGrpSpPr>
        <p:grpSpPr>
          <a:xfrm>
            <a:off x="635006" y="960455"/>
            <a:ext cx="10883894" cy="4937090"/>
            <a:chOff x="635006" y="960455"/>
            <a:chExt cx="10883894" cy="4937090"/>
          </a:xfrm>
        </p:grpSpPr>
        <p:grpSp>
          <p:nvGrpSpPr>
            <p:cNvPr id="45" name="Group 44"/>
            <p:cNvGrpSpPr/>
            <p:nvPr/>
          </p:nvGrpSpPr>
          <p:grpSpPr>
            <a:xfrm>
              <a:off x="1524908" y="2570145"/>
              <a:ext cx="9142184" cy="3327400"/>
              <a:chOff x="660400" y="2141972"/>
              <a:chExt cx="9142184" cy="3327400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660400" y="2141972"/>
                <a:ext cx="2489200" cy="3327400"/>
                <a:chOff x="660400" y="2141972"/>
                <a:chExt cx="2489200" cy="3327400"/>
              </a:xfrm>
            </p:grpSpPr>
            <p:sp>
              <p:nvSpPr>
                <p:cNvPr id="21" name="Rectangle: Rounded Corners 20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660400" y="2141972"/>
                  <a:ext cx="2489200" cy="3327400"/>
                </a:xfrm>
                <a:prstGeom prst="roundRect">
                  <a:avLst>
                    <a:gd name="adj" fmla="val 9075"/>
                  </a:avLst>
                </a:prstGeom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TextBox 22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825330" y="4292117"/>
                  <a:ext cx="2108370" cy="338554"/>
                </a:xfrm>
                <a:prstGeom prst="rect">
                  <a:avLst/>
                </a:prstGeom>
                <a:noFill/>
              </p:spPr>
              <p:txBody>
                <a:bodyPr wrap="none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/>
                    <a:t>智能机器人发展</a:t>
                  </a:r>
                </a:p>
              </p:txBody>
            </p:sp>
            <p:sp>
              <p:nvSpPr>
                <p:cNvPr id="24" name="Rectangle 2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825330" y="4682372"/>
                  <a:ext cx="2108370" cy="484367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0000" tIns="90000" rIns="90000" bIns="90000" numCol="1" spcCol="0" rtlCol="0" fromWordArt="0" anchor="t" anchorCtr="0" forceAA="0" compatLnSpc="1">
                  <a:no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提升工作效率，推动生产力的</a:t>
                  </a: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增长</a:t>
                  </a:r>
                </a:p>
              </p:txBody>
            </p:sp>
            <p:sp>
              <p:nvSpPr>
                <p:cNvPr id="25" name="Oval 24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825330" y="3539355"/>
                  <a:ext cx="540002" cy="540000"/>
                </a:xfrm>
                <a:prstGeom prst="ellipse">
                  <a:avLst/>
                </a:prstGeom>
                <a:solidFill>
                  <a:schemeClr val="accent1"/>
                </a:solidFill>
                <a:ln w="38100" cap="rnd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>
                    <a:lnSpc>
                      <a:spcPct val="120000"/>
                    </a:lnSpc>
                  </a:pPr>
                  <a:r>
                    <a:rPr lang="en-US" altLang="zh-CN" sz="2000" b="1" dirty="0">
                      <a:solidFill>
                        <a:schemeClr val="bg1"/>
                      </a:solidFill>
                    </a:rPr>
                    <a:t>01</a:t>
                  </a:r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3986892" y="2141972"/>
                <a:ext cx="2489200" cy="3327400"/>
                <a:chOff x="660400" y="2141972"/>
                <a:chExt cx="2489200" cy="3327400"/>
              </a:xfrm>
            </p:grpSpPr>
            <p:sp>
              <p:nvSpPr>
                <p:cNvPr id="28" name="Rectangle: Rounded Corners 27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660400" y="2141972"/>
                  <a:ext cx="2489200" cy="3327400"/>
                </a:xfrm>
                <a:prstGeom prst="roundRect">
                  <a:avLst>
                    <a:gd name="adj" fmla="val 9075"/>
                  </a:avLst>
                </a:prstGeom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TextBox 29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825330" y="4292117"/>
                  <a:ext cx="2108370" cy="338554"/>
                </a:xfrm>
                <a:prstGeom prst="rect">
                  <a:avLst/>
                </a:prstGeom>
                <a:noFill/>
              </p:spPr>
              <p:txBody>
                <a:bodyPr wrap="none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/>
                    <a:t>智能物联网技术</a:t>
                  </a:r>
                </a:p>
              </p:txBody>
            </p:sp>
            <p:sp>
              <p:nvSpPr>
                <p:cNvPr id="31" name="Rectangle 30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25330" y="4682372"/>
                  <a:ext cx="2108370" cy="484367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0000" tIns="90000" rIns="90000" bIns="90000" numCol="1" spcCol="0" rtlCol="0" fromWordArt="0" anchor="t" anchorCtr="0" forceAA="0" compatLnSpc="1">
                  <a:no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实现智能化的设备和系统互联</a:t>
                  </a:r>
                </a:p>
              </p:txBody>
            </p:sp>
            <p:sp>
              <p:nvSpPr>
                <p:cNvPr id="32" name="Oval 31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25330" y="3539355"/>
                  <a:ext cx="540002" cy="540000"/>
                </a:xfrm>
                <a:prstGeom prst="ellipse">
                  <a:avLst/>
                </a:prstGeom>
                <a:solidFill>
                  <a:schemeClr val="accent1"/>
                </a:solidFill>
                <a:ln w="38100" cap="rnd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>
                    <a:lnSpc>
                      <a:spcPct val="120000"/>
                    </a:lnSpc>
                  </a:pPr>
                  <a:r>
                    <a:rPr lang="en-US" altLang="zh-CN" sz="2000" b="1" dirty="0">
                      <a:solidFill>
                        <a:schemeClr val="bg1"/>
                      </a:solidFill>
                    </a:rPr>
                    <a:t>02</a:t>
                  </a:r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3" name="Group 32"/>
              <p:cNvGrpSpPr/>
              <p:nvPr/>
            </p:nvGrpSpPr>
            <p:grpSpPr>
              <a:xfrm>
                <a:off x="7313384" y="2141972"/>
                <a:ext cx="2489200" cy="3327400"/>
                <a:chOff x="660400" y="2141972"/>
                <a:chExt cx="2489200" cy="3327400"/>
              </a:xfrm>
            </p:grpSpPr>
            <p:sp>
              <p:nvSpPr>
                <p:cNvPr id="34" name="Rectangle: Rounded Corners 33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60400" y="2141972"/>
                  <a:ext cx="2489200" cy="3327400"/>
                </a:xfrm>
                <a:prstGeom prst="roundRect">
                  <a:avLst>
                    <a:gd name="adj" fmla="val 9075"/>
                  </a:avLst>
                </a:prstGeom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TextBox 35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825330" y="4292117"/>
                  <a:ext cx="2108370" cy="338554"/>
                </a:xfrm>
                <a:prstGeom prst="rect">
                  <a:avLst/>
                </a:prstGeom>
                <a:noFill/>
              </p:spPr>
              <p:txBody>
                <a:bodyPr wrap="none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/>
                    <a:t>智能安全保护</a:t>
                  </a:r>
                </a:p>
              </p:txBody>
            </p:sp>
            <p:sp>
              <p:nvSpPr>
                <p:cNvPr id="37" name="Rectangle 3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825330" y="4682372"/>
                  <a:ext cx="2108370" cy="484367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0000" tIns="90000" rIns="90000" bIns="90000" numCol="1" spcCol="0" rtlCol="0" fromWordArt="0" anchor="t" anchorCtr="0" forceAA="0" compatLnSpc="1">
                  <a:no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tx1"/>
                      </a:solidFill>
                    </a:rPr>
                    <a:t>应对日益复杂的网络安全威胁</a:t>
                  </a:r>
                </a:p>
              </p:txBody>
            </p:sp>
            <p:sp>
              <p:nvSpPr>
                <p:cNvPr id="38" name="Oval 3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25330" y="3539355"/>
                  <a:ext cx="540002" cy="540000"/>
                </a:xfrm>
                <a:prstGeom prst="ellipse">
                  <a:avLst/>
                </a:prstGeom>
                <a:solidFill>
                  <a:schemeClr val="accent1"/>
                </a:solidFill>
                <a:ln w="38100" cap="rnd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>
                    <a:lnSpc>
                      <a:spcPct val="120000"/>
                    </a:lnSpc>
                  </a:pPr>
                  <a:r>
                    <a:rPr lang="en-US" altLang="zh-CN" sz="2000" b="1" dirty="0">
                      <a:solidFill>
                        <a:schemeClr val="bg1"/>
                      </a:solidFill>
                    </a:rPr>
                    <a:t>03</a:t>
                  </a:r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48" name="Group 47"/>
            <p:cNvGrpSpPr/>
            <p:nvPr/>
          </p:nvGrpSpPr>
          <p:grpSpPr>
            <a:xfrm>
              <a:off x="635006" y="960455"/>
              <a:ext cx="10883894" cy="1012932"/>
              <a:chOff x="635006" y="960455"/>
              <a:chExt cx="10883894" cy="1012932"/>
            </a:xfrm>
          </p:grpSpPr>
          <p:sp>
            <p:nvSpPr>
              <p:cNvPr id="46" name="Rectangle 45"/>
              <p:cNvSpPr/>
              <p:nvPr/>
            </p:nvSpPr>
            <p:spPr>
              <a:xfrm>
                <a:off x="635006" y="960455"/>
                <a:ext cx="10883894" cy="666407"/>
              </a:xfrm>
              <a:prstGeom prst="rect">
                <a:avLst/>
              </a:prstGeom>
            </p:spPr>
            <p:txBody>
              <a:bodyPr wrap="none" anchor="b" anchorCtr="0">
                <a:no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科技领域机会</a:t>
                </a: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635006" y="1678563"/>
                <a:ext cx="10883894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lnSpc>
                    <a:spcPct val="150000"/>
                  </a:lnSpc>
                  <a:defRPr sz="1200">
                    <a:solidFill>
                      <a:schemeClr val="bg1">
                        <a:lumMod val="50000"/>
                      </a:schemeClr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人工智能技术为科技领域带来的研究方向和机会</a:t>
                </a:r>
              </a:p>
            </p:txBody>
          </p:sp>
        </p:grpSp>
      </p:grpSp>
      <p:sp>
        <p:nvSpPr>
          <p:cNvPr id="50" name="Title 4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积极了解</a:t>
            </a:r>
            <a:r>
              <a:rPr lang="en-US"/>
              <a:t>前沿领域探索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60400" y="1130300"/>
            <a:ext cx="10251813" cy="4938752"/>
            <a:chOff x="660400" y="1130300"/>
            <a:chExt cx="10251813" cy="4938752"/>
          </a:xfrm>
        </p:grpSpPr>
        <p:grpSp>
          <p:nvGrpSpPr>
            <p:cNvPr id="16" name="Group 15"/>
            <p:cNvGrpSpPr/>
            <p:nvPr/>
          </p:nvGrpSpPr>
          <p:grpSpPr>
            <a:xfrm>
              <a:off x="1631930" y="4349214"/>
              <a:ext cx="1724155" cy="1107047"/>
              <a:chOff x="1631930" y="4349214"/>
              <a:chExt cx="1724155" cy="1107047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1631931" y="4814061"/>
                <a:ext cx="1724154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了解人工智能技术的最新趋势和发展方向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631930" y="4349214"/>
                <a:ext cx="172415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AI技术进步</a:t>
                </a: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660400" y="1755120"/>
              <a:ext cx="7919915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 dirty="0"/>
                <a:t>探索人工智能技术的发展动态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7985" y="1130300"/>
              <a:ext cx="79199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研究人员的AI关注点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5234362" y="5256629"/>
              <a:ext cx="1724155" cy="812423"/>
              <a:chOff x="5234362" y="5256629"/>
              <a:chExt cx="1724155" cy="812423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5234363" y="5648451"/>
                <a:ext cx="1724154" cy="4206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人工智能的行业应用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5234362" y="5256629"/>
                <a:ext cx="172415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AI领域应用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9186788" y="4349849"/>
              <a:ext cx="1725425" cy="1217521"/>
              <a:chOff x="9186788" y="4349849"/>
              <a:chExt cx="1725425" cy="1217521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9188059" y="4703571"/>
                <a:ext cx="1724154" cy="8637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dirty="0">
                    <a:solidFill>
                      <a:schemeClr val="tx1"/>
                    </a:solidFill>
                  </a:rPr>
                  <a:t>了解研究人员可以关注的人工智能研究领域和机会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9186788" y="4349849"/>
                <a:ext cx="172415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 dirty="0">
                    <a:solidFill>
                      <a:schemeClr val="tx1"/>
                    </a:solidFill>
                  </a:rPr>
                  <a:t>AI研究机遇</a:t>
                </a:r>
              </a:p>
            </p:txBody>
          </p:sp>
        </p:grpSp>
      </p:grpSp>
      <p:sp>
        <p:nvSpPr>
          <p:cNvPr id="47" name="Title 46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助力</a:t>
            </a:r>
            <a:r>
              <a:rPr lang="en-US" altLang="zh-CN"/>
              <a:t>AI</a:t>
            </a:r>
            <a:r>
              <a:rPr lang="en-US"/>
              <a:t>技术发展</a:t>
            </a:r>
          </a:p>
        </p:txBody>
      </p:sp>
      <p:pic>
        <p:nvPicPr>
          <p:cNvPr id="6" name="图片 5" descr="微信截图_20250302210340"/>
          <p:cNvPicPr>
            <a:picLocks noChangeAspect="1"/>
          </p:cNvPicPr>
          <p:nvPr/>
        </p:nvPicPr>
        <p:blipFill>
          <a:blip r:embed="rId3">
            <a:alphaModFix amt="84000"/>
          </a:blip>
          <a:srcRect l="61" t="6195" r="3708" b="-2991"/>
          <a:stretch>
            <a:fillRect/>
          </a:stretch>
        </p:blipFill>
        <p:spPr>
          <a:xfrm>
            <a:off x="3749675" y="1693545"/>
            <a:ext cx="4830445" cy="3216275"/>
          </a:xfrm>
          <a:prstGeom prst="cloud">
            <a:avLst/>
          </a:prstGeom>
        </p:spPr>
      </p:pic>
      <p:pic>
        <p:nvPicPr>
          <p:cNvPr id="10" name="图片 9" descr="箭头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880000" flipH="1">
            <a:off x="3531235" y="5009515"/>
            <a:ext cx="1033780" cy="1033780"/>
          </a:xfrm>
          <a:prstGeom prst="rect">
            <a:avLst/>
          </a:prstGeom>
        </p:spPr>
      </p:pic>
      <p:pic>
        <p:nvPicPr>
          <p:cNvPr id="12" name="图片 11" descr="箭头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6000000" flipH="1">
            <a:off x="7556500" y="5121275"/>
            <a:ext cx="1033780" cy="10337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622528" y="4951938"/>
            <a:ext cx="3450550" cy="1033956"/>
            <a:chOff x="6622528" y="4951938"/>
            <a:chExt cx="3450550" cy="1033956"/>
          </a:xfrm>
        </p:grpSpPr>
        <p:sp>
          <p:nvSpPr>
            <p:cNvPr id="19" name="TextBox 18"/>
            <p:cNvSpPr txBox="1"/>
            <p:nvPr/>
          </p:nvSpPr>
          <p:spPr>
            <a:xfrm>
              <a:off x="7448469" y="5075049"/>
              <a:ext cx="26246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边缘计算</a:t>
              </a:r>
            </a:p>
          </p:txBody>
        </p:sp>
        <p:sp>
          <p:nvSpPr>
            <p:cNvPr id="20" name="Rectangle 19"/>
            <p:cNvSpPr/>
            <p:nvPr/>
          </p:nvSpPr>
          <p:spPr>
            <a:xfrm flipH="1">
              <a:off x="7448465" y="5401119"/>
              <a:ext cx="2624609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实现设备和传感器的智能化数据处理和决策能力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622528" y="4951938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tx2"/>
                  </a:solidFill>
                </a:rPr>
                <a:t>03</a:t>
              </a:r>
              <a:endParaRPr lang="zh-CN" altLang="en-US" sz="3200" b="1" i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622529" y="2383462"/>
            <a:ext cx="3418893" cy="1033956"/>
            <a:chOff x="6622529" y="2570908"/>
            <a:chExt cx="3418893" cy="1033956"/>
          </a:xfrm>
        </p:grpSpPr>
        <p:sp>
          <p:nvSpPr>
            <p:cNvPr id="16" name="TextBox 15"/>
            <p:cNvSpPr txBox="1"/>
            <p:nvPr/>
          </p:nvSpPr>
          <p:spPr>
            <a:xfrm>
              <a:off x="7416812" y="2694019"/>
              <a:ext cx="262461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深度学习</a:t>
              </a:r>
            </a:p>
          </p:txBody>
        </p:sp>
        <p:sp>
          <p:nvSpPr>
            <p:cNvPr id="17" name="Rectangle 16"/>
            <p:cNvSpPr/>
            <p:nvPr/>
          </p:nvSpPr>
          <p:spPr>
            <a:xfrm flipH="1">
              <a:off x="7416809" y="3020089"/>
              <a:ext cx="2624610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推动计算机视觉、语音识别和自然语言处理的突破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22529" y="2570908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accent1"/>
                  </a:solidFill>
                </a:rPr>
                <a:t>01</a:t>
              </a:r>
              <a:endParaRPr lang="zh-CN" altLang="en-US" sz="3200" b="1" i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622529" y="3666010"/>
            <a:ext cx="3418893" cy="1037336"/>
            <a:chOff x="6622529" y="3759733"/>
            <a:chExt cx="3418893" cy="1037336"/>
          </a:xfrm>
        </p:grpSpPr>
        <p:sp>
          <p:nvSpPr>
            <p:cNvPr id="13" name="TextBox 12"/>
            <p:cNvSpPr txBox="1"/>
            <p:nvPr/>
          </p:nvSpPr>
          <p:spPr>
            <a:xfrm>
              <a:off x="7416812" y="3886224"/>
              <a:ext cx="262461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机器人技术</a:t>
              </a:r>
            </a:p>
          </p:txBody>
        </p:sp>
        <p:sp>
          <p:nvSpPr>
            <p:cNvPr id="14" name="Rectangle 13"/>
            <p:cNvSpPr/>
            <p:nvPr/>
          </p:nvSpPr>
          <p:spPr>
            <a:xfrm flipH="1">
              <a:off x="7416809" y="4212294"/>
              <a:ext cx="2624610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在制造业、服务业和医疗领域带来自动化和智能化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22529" y="3759733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 dirty="0">
                  <a:solidFill>
                    <a:schemeClr val="tx2"/>
                  </a:solidFill>
                </a:rPr>
                <a:t>02</a:t>
              </a:r>
              <a:endParaRPr lang="zh-CN" altLang="en-US" sz="3200" b="1" i="1" dirty="0">
                <a:solidFill>
                  <a:schemeClr val="tx2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660400" y="885439"/>
            <a:ext cx="10858500" cy="834825"/>
          </a:xfrm>
          <a:prstGeom prst="rect">
            <a:avLst/>
          </a:prstGeom>
        </p:spPr>
        <p:txBody>
          <a:bodyPr wrap="square" anchor="b" anchorCtr="0">
            <a:noAutofit/>
          </a:bodyPr>
          <a:lstStyle/>
          <a:p>
            <a:pPr algn="ctr">
              <a:lnSpc>
                <a:spcPct val="100000"/>
              </a:lnSpc>
              <a:buSzPct val="25000"/>
            </a:pPr>
            <a:r>
              <a:rPr lang="zh-CN" altLang="en-US" sz="2400" b="1" dirty="0">
                <a:solidFill>
                  <a:schemeClr val="tx1"/>
                </a:solidFill>
              </a:rPr>
              <a:t>AI研究领域创新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" y="1732964"/>
            <a:ext cx="10858500" cy="29482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/>
                </a:solidFill>
              </a:rPr>
              <a:t>了解AI技术的最新发展和应用领域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在</a:t>
            </a:r>
            <a:r>
              <a:rPr lang="en-US"/>
              <a:t>AI研究领域</a:t>
            </a:r>
            <a:r>
              <a:rPr lang="zh-CN" altLang="en-US"/>
              <a:t>进行</a:t>
            </a:r>
            <a:r>
              <a:rPr lang="en-US"/>
              <a:t>创新</a:t>
            </a:r>
          </a:p>
        </p:txBody>
      </p:sp>
      <p:pic>
        <p:nvPicPr>
          <p:cNvPr id="3" name="图片 2" descr="微信截图_20250302211542"/>
          <p:cNvPicPr>
            <a:picLocks noChangeAspect="1"/>
          </p:cNvPicPr>
          <p:nvPr/>
        </p:nvPicPr>
        <p:blipFill>
          <a:blip r:embed="rId3"/>
          <a:srcRect l="3408" t="4386" r="3720" b="6048"/>
          <a:stretch>
            <a:fillRect/>
          </a:stretch>
        </p:blipFill>
        <p:spPr>
          <a:xfrm>
            <a:off x="139065" y="2385695"/>
            <a:ext cx="5586730" cy="3600450"/>
          </a:xfrm>
          <a:prstGeom prst="roundRect">
            <a:avLst/>
          </a:prstGeom>
          <a:scene3d>
            <a:camera prst="perspectiveLeft">
              <a:rot lat="0" lon="2100000" rev="0"/>
            </a:camera>
            <a:lightRig rig="threePt" dir="t"/>
          </a:scene3d>
        </p:spPr>
      </p:pic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altLang="zh-CN" dirty="0"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 fontScale="92500"/>
          </a:bodyPr>
          <a:lstStyle/>
          <a:p>
            <a:pPr lvl="0"/>
            <a:r>
              <a:rPr lang="en-US" altLang="zh-CN" dirty="0"/>
              <a:t>Speaker name </a:t>
            </a:r>
            <a:r>
              <a:rPr lang="zh-CN" altLang="en-US" dirty="0"/>
              <a:t>张洛宾</a:t>
            </a:r>
            <a:endParaRPr lang="en-US" altLang="zh-C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10455729" y="5781674"/>
            <a:ext cx="951139" cy="342900"/>
          </a:xfrm>
        </p:spPr>
        <p:txBody>
          <a:bodyPr wrap="square">
            <a:normAutofit/>
          </a:bodyPr>
          <a:lstStyle/>
          <a:p>
            <a:pPr lvl="0"/>
            <a:r>
              <a:rPr lang="en-US" altLang="zh-CN" sz="1400" dirty="0"/>
              <a:t>Group 3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islide_reviewed/20240219/todos/3c8d4c87-83a1-40f2-813b-db00c17e49fa-3.source.default.zh-Hans.jpg"/>
  <p:tag name="OFFICEPLUS.THEME" val="islide_reviewed/20240219/todos/3c8d4c87-83a1-40f2-813b-db00c17e49fa-3.source.default.zh-Hans-3.pptx"/>
  <p:tag name="OFFICEPLUS.OUTLINE" val="1598794"/>
  <p:tag name="OFFICEPLUS.OUTLINEEXTERNAL" val="be7cc0fe-b45d-69a6-6982-eb158b61f75f"/>
  <p:tag name="RESOURCE_RECORD_KEY" val="{&quot;10&quot;:[3734166,20071611,20081149,20090528,20117404,20117377,3636886,3637549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03a12446-4040-4dad-8d54-bb681f1089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7bbc12ee-40ec-489f-ab8c-4fa55cf2bf59"/>
  <p:tag name="OFFICEPLUS.TEMPLATE" val="28d67dd3-61fe-4c81-b9af-e895c260dca3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9237795275591,&quot;left&quot;:58.85708661417323,&quot;top&quot;:90.59566929133858,&quot;width&quot;:877.861338582677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062668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989866c-6750-4c9e-a3bf-79d0a1b65dca.pptx"/>
  <p:tag name="OFFICEPLUS.TAG" val="9e4641ec-8dc6-4050-900b-dadf5fdb9e4c"/>
  <p:tag name="OFFICEPLUS.OUTLINECONTENT" val="3976260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7223622047244,&quot;left&quot;:282.99881889763776,&quot;top&quot;:148.4655905511811,&quot;width&quot;:378.127559055118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989866c-6750-4c9e-a3bf-79d0a1b65dca.pptx"/>
  <p:tag name="OFFICEPLUS.TAG" val="9e4641ec-8dc6-4050-900b-dadf5fdb9e4c"/>
  <p:tag name="OFFICEPLUS.OUTLINECONTENT" val="3976260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989866c-6750-4c9e-a3bf-79d0a1b65dca.pptx"/>
  <p:tag name="OFFICEPLUS.TAG" val="9e4641ec-8dc6-4050-900b-dadf5fdb9e4c"/>
  <p:tag name="OFFICEPLUS.OUTLINECONTENT" val="3976260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989866c-6750-4c9e-a3bf-79d0a1b65dca.pptx"/>
  <p:tag name="OFFICEPLUS.TAG" val="9e4641ec-8dc6-4050-900b-dadf5fdb9e4c"/>
  <p:tag name="OFFICEPLUS.OUTLINECONTENT" val="3976260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989866c-6750-4c9e-a3bf-79d0a1b65dca.pptx"/>
  <p:tag name="OFFICEPLUS.TAG" val="9e4641ec-8dc6-4050-900b-dadf5fdb9e4c"/>
  <p:tag name="OFFICEPLUS.OUTLINECONTENT" val="3976260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062668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dfed739c-9231-4e46-99c3-c889f0a61ec7.pptx"/>
  <p:tag name="OFFICEPLUS.TAG" val="bd142c3d-b2ac-49d2-945d-a40ea7d68a02"/>
  <p:tag name="OFFICEPLUS.OUTLINECONTENT" val="3976261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091b63f-c557-4b8f-9cd9-c969a0ade177.pptx"/>
  <p:tag name="OFFICEPLUS.TAG" val="9e4641ec-8dc6-4050-900b-dadf5fdb9e4c"/>
  <p:tag name="OFFICEPLUS.OUTLINECONTENT" val="397626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062669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a80a06ef-9344-4021-9d81-b041c9381b78.pptx"/>
  <p:tag name="OFFICEPLUS.TAG" val="bd142c3d-b2ac-49d2-945d-a40ea7d68a02"/>
  <p:tag name="OFFICEPLUS.OUTLINECONTENT" val="3976262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5b0b2d08-6735-483c-ac62-aecc0b96e00f.pptx"/>
  <p:tag name="OFFICEPLUS.TAG" val="bd142c3d-b2ac-49d2-945d-a40ea7d68a02"/>
  <p:tag name="OFFICEPLUS.OUTLINECONTENT" val="397626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50078740157477,&quot;left&quot;:52,&quot;top&quot;:96.4992125984252,&quot;width&quot;:85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50078740157477,&quot;left&quot;:52,&quot;top&quot;:96.4992125984252,&quot;width&quot;:85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50078740157477,&quot;left&quot;:52,&quot;top&quot;:96.4992125984252,&quot;width&quot;:85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50078740157477,&quot;left&quot;:52,&quot;top&quot;:96.4992125984252,&quot;width&quot;:85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50078740157477,&quot;left&quot;:52,&quot;top&quot;:96.4992125984252,&quot;width&quot;:85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c75af5c0-75e3-4757-8cd6-6397a2e1ce3c.pptx"/>
  <p:tag name="OFFICEPLUS.TAG" val="bd142c3d-b2ac-49d2-945d-a40ea7d68a02"/>
  <p:tag name="OFFICEPLUS.OUTLINECONTENT" val="39762628"/>
  <p:tag name="RESOURCE_RECORD_KEY" val="{&quot;10&quot;:[3734166,20071611,3636886]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0,&quot;left&quot;:0,&quot;top&quot;:15.025,&quot;width&quot;:960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0,&quot;left&quot;:0,&quot;top&quot;:15.025,&quot;width&quot;:960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0,&quot;left&quot;:0,&quot;top&quot;:15.025,&quot;width&quot;:960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0,&quot;left&quot;:0,&quot;top&quot;:15.025,&quot;width&quot;:960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0,&quot;left&quot;:0,&quot;top&quot;:15.025,&quot;width&quot;:960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0,&quot;left&quot;:0,&quot;top&quot;:15.025,&quot;width&quot;:960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40,&quot;left&quot;:0,&quot;top&quot;:15.025,&quot;width&quot;:960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31689d7-5f7b-4688-a537-19170ae825f0.pptx"/>
  <p:tag name="OFFICEPLUS.TAG" val="bd142c3d-b2ac-49d2-945d-a40ea7d68a02"/>
  <p:tag name="OFFICEPLUS.OUTLINECONTENT" val="39762630"/>
  <p:tag name="RESOURCE_RECORD_KEY" val="{&quot;10&quot;:[20081149,20090528,20117404,20117377]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1062669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517958a-2b23-4906-90b3-ee321c6573f1.pptx"/>
  <p:tag name="OFFICEPLUS.TAG" val="2beb2bf3-40ba-4876-8eff-8450af69fbd8"/>
  <p:tag name="OFFICEPLUS.OUTLINECONTENT" val="39762632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73fcc3dd-28b3-4a13-9ab5-e3b91439dbb0.pptx"/>
  <p:tag name="OFFICEPLUS.TAG" val="2beb2bf3-40ba-4876-8eff-8450af69fbd8"/>
  <p:tag name="OFFICEPLUS.OUTLINECONTENT" val="3976263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d54ef2d4-6884-4b12-9ef8-f817d511018c.pptx"/>
  <p:tag name="OFFICEPLUS.TAG" val="bd142c3d-b2ac-49d2-945d-a40ea7d68a02"/>
  <p:tag name="OFFICEPLUS.OUTLINECONTENT" val="3976263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e4af311-b2c7-4d50-82af-d101cd3907e1.pptx"/>
  <p:tag name="OFFICEPLUS.TAG" val="bd142c3d-b2ac-49d2-945d-a40ea7d68a02"/>
  <p:tag name="OFFICEPLUS.OUTLINECONTENT" val="3976263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72440944881,&quot;left&quot;:50.000472440944876,&quot;top&quot;:75.6263779527559,&quot;width&quot;:856.9995275590551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82d028cc-0508-4739-a0e9-bb6ba9d5a8d0.pptx"/>
  <p:tag name="OFFICEPLUS.TAG" val="bd142c3d-b2ac-49d2-945d-a40ea7d68a02"/>
  <p:tag name="OFFICEPLUS.OUTLINECONTENT" val="39762637"/>
  <p:tag name="RESOURCE_RECORD_KEY" val="{&quot;10&quot;:[3637549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11ec0530-91b3-4703-9ed7-2e025b1e6564.pptx"/>
  <p:tag name="OFFICEPLUS.TAG" val="bd142c3d-b2ac-49d2-945d-a40ea7d68a02"/>
  <p:tag name="OFFICEPLUS.OUTLINECONTENT" val="3976263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e69c5ac3-dafd-4b9a-bbf1-d26a1016f816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A71500"/>
      </a:accent1>
      <a:accent2>
        <a:srgbClr val="770900"/>
      </a:accent2>
      <a:accent3>
        <a:srgbClr val="FF481B"/>
      </a:accent3>
      <a:accent4>
        <a:srgbClr val="822638"/>
      </a:accent4>
      <a:accent5>
        <a:srgbClr val="EB1C00"/>
      </a:accent5>
      <a:accent6>
        <a:srgbClr val="6E0610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964</Words>
  <Application>Microsoft Office PowerPoint</Application>
  <PresentationFormat>宽屏</PresentationFormat>
  <Paragraphs>166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-apple-system</vt:lpstr>
      <vt:lpstr>等线</vt:lpstr>
      <vt:lpstr>微软雅黑</vt:lpstr>
      <vt:lpstr>Arial</vt:lpstr>
      <vt:lpstr>Designed by OfficePLUS</vt:lpstr>
      <vt:lpstr>人工智能的影响 与机遇</vt:lpstr>
      <vt:lpstr>PowerPoint 演示文稿</vt:lpstr>
      <vt:lpstr>01.AI时代的到来</vt:lpstr>
      <vt:lpstr>全球AI现状</vt:lpstr>
      <vt:lpstr>医疗诊断</vt:lpstr>
      <vt:lpstr>医疗诊断</vt:lpstr>
      <vt:lpstr>医疗诊断</vt:lpstr>
      <vt:lpstr>医疗诊断</vt:lpstr>
      <vt:lpstr>02.大学生在AI时代的成长机遇 </vt:lpstr>
      <vt:lpstr>现代大学生面对的AI时代机遇</vt:lpstr>
      <vt:lpstr>大学生在这个时代的技能要求</vt:lpstr>
      <vt:lpstr>03.民族复兴与AI时代的结合</vt:lpstr>
      <vt:lpstr>军队战斗力提升</vt:lpstr>
      <vt:lpstr>人民生活方便快捷</vt:lpstr>
      <vt:lpstr>AI时代的法规建设</vt:lpstr>
      <vt:lpstr>AI技术的跨学科创新推动学术发展</vt:lpstr>
      <vt:lpstr>04.AI时代大学生如何为民族复兴贡献力量</vt:lpstr>
      <vt:lpstr>了解/支持/助力 AI对生活方式的变革</vt:lpstr>
      <vt:lpstr>在AI时代找到合适自己的工作岗位，贡献自己的一份力</vt:lpstr>
      <vt:lpstr>使用AI助力自己的学习进步</vt:lpstr>
      <vt:lpstr>积极了解前沿领域探索</vt:lpstr>
      <vt:lpstr>助力AI技术发展</vt:lpstr>
      <vt:lpstr>在AI研究领域进行创新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OfficePLUS PowerPoint Template</dc:title>
  <dc:creator>OfficePLUS</dc:creator>
  <cp:lastModifiedBy>洛宾 张</cp:lastModifiedBy>
  <cp:revision>10</cp:revision>
  <dcterms:created xsi:type="dcterms:W3CDTF">2023-07-20T03:04:00Z</dcterms:created>
  <dcterms:modified xsi:type="dcterms:W3CDTF">2025-03-02T14:57:14Z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8289037B6DC74B7D89EC6EE9B9389238_12</vt:lpwstr>
  </property>
  <property fmtid="{D5CDD505-2E9C-101B-9397-08002B2CF9AE}" pid="3" name="KSOProductBuildVer">
    <vt:lpwstr>2052-12.1.0.19302</vt:lpwstr>
  </property>
</Properties>
</file>