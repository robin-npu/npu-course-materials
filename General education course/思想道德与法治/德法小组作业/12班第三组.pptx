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OPPOSans B" panose="02010600030101010101" charset="-122"/>
      <p:regular r:id="rId20"/>
    </p:embeddedFont>
    <p:embeddedFont>
      <p:font typeface="OPPOSans H" panose="02010600030101010101" charset="-122"/>
      <p:regular r:id="rId21"/>
    </p:embeddedFont>
    <p:embeddedFont>
      <p:font typeface="OPPOSans L" panose="02010600030101010101" charset="-122"/>
      <p:regular r:id="rId22"/>
    </p:embeddedFont>
    <p:embeddedFont>
      <p:font typeface="Source Han Sans" panose="02010600030101010101" charset="-122"/>
      <p:regular r:id="rId23"/>
    </p:embeddedFont>
    <p:embeddedFont>
      <p:font typeface="Source Han Sans CN Bold" panose="02010600030101010101" charset="-122"/>
      <p:bold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52324" y="-27885"/>
            <a:ext cx="12244324" cy="688588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329184" y="347472"/>
            <a:ext cx="11521440" cy="6272784"/>
          </a:xfrm>
          <a:prstGeom prst="roundRect">
            <a:avLst>
              <a:gd name="adj" fmla="val 3839"/>
            </a:avLst>
          </a:prstGeom>
          <a:solidFill>
            <a:schemeClr val="bg1">
              <a:alpha val="63000"/>
            </a:schemeClr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736600" y="5357792"/>
            <a:ext cx="2359213" cy="50559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sq">
            <a:solidFill>
              <a:schemeClr val="tx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225474" y="5357792"/>
            <a:ext cx="2359213" cy="505598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9050" cap="sq">
            <a:solidFill>
              <a:schemeClr val="tx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72005" y="1002631"/>
            <a:ext cx="1945527" cy="24159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15479" y="4277819"/>
            <a:ext cx="2882858" cy="33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>
            <a:off x="3126938" y="4443352"/>
            <a:ext cx="1946538" cy="0"/>
          </a:xfrm>
          <a:prstGeom prst="straightConnector1">
            <a:avLst/>
          </a:prstGeom>
          <a:noFill/>
          <a:ln w="19050" cap="sq">
            <a:solidFill>
              <a:schemeClr val="accent1">
                <a:lumMod val="75000"/>
              </a:schemeClr>
            </a:solidFill>
            <a:prstDash val="solid"/>
            <a:miter/>
            <a:tailEnd type="triangle"/>
          </a:ln>
        </p:spPr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12005" y="815129"/>
            <a:ext cx="4879973" cy="533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73959" y="3858361"/>
            <a:ext cx="1708663" cy="82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722306">
            <a:off x="7044194" y="271348"/>
            <a:ext cx="1290483" cy="173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组合 11"/>
          <p:cNvGrpSpPr/>
          <p:nvPr/>
        </p:nvGrpSpPr>
        <p:grpSpPr>
          <a:xfrm>
            <a:off x="3761689" y="1060203"/>
            <a:ext cx="3998519" cy="2567233"/>
            <a:chOff x="3761689" y="1060203"/>
            <a:chExt cx="3998519" cy="2567233"/>
          </a:xfrm>
        </p:grpSpPr>
        <p:sp>
          <p:nvSpPr>
            <p:cNvPr id="13" name="标题 1"/>
            <p:cNvSpPr txBox="1"/>
            <p:nvPr/>
          </p:nvSpPr>
          <p:spPr>
            <a:xfrm>
              <a:off x="4102608" y="1060203"/>
              <a:ext cx="3657600" cy="2567233"/>
            </a:xfrm>
            <a:custGeom>
              <a:avLst/>
              <a:gdLst>
                <a:gd name="connsiteX0" fmla="*/ 0 w 3657600"/>
                <a:gd name="connsiteY0" fmla="*/ 274821 h 2567233"/>
                <a:gd name="connsiteX1" fmla="*/ 2048256 w 3657600"/>
                <a:gd name="connsiteY1" fmla="*/ 183381 h 2567233"/>
                <a:gd name="connsiteX2" fmla="*/ 2377440 w 3657600"/>
                <a:gd name="connsiteY2" fmla="*/ 2377941 h 2567233"/>
                <a:gd name="connsiteX3" fmla="*/ 3657600 w 3657600"/>
                <a:gd name="connsiteY3" fmla="*/ 2451093 h 2567233"/>
                <a:gd name="connsiteX4" fmla="*/ 3657600 w 3657600"/>
                <a:gd name="connsiteY4" fmla="*/ 2451093 h 2567233"/>
              </a:gdLst>
              <a:ahLst/>
              <a:cxnLst/>
              <a:rect l="l" t="t" r="r" b="b"/>
              <a:pathLst>
                <a:path w="3657600" h="2567233">
                  <a:moveTo>
                    <a:pt x="0" y="274821"/>
                  </a:moveTo>
                  <a:cubicBezTo>
                    <a:pt x="826008" y="53841"/>
                    <a:pt x="1652016" y="-167139"/>
                    <a:pt x="2048256" y="183381"/>
                  </a:cubicBezTo>
                  <a:cubicBezTo>
                    <a:pt x="2444496" y="533901"/>
                    <a:pt x="2109216" y="1999989"/>
                    <a:pt x="2377440" y="2377941"/>
                  </a:cubicBezTo>
                  <a:cubicBezTo>
                    <a:pt x="2645664" y="2755893"/>
                    <a:pt x="3657600" y="2451093"/>
                    <a:pt x="3657600" y="2451093"/>
                  </a:cubicBezTo>
                  <a:lnTo>
                    <a:pt x="3657600" y="2451093"/>
                  </a:lnTo>
                </a:path>
              </a:pathLst>
            </a:custGeom>
            <a:noFill/>
            <a:ln w="19050" cap="sq">
              <a:solidFill>
                <a:schemeClr val="tx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rot="14879725">
              <a:off x="3783307" y="1261872"/>
              <a:ext cx="337589" cy="274320"/>
            </a:xfrm>
            <a:prstGeom prst="triangle">
              <a:avLst/>
            </a:prstGeom>
            <a:solidFill>
              <a:schemeClr val="tx2"/>
            </a:soli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57865" y="4756517"/>
            <a:ext cx="1677983" cy="153888"/>
            <a:chOff x="857865" y="4756517"/>
            <a:chExt cx="1677983" cy="153888"/>
          </a:xfrm>
        </p:grpSpPr>
        <p:sp>
          <p:nvSpPr>
            <p:cNvPr id="16" name="标题 1"/>
            <p:cNvSpPr txBox="1"/>
            <p:nvPr/>
          </p:nvSpPr>
          <p:spPr>
            <a:xfrm>
              <a:off x="857865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953155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1048445" y="4756517"/>
              <a:ext cx="153340" cy="153888"/>
            </a:xfrm>
            <a:custGeom>
              <a:avLst/>
              <a:gdLst>
                <a:gd name="connsiteX0" fmla="*/ 0 w 267133"/>
                <a:gd name="connsiteY0" fmla="*/ 268087 h 268087"/>
                <a:gd name="connsiteX1" fmla="*/ 267133 w 267133"/>
                <a:gd name="connsiteY1" fmla="*/ 0 h 268087"/>
              </a:gdLst>
              <a:ahLst/>
              <a:cxnLst/>
              <a:rect l="l" t="t" r="r" b="b"/>
              <a:pathLst>
                <a:path w="267133" h="268087">
                  <a:moveTo>
                    <a:pt x="0" y="268087"/>
                  </a:moveTo>
                  <a:lnTo>
                    <a:pt x="267133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114318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23847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33376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142905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52434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61963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71492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81021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190550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200079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209608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219137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228666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2" name="标题 1"/>
            <p:cNvSpPr txBox="1"/>
            <p:nvPr/>
          </p:nvSpPr>
          <p:spPr>
            <a:xfrm>
              <a:off x="2381960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3" name="标题 1"/>
          <p:cNvSpPr txBox="1"/>
          <p:nvPr/>
        </p:nvSpPr>
        <p:spPr>
          <a:xfrm>
            <a:off x="1187128" y="5452331"/>
            <a:ext cx="984287" cy="3165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主讲人：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4370406" y="5450298"/>
            <a:ext cx="984196" cy="32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 dirty="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2025.4</a:t>
            </a:r>
            <a:endParaRPr kumimoji="1" lang="zh-CN" altLang="en-US" dirty="0"/>
          </a:p>
        </p:txBody>
      </p:sp>
      <p:sp>
        <p:nvSpPr>
          <p:cNvPr id="35" name="标题 1"/>
          <p:cNvSpPr txBox="1"/>
          <p:nvPr/>
        </p:nvSpPr>
        <p:spPr>
          <a:xfrm>
            <a:off x="2063821" y="5441283"/>
            <a:ext cx="1005791" cy="3386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zh-CN" altLang="en-US" dirty="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</a:rPr>
              <a:t>张洛宾</a:t>
            </a:r>
            <a:endParaRPr kumimoji="1" lang="zh-CN" altLang="en-US" dirty="0"/>
          </a:p>
        </p:txBody>
      </p:sp>
      <p:sp>
        <p:nvSpPr>
          <p:cNvPr id="36" name="标题 1"/>
          <p:cNvSpPr txBox="1"/>
          <p:nvPr/>
        </p:nvSpPr>
        <p:spPr>
          <a:xfrm>
            <a:off x="3786143" y="5451314"/>
            <a:ext cx="756233" cy="31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时间：</a:t>
            </a: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762490" y="1606923"/>
            <a:ext cx="2880742" cy="84063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zh-CN" altLang="en-US" sz="2800" dirty="0">
                <a:ln w="3175">
                  <a:noFill/>
                </a:ln>
                <a:gradFill>
                  <a:gsLst>
                    <a:gs pos="0">
                      <a:srgbClr val="FFC000">
                        <a:alpha val="100000"/>
                      </a:srgbClr>
                    </a:gs>
                    <a:gs pos="100000">
                      <a:srgbClr val="FFF2CC">
                        <a:alpha val="66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思想道德与法制</a:t>
            </a:r>
            <a:endParaRPr kumimoji="1" lang="zh-CN" altLang="en-US" sz="2800" dirty="0"/>
          </a:p>
        </p:txBody>
      </p:sp>
      <p:sp>
        <p:nvSpPr>
          <p:cNvPr id="38" name="标题 1"/>
          <p:cNvSpPr txBox="1"/>
          <p:nvPr/>
        </p:nvSpPr>
        <p:spPr>
          <a:xfrm>
            <a:off x="724390" y="2392334"/>
            <a:ext cx="5490139" cy="176212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100">
                <a:ln w="3175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一国两制PPT大纲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6350" y="0"/>
            <a:ext cx="12204700" cy="68580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230260" y="-1420251"/>
            <a:ext cx="10132786" cy="10132786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70000"/>
                </a:schemeClr>
              </a:gs>
              <a:gs pos="6800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2775253" y="561793"/>
            <a:ext cx="5536028" cy="5536028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70000"/>
                </a:schemeClr>
              </a:gs>
              <a:gs pos="7300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104401" y="1457590"/>
            <a:ext cx="902699" cy="61555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952508" y="1651523"/>
            <a:ext cx="5566392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引言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952508" y="2579686"/>
            <a:ext cx="5566392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一国两制的实践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104401" y="2385753"/>
            <a:ext cx="902699" cy="61555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02.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952508" y="3507849"/>
            <a:ext cx="5566392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一国两制的挑战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104401" y="3313916"/>
            <a:ext cx="902699" cy="61555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03.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952508" y="4436012"/>
            <a:ext cx="5566392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一国两制的未来展望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104401" y="4242079"/>
            <a:ext cx="902699" cy="61555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04.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13985" y="2498603"/>
            <a:ext cx="1778000" cy="9271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目录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228285" y="3677495"/>
            <a:ext cx="2449215" cy="6186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447778" y="3756956"/>
            <a:ext cx="20066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dist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Catalogue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952508" y="5364174"/>
            <a:ext cx="5566392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结论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104401" y="5170241"/>
            <a:ext cx="902699" cy="61555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05.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6162" y="-13943"/>
            <a:ext cx="12244324" cy="688588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0" y="2997"/>
            <a:ext cx="12240718" cy="692515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29184" y="347472"/>
            <a:ext cx="11521440" cy="6272784"/>
          </a:xfrm>
          <a:prstGeom prst="roundRect">
            <a:avLst>
              <a:gd name="adj" fmla="val 3839"/>
            </a:avLst>
          </a:prstGeom>
          <a:solidFill>
            <a:schemeClr val="bg1">
              <a:alpha val="63000"/>
            </a:schemeClr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72005" y="1002631"/>
            <a:ext cx="1945527" cy="24159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5479" y="5206586"/>
            <a:ext cx="2882858" cy="33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3126938" y="5372119"/>
            <a:ext cx="1946538" cy="0"/>
          </a:xfrm>
          <a:prstGeom prst="straightConnector1">
            <a:avLst/>
          </a:prstGeom>
          <a:noFill/>
          <a:ln w="19050" cap="sq">
            <a:solidFill>
              <a:schemeClr val="accent1">
                <a:lumMod val="75000"/>
              </a:schemeClr>
            </a:solidFill>
            <a:prstDash val="solid"/>
            <a:miter/>
            <a:tailEnd type="triangle"/>
          </a:ln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73905" y="815129"/>
            <a:ext cx="4879973" cy="533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69166" y="4169739"/>
            <a:ext cx="1708663" cy="82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722306">
            <a:off x="7006094" y="271348"/>
            <a:ext cx="1290483" cy="173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3723589" y="1060203"/>
            <a:ext cx="3998519" cy="2567233"/>
            <a:chOff x="3723589" y="1060203"/>
            <a:chExt cx="3998519" cy="2567233"/>
          </a:xfrm>
        </p:grpSpPr>
        <p:sp>
          <p:nvSpPr>
            <p:cNvPr id="12" name="标题 1"/>
            <p:cNvSpPr txBox="1"/>
            <p:nvPr/>
          </p:nvSpPr>
          <p:spPr>
            <a:xfrm>
              <a:off x="4064508" y="1060203"/>
              <a:ext cx="3657600" cy="2567233"/>
            </a:xfrm>
            <a:custGeom>
              <a:avLst/>
              <a:gdLst>
                <a:gd name="connsiteX0" fmla="*/ 0 w 3657600"/>
                <a:gd name="connsiteY0" fmla="*/ 274821 h 2567233"/>
                <a:gd name="connsiteX1" fmla="*/ 2048256 w 3657600"/>
                <a:gd name="connsiteY1" fmla="*/ 183381 h 2567233"/>
                <a:gd name="connsiteX2" fmla="*/ 2377440 w 3657600"/>
                <a:gd name="connsiteY2" fmla="*/ 2377941 h 2567233"/>
                <a:gd name="connsiteX3" fmla="*/ 3657600 w 3657600"/>
                <a:gd name="connsiteY3" fmla="*/ 2451093 h 2567233"/>
                <a:gd name="connsiteX4" fmla="*/ 3657600 w 3657600"/>
                <a:gd name="connsiteY4" fmla="*/ 2451093 h 2567233"/>
              </a:gdLst>
              <a:ahLst/>
              <a:cxnLst/>
              <a:rect l="l" t="t" r="r" b="b"/>
              <a:pathLst>
                <a:path w="3657600" h="2567233">
                  <a:moveTo>
                    <a:pt x="0" y="274821"/>
                  </a:moveTo>
                  <a:cubicBezTo>
                    <a:pt x="826008" y="53841"/>
                    <a:pt x="1652016" y="-167139"/>
                    <a:pt x="2048256" y="183381"/>
                  </a:cubicBezTo>
                  <a:cubicBezTo>
                    <a:pt x="2444496" y="533901"/>
                    <a:pt x="2109216" y="1999989"/>
                    <a:pt x="2377440" y="2377941"/>
                  </a:cubicBezTo>
                  <a:cubicBezTo>
                    <a:pt x="2645664" y="2755893"/>
                    <a:pt x="3657600" y="2451093"/>
                    <a:pt x="3657600" y="2451093"/>
                  </a:cubicBezTo>
                  <a:lnTo>
                    <a:pt x="3657600" y="2451093"/>
                  </a:lnTo>
                </a:path>
              </a:pathLst>
            </a:custGeom>
            <a:noFill/>
            <a:ln w="19050" cap="sq">
              <a:solidFill>
                <a:schemeClr val="tx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 rot="14879725">
              <a:off x="3745207" y="1261872"/>
              <a:ext cx="337589" cy="274320"/>
            </a:xfrm>
            <a:prstGeom prst="triangle">
              <a:avLst/>
            </a:prstGeom>
            <a:solidFill>
              <a:schemeClr val="tx2"/>
            </a:soli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7865" y="5685284"/>
            <a:ext cx="1677983" cy="153888"/>
            <a:chOff x="857865" y="5685284"/>
            <a:chExt cx="1677983" cy="153888"/>
          </a:xfrm>
        </p:grpSpPr>
        <p:sp>
          <p:nvSpPr>
            <p:cNvPr id="15" name="标题 1"/>
            <p:cNvSpPr txBox="1"/>
            <p:nvPr/>
          </p:nvSpPr>
          <p:spPr>
            <a:xfrm>
              <a:off x="85786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95315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1048445" y="5685284"/>
              <a:ext cx="153340" cy="153888"/>
            </a:xfrm>
            <a:custGeom>
              <a:avLst/>
              <a:gdLst>
                <a:gd name="connsiteX0" fmla="*/ 0 w 267133"/>
                <a:gd name="connsiteY0" fmla="*/ 268087 h 268087"/>
                <a:gd name="connsiteX1" fmla="*/ 267133 w 267133"/>
                <a:gd name="connsiteY1" fmla="*/ 0 h 268087"/>
              </a:gdLst>
              <a:ahLst/>
              <a:cxnLst/>
              <a:rect l="l" t="t" r="r" b="b"/>
              <a:pathLst>
                <a:path w="267133" h="268087">
                  <a:moveTo>
                    <a:pt x="0" y="268087"/>
                  </a:moveTo>
                  <a:lnTo>
                    <a:pt x="267133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114318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123847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3376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42905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152434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61963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71492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81021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90550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200079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209608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219137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228666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2381960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2" name="标题 1"/>
          <p:cNvSpPr txBox="1"/>
          <p:nvPr/>
        </p:nvSpPr>
        <p:spPr>
          <a:xfrm>
            <a:off x="748917" y="2889331"/>
            <a:ext cx="5169641" cy="17490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引言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3215675" y="1118459"/>
            <a:ext cx="2001693" cy="1870447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749017" y="2039266"/>
            <a:ext cx="2466658" cy="949640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3" name="标题 1"/>
          <p:cNvCxnSpPr/>
          <p:nvPr/>
        </p:nvCxnSpPr>
        <p:spPr>
          <a:xfrm>
            <a:off x="7319074" y="2965909"/>
            <a:ext cx="1023512" cy="0"/>
          </a:xfrm>
          <a:prstGeom prst="line">
            <a:avLst/>
          </a:prstGeom>
          <a:solidFill>
            <a:schemeClr val="accent5">
              <a:alpha val="15000"/>
            </a:schemeClr>
          </a:solidFill>
          <a:ln w="12700" cap="rnd">
            <a:solidFill>
              <a:schemeClr val="accent1">
                <a:lumMod val="20000"/>
                <a:lumOff val="80000"/>
              </a:schemeClr>
            </a:solidFill>
            <a:round/>
          </a:ln>
        </p:spPr>
      </p:cxnSp>
      <p:cxnSp>
        <p:nvCxnSpPr>
          <p:cNvPr id="4" name="标题 1"/>
          <p:cNvCxnSpPr/>
          <p:nvPr/>
        </p:nvCxnSpPr>
        <p:spPr>
          <a:xfrm>
            <a:off x="3606791" y="2965909"/>
            <a:ext cx="838407" cy="0"/>
          </a:xfrm>
          <a:prstGeom prst="line">
            <a:avLst/>
          </a:prstGeom>
          <a:solidFill>
            <a:schemeClr val="accent3">
              <a:alpha val="15000"/>
            </a:schemeClr>
          </a:solidFill>
          <a:ln w="12700" cap="rnd">
            <a:solidFill>
              <a:schemeClr val="accent1">
                <a:lumMod val="20000"/>
                <a:lumOff val="80000"/>
              </a:schemeClr>
            </a:solidFill>
            <a:round/>
          </a:ln>
        </p:spPr>
      </p:cxnSp>
      <p:sp>
        <p:nvSpPr>
          <p:cNvPr id="5" name="标题 1"/>
          <p:cNvSpPr txBox="1"/>
          <p:nvPr/>
        </p:nvSpPr>
        <p:spPr>
          <a:xfrm>
            <a:off x="4445198" y="2109560"/>
            <a:ext cx="3058982" cy="216000"/>
          </a:xfrm>
          <a:prstGeom prst="roundRect">
            <a:avLst>
              <a:gd name="adj" fmla="val 24900"/>
            </a:avLst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50152" y="2109560"/>
            <a:ext cx="3058982" cy="216000"/>
          </a:xfrm>
          <a:prstGeom prst="roundRect">
            <a:avLst>
              <a:gd name="adj" fmla="val 24900"/>
            </a:avLst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135773" y="2749164"/>
            <a:ext cx="3073400" cy="27698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它强调在一个中国的前提下，国家的主体坚持社会主义制度，香港、澳门、台湾保持原有的资本主义制度。</a:t>
            </a:r>
            <a:endParaRPr kumimoji="1" lang="zh-CN" altLang="en-US" sz="2400"/>
          </a:p>
        </p:txBody>
      </p:sp>
      <p:sp>
        <p:nvSpPr>
          <p:cNvPr id="8" name="标题 1"/>
          <p:cNvSpPr txBox="1"/>
          <p:nvPr/>
        </p:nvSpPr>
        <p:spPr>
          <a:xfrm>
            <a:off x="4430819" y="2749164"/>
            <a:ext cx="3073400" cy="16617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一国两制是中国政府为实现国家和平统一而提出的基本国策</a:t>
            </a:r>
            <a:r>
              <a:rPr kumimoji="1" lang="en-US" altLang="zh-CN" sz="8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50480" y="2109437"/>
            <a:ext cx="2688771" cy="3545958"/>
          </a:xfrm>
          <a:prstGeom prst="roundRect">
            <a:avLst>
              <a:gd name="adj" fmla="val 9089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707015" y="1609005"/>
            <a:ext cx="1000864" cy="1000864"/>
          </a:xfrm>
          <a:prstGeom prst="ellipse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034871" y="1952976"/>
            <a:ext cx="345154" cy="312922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183851" y="2966085"/>
            <a:ext cx="2189569" cy="25523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定义</a:t>
            </a:r>
            <a:endParaRPr kumimoji="1" lang="zh-CN" altLang="en-US" sz="5400"/>
          </a:p>
        </p:txBody>
      </p:sp>
      <p:sp>
        <p:nvSpPr>
          <p:cNvPr id="13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一国两制的定义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3" name="标题 1"/>
          <p:cNvCxnSpPr/>
          <p:nvPr>
            <p:custDataLst>
              <p:tags r:id="rId1"/>
            </p:custDataLst>
          </p:nvPr>
        </p:nvCxnSpPr>
        <p:spPr>
          <a:xfrm flipV="1">
            <a:off x="4222453" y="2587294"/>
            <a:ext cx="395302" cy="395302"/>
          </a:xfrm>
          <a:prstGeom prst="line">
            <a:avLst/>
          </a:prstGeom>
          <a:noFill/>
          <a:ln w="25400" cap="sq">
            <a:solidFill>
              <a:schemeClr val="tx1">
                <a:lumMod val="50000"/>
                <a:lumOff val="50000"/>
                <a:alpha val="20000"/>
              </a:schemeClr>
            </a:solidFill>
            <a:miter/>
          </a:ln>
        </p:spPr>
      </p:cxnSp>
      <p:sp>
        <p:nvSpPr>
          <p:cNvPr id="4" name="标题 1"/>
          <p:cNvSpPr txBox="1"/>
          <p:nvPr>
            <p:custDataLst>
              <p:tags r:id="rId2"/>
            </p:custDataLst>
          </p:nvPr>
        </p:nvSpPr>
        <p:spPr>
          <a:xfrm>
            <a:off x="1269036" y="3264013"/>
            <a:ext cx="2969080" cy="914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20世纪80年代初，为了解决台湾问题，实现国家和平统一，中国政府提出了“一国两制”的构想。</a:t>
            </a:r>
          </a:p>
        </p:txBody>
      </p:sp>
      <p:cxnSp>
        <p:nvCxnSpPr>
          <p:cNvPr id="5" name="标题 1"/>
          <p:cNvCxnSpPr/>
          <p:nvPr>
            <p:custDataLst>
              <p:tags r:id="rId3"/>
            </p:custDataLst>
          </p:nvPr>
        </p:nvCxnSpPr>
        <p:spPr>
          <a:xfrm>
            <a:off x="1341606" y="2981009"/>
            <a:ext cx="289651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miter/>
          </a:ln>
        </p:spPr>
      </p:cxnSp>
      <p:cxnSp>
        <p:nvCxnSpPr>
          <p:cNvPr id="6" name="标题 1"/>
          <p:cNvCxnSpPr/>
          <p:nvPr>
            <p:custDataLst>
              <p:tags r:id="rId4"/>
            </p:custDataLst>
          </p:nvPr>
        </p:nvCxnSpPr>
        <p:spPr>
          <a:xfrm flipV="1">
            <a:off x="7483380" y="2193398"/>
            <a:ext cx="395302" cy="395302"/>
          </a:xfrm>
          <a:prstGeom prst="line">
            <a:avLst/>
          </a:prstGeom>
          <a:noFill/>
          <a:ln w="25400" cap="sq">
            <a:solidFill>
              <a:schemeClr val="tx1">
                <a:lumMod val="50000"/>
                <a:lumOff val="50000"/>
                <a:alpha val="20000"/>
              </a:schemeClr>
            </a:solidFill>
            <a:miter/>
          </a:ln>
        </p:spPr>
      </p:cxnSp>
      <p:sp>
        <p:nvSpPr>
          <p:cNvPr id="7" name="标题 1"/>
          <p:cNvSpPr txBox="1"/>
          <p:nvPr>
            <p:custDataLst>
              <p:tags r:id="rId5"/>
            </p:custDataLst>
          </p:nvPr>
        </p:nvSpPr>
        <p:spPr>
          <a:xfrm>
            <a:off x="4529963" y="2870117"/>
            <a:ext cx="2969080" cy="914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1997年7月1日，香港回归祖国，成为第一个实行一国两制的地区。</a:t>
            </a:r>
          </a:p>
        </p:txBody>
      </p:sp>
      <p:cxnSp>
        <p:nvCxnSpPr>
          <p:cNvPr id="8" name="标题 1"/>
          <p:cNvCxnSpPr/>
          <p:nvPr>
            <p:custDataLst>
              <p:tags r:id="rId6"/>
            </p:custDataLst>
          </p:nvPr>
        </p:nvCxnSpPr>
        <p:spPr>
          <a:xfrm>
            <a:off x="4602533" y="2587113"/>
            <a:ext cx="289651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miter/>
          </a:ln>
        </p:spPr>
      </p:cxnSp>
      <p:sp>
        <p:nvSpPr>
          <p:cNvPr id="9" name="标题 1"/>
          <p:cNvSpPr txBox="1"/>
          <p:nvPr>
            <p:custDataLst>
              <p:tags r:id="rId7"/>
            </p:custDataLst>
          </p:nvPr>
        </p:nvSpPr>
        <p:spPr>
          <a:xfrm>
            <a:off x="7801990" y="2480971"/>
            <a:ext cx="2969080" cy="914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1999年12月20日，澳门回归祖国，成为第二个实行一国两制的地区。</a:t>
            </a:r>
            <a:endParaRPr kumimoji="1" lang="zh-CN" altLang="en-US" sz="2400"/>
          </a:p>
        </p:txBody>
      </p:sp>
      <p:cxnSp>
        <p:nvCxnSpPr>
          <p:cNvPr id="10" name="标题 1"/>
          <p:cNvCxnSpPr/>
          <p:nvPr>
            <p:custDataLst>
              <p:tags r:id="rId8"/>
            </p:custDataLst>
          </p:nvPr>
        </p:nvCxnSpPr>
        <p:spPr>
          <a:xfrm>
            <a:off x="7874560" y="2197967"/>
            <a:ext cx="289651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miter/>
          </a:ln>
        </p:spPr>
      </p:cxnSp>
      <p:sp>
        <p:nvSpPr>
          <p:cNvPr id="11" name="标题 1"/>
          <p:cNvSpPr txBox="1"/>
          <p:nvPr/>
        </p:nvSpPr>
        <p:spPr>
          <a:xfrm>
            <a:off x="1365076" y="1493325"/>
            <a:ext cx="9846853" cy="12948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背景</a:t>
            </a:r>
          </a:p>
        </p:txBody>
      </p:sp>
      <p:sp>
        <p:nvSpPr>
          <p:cNvPr id="12" name="标题 1"/>
          <p:cNvSpPr txBox="1"/>
          <p:nvPr/>
        </p:nvSpPr>
        <p:spPr>
          <a:xfrm>
            <a:off x="669751" y="1435237"/>
            <a:ext cx="476250" cy="377952"/>
          </a:xfrm>
          <a:custGeom>
            <a:avLst/>
            <a:gdLst>
              <a:gd name="connsiteX0" fmla="*/ 476250 w 476250"/>
              <a:gd name="connsiteY0" fmla="*/ 0 h 377952"/>
              <a:gd name="connsiteX1" fmla="*/ 476250 w 476250"/>
              <a:gd name="connsiteY1" fmla="*/ 81725 h 377952"/>
              <a:gd name="connsiteX2" fmla="*/ 367570 w 476250"/>
              <a:gd name="connsiteY2" fmla="*/ 187452 h 377952"/>
              <a:gd name="connsiteX3" fmla="*/ 476250 w 476250"/>
              <a:gd name="connsiteY3" fmla="*/ 187452 h 377952"/>
              <a:gd name="connsiteX4" fmla="*/ 476250 w 476250"/>
              <a:gd name="connsiteY4" fmla="*/ 377952 h 377952"/>
              <a:gd name="connsiteX5" fmla="*/ 285750 w 476250"/>
              <a:gd name="connsiteY5" fmla="*/ 377952 h 377952"/>
              <a:gd name="connsiteX6" fmla="*/ 285750 w 476250"/>
              <a:gd name="connsiteY6" fmla="*/ 187452 h 377952"/>
              <a:gd name="connsiteX7" fmla="*/ 476250 w 476250"/>
              <a:gd name="connsiteY7" fmla="*/ 0 h 377952"/>
              <a:gd name="connsiteX8" fmla="*/ 190500 w 476250"/>
              <a:gd name="connsiteY8" fmla="*/ 0 h 377952"/>
              <a:gd name="connsiteX9" fmla="*/ 190500 w 476250"/>
              <a:gd name="connsiteY9" fmla="*/ 81725 h 377952"/>
              <a:gd name="connsiteX10" fmla="*/ 81820 w 476250"/>
              <a:gd name="connsiteY10" fmla="*/ 187452 h 377952"/>
              <a:gd name="connsiteX11" fmla="*/ 190500 w 476250"/>
              <a:gd name="connsiteY11" fmla="*/ 187452 h 377952"/>
              <a:gd name="connsiteX12" fmla="*/ 190500 w 476250"/>
              <a:gd name="connsiteY12" fmla="*/ 377952 h 377952"/>
              <a:gd name="connsiteX13" fmla="*/ 0 w 476250"/>
              <a:gd name="connsiteY13" fmla="*/ 377952 h 377952"/>
              <a:gd name="connsiteX14" fmla="*/ 0 w 476250"/>
              <a:gd name="connsiteY14" fmla="*/ 187452 h 377952"/>
              <a:gd name="connsiteX15" fmla="*/ 190500 w 476250"/>
              <a:gd name="connsiteY15" fmla="*/ 0 h 377952"/>
            </a:gdLst>
            <a:ahLst/>
            <a:cxnLst/>
            <a:rect l="l" t="t" r="r" b="b"/>
            <a:pathLst>
              <a:path w="476250" h="377952">
                <a:moveTo>
                  <a:pt x="476250" y="0"/>
                </a:moveTo>
                <a:lnTo>
                  <a:pt x="476250" y="81725"/>
                </a:lnTo>
                <a:cubicBezTo>
                  <a:pt x="417383" y="81753"/>
                  <a:pt x="369219" y="128608"/>
                  <a:pt x="367570" y="187452"/>
                </a:cubicBezTo>
                <a:lnTo>
                  <a:pt x="476250" y="187452"/>
                </a:lnTo>
                <a:lnTo>
                  <a:pt x="476250" y="377952"/>
                </a:lnTo>
                <a:lnTo>
                  <a:pt x="285750" y="377952"/>
                </a:lnTo>
                <a:lnTo>
                  <a:pt x="285750" y="187452"/>
                </a:lnTo>
                <a:cubicBezTo>
                  <a:pt x="287415" y="83434"/>
                  <a:pt x="372219" y="-13"/>
                  <a:pt x="476250" y="0"/>
                </a:cubicBezTo>
                <a:close/>
                <a:moveTo>
                  <a:pt x="190500" y="0"/>
                </a:moveTo>
                <a:lnTo>
                  <a:pt x="190500" y="81725"/>
                </a:lnTo>
                <a:cubicBezTo>
                  <a:pt x="131633" y="81753"/>
                  <a:pt x="83469" y="128608"/>
                  <a:pt x="81820" y="187452"/>
                </a:cubicBezTo>
                <a:lnTo>
                  <a:pt x="190500" y="187452"/>
                </a:lnTo>
                <a:lnTo>
                  <a:pt x="190500" y="377952"/>
                </a:lnTo>
                <a:lnTo>
                  <a:pt x="0" y="377952"/>
                </a:lnTo>
                <a:lnTo>
                  <a:pt x="0" y="187452"/>
                </a:lnTo>
                <a:cubicBezTo>
                  <a:pt x="1665" y="83434"/>
                  <a:pt x="86469" y="-13"/>
                  <a:pt x="190500" y="0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一国两制的历史背景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6162" y="-13943"/>
            <a:ext cx="12244324" cy="688588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0" y="2997"/>
            <a:ext cx="12240718" cy="692515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29184" y="347472"/>
            <a:ext cx="11521440" cy="6272784"/>
          </a:xfrm>
          <a:prstGeom prst="roundRect">
            <a:avLst>
              <a:gd name="adj" fmla="val 3839"/>
            </a:avLst>
          </a:prstGeom>
          <a:solidFill>
            <a:schemeClr val="bg1">
              <a:alpha val="63000"/>
            </a:schemeClr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72005" y="1002631"/>
            <a:ext cx="1945527" cy="24159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5479" y="5206586"/>
            <a:ext cx="2882858" cy="33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3126938" y="5372119"/>
            <a:ext cx="1946538" cy="0"/>
          </a:xfrm>
          <a:prstGeom prst="straightConnector1">
            <a:avLst/>
          </a:prstGeom>
          <a:noFill/>
          <a:ln w="19050" cap="sq">
            <a:solidFill>
              <a:schemeClr val="accent1">
                <a:lumMod val="75000"/>
              </a:schemeClr>
            </a:solidFill>
            <a:prstDash val="solid"/>
            <a:miter/>
            <a:tailEnd type="triangle"/>
          </a:ln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73905" y="815129"/>
            <a:ext cx="4879973" cy="533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69166" y="4169739"/>
            <a:ext cx="1708663" cy="82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722306">
            <a:off x="7006094" y="271348"/>
            <a:ext cx="1290483" cy="173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3723589" y="1060203"/>
            <a:ext cx="3998519" cy="2567233"/>
            <a:chOff x="3723589" y="1060203"/>
            <a:chExt cx="3998519" cy="2567233"/>
          </a:xfrm>
        </p:grpSpPr>
        <p:sp>
          <p:nvSpPr>
            <p:cNvPr id="12" name="标题 1"/>
            <p:cNvSpPr txBox="1"/>
            <p:nvPr/>
          </p:nvSpPr>
          <p:spPr>
            <a:xfrm>
              <a:off x="4064508" y="1060203"/>
              <a:ext cx="3657600" cy="2567233"/>
            </a:xfrm>
            <a:custGeom>
              <a:avLst/>
              <a:gdLst>
                <a:gd name="connsiteX0" fmla="*/ 0 w 3657600"/>
                <a:gd name="connsiteY0" fmla="*/ 274821 h 2567233"/>
                <a:gd name="connsiteX1" fmla="*/ 2048256 w 3657600"/>
                <a:gd name="connsiteY1" fmla="*/ 183381 h 2567233"/>
                <a:gd name="connsiteX2" fmla="*/ 2377440 w 3657600"/>
                <a:gd name="connsiteY2" fmla="*/ 2377941 h 2567233"/>
                <a:gd name="connsiteX3" fmla="*/ 3657600 w 3657600"/>
                <a:gd name="connsiteY3" fmla="*/ 2451093 h 2567233"/>
                <a:gd name="connsiteX4" fmla="*/ 3657600 w 3657600"/>
                <a:gd name="connsiteY4" fmla="*/ 2451093 h 2567233"/>
              </a:gdLst>
              <a:ahLst/>
              <a:cxnLst/>
              <a:rect l="l" t="t" r="r" b="b"/>
              <a:pathLst>
                <a:path w="3657600" h="2567233">
                  <a:moveTo>
                    <a:pt x="0" y="274821"/>
                  </a:moveTo>
                  <a:cubicBezTo>
                    <a:pt x="826008" y="53841"/>
                    <a:pt x="1652016" y="-167139"/>
                    <a:pt x="2048256" y="183381"/>
                  </a:cubicBezTo>
                  <a:cubicBezTo>
                    <a:pt x="2444496" y="533901"/>
                    <a:pt x="2109216" y="1999989"/>
                    <a:pt x="2377440" y="2377941"/>
                  </a:cubicBezTo>
                  <a:cubicBezTo>
                    <a:pt x="2645664" y="2755893"/>
                    <a:pt x="3657600" y="2451093"/>
                    <a:pt x="3657600" y="2451093"/>
                  </a:cubicBezTo>
                  <a:lnTo>
                    <a:pt x="3657600" y="2451093"/>
                  </a:lnTo>
                </a:path>
              </a:pathLst>
            </a:custGeom>
            <a:noFill/>
            <a:ln w="19050" cap="sq">
              <a:solidFill>
                <a:schemeClr val="tx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 rot="14879725">
              <a:off x="3745207" y="1261872"/>
              <a:ext cx="337589" cy="274320"/>
            </a:xfrm>
            <a:prstGeom prst="triangle">
              <a:avLst/>
            </a:prstGeom>
            <a:solidFill>
              <a:schemeClr val="tx2"/>
            </a:soli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7865" y="5685284"/>
            <a:ext cx="1677983" cy="153888"/>
            <a:chOff x="857865" y="5685284"/>
            <a:chExt cx="1677983" cy="153888"/>
          </a:xfrm>
        </p:grpSpPr>
        <p:sp>
          <p:nvSpPr>
            <p:cNvPr id="15" name="标题 1"/>
            <p:cNvSpPr txBox="1"/>
            <p:nvPr/>
          </p:nvSpPr>
          <p:spPr>
            <a:xfrm>
              <a:off x="85786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95315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1048445" y="5685284"/>
              <a:ext cx="153340" cy="153888"/>
            </a:xfrm>
            <a:custGeom>
              <a:avLst/>
              <a:gdLst>
                <a:gd name="connsiteX0" fmla="*/ 0 w 267133"/>
                <a:gd name="connsiteY0" fmla="*/ 268087 h 268087"/>
                <a:gd name="connsiteX1" fmla="*/ 267133 w 267133"/>
                <a:gd name="connsiteY1" fmla="*/ 0 h 268087"/>
              </a:gdLst>
              <a:ahLst/>
              <a:cxnLst/>
              <a:rect l="l" t="t" r="r" b="b"/>
              <a:pathLst>
                <a:path w="267133" h="268087">
                  <a:moveTo>
                    <a:pt x="0" y="268087"/>
                  </a:moveTo>
                  <a:lnTo>
                    <a:pt x="267133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114318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123847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3376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42905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152434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61963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71492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81021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90550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200079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209608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219137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228666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2381960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2" name="标题 1"/>
          <p:cNvSpPr txBox="1"/>
          <p:nvPr/>
        </p:nvSpPr>
        <p:spPr>
          <a:xfrm>
            <a:off x="748917" y="2889331"/>
            <a:ext cx="5169641" cy="17490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一国两制的实践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3215675" y="1118459"/>
            <a:ext cx="2001693" cy="1870447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02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749017" y="2039266"/>
            <a:ext cx="2466658" cy="949640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>
            <a:off x="5173953" y="1987704"/>
            <a:ext cx="2888042" cy="3023928"/>
          </a:xfrm>
          <a:prstGeom prst="roundRect">
            <a:avLst>
              <a:gd name="adj" fmla="val 7034"/>
            </a:avLst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>
            <p:custDataLst>
              <p:tags r:id="rId2"/>
            </p:custDataLst>
          </p:nvPr>
        </p:nvSpPr>
        <p:spPr>
          <a:xfrm>
            <a:off x="8534194" y="1987704"/>
            <a:ext cx="2888042" cy="3028796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sx="102000" sy="102000" algn="t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>
            <p:custDataLst>
              <p:tags r:id="rId3"/>
            </p:custDataLst>
          </p:nvPr>
        </p:nvSpPr>
        <p:spPr>
          <a:xfrm>
            <a:off x="6365374" y="2242177"/>
            <a:ext cx="500191" cy="500191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>
            <p:custDataLst>
              <p:tags r:id="rId4"/>
            </p:custDataLst>
          </p:nvPr>
        </p:nvSpPr>
        <p:spPr>
          <a:xfrm>
            <a:off x="9733039" y="2212272"/>
            <a:ext cx="490353" cy="560000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5"/>
            </p:custDataLst>
          </p:nvPr>
        </p:nvSpPr>
        <p:spPr>
          <a:xfrm>
            <a:off x="5331645" y="2927011"/>
            <a:ext cx="2572658" cy="19226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香港回归后，继续保持资本主义制度，享有高度自治权。</a:t>
            </a:r>
          </a:p>
        </p:txBody>
      </p:sp>
      <p:sp>
        <p:nvSpPr>
          <p:cNvPr id="8" name="标题 1"/>
          <p:cNvSpPr txBox="1"/>
          <p:nvPr>
            <p:custDataLst>
              <p:tags r:id="rId6"/>
            </p:custDataLst>
          </p:nvPr>
        </p:nvSpPr>
        <p:spPr>
          <a:xfrm>
            <a:off x="8689248" y="2927011"/>
            <a:ext cx="2577933" cy="17846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香港的法治、言论自由、市场经济等核心价值得到充分保障。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1524633" y="1826895"/>
            <a:ext cx="4005135" cy="3022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实践情况</a:t>
            </a:r>
            <a:endParaRPr kumimoji="1" lang="zh-CN" altLang="en-US" sz="4000"/>
          </a:p>
        </p:txBody>
      </p:sp>
      <p:sp>
        <p:nvSpPr>
          <p:cNvPr id="10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香港的一国两制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1400083" flipH="1">
            <a:off x="1674234" y="1774704"/>
            <a:ext cx="8640000" cy="3960000"/>
          </a:xfrm>
          <a:prstGeom prst="roundRect">
            <a:avLst>
              <a:gd name="adj" fmla="val 7202"/>
            </a:avLst>
          </a:prstGeom>
          <a:solidFill>
            <a:schemeClr val="accent1"/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1674234" y="1774704"/>
            <a:ext cx="8640000" cy="3960000"/>
          </a:xfrm>
          <a:prstGeom prst="roundRect">
            <a:avLst>
              <a:gd name="adj" fmla="val 7202"/>
            </a:avLst>
          </a:prstGeom>
          <a:solidFill>
            <a:schemeClr val="bg1"/>
          </a:solidFill>
          <a:ln w="12700" cap="rnd">
            <a:solidFill>
              <a:schemeClr val="accent1"/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339286" y="2416314"/>
            <a:ext cx="7560000" cy="115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澳门回归后，同样继续保持资本主义制度，享有高度自治权。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2089183" y="2741834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339286" y="3879549"/>
            <a:ext cx="7560000" cy="115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澳门的社会稳定、经济发展、文化多样性等方面取得显著成果。</a:t>
            </a:r>
            <a:endParaRPr kumimoji="1" lang="zh-CN" altLang="en-US" sz="3200"/>
          </a:p>
        </p:txBody>
      </p:sp>
      <p:sp>
        <p:nvSpPr>
          <p:cNvPr id="8" name="标题 1"/>
          <p:cNvSpPr txBox="1"/>
          <p:nvPr/>
        </p:nvSpPr>
        <p:spPr>
          <a:xfrm>
            <a:off x="2089183" y="4268864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566457" y="1512278"/>
            <a:ext cx="5400000" cy="504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251999" tIns="324000" rIns="180000" bIns="216000" rtlCol="0" anchor="b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812642" y="1610390"/>
            <a:ext cx="4919084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实践情况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澳门的一国两制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6162" y="-13943"/>
            <a:ext cx="12244324" cy="688588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0" y="2997"/>
            <a:ext cx="12240718" cy="692515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29184" y="347472"/>
            <a:ext cx="11521440" cy="6272784"/>
          </a:xfrm>
          <a:prstGeom prst="roundRect">
            <a:avLst>
              <a:gd name="adj" fmla="val 3839"/>
            </a:avLst>
          </a:prstGeom>
          <a:solidFill>
            <a:schemeClr val="bg1">
              <a:alpha val="63000"/>
            </a:schemeClr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72005" y="1002631"/>
            <a:ext cx="1945527" cy="24159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5479" y="5206586"/>
            <a:ext cx="2882858" cy="33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3126938" y="5372119"/>
            <a:ext cx="1946538" cy="0"/>
          </a:xfrm>
          <a:prstGeom prst="straightConnector1">
            <a:avLst/>
          </a:prstGeom>
          <a:noFill/>
          <a:ln w="19050" cap="sq">
            <a:solidFill>
              <a:schemeClr val="accent1">
                <a:lumMod val="75000"/>
              </a:schemeClr>
            </a:solidFill>
            <a:prstDash val="solid"/>
            <a:miter/>
            <a:tailEnd type="triangle"/>
          </a:ln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73905" y="815129"/>
            <a:ext cx="4879973" cy="533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69166" y="4169739"/>
            <a:ext cx="1708663" cy="82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722306">
            <a:off x="7006094" y="271348"/>
            <a:ext cx="1290483" cy="173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3723589" y="1060203"/>
            <a:ext cx="3998519" cy="2567233"/>
            <a:chOff x="3723589" y="1060203"/>
            <a:chExt cx="3998519" cy="2567233"/>
          </a:xfrm>
        </p:grpSpPr>
        <p:sp>
          <p:nvSpPr>
            <p:cNvPr id="12" name="标题 1"/>
            <p:cNvSpPr txBox="1"/>
            <p:nvPr/>
          </p:nvSpPr>
          <p:spPr>
            <a:xfrm>
              <a:off x="4064508" y="1060203"/>
              <a:ext cx="3657600" cy="2567233"/>
            </a:xfrm>
            <a:custGeom>
              <a:avLst/>
              <a:gdLst>
                <a:gd name="connsiteX0" fmla="*/ 0 w 3657600"/>
                <a:gd name="connsiteY0" fmla="*/ 274821 h 2567233"/>
                <a:gd name="connsiteX1" fmla="*/ 2048256 w 3657600"/>
                <a:gd name="connsiteY1" fmla="*/ 183381 h 2567233"/>
                <a:gd name="connsiteX2" fmla="*/ 2377440 w 3657600"/>
                <a:gd name="connsiteY2" fmla="*/ 2377941 h 2567233"/>
                <a:gd name="connsiteX3" fmla="*/ 3657600 w 3657600"/>
                <a:gd name="connsiteY3" fmla="*/ 2451093 h 2567233"/>
                <a:gd name="connsiteX4" fmla="*/ 3657600 w 3657600"/>
                <a:gd name="connsiteY4" fmla="*/ 2451093 h 2567233"/>
              </a:gdLst>
              <a:ahLst/>
              <a:cxnLst/>
              <a:rect l="l" t="t" r="r" b="b"/>
              <a:pathLst>
                <a:path w="3657600" h="2567233">
                  <a:moveTo>
                    <a:pt x="0" y="274821"/>
                  </a:moveTo>
                  <a:cubicBezTo>
                    <a:pt x="826008" y="53841"/>
                    <a:pt x="1652016" y="-167139"/>
                    <a:pt x="2048256" y="183381"/>
                  </a:cubicBezTo>
                  <a:cubicBezTo>
                    <a:pt x="2444496" y="533901"/>
                    <a:pt x="2109216" y="1999989"/>
                    <a:pt x="2377440" y="2377941"/>
                  </a:cubicBezTo>
                  <a:cubicBezTo>
                    <a:pt x="2645664" y="2755893"/>
                    <a:pt x="3657600" y="2451093"/>
                    <a:pt x="3657600" y="2451093"/>
                  </a:cubicBezTo>
                  <a:lnTo>
                    <a:pt x="3657600" y="2451093"/>
                  </a:lnTo>
                </a:path>
              </a:pathLst>
            </a:custGeom>
            <a:noFill/>
            <a:ln w="19050" cap="sq">
              <a:solidFill>
                <a:schemeClr val="tx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 rot="14879725">
              <a:off x="3745207" y="1261872"/>
              <a:ext cx="337589" cy="274320"/>
            </a:xfrm>
            <a:prstGeom prst="triangle">
              <a:avLst/>
            </a:prstGeom>
            <a:solidFill>
              <a:schemeClr val="tx2"/>
            </a:soli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7865" y="5685284"/>
            <a:ext cx="1677983" cy="153888"/>
            <a:chOff x="857865" y="5685284"/>
            <a:chExt cx="1677983" cy="153888"/>
          </a:xfrm>
        </p:grpSpPr>
        <p:sp>
          <p:nvSpPr>
            <p:cNvPr id="15" name="标题 1"/>
            <p:cNvSpPr txBox="1"/>
            <p:nvPr/>
          </p:nvSpPr>
          <p:spPr>
            <a:xfrm>
              <a:off x="85786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95315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1048445" y="5685284"/>
              <a:ext cx="153340" cy="153888"/>
            </a:xfrm>
            <a:custGeom>
              <a:avLst/>
              <a:gdLst>
                <a:gd name="connsiteX0" fmla="*/ 0 w 267133"/>
                <a:gd name="connsiteY0" fmla="*/ 268087 h 268087"/>
                <a:gd name="connsiteX1" fmla="*/ 267133 w 267133"/>
                <a:gd name="connsiteY1" fmla="*/ 0 h 268087"/>
              </a:gdLst>
              <a:ahLst/>
              <a:cxnLst/>
              <a:rect l="l" t="t" r="r" b="b"/>
              <a:pathLst>
                <a:path w="267133" h="268087">
                  <a:moveTo>
                    <a:pt x="0" y="268087"/>
                  </a:moveTo>
                  <a:lnTo>
                    <a:pt x="267133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114318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123847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3376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42905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152434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61963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71492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81021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90550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200079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209608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219137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228666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2381960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2" name="标题 1"/>
          <p:cNvSpPr txBox="1"/>
          <p:nvPr/>
        </p:nvSpPr>
        <p:spPr>
          <a:xfrm>
            <a:off x="748917" y="2889331"/>
            <a:ext cx="5169641" cy="17490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一国两制的挑战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3215675" y="1118459"/>
            <a:ext cx="2001693" cy="1870447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03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749017" y="2039266"/>
            <a:ext cx="2466658" cy="949640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508125" y="1521856"/>
            <a:ext cx="3143250" cy="31432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762000" dist="254000" dir="5400000" algn="ctr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4" name="标题 1"/>
          <p:cNvCxnSpPr/>
          <p:nvPr/>
        </p:nvCxnSpPr>
        <p:spPr>
          <a:xfrm>
            <a:off x="723900" y="3093481"/>
            <a:ext cx="363220" cy="0"/>
          </a:xfrm>
          <a:prstGeom prst="straightConnector1">
            <a:avLst/>
          </a:prstGeom>
          <a:noFill/>
          <a:ln w="57150" cap="sq">
            <a:solidFill>
              <a:srgbClr val="FFFFFF">
                <a:alpha val="100000"/>
              </a:srgbClr>
            </a:solidFill>
            <a:miter/>
            <a:tailEnd type="triangle"/>
          </a:ln>
        </p:spPr>
      </p:cxnSp>
      <p:cxnSp>
        <p:nvCxnSpPr>
          <p:cNvPr id="5" name="标题 1"/>
          <p:cNvCxnSpPr/>
          <p:nvPr/>
        </p:nvCxnSpPr>
        <p:spPr>
          <a:xfrm>
            <a:off x="2469516" y="2176462"/>
            <a:ext cx="4816471" cy="1"/>
          </a:xfrm>
          <a:prstGeom prst="line">
            <a:avLst/>
          </a:prstGeom>
          <a:noFill/>
          <a:ln w="10477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2469329" y="2447962"/>
            <a:ext cx="458868" cy="497065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286189" y="2447962"/>
            <a:ext cx="435245" cy="497065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469280" y="3216264"/>
            <a:ext cx="4213555" cy="1652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台湾地区尚未实现与祖国的完全统一，是一国两制面临的最大挑战。</a:t>
            </a:r>
          </a:p>
        </p:txBody>
      </p:sp>
      <p:sp>
        <p:nvSpPr>
          <p:cNvPr id="11" name="标题 1"/>
          <p:cNvSpPr txBox="1"/>
          <p:nvPr/>
        </p:nvSpPr>
        <p:spPr>
          <a:xfrm>
            <a:off x="7285759" y="3216263"/>
            <a:ext cx="4201391" cy="1652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台湾地区的政治、经济、文化等方面与大陆存在差异，统一进程需要充分考虑台湾民意和实际情况。</a:t>
            </a:r>
            <a:endParaRPr kumimoji="1" lang="zh-CN" altLang="en-US" sz="2400"/>
          </a:p>
        </p:txBody>
      </p:sp>
      <p:sp>
        <p:nvSpPr>
          <p:cNvPr id="12" name="标题 1"/>
          <p:cNvSpPr txBox="1"/>
          <p:nvPr/>
        </p:nvSpPr>
        <p:spPr>
          <a:xfrm>
            <a:off x="2463800" y="844550"/>
            <a:ext cx="8991600" cy="1140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挑战</a:t>
            </a:r>
          </a:p>
        </p:txBody>
      </p:sp>
      <p:sp>
        <p:nvSpPr>
          <p:cNvPr id="13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台湾问题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351099" y="944093"/>
            <a:ext cx="9489802" cy="10752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挑战</a:t>
            </a: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3088303" y="2201573"/>
            <a:ext cx="913910" cy="913908"/>
            <a:chOff x="3078143" y="3209953"/>
            <a:chExt cx="913910" cy="913908"/>
          </a:xfrm>
        </p:grpSpPr>
        <p:sp>
          <p:nvSpPr>
            <p:cNvPr id="5" name="标题 1"/>
            <p:cNvSpPr txBox="1"/>
            <p:nvPr>
              <p:custDataLst>
                <p:tags r:id="rId8"/>
              </p:custDataLst>
            </p:nvPr>
          </p:nvSpPr>
          <p:spPr>
            <a:xfrm>
              <a:off x="3175099" y="3306907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19050" cap="rnd">
              <a:noFill/>
              <a:rou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6" name="标题 1"/>
            <p:cNvSpPr txBox="1"/>
            <p:nvPr>
              <p:custDataLst>
                <p:tags r:id="rId9"/>
              </p:custDataLst>
            </p:nvPr>
          </p:nvSpPr>
          <p:spPr>
            <a:xfrm>
              <a:off x="3363061" y="3480549"/>
              <a:ext cx="344075" cy="372717"/>
            </a:xfrm>
            <a:custGeom>
              <a:avLst/>
              <a:gdLst>
                <a:gd name="connsiteX0" fmla="*/ 712625 w 1425436"/>
                <a:gd name="connsiteY0" fmla="*/ 111621 h 1544091"/>
                <a:gd name="connsiteX1" fmla="*/ 902567 w 1425436"/>
                <a:gd name="connsiteY1" fmla="*/ 190314 h 1544091"/>
                <a:gd name="connsiteX2" fmla="*/ 981260 w 1425436"/>
                <a:gd name="connsiteY2" fmla="*/ 380256 h 1544091"/>
                <a:gd name="connsiteX3" fmla="*/ 902567 w 1425436"/>
                <a:gd name="connsiteY3" fmla="*/ 570198 h 1544091"/>
                <a:gd name="connsiteX4" fmla="*/ 712625 w 1425436"/>
                <a:gd name="connsiteY4" fmla="*/ 648891 h 1544091"/>
                <a:gd name="connsiteX5" fmla="*/ 522684 w 1425436"/>
                <a:gd name="connsiteY5" fmla="*/ 570198 h 1544091"/>
                <a:gd name="connsiteX6" fmla="*/ 444177 w 1425436"/>
                <a:gd name="connsiteY6" fmla="*/ 380070 h 1544091"/>
                <a:gd name="connsiteX7" fmla="*/ 522870 w 1425436"/>
                <a:gd name="connsiteY7" fmla="*/ 190128 h 1544091"/>
                <a:gd name="connsiteX8" fmla="*/ 712625 w 1425436"/>
                <a:gd name="connsiteY8" fmla="*/ 111621 h 1544091"/>
                <a:gd name="connsiteX9" fmla="*/ 712625 w 1425436"/>
                <a:gd name="connsiteY9" fmla="*/ 0 h 1544091"/>
                <a:gd name="connsiteX10" fmla="*/ 332556 w 1425436"/>
                <a:gd name="connsiteY10" fmla="*/ 380070 h 1544091"/>
                <a:gd name="connsiteX11" fmla="*/ 712625 w 1425436"/>
                <a:gd name="connsiteY11" fmla="*/ 760140 h 1544091"/>
                <a:gd name="connsiteX12" fmla="*/ 1092695 w 1425436"/>
                <a:gd name="connsiteY12" fmla="*/ 380070 h 1544091"/>
                <a:gd name="connsiteX13" fmla="*/ 712625 w 1425436"/>
                <a:gd name="connsiteY13" fmla="*/ 0 h 1544091"/>
                <a:gd name="connsiteX14" fmla="*/ 712625 w 1425436"/>
                <a:gd name="connsiteY14" fmla="*/ 943012 h 1544091"/>
                <a:gd name="connsiteX15" fmla="*/ 978842 w 1425436"/>
                <a:gd name="connsiteY15" fmla="*/ 976685 h 1544091"/>
                <a:gd name="connsiteX16" fmla="*/ 1146087 w 1425436"/>
                <a:gd name="connsiteY16" fmla="*/ 1059470 h 1544091"/>
                <a:gd name="connsiteX17" fmla="*/ 1248593 w 1425436"/>
                <a:gd name="connsiteY17" fmla="*/ 1174440 h 1544091"/>
                <a:gd name="connsiteX18" fmla="*/ 1310356 w 1425436"/>
                <a:gd name="connsiteY18" fmla="*/ 1316385 h 1544091"/>
                <a:gd name="connsiteX19" fmla="*/ 1296590 w 1425436"/>
                <a:gd name="connsiteY19" fmla="*/ 1390241 h 1544091"/>
                <a:gd name="connsiteX20" fmla="*/ 1208595 w 1425436"/>
                <a:gd name="connsiteY20" fmla="*/ 1432285 h 1544091"/>
                <a:gd name="connsiteX21" fmla="*/ 216842 w 1425436"/>
                <a:gd name="connsiteY21" fmla="*/ 1432285 h 1544091"/>
                <a:gd name="connsiteX22" fmla="*/ 128847 w 1425436"/>
                <a:gd name="connsiteY22" fmla="*/ 1390241 h 1544091"/>
                <a:gd name="connsiteX23" fmla="*/ 115081 w 1425436"/>
                <a:gd name="connsiteY23" fmla="*/ 1316385 h 1544091"/>
                <a:gd name="connsiteX24" fmla="*/ 176844 w 1425436"/>
                <a:gd name="connsiteY24" fmla="*/ 1174440 h 1544091"/>
                <a:gd name="connsiteX25" fmla="*/ 279350 w 1425436"/>
                <a:gd name="connsiteY25" fmla="*/ 1059470 h 1544091"/>
                <a:gd name="connsiteX26" fmla="*/ 446595 w 1425436"/>
                <a:gd name="connsiteY26" fmla="*/ 976685 h 1544091"/>
                <a:gd name="connsiteX27" fmla="*/ 712625 w 1425436"/>
                <a:gd name="connsiteY27" fmla="*/ 943012 h 1544091"/>
                <a:gd name="connsiteX28" fmla="*/ 712625 w 1425436"/>
                <a:gd name="connsiteY28" fmla="*/ 831391 h 1544091"/>
                <a:gd name="connsiteX29" fmla="*/ 8296 w 1425436"/>
                <a:gd name="connsiteY29" fmla="*/ 1284387 h 1544091"/>
                <a:gd name="connsiteX30" fmla="*/ 216842 w 1425436"/>
                <a:gd name="connsiteY30" fmla="*/ 1544092 h 1544091"/>
                <a:gd name="connsiteX31" fmla="*/ 1208595 w 1425436"/>
                <a:gd name="connsiteY31" fmla="*/ 1544092 h 1544091"/>
                <a:gd name="connsiteX32" fmla="*/ 1417141 w 1425436"/>
                <a:gd name="connsiteY32" fmla="*/ 1284387 h 1544091"/>
                <a:gd name="connsiteX33" fmla="*/ 712625 w 1425436"/>
                <a:gd name="connsiteY33" fmla="*/ 831391 h 1544091"/>
              </a:gdLst>
              <a:ahLst/>
              <a:cxnLst/>
              <a:rect l="l" t="t" r="r" b="b"/>
              <a:pathLst>
                <a:path w="1425436" h="1544091">
                  <a:moveTo>
                    <a:pt x="712625" y="111621"/>
                  </a:moveTo>
                  <a:cubicBezTo>
                    <a:pt x="784435" y="111621"/>
                    <a:pt x="851780" y="139526"/>
                    <a:pt x="902567" y="190314"/>
                  </a:cubicBezTo>
                  <a:cubicBezTo>
                    <a:pt x="953355" y="241102"/>
                    <a:pt x="981260" y="308446"/>
                    <a:pt x="981260" y="380256"/>
                  </a:cubicBezTo>
                  <a:cubicBezTo>
                    <a:pt x="981260" y="452065"/>
                    <a:pt x="953355" y="519410"/>
                    <a:pt x="902567" y="570198"/>
                  </a:cubicBezTo>
                  <a:cubicBezTo>
                    <a:pt x="851780" y="620985"/>
                    <a:pt x="784435" y="648891"/>
                    <a:pt x="712625" y="648891"/>
                  </a:cubicBezTo>
                  <a:cubicBezTo>
                    <a:pt x="640816" y="648891"/>
                    <a:pt x="573471" y="620985"/>
                    <a:pt x="522684" y="570198"/>
                  </a:cubicBezTo>
                  <a:cubicBezTo>
                    <a:pt x="472082" y="519224"/>
                    <a:pt x="444177" y="451693"/>
                    <a:pt x="444177" y="380070"/>
                  </a:cubicBezTo>
                  <a:cubicBezTo>
                    <a:pt x="444177" y="308446"/>
                    <a:pt x="472082" y="240916"/>
                    <a:pt x="522870" y="190128"/>
                  </a:cubicBezTo>
                  <a:cubicBezTo>
                    <a:pt x="573471" y="139526"/>
                    <a:pt x="641002" y="111621"/>
                    <a:pt x="712625" y="111621"/>
                  </a:cubicBezTo>
                  <a:moveTo>
                    <a:pt x="712625" y="0"/>
                  </a:moveTo>
                  <a:cubicBezTo>
                    <a:pt x="502778" y="0"/>
                    <a:pt x="332556" y="170036"/>
                    <a:pt x="332556" y="380070"/>
                  </a:cubicBezTo>
                  <a:cubicBezTo>
                    <a:pt x="332556" y="589917"/>
                    <a:pt x="502778" y="760140"/>
                    <a:pt x="712625" y="760140"/>
                  </a:cubicBezTo>
                  <a:cubicBezTo>
                    <a:pt x="922473" y="760140"/>
                    <a:pt x="1092695" y="589917"/>
                    <a:pt x="1092695" y="380070"/>
                  </a:cubicBezTo>
                  <a:cubicBezTo>
                    <a:pt x="1092881" y="170036"/>
                    <a:pt x="922659" y="0"/>
                    <a:pt x="712625" y="0"/>
                  </a:cubicBezTo>
                  <a:close/>
                  <a:moveTo>
                    <a:pt x="712625" y="943012"/>
                  </a:moveTo>
                  <a:cubicBezTo>
                    <a:pt x="813643" y="943012"/>
                    <a:pt x="903126" y="954360"/>
                    <a:pt x="978842" y="976685"/>
                  </a:cubicBezTo>
                  <a:cubicBezTo>
                    <a:pt x="1043582" y="995846"/>
                    <a:pt x="1099951" y="1023752"/>
                    <a:pt x="1146087" y="1059470"/>
                  </a:cubicBezTo>
                  <a:cubicBezTo>
                    <a:pt x="1186829" y="1091096"/>
                    <a:pt x="1220315" y="1128675"/>
                    <a:pt x="1248593" y="1174440"/>
                  </a:cubicBezTo>
                  <a:cubicBezTo>
                    <a:pt x="1273708" y="1215368"/>
                    <a:pt x="1293985" y="1261877"/>
                    <a:pt x="1310356" y="1316385"/>
                  </a:cubicBezTo>
                  <a:cubicBezTo>
                    <a:pt x="1320774" y="1350801"/>
                    <a:pt x="1306264" y="1377404"/>
                    <a:pt x="1296590" y="1390241"/>
                  </a:cubicBezTo>
                  <a:cubicBezTo>
                    <a:pt x="1276684" y="1417030"/>
                    <a:pt x="1244686" y="1432285"/>
                    <a:pt x="1208595" y="1432285"/>
                  </a:cubicBezTo>
                  <a:lnTo>
                    <a:pt x="216842" y="1432285"/>
                  </a:lnTo>
                  <a:cubicBezTo>
                    <a:pt x="180937" y="1432285"/>
                    <a:pt x="148753" y="1417030"/>
                    <a:pt x="128847" y="1390241"/>
                  </a:cubicBezTo>
                  <a:cubicBezTo>
                    <a:pt x="119359" y="1377404"/>
                    <a:pt x="104849" y="1350801"/>
                    <a:pt x="115081" y="1316385"/>
                  </a:cubicBezTo>
                  <a:cubicBezTo>
                    <a:pt x="131452" y="1261877"/>
                    <a:pt x="151543" y="1215368"/>
                    <a:pt x="176844" y="1174440"/>
                  </a:cubicBezTo>
                  <a:cubicBezTo>
                    <a:pt x="204936" y="1128675"/>
                    <a:pt x="238422" y="1090910"/>
                    <a:pt x="279350" y="1059470"/>
                  </a:cubicBezTo>
                  <a:cubicBezTo>
                    <a:pt x="325486" y="1023752"/>
                    <a:pt x="381855" y="995846"/>
                    <a:pt x="446595" y="976685"/>
                  </a:cubicBezTo>
                  <a:cubicBezTo>
                    <a:pt x="522125" y="954360"/>
                    <a:pt x="611794" y="943012"/>
                    <a:pt x="712625" y="943012"/>
                  </a:cubicBezTo>
                  <a:moveTo>
                    <a:pt x="712625" y="831391"/>
                  </a:moveTo>
                  <a:cubicBezTo>
                    <a:pt x="244561" y="831391"/>
                    <a:pt x="77501" y="1053331"/>
                    <a:pt x="8296" y="1284387"/>
                  </a:cubicBezTo>
                  <a:cubicBezTo>
                    <a:pt x="-30771" y="1414611"/>
                    <a:pt x="73037" y="1544092"/>
                    <a:pt x="216842" y="1544092"/>
                  </a:cubicBezTo>
                  <a:lnTo>
                    <a:pt x="1208595" y="1544092"/>
                  </a:lnTo>
                  <a:cubicBezTo>
                    <a:pt x="1352400" y="1544092"/>
                    <a:pt x="1456208" y="1414611"/>
                    <a:pt x="1417141" y="1284387"/>
                  </a:cubicBezTo>
                  <a:cubicBezTo>
                    <a:pt x="1347750" y="1053331"/>
                    <a:pt x="1180690" y="831391"/>
                    <a:pt x="712625" y="83139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>
              <p:custDataLst>
                <p:tags r:id="rId10"/>
              </p:custDataLst>
            </p:nvPr>
          </p:nvSpPr>
          <p:spPr>
            <a:xfrm>
              <a:off x="3078143" y="3209953"/>
              <a:ext cx="913910" cy="913908"/>
            </a:xfrm>
            <a:prstGeom prst="arc">
              <a:avLst>
                <a:gd name="adj1" fmla="val 12085454"/>
                <a:gd name="adj2" fmla="val 16423906"/>
              </a:avLst>
            </a:prstGeom>
            <a:noFill/>
            <a:ln w="25400" cap="rnd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8" name="标题 1"/>
          <p:cNvSpPr txBox="1"/>
          <p:nvPr>
            <p:custDataLst>
              <p:tags r:id="rId2"/>
            </p:custDataLst>
          </p:nvPr>
        </p:nvSpPr>
        <p:spPr>
          <a:xfrm>
            <a:off x="1446978" y="3288039"/>
            <a:ext cx="4196561" cy="15580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一些国际势力试图干预中国内政，对一国两制的实施构成挑战。</a:t>
            </a:r>
            <a:endParaRPr kumimoji="1" lang="zh-CN" altLang="en-US" sz="2800"/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8216622" y="2198025"/>
            <a:ext cx="913910" cy="913908"/>
            <a:chOff x="8206462" y="3206405"/>
            <a:chExt cx="913910" cy="913908"/>
          </a:xfrm>
        </p:grpSpPr>
        <p:sp>
          <p:nvSpPr>
            <p:cNvPr id="10" name="标题 1"/>
            <p:cNvSpPr txBox="1"/>
            <p:nvPr>
              <p:custDataLst>
                <p:tags r:id="rId5"/>
              </p:custDataLst>
            </p:nvPr>
          </p:nvSpPr>
          <p:spPr>
            <a:xfrm>
              <a:off x="8303416" y="3303359"/>
              <a:ext cx="720000" cy="72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rnd">
              <a:noFill/>
              <a:rou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1" name="标题 1"/>
            <p:cNvSpPr txBox="1"/>
            <p:nvPr>
              <p:custDataLst>
                <p:tags r:id="rId6"/>
              </p:custDataLst>
            </p:nvPr>
          </p:nvSpPr>
          <p:spPr>
            <a:xfrm>
              <a:off x="8477057" y="3483013"/>
              <a:ext cx="372717" cy="360692"/>
            </a:xfrm>
            <a:custGeom>
              <a:avLst/>
              <a:gdLst>
                <a:gd name="connsiteX0" fmla="*/ 695958 w 1660735"/>
                <a:gd name="connsiteY0" fmla="*/ 752512 h 1607157"/>
                <a:gd name="connsiteX1" fmla="*/ 376349 w 1660735"/>
                <a:gd name="connsiteY1" fmla="*/ 752512 h 1607157"/>
                <a:gd name="connsiteX2" fmla="*/ 110505 w 1660735"/>
                <a:gd name="connsiteY2" fmla="*/ 642007 h 1607157"/>
                <a:gd name="connsiteX3" fmla="*/ 0 w 1660735"/>
                <a:gd name="connsiteY3" fmla="*/ 376349 h 1607157"/>
                <a:gd name="connsiteX4" fmla="*/ 110505 w 1660735"/>
                <a:gd name="connsiteY4" fmla="*/ 110505 h 1607157"/>
                <a:gd name="connsiteX5" fmla="*/ 376349 w 1660735"/>
                <a:gd name="connsiteY5" fmla="*/ 0 h 1607157"/>
                <a:gd name="connsiteX6" fmla="*/ 642193 w 1660735"/>
                <a:gd name="connsiteY6" fmla="*/ 110505 h 1607157"/>
                <a:gd name="connsiteX7" fmla="*/ 752698 w 1660735"/>
                <a:gd name="connsiteY7" fmla="*/ 376349 h 1607157"/>
                <a:gd name="connsiteX8" fmla="*/ 752698 w 1660735"/>
                <a:gd name="connsiteY8" fmla="*/ 695958 h 1607157"/>
                <a:gd name="connsiteX9" fmla="*/ 695958 w 1660735"/>
                <a:gd name="connsiteY9" fmla="*/ 752512 h 1607157"/>
                <a:gd name="connsiteX10" fmla="*/ 376349 w 1660735"/>
                <a:gd name="connsiteY10" fmla="*/ 111621 h 1607157"/>
                <a:gd name="connsiteX11" fmla="*/ 111621 w 1660735"/>
                <a:gd name="connsiteY11" fmla="*/ 376349 h 1607157"/>
                <a:gd name="connsiteX12" fmla="*/ 376349 w 1660735"/>
                <a:gd name="connsiteY12" fmla="*/ 641077 h 1607157"/>
                <a:gd name="connsiteX13" fmla="*/ 641077 w 1660735"/>
                <a:gd name="connsiteY13" fmla="*/ 641077 h 1607157"/>
                <a:gd name="connsiteX14" fmla="*/ 641077 w 1660735"/>
                <a:gd name="connsiteY14" fmla="*/ 376349 h 1607157"/>
                <a:gd name="connsiteX15" fmla="*/ 376349 w 1660735"/>
                <a:gd name="connsiteY15" fmla="*/ 111621 h 1607157"/>
                <a:gd name="connsiteX16" fmla="*/ 1284201 w 1660735"/>
                <a:gd name="connsiteY16" fmla="*/ 752512 h 1607157"/>
                <a:gd name="connsiteX17" fmla="*/ 964592 w 1660735"/>
                <a:gd name="connsiteY17" fmla="*/ 752512 h 1607157"/>
                <a:gd name="connsiteX18" fmla="*/ 908038 w 1660735"/>
                <a:gd name="connsiteY18" fmla="*/ 695958 h 1607157"/>
                <a:gd name="connsiteX19" fmla="*/ 908038 w 1660735"/>
                <a:gd name="connsiteY19" fmla="*/ 376349 h 1607157"/>
                <a:gd name="connsiteX20" fmla="*/ 1018543 w 1660735"/>
                <a:gd name="connsiteY20" fmla="*/ 110505 h 1607157"/>
                <a:gd name="connsiteX21" fmla="*/ 1284387 w 1660735"/>
                <a:gd name="connsiteY21" fmla="*/ 0 h 1607157"/>
                <a:gd name="connsiteX22" fmla="*/ 1550231 w 1660735"/>
                <a:gd name="connsiteY22" fmla="*/ 110505 h 1607157"/>
                <a:gd name="connsiteX23" fmla="*/ 1660736 w 1660735"/>
                <a:gd name="connsiteY23" fmla="*/ 376349 h 1607157"/>
                <a:gd name="connsiteX24" fmla="*/ 1550231 w 1660735"/>
                <a:gd name="connsiteY24" fmla="*/ 642193 h 1607157"/>
                <a:gd name="connsiteX25" fmla="*/ 1284201 w 1660735"/>
                <a:gd name="connsiteY25" fmla="*/ 752512 h 1607157"/>
                <a:gd name="connsiteX26" fmla="*/ 1019659 w 1660735"/>
                <a:gd name="connsiteY26" fmla="*/ 640891 h 1607157"/>
                <a:gd name="connsiteX27" fmla="*/ 1284387 w 1660735"/>
                <a:gd name="connsiteY27" fmla="*/ 640891 h 1607157"/>
                <a:gd name="connsiteX28" fmla="*/ 1549115 w 1660735"/>
                <a:gd name="connsiteY28" fmla="*/ 376163 h 1607157"/>
                <a:gd name="connsiteX29" fmla="*/ 1284387 w 1660735"/>
                <a:gd name="connsiteY29" fmla="*/ 111435 h 1607157"/>
                <a:gd name="connsiteX30" fmla="*/ 1019659 w 1660735"/>
                <a:gd name="connsiteY30" fmla="*/ 376163 h 1607157"/>
                <a:gd name="connsiteX31" fmla="*/ 1019659 w 1660735"/>
                <a:gd name="connsiteY31" fmla="*/ 640891 h 1607157"/>
                <a:gd name="connsiteX32" fmla="*/ 376349 w 1660735"/>
                <a:gd name="connsiteY32" fmla="*/ 1607158 h 1607157"/>
                <a:gd name="connsiteX33" fmla="*/ 110505 w 1660735"/>
                <a:gd name="connsiteY33" fmla="*/ 1496653 h 1607157"/>
                <a:gd name="connsiteX34" fmla="*/ 0 w 1660735"/>
                <a:gd name="connsiteY34" fmla="*/ 1230809 h 1607157"/>
                <a:gd name="connsiteX35" fmla="*/ 110505 w 1660735"/>
                <a:gd name="connsiteY35" fmla="*/ 964964 h 1607157"/>
                <a:gd name="connsiteX36" fmla="*/ 376349 w 1660735"/>
                <a:gd name="connsiteY36" fmla="*/ 854459 h 1607157"/>
                <a:gd name="connsiteX37" fmla="*/ 695958 w 1660735"/>
                <a:gd name="connsiteY37" fmla="*/ 854459 h 1607157"/>
                <a:gd name="connsiteX38" fmla="*/ 752512 w 1660735"/>
                <a:gd name="connsiteY38" fmla="*/ 911014 h 1607157"/>
                <a:gd name="connsiteX39" fmla="*/ 752512 w 1660735"/>
                <a:gd name="connsiteY39" fmla="*/ 1230623 h 1607157"/>
                <a:gd name="connsiteX40" fmla="*/ 642007 w 1660735"/>
                <a:gd name="connsiteY40" fmla="*/ 1496467 h 1607157"/>
                <a:gd name="connsiteX41" fmla="*/ 376349 w 1660735"/>
                <a:gd name="connsiteY41" fmla="*/ 1607158 h 1607157"/>
                <a:gd name="connsiteX42" fmla="*/ 376349 w 1660735"/>
                <a:gd name="connsiteY42" fmla="*/ 966267 h 1607157"/>
                <a:gd name="connsiteX43" fmla="*/ 111621 w 1660735"/>
                <a:gd name="connsiteY43" fmla="*/ 1230809 h 1607157"/>
                <a:gd name="connsiteX44" fmla="*/ 376349 w 1660735"/>
                <a:gd name="connsiteY44" fmla="*/ 1495537 h 1607157"/>
                <a:gd name="connsiteX45" fmla="*/ 641077 w 1660735"/>
                <a:gd name="connsiteY45" fmla="*/ 1230809 h 1607157"/>
                <a:gd name="connsiteX46" fmla="*/ 641077 w 1660735"/>
                <a:gd name="connsiteY46" fmla="*/ 966267 h 1607157"/>
                <a:gd name="connsiteX47" fmla="*/ 376349 w 1660735"/>
                <a:gd name="connsiteY47" fmla="*/ 966267 h 1607157"/>
                <a:gd name="connsiteX48" fmla="*/ 1284201 w 1660735"/>
                <a:gd name="connsiteY48" fmla="*/ 1607158 h 1607157"/>
                <a:gd name="connsiteX49" fmla="*/ 1018357 w 1660735"/>
                <a:gd name="connsiteY49" fmla="*/ 1496653 h 1607157"/>
                <a:gd name="connsiteX50" fmla="*/ 907852 w 1660735"/>
                <a:gd name="connsiteY50" fmla="*/ 1230809 h 1607157"/>
                <a:gd name="connsiteX51" fmla="*/ 907852 w 1660735"/>
                <a:gd name="connsiteY51" fmla="*/ 911200 h 1607157"/>
                <a:gd name="connsiteX52" fmla="*/ 964406 w 1660735"/>
                <a:gd name="connsiteY52" fmla="*/ 854646 h 1607157"/>
                <a:gd name="connsiteX53" fmla="*/ 1284015 w 1660735"/>
                <a:gd name="connsiteY53" fmla="*/ 854646 h 1607157"/>
                <a:gd name="connsiteX54" fmla="*/ 1549859 w 1660735"/>
                <a:gd name="connsiteY54" fmla="*/ 965150 h 1607157"/>
                <a:gd name="connsiteX55" fmla="*/ 1660364 w 1660735"/>
                <a:gd name="connsiteY55" fmla="*/ 1230995 h 1607157"/>
                <a:gd name="connsiteX56" fmla="*/ 1550045 w 1660735"/>
                <a:gd name="connsiteY56" fmla="*/ 1496653 h 1607157"/>
                <a:gd name="connsiteX57" fmla="*/ 1284201 w 1660735"/>
                <a:gd name="connsiteY57" fmla="*/ 1607158 h 1607157"/>
                <a:gd name="connsiteX58" fmla="*/ 1019659 w 1660735"/>
                <a:gd name="connsiteY58" fmla="*/ 966267 h 1607157"/>
                <a:gd name="connsiteX59" fmla="*/ 1019659 w 1660735"/>
                <a:gd name="connsiteY59" fmla="*/ 1230995 h 1607157"/>
                <a:gd name="connsiteX60" fmla="*/ 1284387 w 1660735"/>
                <a:gd name="connsiteY60" fmla="*/ 1495723 h 1607157"/>
                <a:gd name="connsiteX61" fmla="*/ 1549115 w 1660735"/>
                <a:gd name="connsiteY61" fmla="*/ 1230995 h 1607157"/>
                <a:gd name="connsiteX62" fmla="*/ 1284387 w 1660735"/>
                <a:gd name="connsiteY62" fmla="*/ 966267 h 1607157"/>
                <a:gd name="connsiteX63" fmla="*/ 1019659 w 1660735"/>
                <a:gd name="connsiteY63" fmla="*/ 966267 h 1607157"/>
              </a:gdLst>
              <a:ahLst/>
              <a:cxnLst/>
              <a:rect l="l" t="t" r="r" b="b"/>
              <a:pathLst>
                <a:path w="1660735" h="1607157">
                  <a:moveTo>
                    <a:pt x="695958" y="752512"/>
                  </a:moveTo>
                  <a:lnTo>
                    <a:pt x="376349" y="752512"/>
                  </a:lnTo>
                  <a:cubicBezTo>
                    <a:pt x="276262" y="752512"/>
                    <a:pt x="181756" y="713259"/>
                    <a:pt x="110505" y="642007"/>
                  </a:cubicBezTo>
                  <a:cubicBezTo>
                    <a:pt x="39253" y="570756"/>
                    <a:pt x="0" y="476436"/>
                    <a:pt x="0" y="376349"/>
                  </a:cubicBezTo>
                  <a:cubicBezTo>
                    <a:pt x="0" y="276262"/>
                    <a:pt x="39253" y="181756"/>
                    <a:pt x="110505" y="110505"/>
                  </a:cubicBezTo>
                  <a:cubicBezTo>
                    <a:pt x="181756" y="39253"/>
                    <a:pt x="276076" y="0"/>
                    <a:pt x="376349" y="0"/>
                  </a:cubicBezTo>
                  <a:cubicBezTo>
                    <a:pt x="476436" y="0"/>
                    <a:pt x="570942" y="39253"/>
                    <a:pt x="642193" y="110505"/>
                  </a:cubicBezTo>
                  <a:cubicBezTo>
                    <a:pt x="713445" y="181756"/>
                    <a:pt x="752698" y="276076"/>
                    <a:pt x="752698" y="376349"/>
                  </a:cubicBezTo>
                  <a:lnTo>
                    <a:pt x="752698" y="695958"/>
                  </a:lnTo>
                  <a:cubicBezTo>
                    <a:pt x="752512" y="727211"/>
                    <a:pt x="727211" y="752512"/>
                    <a:pt x="695958" y="752512"/>
                  </a:cubicBezTo>
                  <a:close/>
                  <a:moveTo>
                    <a:pt x="376349" y="111621"/>
                  </a:moveTo>
                  <a:cubicBezTo>
                    <a:pt x="230498" y="111621"/>
                    <a:pt x="111621" y="230312"/>
                    <a:pt x="111621" y="376349"/>
                  </a:cubicBezTo>
                  <a:cubicBezTo>
                    <a:pt x="111621" y="522201"/>
                    <a:pt x="230312" y="641077"/>
                    <a:pt x="376349" y="641077"/>
                  </a:cubicBezTo>
                  <a:lnTo>
                    <a:pt x="641077" y="641077"/>
                  </a:lnTo>
                  <a:lnTo>
                    <a:pt x="641077" y="376349"/>
                  </a:lnTo>
                  <a:cubicBezTo>
                    <a:pt x="640891" y="230312"/>
                    <a:pt x="522201" y="111621"/>
                    <a:pt x="376349" y="111621"/>
                  </a:cubicBezTo>
                  <a:close/>
                  <a:moveTo>
                    <a:pt x="1284201" y="752512"/>
                  </a:moveTo>
                  <a:lnTo>
                    <a:pt x="964592" y="752512"/>
                  </a:lnTo>
                  <a:cubicBezTo>
                    <a:pt x="933338" y="752512"/>
                    <a:pt x="908038" y="727025"/>
                    <a:pt x="908038" y="695958"/>
                  </a:cubicBezTo>
                  <a:lnTo>
                    <a:pt x="908038" y="376349"/>
                  </a:lnTo>
                  <a:cubicBezTo>
                    <a:pt x="908038" y="276262"/>
                    <a:pt x="947291" y="181756"/>
                    <a:pt x="1018543" y="110505"/>
                  </a:cubicBezTo>
                  <a:cubicBezTo>
                    <a:pt x="1089794" y="39253"/>
                    <a:pt x="1184114" y="0"/>
                    <a:pt x="1284387" y="0"/>
                  </a:cubicBezTo>
                  <a:cubicBezTo>
                    <a:pt x="1384660" y="0"/>
                    <a:pt x="1478980" y="39253"/>
                    <a:pt x="1550231" y="110505"/>
                  </a:cubicBezTo>
                  <a:cubicBezTo>
                    <a:pt x="1621482" y="181756"/>
                    <a:pt x="1660736" y="276076"/>
                    <a:pt x="1660736" y="376349"/>
                  </a:cubicBezTo>
                  <a:cubicBezTo>
                    <a:pt x="1660736" y="476622"/>
                    <a:pt x="1621482" y="570942"/>
                    <a:pt x="1550231" y="642193"/>
                  </a:cubicBezTo>
                  <a:cubicBezTo>
                    <a:pt x="1478794" y="713259"/>
                    <a:pt x="1384288" y="752512"/>
                    <a:pt x="1284201" y="752512"/>
                  </a:cubicBezTo>
                  <a:close/>
                  <a:moveTo>
                    <a:pt x="1019659" y="640891"/>
                  </a:moveTo>
                  <a:lnTo>
                    <a:pt x="1284387" y="640891"/>
                  </a:lnTo>
                  <a:cubicBezTo>
                    <a:pt x="1430238" y="640891"/>
                    <a:pt x="1549115" y="522201"/>
                    <a:pt x="1549115" y="376163"/>
                  </a:cubicBezTo>
                  <a:cubicBezTo>
                    <a:pt x="1549115" y="230312"/>
                    <a:pt x="1430424" y="111435"/>
                    <a:pt x="1284387" y="111435"/>
                  </a:cubicBezTo>
                  <a:cubicBezTo>
                    <a:pt x="1138349" y="111435"/>
                    <a:pt x="1019659" y="230125"/>
                    <a:pt x="1019659" y="376163"/>
                  </a:cubicBezTo>
                  <a:lnTo>
                    <a:pt x="1019659" y="640891"/>
                  </a:lnTo>
                  <a:close/>
                  <a:moveTo>
                    <a:pt x="376349" y="1607158"/>
                  </a:moveTo>
                  <a:cubicBezTo>
                    <a:pt x="276262" y="1607158"/>
                    <a:pt x="181756" y="1567904"/>
                    <a:pt x="110505" y="1496653"/>
                  </a:cubicBezTo>
                  <a:cubicBezTo>
                    <a:pt x="39253" y="1425401"/>
                    <a:pt x="0" y="1330896"/>
                    <a:pt x="0" y="1230809"/>
                  </a:cubicBezTo>
                  <a:cubicBezTo>
                    <a:pt x="0" y="1130722"/>
                    <a:pt x="39253" y="1036216"/>
                    <a:pt x="110505" y="964964"/>
                  </a:cubicBezTo>
                  <a:cubicBezTo>
                    <a:pt x="181756" y="893713"/>
                    <a:pt x="276076" y="854459"/>
                    <a:pt x="376349" y="854459"/>
                  </a:cubicBezTo>
                  <a:lnTo>
                    <a:pt x="695958" y="854459"/>
                  </a:lnTo>
                  <a:cubicBezTo>
                    <a:pt x="727211" y="854459"/>
                    <a:pt x="752512" y="879760"/>
                    <a:pt x="752512" y="911014"/>
                  </a:cubicBezTo>
                  <a:lnTo>
                    <a:pt x="752512" y="1230623"/>
                  </a:lnTo>
                  <a:cubicBezTo>
                    <a:pt x="752512" y="1330709"/>
                    <a:pt x="713259" y="1425215"/>
                    <a:pt x="642007" y="1496467"/>
                  </a:cubicBezTo>
                  <a:cubicBezTo>
                    <a:pt x="570756" y="1567718"/>
                    <a:pt x="476436" y="1607158"/>
                    <a:pt x="376349" y="1607158"/>
                  </a:cubicBezTo>
                  <a:close/>
                  <a:moveTo>
                    <a:pt x="376349" y="966267"/>
                  </a:moveTo>
                  <a:cubicBezTo>
                    <a:pt x="230312" y="966267"/>
                    <a:pt x="111621" y="1084957"/>
                    <a:pt x="111621" y="1230809"/>
                  </a:cubicBezTo>
                  <a:cubicBezTo>
                    <a:pt x="111621" y="1376660"/>
                    <a:pt x="230312" y="1495537"/>
                    <a:pt x="376349" y="1495537"/>
                  </a:cubicBezTo>
                  <a:cubicBezTo>
                    <a:pt x="522201" y="1495537"/>
                    <a:pt x="641077" y="1376846"/>
                    <a:pt x="641077" y="1230809"/>
                  </a:cubicBezTo>
                  <a:lnTo>
                    <a:pt x="641077" y="966267"/>
                  </a:lnTo>
                  <a:lnTo>
                    <a:pt x="376349" y="966267"/>
                  </a:lnTo>
                  <a:close/>
                  <a:moveTo>
                    <a:pt x="1284201" y="1607158"/>
                  </a:moveTo>
                  <a:cubicBezTo>
                    <a:pt x="1184114" y="1607158"/>
                    <a:pt x="1089608" y="1567904"/>
                    <a:pt x="1018357" y="1496653"/>
                  </a:cubicBezTo>
                  <a:cubicBezTo>
                    <a:pt x="947105" y="1425401"/>
                    <a:pt x="907852" y="1331082"/>
                    <a:pt x="907852" y="1230809"/>
                  </a:cubicBezTo>
                  <a:lnTo>
                    <a:pt x="907852" y="911200"/>
                  </a:lnTo>
                  <a:cubicBezTo>
                    <a:pt x="907852" y="879946"/>
                    <a:pt x="933152" y="854646"/>
                    <a:pt x="964406" y="854646"/>
                  </a:cubicBezTo>
                  <a:lnTo>
                    <a:pt x="1284015" y="854646"/>
                  </a:lnTo>
                  <a:cubicBezTo>
                    <a:pt x="1384102" y="854646"/>
                    <a:pt x="1478607" y="893899"/>
                    <a:pt x="1549859" y="965150"/>
                  </a:cubicBezTo>
                  <a:cubicBezTo>
                    <a:pt x="1621110" y="1036402"/>
                    <a:pt x="1660364" y="1130722"/>
                    <a:pt x="1660364" y="1230995"/>
                  </a:cubicBezTo>
                  <a:cubicBezTo>
                    <a:pt x="1660364" y="1331268"/>
                    <a:pt x="1621296" y="1425401"/>
                    <a:pt x="1550045" y="1496653"/>
                  </a:cubicBezTo>
                  <a:cubicBezTo>
                    <a:pt x="1478794" y="1567904"/>
                    <a:pt x="1384288" y="1607158"/>
                    <a:pt x="1284201" y="1607158"/>
                  </a:cubicBezTo>
                  <a:close/>
                  <a:moveTo>
                    <a:pt x="1019659" y="966267"/>
                  </a:moveTo>
                  <a:lnTo>
                    <a:pt x="1019659" y="1230995"/>
                  </a:lnTo>
                  <a:cubicBezTo>
                    <a:pt x="1019659" y="1376846"/>
                    <a:pt x="1138349" y="1495723"/>
                    <a:pt x="1284387" y="1495723"/>
                  </a:cubicBezTo>
                  <a:cubicBezTo>
                    <a:pt x="1430424" y="1495723"/>
                    <a:pt x="1549115" y="1377032"/>
                    <a:pt x="1549115" y="1230995"/>
                  </a:cubicBezTo>
                  <a:cubicBezTo>
                    <a:pt x="1549115" y="1084957"/>
                    <a:pt x="1430424" y="966267"/>
                    <a:pt x="1284387" y="966267"/>
                  </a:cubicBezTo>
                  <a:lnTo>
                    <a:pt x="1019659" y="96626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2" name="标题 1"/>
            <p:cNvSpPr txBox="1"/>
            <p:nvPr>
              <p:custDataLst>
                <p:tags r:id="rId7"/>
              </p:custDataLst>
            </p:nvPr>
          </p:nvSpPr>
          <p:spPr>
            <a:xfrm>
              <a:off x="8206462" y="3206405"/>
              <a:ext cx="913910" cy="913908"/>
            </a:xfrm>
            <a:prstGeom prst="arc">
              <a:avLst>
                <a:gd name="adj1" fmla="val 12085454"/>
                <a:gd name="adj2" fmla="val 16423906"/>
              </a:avLst>
            </a:prstGeom>
            <a:noFill/>
            <a:ln w="25400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3" name="标题 1"/>
          <p:cNvSpPr txBox="1"/>
          <p:nvPr>
            <p:custDataLst>
              <p:tags r:id="rId4"/>
            </p:custDataLst>
          </p:nvPr>
        </p:nvSpPr>
        <p:spPr>
          <a:xfrm>
            <a:off x="6562596" y="3291587"/>
            <a:ext cx="4221961" cy="15547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中国政府坚定维护国家主权和领土完整，反对外部势力干预一国两制事务。</a:t>
            </a:r>
            <a:endParaRPr kumimoji="1" lang="zh-CN" altLang="en-US" sz="2800"/>
          </a:p>
        </p:txBody>
      </p:sp>
      <p:sp>
        <p:nvSpPr>
          <p:cNvPr id="14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国际势力干预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6162" y="-13943"/>
            <a:ext cx="12244324" cy="688588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0" y="2997"/>
            <a:ext cx="12240718" cy="692515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29184" y="347472"/>
            <a:ext cx="11521440" cy="6272784"/>
          </a:xfrm>
          <a:prstGeom prst="roundRect">
            <a:avLst>
              <a:gd name="adj" fmla="val 3839"/>
            </a:avLst>
          </a:prstGeom>
          <a:solidFill>
            <a:schemeClr val="bg1">
              <a:alpha val="63000"/>
            </a:schemeClr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72005" y="1002631"/>
            <a:ext cx="1945527" cy="24159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5479" y="5206586"/>
            <a:ext cx="2882858" cy="33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3126938" y="5372119"/>
            <a:ext cx="1946538" cy="0"/>
          </a:xfrm>
          <a:prstGeom prst="straightConnector1">
            <a:avLst/>
          </a:prstGeom>
          <a:noFill/>
          <a:ln w="19050" cap="sq">
            <a:solidFill>
              <a:schemeClr val="accent1">
                <a:lumMod val="75000"/>
              </a:schemeClr>
            </a:solidFill>
            <a:prstDash val="solid"/>
            <a:miter/>
            <a:tailEnd type="triangle"/>
          </a:ln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73905" y="815129"/>
            <a:ext cx="4879973" cy="533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69166" y="4169739"/>
            <a:ext cx="1708663" cy="82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722306">
            <a:off x="7006094" y="271348"/>
            <a:ext cx="1290483" cy="173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3723589" y="1060203"/>
            <a:ext cx="3998519" cy="2567233"/>
            <a:chOff x="3723589" y="1060203"/>
            <a:chExt cx="3998519" cy="2567233"/>
          </a:xfrm>
        </p:grpSpPr>
        <p:sp>
          <p:nvSpPr>
            <p:cNvPr id="12" name="标题 1"/>
            <p:cNvSpPr txBox="1"/>
            <p:nvPr/>
          </p:nvSpPr>
          <p:spPr>
            <a:xfrm>
              <a:off x="4064508" y="1060203"/>
              <a:ext cx="3657600" cy="2567233"/>
            </a:xfrm>
            <a:custGeom>
              <a:avLst/>
              <a:gdLst>
                <a:gd name="connsiteX0" fmla="*/ 0 w 3657600"/>
                <a:gd name="connsiteY0" fmla="*/ 274821 h 2567233"/>
                <a:gd name="connsiteX1" fmla="*/ 2048256 w 3657600"/>
                <a:gd name="connsiteY1" fmla="*/ 183381 h 2567233"/>
                <a:gd name="connsiteX2" fmla="*/ 2377440 w 3657600"/>
                <a:gd name="connsiteY2" fmla="*/ 2377941 h 2567233"/>
                <a:gd name="connsiteX3" fmla="*/ 3657600 w 3657600"/>
                <a:gd name="connsiteY3" fmla="*/ 2451093 h 2567233"/>
                <a:gd name="connsiteX4" fmla="*/ 3657600 w 3657600"/>
                <a:gd name="connsiteY4" fmla="*/ 2451093 h 2567233"/>
              </a:gdLst>
              <a:ahLst/>
              <a:cxnLst/>
              <a:rect l="l" t="t" r="r" b="b"/>
              <a:pathLst>
                <a:path w="3657600" h="2567233">
                  <a:moveTo>
                    <a:pt x="0" y="274821"/>
                  </a:moveTo>
                  <a:cubicBezTo>
                    <a:pt x="826008" y="53841"/>
                    <a:pt x="1652016" y="-167139"/>
                    <a:pt x="2048256" y="183381"/>
                  </a:cubicBezTo>
                  <a:cubicBezTo>
                    <a:pt x="2444496" y="533901"/>
                    <a:pt x="2109216" y="1999989"/>
                    <a:pt x="2377440" y="2377941"/>
                  </a:cubicBezTo>
                  <a:cubicBezTo>
                    <a:pt x="2645664" y="2755893"/>
                    <a:pt x="3657600" y="2451093"/>
                    <a:pt x="3657600" y="2451093"/>
                  </a:cubicBezTo>
                  <a:lnTo>
                    <a:pt x="3657600" y="2451093"/>
                  </a:lnTo>
                </a:path>
              </a:pathLst>
            </a:custGeom>
            <a:noFill/>
            <a:ln w="19050" cap="sq">
              <a:solidFill>
                <a:schemeClr val="tx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 rot="14879725">
              <a:off x="3745207" y="1261872"/>
              <a:ext cx="337589" cy="274320"/>
            </a:xfrm>
            <a:prstGeom prst="triangle">
              <a:avLst/>
            </a:prstGeom>
            <a:solidFill>
              <a:schemeClr val="tx2"/>
            </a:soli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7865" y="5685284"/>
            <a:ext cx="1677983" cy="153888"/>
            <a:chOff x="857865" y="5685284"/>
            <a:chExt cx="1677983" cy="153888"/>
          </a:xfrm>
        </p:grpSpPr>
        <p:sp>
          <p:nvSpPr>
            <p:cNvPr id="15" name="标题 1"/>
            <p:cNvSpPr txBox="1"/>
            <p:nvPr/>
          </p:nvSpPr>
          <p:spPr>
            <a:xfrm>
              <a:off x="85786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95315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1048445" y="5685284"/>
              <a:ext cx="153340" cy="153888"/>
            </a:xfrm>
            <a:custGeom>
              <a:avLst/>
              <a:gdLst>
                <a:gd name="connsiteX0" fmla="*/ 0 w 267133"/>
                <a:gd name="connsiteY0" fmla="*/ 268087 h 268087"/>
                <a:gd name="connsiteX1" fmla="*/ 267133 w 267133"/>
                <a:gd name="connsiteY1" fmla="*/ 0 h 268087"/>
              </a:gdLst>
              <a:ahLst/>
              <a:cxnLst/>
              <a:rect l="l" t="t" r="r" b="b"/>
              <a:pathLst>
                <a:path w="267133" h="268087">
                  <a:moveTo>
                    <a:pt x="0" y="268087"/>
                  </a:moveTo>
                  <a:lnTo>
                    <a:pt x="267133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114318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123847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3376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42905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152434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61963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71492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81021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90550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200079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209608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219137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228666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2381960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2" name="标题 1"/>
          <p:cNvSpPr txBox="1"/>
          <p:nvPr/>
        </p:nvSpPr>
        <p:spPr>
          <a:xfrm>
            <a:off x="748917" y="2889331"/>
            <a:ext cx="5169641" cy="17490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一国两制的未来展望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3215675" y="1118459"/>
            <a:ext cx="2001693" cy="1870447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04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749017" y="2039266"/>
            <a:ext cx="2466658" cy="949640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8592364" y="3032222"/>
            <a:ext cx="2871636" cy="215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通过深化两岸交流合作，增进两岸同胞亲情，推动两岸关系和平发展，最终实现国家完全统一。</a:t>
            </a:r>
            <a:endParaRPr kumimoji="1" lang="zh-CN" altLang="en-US" sz="2400"/>
          </a:p>
        </p:txBody>
      </p:sp>
      <p:sp>
        <p:nvSpPr>
          <p:cNvPr id="4" name="标题 1"/>
          <p:cNvSpPr txBox="1"/>
          <p:nvPr/>
        </p:nvSpPr>
        <p:spPr>
          <a:xfrm>
            <a:off x="740700" y="3032221"/>
            <a:ext cx="2833068" cy="215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ctr"/>
          <a:lstStyle/>
          <a:p>
            <a:pPr algn="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一国两制将继续为实现国家和平统一发挥重要作用。</a:t>
            </a:r>
          </a:p>
        </p:txBody>
      </p:sp>
      <p:sp>
        <p:nvSpPr>
          <p:cNvPr id="5" name="标题 1"/>
          <p:cNvSpPr txBox="1"/>
          <p:nvPr/>
        </p:nvSpPr>
        <p:spPr>
          <a:xfrm>
            <a:off x="3946281" y="3127969"/>
            <a:ext cx="2282306" cy="1967504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45720" rtlCol="0" anchor="b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92139" y="3825954"/>
            <a:ext cx="590589" cy="571535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937547" y="3127969"/>
            <a:ext cx="2282306" cy="1967504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762000" dist="254000" dir="5400000" algn="ctr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45720" rtlCol="0" anchor="b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777757" y="3821961"/>
            <a:ext cx="614860" cy="57952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200986" y="1248501"/>
            <a:ext cx="9550400" cy="8305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展望</a:t>
            </a:r>
            <a:endParaRPr kumimoji="1" lang="zh-CN" altLang="en-US" sz="3600"/>
          </a:p>
        </p:txBody>
      </p:sp>
      <p:sp>
        <p:nvSpPr>
          <p:cNvPr id="10" name="标题 1"/>
          <p:cNvSpPr txBox="1"/>
          <p:nvPr/>
        </p:nvSpPr>
        <p:spPr>
          <a:xfrm>
            <a:off x="837191" y="1331006"/>
            <a:ext cx="139485" cy="89403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国家统一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6962" y="2229818"/>
            <a:ext cx="12192000" cy="25553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5400000">
            <a:off x="3006439" y="1854573"/>
            <a:ext cx="1152734" cy="1001761"/>
          </a:xfrm>
          <a:custGeom>
            <a:avLst/>
            <a:gdLst>
              <a:gd name="connsiteX0" fmla="*/ 0 w 13027663"/>
              <a:gd name="connsiteY0" fmla="*/ 5665516 h 11321432"/>
              <a:gd name="connsiteX1" fmla="*/ 17 w 13027663"/>
              <a:gd name="connsiteY1" fmla="*/ 5664847 h 11321432"/>
              <a:gd name="connsiteX2" fmla="*/ 0 w 13027663"/>
              <a:gd name="connsiteY2" fmla="*/ 5655918 h 11321432"/>
              <a:gd name="connsiteX3" fmla="*/ 292 w 13027663"/>
              <a:gd name="connsiteY3" fmla="*/ 5654399 h 11321432"/>
              <a:gd name="connsiteX4" fmla="*/ 2777 w 13027663"/>
              <a:gd name="connsiteY4" fmla="*/ 5560006 h 11321432"/>
              <a:gd name="connsiteX5" fmla="*/ 71894 w 13027663"/>
              <a:gd name="connsiteY5" fmla="*/ 5354460 h 11321432"/>
              <a:gd name="connsiteX6" fmla="*/ 3005595 w 13027663"/>
              <a:gd name="connsiteY6" fmla="*/ 273141 h 11321432"/>
              <a:gd name="connsiteX7" fmla="*/ 3546035 w 13027663"/>
              <a:gd name="connsiteY7" fmla="*/ 4137 h 11321432"/>
              <a:gd name="connsiteX8" fmla="*/ 3556238 w 13027663"/>
              <a:gd name="connsiteY8" fmla="*/ 6446 h 11321432"/>
              <a:gd name="connsiteX9" fmla="*/ 3608331 w 13027663"/>
              <a:gd name="connsiteY9" fmla="*/ 1195 h 11321432"/>
              <a:gd name="connsiteX10" fmla="*/ 9475731 w 13027663"/>
              <a:gd name="connsiteY10" fmla="*/ 1196 h 11321432"/>
              <a:gd name="connsiteX11" fmla="*/ 9500093 w 13027663"/>
              <a:gd name="connsiteY11" fmla="*/ 3652 h 11321432"/>
              <a:gd name="connsiteX12" fmla="*/ 9587137 w 13027663"/>
              <a:gd name="connsiteY12" fmla="*/ 1361 h 11321432"/>
              <a:gd name="connsiteX13" fmla="*/ 10022069 w 13027663"/>
              <a:gd name="connsiteY13" fmla="*/ 273142 h 11321432"/>
              <a:gd name="connsiteX14" fmla="*/ 12955769 w 13027663"/>
              <a:gd name="connsiteY14" fmla="*/ 5354460 h 11321432"/>
              <a:gd name="connsiteX15" fmla="*/ 13024885 w 13027663"/>
              <a:gd name="connsiteY15" fmla="*/ 5560006 h 11321432"/>
              <a:gd name="connsiteX16" fmla="*/ 13027363 w 13027663"/>
              <a:gd name="connsiteY16" fmla="*/ 5654132 h 11321432"/>
              <a:gd name="connsiteX17" fmla="*/ 13027663 w 13027663"/>
              <a:gd name="connsiteY17" fmla="*/ 5655918 h 11321432"/>
              <a:gd name="connsiteX18" fmla="*/ 13027537 w 13027663"/>
              <a:gd name="connsiteY18" fmla="*/ 5660717 h 11321432"/>
              <a:gd name="connsiteX19" fmla="*/ 13027663 w 13027663"/>
              <a:gd name="connsiteY19" fmla="*/ 5665516 h 11321432"/>
              <a:gd name="connsiteX20" fmla="*/ 13027363 w 13027663"/>
              <a:gd name="connsiteY20" fmla="*/ 5667302 h 11321432"/>
              <a:gd name="connsiteX21" fmla="*/ 13024885 w 13027663"/>
              <a:gd name="connsiteY21" fmla="*/ 5761428 h 11321432"/>
              <a:gd name="connsiteX22" fmla="*/ 12955769 w 13027663"/>
              <a:gd name="connsiteY22" fmla="*/ 5966974 h 11321432"/>
              <a:gd name="connsiteX23" fmla="*/ 10022069 w 13027663"/>
              <a:gd name="connsiteY23" fmla="*/ 11048291 h 11321432"/>
              <a:gd name="connsiteX24" fmla="*/ 9587137 w 13027663"/>
              <a:gd name="connsiteY24" fmla="*/ 11320072 h 11321432"/>
              <a:gd name="connsiteX25" fmla="*/ 9500095 w 13027663"/>
              <a:gd name="connsiteY25" fmla="*/ 11317782 h 11321432"/>
              <a:gd name="connsiteX26" fmla="*/ 9475731 w 13027663"/>
              <a:gd name="connsiteY26" fmla="*/ 11320238 h 11321432"/>
              <a:gd name="connsiteX27" fmla="*/ 3608331 w 13027663"/>
              <a:gd name="connsiteY27" fmla="*/ 11320238 h 11321432"/>
              <a:gd name="connsiteX28" fmla="*/ 3556237 w 13027663"/>
              <a:gd name="connsiteY28" fmla="*/ 11314986 h 11321432"/>
              <a:gd name="connsiteX29" fmla="*/ 3546035 w 13027663"/>
              <a:gd name="connsiteY29" fmla="*/ 11317295 h 11321432"/>
              <a:gd name="connsiteX30" fmla="*/ 3005595 w 13027663"/>
              <a:gd name="connsiteY30" fmla="*/ 11048291 h 11321432"/>
              <a:gd name="connsiteX31" fmla="*/ 71894 w 13027663"/>
              <a:gd name="connsiteY31" fmla="*/ 5966974 h 11321432"/>
              <a:gd name="connsiteX32" fmla="*/ 153 w 13027663"/>
              <a:gd name="connsiteY32" fmla="*/ 5735010 h 11321432"/>
              <a:gd name="connsiteX33" fmla="*/ 19 w 13027663"/>
              <a:gd name="connsiteY33" fmla="*/ 5665630 h 11321432"/>
            </a:gdLst>
            <a:ahLst/>
            <a:cxnLst/>
            <a:rect l="l" t="t" r="r" b="b"/>
            <a:pathLst>
              <a:path w="13027663" h="11321432">
                <a:moveTo>
                  <a:pt x="0" y="5665516"/>
                </a:moveTo>
                <a:lnTo>
                  <a:pt x="17" y="5664847"/>
                </a:lnTo>
                <a:lnTo>
                  <a:pt x="0" y="5655918"/>
                </a:lnTo>
                <a:lnTo>
                  <a:pt x="292" y="5654399"/>
                </a:lnTo>
                <a:lnTo>
                  <a:pt x="2777" y="5560006"/>
                </a:lnTo>
                <a:cubicBezTo>
                  <a:pt x="11513" y="5489608"/>
                  <a:pt x="34195" y="5419759"/>
                  <a:pt x="71894" y="5354460"/>
                </a:cubicBezTo>
                <a:lnTo>
                  <a:pt x="3005595" y="273141"/>
                </a:lnTo>
                <a:cubicBezTo>
                  <a:pt x="3118696" y="77244"/>
                  <a:pt x="3334840" y="-22070"/>
                  <a:pt x="3546035" y="4137"/>
                </a:cubicBezTo>
                <a:lnTo>
                  <a:pt x="3556238" y="6446"/>
                </a:lnTo>
                <a:lnTo>
                  <a:pt x="3608331" y="1195"/>
                </a:lnTo>
                <a:lnTo>
                  <a:pt x="9475731" y="1196"/>
                </a:lnTo>
                <a:lnTo>
                  <a:pt x="9500093" y="3652"/>
                </a:lnTo>
                <a:lnTo>
                  <a:pt x="9587137" y="1361"/>
                </a:lnTo>
                <a:cubicBezTo>
                  <a:pt x="9762009" y="13719"/>
                  <a:pt x="9927817" y="109895"/>
                  <a:pt x="10022069" y="273142"/>
                </a:cubicBezTo>
                <a:lnTo>
                  <a:pt x="12955769" y="5354460"/>
                </a:lnTo>
                <a:cubicBezTo>
                  <a:pt x="12993469" y="5419759"/>
                  <a:pt x="13016151" y="5489608"/>
                  <a:pt x="13024885" y="5560006"/>
                </a:cubicBezTo>
                <a:lnTo>
                  <a:pt x="13027363" y="5654132"/>
                </a:lnTo>
                <a:lnTo>
                  <a:pt x="13027663" y="5655918"/>
                </a:lnTo>
                <a:lnTo>
                  <a:pt x="13027537" y="5660717"/>
                </a:lnTo>
                <a:lnTo>
                  <a:pt x="13027663" y="5665516"/>
                </a:lnTo>
                <a:lnTo>
                  <a:pt x="13027363" y="5667302"/>
                </a:lnTo>
                <a:lnTo>
                  <a:pt x="13024885" y="5761428"/>
                </a:lnTo>
                <a:cubicBezTo>
                  <a:pt x="13016151" y="5831826"/>
                  <a:pt x="12993469" y="5901675"/>
                  <a:pt x="12955769" y="5966974"/>
                </a:cubicBezTo>
                <a:lnTo>
                  <a:pt x="10022069" y="11048291"/>
                </a:lnTo>
                <a:cubicBezTo>
                  <a:pt x="9927817" y="11211539"/>
                  <a:pt x="9762009" y="11307714"/>
                  <a:pt x="9587137" y="11320072"/>
                </a:cubicBezTo>
                <a:lnTo>
                  <a:pt x="9500095" y="11317782"/>
                </a:lnTo>
                <a:lnTo>
                  <a:pt x="9475731" y="11320238"/>
                </a:lnTo>
                <a:lnTo>
                  <a:pt x="3608331" y="11320238"/>
                </a:lnTo>
                <a:lnTo>
                  <a:pt x="3556237" y="11314986"/>
                </a:lnTo>
                <a:lnTo>
                  <a:pt x="3546035" y="11317295"/>
                </a:lnTo>
                <a:cubicBezTo>
                  <a:pt x="3334840" y="11343502"/>
                  <a:pt x="3118696" y="11244188"/>
                  <a:pt x="3005595" y="11048291"/>
                </a:cubicBezTo>
                <a:lnTo>
                  <a:pt x="71894" y="5966974"/>
                </a:lnTo>
                <a:cubicBezTo>
                  <a:pt x="29482" y="5893512"/>
                  <a:pt x="6077" y="5814293"/>
                  <a:pt x="153" y="5735010"/>
                </a:cubicBezTo>
                <a:lnTo>
                  <a:pt x="19" y="56656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>
            <a:outerShdw blurRad="1143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5400000">
            <a:off x="8254646" y="1854572"/>
            <a:ext cx="1152734" cy="1001761"/>
          </a:xfrm>
          <a:custGeom>
            <a:avLst/>
            <a:gdLst>
              <a:gd name="connsiteX0" fmla="*/ 0 w 13027663"/>
              <a:gd name="connsiteY0" fmla="*/ 5665516 h 11321432"/>
              <a:gd name="connsiteX1" fmla="*/ 17 w 13027663"/>
              <a:gd name="connsiteY1" fmla="*/ 5664847 h 11321432"/>
              <a:gd name="connsiteX2" fmla="*/ 0 w 13027663"/>
              <a:gd name="connsiteY2" fmla="*/ 5655918 h 11321432"/>
              <a:gd name="connsiteX3" fmla="*/ 292 w 13027663"/>
              <a:gd name="connsiteY3" fmla="*/ 5654399 h 11321432"/>
              <a:gd name="connsiteX4" fmla="*/ 2777 w 13027663"/>
              <a:gd name="connsiteY4" fmla="*/ 5560006 h 11321432"/>
              <a:gd name="connsiteX5" fmla="*/ 71894 w 13027663"/>
              <a:gd name="connsiteY5" fmla="*/ 5354460 h 11321432"/>
              <a:gd name="connsiteX6" fmla="*/ 3005595 w 13027663"/>
              <a:gd name="connsiteY6" fmla="*/ 273141 h 11321432"/>
              <a:gd name="connsiteX7" fmla="*/ 3546035 w 13027663"/>
              <a:gd name="connsiteY7" fmla="*/ 4137 h 11321432"/>
              <a:gd name="connsiteX8" fmla="*/ 3556238 w 13027663"/>
              <a:gd name="connsiteY8" fmla="*/ 6446 h 11321432"/>
              <a:gd name="connsiteX9" fmla="*/ 3608331 w 13027663"/>
              <a:gd name="connsiteY9" fmla="*/ 1195 h 11321432"/>
              <a:gd name="connsiteX10" fmla="*/ 9475731 w 13027663"/>
              <a:gd name="connsiteY10" fmla="*/ 1196 h 11321432"/>
              <a:gd name="connsiteX11" fmla="*/ 9500093 w 13027663"/>
              <a:gd name="connsiteY11" fmla="*/ 3652 h 11321432"/>
              <a:gd name="connsiteX12" fmla="*/ 9587137 w 13027663"/>
              <a:gd name="connsiteY12" fmla="*/ 1361 h 11321432"/>
              <a:gd name="connsiteX13" fmla="*/ 10022069 w 13027663"/>
              <a:gd name="connsiteY13" fmla="*/ 273142 h 11321432"/>
              <a:gd name="connsiteX14" fmla="*/ 12955769 w 13027663"/>
              <a:gd name="connsiteY14" fmla="*/ 5354460 h 11321432"/>
              <a:gd name="connsiteX15" fmla="*/ 13024885 w 13027663"/>
              <a:gd name="connsiteY15" fmla="*/ 5560006 h 11321432"/>
              <a:gd name="connsiteX16" fmla="*/ 13027363 w 13027663"/>
              <a:gd name="connsiteY16" fmla="*/ 5654132 h 11321432"/>
              <a:gd name="connsiteX17" fmla="*/ 13027663 w 13027663"/>
              <a:gd name="connsiteY17" fmla="*/ 5655918 h 11321432"/>
              <a:gd name="connsiteX18" fmla="*/ 13027537 w 13027663"/>
              <a:gd name="connsiteY18" fmla="*/ 5660717 h 11321432"/>
              <a:gd name="connsiteX19" fmla="*/ 13027663 w 13027663"/>
              <a:gd name="connsiteY19" fmla="*/ 5665516 h 11321432"/>
              <a:gd name="connsiteX20" fmla="*/ 13027363 w 13027663"/>
              <a:gd name="connsiteY20" fmla="*/ 5667302 h 11321432"/>
              <a:gd name="connsiteX21" fmla="*/ 13024885 w 13027663"/>
              <a:gd name="connsiteY21" fmla="*/ 5761428 h 11321432"/>
              <a:gd name="connsiteX22" fmla="*/ 12955769 w 13027663"/>
              <a:gd name="connsiteY22" fmla="*/ 5966974 h 11321432"/>
              <a:gd name="connsiteX23" fmla="*/ 10022069 w 13027663"/>
              <a:gd name="connsiteY23" fmla="*/ 11048291 h 11321432"/>
              <a:gd name="connsiteX24" fmla="*/ 9587137 w 13027663"/>
              <a:gd name="connsiteY24" fmla="*/ 11320072 h 11321432"/>
              <a:gd name="connsiteX25" fmla="*/ 9500095 w 13027663"/>
              <a:gd name="connsiteY25" fmla="*/ 11317782 h 11321432"/>
              <a:gd name="connsiteX26" fmla="*/ 9475731 w 13027663"/>
              <a:gd name="connsiteY26" fmla="*/ 11320238 h 11321432"/>
              <a:gd name="connsiteX27" fmla="*/ 3608331 w 13027663"/>
              <a:gd name="connsiteY27" fmla="*/ 11320238 h 11321432"/>
              <a:gd name="connsiteX28" fmla="*/ 3556237 w 13027663"/>
              <a:gd name="connsiteY28" fmla="*/ 11314986 h 11321432"/>
              <a:gd name="connsiteX29" fmla="*/ 3546035 w 13027663"/>
              <a:gd name="connsiteY29" fmla="*/ 11317295 h 11321432"/>
              <a:gd name="connsiteX30" fmla="*/ 3005595 w 13027663"/>
              <a:gd name="connsiteY30" fmla="*/ 11048291 h 11321432"/>
              <a:gd name="connsiteX31" fmla="*/ 71894 w 13027663"/>
              <a:gd name="connsiteY31" fmla="*/ 5966974 h 11321432"/>
              <a:gd name="connsiteX32" fmla="*/ 153 w 13027663"/>
              <a:gd name="connsiteY32" fmla="*/ 5735010 h 11321432"/>
              <a:gd name="connsiteX33" fmla="*/ 19 w 13027663"/>
              <a:gd name="connsiteY33" fmla="*/ 5665630 h 11321432"/>
            </a:gdLst>
            <a:ahLst/>
            <a:cxnLst/>
            <a:rect l="l" t="t" r="r" b="b"/>
            <a:pathLst>
              <a:path w="13027663" h="11321432">
                <a:moveTo>
                  <a:pt x="0" y="5665516"/>
                </a:moveTo>
                <a:lnTo>
                  <a:pt x="17" y="5664847"/>
                </a:lnTo>
                <a:lnTo>
                  <a:pt x="0" y="5655918"/>
                </a:lnTo>
                <a:lnTo>
                  <a:pt x="292" y="5654399"/>
                </a:lnTo>
                <a:lnTo>
                  <a:pt x="2777" y="5560006"/>
                </a:lnTo>
                <a:cubicBezTo>
                  <a:pt x="11513" y="5489608"/>
                  <a:pt x="34195" y="5419759"/>
                  <a:pt x="71894" y="5354460"/>
                </a:cubicBezTo>
                <a:lnTo>
                  <a:pt x="3005595" y="273141"/>
                </a:lnTo>
                <a:cubicBezTo>
                  <a:pt x="3118696" y="77244"/>
                  <a:pt x="3334840" y="-22070"/>
                  <a:pt x="3546035" y="4137"/>
                </a:cubicBezTo>
                <a:lnTo>
                  <a:pt x="3556238" y="6446"/>
                </a:lnTo>
                <a:lnTo>
                  <a:pt x="3608331" y="1195"/>
                </a:lnTo>
                <a:lnTo>
                  <a:pt x="9475731" y="1196"/>
                </a:lnTo>
                <a:lnTo>
                  <a:pt x="9500093" y="3652"/>
                </a:lnTo>
                <a:lnTo>
                  <a:pt x="9587137" y="1361"/>
                </a:lnTo>
                <a:cubicBezTo>
                  <a:pt x="9762009" y="13719"/>
                  <a:pt x="9927817" y="109895"/>
                  <a:pt x="10022069" y="273142"/>
                </a:cubicBezTo>
                <a:lnTo>
                  <a:pt x="12955769" y="5354460"/>
                </a:lnTo>
                <a:cubicBezTo>
                  <a:pt x="12993469" y="5419759"/>
                  <a:pt x="13016151" y="5489608"/>
                  <a:pt x="13024885" y="5560006"/>
                </a:cubicBezTo>
                <a:lnTo>
                  <a:pt x="13027363" y="5654132"/>
                </a:lnTo>
                <a:lnTo>
                  <a:pt x="13027663" y="5655918"/>
                </a:lnTo>
                <a:lnTo>
                  <a:pt x="13027537" y="5660717"/>
                </a:lnTo>
                <a:lnTo>
                  <a:pt x="13027663" y="5665516"/>
                </a:lnTo>
                <a:lnTo>
                  <a:pt x="13027363" y="5667302"/>
                </a:lnTo>
                <a:lnTo>
                  <a:pt x="13024885" y="5761428"/>
                </a:lnTo>
                <a:cubicBezTo>
                  <a:pt x="13016151" y="5831826"/>
                  <a:pt x="12993469" y="5901675"/>
                  <a:pt x="12955769" y="5966974"/>
                </a:cubicBezTo>
                <a:lnTo>
                  <a:pt x="10022069" y="11048291"/>
                </a:lnTo>
                <a:cubicBezTo>
                  <a:pt x="9927817" y="11211539"/>
                  <a:pt x="9762009" y="11307714"/>
                  <a:pt x="9587137" y="11320072"/>
                </a:cubicBezTo>
                <a:lnTo>
                  <a:pt x="9500095" y="11317782"/>
                </a:lnTo>
                <a:lnTo>
                  <a:pt x="9475731" y="11320238"/>
                </a:lnTo>
                <a:lnTo>
                  <a:pt x="3608331" y="11320238"/>
                </a:lnTo>
                <a:lnTo>
                  <a:pt x="3556237" y="11314986"/>
                </a:lnTo>
                <a:lnTo>
                  <a:pt x="3546035" y="11317295"/>
                </a:lnTo>
                <a:cubicBezTo>
                  <a:pt x="3334840" y="11343502"/>
                  <a:pt x="3118696" y="11244188"/>
                  <a:pt x="3005595" y="11048291"/>
                </a:cubicBezTo>
                <a:lnTo>
                  <a:pt x="71894" y="5966974"/>
                </a:lnTo>
                <a:cubicBezTo>
                  <a:pt x="29482" y="5893512"/>
                  <a:pt x="6077" y="5814293"/>
                  <a:pt x="153" y="5735010"/>
                </a:cubicBezTo>
                <a:lnTo>
                  <a:pt x="19" y="56656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>
            <a:outerShdw blurRad="1143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998808" y="1986121"/>
            <a:ext cx="1167997" cy="7386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247015" y="1986120"/>
            <a:ext cx="1167997" cy="7386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175339" y="2949670"/>
            <a:ext cx="4814935" cy="31844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不断完善一国两制的制度体系，确保一国两制行稳致远。</a:t>
            </a:r>
            <a:endParaRPr kumimoji="1" lang="zh-CN" altLang="en-US" sz="2400"/>
          </a:p>
        </p:txBody>
      </p:sp>
      <p:sp>
        <p:nvSpPr>
          <p:cNvPr id="9" name="标题 1"/>
          <p:cNvSpPr txBox="1"/>
          <p:nvPr/>
        </p:nvSpPr>
        <p:spPr>
          <a:xfrm>
            <a:off x="6423546" y="2949669"/>
            <a:ext cx="4814935" cy="31844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坚持与时俱进，适应新的时代背景和实际情况，推动一国两制在实践中不断取得新的成就。</a:t>
            </a:r>
            <a:endParaRPr kumimoji="1" lang="zh-CN" altLang="en-US" sz="2400"/>
          </a:p>
        </p:txBody>
      </p:sp>
      <p:sp>
        <p:nvSpPr>
          <p:cNvPr id="10" name="标题 1"/>
          <p:cNvSpPr txBox="1"/>
          <p:nvPr/>
        </p:nvSpPr>
        <p:spPr>
          <a:xfrm>
            <a:off x="482600" y="906021"/>
            <a:ext cx="5662304" cy="651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展望</a:t>
            </a:r>
            <a:endParaRPr kumimoji="1" lang="zh-CN" altLang="en-US" sz="3200"/>
          </a:p>
        </p:txBody>
      </p:sp>
      <p:sp>
        <p:nvSpPr>
          <p:cNvPr id="11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一国两制的完善与发展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6162" y="-13943"/>
            <a:ext cx="12244324" cy="688588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0" y="2997"/>
            <a:ext cx="12240718" cy="692515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29184" y="347472"/>
            <a:ext cx="11521440" cy="6272784"/>
          </a:xfrm>
          <a:prstGeom prst="roundRect">
            <a:avLst>
              <a:gd name="adj" fmla="val 3839"/>
            </a:avLst>
          </a:prstGeom>
          <a:solidFill>
            <a:schemeClr val="bg1">
              <a:alpha val="63000"/>
            </a:schemeClr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72005" y="1002631"/>
            <a:ext cx="1945527" cy="24159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5479" y="5206586"/>
            <a:ext cx="2882858" cy="33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3126938" y="5372119"/>
            <a:ext cx="1946538" cy="0"/>
          </a:xfrm>
          <a:prstGeom prst="straightConnector1">
            <a:avLst/>
          </a:prstGeom>
          <a:noFill/>
          <a:ln w="19050" cap="sq">
            <a:solidFill>
              <a:schemeClr val="accent1">
                <a:lumMod val="75000"/>
              </a:schemeClr>
            </a:solidFill>
            <a:prstDash val="solid"/>
            <a:miter/>
            <a:tailEnd type="triangle"/>
          </a:ln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73905" y="815129"/>
            <a:ext cx="4879973" cy="533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69166" y="4169739"/>
            <a:ext cx="1708663" cy="82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722306">
            <a:off x="7006094" y="271348"/>
            <a:ext cx="1290483" cy="173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3723589" y="1060203"/>
            <a:ext cx="3998519" cy="2567233"/>
            <a:chOff x="3723589" y="1060203"/>
            <a:chExt cx="3998519" cy="2567233"/>
          </a:xfrm>
        </p:grpSpPr>
        <p:sp>
          <p:nvSpPr>
            <p:cNvPr id="12" name="标题 1"/>
            <p:cNvSpPr txBox="1"/>
            <p:nvPr/>
          </p:nvSpPr>
          <p:spPr>
            <a:xfrm>
              <a:off x="4064508" y="1060203"/>
              <a:ext cx="3657600" cy="2567233"/>
            </a:xfrm>
            <a:custGeom>
              <a:avLst/>
              <a:gdLst>
                <a:gd name="connsiteX0" fmla="*/ 0 w 3657600"/>
                <a:gd name="connsiteY0" fmla="*/ 274821 h 2567233"/>
                <a:gd name="connsiteX1" fmla="*/ 2048256 w 3657600"/>
                <a:gd name="connsiteY1" fmla="*/ 183381 h 2567233"/>
                <a:gd name="connsiteX2" fmla="*/ 2377440 w 3657600"/>
                <a:gd name="connsiteY2" fmla="*/ 2377941 h 2567233"/>
                <a:gd name="connsiteX3" fmla="*/ 3657600 w 3657600"/>
                <a:gd name="connsiteY3" fmla="*/ 2451093 h 2567233"/>
                <a:gd name="connsiteX4" fmla="*/ 3657600 w 3657600"/>
                <a:gd name="connsiteY4" fmla="*/ 2451093 h 2567233"/>
              </a:gdLst>
              <a:ahLst/>
              <a:cxnLst/>
              <a:rect l="l" t="t" r="r" b="b"/>
              <a:pathLst>
                <a:path w="3657600" h="2567233">
                  <a:moveTo>
                    <a:pt x="0" y="274821"/>
                  </a:moveTo>
                  <a:cubicBezTo>
                    <a:pt x="826008" y="53841"/>
                    <a:pt x="1652016" y="-167139"/>
                    <a:pt x="2048256" y="183381"/>
                  </a:cubicBezTo>
                  <a:cubicBezTo>
                    <a:pt x="2444496" y="533901"/>
                    <a:pt x="2109216" y="1999989"/>
                    <a:pt x="2377440" y="2377941"/>
                  </a:cubicBezTo>
                  <a:cubicBezTo>
                    <a:pt x="2645664" y="2755893"/>
                    <a:pt x="3657600" y="2451093"/>
                    <a:pt x="3657600" y="2451093"/>
                  </a:cubicBezTo>
                  <a:lnTo>
                    <a:pt x="3657600" y="2451093"/>
                  </a:lnTo>
                </a:path>
              </a:pathLst>
            </a:custGeom>
            <a:noFill/>
            <a:ln w="19050" cap="sq">
              <a:solidFill>
                <a:schemeClr val="tx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 rot="14879725">
              <a:off x="3745207" y="1261872"/>
              <a:ext cx="337589" cy="274320"/>
            </a:xfrm>
            <a:prstGeom prst="triangle">
              <a:avLst/>
            </a:prstGeom>
            <a:solidFill>
              <a:schemeClr val="tx2"/>
            </a:soli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7865" y="5685284"/>
            <a:ext cx="1677983" cy="153888"/>
            <a:chOff x="857865" y="5685284"/>
            <a:chExt cx="1677983" cy="153888"/>
          </a:xfrm>
        </p:grpSpPr>
        <p:sp>
          <p:nvSpPr>
            <p:cNvPr id="15" name="标题 1"/>
            <p:cNvSpPr txBox="1"/>
            <p:nvPr/>
          </p:nvSpPr>
          <p:spPr>
            <a:xfrm>
              <a:off x="85786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953155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1048445" y="5685284"/>
              <a:ext cx="153340" cy="153888"/>
            </a:xfrm>
            <a:custGeom>
              <a:avLst/>
              <a:gdLst>
                <a:gd name="connsiteX0" fmla="*/ 0 w 267133"/>
                <a:gd name="connsiteY0" fmla="*/ 268087 h 268087"/>
                <a:gd name="connsiteX1" fmla="*/ 267133 w 267133"/>
                <a:gd name="connsiteY1" fmla="*/ 0 h 268087"/>
              </a:gdLst>
              <a:ahLst/>
              <a:cxnLst/>
              <a:rect l="l" t="t" r="r" b="b"/>
              <a:pathLst>
                <a:path w="267133" h="268087">
                  <a:moveTo>
                    <a:pt x="0" y="268087"/>
                  </a:moveTo>
                  <a:lnTo>
                    <a:pt x="267133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114318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123847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3376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42905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152434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61963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714928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81021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90550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200079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209608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219137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2286669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2381960" y="5685284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2" name="标题 1"/>
          <p:cNvSpPr txBox="1"/>
          <p:nvPr/>
        </p:nvSpPr>
        <p:spPr>
          <a:xfrm>
            <a:off x="748917" y="2889331"/>
            <a:ext cx="5169641" cy="17490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结论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3215675" y="1118459"/>
            <a:ext cx="2001693" cy="1870447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05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749017" y="2039266"/>
            <a:ext cx="2466658" cy="949640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5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433572" y="2315676"/>
            <a:ext cx="3301999" cy="2786676"/>
            <a:chOff x="4445002" y="2835106"/>
            <a:chExt cx="3301999" cy="2786676"/>
          </a:xfrm>
        </p:grpSpPr>
        <p:sp>
          <p:nvSpPr>
            <p:cNvPr id="4" name="标题 1"/>
            <p:cNvSpPr txBox="1"/>
            <p:nvPr>
              <p:custDataLst>
                <p:tags r:id="rId10"/>
              </p:custDataLst>
            </p:nvPr>
          </p:nvSpPr>
          <p:spPr>
            <a:xfrm>
              <a:off x="5482829" y="3592568"/>
              <a:ext cx="1295674" cy="1347290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accent1"/>
            </a:solidFill>
            <a:ln cap="sq">
              <a:noFill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5" name="标题 1"/>
            <p:cNvSpPr txBox="1"/>
            <p:nvPr>
              <p:custDataLst>
                <p:tags r:id="rId11"/>
              </p:custDataLst>
            </p:nvPr>
          </p:nvSpPr>
          <p:spPr>
            <a:xfrm>
              <a:off x="4445002" y="3901969"/>
              <a:ext cx="3068138" cy="1719813"/>
            </a:xfrm>
            <a:custGeom>
              <a:avLst/>
              <a:gdLst>
                <a:gd name="T0" fmla="*/ 289 w 526"/>
                <a:gd name="T1" fmla="*/ 240 h 295"/>
                <a:gd name="T2" fmla="*/ 109 w 526"/>
                <a:gd name="T3" fmla="*/ 85 h 295"/>
                <a:gd name="T4" fmla="*/ 108 w 526"/>
                <a:gd name="T5" fmla="*/ 80 h 295"/>
                <a:gd name="T6" fmla="*/ 154 w 526"/>
                <a:gd name="T7" fmla="*/ 85 h 295"/>
                <a:gd name="T8" fmla="*/ 116 w 526"/>
                <a:gd name="T9" fmla="*/ 39 h 295"/>
                <a:gd name="T10" fmla="*/ 116 w 526"/>
                <a:gd name="T11" fmla="*/ 39 h 295"/>
                <a:gd name="T12" fmla="*/ 85 w 526"/>
                <a:gd name="T13" fmla="*/ 0 h 295"/>
                <a:gd name="T14" fmla="*/ 0 w 526"/>
                <a:gd name="T15" fmla="*/ 68 h 295"/>
                <a:gd name="T16" fmla="*/ 52 w 526"/>
                <a:gd name="T17" fmla="*/ 74 h 295"/>
                <a:gd name="T18" fmla="*/ 53 w 526"/>
                <a:gd name="T19" fmla="*/ 77 h 295"/>
                <a:gd name="T20" fmla="*/ 289 w 526"/>
                <a:gd name="T21" fmla="*/ 295 h 295"/>
                <a:gd name="T22" fmla="*/ 526 w 526"/>
                <a:gd name="T23" fmla="*/ 65 h 295"/>
                <a:gd name="T24" fmla="*/ 502 w 526"/>
                <a:gd name="T25" fmla="*/ 96 h 295"/>
                <a:gd name="T26" fmla="*/ 498 w 526"/>
                <a:gd name="T27" fmla="*/ 98 h 295"/>
                <a:gd name="T28" fmla="*/ 498 w 526"/>
                <a:gd name="T29" fmla="*/ 98 h 295"/>
                <a:gd name="T30" fmla="*/ 496 w 526"/>
                <a:gd name="T31" fmla="*/ 97 h 295"/>
                <a:gd name="T32" fmla="*/ 496 w 526"/>
                <a:gd name="T33" fmla="*/ 97 h 295"/>
                <a:gd name="T34" fmla="*/ 494 w 526"/>
                <a:gd name="T35" fmla="*/ 97 h 295"/>
                <a:gd name="T36" fmla="*/ 470 w 526"/>
                <a:gd name="T37" fmla="*/ 77 h 295"/>
                <a:gd name="T38" fmla="*/ 289 w 526"/>
                <a:gd name="T39" fmla="*/ 240 h 295"/>
              </a:gdLst>
              <a:ahLst/>
              <a:cxnLst/>
              <a:rect l="0" t="0" r="r" b="b"/>
              <a:pathLst>
                <a:path w="526" h="295">
                  <a:moveTo>
                    <a:pt x="289" y="240"/>
                  </a:moveTo>
                  <a:cubicBezTo>
                    <a:pt x="200" y="240"/>
                    <a:pt x="122" y="174"/>
                    <a:pt x="109" y="85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3" y="77"/>
                    <a:pt x="53" y="77"/>
                    <a:pt x="53" y="77"/>
                  </a:cubicBezTo>
                  <a:cubicBezTo>
                    <a:pt x="63" y="200"/>
                    <a:pt x="166" y="295"/>
                    <a:pt x="289" y="295"/>
                  </a:cubicBezTo>
                  <a:cubicBezTo>
                    <a:pt x="417" y="295"/>
                    <a:pt x="522" y="193"/>
                    <a:pt x="526" y="65"/>
                  </a:cubicBezTo>
                  <a:cubicBezTo>
                    <a:pt x="502" y="96"/>
                    <a:pt x="502" y="96"/>
                    <a:pt x="502" y="96"/>
                  </a:cubicBezTo>
                  <a:cubicBezTo>
                    <a:pt x="501" y="97"/>
                    <a:pt x="499" y="98"/>
                    <a:pt x="498" y="98"/>
                  </a:cubicBezTo>
                  <a:cubicBezTo>
                    <a:pt x="498" y="98"/>
                    <a:pt x="498" y="98"/>
                    <a:pt x="498" y="98"/>
                  </a:cubicBezTo>
                  <a:cubicBezTo>
                    <a:pt x="497" y="98"/>
                    <a:pt x="497" y="98"/>
                    <a:pt x="496" y="97"/>
                  </a:cubicBezTo>
                  <a:cubicBezTo>
                    <a:pt x="496" y="97"/>
                    <a:pt x="496" y="97"/>
                    <a:pt x="496" y="97"/>
                  </a:cubicBezTo>
                  <a:cubicBezTo>
                    <a:pt x="495" y="97"/>
                    <a:pt x="495" y="97"/>
                    <a:pt x="494" y="97"/>
                  </a:cubicBezTo>
                  <a:cubicBezTo>
                    <a:pt x="470" y="77"/>
                    <a:pt x="470" y="77"/>
                    <a:pt x="470" y="77"/>
                  </a:cubicBezTo>
                  <a:cubicBezTo>
                    <a:pt x="460" y="169"/>
                    <a:pt x="382" y="240"/>
                    <a:pt x="289" y="24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12700" cap="sq">
              <a:noFill/>
              <a:miter/>
            </a:ln>
          </p:spPr>
          <p:txBody>
            <a:bodyPr vert="horz" wrap="square" lIns="180000" tIns="46800" rIns="180000" bIns="4680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6" name="标题 1"/>
            <p:cNvSpPr txBox="1"/>
            <p:nvPr>
              <p:custDataLst>
                <p:tags r:id="rId12"/>
              </p:custDataLst>
            </p:nvPr>
          </p:nvSpPr>
          <p:spPr>
            <a:xfrm>
              <a:off x="4771994" y="2835106"/>
              <a:ext cx="2975007" cy="1556317"/>
            </a:xfrm>
            <a:custGeom>
              <a:avLst/>
              <a:gdLst>
                <a:gd name="T0" fmla="*/ 233 w 510"/>
                <a:gd name="T1" fmla="*/ 55 h 267"/>
                <a:gd name="T2" fmla="*/ 408 w 510"/>
                <a:gd name="T3" fmla="*/ 188 h 267"/>
                <a:gd name="T4" fmla="*/ 410 w 510"/>
                <a:gd name="T5" fmla="*/ 193 h 267"/>
                <a:gd name="T6" fmla="*/ 356 w 510"/>
                <a:gd name="T7" fmla="*/ 199 h 267"/>
                <a:gd name="T8" fmla="*/ 407 w 510"/>
                <a:gd name="T9" fmla="*/ 240 h 267"/>
                <a:gd name="T10" fmla="*/ 407 w 510"/>
                <a:gd name="T11" fmla="*/ 240 h 267"/>
                <a:gd name="T12" fmla="*/ 441 w 510"/>
                <a:gd name="T13" fmla="*/ 267 h 267"/>
                <a:gd name="T14" fmla="*/ 510 w 510"/>
                <a:gd name="T15" fmla="*/ 182 h 267"/>
                <a:gd name="T16" fmla="*/ 465 w 510"/>
                <a:gd name="T17" fmla="*/ 187 h 267"/>
                <a:gd name="T18" fmla="*/ 464 w 510"/>
                <a:gd name="T19" fmla="*/ 183 h 267"/>
                <a:gd name="T20" fmla="*/ 233 w 510"/>
                <a:gd name="T21" fmla="*/ 0 h 267"/>
                <a:gd name="T22" fmla="*/ 0 w 510"/>
                <a:gd name="T23" fmla="*/ 191 h 267"/>
                <a:gd name="T24" fmla="*/ 26 w 510"/>
                <a:gd name="T25" fmla="*/ 170 h 267"/>
                <a:gd name="T26" fmla="*/ 30 w 510"/>
                <a:gd name="T27" fmla="*/ 169 h 267"/>
                <a:gd name="T28" fmla="*/ 34 w 510"/>
                <a:gd name="T29" fmla="*/ 171 h 267"/>
                <a:gd name="T30" fmla="*/ 55 w 510"/>
                <a:gd name="T31" fmla="*/ 198 h 267"/>
                <a:gd name="T32" fmla="*/ 233 w 510"/>
                <a:gd name="T33" fmla="*/ 55 h 267"/>
              </a:gdLst>
              <a:ahLst/>
              <a:cxnLst/>
              <a:rect l="0" t="0" r="r" b="b"/>
              <a:pathLst>
                <a:path w="510" h="267">
                  <a:moveTo>
                    <a:pt x="233" y="55"/>
                  </a:moveTo>
                  <a:cubicBezTo>
                    <a:pt x="314" y="55"/>
                    <a:pt x="387" y="110"/>
                    <a:pt x="408" y="188"/>
                  </a:cubicBezTo>
                  <a:cubicBezTo>
                    <a:pt x="410" y="193"/>
                    <a:pt x="410" y="193"/>
                    <a:pt x="410" y="193"/>
                  </a:cubicBezTo>
                  <a:cubicBezTo>
                    <a:pt x="356" y="199"/>
                    <a:pt x="356" y="199"/>
                    <a:pt x="356" y="199"/>
                  </a:cubicBezTo>
                  <a:cubicBezTo>
                    <a:pt x="407" y="240"/>
                    <a:pt x="407" y="240"/>
                    <a:pt x="407" y="240"/>
                  </a:cubicBezTo>
                  <a:cubicBezTo>
                    <a:pt x="407" y="240"/>
                    <a:pt x="407" y="240"/>
                    <a:pt x="407" y="240"/>
                  </a:cubicBezTo>
                  <a:cubicBezTo>
                    <a:pt x="441" y="267"/>
                    <a:pt x="441" y="267"/>
                    <a:pt x="441" y="267"/>
                  </a:cubicBezTo>
                  <a:cubicBezTo>
                    <a:pt x="510" y="182"/>
                    <a:pt x="510" y="182"/>
                    <a:pt x="510" y="182"/>
                  </a:cubicBezTo>
                  <a:cubicBezTo>
                    <a:pt x="465" y="187"/>
                    <a:pt x="465" y="187"/>
                    <a:pt x="465" y="187"/>
                  </a:cubicBezTo>
                  <a:cubicBezTo>
                    <a:pt x="464" y="183"/>
                    <a:pt x="464" y="183"/>
                    <a:pt x="464" y="183"/>
                  </a:cubicBezTo>
                  <a:cubicBezTo>
                    <a:pt x="439" y="75"/>
                    <a:pt x="344" y="0"/>
                    <a:pt x="233" y="0"/>
                  </a:cubicBezTo>
                  <a:cubicBezTo>
                    <a:pt x="120" y="0"/>
                    <a:pt x="22" y="81"/>
                    <a:pt x="0" y="191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7" y="169"/>
                    <a:pt x="29" y="169"/>
                    <a:pt x="30" y="169"/>
                  </a:cubicBezTo>
                  <a:cubicBezTo>
                    <a:pt x="32" y="169"/>
                    <a:pt x="33" y="170"/>
                    <a:pt x="34" y="171"/>
                  </a:cubicBezTo>
                  <a:cubicBezTo>
                    <a:pt x="55" y="198"/>
                    <a:pt x="55" y="198"/>
                    <a:pt x="55" y="198"/>
                  </a:cubicBezTo>
                  <a:cubicBezTo>
                    <a:pt x="74" y="115"/>
                    <a:pt x="147" y="55"/>
                    <a:pt x="233" y="55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12700" cap="sq">
              <a:noFill/>
              <a:miter/>
            </a:ln>
          </p:spPr>
          <p:txBody>
            <a:bodyPr vert="horz" wrap="square" lIns="180000" tIns="46800" rIns="180000" bIns="4680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7" name="标题 1"/>
          <p:cNvSpPr txBox="1"/>
          <p:nvPr>
            <p:custDataLst>
              <p:tags r:id="rId2"/>
            </p:custDataLst>
          </p:nvPr>
        </p:nvSpPr>
        <p:spPr>
          <a:xfrm>
            <a:off x="8038074" y="2747980"/>
            <a:ext cx="3470666" cy="1927525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3"/>
            </p:custDataLst>
          </p:nvPr>
        </p:nvSpPr>
        <p:spPr>
          <a:xfrm>
            <a:off x="8122413" y="2971287"/>
            <a:ext cx="3373627" cy="1513718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一国两制的成功实践，不仅为香港、澳门的繁荣稳定提供了制度保障，也为解决台湾问题、实现国家完全统一提供了有益借鉴。</a:t>
            </a: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4"/>
            </p:custDataLst>
          </p:nvPr>
        </p:nvSpPr>
        <p:spPr>
          <a:xfrm>
            <a:off x="8233759" y="2455799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5"/>
            </p:custDataLst>
          </p:nvPr>
        </p:nvSpPr>
        <p:spPr>
          <a:xfrm>
            <a:off x="8355981" y="2584830"/>
            <a:ext cx="236925" cy="223307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6"/>
            </p:custDataLst>
          </p:nvPr>
        </p:nvSpPr>
        <p:spPr>
          <a:xfrm>
            <a:off x="659864" y="2747981"/>
            <a:ext cx="3470666" cy="1922096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7"/>
            </p:custDataLst>
          </p:nvPr>
        </p:nvSpPr>
        <p:spPr>
          <a:xfrm>
            <a:off x="744203" y="2971287"/>
            <a:ext cx="3373627" cy="15130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一国两制是中国政府为实现国家和平统一而提出的基本国策，具有重要的历史和现实意义。</a:t>
            </a: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8"/>
            </p:custDataLst>
          </p:nvPr>
        </p:nvSpPr>
        <p:spPr>
          <a:xfrm>
            <a:off x="855549" y="2455799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9"/>
            </p:custDataLst>
          </p:nvPr>
        </p:nvSpPr>
        <p:spPr>
          <a:xfrm>
            <a:off x="973481" y="2573732"/>
            <a:ext cx="245504" cy="245504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973637" y="391955"/>
            <a:ext cx="10352677" cy="1206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结论</a:t>
            </a:r>
          </a:p>
        </p:txBody>
      </p:sp>
      <p:sp>
        <p:nvSpPr>
          <p:cNvPr id="16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一国两制的重要性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925157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7000"/>
                </a:schemeClr>
              </a:gs>
              <a:gs pos="100000">
                <a:schemeClr val="bg1">
                  <a:alpha val="92000"/>
                </a:schemeClr>
              </a:gs>
            </a:gsLst>
            <a:lin ang="42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755343" y="2656172"/>
            <a:ext cx="4013930" cy="3045808"/>
          </a:xfrm>
          <a:prstGeom prst="rect">
            <a:avLst/>
          </a:prstGeom>
          <a:solidFill>
            <a:schemeClr val="bg1"/>
          </a:solidFill>
          <a:ln w="38100" cap="sq">
            <a:noFill/>
            <a:miter/>
          </a:ln>
          <a:effectLst>
            <a:outerShdw blurRad="317500" dist="1270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755343" y="2656172"/>
            <a:ext cx="4013930" cy="95388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023092" y="3012905"/>
            <a:ext cx="3377790" cy="24226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面对新的时代背景和挑战，一国两制将继续发挥重要作用，为实现国家和平统一和民族伟大复兴贡献力量。</a:t>
            </a:r>
            <a:endParaRPr kumimoji="1" lang="zh-CN" altLang="en-US" sz="2000"/>
          </a:p>
        </p:txBody>
      </p:sp>
      <p:sp>
        <p:nvSpPr>
          <p:cNvPr id="6" name="标题 1"/>
          <p:cNvSpPr txBox="1"/>
          <p:nvPr/>
        </p:nvSpPr>
        <p:spPr>
          <a:xfrm>
            <a:off x="6422727" y="2656172"/>
            <a:ext cx="4013930" cy="3045808"/>
          </a:xfrm>
          <a:prstGeom prst="rect">
            <a:avLst/>
          </a:prstGeom>
          <a:solidFill>
            <a:schemeClr val="bg1"/>
          </a:solidFill>
          <a:ln w="38100" cap="sq">
            <a:noFill/>
            <a:miter/>
          </a:ln>
          <a:effectLst>
            <a:outerShdw blurRad="317500" dist="1270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422727" y="2656172"/>
            <a:ext cx="4013930" cy="95388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90476" y="3012906"/>
            <a:ext cx="3377790" cy="2418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我们相信，在全体中华儿女的共同努力下，一国两制必将迎来更加美好的明天。</a:t>
            </a:r>
            <a:endParaRPr kumimoji="1" lang="zh-CN" altLang="en-US" sz="2000"/>
          </a:p>
        </p:txBody>
      </p:sp>
      <p:sp>
        <p:nvSpPr>
          <p:cNvPr id="9" name="标题 1"/>
          <p:cNvSpPr txBox="1"/>
          <p:nvPr/>
        </p:nvSpPr>
        <p:spPr>
          <a:xfrm>
            <a:off x="1003300" y="1151071"/>
            <a:ext cx="8794750" cy="122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结论</a:t>
            </a:r>
            <a:endParaRPr kumimoji="1" lang="zh-CN" altLang="en-US" sz="3600"/>
          </a:p>
        </p:txBody>
      </p:sp>
      <p:sp>
        <p:nvSpPr>
          <p:cNvPr id="10" name="标题 1"/>
          <p:cNvSpPr txBox="1"/>
          <p:nvPr/>
        </p:nvSpPr>
        <p:spPr>
          <a:xfrm>
            <a:off x="836650" y="475975"/>
            <a:ext cx="1068225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C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一国两制的未来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38153" y="454500"/>
            <a:ext cx="319344" cy="510950"/>
          </a:xfrm>
          <a:prstGeom prst="parallelogram">
            <a:avLst>
              <a:gd name="adj" fmla="val 73502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43287-8253-4288-5008-70EC0BD4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1BDB044-516B-B6CA-0646-E3EA65A852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52324" y="-27885"/>
            <a:ext cx="12244324" cy="6885885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C653D42-B9A7-5376-9054-286B42E8500A}"/>
              </a:ext>
            </a:extLst>
          </p:cNvPr>
          <p:cNvSpPr txBox="1"/>
          <p:nvPr/>
        </p:nvSpPr>
        <p:spPr>
          <a:xfrm>
            <a:off x="329184" y="347472"/>
            <a:ext cx="11521440" cy="6272784"/>
          </a:xfrm>
          <a:prstGeom prst="roundRect">
            <a:avLst>
              <a:gd name="adj" fmla="val 3839"/>
            </a:avLst>
          </a:prstGeom>
          <a:solidFill>
            <a:schemeClr val="bg1">
              <a:alpha val="63000"/>
            </a:schemeClr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B713CB5-8F96-3B7D-9033-51BD66EBC0AD}"/>
              </a:ext>
            </a:extLst>
          </p:cNvPr>
          <p:cNvSpPr txBox="1"/>
          <p:nvPr/>
        </p:nvSpPr>
        <p:spPr>
          <a:xfrm>
            <a:off x="736600" y="5357792"/>
            <a:ext cx="2359213" cy="50559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sq">
            <a:solidFill>
              <a:schemeClr val="tx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366B2FD-9B45-C048-77CB-D6C8EA96868B}"/>
              </a:ext>
            </a:extLst>
          </p:cNvPr>
          <p:cNvSpPr txBox="1"/>
          <p:nvPr/>
        </p:nvSpPr>
        <p:spPr>
          <a:xfrm>
            <a:off x="3225474" y="5357792"/>
            <a:ext cx="2359213" cy="505598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9050" cap="sq">
            <a:solidFill>
              <a:schemeClr val="tx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F3961A9-4F63-0F8D-23D3-0BA775CBAD76}"/>
              </a:ext>
            </a:extLst>
          </p:cNvPr>
          <p:cNvSpPr txBox="1"/>
          <p:nvPr/>
        </p:nvSpPr>
        <p:spPr>
          <a:xfrm>
            <a:off x="772005" y="1002631"/>
            <a:ext cx="1945527" cy="24159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F2AE04E-426E-83FA-9659-F446F3847C09}"/>
              </a:ext>
            </a:extLst>
          </p:cNvPr>
          <p:cNvSpPr txBox="1"/>
          <p:nvPr/>
        </p:nvSpPr>
        <p:spPr>
          <a:xfrm>
            <a:off x="815479" y="4277819"/>
            <a:ext cx="2882858" cy="33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BF9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8" name="标题 1">
            <a:extLst>
              <a:ext uri="{FF2B5EF4-FFF2-40B4-BE49-F238E27FC236}">
                <a16:creationId xmlns:a16="http://schemas.microsoft.com/office/drawing/2014/main" id="{BC6E2406-3674-447B-5B0B-876806FE6408}"/>
              </a:ext>
            </a:extLst>
          </p:cNvPr>
          <p:cNvCxnSpPr/>
          <p:nvPr/>
        </p:nvCxnSpPr>
        <p:spPr>
          <a:xfrm>
            <a:off x="3126938" y="4443352"/>
            <a:ext cx="1946538" cy="0"/>
          </a:xfrm>
          <a:prstGeom prst="straightConnector1">
            <a:avLst/>
          </a:prstGeom>
          <a:noFill/>
          <a:ln w="19050" cap="sq">
            <a:solidFill>
              <a:schemeClr val="accent1">
                <a:lumMod val="75000"/>
              </a:schemeClr>
            </a:solidFill>
            <a:prstDash val="solid"/>
            <a:miter/>
            <a:tailEnd type="triangle"/>
          </a:ln>
        </p:spPr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3DD16EFC-610B-9DBA-7360-9E20BDC749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12005" y="815129"/>
            <a:ext cx="4879973" cy="533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BC7A7F-EABA-201D-8360-81B2A9849A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73959" y="3858361"/>
            <a:ext cx="1708663" cy="82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A51512-393C-180E-53EA-A00171A521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722306">
            <a:off x="7044194" y="271348"/>
            <a:ext cx="1290483" cy="173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06015214-752C-8336-E652-4F6FF1A304BD}"/>
              </a:ext>
            </a:extLst>
          </p:cNvPr>
          <p:cNvGrpSpPr/>
          <p:nvPr/>
        </p:nvGrpSpPr>
        <p:grpSpPr>
          <a:xfrm>
            <a:off x="3761689" y="1060203"/>
            <a:ext cx="3998519" cy="2567233"/>
            <a:chOff x="3761689" y="1060203"/>
            <a:chExt cx="3998519" cy="2567233"/>
          </a:xfrm>
        </p:grpSpPr>
        <p:sp>
          <p:nvSpPr>
            <p:cNvPr id="13" name="标题 1">
              <a:extLst>
                <a:ext uri="{FF2B5EF4-FFF2-40B4-BE49-F238E27FC236}">
                  <a16:creationId xmlns:a16="http://schemas.microsoft.com/office/drawing/2014/main" id="{B57DA9B0-6CDC-3902-200C-E056BA8FEB9D}"/>
                </a:ext>
              </a:extLst>
            </p:cNvPr>
            <p:cNvSpPr txBox="1"/>
            <p:nvPr/>
          </p:nvSpPr>
          <p:spPr>
            <a:xfrm>
              <a:off x="4102608" y="1060203"/>
              <a:ext cx="3657600" cy="2567233"/>
            </a:xfrm>
            <a:custGeom>
              <a:avLst/>
              <a:gdLst>
                <a:gd name="connsiteX0" fmla="*/ 0 w 3657600"/>
                <a:gd name="connsiteY0" fmla="*/ 274821 h 2567233"/>
                <a:gd name="connsiteX1" fmla="*/ 2048256 w 3657600"/>
                <a:gd name="connsiteY1" fmla="*/ 183381 h 2567233"/>
                <a:gd name="connsiteX2" fmla="*/ 2377440 w 3657600"/>
                <a:gd name="connsiteY2" fmla="*/ 2377941 h 2567233"/>
                <a:gd name="connsiteX3" fmla="*/ 3657600 w 3657600"/>
                <a:gd name="connsiteY3" fmla="*/ 2451093 h 2567233"/>
                <a:gd name="connsiteX4" fmla="*/ 3657600 w 3657600"/>
                <a:gd name="connsiteY4" fmla="*/ 2451093 h 2567233"/>
              </a:gdLst>
              <a:ahLst/>
              <a:cxnLst/>
              <a:rect l="l" t="t" r="r" b="b"/>
              <a:pathLst>
                <a:path w="3657600" h="2567233">
                  <a:moveTo>
                    <a:pt x="0" y="274821"/>
                  </a:moveTo>
                  <a:cubicBezTo>
                    <a:pt x="826008" y="53841"/>
                    <a:pt x="1652016" y="-167139"/>
                    <a:pt x="2048256" y="183381"/>
                  </a:cubicBezTo>
                  <a:cubicBezTo>
                    <a:pt x="2444496" y="533901"/>
                    <a:pt x="2109216" y="1999989"/>
                    <a:pt x="2377440" y="2377941"/>
                  </a:cubicBezTo>
                  <a:cubicBezTo>
                    <a:pt x="2645664" y="2755893"/>
                    <a:pt x="3657600" y="2451093"/>
                    <a:pt x="3657600" y="2451093"/>
                  </a:cubicBezTo>
                  <a:lnTo>
                    <a:pt x="3657600" y="2451093"/>
                  </a:lnTo>
                </a:path>
              </a:pathLst>
            </a:custGeom>
            <a:noFill/>
            <a:ln w="19050" cap="sq">
              <a:solidFill>
                <a:schemeClr val="tx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>
              <a:extLst>
                <a:ext uri="{FF2B5EF4-FFF2-40B4-BE49-F238E27FC236}">
                  <a16:creationId xmlns:a16="http://schemas.microsoft.com/office/drawing/2014/main" id="{A7837814-F348-E3A3-A0AC-E0976CD8E4B3}"/>
                </a:ext>
              </a:extLst>
            </p:cNvPr>
            <p:cNvSpPr txBox="1"/>
            <p:nvPr/>
          </p:nvSpPr>
          <p:spPr>
            <a:xfrm rot="14879725">
              <a:off x="3783307" y="1261872"/>
              <a:ext cx="337589" cy="274320"/>
            </a:xfrm>
            <a:prstGeom prst="triangle">
              <a:avLst/>
            </a:prstGeom>
            <a:solidFill>
              <a:schemeClr val="tx2"/>
            </a:soli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D9540B7-8FFA-F8CA-9DD2-FCEDE6CC1624}"/>
              </a:ext>
            </a:extLst>
          </p:cNvPr>
          <p:cNvGrpSpPr/>
          <p:nvPr/>
        </p:nvGrpSpPr>
        <p:grpSpPr>
          <a:xfrm>
            <a:off x="857865" y="4756517"/>
            <a:ext cx="1677983" cy="153888"/>
            <a:chOff x="857865" y="4756517"/>
            <a:chExt cx="1677983" cy="153888"/>
          </a:xfrm>
        </p:grpSpPr>
        <p:sp>
          <p:nvSpPr>
            <p:cNvPr id="16" name="标题 1">
              <a:extLst>
                <a:ext uri="{FF2B5EF4-FFF2-40B4-BE49-F238E27FC236}">
                  <a16:creationId xmlns:a16="http://schemas.microsoft.com/office/drawing/2014/main" id="{6D60F08E-AC51-8EE0-FDA5-28993704C4AF}"/>
                </a:ext>
              </a:extLst>
            </p:cNvPr>
            <p:cNvSpPr txBox="1"/>
            <p:nvPr/>
          </p:nvSpPr>
          <p:spPr>
            <a:xfrm>
              <a:off x="857865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>
              <a:extLst>
                <a:ext uri="{FF2B5EF4-FFF2-40B4-BE49-F238E27FC236}">
                  <a16:creationId xmlns:a16="http://schemas.microsoft.com/office/drawing/2014/main" id="{607C5DEB-82C1-E249-F8B8-325C68B096A8}"/>
                </a:ext>
              </a:extLst>
            </p:cNvPr>
            <p:cNvSpPr txBox="1"/>
            <p:nvPr/>
          </p:nvSpPr>
          <p:spPr>
            <a:xfrm>
              <a:off x="953155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>
              <a:extLst>
                <a:ext uri="{FF2B5EF4-FFF2-40B4-BE49-F238E27FC236}">
                  <a16:creationId xmlns:a16="http://schemas.microsoft.com/office/drawing/2014/main" id="{7764DB24-04FB-EC68-F911-99B358A56117}"/>
                </a:ext>
              </a:extLst>
            </p:cNvPr>
            <p:cNvSpPr txBox="1"/>
            <p:nvPr/>
          </p:nvSpPr>
          <p:spPr>
            <a:xfrm>
              <a:off x="1048445" y="4756517"/>
              <a:ext cx="153340" cy="153888"/>
            </a:xfrm>
            <a:custGeom>
              <a:avLst/>
              <a:gdLst>
                <a:gd name="connsiteX0" fmla="*/ 0 w 267133"/>
                <a:gd name="connsiteY0" fmla="*/ 268087 h 268087"/>
                <a:gd name="connsiteX1" fmla="*/ 267133 w 267133"/>
                <a:gd name="connsiteY1" fmla="*/ 0 h 268087"/>
              </a:gdLst>
              <a:ahLst/>
              <a:cxnLst/>
              <a:rect l="l" t="t" r="r" b="b"/>
              <a:pathLst>
                <a:path w="267133" h="268087">
                  <a:moveTo>
                    <a:pt x="0" y="268087"/>
                  </a:moveTo>
                  <a:lnTo>
                    <a:pt x="267133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04D7D548-EE24-0D96-ED97-AA22FDDEE4C6}"/>
                </a:ext>
              </a:extLst>
            </p:cNvPr>
            <p:cNvSpPr txBox="1"/>
            <p:nvPr/>
          </p:nvSpPr>
          <p:spPr>
            <a:xfrm>
              <a:off x="114318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>
              <a:extLst>
                <a:ext uri="{FF2B5EF4-FFF2-40B4-BE49-F238E27FC236}">
                  <a16:creationId xmlns:a16="http://schemas.microsoft.com/office/drawing/2014/main" id="{C77F666B-5656-7251-0C48-1E28F1AEA779}"/>
                </a:ext>
              </a:extLst>
            </p:cNvPr>
            <p:cNvSpPr txBox="1"/>
            <p:nvPr/>
          </p:nvSpPr>
          <p:spPr>
            <a:xfrm>
              <a:off x="123847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>
              <a:extLst>
                <a:ext uri="{FF2B5EF4-FFF2-40B4-BE49-F238E27FC236}">
                  <a16:creationId xmlns:a16="http://schemas.microsoft.com/office/drawing/2014/main" id="{E85D20CE-D76A-2ED7-A3BC-4A77C7802157}"/>
                </a:ext>
              </a:extLst>
            </p:cNvPr>
            <p:cNvSpPr txBox="1"/>
            <p:nvPr/>
          </p:nvSpPr>
          <p:spPr>
            <a:xfrm>
              <a:off x="133376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D4C4F026-6366-B468-69D0-71C1C5BB3DA7}"/>
                </a:ext>
              </a:extLst>
            </p:cNvPr>
            <p:cNvSpPr txBox="1"/>
            <p:nvPr/>
          </p:nvSpPr>
          <p:spPr>
            <a:xfrm>
              <a:off x="142905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>
              <a:extLst>
                <a:ext uri="{FF2B5EF4-FFF2-40B4-BE49-F238E27FC236}">
                  <a16:creationId xmlns:a16="http://schemas.microsoft.com/office/drawing/2014/main" id="{4593F635-E486-8693-393A-46FCBB3894EA}"/>
                </a:ext>
              </a:extLst>
            </p:cNvPr>
            <p:cNvSpPr txBox="1"/>
            <p:nvPr/>
          </p:nvSpPr>
          <p:spPr>
            <a:xfrm>
              <a:off x="152434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>
              <a:extLst>
                <a:ext uri="{FF2B5EF4-FFF2-40B4-BE49-F238E27FC236}">
                  <a16:creationId xmlns:a16="http://schemas.microsoft.com/office/drawing/2014/main" id="{889DA58C-4EDB-A45C-4D84-8B68448A69C9}"/>
                </a:ext>
              </a:extLst>
            </p:cNvPr>
            <p:cNvSpPr txBox="1"/>
            <p:nvPr/>
          </p:nvSpPr>
          <p:spPr>
            <a:xfrm>
              <a:off x="161963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>
              <a:extLst>
                <a:ext uri="{FF2B5EF4-FFF2-40B4-BE49-F238E27FC236}">
                  <a16:creationId xmlns:a16="http://schemas.microsoft.com/office/drawing/2014/main" id="{12D5D8DE-D54B-24AE-008D-55E14F4C7C57}"/>
                </a:ext>
              </a:extLst>
            </p:cNvPr>
            <p:cNvSpPr txBox="1"/>
            <p:nvPr/>
          </p:nvSpPr>
          <p:spPr>
            <a:xfrm>
              <a:off x="1714928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>
              <a:extLst>
                <a:ext uri="{FF2B5EF4-FFF2-40B4-BE49-F238E27FC236}">
                  <a16:creationId xmlns:a16="http://schemas.microsoft.com/office/drawing/2014/main" id="{39E0EF54-409A-7DE1-B062-54E322E0C119}"/>
                </a:ext>
              </a:extLst>
            </p:cNvPr>
            <p:cNvSpPr txBox="1"/>
            <p:nvPr/>
          </p:nvSpPr>
          <p:spPr>
            <a:xfrm>
              <a:off x="181021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3466CA75-BF6C-AF4B-6CC8-F99DD5EF0070}"/>
                </a:ext>
              </a:extLst>
            </p:cNvPr>
            <p:cNvSpPr txBox="1"/>
            <p:nvPr/>
          </p:nvSpPr>
          <p:spPr>
            <a:xfrm>
              <a:off x="190550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>
              <a:extLst>
                <a:ext uri="{FF2B5EF4-FFF2-40B4-BE49-F238E27FC236}">
                  <a16:creationId xmlns:a16="http://schemas.microsoft.com/office/drawing/2014/main" id="{3E5A46AF-5EE6-6796-4B66-BFC11C18B1B1}"/>
                </a:ext>
              </a:extLst>
            </p:cNvPr>
            <p:cNvSpPr txBox="1"/>
            <p:nvPr/>
          </p:nvSpPr>
          <p:spPr>
            <a:xfrm>
              <a:off x="200079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>
              <a:extLst>
                <a:ext uri="{FF2B5EF4-FFF2-40B4-BE49-F238E27FC236}">
                  <a16:creationId xmlns:a16="http://schemas.microsoft.com/office/drawing/2014/main" id="{398F59DF-39DC-B967-95D3-576FAEA94030}"/>
                </a:ext>
              </a:extLst>
            </p:cNvPr>
            <p:cNvSpPr txBox="1"/>
            <p:nvPr/>
          </p:nvSpPr>
          <p:spPr>
            <a:xfrm>
              <a:off x="209608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>
              <a:extLst>
                <a:ext uri="{FF2B5EF4-FFF2-40B4-BE49-F238E27FC236}">
                  <a16:creationId xmlns:a16="http://schemas.microsoft.com/office/drawing/2014/main" id="{692AB879-3F7C-C51D-7396-D1EEAF93F51C}"/>
                </a:ext>
              </a:extLst>
            </p:cNvPr>
            <p:cNvSpPr txBox="1"/>
            <p:nvPr/>
          </p:nvSpPr>
          <p:spPr>
            <a:xfrm>
              <a:off x="219137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>
              <a:extLst>
                <a:ext uri="{FF2B5EF4-FFF2-40B4-BE49-F238E27FC236}">
                  <a16:creationId xmlns:a16="http://schemas.microsoft.com/office/drawing/2014/main" id="{E8F6055D-B63C-3522-4B01-1AC74B53F03C}"/>
                </a:ext>
              </a:extLst>
            </p:cNvPr>
            <p:cNvSpPr txBox="1"/>
            <p:nvPr/>
          </p:nvSpPr>
          <p:spPr>
            <a:xfrm>
              <a:off x="2286669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2" name="标题 1">
              <a:extLst>
                <a:ext uri="{FF2B5EF4-FFF2-40B4-BE49-F238E27FC236}">
                  <a16:creationId xmlns:a16="http://schemas.microsoft.com/office/drawing/2014/main" id="{3B814BEC-7785-099C-A00C-D0FB031A74B4}"/>
                </a:ext>
              </a:extLst>
            </p:cNvPr>
            <p:cNvSpPr txBox="1"/>
            <p:nvPr/>
          </p:nvSpPr>
          <p:spPr>
            <a:xfrm>
              <a:off x="2381960" y="4756517"/>
              <a:ext cx="153888" cy="153888"/>
            </a:xfrm>
            <a:custGeom>
              <a:avLst/>
              <a:gdLst>
                <a:gd name="connsiteX0" fmla="*/ 0 w 268087"/>
                <a:gd name="connsiteY0" fmla="*/ 268087 h 268087"/>
                <a:gd name="connsiteX1" fmla="*/ 268087 w 268087"/>
                <a:gd name="connsiteY1" fmla="*/ 0 h 268087"/>
              </a:gdLst>
              <a:ahLst/>
              <a:cxnLst/>
              <a:rect l="l" t="t" r="r" b="b"/>
              <a:pathLst>
                <a:path w="268087" h="268087">
                  <a:moveTo>
                    <a:pt x="0" y="268087"/>
                  </a:moveTo>
                  <a:lnTo>
                    <a:pt x="268087" y="0"/>
                  </a:lnTo>
                </a:path>
              </a:pathLst>
            </a:custGeom>
            <a:noFill/>
            <a:ln w="12333" cap="flat">
              <a:solidFill>
                <a:schemeClr val="accent1">
                  <a:lumMod val="7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3" name="标题 1">
            <a:extLst>
              <a:ext uri="{FF2B5EF4-FFF2-40B4-BE49-F238E27FC236}">
                <a16:creationId xmlns:a16="http://schemas.microsoft.com/office/drawing/2014/main" id="{F2A32948-8E6F-C3AE-7837-36CBF0F53CA2}"/>
              </a:ext>
            </a:extLst>
          </p:cNvPr>
          <p:cNvSpPr txBox="1"/>
          <p:nvPr/>
        </p:nvSpPr>
        <p:spPr>
          <a:xfrm>
            <a:off x="1187128" y="5452331"/>
            <a:ext cx="984287" cy="3165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主讲人：</a:t>
            </a:r>
            <a:endParaRPr kumimoji="1" lang="zh-CN" altLang="en-US"/>
          </a:p>
        </p:txBody>
      </p:sp>
      <p:sp>
        <p:nvSpPr>
          <p:cNvPr id="34" name="标题 1">
            <a:extLst>
              <a:ext uri="{FF2B5EF4-FFF2-40B4-BE49-F238E27FC236}">
                <a16:creationId xmlns:a16="http://schemas.microsoft.com/office/drawing/2014/main" id="{65E7A5C5-A451-8D8C-C6AD-93B8C11D4FE8}"/>
              </a:ext>
            </a:extLst>
          </p:cNvPr>
          <p:cNvSpPr txBox="1"/>
          <p:nvPr/>
        </p:nvSpPr>
        <p:spPr>
          <a:xfrm>
            <a:off x="4370406" y="5450298"/>
            <a:ext cx="984196" cy="32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 dirty="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2025.4</a:t>
            </a:r>
            <a:endParaRPr kumimoji="1" lang="zh-CN" altLang="en-US" dirty="0"/>
          </a:p>
        </p:txBody>
      </p:sp>
      <p:sp>
        <p:nvSpPr>
          <p:cNvPr id="35" name="标题 1">
            <a:extLst>
              <a:ext uri="{FF2B5EF4-FFF2-40B4-BE49-F238E27FC236}">
                <a16:creationId xmlns:a16="http://schemas.microsoft.com/office/drawing/2014/main" id="{596F684F-2CD7-BBC7-490A-6CCC83120489}"/>
              </a:ext>
            </a:extLst>
          </p:cNvPr>
          <p:cNvSpPr txBox="1"/>
          <p:nvPr/>
        </p:nvSpPr>
        <p:spPr>
          <a:xfrm>
            <a:off x="2063821" y="5441283"/>
            <a:ext cx="1005791" cy="3386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zh-CN" altLang="en-US" dirty="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</a:rPr>
              <a:t>张洛宾</a:t>
            </a:r>
            <a:endParaRPr kumimoji="1"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619A5E04-9565-53C9-3DF6-A707E8030331}"/>
              </a:ext>
            </a:extLst>
          </p:cNvPr>
          <p:cNvSpPr txBox="1"/>
          <p:nvPr/>
        </p:nvSpPr>
        <p:spPr>
          <a:xfrm>
            <a:off x="3786143" y="5451314"/>
            <a:ext cx="756233" cy="31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时间：</a:t>
            </a:r>
            <a:endParaRPr kumimoji="1" lang="zh-CN" altLang="en-US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7CE13A90-36DC-F84E-B63B-D88868054435}"/>
              </a:ext>
            </a:extLst>
          </p:cNvPr>
          <p:cNvSpPr txBox="1"/>
          <p:nvPr/>
        </p:nvSpPr>
        <p:spPr>
          <a:xfrm>
            <a:off x="762490" y="1606923"/>
            <a:ext cx="2880742" cy="84063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zh-CN" altLang="en-US" sz="2800" dirty="0">
                <a:ln w="3175">
                  <a:noFill/>
                </a:ln>
                <a:gradFill>
                  <a:gsLst>
                    <a:gs pos="0">
                      <a:srgbClr val="FFC000">
                        <a:alpha val="100000"/>
                      </a:srgbClr>
                    </a:gs>
                    <a:gs pos="100000">
                      <a:srgbClr val="FFF2CC">
                        <a:alpha val="66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思想道德与法制</a:t>
            </a:r>
            <a:endParaRPr kumimoji="1" lang="zh-CN" altLang="en-US" sz="2800" dirty="0"/>
          </a:p>
        </p:txBody>
      </p:sp>
      <p:sp>
        <p:nvSpPr>
          <p:cNvPr id="38" name="标题 1">
            <a:extLst>
              <a:ext uri="{FF2B5EF4-FFF2-40B4-BE49-F238E27FC236}">
                <a16:creationId xmlns:a16="http://schemas.microsoft.com/office/drawing/2014/main" id="{BF646616-2D4D-D304-29CC-AE001A4EE8D0}"/>
              </a:ext>
            </a:extLst>
          </p:cNvPr>
          <p:cNvSpPr txBox="1"/>
          <p:nvPr/>
        </p:nvSpPr>
        <p:spPr>
          <a:xfrm>
            <a:off x="724390" y="2392334"/>
            <a:ext cx="5490139" cy="176212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100" dirty="0">
                <a:ln w="3175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谢谢大家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97597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3168503937008,&quot;left&quot;:99.92409448818897,&quot;top&quot;:172.70850393700786,&quot;width&quot;:748.19165354330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487874015748,&quot;left&quot;:407.397874015748,&quot;top&quot;:156.51212598425198,&quot;width&quot;:491.9907874015748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487874015748,&quot;left&quot;:407.397874015748,&quot;top&quot;:156.51212598425198,&quot;width&quot;:491.9907874015748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487874015748,&quot;left&quot;:407.397874015748,&quot;top&quot;:156.51212598425198,&quot;width&quot;:491.9907874015748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487874015748,&quot;left&quot;:407.397874015748,&quot;top&quot;:156.51212598425198,&quot;width&quot;:491.9907874015748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487874015748,&quot;left&quot;:407.397874015748,&quot;top&quot;:156.51212598425198,&quot;width&quot;:491.9907874015748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487874015748,&quot;left&quot;:407.397874015748,&quot;top&quot;:156.51212598425198,&quot;width&quot;:491.9907874015748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52716535433075,&quot;left&quot;:113.93527559055117,&quot;top&quot;:173.07283464566927,&quot;width&quot;:735.24244094488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8733070866142,&quot;left&quot;:51.95779527559055,&quot;top&quot;:108.88669291338583,&quot;width&quot;:854.242204724409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000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</Words>
  <Application>Microsoft Office PowerPoint</Application>
  <PresentationFormat>宽屏</PresentationFormat>
  <Paragraphs>89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OPPOSans B</vt:lpstr>
      <vt:lpstr>OPPOSans L</vt:lpstr>
      <vt:lpstr>OPPOSans H</vt:lpstr>
      <vt:lpstr>Source Han Sans</vt:lpstr>
      <vt:lpstr>Source Han Sans CN 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洛宾 张</cp:lastModifiedBy>
  <cp:revision>3</cp:revision>
  <dcterms:created xsi:type="dcterms:W3CDTF">2025-04-13T12:52:20Z</dcterms:created>
  <dcterms:modified xsi:type="dcterms:W3CDTF">2025-04-13T13:11:35Z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3F5F121D7A2D42C286687642044695B4_12</vt:lpwstr>
  </property>
  <property fmtid="{D5CDD505-2E9C-101B-9397-08002B2CF9AE}" pid="3" name="KSOProductBuildVer">
    <vt:lpwstr>2052-12.1.0.19302</vt:lpwstr>
  </property>
</Properties>
</file>