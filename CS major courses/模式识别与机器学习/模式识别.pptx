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339" r:id="rId2"/>
    <p:sldId id="473" r:id="rId3"/>
    <p:sldId id="415" r:id="rId4"/>
    <p:sldId id="468" r:id="rId5"/>
    <p:sldId id="475" r:id="rId6"/>
    <p:sldId id="469" r:id="rId7"/>
    <p:sldId id="472" r:id="rId8"/>
    <p:sldId id="476" r:id="rId9"/>
    <p:sldId id="482" r:id="rId10"/>
    <p:sldId id="471" r:id="rId11"/>
    <p:sldId id="478" r:id="rId12"/>
    <p:sldId id="481" r:id="rId13"/>
    <p:sldId id="470" r:id="rId14"/>
    <p:sldId id="479" r:id="rId15"/>
    <p:sldId id="480"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5" d="100"/>
          <a:sy n="115" d="100"/>
        </p:scale>
        <p:origin x="514" y="1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AAEFB2-8247-478E-B3DD-3AD8C039DA52}" type="datetimeFigureOut">
              <a:rPr lang="zh-CN" altLang="en-US" smtClean="0"/>
              <a:t>2026/4/22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8ADF54-2D58-4F9D-991D-CDF27934986D}" type="slidenum">
              <a:rPr lang="zh-CN" altLang="en-US" smtClean="0"/>
              <a:t>‹#›</a:t>
            </a:fld>
            <a:endParaRPr lang="zh-CN" altLang="en-US"/>
          </a:p>
        </p:txBody>
      </p:sp>
    </p:spTree>
    <p:extLst>
      <p:ext uri="{BB962C8B-B14F-4D97-AF65-F5344CB8AC3E}">
        <p14:creationId xmlns:p14="http://schemas.microsoft.com/office/powerpoint/2010/main" val="744419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69A8206-4F6D-4A56-AEC2-C9DAEE2DA8B3}"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1930379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19390-6FF0-5699-1D58-3D11E95ED5E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25B82A-4D90-9411-39C5-96FEBCB05AC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053EF2-1FE3-E9A3-2D84-5083F22D7D4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B5EA37E-A4CF-8781-DFD1-BEBE8AE3CF2C}"/>
              </a:ext>
            </a:extLst>
          </p:cNvPr>
          <p:cNvSpPr>
            <a:spLocks noGrp="1"/>
          </p:cNvSpPr>
          <p:nvPr>
            <p:ph type="sldNum" sz="quarter" idx="10"/>
          </p:nvPr>
        </p:nvSpPr>
        <p:spPr/>
        <p:txBody>
          <a:bodyPr/>
          <a:lstStyle/>
          <a:p>
            <a:fld id="{9E1AC29F-167E-408E-8190-566AA8CE9AAE}" type="slidenum">
              <a:rPr lang="zh-CN" altLang="en-US" smtClean="0"/>
              <a:t>2</a:t>
            </a:fld>
            <a:endParaRPr lang="zh-CN" altLang="en-US"/>
          </a:p>
        </p:txBody>
      </p:sp>
    </p:spTree>
    <p:extLst>
      <p:ext uri="{BB962C8B-B14F-4D97-AF65-F5344CB8AC3E}">
        <p14:creationId xmlns:p14="http://schemas.microsoft.com/office/powerpoint/2010/main" val="7885004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0DCF967-6EE3-4C28-AE0C-2EEA5C3A0DB8}" type="slidenum">
              <a:rPr lang="zh-CN" altLang="en-US" smtClean="0"/>
              <a:t>3</a:t>
            </a:fld>
            <a:endParaRPr lang="zh-CN" altLang="en-US"/>
          </a:p>
        </p:txBody>
      </p:sp>
    </p:spTree>
    <p:extLst>
      <p:ext uri="{BB962C8B-B14F-4D97-AF65-F5344CB8AC3E}">
        <p14:creationId xmlns:p14="http://schemas.microsoft.com/office/powerpoint/2010/main" val="3832345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1AC29F-167E-408E-8190-566AA8CE9AAE}" type="slidenum">
              <a:rPr lang="zh-CN" altLang="en-US" smtClean="0"/>
              <a:t>4</a:t>
            </a:fld>
            <a:endParaRPr lang="zh-CN" altLang="en-US"/>
          </a:p>
        </p:txBody>
      </p:sp>
    </p:spTree>
    <p:extLst>
      <p:ext uri="{BB962C8B-B14F-4D97-AF65-F5344CB8AC3E}">
        <p14:creationId xmlns:p14="http://schemas.microsoft.com/office/powerpoint/2010/main" val="10405577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A96FF-C77C-5A28-115F-A11785C412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DB91DD-2808-4DE8-0B74-BB2FF9D8C22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EE3A43E-F9F2-43EB-3CA7-E0F525AAC66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A84DA25-F6EF-C811-2A09-13866F4DC01A}"/>
              </a:ext>
            </a:extLst>
          </p:cNvPr>
          <p:cNvSpPr>
            <a:spLocks noGrp="1"/>
          </p:cNvSpPr>
          <p:nvPr>
            <p:ph type="sldNum" sz="quarter" idx="10"/>
          </p:nvPr>
        </p:nvSpPr>
        <p:spPr/>
        <p:txBody>
          <a:bodyPr/>
          <a:lstStyle/>
          <a:p>
            <a:fld id="{9E1AC29F-167E-408E-8190-566AA8CE9AAE}" type="slidenum">
              <a:rPr lang="zh-CN" altLang="en-US" smtClean="0"/>
              <a:t>5</a:t>
            </a:fld>
            <a:endParaRPr lang="zh-CN" altLang="en-US"/>
          </a:p>
        </p:txBody>
      </p:sp>
    </p:spTree>
    <p:extLst>
      <p:ext uri="{BB962C8B-B14F-4D97-AF65-F5344CB8AC3E}">
        <p14:creationId xmlns:p14="http://schemas.microsoft.com/office/powerpoint/2010/main" val="7839842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6F7E0-FF4E-49B3-19CD-AA94F9A4C2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1FCA22-9A8C-C480-9151-22682EFF9D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809AB0-E39C-47BA-7FAE-72904E77CBF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6231EC2-ED4C-CB2C-19C5-1C6AE4973568}"/>
              </a:ext>
            </a:extLst>
          </p:cNvPr>
          <p:cNvSpPr>
            <a:spLocks noGrp="1"/>
          </p:cNvSpPr>
          <p:nvPr>
            <p:ph type="sldNum" sz="quarter" idx="10"/>
          </p:nvPr>
        </p:nvSpPr>
        <p:spPr/>
        <p:txBody>
          <a:bodyPr/>
          <a:lstStyle/>
          <a:p>
            <a:fld id="{9E1AC29F-167E-408E-8190-566AA8CE9AAE}" type="slidenum">
              <a:rPr lang="zh-CN" altLang="en-US" smtClean="0"/>
              <a:t>6</a:t>
            </a:fld>
            <a:endParaRPr lang="zh-CN" altLang="en-US"/>
          </a:p>
        </p:txBody>
      </p:sp>
    </p:spTree>
    <p:extLst>
      <p:ext uri="{BB962C8B-B14F-4D97-AF65-F5344CB8AC3E}">
        <p14:creationId xmlns:p14="http://schemas.microsoft.com/office/powerpoint/2010/main" val="317502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96643-E1A5-BC55-0123-005CB32B7FB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F5531F-8459-364A-6C88-B6239938BC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79DCA1-4C80-93DB-C91C-7497DCBAEB6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92EB5F7-0A2B-23AB-3626-39C0B3C05EBA}"/>
              </a:ext>
            </a:extLst>
          </p:cNvPr>
          <p:cNvSpPr>
            <a:spLocks noGrp="1"/>
          </p:cNvSpPr>
          <p:nvPr>
            <p:ph type="sldNum" sz="quarter" idx="10"/>
          </p:nvPr>
        </p:nvSpPr>
        <p:spPr/>
        <p:txBody>
          <a:bodyPr/>
          <a:lstStyle/>
          <a:p>
            <a:fld id="{9E1AC29F-167E-408E-8190-566AA8CE9AAE}" type="slidenum">
              <a:rPr lang="zh-CN" altLang="en-US" smtClean="0"/>
              <a:t>7</a:t>
            </a:fld>
            <a:endParaRPr lang="zh-CN" altLang="en-US"/>
          </a:p>
        </p:txBody>
      </p:sp>
    </p:spTree>
    <p:extLst>
      <p:ext uri="{BB962C8B-B14F-4D97-AF65-F5344CB8AC3E}">
        <p14:creationId xmlns:p14="http://schemas.microsoft.com/office/powerpoint/2010/main" val="27554429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BB65A-817D-5DA1-3159-20F24BFA1D8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2D56BD8-F743-5C44-094C-53DDF7FA177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C717F11-7073-4A4B-8FB4-82E25DD5B1B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131AB41-ED51-64D7-12FA-9199823C435C}"/>
              </a:ext>
            </a:extLst>
          </p:cNvPr>
          <p:cNvSpPr>
            <a:spLocks noGrp="1"/>
          </p:cNvSpPr>
          <p:nvPr>
            <p:ph type="sldNum" sz="quarter" idx="10"/>
          </p:nvPr>
        </p:nvSpPr>
        <p:spPr/>
        <p:txBody>
          <a:bodyPr/>
          <a:lstStyle/>
          <a:p>
            <a:fld id="{9E1AC29F-167E-408E-8190-566AA8CE9AAE}" type="slidenum">
              <a:rPr lang="zh-CN" altLang="en-US" smtClean="0"/>
              <a:t>8</a:t>
            </a:fld>
            <a:endParaRPr lang="zh-CN" altLang="en-US"/>
          </a:p>
        </p:txBody>
      </p:sp>
    </p:spTree>
    <p:extLst>
      <p:ext uri="{BB962C8B-B14F-4D97-AF65-F5344CB8AC3E}">
        <p14:creationId xmlns:p14="http://schemas.microsoft.com/office/powerpoint/2010/main" val="2397727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22B60-8A0F-5061-7B9B-EACB567F00A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B34705-FDE0-0D37-ABAF-9B51124439E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C6AEE66-39F4-07F0-4947-DC1511A5F86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75A5D7D-A86C-418E-5932-3ED64C4E8234}"/>
              </a:ext>
            </a:extLst>
          </p:cNvPr>
          <p:cNvSpPr>
            <a:spLocks noGrp="1"/>
          </p:cNvSpPr>
          <p:nvPr>
            <p:ph type="sldNum" sz="quarter" idx="10"/>
          </p:nvPr>
        </p:nvSpPr>
        <p:spPr/>
        <p:txBody>
          <a:bodyPr/>
          <a:lstStyle/>
          <a:p>
            <a:fld id="{9E1AC29F-167E-408E-8190-566AA8CE9AAE}" type="slidenum">
              <a:rPr lang="zh-CN" altLang="en-US" smtClean="0"/>
              <a:t>9</a:t>
            </a:fld>
            <a:endParaRPr lang="zh-CN" altLang="en-US"/>
          </a:p>
        </p:txBody>
      </p:sp>
    </p:spTree>
    <p:extLst>
      <p:ext uri="{BB962C8B-B14F-4D97-AF65-F5344CB8AC3E}">
        <p14:creationId xmlns:p14="http://schemas.microsoft.com/office/powerpoint/2010/main" val="2765642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914F5-FD9E-36F0-5B64-F78CAEEDA8F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99B18E-4A97-E92A-7DBB-3BB8EDB64FF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6A69DDE-232D-7ABB-997C-88C4931FB66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0B43ACC-6853-5417-0356-E315AAF4C8CB}"/>
              </a:ext>
            </a:extLst>
          </p:cNvPr>
          <p:cNvSpPr>
            <a:spLocks noGrp="1"/>
          </p:cNvSpPr>
          <p:nvPr>
            <p:ph type="sldNum" sz="quarter" idx="10"/>
          </p:nvPr>
        </p:nvSpPr>
        <p:spPr/>
        <p:txBody>
          <a:bodyPr/>
          <a:lstStyle/>
          <a:p>
            <a:fld id="{9E1AC29F-167E-408E-8190-566AA8CE9AAE}" type="slidenum">
              <a:rPr lang="zh-CN" altLang="en-US" smtClean="0"/>
              <a:t>10</a:t>
            </a:fld>
            <a:endParaRPr lang="zh-CN" altLang="en-US"/>
          </a:p>
        </p:txBody>
      </p:sp>
    </p:spTree>
    <p:extLst>
      <p:ext uri="{BB962C8B-B14F-4D97-AF65-F5344CB8AC3E}">
        <p14:creationId xmlns:p14="http://schemas.microsoft.com/office/powerpoint/2010/main" val="9499642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9A514-CFA2-E562-BB76-0C585C050EB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8E20B1-D939-B9C0-A46F-4D97C780351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9F8AC7D-FC05-B149-6AE3-8DBB76F7C46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5FE9FF3-0120-68F3-55E3-0451E020B13B}"/>
              </a:ext>
            </a:extLst>
          </p:cNvPr>
          <p:cNvSpPr>
            <a:spLocks noGrp="1"/>
          </p:cNvSpPr>
          <p:nvPr>
            <p:ph type="sldNum" sz="quarter" idx="10"/>
          </p:nvPr>
        </p:nvSpPr>
        <p:spPr/>
        <p:txBody>
          <a:bodyPr/>
          <a:lstStyle/>
          <a:p>
            <a:fld id="{9E1AC29F-167E-408E-8190-566AA8CE9AAE}" type="slidenum">
              <a:rPr lang="zh-CN" altLang="en-US" smtClean="0"/>
              <a:t>11</a:t>
            </a:fld>
            <a:endParaRPr lang="zh-CN" altLang="en-US"/>
          </a:p>
        </p:txBody>
      </p:sp>
    </p:spTree>
    <p:extLst>
      <p:ext uri="{BB962C8B-B14F-4D97-AF65-F5344CB8AC3E}">
        <p14:creationId xmlns:p14="http://schemas.microsoft.com/office/powerpoint/2010/main" val="337167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7ACFA-7F70-A8AB-BF04-E28B406D31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38770E-EFC4-AF90-E740-ABB32A4BA18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4D7D3B1-3509-291F-2BA8-6982A5EC067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024B862-9691-D6F5-85D0-5ED40FE00E71}"/>
              </a:ext>
            </a:extLst>
          </p:cNvPr>
          <p:cNvSpPr>
            <a:spLocks noGrp="1"/>
          </p:cNvSpPr>
          <p:nvPr>
            <p:ph type="sldNum" sz="quarter" idx="10"/>
          </p:nvPr>
        </p:nvSpPr>
        <p:spPr/>
        <p:txBody>
          <a:bodyPr/>
          <a:lstStyle/>
          <a:p>
            <a:fld id="{9E1AC29F-167E-408E-8190-566AA8CE9AAE}" type="slidenum">
              <a:rPr lang="zh-CN" altLang="en-US" smtClean="0"/>
              <a:t>12</a:t>
            </a:fld>
            <a:endParaRPr lang="zh-CN" altLang="en-US"/>
          </a:p>
        </p:txBody>
      </p:sp>
    </p:spTree>
    <p:extLst>
      <p:ext uri="{BB962C8B-B14F-4D97-AF65-F5344CB8AC3E}">
        <p14:creationId xmlns:p14="http://schemas.microsoft.com/office/powerpoint/2010/main" val="21498527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C964A-6AA9-1AE1-2229-44FD9264A5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F1DAD86-D696-D3DF-8AEB-78F4A481B0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1FB773-D190-0171-B1DD-361C76C7CCB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2EBC4B6-6456-D39A-62BD-E12694A2C590}"/>
              </a:ext>
            </a:extLst>
          </p:cNvPr>
          <p:cNvSpPr>
            <a:spLocks noGrp="1"/>
          </p:cNvSpPr>
          <p:nvPr>
            <p:ph type="sldNum" sz="quarter" idx="10"/>
          </p:nvPr>
        </p:nvSpPr>
        <p:spPr/>
        <p:txBody>
          <a:bodyPr/>
          <a:lstStyle/>
          <a:p>
            <a:fld id="{9E1AC29F-167E-408E-8190-566AA8CE9AAE}" type="slidenum">
              <a:rPr lang="zh-CN" altLang="en-US" smtClean="0"/>
              <a:t>13</a:t>
            </a:fld>
            <a:endParaRPr lang="zh-CN" altLang="en-US"/>
          </a:p>
        </p:txBody>
      </p:sp>
    </p:spTree>
    <p:extLst>
      <p:ext uri="{BB962C8B-B14F-4D97-AF65-F5344CB8AC3E}">
        <p14:creationId xmlns:p14="http://schemas.microsoft.com/office/powerpoint/2010/main" val="3119887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8CD98-849D-EE36-C9B3-1CD2EE8871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244F6F-C7F9-94F9-6A85-5D9107FECFA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16B66A2-BA39-A6A7-1261-5A585516926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18D910C-6DDF-12A9-8C75-B41BCCE084B2}"/>
              </a:ext>
            </a:extLst>
          </p:cNvPr>
          <p:cNvSpPr>
            <a:spLocks noGrp="1"/>
          </p:cNvSpPr>
          <p:nvPr>
            <p:ph type="sldNum" sz="quarter" idx="10"/>
          </p:nvPr>
        </p:nvSpPr>
        <p:spPr/>
        <p:txBody>
          <a:bodyPr/>
          <a:lstStyle/>
          <a:p>
            <a:fld id="{9E1AC29F-167E-408E-8190-566AA8CE9AAE}" type="slidenum">
              <a:rPr lang="zh-CN" altLang="en-US" smtClean="0"/>
              <a:t>14</a:t>
            </a:fld>
            <a:endParaRPr lang="zh-CN" altLang="en-US"/>
          </a:p>
        </p:txBody>
      </p:sp>
    </p:spTree>
    <p:extLst>
      <p:ext uri="{BB962C8B-B14F-4D97-AF65-F5344CB8AC3E}">
        <p14:creationId xmlns:p14="http://schemas.microsoft.com/office/powerpoint/2010/main" val="25181472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5A2B1-EA89-597B-FDF2-ADCCFE3D4E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B7C70B5-1B52-CF74-4916-47EA7D37B1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2EEF205-BA16-0016-E0F5-8FC349ABC9C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64872BF-15AA-238B-E969-26D847419443}"/>
              </a:ext>
            </a:extLst>
          </p:cNvPr>
          <p:cNvSpPr>
            <a:spLocks noGrp="1"/>
          </p:cNvSpPr>
          <p:nvPr>
            <p:ph type="sldNum" sz="quarter" idx="10"/>
          </p:nvPr>
        </p:nvSpPr>
        <p:spPr/>
        <p:txBody>
          <a:bodyPr/>
          <a:lstStyle/>
          <a:p>
            <a:fld id="{569A8206-4F6D-4A56-AEC2-C9DAEE2DA8B3}" type="slidenum">
              <a:rPr lang="zh-CN" altLang="en-US" smtClean="0">
                <a:solidFill>
                  <a:prstClr val="black"/>
                </a:solidFill>
              </a:rPr>
              <a:pPr/>
              <a:t>15</a:t>
            </a:fld>
            <a:endParaRPr lang="zh-CN" altLang="en-US">
              <a:solidFill>
                <a:prstClr val="black"/>
              </a:solidFill>
            </a:endParaRPr>
          </a:p>
        </p:txBody>
      </p:sp>
    </p:spTree>
    <p:extLst>
      <p:ext uri="{BB962C8B-B14F-4D97-AF65-F5344CB8AC3E}">
        <p14:creationId xmlns:p14="http://schemas.microsoft.com/office/powerpoint/2010/main" val="1789080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D2312B-9FFF-A93E-DF1A-F6B625EBCAB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2749676-97AA-2AAD-9DA9-0F7E00C99D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F51A816-D79C-C38D-1805-82DE7B15256B}"/>
              </a:ext>
            </a:extLst>
          </p:cNvPr>
          <p:cNvSpPr>
            <a:spLocks noGrp="1"/>
          </p:cNvSpPr>
          <p:nvPr>
            <p:ph type="dt" sz="half" idx="10"/>
          </p:nvPr>
        </p:nvSpPr>
        <p:spPr/>
        <p:txBody>
          <a:bodyPr/>
          <a:lstStyle/>
          <a:p>
            <a:fld id="{416629E5-7046-4795-9181-FABCCC7120BC}" type="datetimeFigureOut">
              <a:rPr lang="zh-CN" altLang="en-US" smtClean="0"/>
              <a:t>2026/4/22</a:t>
            </a:fld>
            <a:endParaRPr lang="zh-CN" altLang="en-US"/>
          </a:p>
        </p:txBody>
      </p:sp>
      <p:sp>
        <p:nvSpPr>
          <p:cNvPr id="5" name="页脚占位符 4">
            <a:extLst>
              <a:ext uri="{FF2B5EF4-FFF2-40B4-BE49-F238E27FC236}">
                <a16:creationId xmlns:a16="http://schemas.microsoft.com/office/drawing/2014/main" id="{500490F7-C745-7526-236C-013DBBA9A30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3ED6270-98D5-60EE-7C97-0345A5B1F626}"/>
              </a:ext>
            </a:extLst>
          </p:cNvPr>
          <p:cNvSpPr>
            <a:spLocks noGrp="1"/>
          </p:cNvSpPr>
          <p:nvPr>
            <p:ph type="sldNum" sz="quarter" idx="12"/>
          </p:nvPr>
        </p:nvSpPr>
        <p:spPr/>
        <p:txBody>
          <a:bodyPr/>
          <a:lstStyle/>
          <a:p>
            <a:fld id="{CF9BA198-8A17-40AC-825C-151EB7E08862}" type="slidenum">
              <a:rPr lang="zh-CN" altLang="en-US" smtClean="0"/>
              <a:t>‹#›</a:t>
            </a:fld>
            <a:endParaRPr lang="zh-CN" altLang="en-US"/>
          </a:p>
        </p:txBody>
      </p:sp>
    </p:spTree>
    <p:extLst>
      <p:ext uri="{BB962C8B-B14F-4D97-AF65-F5344CB8AC3E}">
        <p14:creationId xmlns:p14="http://schemas.microsoft.com/office/powerpoint/2010/main" val="2893329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69CB69-8014-D7FC-575F-E105277CF49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E33FC32-A6C2-C73D-813B-363B888FB0E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69FC112-0EDD-8022-02B6-7304756215C0}"/>
              </a:ext>
            </a:extLst>
          </p:cNvPr>
          <p:cNvSpPr>
            <a:spLocks noGrp="1"/>
          </p:cNvSpPr>
          <p:nvPr>
            <p:ph type="dt" sz="half" idx="10"/>
          </p:nvPr>
        </p:nvSpPr>
        <p:spPr/>
        <p:txBody>
          <a:bodyPr/>
          <a:lstStyle/>
          <a:p>
            <a:fld id="{416629E5-7046-4795-9181-FABCCC7120BC}" type="datetimeFigureOut">
              <a:rPr lang="zh-CN" altLang="en-US" smtClean="0"/>
              <a:t>2026/4/22</a:t>
            </a:fld>
            <a:endParaRPr lang="zh-CN" altLang="en-US"/>
          </a:p>
        </p:txBody>
      </p:sp>
      <p:sp>
        <p:nvSpPr>
          <p:cNvPr id="5" name="页脚占位符 4">
            <a:extLst>
              <a:ext uri="{FF2B5EF4-FFF2-40B4-BE49-F238E27FC236}">
                <a16:creationId xmlns:a16="http://schemas.microsoft.com/office/drawing/2014/main" id="{13EADD4B-153F-2ADD-0422-3D5B09291A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7F459D7-C5C1-1583-ACD5-F865146BE115}"/>
              </a:ext>
            </a:extLst>
          </p:cNvPr>
          <p:cNvSpPr>
            <a:spLocks noGrp="1"/>
          </p:cNvSpPr>
          <p:nvPr>
            <p:ph type="sldNum" sz="quarter" idx="12"/>
          </p:nvPr>
        </p:nvSpPr>
        <p:spPr/>
        <p:txBody>
          <a:bodyPr/>
          <a:lstStyle/>
          <a:p>
            <a:fld id="{CF9BA198-8A17-40AC-825C-151EB7E08862}" type="slidenum">
              <a:rPr lang="zh-CN" altLang="en-US" smtClean="0"/>
              <a:t>‹#›</a:t>
            </a:fld>
            <a:endParaRPr lang="zh-CN" altLang="en-US"/>
          </a:p>
        </p:txBody>
      </p:sp>
    </p:spTree>
    <p:extLst>
      <p:ext uri="{BB962C8B-B14F-4D97-AF65-F5344CB8AC3E}">
        <p14:creationId xmlns:p14="http://schemas.microsoft.com/office/powerpoint/2010/main" val="2052437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3C27F7-5C51-2426-B3ED-BC2837C45B6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186680C-BDE6-7230-13D7-F8FDE9C250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D41721C-8EF9-6574-7ED2-C03150BA6BC4}"/>
              </a:ext>
            </a:extLst>
          </p:cNvPr>
          <p:cNvSpPr>
            <a:spLocks noGrp="1"/>
          </p:cNvSpPr>
          <p:nvPr>
            <p:ph type="dt" sz="half" idx="10"/>
          </p:nvPr>
        </p:nvSpPr>
        <p:spPr/>
        <p:txBody>
          <a:bodyPr/>
          <a:lstStyle/>
          <a:p>
            <a:fld id="{416629E5-7046-4795-9181-FABCCC7120BC}" type="datetimeFigureOut">
              <a:rPr lang="zh-CN" altLang="en-US" smtClean="0"/>
              <a:t>2026/4/22</a:t>
            </a:fld>
            <a:endParaRPr lang="zh-CN" altLang="en-US"/>
          </a:p>
        </p:txBody>
      </p:sp>
      <p:sp>
        <p:nvSpPr>
          <p:cNvPr id="5" name="页脚占位符 4">
            <a:extLst>
              <a:ext uri="{FF2B5EF4-FFF2-40B4-BE49-F238E27FC236}">
                <a16:creationId xmlns:a16="http://schemas.microsoft.com/office/drawing/2014/main" id="{1E24683E-BB7E-7F4F-6187-E231C6B5950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628E9B4-1D09-AC58-0B5C-A2E94BD165EA}"/>
              </a:ext>
            </a:extLst>
          </p:cNvPr>
          <p:cNvSpPr>
            <a:spLocks noGrp="1"/>
          </p:cNvSpPr>
          <p:nvPr>
            <p:ph type="sldNum" sz="quarter" idx="12"/>
          </p:nvPr>
        </p:nvSpPr>
        <p:spPr/>
        <p:txBody>
          <a:bodyPr/>
          <a:lstStyle/>
          <a:p>
            <a:fld id="{CF9BA198-8A17-40AC-825C-151EB7E08862}" type="slidenum">
              <a:rPr lang="zh-CN" altLang="en-US" smtClean="0"/>
              <a:t>‹#›</a:t>
            </a:fld>
            <a:endParaRPr lang="zh-CN" altLang="en-US"/>
          </a:p>
        </p:txBody>
      </p:sp>
    </p:spTree>
    <p:extLst>
      <p:ext uri="{BB962C8B-B14F-4D97-AF65-F5344CB8AC3E}">
        <p14:creationId xmlns:p14="http://schemas.microsoft.com/office/powerpoint/2010/main" val="2914921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4C8897-59B4-2217-E027-5F189C2D563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D5E27AC-F260-5C85-6091-10127E1F2D9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6E130C4-E05A-9339-07D2-3BD23388B24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8A98F68-05F8-7C1A-1071-E5BE26B83C5B}"/>
              </a:ext>
            </a:extLst>
          </p:cNvPr>
          <p:cNvSpPr>
            <a:spLocks noGrp="1"/>
          </p:cNvSpPr>
          <p:nvPr>
            <p:ph type="dt" sz="half" idx="10"/>
          </p:nvPr>
        </p:nvSpPr>
        <p:spPr/>
        <p:txBody>
          <a:bodyPr/>
          <a:lstStyle/>
          <a:p>
            <a:fld id="{416629E5-7046-4795-9181-FABCCC7120BC}" type="datetimeFigureOut">
              <a:rPr lang="zh-CN" altLang="en-US" smtClean="0"/>
              <a:t>2026/4/22</a:t>
            </a:fld>
            <a:endParaRPr lang="zh-CN" altLang="en-US"/>
          </a:p>
        </p:txBody>
      </p:sp>
      <p:sp>
        <p:nvSpPr>
          <p:cNvPr id="6" name="页脚占位符 5">
            <a:extLst>
              <a:ext uri="{FF2B5EF4-FFF2-40B4-BE49-F238E27FC236}">
                <a16:creationId xmlns:a16="http://schemas.microsoft.com/office/drawing/2014/main" id="{1426558C-7B02-47F8-75F8-E65A8FBBD4F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ACC6C4F-4A6A-F882-B91A-FB2D07CD67DE}"/>
              </a:ext>
            </a:extLst>
          </p:cNvPr>
          <p:cNvSpPr>
            <a:spLocks noGrp="1"/>
          </p:cNvSpPr>
          <p:nvPr>
            <p:ph type="sldNum" sz="quarter" idx="12"/>
          </p:nvPr>
        </p:nvSpPr>
        <p:spPr/>
        <p:txBody>
          <a:bodyPr/>
          <a:lstStyle/>
          <a:p>
            <a:fld id="{CF9BA198-8A17-40AC-825C-151EB7E08862}" type="slidenum">
              <a:rPr lang="zh-CN" altLang="en-US" smtClean="0"/>
              <a:t>‹#›</a:t>
            </a:fld>
            <a:endParaRPr lang="zh-CN" altLang="en-US"/>
          </a:p>
        </p:txBody>
      </p:sp>
    </p:spTree>
    <p:extLst>
      <p:ext uri="{BB962C8B-B14F-4D97-AF65-F5344CB8AC3E}">
        <p14:creationId xmlns:p14="http://schemas.microsoft.com/office/powerpoint/2010/main" val="933908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A7789C-DE4F-C1E0-96F5-A85F0EAC65E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35FF3AD-89F0-1235-62A4-7FCAE83EE6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8714592-D4AD-7B83-9483-4BE83F18402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BE4D119-E992-BA03-5C45-0E54D17D05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1779A91-9BDF-1FBB-EF65-7BEBB98400F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9550CCF-0E2C-A8F3-018B-7E9B930FF678}"/>
              </a:ext>
            </a:extLst>
          </p:cNvPr>
          <p:cNvSpPr>
            <a:spLocks noGrp="1"/>
          </p:cNvSpPr>
          <p:nvPr>
            <p:ph type="dt" sz="half" idx="10"/>
          </p:nvPr>
        </p:nvSpPr>
        <p:spPr/>
        <p:txBody>
          <a:bodyPr/>
          <a:lstStyle/>
          <a:p>
            <a:fld id="{416629E5-7046-4795-9181-FABCCC7120BC}" type="datetimeFigureOut">
              <a:rPr lang="zh-CN" altLang="en-US" smtClean="0"/>
              <a:t>2026/4/22</a:t>
            </a:fld>
            <a:endParaRPr lang="zh-CN" altLang="en-US"/>
          </a:p>
        </p:txBody>
      </p:sp>
      <p:sp>
        <p:nvSpPr>
          <p:cNvPr id="8" name="页脚占位符 7">
            <a:extLst>
              <a:ext uri="{FF2B5EF4-FFF2-40B4-BE49-F238E27FC236}">
                <a16:creationId xmlns:a16="http://schemas.microsoft.com/office/drawing/2014/main" id="{CABA3AD7-701D-3E15-F358-9A59FC416DA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3D51E8A-1966-A2FB-0ABF-EC4D5B6BB1FC}"/>
              </a:ext>
            </a:extLst>
          </p:cNvPr>
          <p:cNvSpPr>
            <a:spLocks noGrp="1"/>
          </p:cNvSpPr>
          <p:nvPr>
            <p:ph type="sldNum" sz="quarter" idx="12"/>
          </p:nvPr>
        </p:nvSpPr>
        <p:spPr/>
        <p:txBody>
          <a:bodyPr/>
          <a:lstStyle/>
          <a:p>
            <a:fld id="{CF9BA198-8A17-40AC-825C-151EB7E08862}" type="slidenum">
              <a:rPr lang="zh-CN" altLang="en-US" smtClean="0"/>
              <a:t>‹#›</a:t>
            </a:fld>
            <a:endParaRPr lang="zh-CN" altLang="en-US"/>
          </a:p>
        </p:txBody>
      </p:sp>
    </p:spTree>
    <p:extLst>
      <p:ext uri="{BB962C8B-B14F-4D97-AF65-F5344CB8AC3E}">
        <p14:creationId xmlns:p14="http://schemas.microsoft.com/office/powerpoint/2010/main" val="1230456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117DD3-9636-6A37-84FB-C1D7E7C222C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30CA565-7D24-617F-B830-4FE3DAFAD58C}"/>
              </a:ext>
            </a:extLst>
          </p:cNvPr>
          <p:cNvSpPr>
            <a:spLocks noGrp="1"/>
          </p:cNvSpPr>
          <p:nvPr>
            <p:ph type="dt" sz="half" idx="10"/>
          </p:nvPr>
        </p:nvSpPr>
        <p:spPr/>
        <p:txBody>
          <a:bodyPr/>
          <a:lstStyle/>
          <a:p>
            <a:fld id="{416629E5-7046-4795-9181-FABCCC7120BC}" type="datetimeFigureOut">
              <a:rPr lang="zh-CN" altLang="en-US" smtClean="0"/>
              <a:t>2026/4/22</a:t>
            </a:fld>
            <a:endParaRPr lang="zh-CN" altLang="en-US"/>
          </a:p>
        </p:txBody>
      </p:sp>
      <p:sp>
        <p:nvSpPr>
          <p:cNvPr id="4" name="页脚占位符 3">
            <a:extLst>
              <a:ext uri="{FF2B5EF4-FFF2-40B4-BE49-F238E27FC236}">
                <a16:creationId xmlns:a16="http://schemas.microsoft.com/office/drawing/2014/main" id="{12DFA1F5-4CAF-6224-A558-204370F1E57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B6D8504-6F43-FAC4-2C56-E4E33A61966F}"/>
              </a:ext>
            </a:extLst>
          </p:cNvPr>
          <p:cNvSpPr>
            <a:spLocks noGrp="1"/>
          </p:cNvSpPr>
          <p:nvPr>
            <p:ph type="sldNum" sz="quarter" idx="12"/>
          </p:nvPr>
        </p:nvSpPr>
        <p:spPr/>
        <p:txBody>
          <a:bodyPr/>
          <a:lstStyle/>
          <a:p>
            <a:fld id="{CF9BA198-8A17-40AC-825C-151EB7E08862}" type="slidenum">
              <a:rPr lang="zh-CN" altLang="en-US" smtClean="0"/>
              <a:t>‹#›</a:t>
            </a:fld>
            <a:endParaRPr lang="zh-CN" altLang="en-US"/>
          </a:p>
        </p:txBody>
      </p:sp>
    </p:spTree>
    <p:extLst>
      <p:ext uri="{BB962C8B-B14F-4D97-AF65-F5344CB8AC3E}">
        <p14:creationId xmlns:p14="http://schemas.microsoft.com/office/powerpoint/2010/main" val="2009756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8A05EE8-F3D7-DF05-6128-08A6C6EA86EF}"/>
              </a:ext>
            </a:extLst>
          </p:cNvPr>
          <p:cNvSpPr>
            <a:spLocks noGrp="1"/>
          </p:cNvSpPr>
          <p:nvPr>
            <p:ph type="dt" sz="half" idx="10"/>
          </p:nvPr>
        </p:nvSpPr>
        <p:spPr/>
        <p:txBody>
          <a:bodyPr/>
          <a:lstStyle/>
          <a:p>
            <a:fld id="{416629E5-7046-4795-9181-FABCCC7120BC}" type="datetimeFigureOut">
              <a:rPr lang="zh-CN" altLang="en-US" smtClean="0"/>
              <a:t>2026/4/22</a:t>
            </a:fld>
            <a:endParaRPr lang="zh-CN" altLang="en-US"/>
          </a:p>
        </p:txBody>
      </p:sp>
      <p:sp>
        <p:nvSpPr>
          <p:cNvPr id="3" name="页脚占位符 2">
            <a:extLst>
              <a:ext uri="{FF2B5EF4-FFF2-40B4-BE49-F238E27FC236}">
                <a16:creationId xmlns:a16="http://schemas.microsoft.com/office/drawing/2014/main" id="{A339C73A-024C-6A8D-2D4B-F59973F2BC6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3E7D6BA-6B76-E782-F35D-1FED288E42C9}"/>
              </a:ext>
            </a:extLst>
          </p:cNvPr>
          <p:cNvSpPr>
            <a:spLocks noGrp="1"/>
          </p:cNvSpPr>
          <p:nvPr>
            <p:ph type="sldNum" sz="quarter" idx="12"/>
          </p:nvPr>
        </p:nvSpPr>
        <p:spPr/>
        <p:txBody>
          <a:bodyPr/>
          <a:lstStyle/>
          <a:p>
            <a:fld id="{CF9BA198-8A17-40AC-825C-151EB7E08862}" type="slidenum">
              <a:rPr lang="zh-CN" altLang="en-US" smtClean="0"/>
              <a:t>‹#›</a:t>
            </a:fld>
            <a:endParaRPr lang="zh-CN" altLang="en-US"/>
          </a:p>
        </p:txBody>
      </p:sp>
    </p:spTree>
    <p:extLst>
      <p:ext uri="{BB962C8B-B14F-4D97-AF65-F5344CB8AC3E}">
        <p14:creationId xmlns:p14="http://schemas.microsoft.com/office/powerpoint/2010/main" val="1116275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3149F-28AC-CDA9-B56D-748E82B1E1E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76C87A1-E77C-A41A-517D-7F09BB3D2B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CACEBD0-528B-91EC-D59C-8624A36721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03DA989-9EC6-3B77-2670-B8549B58437C}"/>
              </a:ext>
            </a:extLst>
          </p:cNvPr>
          <p:cNvSpPr>
            <a:spLocks noGrp="1"/>
          </p:cNvSpPr>
          <p:nvPr>
            <p:ph type="dt" sz="half" idx="10"/>
          </p:nvPr>
        </p:nvSpPr>
        <p:spPr/>
        <p:txBody>
          <a:bodyPr/>
          <a:lstStyle/>
          <a:p>
            <a:fld id="{416629E5-7046-4795-9181-FABCCC7120BC}" type="datetimeFigureOut">
              <a:rPr lang="zh-CN" altLang="en-US" smtClean="0"/>
              <a:t>2026/4/22</a:t>
            </a:fld>
            <a:endParaRPr lang="zh-CN" altLang="en-US"/>
          </a:p>
        </p:txBody>
      </p:sp>
      <p:sp>
        <p:nvSpPr>
          <p:cNvPr id="6" name="页脚占位符 5">
            <a:extLst>
              <a:ext uri="{FF2B5EF4-FFF2-40B4-BE49-F238E27FC236}">
                <a16:creationId xmlns:a16="http://schemas.microsoft.com/office/drawing/2014/main" id="{076AAA3F-24CC-E8DE-C701-366DEC303F6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B09F115-50D4-E925-7A1F-208C5C34AFB3}"/>
              </a:ext>
            </a:extLst>
          </p:cNvPr>
          <p:cNvSpPr>
            <a:spLocks noGrp="1"/>
          </p:cNvSpPr>
          <p:nvPr>
            <p:ph type="sldNum" sz="quarter" idx="12"/>
          </p:nvPr>
        </p:nvSpPr>
        <p:spPr/>
        <p:txBody>
          <a:bodyPr/>
          <a:lstStyle/>
          <a:p>
            <a:fld id="{CF9BA198-8A17-40AC-825C-151EB7E08862}" type="slidenum">
              <a:rPr lang="zh-CN" altLang="en-US" smtClean="0"/>
              <a:t>‹#›</a:t>
            </a:fld>
            <a:endParaRPr lang="zh-CN" altLang="en-US"/>
          </a:p>
        </p:txBody>
      </p:sp>
    </p:spTree>
    <p:extLst>
      <p:ext uri="{BB962C8B-B14F-4D97-AF65-F5344CB8AC3E}">
        <p14:creationId xmlns:p14="http://schemas.microsoft.com/office/powerpoint/2010/main" val="3951606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AB981E-EE86-DD3A-E595-B428CDAB070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CFCB9BB-3B10-8441-A3AE-1CA756A58C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5641234-4207-03C1-EFEC-8A2909B533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227D838-4FCB-AEC8-D247-7146FA0E1A88}"/>
              </a:ext>
            </a:extLst>
          </p:cNvPr>
          <p:cNvSpPr>
            <a:spLocks noGrp="1"/>
          </p:cNvSpPr>
          <p:nvPr>
            <p:ph type="dt" sz="half" idx="10"/>
          </p:nvPr>
        </p:nvSpPr>
        <p:spPr/>
        <p:txBody>
          <a:bodyPr/>
          <a:lstStyle/>
          <a:p>
            <a:fld id="{416629E5-7046-4795-9181-FABCCC7120BC}" type="datetimeFigureOut">
              <a:rPr lang="zh-CN" altLang="en-US" smtClean="0"/>
              <a:t>2026/4/22</a:t>
            </a:fld>
            <a:endParaRPr lang="zh-CN" altLang="en-US"/>
          </a:p>
        </p:txBody>
      </p:sp>
      <p:sp>
        <p:nvSpPr>
          <p:cNvPr id="6" name="页脚占位符 5">
            <a:extLst>
              <a:ext uri="{FF2B5EF4-FFF2-40B4-BE49-F238E27FC236}">
                <a16:creationId xmlns:a16="http://schemas.microsoft.com/office/drawing/2014/main" id="{820CB032-A2C4-FF46-9A61-C9501B190C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54D6862-6B8F-8777-519C-06490B53157E}"/>
              </a:ext>
            </a:extLst>
          </p:cNvPr>
          <p:cNvSpPr>
            <a:spLocks noGrp="1"/>
          </p:cNvSpPr>
          <p:nvPr>
            <p:ph type="sldNum" sz="quarter" idx="12"/>
          </p:nvPr>
        </p:nvSpPr>
        <p:spPr/>
        <p:txBody>
          <a:bodyPr/>
          <a:lstStyle/>
          <a:p>
            <a:fld id="{CF9BA198-8A17-40AC-825C-151EB7E08862}" type="slidenum">
              <a:rPr lang="zh-CN" altLang="en-US" smtClean="0"/>
              <a:t>‹#›</a:t>
            </a:fld>
            <a:endParaRPr lang="zh-CN" altLang="en-US"/>
          </a:p>
        </p:txBody>
      </p:sp>
    </p:spTree>
    <p:extLst>
      <p:ext uri="{BB962C8B-B14F-4D97-AF65-F5344CB8AC3E}">
        <p14:creationId xmlns:p14="http://schemas.microsoft.com/office/powerpoint/2010/main" val="3135358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EBEA2F-4675-03EB-682D-E870E4B7E51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9C9765A-BECE-71E5-93CF-46237423C8A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74062AB-2426-C5C6-CDB5-21C17BCA766C}"/>
              </a:ext>
            </a:extLst>
          </p:cNvPr>
          <p:cNvSpPr>
            <a:spLocks noGrp="1"/>
          </p:cNvSpPr>
          <p:nvPr>
            <p:ph type="dt" sz="half" idx="10"/>
          </p:nvPr>
        </p:nvSpPr>
        <p:spPr/>
        <p:txBody>
          <a:bodyPr/>
          <a:lstStyle/>
          <a:p>
            <a:fld id="{416629E5-7046-4795-9181-FABCCC7120BC}" type="datetimeFigureOut">
              <a:rPr lang="zh-CN" altLang="en-US" smtClean="0"/>
              <a:t>2026/4/22</a:t>
            </a:fld>
            <a:endParaRPr lang="zh-CN" altLang="en-US"/>
          </a:p>
        </p:txBody>
      </p:sp>
      <p:sp>
        <p:nvSpPr>
          <p:cNvPr id="5" name="页脚占位符 4">
            <a:extLst>
              <a:ext uri="{FF2B5EF4-FFF2-40B4-BE49-F238E27FC236}">
                <a16:creationId xmlns:a16="http://schemas.microsoft.com/office/drawing/2014/main" id="{F062BAA0-9817-1137-2F28-26501460D23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C613010-58E3-6B50-DCC3-E0E2FBAC0A48}"/>
              </a:ext>
            </a:extLst>
          </p:cNvPr>
          <p:cNvSpPr>
            <a:spLocks noGrp="1"/>
          </p:cNvSpPr>
          <p:nvPr>
            <p:ph type="sldNum" sz="quarter" idx="12"/>
          </p:nvPr>
        </p:nvSpPr>
        <p:spPr/>
        <p:txBody>
          <a:bodyPr/>
          <a:lstStyle/>
          <a:p>
            <a:fld id="{CF9BA198-8A17-40AC-825C-151EB7E08862}" type="slidenum">
              <a:rPr lang="zh-CN" altLang="en-US" smtClean="0"/>
              <a:t>‹#›</a:t>
            </a:fld>
            <a:endParaRPr lang="zh-CN" altLang="en-US"/>
          </a:p>
        </p:txBody>
      </p:sp>
    </p:spTree>
    <p:extLst>
      <p:ext uri="{BB962C8B-B14F-4D97-AF65-F5344CB8AC3E}">
        <p14:creationId xmlns:p14="http://schemas.microsoft.com/office/powerpoint/2010/main" val="1958176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325B669-7C4C-30CC-34F0-8823D0597AC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5C01D96-699B-C86E-2EA4-00D68106478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ABE15DA-B109-5A51-C96D-C7BAEC0B3B24}"/>
              </a:ext>
            </a:extLst>
          </p:cNvPr>
          <p:cNvSpPr>
            <a:spLocks noGrp="1"/>
          </p:cNvSpPr>
          <p:nvPr>
            <p:ph type="dt" sz="half" idx="10"/>
          </p:nvPr>
        </p:nvSpPr>
        <p:spPr/>
        <p:txBody>
          <a:bodyPr/>
          <a:lstStyle/>
          <a:p>
            <a:fld id="{416629E5-7046-4795-9181-FABCCC7120BC}" type="datetimeFigureOut">
              <a:rPr lang="zh-CN" altLang="en-US" smtClean="0"/>
              <a:t>2026/4/22</a:t>
            </a:fld>
            <a:endParaRPr lang="zh-CN" altLang="en-US"/>
          </a:p>
        </p:txBody>
      </p:sp>
      <p:sp>
        <p:nvSpPr>
          <p:cNvPr id="5" name="页脚占位符 4">
            <a:extLst>
              <a:ext uri="{FF2B5EF4-FFF2-40B4-BE49-F238E27FC236}">
                <a16:creationId xmlns:a16="http://schemas.microsoft.com/office/drawing/2014/main" id="{9A638470-A97D-9C76-2C92-60BFEA89E1A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B9E4B2E-EFF7-5A9C-2CF8-F177BA20B6B1}"/>
              </a:ext>
            </a:extLst>
          </p:cNvPr>
          <p:cNvSpPr>
            <a:spLocks noGrp="1"/>
          </p:cNvSpPr>
          <p:nvPr>
            <p:ph type="sldNum" sz="quarter" idx="12"/>
          </p:nvPr>
        </p:nvSpPr>
        <p:spPr/>
        <p:txBody>
          <a:bodyPr/>
          <a:lstStyle/>
          <a:p>
            <a:fld id="{CF9BA198-8A17-40AC-825C-151EB7E08862}" type="slidenum">
              <a:rPr lang="zh-CN" altLang="en-US" smtClean="0"/>
              <a:t>‹#›</a:t>
            </a:fld>
            <a:endParaRPr lang="zh-CN" altLang="en-US"/>
          </a:p>
        </p:txBody>
      </p:sp>
    </p:spTree>
    <p:extLst>
      <p:ext uri="{BB962C8B-B14F-4D97-AF65-F5344CB8AC3E}">
        <p14:creationId xmlns:p14="http://schemas.microsoft.com/office/powerpoint/2010/main" val="1323153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9B3AEDA-F9C9-09B8-9E56-036C7FAE46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B9DD9C4-271D-6EC7-304E-A72EE69436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47F291D-BD21-82E2-C699-CA5C4ACC8E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6629E5-7046-4795-9181-FABCCC7120BC}" type="datetimeFigureOut">
              <a:rPr lang="zh-CN" altLang="en-US" smtClean="0"/>
              <a:t>2026/4/22</a:t>
            </a:fld>
            <a:endParaRPr lang="zh-CN" altLang="en-US"/>
          </a:p>
        </p:txBody>
      </p:sp>
      <p:sp>
        <p:nvSpPr>
          <p:cNvPr id="5" name="页脚占位符 4">
            <a:extLst>
              <a:ext uri="{FF2B5EF4-FFF2-40B4-BE49-F238E27FC236}">
                <a16:creationId xmlns:a16="http://schemas.microsoft.com/office/drawing/2014/main" id="{2C5CED9C-D2D7-05A7-0B34-370FF5D50F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527A19E-4EA2-EF89-2893-EDB3C559F0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9BA198-8A17-40AC-825C-151EB7E08862}" type="slidenum">
              <a:rPr lang="zh-CN" altLang="en-US" smtClean="0"/>
              <a:t>‹#›</a:t>
            </a:fld>
            <a:endParaRPr lang="zh-CN" altLang="en-US"/>
          </a:p>
        </p:txBody>
      </p:sp>
    </p:spTree>
    <p:extLst>
      <p:ext uri="{BB962C8B-B14F-4D97-AF65-F5344CB8AC3E}">
        <p14:creationId xmlns:p14="http://schemas.microsoft.com/office/powerpoint/2010/main" val="32160285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4.png"/><Relationship Id="rId10" Type="http://schemas.openxmlformats.org/officeDocument/2006/relationships/image" Target="../media/image14.png"/><Relationship Id="rId4" Type="http://schemas.microsoft.com/office/2007/relationships/hdphoto" Target="../media/hdphoto1.wdp"/><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4.png"/><Relationship Id="rId10" Type="http://schemas.openxmlformats.org/officeDocument/2006/relationships/image" Target="../media/image17.png"/><Relationship Id="rId4" Type="http://schemas.microsoft.com/office/2007/relationships/hdphoto" Target="../media/hdphoto1.wdp"/><Relationship Id="rId9"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校徽打底"/>
          <p:cNvSpPr/>
          <p:nvPr/>
        </p:nvSpPr>
        <p:spPr>
          <a:xfrm>
            <a:off x="0" y="-126023"/>
            <a:ext cx="7002008" cy="7002008"/>
          </a:xfrm>
          <a:prstGeom prst="rect">
            <a:avLst/>
          </a:prstGeom>
          <a:blipFill dpi="0" rotWithShape="1">
            <a:blip r:embed="rId3">
              <a:alphaModFix amt="7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2" name="汇报人组合"/>
          <p:cNvGrpSpPr/>
          <p:nvPr/>
        </p:nvGrpSpPr>
        <p:grpSpPr>
          <a:xfrm>
            <a:off x="334962" y="5558971"/>
            <a:ext cx="2249715" cy="390979"/>
            <a:chOff x="334962" y="5558971"/>
            <a:chExt cx="2249715" cy="390979"/>
          </a:xfrm>
        </p:grpSpPr>
        <p:sp>
          <p:nvSpPr>
            <p:cNvPr id="30" name="打底矩形"/>
            <p:cNvSpPr/>
            <p:nvPr/>
          </p:nvSpPr>
          <p:spPr>
            <a:xfrm>
              <a:off x="334962" y="5558971"/>
              <a:ext cx="2249715" cy="390979"/>
            </a:xfrm>
            <a:prstGeom prst="rect">
              <a:avLst/>
            </a:prstGeom>
            <a:gradFill flip="none" rotWithShape="1">
              <a:gsLst>
                <a:gs pos="100000">
                  <a:schemeClr val="accent1"/>
                </a:gs>
                <a:gs pos="0">
                  <a:schemeClr val="accent1">
                    <a:lumMod val="75000"/>
                  </a:schemeClr>
                </a:gs>
              </a:gsLst>
              <a:lin ang="16200000" scaled="1"/>
              <a:tileRect/>
            </a:gradFill>
            <a:ln>
              <a:noFill/>
            </a:ln>
            <a:effectLst>
              <a:outerShdw blurRad="88900" dist="38100" dir="5400000" sx="101000" sy="101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9" name="汇报人"/>
            <p:cNvSpPr txBox="1"/>
            <p:nvPr/>
          </p:nvSpPr>
          <p:spPr>
            <a:xfrm>
              <a:off x="334962" y="5585183"/>
              <a:ext cx="2249714" cy="338554"/>
            </a:xfrm>
            <a:prstGeom prst="rect">
              <a:avLst/>
            </a:prstGeom>
            <a:noFill/>
          </p:spPr>
          <p:txBody>
            <a:bodyPr wrap="square" rtlCol="0">
              <a:spAutoFit/>
            </a:bodyPr>
            <a:lstStyle/>
            <a:p>
              <a:pPr algn="dist" defTabSz="457200"/>
              <a:r>
                <a:rPr lang="zh-CN" altLang="en-US" sz="1600" dirty="0">
                  <a:solidFill>
                    <a:schemeClr val="bg1"/>
                  </a:solidFill>
                  <a:latin typeface="Arial" panose="020B0604020202020204" pitchFamily="34" charset="0"/>
                  <a:ea typeface="微软雅黑" panose="020B0503020204020204" pitchFamily="34" charset="-122"/>
                  <a:sym typeface="Arial" panose="020B0604020202020204" pitchFamily="34" charset="0"/>
                </a:rPr>
                <a:t>张洛宾  </a:t>
              </a:r>
              <a:r>
                <a:rPr lang="en-US" altLang="zh-CN" sz="1600" dirty="0">
                  <a:solidFill>
                    <a:schemeClr val="bg1"/>
                  </a:solidFill>
                  <a:latin typeface="Arial" panose="020B0604020202020204" pitchFamily="34" charset="0"/>
                  <a:ea typeface="微软雅黑" panose="020B0503020204020204" pitchFamily="34" charset="-122"/>
                  <a:sym typeface="Arial" panose="020B0604020202020204" pitchFamily="34" charset="0"/>
                </a:rPr>
                <a:t>2024302696</a:t>
              </a:r>
              <a:endParaRPr lang="zh-CN" altLang="en-US" sz="1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22" name="主标题英文"/>
          <p:cNvSpPr txBox="1"/>
          <p:nvPr/>
        </p:nvSpPr>
        <p:spPr>
          <a:xfrm>
            <a:off x="334962" y="4569231"/>
            <a:ext cx="4981699" cy="461665"/>
          </a:xfrm>
          <a:prstGeom prst="rect">
            <a:avLst/>
          </a:prstGeom>
          <a:noFill/>
        </p:spPr>
        <p:txBody>
          <a:bodyPr wrap="square" rtlCol="0">
            <a:spAutoFit/>
          </a:bodyPr>
          <a:lstStyle/>
          <a:p>
            <a:pPr algn="dist" defTabSz="457200"/>
            <a:r>
              <a:rPr lang="zh-CN" altLang="en-US" sz="2400" b="1" dirty="0"/>
              <a:t>基于反演方法的扩散模型风格迁移</a:t>
            </a:r>
            <a:endParaRPr lang="zh-CN" altLang="en-US" sz="2400" dirty="0">
              <a:latin typeface="Arial" panose="020B0604020202020204" pitchFamily="34" charset="0"/>
              <a:ea typeface="微软雅黑" panose="020B0503020204020204" pitchFamily="34" charset="-122"/>
              <a:sym typeface="Arial" panose="020B0604020202020204" pitchFamily="34" charset="0"/>
            </a:endParaRPr>
          </a:p>
        </p:txBody>
      </p:sp>
      <p:sp>
        <p:nvSpPr>
          <p:cNvPr id="21" name="主标题"/>
          <p:cNvSpPr txBox="1"/>
          <p:nvPr/>
        </p:nvSpPr>
        <p:spPr>
          <a:xfrm>
            <a:off x="334964" y="3752005"/>
            <a:ext cx="8925150" cy="830997"/>
          </a:xfrm>
          <a:prstGeom prst="rect">
            <a:avLst/>
          </a:prstGeom>
          <a:noFill/>
        </p:spPr>
        <p:txBody>
          <a:bodyPr wrap="square" rtlCol="0">
            <a:spAutoFit/>
          </a:bodyPr>
          <a:lstStyle/>
          <a:p>
            <a:pPr algn="dist" defTabSz="457200"/>
            <a:r>
              <a:rPr lang="zh-CN" altLang="en-US" sz="4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模式识别与机器学习课堂汇报</a:t>
            </a:r>
          </a:p>
        </p:txBody>
      </p:sp>
      <p:sp>
        <p:nvSpPr>
          <p:cNvPr id="8" name="图书馆照片"/>
          <p:cNvSpPr/>
          <p:nvPr/>
        </p:nvSpPr>
        <p:spPr>
          <a:xfrm>
            <a:off x="0" y="925733"/>
            <a:ext cx="12192000" cy="2666076"/>
          </a:xfrm>
          <a:prstGeom prst="rect">
            <a:avLst/>
          </a:prstGeom>
          <a:blipFill dpi="0" rotWithShape="1">
            <a:blip r:embed="rId4"/>
            <a:srcRect/>
            <a:tile tx="0" ty="0" sx="100000" sy="100000" flip="none" algn="ctr"/>
          </a:blipFill>
          <a:ln>
            <a:noFill/>
          </a:ln>
          <a:effectLst>
            <a:outerShdw blurRad="88900" dist="38100" dir="5400000" sx="101000" sy="101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4" name="LOGO组合"/>
          <p:cNvGrpSpPr/>
          <p:nvPr/>
        </p:nvGrpSpPr>
        <p:grpSpPr>
          <a:xfrm>
            <a:off x="9031134" y="207790"/>
            <a:ext cx="2719167" cy="586775"/>
            <a:chOff x="685800" y="630052"/>
            <a:chExt cx="2719167" cy="586775"/>
          </a:xfrm>
        </p:grpSpPr>
        <p:pic>
          <p:nvPicPr>
            <p:cNvPr id="26" name="校名"/>
            <p:cNvPicPr>
              <a:picLocks noChangeAspect="1"/>
            </p:cNvPicPr>
            <p:nvPr/>
          </p:nvPicPr>
          <p:blipFill>
            <a:blip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Layer>
                  </a14:imgProps>
                </a:ext>
              </a:extLst>
            </a:blip>
            <a:stretch>
              <a:fillRect/>
            </a:stretch>
          </p:blipFill>
          <p:spPr>
            <a:xfrm>
              <a:off x="1441885" y="679578"/>
              <a:ext cx="1963082" cy="487722"/>
            </a:xfrm>
            <a:prstGeom prst="rect">
              <a:avLst/>
            </a:prstGeom>
          </p:spPr>
        </p:pic>
        <p:pic>
          <p:nvPicPr>
            <p:cNvPr id="27" name="校徽"/>
            <p:cNvPicPr>
              <a:picLocks noChangeAspect="1"/>
            </p:cNvPicPr>
            <p:nvPr/>
          </p:nvPicPr>
          <p:blipFill>
            <a:blip r:embed="rId7" cstate="screen">
              <a:duotone>
                <a:schemeClr val="accent1">
                  <a:shade val="45000"/>
                  <a:satMod val="135000"/>
                </a:schemeClr>
                <a:prstClr val="white"/>
              </a:duotone>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sp>
        <p:nvSpPr>
          <p:cNvPr id="5" name="合作QQ： 243001978"/>
          <p:cNvSpPr/>
          <p:nvPr/>
        </p:nvSpPr>
        <p:spPr>
          <a:xfrm>
            <a:off x="9737482" y="6488668"/>
            <a:ext cx="2454518" cy="369332"/>
          </a:xfrm>
          <a:prstGeom prst="rect">
            <a:avLst/>
          </a:prstGeom>
        </p:spPr>
        <p:txBody>
          <a:bodyPr wrap="none">
            <a:spAutoFit/>
          </a:bodyPr>
          <a:lstStyle/>
          <a:p>
            <a:pPr algn="ct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合作</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QQ</a:t>
            </a: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 </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243001978</a:t>
            </a:r>
            <a:endParaRPr lang="zh-CN" altLang="en-US">
              <a:solidFill>
                <a:srgbClr val="FFFFFF"/>
              </a:solidFill>
            </a:endParaRPr>
          </a:p>
        </p:txBody>
      </p:sp>
    </p:spTree>
    <p:extLst>
      <p:ext uri="{BB962C8B-B14F-4D97-AF65-F5344CB8AC3E}">
        <p14:creationId xmlns:p14="http://schemas.microsoft.com/office/powerpoint/2010/main" val="3359635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4C67B-39BB-C847-0F6F-1EB45818053C}"/>
            </a:ext>
          </a:extLst>
        </p:cNvPr>
        <p:cNvGrpSpPr/>
        <p:nvPr/>
      </p:nvGrpSpPr>
      <p:grpSpPr>
        <a:xfrm>
          <a:off x="0" y="0"/>
          <a:ext cx="0" cy="0"/>
          <a:chOff x="0" y="0"/>
          <a:chExt cx="0" cy="0"/>
        </a:xfrm>
      </p:grpSpPr>
      <p:grpSp>
        <p:nvGrpSpPr>
          <p:cNvPr id="2" name="标题">
            <a:extLst>
              <a:ext uri="{FF2B5EF4-FFF2-40B4-BE49-F238E27FC236}">
                <a16:creationId xmlns:a16="http://schemas.microsoft.com/office/drawing/2014/main" id="{617712A4-7913-CE9F-0225-DA993F28E1D1}"/>
              </a:ext>
            </a:extLst>
          </p:cNvPr>
          <p:cNvGrpSpPr/>
          <p:nvPr/>
        </p:nvGrpSpPr>
        <p:grpSpPr>
          <a:xfrm>
            <a:off x="462715" y="138029"/>
            <a:ext cx="2623384" cy="769151"/>
            <a:chOff x="462715" y="138029"/>
            <a:chExt cx="2623384" cy="769151"/>
          </a:xfrm>
        </p:grpSpPr>
        <p:cxnSp>
          <p:nvCxnSpPr>
            <p:cNvPr id="7" name="点缀线段">
              <a:extLst>
                <a:ext uri="{FF2B5EF4-FFF2-40B4-BE49-F238E27FC236}">
                  <a16:creationId xmlns:a16="http://schemas.microsoft.com/office/drawing/2014/main" id="{25D276B3-4580-D23E-7665-266941FD5FDD}"/>
                </a:ext>
              </a:extLst>
            </p:cNvPr>
            <p:cNvCxnSpPr/>
            <p:nvPr/>
          </p:nvCxnSpPr>
          <p:spPr>
            <a:xfrm>
              <a:off x="540367" y="907180"/>
              <a:ext cx="612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Strong Preparation">
              <a:extLst>
                <a:ext uri="{FF2B5EF4-FFF2-40B4-BE49-F238E27FC236}">
                  <a16:creationId xmlns:a16="http://schemas.microsoft.com/office/drawing/2014/main" id="{0BAB7A08-ACB9-6607-89C9-F968AF949717}"/>
                </a:ext>
              </a:extLst>
            </p:cNvPr>
            <p:cNvSpPr txBox="1"/>
            <p:nvPr/>
          </p:nvSpPr>
          <p:spPr>
            <a:xfrm>
              <a:off x="462715" y="584279"/>
              <a:ext cx="2623384" cy="268407"/>
            </a:xfrm>
            <a:prstGeom prst="rect">
              <a:avLst/>
            </a:prstGeom>
            <a:noFill/>
          </p:spPr>
          <p:txBody>
            <a:bodyPr wrap="square" rtlCol="0">
              <a:spAutoFit/>
              <a:scene3d>
                <a:camera prst="orthographicFront"/>
                <a:lightRig rig="threePt" dir="t"/>
              </a:scene3d>
              <a:sp3d contourW="12700"/>
            </a:bodyPr>
            <a:lstStyle/>
            <a:p>
              <a:pPr algn="dist">
                <a:lnSpc>
                  <a:spcPct val="120000"/>
                </a:lnSpc>
              </a:pPr>
              <a:r>
                <a:rPr lang="en-US" altLang="zh-CN" sz="1050" dirty="0">
                  <a:solidFill>
                    <a:prstClr val="white">
                      <a:lumMod val="50000"/>
                    </a:prstClr>
                  </a:solidFill>
                  <a:latin typeface="Arial" panose="020B0604020202020204" pitchFamily="34" charset="0"/>
                  <a:ea typeface="微软雅黑" panose="020B0503020204020204" pitchFamily="34" charset="-122"/>
                  <a:sym typeface="Arial" panose="020B0604020202020204" pitchFamily="34" charset="0"/>
                </a:rPr>
                <a:t>Project Paper</a:t>
              </a:r>
            </a:p>
          </p:txBody>
        </p:sp>
        <p:sp>
          <p:nvSpPr>
            <p:cNvPr id="8" name="基础扎实">
              <a:extLst>
                <a:ext uri="{FF2B5EF4-FFF2-40B4-BE49-F238E27FC236}">
                  <a16:creationId xmlns:a16="http://schemas.microsoft.com/office/drawing/2014/main" id="{B93FC0B1-D036-A37B-B744-9AC90BA7861C}"/>
                </a:ext>
              </a:extLst>
            </p:cNvPr>
            <p:cNvSpPr txBox="1"/>
            <p:nvPr/>
          </p:nvSpPr>
          <p:spPr>
            <a:xfrm>
              <a:off x="462715" y="138029"/>
              <a:ext cx="2109035" cy="523220"/>
            </a:xfrm>
            <a:prstGeom prst="rect">
              <a:avLst/>
            </a:prstGeom>
            <a:noFill/>
          </p:spPr>
          <p:txBody>
            <a:bodyPr wrap="square" rtlCol="0">
              <a:spAutoFit/>
              <a:scene3d>
                <a:camera prst="orthographicFront"/>
                <a:lightRig rig="threePt" dir="t"/>
              </a:scene3d>
              <a:sp3d contourW="12700"/>
            </a:bodyPr>
            <a:lstStyle/>
            <a:p>
              <a:pPr algn="dist" defTabSz="457200"/>
              <a:r>
                <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项目论文</a:t>
              </a:r>
            </a:p>
          </p:txBody>
        </p:sp>
      </p:grpSp>
      <p:sp>
        <p:nvSpPr>
          <p:cNvPr id="38" name="合作QQ： 243001978">
            <a:extLst>
              <a:ext uri="{FF2B5EF4-FFF2-40B4-BE49-F238E27FC236}">
                <a16:creationId xmlns:a16="http://schemas.microsoft.com/office/drawing/2014/main" id="{331EDCBD-D4F0-36AA-08C7-DE78132F3E0D}"/>
              </a:ext>
            </a:extLst>
          </p:cNvPr>
          <p:cNvSpPr/>
          <p:nvPr/>
        </p:nvSpPr>
        <p:spPr>
          <a:xfrm>
            <a:off x="9737482" y="6488668"/>
            <a:ext cx="2454518" cy="369332"/>
          </a:xfrm>
          <a:prstGeom prst="rect">
            <a:avLst/>
          </a:prstGeom>
        </p:spPr>
        <p:txBody>
          <a:bodyPr wrap="none">
            <a:spAutoFit/>
          </a:bodyPr>
          <a:lstStyle/>
          <a:p>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合作</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QQ</a:t>
            </a: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 </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243001978</a:t>
            </a:r>
            <a:endParaRPr lang="zh-CN" altLang="en-US">
              <a:solidFill>
                <a:srgbClr val="FFFFFF"/>
              </a:solidFill>
            </a:endParaRPr>
          </a:p>
        </p:txBody>
      </p:sp>
      <p:grpSp>
        <p:nvGrpSpPr>
          <p:cNvPr id="3" name="LOGO组合">
            <a:extLst>
              <a:ext uri="{FF2B5EF4-FFF2-40B4-BE49-F238E27FC236}">
                <a16:creationId xmlns:a16="http://schemas.microsoft.com/office/drawing/2014/main" id="{468CBD90-AD63-1DF4-368E-42EDA22CEEF0}"/>
              </a:ext>
            </a:extLst>
          </p:cNvPr>
          <p:cNvGrpSpPr/>
          <p:nvPr/>
        </p:nvGrpSpPr>
        <p:grpSpPr>
          <a:xfrm>
            <a:off x="9120511" y="214665"/>
            <a:ext cx="2719167" cy="586775"/>
            <a:chOff x="685800" y="630052"/>
            <a:chExt cx="2719167" cy="586775"/>
          </a:xfrm>
        </p:grpSpPr>
        <p:pic>
          <p:nvPicPr>
            <p:cNvPr id="4" name="校名">
              <a:extLst>
                <a:ext uri="{FF2B5EF4-FFF2-40B4-BE49-F238E27FC236}">
                  <a16:creationId xmlns:a16="http://schemas.microsoft.com/office/drawing/2014/main" id="{7A724022-F072-DAA7-B003-F5BCC29A173A}"/>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441885" y="679578"/>
              <a:ext cx="1963082" cy="487722"/>
            </a:xfrm>
            <a:prstGeom prst="rect">
              <a:avLst/>
            </a:prstGeom>
          </p:spPr>
        </p:pic>
        <p:pic>
          <p:nvPicPr>
            <p:cNvPr id="10" name="校徽">
              <a:extLst>
                <a:ext uri="{FF2B5EF4-FFF2-40B4-BE49-F238E27FC236}">
                  <a16:creationId xmlns:a16="http://schemas.microsoft.com/office/drawing/2014/main" id="{9CC84E60-FAAA-17C3-A052-452322F01EC5}"/>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pic>
        <p:nvPicPr>
          <p:cNvPr id="6" name="图片 5">
            <a:extLst>
              <a:ext uri="{FF2B5EF4-FFF2-40B4-BE49-F238E27FC236}">
                <a16:creationId xmlns:a16="http://schemas.microsoft.com/office/drawing/2014/main" id="{A1076D6F-219A-FE0A-CAA0-7210D802DE3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56922" y="1107499"/>
            <a:ext cx="4145822" cy="5366678"/>
          </a:xfrm>
          <a:prstGeom prst="rect">
            <a:avLst/>
          </a:prstGeom>
          <a:scene3d>
            <a:camera prst="orthographicFront"/>
            <a:lightRig rig="threePt" dir="t"/>
          </a:scene3d>
          <a:sp3d>
            <a:bevelT w="50800" h="50800"/>
            <a:bevelB w="50800" h="50800"/>
          </a:sp3d>
        </p:spPr>
      </p:pic>
      <p:sp>
        <p:nvSpPr>
          <p:cNvPr id="9" name="文本框 8">
            <a:extLst>
              <a:ext uri="{FF2B5EF4-FFF2-40B4-BE49-F238E27FC236}">
                <a16:creationId xmlns:a16="http://schemas.microsoft.com/office/drawing/2014/main" id="{3C70B5E4-8E85-C999-5928-5CA486FB5BAF}"/>
              </a:ext>
            </a:extLst>
          </p:cNvPr>
          <p:cNvSpPr txBox="1"/>
          <p:nvPr/>
        </p:nvSpPr>
        <p:spPr>
          <a:xfrm>
            <a:off x="6460385" y="2743127"/>
            <a:ext cx="4145823" cy="2031325"/>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这篇论文</a:t>
            </a:r>
            <a:r>
              <a:rPr lang="en-US" altLang="zh-CN" dirty="0">
                <a:latin typeface="微软雅黑" panose="020B0503020204020204" pitchFamily="34" charset="-122"/>
                <a:ea typeface="微软雅黑" panose="020B0503020204020204" pitchFamily="34" charset="-122"/>
              </a:rPr>
              <a:t>《Inversion-Based Style Transfer With Diffusion Models》</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InST</a:t>
            </a:r>
            <a:r>
              <a:rPr lang="zh-CN" altLang="en-US" dirty="0">
                <a:latin typeface="微软雅黑" panose="020B0503020204020204" pitchFamily="34" charset="-122"/>
                <a:ea typeface="微软雅黑" panose="020B0503020204020204" pitchFamily="34" charset="-122"/>
              </a:rPr>
              <a:t>）（基于反演的扩散模型风格迁移）发表于 </a:t>
            </a:r>
            <a:r>
              <a:rPr lang="en-US" altLang="zh-CN" b="1" dirty="0">
                <a:latin typeface="微软雅黑" panose="020B0503020204020204" pitchFamily="34" charset="-122"/>
                <a:ea typeface="微软雅黑" panose="020B0503020204020204" pitchFamily="34" charset="-122"/>
              </a:rPr>
              <a:t>CVPR 2023</a:t>
            </a:r>
            <a:r>
              <a:rPr lang="zh-CN" altLang="en-US" dirty="0">
                <a:latin typeface="微软雅黑" panose="020B0503020204020204" pitchFamily="34" charset="-122"/>
                <a:ea typeface="微软雅黑" panose="020B0503020204020204" pitchFamily="34" charset="-122"/>
              </a:rPr>
              <a:t>，由中国科学院自动化研究所、中国科学院大学、中国科学院计算技术研究所和快手科技合作完成。</a:t>
            </a:r>
          </a:p>
        </p:txBody>
      </p:sp>
    </p:spTree>
    <p:extLst>
      <p:ext uri="{BB962C8B-B14F-4D97-AF65-F5344CB8AC3E}">
        <p14:creationId xmlns:p14="http://schemas.microsoft.com/office/powerpoint/2010/main" val="19068832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背景色块"/>
          <p:cNvSpPr/>
          <p:nvPr/>
        </p:nvSpPr>
        <p:spPr>
          <a:xfrm>
            <a:off x="0" y="0"/>
            <a:ext cx="29173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 name="打底矩形框"/>
          <p:cNvSpPr/>
          <p:nvPr/>
        </p:nvSpPr>
        <p:spPr>
          <a:xfrm>
            <a:off x="516164" y="3013501"/>
            <a:ext cx="1907722" cy="847299"/>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2" name="目录组合"/>
          <p:cNvGrpSpPr/>
          <p:nvPr/>
        </p:nvGrpSpPr>
        <p:grpSpPr>
          <a:xfrm>
            <a:off x="695325" y="2598003"/>
            <a:ext cx="1549400" cy="1435408"/>
            <a:chOff x="695325" y="2598003"/>
            <a:chExt cx="1549400" cy="1435408"/>
          </a:xfrm>
        </p:grpSpPr>
        <p:sp>
          <p:nvSpPr>
            <p:cNvPr id="41" name="目录英文"/>
            <p:cNvSpPr txBox="1"/>
            <p:nvPr/>
          </p:nvSpPr>
          <p:spPr>
            <a:xfrm>
              <a:off x="695325" y="3664079"/>
              <a:ext cx="1549400" cy="369332"/>
            </a:xfrm>
            <a:prstGeom prst="rect">
              <a:avLst/>
            </a:prstGeom>
            <a:solidFill>
              <a:schemeClr val="accent1"/>
            </a:solidFill>
          </p:spPr>
          <p:txBody>
            <a:bodyPr wrap="square" rtlCol="0">
              <a:spAutoFit/>
            </a:bodyPr>
            <a:lstStyle/>
            <a:p>
              <a:pPr algn="dist" defTabSz="457200"/>
              <a:r>
                <a:rPr lang="en-US" altLang="zh-CN">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11" name="点缀线段"/>
            <p:cNvCxnSpPr/>
            <p:nvPr/>
          </p:nvCxnSpPr>
          <p:spPr>
            <a:xfrm>
              <a:off x="1335314" y="3512457"/>
              <a:ext cx="2467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0" name="目录"/>
            <p:cNvSpPr txBox="1"/>
            <p:nvPr/>
          </p:nvSpPr>
          <p:spPr>
            <a:xfrm>
              <a:off x="695325" y="2598003"/>
              <a:ext cx="1549400" cy="830997"/>
            </a:xfrm>
            <a:prstGeom prst="rect">
              <a:avLst/>
            </a:prstGeom>
            <a:solidFill>
              <a:schemeClr val="accent1"/>
            </a:solidFill>
          </p:spPr>
          <p:txBody>
            <a:bodyPr wrap="square" rtlCol="0">
              <a:spAutoFit/>
            </a:bodyPr>
            <a:lstStyle/>
            <a:p>
              <a:pPr algn="dist" defTabSz="457200"/>
              <a:r>
                <a:rPr lang="zh-CN" altLang="en-US" sz="4800" b="1" dirty="0">
                  <a:solidFill>
                    <a:schemeClr val="bg1"/>
                  </a:solidFill>
                  <a:latin typeface="Arial" panose="020B0604020202020204" pitchFamily="34" charset="0"/>
                  <a:ea typeface="微软雅黑" panose="020B0503020204020204" pitchFamily="34" charset="-122"/>
                  <a:sym typeface="Arial" panose="020B0604020202020204" pitchFamily="34" charset="0"/>
                </a:rPr>
                <a:t>目录</a:t>
              </a:r>
            </a:p>
          </p:txBody>
        </p:sp>
      </p:grpSp>
      <p:sp>
        <p:nvSpPr>
          <p:cNvPr id="45" name="标题 1"/>
          <p:cNvSpPr/>
          <p:nvPr/>
        </p:nvSpPr>
        <p:spPr>
          <a:xfrm>
            <a:off x="3984170" y="1388777"/>
            <a:ext cx="754743" cy="754743"/>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solidFill>
                  <a:schemeClr val="accent1"/>
                </a:solidFill>
                <a:latin typeface="Arial" panose="020B0604020202020204" pitchFamily="34" charset="0"/>
                <a:ea typeface="微软雅黑" panose="020B0503020204020204" pitchFamily="34" charset="-122"/>
                <a:sym typeface="Arial" panose="020B0604020202020204" pitchFamily="34" charset="0"/>
              </a:rPr>
              <a:t>01</a:t>
            </a:r>
            <a:endParaRPr lang="zh-CN" altLang="en-US" sz="320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3" name="校风 1"/>
          <p:cNvGrpSpPr/>
          <p:nvPr/>
        </p:nvGrpSpPr>
        <p:grpSpPr>
          <a:xfrm>
            <a:off x="4906395" y="1329813"/>
            <a:ext cx="2218210" cy="923329"/>
            <a:chOff x="4593942" y="1694508"/>
            <a:chExt cx="2218210" cy="923329"/>
          </a:xfrm>
        </p:grpSpPr>
        <p:sp>
          <p:nvSpPr>
            <p:cNvPr id="47" name="Strong Preparation"/>
            <p:cNvSpPr txBox="1"/>
            <p:nvPr/>
          </p:nvSpPr>
          <p:spPr>
            <a:xfrm>
              <a:off x="4593943" y="2279283"/>
              <a:ext cx="2218208" cy="338554"/>
            </a:xfrm>
            <a:prstGeom prst="rect">
              <a:avLst/>
            </a:prstGeom>
            <a:noFill/>
          </p:spPr>
          <p:txBody>
            <a:bodyPr wrap="square" rtlCol="0">
              <a:spAutoFit/>
            </a:bodyPr>
            <a:lstStyle/>
            <a:p>
              <a:pPr defTabSz="457200"/>
              <a:r>
                <a:rPr lang="en-US" altLang="zh-CN"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Task Significance</a:t>
              </a:r>
              <a:endPar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6" name="基础扎实"/>
            <p:cNvSpPr txBox="1"/>
            <p:nvPr/>
          </p:nvSpPr>
          <p:spPr>
            <a:xfrm>
              <a:off x="4593942" y="1694508"/>
              <a:ext cx="2218210" cy="584775"/>
            </a:xfrm>
            <a:prstGeom prst="rect">
              <a:avLst/>
            </a:prstGeom>
            <a:noFill/>
          </p:spPr>
          <p:txBody>
            <a:bodyPr wrap="square" rtlCol="0">
              <a:spAutoFit/>
            </a:bodyPr>
            <a:lstStyle/>
            <a:p>
              <a:r>
                <a:rPr lang="zh-CN" altLang="en-US" sz="3200" b="1" dirty="0">
                  <a:latin typeface="Arial" panose="020B0604020202020204" pitchFamily="34" charset="0"/>
                  <a:ea typeface="微软雅黑" panose="020B0503020204020204" pitchFamily="34" charset="-122"/>
                  <a:sym typeface="Arial" panose="020B0604020202020204" pitchFamily="34" charset="0"/>
                </a:rPr>
                <a:t>任务意义</a:t>
              </a:r>
            </a:p>
          </p:txBody>
        </p:sp>
      </p:grpSp>
      <p:sp>
        <p:nvSpPr>
          <p:cNvPr id="51" name="标题 2"/>
          <p:cNvSpPr/>
          <p:nvPr/>
        </p:nvSpPr>
        <p:spPr>
          <a:xfrm>
            <a:off x="7995441" y="1388777"/>
            <a:ext cx="754743" cy="754743"/>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3200">
                <a:solidFill>
                  <a:schemeClr val="accent1"/>
                </a:solidFill>
                <a:latin typeface="Arial" panose="020B0604020202020204" pitchFamily="34" charset="0"/>
                <a:ea typeface="微软雅黑" panose="020B0503020204020204" pitchFamily="34" charset="-122"/>
                <a:sym typeface="Arial" panose="020B0604020202020204" pitchFamily="34" charset="0"/>
              </a:rPr>
              <a:t>02</a:t>
            </a:r>
            <a:endParaRPr lang="zh-CN" altLang="en-US" sz="320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50" name="校风 2"/>
          <p:cNvGrpSpPr/>
          <p:nvPr/>
        </p:nvGrpSpPr>
        <p:grpSpPr>
          <a:xfrm>
            <a:off x="8917666" y="1329813"/>
            <a:ext cx="2218210" cy="923329"/>
            <a:chOff x="4593942" y="1694508"/>
            <a:chExt cx="2218210" cy="923329"/>
          </a:xfrm>
        </p:grpSpPr>
        <p:sp>
          <p:nvSpPr>
            <p:cNvPr id="53" name="Diligent Effort"/>
            <p:cNvSpPr txBox="1"/>
            <p:nvPr/>
          </p:nvSpPr>
          <p:spPr>
            <a:xfrm>
              <a:off x="4593943" y="2279283"/>
              <a:ext cx="2218208"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r>
                <a:rPr lang="en-US" altLang="zh-CN"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Problem Challenge</a:t>
              </a:r>
            </a:p>
          </p:txBody>
        </p:sp>
        <p:sp>
          <p:nvSpPr>
            <p:cNvPr id="52" name="工作踏实"/>
            <p:cNvSpPr txBox="1"/>
            <p:nvPr/>
          </p:nvSpPr>
          <p:spPr>
            <a:xfrm>
              <a:off x="4593942" y="1694508"/>
              <a:ext cx="221821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b="1" dirty="0">
                  <a:latin typeface="Arial" panose="020B0604020202020204" pitchFamily="34" charset="0"/>
                  <a:ea typeface="微软雅黑" panose="020B0503020204020204" pitchFamily="34" charset="-122"/>
                  <a:sym typeface="Arial" panose="020B0604020202020204" pitchFamily="34" charset="0"/>
                </a:rPr>
                <a:t>问题挑战</a:t>
              </a:r>
            </a:p>
          </p:txBody>
        </p:sp>
      </p:grpSp>
      <p:sp>
        <p:nvSpPr>
          <p:cNvPr id="57" name="标题 3"/>
          <p:cNvSpPr/>
          <p:nvPr/>
        </p:nvSpPr>
        <p:spPr>
          <a:xfrm>
            <a:off x="3984169" y="3044875"/>
            <a:ext cx="754743" cy="754743"/>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3200">
                <a:solidFill>
                  <a:schemeClr val="accent1"/>
                </a:solidFill>
                <a:latin typeface="Arial" panose="020B0604020202020204" pitchFamily="34" charset="0"/>
                <a:ea typeface="微软雅黑" panose="020B0503020204020204" pitchFamily="34" charset="-122"/>
                <a:sym typeface="Arial" panose="020B0604020202020204" pitchFamily="34" charset="0"/>
              </a:rPr>
              <a:t>03</a:t>
            </a:r>
            <a:endParaRPr lang="zh-CN" altLang="en-US" sz="320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56" name="校风 3"/>
          <p:cNvGrpSpPr/>
          <p:nvPr/>
        </p:nvGrpSpPr>
        <p:grpSpPr>
          <a:xfrm>
            <a:off x="4906394" y="2985911"/>
            <a:ext cx="2218210" cy="923329"/>
            <a:chOff x="4593942" y="1694508"/>
            <a:chExt cx="2218210" cy="923329"/>
          </a:xfrm>
        </p:grpSpPr>
        <p:sp>
          <p:nvSpPr>
            <p:cNvPr id="60" name="Practical Attitude"/>
            <p:cNvSpPr txBox="1"/>
            <p:nvPr/>
          </p:nvSpPr>
          <p:spPr>
            <a:xfrm>
              <a:off x="4593943" y="2279283"/>
              <a:ext cx="2218208"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r>
                <a:rPr lang="en-US" altLang="zh-CN"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Solution Approach</a:t>
              </a:r>
            </a:p>
          </p:txBody>
        </p:sp>
        <p:sp>
          <p:nvSpPr>
            <p:cNvPr id="58" name="作风朴实"/>
            <p:cNvSpPr txBox="1"/>
            <p:nvPr/>
          </p:nvSpPr>
          <p:spPr>
            <a:xfrm>
              <a:off x="4593942" y="1694508"/>
              <a:ext cx="221821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b="1" dirty="0">
                  <a:latin typeface="Arial" panose="020B0604020202020204" pitchFamily="34" charset="0"/>
                  <a:ea typeface="微软雅黑" panose="020B0503020204020204" pitchFamily="34" charset="-122"/>
                  <a:sym typeface="Arial" panose="020B0604020202020204" pitchFamily="34" charset="0"/>
                </a:rPr>
                <a:t>解决思路</a:t>
              </a:r>
            </a:p>
          </p:txBody>
        </p:sp>
      </p:grpSp>
      <p:sp>
        <p:nvSpPr>
          <p:cNvPr id="63" name="标题 4"/>
          <p:cNvSpPr/>
          <p:nvPr/>
        </p:nvSpPr>
        <p:spPr>
          <a:xfrm>
            <a:off x="7995440" y="3044875"/>
            <a:ext cx="754743" cy="754743"/>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3200">
                <a:solidFill>
                  <a:schemeClr val="accent1"/>
                </a:solidFill>
                <a:latin typeface="Arial" panose="020B0604020202020204" pitchFamily="34" charset="0"/>
                <a:ea typeface="微软雅黑" panose="020B0503020204020204" pitchFamily="34" charset="-122"/>
                <a:sym typeface="Arial" panose="020B0604020202020204" pitchFamily="34" charset="0"/>
              </a:rPr>
              <a:t>04</a:t>
            </a:r>
            <a:endParaRPr lang="zh-CN" altLang="en-US" sz="320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62" name="校风 4"/>
          <p:cNvGrpSpPr/>
          <p:nvPr/>
        </p:nvGrpSpPr>
        <p:grpSpPr>
          <a:xfrm>
            <a:off x="8917665" y="2985911"/>
            <a:ext cx="2218210" cy="923329"/>
            <a:chOff x="4593942" y="1694508"/>
            <a:chExt cx="2218210" cy="923329"/>
          </a:xfrm>
        </p:grpSpPr>
        <p:sp>
          <p:nvSpPr>
            <p:cNvPr id="67" name="Creative Innovation"/>
            <p:cNvSpPr txBox="1"/>
            <p:nvPr/>
          </p:nvSpPr>
          <p:spPr>
            <a:xfrm>
              <a:off x="4593943" y="2279283"/>
              <a:ext cx="2218208"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r>
                <a:rPr lang="en-US" altLang="zh-CN"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Algorithm Design</a:t>
              </a:r>
            </a:p>
          </p:txBody>
        </p:sp>
        <p:sp>
          <p:nvSpPr>
            <p:cNvPr id="64" name="开拓创新"/>
            <p:cNvSpPr txBox="1"/>
            <p:nvPr/>
          </p:nvSpPr>
          <p:spPr>
            <a:xfrm>
              <a:off x="4593942" y="1694508"/>
              <a:ext cx="221821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b="1" dirty="0">
                  <a:latin typeface="Arial" panose="020B0604020202020204" pitchFamily="34" charset="0"/>
                  <a:ea typeface="微软雅黑" panose="020B0503020204020204" pitchFamily="34" charset="-122"/>
                  <a:sym typeface="Arial" panose="020B0604020202020204" pitchFamily="34" charset="0"/>
                </a:rPr>
                <a:t>算法设计</a:t>
              </a:r>
            </a:p>
          </p:txBody>
        </p:sp>
      </p:grpSp>
      <p:sp>
        <p:nvSpPr>
          <p:cNvPr id="24" name="合作QQ： 243001978"/>
          <p:cNvSpPr/>
          <p:nvPr/>
        </p:nvSpPr>
        <p:spPr>
          <a:xfrm>
            <a:off x="9737482" y="6488668"/>
            <a:ext cx="2454518" cy="369332"/>
          </a:xfrm>
          <a:prstGeom prst="rect">
            <a:avLst/>
          </a:prstGeom>
        </p:spPr>
        <p:txBody>
          <a:bodyPr wrap="none">
            <a:spAutoFit/>
          </a:bodyPr>
          <a:lstStyle/>
          <a:p>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合作</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QQ</a:t>
            </a: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 </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243001978</a:t>
            </a:r>
            <a:endParaRPr lang="zh-CN" altLang="en-US">
              <a:solidFill>
                <a:srgbClr val="FFFFFF"/>
              </a:solidFill>
            </a:endParaRPr>
          </a:p>
        </p:txBody>
      </p:sp>
      <p:grpSp>
        <p:nvGrpSpPr>
          <p:cNvPr id="3" name="LOGO组合">
            <a:extLst>
              <a:ext uri="{FF2B5EF4-FFF2-40B4-BE49-F238E27FC236}">
                <a16:creationId xmlns:a16="http://schemas.microsoft.com/office/drawing/2014/main" id="{F5FDC2A7-A148-5302-FA99-F96D1EC792D4}"/>
              </a:ext>
            </a:extLst>
          </p:cNvPr>
          <p:cNvGrpSpPr/>
          <p:nvPr/>
        </p:nvGrpSpPr>
        <p:grpSpPr>
          <a:xfrm>
            <a:off x="9031134" y="207790"/>
            <a:ext cx="2719167" cy="586775"/>
            <a:chOff x="685800" y="630052"/>
            <a:chExt cx="2719167" cy="586775"/>
          </a:xfrm>
        </p:grpSpPr>
        <p:pic>
          <p:nvPicPr>
            <p:cNvPr id="4" name="校名">
              <a:extLst>
                <a:ext uri="{FF2B5EF4-FFF2-40B4-BE49-F238E27FC236}">
                  <a16:creationId xmlns:a16="http://schemas.microsoft.com/office/drawing/2014/main" id="{1C84A7EC-6B2D-C86E-18F1-220AD7A8CDFB}"/>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441885" y="679578"/>
              <a:ext cx="1963082" cy="487722"/>
            </a:xfrm>
            <a:prstGeom prst="rect">
              <a:avLst/>
            </a:prstGeom>
          </p:spPr>
        </p:pic>
        <p:pic>
          <p:nvPicPr>
            <p:cNvPr id="6" name="校徽">
              <a:extLst>
                <a:ext uri="{FF2B5EF4-FFF2-40B4-BE49-F238E27FC236}">
                  <a16:creationId xmlns:a16="http://schemas.microsoft.com/office/drawing/2014/main" id="{0F884E94-CE3E-9944-661B-6E819F81712F}"/>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sp>
        <p:nvSpPr>
          <p:cNvPr id="7" name="标题 1">
            <a:extLst>
              <a:ext uri="{FF2B5EF4-FFF2-40B4-BE49-F238E27FC236}">
                <a16:creationId xmlns:a16="http://schemas.microsoft.com/office/drawing/2014/main" id="{FDEEE570-9DB4-AEEF-72D0-70A019A89CC2}"/>
              </a:ext>
            </a:extLst>
          </p:cNvPr>
          <p:cNvSpPr/>
          <p:nvPr/>
        </p:nvSpPr>
        <p:spPr>
          <a:xfrm>
            <a:off x="3984168" y="4759937"/>
            <a:ext cx="754743" cy="754743"/>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accent1"/>
                </a:solidFill>
                <a:latin typeface="Arial" panose="020B0604020202020204" pitchFamily="34" charset="0"/>
                <a:ea typeface="微软雅黑" panose="020B0503020204020204" pitchFamily="34" charset="-122"/>
                <a:sym typeface="Arial" panose="020B0604020202020204" pitchFamily="34" charset="0"/>
              </a:rPr>
              <a:t>05</a:t>
            </a:r>
            <a:endParaRPr lang="zh-CN" altLang="en-US" sz="32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8" name="校风 1">
            <a:extLst>
              <a:ext uri="{FF2B5EF4-FFF2-40B4-BE49-F238E27FC236}">
                <a16:creationId xmlns:a16="http://schemas.microsoft.com/office/drawing/2014/main" id="{CCB2EA9C-62BB-08A1-D3BA-2A35F22E9E24}"/>
              </a:ext>
            </a:extLst>
          </p:cNvPr>
          <p:cNvGrpSpPr/>
          <p:nvPr/>
        </p:nvGrpSpPr>
        <p:grpSpPr>
          <a:xfrm>
            <a:off x="4906393" y="4700973"/>
            <a:ext cx="2218210" cy="923329"/>
            <a:chOff x="4593942" y="1694508"/>
            <a:chExt cx="2218210" cy="923329"/>
          </a:xfrm>
        </p:grpSpPr>
        <p:sp>
          <p:nvSpPr>
            <p:cNvPr id="10" name="Strong Preparation">
              <a:extLst>
                <a:ext uri="{FF2B5EF4-FFF2-40B4-BE49-F238E27FC236}">
                  <a16:creationId xmlns:a16="http://schemas.microsoft.com/office/drawing/2014/main" id="{67BB7A2F-1524-0787-74B7-6A6B03E0BF2D}"/>
                </a:ext>
              </a:extLst>
            </p:cNvPr>
            <p:cNvSpPr txBox="1"/>
            <p:nvPr/>
          </p:nvSpPr>
          <p:spPr>
            <a:xfrm>
              <a:off x="4593943" y="2279283"/>
              <a:ext cx="2218208" cy="338554"/>
            </a:xfrm>
            <a:prstGeom prst="rect">
              <a:avLst/>
            </a:prstGeom>
            <a:noFill/>
          </p:spPr>
          <p:txBody>
            <a:bodyPr wrap="square" rtlCol="0">
              <a:spAutoFit/>
            </a:bodyPr>
            <a:lstStyle/>
            <a:p>
              <a:pPr defTabSz="457200"/>
              <a:r>
                <a:rPr lang="en-US" altLang="zh-CN"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Experimental Results</a:t>
              </a:r>
              <a:endPar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2" name="基础扎实">
              <a:extLst>
                <a:ext uri="{FF2B5EF4-FFF2-40B4-BE49-F238E27FC236}">
                  <a16:creationId xmlns:a16="http://schemas.microsoft.com/office/drawing/2014/main" id="{01013D05-9C6D-8413-7DDC-E3654142C11C}"/>
                </a:ext>
              </a:extLst>
            </p:cNvPr>
            <p:cNvSpPr txBox="1"/>
            <p:nvPr/>
          </p:nvSpPr>
          <p:spPr>
            <a:xfrm>
              <a:off x="4593942" y="1694508"/>
              <a:ext cx="2218210" cy="584775"/>
            </a:xfrm>
            <a:prstGeom prst="rect">
              <a:avLst/>
            </a:prstGeom>
            <a:noFill/>
          </p:spPr>
          <p:txBody>
            <a:bodyPr wrap="square" rtlCol="0">
              <a:spAutoFit/>
            </a:bodyPr>
            <a:lstStyle/>
            <a:p>
              <a:r>
                <a:rPr lang="zh-CN" altLang="en-US" sz="3200" b="1" dirty="0">
                  <a:latin typeface="Arial" panose="020B0604020202020204" pitchFamily="34" charset="0"/>
                  <a:ea typeface="微软雅黑" panose="020B0503020204020204" pitchFamily="34" charset="-122"/>
                  <a:sym typeface="Arial" panose="020B0604020202020204" pitchFamily="34" charset="0"/>
                </a:rPr>
                <a:t>实验结果</a:t>
              </a:r>
            </a:p>
          </p:txBody>
        </p:sp>
      </p:grpSp>
    </p:spTree>
    <p:extLst>
      <p:ext uri="{BB962C8B-B14F-4D97-AF65-F5344CB8AC3E}">
        <p14:creationId xmlns:p14="http://schemas.microsoft.com/office/powerpoint/2010/main" val="42685595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标题"/>
          <p:cNvGrpSpPr/>
          <p:nvPr/>
        </p:nvGrpSpPr>
        <p:grpSpPr>
          <a:xfrm>
            <a:off x="462715" y="138029"/>
            <a:ext cx="2623384" cy="769151"/>
            <a:chOff x="462715" y="138029"/>
            <a:chExt cx="2623384" cy="769151"/>
          </a:xfrm>
        </p:grpSpPr>
        <p:cxnSp>
          <p:nvCxnSpPr>
            <p:cNvPr id="7" name="点缀线段"/>
            <p:cNvCxnSpPr/>
            <p:nvPr/>
          </p:nvCxnSpPr>
          <p:spPr>
            <a:xfrm>
              <a:off x="540367" y="907180"/>
              <a:ext cx="612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Strong Preparation"/>
            <p:cNvSpPr txBox="1"/>
            <p:nvPr/>
          </p:nvSpPr>
          <p:spPr>
            <a:xfrm>
              <a:off x="462715" y="584279"/>
              <a:ext cx="2623384" cy="268407"/>
            </a:xfrm>
            <a:prstGeom prst="rect">
              <a:avLst/>
            </a:prstGeom>
            <a:noFill/>
          </p:spPr>
          <p:txBody>
            <a:bodyPr wrap="square" rtlCol="0">
              <a:spAutoFit/>
              <a:scene3d>
                <a:camera prst="orthographicFront"/>
                <a:lightRig rig="threePt" dir="t"/>
              </a:scene3d>
              <a:sp3d contourW="12700"/>
            </a:bodyPr>
            <a:lstStyle/>
            <a:p>
              <a:pPr algn="dist">
                <a:lnSpc>
                  <a:spcPct val="120000"/>
                </a:lnSpc>
              </a:pPr>
              <a:r>
                <a:rPr lang="en-US" altLang="zh-CN" sz="1050" dirty="0">
                  <a:solidFill>
                    <a:prstClr val="white">
                      <a:lumMod val="50000"/>
                    </a:prstClr>
                  </a:solidFill>
                  <a:latin typeface="Arial" panose="020B0604020202020204" pitchFamily="34" charset="0"/>
                  <a:ea typeface="微软雅黑" panose="020B0503020204020204" pitchFamily="34" charset="-122"/>
                  <a:sym typeface="Arial" panose="020B0604020202020204" pitchFamily="34" charset="0"/>
                </a:rPr>
                <a:t>Task Significance</a:t>
              </a:r>
            </a:p>
          </p:txBody>
        </p:sp>
        <p:sp>
          <p:nvSpPr>
            <p:cNvPr id="8" name="基础扎实"/>
            <p:cNvSpPr txBox="1"/>
            <p:nvPr/>
          </p:nvSpPr>
          <p:spPr>
            <a:xfrm>
              <a:off x="462715" y="138029"/>
              <a:ext cx="2109035" cy="523220"/>
            </a:xfrm>
            <a:prstGeom prst="rect">
              <a:avLst/>
            </a:prstGeom>
            <a:noFill/>
          </p:spPr>
          <p:txBody>
            <a:bodyPr wrap="square" rtlCol="0">
              <a:spAutoFit/>
              <a:scene3d>
                <a:camera prst="orthographicFront"/>
                <a:lightRig rig="threePt" dir="t"/>
              </a:scene3d>
              <a:sp3d contourW="12700"/>
            </a:bodyPr>
            <a:lstStyle/>
            <a:p>
              <a:pPr algn="dist" defTabSz="457200"/>
              <a:r>
                <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任务意义</a:t>
              </a:r>
            </a:p>
          </p:txBody>
        </p:sp>
      </p:grpSp>
      <p:sp>
        <p:nvSpPr>
          <p:cNvPr id="38" name="合作QQ： 243001978"/>
          <p:cNvSpPr/>
          <p:nvPr/>
        </p:nvSpPr>
        <p:spPr>
          <a:xfrm>
            <a:off x="9737482" y="6488668"/>
            <a:ext cx="2454518" cy="369332"/>
          </a:xfrm>
          <a:prstGeom prst="rect">
            <a:avLst/>
          </a:prstGeom>
        </p:spPr>
        <p:txBody>
          <a:bodyPr wrap="none">
            <a:spAutoFit/>
          </a:bodyPr>
          <a:lstStyle/>
          <a:p>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合作</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QQ</a:t>
            </a: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 </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243001978</a:t>
            </a:r>
            <a:endParaRPr lang="zh-CN" altLang="en-US">
              <a:solidFill>
                <a:srgbClr val="FFFFFF"/>
              </a:solidFill>
            </a:endParaRPr>
          </a:p>
        </p:txBody>
      </p:sp>
      <p:grpSp>
        <p:nvGrpSpPr>
          <p:cNvPr id="3" name="LOGO组合">
            <a:extLst>
              <a:ext uri="{FF2B5EF4-FFF2-40B4-BE49-F238E27FC236}">
                <a16:creationId xmlns:a16="http://schemas.microsoft.com/office/drawing/2014/main" id="{0019D709-8FF3-B75C-D438-CDD34319A5CB}"/>
              </a:ext>
            </a:extLst>
          </p:cNvPr>
          <p:cNvGrpSpPr/>
          <p:nvPr/>
        </p:nvGrpSpPr>
        <p:grpSpPr>
          <a:xfrm>
            <a:off x="9120511" y="214665"/>
            <a:ext cx="2719167" cy="586775"/>
            <a:chOff x="685800" y="630052"/>
            <a:chExt cx="2719167" cy="586775"/>
          </a:xfrm>
        </p:grpSpPr>
        <p:pic>
          <p:nvPicPr>
            <p:cNvPr id="4" name="校名">
              <a:extLst>
                <a:ext uri="{FF2B5EF4-FFF2-40B4-BE49-F238E27FC236}">
                  <a16:creationId xmlns:a16="http://schemas.microsoft.com/office/drawing/2014/main" id="{8CD37274-D3AE-9E79-062D-BECA05278C04}"/>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441885" y="679578"/>
              <a:ext cx="1963082" cy="487722"/>
            </a:xfrm>
            <a:prstGeom prst="rect">
              <a:avLst/>
            </a:prstGeom>
          </p:spPr>
        </p:pic>
        <p:pic>
          <p:nvPicPr>
            <p:cNvPr id="10" name="校徽">
              <a:extLst>
                <a:ext uri="{FF2B5EF4-FFF2-40B4-BE49-F238E27FC236}">
                  <a16:creationId xmlns:a16="http://schemas.microsoft.com/office/drawing/2014/main" id="{4769BA27-D91A-B32F-2FCC-C6F478730274}"/>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sp>
        <p:nvSpPr>
          <p:cNvPr id="18" name="文本框 17">
            <a:extLst>
              <a:ext uri="{FF2B5EF4-FFF2-40B4-BE49-F238E27FC236}">
                <a16:creationId xmlns:a16="http://schemas.microsoft.com/office/drawing/2014/main" id="{61D0921C-3D82-17E2-11F6-929F96292A00}"/>
              </a:ext>
            </a:extLst>
          </p:cNvPr>
          <p:cNvSpPr txBox="1"/>
          <p:nvPr/>
        </p:nvSpPr>
        <p:spPr>
          <a:xfrm>
            <a:off x="913032" y="1107499"/>
            <a:ext cx="3423524" cy="461665"/>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rPr>
              <a:t>Q1</a:t>
            </a:r>
            <a:r>
              <a:rPr lang="zh-CN" altLang="en-US" sz="2400" b="1" dirty="0">
                <a:latin typeface="微软雅黑" panose="020B0503020204020204" pitchFamily="34" charset="-122"/>
                <a:ea typeface="微软雅黑" panose="020B0503020204020204" pitchFamily="34" charset="-122"/>
              </a:rPr>
              <a:t>：什么是风格迁移？</a:t>
            </a:r>
          </a:p>
        </p:txBody>
      </p:sp>
      <p:sp>
        <p:nvSpPr>
          <p:cNvPr id="19" name="文本框 18">
            <a:extLst>
              <a:ext uri="{FF2B5EF4-FFF2-40B4-BE49-F238E27FC236}">
                <a16:creationId xmlns:a16="http://schemas.microsoft.com/office/drawing/2014/main" id="{33EB5059-777B-1CB0-AEE1-3D478FEC6DB7}"/>
              </a:ext>
            </a:extLst>
          </p:cNvPr>
          <p:cNvSpPr txBox="1"/>
          <p:nvPr/>
        </p:nvSpPr>
        <p:spPr>
          <a:xfrm>
            <a:off x="974630" y="1615258"/>
            <a:ext cx="10370501" cy="1200329"/>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A1</a:t>
            </a:r>
            <a:r>
              <a:rPr lang="zh-CN" altLang="en-US" dirty="0">
                <a:latin typeface="微软雅黑" panose="020B0503020204020204" pitchFamily="34" charset="-122"/>
                <a:ea typeface="微软雅黑" panose="020B0503020204020204" pitchFamily="34" charset="-122"/>
              </a:rPr>
              <a:t>：也就是“由示例引导的艺术图像生成”。具体来说，输入一张自然图像作为内容图，再输入一张参考画作作为风格图，目标是生成一张既保留内容图主要语义、又具有参考画作艺术风格的新图像。艺术风格并不只是低层的颜色、材质和笔触，还包括更高层的属性，比如语义元素、物体形状和装饰性结构。</a:t>
            </a:r>
          </a:p>
        </p:txBody>
      </p:sp>
      <p:pic>
        <p:nvPicPr>
          <p:cNvPr id="21" name="图片 20">
            <a:extLst>
              <a:ext uri="{FF2B5EF4-FFF2-40B4-BE49-F238E27FC236}">
                <a16:creationId xmlns:a16="http://schemas.microsoft.com/office/drawing/2014/main" id="{C38C272F-63A0-A5B1-389B-B1C341168CAF}"/>
              </a:ext>
            </a:extLst>
          </p:cNvPr>
          <p:cNvPicPr>
            <a:picLocks noChangeAspect="1"/>
          </p:cNvPicPr>
          <p:nvPr/>
        </p:nvPicPr>
        <p:blipFill>
          <a:blip r:embed="rId7"/>
          <a:stretch>
            <a:fillRect/>
          </a:stretch>
        </p:blipFill>
        <p:spPr>
          <a:xfrm>
            <a:off x="715372" y="3078402"/>
            <a:ext cx="10761255" cy="2872410"/>
          </a:xfrm>
          <a:prstGeom prst="rect">
            <a:avLst/>
          </a:prstGeom>
        </p:spPr>
      </p:pic>
    </p:spTree>
    <p:extLst>
      <p:ext uri="{BB962C8B-B14F-4D97-AF65-F5344CB8AC3E}">
        <p14:creationId xmlns:p14="http://schemas.microsoft.com/office/powerpoint/2010/main" val="2367009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BFC70-54BF-38D1-F3AB-FDD547F489E9}"/>
            </a:ext>
          </a:extLst>
        </p:cNvPr>
        <p:cNvGrpSpPr/>
        <p:nvPr/>
      </p:nvGrpSpPr>
      <p:grpSpPr>
        <a:xfrm>
          <a:off x="0" y="0"/>
          <a:ext cx="0" cy="0"/>
          <a:chOff x="0" y="0"/>
          <a:chExt cx="0" cy="0"/>
        </a:xfrm>
      </p:grpSpPr>
      <p:grpSp>
        <p:nvGrpSpPr>
          <p:cNvPr id="2" name="标题">
            <a:extLst>
              <a:ext uri="{FF2B5EF4-FFF2-40B4-BE49-F238E27FC236}">
                <a16:creationId xmlns:a16="http://schemas.microsoft.com/office/drawing/2014/main" id="{2599D7EB-8CAE-7028-30F8-D860EADD93F2}"/>
              </a:ext>
            </a:extLst>
          </p:cNvPr>
          <p:cNvGrpSpPr/>
          <p:nvPr/>
        </p:nvGrpSpPr>
        <p:grpSpPr>
          <a:xfrm>
            <a:off x="462715" y="138029"/>
            <a:ext cx="2623384" cy="769151"/>
            <a:chOff x="462715" y="138029"/>
            <a:chExt cx="2623384" cy="769151"/>
          </a:xfrm>
        </p:grpSpPr>
        <p:cxnSp>
          <p:nvCxnSpPr>
            <p:cNvPr id="7" name="点缀线段">
              <a:extLst>
                <a:ext uri="{FF2B5EF4-FFF2-40B4-BE49-F238E27FC236}">
                  <a16:creationId xmlns:a16="http://schemas.microsoft.com/office/drawing/2014/main" id="{1F455E0D-F821-3CB7-D4DB-BADC8F257FCC}"/>
                </a:ext>
              </a:extLst>
            </p:cNvPr>
            <p:cNvCxnSpPr/>
            <p:nvPr/>
          </p:nvCxnSpPr>
          <p:spPr>
            <a:xfrm>
              <a:off x="540367" y="907180"/>
              <a:ext cx="612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Strong Preparation">
              <a:extLst>
                <a:ext uri="{FF2B5EF4-FFF2-40B4-BE49-F238E27FC236}">
                  <a16:creationId xmlns:a16="http://schemas.microsoft.com/office/drawing/2014/main" id="{2D0C0A57-7814-8378-C3B8-4A9336CB1279}"/>
                </a:ext>
              </a:extLst>
            </p:cNvPr>
            <p:cNvSpPr txBox="1"/>
            <p:nvPr/>
          </p:nvSpPr>
          <p:spPr>
            <a:xfrm>
              <a:off x="462715" y="584279"/>
              <a:ext cx="2623384" cy="268407"/>
            </a:xfrm>
            <a:prstGeom prst="rect">
              <a:avLst/>
            </a:prstGeom>
            <a:noFill/>
          </p:spPr>
          <p:txBody>
            <a:bodyPr wrap="square" rtlCol="0">
              <a:spAutoFit/>
              <a:scene3d>
                <a:camera prst="orthographicFront"/>
                <a:lightRig rig="threePt" dir="t"/>
              </a:scene3d>
              <a:sp3d contourW="12700"/>
            </a:bodyPr>
            <a:lstStyle/>
            <a:p>
              <a:pPr algn="dist">
                <a:lnSpc>
                  <a:spcPct val="120000"/>
                </a:lnSpc>
              </a:pPr>
              <a:r>
                <a:rPr lang="en-US" altLang="zh-CN" sz="1050" dirty="0">
                  <a:solidFill>
                    <a:prstClr val="white">
                      <a:lumMod val="50000"/>
                    </a:prstClr>
                  </a:solidFill>
                  <a:latin typeface="Arial" panose="020B0604020202020204" pitchFamily="34" charset="0"/>
                  <a:ea typeface="微软雅黑" panose="020B0503020204020204" pitchFamily="34" charset="-122"/>
                  <a:sym typeface="Arial" panose="020B0604020202020204" pitchFamily="34" charset="0"/>
                </a:rPr>
                <a:t>Task Significance</a:t>
              </a:r>
            </a:p>
          </p:txBody>
        </p:sp>
        <p:sp>
          <p:nvSpPr>
            <p:cNvPr id="8" name="基础扎实">
              <a:extLst>
                <a:ext uri="{FF2B5EF4-FFF2-40B4-BE49-F238E27FC236}">
                  <a16:creationId xmlns:a16="http://schemas.microsoft.com/office/drawing/2014/main" id="{D5F5E8A6-4F90-1194-887D-FE1AE2987187}"/>
                </a:ext>
              </a:extLst>
            </p:cNvPr>
            <p:cNvSpPr txBox="1"/>
            <p:nvPr/>
          </p:nvSpPr>
          <p:spPr>
            <a:xfrm>
              <a:off x="462715" y="138029"/>
              <a:ext cx="2109035" cy="523220"/>
            </a:xfrm>
            <a:prstGeom prst="rect">
              <a:avLst/>
            </a:prstGeom>
            <a:noFill/>
          </p:spPr>
          <p:txBody>
            <a:bodyPr wrap="square" rtlCol="0">
              <a:spAutoFit/>
              <a:scene3d>
                <a:camera prst="orthographicFront"/>
                <a:lightRig rig="threePt" dir="t"/>
              </a:scene3d>
              <a:sp3d contourW="12700"/>
            </a:bodyPr>
            <a:lstStyle/>
            <a:p>
              <a:pPr algn="dist" defTabSz="457200"/>
              <a:r>
                <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任务意义</a:t>
              </a:r>
            </a:p>
          </p:txBody>
        </p:sp>
      </p:grpSp>
      <p:sp>
        <p:nvSpPr>
          <p:cNvPr id="38" name="合作QQ： 243001978">
            <a:extLst>
              <a:ext uri="{FF2B5EF4-FFF2-40B4-BE49-F238E27FC236}">
                <a16:creationId xmlns:a16="http://schemas.microsoft.com/office/drawing/2014/main" id="{F712EAE9-23DB-795A-F416-C0682626C171}"/>
              </a:ext>
            </a:extLst>
          </p:cNvPr>
          <p:cNvSpPr/>
          <p:nvPr/>
        </p:nvSpPr>
        <p:spPr>
          <a:xfrm>
            <a:off x="9737482" y="6488668"/>
            <a:ext cx="2454518" cy="369332"/>
          </a:xfrm>
          <a:prstGeom prst="rect">
            <a:avLst/>
          </a:prstGeom>
        </p:spPr>
        <p:txBody>
          <a:bodyPr wrap="none">
            <a:spAutoFit/>
          </a:bodyPr>
          <a:lstStyle/>
          <a:p>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合作</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QQ</a:t>
            </a: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 </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243001978</a:t>
            </a:r>
            <a:endParaRPr lang="zh-CN" altLang="en-US">
              <a:solidFill>
                <a:srgbClr val="FFFFFF"/>
              </a:solidFill>
            </a:endParaRPr>
          </a:p>
        </p:txBody>
      </p:sp>
      <p:grpSp>
        <p:nvGrpSpPr>
          <p:cNvPr id="3" name="LOGO组合">
            <a:extLst>
              <a:ext uri="{FF2B5EF4-FFF2-40B4-BE49-F238E27FC236}">
                <a16:creationId xmlns:a16="http://schemas.microsoft.com/office/drawing/2014/main" id="{C38736A6-A138-577F-3ABE-B0E3BABFB39A}"/>
              </a:ext>
            </a:extLst>
          </p:cNvPr>
          <p:cNvGrpSpPr/>
          <p:nvPr/>
        </p:nvGrpSpPr>
        <p:grpSpPr>
          <a:xfrm>
            <a:off x="9120511" y="214665"/>
            <a:ext cx="2719167" cy="586775"/>
            <a:chOff x="685800" y="630052"/>
            <a:chExt cx="2719167" cy="586775"/>
          </a:xfrm>
        </p:grpSpPr>
        <p:pic>
          <p:nvPicPr>
            <p:cNvPr id="4" name="校名">
              <a:extLst>
                <a:ext uri="{FF2B5EF4-FFF2-40B4-BE49-F238E27FC236}">
                  <a16:creationId xmlns:a16="http://schemas.microsoft.com/office/drawing/2014/main" id="{BD7F7308-5F88-0805-A32B-F214823DC2C5}"/>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441885" y="679578"/>
              <a:ext cx="1963082" cy="487722"/>
            </a:xfrm>
            <a:prstGeom prst="rect">
              <a:avLst/>
            </a:prstGeom>
          </p:spPr>
        </p:pic>
        <p:pic>
          <p:nvPicPr>
            <p:cNvPr id="10" name="校徽">
              <a:extLst>
                <a:ext uri="{FF2B5EF4-FFF2-40B4-BE49-F238E27FC236}">
                  <a16:creationId xmlns:a16="http://schemas.microsoft.com/office/drawing/2014/main" id="{80C51F96-F690-6FAB-ACFD-73462339B6D6}"/>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sp>
        <p:nvSpPr>
          <p:cNvPr id="18" name="文本框 17">
            <a:extLst>
              <a:ext uri="{FF2B5EF4-FFF2-40B4-BE49-F238E27FC236}">
                <a16:creationId xmlns:a16="http://schemas.microsoft.com/office/drawing/2014/main" id="{51F2289D-F85A-0F79-E0DC-0D8F94BF1D88}"/>
              </a:ext>
            </a:extLst>
          </p:cNvPr>
          <p:cNvSpPr txBox="1"/>
          <p:nvPr/>
        </p:nvSpPr>
        <p:spPr>
          <a:xfrm>
            <a:off x="1152367" y="1923341"/>
            <a:ext cx="4305071" cy="461665"/>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rPr>
              <a:t>Q2</a:t>
            </a:r>
            <a:r>
              <a:rPr lang="zh-CN" altLang="en-US" sz="2400" b="1" dirty="0">
                <a:latin typeface="微软雅黑" panose="020B0503020204020204" pitchFamily="34" charset="-122"/>
                <a:ea typeface="微软雅黑" panose="020B0503020204020204" pitchFamily="34" charset="-122"/>
              </a:rPr>
              <a:t>：为什么要研究风格迁移？</a:t>
            </a:r>
          </a:p>
        </p:txBody>
      </p:sp>
      <p:sp>
        <p:nvSpPr>
          <p:cNvPr id="19" name="文本框 18">
            <a:extLst>
              <a:ext uri="{FF2B5EF4-FFF2-40B4-BE49-F238E27FC236}">
                <a16:creationId xmlns:a16="http://schemas.microsoft.com/office/drawing/2014/main" id="{B772BC63-D6E5-45F1-3D04-DB3CB22A3DEE}"/>
              </a:ext>
            </a:extLst>
          </p:cNvPr>
          <p:cNvSpPr txBox="1"/>
          <p:nvPr/>
        </p:nvSpPr>
        <p:spPr>
          <a:xfrm>
            <a:off x="1213966" y="2431100"/>
            <a:ext cx="10370501" cy="1754326"/>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A2</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第一，它可以帮助用户把现实照片转化为具有特定艺术家或特定作品风格的数字艺术作品。</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第二，在生成式 </a:t>
            </a:r>
            <a:r>
              <a:rPr lang="en-US" altLang="zh-CN" dirty="0">
                <a:latin typeface="微软雅黑" panose="020B0503020204020204" pitchFamily="34" charset="-122"/>
                <a:ea typeface="微软雅黑" panose="020B0503020204020204" pitchFamily="34" charset="-122"/>
              </a:rPr>
              <a:t>AI </a:t>
            </a:r>
            <a:r>
              <a:rPr lang="zh-CN" altLang="en-US" dirty="0">
                <a:latin typeface="微软雅黑" panose="020B0503020204020204" pitchFamily="34" charset="-122"/>
                <a:ea typeface="微软雅黑" panose="020B0503020204020204" pitchFamily="34" charset="-122"/>
              </a:rPr>
              <a:t>背景下，这类方法把图像编辑、艺术创作和可控生成连接在了一起，所以不仅对图像风格迁移有意义，对更广义的可控图像生成也有参考价值。</a:t>
            </a:r>
          </a:p>
        </p:txBody>
      </p:sp>
    </p:spTree>
    <p:extLst>
      <p:ext uri="{BB962C8B-B14F-4D97-AF65-F5344CB8AC3E}">
        <p14:creationId xmlns:p14="http://schemas.microsoft.com/office/powerpoint/2010/main" val="37584019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15432-DEEF-9636-C869-F26E1168160F}"/>
            </a:ext>
          </a:extLst>
        </p:cNvPr>
        <p:cNvGrpSpPr/>
        <p:nvPr/>
      </p:nvGrpSpPr>
      <p:grpSpPr>
        <a:xfrm>
          <a:off x="0" y="0"/>
          <a:ext cx="0" cy="0"/>
          <a:chOff x="0" y="0"/>
          <a:chExt cx="0" cy="0"/>
        </a:xfrm>
      </p:grpSpPr>
      <p:grpSp>
        <p:nvGrpSpPr>
          <p:cNvPr id="2" name="标题">
            <a:extLst>
              <a:ext uri="{FF2B5EF4-FFF2-40B4-BE49-F238E27FC236}">
                <a16:creationId xmlns:a16="http://schemas.microsoft.com/office/drawing/2014/main" id="{03BA8CD6-8BB0-1719-7943-EEC233CB899E}"/>
              </a:ext>
            </a:extLst>
          </p:cNvPr>
          <p:cNvGrpSpPr/>
          <p:nvPr/>
        </p:nvGrpSpPr>
        <p:grpSpPr>
          <a:xfrm>
            <a:off x="462715" y="138029"/>
            <a:ext cx="2623384" cy="769151"/>
            <a:chOff x="462715" y="138029"/>
            <a:chExt cx="2623384" cy="769151"/>
          </a:xfrm>
        </p:grpSpPr>
        <p:cxnSp>
          <p:nvCxnSpPr>
            <p:cNvPr id="7" name="点缀线段">
              <a:extLst>
                <a:ext uri="{FF2B5EF4-FFF2-40B4-BE49-F238E27FC236}">
                  <a16:creationId xmlns:a16="http://schemas.microsoft.com/office/drawing/2014/main" id="{4AA4D05D-E8D2-B936-DEB9-BDA7376098E7}"/>
                </a:ext>
              </a:extLst>
            </p:cNvPr>
            <p:cNvCxnSpPr/>
            <p:nvPr/>
          </p:nvCxnSpPr>
          <p:spPr>
            <a:xfrm>
              <a:off x="540367" y="907180"/>
              <a:ext cx="612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Strong Preparation">
              <a:extLst>
                <a:ext uri="{FF2B5EF4-FFF2-40B4-BE49-F238E27FC236}">
                  <a16:creationId xmlns:a16="http://schemas.microsoft.com/office/drawing/2014/main" id="{BB79FD17-1A9B-A0AD-76AE-506BDB56DEF5}"/>
                </a:ext>
              </a:extLst>
            </p:cNvPr>
            <p:cNvSpPr txBox="1"/>
            <p:nvPr/>
          </p:nvSpPr>
          <p:spPr>
            <a:xfrm>
              <a:off x="462715" y="584279"/>
              <a:ext cx="2623384" cy="268407"/>
            </a:xfrm>
            <a:prstGeom prst="rect">
              <a:avLst/>
            </a:prstGeom>
            <a:noFill/>
          </p:spPr>
          <p:txBody>
            <a:bodyPr wrap="square" rtlCol="0">
              <a:spAutoFit/>
              <a:scene3d>
                <a:camera prst="orthographicFront"/>
                <a:lightRig rig="threePt" dir="t"/>
              </a:scene3d>
              <a:sp3d contourW="12700"/>
            </a:bodyPr>
            <a:lstStyle/>
            <a:p>
              <a:pPr algn="dist">
                <a:lnSpc>
                  <a:spcPct val="120000"/>
                </a:lnSpc>
              </a:pPr>
              <a:r>
                <a:rPr lang="en-US" altLang="zh-CN" sz="1050" dirty="0">
                  <a:solidFill>
                    <a:prstClr val="white">
                      <a:lumMod val="50000"/>
                    </a:prstClr>
                  </a:solidFill>
                  <a:latin typeface="Arial" panose="020B0604020202020204" pitchFamily="34" charset="0"/>
                  <a:ea typeface="微软雅黑" panose="020B0503020204020204" pitchFamily="34" charset="-122"/>
                  <a:sym typeface="Arial" panose="020B0604020202020204" pitchFamily="34" charset="0"/>
                </a:rPr>
                <a:t>Problem Challenge</a:t>
              </a:r>
            </a:p>
          </p:txBody>
        </p:sp>
        <p:sp>
          <p:nvSpPr>
            <p:cNvPr id="8" name="基础扎实">
              <a:extLst>
                <a:ext uri="{FF2B5EF4-FFF2-40B4-BE49-F238E27FC236}">
                  <a16:creationId xmlns:a16="http://schemas.microsoft.com/office/drawing/2014/main" id="{F51BF964-C0DF-834B-881E-507EA77AC1BA}"/>
                </a:ext>
              </a:extLst>
            </p:cNvPr>
            <p:cNvSpPr txBox="1"/>
            <p:nvPr/>
          </p:nvSpPr>
          <p:spPr>
            <a:xfrm>
              <a:off x="462715" y="138029"/>
              <a:ext cx="2109035" cy="523220"/>
            </a:xfrm>
            <a:prstGeom prst="rect">
              <a:avLst/>
            </a:prstGeom>
            <a:noFill/>
          </p:spPr>
          <p:txBody>
            <a:bodyPr wrap="square" rtlCol="0">
              <a:spAutoFit/>
              <a:scene3d>
                <a:camera prst="orthographicFront"/>
                <a:lightRig rig="threePt" dir="t"/>
              </a:scene3d>
              <a:sp3d contourW="12700"/>
            </a:bodyPr>
            <a:lstStyle/>
            <a:p>
              <a:pPr algn="dist" defTabSz="457200"/>
              <a:r>
                <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问题挑战</a:t>
              </a:r>
            </a:p>
          </p:txBody>
        </p:sp>
      </p:grpSp>
      <p:sp>
        <p:nvSpPr>
          <p:cNvPr id="38" name="合作QQ： 243001978">
            <a:extLst>
              <a:ext uri="{FF2B5EF4-FFF2-40B4-BE49-F238E27FC236}">
                <a16:creationId xmlns:a16="http://schemas.microsoft.com/office/drawing/2014/main" id="{845FC144-4649-9EDB-0825-231ABE660CD2}"/>
              </a:ext>
            </a:extLst>
          </p:cNvPr>
          <p:cNvSpPr/>
          <p:nvPr/>
        </p:nvSpPr>
        <p:spPr>
          <a:xfrm>
            <a:off x="9737482" y="6488668"/>
            <a:ext cx="2454518" cy="369332"/>
          </a:xfrm>
          <a:prstGeom prst="rect">
            <a:avLst/>
          </a:prstGeom>
        </p:spPr>
        <p:txBody>
          <a:bodyPr wrap="none">
            <a:spAutoFit/>
          </a:bodyPr>
          <a:lstStyle/>
          <a:p>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合作</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QQ</a:t>
            </a: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 </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243001978</a:t>
            </a:r>
            <a:endParaRPr lang="zh-CN" altLang="en-US">
              <a:solidFill>
                <a:srgbClr val="FFFFFF"/>
              </a:solidFill>
            </a:endParaRPr>
          </a:p>
        </p:txBody>
      </p:sp>
      <p:grpSp>
        <p:nvGrpSpPr>
          <p:cNvPr id="3" name="LOGO组合">
            <a:extLst>
              <a:ext uri="{FF2B5EF4-FFF2-40B4-BE49-F238E27FC236}">
                <a16:creationId xmlns:a16="http://schemas.microsoft.com/office/drawing/2014/main" id="{C71424CF-0358-7E7E-95CF-929BC5284FAE}"/>
              </a:ext>
            </a:extLst>
          </p:cNvPr>
          <p:cNvGrpSpPr/>
          <p:nvPr/>
        </p:nvGrpSpPr>
        <p:grpSpPr>
          <a:xfrm>
            <a:off x="9120511" y="214665"/>
            <a:ext cx="2719167" cy="586775"/>
            <a:chOff x="685800" y="630052"/>
            <a:chExt cx="2719167" cy="586775"/>
          </a:xfrm>
        </p:grpSpPr>
        <p:pic>
          <p:nvPicPr>
            <p:cNvPr id="4" name="校名">
              <a:extLst>
                <a:ext uri="{FF2B5EF4-FFF2-40B4-BE49-F238E27FC236}">
                  <a16:creationId xmlns:a16="http://schemas.microsoft.com/office/drawing/2014/main" id="{7FA10A67-2B3B-2D04-D3FC-6767D04B27A5}"/>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441885" y="679578"/>
              <a:ext cx="1963082" cy="487722"/>
            </a:xfrm>
            <a:prstGeom prst="rect">
              <a:avLst/>
            </a:prstGeom>
          </p:spPr>
        </p:pic>
        <p:pic>
          <p:nvPicPr>
            <p:cNvPr id="10" name="校徽">
              <a:extLst>
                <a:ext uri="{FF2B5EF4-FFF2-40B4-BE49-F238E27FC236}">
                  <a16:creationId xmlns:a16="http://schemas.microsoft.com/office/drawing/2014/main" id="{5C59BA3E-C9AD-311B-FCFF-F7D5E435AF01}"/>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sp>
        <p:nvSpPr>
          <p:cNvPr id="5" name="文本框 4">
            <a:extLst>
              <a:ext uri="{FF2B5EF4-FFF2-40B4-BE49-F238E27FC236}">
                <a16:creationId xmlns:a16="http://schemas.microsoft.com/office/drawing/2014/main" id="{0714876B-7BFE-7ADF-D433-5053ADF48B6B}"/>
              </a:ext>
            </a:extLst>
          </p:cNvPr>
          <p:cNvSpPr txBox="1"/>
          <p:nvPr/>
        </p:nvSpPr>
        <p:spPr>
          <a:xfrm>
            <a:off x="744660" y="1281255"/>
            <a:ext cx="10501911" cy="2031325"/>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       现有风格迁移方法主要有两条路线，但都存在明显不足。第一类是传统风格迁移方法。这类方法通常能较好地迁移</a:t>
            </a:r>
            <a:r>
              <a:rPr lang="zh-CN" altLang="en-US" b="1" dirty="0">
                <a:latin typeface="微软雅黑" panose="020B0503020204020204" pitchFamily="34" charset="-122"/>
                <a:ea typeface="微软雅黑" panose="020B0503020204020204" pitchFamily="34" charset="-122"/>
              </a:rPr>
              <a:t>颜色、纹理、笔触</a:t>
            </a:r>
            <a:r>
              <a:rPr lang="zh-CN" altLang="en-US" dirty="0">
                <a:latin typeface="微软雅黑" panose="020B0503020204020204" pitchFamily="34" charset="-122"/>
                <a:ea typeface="微软雅黑" panose="020B0503020204020204" pitchFamily="34" charset="-122"/>
              </a:rPr>
              <a:t>等低层风格，但对于更高层的艺术属性，比如</a:t>
            </a:r>
            <a:r>
              <a:rPr lang="zh-CN" altLang="en-US" b="1" dirty="0">
                <a:latin typeface="微软雅黑" panose="020B0503020204020204" pitchFamily="34" charset="-122"/>
                <a:ea typeface="微软雅黑" panose="020B0503020204020204" pitchFamily="34" charset="-122"/>
              </a:rPr>
              <a:t>物体形状变化、语义元素传递、装饰结构复现</a:t>
            </a:r>
            <a:r>
              <a:rPr lang="zh-CN" altLang="en-US" dirty="0">
                <a:latin typeface="微软雅黑" panose="020B0503020204020204" pitchFamily="34" charset="-122"/>
                <a:ea typeface="微软雅黑" panose="020B0503020204020204" pitchFamily="34" charset="-122"/>
              </a:rPr>
              <a:t>，往往效果不好。</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       第二类是文本驱动的扩散生成方法。扩散模型本身生成质量很高，但如果想复现某一幅具体画作的风格，就必须提供比较详细的文本描述；而问题在于，</a:t>
            </a:r>
            <a:r>
              <a:rPr lang="zh-CN" altLang="en-US" b="1" dirty="0">
                <a:latin typeface="微软雅黑" panose="020B0503020204020204" pitchFamily="34" charset="-122"/>
                <a:ea typeface="微软雅黑" panose="020B0503020204020204" pitchFamily="34" charset="-122"/>
              </a:rPr>
              <a:t>艺术作品的独特性在于它无法被正常语言充分解释，一幅画的独特艺术气质往往无法被普通自然语言充分描述</a:t>
            </a:r>
            <a:r>
              <a:rPr lang="zh-CN" altLang="en-US" dirty="0">
                <a:latin typeface="微软雅黑" panose="020B0503020204020204" pitchFamily="34" charset="-122"/>
                <a:ea typeface="微软雅黑" panose="020B0503020204020204" pitchFamily="34" charset="-122"/>
              </a:rPr>
              <a:t>。我们最多只能说“油画风”“印象派”“像梵高”，但很难准确说出这幅画中特有的构图、形状处理、装饰细节和语义表达。</a:t>
            </a:r>
          </a:p>
        </p:txBody>
      </p:sp>
      <p:sp>
        <p:nvSpPr>
          <p:cNvPr id="6" name="文本框 5">
            <a:extLst>
              <a:ext uri="{FF2B5EF4-FFF2-40B4-BE49-F238E27FC236}">
                <a16:creationId xmlns:a16="http://schemas.microsoft.com/office/drawing/2014/main" id="{2D9B4300-F8D8-9F5E-A287-4D7AF1271580}"/>
              </a:ext>
            </a:extLst>
          </p:cNvPr>
          <p:cNvSpPr txBox="1"/>
          <p:nvPr/>
        </p:nvSpPr>
        <p:spPr>
          <a:xfrm>
            <a:off x="744659" y="3700294"/>
            <a:ext cx="5962765" cy="2308324"/>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所以，风格迁移面临的核心挑战可以总结成三点：</a:t>
            </a:r>
            <a:endParaRPr lang="en-US" altLang="zh-CN" dirty="0">
              <a:latin typeface="微软雅黑" panose="020B0503020204020204" pitchFamily="34" charset="-122"/>
              <a:ea typeface="微软雅黑" panose="020B0503020204020204" pitchFamily="34" charset="-122"/>
            </a:endParaRPr>
          </a:p>
          <a:p>
            <a:br>
              <a:rPr lang="zh-CN" altLang="en-US" dirty="0">
                <a:latin typeface="微软雅黑" panose="020B0503020204020204" pitchFamily="34" charset="-122"/>
                <a:ea typeface="微软雅黑" panose="020B0503020204020204" pitchFamily="34" charset="-122"/>
              </a:rPr>
            </a:br>
            <a:r>
              <a:rPr lang="zh-CN" altLang="en-US" dirty="0">
                <a:latin typeface="微软雅黑" panose="020B0503020204020204" pitchFamily="34" charset="-122"/>
                <a:ea typeface="微软雅黑" panose="020B0503020204020204" pitchFamily="34" charset="-122"/>
              </a:rPr>
              <a:t>第一，</a:t>
            </a:r>
            <a:r>
              <a:rPr lang="zh-CN" altLang="en-US" b="1" dirty="0">
                <a:latin typeface="微软雅黑" panose="020B0503020204020204" pitchFamily="34" charset="-122"/>
                <a:ea typeface="微软雅黑" panose="020B0503020204020204" pitchFamily="34" charset="-122"/>
              </a:rPr>
              <a:t>如何从单张参考画作中提取高层风格信息</a:t>
            </a:r>
            <a:r>
              <a:rPr lang="zh-CN" altLang="en-US" dirty="0">
                <a:latin typeface="微软雅黑" panose="020B0503020204020204" pitchFamily="34" charset="-122"/>
                <a:ea typeface="微软雅黑" panose="020B0503020204020204" pitchFamily="34" charset="-122"/>
              </a:rPr>
              <a:t>，而不仅是低层纹理。</a:t>
            </a:r>
            <a:br>
              <a:rPr lang="zh-CN" altLang="en-US" dirty="0">
                <a:latin typeface="微软雅黑" panose="020B0503020204020204" pitchFamily="34" charset="-122"/>
                <a:ea typeface="微软雅黑" panose="020B0503020204020204" pitchFamily="34" charset="-122"/>
              </a:rPr>
            </a:br>
            <a:r>
              <a:rPr lang="zh-CN" altLang="en-US" dirty="0">
                <a:latin typeface="微软雅黑" panose="020B0503020204020204" pitchFamily="34" charset="-122"/>
                <a:ea typeface="微软雅黑" panose="020B0503020204020204" pitchFamily="34" charset="-122"/>
              </a:rPr>
              <a:t>第二，</a:t>
            </a:r>
            <a:r>
              <a:rPr lang="zh-CN" altLang="en-US" b="1" dirty="0">
                <a:latin typeface="微软雅黑" panose="020B0503020204020204" pitchFamily="34" charset="-122"/>
                <a:ea typeface="微软雅黑" panose="020B0503020204020204" pitchFamily="34" charset="-122"/>
              </a:rPr>
              <a:t>如何把这种难以语言描述的风格，转化成扩散模型能使用的条件信号</a:t>
            </a:r>
            <a:r>
              <a:rPr lang="zh-CN" altLang="en-US" dirty="0">
                <a:latin typeface="微软雅黑" panose="020B0503020204020204" pitchFamily="34" charset="-122"/>
                <a:ea typeface="微软雅黑" panose="020B0503020204020204" pitchFamily="34" charset="-122"/>
              </a:rPr>
              <a:t>。</a:t>
            </a:r>
            <a:br>
              <a:rPr lang="zh-CN" altLang="en-US" dirty="0">
                <a:latin typeface="微软雅黑" panose="020B0503020204020204" pitchFamily="34" charset="-122"/>
                <a:ea typeface="微软雅黑" panose="020B0503020204020204" pitchFamily="34" charset="-122"/>
              </a:rPr>
            </a:br>
            <a:r>
              <a:rPr lang="zh-CN" altLang="en-US" dirty="0">
                <a:latin typeface="微软雅黑" panose="020B0503020204020204" pitchFamily="34" charset="-122"/>
                <a:ea typeface="微软雅黑" panose="020B0503020204020204" pitchFamily="34" charset="-122"/>
              </a:rPr>
              <a:t>第三，</a:t>
            </a:r>
            <a:r>
              <a:rPr lang="zh-CN" altLang="en-US" b="1" dirty="0">
                <a:latin typeface="微软雅黑" panose="020B0503020204020204" pitchFamily="34" charset="-122"/>
                <a:ea typeface="微软雅黑" panose="020B0503020204020204" pitchFamily="34" charset="-122"/>
              </a:rPr>
              <a:t>在迁移参考风格的同时，如何尽量保留内容图的语义，不让内容被风格“带跑偏”</a:t>
            </a:r>
            <a:r>
              <a:rPr lang="zh-CN" altLang="en-US" dirty="0">
                <a:latin typeface="微软雅黑" panose="020B0503020204020204" pitchFamily="34" charset="-122"/>
                <a:ea typeface="微软雅黑" panose="020B0503020204020204" pitchFamily="34" charset="-122"/>
              </a:rPr>
              <a:t>。</a:t>
            </a:r>
          </a:p>
        </p:txBody>
      </p:sp>
      <p:pic>
        <p:nvPicPr>
          <p:cNvPr id="11" name="图片 10">
            <a:extLst>
              <a:ext uri="{FF2B5EF4-FFF2-40B4-BE49-F238E27FC236}">
                <a16:creationId xmlns:a16="http://schemas.microsoft.com/office/drawing/2014/main" id="{896AA303-C9D1-8529-0992-D540B57F7E67}"/>
              </a:ext>
            </a:extLst>
          </p:cNvPr>
          <p:cNvPicPr>
            <a:picLocks noChangeAspect="1"/>
          </p:cNvPicPr>
          <p:nvPr/>
        </p:nvPicPr>
        <p:blipFill>
          <a:blip r:embed="rId7"/>
          <a:srcRect l="39964" t="50000" r="39897"/>
          <a:stretch>
            <a:fillRect/>
          </a:stretch>
        </p:blipFill>
        <p:spPr>
          <a:xfrm>
            <a:off x="7030476" y="3545421"/>
            <a:ext cx="3925898" cy="2599545"/>
          </a:xfrm>
          <a:prstGeom prst="rect">
            <a:avLst/>
          </a:prstGeom>
        </p:spPr>
      </p:pic>
    </p:spTree>
    <p:extLst>
      <p:ext uri="{BB962C8B-B14F-4D97-AF65-F5344CB8AC3E}">
        <p14:creationId xmlns:p14="http://schemas.microsoft.com/office/powerpoint/2010/main" val="21458326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310F3-E7AC-35CE-F838-E05A68CDAF0B}"/>
            </a:ext>
          </a:extLst>
        </p:cNvPr>
        <p:cNvGrpSpPr/>
        <p:nvPr/>
      </p:nvGrpSpPr>
      <p:grpSpPr>
        <a:xfrm>
          <a:off x="0" y="0"/>
          <a:ext cx="0" cy="0"/>
          <a:chOff x="0" y="0"/>
          <a:chExt cx="0" cy="0"/>
        </a:xfrm>
      </p:grpSpPr>
      <p:grpSp>
        <p:nvGrpSpPr>
          <p:cNvPr id="2" name="标题">
            <a:extLst>
              <a:ext uri="{FF2B5EF4-FFF2-40B4-BE49-F238E27FC236}">
                <a16:creationId xmlns:a16="http://schemas.microsoft.com/office/drawing/2014/main" id="{A2AA494D-7AB7-FC36-7922-47AC900308CD}"/>
              </a:ext>
            </a:extLst>
          </p:cNvPr>
          <p:cNvGrpSpPr/>
          <p:nvPr/>
        </p:nvGrpSpPr>
        <p:grpSpPr>
          <a:xfrm>
            <a:off x="462715" y="138029"/>
            <a:ext cx="2623384" cy="769151"/>
            <a:chOff x="462715" y="138029"/>
            <a:chExt cx="2623384" cy="769151"/>
          </a:xfrm>
        </p:grpSpPr>
        <p:cxnSp>
          <p:nvCxnSpPr>
            <p:cNvPr id="7" name="点缀线段">
              <a:extLst>
                <a:ext uri="{FF2B5EF4-FFF2-40B4-BE49-F238E27FC236}">
                  <a16:creationId xmlns:a16="http://schemas.microsoft.com/office/drawing/2014/main" id="{C21E542A-02AC-A981-FAC4-3AD65B4529DD}"/>
                </a:ext>
              </a:extLst>
            </p:cNvPr>
            <p:cNvCxnSpPr/>
            <p:nvPr/>
          </p:nvCxnSpPr>
          <p:spPr>
            <a:xfrm>
              <a:off x="540367" y="907180"/>
              <a:ext cx="612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Strong Preparation">
              <a:extLst>
                <a:ext uri="{FF2B5EF4-FFF2-40B4-BE49-F238E27FC236}">
                  <a16:creationId xmlns:a16="http://schemas.microsoft.com/office/drawing/2014/main" id="{E2CA5656-AF9C-F952-3454-1B2A6DE54455}"/>
                </a:ext>
              </a:extLst>
            </p:cNvPr>
            <p:cNvSpPr txBox="1"/>
            <p:nvPr/>
          </p:nvSpPr>
          <p:spPr>
            <a:xfrm>
              <a:off x="462715" y="584279"/>
              <a:ext cx="2623384" cy="268407"/>
            </a:xfrm>
            <a:prstGeom prst="rect">
              <a:avLst/>
            </a:prstGeom>
            <a:noFill/>
          </p:spPr>
          <p:txBody>
            <a:bodyPr wrap="square" rtlCol="0">
              <a:spAutoFit/>
              <a:scene3d>
                <a:camera prst="orthographicFront"/>
                <a:lightRig rig="threePt" dir="t"/>
              </a:scene3d>
              <a:sp3d contourW="12700"/>
            </a:bodyPr>
            <a:lstStyle/>
            <a:p>
              <a:pPr algn="dist">
                <a:lnSpc>
                  <a:spcPct val="120000"/>
                </a:lnSpc>
              </a:pPr>
              <a:r>
                <a:rPr lang="en-US" altLang="zh-CN" sz="1050" dirty="0">
                  <a:solidFill>
                    <a:prstClr val="white">
                      <a:lumMod val="50000"/>
                    </a:prstClr>
                  </a:solidFill>
                  <a:latin typeface="Arial" panose="020B0604020202020204" pitchFamily="34" charset="0"/>
                  <a:ea typeface="微软雅黑" panose="020B0503020204020204" pitchFamily="34" charset="-122"/>
                  <a:sym typeface="Arial" panose="020B0604020202020204" pitchFamily="34" charset="0"/>
                </a:rPr>
                <a:t>Solution Approach</a:t>
              </a:r>
            </a:p>
          </p:txBody>
        </p:sp>
        <p:sp>
          <p:nvSpPr>
            <p:cNvPr id="8" name="基础扎实">
              <a:extLst>
                <a:ext uri="{FF2B5EF4-FFF2-40B4-BE49-F238E27FC236}">
                  <a16:creationId xmlns:a16="http://schemas.microsoft.com/office/drawing/2014/main" id="{5D9DBA4F-2603-5437-D80F-BBB215320B5D}"/>
                </a:ext>
              </a:extLst>
            </p:cNvPr>
            <p:cNvSpPr txBox="1"/>
            <p:nvPr/>
          </p:nvSpPr>
          <p:spPr>
            <a:xfrm>
              <a:off x="462715" y="138029"/>
              <a:ext cx="2109035" cy="523220"/>
            </a:xfrm>
            <a:prstGeom prst="rect">
              <a:avLst/>
            </a:prstGeom>
            <a:noFill/>
          </p:spPr>
          <p:txBody>
            <a:bodyPr wrap="square" rtlCol="0">
              <a:spAutoFit/>
              <a:scene3d>
                <a:camera prst="orthographicFront"/>
                <a:lightRig rig="threePt" dir="t"/>
              </a:scene3d>
              <a:sp3d contourW="12700"/>
            </a:bodyPr>
            <a:lstStyle/>
            <a:p>
              <a:pPr algn="dist" defTabSz="457200"/>
              <a:r>
                <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解决思路</a:t>
              </a:r>
            </a:p>
          </p:txBody>
        </p:sp>
      </p:grpSp>
      <p:sp>
        <p:nvSpPr>
          <p:cNvPr id="38" name="合作QQ： 243001978">
            <a:extLst>
              <a:ext uri="{FF2B5EF4-FFF2-40B4-BE49-F238E27FC236}">
                <a16:creationId xmlns:a16="http://schemas.microsoft.com/office/drawing/2014/main" id="{051F3278-9A02-881D-FA5A-943FB84AAC02}"/>
              </a:ext>
            </a:extLst>
          </p:cNvPr>
          <p:cNvSpPr/>
          <p:nvPr/>
        </p:nvSpPr>
        <p:spPr>
          <a:xfrm>
            <a:off x="9737482" y="6488668"/>
            <a:ext cx="2454518" cy="369332"/>
          </a:xfrm>
          <a:prstGeom prst="rect">
            <a:avLst/>
          </a:prstGeom>
        </p:spPr>
        <p:txBody>
          <a:bodyPr wrap="none">
            <a:spAutoFit/>
          </a:bodyPr>
          <a:lstStyle/>
          <a:p>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合作</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QQ</a:t>
            </a: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 </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243001978</a:t>
            </a:r>
            <a:endParaRPr lang="zh-CN" altLang="en-US">
              <a:solidFill>
                <a:srgbClr val="FFFFFF"/>
              </a:solidFill>
            </a:endParaRPr>
          </a:p>
        </p:txBody>
      </p:sp>
      <p:grpSp>
        <p:nvGrpSpPr>
          <p:cNvPr id="3" name="LOGO组合">
            <a:extLst>
              <a:ext uri="{FF2B5EF4-FFF2-40B4-BE49-F238E27FC236}">
                <a16:creationId xmlns:a16="http://schemas.microsoft.com/office/drawing/2014/main" id="{D7FA5A02-3E17-5345-F8B4-A948CBEFC83C}"/>
              </a:ext>
            </a:extLst>
          </p:cNvPr>
          <p:cNvGrpSpPr/>
          <p:nvPr/>
        </p:nvGrpSpPr>
        <p:grpSpPr>
          <a:xfrm>
            <a:off x="9120511" y="214665"/>
            <a:ext cx="2719167" cy="586775"/>
            <a:chOff x="685800" y="630052"/>
            <a:chExt cx="2719167" cy="586775"/>
          </a:xfrm>
        </p:grpSpPr>
        <p:pic>
          <p:nvPicPr>
            <p:cNvPr id="4" name="校名">
              <a:extLst>
                <a:ext uri="{FF2B5EF4-FFF2-40B4-BE49-F238E27FC236}">
                  <a16:creationId xmlns:a16="http://schemas.microsoft.com/office/drawing/2014/main" id="{B80E608F-1AE3-29DD-14D7-362685568332}"/>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441885" y="679578"/>
              <a:ext cx="1963082" cy="487722"/>
            </a:xfrm>
            <a:prstGeom prst="rect">
              <a:avLst/>
            </a:prstGeom>
          </p:spPr>
        </p:pic>
        <p:pic>
          <p:nvPicPr>
            <p:cNvPr id="10" name="校徽">
              <a:extLst>
                <a:ext uri="{FF2B5EF4-FFF2-40B4-BE49-F238E27FC236}">
                  <a16:creationId xmlns:a16="http://schemas.microsoft.com/office/drawing/2014/main" id="{D2A81887-2F9E-4A13-C313-7AFE7A7DAFD2}"/>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pic>
        <p:nvPicPr>
          <p:cNvPr id="6" name="图片 5">
            <a:extLst>
              <a:ext uri="{FF2B5EF4-FFF2-40B4-BE49-F238E27FC236}">
                <a16:creationId xmlns:a16="http://schemas.microsoft.com/office/drawing/2014/main" id="{3D9B4F0D-E6D9-880B-585D-90665E672453}"/>
              </a:ext>
            </a:extLst>
          </p:cNvPr>
          <p:cNvPicPr>
            <a:picLocks noChangeAspect="1"/>
          </p:cNvPicPr>
          <p:nvPr/>
        </p:nvPicPr>
        <p:blipFill>
          <a:blip r:embed="rId7">
            <a:extLst>
              <a:ext uri="{28A0092B-C50C-407E-A947-70E740481C1C}">
                <a14:useLocalDpi xmlns:a14="http://schemas.microsoft.com/office/drawing/2010/main" val="0"/>
              </a:ext>
            </a:extLst>
          </a:blip>
          <a:srcRect t="3999"/>
          <a:stretch>
            <a:fillRect/>
          </a:stretch>
        </p:blipFill>
        <p:spPr>
          <a:xfrm>
            <a:off x="0" y="961675"/>
            <a:ext cx="12192000" cy="3500262"/>
          </a:xfrm>
          <a:prstGeom prst="rect">
            <a:avLst/>
          </a:prstGeom>
        </p:spPr>
      </p:pic>
      <p:sp>
        <p:nvSpPr>
          <p:cNvPr id="11" name="文本框 10">
            <a:extLst>
              <a:ext uri="{FF2B5EF4-FFF2-40B4-BE49-F238E27FC236}">
                <a16:creationId xmlns:a16="http://schemas.microsoft.com/office/drawing/2014/main" id="{A38D02D7-5E40-4794-D825-07433F5C5BFA}"/>
              </a:ext>
            </a:extLst>
          </p:cNvPr>
          <p:cNvSpPr txBox="1"/>
          <p:nvPr/>
        </p:nvSpPr>
        <p:spPr>
          <a:xfrm>
            <a:off x="1629630" y="5283808"/>
            <a:ext cx="2912938" cy="738664"/>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传统的自然语言描述，显然只能</a:t>
            </a:r>
            <a:r>
              <a:rPr lang="en-US" altLang="zh-CN" sz="1400" dirty="0">
                <a:latin typeface="微软雅黑" panose="020B0503020204020204" pitchFamily="34" charset="-122"/>
                <a:ea typeface="微软雅黑" panose="020B0503020204020204" pitchFamily="34" charset="-122"/>
              </a:rPr>
              <a:t>get</a:t>
            </a:r>
            <a:r>
              <a:rPr lang="zh-CN" altLang="en-US" sz="1400" dirty="0">
                <a:latin typeface="微软雅黑" panose="020B0503020204020204" pitchFamily="34" charset="-122"/>
                <a:ea typeface="微软雅黑" panose="020B0503020204020204" pitchFamily="34" charset="-122"/>
              </a:rPr>
              <a:t>到某种风格，但是无法生成与原图内容相同的新图片。</a:t>
            </a:r>
          </a:p>
        </p:txBody>
      </p:sp>
      <p:sp>
        <p:nvSpPr>
          <p:cNvPr id="13" name="文本框 12">
            <a:extLst>
              <a:ext uri="{FF2B5EF4-FFF2-40B4-BE49-F238E27FC236}">
                <a16:creationId xmlns:a16="http://schemas.microsoft.com/office/drawing/2014/main" id="{EEFA9EDE-E0E1-FDAD-A41E-7AF27E3D9851}"/>
              </a:ext>
            </a:extLst>
          </p:cNvPr>
          <p:cNvSpPr txBox="1"/>
          <p:nvPr/>
        </p:nvSpPr>
        <p:spPr>
          <a:xfrm>
            <a:off x="5247990" y="5068364"/>
            <a:ext cx="2912938" cy="1169551"/>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传统的</a:t>
            </a:r>
            <a:r>
              <a:rPr lang="en-US" altLang="zh-CN" sz="1400" dirty="0">
                <a:latin typeface="微软雅黑" panose="020B0503020204020204" pitchFamily="34" charset="-122"/>
                <a:ea typeface="微软雅黑" panose="020B0503020204020204" pitchFamily="34" charset="-122"/>
              </a:rPr>
              <a:t>style transfer</a:t>
            </a:r>
            <a:r>
              <a:rPr lang="zh-CN" altLang="en-US" sz="1400" dirty="0">
                <a:latin typeface="微软雅黑" panose="020B0503020204020204" pitchFamily="34" charset="-122"/>
                <a:ea typeface="微软雅黑" panose="020B0503020204020204" pitchFamily="34" charset="-122"/>
              </a:rPr>
              <a:t>方法，生成的图像虽然与原图相同，但也只能</a:t>
            </a:r>
            <a:r>
              <a:rPr lang="en-US" altLang="zh-CN" sz="1400" dirty="0">
                <a:latin typeface="微软雅黑" panose="020B0503020204020204" pitchFamily="34" charset="-122"/>
                <a:ea typeface="微软雅黑" panose="020B0503020204020204" pitchFamily="34" charset="-122"/>
              </a:rPr>
              <a:t>get</a:t>
            </a:r>
            <a:r>
              <a:rPr lang="zh-CN" altLang="en-US" sz="1400" dirty="0">
                <a:latin typeface="微软雅黑" panose="020B0503020204020204" pitchFamily="34" charset="-122"/>
                <a:ea typeface="微软雅黑" panose="020B0503020204020204" pitchFamily="34" charset="-122"/>
              </a:rPr>
              <a:t>到笔触，纹理，颜色等表面特征，无法真正的生成风格图显示的风格。</a:t>
            </a:r>
          </a:p>
        </p:txBody>
      </p:sp>
      <p:sp>
        <p:nvSpPr>
          <p:cNvPr id="14" name="文本框 13">
            <a:extLst>
              <a:ext uri="{FF2B5EF4-FFF2-40B4-BE49-F238E27FC236}">
                <a16:creationId xmlns:a16="http://schemas.microsoft.com/office/drawing/2014/main" id="{C7DC4225-C7A4-D9A4-DA03-0E1C140921E6}"/>
              </a:ext>
            </a:extLst>
          </p:cNvPr>
          <p:cNvSpPr txBox="1"/>
          <p:nvPr/>
        </p:nvSpPr>
        <p:spPr>
          <a:xfrm>
            <a:off x="8771670" y="4852920"/>
            <a:ext cx="2912938" cy="1600438"/>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本文给出了创新性的方法：先从参考画中学出一个新的风格词 </a:t>
            </a:r>
            <a:r>
              <a:rPr lang="en-US" altLang="zh-CN" sz="1400" dirty="0">
                <a:latin typeface="微软雅黑" panose="020B0503020204020204" pitchFamily="34" charset="-122"/>
                <a:ea typeface="微软雅黑" panose="020B0503020204020204" pitchFamily="34" charset="-122"/>
              </a:rPr>
              <a:t>[C]</a:t>
            </a:r>
            <a:r>
              <a:rPr lang="zh-CN" altLang="en-US" sz="1400" dirty="0">
                <a:latin typeface="微软雅黑" panose="020B0503020204020204" pitchFamily="34" charset="-122"/>
                <a:ea typeface="微软雅黑" panose="020B0503020204020204" pitchFamily="34" charset="-122"/>
              </a:rPr>
              <a:t>，然后再写成：“</a:t>
            </a:r>
            <a:r>
              <a:rPr lang="en-US" altLang="zh-CN" sz="1400" dirty="0">
                <a:latin typeface="微软雅黑" panose="020B0503020204020204" pitchFamily="34" charset="-122"/>
                <a:ea typeface="微软雅黑" panose="020B0503020204020204" pitchFamily="34" charset="-122"/>
              </a:rPr>
              <a:t>A painting of a girl reads a book in the style of [C]”</a:t>
            </a:r>
            <a:r>
              <a:rPr lang="zh-CN" altLang="en-US" sz="1400" dirty="0">
                <a:latin typeface="微软雅黑" panose="020B0503020204020204" pitchFamily="34" charset="-122"/>
                <a:ea typeface="微软雅黑" panose="020B0503020204020204" pitchFamily="34" charset="-122"/>
              </a:rPr>
              <a:t>或者更简单地“</a:t>
            </a:r>
            <a:r>
              <a:rPr lang="en-US" altLang="zh-CN" sz="1400" dirty="0">
                <a:latin typeface="微软雅黑" panose="020B0503020204020204" pitchFamily="34" charset="-122"/>
                <a:ea typeface="微软雅黑" panose="020B0503020204020204" pitchFamily="34" charset="-122"/>
              </a:rPr>
              <a:t>[C]”</a:t>
            </a:r>
            <a:r>
              <a:rPr lang="zh-CN" altLang="en-US" sz="1400" dirty="0">
                <a:latin typeface="微软雅黑" panose="020B0503020204020204" pitchFamily="34" charset="-122"/>
                <a:ea typeface="微软雅黑" panose="020B0503020204020204" pitchFamily="34" charset="-122"/>
              </a:rPr>
              <a:t>再交给 </a:t>
            </a:r>
            <a:r>
              <a:rPr lang="en-US" altLang="zh-CN" sz="1400" dirty="0">
                <a:latin typeface="微软雅黑" panose="020B0503020204020204" pitchFamily="34" charset="-122"/>
                <a:ea typeface="微软雅黑" panose="020B0503020204020204" pitchFamily="34" charset="-122"/>
              </a:rPr>
              <a:t>text-to-image generative model </a:t>
            </a:r>
            <a:r>
              <a:rPr lang="zh-CN" altLang="en-US" sz="1400" dirty="0">
                <a:latin typeface="微软雅黑" panose="020B0503020204020204" pitchFamily="34" charset="-122"/>
                <a:ea typeface="微软雅黑" panose="020B0503020204020204" pitchFamily="34" charset="-122"/>
              </a:rPr>
              <a:t>生成。</a:t>
            </a:r>
          </a:p>
        </p:txBody>
      </p:sp>
    </p:spTree>
    <p:extLst>
      <p:ext uri="{BB962C8B-B14F-4D97-AF65-F5344CB8AC3E}">
        <p14:creationId xmlns:p14="http://schemas.microsoft.com/office/powerpoint/2010/main" val="28701433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830A3-1EB7-B9AC-5F34-6E8741641D3B}"/>
            </a:ext>
          </a:extLst>
        </p:cNvPr>
        <p:cNvGrpSpPr/>
        <p:nvPr/>
      </p:nvGrpSpPr>
      <p:grpSpPr>
        <a:xfrm>
          <a:off x="0" y="0"/>
          <a:ext cx="0" cy="0"/>
          <a:chOff x="0" y="0"/>
          <a:chExt cx="0" cy="0"/>
        </a:xfrm>
      </p:grpSpPr>
      <p:grpSp>
        <p:nvGrpSpPr>
          <p:cNvPr id="2" name="标题">
            <a:extLst>
              <a:ext uri="{FF2B5EF4-FFF2-40B4-BE49-F238E27FC236}">
                <a16:creationId xmlns:a16="http://schemas.microsoft.com/office/drawing/2014/main" id="{4EE645BB-32E3-4F0C-FB20-EEA013DC39D0}"/>
              </a:ext>
            </a:extLst>
          </p:cNvPr>
          <p:cNvGrpSpPr/>
          <p:nvPr/>
        </p:nvGrpSpPr>
        <p:grpSpPr>
          <a:xfrm>
            <a:off x="462715" y="138029"/>
            <a:ext cx="2623384" cy="769151"/>
            <a:chOff x="462715" y="138029"/>
            <a:chExt cx="2623384" cy="769151"/>
          </a:xfrm>
        </p:grpSpPr>
        <p:cxnSp>
          <p:nvCxnSpPr>
            <p:cNvPr id="7" name="点缀线段">
              <a:extLst>
                <a:ext uri="{FF2B5EF4-FFF2-40B4-BE49-F238E27FC236}">
                  <a16:creationId xmlns:a16="http://schemas.microsoft.com/office/drawing/2014/main" id="{7DCC295D-D56E-6324-B134-771274A4F14E}"/>
                </a:ext>
              </a:extLst>
            </p:cNvPr>
            <p:cNvCxnSpPr/>
            <p:nvPr/>
          </p:nvCxnSpPr>
          <p:spPr>
            <a:xfrm>
              <a:off x="540367" y="907180"/>
              <a:ext cx="612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Strong Preparation">
              <a:extLst>
                <a:ext uri="{FF2B5EF4-FFF2-40B4-BE49-F238E27FC236}">
                  <a16:creationId xmlns:a16="http://schemas.microsoft.com/office/drawing/2014/main" id="{8A54B5C0-7AD8-5F08-68D9-7F2EFB3ABC65}"/>
                </a:ext>
              </a:extLst>
            </p:cNvPr>
            <p:cNvSpPr txBox="1"/>
            <p:nvPr/>
          </p:nvSpPr>
          <p:spPr>
            <a:xfrm>
              <a:off x="462715" y="584279"/>
              <a:ext cx="2623384" cy="268407"/>
            </a:xfrm>
            <a:prstGeom prst="rect">
              <a:avLst/>
            </a:prstGeom>
            <a:noFill/>
          </p:spPr>
          <p:txBody>
            <a:bodyPr wrap="square" rtlCol="0">
              <a:spAutoFit/>
              <a:scene3d>
                <a:camera prst="orthographicFront"/>
                <a:lightRig rig="threePt" dir="t"/>
              </a:scene3d>
              <a:sp3d contourW="12700"/>
            </a:bodyPr>
            <a:lstStyle/>
            <a:p>
              <a:pPr algn="dist">
                <a:lnSpc>
                  <a:spcPct val="120000"/>
                </a:lnSpc>
              </a:pPr>
              <a:r>
                <a:rPr lang="en-US" altLang="zh-CN" sz="1050" dirty="0">
                  <a:solidFill>
                    <a:prstClr val="white">
                      <a:lumMod val="50000"/>
                    </a:prstClr>
                  </a:solidFill>
                  <a:latin typeface="Arial" panose="020B0604020202020204" pitchFamily="34" charset="0"/>
                  <a:ea typeface="微软雅黑" panose="020B0503020204020204" pitchFamily="34" charset="-122"/>
                  <a:sym typeface="Arial" panose="020B0604020202020204" pitchFamily="34" charset="0"/>
                </a:rPr>
                <a:t>Solution Approach</a:t>
              </a:r>
            </a:p>
          </p:txBody>
        </p:sp>
        <p:sp>
          <p:nvSpPr>
            <p:cNvPr id="8" name="基础扎实">
              <a:extLst>
                <a:ext uri="{FF2B5EF4-FFF2-40B4-BE49-F238E27FC236}">
                  <a16:creationId xmlns:a16="http://schemas.microsoft.com/office/drawing/2014/main" id="{6645B3A4-CFA6-B65A-9109-B1FE0287CCA6}"/>
                </a:ext>
              </a:extLst>
            </p:cNvPr>
            <p:cNvSpPr txBox="1"/>
            <p:nvPr/>
          </p:nvSpPr>
          <p:spPr>
            <a:xfrm>
              <a:off x="462715" y="138029"/>
              <a:ext cx="2109035" cy="523220"/>
            </a:xfrm>
            <a:prstGeom prst="rect">
              <a:avLst/>
            </a:prstGeom>
            <a:noFill/>
          </p:spPr>
          <p:txBody>
            <a:bodyPr wrap="square" rtlCol="0">
              <a:spAutoFit/>
              <a:scene3d>
                <a:camera prst="orthographicFront"/>
                <a:lightRig rig="threePt" dir="t"/>
              </a:scene3d>
              <a:sp3d contourW="12700"/>
            </a:bodyPr>
            <a:lstStyle/>
            <a:p>
              <a:pPr algn="dist" defTabSz="457200"/>
              <a:r>
                <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解决思路</a:t>
              </a:r>
            </a:p>
          </p:txBody>
        </p:sp>
      </p:grpSp>
      <p:sp>
        <p:nvSpPr>
          <p:cNvPr id="38" name="合作QQ： 243001978">
            <a:extLst>
              <a:ext uri="{FF2B5EF4-FFF2-40B4-BE49-F238E27FC236}">
                <a16:creationId xmlns:a16="http://schemas.microsoft.com/office/drawing/2014/main" id="{4489D4CC-0F38-DB34-FA42-A58084B6EB0C}"/>
              </a:ext>
            </a:extLst>
          </p:cNvPr>
          <p:cNvSpPr/>
          <p:nvPr/>
        </p:nvSpPr>
        <p:spPr>
          <a:xfrm>
            <a:off x="9737482" y="6488668"/>
            <a:ext cx="2454518" cy="369332"/>
          </a:xfrm>
          <a:prstGeom prst="rect">
            <a:avLst/>
          </a:prstGeom>
        </p:spPr>
        <p:txBody>
          <a:bodyPr wrap="none">
            <a:spAutoFit/>
          </a:bodyPr>
          <a:lstStyle/>
          <a:p>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合作</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QQ</a:t>
            </a: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 </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243001978</a:t>
            </a:r>
            <a:endParaRPr lang="zh-CN" altLang="en-US">
              <a:solidFill>
                <a:srgbClr val="FFFFFF"/>
              </a:solidFill>
            </a:endParaRPr>
          </a:p>
        </p:txBody>
      </p:sp>
      <p:grpSp>
        <p:nvGrpSpPr>
          <p:cNvPr id="3" name="LOGO组合">
            <a:extLst>
              <a:ext uri="{FF2B5EF4-FFF2-40B4-BE49-F238E27FC236}">
                <a16:creationId xmlns:a16="http://schemas.microsoft.com/office/drawing/2014/main" id="{21A65411-E3ED-4B33-337E-14A9718B7419}"/>
              </a:ext>
            </a:extLst>
          </p:cNvPr>
          <p:cNvGrpSpPr/>
          <p:nvPr/>
        </p:nvGrpSpPr>
        <p:grpSpPr>
          <a:xfrm>
            <a:off x="9120511" y="214665"/>
            <a:ext cx="2719167" cy="586775"/>
            <a:chOff x="685800" y="630052"/>
            <a:chExt cx="2719167" cy="586775"/>
          </a:xfrm>
        </p:grpSpPr>
        <p:pic>
          <p:nvPicPr>
            <p:cNvPr id="4" name="校名">
              <a:extLst>
                <a:ext uri="{FF2B5EF4-FFF2-40B4-BE49-F238E27FC236}">
                  <a16:creationId xmlns:a16="http://schemas.microsoft.com/office/drawing/2014/main" id="{DA803BBD-CE5B-1AC4-330E-FBEFA0E3EA4B}"/>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441885" y="679578"/>
              <a:ext cx="1963082" cy="487722"/>
            </a:xfrm>
            <a:prstGeom prst="rect">
              <a:avLst/>
            </a:prstGeom>
          </p:spPr>
        </p:pic>
        <p:pic>
          <p:nvPicPr>
            <p:cNvPr id="10" name="校徽">
              <a:extLst>
                <a:ext uri="{FF2B5EF4-FFF2-40B4-BE49-F238E27FC236}">
                  <a16:creationId xmlns:a16="http://schemas.microsoft.com/office/drawing/2014/main" id="{98D03F3F-D183-563A-DB07-CA8FA158AD1B}"/>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pic>
        <p:nvPicPr>
          <p:cNvPr id="9" name="图片 8">
            <a:extLst>
              <a:ext uri="{FF2B5EF4-FFF2-40B4-BE49-F238E27FC236}">
                <a16:creationId xmlns:a16="http://schemas.microsoft.com/office/drawing/2014/main" id="{37BD5208-3FE4-2672-3FD9-E01DCD062CA5}"/>
              </a:ext>
            </a:extLst>
          </p:cNvPr>
          <p:cNvPicPr>
            <a:picLocks noChangeAspect="1"/>
          </p:cNvPicPr>
          <p:nvPr/>
        </p:nvPicPr>
        <p:blipFill>
          <a:blip r:embed="rId7">
            <a:extLst>
              <a:ext uri="{28A0092B-C50C-407E-A947-70E740481C1C}">
                <a14:useLocalDpi xmlns:a14="http://schemas.microsoft.com/office/drawing/2010/main" val="0"/>
              </a:ext>
            </a:extLst>
          </a:blip>
          <a:srcRect t="4457" r="50388"/>
          <a:stretch>
            <a:fillRect/>
          </a:stretch>
        </p:blipFill>
        <p:spPr>
          <a:xfrm>
            <a:off x="1593832" y="928846"/>
            <a:ext cx="8143650" cy="1833087"/>
          </a:xfrm>
          <a:prstGeom prst="rect">
            <a:avLst/>
          </a:prstGeom>
        </p:spPr>
      </p:pic>
      <p:sp>
        <p:nvSpPr>
          <p:cNvPr id="15" name="文本框 14">
            <a:extLst>
              <a:ext uri="{FF2B5EF4-FFF2-40B4-BE49-F238E27FC236}">
                <a16:creationId xmlns:a16="http://schemas.microsoft.com/office/drawing/2014/main" id="{433AD124-87DF-94E0-0E48-E3E73243AFFC}"/>
              </a:ext>
            </a:extLst>
          </p:cNvPr>
          <p:cNvSpPr txBox="1"/>
          <p:nvPr/>
        </p:nvSpPr>
        <p:spPr>
          <a:xfrm>
            <a:off x="804041" y="5141369"/>
            <a:ext cx="10583918" cy="95410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但是显然只生成了风格相同的图片还不够，我们想要尽可能地保留下来原图的内容，于是论文提出了另一个方法：</a:t>
            </a:r>
            <a:r>
              <a:rPr lang="en-US" altLang="zh-CN" sz="1400" dirty="0">
                <a:latin typeface="微软雅黑" panose="020B0503020204020204" pitchFamily="34" charset="-122"/>
                <a:ea typeface="微软雅黑" panose="020B0503020204020204" pitchFamily="34" charset="-122"/>
              </a:rPr>
              <a:t>stochastic inversion</a:t>
            </a:r>
            <a:r>
              <a:rPr lang="zh-CN" altLang="en-US" sz="1400" dirty="0">
                <a:latin typeface="微软雅黑" panose="020B0503020204020204" pitchFamily="34" charset="-122"/>
                <a:ea typeface="微软雅黑" panose="020B0503020204020204" pitchFamily="34" charset="-122"/>
              </a:rPr>
              <a:t>，即先从内容图反推出一个更合适的噪声表示，再把这个预测噪声作为生成起点。</a:t>
            </a:r>
            <a:endParaRPr lang="en-US" altLang="zh-CN" sz="1400" dirty="0">
              <a:latin typeface="微软雅黑" panose="020B0503020204020204" pitchFamily="34" charset="-122"/>
              <a:ea typeface="微软雅黑" panose="020B0503020204020204" pitchFamily="34" charset="-122"/>
            </a:endParaRPr>
          </a:p>
          <a:p>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因此，</a:t>
            </a:r>
            <a:r>
              <a:rPr lang="en-US" altLang="zh-CN" sz="1400" dirty="0" err="1">
                <a:latin typeface="微软雅黑" panose="020B0503020204020204" pitchFamily="34" charset="-122"/>
                <a:ea typeface="微软雅黑" panose="020B0503020204020204" pitchFamily="34" charset="-122"/>
              </a:rPr>
              <a:t>InST</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的初始噪声并不像标准扩散模型那样总是纯随机的，在风格迁移场景下，它是由内容图引导得到的噪声。</a:t>
            </a:r>
          </a:p>
        </p:txBody>
      </p:sp>
      <p:pic>
        <p:nvPicPr>
          <p:cNvPr id="17" name="图片 16">
            <a:extLst>
              <a:ext uri="{FF2B5EF4-FFF2-40B4-BE49-F238E27FC236}">
                <a16:creationId xmlns:a16="http://schemas.microsoft.com/office/drawing/2014/main" id="{387643D1-67B9-4708-EFFD-BF374D771F92}"/>
              </a:ext>
            </a:extLst>
          </p:cNvPr>
          <p:cNvPicPr>
            <a:picLocks noChangeAspect="1"/>
          </p:cNvPicPr>
          <p:nvPr/>
        </p:nvPicPr>
        <p:blipFill>
          <a:blip r:embed="rId8"/>
          <a:srcRect l="51207"/>
          <a:stretch>
            <a:fillRect/>
          </a:stretch>
        </p:blipFill>
        <p:spPr>
          <a:xfrm>
            <a:off x="1774407" y="2915091"/>
            <a:ext cx="8021700" cy="1833086"/>
          </a:xfrm>
          <a:prstGeom prst="rect">
            <a:avLst/>
          </a:prstGeom>
        </p:spPr>
      </p:pic>
    </p:spTree>
    <p:extLst>
      <p:ext uri="{BB962C8B-B14F-4D97-AF65-F5344CB8AC3E}">
        <p14:creationId xmlns:p14="http://schemas.microsoft.com/office/powerpoint/2010/main" val="1057906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B95AF-9715-A577-2043-983AA8951E96}"/>
            </a:ext>
          </a:extLst>
        </p:cNvPr>
        <p:cNvGrpSpPr/>
        <p:nvPr/>
      </p:nvGrpSpPr>
      <p:grpSpPr>
        <a:xfrm>
          <a:off x="0" y="0"/>
          <a:ext cx="0" cy="0"/>
          <a:chOff x="0" y="0"/>
          <a:chExt cx="0" cy="0"/>
        </a:xfrm>
      </p:grpSpPr>
      <p:grpSp>
        <p:nvGrpSpPr>
          <p:cNvPr id="2" name="标题">
            <a:extLst>
              <a:ext uri="{FF2B5EF4-FFF2-40B4-BE49-F238E27FC236}">
                <a16:creationId xmlns:a16="http://schemas.microsoft.com/office/drawing/2014/main" id="{EE0E67C8-DC5B-8B06-708B-9705DC203C8D}"/>
              </a:ext>
            </a:extLst>
          </p:cNvPr>
          <p:cNvGrpSpPr/>
          <p:nvPr/>
        </p:nvGrpSpPr>
        <p:grpSpPr>
          <a:xfrm>
            <a:off x="462715" y="138029"/>
            <a:ext cx="2623384" cy="769151"/>
            <a:chOff x="462715" y="138029"/>
            <a:chExt cx="2623384" cy="769151"/>
          </a:xfrm>
        </p:grpSpPr>
        <p:cxnSp>
          <p:nvCxnSpPr>
            <p:cNvPr id="7" name="点缀线段">
              <a:extLst>
                <a:ext uri="{FF2B5EF4-FFF2-40B4-BE49-F238E27FC236}">
                  <a16:creationId xmlns:a16="http://schemas.microsoft.com/office/drawing/2014/main" id="{A5AE8851-8848-600D-15E3-7D4DBA90D1DE}"/>
                </a:ext>
              </a:extLst>
            </p:cNvPr>
            <p:cNvCxnSpPr/>
            <p:nvPr/>
          </p:nvCxnSpPr>
          <p:spPr>
            <a:xfrm>
              <a:off x="540367" y="907180"/>
              <a:ext cx="612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Strong Preparation">
              <a:extLst>
                <a:ext uri="{FF2B5EF4-FFF2-40B4-BE49-F238E27FC236}">
                  <a16:creationId xmlns:a16="http://schemas.microsoft.com/office/drawing/2014/main" id="{F5B33B2B-54DB-8D49-F92A-3A880BBB32E2}"/>
                </a:ext>
              </a:extLst>
            </p:cNvPr>
            <p:cNvSpPr txBox="1"/>
            <p:nvPr/>
          </p:nvSpPr>
          <p:spPr>
            <a:xfrm>
              <a:off x="462715" y="584279"/>
              <a:ext cx="2623384" cy="268407"/>
            </a:xfrm>
            <a:prstGeom prst="rect">
              <a:avLst/>
            </a:prstGeom>
            <a:noFill/>
          </p:spPr>
          <p:txBody>
            <a:bodyPr wrap="square" rtlCol="0">
              <a:spAutoFit/>
              <a:scene3d>
                <a:camera prst="orthographicFront"/>
                <a:lightRig rig="threePt" dir="t"/>
              </a:scene3d>
              <a:sp3d contourW="12700"/>
            </a:bodyPr>
            <a:lstStyle/>
            <a:p>
              <a:pPr algn="dist">
                <a:lnSpc>
                  <a:spcPct val="120000"/>
                </a:lnSpc>
              </a:pPr>
              <a:r>
                <a:rPr lang="en-US" altLang="zh-CN" sz="1050" dirty="0">
                  <a:solidFill>
                    <a:prstClr val="white">
                      <a:lumMod val="50000"/>
                    </a:prstClr>
                  </a:solidFill>
                  <a:latin typeface="Arial" panose="020B0604020202020204" pitchFamily="34" charset="0"/>
                  <a:ea typeface="微软雅黑" panose="020B0503020204020204" pitchFamily="34" charset="-122"/>
                  <a:sym typeface="Arial" panose="020B0604020202020204" pitchFamily="34" charset="0"/>
                </a:rPr>
                <a:t>Algorithm Design</a:t>
              </a:r>
            </a:p>
          </p:txBody>
        </p:sp>
        <p:sp>
          <p:nvSpPr>
            <p:cNvPr id="8" name="基础扎实">
              <a:extLst>
                <a:ext uri="{FF2B5EF4-FFF2-40B4-BE49-F238E27FC236}">
                  <a16:creationId xmlns:a16="http://schemas.microsoft.com/office/drawing/2014/main" id="{DA71989B-00F3-5226-A4EF-CDCDC554F21F}"/>
                </a:ext>
              </a:extLst>
            </p:cNvPr>
            <p:cNvSpPr txBox="1"/>
            <p:nvPr/>
          </p:nvSpPr>
          <p:spPr>
            <a:xfrm>
              <a:off x="462715" y="138029"/>
              <a:ext cx="2109035" cy="523220"/>
            </a:xfrm>
            <a:prstGeom prst="rect">
              <a:avLst/>
            </a:prstGeom>
            <a:noFill/>
          </p:spPr>
          <p:txBody>
            <a:bodyPr wrap="square" rtlCol="0">
              <a:spAutoFit/>
              <a:scene3d>
                <a:camera prst="orthographicFront"/>
                <a:lightRig rig="threePt" dir="t"/>
              </a:scene3d>
              <a:sp3d contourW="12700"/>
            </a:bodyPr>
            <a:lstStyle/>
            <a:p>
              <a:pPr algn="dist" defTabSz="457200"/>
              <a:r>
                <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算法设计</a:t>
              </a:r>
            </a:p>
          </p:txBody>
        </p:sp>
      </p:grpSp>
      <p:sp>
        <p:nvSpPr>
          <p:cNvPr id="38" name="合作QQ： 243001978">
            <a:extLst>
              <a:ext uri="{FF2B5EF4-FFF2-40B4-BE49-F238E27FC236}">
                <a16:creationId xmlns:a16="http://schemas.microsoft.com/office/drawing/2014/main" id="{8C9FA2A8-3EBF-7157-1C9A-393F1B388626}"/>
              </a:ext>
            </a:extLst>
          </p:cNvPr>
          <p:cNvSpPr/>
          <p:nvPr/>
        </p:nvSpPr>
        <p:spPr>
          <a:xfrm>
            <a:off x="9737482" y="6488668"/>
            <a:ext cx="2454518" cy="369332"/>
          </a:xfrm>
          <a:prstGeom prst="rect">
            <a:avLst/>
          </a:prstGeom>
        </p:spPr>
        <p:txBody>
          <a:bodyPr wrap="none">
            <a:spAutoFit/>
          </a:bodyPr>
          <a:lstStyle/>
          <a:p>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合作</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QQ</a:t>
            </a: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 </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243001978</a:t>
            </a:r>
            <a:endParaRPr lang="zh-CN" altLang="en-US">
              <a:solidFill>
                <a:srgbClr val="FFFFFF"/>
              </a:solidFill>
            </a:endParaRPr>
          </a:p>
        </p:txBody>
      </p:sp>
      <p:grpSp>
        <p:nvGrpSpPr>
          <p:cNvPr id="3" name="LOGO组合">
            <a:extLst>
              <a:ext uri="{FF2B5EF4-FFF2-40B4-BE49-F238E27FC236}">
                <a16:creationId xmlns:a16="http://schemas.microsoft.com/office/drawing/2014/main" id="{E3CF2042-2E00-45F3-2B80-EFFB1AFEC82D}"/>
              </a:ext>
            </a:extLst>
          </p:cNvPr>
          <p:cNvGrpSpPr/>
          <p:nvPr/>
        </p:nvGrpSpPr>
        <p:grpSpPr>
          <a:xfrm>
            <a:off x="9120511" y="214665"/>
            <a:ext cx="2719167" cy="586775"/>
            <a:chOff x="685800" y="630052"/>
            <a:chExt cx="2719167" cy="586775"/>
          </a:xfrm>
        </p:grpSpPr>
        <p:pic>
          <p:nvPicPr>
            <p:cNvPr id="4" name="校名">
              <a:extLst>
                <a:ext uri="{FF2B5EF4-FFF2-40B4-BE49-F238E27FC236}">
                  <a16:creationId xmlns:a16="http://schemas.microsoft.com/office/drawing/2014/main" id="{E46EE9D2-E924-23D9-305C-F7634F295F04}"/>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441885" y="679578"/>
              <a:ext cx="1963082" cy="487722"/>
            </a:xfrm>
            <a:prstGeom prst="rect">
              <a:avLst/>
            </a:prstGeom>
          </p:spPr>
        </p:pic>
        <p:pic>
          <p:nvPicPr>
            <p:cNvPr id="10" name="校徽">
              <a:extLst>
                <a:ext uri="{FF2B5EF4-FFF2-40B4-BE49-F238E27FC236}">
                  <a16:creationId xmlns:a16="http://schemas.microsoft.com/office/drawing/2014/main" id="{33E9A087-76EB-0F02-8434-DDE8CAED29F7}"/>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pic>
        <p:nvPicPr>
          <p:cNvPr id="6" name="图片 5">
            <a:extLst>
              <a:ext uri="{FF2B5EF4-FFF2-40B4-BE49-F238E27FC236}">
                <a16:creationId xmlns:a16="http://schemas.microsoft.com/office/drawing/2014/main" id="{2C013014-8373-92D0-45A9-1FDA6F4EFE02}"/>
              </a:ext>
            </a:extLst>
          </p:cNvPr>
          <p:cNvPicPr>
            <a:picLocks noChangeAspect="1"/>
          </p:cNvPicPr>
          <p:nvPr/>
        </p:nvPicPr>
        <p:blipFill>
          <a:blip r:embed="rId7">
            <a:extLst>
              <a:ext uri="{28A0092B-C50C-407E-A947-70E740481C1C}">
                <a14:useLocalDpi xmlns:a14="http://schemas.microsoft.com/office/drawing/2010/main" val="0"/>
              </a:ext>
            </a:extLst>
          </a:blip>
          <a:srcRect l="1184" t="51881" r="1005" b="499"/>
          <a:stretch>
            <a:fillRect/>
          </a:stretch>
        </p:blipFill>
        <p:spPr>
          <a:xfrm>
            <a:off x="820483" y="1146190"/>
            <a:ext cx="10551033" cy="5497144"/>
          </a:xfrm>
          <a:prstGeom prst="rect">
            <a:avLst/>
          </a:prstGeom>
        </p:spPr>
      </p:pic>
    </p:spTree>
    <p:extLst>
      <p:ext uri="{BB962C8B-B14F-4D97-AF65-F5344CB8AC3E}">
        <p14:creationId xmlns:p14="http://schemas.microsoft.com/office/powerpoint/2010/main" val="411421592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35E12-23FC-F8E2-D7E3-344A2B011E42}"/>
            </a:ext>
          </a:extLst>
        </p:cNvPr>
        <p:cNvGrpSpPr/>
        <p:nvPr/>
      </p:nvGrpSpPr>
      <p:grpSpPr>
        <a:xfrm>
          <a:off x="0" y="0"/>
          <a:ext cx="0" cy="0"/>
          <a:chOff x="0" y="0"/>
          <a:chExt cx="0" cy="0"/>
        </a:xfrm>
      </p:grpSpPr>
      <p:grpSp>
        <p:nvGrpSpPr>
          <p:cNvPr id="2" name="标题">
            <a:extLst>
              <a:ext uri="{FF2B5EF4-FFF2-40B4-BE49-F238E27FC236}">
                <a16:creationId xmlns:a16="http://schemas.microsoft.com/office/drawing/2014/main" id="{A53474EA-C9FB-41CF-BBD2-D3C511A9A7AD}"/>
              </a:ext>
            </a:extLst>
          </p:cNvPr>
          <p:cNvGrpSpPr/>
          <p:nvPr/>
        </p:nvGrpSpPr>
        <p:grpSpPr>
          <a:xfrm>
            <a:off x="462715" y="138029"/>
            <a:ext cx="2623384" cy="769151"/>
            <a:chOff x="462715" y="138029"/>
            <a:chExt cx="2623384" cy="769151"/>
          </a:xfrm>
        </p:grpSpPr>
        <p:cxnSp>
          <p:nvCxnSpPr>
            <p:cNvPr id="7" name="点缀线段">
              <a:extLst>
                <a:ext uri="{FF2B5EF4-FFF2-40B4-BE49-F238E27FC236}">
                  <a16:creationId xmlns:a16="http://schemas.microsoft.com/office/drawing/2014/main" id="{510C95D5-E093-3F77-A832-325262D8CBAD}"/>
                </a:ext>
              </a:extLst>
            </p:cNvPr>
            <p:cNvCxnSpPr/>
            <p:nvPr/>
          </p:nvCxnSpPr>
          <p:spPr>
            <a:xfrm>
              <a:off x="540367" y="907180"/>
              <a:ext cx="612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Strong Preparation">
              <a:extLst>
                <a:ext uri="{FF2B5EF4-FFF2-40B4-BE49-F238E27FC236}">
                  <a16:creationId xmlns:a16="http://schemas.microsoft.com/office/drawing/2014/main" id="{3888A5E5-074A-758E-29EA-CD55AD3C4567}"/>
                </a:ext>
              </a:extLst>
            </p:cNvPr>
            <p:cNvSpPr txBox="1"/>
            <p:nvPr/>
          </p:nvSpPr>
          <p:spPr>
            <a:xfrm>
              <a:off x="462715" y="584279"/>
              <a:ext cx="2623384" cy="268407"/>
            </a:xfrm>
            <a:prstGeom prst="rect">
              <a:avLst/>
            </a:prstGeom>
            <a:noFill/>
          </p:spPr>
          <p:txBody>
            <a:bodyPr wrap="square" rtlCol="0">
              <a:spAutoFit/>
              <a:scene3d>
                <a:camera prst="orthographicFront"/>
                <a:lightRig rig="threePt" dir="t"/>
              </a:scene3d>
              <a:sp3d contourW="12700"/>
            </a:bodyPr>
            <a:lstStyle/>
            <a:p>
              <a:pPr algn="dist">
                <a:lnSpc>
                  <a:spcPct val="120000"/>
                </a:lnSpc>
              </a:pPr>
              <a:r>
                <a:rPr lang="en-US" altLang="zh-CN" sz="1050" dirty="0">
                  <a:solidFill>
                    <a:prstClr val="white">
                      <a:lumMod val="50000"/>
                    </a:prstClr>
                  </a:solidFill>
                  <a:latin typeface="Arial" panose="020B0604020202020204" pitchFamily="34" charset="0"/>
                  <a:ea typeface="微软雅黑" panose="020B0503020204020204" pitchFamily="34" charset="-122"/>
                  <a:sym typeface="Arial" panose="020B0604020202020204" pitchFamily="34" charset="0"/>
                </a:rPr>
                <a:t>Algorithm Design</a:t>
              </a:r>
            </a:p>
          </p:txBody>
        </p:sp>
        <p:sp>
          <p:nvSpPr>
            <p:cNvPr id="8" name="基础扎实">
              <a:extLst>
                <a:ext uri="{FF2B5EF4-FFF2-40B4-BE49-F238E27FC236}">
                  <a16:creationId xmlns:a16="http://schemas.microsoft.com/office/drawing/2014/main" id="{7089F621-98EE-121A-2039-4BB81462E7B2}"/>
                </a:ext>
              </a:extLst>
            </p:cNvPr>
            <p:cNvSpPr txBox="1"/>
            <p:nvPr/>
          </p:nvSpPr>
          <p:spPr>
            <a:xfrm>
              <a:off x="462715" y="138029"/>
              <a:ext cx="2109035" cy="523220"/>
            </a:xfrm>
            <a:prstGeom prst="rect">
              <a:avLst/>
            </a:prstGeom>
            <a:noFill/>
          </p:spPr>
          <p:txBody>
            <a:bodyPr wrap="square" rtlCol="0">
              <a:spAutoFit/>
              <a:scene3d>
                <a:camera prst="orthographicFront"/>
                <a:lightRig rig="threePt" dir="t"/>
              </a:scene3d>
              <a:sp3d contourW="12700"/>
            </a:bodyPr>
            <a:lstStyle/>
            <a:p>
              <a:pPr algn="dist" defTabSz="457200"/>
              <a:r>
                <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算法设计</a:t>
              </a:r>
            </a:p>
          </p:txBody>
        </p:sp>
      </p:grpSp>
      <p:sp>
        <p:nvSpPr>
          <p:cNvPr id="38" name="合作QQ： 243001978">
            <a:extLst>
              <a:ext uri="{FF2B5EF4-FFF2-40B4-BE49-F238E27FC236}">
                <a16:creationId xmlns:a16="http://schemas.microsoft.com/office/drawing/2014/main" id="{7B653B8D-F3E2-7D2C-3B97-86FCFD7DB115}"/>
              </a:ext>
            </a:extLst>
          </p:cNvPr>
          <p:cNvSpPr/>
          <p:nvPr/>
        </p:nvSpPr>
        <p:spPr>
          <a:xfrm>
            <a:off x="9737482" y="6488668"/>
            <a:ext cx="2454518" cy="369332"/>
          </a:xfrm>
          <a:prstGeom prst="rect">
            <a:avLst/>
          </a:prstGeom>
        </p:spPr>
        <p:txBody>
          <a:bodyPr wrap="none">
            <a:spAutoFit/>
          </a:bodyPr>
          <a:lstStyle/>
          <a:p>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合作</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QQ</a:t>
            </a: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 </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243001978</a:t>
            </a:r>
            <a:endParaRPr lang="zh-CN" altLang="en-US">
              <a:solidFill>
                <a:srgbClr val="FFFFFF"/>
              </a:solidFill>
            </a:endParaRPr>
          </a:p>
        </p:txBody>
      </p:sp>
      <p:grpSp>
        <p:nvGrpSpPr>
          <p:cNvPr id="3" name="LOGO组合">
            <a:extLst>
              <a:ext uri="{FF2B5EF4-FFF2-40B4-BE49-F238E27FC236}">
                <a16:creationId xmlns:a16="http://schemas.microsoft.com/office/drawing/2014/main" id="{B08FCF7A-82A2-270B-A28C-E157872EA4D4}"/>
              </a:ext>
            </a:extLst>
          </p:cNvPr>
          <p:cNvGrpSpPr/>
          <p:nvPr/>
        </p:nvGrpSpPr>
        <p:grpSpPr>
          <a:xfrm>
            <a:off x="9120511" y="214665"/>
            <a:ext cx="2719167" cy="586775"/>
            <a:chOff x="685800" y="630052"/>
            <a:chExt cx="2719167" cy="586775"/>
          </a:xfrm>
        </p:grpSpPr>
        <p:pic>
          <p:nvPicPr>
            <p:cNvPr id="4" name="校名">
              <a:extLst>
                <a:ext uri="{FF2B5EF4-FFF2-40B4-BE49-F238E27FC236}">
                  <a16:creationId xmlns:a16="http://schemas.microsoft.com/office/drawing/2014/main" id="{D2C56584-D698-53E6-CB25-796583FD5921}"/>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441885" y="679578"/>
              <a:ext cx="1963082" cy="487722"/>
            </a:xfrm>
            <a:prstGeom prst="rect">
              <a:avLst/>
            </a:prstGeom>
          </p:spPr>
        </p:pic>
        <p:pic>
          <p:nvPicPr>
            <p:cNvPr id="10" name="校徽">
              <a:extLst>
                <a:ext uri="{FF2B5EF4-FFF2-40B4-BE49-F238E27FC236}">
                  <a16:creationId xmlns:a16="http://schemas.microsoft.com/office/drawing/2014/main" id="{CB18FBEC-CE18-DADB-05DD-DC5B183C2153}"/>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pic>
        <p:nvPicPr>
          <p:cNvPr id="11" name="图片 10">
            <a:extLst>
              <a:ext uri="{FF2B5EF4-FFF2-40B4-BE49-F238E27FC236}">
                <a16:creationId xmlns:a16="http://schemas.microsoft.com/office/drawing/2014/main" id="{D0B1E48C-EA26-3A76-1AA6-DFF51FD1E7E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2500" y="961675"/>
            <a:ext cx="10287000" cy="3286125"/>
          </a:xfrm>
          <a:prstGeom prst="rect">
            <a:avLst/>
          </a:prstGeom>
        </p:spPr>
      </p:pic>
      <p:sp>
        <p:nvSpPr>
          <p:cNvPr id="13" name="文本框 12">
            <a:extLst>
              <a:ext uri="{FF2B5EF4-FFF2-40B4-BE49-F238E27FC236}">
                <a16:creationId xmlns:a16="http://schemas.microsoft.com/office/drawing/2014/main" id="{0C96D4EC-729E-D23D-EBB0-4AA78D3237D0}"/>
              </a:ext>
            </a:extLst>
          </p:cNvPr>
          <p:cNvSpPr txBox="1"/>
          <p:nvPr/>
        </p:nvSpPr>
        <p:spPr>
          <a:xfrm>
            <a:off x="1098455" y="4891176"/>
            <a:ext cx="3450627" cy="1169551"/>
          </a:xfrm>
          <a:prstGeom prst="rect">
            <a:avLst/>
          </a:prstGeom>
          <a:noFill/>
        </p:spPr>
        <p:txBody>
          <a:bodyPr wrap="square" rtlCol="0">
            <a:spAutoFit/>
          </a:bodyPr>
          <a:lstStyle/>
          <a:p>
            <a:r>
              <a:rPr lang="en-US" altLang="zh-CN" sz="1400" b="1" dirty="0">
                <a:latin typeface="微软雅黑" panose="020B0503020204020204" pitchFamily="34" charset="-122"/>
                <a:ea typeface="微软雅黑" panose="020B0503020204020204" pitchFamily="34" charset="-122"/>
              </a:rPr>
              <a:t>Step 1</a:t>
            </a:r>
            <a:r>
              <a:rPr lang="zh-CN" altLang="en-US" sz="1400" b="1" dirty="0">
                <a:latin typeface="微软雅黑" panose="020B0503020204020204" pitchFamily="34" charset="-122"/>
                <a:ea typeface="微软雅黑" panose="020B0503020204020204" pitchFamily="34" charset="-122"/>
              </a:rPr>
              <a:t>：风格提取</a:t>
            </a:r>
            <a:endParaRPr lang="zh-CN" altLang="en-US"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将参考风格图 </a:t>
            </a:r>
            <a:r>
              <a:rPr lang="en-US" altLang="zh-CN" sz="1400" b="1" dirty="0">
                <a:latin typeface="微软雅黑" panose="020B0503020204020204" pitchFamily="34" charset="-122"/>
                <a:ea typeface="微软雅黑" panose="020B0503020204020204" pitchFamily="34" charset="-122"/>
              </a:rPr>
              <a:t>y</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输入 </a:t>
            </a:r>
            <a:r>
              <a:rPr lang="en-US" altLang="zh-CN" sz="1400" b="1" dirty="0">
                <a:latin typeface="微软雅黑" panose="020B0503020204020204" pitchFamily="34" charset="-122"/>
                <a:ea typeface="微软雅黑" panose="020B0503020204020204" pitchFamily="34" charset="-122"/>
              </a:rPr>
              <a:t>CLIP image encoder</a:t>
            </a:r>
            <a:r>
              <a:rPr lang="en-US" altLang="zh-CN" sz="1400" dirty="0">
                <a:latin typeface="微软雅黑" panose="020B0503020204020204" pitchFamily="34" charset="-122"/>
                <a:ea typeface="微软雅黑" panose="020B0503020204020204" pitchFamily="34" charset="-122"/>
              </a:rPr>
              <a:t> </a:t>
            </a:r>
          </a:p>
          <a:p>
            <a:r>
              <a:rPr lang="zh-CN" altLang="en-US" sz="1400" dirty="0">
                <a:latin typeface="微软雅黑" panose="020B0503020204020204" pitchFamily="34" charset="-122"/>
                <a:ea typeface="微软雅黑" panose="020B0503020204020204" pitchFamily="34" charset="-122"/>
              </a:rPr>
              <a:t>得到参考图的图像嵌入特征 </a:t>
            </a:r>
          </a:p>
          <a:p>
            <a:endParaRPr lang="zh-CN" altLang="en-US" sz="1400" dirty="0">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9A674857-18A4-FEF7-3110-318315FE1073}"/>
              </a:ext>
            </a:extLst>
          </p:cNvPr>
          <p:cNvSpPr txBox="1"/>
          <p:nvPr/>
        </p:nvSpPr>
        <p:spPr>
          <a:xfrm>
            <a:off x="4466579" y="4783455"/>
            <a:ext cx="3093836" cy="1384995"/>
          </a:xfrm>
          <a:prstGeom prst="rect">
            <a:avLst/>
          </a:prstGeom>
          <a:noFill/>
        </p:spPr>
        <p:txBody>
          <a:bodyPr wrap="square" rtlCol="0">
            <a:spAutoFit/>
          </a:bodyPr>
          <a:lstStyle/>
          <a:p>
            <a:r>
              <a:rPr lang="en-US" altLang="zh-CN" sz="1400" b="1" dirty="0">
                <a:latin typeface="微软雅黑" panose="020B0503020204020204" pitchFamily="34" charset="-122"/>
                <a:ea typeface="微软雅黑" panose="020B0503020204020204" pitchFamily="34" charset="-122"/>
              </a:rPr>
              <a:t>Step 2</a:t>
            </a:r>
            <a:r>
              <a:rPr lang="zh-CN" altLang="en-US" sz="1400" b="1" dirty="0">
                <a:latin typeface="微软雅黑" panose="020B0503020204020204" pitchFamily="34" charset="-122"/>
                <a:ea typeface="微软雅黑" panose="020B0503020204020204" pitchFamily="34" charset="-122"/>
              </a:rPr>
              <a:t>：风格反演</a:t>
            </a:r>
            <a:endParaRPr lang="zh-CN" altLang="en-US"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将图像嵌入送入 </a:t>
            </a:r>
            <a:r>
              <a:rPr lang="en-US" altLang="zh-CN" sz="1400" b="1" dirty="0">
                <a:latin typeface="微软雅黑" panose="020B0503020204020204" pitchFamily="34" charset="-122"/>
                <a:ea typeface="微软雅黑" panose="020B0503020204020204" pitchFamily="34" charset="-122"/>
              </a:rPr>
              <a:t>attention-based inversion module</a:t>
            </a:r>
            <a:r>
              <a:rPr lang="en-US" altLang="zh-CN" sz="1400" dirty="0">
                <a:latin typeface="微软雅黑" panose="020B0503020204020204" pitchFamily="34" charset="-122"/>
                <a:ea typeface="微软雅黑" panose="020B0503020204020204" pitchFamily="34" charset="-122"/>
              </a:rPr>
              <a:t> </a:t>
            </a:r>
          </a:p>
          <a:p>
            <a:r>
              <a:rPr lang="zh-CN" altLang="en-US" sz="1400" dirty="0">
                <a:latin typeface="微软雅黑" panose="020B0503020204020204" pitchFamily="34" charset="-122"/>
                <a:ea typeface="微软雅黑" panose="020B0503020204020204" pitchFamily="34" charset="-122"/>
              </a:rPr>
              <a:t>输出文本嵌入 </a:t>
            </a:r>
            <a:r>
              <a:rPr lang="en-US" altLang="zh-CN" sz="1400" b="1" dirty="0">
                <a:latin typeface="微软雅黑" panose="020B0503020204020204" pitchFamily="34" charset="-122"/>
                <a:ea typeface="微软雅黑" panose="020B0503020204020204" pitchFamily="34" charset="-122"/>
              </a:rPr>
              <a:t>v</a:t>
            </a:r>
            <a:r>
              <a:rPr lang="en-US" altLang="zh-CN" sz="1400" dirty="0">
                <a:latin typeface="微软雅黑" panose="020B0503020204020204" pitchFamily="34" charset="-122"/>
                <a:ea typeface="微软雅黑" panose="020B0503020204020204" pitchFamily="34" charset="-122"/>
              </a:rPr>
              <a:t> </a:t>
            </a:r>
          </a:p>
          <a:p>
            <a:r>
              <a:rPr lang="zh-CN" altLang="en-US" sz="1400" dirty="0">
                <a:latin typeface="微软雅黑" panose="020B0503020204020204" pitchFamily="34" charset="-122"/>
                <a:ea typeface="微软雅黑" panose="020B0503020204020204" pitchFamily="34" charset="-122"/>
              </a:rPr>
              <a:t>该嵌入对应论文中的风格词 </a:t>
            </a:r>
            <a:r>
              <a:rPr lang="en-US" altLang="zh-CN" sz="1400" b="1" dirty="0">
                <a:latin typeface="微软雅黑" panose="020B0503020204020204" pitchFamily="34" charset="-122"/>
                <a:ea typeface="微软雅黑" panose="020B0503020204020204" pitchFamily="34" charset="-122"/>
              </a:rPr>
              <a:t>[C]</a:t>
            </a:r>
            <a:r>
              <a:rPr lang="en-US" altLang="zh-CN" sz="1400" dirty="0">
                <a:latin typeface="微软雅黑" panose="020B0503020204020204" pitchFamily="34" charset="-122"/>
                <a:ea typeface="微软雅黑" panose="020B0503020204020204" pitchFamily="34" charset="-122"/>
              </a:rPr>
              <a:t> </a:t>
            </a:r>
          </a:p>
          <a:p>
            <a:endParaRPr lang="zh-CN" altLang="en-US" sz="1400" dirty="0"/>
          </a:p>
        </p:txBody>
      </p:sp>
      <p:sp>
        <p:nvSpPr>
          <p:cNvPr id="15" name="文本框 14">
            <a:extLst>
              <a:ext uri="{FF2B5EF4-FFF2-40B4-BE49-F238E27FC236}">
                <a16:creationId xmlns:a16="http://schemas.microsoft.com/office/drawing/2014/main" id="{CDD4C904-2B3E-D288-565C-A2B6D4E37BF9}"/>
              </a:ext>
            </a:extLst>
          </p:cNvPr>
          <p:cNvSpPr txBox="1"/>
          <p:nvPr/>
        </p:nvSpPr>
        <p:spPr>
          <a:xfrm>
            <a:off x="7940842" y="4568014"/>
            <a:ext cx="3093836" cy="1815882"/>
          </a:xfrm>
          <a:prstGeom prst="rect">
            <a:avLst/>
          </a:prstGeom>
          <a:noFill/>
        </p:spPr>
        <p:txBody>
          <a:bodyPr wrap="square" rtlCol="0">
            <a:spAutoFit/>
          </a:bodyPr>
          <a:lstStyle/>
          <a:p>
            <a:r>
              <a:rPr lang="en-US" altLang="zh-CN" sz="1400" b="1" dirty="0">
                <a:latin typeface="微软雅黑" panose="020B0503020204020204" pitchFamily="34" charset="-122"/>
                <a:ea typeface="微软雅黑" panose="020B0503020204020204" pitchFamily="34" charset="-122"/>
              </a:rPr>
              <a:t>Step 3</a:t>
            </a:r>
            <a:r>
              <a:rPr lang="zh-CN" altLang="en-US" sz="1400" b="1" dirty="0">
                <a:latin typeface="微软雅黑" panose="020B0503020204020204" pitchFamily="34" charset="-122"/>
                <a:ea typeface="微软雅黑" panose="020B0503020204020204" pitchFamily="34" charset="-122"/>
              </a:rPr>
              <a:t>：条件生成</a:t>
            </a:r>
            <a:endParaRPr lang="zh-CN" altLang="en-US"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将 </a:t>
            </a:r>
            <a:r>
              <a:rPr lang="en-US" altLang="zh-CN" sz="1400" b="1" dirty="0">
                <a:latin typeface="微软雅黑" panose="020B0503020204020204" pitchFamily="34" charset="-122"/>
                <a:ea typeface="微软雅黑" panose="020B0503020204020204" pitchFamily="34" charset="-122"/>
              </a:rPr>
              <a:t>v</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转换为 </a:t>
            </a:r>
            <a:r>
              <a:rPr lang="en-US" altLang="zh-CN" sz="1400" dirty="0">
                <a:latin typeface="微软雅黑" panose="020B0503020204020204" pitchFamily="34" charset="-122"/>
                <a:ea typeface="微软雅黑" panose="020B0503020204020204" pitchFamily="34" charset="-122"/>
              </a:rPr>
              <a:t>Stable Diffusion </a:t>
            </a:r>
            <a:r>
              <a:rPr lang="zh-CN" altLang="en-US" sz="1400" dirty="0">
                <a:latin typeface="微软雅黑" panose="020B0503020204020204" pitchFamily="34" charset="-122"/>
                <a:ea typeface="微软雅黑" panose="020B0503020204020204" pitchFamily="34" charset="-122"/>
              </a:rPr>
              <a:t>的文本条件 </a:t>
            </a:r>
          </a:p>
          <a:p>
            <a:r>
              <a:rPr lang="zh-CN" altLang="en-US" sz="1400" dirty="0">
                <a:latin typeface="微软雅黑" panose="020B0503020204020204" pitchFamily="34" charset="-122"/>
                <a:ea typeface="微软雅黑" panose="020B0503020204020204" pitchFamily="34" charset="-122"/>
              </a:rPr>
              <a:t>结合内容图经 </a:t>
            </a:r>
            <a:r>
              <a:rPr lang="en-US" altLang="zh-CN" sz="1400" b="1" dirty="0">
                <a:latin typeface="微软雅黑" panose="020B0503020204020204" pitchFamily="34" charset="-122"/>
                <a:ea typeface="微软雅黑" panose="020B0503020204020204" pitchFamily="34" charset="-122"/>
              </a:rPr>
              <a:t>stochastic inversion</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得到的噪声起点 </a:t>
            </a:r>
          </a:p>
          <a:p>
            <a:r>
              <a:rPr lang="zh-CN" altLang="en-US" sz="1400" dirty="0">
                <a:latin typeface="微软雅黑" panose="020B0503020204020204" pitchFamily="34" charset="-122"/>
                <a:ea typeface="微软雅黑" panose="020B0503020204020204" pitchFamily="34" charset="-122"/>
              </a:rPr>
              <a:t>共同驱动扩散生成，输出最终风格化结果</a:t>
            </a:r>
          </a:p>
          <a:p>
            <a:endParaRPr lang="zh-CN" altLang="en-US" sz="1400" dirty="0"/>
          </a:p>
        </p:txBody>
      </p:sp>
    </p:spTree>
    <p:extLst>
      <p:ext uri="{BB962C8B-B14F-4D97-AF65-F5344CB8AC3E}">
        <p14:creationId xmlns:p14="http://schemas.microsoft.com/office/powerpoint/2010/main" val="33684721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1E36A-C35D-67C6-B527-AFD290606C64}"/>
            </a:ext>
          </a:extLst>
        </p:cNvPr>
        <p:cNvGrpSpPr/>
        <p:nvPr/>
      </p:nvGrpSpPr>
      <p:grpSpPr>
        <a:xfrm>
          <a:off x="0" y="0"/>
          <a:ext cx="0" cy="0"/>
          <a:chOff x="0" y="0"/>
          <a:chExt cx="0" cy="0"/>
        </a:xfrm>
      </p:grpSpPr>
      <p:grpSp>
        <p:nvGrpSpPr>
          <p:cNvPr id="2" name="标题">
            <a:extLst>
              <a:ext uri="{FF2B5EF4-FFF2-40B4-BE49-F238E27FC236}">
                <a16:creationId xmlns:a16="http://schemas.microsoft.com/office/drawing/2014/main" id="{274326AA-51B0-5B4B-AE83-1ECF5FBE0EB6}"/>
              </a:ext>
            </a:extLst>
          </p:cNvPr>
          <p:cNvGrpSpPr/>
          <p:nvPr/>
        </p:nvGrpSpPr>
        <p:grpSpPr>
          <a:xfrm>
            <a:off x="462715" y="138029"/>
            <a:ext cx="2623384" cy="769151"/>
            <a:chOff x="462715" y="138029"/>
            <a:chExt cx="2623384" cy="769151"/>
          </a:xfrm>
        </p:grpSpPr>
        <p:cxnSp>
          <p:nvCxnSpPr>
            <p:cNvPr id="7" name="点缀线段">
              <a:extLst>
                <a:ext uri="{FF2B5EF4-FFF2-40B4-BE49-F238E27FC236}">
                  <a16:creationId xmlns:a16="http://schemas.microsoft.com/office/drawing/2014/main" id="{D19CD566-F93F-509F-1A6E-6E75271D733E}"/>
                </a:ext>
              </a:extLst>
            </p:cNvPr>
            <p:cNvCxnSpPr/>
            <p:nvPr/>
          </p:nvCxnSpPr>
          <p:spPr>
            <a:xfrm>
              <a:off x="540367" y="907180"/>
              <a:ext cx="612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Strong Preparation">
              <a:extLst>
                <a:ext uri="{FF2B5EF4-FFF2-40B4-BE49-F238E27FC236}">
                  <a16:creationId xmlns:a16="http://schemas.microsoft.com/office/drawing/2014/main" id="{7E421B8D-42FB-46D6-1B36-45B8B4BC2030}"/>
                </a:ext>
              </a:extLst>
            </p:cNvPr>
            <p:cNvSpPr txBox="1"/>
            <p:nvPr/>
          </p:nvSpPr>
          <p:spPr>
            <a:xfrm>
              <a:off x="462715" y="584279"/>
              <a:ext cx="2623384" cy="268407"/>
            </a:xfrm>
            <a:prstGeom prst="rect">
              <a:avLst/>
            </a:prstGeom>
            <a:noFill/>
          </p:spPr>
          <p:txBody>
            <a:bodyPr wrap="square" rtlCol="0">
              <a:spAutoFit/>
              <a:scene3d>
                <a:camera prst="orthographicFront"/>
                <a:lightRig rig="threePt" dir="t"/>
              </a:scene3d>
              <a:sp3d contourW="12700"/>
            </a:bodyPr>
            <a:lstStyle/>
            <a:p>
              <a:pPr algn="dist">
                <a:lnSpc>
                  <a:spcPct val="120000"/>
                </a:lnSpc>
              </a:pPr>
              <a:r>
                <a:rPr lang="en-US" altLang="zh-CN" sz="1050" dirty="0">
                  <a:solidFill>
                    <a:prstClr val="white">
                      <a:lumMod val="50000"/>
                    </a:prstClr>
                  </a:solidFill>
                  <a:latin typeface="Arial" panose="020B0604020202020204" pitchFamily="34" charset="0"/>
                  <a:ea typeface="微软雅黑" panose="020B0503020204020204" pitchFamily="34" charset="-122"/>
                  <a:sym typeface="Arial" panose="020B0604020202020204" pitchFamily="34" charset="0"/>
                </a:rPr>
                <a:t>Algorithm Design</a:t>
              </a:r>
            </a:p>
          </p:txBody>
        </p:sp>
        <p:sp>
          <p:nvSpPr>
            <p:cNvPr id="8" name="基础扎实">
              <a:extLst>
                <a:ext uri="{FF2B5EF4-FFF2-40B4-BE49-F238E27FC236}">
                  <a16:creationId xmlns:a16="http://schemas.microsoft.com/office/drawing/2014/main" id="{AE4AF341-3F8A-24D6-3DB8-8670D611F4F0}"/>
                </a:ext>
              </a:extLst>
            </p:cNvPr>
            <p:cNvSpPr txBox="1"/>
            <p:nvPr/>
          </p:nvSpPr>
          <p:spPr>
            <a:xfrm>
              <a:off x="462715" y="138029"/>
              <a:ext cx="2109035" cy="523220"/>
            </a:xfrm>
            <a:prstGeom prst="rect">
              <a:avLst/>
            </a:prstGeom>
            <a:noFill/>
          </p:spPr>
          <p:txBody>
            <a:bodyPr wrap="square" rtlCol="0">
              <a:spAutoFit/>
              <a:scene3d>
                <a:camera prst="orthographicFront"/>
                <a:lightRig rig="threePt" dir="t"/>
              </a:scene3d>
              <a:sp3d contourW="12700"/>
            </a:bodyPr>
            <a:lstStyle/>
            <a:p>
              <a:pPr algn="dist" defTabSz="457200"/>
              <a:r>
                <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算法设计</a:t>
              </a:r>
            </a:p>
          </p:txBody>
        </p:sp>
      </p:grpSp>
      <p:sp>
        <p:nvSpPr>
          <p:cNvPr id="38" name="合作QQ： 243001978">
            <a:extLst>
              <a:ext uri="{FF2B5EF4-FFF2-40B4-BE49-F238E27FC236}">
                <a16:creationId xmlns:a16="http://schemas.microsoft.com/office/drawing/2014/main" id="{9D3820D7-965B-662C-FEC6-C2A96C835821}"/>
              </a:ext>
            </a:extLst>
          </p:cNvPr>
          <p:cNvSpPr/>
          <p:nvPr/>
        </p:nvSpPr>
        <p:spPr>
          <a:xfrm>
            <a:off x="9737482" y="6488668"/>
            <a:ext cx="2454518" cy="369332"/>
          </a:xfrm>
          <a:prstGeom prst="rect">
            <a:avLst/>
          </a:prstGeom>
        </p:spPr>
        <p:txBody>
          <a:bodyPr wrap="none">
            <a:spAutoFit/>
          </a:bodyPr>
          <a:lstStyle/>
          <a:p>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合作</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QQ</a:t>
            </a: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 </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243001978</a:t>
            </a:r>
            <a:endParaRPr lang="zh-CN" altLang="en-US">
              <a:solidFill>
                <a:srgbClr val="FFFFFF"/>
              </a:solidFill>
            </a:endParaRPr>
          </a:p>
        </p:txBody>
      </p:sp>
      <p:grpSp>
        <p:nvGrpSpPr>
          <p:cNvPr id="3" name="LOGO组合">
            <a:extLst>
              <a:ext uri="{FF2B5EF4-FFF2-40B4-BE49-F238E27FC236}">
                <a16:creationId xmlns:a16="http://schemas.microsoft.com/office/drawing/2014/main" id="{0A63B8B7-4C38-8225-6394-FCE08FB87A6A}"/>
              </a:ext>
            </a:extLst>
          </p:cNvPr>
          <p:cNvGrpSpPr/>
          <p:nvPr/>
        </p:nvGrpSpPr>
        <p:grpSpPr>
          <a:xfrm>
            <a:off x="9120511" y="214665"/>
            <a:ext cx="2719167" cy="586775"/>
            <a:chOff x="685800" y="630052"/>
            <a:chExt cx="2719167" cy="586775"/>
          </a:xfrm>
        </p:grpSpPr>
        <p:pic>
          <p:nvPicPr>
            <p:cNvPr id="4" name="校名">
              <a:extLst>
                <a:ext uri="{FF2B5EF4-FFF2-40B4-BE49-F238E27FC236}">
                  <a16:creationId xmlns:a16="http://schemas.microsoft.com/office/drawing/2014/main" id="{8ECBFD02-C456-7693-4EE1-FB26854947BC}"/>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441885" y="679578"/>
              <a:ext cx="1963082" cy="487722"/>
            </a:xfrm>
            <a:prstGeom prst="rect">
              <a:avLst/>
            </a:prstGeom>
          </p:spPr>
        </p:pic>
        <p:pic>
          <p:nvPicPr>
            <p:cNvPr id="10" name="校徽">
              <a:extLst>
                <a:ext uri="{FF2B5EF4-FFF2-40B4-BE49-F238E27FC236}">
                  <a16:creationId xmlns:a16="http://schemas.microsoft.com/office/drawing/2014/main" id="{A48E6578-7633-0D82-03CD-0D149518AB76}"/>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sp>
        <p:nvSpPr>
          <p:cNvPr id="5" name="文本框 4">
            <a:extLst>
              <a:ext uri="{FF2B5EF4-FFF2-40B4-BE49-F238E27FC236}">
                <a16:creationId xmlns:a16="http://schemas.microsoft.com/office/drawing/2014/main" id="{C55D5917-8C37-A425-C96E-6084D2C20F77}"/>
              </a:ext>
            </a:extLst>
          </p:cNvPr>
          <p:cNvSpPr txBox="1"/>
          <p:nvPr/>
        </p:nvSpPr>
        <p:spPr>
          <a:xfrm>
            <a:off x="1260452" y="1036546"/>
            <a:ext cx="401511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模块 </a:t>
            </a: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Attention-based Textual Inversion</a:t>
            </a:r>
            <a:endParaRPr lang="zh-CN" altLang="en-US" sz="1400"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33FB1B69-5A83-5F06-C660-52A121E760F4}"/>
              </a:ext>
            </a:extLst>
          </p:cNvPr>
          <p:cNvSpPr txBox="1"/>
          <p:nvPr/>
        </p:nvSpPr>
        <p:spPr>
          <a:xfrm>
            <a:off x="7413551" y="1019582"/>
            <a:ext cx="3413919"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模块 </a:t>
            </a: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Stochastic Inversion</a:t>
            </a:r>
            <a:endParaRPr lang="zh-CN" altLang="en-US" sz="1400" dirty="0">
              <a:latin typeface="微软雅黑" panose="020B0503020204020204" pitchFamily="34" charset="-122"/>
              <a:ea typeface="微软雅黑" panose="020B0503020204020204" pitchFamily="34" charset="-122"/>
            </a:endParaRPr>
          </a:p>
        </p:txBody>
      </p:sp>
      <p:pic>
        <p:nvPicPr>
          <p:cNvPr id="11" name="图片 10">
            <a:extLst>
              <a:ext uri="{FF2B5EF4-FFF2-40B4-BE49-F238E27FC236}">
                <a16:creationId xmlns:a16="http://schemas.microsoft.com/office/drawing/2014/main" id="{88D50600-2CB9-76DA-7BA1-3CB922E7C4A5}"/>
              </a:ext>
            </a:extLst>
          </p:cNvPr>
          <p:cNvPicPr>
            <a:picLocks noChangeAspect="1"/>
          </p:cNvPicPr>
          <p:nvPr/>
        </p:nvPicPr>
        <p:blipFill>
          <a:blip r:embed="rId7">
            <a:extLst>
              <a:ext uri="{28A0092B-C50C-407E-A947-70E740481C1C}">
                <a14:useLocalDpi xmlns:a14="http://schemas.microsoft.com/office/drawing/2010/main" val="0"/>
              </a:ext>
            </a:extLst>
          </a:blip>
          <a:srcRect t="4293"/>
          <a:stretch>
            <a:fillRect/>
          </a:stretch>
        </p:blipFill>
        <p:spPr>
          <a:xfrm>
            <a:off x="846367" y="1397555"/>
            <a:ext cx="4721367" cy="1782654"/>
          </a:xfrm>
          <a:prstGeom prst="rect">
            <a:avLst/>
          </a:prstGeom>
        </p:spPr>
      </p:pic>
      <p:pic>
        <p:nvPicPr>
          <p:cNvPr id="13" name="图片 12">
            <a:extLst>
              <a:ext uri="{FF2B5EF4-FFF2-40B4-BE49-F238E27FC236}">
                <a16:creationId xmlns:a16="http://schemas.microsoft.com/office/drawing/2014/main" id="{F4AFCC06-9336-7FBE-E0F5-59C04522AF39}"/>
              </a:ext>
            </a:extLst>
          </p:cNvPr>
          <p:cNvPicPr>
            <a:picLocks noChangeAspect="1"/>
          </p:cNvPicPr>
          <p:nvPr/>
        </p:nvPicPr>
        <p:blipFill>
          <a:blip r:embed="rId8">
            <a:extLst>
              <a:ext uri="{28A0092B-C50C-407E-A947-70E740481C1C}">
                <a14:useLocalDpi xmlns:a14="http://schemas.microsoft.com/office/drawing/2010/main" val="0"/>
              </a:ext>
            </a:extLst>
          </a:blip>
          <a:srcRect t="4457" r="50388"/>
          <a:stretch>
            <a:fillRect/>
          </a:stretch>
        </p:blipFill>
        <p:spPr>
          <a:xfrm>
            <a:off x="6388137" y="1419197"/>
            <a:ext cx="4872237" cy="1096711"/>
          </a:xfrm>
          <a:prstGeom prst="rect">
            <a:avLst/>
          </a:prstGeom>
        </p:spPr>
      </p:pic>
      <p:pic>
        <p:nvPicPr>
          <p:cNvPr id="14" name="图片 13">
            <a:extLst>
              <a:ext uri="{FF2B5EF4-FFF2-40B4-BE49-F238E27FC236}">
                <a16:creationId xmlns:a16="http://schemas.microsoft.com/office/drawing/2014/main" id="{31B1BB35-A45A-B714-D814-B3F779ABADC0}"/>
              </a:ext>
            </a:extLst>
          </p:cNvPr>
          <p:cNvPicPr>
            <a:picLocks noChangeAspect="1"/>
          </p:cNvPicPr>
          <p:nvPr/>
        </p:nvPicPr>
        <p:blipFill>
          <a:blip r:embed="rId9"/>
          <a:srcRect l="51207"/>
          <a:stretch>
            <a:fillRect/>
          </a:stretch>
        </p:blipFill>
        <p:spPr>
          <a:xfrm>
            <a:off x="6558995" y="2619244"/>
            <a:ext cx="4584734" cy="1047685"/>
          </a:xfrm>
          <a:prstGeom prst="rect">
            <a:avLst/>
          </a:prstGeom>
        </p:spPr>
      </p:pic>
      <p:sp>
        <p:nvSpPr>
          <p:cNvPr id="22" name="文本框 21">
            <a:extLst>
              <a:ext uri="{FF2B5EF4-FFF2-40B4-BE49-F238E27FC236}">
                <a16:creationId xmlns:a16="http://schemas.microsoft.com/office/drawing/2014/main" id="{81F4636B-F4EA-F396-D994-5A98B8B1F68F}"/>
              </a:ext>
            </a:extLst>
          </p:cNvPr>
          <p:cNvSpPr txBox="1"/>
          <p:nvPr/>
        </p:nvSpPr>
        <p:spPr>
          <a:xfrm>
            <a:off x="873790" y="4261343"/>
            <a:ext cx="4788434" cy="2031325"/>
          </a:xfrm>
          <a:prstGeom prst="rect">
            <a:avLst/>
          </a:prstGeom>
          <a:noFill/>
        </p:spPr>
        <p:txBody>
          <a:bodyPr wrap="square" rtlCol="0">
            <a:spAutoFit/>
          </a:bodyPr>
          <a:lstStyle/>
          <a:p>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将参考画作表示为一个可学习的风格词 </a:t>
            </a:r>
            <a:r>
              <a:rPr lang="en-US" altLang="zh-CN" sz="1400" b="1" dirty="0">
                <a:latin typeface="微软雅黑" panose="020B0503020204020204" pitchFamily="34" charset="-122"/>
                <a:ea typeface="微软雅黑" panose="020B0503020204020204" pitchFamily="34" charset="-122"/>
              </a:rPr>
              <a:t>[C]</a:t>
            </a:r>
            <a:r>
              <a:rPr lang="zh-CN" altLang="en-US" sz="1400" dirty="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v</a:t>
            </a:r>
            <a:r>
              <a:rPr lang="zh-CN" altLang="en-US" sz="1400" b="1" dirty="0">
                <a:latin typeface="微软雅黑" panose="020B0503020204020204" pitchFamily="34" charset="-122"/>
                <a:ea typeface="微软雅黑" panose="020B0503020204020204" pitchFamily="34" charset="-122"/>
              </a:rPr>
              <a:t>）</a:t>
            </a:r>
          </a:p>
          <a:p>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用 </a:t>
            </a:r>
            <a:r>
              <a:rPr lang="en-US" altLang="zh-CN" sz="1400" b="1" dirty="0">
                <a:latin typeface="微软雅黑" panose="020B0503020204020204" pitchFamily="34" charset="-122"/>
                <a:ea typeface="微软雅黑" panose="020B0503020204020204" pitchFamily="34" charset="-122"/>
              </a:rPr>
              <a:t>CLIP </a:t>
            </a:r>
            <a:r>
              <a:rPr lang="zh-CN" altLang="en-US" sz="1400" b="1" dirty="0">
                <a:latin typeface="微软雅黑" panose="020B0503020204020204" pitchFamily="34" charset="-122"/>
                <a:ea typeface="微软雅黑" panose="020B0503020204020204" pitchFamily="34" charset="-122"/>
              </a:rPr>
              <a:t>图像编码器</a:t>
            </a:r>
            <a:r>
              <a:rPr lang="zh-CN" altLang="en-US" sz="1400" dirty="0">
                <a:latin typeface="微软雅黑" panose="020B0503020204020204" pitchFamily="34" charset="-122"/>
                <a:ea typeface="微软雅黑" panose="020B0503020204020204" pitchFamily="34" charset="-122"/>
              </a:rPr>
              <a:t>提取参考图特征 </a:t>
            </a:r>
          </a:p>
          <a:p>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通过</a:t>
            </a:r>
            <a:r>
              <a:rPr lang="zh-CN" altLang="en-US" sz="1400" b="1" dirty="0">
                <a:latin typeface="微软雅黑" panose="020B0503020204020204" pitchFamily="34" charset="-122"/>
                <a:ea typeface="微软雅黑" panose="020B0503020204020204" pitchFamily="34" charset="-122"/>
              </a:rPr>
              <a:t>多层 </a:t>
            </a:r>
            <a:r>
              <a:rPr lang="en-US" altLang="zh-CN" sz="1400" b="1" dirty="0">
                <a:latin typeface="微软雅黑" panose="020B0503020204020204" pitchFamily="34" charset="-122"/>
                <a:ea typeface="微软雅黑" panose="020B0503020204020204" pitchFamily="34" charset="-122"/>
              </a:rPr>
              <a:t>cross-attention</a:t>
            </a:r>
            <a:r>
              <a:rPr lang="zh-CN" altLang="en-US" sz="1400" dirty="0">
                <a:latin typeface="微软雅黑" panose="020B0503020204020204" pitchFamily="34" charset="-122"/>
                <a:ea typeface="微软雅黑" panose="020B0503020204020204" pitchFamily="34" charset="-122"/>
              </a:rPr>
              <a:t>，逐步从图像特征中提炼风格表示，其中：当前向量作为 </a:t>
            </a:r>
            <a:r>
              <a:rPr lang="en-US" altLang="zh-CN" sz="1400" dirty="0">
                <a:latin typeface="微软雅黑" panose="020B0503020204020204" pitchFamily="34" charset="-122"/>
                <a:ea typeface="微软雅黑" panose="020B0503020204020204" pitchFamily="34" charset="-122"/>
              </a:rPr>
              <a:t>Query</a:t>
            </a:r>
            <a:r>
              <a:rPr lang="zh-CN" altLang="en-US" sz="1400" dirty="0">
                <a:latin typeface="微软雅黑" panose="020B0503020204020204" pitchFamily="34" charset="-122"/>
                <a:ea typeface="微软雅黑" panose="020B0503020204020204" pitchFamily="34" charset="-122"/>
              </a:rPr>
              <a:t>，图像特征作为 </a:t>
            </a:r>
            <a:r>
              <a:rPr lang="en-US" altLang="zh-CN" sz="1400" dirty="0">
                <a:latin typeface="微软雅黑" panose="020B0503020204020204" pitchFamily="34" charset="-122"/>
                <a:ea typeface="微软雅黑" panose="020B0503020204020204" pitchFamily="34" charset="-122"/>
              </a:rPr>
              <a:t>Key / Value</a:t>
            </a:r>
            <a:endParaRPr lang="zh-CN" altLang="en-US" sz="1400" dirty="0">
              <a:latin typeface="微软雅黑" panose="020B0503020204020204" pitchFamily="34" charset="-122"/>
              <a:ea typeface="微软雅黑" panose="020B0503020204020204" pitchFamily="34" charset="-122"/>
            </a:endParaRPr>
          </a:p>
          <a:p>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每层加入 </a:t>
            </a:r>
            <a:r>
              <a:rPr lang="en-US" altLang="zh-CN" sz="1400" b="1" dirty="0">
                <a:latin typeface="微软雅黑" panose="020B0503020204020204" pitchFamily="34" charset="-122"/>
                <a:ea typeface="微软雅黑" panose="020B0503020204020204" pitchFamily="34" charset="-122"/>
              </a:rPr>
              <a:t>dropout=0.05</a:t>
            </a:r>
            <a:r>
              <a:rPr lang="zh-CN" altLang="en-US" sz="1400" dirty="0">
                <a:latin typeface="微软雅黑" panose="020B0503020204020204" pitchFamily="34" charset="-122"/>
                <a:ea typeface="微软雅黑" panose="020B0503020204020204" pitchFamily="34" charset="-122"/>
              </a:rPr>
              <a:t>，减轻单图学习时的过拟合 </a:t>
            </a:r>
            <a:endParaRPr lang="en-US" altLang="zh-CN" sz="1400" dirty="0">
              <a:latin typeface="微软雅黑" panose="020B0503020204020204" pitchFamily="34" charset="-122"/>
              <a:ea typeface="微软雅黑" panose="020B0503020204020204" pitchFamily="34" charset="-122"/>
            </a:endParaRPr>
          </a:p>
          <a:p>
            <a:endParaRPr lang="zh-CN" altLang="en-US" sz="1400" dirty="0">
              <a:latin typeface="微软雅黑" panose="020B0503020204020204" pitchFamily="34" charset="-122"/>
              <a:ea typeface="微软雅黑" panose="020B0503020204020204" pitchFamily="34" charset="-122"/>
            </a:endParaRPr>
          </a:p>
          <a:p>
            <a:r>
              <a:rPr lang="zh-CN" altLang="en-US" sz="1400" b="1" dirty="0">
                <a:latin typeface="微软雅黑" panose="020B0503020204020204" pitchFamily="34" charset="-122"/>
                <a:ea typeface="微软雅黑" panose="020B0503020204020204" pitchFamily="34" charset="-122"/>
              </a:rPr>
              <a:t>作用：学习一幅画中难以用语言描述的风格信息</a:t>
            </a:r>
            <a:endParaRPr lang="zh-CN" altLang="en-US" sz="1400" dirty="0">
              <a:latin typeface="微软雅黑" panose="020B0503020204020204" pitchFamily="34" charset="-122"/>
              <a:ea typeface="微软雅黑" panose="020B0503020204020204" pitchFamily="34" charset="-122"/>
            </a:endParaRPr>
          </a:p>
          <a:p>
            <a:endParaRPr lang="zh-CN" altLang="en-US" sz="1400" dirty="0">
              <a:latin typeface="微软雅黑" panose="020B0503020204020204" pitchFamily="34" charset="-122"/>
              <a:ea typeface="微软雅黑" panose="020B0503020204020204" pitchFamily="34" charset="-122"/>
            </a:endParaRPr>
          </a:p>
        </p:txBody>
      </p:sp>
      <p:pic>
        <p:nvPicPr>
          <p:cNvPr id="24" name="图片 23">
            <a:extLst>
              <a:ext uri="{FF2B5EF4-FFF2-40B4-BE49-F238E27FC236}">
                <a16:creationId xmlns:a16="http://schemas.microsoft.com/office/drawing/2014/main" id="{3492D38C-57DD-E23B-B14E-74EB26E7391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73790" y="3206489"/>
            <a:ext cx="4895850" cy="952500"/>
          </a:xfrm>
          <a:prstGeom prst="rect">
            <a:avLst/>
          </a:prstGeom>
        </p:spPr>
      </p:pic>
      <p:sp>
        <p:nvSpPr>
          <p:cNvPr id="25" name="文本框 24">
            <a:extLst>
              <a:ext uri="{FF2B5EF4-FFF2-40B4-BE49-F238E27FC236}">
                <a16:creationId xmlns:a16="http://schemas.microsoft.com/office/drawing/2014/main" id="{AA6558E5-A328-1183-2016-0DE337D342DC}"/>
              </a:ext>
            </a:extLst>
          </p:cNvPr>
          <p:cNvSpPr txBox="1"/>
          <p:nvPr/>
        </p:nvSpPr>
        <p:spPr>
          <a:xfrm>
            <a:off x="6705140" y="4032592"/>
            <a:ext cx="4303868" cy="1815882"/>
          </a:xfrm>
          <a:prstGeom prst="rect">
            <a:avLst/>
          </a:prstGeom>
          <a:noFill/>
        </p:spPr>
        <p:txBody>
          <a:bodyPr wrap="square" rtlCol="0">
            <a:spAutoFit/>
          </a:bodyPr>
          <a:lstStyle/>
          <a:p>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扩散生成不仅受文本条件影响，也受</a:t>
            </a:r>
            <a:r>
              <a:rPr lang="zh-CN" altLang="en-US" sz="1400" b="1" dirty="0">
                <a:latin typeface="微软雅黑" panose="020B0503020204020204" pitchFamily="34" charset="-122"/>
                <a:ea typeface="微软雅黑" panose="020B0503020204020204" pitchFamily="34" charset="-122"/>
              </a:rPr>
              <a:t>初始噪声</a:t>
            </a:r>
            <a:r>
              <a:rPr lang="zh-CN" altLang="en-US" sz="1400" dirty="0">
                <a:latin typeface="微软雅黑" panose="020B0503020204020204" pitchFamily="34" charset="-122"/>
                <a:ea typeface="微软雅黑" panose="020B0503020204020204" pitchFamily="34" charset="-122"/>
              </a:rPr>
              <a:t>影响 </a:t>
            </a:r>
          </a:p>
          <a:p>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若直接从随机噪声开始，生成结果容易偏离内容图语义 </a:t>
            </a:r>
          </a:p>
          <a:p>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因此，先对内容图加噪，再用 </a:t>
            </a:r>
            <a:r>
              <a:rPr lang="en-US" altLang="zh-CN" sz="1400" b="1" dirty="0">
                <a:latin typeface="微软雅黑" panose="020B0503020204020204" pitchFamily="34" charset="-122"/>
                <a:ea typeface="微软雅黑" panose="020B0503020204020204" pitchFamily="34" charset="-122"/>
              </a:rPr>
              <a:t>denoising U-Net</a:t>
            </a:r>
            <a:r>
              <a:rPr lang="zh-CN" altLang="en-US" sz="1400" dirty="0">
                <a:latin typeface="微软雅黑" panose="020B0503020204020204" pitchFamily="34" charset="-122"/>
                <a:ea typeface="微软雅黑" panose="020B0503020204020204" pitchFamily="34" charset="-122"/>
              </a:rPr>
              <a:t>预测噪声 </a:t>
            </a:r>
          </a:p>
          <a:p>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将预测噪声作为生成起点，提升内容保持能力 </a:t>
            </a:r>
          </a:p>
          <a:p>
            <a:r>
              <a:rPr lang="en-US" altLang="zh-CN" sz="1400" dirty="0">
                <a:latin typeface="微软雅黑" panose="020B0503020204020204" pitchFamily="34" charset="-122"/>
                <a:ea typeface="微软雅黑" panose="020B0503020204020204" pitchFamily="34" charset="-122"/>
              </a:rPr>
              <a:t>5.</a:t>
            </a:r>
            <a:r>
              <a:rPr lang="zh-CN" altLang="en-US" sz="1400" dirty="0">
                <a:latin typeface="微软雅黑" panose="020B0503020204020204" pitchFamily="34" charset="-122"/>
                <a:ea typeface="微软雅黑" panose="020B0503020204020204" pitchFamily="34" charset="-122"/>
              </a:rPr>
              <a:t>作用：在迁移风格的同时，尽量保留原始内容结构与语义</a:t>
            </a:r>
          </a:p>
        </p:txBody>
      </p:sp>
    </p:spTree>
    <p:extLst>
      <p:ext uri="{BB962C8B-B14F-4D97-AF65-F5344CB8AC3E}">
        <p14:creationId xmlns:p14="http://schemas.microsoft.com/office/powerpoint/2010/main" val="29232820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D4470-E35E-3060-7B59-E479039131CA}"/>
            </a:ext>
          </a:extLst>
        </p:cNvPr>
        <p:cNvGrpSpPr/>
        <p:nvPr/>
      </p:nvGrpSpPr>
      <p:grpSpPr>
        <a:xfrm>
          <a:off x="0" y="0"/>
          <a:ext cx="0" cy="0"/>
          <a:chOff x="0" y="0"/>
          <a:chExt cx="0" cy="0"/>
        </a:xfrm>
      </p:grpSpPr>
      <p:grpSp>
        <p:nvGrpSpPr>
          <p:cNvPr id="2" name="标题">
            <a:extLst>
              <a:ext uri="{FF2B5EF4-FFF2-40B4-BE49-F238E27FC236}">
                <a16:creationId xmlns:a16="http://schemas.microsoft.com/office/drawing/2014/main" id="{19A899BB-C6EE-CBD8-0C48-A0F9510E7C00}"/>
              </a:ext>
            </a:extLst>
          </p:cNvPr>
          <p:cNvGrpSpPr/>
          <p:nvPr/>
        </p:nvGrpSpPr>
        <p:grpSpPr>
          <a:xfrm>
            <a:off x="462715" y="138029"/>
            <a:ext cx="2623384" cy="769151"/>
            <a:chOff x="462715" y="138029"/>
            <a:chExt cx="2623384" cy="769151"/>
          </a:xfrm>
        </p:grpSpPr>
        <p:cxnSp>
          <p:nvCxnSpPr>
            <p:cNvPr id="7" name="点缀线段">
              <a:extLst>
                <a:ext uri="{FF2B5EF4-FFF2-40B4-BE49-F238E27FC236}">
                  <a16:creationId xmlns:a16="http://schemas.microsoft.com/office/drawing/2014/main" id="{966CC361-D74C-58BB-9620-0321FC32FFE0}"/>
                </a:ext>
              </a:extLst>
            </p:cNvPr>
            <p:cNvCxnSpPr/>
            <p:nvPr/>
          </p:nvCxnSpPr>
          <p:spPr>
            <a:xfrm>
              <a:off x="540367" y="907180"/>
              <a:ext cx="612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Strong Preparation">
              <a:extLst>
                <a:ext uri="{FF2B5EF4-FFF2-40B4-BE49-F238E27FC236}">
                  <a16:creationId xmlns:a16="http://schemas.microsoft.com/office/drawing/2014/main" id="{EE6B6659-230C-1FB3-ABDB-B884498CECBE}"/>
                </a:ext>
              </a:extLst>
            </p:cNvPr>
            <p:cNvSpPr txBox="1"/>
            <p:nvPr/>
          </p:nvSpPr>
          <p:spPr>
            <a:xfrm>
              <a:off x="462715" y="584279"/>
              <a:ext cx="2623384" cy="268407"/>
            </a:xfrm>
            <a:prstGeom prst="rect">
              <a:avLst/>
            </a:prstGeom>
            <a:noFill/>
          </p:spPr>
          <p:txBody>
            <a:bodyPr wrap="square" rtlCol="0">
              <a:spAutoFit/>
              <a:scene3d>
                <a:camera prst="orthographicFront"/>
                <a:lightRig rig="threePt" dir="t"/>
              </a:scene3d>
              <a:sp3d contourW="12700"/>
            </a:bodyPr>
            <a:lstStyle/>
            <a:p>
              <a:pPr algn="dist">
                <a:lnSpc>
                  <a:spcPct val="120000"/>
                </a:lnSpc>
              </a:pPr>
              <a:r>
                <a:rPr lang="en-US" altLang="zh-CN" sz="1050" dirty="0">
                  <a:solidFill>
                    <a:prstClr val="white">
                      <a:lumMod val="50000"/>
                    </a:prstClr>
                  </a:solidFill>
                  <a:latin typeface="Arial" panose="020B0604020202020204" pitchFamily="34" charset="0"/>
                  <a:ea typeface="微软雅黑" panose="020B0503020204020204" pitchFamily="34" charset="-122"/>
                  <a:sym typeface="Arial" panose="020B0604020202020204" pitchFamily="34" charset="0"/>
                </a:rPr>
                <a:t>Algorithm Design</a:t>
              </a:r>
            </a:p>
          </p:txBody>
        </p:sp>
        <p:sp>
          <p:nvSpPr>
            <p:cNvPr id="8" name="基础扎实">
              <a:extLst>
                <a:ext uri="{FF2B5EF4-FFF2-40B4-BE49-F238E27FC236}">
                  <a16:creationId xmlns:a16="http://schemas.microsoft.com/office/drawing/2014/main" id="{681D9B5E-882C-0764-39AA-075378A5E72E}"/>
                </a:ext>
              </a:extLst>
            </p:cNvPr>
            <p:cNvSpPr txBox="1"/>
            <p:nvPr/>
          </p:nvSpPr>
          <p:spPr>
            <a:xfrm>
              <a:off x="462715" y="138029"/>
              <a:ext cx="2109035" cy="523220"/>
            </a:xfrm>
            <a:prstGeom prst="rect">
              <a:avLst/>
            </a:prstGeom>
            <a:noFill/>
          </p:spPr>
          <p:txBody>
            <a:bodyPr wrap="square" rtlCol="0">
              <a:spAutoFit/>
              <a:scene3d>
                <a:camera prst="orthographicFront"/>
                <a:lightRig rig="threePt" dir="t"/>
              </a:scene3d>
              <a:sp3d contourW="12700"/>
            </a:bodyPr>
            <a:lstStyle/>
            <a:p>
              <a:pPr algn="dist" defTabSz="457200"/>
              <a:r>
                <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算法设计</a:t>
              </a:r>
            </a:p>
          </p:txBody>
        </p:sp>
      </p:grpSp>
      <p:sp>
        <p:nvSpPr>
          <p:cNvPr id="38" name="合作QQ： 243001978">
            <a:extLst>
              <a:ext uri="{FF2B5EF4-FFF2-40B4-BE49-F238E27FC236}">
                <a16:creationId xmlns:a16="http://schemas.microsoft.com/office/drawing/2014/main" id="{E64A655D-9F52-83B2-ABA4-A5026452DA00}"/>
              </a:ext>
            </a:extLst>
          </p:cNvPr>
          <p:cNvSpPr/>
          <p:nvPr/>
        </p:nvSpPr>
        <p:spPr>
          <a:xfrm>
            <a:off x="9737482" y="6488668"/>
            <a:ext cx="2454518" cy="369332"/>
          </a:xfrm>
          <a:prstGeom prst="rect">
            <a:avLst/>
          </a:prstGeom>
        </p:spPr>
        <p:txBody>
          <a:bodyPr wrap="none">
            <a:spAutoFit/>
          </a:bodyPr>
          <a:lstStyle/>
          <a:p>
            <a:r>
              <a:rPr lang="zh-CN" altLang="en-US" dirty="0">
                <a:solidFill>
                  <a:srgbClr val="FFFFFF"/>
                </a:solidFill>
                <a:latin typeface="Arial" panose="020B0604020202020204" pitchFamily="34" charset="0"/>
                <a:ea typeface="微软雅黑" panose="020B0503020204020204" pitchFamily="34" charset="-122"/>
                <a:sym typeface="Arial" panose="020B0604020202020204" pitchFamily="34" charset="0"/>
              </a:rPr>
              <a:t>合作</a:t>
            </a:r>
            <a:r>
              <a:rPr lang="en-US" altLang="zh-CN" dirty="0">
                <a:solidFill>
                  <a:srgbClr val="FFFFFF"/>
                </a:solidFill>
                <a:latin typeface="Arial" panose="020B0604020202020204" pitchFamily="34" charset="0"/>
                <a:ea typeface="微软雅黑" panose="020B0503020204020204" pitchFamily="34" charset="-122"/>
                <a:sym typeface="Arial" panose="020B0604020202020204" pitchFamily="34" charset="0"/>
              </a:rPr>
              <a:t>QQ</a:t>
            </a:r>
            <a:r>
              <a:rPr lang="zh-CN" altLang="en-US" dirty="0">
                <a:solidFill>
                  <a:srgbClr val="FFFFFF"/>
                </a:solidFill>
                <a:latin typeface="Arial" panose="020B0604020202020204" pitchFamily="34" charset="0"/>
                <a:ea typeface="微软雅黑" panose="020B0503020204020204" pitchFamily="34" charset="-122"/>
                <a:sym typeface="Arial" panose="020B0604020202020204" pitchFamily="34" charset="0"/>
              </a:rPr>
              <a:t>： </a:t>
            </a:r>
            <a:r>
              <a:rPr lang="en-US" altLang="zh-CN" dirty="0">
                <a:solidFill>
                  <a:srgbClr val="FFFFFF"/>
                </a:solidFill>
                <a:latin typeface="Arial" panose="020B0604020202020204" pitchFamily="34" charset="0"/>
                <a:ea typeface="微软雅黑" panose="020B0503020204020204" pitchFamily="34" charset="-122"/>
                <a:sym typeface="Arial" panose="020B0604020202020204" pitchFamily="34" charset="0"/>
              </a:rPr>
              <a:t>243001978</a:t>
            </a:r>
            <a:endParaRPr lang="zh-CN" altLang="en-US" dirty="0">
              <a:solidFill>
                <a:srgbClr val="FFFFFF"/>
              </a:solidFill>
            </a:endParaRPr>
          </a:p>
        </p:txBody>
      </p:sp>
      <p:grpSp>
        <p:nvGrpSpPr>
          <p:cNvPr id="3" name="LOGO组合">
            <a:extLst>
              <a:ext uri="{FF2B5EF4-FFF2-40B4-BE49-F238E27FC236}">
                <a16:creationId xmlns:a16="http://schemas.microsoft.com/office/drawing/2014/main" id="{F01985D4-11B0-1429-6BE7-C3CFA58B9AE2}"/>
              </a:ext>
            </a:extLst>
          </p:cNvPr>
          <p:cNvGrpSpPr/>
          <p:nvPr/>
        </p:nvGrpSpPr>
        <p:grpSpPr>
          <a:xfrm>
            <a:off x="9120511" y="214665"/>
            <a:ext cx="2719167" cy="586775"/>
            <a:chOff x="685800" y="630052"/>
            <a:chExt cx="2719167" cy="586775"/>
          </a:xfrm>
        </p:grpSpPr>
        <p:pic>
          <p:nvPicPr>
            <p:cNvPr id="4" name="校名">
              <a:extLst>
                <a:ext uri="{FF2B5EF4-FFF2-40B4-BE49-F238E27FC236}">
                  <a16:creationId xmlns:a16="http://schemas.microsoft.com/office/drawing/2014/main" id="{ECAEDE8D-2761-7754-D57D-C9A4CF0014A2}"/>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441885" y="679578"/>
              <a:ext cx="1963082" cy="487722"/>
            </a:xfrm>
            <a:prstGeom prst="rect">
              <a:avLst/>
            </a:prstGeom>
          </p:spPr>
        </p:pic>
        <p:pic>
          <p:nvPicPr>
            <p:cNvPr id="10" name="校徽">
              <a:extLst>
                <a:ext uri="{FF2B5EF4-FFF2-40B4-BE49-F238E27FC236}">
                  <a16:creationId xmlns:a16="http://schemas.microsoft.com/office/drawing/2014/main" id="{9D5658B4-E289-E439-A3DE-EABFA3FEDD80}"/>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pic>
        <p:nvPicPr>
          <p:cNvPr id="11" name="图片 10">
            <a:extLst>
              <a:ext uri="{FF2B5EF4-FFF2-40B4-BE49-F238E27FC236}">
                <a16:creationId xmlns:a16="http://schemas.microsoft.com/office/drawing/2014/main" id="{063F26FB-9729-7252-9A04-C22580D8563F}"/>
              </a:ext>
            </a:extLst>
          </p:cNvPr>
          <p:cNvPicPr>
            <a:picLocks noChangeAspect="1"/>
          </p:cNvPicPr>
          <p:nvPr/>
        </p:nvPicPr>
        <p:blipFill>
          <a:blip r:embed="rId7">
            <a:extLst>
              <a:ext uri="{28A0092B-C50C-407E-A947-70E740481C1C}">
                <a14:useLocalDpi xmlns:a14="http://schemas.microsoft.com/office/drawing/2010/main" val="0"/>
              </a:ext>
            </a:extLst>
          </a:blip>
          <a:srcRect l="54823" t="3092" r="2938" b="32628"/>
          <a:stretch>
            <a:fillRect/>
          </a:stretch>
        </p:blipFill>
        <p:spPr>
          <a:xfrm>
            <a:off x="526028" y="1925462"/>
            <a:ext cx="2560071" cy="1244537"/>
          </a:xfrm>
          <a:prstGeom prst="rect">
            <a:avLst/>
          </a:prstGeom>
        </p:spPr>
      </p:pic>
      <p:pic>
        <p:nvPicPr>
          <p:cNvPr id="6" name="图片 5">
            <a:extLst>
              <a:ext uri="{FF2B5EF4-FFF2-40B4-BE49-F238E27FC236}">
                <a16:creationId xmlns:a16="http://schemas.microsoft.com/office/drawing/2014/main" id="{DF2357DF-DE5F-DFBC-772D-C63AA2C6237F}"/>
              </a:ext>
            </a:extLst>
          </p:cNvPr>
          <p:cNvPicPr>
            <a:picLocks noChangeAspect="1"/>
          </p:cNvPicPr>
          <p:nvPr/>
        </p:nvPicPr>
        <p:blipFill>
          <a:blip r:embed="rId8">
            <a:extLst>
              <a:ext uri="{28A0092B-C50C-407E-A947-70E740481C1C}">
                <a14:useLocalDpi xmlns:a14="http://schemas.microsoft.com/office/drawing/2010/main" val="0"/>
              </a:ext>
            </a:extLst>
          </a:blip>
          <a:srcRect t="10267"/>
          <a:stretch>
            <a:fillRect/>
          </a:stretch>
        </p:blipFill>
        <p:spPr>
          <a:xfrm>
            <a:off x="4665101" y="915115"/>
            <a:ext cx="6261315" cy="3162086"/>
          </a:xfrm>
          <a:prstGeom prst="rect">
            <a:avLst/>
          </a:prstGeom>
        </p:spPr>
      </p:pic>
      <p:sp>
        <p:nvSpPr>
          <p:cNvPr id="9" name="箭头: 右 8">
            <a:extLst>
              <a:ext uri="{FF2B5EF4-FFF2-40B4-BE49-F238E27FC236}">
                <a16:creationId xmlns:a16="http://schemas.microsoft.com/office/drawing/2014/main" id="{44BF54FC-6958-2A36-A7BA-6A6440992CA6}"/>
              </a:ext>
            </a:extLst>
          </p:cNvPr>
          <p:cNvSpPr/>
          <p:nvPr/>
        </p:nvSpPr>
        <p:spPr>
          <a:xfrm>
            <a:off x="3446244" y="2312504"/>
            <a:ext cx="858711" cy="470452"/>
          </a:xfrm>
          <a:prstGeom prst="rightArrow">
            <a:avLst>
              <a:gd name="adj1" fmla="val 50000"/>
              <a:gd name="adj2" fmla="val 104167"/>
            </a:avLst>
          </a:prstGeom>
          <a:solidFill>
            <a:schemeClr val="accent5">
              <a:lumMod val="40000"/>
              <a:lumOff val="60000"/>
            </a:schemeClr>
          </a:solidFill>
          <a:ln>
            <a:solidFill>
              <a:schemeClr val="tx1"/>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CN" altLang="en-US" dirty="0"/>
          </a:p>
        </p:txBody>
      </p:sp>
      <mc:AlternateContent xmlns:mc="http://schemas.openxmlformats.org/markup-compatibility/2006">
        <mc:Choice xmlns:a14="http://schemas.microsoft.com/office/drawing/2010/main" Requires="a14">
          <p:sp>
            <p:nvSpPr>
              <p:cNvPr id="16" name="文本框 15">
                <a:extLst>
                  <a:ext uri="{FF2B5EF4-FFF2-40B4-BE49-F238E27FC236}">
                    <a16:creationId xmlns:a16="http://schemas.microsoft.com/office/drawing/2014/main" id="{451CDEA2-9ACE-D43C-6636-9AEFB664C09A}"/>
                  </a:ext>
                </a:extLst>
              </p:cNvPr>
              <p:cNvSpPr txBox="1"/>
              <p:nvPr/>
            </p:nvSpPr>
            <p:spPr>
              <a:xfrm>
                <a:off x="730968" y="3688002"/>
                <a:ext cx="3681564" cy="2031325"/>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从参考图中学出来的风格词 </a:t>
                </a:r>
                <a:r>
                  <a:rPr lang="en-US" altLang="zh-CN" sz="1400" dirty="0">
                    <a:latin typeface="微软雅黑" panose="020B0503020204020204" pitchFamily="34" charset="-122"/>
                    <a:ea typeface="微软雅黑" panose="020B0503020204020204" pitchFamily="34" charset="-122"/>
                  </a:rPr>
                  <a:t>[C]</a:t>
                </a:r>
                <a:r>
                  <a:rPr lang="zh-CN" altLang="en-US" sz="1400" dirty="0">
                    <a:latin typeface="微软雅黑" panose="020B0503020204020204" pitchFamily="34" charset="-122"/>
                    <a:ea typeface="微软雅黑" panose="020B0503020204020204" pitchFamily="34" charset="-122"/>
                  </a:rPr>
                  <a:t> 经过文本编码器，变成条件表示 </a:t>
                </a:r>
                <a14:m>
                  <m:oMath xmlns:m="http://schemas.openxmlformats.org/officeDocument/2006/math">
                    <m:sSub>
                      <m:sSubPr>
                        <m:ctrlPr>
                          <a:rPr lang="zh-CN" altLang="en-US" sz="1400"/>
                        </m:ctrlPr>
                      </m:sSubPr>
                      <m:e>
                        <m:r>
                          <a:rPr lang="zh-CN" altLang="en-US" sz="1400" i="1"/>
                          <m:t>𝑐</m:t>
                        </m:r>
                      </m:e>
                      <m:sub>
                        <m:r>
                          <a:rPr lang="zh-CN" altLang="en-US" sz="1400" i="1"/>
                          <m:t>𝜃</m:t>
                        </m:r>
                      </m:sub>
                    </m:sSub>
                    <m:d>
                      <m:dPr>
                        <m:ctrlPr>
                          <a:rPr lang="zh-CN" altLang="en-US" sz="1400" i="1"/>
                        </m:ctrlPr>
                      </m:dPr>
                      <m:e>
                        <m:r>
                          <a:rPr lang="zh-CN" altLang="en-US" sz="1400" i="1"/>
                          <m:t>𝑦</m:t>
                        </m:r>
                      </m:e>
                    </m:d>
                  </m:oMath>
                </a14:m>
                <a:endParaRPr lang="zh-CN" altLang="en-US"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然后通过 </a:t>
                </a:r>
                <a:r>
                  <a:rPr lang="en-US" altLang="zh-CN" sz="1400" b="1" dirty="0">
                    <a:latin typeface="微软雅黑" panose="020B0503020204020204" pitchFamily="34" charset="-122"/>
                    <a:ea typeface="微软雅黑" panose="020B0503020204020204" pitchFamily="34" charset="-122"/>
                  </a:rPr>
                  <a:t>cross-attention</a:t>
                </a:r>
                <a:r>
                  <a:rPr lang="zh-CN" altLang="en-US" sz="1400" b="1" dirty="0">
                    <a:latin typeface="微软雅黑" panose="020B0503020204020204" pitchFamily="34" charset="-122"/>
                    <a:ea typeface="微软雅黑" panose="020B0503020204020204" pitchFamily="34" charset="-122"/>
                  </a:rPr>
                  <a:t>（交叉注意力）</a:t>
                </a:r>
                <a:r>
                  <a:rPr lang="zh-CN" altLang="en-US" sz="1400" dirty="0">
                    <a:latin typeface="微软雅黑" panose="020B0503020204020204" pitchFamily="34" charset="-122"/>
                    <a:ea typeface="微软雅黑" panose="020B0503020204020204" pitchFamily="34" charset="-122"/>
                  </a:rPr>
                  <a:t> 注入到 </a:t>
                </a:r>
                <a:r>
                  <a:rPr lang="en-US" altLang="zh-CN" sz="1400" dirty="0">
                    <a:latin typeface="微软雅黑" panose="020B0503020204020204" pitchFamily="34" charset="-122"/>
                    <a:ea typeface="微软雅黑" panose="020B0503020204020204" pitchFamily="34" charset="-122"/>
                  </a:rPr>
                  <a:t>U-Net </a:t>
                </a:r>
                <a:r>
                  <a:rPr lang="zh-CN" altLang="en-US" sz="1400" dirty="0">
                    <a:latin typeface="微软雅黑" panose="020B0503020204020204" pitchFamily="34" charset="-122"/>
                    <a:ea typeface="微软雅黑" panose="020B0503020204020204" pitchFamily="34" charset="-122"/>
                  </a:rPr>
                  <a:t>里。</a:t>
                </a:r>
              </a:p>
              <a:p>
                <a:r>
                  <a:rPr lang="zh-CN" altLang="en-US" sz="1400" dirty="0">
                    <a:latin typeface="微软雅黑" panose="020B0503020204020204" pitchFamily="34" charset="-122"/>
                    <a:ea typeface="微软雅黑" panose="020B0503020204020204" pitchFamily="34" charset="-122"/>
                  </a:rPr>
                  <a:t>其中</a:t>
                </a:r>
                <a:r>
                  <a:rPr lang="en-US" altLang="zh-CN" sz="1400" b="1" dirty="0">
                    <a:latin typeface="微软雅黑" panose="020B0503020204020204" pitchFamily="34" charset="-122"/>
                    <a:ea typeface="微软雅黑" panose="020B0503020204020204" pitchFamily="34" charset="-122"/>
                  </a:rPr>
                  <a:t>Q</a:t>
                </a:r>
                <a:r>
                  <a:rPr lang="zh-CN" altLang="en-US" sz="1400" dirty="0">
                    <a:latin typeface="微软雅黑" panose="020B0503020204020204" pitchFamily="34" charset="-122"/>
                    <a:ea typeface="微软雅黑" panose="020B0503020204020204" pitchFamily="34" charset="-122"/>
                  </a:rPr>
                  <a:t>来自当前生成特征 ，</a:t>
                </a:r>
                <a:r>
                  <a:rPr lang="en-US" altLang="zh-CN" sz="1400" b="1" dirty="0">
                    <a:latin typeface="微软雅黑" panose="020B0503020204020204" pitchFamily="34" charset="-122"/>
                    <a:ea typeface="微软雅黑" panose="020B0503020204020204" pitchFamily="34" charset="-122"/>
                  </a:rPr>
                  <a:t>K / V</a:t>
                </a:r>
                <a:r>
                  <a:rPr lang="zh-CN" altLang="en-US" sz="1400" dirty="0">
                    <a:latin typeface="微软雅黑" panose="020B0503020204020204" pitchFamily="34" charset="-122"/>
                    <a:ea typeface="微软雅黑" panose="020B0503020204020204" pitchFamily="34" charset="-122"/>
                  </a:rPr>
                  <a:t>：来自风格条件 </a:t>
                </a:r>
                <a:endParaRPr lang="en-US" altLang="zh-CN" sz="1400" dirty="0">
                  <a:latin typeface="微软雅黑" panose="020B0503020204020204" pitchFamily="34" charset="-122"/>
                  <a:ea typeface="微软雅黑" panose="020B0503020204020204" pitchFamily="34" charset="-122"/>
                </a:endParaRPr>
              </a:p>
              <a:p>
                <a:endParaRPr lang="zh-CN" altLang="en-US"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去噪网络在每一步去噪时，都会参考风格条件。</a:t>
                </a:r>
              </a:p>
            </p:txBody>
          </p:sp>
        </mc:Choice>
        <mc:Fallback>
          <p:sp>
            <p:nvSpPr>
              <p:cNvPr id="16" name="文本框 15">
                <a:extLst>
                  <a:ext uri="{FF2B5EF4-FFF2-40B4-BE49-F238E27FC236}">
                    <a16:creationId xmlns:a16="http://schemas.microsoft.com/office/drawing/2014/main" id="{451CDEA2-9ACE-D43C-6636-9AEFB664C09A}"/>
                  </a:ext>
                </a:extLst>
              </p:cNvPr>
              <p:cNvSpPr txBox="1">
                <a:spLocks noRot="1" noChangeAspect="1" noMove="1" noResize="1" noEditPoints="1" noAdjustHandles="1" noChangeArrowheads="1" noChangeShapeType="1" noTextEdit="1"/>
              </p:cNvSpPr>
              <p:nvPr/>
            </p:nvSpPr>
            <p:spPr>
              <a:xfrm>
                <a:off x="730968" y="3688002"/>
                <a:ext cx="3681564" cy="2031325"/>
              </a:xfrm>
              <a:prstGeom prst="rect">
                <a:avLst/>
              </a:prstGeom>
              <a:blipFill>
                <a:blip r:embed="rId9"/>
                <a:stretch>
                  <a:fillRect l="-497" t="-601" b="-2102"/>
                </a:stretch>
              </a:blipFill>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E0A9F25F-6F21-DFD3-6A74-E8BEA82B0804}"/>
              </a:ext>
            </a:extLst>
          </p:cNvPr>
          <p:cNvPicPr>
            <a:picLocks noChangeAspect="1"/>
          </p:cNvPicPr>
          <p:nvPr/>
        </p:nvPicPr>
        <p:blipFill>
          <a:blip r:embed="rId10">
            <a:extLst>
              <a:ext uri="{28A0092B-C50C-407E-A947-70E740481C1C}">
                <a14:useLocalDpi xmlns:a14="http://schemas.microsoft.com/office/drawing/2010/main" val="0"/>
              </a:ext>
            </a:extLst>
          </a:blip>
          <a:srcRect t="16065"/>
          <a:stretch>
            <a:fillRect/>
          </a:stretch>
        </p:blipFill>
        <p:spPr>
          <a:xfrm>
            <a:off x="5199951" y="4085736"/>
            <a:ext cx="5191613" cy="2452459"/>
          </a:xfrm>
          <a:prstGeom prst="rect">
            <a:avLst/>
          </a:prstGeom>
        </p:spPr>
      </p:pic>
    </p:spTree>
    <p:extLst>
      <p:ext uri="{BB962C8B-B14F-4D97-AF65-F5344CB8AC3E}">
        <p14:creationId xmlns:p14="http://schemas.microsoft.com/office/powerpoint/2010/main" val="278208474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0993-F0CC-73CB-D41A-B2D6AC2576C1}"/>
            </a:ext>
          </a:extLst>
        </p:cNvPr>
        <p:cNvGrpSpPr/>
        <p:nvPr/>
      </p:nvGrpSpPr>
      <p:grpSpPr>
        <a:xfrm>
          <a:off x="0" y="0"/>
          <a:ext cx="0" cy="0"/>
          <a:chOff x="0" y="0"/>
          <a:chExt cx="0" cy="0"/>
        </a:xfrm>
      </p:grpSpPr>
      <p:grpSp>
        <p:nvGrpSpPr>
          <p:cNvPr id="2" name="标题">
            <a:extLst>
              <a:ext uri="{FF2B5EF4-FFF2-40B4-BE49-F238E27FC236}">
                <a16:creationId xmlns:a16="http://schemas.microsoft.com/office/drawing/2014/main" id="{307DF2C8-54CC-0864-F766-0419B06FB1E4}"/>
              </a:ext>
            </a:extLst>
          </p:cNvPr>
          <p:cNvGrpSpPr/>
          <p:nvPr/>
        </p:nvGrpSpPr>
        <p:grpSpPr>
          <a:xfrm>
            <a:off x="462715" y="138029"/>
            <a:ext cx="2623384" cy="769151"/>
            <a:chOff x="462715" y="138029"/>
            <a:chExt cx="2623384" cy="769151"/>
          </a:xfrm>
        </p:grpSpPr>
        <p:cxnSp>
          <p:nvCxnSpPr>
            <p:cNvPr id="7" name="点缀线段">
              <a:extLst>
                <a:ext uri="{FF2B5EF4-FFF2-40B4-BE49-F238E27FC236}">
                  <a16:creationId xmlns:a16="http://schemas.microsoft.com/office/drawing/2014/main" id="{380EACC1-4AAD-522D-6B6E-196E1E6E27A2}"/>
                </a:ext>
              </a:extLst>
            </p:cNvPr>
            <p:cNvCxnSpPr/>
            <p:nvPr/>
          </p:nvCxnSpPr>
          <p:spPr>
            <a:xfrm>
              <a:off x="540367" y="907180"/>
              <a:ext cx="612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Strong Preparation">
              <a:extLst>
                <a:ext uri="{FF2B5EF4-FFF2-40B4-BE49-F238E27FC236}">
                  <a16:creationId xmlns:a16="http://schemas.microsoft.com/office/drawing/2014/main" id="{45A2C533-D542-73A3-EF9D-650FA2BDAF46}"/>
                </a:ext>
              </a:extLst>
            </p:cNvPr>
            <p:cNvSpPr txBox="1"/>
            <p:nvPr/>
          </p:nvSpPr>
          <p:spPr>
            <a:xfrm>
              <a:off x="462715" y="584279"/>
              <a:ext cx="2623384" cy="268407"/>
            </a:xfrm>
            <a:prstGeom prst="rect">
              <a:avLst/>
            </a:prstGeom>
            <a:noFill/>
          </p:spPr>
          <p:txBody>
            <a:bodyPr wrap="square" rtlCol="0">
              <a:spAutoFit/>
              <a:scene3d>
                <a:camera prst="orthographicFront"/>
                <a:lightRig rig="threePt" dir="t"/>
              </a:scene3d>
              <a:sp3d contourW="12700"/>
            </a:bodyPr>
            <a:lstStyle/>
            <a:p>
              <a:pPr algn="dist">
                <a:lnSpc>
                  <a:spcPct val="120000"/>
                </a:lnSpc>
              </a:pPr>
              <a:r>
                <a:rPr lang="en-US" altLang="zh-CN" sz="1050" dirty="0">
                  <a:solidFill>
                    <a:prstClr val="white">
                      <a:lumMod val="50000"/>
                    </a:prstClr>
                  </a:solidFill>
                  <a:latin typeface="Arial" panose="020B0604020202020204" pitchFamily="34" charset="0"/>
                  <a:ea typeface="微软雅黑" panose="020B0503020204020204" pitchFamily="34" charset="-122"/>
                  <a:sym typeface="Arial" panose="020B0604020202020204" pitchFamily="34" charset="0"/>
                </a:rPr>
                <a:t>Experimental Results</a:t>
              </a:r>
            </a:p>
          </p:txBody>
        </p:sp>
        <p:sp>
          <p:nvSpPr>
            <p:cNvPr id="8" name="基础扎实">
              <a:extLst>
                <a:ext uri="{FF2B5EF4-FFF2-40B4-BE49-F238E27FC236}">
                  <a16:creationId xmlns:a16="http://schemas.microsoft.com/office/drawing/2014/main" id="{735A896F-189E-175A-8854-0A8D988968AA}"/>
                </a:ext>
              </a:extLst>
            </p:cNvPr>
            <p:cNvSpPr txBox="1"/>
            <p:nvPr/>
          </p:nvSpPr>
          <p:spPr>
            <a:xfrm>
              <a:off x="462715" y="138029"/>
              <a:ext cx="2109035" cy="523220"/>
            </a:xfrm>
            <a:prstGeom prst="rect">
              <a:avLst/>
            </a:prstGeom>
            <a:noFill/>
          </p:spPr>
          <p:txBody>
            <a:bodyPr wrap="square" rtlCol="0">
              <a:spAutoFit/>
              <a:scene3d>
                <a:camera prst="orthographicFront"/>
                <a:lightRig rig="threePt" dir="t"/>
              </a:scene3d>
              <a:sp3d contourW="12700"/>
            </a:bodyPr>
            <a:lstStyle/>
            <a:p>
              <a:pPr algn="dist" defTabSz="457200"/>
              <a:r>
                <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实验结果</a:t>
              </a:r>
            </a:p>
          </p:txBody>
        </p:sp>
      </p:grpSp>
      <p:sp>
        <p:nvSpPr>
          <p:cNvPr id="38" name="合作QQ： 243001978">
            <a:extLst>
              <a:ext uri="{FF2B5EF4-FFF2-40B4-BE49-F238E27FC236}">
                <a16:creationId xmlns:a16="http://schemas.microsoft.com/office/drawing/2014/main" id="{25640D8B-65BA-093B-1C1A-EE8B9AC3D8E2}"/>
              </a:ext>
            </a:extLst>
          </p:cNvPr>
          <p:cNvSpPr/>
          <p:nvPr/>
        </p:nvSpPr>
        <p:spPr>
          <a:xfrm>
            <a:off x="9737482" y="6488668"/>
            <a:ext cx="2454518" cy="369332"/>
          </a:xfrm>
          <a:prstGeom prst="rect">
            <a:avLst/>
          </a:prstGeom>
        </p:spPr>
        <p:txBody>
          <a:bodyPr wrap="none">
            <a:spAutoFit/>
          </a:bodyPr>
          <a:lstStyle/>
          <a:p>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合作</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QQ</a:t>
            </a: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 </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243001978</a:t>
            </a:r>
            <a:endParaRPr lang="zh-CN" altLang="en-US">
              <a:solidFill>
                <a:srgbClr val="FFFFFF"/>
              </a:solidFill>
            </a:endParaRPr>
          </a:p>
        </p:txBody>
      </p:sp>
      <p:grpSp>
        <p:nvGrpSpPr>
          <p:cNvPr id="3" name="LOGO组合">
            <a:extLst>
              <a:ext uri="{FF2B5EF4-FFF2-40B4-BE49-F238E27FC236}">
                <a16:creationId xmlns:a16="http://schemas.microsoft.com/office/drawing/2014/main" id="{3722052B-1F2B-E8CF-6919-4AF3E4AD4AF2}"/>
              </a:ext>
            </a:extLst>
          </p:cNvPr>
          <p:cNvGrpSpPr/>
          <p:nvPr/>
        </p:nvGrpSpPr>
        <p:grpSpPr>
          <a:xfrm>
            <a:off x="9120511" y="214665"/>
            <a:ext cx="2719167" cy="586775"/>
            <a:chOff x="685800" y="630052"/>
            <a:chExt cx="2719167" cy="586775"/>
          </a:xfrm>
        </p:grpSpPr>
        <p:pic>
          <p:nvPicPr>
            <p:cNvPr id="4" name="校名">
              <a:extLst>
                <a:ext uri="{FF2B5EF4-FFF2-40B4-BE49-F238E27FC236}">
                  <a16:creationId xmlns:a16="http://schemas.microsoft.com/office/drawing/2014/main" id="{28600B5D-E102-B2E7-E247-8368B638D64C}"/>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441885" y="679578"/>
              <a:ext cx="1963082" cy="487722"/>
            </a:xfrm>
            <a:prstGeom prst="rect">
              <a:avLst/>
            </a:prstGeom>
          </p:spPr>
        </p:pic>
        <p:pic>
          <p:nvPicPr>
            <p:cNvPr id="10" name="校徽">
              <a:extLst>
                <a:ext uri="{FF2B5EF4-FFF2-40B4-BE49-F238E27FC236}">
                  <a16:creationId xmlns:a16="http://schemas.microsoft.com/office/drawing/2014/main" id="{CE7E28F9-7EA7-DDA8-94D1-CD473A3029E3}"/>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pic>
        <p:nvPicPr>
          <p:cNvPr id="6" name="图片 5">
            <a:extLst>
              <a:ext uri="{FF2B5EF4-FFF2-40B4-BE49-F238E27FC236}">
                <a16:creationId xmlns:a16="http://schemas.microsoft.com/office/drawing/2014/main" id="{6196C478-AAB4-D89B-AEA4-96E0CBDEA22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27259" y="975286"/>
            <a:ext cx="5708964" cy="5698048"/>
          </a:xfrm>
          <a:prstGeom prst="rect">
            <a:avLst/>
          </a:prstGeom>
        </p:spPr>
      </p:pic>
      <p:sp>
        <p:nvSpPr>
          <p:cNvPr id="9" name="文本框 8">
            <a:extLst>
              <a:ext uri="{FF2B5EF4-FFF2-40B4-BE49-F238E27FC236}">
                <a16:creationId xmlns:a16="http://schemas.microsoft.com/office/drawing/2014/main" id="{ECEDC7E3-2724-DC74-0AE7-0F00DEA1DC01}"/>
              </a:ext>
            </a:extLst>
          </p:cNvPr>
          <p:cNvSpPr txBox="1"/>
          <p:nvPr/>
        </p:nvSpPr>
        <p:spPr>
          <a:xfrm>
            <a:off x="7430895" y="2531648"/>
            <a:ext cx="3671350" cy="2585323"/>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    和传统风格迁移方法比较，</a:t>
            </a:r>
            <a:r>
              <a:rPr lang="en-US" altLang="zh-CN" dirty="0" err="1">
                <a:latin typeface="微软雅黑" panose="020B0503020204020204" pitchFamily="34" charset="-122"/>
                <a:ea typeface="微软雅黑" panose="020B0503020204020204" pitchFamily="34" charset="-122"/>
              </a:rPr>
              <a:t>InST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不仅迁移颜色和笔触，还能迁移</a:t>
            </a:r>
            <a:r>
              <a:rPr lang="zh-CN" altLang="en-US" b="1" dirty="0">
                <a:latin typeface="微软雅黑" panose="020B0503020204020204" pitchFamily="34" charset="-122"/>
                <a:ea typeface="微软雅黑" panose="020B0503020204020204" pitchFamily="34" charset="-122"/>
              </a:rPr>
              <a:t>物体形状、语义元素、特殊装饰效果</a:t>
            </a:r>
            <a:r>
              <a:rPr lang="zh-CN" altLang="en-US"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    并且人脸轮廓、眼睛形状更接近参考画风 ，山体、太阳等高层形态迁移更明显，还能能复现星星、头饰、跑车等特殊语义元素 </a:t>
            </a:r>
          </a:p>
          <a:p>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744964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0DC87-A8DB-D98C-55F9-335FDBCA7F07}"/>
            </a:ext>
          </a:extLst>
        </p:cNvPr>
        <p:cNvGrpSpPr/>
        <p:nvPr/>
      </p:nvGrpSpPr>
      <p:grpSpPr>
        <a:xfrm>
          <a:off x="0" y="0"/>
          <a:ext cx="0" cy="0"/>
          <a:chOff x="0" y="0"/>
          <a:chExt cx="0" cy="0"/>
        </a:xfrm>
      </p:grpSpPr>
      <p:grpSp>
        <p:nvGrpSpPr>
          <p:cNvPr id="2" name="标题">
            <a:extLst>
              <a:ext uri="{FF2B5EF4-FFF2-40B4-BE49-F238E27FC236}">
                <a16:creationId xmlns:a16="http://schemas.microsoft.com/office/drawing/2014/main" id="{DB5EDB7F-C68B-A104-985F-ECE66A3BDC14}"/>
              </a:ext>
            </a:extLst>
          </p:cNvPr>
          <p:cNvGrpSpPr/>
          <p:nvPr/>
        </p:nvGrpSpPr>
        <p:grpSpPr>
          <a:xfrm>
            <a:off x="462715" y="138029"/>
            <a:ext cx="2623384" cy="769151"/>
            <a:chOff x="462715" y="138029"/>
            <a:chExt cx="2623384" cy="769151"/>
          </a:xfrm>
        </p:grpSpPr>
        <p:cxnSp>
          <p:nvCxnSpPr>
            <p:cNvPr id="7" name="点缀线段">
              <a:extLst>
                <a:ext uri="{FF2B5EF4-FFF2-40B4-BE49-F238E27FC236}">
                  <a16:creationId xmlns:a16="http://schemas.microsoft.com/office/drawing/2014/main" id="{BB565C5B-0787-3B57-97AD-CB36EA4559EE}"/>
                </a:ext>
              </a:extLst>
            </p:cNvPr>
            <p:cNvCxnSpPr/>
            <p:nvPr/>
          </p:nvCxnSpPr>
          <p:spPr>
            <a:xfrm>
              <a:off x="540367" y="907180"/>
              <a:ext cx="612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Strong Preparation">
              <a:extLst>
                <a:ext uri="{FF2B5EF4-FFF2-40B4-BE49-F238E27FC236}">
                  <a16:creationId xmlns:a16="http://schemas.microsoft.com/office/drawing/2014/main" id="{FF20C73E-2B19-03FD-92E0-A95CCD6F99E7}"/>
                </a:ext>
              </a:extLst>
            </p:cNvPr>
            <p:cNvSpPr txBox="1"/>
            <p:nvPr/>
          </p:nvSpPr>
          <p:spPr>
            <a:xfrm>
              <a:off x="462715" y="584279"/>
              <a:ext cx="2623384" cy="268407"/>
            </a:xfrm>
            <a:prstGeom prst="rect">
              <a:avLst/>
            </a:prstGeom>
            <a:noFill/>
          </p:spPr>
          <p:txBody>
            <a:bodyPr wrap="square" rtlCol="0">
              <a:spAutoFit/>
              <a:scene3d>
                <a:camera prst="orthographicFront"/>
                <a:lightRig rig="threePt" dir="t"/>
              </a:scene3d>
              <a:sp3d contourW="12700"/>
            </a:bodyPr>
            <a:lstStyle/>
            <a:p>
              <a:pPr algn="dist">
                <a:lnSpc>
                  <a:spcPct val="120000"/>
                </a:lnSpc>
              </a:pPr>
              <a:r>
                <a:rPr lang="en-US" altLang="zh-CN" sz="1050" dirty="0">
                  <a:solidFill>
                    <a:prstClr val="white">
                      <a:lumMod val="50000"/>
                    </a:prstClr>
                  </a:solidFill>
                  <a:latin typeface="Arial" panose="020B0604020202020204" pitchFamily="34" charset="0"/>
                  <a:ea typeface="微软雅黑" panose="020B0503020204020204" pitchFamily="34" charset="-122"/>
                  <a:sym typeface="Arial" panose="020B0604020202020204" pitchFamily="34" charset="0"/>
                </a:rPr>
                <a:t>Experimental Results</a:t>
              </a:r>
            </a:p>
          </p:txBody>
        </p:sp>
        <p:sp>
          <p:nvSpPr>
            <p:cNvPr id="8" name="基础扎实">
              <a:extLst>
                <a:ext uri="{FF2B5EF4-FFF2-40B4-BE49-F238E27FC236}">
                  <a16:creationId xmlns:a16="http://schemas.microsoft.com/office/drawing/2014/main" id="{763D0945-5E20-938C-2804-17F09B24782B}"/>
                </a:ext>
              </a:extLst>
            </p:cNvPr>
            <p:cNvSpPr txBox="1"/>
            <p:nvPr/>
          </p:nvSpPr>
          <p:spPr>
            <a:xfrm>
              <a:off x="462715" y="138029"/>
              <a:ext cx="2109035" cy="523220"/>
            </a:xfrm>
            <a:prstGeom prst="rect">
              <a:avLst/>
            </a:prstGeom>
            <a:noFill/>
          </p:spPr>
          <p:txBody>
            <a:bodyPr wrap="square" rtlCol="0">
              <a:spAutoFit/>
              <a:scene3d>
                <a:camera prst="orthographicFront"/>
                <a:lightRig rig="threePt" dir="t"/>
              </a:scene3d>
              <a:sp3d contourW="12700"/>
            </a:bodyPr>
            <a:lstStyle/>
            <a:p>
              <a:pPr algn="dist" defTabSz="457200"/>
              <a:r>
                <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实验结果</a:t>
              </a:r>
            </a:p>
          </p:txBody>
        </p:sp>
      </p:grpSp>
      <p:sp>
        <p:nvSpPr>
          <p:cNvPr id="38" name="合作QQ： 243001978">
            <a:extLst>
              <a:ext uri="{FF2B5EF4-FFF2-40B4-BE49-F238E27FC236}">
                <a16:creationId xmlns:a16="http://schemas.microsoft.com/office/drawing/2014/main" id="{6004660A-E966-18D8-AE53-4EA2C67DC9EB}"/>
              </a:ext>
            </a:extLst>
          </p:cNvPr>
          <p:cNvSpPr/>
          <p:nvPr/>
        </p:nvSpPr>
        <p:spPr>
          <a:xfrm>
            <a:off x="9737482" y="6488668"/>
            <a:ext cx="2454518" cy="369332"/>
          </a:xfrm>
          <a:prstGeom prst="rect">
            <a:avLst/>
          </a:prstGeom>
        </p:spPr>
        <p:txBody>
          <a:bodyPr wrap="none">
            <a:spAutoFit/>
          </a:bodyPr>
          <a:lstStyle/>
          <a:p>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合作</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QQ</a:t>
            </a: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 </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243001978</a:t>
            </a:r>
            <a:endParaRPr lang="zh-CN" altLang="en-US">
              <a:solidFill>
                <a:srgbClr val="FFFFFF"/>
              </a:solidFill>
            </a:endParaRPr>
          </a:p>
        </p:txBody>
      </p:sp>
      <p:grpSp>
        <p:nvGrpSpPr>
          <p:cNvPr id="3" name="LOGO组合">
            <a:extLst>
              <a:ext uri="{FF2B5EF4-FFF2-40B4-BE49-F238E27FC236}">
                <a16:creationId xmlns:a16="http://schemas.microsoft.com/office/drawing/2014/main" id="{1F37F84B-CB52-2FA4-0F3B-7AF33246395E}"/>
              </a:ext>
            </a:extLst>
          </p:cNvPr>
          <p:cNvGrpSpPr/>
          <p:nvPr/>
        </p:nvGrpSpPr>
        <p:grpSpPr>
          <a:xfrm>
            <a:off x="9120511" y="214665"/>
            <a:ext cx="2719167" cy="586775"/>
            <a:chOff x="685800" y="630052"/>
            <a:chExt cx="2719167" cy="586775"/>
          </a:xfrm>
        </p:grpSpPr>
        <p:pic>
          <p:nvPicPr>
            <p:cNvPr id="4" name="校名">
              <a:extLst>
                <a:ext uri="{FF2B5EF4-FFF2-40B4-BE49-F238E27FC236}">
                  <a16:creationId xmlns:a16="http://schemas.microsoft.com/office/drawing/2014/main" id="{8EE6A9D5-8023-101B-8E50-CB917030CCAE}"/>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441885" y="679578"/>
              <a:ext cx="1963082" cy="487722"/>
            </a:xfrm>
            <a:prstGeom prst="rect">
              <a:avLst/>
            </a:prstGeom>
          </p:spPr>
        </p:pic>
        <p:pic>
          <p:nvPicPr>
            <p:cNvPr id="10" name="校徽">
              <a:extLst>
                <a:ext uri="{FF2B5EF4-FFF2-40B4-BE49-F238E27FC236}">
                  <a16:creationId xmlns:a16="http://schemas.microsoft.com/office/drawing/2014/main" id="{57AE9A25-76B4-AFDB-1B6C-FB6379A2F014}"/>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pic>
        <p:nvPicPr>
          <p:cNvPr id="11" name="图片 10">
            <a:extLst>
              <a:ext uri="{FF2B5EF4-FFF2-40B4-BE49-F238E27FC236}">
                <a16:creationId xmlns:a16="http://schemas.microsoft.com/office/drawing/2014/main" id="{1CE2D261-5148-55BE-82DF-840161E6662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99768" y="907180"/>
            <a:ext cx="7837714" cy="3907756"/>
          </a:xfrm>
          <a:prstGeom prst="rect">
            <a:avLst/>
          </a:prstGeom>
        </p:spPr>
      </p:pic>
      <p:sp>
        <p:nvSpPr>
          <p:cNvPr id="13" name="文本框 12">
            <a:extLst>
              <a:ext uri="{FF2B5EF4-FFF2-40B4-BE49-F238E27FC236}">
                <a16:creationId xmlns:a16="http://schemas.microsoft.com/office/drawing/2014/main" id="{E78C39E1-A2E4-9E5D-BC5F-3D26159EEE2B}"/>
              </a:ext>
            </a:extLst>
          </p:cNvPr>
          <p:cNvSpPr txBox="1"/>
          <p:nvPr/>
        </p:nvSpPr>
        <p:spPr>
          <a:xfrm>
            <a:off x="2040321" y="5087639"/>
            <a:ext cx="7697161" cy="923330"/>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和文本驱动方法比较，</a:t>
            </a:r>
            <a:r>
              <a:rPr lang="en-US" altLang="zh-CN" dirty="0" err="1">
                <a:latin typeface="微软雅黑" panose="020B0503020204020204" pitchFamily="34" charset="-122"/>
                <a:ea typeface="微软雅黑" panose="020B0503020204020204" pitchFamily="34" charset="-122"/>
              </a:rPr>
              <a:t>InST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不只是“能学到风格”，而且“更能和文本组合”， </a:t>
            </a:r>
            <a:r>
              <a:rPr lang="en-US" altLang="zh-CN" dirty="0" err="1">
                <a:latin typeface="微软雅黑" panose="020B0503020204020204" pitchFamily="34" charset="-122"/>
                <a:ea typeface="微软雅黑" panose="020B0503020204020204" pitchFamily="34" charset="-122"/>
              </a:rPr>
              <a:t>InST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学到的 </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 可以和新的文本语义结合，例如生成参考图里原本没有的新内容，同时仍保持目标风格，有着很强的可编辑性。</a:t>
            </a:r>
          </a:p>
        </p:txBody>
      </p:sp>
    </p:spTree>
    <p:extLst>
      <p:ext uri="{BB962C8B-B14F-4D97-AF65-F5344CB8AC3E}">
        <p14:creationId xmlns:p14="http://schemas.microsoft.com/office/powerpoint/2010/main" val="28982391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4D0A2-F350-C4D5-C96F-7F9BF4171550}"/>
            </a:ext>
          </a:extLst>
        </p:cNvPr>
        <p:cNvGrpSpPr/>
        <p:nvPr/>
      </p:nvGrpSpPr>
      <p:grpSpPr>
        <a:xfrm>
          <a:off x="0" y="0"/>
          <a:ext cx="0" cy="0"/>
          <a:chOff x="0" y="0"/>
          <a:chExt cx="0" cy="0"/>
        </a:xfrm>
      </p:grpSpPr>
      <p:sp>
        <p:nvSpPr>
          <p:cNvPr id="3" name="校徽打底">
            <a:extLst>
              <a:ext uri="{FF2B5EF4-FFF2-40B4-BE49-F238E27FC236}">
                <a16:creationId xmlns:a16="http://schemas.microsoft.com/office/drawing/2014/main" id="{EC0C4B29-035F-F8DA-5D84-B7DD477BE7B3}"/>
              </a:ext>
            </a:extLst>
          </p:cNvPr>
          <p:cNvSpPr/>
          <p:nvPr/>
        </p:nvSpPr>
        <p:spPr>
          <a:xfrm>
            <a:off x="0" y="-126023"/>
            <a:ext cx="7002008" cy="7002008"/>
          </a:xfrm>
          <a:prstGeom prst="rect">
            <a:avLst/>
          </a:prstGeom>
          <a:blipFill dpi="0" rotWithShape="1">
            <a:blip r:embed="rId3">
              <a:alphaModFix amt="7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2" name="汇报人组合">
            <a:extLst>
              <a:ext uri="{FF2B5EF4-FFF2-40B4-BE49-F238E27FC236}">
                <a16:creationId xmlns:a16="http://schemas.microsoft.com/office/drawing/2014/main" id="{D85F1F83-2571-BDB2-A866-615AAFC169F6}"/>
              </a:ext>
            </a:extLst>
          </p:cNvPr>
          <p:cNvGrpSpPr/>
          <p:nvPr/>
        </p:nvGrpSpPr>
        <p:grpSpPr>
          <a:xfrm>
            <a:off x="4971142" y="5443713"/>
            <a:ext cx="2249715" cy="390979"/>
            <a:chOff x="334962" y="5558971"/>
            <a:chExt cx="2249715" cy="390979"/>
          </a:xfrm>
        </p:grpSpPr>
        <p:sp>
          <p:nvSpPr>
            <p:cNvPr id="30" name="打底矩形">
              <a:extLst>
                <a:ext uri="{FF2B5EF4-FFF2-40B4-BE49-F238E27FC236}">
                  <a16:creationId xmlns:a16="http://schemas.microsoft.com/office/drawing/2014/main" id="{BFDE8CDF-AC64-6BEB-A6FA-0CA71719E738}"/>
                </a:ext>
              </a:extLst>
            </p:cNvPr>
            <p:cNvSpPr/>
            <p:nvPr/>
          </p:nvSpPr>
          <p:spPr>
            <a:xfrm>
              <a:off x="334962" y="5558971"/>
              <a:ext cx="2249715" cy="390979"/>
            </a:xfrm>
            <a:prstGeom prst="rect">
              <a:avLst/>
            </a:prstGeom>
            <a:gradFill flip="none" rotWithShape="1">
              <a:gsLst>
                <a:gs pos="100000">
                  <a:schemeClr val="accent1"/>
                </a:gs>
                <a:gs pos="0">
                  <a:schemeClr val="accent1">
                    <a:lumMod val="75000"/>
                  </a:schemeClr>
                </a:gs>
              </a:gsLst>
              <a:lin ang="16200000" scaled="1"/>
              <a:tileRect/>
            </a:gradFill>
            <a:ln>
              <a:noFill/>
            </a:ln>
            <a:effectLst>
              <a:outerShdw blurRad="88900" dist="38100" dir="5400000" sx="101000" sy="101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9" name="汇报人">
              <a:extLst>
                <a:ext uri="{FF2B5EF4-FFF2-40B4-BE49-F238E27FC236}">
                  <a16:creationId xmlns:a16="http://schemas.microsoft.com/office/drawing/2014/main" id="{60CA8FCB-B852-F83A-07B4-D3998B91F897}"/>
                </a:ext>
              </a:extLst>
            </p:cNvPr>
            <p:cNvSpPr txBox="1"/>
            <p:nvPr/>
          </p:nvSpPr>
          <p:spPr>
            <a:xfrm>
              <a:off x="334962" y="5585183"/>
              <a:ext cx="2249714" cy="338554"/>
            </a:xfrm>
            <a:prstGeom prst="rect">
              <a:avLst/>
            </a:prstGeom>
            <a:noFill/>
          </p:spPr>
          <p:txBody>
            <a:bodyPr wrap="square" rtlCol="0">
              <a:spAutoFit/>
            </a:bodyPr>
            <a:lstStyle/>
            <a:p>
              <a:pPr algn="dist" defTabSz="457200"/>
              <a:r>
                <a:rPr lang="zh-CN" altLang="en-US" sz="1600" dirty="0">
                  <a:solidFill>
                    <a:schemeClr val="bg1"/>
                  </a:solidFill>
                  <a:latin typeface="Arial" panose="020B0604020202020204" pitchFamily="34" charset="0"/>
                  <a:ea typeface="微软雅黑" panose="020B0503020204020204" pitchFamily="34" charset="-122"/>
                  <a:sym typeface="Arial" panose="020B0604020202020204" pitchFamily="34" charset="0"/>
                </a:rPr>
                <a:t>张洛宾  </a:t>
              </a:r>
              <a:r>
                <a:rPr lang="en-US" altLang="zh-CN" sz="1600" dirty="0">
                  <a:solidFill>
                    <a:schemeClr val="bg1"/>
                  </a:solidFill>
                  <a:latin typeface="Arial" panose="020B0604020202020204" pitchFamily="34" charset="0"/>
                  <a:ea typeface="微软雅黑" panose="020B0503020204020204" pitchFamily="34" charset="-122"/>
                  <a:sym typeface="Arial" panose="020B0604020202020204" pitchFamily="34" charset="0"/>
                </a:rPr>
                <a:t>2024302696</a:t>
              </a:r>
              <a:endParaRPr lang="zh-CN" altLang="en-US" sz="1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21" name="主标题">
            <a:extLst>
              <a:ext uri="{FF2B5EF4-FFF2-40B4-BE49-F238E27FC236}">
                <a16:creationId xmlns:a16="http://schemas.microsoft.com/office/drawing/2014/main" id="{EF32C10A-7744-5D17-E619-AB7D65EE71EC}"/>
              </a:ext>
            </a:extLst>
          </p:cNvPr>
          <p:cNvSpPr txBox="1"/>
          <p:nvPr/>
        </p:nvSpPr>
        <p:spPr>
          <a:xfrm>
            <a:off x="3326256" y="3772504"/>
            <a:ext cx="5853185" cy="1323439"/>
          </a:xfrm>
          <a:prstGeom prst="rect">
            <a:avLst/>
          </a:prstGeom>
          <a:noFill/>
        </p:spPr>
        <p:txBody>
          <a:bodyPr wrap="square" rtlCol="0">
            <a:spAutoFit/>
          </a:bodyPr>
          <a:lstStyle/>
          <a:p>
            <a:pPr algn="dist" defTabSz="457200"/>
            <a:r>
              <a:rPr lang="zh-CN" altLang="en-US" sz="80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谢谢大家！</a:t>
            </a:r>
          </a:p>
        </p:txBody>
      </p:sp>
      <p:sp>
        <p:nvSpPr>
          <p:cNvPr id="8" name="图书馆照片">
            <a:extLst>
              <a:ext uri="{FF2B5EF4-FFF2-40B4-BE49-F238E27FC236}">
                <a16:creationId xmlns:a16="http://schemas.microsoft.com/office/drawing/2014/main" id="{2BC7073C-DDEB-3293-C8A6-175FD154302E}"/>
              </a:ext>
            </a:extLst>
          </p:cNvPr>
          <p:cNvSpPr/>
          <p:nvPr/>
        </p:nvSpPr>
        <p:spPr>
          <a:xfrm>
            <a:off x="0" y="925733"/>
            <a:ext cx="12192000" cy="2666076"/>
          </a:xfrm>
          <a:prstGeom prst="rect">
            <a:avLst/>
          </a:prstGeom>
          <a:blipFill dpi="0" rotWithShape="1">
            <a:blip r:embed="rId4"/>
            <a:srcRect/>
            <a:tile tx="0" ty="0" sx="100000" sy="100000" flip="none" algn="ctr"/>
          </a:blipFill>
          <a:ln>
            <a:noFill/>
          </a:ln>
          <a:effectLst>
            <a:outerShdw blurRad="88900" dist="38100" dir="5400000" sx="101000" sy="101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4" name="LOGO组合">
            <a:extLst>
              <a:ext uri="{FF2B5EF4-FFF2-40B4-BE49-F238E27FC236}">
                <a16:creationId xmlns:a16="http://schemas.microsoft.com/office/drawing/2014/main" id="{D12509B9-58DE-7752-5BB0-8EBA153AEA85}"/>
              </a:ext>
            </a:extLst>
          </p:cNvPr>
          <p:cNvGrpSpPr/>
          <p:nvPr/>
        </p:nvGrpSpPr>
        <p:grpSpPr>
          <a:xfrm>
            <a:off x="9031134" y="207790"/>
            <a:ext cx="2719167" cy="586775"/>
            <a:chOff x="685800" y="630052"/>
            <a:chExt cx="2719167" cy="586775"/>
          </a:xfrm>
        </p:grpSpPr>
        <p:pic>
          <p:nvPicPr>
            <p:cNvPr id="26" name="校名">
              <a:extLst>
                <a:ext uri="{FF2B5EF4-FFF2-40B4-BE49-F238E27FC236}">
                  <a16:creationId xmlns:a16="http://schemas.microsoft.com/office/drawing/2014/main" id="{44C464E7-B9EF-8EAC-27A9-DD22140DED01}"/>
                </a:ext>
              </a:extLst>
            </p:cNvPr>
            <p:cNvPicPr>
              <a:picLocks noChangeAspect="1"/>
            </p:cNvPicPr>
            <p:nvPr/>
          </p:nvPicPr>
          <p:blipFill>
            <a:blip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Layer>
                  </a14:imgProps>
                </a:ext>
              </a:extLst>
            </a:blip>
            <a:stretch>
              <a:fillRect/>
            </a:stretch>
          </p:blipFill>
          <p:spPr>
            <a:xfrm>
              <a:off x="1441885" y="679578"/>
              <a:ext cx="1963082" cy="487722"/>
            </a:xfrm>
            <a:prstGeom prst="rect">
              <a:avLst/>
            </a:prstGeom>
          </p:spPr>
        </p:pic>
        <p:pic>
          <p:nvPicPr>
            <p:cNvPr id="27" name="校徽">
              <a:extLst>
                <a:ext uri="{FF2B5EF4-FFF2-40B4-BE49-F238E27FC236}">
                  <a16:creationId xmlns:a16="http://schemas.microsoft.com/office/drawing/2014/main" id="{4E867EA5-73C6-35F7-537E-647F09BD17B7}"/>
                </a:ext>
              </a:extLst>
            </p:cNvPr>
            <p:cNvPicPr>
              <a:picLocks noChangeAspect="1"/>
            </p:cNvPicPr>
            <p:nvPr/>
          </p:nvPicPr>
          <p:blipFill>
            <a:blip r:embed="rId7" cstate="screen">
              <a:duotone>
                <a:schemeClr val="accent1">
                  <a:shade val="45000"/>
                  <a:satMod val="135000"/>
                </a:schemeClr>
                <a:prstClr val="white"/>
              </a:duotone>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sp>
        <p:nvSpPr>
          <p:cNvPr id="5" name="合作QQ： 243001978">
            <a:extLst>
              <a:ext uri="{FF2B5EF4-FFF2-40B4-BE49-F238E27FC236}">
                <a16:creationId xmlns:a16="http://schemas.microsoft.com/office/drawing/2014/main" id="{C9D2212F-E7E3-B73D-E272-EEDC2677ACCC}"/>
              </a:ext>
            </a:extLst>
          </p:cNvPr>
          <p:cNvSpPr/>
          <p:nvPr/>
        </p:nvSpPr>
        <p:spPr>
          <a:xfrm>
            <a:off x="9737482" y="6488668"/>
            <a:ext cx="2454518" cy="369332"/>
          </a:xfrm>
          <a:prstGeom prst="rect">
            <a:avLst/>
          </a:prstGeom>
        </p:spPr>
        <p:txBody>
          <a:bodyPr wrap="none">
            <a:spAutoFit/>
          </a:bodyPr>
          <a:lstStyle/>
          <a:p>
            <a:pPr algn="ct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合作</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QQ</a:t>
            </a: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 </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243001978</a:t>
            </a:r>
            <a:endParaRPr lang="zh-CN" altLang="en-US">
              <a:solidFill>
                <a:srgbClr val="FFFFFF"/>
              </a:solidFill>
            </a:endParaRPr>
          </a:p>
        </p:txBody>
      </p:sp>
    </p:spTree>
    <p:extLst>
      <p:ext uri="{BB962C8B-B14F-4D97-AF65-F5344CB8AC3E}">
        <p14:creationId xmlns:p14="http://schemas.microsoft.com/office/powerpoint/2010/main" val="354143909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1510</TotalTime>
  <Words>1296</Words>
  <Application>Microsoft Office PowerPoint</Application>
  <PresentationFormat>宽屏</PresentationFormat>
  <Paragraphs>127</Paragraphs>
  <Slides>15</Slides>
  <Notes>15</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15</vt:i4>
      </vt:variant>
    </vt:vector>
  </HeadingPairs>
  <TitlesOfParts>
    <vt:vector size="20" baseType="lpstr">
      <vt:lpstr>等线</vt:lpstr>
      <vt:lpstr>等线 Light</vt:lpstr>
      <vt:lpstr>微软雅黑</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洛宾 张</dc:creator>
  <cp:lastModifiedBy>洛宾 张</cp:lastModifiedBy>
  <cp:revision>32</cp:revision>
  <dcterms:created xsi:type="dcterms:W3CDTF">2026-04-06T12:52:11Z</dcterms:created>
  <dcterms:modified xsi:type="dcterms:W3CDTF">2026-04-22T03:42:49Z</dcterms:modified>
</cp:coreProperties>
</file>