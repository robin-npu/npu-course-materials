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81" r:id="rId1"/>
  </p:sldMasterIdLst>
  <p:sldIdLst>
    <p:sldId id="256" r:id="rId2"/>
    <p:sldId id="334" r:id="rId3"/>
    <p:sldId id="300" r:id="rId4"/>
    <p:sldId id="335" r:id="rId5"/>
    <p:sldId id="337" r:id="rId6"/>
    <p:sldId id="33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0000FF"/>
    <a:srgbClr val="3D30E8"/>
    <a:srgbClr val="2618DE"/>
    <a:srgbClr val="1B119F"/>
    <a:srgbClr val="461A96"/>
    <a:srgbClr val="66FF33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552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371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135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435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6329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5319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0712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751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22598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9052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528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78350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019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358571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7353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29349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7599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3B673-DCE4-4699-8C15-4B3A9703235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337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2" r:id="rId1"/>
    <p:sldLayoutId id="2147484083" r:id="rId2"/>
    <p:sldLayoutId id="2147484084" r:id="rId3"/>
    <p:sldLayoutId id="2147484085" r:id="rId4"/>
    <p:sldLayoutId id="2147484086" r:id="rId5"/>
    <p:sldLayoutId id="2147484087" r:id="rId6"/>
    <p:sldLayoutId id="2147484088" r:id="rId7"/>
    <p:sldLayoutId id="2147484089" r:id="rId8"/>
    <p:sldLayoutId id="2147484090" r:id="rId9"/>
    <p:sldLayoutId id="2147484091" r:id="rId10"/>
    <p:sldLayoutId id="2147484092" r:id="rId11"/>
    <p:sldLayoutId id="2147484093" r:id="rId12"/>
    <p:sldLayoutId id="2147484094" r:id="rId13"/>
    <p:sldLayoutId id="2147484095" r:id="rId14"/>
    <p:sldLayoutId id="2147484096" r:id="rId15"/>
    <p:sldLayoutId id="214748409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9D4D14-625B-460E-8934-2E47E74426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4565" y="2409575"/>
            <a:ext cx="7820333" cy="1121439"/>
          </a:xfrm>
        </p:spPr>
        <p:txBody>
          <a:bodyPr>
            <a:normAutofit/>
          </a:bodyPr>
          <a:lstStyle/>
          <a:p>
            <a:r>
              <a:rPr lang="en-US" altLang="zh-CN" sz="5400" b="1" dirty="0"/>
              <a:t>MEM-EXE</a:t>
            </a:r>
            <a:r>
              <a:rPr lang="zh-CN" altLang="en-US" sz="5400" b="1" dirty="0"/>
              <a:t>旁路</a:t>
            </a:r>
          </a:p>
        </p:txBody>
      </p:sp>
    </p:spTree>
    <p:extLst>
      <p:ext uri="{BB962C8B-B14F-4D97-AF65-F5344CB8AC3E}">
        <p14:creationId xmlns:p14="http://schemas.microsoft.com/office/powerpoint/2010/main" val="2577972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实验过程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4" y="1724410"/>
            <a:ext cx="8596668" cy="388077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分析数据冒险，确定解决方法；</a:t>
            </a:r>
            <a:endParaRPr lang="en-US" altLang="zh-CN" sz="2800" dirty="0"/>
          </a:p>
          <a:p>
            <a:r>
              <a:rPr lang="zh-CN" altLang="en-US" sz="2800" dirty="0"/>
              <a:t>设计数据通路和控制逻辑；</a:t>
            </a:r>
            <a:endParaRPr lang="en-US" altLang="zh-CN" sz="2800" dirty="0"/>
          </a:p>
          <a:p>
            <a:r>
              <a:rPr lang="zh-CN" altLang="en-US" sz="2800" dirty="0"/>
              <a:t>用</a:t>
            </a:r>
            <a:r>
              <a:rPr lang="en-US" altLang="zh-CN" sz="2800" dirty="0"/>
              <a:t>Verilog </a:t>
            </a:r>
            <a:r>
              <a:rPr lang="zh-CN" altLang="en-US" sz="2800" dirty="0"/>
              <a:t>语言</a:t>
            </a:r>
            <a:r>
              <a:rPr lang="zh-CN" altLang="en-US" sz="2800" dirty="0">
                <a:solidFill>
                  <a:srgbClr val="FF0000"/>
                </a:solidFill>
              </a:rPr>
              <a:t>实现</a:t>
            </a:r>
            <a:r>
              <a:rPr lang="zh-CN" altLang="en-US" sz="2800" dirty="0"/>
              <a:t>设计。</a:t>
            </a:r>
          </a:p>
        </p:txBody>
      </p:sp>
    </p:spTree>
    <p:extLst>
      <p:ext uri="{BB962C8B-B14F-4D97-AF65-F5344CB8AC3E}">
        <p14:creationId xmlns:p14="http://schemas.microsoft.com/office/powerpoint/2010/main" val="1251996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887194-60D7-4623-A2F4-89F110D11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799" y="152861"/>
            <a:ext cx="10820400" cy="1085850"/>
          </a:xfrm>
        </p:spPr>
        <p:txBody>
          <a:bodyPr/>
          <a:lstStyle/>
          <a:p>
            <a:r>
              <a:rPr lang="zh-CN" altLang="en-US" dirty="0"/>
              <a:t>多周期流水线图</a:t>
            </a:r>
            <a:endParaRPr lang="zh-CN" altLang="en-US" sz="2400" dirty="0">
              <a:solidFill>
                <a:srgbClr val="FFC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639" y="1625440"/>
            <a:ext cx="10414461" cy="376222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865016" y="2709121"/>
            <a:ext cx="1154546" cy="11822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315125" y="4168466"/>
            <a:ext cx="1154546" cy="1219200"/>
          </a:xfrm>
          <a:prstGeom prst="rect">
            <a:avLst/>
          </a:prstGeom>
          <a:noFill/>
          <a:ln w="19050"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/>
          <p:cNvCxnSpPr/>
          <p:nvPr/>
        </p:nvCxnSpPr>
        <p:spPr>
          <a:xfrm>
            <a:off x="6278180" y="3427248"/>
            <a:ext cx="295564" cy="1166091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6278180" y="3427248"/>
            <a:ext cx="157018" cy="1517073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1B854005-C129-E357-2E4B-500437D5B53D}"/>
              </a:ext>
            </a:extLst>
          </p:cNvPr>
          <p:cNvCxnSpPr/>
          <p:nvPr/>
        </p:nvCxnSpPr>
        <p:spPr>
          <a:xfrm>
            <a:off x="320566" y="1907628"/>
            <a:ext cx="0" cy="393086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2081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单周期流水线图</a:t>
            </a:r>
          </a:p>
        </p:txBody>
      </p:sp>
      <p:grpSp>
        <p:nvGrpSpPr>
          <p:cNvPr id="37" name="组合 36"/>
          <p:cNvGrpSpPr/>
          <p:nvPr/>
        </p:nvGrpSpPr>
        <p:grpSpPr>
          <a:xfrm>
            <a:off x="1345295" y="1838699"/>
            <a:ext cx="9501410" cy="3265268"/>
            <a:chOff x="1345295" y="1921597"/>
            <a:chExt cx="9501410" cy="3265268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5295" y="2858603"/>
              <a:ext cx="9501410" cy="1728021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1608667" y="4817533"/>
              <a:ext cx="14647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CLOCK4</a:t>
              </a:r>
              <a:endParaRPr lang="zh-CN" altLang="en-US" b="1" dirty="0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5338234" y="2319867"/>
              <a:ext cx="1651000" cy="36933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sub $8, $9,</a:t>
              </a:r>
              <a:r>
                <a:rPr lang="en-US" altLang="zh-CN" b="1" dirty="0">
                  <a:solidFill>
                    <a:srgbClr val="FF0000"/>
                  </a:solidFill>
                </a:rPr>
                <a:t>$5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243232" y="2300863"/>
              <a:ext cx="1752602" cy="36933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addu</a:t>
              </a:r>
              <a:r>
                <a:rPr lang="en-US" altLang="zh-CN" dirty="0"/>
                <a:t> </a:t>
              </a:r>
              <a:r>
                <a:rPr lang="en-US" altLang="zh-CN" b="1" dirty="0">
                  <a:solidFill>
                    <a:srgbClr val="FF0000"/>
                  </a:solidFill>
                </a:rPr>
                <a:t>$5</a:t>
              </a:r>
              <a:r>
                <a:rPr lang="en-US" altLang="zh-CN" dirty="0"/>
                <a:t>, $6,$7</a:t>
              </a:r>
              <a:endParaRPr lang="zh-CN" altLang="en-US" dirty="0"/>
            </a:p>
          </p:txBody>
        </p:sp>
        <p:cxnSp>
          <p:nvCxnSpPr>
            <p:cNvPr id="10" name="直接连接符 9"/>
            <p:cNvCxnSpPr/>
            <p:nvPr/>
          </p:nvCxnSpPr>
          <p:spPr>
            <a:xfrm flipH="1">
              <a:off x="5130801" y="1938867"/>
              <a:ext cx="8466" cy="919736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flipH="1">
              <a:off x="7086600" y="1938867"/>
              <a:ext cx="8466" cy="919736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H="1">
              <a:off x="9144001" y="1938867"/>
              <a:ext cx="8466" cy="919736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3060701" y="1921597"/>
              <a:ext cx="8466" cy="919736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组合 35"/>
          <p:cNvGrpSpPr/>
          <p:nvPr/>
        </p:nvGrpSpPr>
        <p:grpSpPr>
          <a:xfrm>
            <a:off x="5338234" y="3471333"/>
            <a:ext cx="2171699" cy="1405467"/>
            <a:chOff x="5338234" y="3471333"/>
            <a:chExt cx="2171699" cy="1405467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7272867" y="4131733"/>
              <a:ext cx="237066" cy="0"/>
            </a:xfrm>
            <a:prstGeom prst="line">
              <a:avLst/>
            </a:prstGeom>
            <a:ln w="285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7501467" y="4131733"/>
              <a:ext cx="8466" cy="745067"/>
            </a:xfrm>
            <a:prstGeom prst="line">
              <a:avLst/>
            </a:prstGeom>
            <a:ln w="285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5664201" y="4876800"/>
              <a:ext cx="1837266" cy="0"/>
            </a:xfrm>
            <a:prstGeom prst="line">
              <a:avLst/>
            </a:prstGeom>
            <a:ln w="285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V="1">
              <a:off x="5672667" y="3962401"/>
              <a:ext cx="0" cy="914399"/>
            </a:xfrm>
            <a:prstGeom prst="line">
              <a:avLst/>
            </a:prstGeom>
            <a:ln w="28575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5338234" y="3471333"/>
              <a:ext cx="0" cy="1405467"/>
            </a:xfrm>
            <a:prstGeom prst="line">
              <a:avLst/>
            </a:prstGeom>
            <a:ln w="28575">
              <a:solidFill>
                <a:srgbClr val="FF66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5338234" y="4876800"/>
              <a:ext cx="334433" cy="0"/>
            </a:xfrm>
            <a:prstGeom prst="line">
              <a:avLst/>
            </a:prstGeom>
            <a:ln w="285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88518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3" y="1629817"/>
            <a:ext cx="10426845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数据通路：在</a:t>
            </a:r>
            <a:r>
              <a:rPr lang="en-US" altLang="zh-CN" sz="2800" dirty="0"/>
              <a:t>EXE</a:t>
            </a:r>
            <a:r>
              <a:rPr lang="zh-CN" altLang="en-US" sz="2800" dirty="0"/>
              <a:t>级</a:t>
            </a:r>
            <a:r>
              <a:rPr lang="en-US" altLang="zh-CN" sz="2800" dirty="0"/>
              <a:t>ALU</a:t>
            </a:r>
            <a:r>
              <a:rPr lang="zh-CN" altLang="en-US" sz="2800" dirty="0"/>
              <a:t>输入端增加两个旁路选择器，确定</a:t>
            </a:r>
            <a:r>
              <a:rPr lang="en-US" altLang="zh-CN" sz="2800" dirty="0"/>
              <a:t>ALU</a:t>
            </a:r>
            <a:r>
              <a:rPr lang="zh-CN" altLang="en-US" sz="2800" dirty="0"/>
              <a:t>的输入是</a:t>
            </a:r>
            <a:r>
              <a:rPr lang="en-US" altLang="zh-CN" sz="2800" dirty="0"/>
              <a:t>ID</a:t>
            </a:r>
            <a:r>
              <a:rPr lang="zh-CN" altLang="en-US" sz="2800" dirty="0"/>
              <a:t>级传递过来的数据还是</a:t>
            </a:r>
            <a:r>
              <a:rPr lang="en-US" altLang="zh-CN" sz="2800" dirty="0"/>
              <a:t>MEM</a:t>
            </a:r>
            <a:r>
              <a:rPr lang="zh-CN" altLang="en-US" sz="2800" dirty="0"/>
              <a:t>级旁路过来的数据。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控制逻辑：增加</a:t>
            </a:r>
            <a:r>
              <a:rPr lang="zh-CN" altLang="en-US" sz="2800" b="1" dirty="0">
                <a:solidFill>
                  <a:srgbClr val="FF0000"/>
                </a:solidFill>
              </a:rPr>
              <a:t>旁路控制模块</a:t>
            </a:r>
            <a:r>
              <a:rPr lang="zh-CN" altLang="en-US" sz="2800" dirty="0"/>
              <a:t>，产生旁路选择器的控制信号。</a:t>
            </a:r>
          </a:p>
        </p:txBody>
      </p:sp>
    </p:spTree>
    <p:extLst>
      <p:ext uri="{BB962C8B-B14F-4D97-AF65-F5344CB8AC3E}">
        <p14:creationId xmlns:p14="http://schemas.microsoft.com/office/powerpoint/2010/main" val="2280692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110" y="78798"/>
            <a:ext cx="10515600" cy="1325563"/>
          </a:xfrm>
        </p:spPr>
        <p:txBody>
          <a:bodyPr/>
          <a:lstStyle/>
          <a:p>
            <a:r>
              <a:rPr lang="zh-CN" altLang="en-US" dirty="0"/>
              <a:t>数据通路图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B5C042D-41AD-06FF-8D0C-6EED84674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75" y="1125537"/>
            <a:ext cx="11285250" cy="537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946323"/>
      </p:ext>
    </p:extLst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18438</TotalTime>
  <Words>103</Words>
  <Application>Microsoft Office PowerPoint</Application>
  <PresentationFormat>宽屏</PresentationFormat>
  <Paragraphs>14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平面</vt:lpstr>
      <vt:lpstr>MEM-EXE旁路</vt:lpstr>
      <vt:lpstr>实验过程</vt:lpstr>
      <vt:lpstr>多周期流水线图</vt:lpstr>
      <vt:lpstr>单周期流水线图</vt:lpstr>
      <vt:lpstr>分析</vt:lpstr>
      <vt:lpstr>数据通路图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guo yan</dc:creator>
  <cp:lastModifiedBy>yan guo</cp:lastModifiedBy>
  <cp:revision>497</cp:revision>
  <dcterms:created xsi:type="dcterms:W3CDTF">2020-03-13T01:07:41Z</dcterms:created>
  <dcterms:modified xsi:type="dcterms:W3CDTF">2026-05-19T06:44:56Z</dcterms:modified>
</cp:coreProperties>
</file>