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34" r:id="rId3"/>
    <p:sldId id="300" r:id="rId4"/>
    <p:sldId id="335" r:id="rId5"/>
    <p:sldId id="337" r:id="rId6"/>
    <p:sldId id="336" r:id="rId7"/>
    <p:sldId id="33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FF6600"/>
    <a:srgbClr val="0000FF"/>
    <a:srgbClr val="3D30E8"/>
    <a:srgbClr val="2618DE"/>
    <a:srgbClr val="1B119F"/>
    <a:srgbClr val="461A9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96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868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955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4555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47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462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83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792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59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4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7400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452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9816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944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615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2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45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4414" y="2451617"/>
            <a:ext cx="7709974" cy="1121439"/>
          </a:xfrm>
        </p:spPr>
        <p:txBody>
          <a:bodyPr>
            <a:normAutofit/>
          </a:bodyPr>
          <a:lstStyle/>
          <a:p>
            <a:r>
              <a:rPr lang="en-US" altLang="zh-CN" sz="5400" b="1" dirty="0"/>
              <a:t>WB-EXE</a:t>
            </a:r>
            <a:r>
              <a:rPr lang="zh-CN" altLang="en-US" sz="5400" b="1" dirty="0"/>
              <a:t>旁路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548" y="2034465"/>
            <a:ext cx="10305976" cy="388077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分析数据冒险，确定解决方法；</a:t>
            </a:r>
            <a:endParaRPr lang="en-US" altLang="zh-CN" sz="2800" dirty="0"/>
          </a:p>
          <a:p>
            <a:r>
              <a:rPr lang="zh-CN" altLang="en-US" sz="2800" dirty="0"/>
              <a:t>设计数据通路和控制逻辑；</a:t>
            </a:r>
            <a:endParaRPr lang="en-US" altLang="zh-CN" sz="2800" dirty="0"/>
          </a:p>
          <a:p>
            <a:r>
              <a:rPr lang="zh-CN" altLang="en-US" sz="2800" dirty="0"/>
              <a:t>用</a:t>
            </a:r>
            <a:r>
              <a:rPr lang="en-US" altLang="zh-CN" sz="2800" dirty="0"/>
              <a:t>Verilog </a:t>
            </a:r>
            <a:r>
              <a:rPr lang="zh-CN" altLang="en-US" sz="2800" dirty="0"/>
              <a:t>语言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设计。</a:t>
            </a:r>
          </a:p>
        </p:txBody>
      </p:sp>
    </p:spTree>
    <p:extLst>
      <p:ext uri="{BB962C8B-B14F-4D97-AF65-F5344CB8AC3E}">
        <p14:creationId xmlns:p14="http://schemas.microsoft.com/office/powerpoint/2010/main" val="125199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87194-60D7-4623-A2F4-89F110D11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152861"/>
            <a:ext cx="10820400" cy="1085850"/>
          </a:xfrm>
        </p:spPr>
        <p:txBody>
          <a:bodyPr/>
          <a:lstStyle/>
          <a:p>
            <a:r>
              <a:rPr lang="zh-CN" altLang="en-US" dirty="0"/>
              <a:t>多周期流水线图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" y="1238711"/>
            <a:ext cx="11728864" cy="52794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682836" y="2324561"/>
            <a:ext cx="1228437" cy="12591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0" y="5338618"/>
            <a:ext cx="1182255" cy="1179578"/>
          </a:xfrm>
          <a:prstGeom prst="rect">
            <a:avLst/>
          </a:prstGeom>
          <a:noFill/>
          <a:ln w="1905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7564967" y="3352800"/>
            <a:ext cx="175106" cy="2355273"/>
          </a:xfrm>
          <a:prstGeom prst="straightConnector1">
            <a:avLst/>
          </a:prstGeom>
          <a:ln w="1905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7564967" y="3352800"/>
            <a:ext cx="378306" cy="2752436"/>
          </a:xfrm>
          <a:prstGeom prst="straightConnector1">
            <a:avLst/>
          </a:prstGeom>
          <a:ln w="1905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58617" y="2900736"/>
            <a:ext cx="1348509" cy="3879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 err="1">
                <a:solidFill>
                  <a:schemeClr val="tx1"/>
                </a:solidFill>
              </a:rPr>
              <a:t>lw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$5</a:t>
            </a:r>
            <a:r>
              <a:rPr lang="en-US" altLang="zh-CN" sz="1600" dirty="0">
                <a:solidFill>
                  <a:schemeClr val="tx1"/>
                </a:solidFill>
              </a:rPr>
              <a:t>, 8($6)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15050" y="2324561"/>
            <a:ext cx="1266825" cy="12591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08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8" grpId="0" animBg="1"/>
      <p:bldP spid="6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单周期流水线图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338234" y="2319867"/>
            <a:ext cx="165100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or $2, </a:t>
            </a:r>
            <a:r>
              <a:rPr lang="en-US" altLang="zh-CN" b="1" dirty="0">
                <a:solidFill>
                  <a:srgbClr val="FF0000"/>
                </a:solidFill>
              </a:rPr>
              <a:t>$5</a:t>
            </a:r>
            <a:r>
              <a:rPr lang="en-US" altLang="zh-CN" dirty="0"/>
              <a:t>, $3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289801" y="2319867"/>
            <a:ext cx="176953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sub $8, $9, $10</a:t>
            </a:r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690C136-6E95-FA1D-01FC-0D4695F19206}"/>
              </a:ext>
            </a:extLst>
          </p:cNvPr>
          <p:cNvGrpSpPr/>
          <p:nvPr/>
        </p:nvGrpSpPr>
        <p:grpSpPr>
          <a:xfrm>
            <a:off x="1345295" y="1921597"/>
            <a:ext cx="9501410" cy="3265268"/>
            <a:chOff x="1345295" y="1921597"/>
            <a:chExt cx="9501410" cy="326526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5295" y="2858603"/>
              <a:ext cx="9501410" cy="1728021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08667" y="4817533"/>
              <a:ext cx="1464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CLOCK5</a:t>
              </a:r>
              <a:endParaRPr lang="zh-CN" altLang="en-US" b="1" dirty="0"/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5130801" y="193886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7086600" y="193886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9144001" y="193886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3060701" y="192159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5338234" y="3471333"/>
            <a:ext cx="4220632" cy="1405467"/>
            <a:chOff x="5338234" y="3471333"/>
            <a:chExt cx="4220632" cy="140546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9321800" y="4166936"/>
              <a:ext cx="237066" cy="0"/>
            </a:xfrm>
            <a:prstGeom prst="line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5664201" y="4876800"/>
              <a:ext cx="3894665" cy="0"/>
            </a:xfrm>
            <a:prstGeom prst="line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V="1">
              <a:off x="5672667" y="3962401"/>
              <a:ext cx="0" cy="914399"/>
            </a:xfrm>
            <a:prstGeom prst="line">
              <a:avLst/>
            </a:prstGeom>
            <a:ln w="28575">
              <a:solidFill>
                <a:srgbClr val="FF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5338234" y="3471333"/>
              <a:ext cx="0" cy="1405467"/>
            </a:xfrm>
            <a:prstGeom prst="line">
              <a:avLst/>
            </a:prstGeom>
            <a:ln w="28575">
              <a:solidFill>
                <a:srgbClr val="FF33CC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5338234" y="4876800"/>
              <a:ext cx="334433" cy="0"/>
            </a:xfrm>
            <a:prstGeom prst="line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9558866" y="4166936"/>
              <a:ext cx="0" cy="709864"/>
            </a:xfrm>
            <a:prstGeom prst="line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矩形 19"/>
          <p:cNvSpPr/>
          <p:nvPr/>
        </p:nvSpPr>
        <p:spPr>
          <a:xfrm>
            <a:off x="9321800" y="2301271"/>
            <a:ext cx="1710850" cy="387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lw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</a:rPr>
              <a:t>$5</a:t>
            </a:r>
            <a:r>
              <a:rPr lang="en-US" altLang="zh-CN" sz="1600" dirty="0">
                <a:solidFill>
                  <a:schemeClr val="tx1"/>
                </a:solidFill>
              </a:rPr>
              <a:t>, 8($6)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9F6828-A3F1-3031-602D-5443E24F0EB7}"/>
              </a:ext>
            </a:extLst>
          </p:cNvPr>
          <p:cNvSpPr txBox="1"/>
          <p:nvPr/>
        </p:nvSpPr>
        <p:spPr>
          <a:xfrm>
            <a:off x="9440333" y="2319867"/>
            <a:ext cx="1879602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addu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$5</a:t>
            </a:r>
            <a:r>
              <a:rPr lang="en-US" altLang="zh-CN" dirty="0"/>
              <a:t>, $6, $7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851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0" grpId="0" animBg="1"/>
      <p:bldP spid="9" grpId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2039720"/>
            <a:ext cx="10437356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数据通路：</a:t>
            </a:r>
            <a:r>
              <a:rPr lang="en-US" altLang="zh-CN" sz="2800" dirty="0"/>
              <a:t>EXE</a:t>
            </a:r>
            <a:r>
              <a:rPr lang="zh-CN" altLang="en-US" sz="2800" dirty="0"/>
              <a:t>级</a:t>
            </a:r>
            <a:r>
              <a:rPr lang="en-US" altLang="zh-CN" sz="2800" dirty="0"/>
              <a:t>ALU</a:t>
            </a:r>
            <a:r>
              <a:rPr lang="zh-CN" altLang="en-US" sz="2800" dirty="0"/>
              <a:t>输入端两个旁路选择器各增加一个输入端，连接来自</a:t>
            </a:r>
            <a:r>
              <a:rPr lang="en-US" altLang="zh-CN" sz="2800" dirty="0"/>
              <a:t>WB</a:t>
            </a:r>
            <a:r>
              <a:rPr lang="zh-CN" altLang="en-US" sz="2800" dirty="0"/>
              <a:t>级旁路过来的数据。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控制逻辑：修改旁路选择器的控制信号逻辑。</a:t>
            </a:r>
          </a:p>
        </p:txBody>
      </p:sp>
    </p:spTree>
    <p:extLst>
      <p:ext uri="{BB962C8B-B14F-4D97-AF65-F5344CB8AC3E}">
        <p14:creationId xmlns:p14="http://schemas.microsoft.com/office/powerpoint/2010/main" val="271198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454" y="78798"/>
            <a:ext cx="10515600" cy="807893"/>
          </a:xfrm>
        </p:spPr>
        <p:txBody>
          <a:bodyPr/>
          <a:lstStyle/>
          <a:p>
            <a:r>
              <a:rPr lang="zh-CN" altLang="en-US" dirty="0"/>
              <a:t>数据通路图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A53239-B64A-FDE1-E0F3-6964FAB86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63" y="962709"/>
            <a:ext cx="11684474" cy="556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4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ADD55-22C5-4D60-A57D-C3D5207F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74626"/>
            <a:ext cx="10515600" cy="844550"/>
          </a:xfrm>
        </p:spPr>
        <p:txBody>
          <a:bodyPr/>
          <a:lstStyle/>
          <a:p>
            <a:r>
              <a:rPr lang="zh-CN" altLang="en-US" dirty="0"/>
              <a:t>双重数据冒险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0F10E96-B816-4AEF-89F1-6BB9DCDA7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33" y="1143959"/>
            <a:ext cx="10462492" cy="5388539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4B8FEFD-E804-4DD4-9FF4-90861D345D5B}"/>
              </a:ext>
            </a:extLst>
          </p:cNvPr>
          <p:cNvCxnSpPr/>
          <p:nvPr/>
        </p:nvCxnSpPr>
        <p:spPr>
          <a:xfrm>
            <a:off x="7443066" y="4545157"/>
            <a:ext cx="194685" cy="1578552"/>
          </a:xfrm>
          <a:prstGeom prst="line">
            <a:avLst/>
          </a:prstGeom>
          <a:ln w="19050">
            <a:solidFill>
              <a:srgbClr val="FF66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817A14D-BC30-445D-9FEB-2F97C1DE37F1}"/>
              </a:ext>
            </a:extLst>
          </p:cNvPr>
          <p:cNvCxnSpPr/>
          <p:nvPr/>
        </p:nvCxnSpPr>
        <p:spPr>
          <a:xfrm>
            <a:off x="7443066" y="3251200"/>
            <a:ext cx="389370" cy="2872509"/>
          </a:xfrm>
          <a:prstGeom prst="line">
            <a:avLst/>
          </a:prstGeom>
          <a:ln w="19050">
            <a:solidFill>
              <a:srgbClr val="FF33CC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42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18790</TotalTime>
  <Words>123</Words>
  <Application>Microsoft Office PowerPoint</Application>
  <PresentationFormat>宽屏</PresentationFormat>
  <Paragraphs>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平面</vt:lpstr>
      <vt:lpstr>WB-EXE旁路</vt:lpstr>
      <vt:lpstr>实验过程</vt:lpstr>
      <vt:lpstr>多周期流水线图</vt:lpstr>
      <vt:lpstr>单周期流水线图</vt:lpstr>
      <vt:lpstr>分析</vt:lpstr>
      <vt:lpstr>数据通路图</vt:lpstr>
      <vt:lpstr>双重数据冒险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515</cp:revision>
  <dcterms:created xsi:type="dcterms:W3CDTF">2020-03-13T01:07:41Z</dcterms:created>
  <dcterms:modified xsi:type="dcterms:W3CDTF">2026-05-19T07:05:07Z</dcterms:modified>
</cp:coreProperties>
</file>