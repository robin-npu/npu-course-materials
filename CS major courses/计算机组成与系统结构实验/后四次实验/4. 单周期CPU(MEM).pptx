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sldIdLst>
    <p:sldId id="256" r:id="rId2"/>
    <p:sldId id="327" r:id="rId3"/>
    <p:sldId id="288" r:id="rId4"/>
    <p:sldId id="328" r:id="rId5"/>
    <p:sldId id="329" r:id="rId6"/>
    <p:sldId id="318" r:id="rId7"/>
    <p:sldId id="330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5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29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61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790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65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8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450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383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0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576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746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001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3092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355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609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296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21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6855" y="2645740"/>
            <a:ext cx="8443038" cy="137859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altLang="zh-CN" dirty="0"/>
            </a:br>
            <a:br>
              <a:rPr lang="en-US" altLang="zh-CN" dirty="0"/>
            </a:br>
            <a:r>
              <a:rPr lang="zh-CN" altLang="en-US" b="1" dirty="0"/>
              <a:t>增加实现</a:t>
            </a:r>
            <a:r>
              <a:rPr lang="en-US" altLang="zh-CN" b="1" dirty="0"/>
              <a:t>MEM</a:t>
            </a:r>
            <a:r>
              <a:rPr lang="zh-CN" altLang="en-US" b="1" dirty="0"/>
              <a:t>型指令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BA099-F39D-4F35-A579-193B540FE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1" y="366568"/>
            <a:ext cx="10515600" cy="1325563"/>
          </a:xfrm>
        </p:spPr>
        <p:txBody>
          <a:bodyPr/>
          <a:lstStyle/>
          <a:p>
            <a:r>
              <a:rPr lang="zh-CN" altLang="en-US" b="1" dirty="0"/>
              <a:t>实验过程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08891" y="1858386"/>
            <a:ext cx="11002818" cy="2990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1. </a:t>
            </a:r>
            <a:r>
              <a:rPr lang="zh-CN" altLang="en-US" sz="2800" dirty="0">
                <a:solidFill>
                  <a:srgbClr val="FF0000"/>
                </a:solidFill>
              </a:rPr>
              <a:t>分析</a:t>
            </a:r>
            <a:r>
              <a:rPr lang="zh-CN" altLang="en-US" sz="2800" dirty="0"/>
              <a:t>指令，确定复用部分和需要增加的硬件功能；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2. </a:t>
            </a:r>
            <a:r>
              <a:rPr lang="zh-CN" altLang="en-US" sz="2800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数据通路和控制逻辑；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en-US" altLang="zh-CN" sz="2800" dirty="0"/>
              <a:t>3. </a:t>
            </a:r>
            <a:r>
              <a:rPr lang="zh-CN" altLang="en-US" sz="2800" dirty="0"/>
              <a:t>用</a:t>
            </a:r>
            <a:r>
              <a:rPr lang="en-US" altLang="zh-CN" sz="2800" dirty="0"/>
              <a:t>Verilog </a:t>
            </a:r>
            <a:r>
              <a:rPr lang="zh-CN" altLang="en-US" sz="2800" dirty="0"/>
              <a:t>语言</a:t>
            </a:r>
            <a:r>
              <a:rPr lang="zh-CN" altLang="en-US" sz="2800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设计。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endParaRPr lang="en-US" altLang="zh-CN" sz="28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33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5D447E74-03F6-4953-8623-D8DA851D6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912816"/>
              </p:ext>
            </p:extLst>
          </p:nvPr>
        </p:nvGraphicFramePr>
        <p:xfrm>
          <a:off x="723900" y="2038399"/>
          <a:ext cx="10744200" cy="2801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277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3945046">
                  <a:extLst>
                    <a:ext uri="{9D8B030D-6E8A-4147-A177-3AD203B41FA5}">
                      <a16:colId xmlns:a16="http://schemas.microsoft.com/office/drawing/2014/main" val="556409912"/>
                    </a:ext>
                  </a:extLst>
                </a:gridCol>
                <a:gridCol w="1387557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1095753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998784">
                  <a:extLst>
                    <a:ext uri="{9D8B030D-6E8A-4147-A177-3AD203B41FA5}">
                      <a16:colId xmlns:a16="http://schemas.microsoft.com/office/drawing/2014/main" val="2896182007"/>
                    </a:ext>
                  </a:extLst>
                </a:gridCol>
                <a:gridCol w="1318783">
                  <a:extLst>
                    <a:ext uri="{9D8B030D-6E8A-4147-A177-3AD203B41FA5}">
                      <a16:colId xmlns:a16="http://schemas.microsoft.com/office/drawing/2014/main" val="2760008904"/>
                    </a:ext>
                  </a:extLst>
                </a:gridCol>
              </a:tblGrid>
              <a:tr h="4597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指令格式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描述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31~26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25~21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20~16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15~0 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512542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op(6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imm</a:t>
                      </a:r>
                      <a:r>
                        <a:rPr lang="en-US" altLang="zh-CN" dirty="0"/>
                        <a:t>(16</a:t>
                      </a:r>
                      <a:r>
                        <a:rPr lang="zh-CN" altLang="en-US" dirty="0"/>
                        <a:t>位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705389"/>
                  </a:ext>
                </a:extLst>
              </a:tr>
              <a:tr h="69031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rt,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zh-CN" sz="1800" b="0" i="0" u="none" strike="noStrike" kern="1200" baseline="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] +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sign_ext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	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101011	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	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  <a:tr h="91492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lw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rt,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FFC00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] + 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sign_ext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algn="l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GPR[rt]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Addr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	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100011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imm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871472"/>
                  </a:ext>
                </a:extLst>
              </a:tr>
            </a:tbl>
          </a:graphicData>
        </a:graphic>
      </p:graphicFrame>
      <p:sp>
        <p:nvSpPr>
          <p:cNvPr id="7" name="标题 6">
            <a:extLst>
              <a:ext uri="{FF2B5EF4-FFF2-40B4-BE49-F238E27FC236}">
                <a16:creationId xmlns:a16="http://schemas.microsoft.com/office/drawing/2014/main" id="{183E990B-BF04-4E45-8C41-A3606031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96974"/>
          </a:xfrm>
        </p:spPr>
        <p:txBody>
          <a:bodyPr>
            <a:normAutofit/>
          </a:bodyPr>
          <a:lstStyle/>
          <a:p>
            <a:r>
              <a:rPr lang="zh-CN" altLang="en-US" dirty="0"/>
              <a:t>指令格式 </a:t>
            </a:r>
          </a:p>
        </p:txBody>
      </p:sp>
      <p:sp>
        <p:nvSpPr>
          <p:cNvPr id="2" name="矩形 1"/>
          <p:cNvSpPr/>
          <p:nvPr/>
        </p:nvSpPr>
        <p:spPr>
          <a:xfrm>
            <a:off x="2798617" y="3326901"/>
            <a:ext cx="544946" cy="2955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195782" y="3622243"/>
            <a:ext cx="637309" cy="2678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02182" y="3014762"/>
            <a:ext cx="74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base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984171" y="3014762"/>
            <a:ext cx="86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offset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570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1CD95-4B95-4C3F-A1B3-C0D7131E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/>
          <a:lstStyle/>
          <a:p>
            <a:r>
              <a:rPr lang="zh-CN" altLang="en-US" dirty="0"/>
              <a:t>指令比较分析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0758AC-09CB-4BD2-8158-C4C6EB9B6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875"/>
            <a:ext cx="10515600" cy="489108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指令格式</a:t>
            </a:r>
            <a:r>
              <a:rPr lang="zh-CN" altLang="en-US" sz="2800" dirty="0"/>
              <a:t>：指令格式和</a:t>
            </a:r>
            <a:r>
              <a:rPr lang="en-US" altLang="zh-CN" sz="2800" dirty="0"/>
              <a:t>I</a:t>
            </a:r>
            <a:r>
              <a:rPr lang="zh-CN" altLang="en-US" sz="2800" dirty="0"/>
              <a:t>型指令相同；</a:t>
            </a:r>
            <a:endParaRPr lang="en-US" altLang="zh-CN" sz="2800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指令功能</a:t>
            </a:r>
            <a:r>
              <a:rPr lang="zh-CN" altLang="en-US" sz="2800" dirty="0"/>
              <a:t>：指令执行流程和先前实现的指令不同。</a:t>
            </a: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8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/>
              <a:t>                      </a:t>
            </a:r>
            <a:r>
              <a:rPr lang="en-US" altLang="zh-CN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/>
              <a:t>                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复用：取指，读</a:t>
            </a:r>
            <a:r>
              <a:rPr lang="en-US" altLang="zh-CN" sz="2800" b="1" dirty="0"/>
              <a:t>GPR</a:t>
            </a:r>
            <a:r>
              <a:rPr lang="zh-CN" altLang="en-US" sz="2800" b="1" dirty="0"/>
              <a:t>，立即数扩展，</a:t>
            </a:r>
            <a:r>
              <a:rPr lang="en-US" altLang="zh-CN" sz="2800" b="1" dirty="0">
                <a:solidFill>
                  <a:srgbClr val="00B050"/>
                </a:solidFill>
              </a:rPr>
              <a:t>ALU</a:t>
            </a:r>
            <a:r>
              <a:rPr lang="zh-CN" altLang="en-US" sz="2800" b="1" dirty="0"/>
              <a:t>，写</a:t>
            </a:r>
            <a:r>
              <a:rPr lang="en-US" altLang="zh-CN" sz="2800" b="1" dirty="0"/>
              <a:t>GPR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增加</a:t>
            </a:r>
            <a:r>
              <a:rPr lang="zh-CN" altLang="en-US" sz="2800" dirty="0"/>
              <a:t>：</a:t>
            </a:r>
            <a:r>
              <a:rPr lang="en-US" altLang="zh-CN" sz="2800" b="1" dirty="0">
                <a:solidFill>
                  <a:srgbClr val="FF0000"/>
                </a:solidFill>
              </a:rPr>
              <a:t>DM</a:t>
            </a:r>
            <a:r>
              <a:rPr lang="zh-CN" altLang="en-US" sz="2800" b="1" dirty="0">
                <a:solidFill>
                  <a:srgbClr val="FF0000"/>
                </a:solidFill>
              </a:rPr>
              <a:t>模块</a:t>
            </a:r>
            <a:r>
              <a:rPr lang="zh-CN" altLang="en-US" sz="2800" dirty="0"/>
              <a:t>；</a:t>
            </a:r>
            <a:r>
              <a:rPr lang="en-US" altLang="zh-CN" sz="2800" dirty="0"/>
              <a:t> GPR</a:t>
            </a:r>
            <a:r>
              <a:rPr lang="zh-CN" altLang="en-US" sz="2800" dirty="0"/>
              <a:t>写数据</a:t>
            </a:r>
            <a:r>
              <a:rPr lang="zh-CN" altLang="en-US" sz="2800" b="1" dirty="0">
                <a:solidFill>
                  <a:srgbClr val="FF0000"/>
                </a:solidFill>
              </a:rPr>
              <a:t>增加</a:t>
            </a:r>
            <a:r>
              <a:rPr lang="zh-CN" altLang="en-US" sz="2800" dirty="0"/>
              <a:t>从</a:t>
            </a:r>
            <a:r>
              <a:rPr lang="en-US" altLang="zh-CN" sz="2800" dirty="0"/>
              <a:t>DM</a:t>
            </a:r>
            <a:r>
              <a:rPr lang="zh-CN" altLang="en-US" sz="2800" dirty="0"/>
              <a:t>读出的数据。</a:t>
            </a:r>
            <a:endParaRPr lang="en-US" altLang="zh-CN" sz="2800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72B432F-B8F3-A213-4701-E4F8BAB8717A}"/>
              </a:ext>
            </a:extLst>
          </p:cNvPr>
          <p:cNvGrpSpPr/>
          <p:nvPr/>
        </p:nvGrpSpPr>
        <p:grpSpPr>
          <a:xfrm>
            <a:off x="838200" y="2718689"/>
            <a:ext cx="10379607" cy="1413071"/>
            <a:chOff x="838200" y="2718689"/>
            <a:chExt cx="10379607" cy="1413071"/>
          </a:xfrm>
        </p:grpSpPr>
        <p:cxnSp>
          <p:nvCxnSpPr>
            <p:cNvPr id="5" name="直接箭头连接符 4"/>
            <p:cNvCxnSpPr>
              <a:cxnSpLocks/>
            </p:cNvCxnSpPr>
            <p:nvPr/>
          </p:nvCxnSpPr>
          <p:spPr>
            <a:xfrm>
              <a:off x="3794514" y="3217051"/>
              <a:ext cx="407166" cy="2749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文本框 3"/>
            <p:cNvSpPr txBox="1"/>
            <p:nvPr/>
          </p:nvSpPr>
          <p:spPr>
            <a:xfrm>
              <a:off x="1997047" y="2968733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立即数扩展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DD2CB2B-2A28-8806-0FCA-D1DF3A91F033}"/>
                </a:ext>
              </a:extLst>
            </p:cNvPr>
            <p:cNvSpPr txBox="1"/>
            <p:nvPr/>
          </p:nvSpPr>
          <p:spPr>
            <a:xfrm>
              <a:off x="6513956" y="2868667"/>
              <a:ext cx="10182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写</a:t>
              </a:r>
              <a:r>
                <a:rPr lang="en-US" altLang="zh-CN" sz="2800" dirty="0"/>
                <a:t>DM</a:t>
              </a:r>
              <a:endParaRPr lang="zh-CN" altLang="en-US" sz="28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4139A4A-3260-7576-C709-A373ABCEDFAB}"/>
                </a:ext>
              </a:extLst>
            </p:cNvPr>
            <p:cNvSpPr txBox="1"/>
            <p:nvPr/>
          </p:nvSpPr>
          <p:spPr>
            <a:xfrm>
              <a:off x="6555358" y="3568043"/>
              <a:ext cx="10550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读</a:t>
              </a:r>
              <a:r>
                <a:rPr lang="en-US" altLang="zh-CN" sz="2800" dirty="0"/>
                <a:t>DM</a:t>
              </a:r>
              <a:endParaRPr lang="zh-CN" altLang="en-US" sz="2800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280D475-4581-F4E6-5F22-9DDC1EB63A4D}"/>
                </a:ext>
              </a:extLst>
            </p:cNvPr>
            <p:cNvSpPr txBox="1"/>
            <p:nvPr/>
          </p:nvSpPr>
          <p:spPr>
            <a:xfrm>
              <a:off x="1929458" y="3568043"/>
              <a:ext cx="19800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读源操作数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A6DC2B55-DFD3-1275-75FC-265543E284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2472" y="3647090"/>
              <a:ext cx="449208" cy="18617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F05AD8D-680C-F63C-C162-669DAE9685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4053" y="3163614"/>
              <a:ext cx="409903" cy="4021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2E699204-440B-2037-1A45-50E86FA697C4}"/>
                </a:ext>
              </a:extLst>
            </p:cNvPr>
            <p:cNvCxnSpPr>
              <a:cxnSpLocks/>
            </p:cNvCxnSpPr>
            <p:nvPr/>
          </p:nvCxnSpPr>
          <p:spPr>
            <a:xfrm>
              <a:off x="6128484" y="3647090"/>
              <a:ext cx="438024" cy="2469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812F176-EF71-8907-D84D-464C7FC0B4E0}"/>
                </a:ext>
              </a:extLst>
            </p:cNvPr>
            <p:cNvSpPr txBox="1"/>
            <p:nvPr/>
          </p:nvSpPr>
          <p:spPr>
            <a:xfrm>
              <a:off x="7569966" y="2718689"/>
              <a:ext cx="2141933" cy="6731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800" dirty="0"/>
                <a:t>（</a:t>
              </a:r>
              <a:r>
                <a:rPr lang="en-US" altLang="zh-CN" sz="2800" dirty="0" err="1"/>
                <a:t>sw</a:t>
              </a:r>
              <a:r>
                <a:rPr lang="en-US" altLang="zh-CN" sz="2800" dirty="0"/>
                <a:t> </a:t>
              </a:r>
              <a:r>
                <a:rPr lang="zh-CN" altLang="en-US" sz="2800" dirty="0"/>
                <a:t>指令）</a:t>
              </a:r>
              <a:endParaRPr lang="en-US" altLang="zh-CN" sz="28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E5153C2-D914-0848-1C5C-24C17FFB6104}"/>
                </a:ext>
              </a:extLst>
            </p:cNvPr>
            <p:cNvSpPr txBox="1"/>
            <p:nvPr/>
          </p:nvSpPr>
          <p:spPr>
            <a:xfrm>
              <a:off x="7532183" y="3458562"/>
              <a:ext cx="3685624" cy="6731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2800" dirty="0"/>
                <a:t>→写</a:t>
              </a:r>
              <a:r>
                <a:rPr lang="en-US" altLang="zh-CN" sz="2800" dirty="0"/>
                <a:t>GPR  </a:t>
              </a:r>
              <a:r>
                <a:rPr lang="zh-CN" altLang="en-US" sz="2800" dirty="0"/>
                <a:t>（</a:t>
              </a:r>
              <a:r>
                <a:rPr lang="en-US" altLang="zh-CN" sz="2800" dirty="0" err="1"/>
                <a:t>lw</a:t>
              </a:r>
              <a:r>
                <a:rPr lang="en-US" altLang="zh-CN" sz="2800" dirty="0"/>
                <a:t> </a:t>
              </a:r>
              <a:r>
                <a:rPr lang="zh-CN" altLang="en-US" sz="2800" dirty="0"/>
                <a:t>指令）</a:t>
              </a:r>
              <a:endParaRPr lang="en-US" altLang="zh-CN" sz="2800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4A7B926-3CA6-7E83-0F8A-88E91CCCFE6A}"/>
                </a:ext>
              </a:extLst>
            </p:cNvPr>
            <p:cNvSpPr txBox="1"/>
            <p:nvPr/>
          </p:nvSpPr>
          <p:spPr>
            <a:xfrm>
              <a:off x="4105144" y="3311713"/>
              <a:ext cx="209544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>
                  <a:solidFill>
                    <a:srgbClr val="00B050"/>
                  </a:solidFill>
                </a:rPr>
                <a:t>计算</a:t>
              </a:r>
              <a:r>
                <a:rPr lang="en-US" altLang="zh-CN" sz="2800" dirty="0">
                  <a:solidFill>
                    <a:srgbClr val="00B050"/>
                  </a:solidFill>
                </a:rPr>
                <a:t>DM</a:t>
              </a:r>
              <a:r>
                <a:rPr lang="zh-CN" altLang="en-US" sz="2800" dirty="0">
                  <a:solidFill>
                    <a:srgbClr val="00B050"/>
                  </a:solidFill>
                </a:rPr>
                <a:t>地址</a:t>
              </a:r>
              <a:endParaRPr lang="zh-CN" altLang="en-US" sz="2800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58C5BC7-6468-0C77-659A-6687F1CA33B2}"/>
                </a:ext>
              </a:extLst>
            </p:cNvPr>
            <p:cNvSpPr txBox="1"/>
            <p:nvPr/>
          </p:nvSpPr>
          <p:spPr>
            <a:xfrm>
              <a:off x="838200" y="3332026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/>
                <a:t>取指→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063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0397"/>
            <a:ext cx="10515600" cy="1325563"/>
          </a:xfrm>
        </p:spPr>
        <p:txBody>
          <a:bodyPr/>
          <a:lstStyle/>
          <a:p>
            <a:r>
              <a:rPr lang="en-US" altLang="zh-CN" dirty="0"/>
              <a:t>DM</a:t>
            </a:r>
            <a:r>
              <a:rPr lang="zh-CN" altLang="en-US" dirty="0"/>
              <a:t>模块设计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5960"/>
            <a:ext cx="10515600" cy="4671003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 err="1"/>
              <a:t>lw</a:t>
            </a:r>
            <a:r>
              <a:rPr lang="zh-CN" altLang="en-US" sz="2800" dirty="0"/>
              <a:t>指令读</a:t>
            </a:r>
            <a:r>
              <a:rPr lang="en-US" altLang="zh-CN" sz="2800" dirty="0"/>
              <a:t>DM→ </a:t>
            </a:r>
            <a:r>
              <a:rPr lang="zh-CN" altLang="en-US" sz="2800" dirty="0"/>
              <a:t>一个读端口</a:t>
            </a:r>
            <a:endParaRPr lang="en-US" altLang="zh-CN" sz="2800" dirty="0"/>
          </a:p>
          <a:p>
            <a:r>
              <a:rPr lang="en-US" altLang="zh-CN" sz="2800" dirty="0" err="1"/>
              <a:t>sw</a:t>
            </a:r>
            <a:r>
              <a:rPr lang="zh-CN" altLang="en-US" sz="2800" dirty="0"/>
              <a:t>指令写</a:t>
            </a:r>
            <a:r>
              <a:rPr lang="en-US" altLang="zh-CN" sz="2800" dirty="0"/>
              <a:t>DM→ </a:t>
            </a:r>
            <a:r>
              <a:rPr lang="zh-CN" altLang="en-US" sz="2800" dirty="0"/>
              <a:t>一个写端口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r>
              <a:rPr lang="zh-CN" altLang="en-US" sz="2800" dirty="0"/>
              <a:t>读端口是</a:t>
            </a:r>
            <a:r>
              <a:rPr lang="zh-CN" altLang="en-US" sz="2800" dirty="0">
                <a:solidFill>
                  <a:srgbClr val="FF0000"/>
                </a:solidFill>
              </a:rPr>
              <a:t>组合逻辑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写端口是</a:t>
            </a:r>
            <a:r>
              <a:rPr lang="zh-CN" altLang="en-US" sz="2800" dirty="0">
                <a:solidFill>
                  <a:srgbClr val="FF0000"/>
                </a:solidFill>
              </a:rPr>
              <a:t>时序逻辑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读端口和写端口不会同时使用，而且地址计算方法相同，所以可以共用地址线。</a:t>
            </a:r>
            <a:endParaRPr lang="en-US" altLang="zh-CN" sz="2800" dirty="0"/>
          </a:p>
          <a:p>
            <a:r>
              <a:rPr lang="zh-CN" altLang="en-US" sz="2800" dirty="0"/>
              <a:t>不是每种指令都写</a:t>
            </a:r>
            <a:r>
              <a:rPr lang="en-US" altLang="zh-CN" sz="2800" dirty="0"/>
              <a:t>DM </a:t>
            </a:r>
            <a:r>
              <a:rPr lang="zh-CN" altLang="en-US" sz="2800" dirty="0"/>
              <a:t>，所以写端口需要写使能信号控制。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473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5C80B-EFF7-4F19-9BA6-745F1E2E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563961"/>
            <a:ext cx="11103262" cy="5726827"/>
          </a:xfrm>
        </p:spPr>
        <p:txBody>
          <a:bodyPr/>
          <a:lstStyle/>
          <a:p>
            <a:r>
              <a:rPr lang="zh-CN" altLang="en-US" sz="2400" dirty="0"/>
              <a:t>模块接口说明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功能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944D383C-42E8-4251-B9C8-55A734BA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32801"/>
              </p:ext>
            </p:extLst>
          </p:nvPr>
        </p:nvGraphicFramePr>
        <p:xfrm>
          <a:off x="577993" y="1201008"/>
          <a:ext cx="7462981" cy="251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9155">
                  <a:extLst>
                    <a:ext uri="{9D8B030D-6E8A-4147-A177-3AD203B41FA5}">
                      <a16:colId xmlns:a16="http://schemas.microsoft.com/office/drawing/2014/main" val="3506273767"/>
                    </a:ext>
                  </a:extLst>
                </a:gridCol>
                <a:gridCol w="1370172">
                  <a:extLst>
                    <a:ext uri="{9D8B030D-6E8A-4147-A177-3AD203B41FA5}">
                      <a16:colId xmlns:a16="http://schemas.microsoft.com/office/drawing/2014/main" val="2833099949"/>
                    </a:ext>
                  </a:extLst>
                </a:gridCol>
                <a:gridCol w="4083654">
                  <a:extLst>
                    <a:ext uri="{9D8B030D-6E8A-4147-A177-3AD203B41FA5}">
                      <a16:colId xmlns:a16="http://schemas.microsoft.com/office/drawing/2014/main" val="483743079"/>
                    </a:ext>
                  </a:extLst>
                </a:gridCol>
              </a:tblGrid>
              <a:tr h="422527">
                <a:tc>
                  <a:txBody>
                    <a:bodyPr/>
                    <a:lstStyle/>
                    <a:p>
                      <a:r>
                        <a:rPr lang="zh-CN" altLang="en-US" dirty="0"/>
                        <a:t>信号名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162156"/>
                  </a:ext>
                </a:extLst>
              </a:tr>
              <a:tr h="4167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data_out</a:t>
                      </a:r>
                      <a:r>
                        <a:rPr lang="en-US" altLang="zh-CN" dirty="0"/>
                        <a:t>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读出的数据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56730"/>
                  </a:ext>
                </a:extLst>
              </a:tr>
              <a:tr h="416739">
                <a:tc>
                  <a:txBody>
                    <a:bodyPr/>
                    <a:lstStyle/>
                    <a:p>
                      <a:r>
                        <a:rPr lang="en-US" altLang="zh-CN" dirty="0"/>
                        <a:t>clock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时钟信号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上升沿有效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392592"/>
                  </a:ext>
                </a:extLst>
              </a:tr>
              <a:tr h="416739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mem_write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写使能信号  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：有效；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：无效。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342160"/>
                  </a:ext>
                </a:extLst>
              </a:tr>
              <a:tr h="416739">
                <a:tc>
                  <a:txBody>
                    <a:bodyPr/>
                    <a:lstStyle/>
                    <a:p>
                      <a:r>
                        <a:rPr lang="en-US" altLang="zh-CN" dirty="0"/>
                        <a:t>address[31:0]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读写地址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03483"/>
                  </a:ext>
                </a:extLst>
              </a:tr>
              <a:tr h="422527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data_in</a:t>
                      </a:r>
                      <a:r>
                        <a:rPr lang="en-US" altLang="zh-CN" dirty="0"/>
                        <a:t>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要写入的数据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23569"/>
                  </a:ext>
                </a:extLst>
              </a:tr>
            </a:tbl>
          </a:graphicData>
        </a:graphic>
      </p:graphicFrame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5154F9D3-26B8-40AF-9579-F35CF8CF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9193239"/>
              </p:ext>
            </p:extLst>
          </p:nvPr>
        </p:nvGraphicFramePr>
        <p:xfrm>
          <a:off x="577993" y="4830802"/>
          <a:ext cx="11253789" cy="145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420">
                  <a:extLst>
                    <a:ext uri="{9D8B030D-6E8A-4147-A177-3AD203B41FA5}">
                      <a16:colId xmlns:a16="http://schemas.microsoft.com/office/drawing/2014/main" val="1646783832"/>
                    </a:ext>
                  </a:extLst>
                </a:gridCol>
                <a:gridCol w="9015369">
                  <a:extLst>
                    <a:ext uri="{9D8B030D-6E8A-4147-A177-3AD203B41FA5}">
                      <a16:colId xmlns:a16="http://schemas.microsoft.com/office/drawing/2014/main" val="2425045120"/>
                    </a:ext>
                  </a:extLst>
                </a:gridCol>
              </a:tblGrid>
              <a:tr h="488894"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657042"/>
                  </a:ext>
                </a:extLst>
              </a:tr>
              <a:tr h="488894">
                <a:tc>
                  <a:txBody>
                    <a:bodyPr/>
                    <a:lstStyle/>
                    <a:p>
                      <a:r>
                        <a:rPr lang="zh-CN" altLang="en-US" dirty="0"/>
                        <a:t>读存储器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data_out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数据存储器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[address]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707505"/>
                  </a:ext>
                </a:extLst>
              </a:tr>
              <a:tr h="482197">
                <a:tc>
                  <a:txBody>
                    <a:bodyPr/>
                    <a:lstStyle/>
                    <a:p>
                      <a:r>
                        <a:rPr lang="zh-CN" altLang="en-US" dirty="0"/>
                        <a:t>写存储器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mem_write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信号有效时，在</a:t>
                      </a:r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  <a:r>
                        <a:rPr lang="zh-CN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的上升沿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，数据存储器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CN" sz="18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= </a:t>
                      </a:r>
                      <a:r>
                        <a:rPr lang="en-US" altLang="zh-CN" dirty="0" err="1"/>
                        <a:t>data_in</a:t>
                      </a:r>
                      <a:r>
                        <a:rPr lang="zh-CN" alt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7450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7263F155-7DF7-4282-8015-E9F2B6FF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094" y="882484"/>
            <a:ext cx="3385688" cy="32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511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7D1B3-97BB-4E09-B365-E52BB951F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DM</a:t>
            </a:r>
            <a:r>
              <a:rPr lang="zh-CN" altLang="en-US" dirty="0"/>
              <a:t>模块接口定义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36D0A7-F6CA-4964-A7BE-DAF44EE608A2}"/>
              </a:ext>
            </a:extLst>
          </p:cNvPr>
          <p:cNvSpPr txBox="1"/>
          <p:nvPr/>
        </p:nvSpPr>
        <p:spPr>
          <a:xfrm>
            <a:off x="1521646" y="1901717"/>
            <a:ext cx="9148707" cy="38318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//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数据存储器</a:t>
            </a:r>
            <a:endParaRPr lang="zh-CN" altLang="zh-CN" sz="2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module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dm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(output [31:0]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data_out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 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，</a:t>
            </a:r>
            <a:endParaRPr lang="zh-CN" altLang="zh-CN" dirty="0">
              <a:solidFill>
                <a:srgbClr val="0070C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		   input 	     clock    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，</a:t>
            </a:r>
            <a:endParaRPr lang="zh-CN" altLang="zh-CN" dirty="0">
              <a:solidFill>
                <a:srgbClr val="0070C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		   input 	   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mem_write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，</a:t>
            </a:r>
            <a:endParaRPr lang="zh-CN" altLang="zh-CN" dirty="0">
              <a:solidFill>
                <a:srgbClr val="0070C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		   input  [31:0]  address  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，</a:t>
            </a:r>
            <a:endParaRPr lang="zh-CN" altLang="zh-CN" dirty="0">
              <a:solidFill>
                <a:srgbClr val="0070C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          input  [31:0]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data_in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   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）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Courier New" panose="02070309020205020404" pitchFamily="49" charset="0"/>
              </a:rPr>
              <a:t>;</a:t>
            </a:r>
            <a:endParaRPr lang="zh-CN" altLang="zh-CN" dirty="0">
              <a:solidFill>
                <a:srgbClr val="0070C0"/>
              </a:solidFill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//4KB</a:t>
            </a:r>
            <a:r>
              <a:rPr lang="zh-CN" altLang="zh-CN" sz="18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数据存储器</a:t>
            </a:r>
            <a:endParaRPr lang="zh-CN" altLang="zh-CN" sz="2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reg [31:0] </a:t>
            </a:r>
            <a:r>
              <a:rPr lang="en-US" altLang="zh-CN" sz="1800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data_memory</a:t>
            </a:r>
            <a:r>
              <a:rPr lang="en-US" altLang="zh-CN" sz="18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[1023:0]; 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95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01E15-1745-4BF8-89FA-3EDEB60F4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42899"/>
            <a:ext cx="8596668" cy="774371"/>
          </a:xfrm>
        </p:spPr>
        <p:txBody>
          <a:bodyPr/>
          <a:lstStyle/>
          <a:p>
            <a:r>
              <a:rPr lang="zh-CN" altLang="en-US" dirty="0"/>
              <a:t>数据通路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C240AF9-3792-7A18-606E-5DFB0737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5" y="1892011"/>
            <a:ext cx="11237655" cy="42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33676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19775</TotalTime>
  <Words>468</Words>
  <Application>Microsoft Office PowerPoint</Application>
  <PresentationFormat>宽屏</PresentationFormat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Courier New</vt:lpstr>
      <vt:lpstr>Times New Roman</vt:lpstr>
      <vt:lpstr>Trebuchet MS</vt:lpstr>
      <vt:lpstr>Wingdings 3</vt:lpstr>
      <vt:lpstr>平面</vt:lpstr>
      <vt:lpstr>  增加实现MEM型指令</vt:lpstr>
      <vt:lpstr>实验过程</vt:lpstr>
      <vt:lpstr>指令格式 </vt:lpstr>
      <vt:lpstr>指令比较分析</vt:lpstr>
      <vt:lpstr>DM模块设计</vt:lpstr>
      <vt:lpstr>PowerPoint 演示文稿</vt:lpstr>
      <vt:lpstr>DM模块接口定义</vt:lpstr>
      <vt:lpstr>数据通路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345</cp:revision>
  <dcterms:created xsi:type="dcterms:W3CDTF">2020-03-13T01:07:41Z</dcterms:created>
  <dcterms:modified xsi:type="dcterms:W3CDTF">2026-05-12T02:25:57Z</dcterms:modified>
</cp:coreProperties>
</file>