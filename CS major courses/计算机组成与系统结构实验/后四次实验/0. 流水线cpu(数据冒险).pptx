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43" r:id="rId3"/>
    <p:sldId id="352" r:id="rId4"/>
    <p:sldId id="354" r:id="rId5"/>
    <p:sldId id="322" r:id="rId6"/>
    <p:sldId id="351" r:id="rId7"/>
    <p:sldId id="355" r:id="rId8"/>
    <p:sldId id="361" r:id="rId9"/>
    <p:sldId id="357" r:id="rId10"/>
    <p:sldId id="358" r:id="rId11"/>
    <p:sldId id="359" r:id="rId12"/>
    <p:sldId id="360" r:id="rId13"/>
    <p:sldId id="34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00FF00"/>
    <a:srgbClr val="FF6600"/>
    <a:srgbClr val="0000FF"/>
    <a:srgbClr val="F7F181"/>
    <a:srgbClr val="461A96"/>
    <a:srgbClr val="3D30E8"/>
    <a:srgbClr val="2618DE"/>
    <a:srgbClr val="1B119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07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20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82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859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351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7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52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064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17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3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0025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621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5529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376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515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98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66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083" y="2588252"/>
            <a:ext cx="8624374" cy="1121439"/>
          </a:xfrm>
        </p:spPr>
        <p:txBody>
          <a:bodyPr>
            <a:normAutofit/>
          </a:bodyPr>
          <a:lstStyle/>
          <a:p>
            <a:r>
              <a:rPr lang="zh-CN" altLang="en-US" sz="5400" b="1" dirty="0"/>
              <a:t>数据冒险总述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4273" y="950832"/>
            <a:ext cx="11224492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800" dirty="0"/>
              <a:t>数据冒险的</a:t>
            </a:r>
            <a:r>
              <a:rPr lang="zh-CN" altLang="en-US" sz="2800" b="1" dirty="0">
                <a:solidFill>
                  <a:srgbClr val="FF0000"/>
                </a:solidFill>
              </a:rPr>
              <a:t>根源</a:t>
            </a:r>
            <a:r>
              <a:rPr lang="zh-CN" altLang="en-US" sz="2800" dirty="0"/>
              <a:t>是</a:t>
            </a:r>
            <a:r>
              <a:rPr lang="en-US" altLang="zh-CN" sz="2800" dirty="0"/>
              <a:t>GPR</a:t>
            </a:r>
            <a:r>
              <a:rPr lang="zh-CN" altLang="en-US" sz="2800" dirty="0"/>
              <a:t>在</a:t>
            </a:r>
            <a:r>
              <a:rPr lang="en-US" altLang="zh-CN" sz="2800" dirty="0"/>
              <a:t>ID</a:t>
            </a:r>
            <a:r>
              <a:rPr lang="zh-CN" altLang="en-US" sz="2800" dirty="0"/>
              <a:t>级和</a:t>
            </a:r>
            <a:r>
              <a:rPr lang="en-US" altLang="zh-CN" sz="2800" dirty="0"/>
              <a:t>WB</a:t>
            </a:r>
            <a:r>
              <a:rPr lang="zh-CN" altLang="en-US" sz="2800" dirty="0"/>
              <a:t>级的复用。</a:t>
            </a:r>
            <a:endParaRPr lang="en-US" altLang="zh-CN" sz="2800" dirty="0"/>
          </a:p>
          <a:p>
            <a:pPr marL="228600" indent="-2286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800" dirty="0"/>
              <a:t>CLOCK4</a:t>
            </a:r>
            <a:r>
              <a:rPr lang="zh-CN" altLang="en-US" sz="2800" dirty="0"/>
              <a:t>时，指令</a:t>
            </a:r>
            <a:r>
              <a:rPr lang="en-US" altLang="zh-CN" sz="2800" dirty="0"/>
              <a:t>A</a:t>
            </a:r>
            <a:r>
              <a:rPr lang="zh-CN" altLang="en-US" sz="2800" dirty="0"/>
              <a:t>需要读取</a:t>
            </a:r>
            <a:r>
              <a:rPr lang="en-US" altLang="zh-CN" sz="2800" dirty="0"/>
              <a:t>9</a:t>
            </a:r>
            <a:r>
              <a:rPr lang="zh-CN" altLang="en-US" sz="2800" dirty="0"/>
              <a:t>号寄存器的值，而它前面有一条指令</a:t>
            </a:r>
            <a:r>
              <a:rPr lang="en-US" altLang="zh-CN" sz="2800" dirty="0"/>
              <a:t>B</a:t>
            </a:r>
            <a:r>
              <a:rPr lang="zh-CN" altLang="en-US" sz="2800" dirty="0"/>
              <a:t>，需要对</a:t>
            </a:r>
            <a:r>
              <a:rPr lang="en-US" altLang="zh-CN" sz="2800" dirty="0"/>
              <a:t>9</a:t>
            </a:r>
            <a:r>
              <a:rPr lang="zh-CN" altLang="en-US" sz="2800" dirty="0"/>
              <a:t>号寄存器进行写操作，并且指令</a:t>
            </a:r>
            <a:r>
              <a:rPr lang="en-US" altLang="zh-CN" sz="2800" dirty="0"/>
              <a:t>B</a:t>
            </a:r>
            <a:r>
              <a:rPr lang="zh-CN" altLang="en-US" sz="2800" dirty="0"/>
              <a:t>还处于流水线中，也就是说指令</a:t>
            </a:r>
            <a:r>
              <a:rPr lang="en-US" altLang="zh-CN" sz="2800" dirty="0"/>
              <a:t>B</a:t>
            </a:r>
            <a:r>
              <a:rPr lang="zh-CN" altLang="en-US" sz="2800" dirty="0"/>
              <a:t>还没有执行完，如果指令</a:t>
            </a:r>
            <a:r>
              <a:rPr lang="en-US" altLang="zh-CN" sz="2800" dirty="0"/>
              <a:t>A</a:t>
            </a:r>
            <a:r>
              <a:rPr lang="zh-CN" altLang="en-US" sz="2800" dirty="0"/>
              <a:t>直接从</a:t>
            </a:r>
            <a:r>
              <a:rPr lang="en-US" altLang="zh-CN" sz="2800" dirty="0"/>
              <a:t>GPR</a:t>
            </a:r>
            <a:r>
              <a:rPr lang="zh-CN" altLang="en-US" sz="2800" dirty="0"/>
              <a:t>读</a:t>
            </a:r>
            <a:r>
              <a:rPr lang="en-US" altLang="zh-CN" sz="2800" dirty="0"/>
              <a:t>9</a:t>
            </a:r>
            <a:r>
              <a:rPr lang="zh-CN" altLang="en-US" sz="2800" dirty="0"/>
              <a:t>号寄存器，那么读到的是</a:t>
            </a:r>
            <a:r>
              <a:rPr lang="en-US" altLang="zh-CN" sz="2800" dirty="0"/>
              <a:t>9</a:t>
            </a:r>
            <a:r>
              <a:rPr lang="zh-CN" altLang="en-US" sz="2800" dirty="0"/>
              <a:t>号寄存器的旧值。</a:t>
            </a:r>
            <a:endParaRPr lang="en-US" altLang="zh-CN" sz="2800" dirty="0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FCADD55-22C5-4D60-A57D-C3D5207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73" y="120357"/>
            <a:ext cx="10515600" cy="844550"/>
          </a:xfrm>
        </p:spPr>
        <p:txBody>
          <a:bodyPr/>
          <a:lstStyle/>
          <a:p>
            <a:r>
              <a:rPr lang="zh-CN" altLang="en-US" dirty="0"/>
              <a:t>数据冒险的原因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464665" y="3832134"/>
            <a:ext cx="9703707" cy="3051629"/>
            <a:chOff x="1326822" y="3569272"/>
            <a:chExt cx="9703707" cy="3051629"/>
          </a:xfrm>
        </p:grpSpPr>
        <p:grpSp>
          <p:nvGrpSpPr>
            <p:cNvPr id="5" name="组合 4"/>
            <p:cNvGrpSpPr/>
            <p:nvPr/>
          </p:nvGrpSpPr>
          <p:grpSpPr>
            <a:xfrm>
              <a:off x="1326822" y="3569272"/>
              <a:ext cx="9703707" cy="2665027"/>
              <a:chOff x="1326822" y="3569272"/>
              <a:chExt cx="9703707" cy="2665027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1326822" y="3569272"/>
                <a:ext cx="9501410" cy="2665027"/>
                <a:chOff x="1345295" y="1921597"/>
                <a:chExt cx="9501410" cy="2665027"/>
              </a:xfrm>
            </p:grpSpPr>
            <p:pic>
              <p:nvPicPr>
                <p:cNvPr id="7" name="图片 6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45295" y="2858603"/>
                  <a:ext cx="9501410" cy="1728021"/>
                </a:xfrm>
                <a:prstGeom prst="rect">
                  <a:avLst/>
                </a:prstGeom>
              </p:spPr>
            </p:pic>
            <p:sp>
              <p:nvSpPr>
                <p:cNvPr id="9" name="文本框 8"/>
                <p:cNvSpPr txBox="1"/>
                <p:nvPr/>
              </p:nvSpPr>
              <p:spPr>
                <a:xfrm>
                  <a:off x="3213100" y="1973081"/>
                  <a:ext cx="1835152" cy="6463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/>
                    <a:t>指令</a:t>
                  </a:r>
                  <a:r>
                    <a:rPr lang="en-US" altLang="zh-CN" dirty="0"/>
                    <a:t>A</a:t>
                  </a:r>
                </a:p>
                <a:p>
                  <a:r>
                    <a:rPr lang="en-US" altLang="zh-CN" dirty="0"/>
                    <a:t>sub $8, </a:t>
                  </a:r>
                  <a:r>
                    <a:rPr lang="en-US" altLang="zh-CN" dirty="0">
                      <a:solidFill>
                        <a:srgbClr val="FF0000"/>
                      </a:solidFill>
                    </a:rPr>
                    <a:t>$9</a:t>
                  </a:r>
                  <a:r>
                    <a:rPr lang="en-US" altLang="zh-CN" dirty="0"/>
                    <a:t>,$11</a:t>
                  </a:r>
                  <a:endParaRPr lang="zh-CN" altLang="en-US" dirty="0"/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7230533" y="1938867"/>
                  <a:ext cx="1761068" cy="6463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/>
                    <a:t>指令</a:t>
                  </a:r>
                  <a:r>
                    <a:rPr lang="en-US" altLang="zh-CN" dirty="0"/>
                    <a:t>B</a:t>
                  </a:r>
                </a:p>
                <a:p>
                  <a:r>
                    <a:rPr lang="en-US" altLang="zh-CN" dirty="0" err="1"/>
                    <a:t>addu</a:t>
                  </a:r>
                  <a:r>
                    <a:rPr lang="en-US" altLang="zh-CN" dirty="0"/>
                    <a:t> </a:t>
                  </a:r>
                  <a:r>
                    <a:rPr lang="en-US" altLang="zh-CN" dirty="0">
                      <a:solidFill>
                        <a:srgbClr val="FF0000"/>
                      </a:solidFill>
                    </a:rPr>
                    <a:t>$9</a:t>
                  </a:r>
                  <a:r>
                    <a:rPr lang="en-US" altLang="zh-CN" dirty="0"/>
                    <a:t>, $6,$7</a:t>
                  </a:r>
                  <a:endParaRPr lang="zh-CN" altLang="en-US" dirty="0"/>
                </a:p>
              </p:txBody>
            </p:sp>
            <p:cxnSp>
              <p:nvCxnSpPr>
                <p:cNvPr id="11" name="直接连接符 10"/>
                <p:cNvCxnSpPr/>
                <p:nvPr/>
              </p:nvCxnSpPr>
              <p:spPr>
                <a:xfrm flipH="1">
                  <a:off x="5130801" y="193886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/>
                <p:cNvCxnSpPr/>
                <p:nvPr/>
              </p:nvCxnSpPr>
              <p:spPr>
                <a:xfrm flipH="1">
                  <a:off x="7086600" y="193886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 flipH="1">
                  <a:off x="9144001" y="193886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 flipH="1">
                  <a:off x="3060701" y="192159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文本框 14"/>
              <p:cNvSpPr txBox="1"/>
              <p:nvPr/>
            </p:nvSpPr>
            <p:spPr>
              <a:xfrm>
                <a:off x="5081539" y="3861744"/>
                <a:ext cx="1761068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9269461" y="3863829"/>
                <a:ext cx="1761068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351010" y="3854593"/>
                <a:ext cx="1761068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477818" y="6251569"/>
              <a:ext cx="1052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CLOCK4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0184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5260" y="1071669"/>
            <a:ext cx="10587182" cy="817302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假设指令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要写入的寄存器是指令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需要使用的寄存器。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038" y="1863553"/>
            <a:ext cx="10267404" cy="450106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807200" y="1777720"/>
            <a:ext cx="45719" cy="142729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线形标注 2 9"/>
          <p:cNvSpPr/>
          <p:nvPr/>
        </p:nvSpPr>
        <p:spPr>
          <a:xfrm>
            <a:off x="8303490" y="2299854"/>
            <a:ext cx="2225964" cy="72967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956"/>
              <a:gd name="adj6" fmla="val -657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</a:t>
            </a:r>
            <a:r>
              <a:rPr lang="en-US" altLang="zh-CN" dirty="0"/>
              <a:t>1</a:t>
            </a:r>
            <a:r>
              <a:rPr lang="zh-CN" altLang="en-US" dirty="0"/>
              <a:t>在</a:t>
            </a:r>
            <a:r>
              <a:rPr lang="en-US" altLang="zh-CN" dirty="0"/>
              <a:t>clock5</a:t>
            </a:r>
            <a:r>
              <a:rPr lang="zh-CN" altLang="en-US" dirty="0"/>
              <a:t>结束时把数据写入</a:t>
            </a:r>
            <a:r>
              <a:rPr lang="en-US" altLang="zh-CN" dirty="0"/>
              <a:t>GPR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639475" y="5588762"/>
            <a:ext cx="45719" cy="1034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19005" y="4657793"/>
            <a:ext cx="45719" cy="1034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771572" y="3855467"/>
            <a:ext cx="45719" cy="1034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772659" y="3029526"/>
            <a:ext cx="45719" cy="1034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线形标注 2 14"/>
          <p:cNvSpPr/>
          <p:nvPr/>
        </p:nvSpPr>
        <p:spPr>
          <a:xfrm>
            <a:off x="9462191" y="3585958"/>
            <a:ext cx="2523280" cy="111103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812"/>
              <a:gd name="adj6" fmla="val -1818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在</a:t>
            </a:r>
            <a:r>
              <a:rPr lang="en-US" altLang="zh-CN" dirty="0"/>
              <a:t>ID</a:t>
            </a:r>
            <a:r>
              <a:rPr lang="zh-CN" altLang="en-US" dirty="0"/>
              <a:t>阶段从</a:t>
            </a:r>
            <a:r>
              <a:rPr lang="en-US" altLang="zh-CN" dirty="0"/>
              <a:t>GPR</a:t>
            </a:r>
            <a:r>
              <a:rPr lang="zh-CN" altLang="en-US" dirty="0"/>
              <a:t>读数据时指令</a:t>
            </a:r>
            <a:r>
              <a:rPr lang="en-US" altLang="zh-CN" dirty="0"/>
              <a:t>1</a:t>
            </a:r>
            <a:r>
              <a:rPr lang="zh-CN" altLang="en-US" dirty="0"/>
              <a:t>还没有把数据写回</a:t>
            </a:r>
          </a:p>
        </p:txBody>
      </p:sp>
      <p:cxnSp>
        <p:nvCxnSpPr>
          <p:cNvPr id="17" name="直接连接符 16"/>
          <p:cNvCxnSpPr>
            <a:endCxn id="13" idx="3"/>
          </p:cNvCxnSpPr>
          <p:nvPr/>
        </p:nvCxnSpPr>
        <p:spPr>
          <a:xfrm flipH="1">
            <a:off x="5817291" y="3855467"/>
            <a:ext cx="3437545" cy="51723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cxnSpLocks/>
            <a:endCxn id="12" idx="3"/>
          </p:cNvCxnSpPr>
          <p:nvPr/>
        </p:nvCxnSpPr>
        <p:spPr>
          <a:xfrm flipH="1">
            <a:off x="6764724" y="4219903"/>
            <a:ext cx="2651748" cy="95512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线形标注 2 22"/>
          <p:cNvSpPr/>
          <p:nvPr/>
        </p:nvSpPr>
        <p:spPr>
          <a:xfrm>
            <a:off x="2302933" y="5920509"/>
            <a:ext cx="2226734" cy="705868"/>
          </a:xfrm>
          <a:prstGeom prst="borderCallout2">
            <a:avLst>
              <a:gd name="adj1" fmla="val 57133"/>
              <a:gd name="adj2" fmla="val 104215"/>
              <a:gd name="adj3" fmla="val 35542"/>
              <a:gd name="adj4" fmla="val 117173"/>
              <a:gd name="adj5" fmla="val 42691"/>
              <a:gd name="adj6" fmla="val 2439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从指令</a:t>
            </a:r>
            <a:r>
              <a:rPr lang="en-US" altLang="zh-CN" dirty="0"/>
              <a:t>5</a:t>
            </a:r>
            <a:r>
              <a:rPr lang="zh-CN" altLang="en-US" dirty="0"/>
              <a:t>开始不会再和指令</a:t>
            </a:r>
            <a:r>
              <a:rPr lang="en-US" altLang="zh-CN" dirty="0"/>
              <a:t>1</a:t>
            </a:r>
            <a:r>
              <a:rPr lang="zh-CN" altLang="en-US" dirty="0"/>
              <a:t>有数据冒险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6C049F5-6884-A065-2BC0-C47DE5910D39}"/>
              </a:ext>
            </a:extLst>
          </p:cNvPr>
          <p:cNvSpPr txBox="1">
            <a:spLocks/>
          </p:cNvSpPr>
          <p:nvPr/>
        </p:nvSpPr>
        <p:spPr>
          <a:xfrm>
            <a:off x="940940" y="38678"/>
            <a:ext cx="10515600" cy="1196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/>
            <a:r>
              <a:rPr lang="zh-CN" altLang="en-US" sz="3600" dirty="0">
                <a:solidFill>
                  <a:schemeClr val="accent1"/>
                </a:solidFill>
              </a:rPr>
              <a:t>哪些情况会引起数据冒险？</a:t>
            </a:r>
          </a:p>
        </p:txBody>
      </p:sp>
      <p:sp>
        <p:nvSpPr>
          <p:cNvPr id="6" name="线形标注 2 14">
            <a:extLst>
              <a:ext uri="{FF2B5EF4-FFF2-40B4-BE49-F238E27FC236}">
                <a16:creationId xmlns:a16="http://schemas.microsoft.com/office/drawing/2014/main" id="{D3F4E5FA-3714-76FB-3337-D7323EE25DA5}"/>
              </a:ext>
            </a:extLst>
          </p:cNvPr>
          <p:cNvSpPr/>
          <p:nvPr/>
        </p:nvSpPr>
        <p:spPr>
          <a:xfrm>
            <a:off x="9416472" y="5020792"/>
            <a:ext cx="2721399" cy="16055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482"/>
              <a:gd name="adj6" fmla="val -105468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</a:rPr>
              <a:t>特别注意</a:t>
            </a:r>
            <a:r>
              <a:rPr lang="zh-CN" altLang="en-US" dirty="0">
                <a:solidFill>
                  <a:schemeClr val="tx1"/>
                </a:solidFill>
              </a:rPr>
              <a:t>：因为在</a:t>
            </a:r>
            <a:r>
              <a:rPr lang="en-US" altLang="zh-CN" dirty="0">
                <a:solidFill>
                  <a:schemeClr val="tx1"/>
                </a:solidFill>
              </a:rPr>
              <a:t>CLOCK</a:t>
            </a:r>
            <a:r>
              <a:rPr lang="zh-CN" altLang="en-US" dirty="0">
                <a:solidFill>
                  <a:schemeClr val="tx1"/>
                </a:solidFill>
              </a:rPr>
              <a:t>上升沿写寄存器，即在</a:t>
            </a:r>
            <a:r>
              <a:rPr lang="en-US" altLang="zh-CN" dirty="0">
                <a:solidFill>
                  <a:schemeClr val="tx1"/>
                </a:solidFill>
              </a:rPr>
              <a:t>WB</a:t>
            </a:r>
            <a:r>
              <a:rPr lang="zh-CN" altLang="en-US" dirty="0">
                <a:solidFill>
                  <a:schemeClr val="tx1"/>
                </a:solidFill>
              </a:rPr>
              <a:t>阶段结束时写寄存器，指令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和指令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也存在数据冒险</a:t>
            </a:r>
          </a:p>
        </p:txBody>
      </p:sp>
    </p:spTree>
    <p:extLst>
      <p:ext uri="{BB962C8B-B14F-4D97-AF65-F5344CB8AC3E}">
        <p14:creationId xmlns:p14="http://schemas.microsoft.com/office/powerpoint/2010/main" val="263229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BFE7B71B-2A54-BBA5-2CE9-6D9524D5F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436167"/>
              </p:ext>
            </p:extLst>
          </p:nvPr>
        </p:nvGraphicFramePr>
        <p:xfrm>
          <a:off x="1201218" y="1513691"/>
          <a:ext cx="9513830" cy="1339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766">
                  <a:extLst>
                    <a:ext uri="{9D8B030D-6E8A-4147-A177-3AD203B41FA5}">
                      <a16:colId xmlns:a16="http://schemas.microsoft.com/office/drawing/2014/main" val="3445570053"/>
                    </a:ext>
                  </a:extLst>
                </a:gridCol>
                <a:gridCol w="1902766">
                  <a:extLst>
                    <a:ext uri="{9D8B030D-6E8A-4147-A177-3AD203B41FA5}">
                      <a16:colId xmlns:a16="http://schemas.microsoft.com/office/drawing/2014/main" val="2989199929"/>
                    </a:ext>
                  </a:extLst>
                </a:gridCol>
                <a:gridCol w="1902766">
                  <a:extLst>
                    <a:ext uri="{9D8B030D-6E8A-4147-A177-3AD203B41FA5}">
                      <a16:colId xmlns:a16="http://schemas.microsoft.com/office/drawing/2014/main" val="509291297"/>
                    </a:ext>
                  </a:extLst>
                </a:gridCol>
                <a:gridCol w="1902766">
                  <a:extLst>
                    <a:ext uri="{9D8B030D-6E8A-4147-A177-3AD203B41FA5}">
                      <a16:colId xmlns:a16="http://schemas.microsoft.com/office/drawing/2014/main" val="2526784675"/>
                    </a:ext>
                  </a:extLst>
                </a:gridCol>
                <a:gridCol w="1902766">
                  <a:extLst>
                    <a:ext uri="{9D8B030D-6E8A-4147-A177-3AD203B41FA5}">
                      <a16:colId xmlns:a16="http://schemas.microsoft.com/office/drawing/2014/main" val="2477134381"/>
                    </a:ext>
                  </a:extLst>
                </a:gridCol>
              </a:tblGrid>
              <a:tr h="669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间距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二阶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三阶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四阶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503631"/>
                  </a:ext>
                </a:extLst>
              </a:tr>
              <a:tr h="669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是否数据冒险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931743"/>
                  </a:ext>
                </a:extLst>
              </a:tr>
            </a:tbl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29A2234A-8B74-1316-354B-EDF8A395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82" y="3583579"/>
            <a:ext cx="10587182" cy="2236307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假设两条指令存在如下关系：前面的指令要写入的数据是后面的指令要使用的数据。</a:t>
            </a:r>
            <a:b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指令的间距表示方法：相邻为一阶，隔一条指令为二阶，隔两条指令为三阶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……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59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1524" y="1717965"/>
            <a:ext cx="10515601" cy="2932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800" dirty="0"/>
              <a:t>可以通过</a:t>
            </a:r>
            <a:r>
              <a:rPr lang="zh-CN" altLang="en-US" sz="2800" b="1" dirty="0">
                <a:solidFill>
                  <a:srgbClr val="FF0000"/>
                </a:solidFill>
              </a:rPr>
              <a:t>旁路</a:t>
            </a:r>
            <a:r>
              <a:rPr lang="zh-CN" altLang="en-US" sz="2800" dirty="0"/>
              <a:t>或</a:t>
            </a:r>
            <a:r>
              <a:rPr lang="zh-CN" altLang="en-US" sz="2800" b="1" dirty="0">
                <a:solidFill>
                  <a:srgbClr val="FF0000"/>
                </a:solidFill>
              </a:rPr>
              <a:t>阻塞</a:t>
            </a:r>
            <a:r>
              <a:rPr lang="zh-CN" altLang="en-US" sz="2800" dirty="0"/>
              <a:t>的方法解决数据冒险。</a:t>
            </a:r>
            <a:endParaRPr lang="en-US" altLang="zh-CN" sz="28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/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旁路</a:t>
            </a:r>
            <a:r>
              <a:rPr lang="zh-CN" altLang="en-US" sz="2800" dirty="0"/>
              <a:t>是指如果</a:t>
            </a:r>
            <a:r>
              <a:rPr lang="zh-CN" altLang="en-US" sz="2800" b="1" dirty="0">
                <a:solidFill>
                  <a:srgbClr val="00B050"/>
                </a:solidFill>
              </a:rPr>
              <a:t>使用数据时数据已经产生（计算出或者从</a:t>
            </a:r>
            <a:r>
              <a:rPr lang="en-US" altLang="zh-CN" sz="2800" b="1" dirty="0">
                <a:solidFill>
                  <a:srgbClr val="00B050"/>
                </a:solidFill>
              </a:rPr>
              <a:t>DM</a:t>
            </a:r>
            <a:r>
              <a:rPr lang="zh-CN" altLang="en-US" sz="2800" b="1" dirty="0">
                <a:solidFill>
                  <a:srgbClr val="00B050"/>
                </a:solidFill>
              </a:rPr>
              <a:t>取出），并且暂存在某个流水线寄存器中</a:t>
            </a:r>
            <a:r>
              <a:rPr lang="zh-CN" altLang="en-US" sz="2800" dirty="0"/>
              <a:t>，可以通过从该流水线寄存器中取出数据使用，从而解决数据冒险的问题。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800" dirty="0"/>
              <a:t>旁路并不能解决所有的数据冒险。当</a:t>
            </a:r>
            <a:r>
              <a:rPr lang="zh-CN" altLang="en-US" sz="2800" b="1" dirty="0">
                <a:solidFill>
                  <a:srgbClr val="00B050"/>
                </a:solidFill>
              </a:rPr>
              <a:t>使用数据的时间早于产生数据的时间</a:t>
            </a:r>
            <a:r>
              <a:rPr lang="zh-CN" altLang="en-US" sz="2800" dirty="0"/>
              <a:t>时，必须</a:t>
            </a:r>
            <a:r>
              <a:rPr lang="zh-CN" altLang="en-US" sz="2800" b="1" dirty="0">
                <a:solidFill>
                  <a:srgbClr val="FF0000"/>
                </a:solidFill>
              </a:rPr>
              <a:t>阻塞</a:t>
            </a:r>
            <a:r>
              <a:rPr lang="zh-CN" altLang="en-US" sz="2800" dirty="0"/>
              <a:t>流水线。</a:t>
            </a:r>
            <a:endParaRPr lang="en-US" altLang="zh-CN" sz="2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FCADD55-22C5-4D60-A57D-C3D5207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287580"/>
            <a:ext cx="10515600" cy="1118465"/>
          </a:xfrm>
        </p:spPr>
        <p:txBody>
          <a:bodyPr/>
          <a:lstStyle/>
          <a:p>
            <a:r>
              <a:rPr lang="zh-CN" altLang="en-US" dirty="0"/>
              <a:t>数据冒险的解决方法</a:t>
            </a:r>
          </a:p>
        </p:txBody>
      </p:sp>
    </p:spTree>
    <p:extLst>
      <p:ext uri="{BB962C8B-B14F-4D97-AF65-F5344CB8AC3E}">
        <p14:creationId xmlns:p14="http://schemas.microsoft.com/office/powerpoint/2010/main" val="222334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1105656" y="2501574"/>
            <a:ext cx="9568240" cy="3054617"/>
            <a:chOff x="1244146" y="2692524"/>
            <a:chExt cx="9568240" cy="3054617"/>
          </a:xfrm>
        </p:grpSpPr>
        <p:grpSp>
          <p:nvGrpSpPr>
            <p:cNvPr id="4" name="组合 3"/>
            <p:cNvGrpSpPr/>
            <p:nvPr/>
          </p:nvGrpSpPr>
          <p:grpSpPr>
            <a:xfrm>
              <a:off x="1244146" y="2692524"/>
              <a:ext cx="9568240" cy="3054617"/>
              <a:chOff x="1326822" y="3566284"/>
              <a:chExt cx="9568240" cy="3054617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326822" y="3566284"/>
                <a:ext cx="9568240" cy="2668015"/>
                <a:chOff x="1326822" y="3566284"/>
                <a:chExt cx="9568240" cy="2668015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1326822" y="3566284"/>
                  <a:ext cx="9568240" cy="2668015"/>
                  <a:chOff x="1345295" y="1918609"/>
                  <a:chExt cx="9568240" cy="2668015"/>
                </a:xfrm>
              </p:grpSpPr>
              <p:pic>
                <p:nvPicPr>
                  <p:cNvPr id="11" name="图片 10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345295" y="2858603"/>
                    <a:ext cx="9501410" cy="1728021"/>
                  </a:xfrm>
                  <a:prstGeom prst="rect">
                    <a:avLst/>
                  </a:prstGeom>
                </p:spPr>
              </p:pic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5215466" y="1977167"/>
                    <a:ext cx="1761068" cy="64633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/>
                      <a:t>指令</a:t>
                    </a:r>
                    <a:r>
                      <a:rPr lang="en-US" altLang="zh-CN" dirty="0"/>
                      <a:t>A</a:t>
                    </a:r>
                  </a:p>
                  <a:p>
                    <a:r>
                      <a:rPr lang="en-US" altLang="zh-CN" dirty="0"/>
                      <a:t>sub $8, </a:t>
                    </a:r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$9</a:t>
                    </a:r>
                    <a:r>
                      <a:rPr lang="en-US" altLang="zh-CN" dirty="0"/>
                      <a:t>,$11</a:t>
                    </a:r>
                    <a:endParaRPr lang="zh-CN" altLang="en-US" dirty="0"/>
                  </a:p>
                </p:txBody>
              </p:sp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9152467" y="1918609"/>
                    <a:ext cx="1761068" cy="64633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/>
                      <a:t>指令</a:t>
                    </a:r>
                    <a:r>
                      <a:rPr lang="en-US" altLang="zh-CN" dirty="0"/>
                      <a:t>B</a:t>
                    </a:r>
                  </a:p>
                  <a:p>
                    <a:r>
                      <a:rPr lang="en-US" altLang="zh-CN" dirty="0" err="1"/>
                      <a:t>addu</a:t>
                    </a:r>
                    <a:r>
                      <a:rPr lang="en-US" altLang="zh-CN" dirty="0"/>
                      <a:t> </a:t>
                    </a:r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$9</a:t>
                    </a:r>
                    <a:r>
                      <a:rPr lang="en-US" altLang="zh-CN" dirty="0"/>
                      <a:t>, $6,$7</a:t>
                    </a:r>
                    <a:endParaRPr lang="zh-CN" altLang="en-US" dirty="0"/>
                  </a:p>
                </p:txBody>
              </p:sp>
              <p:cxnSp>
                <p:nvCxnSpPr>
                  <p:cNvPr id="14" name="直接连接符 13"/>
                  <p:cNvCxnSpPr/>
                  <p:nvPr/>
                </p:nvCxnSpPr>
                <p:spPr>
                  <a:xfrm flipH="1">
                    <a:off x="5130801" y="193886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接连接符 14"/>
                  <p:cNvCxnSpPr/>
                  <p:nvPr/>
                </p:nvCxnSpPr>
                <p:spPr>
                  <a:xfrm flipH="1">
                    <a:off x="7086600" y="193886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连接符 15"/>
                  <p:cNvCxnSpPr/>
                  <p:nvPr/>
                </p:nvCxnSpPr>
                <p:spPr>
                  <a:xfrm flipH="1">
                    <a:off x="9144001" y="193886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 flipH="1">
                    <a:off x="3060701" y="192159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文本框 7"/>
                <p:cNvSpPr txBox="1"/>
                <p:nvPr/>
              </p:nvSpPr>
              <p:spPr>
                <a:xfrm>
                  <a:off x="7372926" y="3810565"/>
                  <a:ext cx="176106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/>
                    <a:t>……</a:t>
                  </a:r>
                  <a:endParaRPr lang="zh-CN" altLang="en-US" dirty="0"/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1351010" y="3854593"/>
                  <a:ext cx="176106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/>
                    <a:t>……</a:t>
                  </a:r>
                  <a:endParaRPr lang="zh-CN" altLang="en-US" dirty="0"/>
                </a:p>
              </p:txBody>
            </p:sp>
          </p:grpSp>
          <p:sp>
            <p:nvSpPr>
              <p:cNvPr id="6" name="文本框 5"/>
              <p:cNvSpPr txBox="1"/>
              <p:nvPr/>
            </p:nvSpPr>
            <p:spPr>
              <a:xfrm>
                <a:off x="1477818" y="6251569"/>
                <a:ext cx="1052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CLOCK4</a:t>
                </a:r>
                <a:endParaRPr lang="zh-CN" altLang="en-US" b="1" dirty="0"/>
              </a:p>
            </p:txBody>
          </p:sp>
        </p:grpSp>
        <p:cxnSp>
          <p:nvCxnSpPr>
            <p:cNvPr id="21" name="直接连接符 20"/>
            <p:cNvCxnSpPr/>
            <p:nvPr/>
          </p:nvCxnSpPr>
          <p:spPr>
            <a:xfrm flipV="1">
              <a:off x="9213850" y="4895850"/>
              <a:ext cx="349250" cy="635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9556752" y="4895850"/>
              <a:ext cx="3174" cy="6666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5393267" y="5562475"/>
              <a:ext cx="4169833" cy="466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5592233" y="4758268"/>
              <a:ext cx="4234" cy="850899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5393267" y="4258591"/>
              <a:ext cx="0" cy="1350576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859749" y="382061"/>
            <a:ext cx="99932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旁路：</a:t>
            </a:r>
            <a:endParaRPr lang="en-US" altLang="zh-CN" sz="3600" dirty="0"/>
          </a:p>
          <a:p>
            <a:pPr indent="457200"/>
            <a:r>
              <a:rPr lang="zh-CN" altLang="en-US" sz="2400" dirty="0"/>
              <a:t>比如，指令</a:t>
            </a:r>
            <a:r>
              <a:rPr lang="en-US" altLang="zh-CN" sz="2400" dirty="0"/>
              <a:t>A</a:t>
            </a:r>
            <a:r>
              <a:rPr lang="zh-CN" altLang="en-US" sz="2400" dirty="0"/>
              <a:t>和指令</a:t>
            </a:r>
            <a:r>
              <a:rPr lang="en-US" altLang="zh-CN" sz="2400" dirty="0"/>
              <a:t>B</a:t>
            </a:r>
            <a:r>
              <a:rPr lang="zh-CN" altLang="en-US" sz="2400" dirty="0"/>
              <a:t>存在数据冒险，可以通过</a:t>
            </a:r>
            <a:r>
              <a:rPr lang="en-US" altLang="zh-CN" sz="2400" dirty="0"/>
              <a:t>WB</a:t>
            </a:r>
            <a:r>
              <a:rPr lang="zh-CN" altLang="en-US" sz="2400" dirty="0"/>
              <a:t>到</a:t>
            </a:r>
            <a:r>
              <a:rPr lang="en-US" altLang="zh-CN" sz="2400" dirty="0"/>
              <a:t>EXE</a:t>
            </a:r>
            <a:r>
              <a:rPr lang="zh-CN" altLang="en-US" sz="2400" dirty="0"/>
              <a:t>级的旁路解决，表示为</a:t>
            </a:r>
            <a:r>
              <a:rPr lang="en-US" altLang="zh-CN" sz="2400" dirty="0"/>
              <a:t>WB-EXE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6935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8350" y="166255"/>
            <a:ext cx="10515600" cy="2965687"/>
          </a:xfrm>
        </p:spPr>
        <p:txBody>
          <a:bodyPr>
            <a:normAutofit fontScale="92500"/>
          </a:bodyPr>
          <a:lstStyle/>
          <a:p>
            <a:pPr marL="0" indent="0">
              <a:lnSpc>
                <a:spcPts val="4000"/>
              </a:lnSpc>
              <a:buNone/>
            </a:pPr>
            <a:r>
              <a:rPr lang="zh-CN" altLang="en-US" sz="3300" b="1" dirty="0"/>
              <a:t>阻塞</a:t>
            </a:r>
            <a:r>
              <a:rPr lang="en-US" altLang="zh-CN" sz="3300" b="1" dirty="0"/>
              <a:t>+</a:t>
            </a:r>
            <a:r>
              <a:rPr lang="zh-CN" altLang="en-US" sz="3300" b="1" dirty="0"/>
              <a:t>旁路：</a:t>
            </a:r>
            <a:endParaRPr lang="en-US" altLang="zh-CN" sz="3300" b="1" dirty="0"/>
          </a:p>
          <a:p>
            <a:pPr marL="0" indent="457200">
              <a:lnSpc>
                <a:spcPts val="4000"/>
              </a:lnSpc>
              <a:buNone/>
            </a:pPr>
            <a:r>
              <a:rPr lang="zh-CN" altLang="en-US" sz="2800" dirty="0"/>
              <a:t>比如，在</a:t>
            </a:r>
            <a:r>
              <a:rPr lang="en-US" altLang="zh-CN" sz="2800" dirty="0"/>
              <a:t>clock5</a:t>
            </a:r>
            <a:r>
              <a:rPr lang="zh-CN" altLang="en-US" sz="2800" dirty="0"/>
              <a:t>，指令</a:t>
            </a:r>
            <a:r>
              <a:rPr lang="en-US" altLang="zh-CN" sz="2800" dirty="0"/>
              <a:t>A</a:t>
            </a:r>
            <a:r>
              <a:rPr lang="zh-CN" altLang="en-US" sz="2800" dirty="0"/>
              <a:t>需要使用</a:t>
            </a:r>
            <a:r>
              <a:rPr lang="en-US" altLang="zh-CN" sz="2800" dirty="0"/>
              <a:t>$9</a:t>
            </a:r>
            <a:r>
              <a:rPr lang="zh-CN" altLang="en-US" sz="2800" dirty="0"/>
              <a:t>寄存器时，指令</a:t>
            </a:r>
            <a:r>
              <a:rPr lang="en-US" altLang="zh-CN" sz="2800" dirty="0"/>
              <a:t>B</a:t>
            </a:r>
            <a:r>
              <a:rPr lang="zh-CN" altLang="en-US" sz="2800" dirty="0"/>
              <a:t>还没有把</a:t>
            </a:r>
            <a:r>
              <a:rPr lang="en-US" altLang="zh-CN" sz="2800" dirty="0"/>
              <a:t>$9</a:t>
            </a:r>
            <a:r>
              <a:rPr lang="zh-CN" altLang="en-US" sz="2800" dirty="0"/>
              <a:t>寄存器的新值从</a:t>
            </a:r>
            <a:r>
              <a:rPr lang="en-US" altLang="zh-CN" sz="2800" dirty="0"/>
              <a:t>DM</a:t>
            </a:r>
            <a:r>
              <a:rPr lang="zh-CN" altLang="en-US" sz="2800" dirty="0"/>
              <a:t>取出来，所以指令</a:t>
            </a:r>
            <a:r>
              <a:rPr lang="en-US" altLang="zh-CN" sz="2800" dirty="0"/>
              <a:t>A</a:t>
            </a:r>
            <a:r>
              <a:rPr lang="zh-CN" altLang="en-US" sz="2800" dirty="0"/>
              <a:t>需要在</a:t>
            </a:r>
            <a:r>
              <a:rPr lang="en-US" altLang="zh-CN" sz="2800" dirty="0"/>
              <a:t>EXE</a:t>
            </a:r>
            <a:r>
              <a:rPr lang="zh-CN" altLang="en-US" sz="2800" dirty="0"/>
              <a:t>级等待一个周期（</a:t>
            </a:r>
            <a:r>
              <a:rPr lang="zh-CN" altLang="en-US" sz="2800" b="1" dirty="0">
                <a:solidFill>
                  <a:srgbClr val="FF0000"/>
                </a:solidFill>
              </a:rPr>
              <a:t>阻塞</a:t>
            </a:r>
            <a:r>
              <a:rPr lang="zh-CN" altLang="en-US" sz="2800" dirty="0"/>
              <a:t>）；在</a:t>
            </a:r>
            <a:r>
              <a:rPr lang="en-US" altLang="zh-CN" sz="2800" dirty="0"/>
              <a:t>clock6</a:t>
            </a:r>
            <a:r>
              <a:rPr lang="zh-CN" altLang="en-US" sz="2800" dirty="0"/>
              <a:t>，指令</a:t>
            </a:r>
            <a:r>
              <a:rPr lang="en-US" altLang="zh-CN" sz="2800" dirty="0"/>
              <a:t>B</a:t>
            </a:r>
            <a:r>
              <a:rPr lang="zh-CN" altLang="en-US" sz="2800" dirty="0"/>
              <a:t>进入</a:t>
            </a:r>
            <a:r>
              <a:rPr lang="en-US" altLang="zh-CN" sz="2800" dirty="0"/>
              <a:t>WB</a:t>
            </a:r>
            <a:r>
              <a:rPr lang="zh-CN" altLang="en-US" sz="2800" dirty="0"/>
              <a:t>阶段，</a:t>
            </a:r>
            <a:r>
              <a:rPr lang="en-US" altLang="zh-CN" sz="2800" dirty="0"/>
              <a:t>$9</a:t>
            </a:r>
            <a:r>
              <a:rPr lang="zh-CN" altLang="en-US" sz="2800" dirty="0"/>
              <a:t>寄存器的新值在</a:t>
            </a:r>
            <a:r>
              <a:rPr lang="en-US" altLang="zh-CN" sz="2800" dirty="0"/>
              <a:t>MEM_WB</a:t>
            </a:r>
            <a:r>
              <a:rPr lang="zh-CN" altLang="en-US" sz="2800" dirty="0"/>
              <a:t>流水线寄存器中，可以通过</a:t>
            </a:r>
            <a:r>
              <a:rPr lang="en-US" altLang="zh-CN" sz="2800" dirty="0"/>
              <a:t>WB</a:t>
            </a:r>
            <a:r>
              <a:rPr lang="zh-CN" altLang="en-US" sz="2800" dirty="0"/>
              <a:t>到</a:t>
            </a:r>
            <a:r>
              <a:rPr lang="en-US" altLang="zh-CN" sz="2800" dirty="0"/>
              <a:t>EXE</a:t>
            </a:r>
            <a:r>
              <a:rPr lang="zh-CN" altLang="en-US" sz="2800" dirty="0"/>
              <a:t>级的</a:t>
            </a:r>
            <a:r>
              <a:rPr lang="zh-CN" altLang="en-US" sz="2800" b="1" dirty="0">
                <a:solidFill>
                  <a:srgbClr val="FF0000"/>
                </a:solidFill>
              </a:rPr>
              <a:t>旁路</a:t>
            </a:r>
            <a:r>
              <a:rPr lang="zh-CN" altLang="en-US" sz="2800" dirty="0"/>
              <a:t>取得</a:t>
            </a:r>
            <a:r>
              <a:rPr lang="en-US" altLang="zh-CN" sz="2800" dirty="0"/>
              <a:t>$9</a:t>
            </a:r>
            <a:r>
              <a:rPr lang="zh-CN" altLang="en-US" sz="2800" dirty="0"/>
              <a:t>寄存器的新值。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191863" y="3438975"/>
            <a:ext cx="9559774" cy="3051629"/>
            <a:chOff x="1326822" y="3569272"/>
            <a:chExt cx="9559774" cy="3051629"/>
          </a:xfrm>
        </p:grpSpPr>
        <p:grpSp>
          <p:nvGrpSpPr>
            <p:cNvPr id="11" name="组合 10"/>
            <p:cNvGrpSpPr/>
            <p:nvPr/>
          </p:nvGrpSpPr>
          <p:grpSpPr>
            <a:xfrm>
              <a:off x="1326822" y="3569272"/>
              <a:ext cx="9559774" cy="2665027"/>
              <a:chOff x="1326822" y="3569272"/>
              <a:chExt cx="9559774" cy="2665027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326822" y="3569272"/>
                <a:ext cx="9501410" cy="2665027"/>
                <a:chOff x="1345295" y="1921597"/>
                <a:chExt cx="9501410" cy="2665027"/>
              </a:xfrm>
            </p:grpSpPr>
            <p:pic>
              <p:nvPicPr>
                <p:cNvPr id="16" name="图片 15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45295" y="2858603"/>
                  <a:ext cx="9501410" cy="1728021"/>
                </a:xfrm>
                <a:prstGeom prst="rect">
                  <a:avLst/>
                </a:prstGeom>
              </p:spPr>
            </p:pic>
            <p:sp>
              <p:nvSpPr>
                <p:cNvPr id="17" name="文本框 16"/>
                <p:cNvSpPr txBox="1"/>
                <p:nvPr/>
              </p:nvSpPr>
              <p:spPr>
                <a:xfrm>
                  <a:off x="5281539" y="1933487"/>
                  <a:ext cx="1805061" cy="6463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/>
                    <a:t>指令</a:t>
                  </a:r>
                  <a:r>
                    <a:rPr lang="en-US" altLang="zh-CN" dirty="0"/>
                    <a:t>A</a:t>
                  </a:r>
                </a:p>
                <a:p>
                  <a:r>
                    <a:rPr lang="en-US" altLang="zh-CN" dirty="0"/>
                    <a:t>sub $8, </a:t>
                  </a:r>
                  <a:r>
                    <a:rPr lang="en-US" altLang="zh-CN" dirty="0">
                      <a:solidFill>
                        <a:srgbClr val="FF0000"/>
                      </a:solidFill>
                    </a:rPr>
                    <a:t>$9</a:t>
                  </a:r>
                  <a:r>
                    <a:rPr lang="en-US" altLang="zh-CN" dirty="0"/>
                    <a:t>,$11</a:t>
                  </a:r>
                  <a:endParaRPr lang="zh-CN" altLang="en-US" dirty="0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7196210" y="1933487"/>
                  <a:ext cx="1761068" cy="6463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/>
                    <a:t>指令</a:t>
                  </a:r>
                  <a:r>
                    <a:rPr lang="en-US" altLang="zh-CN" dirty="0"/>
                    <a:t>B</a:t>
                  </a:r>
                </a:p>
                <a:p>
                  <a:r>
                    <a:rPr lang="en-US" altLang="zh-CN" dirty="0" err="1"/>
                    <a:t>lw</a:t>
                  </a:r>
                  <a:r>
                    <a:rPr lang="en-US" altLang="zh-CN" dirty="0"/>
                    <a:t>  </a:t>
                  </a:r>
                  <a:r>
                    <a:rPr lang="en-US" altLang="zh-CN" dirty="0">
                      <a:solidFill>
                        <a:srgbClr val="FF0000"/>
                      </a:solidFill>
                    </a:rPr>
                    <a:t>$9</a:t>
                  </a:r>
                  <a:r>
                    <a:rPr lang="en-US" altLang="zh-CN" dirty="0"/>
                    <a:t>,  8($6)</a:t>
                  </a:r>
                  <a:endParaRPr lang="zh-CN" altLang="en-US" dirty="0"/>
                </a:p>
              </p:txBody>
            </p:sp>
            <p:cxnSp>
              <p:nvCxnSpPr>
                <p:cNvPr id="19" name="直接连接符 18"/>
                <p:cNvCxnSpPr/>
                <p:nvPr/>
              </p:nvCxnSpPr>
              <p:spPr>
                <a:xfrm flipH="1">
                  <a:off x="5130801" y="193886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 flipH="1">
                  <a:off x="7086600" y="193886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 flipH="1">
                  <a:off x="9144001" y="193886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 flipH="1">
                  <a:off x="3060701" y="1921597"/>
                  <a:ext cx="8466" cy="919736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文本框 13"/>
              <p:cNvSpPr txBox="1"/>
              <p:nvPr/>
            </p:nvSpPr>
            <p:spPr>
              <a:xfrm>
                <a:off x="9125528" y="3832901"/>
                <a:ext cx="1761068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351010" y="3854593"/>
                <a:ext cx="1761068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1477818" y="6251569"/>
              <a:ext cx="1052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CLOCK5</a:t>
              </a:r>
              <a:endParaRPr lang="zh-CN" altLang="en-US" b="1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191863" y="3438975"/>
            <a:ext cx="9725770" cy="3051629"/>
            <a:chOff x="1244146" y="2695512"/>
            <a:chExt cx="9725770" cy="3051629"/>
          </a:xfrm>
        </p:grpSpPr>
        <p:grpSp>
          <p:nvGrpSpPr>
            <p:cNvPr id="43" name="组合 42"/>
            <p:cNvGrpSpPr/>
            <p:nvPr/>
          </p:nvGrpSpPr>
          <p:grpSpPr>
            <a:xfrm>
              <a:off x="1244146" y="2695512"/>
              <a:ext cx="9725770" cy="3051629"/>
              <a:chOff x="1326822" y="3569272"/>
              <a:chExt cx="9725770" cy="3051629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1326822" y="3569272"/>
                <a:ext cx="9725770" cy="2665027"/>
                <a:chOff x="1326822" y="3569272"/>
                <a:chExt cx="9725770" cy="2665027"/>
              </a:xfrm>
            </p:grpSpPr>
            <p:grpSp>
              <p:nvGrpSpPr>
                <p:cNvPr id="51" name="组合 50"/>
                <p:cNvGrpSpPr/>
                <p:nvPr/>
              </p:nvGrpSpPr>
              <p:grpSpPr>
                <a:xfrm>
                  <a:off x="1326822" y="3569272"/>
                  <a:ext cx="9725770" cy="2665027"/>
                  <a:chOff x="1345295" y="1921597"/>
                  <a:chExt cx="9725770" cy="2665027"/>
                </a:xfrm>
              </p:grpSpPr>
              <p:pic>
                <p:nvPicPr>
                  <p:cNvPr id="54" name="图片 53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345295" y="2858603"/>
                    <a:ext cx="9501410" cy="1728021"/>
                  </a:xfrm>
                  <a:prstGeom prst="rect">
                    <a:avLst/>
                  </a:prstGeom>
                </p:spPr>
              </p:pic>
              <p:sp>
                <p:nvSpPr>
                  <p:cNvPr id="55" name="文本框 54"/>
                  <p:cNvSpPr txBox="1"/>
                  <p:nvPr/>
                </p:nvSpPr>
                <p:spPr>
                  <a:xfrm>
                    <a:off x="5292864" y="1922714"/>
                    <a:ext cx="1716623" cy="64633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/>
                      <a:t>指令</a:t>
                    </a:r>
                    <a:r>
                      <a:rPr lang="en-US" altLang="zh-CN" dirty="0"/>
                      <a:t>A</a:t>
                    </a:r>
                  </a:p>
                  <a:p>
                    <a:r>
                      <a:rPr lang="en-US" altLang="zh-CN" dirty="0"/>
                      <a:t>sub $8, </a:t>
                    </a:r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$9</a:t>
                    </a:r>
                    <a:r>
                      <a:rPr lang="en-US" altLang="zh-CN" dirty="0"/>
                      <a:t>,$11</a:t>
                    </a:r>
                    <a:endParaRPr lang="zh-CN" altLang="en-US" dirty="0"/>
                  </a:p>
                </p:txBody>
              </p:sp>
              <p:sp>
                <p:nvSpPr>
                  <p:cNvPr id="56" name="文本框 55"/>
                  <p:cNvSpPr txBox="1"/>
                  <p:nvPr/>
                </p:nvSpPr>
                <p:spPr>
                  <a:xfrm>
                    <a:off x="9309997" y="1922240"/>
                    <a:ext cx="1761068" cy="64633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/>
                      <a:t>指令</a:t>
                    </a:r>
                    <a:r>
                      <a:rPr lang="en-US" altLang="zh-CN" dirty="0"/>
                      <a:t>B</a:t>
                    </a:r>
                  </a:p>
                  <a:p>
                    <a:r>
                      <a:rPr lang="en-US" altLang="zh-CN" dirty="0" err="1"/>
                      <a:t>lw</a:t>
                    </a:r>
                    <a:r>
                      <a:rPr lang="en-US" altLang="zh-CN" dirty="0"/>
                      <a:t>  </a:t>
                    </a:r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$9</a:t>
                    </a:r>
                    <a:r>
                      <a:rPr lang="en-US" altLang="zh-CN" dirty="0"/>
                      <a:t>,  8($6)</a:t>
                    </a:r>
                    <a:endParaRPr lang="zh-CN" altLang="en-US" dirty="0"/>
                  </a:p>
                </p:txBody>
              </p:sp>
              <p:cxnSp>
                <p:nvCxnSpPr>
                  <p:cNvPr id="57" name="直接连接符 56"/>
                  <p:cNvCxnSpPr/>
                  <p:nvPr/>
                </p:nvCxnSpPr>
                <p:spPr>
                  <a:xfrm flipH="1">
                    <a:off x="5130801" y="193886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连接符 57"/>
                  <p:cNvCxnSpPr/>
                  <p:nvPr/>
                </p:nvCxnSpPr>
                <p:spPr>
                  <a:xfrm flipH="1">
                    <a:off x="7086600" y="193886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接连接符 58"/>
                  <p:cNvCxnSpPr/>
                  <p:nvPr/>
                </p:nvCxnSpPr>
                <p:spPr>
                  <a:xfrm flipH="1">
                    <a:off x="9144001" y="193886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接连接符 59"/>
                  <p:cNvCxnSpPr/>
                  <p:nvPr/>
                </p:nvCxnSpPr>
                <p:spPr>
                  <a:xfrm flipH="1">
                    <a:off x="3060701" y="1921597"/>
                    <a:ext cx="8466" cy="919736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" name="文本框 52"/>
                <p:cNvSpPr txBox="1"/>
                <p:nvPr/>
              </p:nvSpPr>
              <p:spPr>
                <a:xfrm>
                  <a:off x="1351010" y="3854593"/>
                  <a:ext cx="176106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/>
                    <a:t>……</a:t>
                  </a:r>
                  <a:endParaRPr lang="zh-CN" altLang="en-US" dirty="0"/>
                </a:p>
              </p:txBody>
            </p:sp>
          </p:grpSp>
          <p:sp>
            <p:nvSpPr>
              <p:cNvPr id="50" name="文本框 49"/>
              <p:cNvSpPr txBox="1"/>
              <p:nvPr/>
            </p:nvSpPr>
            <p:spPr>
              <a:xfrm>
                <a:off x="1477818" y="6251569"/>
                <a:ext cx="1052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CLOCK6</a:t>
                </a:r>
                <a:endParaRPr lang="zh-CN" altLang="en-US" b="1" dirty="0"/>
              </a:p>
            </p:txBody>
          </p:sp>
        </p:grpSp>
        <p:cxnSp>
          <p:nvCxnSpPr>
            <p:cNvPr id="44" name="直接连接符 43"/>
            <p:cNvCxnSpPr/>
            <p:nvPr/>
          </p:nvCxnSpPr>
          <p:spPr>
            <a:xfrm flipV="1">
              <a:off x="9213850" y="4895850"/>
              <a:ext cx="349250" cy="635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9556752" y="4895850"/>
              <a:ext cx="3174" cy="6666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5393267" y="5562475"/>
              <a:ext cx="4169833" cy="466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5592233" y="4758268"/>
              <a:ext cx="4234" cy="850899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5393267" y="4258591"/>
              <a:ext cx="0" cy="1350576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5F281DC-3EA3-132D-A4CD-104FD97C5459}"/>
              </a:ext>
            </a:extLst>
          </p:cNvPr>
          <p:cNvSpPr txBox="1"/>
          <p:nvPr/>
        </p:nvSpPr>
        <p:spPr>
          <a:xfrm>
            <a:off x="7063505" y="3578117"/>
            <a:ext cx="1761068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047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1A811-528D-24AC-25AE-F969970F5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37" y="1034481"/>
            <a:ext cx="9938114" cy="4454987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产生数据的指令的</a:t>
            </a:r>
            <a:r>
              <a:rPr lang="zh-CN" altLang="en-US" sz="2800" b="1" dirty="0">
                <a:solidFill>
                  <a:srgbClr val="FF0000"/>
                </a:solidFill>
              </a:rPr>
              <a:t>数据产生阶段      </a:t>
            </a:r>
            <a:endParaRPr lang="en-US" altLang="zh-CN" sz="2800" dirty="0"/>
          </a:p>
          <a:p>
            <a:r>
              <a:rPr lang="zh-CN" altLang="en-US" sz="2800" dirty="0"/>
              <a:t>使用数据的指令的</a:t>
            </a:r>
            <a:r>
              <a:rPr lang="zh-CN" altLang="en-US" sz="2800" b="1" dirty="0">
                <a:solidFill>
                  <a:srgbClr val="FF0000"/>
                </a:solidFill>
              </a:rPr>
              <a:t>数据使用阶段</a:t>
            </a:r>
            <a:endParaRPr lang="en-US" altLang="zh-CN" sz="2800" dirty="0"/>
          </a:p>
          <a:p>
            <a:r>
              <a:rPr lang="zh-CN" altLang="en-US" sz="2800" dirty="0"/>
              <a:t>两条有数据冒险的指令间的</a:t>
            </a:r>
            <a:r>
              <a:rPr lang="zh-CN" altLang="en-US" sz="2800" b="1" dirty="0">
                <a:solidFill>
                  <a:srgbClr val="FF0000"/>
                </a:solidFill>
              </a:rPr>
              <a:t>距离</a:t>
            </a:r>
            <a:endParaRPr lang="zh-CN" altLang="en-US" sz="28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53D210B-C31E-6071-FB77-B1F3140A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74626"/>
            <a:ext cx="10515600" cy="733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/>
              <a:t>数据冒险的解决方法与</a:t>
            </a:r>
            <a:r>
              <a:rPr lang="zh-CN" altLang="en-US" dirty="0"/>
              <a:t>哪些</a:t>
            </a:r>
            <a:r>
              <a:rPr lang="zh-CN" altLang="en-US" sz="3600" dirty="0"/>
              <a:t>因素有关</a:t>
            </a:r>
            <a:endParaRPr lang="en-US" altLang="zh-CN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84669D-2B4C-D731-18BC-C427D6E36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647250"/>
            <a:ext cx="8152359" cy="383298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A558E4-2C47-6F92-8844-1C19724AF56B}"/>
              </a:ext>
            </a:extLst>
          </p:cNvPr>
          <p:cNvSpPr txBox="1"/>
          <p:nvPr/>
        </p:nvSpPr>
        <p:spPr>
          <a:xfrm>
            <a:off x="6452574" y="1034481"/>
            <a:ext cx="286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EXE</a:t>
            </a:r>
            <a:r>
              <a:rPr lang="zh-CN" altLang="en-US" sz="2400" dirty="0"/>
              <a:t>，</a:t>
            </a:r>
            <a:r>
              <a:rPr lang="en-US" altLang="zh-CN" sz="2400" dirty="0"/>
              <a:t>MEM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A83347-230C-9E60-381E-CC95C19365D0}"/>
              </a:ext>
            </a:extLst>
          </p:cNvPr>
          <p:cNvSpPr txBox="1"/>
          <p:nvPr/>
        </p:nvSpPr>
        <p:spPr>
          <a:xfrm>
            <a:off x="6452574" y="2260139"/>
            <a:ext cx="286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一阶，二阶，三阶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CD2875-D71B-C5A9-154A-4D99620994AE}"/>
              </a:ext>
            </a:extLst>
          </p:cNvPr>
          <p:cNvSpPr txBox="1"/>
          <p:nvPr/>
        </p:nvSpPr>
        <p:spPr>
          <a:xfrm>
            <a:off x="6452574" y="1647310"/>
            <a:ext cx="286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EXE</a:t>
            </a:r>
            <a:r>
              <a:rPr lang="zh-CN" altLang="en-US" sz="2400" dirty="0"/>
              <a:t>，</a:t>
            </a:r>
            <a:r>
              <a:rPr lang="en-US" altLang="zh-CN" sz="2400" dirty="0"/>
              <a:t>MEM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F0FE21-CC96-ECA3-DD39-6E79C204DB94}"/>
              </a:ext>
            </a:extLst>
          </p:cNvPr>
          <p:cNvSpPr txBox="1"/>
          <p:nvPr/>
        </p:nvSpPr>
        <p:spPr>
          <a:xfrm>
            <a:off x="5660394" y="6480234"/>
            <a:ext cx="6084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※  </a:t>
            </a:r>
            <a:r>
              <a:rPr lang="zh-CN" altLang="en-US" dirty="0"/>
              <a:t>有的跳转指令也要用寄存器，也会有数据冒险的问题</a:t>
            </a:r>
          </a:p>
        </p:txBody>
      </p:sp>
    </p:spTree>
    <p:extLst>
      <p:ext uri="{BB962C8B-B14F-4D97-AF65-F5344CB8AC3E}">
        <p14:creationId xmlns:p14="http://schemas.microsoft.com/office/powerpoint/2010/main" val="243238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FCADD55-22C5-4D60-A57D-C3D5207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74625"/>
            <a:ext cx="10515600" cy="1118465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/>
              <a:t>数据产生阶段：</a:t>
            </a:r>
            <a:r>
              <a:rPr lang="en-US" altLang="zh-CN" sz="3600" b="1" dirty="0"/>
              <a:t>EXE</a:t>
            </a:r>
            <a:br>
              <a:rPr lang="en-US" altLang="zh-CN" sz="3600" b="1" dirty="0"/>
            </a:br>
            <a:r>
              <a:rPr lang="zh-CN" altLang="en-US" sz="3600" b="1" dirty="0"/>
              <a:t>数据使用阶段：</a:t>
            </a:r>
            <a:r>
              <a:rPr lang="en-US" altLang="zh-CN" sz="3600" b="1" dirty="0"/>
              <a:t>EXE</a:t>
            </a:r>
            <a:endParaRPr lang="zh-CN" altLang="en-US" sz="36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070" y="1680159"/>
            <a:ext cx="10753365" cy="46920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705225" y="2066925"/>
            <a:ext cx="1038225" cy="933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743450" y="3000375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15000" y="3838574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05600" y="4705350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810125" y="2533650"/>
            <a:ext cx="314325" cy="8905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715000" y="2609850"/>
            <a:ext cx="619125" cy="1571625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715000" y="2671762"/>
            <a:ext cx="619125" cy="2376488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810125" y="2609850"/>
            <a:ext cx="314325" cy="1571625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8657F11-EE64-A5A2-297A-FE279DD1B085}"/>
              </a:ext>
            </a:extLst>
          </p:cNvPr>
          <p:cNvSpPr txBox="1"/>
          <p:nvPr/>
        </p:nvSpPr>
        <p:spPr>
          <a:xfrm>
            <a:off x="520262" y="2385058"/>
            <a:ext cx="97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指令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37DAB6-24FE-6D60-B0A0-191C5EEFD7D7}"/>
              </a:ext>
            </a:extLst>
          </p:cNvPr>
          <p:cNvSpPr txBox="1"/>
          <p:nvPr/>
        </p:nvSpPr>
        <p:spPr>
          <a:xfrm>
            <a:off x="5913054" y="485776"/>
            <a:ext cx="594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*</a:t>
            </a:r>
            <a:r>
              <a:rPr lang="zh-CN" altLang="en-US" sz="2400" dirty="0"/>
              <a:t>假设指令</a:t>
            </a:r>
            <a:r>
              <a:rPr lang="en-US" altLang="zh-CN" sz="2400" dirty="0"/>
              <a:t>1</a:t>
            </a:r>
            <a:r>
              <a:rPr lang="zh-CN" altLang="en-US" sz="2400" dirty="0"/>
              <a:t>和指令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4</a:t>
            </a:r>
            <a:r>
              <a:rPr lang="zh-CN" altLang="en-US" sz="2400" dirty="0"/>
              <a:t>存在数据冒险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C74B3F-00DC-AA80-80CD-B8B34A975A06}"/>
              </a:ext>
            </a:extLst>
          </p:cNvPr>
          <p:cNvSpPr txBox="1"/>
          <p:nvPr/>
        </p:nvSpPr>
        <p:spPr>
          <a:xfrm>
            <a:off x="6847663" y="2609850"/>
            <a:ext cx="209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MEM2EXE</a:t>
            </a:r>
            <a:r>
              <a:rPr lang="zh-CN" altLang="en-US" dirty="0">
                <a:latin typeface="+mn-ea"/>
              </a:rPr>
              <a:t>旁路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D1855-FDE8-DF11-73D8-04C002DA1C2B}"/>
              </a:ext>
            </a:extLst>
          </p:cNvPr>
          <p:cNvSpPr txBox="1"/>
          <p:nvPr/>
        </p:nvSpPr>
        <p:spPr>
          <a:xfrm>
            <a:off x="7819213" y="3210996"/>
            <a:ext cx="209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WB2EXE</a:t>
            </a:r>
            <a:r>
              <a:rPr lang="zh-CN" altLang="en-US" dirty="0">
                <a:latin typeface="+mn-ea"/>
              </a:rPr>
              <a:t>旁路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AD458E-7A83-9A43-7D78-FD82D5BBF4EE}"/>
              </a:ext>
            </a:extLst>
          </p:cNvPr>
          <p:cNvSpPr txBox="1"/>
          <p:nvPr/>
        </p:nvSpPr>
        <p:spPr>
          <a:xfrm>
            <a:off x="8339828" y="3724207"/>
            <a:ext cx="209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MEM2ID</a:t>
            </a:r>
            <a:r>
              <a:rPr lang="zh-CN" altLang="en-US" dirty="0">
                <a:latin typeface="+mn-ea"/>
              </a:rPr>
              <a:t>旁路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13EF5A-2508-D3FA-C15A-C29934D1FF1D}"/>
              </a:ext>
            </a:extLst>
          </p:cNvPr>
          <p:cNvSpPr txBox="1"/>
          <p:nvPr/>
        </p:nvSpPr>
        <p:spPr>
          <a:xfrm>
            <a:off x="9589646" y="4863549"/>
            <a:ext cx="209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WB2ID</a:t>
            </a:r>
            <a:r>
              <a:rPr lang="zh-CN" altLang="en-US" dirty="0">
                <a:latin typeface="+mn-ea"/>
              </a:rPr>
              <a:t>旁路</a:t>
            </a:r>
          </a:p>
        </p:txBody>
      </p:sp>
    </p:spTree>
    <p:extLst>
      <p:ext uri="{BB962C8B-B14F-4D97-AF65-F5344CB8AC3E}">
        <p14:creationId xmlns:p14="http://schemas.microsoft.com/office/powerpoint/2010/main" val="378106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8" grpId="0"/>
      <p:bldP spid="10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FCADD55-22C5-4D60-A57D-C3D5207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74625"/>
            <a:ext cx="10515600" cy="1118465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/>
              <a:t>数据产生阶段：</a:t>
            </a:r>
            <a:r>
              <a:rPr lang="en-US" altLang="zh-CN" sz="3600" b="1" dirty="0"/>
              <a:t>EXE</a:t>
            </a:r>
            <a:br>
              <a:rPr lang="en-US" altLang="zh-CN" sz="3600" b="1" dirty="0"/>
            </a:br>
            <a:r>
              <a:rPr lang="zh-CN" altLang="en-US" sz="3600" b="1" dirty="0"/>
              <a:t>数据使用阶段：</a:t>
            </a:r>
            <a:r>
              <a:rPr lang="en-US" altLang="zh-CN" sz="3600" b="1" dirty="0"/>
              <a:t>MEM</a:t>
            </a:r>
            <a:endParaRPr lang="zh-CN" altLang="en-US" sz="36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070" y="1680159"/>
            <a:ext cx="10753365" cy="46920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705225" y="2066925"/>
            <a:ext cx="1038225" cy="933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715000" y="3000375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705600" y="3857625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667625" y="4691061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5715000" y="2600325"/>
            <a:ext cx="400050" cy="66675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743450" y="2667000"/>
            <a:ext cx="190500" cy="1524000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715000" y="2828925"/>
            <a:ext cx="180975" cy="1362075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5715000" y="2838450"/>
            <a:ext cx="828675" cy="215265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933950" y="2667000"/>
            <a:ext cx="342900" cy="6000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EA48958-D569-73C8-F429-52C31D74C1B7}"/>
              </a:ext>
            </a:extLst>
          </p:cNvPr>
          <p:cNvSpPr txBox="1"/>
          <p:nvPr/>
        </p:nvSpPr>
        <p:spPr>
          <a:xfrm>
            <a:off x="520262" y="2385058"/>
            <a:ext cx="97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指令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697CFB-446A-5757-3EE9-97E994401E05}"/>
              </a:ext>
            </a:extLst>
          </p:cNvPr>
          <p:cNvSpPr txBox="1"/>
          <p:nvPr/>
        </p:nvSpPr>
        <p:spPr>
          <a:xfrm>
            <a:off x="5913054" y="485776"/>
            <a:ext cx="594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*</a:t>
            </a:r>
            <a:r>
              <a:rPr lang="zh-CN" altLang="en-US" sz="2400" dirty="0"/>
              <a:t>假设指令</a:t>
            </a:r>
            <a:r>
              <a:rPr lang="en-US" altLang="zh-CN" sz="2400" dirty="0"/>
              <a:t>1</a:t>
            </a:r>
            <a:r>
              <a:rPr lang="zh-CN" altLang="en-US" sz="2400" dirty="0"/>
              <a:t>和指令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4</a:t>
            </a:r>
            <a:r>
              <a:rPr lang="zh-CN" altLang="en-US" sz="2400" dirty="0"/>
              <a:t>存在数据冒险</a:t>
            </a:r>
          </a:p>
        </p:txBody>
      </p:sp>
    </p:spTree>
    <p:extLst>
      <p:ext uri="{BB962C8B-B14F-4D97-AF65-F5344CB8AC3E}">
        <p14:creationId xmlns:p14="http://schemas.microsoft.com/office/powerpoint/2010/main" val="62040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FCADD55-22C5-4D60-A57D-C3D5207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74625"/>
            <a:ext cx="10515600" cy="1118465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/>
              <a:t>数据产生阶段：</a:t>
            </a:r>
            <a:r>
              <a:rPr lang="en-US" altLang="zh-CN" sz="3600" b="1" dirty="0"/>
              <a:t>MEM</a:t>
            </a:r>
            <a:br>
              <a:rPr lang="en-US" altLang="zh-CN" sz="3600" b="1" dirty="0"/>
            </a:br>
            <a:r>
              <a:rPr lang="zh-CN" altLang="en-US" sz="3600" b="1" dirty="0"/>
              <a:t>数据使用阶段：</a:t>
            </a:r>
            <a:r>
              <a:rPr lang="en-US" altLang="zh-CN" sz="3600" b="1" dirty="0"/>
              <a:t>EXE</a:t>
            </a:r>
            <a:endParaRPr lang="zh-CN" altLang="en-US" sz="36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070" y="1680159"/>
            <a:ext cx="10753365" cy="46920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710112" y="2152649"/>
            <a:ext cx="1038225" cy="7581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743450" y="3000375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15000" y="3838574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05600" y="4705350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0" y="3041357"/>
            <a:ext cx="3190557" cy="765759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5786120" y="2687320"/>
            <a:ext cx="261632" cy="563880"/>
          </a:xfrm>
          <a:prstGeom prst="straightConnector1">
            <a:avLst/>
          </a:prstGeom>
          <a:ln w="3810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734050" y="3000375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5786120" y="2860040"/>
            <a:ext cx="340360" cy="1209040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5748337" y="2849880"/>
            <a:ext cx="337503" cy="213868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5168B5A-B31E-61C8-C2D8-318AC32ED82C}"/>
              </a:ext>
            </a:extLst>
          </p:cNvPr>
          <p:cNvSpPr txBox="1"/>
          <p:nvPr/>
        </p:nvSpPr>
        <p:spPr>
          <a:xfrm>
            <a:off x="520262" y="2385058"/>
            <a:ext cx="97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指令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17CF4E-B358-0C11-AB7A-E0128FB46331}"/>
              </a:ext>
            </a:extLst>
          </p:cNvPr>
          <p:cNvSpPr txBox="1"/>
          <p:nvPr/>
        </p:nvSpPr>
        <p:spPr>
          <a:xfrm>
            <a:off x="5913054" y="485776"/>
            <a:ext cx="594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*</a:t>
            </a:r>
            <a:r>
              <a:rPr lang="zh-CN" altLang="en-US" sz="2400" dirty="0"/>
              <a:t>假设指令</a:t>
            </a:r>
            <a:r>
              <a:rPr lang="en-US" altLang="zh-CN" sz="2400" dirty="0"/>
              <a:t>1</a:t>
            </a:r>
            <a:r>
              <a:rPr lang="zh-CN" altLang="en-US" sz="2400" dirty="0"/>
              <a:t>和指令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4</a:t>
            </a:r>
            <a:r>
              <a:rPr lang="zh-CN" altLang="en-US" sz="2400" dirty="0"/>
              <a:t>存在数据冒险</a:t>
            </a:r>
          </a:p>
        </p:txBody>
      </p:sp>
    </p:spTree>
    <p:extLst>
      <p:ext uri="{BB962C8B-B14F-4D97-AF65-F5344CB8AC3E}">
        <p14:creationId xmlns:p14="http://schemas.microsoft.com/office/powerpoint/2010/main" val="41119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9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FCADD55-22C5-4D60-A57D-C3D5207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74625"/>
            <a:ext cx="10515600" cy="1118465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/>
              <a:t>数据产生阶段：</a:t>
            </a:r>
            <a:r>
              <a:rPr lang="en-US" altLang="zh-CN" sz="3600" b="1" dirty="0"/>
              <a:t>MEM</a:t>
            </a:r>
            <a:br>
              <a:rPr lang="en-US" altLang="zh-CN" sz="3600" b="1" dirty="0"/>
            </a:br>
            <a:r>
              <a:rPr lang="zh-CN" altLang="en-US" sz="3600" b="1" dirty="0"/>
              <a:t>数据使用阶段：</a:t>
            </a:r>
            <a:r>
              <a:rPr lang="en-US" altLang="zh-CN" sz="3600" b="1" dirty="0"/>
              <a:t>MEM</a:t>
            </a:r>
            <a:endParaRPr lang="zh-CN" altLang="en-US" sz="36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02" y="1689396"/>
            <a:ext cx="10753365" cy="46920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743450" y="2152649"/>
            <a:ext cx="971550" cy="7852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715000" y="2990849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678083" y="3857625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649633" y="4724401"/>
            <a:ext cx="971550" cy="84772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5799667" y="2545291"/>
            <a:ext cx="338666" cy="66357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5808133" y="2726267"/>
            <a:ext cx="392642" cy="1439333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715000" y="2877079"/>
            <a:ext cx="423333" cy="2092854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CE70714-D20A-0757-E836-590B002EF1F0}"/>
              </a:ext>
            </a:extLst>
          </p:cNvPr>
          <p:cNvSpPr txBox="1"/>
          <p:nvPr/>
        </p:nvSpPr>
        <p:spPr>
          <a:xfrm>
            <a:off x="520262" y="2385058"/>
            <a:ext cx="97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指令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24DAF6-D40B-C9C0-50C7-F8CBF1E8E5D9}"/>
              </a:ext>
            </a:extLst>
          </p:cNvPr>
          <p:cNvSpPr txBox="1"/>
          <p:nvPr/>
        </p:nvSpPr>
        <p:spPr>
          <a:xfrm>
            <a:off x="5913054" y="485776"/>
            <a:ext cx="594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*</a:t>
            </a:r>
            <a:r>
              <a:rPr lang="zh-CN" altLang="en-US" sz="2400" dirty="0"/>
              <a:t>假设指令</a:t>
            </a:r>
            <a:r>
              <a:rPr lang="en-US" altLang="zh-CN" sz="2400" dirty="0"/>
              <a:t>1</a:t>
            </a:r>
            <a:r>
              <a:rPr lang="zh-CN" altLang="en-US" sz="2400" dirty="0"/>
              <a:t>和指令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4</a:t>
            </a:r>
            <a:r>
              <a:rPr lang="zh-CN" altLang="en-US" sz="2400" dirty="0"/>
              <a:t>存在数据冒险</a:t>
            </a:r>
          </a:p>
        </p:txBody>
      </p:sp>
    </p:spTree>
    <p:extLst>
      <p:ext uri="{BB962C8B-B14F-4D97-AF65-F5344CB8AC3E}">
        <p14:creationId xmlns:p14="http://schemas.microsoft.com/office/powerpoint/2010/main" val="272263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3207" y="0"/>
            <a:ext cx="10515600" cy="861382"/>
          </a:xfrm>
        </p:spPr>
        <p:txBody>
          <a:bodyPr/>
          <a:lstStyle/>
          <a:p>
            <a:r>
              <a:rPr lang="zh-CN" altLang="en-US" dirty="0"/>
              <a:t>数据冒险的处理方法总结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119973"/>
              </p:ext>
            </p:extLst>
          </p:nvPr>
        </p:nvGraphicFramePr>
        <p:xfrm>
          <a:off x="613205" y="832271"/>
          <a:ext cx="11002529" cy="302369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786892">
                  <a:extLst>
                    <a:ext uri="{9D8B030D-6E8A-4147-A177-3AD203B41FA5}">
                      <a16:colId xmlns:a16="http://schemas.microsoft.com/office/drawing/2014/main" val="3621004606"/>
                    </a:ext>
                  </a:extLst>
                </a:gridCol>
                <a:gridCol w="1319682">
                  <a:extLst>
                    <a:ext uri="{9D8B030D-6E8A-4147-A177-3AD203B41FA5}">
                      <a16:colId xmlns:a16="http://schemas.microsoft.com/office/drawing/2014/main" val="3450475208"/>
                    </a:ext>
                  </a:extLst>
                </a:gridCol>
                <a:gridCol w="1394691">
                  <a:extLst>
                    <a:ext uri="{9D8B030D-6E8A-4147-A177-3AD203B41FA5}">
                      <a16:colId xmlns:a16="http://schemas.microsoft.com/office/drawing/2014/main" val="280332075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453813502"/>
                    </a:ext>
                  </a:extLst>
                </a:gridCol>
                <a:gridCol w="1698513">
                  <a:extLst>
                    <a:ext uri="{9D8B030D-6E8A-4147-A177-3AD203B41FA5}">
                      <a16:colId xmlns:a16="http://schemas.microsoft.com/office/drawing/2014/main" val="2687157684"/>
                    </a:ext>
                  </a:extLst>
                </a:gridCol>
                <a:gridCol w="1222503">
                  <a:extLst>
                    <a:ext uri="{9D8B030D-6E8A-4147-A177-3AD203B41FA5}">
                      <a16:colId xmlns:a16="http://schemas.microsoft.com/office/drawing/2014/main" val="2585239683"/>
                    </a:ext>
                  </a:extLst>
                </a:gridCol>
                <a:gridCol w="1222503">
                  <a:extLst>
                    <a:ext uri="{9D8B030D-6E8A-4147-A177-3AD203B41FA5}">
                      <a16:colId xmlns:a16="http://schemas.microsoft.com/office/drawing/2014/main" val="1983200292"/>
                    </a:ext>
                  </a:extLst>
                </a:gridCol>
              </a:tblGrid>
              <a:tr h="528539">
                <a:tc rowSpan="2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                 前面指令</a:t>
                      </a:r>
                      <a:endParaRPr lang="en-US" altLang="zh-CN" dirty="0">
                        <a:solidFill>
                          <a:srgbClr val="461A96"/>
                        </a:solidFill>
                      </a:endParaRPr>
                    </a:p>
                    <a:p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                 数据产生阶段</a:t>
                      </a:r>
                      <a:endParaRPr lang="en-US" altLang="zh-CN" dirty="0">
                        <a:solidFill>
                          <a:srgbClr val="461A96"/>
                        </a:solidFill>
                      </a:endParaRPr>
                    </a:p>
                    <a:p>
                      <a:endParaRPr lang="en-US" altLang="zh-CN" dirty="0">
                        <a:solidFill>
                          <a:srgbClr val="461A96"/>
                        </a:solidFill>
                      </a:endParaRPr>
                    </a:p>
                    <a:p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后面指令</a:t>
                      </a:r>
                      <a:endParaRPr lang="en-US" altLang="zh-CN" dirty="0">
                        <a:solidFill>
                          <a:srgbClr val="461A96"/>
                        </a:solidFill>
                      </a:endParaRPr>
                    </a:p>
                    <a:p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数据使用阶段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61A96"/>
                          </a:solidFill>
                        </a:rPr>
                        <a:t>EXE</a:t>
                      </a:r>
                      <a:endParaRPr lang="zh-CN" altLang="en-US" dirty="0">
                        <a:solidFill>
                          <a:srgbClr val="461A9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61A96"/>
                          </a:solidFill>
                        </a:rPr>
                        <a:t>MEM</a:t>
                      </a:r>
                      <a:endParaRPr lang="zh-CN" altLang="en-US" dirty="0">
                        <a:solidFill>
                          <a:srgbClr val="461A9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952546"/>
                  </a:ext>
                </a:extLst>
              </a:tr>
              <a:tr h="5845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一阶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二阶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三阶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一阶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二阶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三阶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48327"/>
                  </a:ext>
                </a:extLst>
              </a:tr>
              <a:tr h="646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61A96"/>
                          </a:solidFill>
                        </a:rPr>
                        <a:t>EXE</a:t>
                      </a:r>
                      <a:endParaRPr lang="zh-CN" altLang="en-US" dirty="0">
                        <a:solidFill>
                          <a:srgbClr val="461A9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6600"/>
                          </a:solidFill>
                        </a:rPr>
                        <a:t>MEM-EXE</a:t>
                      </a:r>
                      <a:endParaRPr lang="zh-CN" altLang="en-US" b="1" dirty="0">
                        <a:solidFill>
                          <a:srgbClr val="FF66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strike="sngStrike" kern="1200" dirty="0">
                          <a:solidFill>
                            <a:srgbClr val="461A96"/>
                          </a:solidFill>
                          <a:latin typeface="+mn-lt"/>
                          <a:ea typeface="+mn-ea"/>
                          <a:cs typeface="+mn-cs"/>
                        </a:rPr>
                        <a:t>MEM-ID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endParaRPr lang="en-US" altLang="zh-CN" sz="1800" b="1" kern="1200" dirty="0">
                        <a:solidFill>
                          <a:srgbClr val="FF33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FF33CC"/>
                          </a:solidFill>
                          <a:latin typeface="+mn-lt"/>
                          <a:ea typeface="+mn-ea"/>
                          <a:cs typeface="+mn-cs"/>
                        </a:rPr>
                        <a:t>WB-EXE</a:t>
                      </a:r>
                      <a:endParaRPr lang="zh-CN" altLang="en-US" sz="1800" b="1" kern="1200" dirty="0">
                        <a:solidFill>
                          <a:srgbClr val="FF33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WB-ID</a:t>
                      </a:r>
                      <a:endParaRPr lang="zh-CN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zh-CN" altLang="en-US" sz="1800" kern="1200" dirty="0">
                        <a:solidFill>
                          <a:srgbClr val="461A9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等待一个周期</a:t>
                      </a:r>
                      <a:r>
                        <a:rPr lang="zh-CN" altLang="en-US" dirty="0">
                          <a:solidFill>
                            <a:srgbClr val="461A96"/>
                          </a:solidFill>
                        </a:rPr>
                        <a:t>；</a:t>
                      </a:r>
                      <a:endParaRPr lang="en-US" altLang="zh-CN" dirty="0">
                        <a:solidFill>
                          <a:srgbClr val="461A96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FF33CC"/>
                          </a:solidFill>
                          <a:latin typeface="+mn-lt"/>
                          <a:ea typeface="+mn-ea"/>
                          <a:cs typeface="+mn-cs"/>
                        </a:rPr>
                        <a:t>WB-EXE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FF33CC"/>
                          </a:solidFill>
                        </a:rPr>
                        <a:t>WB-EXE</a:t>
                      </a:r>
                      <a:endParaRPr lang="zh-CN" altLang="en-US" b="1" dirty="0">
                        <a:solidFill>
                          <a:srgbClr val="FF33CC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WB-ID</a:t>
                      </a:r>
                      <a:endParaRPr lang="zh-CN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CN" altLang="en-US" sz="1800" kern="1200" dirty="0">
                        <a:solidFill>
                          <a:srgbClr val="461A9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763104"/>
                  </a:ext>
                </a:extLst>
              </a:tr>
              <a:tr h="646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61A96"/>
                          </a:solidFill>
                        </a:rPr>
                        <a:t>MEM</a:t>
                      </a:r>
                      <a:endParaRPr lang="zh-CN" altLang="en-US" dirty="0">
                        <a:solidFill>
                          <a:srgbClr val="461A9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MEM-EXE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00FF00"/>
                          </a:solidFill>
                          <a:latin typeface="+mn-lt"/>
                          <a:ea typeface="+mn-ea"/>
                          <a:cs typeface="+mn-cs"/>
                        </a:rPr>
                        <a:t>WB-MEM</a:t>
                      </a:r>
                      <a:endParaRPr lang="zh-CN" altLang="en-US" sz="1800" b="1" kern="1200" dirty="0">
                        <a:solidFill>
                          <a:srgbClr val="00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strike="sngStrike" kern="1200" dirty="0">
                          <a:solidFill>
                            <a:srgbClr val="461A96"/>
                          </a:solidFill>
                          <a:latin typeface="+mn-lt"/>
                          <a:ea typeface="+mn-ea"/>
                          <a:cs typeface="+mn-cs"/>
                        </a:rPr>
                        <a:t>MEM-ID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FF33CC"/>
                          </a:solidFill>
                          <a:latin typeface="+mn-lt"/>
                          <a:ea typeface="+mn-ea"/>
                          <a:cs typeface="+mn-cs"/>
                        </a:rPr>
                        <a:t>WB-EXE</a:t>
                      </a:r>
                      <a:endParaRPr lang="zh-CN" altLang="en-US" sz="1800" b="1" kern="1200" dirty="0">
                        <a:solidFill>
                          <a:srgbClr val="FF33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WB-ID</a:t>
                      </a:r>
                      <a:endParaRPr lang="zh-CN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zh-CN" altLang="en-US" sz="1800" kern="1200" dirty="0">
                        <a:solidFill>
                          <a:srgbClr val="461A9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00FF00"/>
                          </a:solidFill>
                          <a:latin typeface="+mn-lt"/>
                          <a:ea typeface="+mn-ea"/>
                          <a:cs typeface="+mn-cs"/>
                        </a:rPr>
                        <a:t>WB-MEM</a:t>
                      </a:r>
                      <a:endParaRPr lang="zh-CN" altLang="en-US" sz="1800" b="1" kern="1200" dirty="0">
                        <a:solidFill>
                          <a:srgbClr val="00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rgbClr val="461A9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FF33CC"/>
                          </a:solidFill>
                          <a:latin typeface="+mn-lt"/>
                          <a:ea typeface="+mn-ea"/>
                          <a:cs typeface="+mn-cs"/>
                        </a:rPr>
                        <a:t>WB-EXE</a:t>
                      </a:r>
                      <a:endParaRPr lang="zh-CN" altLang="en-US" sz="1800" b="1" kern="1200" dirty="0">
                        <a:solidFill>
                          <a:srgbClr val="FF33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rgbClr val="461A9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WB-ID</a:t>
                      </a:r>
                      <a:endParaRPr lang="zh-CN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CN" altLang="en-US" sz="1800" kern="1200" dirty="0">
                        <a:solidFill>
                          <a:srgbClr val="461A9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715271"/>
                  </a:ext>
                </a:extLst>
              </a:tr>
            </a:tbl>
          </a:graphicData>
        </a:graphic>
      </p:graphicFrame>
      <p:cxnSp>
        <p:nvCxnSpPr>
          <p:cNvPr id="7" name="直接连接符 6"/>
          <p:cNvCxnSpPr>
            <a:cxnSpLocks/>
          </p:cNvCxnSpPr>
          <p:nvPr/>
        </p:nvCxnSpPr>
        <p:spPr>
          <a:xfrm>
            <a:off x="7474658" y="852628"/>
            <a:ext cx="0" cy="298298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cxnSpLocks/>
          </p:cNvCxnSpPr>
          <p:nvPr/>
        </p:nvCxnSpPr>
        <p:spPr>
          <a:xfrm>
            <a:off x="3395027" y="852628"/>
            <a:ext cx="0" cy="299458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2" y="3835612"/>
            <a:ext cx="9331538" cy="301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3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23382</TotalTime>
  <Words>801</Words>
  <Application>Microsoft Office PowerPoint</Application>
  <PresentationFormat>宽屏</PresentationFormat>
  <Paragraphs>114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平面</vt:lpstr>
      <vt:lpstr>数据冒险总述</vt:lpstr>
      <vt:lpstr>数据冒险的原因</vt:lpstr>
      <vt:lpstr>假设指令1要写入的寄存器是指令2，3，4，5需要使用的寄存器。</vt:lpstr>
      <vt:lpstr>1. 假设两条指令存在如下关系：前面的指令要写入的数据是后面的指令要使用的数据。 2. 指令的间距表示方法：相邻为一阶，隔一条指令为二阶，隔两条指令为三阶……</vt:lpstr>
      <vt:lpstr>数据冒险的解决方法</vt:lpstr>
      <vt:lpstr>PowerPoint 演示文稿</vt:lpstr>
      <vt:lpstr>PowerPoint 演示文稿</vt:lpstr>
      <vt:lpstr>数据冒险的解决方法与哪些因素有关</vt:lpstr>
      <vt:lpstr>数据产生阶段：EXE 数据使用阶段：EXE</vt:lpstr>
      <vt:lpstr>数据产生阶段：EXE 数据使用阶段：MEM</vt:lpstr>
      <vt:lpstr>数据产生阶段：MEM 数据使用阶段：EXE</vt:lpstr>
      <vt:lpstr>数据产生阶段：MEM 数据使用阶段：MEM</vt:lpstr>
      <vt:lpstr>数据冒险的处理方法总结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588</cp:revision>
  <dcterms:created xsi:type="dcterms:W3CDTF">2020-03-13T01:07:41Z</dcterms:created>
  <dcterms:modified xsi:type="dcterms:W3CDTF">2026-05-19T06:07:03Z</dcterms:modified>
</cp:coreProperties>
</file>