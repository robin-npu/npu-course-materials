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43" r:id="rId3"/>
    <p:sldId id="323" r:id="rId4"/>
    <p:sldId id="344" r:id="rId5"/>
    <p:sldId id="338" r:id="rId6"/>
    <p:sldId id="351" r:id="rId7"/>
    <p:sldId id="345" r:id="rId8"/>
    <p:sldId id="349" r:id="rId9"/>
    <p:sldId id="346" r:id="rId10"/>
    <p:sldId id="347" r:id="rId11"/>
    <p:sldId id="339" r:id="rId12"/>
    <p:sldId id="34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0E8"/>
    <a:srgbClr val="0000FF"/>
    <a:srgbClr val="2618DE"/>
    <a:srgbClr val="1B119F"/>
    <a:srgbClr val="461A96"/>
    <a:srgbClr val="66FF3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75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9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81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054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94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88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06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9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5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35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260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566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8308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916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41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6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6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43" y="2735396"/>
            <a:ext cx="10065789" cy="1121439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不考虑冒险的五级流水线</a:t>
            </a:r>
            <a:r>
              <a:rPr lang="en-US" altLang="zh-CN" sz="5400" b="1" dirty="0"/>
              <a:t>CPU</a:t>
            </a:r>
            <a:endParaRPr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单周期</a:t>
            </a:r>
            <a:r>
              <a:rPr lang="en-US" altLang="zh-CN" sz="2800" dirty="0"/>
              <a:t>CPU</a:t>
            </a:r>
            <a:r>
              <a:rPr lang="zh-CN" altLang="en-US" sz="2800" dirty="0"/>
              <a:t>和流水线</a:t>
            </a:r>
            <a:r>
              <a:rPr lang="en-US" altLang="zh-CN" sz="2800" dirty="0"/>
              <a:t>CPU</a:t>
            </a:r>
            <a:r>
              <a:rPr lang="zh-CN" altLang="en-US" sz="2800" dirty="0"/>
              <a:t>的异同点，确定复用部分和需要增加的硬件功能；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47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E15E7-7C61-45D3-92FD-4D07BC2B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147782"/>
            <a:ext cx="10515600" cy="924070"/>
          </a:xfrm>
        </p:spPr>
        <p:txBody>
          <a:bodyPr/>
          <a:lstStyle/>
          <a:p>
            <a:r>
              <a:rPr lang="zh-CN" altLang="en-US" dirty="0"/>
              <a:t>单周期</a:t>
            </a:r>
            <a:r>
              <a:rPr lang="en-US" altLang="zh-CN" dirty="0"/>
              <a:t>CPU</a:t>
            </a:r>
            <a:r>
              <a:rPr lang="zh-CN" altLang="en-US" dirty="0"/>
              <a:t>和流水线</a:t>
            </a:r>
            <a:r>
              <a:rPr lang="en-US" altLang="zh-CN" dirty="0"/>
              <a:t>CPU</a:t>
            </a:r>
            <a:r>
              <a:rPr lang="zh-CN" altLang="en-US" dirty="0"/>
              <a:t>性能比较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401A5-336B-4A47-88C0-78EF931A1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82" y="1071852"/>
            <a:ext cx="11268364" cy="5578330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/>
              <a:t>时钟周期</a:t>
            </a:r>
            <a:endParaRPr lang="en-US" altLang="zh-CN" sz="2800" b="1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单周期</a:t>
            </a:r>
            <a:r>
              <a:rPr lang="en-US" altLang="zh-CN" sz="2400" b="1" dirty="0"/>
              <a:t>CPU</a:t>
            </a:r>
            <a:r>
              <a:rPr lang="zh-CN" altLang="en-US" sz="2400" dirty="0"/>
              <a:t>：所有指令都要在一个时钟周期内执行，时钟周期由</a:t>
            </a:r>
            <a:r>
              <a:rPr lang="zh-CN" altLang="en-US" sz="2400" b="1" dirty="0">
                <a:solidFill>
                  <a:srgbClr val="FF0000"/>
                </a:solidFill>
              </a:rPr>
              <a:t>执行时间最长的指令</a:t>
            </a:r>
            <a:r>
              <a:rPr lang="zh-CN" altLang="en-US" sz="2400" dirty="0"/>
              <a:t>决定。</a:t>
            </a:r>
            <a:endParaRPr lang="en-US" altLang="zh-CN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流水线</a:t>
            </a:r>
            <a:r>
              <a:rPr lang="en-US" altLang="zh-CN" sz="2400" b="1" dirty="0"/>
              <a:t>CPU</a:t>
            </a:r>
            <a:r>
              <a:rPr lang="zh-CN" altLang="en-US" sz="2400" dirty="0"/>
              <a:t>：把指令处理过程分成多个步骤，每个时钟执行一个步骤，时钟周期由</a:t>
            </a:r>
            <a:r>
              <a:rPr lang="zh-CN" altLang="en-US" sz="2400" b="1" dirty="0">
                <a:solidFill>
                  <a:srgbClr val="FF0000"/>
                </a:solidFill>
              </a:rPr>
              <a:t>最慢的步骤</a:t>
            </a:r>
            <a:r>
              <a:rPr lang="zh-CN" altLang="en-US" sz="2400" dirty="0"/>
              <a:t>决定。</a:t>
            </a:r>
            <a:endParaRPr lang="en-US" altLang="zh-CN" sz="2400" dirty="0"/>
          </a:p>
          <a:p>
            <a:pPr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altLang="zh-CN" sz="2800" b="1" dirty="0"/>
              <a:t>CPI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单周期</a:t>
            </a:r>
            <a:r>
              <a:rPr lang="en-US" altLang="zh-CN" sz="2400" b="1" dirty="0"/>
              <a:t>CPU</a:t>
            </a:r>
            <a:r>
              <a:rPr lang="zh-CN" altLang="en-US" sz="2400" dirty="0"/>
              <a:t>：一个时钟周期执行一条指令，所以</a:t>
            </a:r>
            <a:r>
              <a:rPr lang="en-US" altLang="zh-CN" sz="2400" b="1" dirty="0">
                <a:solidFill>
                  <a:srgbClr val="FF0000"/>
                </a:solidFill>
              </a:rPr>
              <a:t>CPI=1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流水线</a:t>
            </a:r>
            <a:r>
              <a:rPr lang="en-US" altLang="zh-CN" sz="2400" b="1" dirty="0"/>
              <a:t>CPU</a:t>
            </a:r>
            <a:r>
              <a:rPr lang="zh-CN" altLang="en-US" sz="2400" dirty="0"/>
              <a:t>：在理想情况下，可以实现每个时钟周期完成一条指令，相当于</a:t>
            </a:r>
            <a:r>
              <a:rPr lang="en-US" altLang="zh-CN" sz="2400" dirty="0"/>
              <a:t>CPI=1</a:t>
            </a:r>
            <a:r>
              <a:rPr lang="zh-CN" altLang="en-US" sz="2400" dirty="0"/>
              <a:t>。考虑到有的冒险需要阻塞流水线，所以流水线</a:t>
            </a:r>
            <a:r>
              <a:rPr lang="en-US" altLang="zh-CN" sz="2400" dirty="0"/>
              <a:t>CPU</a:t>
            </a:r>
            <a:r>
              <a:rPr lang="zh-CN" altLang="en-US" sz="2400" dirty="0"/>
              <a:t>的</a:t>
            </a:r>
            <a:r>
              <a:rPr lang="en-US" altLang="zh-CN" sz="2400" b="1" dirty="0">
                <a:solidFill>
                  <a:srgbClr val="FF0000"/>
                </a:solidFill>
              </a:rPr>
              <a:t>CPI</a:t>
            </a:r>
            <a:r>
              <a:rPr lang="zh-CN" altLang="en-US" sz="2400" b="1" dirty="0">
                <a:solidFill>
                  <a:srgbClr val="FF0000"/>
                </a:solidFill>
              </a:rPr>
              <a:t>相较于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有所增加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457200">
              <a:spcAft>
                <a:spcPts val="1000"/>
              </a:spcAft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总体来看，流水线</a:t>
            </a:r>
            <a:r>
              <a:rPr lang="en-US" altLang="zh-CN" sz="2800" b="1" dirty="0">
                <a:solidFill>
                  <a:srgbClr val="FFC000"/>
                </a:solidFill>
              </a:rPr>
              <a:t>CPU</a:t>
            </a:r>
            <a:r>
              <a:rPr lang="zh-CN" altLang="zh-CN" sz="2800" b="1" dirty="0">
                <a:solidFill>
                  <a:srgbClr val="FFC000"/>
                </a:solidFill>
              </a:rPr>
              <a:t>在</a:t>
            </a:r>
            <a:r>
              <a:rPr lang="en-US" altLang="zh-CN" sz="2800" b="1" dirty="0">
                <a:solidFill>
                  <a:srgbClr val="FFC000"/>
                </a:solidFill>
              </a:rPr>
              <a:t>CPI</a:t>
            </a:r>
            <a:r>
              <a:rPr lang="zh-CN" altLang="zh-CN" sz="2800" b="1" dirty="0">
                <a:solidFill>
                  <a:srgbClr val="FFC000"/>
                </a:solidFill>
              </a:rPr>
              <a:t>增加有限的前提下，时钟频率显著提高，因而提高了处理器的性能。</a:t>
            </a:r>
          </a:p>
        </p:txBody>
      </p:sp>
    </p:spTree>
    <p:extLst>
      <p:ext uri="{BB962C8B-B14F-4D97-AF65-F5344CB8AC3E}">
        <p14:creationId xmlns:p14="http://schemas.microsoft.com/office/powerpoint/2010/main" val="212636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单周期</a:t>
            </a:r>
            <a:r>
              <a:rPr lang="en-US" altLang="zh-CN" dirty="0"/>
              <a:t>CPU</a:t>
            </a:r>
            <a:r>
              <a:rPr lang="zh-CN" altLang="en-US" dirty="0"/>
              <a:t>和流水线</a:t>
            </a:r>
            <a:r>
              <a:rPr lang="en-US" altLang="zh-CN" dirty="0"/>
              <a:t>CPU</a:t>
            </a:r>
            <a:r>
              <a:rPr lang="zh-CN" altLang="en-US" dirty="0"/>
              <a:t>实现分析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41293"/>
            <a:ext cx="11074400" cy="5188816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</a:pPr>
            <a:r>
              <a:rPr lang="zh-CN" altLang="en-US" sz="2800" b="1" dirty="0"/>
              <a:t>指令执行过程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dk1"/>
                </a:solidFill>
              </a:rPr>
              <a:t>        </a:t>
            </a:r>
            <a:r>
              <a:rPr lang="zh-CN" altLang="en-US" sz="2400" dirty="0">
                <a:solidFill>
                  <a:schemeClr val="dk1"/>
                </a:solidFill>
              </a:rPr>
              <a:t>单周期</a:t>
            </a:r>
            <a:r>
              <a:rPr lang="en-US" altLang="zh-CN" sz="2400" dirty="0">
                <a:solidFill>
                  <a:schemeClr val="dk1"/>
                </a:solidFill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</a:rPr>
              <a:t>一个 </a:t>
            </a:r>
            <a:r>
              <a:rPr lang="en-US" altLang="zh-CN" sz="2400" b="1" dirty="0">
                <a:solidFill>
                  <a:srgbClr val="FF0000"/>
                </a:solidFill>
              </a:rPr>
              <a:t>clock </a:t>
            </a:r>
            <a:r>
              <a:rPr lang="zh-CN" altLang="en-US" sz="2400" b="1" dirty="0">
                <a:solidFill>
                  <a:srgbClr val="FF0000"/>
                </a:solidFill>
              </a:rPr>
              <a:t>执行一条指令</a:t>
            </a:r>
            <a:r>
              <a:rPr lang="zh-CN" altLang="en-US" sz="2400" dirty="0">
                <a:solidFill>
                  <a:schemeClr val="dk1"/>
                </a:solidFill>
              </a:rPr>
              <a:t>；</a:t>
            </a:r>
            <a:endParaRPr lang="en-US" altLang="zh-CN" sz="2400" dirty="0">
              <a:solidFill>
                <a:schemeClr val="dk1"/>
              </a:solidFill>
            </a:endParaRPr>
          </a:p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chemeClr val="dk1"/>
                </a:solidFill>
              </a:rPr>
              <a:t>      流水线</a:t>
            </a:r>
            <a:r>
              <a:rPr lang="en-US" altLang="zh-CN" sz="2400" dirty="0">
                <a:solidFill>
                  <a:schemeClr val="dk1"/>
                </a:solidFill>
              </a:rPr>
              <a:t>CPU</a:t>
            </a:r>
            <a:r>
              <a:rPr lang="zh-CN" altLang="en-US" sz="2400" dirty="0">
                <a:solidFill>
                  <a:schemeClr val="dk1"/>
                </a:solidFill>
              </a:rPr>
              <a:t>把指令执行分为多个阶段，</a:t>
            </a:r>
            <a:r>
              <a:rPr lang="zh-CN" altLang="en-US" sz="2400" b="1" dirty="0">
                <a:solidFill>
                  <a:srgbClr val="FF0000"/>
                </a:solidFill>
              </a:rPr>
              <a:t>一个 </a:t>
            </a:r>
            <a:r>
              <a:rPr lang="en-US" altLang="zh-CN" sz="2400" b="1" dirty="0">
                <a:solidFill>
                  <a:srgbClr val="FF0000"/>
                </a:solidFill>
              </a:rPr>
              <a:t>clock </a:t>
            </a:r>
            <a:r>
              <a:rPr lang="zh-CN" altLang="en-US" sz="2400" b="1" dirty="0">
                <a:solidFill>
                  <a:srgbClr val="FF0000"/>
                </a:solidFill>
              </a:rPr>
              <a:t>执行一个阶段</a:t>
            </a:r>
            <a:r>
              <a:rPr lang="zh-CN" altLang="en-US" sz="2400" dirty="0">
                <a:solidFill>
                  <a:schemeClr val="dk1"/>
                </a:solidFill>
              </a:rPr>
              <a:t>。</a:t>
            </a:r>
            <a:endParaRPr lang="en-US" altLang="zh-CN" sz="2400" dirty="0">
              <a:solidFill>
                <a:schemeClr val="dk1"/>
              </a:solidFill>
            </a:endParaRPr>
          </a:p>
          <a:p>
            <a:pPr>
              <a:lnSpc>
                <a:spcPts val="4000"/>
              </a:lnSpc>
              <a:spcBef>
                <a:spcPts val="0"/>
              </a:spcBef>
            </a:pPr>
            <a:r>
              <a:rPr lang="zh-CN" altLang="en-US" sz="2800" b="1" dirty="0"/>
              <a:t>实现方式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en-US" altLang="zh-CN" dirty="0"/>
              <a:t>        </a:t>
            </a:r>
            <a:r>
              <a:rPr lang="zh-CN" altLang="en-US" sz="2400" dirty="0"/>
              <a:t>单周期</a:t>
            </a:r>
            <a:r>
              <a:rPr lang="en-US" altLang="zh-CN" sz="2400" dirty="0"/>
              <a:t>CPU</a:t>
            </a:r>
            <a:r>
              <a:rPr lang="zh-CN" altLang="en-US" sz="2400" dirty="0">
                <a:solidFill>
                  <a:schemeClr val="dk1"/>
                </a:solidFill>
              </a:rPr>
              <a:t>由</a:t>
            </a:r>
            <a:r>
              <a:rPr lang="en-US" altLang="zh-CN" sz="2400" b="1" dirty="0">
                <a:solidFill>
                  <a:srgbClr val="FF0000"/>
                </a:solidFill>
              </a:rPr>
              <a:t>PC</a:t>
            </a:r>
            <a:r>
              <a:rPr lang="zh-CN" altLang="en-US" sz="2400" b="1" dirty="0">
                <a:solidFill>
                  <a:srgbClr val="FF0000"/>
                </a:solidFill>
              </a:rPr>
              <a:t>寄存器</a:t>
            </a:r>
            <a:r>
              <a:rPr lang="zh-CN" altLang="en-US" sz="2400" dirty="0">
                <a:solidFill>
                  <a:schemeClr val="dk1"/>
                </a:solidFill>
              </a:rPr>
              <a:t>控制，一个</a:t>
            </a:r>
            <a:r>
              <a:rPr lang="en-US" altLang="zh-CN" sz="2400" dirty="0">
                <a:solidFill>
                  <a:schemeClr val="dk1"/>
                </a:solidFill>
              </a:rPr>
              <a:t>clock</a:t>
            </a:r>
            <a:r>
              <a:rPr lang="zh-CN" altLang="en-US" sz="2400" dirty="0">
                <a:solidFill>
                  <a:schemeClr val="dk1"/>
                </a:solidFill>
              </a:rPr>
              <a:t>更新一次</a:t>
            </a:r>
            <a:r>
              <a:rPr lang="en-US" altLang="zh-CN" sz="2400" dirty="0">
                <a:solidFill>
                  <a:schemeClr val="dk1"/>
                </a:solidFill>
              </a:rPr>
              <a:t>PC </a:t>
            </a:r>
            <a:r>
              <a:rPr lang="zh-CN" altLang="en-US" sz="2400" dirty="0">
                <a:solidFill>
                  <a:schemeClr val="dk1"/>
                </a:solidFill>
              </a:rPr>
              <a:t>，从而实现一个</a:t>
            </a:r>
            <a:r>
              <a:rPr lang="en-US" altLang="zh-CN" sz="2400" dirty="0">
                <a:solidFill>
                  <a:schemeClr val="dk1"/>
                </a:solidFill>
              </a:rPr>
              <a:t>clock </a:t>
            </a:r>
            <a:r>
              <a:rPr lang="zh-CN" altLang="en-US" sz="2400" dirty="0">
                <a:solidFill>
                  <a:schemeClr val="dk1"/>
                </a:solidFill>
              </a:rPr>
              <a:t>执行一条指令；</a:t>
            </a:r>
            <a:endParaRPr lang="en-US" altLang="zh-CN" sz="2400" dirty="0">
              <a:solidFill>
                <a:schemeClr val="dk1"/>
              </a:solidFill>
            </a:endParaRPr>
          </a:p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dk1"/>
                </a:solidFill>
              </a:rPr>
              <a:t>        </a:t>
            </a:r>
            <a:r>
              <a:rPr lang="zh-CN" altLang="en-US" sz="2400" dirty="0">
                <a:solidFill>
                  <a:schemeClr val="dk1"/>
                </a:solidFill>
              </a:rPr>
              <a:t>流水线</a:t>
            </a:r>
            <a:r>
              <a:rPr lang="en-US" altLang="zh-CN" sz="2400" dirty="0">
                <a:solidFill>
                  <a:schemeClr val="dk1"/>
                </a:solidFill>
              </a:rPr>
              <a:t>CPU</a:t>
            </a:r>
            <a:r>
              <a:rPr lang="zh-CN" altLang="en-US" sz="2400" dirty="0">
                <a:solidFill>
                  <a:schemeClr val="dk1"/>
                </a:solidFill>
              </a:rPr>
              <a:t>通过在各个阶段之间加</a:t>
            </a:r>
            <a:r>
              <a:rPr lang="zh-CN" altLang="en-US" sz="2400" dirty="0"/>
              <a:t>入</a:t>
            </a:r>
            <a:r>
              <a:rPr lang="zh-CN" altLang="en-US" sz="2400" b="1" dirty="0">
                <a:solidFill>
                  <a:srgbClr val="00B050"/>
                </a:solidFill>
              </a:rPr>
              <a:t>流水线寄存器</a:t>
            </a:r>
            <a:r>
              <a:rPr lang="zh-CN" altLang="en-US" sz="2400" dirty="0">
                <a:solidFill>
                  <a:schemeClr val="dk1"/>
                </a:solidFill>
              </a:rPr>
              <a:t>，一个</a:t>
            </a:r>
            <a:r>
              <a:rPr lang="en-US" altLang="zh-CN" sz="2400" dirty="0">
                <a:solidFill>
                  <a:schemeClr val="dk1"/>
                </a:solidFill>
              </a:rPr>
              <a:t>clock</a:t>
            </a:r>
            <a:r>
              <a:rPr lang="zh-CN" altLang="en-US" sz="2400" dirty="0">
                <a:solidFill>
                  <a:schemeClr val="dk1"/>
                </a:solidFill>
              </a:rPr>
              <a:t>更新一次流水线寄存器，从而实现一个</a:t>
            </a:r>
            <a:r>
              <a:rPr lang="en-US" altLang="zh-CN" sz="2400" dirty="0">
                <a:solidFill>
                  <a:schemeClr val="dk1"/>
                </a:solidFill>
              </a:rPr>
              <a:t>clock</a:t>
            </a:r>
            <a:r>
              <a:rPr lang="zh-CN" altLang="en-US" sz="2400" dirty="0">
                <a:solidFill>
                  <a:schemeClr val="dk1"/>
                </a:solidFill>
              </a:rPr>
              <a:t>执行一个阶段。</a:t>
            </a:r>
            <a:endParaRPr lang="en-US" altLang="zh-CN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54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1131166"/>
          </a:xfrm>
        </p:spPr>
        <p:txBody>
          <a:bodyPr/>
          <a:lstStyle/>
          <a:p>
            <a:r>
              <a:rPr lang="zh-CN" altLang="en-US" dirty="0"/>
              <a:t>五级流水线</a:t>
            </a:r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477471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spcAft>
                <a:spcPts val="1000"/>
              </a:spcAft>
            </a:pPr>
            <a:r>
              <a:rPr lang="zh-CN" altLang="en-US" sz="2800" dirty="0"/>
              <a:t>五级流水线的</a:t>
            </a:r>
            <a:r>
              <a:rPr lang="zh-CN" altLang="en-US" sz="2800" b="1" dirty="0">
                <a:solidFill>
                  <a:srgbClr val="FFC000"/>
                </a:solidFill>
              </a:rPr>
              <a:t>五个阶段</a:t>
            </a:r>
            <a:r>
              <a:rPr lang="zh-CN" altLang="en-US" sz="2800" dirty="0"/>
              <a:t>分别命名为：</a:t>
            </a:r>
            <a:r>
              <a:rPr lang="en-US" altLang="zh-CN" sz="2800" dirty="0"/>
              <a:t>IF</a:t>
            </a:r>
            <a:r>
              <a:rPr lang="zh-CN" altLang="en-US" sz="2800" dirty="0"/>
              <a:t>（取指），</a:t>
            </a:r>
            <a:r>
              <a:rPr lang="en-US" altLang="zh-CN" sz="2800" dirty="0"/>
              <a:t>ID</a:t>
            </a:r>
            <a:r>
              <a:rPr lang="zh-CN" altLang="en-US" sz="2800" dirty="0"/>
              <a:t>（译码</a:t>
            </a:r>
            <a:r>
              <a:rPr lang="en-US" altLang="zh-CN" sz="2800" dirty="0"/>
              <a:t>/</a:t>
            </a:r>
            <a:r>
              <a:rPr lang="zh-CN" altLang="en-US" sz="2800" dirty="0"/>
              <a:t>读寄存器），</a:t>
            </a:r>
            <a:r>
              <a:rPr lang="en-US" altLang="zh-CN" sz="2800" dirty="0"/>
              <a:t>EXE</a:t>
            </a:r>
            <a:r>
              <a:rPr lang="zh-CN" altLang="en-US" sz="2800" dirty="0"/>
              <a:t>（执行</a:t>
            </a:r>
            <a:r>
              <a:rPr lang="en-US" altLang="zh-CN" sz="2800" dirty="0"/>
              <a:t>/</a:t>
            </a:r>
            <a:r>
              <a:rPr lang="zh-CN" altLang="en-US" sz="2800" dirty="0"/>
              <a:t>地址计算），</a:t>
            </a:r>
            <a:r>
              <a:rPr lang="en-US" altLang="zh-CN" sz="2800" dirty="0"/>
              <a:t>MEM</a:t>
            </a:r>
            <a:r>
              <a:rPr lang="zh-CN" altLang="en-US" sz="2800" dirty="0"/>
              <a:t>（访存），</a:t>
            </a:r>
            <a:r>
              <a:rPr lang="en-US" altLang="zh-CN" sz="2800" dirty="0"/>
              <a:t>WB</a:t>
            </a:r>
            <a:r>
              <a:rPr lang="zh-CN" altLang="en-US" sz="2800" dirty="0"/>
              <a:t>（写回）。</a:t>
            </a:r>
            <a:endParaRPr lang="en-US" altLang="zh-CN" sz="2800" dirty="0"/>
          </a:p>
          <a:p>
            <a:pPr>
              <a:lnSpc>
                <a:spcPts val="4000"/>
              </a:lnSpc>
              <a:spcAft>
                <a:spcPts val="1000"/>
              </a:spcAft>
            </a:pPr>
            <a:r>
              <a:rPr lang="zh-CN" altLang="en-US" sz="2800" dirty="0"/>
              <a:t>通过增加</a:t>
            </a:r>
            <a:r>
              <a:rPr lang="zh-CN" altLang="en-US" sz="2800" b="1" dirty="0">
                <a:solidFill>
                  <a:srgbClr val="FFC000"/>
                </a:solidFill>
              </a:rPr>
              <a:t>流水线寄存器</a:t>
            </a:r>
            <a:r>
              <a:rPr lang="zh-CN" altLang="en-US" sz="2800" dirty="0"/>
              <a:t>，不仅可以使一条指令的执行分为五个阶段，而且可以实现最多有五条指令在流水线的五个阶段分别被执行。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06827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H="1">
            <a:off x="3120273" y="1690688"/>
            <a:ext cx="18853" cy="463469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077147" y="1727474"/>
            <a:ext cx="18853" cy="463469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8196607" y="1690688"/>
            <a:ext cx="18853" cy="463469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0094428" y="1690688"/>
            <a:ext cx="18853" cy="463469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B9D9D626-D28D-FF2F-60C6-8FE9DD626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7" y="495828"/>
            <a:ext cx="10180606" cy="58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12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D3C345A-E55D-FD1B-4154-945988636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31" y="1050782"/>
            <a:ext cx="11796338" cy="554626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0EF90660-3CAB-4C5D-8D0B-E77F665FA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569" y="260949"/>
            <a:ext cx="2817357" cy="990602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数据通路</a:t>
            </a:r>
          </a:p>
        </p:txBody>
      </p:sp>
      <p:sp>
        <p:nvSpPr>
          <p:cNvPr id="2" name="线形标注 2 1"/>
          <p:cNvSpPr/>
          <p:nvPr/>
        </p:nvSpPr>
        <p:spPr>
          <a:xfrm>
            <a:off x="2857629" y="416223"/>
            <a:ext cx="2410692" cy="108065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3178"/>
              <a:gd name="adj6" fmla="val -534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为了减少干扰，简化设计，在处理控制冒险前，</a:t>
            </a:r>
            <a:r>
              <a:rPr lang="en-US" altLang="zh-CN" dirty="0" err="1"/>
              <a:t>npc</a:t>
            </a:r>
            <a:r>
              <a:rPr lang="en-US" altLang="zh-CN" dirty="0"/>
              <a:t>=pc+4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877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3" y="520262"/>
            <a:ext cx="10568736" cy="804041"/>
          </a:xfrm>
        </p:spPr>
        <p:txBody>
          <a:bodyPr>
            <a:no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：流水线寄存器</a:t>
            </a:r>
            <a:r>
              <a:rPr lang="zh-CN" altLang="en-US" b="1" dirty="0">
                <a:solidFill>
                  <a:srgbClr val="FFC000"/>
                </a:solidFill>
              </a:rPr>
              <a:t>需要传递</a:t>
            </a:r>
            <a:r>
              <a:rPr lang="zh-CN" altLang="en-US" b="1">
                <a:solidFill>
                  <a:srgbClr val="FFC000"/>
                </a:solidFill>
              </a:rPr>
              <a:t>的信号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3" y="1681655"/>
            <a:ext cx="10164087" cy="4359707"/>
          </a:xfrm>
        </p:spPr>
        <p:txBody>
          <a:bodyPr>
            <a:normAutofit/>
          </a:bodyPr>
          <a:lstStyle/>
          <a:p>
            <a:pPr marL="0" indent="457200">
              <a:buNone/>
            </a:pPr>
            <a:r>
              <a:rPr lang="zh-CN" altLang="en-US" sz="2800" dirty="0"/>
              <a:t>流水线寄存器需要传递的不仅包括下一阶段需要用到的信号，还需要包括后续其他阶段需要用到的信号。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86725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724" y="187727"/>
            <a:ext cx="10515600" cy="894839"/>
          </a:xfrm>
        </p:spPr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：寄存器复位值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517" y="1412776"/>
            <a:ext cx="10936014" cy="486715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要求：复位时，第一条指令进入</a:t>
            </a:r>
            <a:r>
              <a:rPr lang="en-US" altLang="zh-CN" sz="2800" dirty="0"/>
              <a:t>IF</a:t>
            </a:r>
            <a:r>
              <a:rPr lang="zh-CN" altLang="en-US" sz="2800" dirty="0"/>
              <a:t>阶段，其他阶段还没有指令执行。</a:t>
            </a:r>
            <a:endParaRPr lang="en-US" altLang="zh-CN" sz="2800" dirty="0"/>
          </a:p>
          <a:p>
            <a:r>
              <a:rPr lang="zh-CN" altLang="en-US" sz="2800" dirty="0"/>
              <a:t>分析：</a:t>
            </a:r>
            <a:endParaRPr lang="en-US" altLang="zh-CN" sz="2800" dirty="0"/>
          </a:p>
          <a:p>
            <a:pPr marL="914400" lvl="1" indent="-514350">
              <a:buFont typeface="+mj-lt"/>
              <a:buAutoNum type="arabicPeriod"/>
            </a:pPr>
            <a:r>
              <a:rPr lang="zh-CN" altLang="en-US" sz="2600" dirty="0"/>
              <a:t>第一条指令进入</a:t>
            </a:r>
            <a:r>
              <a:rPr lang="en-US" altLang="zh-CN" sz="2600" b="1" dirty="0"/>
              <a:t>IF</a:t>
            </a:r>
            <a:r>
              <a:rPr lang="zh-CN" altLang="en-US" sz="2600" b="1" dirty="0"/>
              <a:t>阶段</a:t>
            </a:r>
            <a:r>
              <a:rPr lang="zh-CN" altLang="en-US" sz="2600" dirty="0"/>
              <a:t>，通过复位</a:t>
            </a:r>
            <a:r>
              <a:rPr lang="en-US" altLang="zh-CN" sz="2600" b="1" dirty="0">
                <a:solidFill>
                  <a:srgbClr val="FF0000"/>
                </a:solidFill>
              </a:rPr>
              <a:t>PC</a:t>
            </a:r>
            <a:r>
              <a:rPr lang="zh-CN" altLang="en-US" sz="2600" b="1" dirty="0">
                <a:solidFill>
                  <a:srgbClr val="FF0000"/>
                </a:solidFill>
              </a:rPr>
              <a:t>寄存器为</a:t>
            </a:r>
            <a:r>
              <a:rPr lang="en-US" altLang="zh-CN" sz="2600" b="1" dirty="0">
                <a:solidFill>
                  <a:srgbClr val="FF0000"/>
                </a:solidFill>
              </a:rPr>
              <a:t>0x3000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914400" lvl="1" indent="-514350">
              <a:buFont typeface="+mj-lt"/>
              <a:buAutoNum type="arabicPeriod"/>
            </a:pPr>
            <a:r>
              <a:rPr lang="zh-CN" altLang="en-US" sz="2600" dirty="0"/>
              <a:t>对于</a:t>
            </a:r>
            <a:r>
              <a:rPr lang="en-US" altLang="zh-CN" sz="2600" b="1" dirty="0"/>
              <a:t>ID</a:t>
            </a:r>
            <a:r>
              <a:rPr lang="zh-CN" altLang="en-US" sz="2600" b="1" dirty="0"/>
              <a:t>阶段</a:t>
            </a:r>
            <a:r>
              <a:rPr lang="zh-CN" altLang="en-US" sz="2600" dirty="0"/>
              <a:t>，为了表示没有指令执行，需要执行</a:t>
            </a:r>
            <a:r>
              <a:rPr lang="en-US" altLang="zh-CN" sz="2600" b="1" dirty="0" err="1">
                <a:solidFill>
                  <a:srgbClr val="FF0000"/>
                </a:solidFill>
              </a:rPr>
              <a:t>nop</a:t>
            </a:r>
            <a:r>
              <a:rPr lang="zh-CN" altLang="en-US" sz="2600" b="1" dirty="0">
                <a:solidFill>
                  <a:srgbClr val="FF0000"/>
                </a:solidFill>
              </a:rPr>
              <a:t>指令</a:t>
            </a:r>
            <a:r>
              <a:rPr lang="zh-CN" altLang="en-US" sz="2600" dirty="0"/>
              <a:t>。（</a:t>
            </a:r>
            <a:r>
              <a:rPr lang="en-US" altLang="zh-CN" sz="26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sll</a:t>
            </a:r>
            <a:r>
              <a:rPr lang="en-US" altLang="zh-CN" sz="2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$0, $0, 0</a:t>
            </a:r>
            <a:r>
              <a:rPr lang="zh-CN" altLang="en-US" sz="2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指令（对应的指令码是</a:t>
            </a:r>
            <a:r>
              <a:rPr lang="en-US" altLang="zh-CN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0x0000_0000</a:t>
            </a:r>
            <a:r>
              <a:rPr lang="zh-CN" altLang="en-US" sz="2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）被认为是</a:t>
            </a:r>
            <a:r>
              <a:rPr lang="en-US" altLang="zh-CN" sz="26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nop</a:t>
            </a:r>
            <a:r>
              <a:rPr lang="zh-CN" altLang="en-US" sz="2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指令。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pPr marL="914400" lvl="1" indent="-514350">
              <a:buFont typeface="+mj-lt"/>
              <a:buAutoNum type="arabicPeriod"/>
            </a:pPr>
            <a:r>
              <a:rPr lang="zh-CN" altLang="en-US" sz="2600" dirty="0"/>
              <a:t>对于</a:t>
            </a:r>
            <a:r>
              <a:rPr lang="zh-CN" altLang="en-US" sz="2600" b="1" dirty="0"/>
              <a:t>其他三个阶段</a:t>
            </a:r>
            <a:r>
              <a:rPr lang="zh-CN" altLang="en-US" sz="2600" dirty="0"/>
              <a:t>，最重要的是保证</a:t>
            </a:r>
            <a:r>
              <a:rPr lang="en-US" altLang="zh-CN" sz="2600" b="1" dirty="0" err="1">
                <a:solidFill>
                  <a:srgbClr val="FF0000"/>
                </a:solidFill>
              </a:rPr>
              <a:t>reg_write</a:t>
            </a:r>
            <a:r>
              <a:rPr lang="zh-CN" altLang="en-US" sz="2600" b="1" dirty="0">
                <a:solidFill>
                  <a:srgbClr val="FF0000"/>
                </a:solidFill>
              </a:rPr>
              <a:t>和</a:t>
            </a:r>
            <a:r>
              <a:rPr lang="en-US" altLang="zh-CN" sz="2600" b="1" dirty="0" err="1">
                <a:solidFill>
                  <a:srgbClr val="FF0000"/>
                </a:solidFill>
              </a:rPr>
              <a:t>mem_write</a:t>
            </a:r>
            <a:r>
              <a:rPr lang="zh-CN" altLang="en-US" sz="2600" b="1" dirty="0">
                <a:solidFill>
                  <a:srgbClr val="FF0000"/>
                </a:solidFill>
              </a:rPr>
              <a:t>信号</a:t>
            </a:r>
            <a:r>
              <a:rPr lang="zh-CN" altLang="en-US" sz="2600" dirty="0"/>
              <a:t>无效（</a:t>
            </a:r>
            <a:r>
              <a:rPr lang="zh-CN" altLang="en-US" sz="2600" b="1" dirty="0">
                <a:solidFill>
                  <a:srgbClr val="FF0000"/>
                </a:solidFill>
              </a:rPr>
              <a:t>低电平</a:t>
            </a:r>
            <a:r>
              <a:rPr lang="en-US" altLang="zh-CN" sz="2600" b="1" dirty="0">
                <a:solidFill>
                  <a:srgbClr val="FF0000"/>
                </a:solidFill>
              </a:rPr>
              <a:t>0</a:t>
            </a:r>
            <a:r>
              <a:rPr lang="zh-CN" altLang="en-US" sz="2600" dirty="0"/>
              <a:t>）。</a:t>
            </a:r>
            <a:endParaRPr lang="en-US" altLang="zh-CN" sz="2600" dirty="0"/>
          </a:p>
          <a:p>
            <a:r>
              <a:rPr lang="zh-CN" altLang="en-US" sz="2800" dirty="0"/>
              <a:t>实现：每个阶段的复位值通过设置其前面的流水线寄存器实现。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              </a:t>
            </a:r>
            <a:r>
              <a:rPr lang="en-US" altLang="zh-CN" sz="2800" b="1" dirty="0">
                <a:solidFill>
                  <a:srgbClr val="FF0000"/>
                </a:solidFill>
              </a:rPr>
              <a:t>PC</a:t>
            </a:r>
            <a:r>
              <a:rPr lang="zh-CN" altLang="en-US" sz="2800" b="1" dirty="0">
                <a:solidFill>
                  <a:srgbClr val="FF0000"/>
                </a:solidFill>
              </a:rPr>
              <a:t>寄存器复位为</a:t>
            </a:r>
            <a:r>
              <a:rPr lang="en-US" altLang="zh-CN" sz="2800" b="1" dirty="0">
                <a:solidFill>
                  <a:srgbClr val="FF0000"/>
                </a:solidFill>
              </a:rPr>
              <a:t>0x3000</a:t>
            </a:r>
            <a:r>
              <a:rPr lang="zh-CN" altLang="en-US" sz="2800" b="1" dirty="0">
                <a:solidFill>
                  <a:srgbClr val="FF0000"/>
                </a:solidFill>
              </a:rPr>
              <a:t>，流水线寄存器复位为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。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74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7437" y="2461779"/>
            <a:ext cx="10515600" cy="1325563"/>
          </a:xfrm>
        </p:spPr>
        <p:txBody>
          <a:bodyPr/>
          <a:lstStyle/>
          <a:p>
            <a:pPr algn="ctr"/>
            <a:r>
              <a:rPr lang="zh-CN" altLang="en-US" b="1" dirty="0"/>
              <a:t>附：分析流水线</a:t>
            </a:r>
            <a:r>
              <a:rPr lang="en-US" altLang="zh-CN" b="1" dirty="0"/>
              <a:t>CPU</a:t>
            </a:r>
            <a:r>
              <a:rPr lang="zh-CN" altLang="en-US" b="1" dirty="0"/>
              <a:t>的方法</a:t>
            </a:r>
            <a:br>
              <a:rPr lang="en-US" altLang="zh-CN" b="1" dirty="0"/>
            </a:br>
            <a:r>
              <a:rPr lang="en-US" altLang="zh-CN" b="1" dirty="0"/>
              <a:t>				——</a:t>
            </a:r>
            <a:r>
              <a:rPr lang="zh-CN" altLang="en-US" b="1" dirty="0"/>
              <a:t>流水线图</a:t>
            </a:r>
          </a:p>
        </p:txBody>
      </p:sp>
    </p:spTree>
    <p:extLst>
      <p:ext uri="{BB962C8B-B14F-4D97-AF65-F5344CB8AC3E}">
        <p14:creationId xmlns:p14="http://schemas.microsoft.com/office/powerpoint/2010/main" val="405157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283855" y="1343554"/>
            <a:ext cx="9512998" cy="4967906"/>
            <a:chOff x="1283855" y="1343554"/>
            <a:chExt cx="9512998" cy="496790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5144" y="1343554"/>
              <a:ext cx="9401709" cy="4967906"/>
            </a:xfrm>
            <a:prstGeom prst="rect">
              <a:avLst/>
            </a:prstGeom>
          </p:spPr>
        </p:pic>
        <p:cxnSp>
          <p:nvCxnSpPr>
            <p:cNvPr id="6" name="直接箭头连接符 5"/>
            <p:cNvCxnSpPr/>
            <p:nvPr/>
          </p:nvCxnSpPr>
          <p:spPr>
            <a:xfrm>
              <a:off x="1283855" y="2678545"/>
              <a:ext cx="27709" cy="33158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238125"/>
            <a:ext cx="10515600" cy="1031875"/>
          </a:xfrm>
        </p:spPr>
        <p:txBody>
          <a:bodyPr/>
          <a:lstStyle/>
          <a:p>
            <a:r>
              <a:rPr lang="zh-CN" altLang="en-US" dirty="0"/>
              <a:t>多周期流水线图</a:t>
            </a:r>
          </a:p>
        </p:txBody>
      </p:sp>
      <p:sp>
        <p:nvSpPr>
          <p:cNvPr id="5" name="矩形 4"/>
          <p:cNvSpPr/>
          <p:nvPr/>
        </p:nvSpPr>
        <p:spPr>
          <a:xfrm>
            <a:off x="5596467" y="1109133"/>
            <a:ext cx="1143000" cy="53340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线形标注 2 2"/>
          <p:cNvSpPr/>
          <p:nvPr/>
        </p:nvSpPr>
        <p:spPr>
          <a:xfrm>
            <a:off x="7619999" y="164571"/>
            <a:ext cx="2151617" cy="101104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0673"/>
              <a:gd name="adj6" fmla="val -402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每一列表示在特定周期流水线每个阶段执行的指令</a:t>
            </a:r>
          </a:p>
        </p:txBody>
      </p:sp>
      <p:sp>
        <p:nvSpPr>
          <p:cNvPr id="7" name="矩形 6"/>
          <p:cNvSpPr/>
          <p:nvPr/>
        </p:nvSpPr>
        <p:spPr>
          <a:xfrm>
            <a:off x="1006764" y="3149600"/>
            <a:ext cx="8340436" cy="10344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线形标注 2 7"/>
          <p:cNvSpPr/>
          <p:nvPr/>
        </p:nvSpPr>
        <p:spPr>
          <a:xfrm>
            <a:off x="9561175" y="2198254"/>
            <a:ext cx="2039698" cy="96058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8077"/>
              <a:gd name="adj6" fmla="val -407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每一行表示特定指令的执行过程</a:t>
            </a:r>
          </a:p>
        </p:txBody>
      </p:sp>
    </p:spTree>
    <p:extLst>
      <p:ext uri="{BB962C8B-B14F-4D97-AF65-F5344CB8AC3E}">
        <p14:creationId xmlns:p14="http://schemas.microsoft.com/office/powerpoint/2010/main" val="378147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单周期流水线图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345295" y="1921597"/>
            <a:ext cx="9501410" cy="3265268"/>
            <a:chOff x="1345295" y="1921597"/>
            <a:chExt cx="9501410" cy="326526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5295" y="2858603"/>
              <a:ext cx="9501410" cy="172802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608667" y="4817533"/>
              <a:ext cx="1464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CLOCK4</a:t>
              </a:r>
              <a:endParaRPr lang="zh-CN" altLang="en-US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259917" y="2419700"/>
              <a:ext cx="1706034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sub $8, $9,$11</a:t>
              </a:r>
              <a:endParaRPr lang="zh-CN" altLang="en-US" sz="1600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238999" y="2419700"/>
              <a:ext cx="1905002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/>
                <a:t>addu</a:t>
              </a:r>
              <a:r>
                <a:rPr lang="en-US" altLang="zh-CN" sz="1600" dirty="0"/>
                <a:t> $12, $6,$7</a:t>
              </a:r>
              <a:endParaRPr lang="zh-CN" altLang="en-US" sz="1600" dirty="0"/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51308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7086600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9144001" y="193886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3060701" y="1921597"/>
              <a:ext cx="8466" cy="919736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1375832" y="2422092"/>
            <a:ext cx="1706034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and $6, $14,$7</a:t>
            </a:r>
            <a:endParaRPr lang="zh-CN" altLang="en-US" sz="1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3365500" y="2419700"/>
            <a:ext cx="1651000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or $2, $13,$3</a:t>
            </a:r>
            <a:endParaRPr lang="zh-CN" altLang="en-US" sz="1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296401" y="2375282"/>
            <a:ext cx="165100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6017677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20449</TotalTime>
  <Words>647</Words>
  <Application>Microsoft Office PowerPoint</Application>
  <PresentationFormat>宽屏</PresentationFormat>
  <Paragraphs>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楷体</vt:lpstr>
      <vt:lpstr>Arial</vt:lpstr>
      <vt:lpstr>Trebuchet MS</vt:lpstr>
      <vt:lpstr>Wingdings</vt:lpstr>
      <vt:lpstr>Wingdings 3</vt:lpstr>
      <vt:lpstr>平面</vt:lpstr>
      <vt:lpstr>不考虑冒险的五级流水线CPU</vt:lpstr>
      <vt:lpstr>实验过程</vt:lpstr>
      <vt:lpstr>单周期CPU和流水线CPU性能比较</vt:lpstr>
      <vt:lpstr>单周期CPU和流水线CPU实现分析</vt:lpstr>
      <vt:lpstr>五级流水线CPU</vt:lpstr>
      <vt:lpstr>PowerPoint 演示文稿</vt:lpstr>
      <vt:lpstr>数据通路</vt:lpstr>
      <vt:lpstr>问题1：流水线寄存器需要传递的信号</vt:lpstr>
      <vt:lpstr>问题2：寄存器复位值</vt:lpstr>
      <vt:lpstr>附：分析流水线CPU的方法     ——流水线图</vt:lpstr>
      <vt:lpstr>多周期流水线图</vt:lpstr>
      <vt:lpstr>单周期流水线图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517</cp:revision>
  <dcterms:created xsi:type="dcterms:W3CDTF">2020-03-13T01:07:41Z</dcterms:created>
  <dcterms:modified xsi:type="dcterms:W3CDTF">2026-05-17T08:41:32Z</dcterms:modified>
</cp:coreProperties>
</file>