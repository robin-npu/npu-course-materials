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51" r:id="rId3"/>
    <p:sldId id="343" r:id="rId4"/>
    <p:sldId id="348" r:id="rId5"/>
    <p:sldId id="317" r:id="rId6"/>
    <p:sldId id="35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50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8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24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2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356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41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82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038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14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510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74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149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035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79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97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43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0103" y="2426688"/>
            <a:ext cx="8171794" cy="1542170"/>
          </a:xfrm>
        </p:spPr>
        <p:txBody>
          <a:bodyPr anchor="ctr" anchorCtr="0">
            <a:normAutofit/>
          </a:bodyPr>
          <a:lstStyle/>
          <a:p>
            <a:pPr algn="l"/>
            <a:r>
              <a:rPr lang="zh-CN" altLang="en-US" b="1" dirty="0"/>
              <a:t>分支指令引起的控制冒险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FA86BA-108C-4759-81AA-C2B9B6ED7B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819"/>
          <a:stretch/>
        </p:blipFill>
        <p:spPr>
          <a:xfrm>
            <a:off x="771405" y="1804225"/>
            <a:ext cx="10025514" cy="340979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3171AFA-509A-4030-8ADB-44C45F17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01" y="207301"/>
            <a:ext cx="11390604" cy="892002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ID</a:t>
            </a:r>
            <a:r>
              <a:rPr lang="zh-CN" altLang="en-US" dirty="0"/>
              <a:t>级比较且预测分支不发生</a:t>
            </a:r>
            <a:r>
              <a:rPr lang="en-US" altLang="zh-CN" dirty="0"/>
              <a:t>      ----</a:t>
            </a:r>
            <a:r>
              <a:rPr lang="zh-CN" altLang="en-US" dirty="0"/>
              <a:t>分支发生时</a:t>
            </a:r>
          </a:p>
        </p:txBody>
      </p:sp>
      <p:sp>
        <p:nvSpPr>
          <p:cNvPr id="11" name="云形 10">
            <a:extLst>
              <a:ext uri="{FF2B5EF4-FFF2-40B4-BE49-F238E27FC236}">
                <a16:creationId xmlns:a16="http://schemas.microsoft.com/office/drawing/2014/main" id="{B9CFAA14-C8DA-45A8-8717-D79ADB82E078}"/>
              </a:ext>
            </a:extLst>
          </p:cNvPr>
          <p:cNvSpPr/>
          <p:nvPr/>
        </p:nvSpPr>
        <p:spPr>
          <a:xfrm>
            <a:off x="6373309" y="4303409"/>
            <a:ext cx="741145" cy="4836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云形 11">
            <a:extLst>
              <a:ext uri="{FF2B5EF4-FFF2-40B4-BE49-F238E27FC236}">
                <a16:creationId xmlns:a16="http://schemas.microsoft.com/office/drawing/2014/main" id="{19D383D3-6E50-4C2C-A743-9437194D018E}"/>
              </a:ext>
            </a:extLst>
          </p:cNvPr>
          <p:cNvSpPr/>
          <p:nvPr/>
        </p:nvSpPr>
        <p:spPr>
          <a:xfrm>
            <a:off x="5278836" y="4339271"/>
            <a:ext cx="741145" cy="4836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云形 12">
            <a:extLst>
              <a:ext uri="{FF2B5EF4-FFF2-40B4-BE49-F238E27FC236}">
                <a16:creationId xmlns:a16="http://schemas.microsoft.com/office/drawing/2014/main" id="{863A508C-8B90-4BF9-8F0D-3F1765DC5838}"/>
              </a:ext>
            </a:extLst>
          </p:cNvPr>
          <p:cNvSpPr/>
          <p:nvPr/>
        </p:nvSpPr>
        <p:spPr>
          <a:xfrm>
            <a:off x="7524730" y="4286966"/>
            <a:ext cx="741145" cy="4836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云形 13">
            <a:extLst>
              <a:ext uri="{FF2B5EF4-FFF2-40B4-BE49-F238E27FC236}">
                <a16:creationId xmlns:a16="http://schemas.microsoft.com/office/drawing/2014/main" id="{21902E6C-266F-4922-8BED-A7EEF9C07B0C}"/>
              </a:ext>
            </a:extLst>
          </p:cNvPr>
          <p:cNvSpPr/>
          <p:nvPr/>
        </p:nvSpPr>
        <p:spPr>
          <a:xfrm>
            <a:off x="4127415" y="4316100"/>
            <a:ext cx="741145" cy="4836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A6CFA2-777B-46CD-A546-A2A29A3A5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08" y="5407493"/>
            <a:ext cx="8975158" cy="87087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46229" y="2740587"/>
            <a:ext cx="1066800" cy="10765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2 6"/>
          <p:cNvSpPr/>
          <p:nvPr/>
        </p:nvSpPr>
        <p:spPr>
          <a:xfrm>
            <a:off x="2312011" y="1355883"/>
            <a:ext cx="1363134" cy="785300"/>
          </a:xfrm>
          <a:prstGeom prst="borderCallout2">
            <a:avLst>
              <a:gd name="adj1" fmla="val 108138"/>
              <a:gd name="adj2" fmla="val 54682"/>
              <a:gd name="adj3" fmla="val 139894"/>
              <a:gd name="adj4" fmla="val 58545"/>
              <a:gd name="adj5" fmla="val 172484"/>
              <a:gd name="adj6" fmla="val 69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1. </a:t>
            </a:r>
            <a:r>
              <a:rPr lang="zh-CN" altLang="en-US" dirty="0"/>
              <a:t>把比较提前到</a:t>
            </a:r>
            <a:r>
              <a:rPr lang="en-US" altLang="zh-CN" dirty="0"/>
              <a:t>ID</a:t>
            </a:r>
            <a:r>
              <a:rPr lang="zh-CN" altLang="en-US" dirty="0"/>
              <a:t>级</a:t>
            </a:r>
          </a:p>
        </p:txBody>
      </p:sp>
      <p:sp>
        <p:nvSpPr>
          <p:cNvPr id="15" name="线形标注 2 14"/>
          <p:cNvSpPr/>
          <p:nvPr/>
        </p:nvSpPr>
        <p:spPr>
          <a:xfrm>
            <a:off x="7852947" y="3306417"/>
            <a:ext cx="1867144" cy="785300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2. </a:t>
            </a:r>
            <a:r>
              <a:rPr lang="zh-CN" altLang="en-US" dirty="0"/>
              <a:t>分支发生时，清除</a:t>
            </a:r>
            <a:r>
              <a:rPr lang="en-US" altLang="zh-CN" dirty="0"/>
              <a:t>IF</a:t>
            </a:r>
            <a:r>
              <a:rPr lang="zh-CN" altLang="en-US" dirty="0"/>
              <a:t>级指令</a:t>
            </a:r>
          </a:p>
        </p:txBody>
      </p:sp>
      <p:sp>
        <p:nvSpPr>
          <p:cNvPr id="17" name="线形标注 2 16"/>
          <p:cNvSpPr/>
          <p:nvPr/>
        </p:nvSpPr>
        <p:spPr>
          <a:xfrm>
            <a:off x="8721965" y="4626043"/>
            <a:ext cx="1600201" cy="785300"/>
          </a:xfrm>
          <a:prstGeom prst="border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3. </a:t>
            </a:r>
            <a:r>
              <a:rPr lang="zh-CN" altLang="en-US" dirty="0"/>
              <a:t>从分支地址接着执行</a:t>
            </a:r>
          </a:p>
        </p:txBody>
      </p:sp>
      <p:sp>
        <p:nvSpPr>
          <p:cNvPr id="16" name="标注: 弯曲线形 9">
            <a:extLst>
              <a:ext uri="{FF2B5EF4-FFF2-40B4-BE49-F238E27FC236}">
                <a16:creationId xmlns:a16="http://schemas.microsoft.com/office/drawing/2014/main" id="{944ADC35-3FCE-4ECD-AF64-551D93DC2F60}"/>
              </a:ext>
            </a:extLst>
          </p:cNvPr>
          <p:cNvSpPr/>
          <p:nvPr/>
        </p:nvSpPr>
        <p:spPr>
          <a:xfrm>
            <a:off x="4121691" y="1651837"/>
            <a:ext cx="1825592" cy="681397"/>
          </a:xfrm>
          <a:prstGeom prst="borderCallout2">
            <a:avLst>
              <a:gd name="adj1" fmla="val 85141"/>
              <a:gd name="adj2" fmla="val -6224"/>
              <a:gd name="adj3" fmla="val 85141"/>
              <a:gd name="adj4" fmla="val -24576"/>
              <a:gd name="adj5" fmla="val 156481"/>
              <a:gd name="adj6" fmla="val -3668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这个时刻确定目标地址</a:t>
            </a:r>
          </a:p>
        </p:txBody>
      </p:sp>
    </p:spTree>
    <p:extLst>
      <p:ext uri="{BB962C8B-B14F-4D97-AF65-F5344CB8AC3E}">
        <p14:creationId xmlns:p14="http://schemas.microsoft.com/office/powerpoint/2010/main" val="97366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6" grpId="0" animBg="1"/>
      <p:bldP spid="7" grpId="0" animBg="1"/>
      <p:bldP spid="15" grpId="0" animBg="1"/>
      <p:bldP spid="17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98" y="1639175"/>
            <a:ext cx="9724412" cy="495221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707928" y="2564671"/>
            <a:ext cx="951346" cy="1025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注: 弯曲线形 9">
            <a:extLst>
              <a:ext uri="{FF2B5EF4-FFF2-40B4-BE49-F238E27FC236}">
                <a16:creationId xmlns:a16="http://schemas.microsoft.com/office/drawing/2014/main" id="{944ADC35-3FCE-4ECD-AF64-551D93DC2F60}"/>
              </a:ext>
            </a:extLst>
          </p:cNvPr>
          <p:cNvSpPr/>
          <p:nvPr/>
        </p:nvSpPr>
        <p:spPr>
          <a:xfrm>
            <a:off x="3906138" y="1196927"/>
            <a:ext cx="1825592" cy="681397"/>
          </a:xfrm>
          <a:prstGeom prst="borderCallout2">
            <a:avLst>
              <a:gd name="adj1" fmla="val 53965"/>
              <a:gd name="adj2" fmla="val -4200"/>
              <a:gd name="adj3" fmla="val 85141"/>
              <a:gd name="adj4" fmla="val -24576"/>
              <a:gd name="adj5" fmla="val 226967"/>
              <a:gd name="adj6" fmla="val -3921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这个时刻确定目标地址</a:t>
            </a:r>
          </a:p>
        </p:txBody>
      </p:sp>
      <p:sp>
        <p:nvSpPr>
          <p:cNvPr id="6" name="矩形 5"/>
          <p:cNvSpPr/>
          <p:nvPr/>
        </p:nvSpPr>
        <p:spPr>
          <a:xfrm>
            <a:off x="2707928" y="3765399"/>
            <a:ext cx="951346" cy="979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线形标注 2 8"/>
          <p:cNvSpPr/>
          <p:nvPr/>
        </p:nvSpPr>
        <p:spPr>
          <a:xfrm>
            <a:off x="4486668" y="3442126"/>
            <a:ext cx="2050472" cy="90406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1418"/>
              <a:gd name="adj6" fmla="val -435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进入</a:t>
            </a:r>
            <a:r>
              <a:rPr lang="en-US" altLang="zh-CN" dirty="0"/>
              <a:t>IF</a:t>
            </a:r>
            <a:r>
              <a:rPr lang="zh-CN" altLang="en-US" dirty="0"/>
              <a:t>级的指令正确，继续执行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FC8450-F089-D4CD-CDA6-AE323E9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01" y="207301"/>
            <a:ext cx="11390604" cy="892002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ID</a:t>
            </a:r>
            <a:r>
              <a:rPr lang="zh-CN" altLang="en-US" dirty="0"/>
              <a:t>级比较且预测分支不发生</a:t>
            </a:r>
            <a:r>
              <a:rPr lang="en-US" altLang="zh-CN" dirty="0"/>
              <a:t>      ----</a:t>
            </a:r>
            <a:r>
              <a:rPr lang="zh-CN" altLang="en-US" dirty="0"/>
              <a:t>分支不发生时</a:t>
            </a:r>
          </a:p>
        </p:txBody>
      </p:sp>
    </p:spTree>
    <p:extLst>
      <p:ext uri="{BB962C8B-B14F-4D97-AF65-F5344CB8AC3E}">
        <p14:creationId xmlns:p14="http://schemas.microsoft.com/office/powerpoint/2010/main" val="111930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6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766451"/>
            <a:ext cx="10405825" cy="388077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1. </a:t>
            </a:r>
            <a:r>
              <a:rPr lang="zh-CN" altLang="en-US" sz="2800" b="1" dirty="0"/>
              <a:t>把比较提前到</a:t>
            </a:r>
            <a:r>
              <a:rPr lang="en-US" altLang="zh-CN" sz="2800" b="1" dirty="0"/>
              <a:t>ID</a:t>
            </a:r>
            <a:r>
              <a:rPr lang="zh-CN" altLang="en-US" sz="2800" b="1" dirty="0"/>
              <a:t>级</a:t>
            </a:r>
            <a:r>
              <a:rPr lang="zh-CN" altLang="en-US" sz="2800" dirty="0"/>
              <a:t>：可以采用</a:t>
            </a:r>
            <a:r>
              <a:rPr lang="zh-CN" altLang="en-US" sz="2800" b="1" dirty="0">
                <a:solidFill>
                  <a:srgbClr val="00B050"/>
                </a:solidFill>
              </a:rPr>
              <a:t>异或运算</a:t>
            </a:r>
            <a:r>
              <a:rPr lang="zh-CN" altLang="en-US" sz="2800" dirty="0"/>
              <a:t>实现比较操作。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sz="2800" b="1" dirty="0"/>
              <a:t>清除</a:t>
            </a:r>
            <a:r>
              <a:rPr lang="en-US" altLang="zh-CN" sz="2800" b="1" dirty="0"/>
              <a:t>IF</a:t>
            </a:r>
            <a:r>
              <a:rPr lang="zh-CN" altLang="en-US" sz="2800" b="1" dirty="0"/>
              <a:t>级的指令</a:t>
            </a:r>
            <a:r>
              <a:rPr lang="zh-CN" altLang="en-US" sz="2800" dirty="0"/>
              <a:t>：通过控制</a:t>
            </a:r>
            <a:r>
              <a:rPr lang="en-US" altLang="zh-CN" sz="2800" dirty="0"/>
              <a:t>IF_ID</a:t>
            </a:r>
            <a:r>
              <a:rPr lang="zh-CN" altLang="en-US" sz="2800" dirty="0"/>
              <a:t>流水线寄存器的</a:t>
            </a:r>
            <a:r>
              <a:rPr lang="en-US" altLang="zh-CN" sz="2800" b="1" dirty="0">
                <a:solidFill>
                  <a:srgbClr val="00B050"/>
                </a:solidFill>
              </a:rPr>
              <a:t>flush</a:t>
            </a:r>
            <a:r>
              <a:rPr lang="zh-CN" altLang="en-US" sz="2800" dirty="0"/>
              <a:t>信号实现。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3.</a:t>
            </a:r>
            <a:r>
              <a:rPr lang="zh-CN" altLang="en-US" sz="2800"/>
              <a:t> 只有</a:t>
            </a:r>
            <a:r>
              <a:rPr lang="zh-CN" altLang="en-US" sz="2800" dirty="0"/>
              <a:t>分支发生时才需要清除</a:t>
            </a:r>
            <a:r>
              <a:rPr lang="en-US" altLang="zh-CN" sz="2800" dirty="0"/>
              <a:t>IF</a:t>
            </a:r>
            <a:r>
              <a:rPr lang="zh-CN" altLang="en-US" sz="2800" dirty="0"/>
              <a:t>级的指令，否则</a:t>
            </a:r>
            <a:r>
              <a:rPr lang="en-US" altLang="zh-CN" sz="2800" dirty="0"/>
              <a:t>IF</a:t>
            </a:r>
            <a:r>
              <a:rPr lang="zh-CN" altLang="en-US" sz="2800" dirty="0"/>
              <a:t>级的指令正常执行。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852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A39EF9-FBBF-748D-C79A-0D47D50D4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46" y="276933"/>
            <a:ext cx="11037707" cy="64750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5C97805-6BE1-44D8-82F1-439930DD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5739" y="142203"/>
            <a:ext cx="3615088" cy="1325563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sp>
        <p:nvSpPr>
          <p:cNvPr id="11" name="线形标注 2 10"/>
          <p:cNvSpPr/>
          <p:nvPr/>
        </p:nvSpPr>
        <p:spPr>
          <a:xfrm>
            <a:off x="-35872" y="1833363"/>
            <a:ext cx="1578810" cy="545560"/>
          </a:xfrm>
          <a:prstGeom prst="borderCallout2">
            <a:avLst>
              <a:gd name="adj1" fmla="val 16211"/>
              <a:gd name="adj2" fmla="val 102576"/>
              <a:gd name="adj3" fmla="val -31151"/>
              <a:gd name="adj4" fmla="val 112674"/>
              <a:gd name="adj5" fmla="val -142457"/>
              <a:gd name="adj6" fmla="val 1341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分支不发生时</a:t>
            </a:r>
          </a:p>
        </p:txBody>
      </p:sp>
      <p:sp>
        <p:nvSpPr>
          <p:cNvPr id="13" name="椭圆 12"/>
          <p:cNvSpPr/>
          <p:nvPr/>
        </p:nvSpPr>
        <p:spPr>
          <a:xfrm>
            <a:off x="1754909" y="863545"/>
            <a:ext cx="720436" cy="969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线形标注 2 13"/>
          <p:cNvSpPr/>
          <p:nvPr/>
        </p:nvSpPr>
        <p:spPr>
          <a:xfrm>
            <a:off x="0" y="45927"/>
            <a:ext cx="1507067" cy="545560"/>
          </a:xfrm>
          <a:prstGeom prst="borderCallout2">
            <a:avLst>
              <a:gd name="adj1" fmla="val 41686"/>
              <a:gd name="adj2" fmla="val 102796"/>
              <a:gd name="adj3" fmla="val 37319"/>
              <a:gd name="adj4" fmla="val 124416"/>
              <a:gd name="adj5" fmla="val 94376"/>
              <a:gd name="adj6" fmla="val 1355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分支发生时</a:t>
            </a:r>
          </a:p>
        </p:txBody>
      </p:sp>
      <p:sp>
        <p:nvSpPr>
          <p:cNvPr id="15" name="椭圆 14"/>
          <p:cNvSpPr/>
          <p:nvPr/>
        </p:nvSpPr>
        <p:spPr>
          <a:xfrm>
            <a:off x="1944424" y="276933"/>
            <a:ext cx="2170546" cy="7650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5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0F243-1626-F268-EC69-9E555353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157DF0-063B-C1EB-282A-293137A8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58" y="531326"/>
            <a:ext cx="10856503" cy="636877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07B90C-483E-B35D-F17D-245ED2F8F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40" y="327736"/>
            <a:ext cx="11444320" cy="38490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4A1492-03C0-E8E6-F586-1D16D19BBD6C}"/>
              </a:ext>
            </a:extLst>
          </p:cNvPr>
          <p:cNvSpPr txBox="1"/>
          <p:nvPr/>
        </p:nvSpPr>
        <p:spPr>
          <a:xfrm>
            <a:off x="863259" y="137885"/>
            <a:ext cx="201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beq</a:t>
            </a:r>
            <a:r>
              <a:rPr lang="en-US" altLang="zh-CN" dirty="0"/>
              <a:t>  $12, $7,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627F66-1425-CBEC-C531-4B48F94D880E}"/>
              </a:ext>
            </a:extLst>
          </p:cNvPr>
          <p:cNvSpPr txBox="1"/>
          <p:nvPr/>
        </p:nvSpPr>
        <p:spPr>
          <a:xfrm>
            <a:off x="3264838" y="137885"/>
            <a:ext cx="213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addi</a:t>
            </a:r>
            <a:r>
              <a:rPr lang="en-US" altLang="zh-CN" dirty="0"/>
              <a:t> $3, $14, 0x67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19F834-720C-3F9F-8F2B-4EEE6DF9203D}"/>
              </a:ext>
            </a:extLst>
          </p:cNvPr>
          <p:cNvSpPr txBox="1"/>
          <p:nvPr/>
        </p:nvSpPr>
        <p:spPr>
          <a:xfrm>
            <a:off x="6167597" y="137885"/>
            <a:ext cx="17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78626D-CE78-EB1F-2204-FB585DDD2866}"/>
              </a:ext>
            </a:extLst>
          </p:cNvPr>
          <p:cNvSpPr txBox="1"/>
          <p:nvPr/>
        </p:nvSpPr>
        <p:spPr>
          <a:xfrm>
            <a:off x="8746124" y="161994"/>
            <a:ext cx="17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C05A29-156E-33E8-0B36-62FA38C796D5}"/>
              </a:ext>
            </a:extLst>
          </p:cNvPr>
          <p:cNvSpPr txBox="1"/>
          <p:nvPr/>
        </p:nvSpPr>
        <p:spPr>
          <a:xfrm>
            <a:off x="10316150" y="137885"/>
            <a:ext cx="17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3DD272-A645-B5E4-123B-D726B140177E}"/>
              </a:ext>
            </a:extLst>
          </p:cNvPr>
          <p:cNvSpPr txBox="1"/>
          <p:nvPr/>
        </p:nvSpPr>
        <p:spPr>
          <a:xfrm>
            <a:off x="1193730" y="932865"/>
            <a:ext cx="435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=3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A9EDA17-74B1-BD3B-0BC7-86A42A58EEF7}"/>
              </a:ext>
            </a:extLst>
          </p:cNvPr>
          <p:cNvSpPr txBox="1"/>
          <p:nvPr/>
        </p:nvSpPr>
        <p:spPr>
          <a:xfrm>
            <a:off x="3498043" y="137885"/>
            <a:ext cx="201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beq</a:t>
            </a:r>
            <a:r>
              <a:rPr lang="en-US" altLang="zh-CN" dirty="0"/>
              <a:t>  $12, $7,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3E9C9E-9E65-486E-FFC2-8435A779DA35}"/>
              </a:ext>
            </a:extLst>
          </p:cNvPr>
          <p:cNvSpPr txBox="1"/>
          <p:nvPr/>
        </p:nvSpPr>
        <p:spPr>
          <a:xfrm>
            <a:off x="699610" y="163085"/>
            <a:ext cx="233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andi</a:t>
            </a:r>
            <a:r>
              <a:rPr lang="en-US" altLang="zh-CN" dirty="0"/>
              <a:t>  $2, $17, 0xffff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6C9A86-F802-DC04-C9D2-C1ADB658415F}"/>
              </a:ext>
            </a:extLst>
          </p:cNvPr>
          <p:cNvSpPr txBox="1"/>
          <p:nvPr/>
        </p:nvSpPr>
        <p:spPr>
          <a:xfrm>
            <a:off x="6251721" y="146436"/>
            <a:ext cx="213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addi</a:t>
            </a:r>
            <a:r>
              <a:rPr lang="en-US" altLang="zh-CN" dirty="0"/>
              <a:t> $3, $14, 0x67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82E12F-22C8-49FE-EDE4-D57144699FC7}"/>
              </a:ext>
            </a:extLst>
          </p:cNvPr>
          <p:cNvSpPr txBox="1"/>
          <p:nvPr/>
        </p:nvSpPr>
        <p:spPr>
          <a:xfrm>
            <a:off x="1193730" y="932866"/>
            <a:ext cx="435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=0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557929-BBA2-C5E2-18CE-2F73B4677353}"/>
              </a:ext>
            </a:extLst>
          </p:cNvPr>
          <p:cNvSpPr txBox="1"/>
          <p:nvPr/>
        </p:nvSpPr>
        <p:spPr>
          <a:xfrm>
            <a:off x="2224885" y="498677"/>
            <a:ext cx="435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=0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0274B1-1776-417C-ABA1-5A1D83970D3B}"/>
              </a:ext>
            </a:extLst>
          </p:cNvPr>
          <p:cNvSpPr txBox="1"/>
          <p:nvPr/>
        </p:nvSpPr>
        <p:spPr>
          <a:xfrm>
            <a:off x="3211507" y="6391764"/>
            <a:ext cx="423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=0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30A5F1-7450-0822-00D8-414A951038CB}"/>
              </a:ext>
            </a:extLst>
          </p:cNvPr>
          <p:cNvSpPr txBox="1"/>
          <p:nvPr/>
        </p:nvSpPr>
        <p:spPr>
          <a:xfrm>
            <a:off x="6216179" y="177552"/>
            <a:ext cx="201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beq</a:t>
            </a:r>
            <a:r>
              <a:rPr lang="en-US" altLang="zh-CN" dirty="0"/>
              <a:t>  $12, $7,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F0BDA3-D2B2-F84D-D39C-8A4A054BABB9}"/>
              </a:ext>
            </a:extLst>
          </p:cNvPr>
          <p:cNvSpPr txBox="1"/>
          <p:nvPr/>
        </p:nvSpPr>
        <p:spPr>
          <a:xfrm>
            <a:off x="6062753" y="161994"/>
            <a:ext cx="209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46279E-070A-0A66-8EA3-3B60B61FBF72}"/>
              </a:ext>
            </a:extLst>
          </p:cNvPr>
          <p:cNvSpPr txBox="1"/>
          <p:nvPr/>
        </p:nvSpPr>
        <p:spPr>
          <a:xfrm>
            <a:off x="760340" y="125913"/>
            <a:ext cx="233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</a:t>
            </a:r>
            <a:r>
              <a:rPr lang="en-US" altLang="zh-CN" dirty="0" err="1"/>
              <a:t>lui</a:t>
            </a:r>
            <a:r>
              <a:rPr lang="en-US" altLang="zh-CN" dirty="0"/>
              <a:t>  $5, 0x5555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79E996-EC76-B92E-EB9F-9B4E0D30B695}"/>
              </a:ext>
            </a:extLst>
          </p:cNvPr>
          <p:cNvSpPr txBox="1"/>
          <p:nvPr/>
        </p:nvSpPr>
        <p:spPr>
          <a:xfrm>
            <a:off x="3301912" y="132093"/>
            <a:ext cx="233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abc</a:t>
            </a:r>
            <a:r>
              <a:rPr lang="en-US" altLang="zh-CN" dirty="0"/>
              <a:t>: </a:t>
            </a:r>
            <a:r>
              <a:rPr lang="en-US" altLang="zh-CN" dirty="0" err="1"/>
              <a:t>lui</a:t>
            </a:r>
            <a:r>
              <a:rPr lang="en-US" altLang="zh-CN" dirty="0"/>
              <a:t>  $5, 0x5555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213F2D-B6E3-5F20-ECCD-4A5859EAB01D}"/>
              </a:ext>
            </a:extLst>
          </p:cNvPr>
          <p:cNvSpPr txBox="1"/>
          <p:nvPr/>
        </p:nvSpPr>
        <p:spPr>
          <a:xfrm>
            <a:off x="3423371" y="99948"/>
            <a:ext cx="209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B5B1D4B-5518-A195-D869-64D0DBBB2147}"/>
              </a:ext>
            </a:extLst>
          </p:cNvPr>
          <p:cNvSpPr txBox="1"/>
          <p:nvPr/>
        </p:nvSpPr>
        <p:spPr>
          <a:xfrm>
            <a:off x="8693958" y="161994"/>
            <a:ext cx="201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beq</a:t>
            </a:r>
            <a:r>
              <a:rPr lang="en-US" altLang="zh-CN" dirty="0"/>
              <a:t>  $12, $7, 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623E745-E37D-E48E-FF4F-5A32FCEB145E}"/>
              </a:ext>
            </a:extLst>
          </p:cNvPr>
          <p:cNvSpPr txBox="1"/>
          <p:nvPr/>
        </p:nvSpPr>
        <p:spPr>
          <a:xfrm>
            <a:off x="858658" y="117661"/>
            <a:ext cx="17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63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6" grpId="0"/>
      <p:bldP spid="16" grpId="1"/>
      <p:bldP spid="16" grpId="2"/>
      <p:bldP spid="16" grpId="3"/>
      <p:bldP spid="17" grpId="0"/>
      <p:bldP spid="17" grpId="1"/>
      <p:bldP spid="17" grpId="2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5" grpId="0"/>
      <p:bldP spid="25" grpId="1"/>
      <p:bldP spid="26" grpId="0"/>
      <p:bldP spid="27" grpId="0"/>
      <p:bldP spid="27" grpId="1"/>
      <p:bldP spid="28" grpId="0"/>
      <p:bldP spid="30" grpId="0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30544</TotalTime>
  <Words>224</Words>
  <Application>Microsoft Office PowerPoint</Application>
  <PresentationFormat>宽屏</PresentationFormat>
  <Paragraphs>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平面</vt:lpstr>
      <vt:lpstr>分支指令引起的控制冒险</vt:lpstr>
      <vt:lpstr>在ID级比较且预测分支不发生      ----分支发生时</vt:lpstr>
      <vt:lpstr>在ID级比较且预测分支不发生      ----分支不发生时</vt:lpstr>
      <vt:lpstr>分析</vt:lpstr>
      <vt:lpstr>数据通路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522</cp:revision>
  <dcterms:created xsi:type="dcterms:W3CDTF">2020-03-13T01:07:41Z</dcterms:created>
  <dcterms:modified xsi:type="dcterms:W3CDTF">2026-06-04T07:11:03Z</dcterms:modified>
</cp:coreProperties>
</file>