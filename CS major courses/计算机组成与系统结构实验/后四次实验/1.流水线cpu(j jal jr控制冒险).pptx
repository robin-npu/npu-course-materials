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55" r:id="rId3"/>
    <p:sldId id="353" r:id="rId4"/>
    <p:sldId id="356" r:id="rId5"/>
    <p:sldId id="354" r:id="rId6"/>
    <p:sldId id="328" r:id="rId7"/>
    <p:sldId id="35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16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05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65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57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34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25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80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37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30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18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7426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236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4628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97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80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63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33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379" y="2393879"/>
            <a:ext cx="9127369" cy="1505768"/>
          </a:xfrm>
        </p:spPr>
        <p:txBody>
          <a:bodyPr anchor="ctr" anchorCtr="0">
            <a:normAutofit fontScale="90000"/>
          </a:bodyPr>
          <a:lstStyle/>
          <a:p>
            <a:pPr algn="ctr"/>
            <a:r>
              <a:rPr lang="zh-CN" altLang="en-US" b="1" dirty="0"/>
              <a:t>无条件跳转指令引起的控制冒险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544650" y="357385"/>
            <a:ext cx="10360420" cy="5177713"/>
            <a:chOff x="723911" y="-460256"/>
            <a:chExt cx="10360420" cy="517771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967DD5E-DE97-495A-98BA-1EA0A4895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0777"/>
            <a:stretch/>
          </p:blipFill>
          <p:spPr>
            <a:xfrm>
              <a:off x="1181323" y="-460256"/>
              <a:ext cx="9903008" cy="4200984"/>
            </a:xfrm>
            <a:prstGeom prst="rect">
              <a:avLst/>
            </a:prstGeom>
          </p:spPr>
        </p:pic>
        <p:cxnSp>
          <p:nvCxnSpPr>
            <p:cNvPr id="14" name="直接箭头连接符 13"/>
            <p:cNvCxnSpPr/>
            <p:nvPr/>
          </p:nvCxnSpPr>
          <p:spPr>
            <a:xfrm>
              <a:off x="723911" y="920682"/>
              <a:ext cx="0" cy="3796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云形 5">
            <a:extLst>
              <a:ext uri="{FF2B5EF4-FFF2-40B4-BE49-F238E27FC236}">
                <a16:creationId xmlns:a16="http://schemas.microsoft.com/office/drawing/2014/main" id="{53653DF2-0A33-468A-A335-D663EF960990}"/>
              </a:ext>
            </a:extLst>
          </p:cNvPr>
          <p:cNvSpPr/>
          <p:nvPr/>
        </p:nvSpPr>
        <p:spPr>
          <a:xfrm>
            <a:off x="5288269" y="3794904"/>
            <a:ext cx="716557" cy="4493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3D8F54DA-62C1-4FA5-841A-90C1AA90E3C8}"/>
              </a:ext>
            </a:extLst>
          </p:cNvPr>
          <p:cNvSpPr/>
          <p:nvPr/>
        </p:nvSpPr>
        <p:spPr>
          <a:xfrm>
            <a:off x="6562045" y="3803899"/>
            <a:ext cx="716557" cy="4493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EC721FE5-0B3D-4483-BEBB-20CFAB5C7860}"/>
              </a:ext>
            </a:extLst>
          </p:cNvPr>
          <p:cNvSpPr/>
          <p:nvPr/>
        </p:nvSpPr>
        <p:spPr>
          <a:xfrm>
            <a:off x="7645585" y="3832569"/>
            <a:ext cx="552450" cy="4493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A642F074-0D89-470A-BA15-A75307143089}"/>
              </a:ext>
            </a:extLst>
          </p:cNvPr>
          <p:cNvSpPr/>
          <p:nvPr/>
        </p:nvSpPr>
        <p:spPr>
          <a:xfrm>
            <a:off x="8680849" y="3762021"/>
            <a:ext cx="747531" cy="4493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E589543-AC37-4F8A-B995-6EA1AC40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62" y="4683432"/>
            <a:ext cx="9491663" cy="93723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60451F6-FE4E-43F5-9AA3-85F04E1A2D13}"/>
              </a:ext>
            </a:extLst>
          </p:cNvPr>
          <p:cNvSpPr/>
          <p:nvPr/>
        </p:nvSpPr>
        <p:spPr>
          <a:xfrm>
            <a:off x="5217973" y="3522395"/>
            <a:ext cx="4422929" cy="978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50994" y="2457877"/>
            <a:ext cx="1062182" cy="10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7479" y="4540380"/>
            <a:ext cx="10049933" cy="1188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注: 弯曲线形 3">
            <a:extLst>
              <a:ext uri="{FF2B5EF4-FFF2-40B4-BE49-F238E27FC236}">
                <a16:creationId xmlns:a16="http://schemas.microsoft.com/office/drawing/2014/main" id="{BCBE7667-F35B-4F6A-B58D-D8FCDA38A05E}"/>
              </a:ext>
            </a:extLst>
          </p:cNvPr>
          <p:cNvSpPr/>
          <p:nvPr/>
        </p:nvSpPr>
        <p:spPr>
          <a:xfrm>
            <a:off x="966823" y="3022475"/>
            <a:ext cx="1575127" cy="855123"/>
          </a:xfrm>
          <a:prstGeom prst="borderCallout2">
            <a:avLst>
              <a:gd name="adj1" fmla="val 29968"/>
              <a:gd name="adj2" fmla="val 103912"/>
              <a:gd name="adj3" fmla="val 29968"/>
              <a:gd name="adj4" fmla="val 124830"/>
              <a:gd name="adj5" fmla="val 180307"/>
              <a:gd name="adj6" fmla="val 162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2. </a:t>
            </a:r>
            <a:r>
              <a:rPr lang="zh-CN" altLang="en-US" dirty="0"/>
              <a:t>从目标地址接着执行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BCBE7667-F35B-4F6A-B58D-D8FCDA38A05E}"/>
              </a:ext>
            </a:extLst>
          </p:cNvPr>
          <p:cNvSpPr/>
          <p:nvPr/>
        </p:nvSpPr>
        <p:spPr>
          <a:xfrm>
            <a:off x="8640816" y="1478470"/>
            <a:ext cx="1643556" cy="843749"/>
          </a:xfrm>
          <a:prstGeom prst="borderCallout2">
            <a:avLst>
              <a:gd name="adj1" fmla="val 96835"/>
              <a:gd name="adj2" fmla="val 50062"/>
              <a:gd name="adj3" fmla="val 153393"/>
              <a:gd name="adj4" fmla="val 14785"/>
              <a:gd name="adj5" fmla="val 239908"/>
              <a:gd name="adj6" fmla="val 157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 </a:t>
            </a:r>
            <a:r>
              <a:rPr lang="zh-CN" altLang="en-US" dirty="0"/>
              <a:t>清除已经进入</a:t>
            </a:r>
            <a:r>
              <a:rPr lang="en-US" altLang="zh-CN" dirty="0"/>
              <a:t>IF</a:t>
            </a:r>
            <a:r>
              <a:rPr lang="zh-CN" altLang="en-US" dirty="0"/>
              <a:t>级的指令</a:t>
            </a:r>
          </a:p>
        </p:txBody>
      </p:sp>
      <p:sp>
        <p:nvSpPr>
          <p:cNvPr id="12" name="标注: 弯曲线形 3">
            <a:extLst>
              <a:ext uri="{FF2B5EF4-FFF2-40B4-BE49-F238E27FC236}">
                <a16:creationId xmlns:a16="http://schemas.microsoft.com/office/drawing/2014/main" id="{F6462011-099E-F676-F128-4DB6E27FBD2D}"/>
              </a:ext>
            </a:extLst>
          </p:cNvPr>
          <p:cNvSpPr/>
          <p:nvPr/>
        </p:nvSpPr>
        <p:spPr>
          <a:xfrm>
            <a:off x="4500705" y="193884"/>
            <a:ext cx="1575127" cy="855123"/>
          </a:xfrm>
          <a:prstGeom prst="borderCallout2">
            <a:avLst>
              <a:gd name="adj1" fmla="val 110481"/>
              <a:gd name="adj2" fmla="val 36639"/>
              <a:gd name="adj3" fmla="val 156399"/>
              <a:gd name="adj4" fmla="val 30239"/>
              <a:gd name="adj5" fmla="val 262079"/>
              <a:gd name="adj6" fmla="val 49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目标地址确定阶段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EA181D-42AF-7250-4FAF-D569E9DDC753}"/>
              </a:ext>
            </a:extLst>
          </p:cNvPr>
          <p:cNvSpPr txBox="1"/>
          <p:nvPr/>
        </p:nvSpPr>
        <p:spPr>
          <a:xfrm>
            <a:off x="2454166" y="6043448"/>
            <a:ext cx="6563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注意：</a:t>
            </a:r>
            <a:r>
              <a:rPr lang="en-US" altLang="zh-CN" sz="2400" dirty="0" err="1"/>
              <a:t>jal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jr</a:t>
            </a:r>
            <a:r>
              <a:rPr lang="zh-CN" altLang="en-US" sz="2400" dirty="0"/>
              <a:t>指令也是在</a:t>
            </a:r>
            <a:r>
              <a:rPr lang="en-US" altLang="zh-CN" sz="2400" dirty="0"/>
              <a:t>ID</a:t>
            </a:r>
            <a:r>
              <a:rPr lang="zh-CN" altLang="en-US" sz="2400" dirty="0"/>
              <a:t>级确定目标地址</a:t>
            </a:r>
          </a:p>
        </p:txBody>
      </p:sp>
    </p:spTree>
    <p:extLst>
      <p:ext uri="{BB962C8B-B14F-4D97-AF65-F5344CB8AC3E}">
        <p14:creationId xmlns:p14="http://schemas.microsoft.com/office/powerpoint/2010/main" val="296710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" grpId="0" animBg="1"/>
      <p:bldP spid="5" grpId="0" animBg="1"/>
      <p:bldP spid="17" grpId="0" animBg="1"/>
      <p:bldP spid="18" grpId="0" animBg="1"/>
      <p:bldP spid="4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944" y="134637"/>
            <a:ext cx="10515600" cy="1325563"/>
          </a:xfrm>
        </p:spPr>
        <p:txBody>
          <a:bodyPr/>
          <a:lstStyle/>
          <a:p>
            <a:r>
              <a:rPr lang="zh-CN" altLang="en-US" b="1" dirty="0"/>
              <a:t>单周期流水线图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11" y="3212181"/>
            <a:ext cx="10671655" cy="192095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88944" y="2287432"/>
            <a:ext cx="11014111" cy="359682"/>
            <a:chOff x="1227667" y="1388684"/>
            <a:chExt cx="10414000" cy="35968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227667" y="1557867"/>
              <a:ext cx="10414000" cy="42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227667" y="1397000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3101804" y="1411585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5422491" y="1388684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9801668" y="1411585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587772" y="1393669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1641667" y="1452033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760172" y="5636218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CLOCK2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2884462" y="2092927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$4, $8, $9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69215" y="2084797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jr</a:t>
            </a:r>
            <a:r>
              <a:rPr lang="en-US" altLang="zh-CN" dirty="0"/>
              <a:t> $31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126395" y="2083850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jr</a:t>
            </a:r>
            <a:r>
              <a:rPr lang="en-US" altLang="zh-CN" dirty="0"/>
              <a:t> $31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5317111" y="211108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$4, $8, $9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879819" y="2095135"/>
            <a:ext cx="164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 $6, $1, $3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79080" y="2103035"/>
            <a:ext cx="2512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add $11, $12, $5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504377" y="2103571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jr</a:t>
            </a:r>
            <a:r>
              <a:rPr lang="en-US" altLang="zh-CN" dirty="0"/>
              <a:t> $31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563524" y="209921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$4, $8, $9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3231306" y="2106479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9796181" y="2137279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$4, $8, $9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7635837" y="2081357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jr</a:t>
            </a:r>
            <a:r>
              <a:rPr lang="en-US" altLang="zh-CN" dirty="0"/>
              <a:t> $31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617023" y="2060390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578252" y="2080523"/>
            <a:ext cx="2512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add $11, $12, $5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549018" y="1996336"/>
            <a:ext cx="203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745250" y="5636218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CLOCK3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745250" y="5642272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CLOCK4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760172" y="5654346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CLOCK5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2989264" y="1262818"/>
            <a:ext cx="203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4912077" y="2097676"/>
            <a:ext cx="2512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add $11, $12, $5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847150" y="2071293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9895705" y="2103035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jr</a:t>
            </a:r>
            <a:r>
              <a:rPr lang="en-US" altLang="zh-CN" dirty="0"/>
              <a:t> $31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45250" y="5645282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6795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7" grpId="1"/>
      <p:bldP spid="18" grpId="0"/>
      <p:bldP spid="18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30" grpId="0"/>
      <p:bldP spid="30" grpId="1"/>
      <p:bldP spid="31" grpId="0"/>
      <p:bldP spid="31" grpId="1"/>
      <p:bldP spid="32" grpId="0"/>
      <p:bldP spid="32" grpId="1"/>
      <p:bldP spid="33" grpId="0"/>
      <p:bldP spid="34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98135"/>
            <a:ext cx="10479397" cy="3346832"/>
          </a:xfrm>
        </p:spPr>
        <p:txBody>
          <a:bodyPr>
            <a:normAutofit/>
          </a:bodyPr>
          <a:lstStyle/>
          <a:p>
            <a:pPr marL="0" indent="457200">
              <a:buNone/>
            </a:pPr>
            <a:r>
              <a:rPr lang="zh-CN" altLang="en-US" sz="2800" dirty="0"/>
              <a:t>  </a:t>
            </a:r>
            <a:r>
              <a:rPr lang="en-US" altLang="zh-CN" sz="2800" dirty="0"/>
              <a:t>1. </a:t>
            </a:r>
            <a:r>
              <a:rPr lang="zh-CN" altLang="en-US" sz="2800" dirty="0"/>
              <a:t>在</a:t>
            </a:r>
            <a:r>
              <a:rPr lang="en-US" altLang="zh-CN" sz="2800" dirty="0"/>
              <a:t>ID</a:t>
            </a:r>
            <a:r>
              <a:rPr lang="zh-CN" altLang="en-US" sz="2800" dirty="0"/>
              <a:t>级确定跳转地址。</a:t>
            </a:r>
            <a:endParaRPr lang="en-US" altLang="zh-CN" sz="2800" dirty="0"/>
          </a:p>
          <a:p>
            <a:pPr marL="0" indent="457200">
              <a:buNone/>
            </a:pPr>
            <a:r>
              <a:rPr lang="zh-CN" altLang="en-US" sz="2800" dirty="0"/>
              <a:t>  </a:t>
            </a:r>
            <a:r>
              <a:rPr lang="en-US" altLang="zh-CN" sz="2800" dirty="0"/>
              <a:t>2. </a:t>
            </a:r>
            <a:r>
              <a:rPr lang="zh-CN" altLang="en-US" sz="2800" dirty="0"/>
              <a:t>下个</a:t>
            </a:r>
            <a:r>
              <a:rPr lang="en-US" altLang="zh-CN" sz="2800" dirty="0"/>
              <a:t>clock</a:t>
            </a:r>
            <a:r>
              <a:rPr lang="zh-CN" altLang="en-US" sz="2800" dirty="0"/>
              <a:t>，跳转地址处的指令进入</a:t>
            </a:r>
            <a:r>
              <a:rPr lang="en-US" altLang="zh-CN" sz="2800" dirty="0"/>
              <a:t>IF</a:t>
            </a:r>
            <a:r>
              <a:rPr lang="zh-CN" altLang="en-US" sz="2800" dirty="0"/>
              <a:t>阶段。</a:t>
            </a:r>
            <a:endParaRPr lang="en-US" altLang="zh-CN" sz="2800" dirty="0"/>
          </a:p>
          <a:p>
            <a:pPr marL="0" indent="457200">
              <a:buNone/>
            </a:pPr>
            <a:r>
              <a:rPr lang="en-US" altLang="zh-CN" sz="2800" dirty="0"/>
              <a:t>  3. </a:t>
            </a:r>
            <a:r>
              <a:rPr lang="zh-CN" altLang="en-US" sz="2800" b="1" dirty="0">
                <a:solidFill>
                  <a:srgbClr val="FF0000"/>
                </a:solidFill>
              </a:rPr>
              <a:t>清除</a:t>
            </a:r>
            <a:r>
              <a:rPr lang="en-US" altLang="zh-CN" sz="2800" b="1" dirty="0">
                <a:solidFill>
                  <a:srgbClr val="FF0000"/>
                </a:solidFill>
              </a:rPr>
              <a:t>IF</a:t>
            </a:r>
            <a:r>
              <a:rPr lang="zh-CN" altLang="en-US" sz="2800" b="1" dirty="0">
                <a:solidFill>
                  <a:srgbClr val="FF0000"/>
                </a:solidFill>
              </a:rPr>
              <a:t>级的指令（顺序执行的指令）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6666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阻塞的方法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160589"/>
            <a:ext cx="10143066" cy="388077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清除</a:t>
            </a:r>
            <a:r>
              <a:rPr lang="en-US" altLang="zh-CN" sz="2800" b="1" dirty="0">
                <a:solidFill>
                  <a:srgbClr val="FF0000"/>
                </a:solidFill>
              </a:rPr>
              <a:t>IF</a:t>
            </a:r>
            <a:r>
              <a:rPr lang="zh-CN" altLang="en-US" sz="2800" b="1" dirty="0">
                <a:solidFill>
                  <a:srgbClr val="FF0000"/>
                </a:solidFill>
              </a:rPr>
              <a:t>级指令 </a:t>
            </a:r>
            <a:r>
              <a:rPr lang="zh-CN" altLang="en-US" sz="2800" dirty="0"/>
              <a:t>← </a:t>
            </a:r>
            <a:r>
              <a:rPr lang="en-US" altLang="zh-CN" sz="2800" dirty="0"/>
              <a:t>IF</a:t>
            </a:r>
            <a:r>
              <a:rPr lang="zh-CN" altLang="en-US" sz="2800" dirty="0"/>
              <a:t>级传递给</a:t>
            </a:r>
            <a:r>
              <a:rPr lang="en-US" altLang="zh-CN" sz="2800" dirty="0"/>
              <a:t>ID</a:t>
            </a:r>
            <a:r>
              <a:rPr lang="zh-CN" altLang="en-US" sz="2800" dirty="0"/>
              <a:t>级空操作指令 ←  </a:t>
            </a:r>
            <a:r>
              <a:rPr lang="en-US" altLang="zh-CN" sz="2800" dirty="0">
                <a:solidFill>
                  <a:srgbClr val="FF0000"/>
                </a:solidFill>
              </a:rPr>
              <a:t>IF_ID</a:t>
            </a:r>
            <a:r>
              <a:rPr lang="zh-CN" altLang="en-US" sz="2800" dirty="0">
                <a:solidFill>
                  <a:srgbClr val="FF0000"/>
                </a:solidFill>
              </a:rPr>
              <a:t>流水线寄存器增加</a:t>
            </a:r>
            <a:r>
              <a:rPr lang="en-US" altLang="zh-CN" sz="2800" dirty="0">
                <a:solidFill>
                  <a:srgbClr val="FF0000"/>
                </a:solidFill>
              </a:rPr>
              <a:t>flush</a:t>
            </a:r>
            <a:r>
              <a:rPr lang="zh-CN" altLang="en-US" sz="2800" dirty="0">
                <a:solidFill>
                  <a:srgbClr val="FF0000"/>
                </a:solidFill>
              </a:rPr>
              <a:t>控制信号</a:t>
            </a:r>
            <a:endParaRPr lang="en-US" altLang="zh-CN" sz="2800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190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CBE6E5C-9F1F-EA12-2349-75BA868D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8" y="103675"/>
            <a:ext cx="10858743" cy="646169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3F1E31-0D05-421C-95E1-3397B8BC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28" y="234303"/>
            <a:ext cx="3095324" cy="898187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</p:spTree>
    <p:extLst>
      <p:ext uri="{BB962C8B-B14F-4D97-AF65-F5344CB8AC3E}">
        <p14:creationId xmlns:p14="http://schemas.microsoft.com/office/powerpoint/2010/main" val="415899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71C9C42A-E6A1-CDE4-34D9-75F5CF8D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2" y="597946"/>
            <a:ext cx="10859698" cy="6462261"/>
          </a:xfrm>
          <a:prstGeom prst="rect">
            <a:avLst/>
          </a:prstGeom>
        </p:spPr>
      </p:pic>
      <p:pic>
        <p:nvPicPr>
          <p:cNvPr id="156" name="图片 1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69" y="369999"/>
            <a:ext cx="11465959" cy="3849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3202" y="5537602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CLOCK2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668336" y="176356"/>
            <a:ext cx="87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 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497304" y="215480"/>
            <a:ext cx="183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 $4, $8, $9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11073" y="583238"/>
            <a:ext cx="423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</a:rPr>
              <a:t>=3</a:t>
            </a:r>
            <a:endParaRPr lang="zh-CN" altLang="en-US" sz="1000" b="1" dirty="0">
              <a:solidFill>
                <a:srgbClr val="FF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082797" y="1424670"/>
            <a:ext cx="423333" cy="169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8033" y="5544294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CLOCK3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207764" y="190732"/>
            <a:ext cx="1883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 $4, $8, $9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641437" y="193052"/>
            <a:ext cx="163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j 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91694" y="197018"/>
            <a:ext cx="1608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  $6, $1, $3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909233" y="570326"/>
            <a:ext cx="40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</a:rPr>
              <a:t>=2</a:t>
            </a:r>
            <a:endParaRPr lang="zh-CN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122739" y="1297545"/>
            <a:ext cx="506161" cy="176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43505" y="6372567"/>
            <a:ext cx="558800" cy="279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22864" y="5535692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CLOCK4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88631" y="196159"/>
            <a:ext cx="252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 add $11, $12, $5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657955" y="166959"/>
            <a:ext cx="1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6235371" y="166959"/>
            <a:ext cx="162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j 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896017" y="573883"/>
            <a:ext cx="40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</a:rPr>
              <a:t>=3</a:t>
            </a:r>
            <a:endParaRPr lang="zh-CN" altLang="en-US" sz="1000" b="1" dirty="0">
              <a:solidFill>
                <a:srgbClr val="FF0000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072660" y="1424670"/>
            <a:ext cx="423333" cy="169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619905" y="184549"/>
            <a:ext cx="179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 $4, $8, $9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261464" y="116173"/>
            <a:ext cx="1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8736117" y="184549"/>
            <a:ext cx="162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j 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10454854" y="141906"/>
            <a:ext cx="1728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 $4, $8, $9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171915" y="206033"/>
            <a:ext cx="255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 add $11, $12, $5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018172" y="143901"/>
            <a:ext cx="157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22864" y="5519647"/>
            <a:ext cx="115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CLOCK5</a:t>
            </a:r>
            <a:endParaRPr lang="zh-CN" altLang="en-US" b="1" dirty="0"/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68747678-BA6F-5B17-E067-D5A949FB0237}"/>
              </a:ext>
            </a:extLst>
          </p:cNvPr>
          <p:cNvSpPr/>
          <p:nvPr/>
        </p:nvSpPr>
        <p:spPr>
          <a:xfrm>
            <a:off x="3318576" y="2283373"/>
            <a:ext cx="2017986" cy="1145627"/>
          </a:xfrm>
          <a:prstGeom prst="cloudCallout">
            <a:avLst>
              <a:gd name="adj1" fmla="val -26823"/>
              <a:gd name="adj2" fmla="val 813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在</a:t>
            </a:r>
            <a:r>
              <a:rPr lang="en-US" altLang="zh-CN" dirty="0"/>
              <a:t>ID</a:t>
            </a:r>
            <a:r>
              <a:rPr lang="zh-CN" altLang="en-US" dirty="0"/>
              <a:t>级译码</a:t>
            </a:r>
          </a:p>
        </p:txBody>
      </p:sp>
    </p:spTree>
    <p:extLst>
      <p:ext uri="{BB962C8B-B14F-4D97-AF65-F5344CB8AC3E}">
        <p14:creationId xmlns:p14="http://schemas.microsoft.com/office/powerpoint/2010/main" val="26304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8" grpId="1"/>
      <p:bldP spid="9" grpId="0" animBg="1"/>
      <p:bldP spid="9" grpId="1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 animBg="1"/>
      <p:bldP spid="15" grpId="1" animBg="1"/>
      <p:bldP spid="16" grpId="0" animBg="1"/>
      <p:bldP spid="16" grpId="1" animBg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 animBg="1"/>
      <p:bldP spid="22" grpId="1" animBg="1"/>
      <p:bldP spid="27" grpId="0"/>
      <p:bldP spid="27" grpId="1"/>
      <p:bldP spid="28" grpId="0"/>
      <p:bldP spid="29" grpId="0"/>
      <p:bldP spid="30" grpId="0"/>
      <p:bldP spid="31" grpId="0"/>
      <p:bldP spid="32" grpId="0"/>
      <p:bldP spid="33" grpId="0"/>
      <p:bldP spid="2" grpId="0" animBg="1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24298</TotalTime>
  <Words>311</Words>
  <Application>Microsoft Office PowerPoint</Application>
  <PresentationFormat>宽屏</PresentationFormat>
  <Paragraphs>58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平面</vt:lpstr>
      <vt:lpstr>无条件跳转指令引起的控制冒险</vt:lpstr>
      <vt:lpstr>PowerPoint 演示文稿</vt:lpstr>
      <vt:lpstr>单周期流水线图</vt:lpstr>
      <vt:lpstr>解决方法</vt:lpstr>
      <vt:lpstr>阻塞的方法</vt:lpstr>
      <vt:lpstr>数据通路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527</cp:revision>
  <dcterms:created xsi:type="dcterms:W3CDTF">2020-03-13T01:07:41Z</dcterms:created>
  <dcterms:modified xsi:type="dcterms:W3CDTF">2026-06-04T06:40:45Z</dcterms:modified>
</cp:coreProperties>
</file>