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979" r:id="rId1"/>
  </p:sldMasterIdLst>
  <p:notesMasterIdLst>
    <p:notesMasterId r:id="rId57"/>
  </p:notesMasterIdLst>
  <p:sldIdLst>
    <p:sldId id="324" r:id="rId2"/>
    <p:sldId id="317" r:id="rId3"/>
    <p:sldId id="304" r:id="rId4"/>
    <p:sldId id="316" r:id="rId5"/>
    <p:sldId id="315" r:id="rId6"/>
    <p:sldId id="331" r:id="rId7"/>
    <p:sldId id="318" r:id="rId8"/>
    <p:sldId id="332" r:id="rId9"/>
    <p:sldId id="319" r:id="rId10"/>
    <p:sldId id="333" r:id="rId11"/>
    <p:sldId id="370" r:id="rId12"/>
    <p:sldId id="373" r:id="rId13"/>
    <p:sldId id="362" r:id="rId14"/>
    <p:sldId id="345" r:id="rId15"/>
    <p:sldId id="303" r:id="rId16"/>
    <p:sldId id="341" r:id="rId17"/>
    <p:sldId id="334" r:id="rId18"/>
    <p:sldId id="346" r:id="rId19"/>
    <p:sldId id="335" r:id="rId20"/>
    <p:sldId id="360" r:id="rId21"/>
    <p:sldId id="347" r:id="rId22"/>
    <p:sldId id="355" r:id="rId23"/>
    <p:sldId id="354" r:id="rId24"/>
    <p:sldId id="372" r:id="rId25"/>
    <p:sldId id="348" r:id="rId26"/>
    <p:sldId id="349" r:id="rId27"/>
    <p:sldId id="351" r:id="rId28"/>
    <p:sldId id="336" r:id="rId29"/>
    <p:sldId id="352" r:id="rId30"/>
    <p:sldId id="361" r:id="rId31"/>
    <p:sldId id="350" r:id="rId32"/>
    <p:sldId id="344" r:id="rId33"/>
    <p:sldId id="358" r:id="rId34"/>
    <p:sldId id="380" r:id="rId35"/>
    <p:sldId id="381" r:id="rId36"/>
    <p:sldId id="378" r:id="rId37"/>
    <p:sldId id="375" r:id="rId38"/>
    <p:sldId id="306" r:id="rId39"/>
    <p:sldId id="325" r:id="rId40"/>
    <p:sldId id="326" r:id="rId41"/>
    <p:sldId id="330" r:id="rId42"/>
    <p:sldId id="382" r:id="rId43"/>
    <p:sldId id="383" r:id="rId44"/>
    <p:sldId id="384" r:id="rId45"/>
    <p:sldId id="308" r:id="rId46"/>
    <p:sldId id="302" r:id="rId47"/>
    <p:sldId id="323" r:id="rId48"/>
    <p:sldId id="376" r:id="rId49"/>
    <p:sldId id="377" r:id="rId50"/>
    <p:sldId id="385" r:id="rId51"/>
    <p:sldId id="387" r:id="rId52"/>
    <p:sldId id="328" r:id="rId53"/>
    <p:sldId id="312" r:id="rId54"/>
    <p:sldId id="313" r:id="rId55"/>
    <p:sldId id="340" r:id="rId5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158" autoAdjust="0"/>
    <p:restoredTop sz="92520" autoAdjust="0"/>
  </p:normalViewPr>
  <p:slideViewPr>
    <p:cSldViewPr snapToGrid="0">
      <p:cViewPr varScale="1">
        <p:scale>
          <a:sx n="84" d="100"/>
          <a:sy n="84" d="100"/>
        </p:scale>
        <p:origin x="73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FB0F64-A686-4126-9135-12E01D0C7FE9}" type="datetimeFigureOut">
              <a:rPr lang="zh-CN" altLang="en-US" smtClean="0"/>
              <a:t>2026/5/5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94983C-334D-4857-A149-295C8D15EF31}" type="slidenum">
              <a:rPr lang="zh-CN" altLang="en-US" smtClean="0"/>
              <a:t>‹#›</a:t>
            </a:fld>
            <a:endParaRPr lang="zh-CN" altLang="en-US"/>
          </a:p>
        </p:txBody>
      </p:sp>
    </p:spTree>
    <p:extLst>
      <p:ext uri="{BB962C8B-B14F-4D97-AF65-F5344CB8AC3E}">
        <p14:creationId xmlns:p14="http://schemas.microsoft.com/office/powerpoint/2010/main" val="1827490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194983C-334D-4857-A149-295C8D15EF31}" type="slidenum">
              <a:rPr lang="zh-CN" altLang="en-US" smtClean="0"/>
              <a:t>2</a:t>
            </a:fld>
            <a:endParaRPr lang="zh-CN" altLang="en-US"/>
          </a:p>
        </p:txBody>
      </p:sp>
    </p:spTree>
    <p:extLst>
      <p:ext uri="{BB962C8B-B14F-4D97-AF65-F5344CB8AC3E}">
        <p14:creationId xmlns:p14="http://schemas.microsoft.com/office/powerpoint/2010/main" val="23432545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194983C-334D-4857-A149-295C8D15EF31}" type="slidenum">
              <a:rPr lang="zh-CN" altLang="en-US" smtClean="0"/>
              <a:t>7</a:t>
            </a:fld>
            <a:endParaRPr lang="zh-CN" altLang="en-US"/>
          </a:p>
        </p:txBody>
      </p:sp>
    </p:spTree>
    <p:extLst>
      <p:ext uri="{BB962C8B-B14F-4D97-AF65-F5344CB8AC3E}">
        <p14:creationId xmlns:p14="http://schemas.microsoft.com/office/powerpoint/2010/main" val="1212918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194983C-334D-4857-A149-295C8D15EF31}" type="slidenum">
              <a:rPr lang="zh-CN" altLang="en-US" smtClean="0"/>
              <a:t>18</a:t>
            </a:fld>
            <a:endParaRPr lang="zh-CN" altLang="en-US"/>
          </a:p>
        </p:txBody>
      </p:sp>
    </p:spTree>
    <p:extLst>
      <p:ext uri="{BB962C8B-B14F-4D97-AF65-F5344CB8AC3E}">
        <p14:creationId xmlns:p14="http://schemas.microsoft.com/office/powerpoint/2010/main" val="5729719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194983C-334D-4857-A149-295C8D15EF31}" type="slidenum">
              <a:rPr lang="zh-CN" altLang="en-US" smtClean="0"/>
              <a:t>33</a:t>
            </a:fld>
            <a:endParaRPr lang="zh-CN" altLang="en-US"/>
          </a:p>
        </p:txBody>
      </p:sp>
    </p:spTree>
    <p:extLst>
      <p:ext uri="{BB962C8B-B14F-4D97-AF65-F5344CB8AC3E}">
        <p14:creationId xmlns:p14="http://schemas.microsoft.com/office/powerpoint/2010/main" val="41833981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194983C-334D-4857-A149-295C8D15EF31}" type="slidenum">
              <a:rPr lang="zh-CN" altLang="en-US" smtClean="0"/>
              <a:t>36</a:t>
            </a:fld>
            <a:endParaRPr lang="zh-CN" altLang="en-US"/>
          </a:p>
        </p:txBody>
      </p:sp>
    </p:spTree>
    <p:extLst>
      <p:ext uri="{BB962C8B-B14F-4D97-AF65-F5344CB8AC3E}">
        <p14:creationId xmlns:p14="http://schemas.microsoft.com/office/powerpoint/2010/main" val="2580750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3EC3B673-DCE4-4699-8C15-4B3A97032352}" type="datetimeFigureOut">
              <a:rPr lang="zh-CN" altLang="en-US" smtClean="0"/>
              <a:t>2026/5/5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936E560-0074-4ACD-AB2F-05F761850480}" type="slidenum">
              <a:rPr lang="zh-CN" altLang="en-US" smtClean="0"/>
              <a:t>‹#›</a:t>
            </a:fld>
            <a:endParaRPr lang="zh-CN" altLang="en-US"/>
          </a:p>
        </p:txBody>
      </p:sp>
    </p:spTree>
    <p:extLst>
      <p:ext uri="{BB962C8B-B14F-4D97-AF65-F5344CB8AC3E}">
        <p14:creationId xmlns:p14="http://schemas.microsoft.com/office/powerpoint/2010/main" val="2125189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EC3B673-DCE4-4699-8C15-4B3A97032352}" type="datetimeFigureOut">
              <a:rPr lang="zh-CN" altLang="en-US" smtClean="0"/>
              <a:t>2026/5/5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936E560-0074-4ACD-AB2F-05F761850480}" type="slidenum">
              <a:rPr lang="zh-CN" altLang="en-US" smtClean="0"/>
              <a:t>‹#›</a:t>
            </a:fld>
            <a:endParaRPr lang="zh-CN" altLang="en-US"/>
          </a:p>
        </p:txBody>
      </p:sp>
    </p:spTree>
    <p:extLst>
      <p:ext uri="{BB962C8B-B14F-4D97-AF65-F5344CB8AC3E}">
        <p14:creationId xmlns:p14="http://schemas.microsoft.com/office/powerpoint/2010/main" val="4209340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3EC3B673-DCE4-4699-8C15-4B3A97032352}" type="datetimeFigureOut">
              <a:rPr lang="zh-CN" altLang="en-US" smtClean="0"/>
              <a:t>2026/5/5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936E560-0074-4ACD-AB2F-05F761850480}" type="slidenum">
              <a:rPr lang="zh-CN" altLang="en-US" smtClean="0"/>
              <a:t>‹#›</a:t>
            </a:fld>
            <a:endParaRPr lang="zh-CN" altLang="en-US"/>
          </a:p>
        </p:txBody>
      </p:sp>
    </p:spTree>
    <p:extLst>
      <p:ext uri="{BB962C8B-B14F-4D97-AF65-F5344CB8AC3E}">
        <p14:creationId xmlns:p14="http://schemas.microsoft.com/office/powerpoint/2010/main" val="4131528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3EC3B673-DCE4-4699-8C15-4B3A97032352}" type="datetimeFigureOut">
              <a:rPr lang="zh-CN" altLang="en-US" smtClean="0"/>
              <a:t>2026/5/5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936E560-0074-4ACD-AB2F-05F761850480}" type="slidenum">
              <a:rPr lang="zh-CN" altLang="en-US" smtClean="0"/>
              <a:t>‹#›</a:t>
            </a:fld>
            <a:endParaRPr lang="zh-CN" altLang="en-US"/>
          </a:p>
        </p:txBody>
      </p:sp>
    </p:spTree>
    <p:extLst>
      <p:ext uri="{BB962C8B-B14F-4D97-AF65-F5344CB8AC3E}">
        <p14:creationId xmlns:p14="http://schemas.microsoft.com/office/powerpoint/2010/main" val="138522376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3EC3B673-DCE4-4699-8C15-4B3A97032352}" type="datetimeFigureOut">
              <a:rPr lang="zh-CN" altLang="en-US" smtClean="0"/>
              <a:t>2026/5/5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7936E560-0074-4ACD-AB2F-05F761850480}" type="slidenum">
              <a:rPr lang="zh-CN" altLang="en-US" smtClean="0"/>
              <a:t>‹#›</a:t>
            </a:fld>
            <a:endParaRPr lang="zh-CN" altLang="en-US"/>
          </a:p>
        </p:txBody>
      </p:sp>
    </p:spTree>
    <p:extLst>
      <p:ext uri="{BB962C8B-B14F-4D97-AF65-F5344CB8AC3E}">
        <p14:creationId xmlns:p14="http://schemas.microsoft.com/office/powerpoint/2010/main" val="21701838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3EC3B673-DCE4-4699-8C15-4B3A97032352}" type="datetimeFigureOut">
              <a:rPr lang="zh-CN" altLang="en-US" smtClean="0"/>
              <a:t>2026/5/5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7936E560-0074-4ACD-AB2F-05F761850480}" type="slidenum">
              <a:rPr lang="zh-CN" altLang="en-US" smtClean="0"/>
              <a:t>‹#›</a:t>
            </a:fld>
            <a:endParaRPr lang="zh-CN" altLang="en-US"/>
          </a:p>
        </p:txBody>
      </p:sp>
    </p:spTree>
    <p:extLst>
      <p:ext uri="{BB962C8B-B14F-4D97-AF65-F5344CB8AC3E}">
        <p14:creationId xmlns:p14="http://schemas.microsoft.com/office/powerpoint/2010/main" val="3373961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C3B673-DCE4-4699-8C15-4B3A97032352}" type="datetimeFigureOut">
              <a:rPr lang="zh-CN" altLang="en-US" smtClean="0"/>
              <a:t>2026/5/5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7936E560-0074-4ACD-AB2F-05F761850480}" type="slidenum">
              <a:rPr lang="zh-CN" altLang="en-US" smtClean="0"/>
              <a:t>‹#›</a:t>
            </a:fld>
            <a:endParaRPr lang="zh-CN" altLang="en-US"/>
          </a:p>
        </p:txBody>
      </p:sp>
    </p:spTree>
    <p:extLst>
      <p:ext uri="{BB962C8B-B14F-4D97-AF65-F5344CB8AC3E}">
        <p14:creationId xmlns:p14="http://schemas.microsoft.com/office/powerpoint/2010/main" val="2955897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zh-CN" altLang="en-US"/>
              <a:t>单击此处编辑母版标题样式</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EC3B673-DCE4-4699-8C15-4B3A97032352}" type="datetimeFigureOut">
              <a:rPr lang="zh-CN" altLang="en-US" smtClean="0"/>
              <a:t>2026/5/5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936E560-0074-4ACD-AB2F-05F761850480}" type="slidenum">
              <a:rPr lang="zh-CN" altLang="en-US" smtClean="0"/>
              <a:t>‹#›</a:t>
            </a:fld>
            <a:endParaRPr lang="zh-CN" altLang="en-US"/>
          </a:p>
        </p:txBody>
      </p:sp>
    </p:spTree>
    <p:extLst>
      <p:ext uri="{BB962C8B-B14F-4D97-AF65-F5344CB8AC3E}">
        <p14:creationId xmlns:p14="http://schemas.microsoft.com/office/powerpoint/2010/main" val="310506337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EC3B673-DCE4-4699-8C15-4B3A97032352}" type="datetimeFigureOut">
              <a:rPr lang="zh-CN" altLang="en-US" smtClean="0"/>
              <a:t>2026/5/5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936E560-0074-4ACD-AB2F-05F761850480}" type="slidenum">
              <a:rPr lang="zh-CN" altLang="en-US" smtClean="0"/>
              <a:t>‹#›</a:t>
            </a:fld>
            <a:endParaRPr lang="zh-CN" altLang="en-US"/>
          </a:p>
        </p:txBody>
      </p:sp>
    </p:spTree>
    <p:extLst>
      <p:ext uri="{BB962C8B-B14F-4D97-AF65-F5344CB8AC3E}">
        <p14:creationId xmlns:p14="http://schemas.microsoft.com/office/powerpoint/2010/main" val="3272853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3EC3B673-DCE4-4699-8C15-4B3A97032352}" type="datetimeFigureOut">
              <a:rPr lang="zh-CN" altLang="en-US" smtClean="0"/>
              <a:t>2026/5/5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936E560-0074-4ACD-AB2F-05F761850480}" type="slidenum">
              <a:rPr lang="zh-CN" altLang="en-US" smtClean="0"/>
              <a:t>‹#›</a:t>
            </a:fld>
            <a:endParaRPr lang="zh-CN" altLang="en-US"/>
          </a:p>
        </p:txBody>
      </p:sp>
    </p:spTree>
    <p:extLst>
      <p:ext uri="{BB962C8B-B14F-4D97-AF65-F5344CB8AC3E}">
        <p14:creationId xmlns:p14="http://schemas.microsoft.com/office/powerpoint/2010/main" val="294936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3EC3B673-DCE4-4699-8C15-4B3A97032352}" type="datetimeFigureOut">
              <a:rPr lang="zh-CN" altLang="en-US" smtClean="0"/>
              <a:t>2026/5/5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936E560-0074-4ACD-AB2F-05F761850480}" type="slidenum">
              <a:rPr lang="zh-CN" altLang="en-US" smtClean="0"/>
              <a:t>‹#›</a:t>
            </a:fld>
            <a:endParaRPr lang="zh-CN" alt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9455932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3EC3B673-DCE4-4699-8C15-4B3A97032352}" type="datetimeFigureOut">
              <a:rPr lang="zh-CN" altLang="en-US" smtClean="0"/>
              <a:t>2026/5/5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936E560-0074-4ACD-AB2F-05F761850480}" type="slidenum">
              <a:rPr lang="zh-CN" altLang="en-US" smtClean="0"/>
              <a:t>‹#›</a:t>
            </a:fld>
            <a:endParaRPr lang="zh-CN" altLang="en-US"/>
          </a:p>
        </p:txBody>
      </p:sp>
    </p:spTree>
    <p:extLst>
      <p:ext uri="{BB962C8B-B14F-4D97-AF65-F5344CB8AC3E}">
        <p14:creationId xmlns:p14="http://schemas.microsoft.com/office/powerpoint/2010/main" val="2108505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3EC3B673-DCE4-4699-8C15-4B3A97032352}" type="datetimeFigureOut">
              <a:rPr lang="zh-CN" altLang="en-US" smtClean="0"/>
              <a:t>2026/5/5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936E560-0074-4ACD-AB2F-05F761850480}" type="slidenum">
              <a:rPr lang="zh-CN" altLang="en-US" smtClean="0"/>
              <a:t>‹#›</a:t>
            </a:fld>
            <a:endParaRPr lang="zh-CN"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96967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3EC3B673-DCE4-4699-8C15-4B3A97032352}" type="datetimeFigureOut">
              <a:rPr lang="zh-CN" altLang="en-US" smtClean="0"/>
              <a:t>2026/5/5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936E560-0074-4ACD-AB2F-05F761850480}" type="slidenum">
              <a:rPr lang="zh-CN" altLang="en-US" smtClean="0"/>
              <a:t>‹#›</a:t>
            </a:fld>
            <a:endParaRPr lang="zh-CN" altLang="en-US"/>
          </a:p>
        </p:txBody>
      </p:sp>
    </p:spTree>
    <p:extLst>
      <p:ext uri="{BB962C8B-B14F-4D97-AF65-F5344CB8AC3E}">
        <p14:creationId xmlns:p14="http://schemas.microsoft.com/office/powerpoint/2010/main" val="8169357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EC3B673-DCE4-4699-8C15-4B3A97032352}" type="datetimeFigureOut">
              <a:rPr lang="zh-CN" altLang="en-US" smtClean="0"/>
              <a:t>2026/5/5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936E560-0074-4ACD-AB2F-05F761850480}" type="slidenum">
              <a:rPr lang="zh-CN" altLang="en-US" smtClean="0"/>
              <a:t>‹#›</a:t>
            </a:fld>
            <a:endParaRPr lang="zh-CN" altLang="en-US"/>
          </a:p>
        </p:txBody>
      </p:sp>
    </p:spTree>
    <p:extLst>
      <p:ext uri="{BB962C8B-B14F-4D97-AF65-F5344CB8AC3E}">
        <p14:creationId xmlns:p14="http://schemas.microsoft.com/office/powerpoint/2010/main" val="23779535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EC3B673-DCE4-4699-8C15-4B3A97032352}" type="datetimeFigureOut">
              <a:rPr lang="zh-CN" altLang="en-US" smtClean="0"/>
              <a:t>2026/5/5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936E560-0074-4ACD-AB2F-05F761850480}" type="slidenum">
              <a:rPr lang="zh-CN" altLang="en-US" smtClean="0"/>
              <a:t>‹#›</a:t>
            </a:fld>
            <a:endParaRPr lang="zh-CN" altLang="en-US"/>
          </a:p>
        </p:txBody>
      </p:sp>
    </p:spTree>
    <p:extLst>
      <p:ext uri="{BB962C8B-B14F-4D97-AF65-F5344CB8AC3E}">
        <p14:creationId xmlns:p14="http://schemas.microsoft.com/office/powerpoint/2010/main" val="1786481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EC3B673-DCE4-4699-8C15-4B3A97032352}" type="datetimeFigureOut">
              <a:rPr lang="zh-CN" altLang="en-US" smtClean="0"/>
              <a:t>2026/5/5</a:t>
            </a:fld>
            <a:endParaRPr lang="zh-CN"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936E560-0074-4ACD-AB2F-05F761850480}" type="slidenum">
              <a:rPr lang="zh-CN" altLang="en-US" smtClean="0"/>
              <a:t>‹#›</a:t>
            </a:fld>
            <a:endParaRPr lang="zh-CN" altLang="en-US"/>
          </a:p>
        </p:txBody>
      </p:sp>
    </p:spTree>
    <p:extLst>
      <p:ext uri="{BB962C8B-B14F-4D97-AF65-F5344CB8AC3E}">
        <p14:creationId xmlns:p14="http://schemas.microsoft.com/office/powerpoint/2010/main" val="9710993"/>
      </p:ext>
    </p:extLst>
  </p:cSld>
  <p:clrMap bg1="lt1" tx1="dk1" bg2="lt2" tx2="dk2" accent1="accent1" accent2="accent2" accent3="accent3" accent4="accent4" accent5="accent5" accent6="accent6" hlink="hlink" folHlink="folHlink"/>
  <p:sldLayoutIdLst>
    <p:sldLayoutId id="2147483980" r:id="rId1"/>
    <p:sldLayoutId id="2147483981" r:id="rId2"/>
    <p:sldLayoutId id="2147483982" r:id="rId3"/>
    <p:sldLayoutId id="2147483983" r:id="rId4"/>
    <p:sldLayoutId id="2147483984" r:id="rId5"/>
    <p:sldLayoutId id="2147483985" r:id="rId6"/>
    <p:sldLayoutId id="2147483986" r:id="rId7"/>
    <p:sldLayoutId id="2147483987" r:id="rId8"/>
    <p:sldLayoutId id="2147483988" r:id="rId9"/>
    <p:sldLayoutId id="2147483989" r:id="rId10"/>
    <p:sldLayoutId id="2147483990" r:id="rId11"/>
    <p:sldLayoutId id="2147483991" r:id="rId12"/>
    <p:sldLayoutId id="2147483992" r:id="rId13"/>
    <p:sldLayoutId id="2147483993" r:id="rId14"/>
    <p:sldLayoutId id="2147483994" r:id="rId15"/>
    <p:sldLayoutId id="214748399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430866" y="1727199"/>
            <a:ext cx="9144000" cy="1071563"/>
          </a:xfrm>
        </p:spPr>
        <p:txBody>
          <a:bodyPr/>
          <a:lstStyle/>
          <a:p>
            <a:r>
              <a:rPr lang="zh-CN" altLang="en-US" b="1" dirty="0"/>
              <a:t>先修知识</a:t>
            </a:r>
          </a:p>
        </p:txBody>
      </p:sp>
      <p:sp>
        <p:nvSpPr>
          <p:cNvPr id="3" name="副标题 2"/>
          <p:cNvSpPr>
            <a:spLocks noGrp="1"/>
          </p:cNvSpPr>
          <p:nvPr>
            <p:ph type="subTitle" idx="1"/>
          </p:nvPr>
        </p:nvSpPr>
        <p:spPr>
          <a:xfrm>
            <a:off x="4879339" y="3581718"/>
            <a:ext cx="4622470" cy="1655762"/>
          </a:xfrm>
        </p:spPr>
        <p:txBody>
          <a:bodyPr>
            <a:noAutofit/>
          </a:bodyPr>
          <a:lstStyle/>
          <a:p>
            <a:pPr marL="457200" indent="-457200" algn="l">
              <a:buAutoNum type="arabicPeriod"/>
            </a:pPr>
            <a:r>
              <a:rPr lang="zh-CN" altLang="en-US" sz="4400" dirty="0">
                <a:solidFill>
                  <a:srgbClr val="92D050"/>
                </a:solidFill>
              </a:rPr>
              <a:t>数字逻辑</a:t>
            </a:r>
            <a:endParaRPr lang="en-US" altLang="zh-CN" sz="4400" dirty="0">
              <a:solidFill>
                <a:srgbClr val="92D050"/>
              </a:solidFill>
            </a:endParaRPr>
          </a:p>
          <a:p>
            <a:pPr marL="457200" indent="-457200" algn="l">
              <a:buAutoNum type="arabicPeriod"/>
            </a:pPr>
            <a:r>
              <a:rPr lang="en-US" altLang="zh-CN" sz="4400" dirty="0">
                <a:solidFill>
                  <a:srgbClr val="92D050"/>
                </a:solidFill>
              </a:rPr>
              <a:t>verilog</a:t>
            </a:r>
            <a:endParaRPr lang="zh-CN" altLang="en-US" sz="4400" dirty="0">
              <a:solidFill>
                <a:srgbClr val="92D050"/>
              </a:solidFill>
            </a:endParaRPr>
          </a:p>
        </p:txBody>
      </p:sp>
    </p:spTree>
    <p:extLst>
      <p:ext uri="{BB962C8B-B14F-4D97-AF65-F5344CB8AC3E}">
        <p14:creationId xmlns:p14="http://schemas.microsoft.com/office/powerpoint/2010/main" val="3132975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1548" y="19175"/>
            <a:ext cx="7232374" cy="1016414"/>
          </a:xfrm>
        </p:spPr>
        <p:txBody>
          <a:bodyPr/>
          <a:lstStyle/>
          <a:p>
            <a:r>
              <a:rPr lang="zh-CN" altLang="en-US" b="1" dirty="0"/>
              <a:t>计算机系统的抽象层</a:t>
            </a:r>
          </a:p>
        </p:txBody>
      </p:sp>
      <p:sp>
        <p:nvSpPr>
          <p:cNvPr id="3" name="内容占位符 2"/>
          <p:cNvSpPr>
            <a:spLocks noGrp="1"/>
          </p:cNvSpPr>
          <p:nvPr>
            <p:ph idx="1"/>
          </p:nvPr>
        </p:nvSpPr>
        <p:spPr>
          <a:xfrm>
            <a:off x="291548" y="1007211"/>
            <a:ext cx="8643731" cy="5568959"/>
          </a:xfrm>
        </p:spPr>
        <p:txBody>
          <a:bodyPr>
            <a:normAutofit/>
          </a:bodyPr>
          <a:lstStyle/>
          <a:p>
            <a:pPr>
              <a:lnSpc>
                <a:spcPct val="110000"/>
              </a:lnSpc>
            </a:pPr>
            <a:r>
              <a:rPr lang="zh-CN" altLang="en-US" sz="2800" b="1" dirty="0"/>
              <a:t>抽象</a:t>
            </a:r>
            <a:r>
              <a:rPr lang="zh-CN" altLang="en-US" sz="2800" dirty="0"/>
              <a:t>是控制和管理复杂性的关键技术。</a:t>
            </a:r>
            <a:endParaRPr lang="en-US" altLang="zh-CN" sz="2800" dirty="0"/>
          </a:p>
          <a:p>
            <a:pPr>
              <a:lnSpc>
                <a:spcPct val="110000"/>
              </a:lnSpc>
            </a:pPr>
            <a:r>
              <a:rPr lang="zh-CN" altLang="en-US" sz="2800" dirty="0">
                <a:solidFill>
                  <a:schemeClr val="accent2"/>
                </a:solidFill>
              </a:rPr>
              <a:t>体系结构</a:t>
            </a:r>
            <a:r>
              <a:rPr lang="zh-CN" altLang="en-US" sz="2800" dirty="0"/>
              <a:t>：程序员观点的计算机抽象，它是</a:t>
            </a:r>
            <a:r>
              <a:rPr lang="zh-CN" altLang="en-US" sz="2800" b="0" i="0" dirty="0">
                <a:solidFill>
                  <a:srgbClr val="333333"/>
                </a:solidFill>
                <a:effectLst/>
                <a:latin typeface="PingFang SC"/>
              </a:rPr>
              <a:t>计算机硬件与软件之间的接口</a:t>
            </a:r>
            <a:r>
              <a:rPr lang="zh-CN" altLang="en-US" sz="2800" dirty="0"/>
              <a:t>。它由指令集和操作数（寄存器和存储器）来定义。</a:t>
            </a:r>
            <a:endParaRPr lang="en-US" altLang="zh-CN" sz="2800" dirty="0"/>
          </a:p>
          <a:p>
            <a:pPr>
              <a:lnSpc>
                <a:spcPct val="110000"/>
              </a:lnSpc>
            </a:pPr>
            <a:r>
              <a:rPr lang="zh-CN" altLang="en-US" sz="2800" b="1" dirty="0">
                <a:solidFill>
                  <a:srgbClr val="FF0000"/>
                </a:solidFill>
              </a:rPr>
              <a:t>微体系结构</a:t>
            </a:r>
            <a:r>
              <a:rPr lang="zh-CN" altLang="en-US" sz="2800" dirty="0"/>
              <a:t>：体系机构具体的硬件实现。它是将寄存器、存储器、</a:t>
            </a:r>
            <a:r>
              <a:rPr lang="en-US" altLang="zh-CN" sz="2800" dirty="0"/>
              <a:t>ALU</a:t>
            </a:r>
            <a:r>
              <a:rPr lang="zh-CN" altLang="en-US" sz="2800" dirty="0"/>
              <a:t>和其它数字逻辑模块等组合在一起实现的。</a:t>
            </a:r>
            <a:endParaRPr lang="en-US" altLang="zh-CN" sz="2800" dirty="0"/>
          </a:p>
          <a:p>
            <a:pPr>
              <a:lnSpc>
                <a:spcPct val="110000"/>
              </a:lnSpc>
            </a:pPr>
            <a:r>
              <a:rPr lang="zh-CN" altLang="en-US" sz="2800" dirty="0">
                <a:solidFill>
                  <a:srgbClr val="00B050"/>
                </a:solidFill>
              </a:rPr>
              <a:t>数字逻辑电路</a:t>
            </a:r>
            <a:r>
              <a:rPr lang="zh-CN" altLang="en-US" sz="2800" dirty="0"/>
              <a:t>：使用门电路设计的实现某种功能的电路。分为</a:t>
            </a:r>
            <a:r>
              <a:rPr lang="zh-CN" altLang="en-US" sz="2800" b="1" dirty="0"/>
              <a:t>组合逻辑电路和时序逻辑电路</a:t>
            </a:r>
            <a:r>
              <a:rPr lang="zh-CN" altLang="en-US" sz="2800" dirty="0"/>
              <a:t>。</a:t>
            </a:r>
            <a:endParaRPr lang="en-US" altLang="zh-CN" sz="2800" dirty="0"/>
          </a:p>
          <a:p>
            <a:pPr marL="0" indent="0">
              <a:lnSpc>
                <a:spcPct val="110000"/>
              </a:lnSpc>
              <a:buNone/>
            </a:pPr>
            <a:endParaRPr lang="en-US" altLang="zh-CN" sz="2800" dirty="0"/>
          </a:p>
        </p:txBody>
      </p:sp>
      <p:grpSp>
        <p:nvGrpSpPr>
          <p:cNvPr id="4" name="Group 4">
            <a:extLst>
              <a:ext uri="{FF2B5EF4-FFF2-40B4-BE49-F238E27FC236}">
                <a16:creationId xmlns:a16="http://schemas.microsoft.com/office/drawing/2014/main" id="{BACE9A28-4E12-9599-77CD-C710B64F49C7}"/>
              </a:ext>
            </a:extLst>
          </p:cNvPr>
          <p:cNvGrpSpPr>
            <a:grpSpLocks noChangeAspect="1"/>
          </p:cNvGrpSpPr>
          <p:nvPr/>
        </p:nvGrpSpPr>
        <p:grpSpPr bwMode="auto">
          <a:xfrm>
            <a:off x="9135027" y="1007211"/>
            <a:ext cx="2765425" cy="5416550"/>
            <a:chOff x="5791" y="436"/>
            <a:chExt cx="1742" cy="3412"/>
          </a:xfrm>
        </p:grpSpPr>
        <p:sp>
          <p:nvSpPr>
            <p:cNvPr id="6" name="AutoShape 3">
              <a:extLst>
                <a:ext uri="{FF2B5EF4-FFF2-40B4-BE49-F238E27FC236}">
                  <a16:creationId xmlns:a16="http://schemas.microsoft.com/office/drawing/2014/main" id="{7857EA09-AF4C-8046-B93A-C17019323C43}"/>
                </a:ext>
              </a:extLst>
            </p:cNvPr>
            <p:cNvSpPr>
              <a:spLocks noChangeAspect="1" noChangeArrowheads="1" noTextEdit="1"/>
            </p:cNvSpPr>
            <p:nvPr/>
          </p:nvSpPr>
          <p:spPr bwMode="auto">
            <a:xfrm>
              <a:off x="5791" y="436"/>
              <a:ext cx="1742" cy="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 name="Rectangle 5">
              <a:extLst>
                <a:ext uri="{FF2B5EF4-FFF2-40B4-BE49-F238E27FC236}">
                  <a16:creationId xmlns:a16="http://schemas.microsoft.com/office/drawing/2014/main" id="{E70B813D-86D9-5EBB-07E2-D98B68CC92FF}"/>
                </a:ext>
              </a:extLst>
            </p:cNvPr>
            <p:cNvSpPr>
              <a:spLocks noChangeArrowheads="1"/>
            </p:cNvSpPr>
            <p:nvPr/>
          </p:nvSpPr>
          <p:spPr bwMode="auto">
            <a:xfrm>
              <a:off x="5805" y="450"/>
              <a:ext cx="1278" cy="382"/>
            </a:xfrm>
            <a:prstGeom prst="rect">
              <a:avLst/>
            </a:prstGeom>
            <a:solidFill>
              <a:srgbClr val="E8EE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 name="Rectangle 6">
              <a:extLst>
                <a:ext uri="{FF2B5EF4-FFF2-40B4-BE49-F238E27FC236}">
                  <a16:creationId xmlns:a16="http://schemas.microsoft.com/office/drawing/2014/main" id="{6E83982F-69D7-CAF1-C99C-F8483BD07463}"/>
                </a:ext>
              </a:extLst>
            </p:cNvPr>
            <p:cNvSpPr>
              <a:spLocks noChangeArrowheads="1"/>
            </p:cNvSpPr>
            <p:nvPr/>
          </p:nvSpPr>
          <p:spPr bwMode="auto">
            <a:xfrm>
              <a:off x="5805" y="450"/>
              <a:ext cx="1278" cy="382"/>
            </a:xfrm>
            <a:prstGeom prst="rect">
              <a:avLst/>
            </a:pr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Rectangle 7">
              <a:extLst>
                <a:ext uri="{FF2B5EF4-FFF2-40B4-BE49-F238E27FC236}">
                  <a16:creationId xmlns:a16="http://schemas.microsoft.com/office/drawing/2014/main" id="{6311C351-7029-5F2D-BA1B-2327E0497646}"/>
                </a:ext>
              </a:extLst>
            </p:cNvPr>
            <p:cNvSpPr>
              <a:spLocks noChangeArrowheads="1"/>
            </p:cNvSpPr>
            <p:nvPr/>
          </p:nvSpPr>
          <p:spPr bwMode="auto">
            <a:xfrm>
              <a:off x="6129" y="559"/>
              <a:ext cx="400"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应用程序</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B3C39071-6C20-6D3A-D70B-53CC11C500E8}"/>
                </a:ext>
              </a:extLst>
            </p:cNvPr>
            <p:cNvSpPr>
              <a:spLocks noChangeArrowheads="1"/>
            </p:cNvSpPr>
            <p:nvPr/>
          </p:nvSpPr>
          <p:spPr bwMode="auto">
            <a:xfrm>
              <a:off x="5805" y="832"/>
              <a:ext cx="1278" cy="381"/>
            </a:xfrm>
            <a:prstGeom prst="rect">
              <a:avLst/>
            </a:prstGeom>
            <a:solidFill>
              <a:srgbClr val="E8EE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Rectangle 9">
              <a:extLst>
                <a:ext uri="{FF2B5EF4-FFF2-40B4-BE49-F238E27FC236}">
                  <a16:creationId xmlns:a16="http://schemas.microsoft.com/office/drawing/2014/main" id="{32FC6AA2-16F0-B874-0034-068E16269BF5}"/>
                </a:ext>
              </a:extLst>
            </p:cNvPr>
            <p:cNvSpPr>
              <a:spLocks noChangeArrowheads="1"/>
            </p:cNvSpPr>
            <p:nvPr/>
          </p:nvSpPr>
          <p:spPr bwMode="auto">
            <a:xfrm>
              <a:off x="5805" y="832"/>
              <a:ext cx="1278" cy="381"/>
            </a:xfrm>
            <a:prstGeom prst="rect">
              <a:avLst/>
            </a:pr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Rectangle 10">
              <a:extLst>
                <a:ext uri="{FF2B5EF4-FFF2-40B4-BE49-F238E27FC236}">
                  <a16:creationId xmlns:a16="http://schemas.microsoft.com/office/drawing/2014/main" id="{97B39893-0201-58E0-FDA8-7578ED0473C9}"/>
                </a:ext>
              </a:extLst>
            </p:cNvPr>
            <p:cNvSpPr>
              <a:spLocks noChangeArrowheads="1"/>
            </p:cNvSpPr>
            <p:nvPr/>
          </p:nvSpPr>
          <p:spPr bwMode="auto">
            <a:xfrm>
              <a:off x="6129" y="940"/>
              <a:ext cx="400"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000000"/>
                  </a:solidFill>
                  <a:effectLst/>
                  <a:latin typeface="宋体" panose="02010600030101010101" pitchFamily="2" charset="-122"/>
                  <a:ea typeface="宋体" panose="02010600030101010101" pitchFamily="2" charset="-122"/>
                </a:rPr>
                <a:t>操作系统</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3" name="Rectangle 11">
              <a:extLst>
                <a:ext uri="{FF2B5EF4-FFF2-40B4-BE49-F238E27FC236}">
                  <a16:creationId xmlns:a16="http://schemas.microsoft.com/office/drawing/2014/main" id="{F61EC3F8-03AB-A91C-4506-B1A9BE1DCB1F}"/>
                </a:ext>
              </a:extLst>
            </p:cNvPr>
            <p:cNvSpPr>
              <a:spLocks noChangeArrowheads="1"/>
            </p:cNvSpPr>
            <p:nvPr/>
          </p:nvSpPr>
          <p:spPr bwMode="auto">
            <a:xfrm>
              <a:off x="5805" y="1213"/>
              <a:ext cx="1278" cy="381"/>
            </a:xfrm>
            <a:prstGeom prst="rect">
              <a:avLst/>
            </a:prstGeom>
            <a:solidFill>
              <a:srgbClr val="E8EE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Rectangle 12">
              <a:extLst>
                <a:ext uri="{FF2B5EF4-FFF2-40B4-BE49-F238E27FC236}">
                  <a16:creationId xmlns:a16="http://schemas.microsoft.com/office/drawing/2014/main" id="{D6FFEA08-44D5-5983-23CA-2D60A0890D78}"/>
                </a:ext>
              </a:extLst>
            </p:cNvPr>
            <p:cNvSpPr>
              <a:spLocks noChangeArrowheads="1"/>
            </p:cNvSpPr>
            <p:nvPr/>
          </p:nvSpPr>
          <p:spPr bwMode="auto">
            <a:xfrm>
              <a:off x="5805" y="1213"/>
              <a:ext cx="1278" cy="381"/>
            </a:xfrm>
            <a:prstGeom prst="rect">
              <a:avLst/>
            </a:pr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Rectangle 13">
              <a:extLst>
                <a:ext uri="{FF2B5EF4-FFF2-40B4-BE49-F238E27FC236}">
                  <a16:creationId xmlns:a16="http://schemas.microsoft.com/office/drawing/2014/main" id="{A35814A6-B26B-CD29-9A7C-9649001D7AF7}"/>
                </a:ext>
              </a:extLst>
            </p:cNvPr>
            <p:cNvSpPr>
              <a:spLocks noChangeArrowheads="1"/>
            </p:cNvSpPr>
            <p:nvPr/>
          </p:nvSpPr>
          <p:spPr bwMode="auto">
            <a:xfrm>
              <a:off x="6129" y="1321"/>
              <a:ext cx="400"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a:ln>
                    <a:noFill/>
                  </a:ln>
                  <a:solidFill>
                    <a:srgbClr val="FF6600"/>
                  </a:solidFill>
                  <a:effectLst/>
                  <a:latin typeface="宋体" panose="02010600030101010101" pitchFamily="2" charset="-122"/>
                  <a:ea typeface="宋体" panose="02010600030101010101" pitchFamily="2" charset="-122"/>
                </a:rPr>
                <a:t>体系结构</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6" name="Rectangle 14">
              <a:extLst>
                <a:ext uri="{FF2B5EF4-FFF2-40B4-BE49-F238E27FC236}">
                  <a16:creationId xmlns:a16="http://schemas.microsoft.com/office/drawing/2014/main" id="{6DA2D14C-689A-CBEF-3E81-CE4C79E17EE9}"/>
                </a:ext>
              </a:extLst>
            </p:cNvPr>
            <p:cNvSpPr>
              <a:spLocks noChangeArrowheads="1"/>
            </p:cNvSpPr>
            <p:nvPr/>
          </p:nvSpPr>
          <p:spPr bwMode="auto">
            <a:xfrm>
              <a:off x="5805" y="1594"/>
              <a:ext cx="1278" cy="381"/>
            </a:xfrm>
            <a:prstGeom prst="rect">
              <a:avLst/>
            </a:prstGeom>
            <a:solidFill>
              <a:srgbClr val="E8EE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Rectangle 15">
              <a:extLst>
                <a:ext uri="{FF2B5EF4-FFF2-40B4-BE49-F238E27FC236}">
                  <a16:creationId xmlns:a16="http://schemas.microsoft.com/office/drawing/2014/main" id="{7004F462-EB52-E176-74B9-8757F1D85BAB}"/>
                </a:ext>
              </a:extLst>
            </p:cNvPr>
            <p:cNvSpPr>
              <a:spLocks noChangeArrowheads="1"/>
            </p:cNvSpPr>
            <p:nvPr/>
          </p:nvSpPr>
          <p:spPr bwMode="auto">
            <a:xfrm>
              <a:off x="5805" y="1594"/>
              <a:ext cx="1278" cy="381"/>
            </a:xfrm>
            <a:prstGeom prst="rect">
              <a:avLst/>
            </a:pr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Rectangle 16">
              <a:extLst>
                <a:ext uri="{FF2B5EF4-FFF2-40B4-BE49-F238E27FC236}">
                  <a16:creationId xmlns:a16="http://schemas.microsoft.com/office/drawing/2014/main" id="{D1F0465B-7EE1-8121-FD9D-47CC958F8865}"/>
                </a:ext>
              </a:extLst>
            </p:cNvPr>
            <p:cNvSpPr>
              <a:spLocks noChangeArrowheads="1"/>
            </p:cNvSpPr>
            <p:nvPr/>
          </p:nvSpPr>
          <p:spPr bwMode="auto">
            <a:xfrm>
              <a:off x="6050" y="1702"/>
              <a:ext cx="813"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微体系结构</a:t>
              </a:r>
              <a:endParaRPr kumimoji="0" lang="zh-CN"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p:txBody>
        </p:sp>
        <p:sp>
          <p:nvSpPr>
            <p:cNvPr id="19" name="Rectangle 17">
              <a:extLst>
                <a:ext uri="{FF2B5EF4-FFF2-40B4-BE49-F238E27FC236}">
                  <a16:creationId xmlns:a16="http://schemas.microsoft.com/office/drawing/2014/main" id="{9F821EF3-80C6-8EC2-97E8-61F907F604D3}"/>
                </a:ext>
              </a:extLst>
            </p:cNvPr>
            <p:cNvSpPr>
              <a:spLocks noChangeArrowheads="1"/>
            </p:cNvSpPr>
            <p:nvPr/>
          </p:nvSpPr>
          <p:spPr bwMode="auto">
            <a:xfrm>
              <a:off x="5805" y="1975"/>
              <a:ext cx="1278" cy="382"/>
            </a:xfrm>
            <a:prstGeom prst="rect">
              <a:avLst/>
            </a:prstGeom>
            <a:solidFill>
              <a:srgbClr val="E8EE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Rectangle 18">
              <a:extLst>
                <a:ext uri="{FF2B5EF4-FFF2-40B4-BE49-F238E27FC236}">
                  <a16:creationId xmlns:a16="http://schemas.microsoft.com/office/drawing/2014/main" id="{65D2751D-5A1A-FC71-788E-B80C9AA9ECD4}"/>
                </a:ext>
              </a:extLst>
            </p:cNvPr>
            <p:cNvSpPr>
              <a:spLocks noChangeArrowheads="1"/>
            </p:cNvSpPr>
            <p:nvPr/>
          </p:nvSpPr>
          <p:spPr bwMode="auto">
            <a:xfrm>
              <a:off x="5805" y="1975"/>
              <a:ext cx="1278" cy="382"/>
            </a:xfrm>
            <a:prstGeom prst="rect">
              <a:avLst/>
            </a:pr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Rectangle 19">
              <a:extLst>
                <a:ext uri="{FF2B5EF4-FFF2-40B4-BE49-F238E27FC236}">
                  <a16:creationId xmlns:a16="http://schemas.microsoft.com/office/drawing/2014/main" id="{59BC5429-4749-642D-8C25-3527C8198A46}"/>
                </a:ext>
              </a:extLst>
            </p:cNvPr>
            <p:cNvSpPr>
              <a:spLocks noChangeArrowheads="1"/>
            </p:cNvSpPr>
            <p:nvPr/>
          </p:nvSpPr>
          <p:spPr bwMode="auto">
            <a:xfrm>
              <a:off x="6129" y="2083"/>
              <a:ext cx="68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339966"/>
                  </a:solidFill>
                  <a:effectLst/>
                  <a:latin typeface="宋体" panose="02010600030101010101" pitchFamily="2" charset="-122"/>
                  <a:ea typeface="宋体" panose="02010600030101010101" pitchFamily="2" charset="-122"/>
                </a:rPr>
                <a:t>数字逻辑</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2" name="Rectangle 20">
              <a:extLst>
                <a:ext uri="{FF2B5EF4-FFF2-40B4-BE49-F238E27FC236}">
                  <a16:creationId xmlns:a16="http://schemas.microsoft.com/office/drawing/2014/main" id="{2FCE6C17-4F80-74E7-ABDB-7AFF191DA793}"/>
                </a:ext>
              </a:extLst>
            </p:cNvPr>
            <p:cNvSpPr>
              <a:spLocks noChangeArrowheads="1"/>
            </p:cNvSpPr>
            <p:nvPr/>
          </p:nvSpPr>
          <p:spPr bwMode="auto">
            <a:xfrm>
              <a:off x="5805" y="2341"/>
              <a:ext cx="1278" cy="381"/>
            </a:xfrm>
            <a:prstGeom prst="rect">
              <a:avLst/>
            </a:prstGeom>
            <a:solidFill>
              <a:srgbClr val="E8EE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Rectangle 21">
              <a:extLst>
                <a:ext uri="{FF2B5EF4-FFF2-40B4-BE49-F238E27FC236}">
                  <a16:creationId xmlns:a16="http://schemas.microsoft.com/office/drawing/2014/main" id="{39D69C9E-8B0C-3F7F-0CDE-F1A871B8BBE3}"/>
                </a:ext>
              </a:extLst>
            </p:cNvPr>
            <p:cNvSpPr>
              <a:spLocks noChangeArrowheads="1"/>
            </p:cNvSpPr>
            <p:nvPr/>
          </p:nvSpPr>
          <p:spPr bwMode="auto">
            <a:xfrm>
              <a:off x="5805" y="2341"/>
              <a:ext cx="1278" cy="381"/>
            </a:xfrm>
            <a:prstGeom prst="rect">
              <a:avLst/>
            </a:pr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Rectangle 22">
              <a:extLst>
                <a:ext uri="{FF2B5EF4-FFF2-40B4-BE49-F238E27FC236}">
                  <a16:creationId xmlns:a16="http://schemas.microsoft.com/office/drawing/2014/main" id="{831BC068-FF36-F6F0-562C-85EE9A158BB8}"/>
                </a:ext>
              </a:extLst>
            </p:cNvPr>
            <p:cNvSpPr>
              <a:spLocks noChangeArrowheads="1"/>
            </p:cNvSpPr>
            <p:nvPr/>
          </p:nvSpPr>
          <p:spPr bwMode="auto">
            <a:xfrm>
              <a:off x="6129" y="2448"/>
              <a:ext cx="79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数字电路</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6" name="Rectangle 24">
              <a:extLst>
                <a:ext uri="{FF2B5EF4-FFF2-40B4-BE49-F238E27FC236}">
                  <a16:creationId xmlns:a16="http://schemas.microsoft.com/office/drawing/2014/main" id="{C6499EB0-207D-D826-7080-F19A699E3288}"/>
                </a:ext>
              </a:extLst>
            </p:cNvPr>
            <p:cNvSpPr>
              <a:spLocks noChangeArrowheads="1"/>
            </p:cNvSpPr>
            <p:nvPr/>
          </p:nvSpPr>
          <p:spPr bwMode="auto">
            <a:xfrm>
              <a:off x="5805" y="2722"/>
              <a:ext cx="1278" cy="381"/>
            </a:xfrm>
            <a:prstGeom prst="rect">
              <a:avLst/>
            </a:pr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Rectangle 26">
              <a:extLst>
                <a:ext uri="{FF2B5EF4-FFF2-40B4-BE49-F238E27FC236}">
                  <a16:creationId xmlns:a16="http://schemas.microsoft.com/office/drawing/2014/main" id="{73E01F8A-7D9C-B00D-39FE-8ED96500514C}"/>
                </a:ext>
              </a:extLst>
            </p:cNvPr>
            <p:cNvSpPr>
              <a:spLocks noChangeArrowheads="1"/>
            </p:cNvSpPr>
            <p:nvPr/>
          </p:nvSpPr>
          <p:spPr bwMode="auto">
            <a:xfrm>
              <a:off x="5809" y="2727"/>
              <a:ext cx="1278" cy="381"/>
            </a:xfrm>
            <a:prstGeom prst="rect">
              <a:avLst/>
            </a:prstGeom>
            <a:solidFill>
              <a:srgbClr val="E8EE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Rectangle 27">
              <a:extLst>
                <a:ext uri="{FF2B5EF4-FFF2-40B4-BE49-F238E27FC236}">
                  <a16:creationId xmlns:a16="http://schemas.microsoft.com/office/drawing/2014/main" id="{32CCD503-A538-9408-C770-92A686B5522A}"/>
                </a:ext>
              </a:extLst>
            </p:cNvPr>
            <p:cNvSpPr>
              <a:spLocks noChangeArrowheads="1"/>
            </p:cNvSpPr>
            <p:nvPr/>
          </p:nvSpPr>
          <p:spPr bwMode="auto">
            <a:xfrm>
              <a:off x="5805" y="3088"/>
              <a:ext cx="1278" cy="381"/>
            </a:xfrm>
            <a:prstGeom prst="rect">
              <a:avLst/>
            </a:prstGeom>
            <a:noFill/>
            <a:ln w="4763"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Rectangle 28">
              <a:extLst>
                <a:ext uri="{FF2B5EF4-FFF2-40B4-BE49-F238E27FC236}">
                  <a16:creationId xmlns:a16="http://schemas.microsoft.com/office/drawing/2014/main" id="{AD33DDE0-F526-A11B-5B62-D0659FB549B4}"/>
                </a:ext>
              </a:extLst>
            </p:cNvPr>
            <p:cNvSpPr>
              <a:spLocks noChangeArrowheads="1"/>
            </p:cNvSpPr>
            <p:nvPr/>
          </p:nvSpPr>
          <p:spPr bwMode="auto">
            <a:xfrm>
              <a:off x="6270" y="2824"/>
              <a:ext cx="435"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器件</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31" name="Rectangle 29">
              <a:extLst>
                <a:ext uri="{FF2B5EF4-FFF2-40B4-BE49-F238E27FC236}">
                  <a16:creationId xmlns:a16="http://schemas.microsoft.com/office/drawing/2014/main" id="{37957982-1B27-FAFE-BAE0-43B1896B75C5}"/>
                </a:ext>
              </a:extLst>
            </p:cNvPr>
            <p:cNvSpPr>
              <a:spLocks noChangeArrowheads="1"/>
            </p:cNvSpPr>
            <p:nvPr/>
          </p:nvSpPr>
          <p:spPr bwMode="auto">
            <a:xfrm>
              <a:off x="5805" y="3103"/>
              <a:ext cx="1278" cy="381"/>
            </a:xfrm>
            <a:prstGeom prst="rect">
              <a:avLst/>
            </a:prstGeom>
            <a:solidFill>
              <a:srgbClr val="E8EE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Rectangle 31">
              <a:extLst>
                <a:ext uri="{FF2B5EF4-FFF2-40B4-BE49-F238E27FC236}">
                  <a16:creationId xmlns:a16="http://schemas.microsoft.com/office/drawing/2014/main" id="{759501C6-0A16-6661-245D-6E647EE993B5}"/>
                </a:ext>
              </a:extLst>
            </p:cNvPr>
            <p:cNvSpPr>
              <a:spLocks noChangeArrowheads="1"/>
            </p:cNvSpPr>
            <p:nvPr/>
          </p:nvSpPr>
          <p:spPr bwMode="auto">
            <a:xfrm>
              <a:off x="6290" y="3161"/>
              <a:ext cx="242"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物理</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34" name="Rectangle 32">
              <a:extLst>
                <a:ext uri="{FF2B5EF4-FFF2-40B4-BE49-F238E27FC236}">
                  <a16:creationId xmlns:a16="http://schemas.microsoft.com/office/drawing/2014/main" id="{8B65ADB0-7AFF-5222-DB6D-79E764382910}"/>
                </a:ext>
              </a:extLst>
            </p:cNvPr>
            <p:cNvSpPr>
              <a:spLocks noChangeArrowheads="1"/>
            </p:cNvSpPr>
            <p:nvPr/>
          </p:nvSpPr>
          <p:spPr bwMode="auto">
            <a:xfrm>
              <a:off x="7143" y="1304"/>
              <a:ext cx="147"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100" b="0" i="0" u="none" strike="noStrike" cap="none" normalizeH="0" baseline="0">
                  <a:ln>
                    <a:noFill/>
                  </a:ln>
                  <a:solidFill>
                    <a:srgbClr val="FF6600"/>
                  </a:solidFill>
                  <a:effectLst/>
                  <a:latin typeface="宋体" panose="02010600030101010101" pitchFamily="2" charset="-122"/>
                  <a:ea typeface="宋体" panose="02010600030101010101" pitchFamily="2" charset="-122"/>
                </a:rPr>
                <a:t>指令</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5" name="Rectangle 33">
              <a:extLst>
                <a:ext uri="{FF2B5EF4-FFF2-40B4-BE49-F238E27FC236}">
                  <a16:creationId xmlns:a16="http://schemas.microsoft.com/office/drawing/2014/main" id="{9196DA56-51C9-8776-1B63-CFD5E9B8825B}"/>
                </a:ext>
              </a:extLst>
            </p:cNvPr>
            <p:cNvSpPr>
              <a:spLocks noChangeArrowheads="1"/>
            </p:cNvSpPr>
            <p:nvPr/>
          </p:nvSpPr>
          <p:spPr bwMode="auto">
            <a:xfrm>
              <a:off x="7143" y="1422"/>
              <a:ext cx="192"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100" b="0" i="0" u="none" strike="noStrike" cap="none" normalizeH="0" baseline="0">
                  <a:ln>
                    <a:noFill/>
                  </a:ln>
                  <a:solidFill>
                    <a:srgbClr val="FF6600"/>
                  </a:solidFill>
                  <a:effectLst/>
                  <a:latin typeface="宋体" panose="02010600030101010101" pitchFamily="2" charset="-122"/>
                  <a:ea typeface="宋体" panose="02010600030101010101" pitchFamily="2" charset="-122"/>
                </a:rPr>
                <a:t>寄存器</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6" name="Rectangle 34">
              <a:extLst>
                <a:ext uri="{FF2B5EF4-FFF2-40B4-BE49-F238E27FC236}">
                  <a16:creationId xmlns:a16="http://schemas.microsoft.com/office/drawing/2014/main" id="{68C007CC-BEC4-51FC-BC4C-B8389256079F}"/>
                </a:ext>
              </a:extLst>
            </p:cNvPr>
            <p:cNvSpPr>
              <a:spLocks noChangeArrowheads="1"/>
            </p:cNvSpPr>
            <p:nvPr/>
          </p:nvSpPr>
          <p:spPr bwMode="auto">
            <a:xfrm>
              <a:off x="7160" y="1669"/>
              <a:ext cx="242"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100" b="0" i="0" u="none" strike="noStrike" cap="none" normalizeH="0" baseline="0">
                  <a:ln>
                    <a:noFill/>
                  </a:ln>
                  <a:solidFill>
                    <a:srgbClr val="FF0000"/>
                  </a:solidFill>
                  <a:effectLst/>
                  <a:latin typeface="宋体" panose="02010600030101010101" pitchFamily="2" charset="-122"/>
                  <a:ea typeface="宋体" panose="02010600030101010101" pitchFamily="2" charset="-122"/>
                </a:rPr>
                <a:t>数据通路</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7" name="Rectangle 35">
              <a:extLst>
                <a:ext uri="{FF2B5EF4-FFF2-40B4-BE49-F238E27FC236}">
                  <a16:creationId xmlns:a16="http://schemas.microsoft.com/office/drawing/2014/main" id="{969310F2-74A6-61CB-0185-D98D6AA0006D}"/>
                </a:ext>
              </a:extLst>
            </p:cNvPr>
            <p:cNvSpPr>
              <a:spLocks noChangeArrowheads="1"/>
            </p:cNvSpPr>
            <p:nvPr/>
          </p:nvSpPr>
          <p:spPr bwMode="auto">
            <a:xfrm>
              <a:off x="7160" y="1786"/>
              <a:ext cx="192"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100" b="0" i="0" u="none" strike="noStrike" cap="none" normalizeH="0" baseline="0">
                  <a:ln>
                    <a:noFill/>
                  </a:ln>
                  <a:solidFill>
                    <a:srgbClr val="FF0000"/>
                  </a:solidFill>
                  <a:effectLst/>
                  <a:latin typeface="宋体" panose="02010600030101010101" pitchFamily="2" charset="-122"/>
                  <a:ea typeface="宋体" panose="02010600030101010101" pitchFamily="2" charset="-122"/>
                </a:rPr>
                <a:t>控制器</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8" name="Rectangle 36">
              <a:extLst>
                <a:ext uri="{FF2B5EF4-FFF2-40B4-BE49-F238E27FC236}">
                  <a16:creationId xmlns:a16="http://schemas.microsoft.com/office/drawing/2014/main" id="{87A64FEC-1D99-B526-63D4-13EC635CD702}"/>
                </a:ext>
              </a:extLst>
            </p:cNvPr>
            <p:cNvSpPr>
              <a:spLocks noChangeArrowheads="1"/>
            </p:cNvSpPr>
            <p:nvPr/>
          </p:nvSpPr>
          <p:spPr bwMode="auto">
            <a:xfrm>
              <a:off x="7138" y="2055"/>
              <a:ext cx="192"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100" b="0" i="0" u="none" strike="noStrike" cap="none" normalizeH="0" baseline="0">
                  <a:ln>
                    <a:noFill/>
                  </a:ln>
                  <a:solidFill>
                    <a:srgbClr val="339966"/>
                  </a:solidFill>
                  <a:effectLst/>
                  <a:latin typeface="宋体" panose="02010600030101010101" pitchFamily="2" charset="-122"/>
                  <a:ea typeface="宋体" panose="02010600030101010101" pitchFamily="2" charset="-122"/>
                </a:rPr>
                <a:t>加法器</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39" name="Rectangle 37">
              <a:extLst>
                <a:ext uri="{FF2B5EF4-FFF2-40B4-BE49-F238E27FC236}">
                  <a16:creationId xmlns:a16="http://schemas.microsoft.com/office/drawing/2014/main" id="{3CADF973-2538-C453-7292-D73D580D6C88}"/>
                </a:ext>
              </a:extLst>
            </p:cNvPr>
            <p:cNvSpPr>
              <a:spLocks noChangeArrowheads="1"/>
            </p:cNvSpPr>
            <p:nvPr/>
          </p:nvSpPr>
          <p:spPr bwMode="auto">
            <a:xfrm>
              <a:off x="7138" y="2173"/>
              <a:ext cx="192"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100" b="0" i="0" u="none" strike="noStrike" cap="none" normalizeH="0" baseline="0">
                  <a:ln>
                    <a:noFill/>
                  </a:ln>
                  <a:solidFill>
                    <a:srgbClr val="339966"/>
                  </a:solidFill>
                  <a:effectLst/>
                  <a:latin typeface="宋体" panose="02010600030101010101" pitchFamily="2" charset="-122"/>
                  <a:ea typeface="宋体" panose="02010600030101010101" pitchFamily="2" charset="-122"/>
                </a:rPr>
                <a:t>存储器</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0" name="Rectangle 38">
              <a:extLst>
                <a:ext uri="{FF2B5EF4-FFF2-40B4-BE49-F238E27FC236}">
                  <a16:creationId xmlns:a16="http://schemas.microsoft.com/office/drawing/2014/main" id="{0C92ECEE-F9F5-9D9B-7579-20E86A3DC2A3}"/>
                </a:ext>
              </a:extLst>
            </p:cNvPr>
            <p:cNvSpPr>
              <a:spLocks noChangeArrowheads="1"/>
            </p:cNvSpPr>
            <p:nvPr/>
          </p:nvSpPr>
          <p:spPr bwMode="auto">
            <a:xfrm>
              <a:off x="7138" y="2425"/>
              <a:ext cx="147"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100" b="0" i="0" u="none" strike="noStrike" cap="none" normalizeH="0" baseline="0" dirty="0">
                  <a:ln>
                    <a:noFill/>
                  </a:ln>
                  <a:solidFill>
                    <a:srgbClr val="0000FF"/>
                  </a:solidFill>
                  <a:effectLst/>
                  <a:latin typeface="宋体" panose="02010600030101010101" pitchFamily="2" charset="-122"/>
                  <a:ea typeface="宋体" panose="02010600030101010101" pitchFamily="2" charset="-122"/>
                </a:rPr>
                <a:t>与门</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1" name="Rectangle 39">
              <a:extLst>
                <a:ext uri="{FF2B5EF4-FFF2-40B4-BE49-F238E27FC236}">
                  <a16:creationId xmlns:a16="http://schemas.microsoft.com/office/drawing/2014/main" id="{3E541D28-69C4-FB52-6EDD-240F56FABCF3}"/>
                </a:ext>
              </a:extLst>
            </p:cNvPr>
            <p:cNvSpPr>
              <a:spLocks noChangeArrowheads="1"/>
            </p:cNvSpPr>
            <p:nvPr/>
          </p:nvSpPr>
          <p:spPr bwMode="auto">
            <a:xfrm>
              <a:off x="7138" y="2543"/>
              <a:ext cx="147"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100" b="0" i="0" u="none" strike="noStrike" cap="none" normalizeH="0" baseline="0">
                  <a:ln>
                    <a:noFill/>
                  </a:ln>
                  <a:solidFill>
                    <a:srgbClr val="0000FF"/>
                  </a:solidFill>
                  <a:effectLst/>
                  <a:latin typeface="宋体" panose="02010600030101010101" pitchFamily="2" charset="-122"/>
                  <a:ea typeface="宋体" panose="02010600030101010101" pitchFamily="2" charset="-122"/>
                </a:rPr>
                <a:t>或门</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4" name="Rectangle 42">
              <a:extLst>
                <a:ext uri="{FF2B5EF4-FFF2-40B4-BE49-F238E27FC236}">
                  <a16:creationId xmlns:a16="http://schemas.microsoft.com/office/drawing/2014/main" id="{8D95DF44-B4D8-D2F9-934D-8D5D69E15495}"/>
                </a:ext>
              </a:extLst>
            </p:cNvPr>
            <p:cNvSpPr>
              <a:spLocks noChangeArrowheads="1"/>
            </p:cNvSpPr>
            <p:nvPr/>
          </p:nvSpPr>
          <p:spPr bwMode="auto">
            <a:xfrm>
              <a:off x="7121" y="2929"/>
              <a:ext cx="192"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1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晶体管</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5" name="Rectangle 43">
              <a:extLst>
                <a:ext uri="{FF2B5EF4-FFF2-40B4-BE49-F238E27FC236}">
                  <a16:creationId xmlns:a16="http://schemas.microsoft.com/office/drawing/2014/main" id="{61EE4083-1B16-4130-DFEE-8C9EE21FAC86}"/>
                </a:ext>
              </a:extLst>
            </p:cNvPr>
            <p:cNvSpPr>
              <a:spLocks noChangeArrowheads="1"/>
            </p:cNvSpPr>
            <p:nvPr/>
          </p:nvSpPr>
          <p:spPr bwMode="auto">
            <a:xfrm>
              <a:off x="7114" y="2824"/>
              <a:ext cx="192"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1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二极管</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6" name="Rectangle 44">
              <a:extLst>
                <a:ext uri="{FF2B5EF4-FFF2-40B4-BE49-F238E27FC236}">
                  <a16:creationId xmlns:a16="http://schemas.microsoft.com/office/drawing/2014/main" id="{D77098E0-F228-E01E-EA83-C239A626166C}"/>
                </a:ext>
              </a:extLst>
            </p:cNvPr>
            <p:cNvSpPr>
              <a:spLocks noChangeArrowheads="1"/>
            </p:cNvSpPr>
            <p:nvPr/>
          </p:nvSpPr>
          <p:spPr bwMode="auto">
            <a:xfrm>
              <a:off x="7181" y="3205"/>
              <a:ext cx="147"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1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电子</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4294642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一</a:t>
            </a:r>
            <a:r>
              <a:rPr lang="en-US" altLang="zh-CN" b="1" dirty="0"/>
              <a:t>. </a:t>
            </a:r>
            <a:r>
              <a:rPr lang="zh-CN" altLang="en-US" b="1" dirty="0"/>
              <a:t>数字逻辑电路基本知识</a:t>
            </a:r>
          </a:p>
        </p:txBody>
      </p:sp>
      <p:sp>
        <p:nvSpPr>
          <p:cNvPr id="3" name="内容占位符 2"/>
          <p:cNvSpPr>
            <a:spLocks noGrp="1"/>
          </p:cNvSpPr>
          <p:nvPr>
            <p:ph idx="1"/>
          </p:nvPr>
        </p:nvSpPr>
        <p:spPr>
          <a:xfrm>
            <a:off x="677334" y="1930400"/>
            <a:ext cx="8596668" cy="3880773"/>
          </a:xfrm>
        </p:spPr>
        <p:txBody>
          <a:bodyPr/>
          <a:lstStyle/>
          <a:p>
            <a:r>
              <a:rPr lang="zh-CN" altLang="en-US" sz="2800" dirty="0"/>
              <a:t>什么是组合逻辑电路？</a:t>
            </a:r>
            <a:endParaRPr lang="en-US" altLang="zh-CN" sz="2800" dirty="0"/>
          </a:p>
          <a:p>
            <a:r>
              <a:rPr lang="zh-CN" altLang="en-US" sz="2800" dirty="0"/>
              <a:t>什么是时序逻辑电路？</a:t>
            </a:r>
            <a:endParaRPr lang="en-US" altLang="zh-CN" sz="2800" dirty="0"/>
          </a:p>
          <a:p>
            <a:pPr marL="0" indent="0">
              <a:buNone/>
            </a:pPr>
            <a:endParaRPr lang="zh-CN" altLang="en-US" dirty="0"/>
          </a:p>
        </p:txBody>
      </p:sp>
    </p:spTree>
    <p:extLst>
      <p:ext uri="{BB962C8B-B14F-4D97-AF65-F5344CB8AC3E}">
        <p14:creationId xmlns:p14="http://schemas.microsoft.com/office/powerpoint/2010/main" val="4159500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4373" y="206355"/>
            <a:ext cx="8596668" cy="1320800"/>
          </a:xfrm>
        </p:spPr>
        <p:txBody>
          <a:bodyPr/>
          <a:lstStyle/>
          <a:p>
            <a:r>
              <a:rPr lang="en-US" altLang="zh-CN" b="1" dirty="0"/>
              <a:t>1 </a:t>
            </a:r>
            <a:r>
              <a:rPr lang="zh-CN" altLang="en-US" b="1" dirty="0"/>
              <a:t>数字逻辑电路</a:t>
            </a:r>
          </a:p>
        </p:txBody>
      </p:sp>
      <p:sp>
        <p:nvSpPr>
          <p:cNvPr id="3" name="内容占位符 2"/>
          <p:cNvSpPr>
            <a:spLocks noGrp="1"/>
          </p:cNvSpPr>
          <p:nvPr>
            <p:ph idx="1"/>
          </p:nvPr>
        </p:nvSpPr>
        <p:spPr>
          <a:xfrm>
            <a:off x="838200" y="1101825"/>
            <a:ext cx="10515600" cy="4940202"/>
          </a:xfrm>
        </p:spPr>
        <p:txBody>
          <a:bodyPr>
            <a:normAutofit/>
          </a:bodyPr>
          <a:lstStyle/>
          <a:p>
            <a:pPr marL="0" indent="457200">
              <a:lnSpc>
                <a:spcPct val="130000"/>
              </a:lnSpc>
              <a:spcAft>
                <a:spcPts val="1000"/>
              </a:spcAft>
              <a:buNone/>
            </a:pPr>
            <a:r>
              <a:rPr lang="zh-CN" altLang="en-US" sz="2800" b="0" i="0" dirty="0">
                <a:solidFill>
                  <a:srgbClr val="333333"/>
                </a:solidFill>
                <a:effectLst/>
                <a:latin typeface="PingFang SC"/>
              </a:rPr>
              <a:t>   数字逻辑电路以‌</a:t>
            </a:r>
            <a:r>
              <a:rPr lang="zh-CN" altLang="en-US" sz="2800" b="1" i="0" dirty="0">
                <a:solidFill>
                  <a:srgbClr val="333333"/>
                </a:solidFill>
                <a:effectLst/>
                <a:latin typeface="PingFang SC"/>
              </a:rPr>
              <a:t>二进制逻辑</a:t>
            </a:r>
            <a:r>
              <a:rPr lang="zh-CN" altLang="en-US" sz="2800" b="0" i="0" dirty="0">
                <a:solidFill>
                  <a:srgbClr val="333333"/>
                </a:solidFill>
                <a:effectLst/>
                <a:latin typeface="PingFang SC"/>
              </a:rPr>
              <a:t>‌为基础，</a:t>
            </a:r>
            <a:r>
              <a:rPr lang="zh-CN" altLang="en-US" sz="2800" dirty="0"/>
              <a:t>是一个可以处理</a:t>
            </a:r>
            <a:r>
              <a:rPr lang="zh-CN" altLang="en-US" sz="2800" b="0" i="0" dirty="0">
                <a:solidFill>
                  <a:srgbClr val="FF0000"/>
                </a:solidFill>
                <a:effectLst/>
                <a:latin typeface="PingFang SC"/>
              </a:rPr>
              <a:t>离散数字信号</a:t>
            </a:r>
            <a:r>
              <a:rPr lang="zh-CN" altLang="en-US" sz="2800" b="0" i="0" dirty="0">
                <a:solidFill>
                  <a:srgbClr val="333333"/>
                </a:solidFill>
                <a:effectLst/>
                <a:latin typeface="PingFang SC"/>
              </a:rPr>
              <a:t>（高电平“</a:t>
            </a:r>
            <a:r>
              <a:rPr lang="en-US" altLang="zh-CN" sz="2800" b="0" i="0" dirty="0">
                <a:solidFill>
                  <a:srgbClr val="333333"/>
                </a:solidFill>
                <a:effectLst/>
                <a:latin typeface="PingFang SC"/>
              </a:rPr>
              <a:t>1”</a:t>
            </a:r>
            <a:r>
              <a:rPr lang="zh-CN" altLang="en-US" sz="2800" b="0" i="0" dirty="0">
                <a:solidFill>
                  <a:srgbClr val="333333"/>
                </a:solidFill>
                <a:effectLst/>
                <a:latin typeface="PingFang SC"/>
              </a:rPr>
              <a:t>、低电平“</a:t>
            </a:r>
            <a:r>
              <a:rPr lang="en-US" altLang="zh-CN" sz="2800" b="0" i="0" dirty="0">
                <a:solidFill>
                  <a:srgbClr val="333333"/>
                </a:solidFill>
                <a:effectLst/>
                <a:latin typeface="PingFang SC"/>
              </a:rPr>
              <a:t>0”</a:t>
            </a:r>
            <a:r>
              <a:rPr lang="zh-CN" altLang="en-US" sz="2800" b="0" i="0" dirty="0">
                <a:solidFill>
                  <a:srgbClr val="333333"/>
                </a:solidFill>
                <a:effectLst/>
                <a:latin typeface="PingFang SC"/>
              </a:rPr>
              <a:t>）</a:t>
            </a:r>
            <a:r>
              <a:rPr lang="zh-CN" altLang="en-US" sz="2800" dirty="0"/>
              <a:t>的网络。</a:t>
            </a:r>
            <a:r>
              <a:rPr lang="zh-CN" altLang="en-US" sz="2800" b="0" i="0" dirty="0">
                <a:solidFill>
                  <a:srgbClr val="333333"/>
                </a:solidFill>
                <a:effectLst/>
                <a:latin typeface="PingFang SC"/>
              </a:rPr>
              <a:t>其核心功能是执行‌</a:t>
            </a:r>
            <a:r>
              <a:rPr lang="zh-CN" altLang="en-US" sz="2800" b="1" i="0" dirty="0">
                <a:solidFill>
                  <a:srgbClr val="333333"/>
                </a:solidFill>
                <a:effectLst/>
                <a:latin typeface="PingFang SC"/>
              </a:rPr>
              <a:t>逻辑运算</a:t>
            </a:r>
            <a:r>
              <a:rPr lang="zh-CN" altLang="en-US" sz="2800" b="0" i="0" dirty="0">
                <a:solidFill>
                  <a:srgbClr val="333333"/>
                </a:solidFill>
                <a:effectLst/>
                <a:latin typeface="PingFang SC"/>
              </a:rPr>
              <a:t>‌和‌</a:t>
            </a:r>
            <a:r>
              <a:rPr lang="zh-CN" altLang="en-US" sz="2800" b="1" i="0" dirty="0">
                <a:solidFill>
                  <a:srgbClr val="333333"/>
                </a:solidFill>
                <a:effectLst/>
                <a:latin typeface="PingFang SC"/>
              </a:rPr>
              <a:t>时序控制</a:t>
            </a:r>
            <a:r>
              <a:rPr lang="zh-CN" altLang="en-US" sz="2800" b="0" i="0" dirty="0">
                <a:solidFill>
                  <a:srgbClr val="333333"/>
                </a:solidFill>
                <a:effectLst/>
                <a:latin typeface="PingFang SC"/>
              </a:rPr>
              <a:t>‌。</a:t>
            </a:r>
            <a:endParaRPr lang="en-US" altLang="zh-CN" dirty="0"/>
          </a:p>
          <a:p>
            <a:pPr lvl="1">
              <a:spcBef>
                <a:spcPts val="1000"/>
              </a:spcBef>
              <a:spcAft>
                <a:spcPts val="1000"/>
              </a:spcAft>
              <a:buFont typeface="Wingdings" panose="05000000000000000000" pitchFamily="2" charset="2"/>
              <a:buChar char="l"/>
            </a:pPr>
            <a:r>
              <a:rPr lang="zh-CN" altLang="en-US" sz="2400" dirty="0"/>
              <a:t>一个或多个离散信号</a:t>
            </a:r>
            <a:r>
              <a:rPr lang="zh-CN" altLang="en-US" sz="2400" dirty="0">
                <a:solidFill>
                  <a:srgbClr val="FF0000"/>
                </a:solidFill>
              </a:rPr>
              <a:t>输入端</a:t>
            </a:r>
            <a:r>
              <a:rPr lang="zh-CN" altLang="en-US" sz="2400" dirty="0"/>
              <a:t>；</a:t>
            </a:r>
            <a:endParaRPr lang="en-US" altLang="zh-CN" sz="2400" dirty="0"/>
          </a:p>
          <a:p>
            <a:pPr lvl="1">
              <a:spcBef>
                <a:spcPts val="1000"/>
              </a:spcBef>
              <a:spcAft>
                <a:spcPts val="1000"/>
              </a:spcAft>
              <a:buFont typeface="Wingdings" panose="05000000000000000000" pitchFamily="2" charset="2"/>
              <a:buChar char="l"/>
            </a:pPr>
            <a:r>
              <a:rPr lang="zh-CN" altLang="en-US" sz="2400" dirty="0"/>
              <a:t>一个或多个离散信号</a:t>
            </a:r>
            <a:r>
              <a:rPr lang="zh-CN" altLang="en-US" sz="2400" dirty="0">
                <a:solidFill>
                  <a:srgbClr val="FF0000"/>
                </a:solidFill>
              </a:rPr>
              <a:t>输出端</a:t>
            </a:r>
            <a:r>
              <a:rPr lang="zh-CN" altLang="en-US" sz="2400" dirty="0"/>
              <a:t>；</a:t>
            </a:r>
            <a:endParaRPr lang="en-US" altLang="zh-CN" sz="2400" dirty="0"/>
          </a:p>
          <a:p>
            <a:pPr lvl="1">
              <a:spcBef>
                <a:spcPts val="1000"/>
              </a:spcBef>
              <a:spcAft>
                <a:spcPts val="1000"/>
              </a:spcAft>
              <a:buFont typeface="Wingdings" panose="05000000000000000000" pitchFamily="2" charset="2"/>
              <a:buChar char="l"/>
            </a:pPr>
            <a:r>
              <a:rPr lang="zh-CN" altLang="en-US" sz="2400" dirty="0"/>
              <a:t>描述输入和输出关系的</a:t>
            </a:r>
            <a:r>
              <a:rPr lang="zh-CN" altLang="en-US" sz="2400" dirty="0">
                <a:solidFill>
                  <a:srgbClr val="FF0000"/>
                </a:solidFill>
              </a:rPr>
              <a:t>功能规范</a:t>
            </a:r>
            <a:r>
              <a:rPr lang="zh-CN" altLang="en-US" sz="2400" dirty="0"/>
              <a:t>；</a:t>
            </a:r>
            <a:endParaRPr lang="en-US" altLang="zh-CN" sz="2400" dirty="0"/>
          </a:p>
          <a:p>
            <a:pPr lvl="1">
              <a:spcBef>
                <a:spcPts val="1000"/>
              </a:spcBef>
              <a:spcAft>
                <a:spcPts val="1000"/>
              </a:spcAft>
              <a:buFont typeface="Wingdings" panose="05000000000000000000" pitchFamily="2" charset="2"/>
              <a:buChar char="l"/>
            </a:pPr>
            <a:r>
              <a:rPr lang="zh-CN" altLang="en-US" sz="2400" dirty="0"/>
              <a:t>描述输入改变时输出响应延迟的</a:t>
            </a:r>
            <a:r>
              <a:rPr lang="zh-CN" altLang="en-US" sz="2400" dirty="0">
                <a:solidFill>
                  <a:srgbClr val="FF0000"/>
                </a:solidFill>
              </a:rPr>
              <a:t>时序规范</a:t>
            </a:r>
            <a:r>
              <a:rPr lang="zh-CN" altLang="en-US" sz="2400" dirty="0"/>
              <a:t>。</a:t>
            </a:r>
            <a:endParaRPr lang="en-US" altLang="zh-CN" sz="2400" dirty="0"/>
          </a:p>
          <a:p>
            <a:pPr marL="0" indent="0">
              <a:buNone/>
            </a:pPr>
            <a:endParaRPr lang="zh-CN" altLang="en-US" dirty="0"/>
          </a:p>
        </p:txBody>
      </p:sp>
      <p:pic>
        <p:nvPicPr>
          <p:cNvPr id="4" name="图片 3"/>
          <p:cNvPicPr>
            <a:picLocks noChangeAspect="1"/>
          </p:cNvPicPr>
          <p:nvPr/>
        </p:nvPicPr>
        <p:blipFill>
          <a:blip r:embed="rId2"/>
          <a:stretch>
            <a:fillRect/>
          </a:stretch>
        </p:blipFill>
        <p:spPr>
          <a:xfrm>
            <a:off x="7297937" y="3275689"/>
            <a:ext cx="4569080" cy="1830602"/>
          </a:xfrm>
          <a:prstGeom prst="rect">
            <a:avLst/>
          </a:prstGeom>
        </p:spPr>
      </p:pic>
    </p:spTree>
    <p:extLst>
      <p:ext uri="{BB962C8B-B14F-4D97-AF65-F5344CB8AC3E}">
        <p14:creationId xmlns:p14="http://schemas.microsoft.com/office/powerpoint/2010/main" val="2629597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0027" y="126587"/>
            <a:ext cx="10515600" cy="820618"/>
          </a:xfrm>
        </p:spPr>
        <p:txBody>
          <a:bodyPr/>
          <a:lstStyle/>
          <a:p>
            <a:r>
              <a:rPr lang="en-US" altLang="zh-CN" b="1" dirty="0"/>
              <a:t>1.1 </a:t>
            </a:r>
            <a:r>
              <a:rPr lang="zh-CN" altLang="en-US" b="1" dirty="0"/>
              <a:t>组合逻辑电路</a:t>
            </a:r>
          </a:p>
        </p:txBody>
      </p:sp>
      <p:sp>
        <p:nvSpPr>
          <p:cNvPr id="3" name="内容占位符 2"/>
          <p:cNvSpPr>
            <a:spLocks noGrp="1"/>
          </p:cNvSpPr>
          <p:nvPr>
            <p:ph idx="1"/>
          </p:nvPr>
        </p:nvSpPr>
        <p:spPr>
          <a:xfrm>
            <a:off x="540027" y="948101"/>
            <a:ext cx="10774793" cy="2143999"/>
          </a:xfrm>
        </p:spPr>
        <p:txBody>
          <a:bodyPr>
            <a:noAutofit/>
          </a:bodyPr>
          <a:lstStyle/>
          <a:p>
            <a:pPr>
              <a:lnSpc>
                <a:spcPct val="110000"/>
              </a:lnSpc>
              <a:spcBef>
                <a:spcPts val="500"/>
              </a:spcBef>
              <a:spcAft>
                <a:spcPts val="500"/>
              </a:spcAft>
            </a:pPr>
            <a:r>
              <a:rPr lang="zh-CN" altLang="en-US" sz="2800" dirty="0"/>
              <a:t>定义：</a:t>
            </a:r>
            <a:r>
              <a:rPr lang="zh-CN" altLang="en-US" sz="2800" dirty="0">
                <a:solidFill>
                  <a:srgbClr val="FF0000"/>
                </a:solidFill>
              </a:rPr>
              <a:t>输出仅仅取决于当前的输入值</a:t>
            </a:r>
            <a:r>
              <a:rPr lang="zh-CN" altLang="en-US" sz="2800" dirty="0"/>
              <a:t>。</a:t>
            </a:r>
            <a:endParaRPr lang="en-US" altLang="zh-CN" sz="2800" dirty="0"/>
          </a:p>
          <a:p>
            <a:pPr>
              <a:lnSpc>
                <a:spcPct val="110000"/>
              </a:lnSpc>
              <a:spcBef>
                <a:spcPts val="500"/>
              </a:spcBef>
              <a:spcAft>
                <a:spcPts val="500"/>
              </a:spcAft>
            </a:pPr>
            <a:r>
              <a:rPr lang="zh-CN" altLang="en-US" sz="2800" dirty="0">
                <a:solidFill>
                  <a:schemeClr val="tx1"/>
                </a:solidFill>
              </a:rPr>
              <a:t>功能规范：</a:t>
            </a:r>
            <a:r>
              <a:rPr lang="zh-CN" altLang="en-US" sz="2800" dirty="0"/>
              <a:t>标识各种输入值的输出值，可以用真值表，布尔表达式或者卡诺图来表示。</a:t>
            </a:r>
            <a:endParaRPr lang="en-US" altLang="zh-CN" sz="2800" dirty="0"/>
          </a:p>
          <a:p>
            <a:pPr>
              <a:lnSpc>
                <a:spcPct val="110000"/>
              </a:lnSpc>
              <a:spcBef>
                <a:spcPts val="500"/>
              </a:spcBef>
              <a:spcAft>
                <a:spcPts val="500"/>
              </a:spcAft>
            </a:pPr>
            <a:r>
              <a:rPr lang="zh-CN" altLang="en-US" sz="2800" dirty="0">
                <a:solidFill>
                  <a:schemeClr val="tx1"/>
                </a:solidFill>
              </a:rPr>
              <a:t>时序规范：</a:t>
            </a:r>
            <a:r>
              <a:rPr lang="zh-CN" altLang="en-US" sz="2800" dirty="0"/>
              <a:t>传输延迟和污染延迟。</a:t>
            </a:r>
          </a:p>
        </p:txBody>
      </p:sp>
      <p:pic>
        <p:nvPicPr>
          <p:cNvPr id="4" name="图片 3"/>
          <p:cNvPicPr>
            <a:picLocks noChangeAspect="1"/>
          </p:cNvPicPr>
          <p:nvPr/>
        </p:nvPicPr>
        <p:blipFill>
          <a:blip r:embed="rId2"/>
          <a:stretch>
            <a:fillRect/>
          </a:stretch>
        </p:blipFill>
        <p:spPr>
          <a:xfrm>
            <a:off x="8036493" y="3704241"/>
            <a:ext cx="3264242" cy="2143999"/>
          </a:xfrm>
          <a:prstGeom prst="rect">
            <a:avLst/>
          </a:prstGeom>
        </p:spPr>
      </p:pic>
      <p:grpSp>
        <p:nvGrpSpPr>
          <p:cNvPr id="18" name="组合 17"/>
          <p:cNvGrpSpPr/>
          <p:nvPr/>
        </p:nvGrpSpPr>
        <p:grpSpPr>
          <a:xfrm>
            <a:off x="1455124" y="3406799"/>
            <a:ext cx="1749287" cy="2738884"/>
            <a:chOff x="1858617" y="4343399"/>
            <a:chExt cx="1749287" cy="2738884"/>
          </a:xfrm>
        </p:grpSpPr>
        <p:sp>
          <p:nvSpPr>
            <p:cNvPr id="8" name="文本框 7"/>
            <p:cNvSpPr txBox="1"/>
            <p:nvPr/>
          </p:nvSpPr>
          <p:spPr>
            <a:xfrm>
              <a:off x="1948070" y="4343399"/>
              <a:ext cx="1252330" cy="369332"/>
            </a:xfrm>
            <a:prstGeom prst="rect">
              <a:avLst/>
            </a:prstGeom>
            <a:noFill/>
          </p:spPr>
          <p:txBody>
            <a:bodyPr wrap="square" rtlCol="0">
              <a:spAutoFit/>
            </a:bodyPr>
            <a:lstStyle/>
            <a:p>
              <a:r>
                <a:rPr lang="en-US" altLang="zh-CN" dirty="0"/>
                <a:t>S  D</a:t>
              </a:r>
              <a:r>
                <a:rPr lang="en-US" altLang="zh-CN" baseline="-25000" dirty="0"/>
                <a:t>1</a:t>
              </a:r>
              <a:r>
                <a:rPr lang="en-US" altLang="zh-CN" dirty="0"/>
                <a:t>  D</a:t>
              </a:r>
              <a:r>
                <a:rPr lang="en-US" altLang="zh-CN" baseline="-25000" dirty="0"/>
                <a:t>0</a:t>
              </a:r>
              <a:endParaRPr lang="zh-CN" altLang="en-US" baseline="-25000" dirty="0"/>
            </a:p>
          </p:txBody>
        </p:sp>
        <p:sp>
          <p:nvSpPr>
            <p:cNvPr id="10" name="文本框 9"/>
            <p:cNvSpPr txBox="1"/>
            <p:nvPr/>
          </p:nvSpPr>
          <p:spPr>
            <a:xfrm>
              <a:off x="1948070" y="4773959"/>
              <a:ext cx="1252330" cy="2308324"/>
            </a:xfrm>
            <a:prstGeom prst="rect">
              <a:avLst/>
            </a:prstGeom>
            <a:noFill/>
          </p:spPr>
          <p:txBody>
            <a:bodyPr wrap="square" rtlCol="0">
              <a:spAutoFit/>
            </a:bodyPr>
            <a:lstStyle/>
            <a:p>
              <a:r>
                <a:rPr lang="en-US" altLang="zh-CN" dirty="0"/>
                <a:t>0   0    0</a:t>
              </a:r>
            </a:p>
            <a:p>
              <a:r>
                <a:rPr lang="en-US" altLang="zh-CN" dirty="0"/>
                <a:t>0   0    1</a:t>
              </a:r>
            </a:p>
            <a:p>
              <a:r>
                <a:rPr lang="en-US" altLang="zh-CN" dirty="0"/>
                <a:t>0   1    0</a:t>
              </a:r>
            </a:p>
            <a:p>
              <a:r>
                <a:rPr lang="en-US" altLang="zh-CN" dirty="0"/>
                <a:t>0   1    1</a:t>
              </a:r>
            </a:p>
            <a:p>
              <a:r>
                <a:rPr lang="en-US" altLang="zh-CN" dirty="0"/>
                <a:t>1   0    0</a:t>
              </a:r>
            </a:p>
            <a:p>
              <a:r>
                <a:rPr lang="en-US" altLang="zh-CN" dirty="0"/>
                <a:t>1   0    1</a:t>
              </a:r>
            </a:p>
            <a:p>
              <a:r>
                <a:rPr lang="en-US" altLang="zh-CN" dirty="0"/>
                <a:t>1   1    0</a:t>
              </a:r>
            </a:p>
            <a:p>
              <a:r>
                <a:rPr lang="en-US" altLang="zh-CN" dirty="0"/>
                <a:t>1   1    1</a:t>
              </a:r>
            </a:p>
          </p:txBody>
        </p:sp>
        <p:sp>
          <p:nvSpPr>
            <p:cNvPr id="12" name="文本框 11"/>
            <p:cNvSpPr txBox="1"/>
            <p:nvPr/>
          </p:nvSpPr>
          <p:spPr>
            <a:xfrm>
              <a:off x="3200400" y="4343399"/>
              <a:ext cx="407504" cy="369332"/>
            </a:xfrm>
            <a:prstGeom prst="rect">
              <a:avLst/>
            </a:prstGeom>
            <a:noFill/>
          </p:spPr>
          <p:txBody>
            <a:bodyPr wrap="square" rtlCol="0">
              <a:spAutoFit/>
            </a:bodyPr>
            <a:lstStyle/>
            <a:p>
              <a:r>
                <a:rPr lang="en-US" altLang="zh-CN" dirty="0"/>
                <a:t>Y</a:t>
              </a:r>
              <a:endParaRPr lang="zh-CN" altLang="en-US" dirty="0"/>
            </a:p>
          </p:txBody>
        </p:sp>
        <p:sp>
          <p:nvSpPr>
            <p:cNvPr id="13" name="文本框 12"/>
            <p:cNvSpPr txBox="1"/>
            <p:nvPr/>
          </p:nvSpPr>
          <p:spPr>
            <a:xfrm>
              <a:off x="3200400" y="4773959"/>
              <a:ext cx="407504" cy="2308324"/>
            </a:xfrm>
            <a:prstGeom prst="rect">
              <a:avLst/>
            </a:prstGeom>
            <a:noFill/>
          </p:spPr>
          <p:txBody>
            <a:bodyPr wrap="square" rtlCol="0">
              <a:spAutoFit/>
            </a:bodyPr>
            <a:lstStyle/>
            <a:p>
              <a:r>
                <a:rPr lang="en-US" altLang="zh-CN" dirty="0"/>
                <a:t>0</a:t>
              </a:r>
            </a:p>
            <a:p>
              <a:r>
                <a:rPr lang="en-US" altLang="zh-CN" dirty="0"/>
                <a:t>1</a:t>
              </a:r>
            </a:p>
            <a:p>
              <a:r>
                <a:rPr lang="en-US" altLang="zh-CN" dirty="0"/>
                <a:t>0</a:t>
              </a:r>
            </a:p>
            <a:p>
              <a:r>
                <a:rPr lang="en-US" altLang="zh-CN" dirty="0"/>
                <a:t>1</a:t>
              </a:r>
            </a:p>
            <a:p>
              <a:r>
                <a:rPr lang="en-US" altLang="zh-CN" dirty="0"/>
                <a:t>0</a:t>
              </a:r>
            </a:p>
            <a:p>
              <a:r>
                <a:rPr lang="en-US" altLang="zh-CN" dirty="0"/>
                <a:t>0</a:t>
              </a:r>
            </a:p>
            <a:p>
              <a:r>
                <a:rPr lang="en-US" altLang="zh-CN" dirty="0"/>
                <a:t>1</a:t>
              </a:r>
            </a:p>
            <a:p>
              <a:r>
                <a:rPr lang="en-US" altLang="zh-CN" dirty="0"/>
                <a:t>1</a:t>
              </a:r>
            </a:p>
          </p:txBody>
        </p:sp>
        <p:cxnSp>
          <p:nvCxnSpPr>
            <p:cNvPr id="15" name="直接连接符 14"/>
            <p:cNvCxnSpPr/>
            <p:nvPr/>
          </p:nvCxnSpPr>
          <p:spPr>
            <a:xfrm>
              <a:off x="1858617" y="4773959"/>
              <a:ext cx="17492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3061252" y="4343399"/>
              <a:ext cx="9939" cy="27388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7" name="组合 46"/>
          <p:cNvGrpSpPr/>
          <p:nvPr/>
        </p:nvGrpSpPr>
        <p:grpSpPr>
          <a:xfrm>
            <a:off x="3780880" y="3731884"/>
            <a:ext cx="3347426" cy="2088713"/>
            <a:chOff x="3565660" y="3437444"/>
            <a:chExt cx="3347426" cy="2088713"/>
          </a:xfrm>
        </p:grpSpPr>
        <p:sp>
          <p:nvSpPr>
            <p:cNvPr id="19" name="矩形 18"/>
            <p:cNvSpPr/>
            <p:nvPr/>
          </p:nvSpPr>
          <p:spPr>
            <a:xfrm>
              <a:off x="4110251" y="3935175"/>
              <a:ext cx="2802835" cy="15909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a:stCxn id="19" idx="1"/>
              <a:endCxn id="19" idx="3"/>
            </p:cNvCxnSpPr>
            <p:nvPr/>
          </p:nvCxnSpPr>
          <p:spPr>
            <a:xfrm>
              <a:off x="4110251" y="4730666"/>
              <a:ext cx="28028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9" idx="0"/>
              <a:endCxn id="19" idx="2"/>
            </p:cNvCxnSpPr>
            <p:nvPr/>
          </p:nvCxnSpPr>
          <p:spPr>
            <a:xfrm>
              <a:off x="5511669" y="3935175"/>
              <a:ext cx="0" cy="15909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4780722" y="3935175"/>
              <a:ext cx="0" cy="15909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6231835" y="3935175"/>
              <a:ext cx="0" cy="15909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3816626" y="3667539"/>
              <a:ext cx="293625" cy="2676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3849559" y="3467109"/>
              <a:ext cx="636945" cy="369332"/>
            </a:xfrm>
            <a:prstGeom prst="rect">
              <a:avLst/>
            </a:prstGeom>
            <a:noFill/>
          </p:spPr>
          <p:txBody>
            <a:bodyPr wrap="square" rtlCol="0">
              <a:spAutoFit/>
            </a:bodyPr>
            <a:lstStyle/>
            <a:p>
              <a:r>
                <a:rPr lang="en-US" altLang="zh-CN" dirty="0"/>
                <a:t>D</a:t>
              </a:r>
              <a:r>
                <a:rPr lang="en-US" altLang="zh-CN" baseline="-25000" dirty="0"/>
                <a:t>1:0</a:t>
              </a:r>
              <a:endParaRPr lang="zh-CN" altLang="en-US" baseline="-25000" dirty="0"/>
            </a:p>
          </p:txBody>
        </p:sp>
        <p:sp>
          <p:nvSpPr>
            <p:cNvPr id="31" name="文本框 30"/>
            <p:cNvSpPr txBox="1"/>
            <p:nvPr/>
          </p:nvSpPr>
          <p:spPr>
            <a:xfrm>
              <a:off x="3625819" y="3707466"/>
              <a:ext cx="285960" cy="369332"/>
            </a:xfrm>
            <a:prstGeom prst="rect">
              <a:avLst/>
            </a:prstGeom>
            <a:noFill/>
          </p:spPr>
          <p:txBody>
            <a:bodyPr wrap="square" rtlCol="0">
              <a:spAutoFit/>
            </a:bodyPr>
            <a:lstStyle/>
            <a:p>
              <a:r>
                <a:rPr lang="en-US" altLang="zh-CN" dirty="0"/>
                <a:t>S</a:t>
              </a:r>
              <a:endParaRPr lang="zh-CN" altLang="en-US" dirty="0"/>
            </a:p>
          </p:txBody>
        </p:sp>
        <p:sp>
          <p:nvSpPr>
            <p:cNvPr id="32" name="文本框 31"/>
            <p:cNvSpPr txBox="1"/>
            <p:nvPr/>
          </p:nvSpPr>
          <p:spPr>
            <a:xfrm>
              <a:off x="3565660" y="3437444"/>
              <a:ext cx="357809" cy="369332"/>
            </a:xfrm>
            <a:prstGeom prst="rect">
              <a:avLst/>
            </a:prstGeom>
            <a:noFill/>
          </p:spPr>
          <p:txBody>
            <a:bodyPr wrap="square" rtlCol="0">
              <a:spAutoFit/>
            </a:bodyPr>
            <a:lstStyle/>
            <a:p>
              <a:r>
                <a:rPr lang="en-US" altLang="zh-CN" dirty="0"/>
                <a:t>Y</a:t>
              </a:r>
              <a:endParaRPr lang="zh-CN" altLang="en-US" dirty="0"/>
            </a:p>
          </p:txBody>
        </p:sp>
        <p:sp>
          <p:nvSpPr>
            <p:cNvPr id="33" name="文本框 32"/>
            <p:cNvSpPr txBox="1"/>
            <p:nvPr/>
          </p:nvSpPr>
          <p:spPr>
            <a:xfrm>
              <a:off x="3776235" y="4218575"/>
              <a:ext cx="365687" cy="374834"/>
            </a:xfrm>
            <a:prstGeom prst="rect">
              <a:avLst/>
            </a:prstGeom>
            <a:noFill/>
          </p:spPr>
          <p:txBody>
            <a:bodyPr wrap="square" rtlCol="0">
              <a:spAutoFit/>
            </a:bodyPr>
            <a:lstStyle/>
            <a:p>
              <a:r>
                <a:rPr lang="en-US" altLang="zh-CN" dirty="0"/>
                <a:t>0</a:t>
              </a:r>
              <a:endParaRPr lang="zh-CN" altLang="en-US" dirty="0"/>
            </a:p>
          </p:txBody>
        </p:sp>
        <p:sp>
          <p:nvSpPr>
            <p:cNvPr id="34" name="文本框 33"/>
            <p:cNvSpPr txBox="1"/>
            <p:nvPr/>
          </p:nvSpPr>
          <p:spPr>
            <a:xfrm>
              <a:off x="3737113" y="5037260"/>
              <a:ext cx="293625" cy="369332"/>
            </a:xfrm>
            <a:prstGeom prst="rect">
              <a:avLst/>
            </a:prstGeom>
            <a:noFill/>
          </p:spPr>
          <p:txBody>
            <a:bodyPr wrap="square" rtlCol="0">
              <a:spAutoFit/>
            </a:bodyPr>
            <a:lstStyle/>
            <a:p>
              <a:r>
                <a:rPr lang="en-US" altLang="zh-CN" dirty="0"/>
                <a:t>1</a:t>
              </a:r>
              <a:endParaRPr lang="zh-CN" altLang="en-US" dirty="0"/>
            </a:p>
          </p:txBody>
        </p:sp>
        <p:sp>
          <p:nvSpPr>
            <p:cNvPr id="35" name="文本框 34"/>
            <p:cNvSpPr txBox="1"/>
            <p:nvPr/>
          </p:nvSpPr>
          <p:spPr>
            <a:xfrm>
              <a:off x="4216886" y="3616691"/>
              <a:ext cx="437322" cy="369332"/>
            </a:xfrm>
            <a:prstGeom prst="rect">
              <a:avLst/>
            </a:prstGeom>
            <a:noFill/>
          </p:spPr>
          <p:txBody>
            <a:bodyPr wrap="square" rtlCol="0">
              <a:spAutoFit/>
            </a:bodyPr>
            <a:lstStyle/>
            <a:p>
              <a:r>
                <a:rPr lang="en-US" altLang="zh-CN" dirty="0"/>
                <a:t>00</a:t>
              </a:r>
              <a:endParaRPr lang="zh-CN" altLang="en-US" dirty="0"/>
            </a:p>
          </p:txBody>
        </p:sp>
        <p:sp>
          <p:nvSpPr>
            <p:cNvPr id="36" name="文本框 35"/>
            <p:cNvSpPr txBox="1"/>
            <p:nvPr/>
          </p:nvSpPr>
          <p:spPr>
            <a:xfrm>
              <a:off x="4896078" y="3616691"/>
              <a:ext cx="437322" cy="369332"/>
            </a:xfrm>
            <a:prstGeom prst="rect">
              <a:avLst/>
            </a:prstGeom>
            <a:noFill/>
          </p:spPr>
          <p:txBody>
            <a:bodyPr wrap="square" rtlCol="0">
              <a:spAutoFit/>
            </a:bodyPr>
            <a:lstStyle/>
            <a:p>
              <a:r>
                <a:rPr lang="en-US" altLang="zh-CN" dirty="0"/>
                <a:t>01</a:t>
              </a:r>
              <a:endParaRPr lang="zh-CN" altLang="en-US" dirty="0"/>
            </a:p>
          </p:txBody>
        </p:sp>
        <p:sp>
          <p:nvSpPr>
            <p:cNvPr id="37" name="文本框 36"/>
            <p:cNvSpPr txBox="1"/>
            <p:nvPr/>
          </p:nvSpPr>
          <p:spPr>
            <a:xfrm>
              <a:off x="5657579" y="3621300"/>
              <a:ext cx="437322" cy="369332"/>
            </a:xfrm>
            <a:prstGeom prst="rect">
              <a:avLst/>
            </a:prstGeom>
            <a:noFill/>
          </p:spPr>
          <p:txBody>
            <a:bodyPr wrap="square" rtlCol="0">
              <a:spAutoFit/>
            </a:bodyPr>
            <a:lstStyle/>
            <a:p>
              <a:r>
                <a:rPr lang="en-US" altLang="zh-CN" dirty="0"/>
                <a:t>11</a:t>
              </a:r>
              <a:endParaRPr lang="zh-CN" altLang="en-US" dirty="0"/>
            </a:p>
          </p:txBody>
        </p:sp>
        <p:sp>
          <p:nvSpPr>
            <p:cNvPr id="38" name="文本框 37"/>
            <p:cNvSpPr txBox="1"/>
            <p:nvPr/>
          </p:nvSpPr>
          <p:spPr>
            <a:xfrm>
              <a:off x="6359288" y="3601486"/>
              <a:ext cx="437322" cy="369332"/>
            </a:xfrm>
            <a:prstGeom prst="rect">
              <a:avLst/>
            </a:prstGeom>
            <a:noFill/>
          </p:spPr>
          <p:txBody>
            <a:bodyPr wrap="square" rtlCol="0">
              <a:spAutoFit/>
            </a:bodyPr>
            <a:lstStyle/>
            <a:p>
              <a:r>
                <a:rPr lang="en-US" altLang="zh-CN" dirty="0"/>
                <a:t>10</a:t>
              </a:r>
              <a:endParaRPr lang="zh-CN" altLang="en-US" dirty="0"/>
            </a:p>
          </p:txBody>
        </p:sp>
        <p:sp>
          <p:nvSpPr>
            <p:cNvPr id="39" name="文本框 38"/>
            <p:cNvSpPr txBox="1"/>
            <p:nvPr/>
          </p:nvSpPr>
          <p:spPr>
            <a:xfrm>
              <a:off x="4216886" y="4187227"/>
              <a:ext cx="437322" cy="369332"/>
            </a:xfrm>
            <a:prstGeom prst="rect">
              <a:avLst/>
            </a:prstGeom>
            <a:noFill/>
          </p:spPr>
          <p:txBody>
            <a:bodyPr wrap="square" rtlCol="0">
              <a:spAutoFit/>
            </a:bodyPr>
            <a:lstStyle/>
            <a:p>
              <a:pPr algn="ctr"/>
              <a:r>
                <a:rPr lang="en-US" altLang="zh-CN" dirty="0"/>
                <a:t>0</a:t>
              </a:r>
              <a:endParaRPr lang="zh-CN" altLang="en-US" dirty="0"/>
            </a:p>
          </p:txBody>
        </p:sp>
        <p:sp>
          <p:nvSpPr>
            <p:cNvPr id="40" name="文本框 39"/>
            <p:cNvSpPr txBox="1"/>
            <p:nvPr/>
          </p:nvSpPr>
          <p:spPr>
            <a:xfrm>
              <a:off x="4267843" y="4982718"/>
              <a:ext cx="437322" cy="369332"/>
            </a:xfrm>
            <a:prstGeom prst="rect">
              <a:avLst/>
            </a:prstGeom>
            <a:noFill/>
          </p:spPr>
          <p:txBody>
            <a:bodyPr wrap="square" rtlCol="0">
              <a:spAutoFit/>
            </a:bodyPr>
            <a:lstStyle/>
            <a:p>
              <a:pPr algn="ctr"/>
              <a:r>
                <a:rPr lang="en-US" altLang="zh-CN" dirty="0"/>
                <a:t>0</a:t>
              </a:r>
              <a:endParaRPr lang="zh-CN" altLang="en-US" dirty="0"/>
            </a:p>
          </p:txBody>
        </p:sp>
        <p:sp>
          <p:nvSpPr>
            <p:cNvPr id="41" name="文本框 40"/>
            <p:cNvSpPr txBox="1"/>
            <p:nvPr/>
          </p:nvSpPr>
          <p:spPr>
            <a:xfrm>
              <a:off x="4904963" y="4199102"/>
              <a:ext cx="437322" cy="369332"/>
            </a:xfrm>
            <a:prstGeom prst="rect">
              <a:avLst/>
            </a:prstGeom>
            <a:noFill/>
          </p:spPr>
          <p:txBody>
            <a:bodyPr wrap="square" rtlCol="0">
              <a:spAutoFit/>
            </a:bodyPr>
            <a:lstStyle/>
            <a:p>
              <a:pPr algn="ctr"/>
              <a:r>
                <a:rPr lang="en-US" altLang="zh-CN" dirty="0"/>
                <a:t>1</a:t>
              </a:r>
              <a:endParaRPr lang="zh-CN" altLang="en-US" dirty="0"/>
            </a:p>
          </p:txBody>
        </p:sp>
        <p:sp>
          <p:nvSpPr>
            <p:cNvPr id="42" name="文本框 41"/>
            <p:cNvSpPr txBox="1"/>
            <p:nvPr/>
          </p:nvSpPr>
          <p:spPr>
            <a:xfrm>
              <a:off x="5621000" y="4224077"/>
              <a:ext cx="437322" cy="369332"/>
            </a:xfrm>
            <a:prstGeom prst="rect">
              <a:avLst/>
            </a:prstGeom>
            <a:noFill/>
          </p:spPr>
          <p:txBody>
            <a:bodyPr wrap="square" rtlCol="0">
              <a:spAutoFit/>
            </a:bodyPr>
            <a:lstStyle/>
            <a:p>
              <a:pPr algn="ctr"/>
              <a:r>
                <a:rPr lang="en-US" altLang="zh-CN" dirty="0"/>
                <a:t>1</a:t>
              </a:r>
              <a:endParaRPr lang="zh-CN" altLang="en-US" dirty="0"/>
            </a:p>
          </p:txBody>
        </p:sp>
        <p:sp>
          <p:nvSpPr>
            <p:cNvPr id="43" name="文本框 42"/>
            <p:cNvSpPr txBox="1"/>
            <p:nvPr/>
          </p:nvSpPr>
          <p:spPr>
            <a:xfrm>
              <a:off x="6367373" y="4221326"/>
              <a:ext cx="437322" cy="369332"/>
            </a:xfrm>
            <a:prstGeom prst="rect">
              <a:avLst/>
            </a:prstGeom>
            <a:noFill/>
          </p:spPr>
          <p:txBody>
            <a:bodyPr wrap="square" rtlCol="0">
              <a:spAutoFit/>
            </a:bodyPr>
            <a:lstStyle/>
            <a:p>
              <a:pPr algn="ctr"/>
              <a:r>
                <a:rPr lang="en-US" altLang="zh-CN" dirty="0"/>
                <a:t>0</a:t>
              </a:r>
              <a:endParaRPr lang="zh-CN" altLang="en-US" dirty="0"/>
            </a:p>
          </p:txBody>
        </p:sp>
        <p:sp>
          <p:nvSpPr>
            <p:cNvPr id="44" name="文本框 43"/>
            <p:cNvSpPr txBox="1"/>
            <p:nvPr/>
          </p:nvSpPr>
          <p:spPr>
            <a:xfrm>
              <a:off x="4844314" y="4979780"/>
              <a:ext cx="437322" cy="369332"/>
            </a:xfrm>
            <a:prstGeom prst="rect">
              <a:avLst/>
            </a:prstGeom>
            <a:noFill/>
          </p:spPr>
          <p:txBody>
            <a:bodyPr wrap="square" rtlCol="0">
              <a:spAutoFit/>
            </a:bodyPr>
            <a:lstStyle/>
            <a:p>
              <a:pPr algn="ctr"/>
              <a:r>
                <a:rPr lang="en-US" altLang="zh-CN" dirty="0"/>
                <a:t>0</a:t>
              </a:r>
              <a:endParaRPr lang="zh-CN" altLang="en-US" dirty="0"/>
            </a:p>
          </p:txBody>
        </p:sp>
        <p:sp>
          <p:nvSpPr>
            <p:cNvPr id="45" name="文本框 44"/>
            <p:cNvSpPr txBox="1"/>
            <p:nvPr/>
          </p:nvSpPr>
          <p:spPr>
            <a:xfrm>
              <a:off x="5609669" y="4964111"/>
              <a:ext cx="437322" cy="369332"/>
            </a:xfrm>
            <a:prstGeom prst="rect">
              <a:avLst/>
            </a:prstGeom>
            <a:noFill/>
          </p:spPr>
          <p:txBody>
            <a:bodyPr wrap="square" rtlCol="0">
              <a:spAutoFit/>
            </a:bodyPr>
            <a:lstStyle/>
            <a:p>
              <a:pPr algn="ctr"/>
              <a:r>
                <a:rPr lang="en-US" altLang="zh-CN" dirty="0"/>
                <a:t>1</a:t>
              </a:r>
              <a:endParaRPr lang="zh-CN" altLang="en-US" dirty="0"/>
            </a:p>
          </p:txBody>
        </p:sp>
        <p:sp>
          <p:nvSpPr>
            <p:cNvPr id="46" name="文本框 45"/>
            <p:cNvSpPr txBox="1"/>
            <p:nvPr/>
          </p:nvSpPr>
          <p:spPr>
            <a:xfrm>
              <a:off x="6288899" y="4979780"/>
              <a:ext cx="437322" cy="369332"/>
            </a:xfrm>
            <a:prstGeom prst="rect">
              <a:avLst/>
            </a:prstGeom>
            <a:noFill/>
          </p:spPr>
          <p:txBody>
            <a:bodyPr wrap="square" rtlCol="0">
              <a:spAutoFit/>
            </a:bodyPr>
            <a:lstStyle/>
            <a:p>
              <a:pPr algn="ctr"/>
              <a:r>
                <a:rPr lang="en-US" altLang="zh-CN" dirty="0"/>
                <a:t>1</a:t>
              </a:r>
              <a:endParaRPr lang="zh-CN" altLang="en-US" dirty="0"/>
            </a:p>
          </p:txBody>
        </p:sp>
      </p:grpSp>
      <p:grpSp>
        <p:nvGrpSpPr>
          <p:cNvPr id="51" name="组合 50"/>
          <p:cNvGrpSpPr/>
          <p:nvPr/>
        </p:nvGrpSpPr>
        <p:grpSpPr>
          <a:xfrm>
            <a:off x="8395305" y="5723210"/>
            <a:ext cx="9491710" cy="737171"/>
            <a:chOff x="4210465" y="5561378"/>
            <a:chExt cx="9491710" cy="737171"/>
          </a:xfrm>
        </p:grpSpPr>
        <p:sp>
          <p:nvSpPr>
            <p:cNvPr id="48" name="文本框 47"/>
            <p:cNvSpPr txBox="1"/>
            <p:nvPr/>
          </p:nvSpPr>
          <p:spPr>
            <a:xfrm>
              <a:off x="4210465" y="5774635"/>
              <a:ext cx="2584299" cy="369332"/>
            </a:xfrm>
            <a:prstGeom prst="rect">
              <a:avLst/>
            </a:prstGeom>
            <a:noFill/>
          </p:spPr>
          <p:txBody>
            <a:bodyPr wrap="square" rtlCol="0">
              <a:spAutoFit/>
            </a:bodyPr>
            <a:lstStyle/>
            <a:p>
              <a:r>
                <a:rPr lang="en-US" altLang="zh-CN" dirty="0"/>
                <a:t>Y=D</a:t>
              </a:r>
              <a:r>
                <a:rPr lang="en-US" altLang="zh-CN" baseline="-25000" dirty="0"/>
                <a:t>0   </a:t>
              </a:r>
              <a:r>
                <a:rPr lang="en-US" altLang="zh-CN" dirty="0"/>
                <a:t>+D</a:t>
              </a:r>
              <a:r>
                <a:rPr lang="en-US" altLang="zh-CN" baseline="-25000" dirty="0"/>
                <a:t>1</a:t>
              </a:r>
              <a:r>
                <a:rPr lang="en-US" altLang="zh-CN" dirty="0"/>
                <a:t>S</a:t>
              </a:r>
              <a:endParaRPr lang="zh-CN" altLang="en-US" dirty="0"/>
            </a:p>
          </p:txBody>
        </p:sp>
        <p:pic>
          <p:nvPicPr>
            <p:cNvPr id="50" name="图片 49"/>
            <p:cNvPicPr>
              <a:picLocks noChangeAspect="1"/>
            </p:cNvPicPr>
            <p:nvPr/>
          </p:nvPicPr>
          <p:blipFill>
            <a:blip r:embed="rId3"/>
            <a:stretch>
              <a:fillRect/>
            </a:stretch>
          </p:blipFill>
          <p:spPr>
            <a:xfrm>
              <a:off x="4823389" y="5561378"/>
              <a:ext cx="8878786" cy="737171"/>
            </a:xfrm>
            <a:prstGeom prst="rect">
              <a:avLst/>
            </a:prstGeom>
          </p:spPr>
        </p:pic>
      </p:grpSp>
    </p:spTree>
    <p:extLst>
      <p:ext uri="{BB962C8B-B14F-4D97-AF65-F5344CB8AC3E}">
        <p14:creationId xmlns:p14="http://schemas.microsoft.com/office/powerpoint/2010/main" val="3321527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236794-4ACB-6BE4-F2C1-3B21E7FF66D0}"/>
              </a:ext>
            </a:extLst>
          </p:cNvPr>
          <p:cNvSpPr>
            <a:spLocks noGrp="1"/>
          </p:cNvSpPr>
          <p:nvPr>
            <p:ph type="title"/>
          </p:nvPr>
        </p:nvSpPr>
        <p:spPr>
          <a:xfrm>
            <a:off x="677334" y="40506"/>
            <a:ext cx="8596668" cy="783022"/>
          </a:xfrm>
        </p:spPr>
        <p:txBody>
          <a:bodyPr/>
          <a:lstStyle/>
          <a:p>
            <a:r>
              <a:rPr lang="zh-CN" altLang="en-US" dirty="0"/>
              <a:t>时序规范</a:t>
            </a:r>
          </a:p>
        </p:txBody>
      </p:sp>
      <p:sp>
        <p:nvSpPr>
          <p:cNvPr id="3" name="内容占位符 2">
            <a:extLst>
              <a:ext uri="{FF2B5EF4-FFF2-40B4-BE49-F238E27FC236}">
                <a16:creationId xmlns:a16="http://schemas.microsoft.com/office/drawing/2014/main" id="{359F0406-C858-B550-472C-F47A9DF761AE}"/>
              </a:ext>
            </a:extLst>
          </p:cNvPr>
          <p:cNvSpPr>
            <a:spLocks noGrp="1"/>
          </p:cNvSpPr>
          <p:nvPr>
            <p:ph idx="1"/>
          </p:nvPr>
        </p:nvSpPr>
        <p:spPr>
          <a:xfrm>
            <a:off x="677334" y="988234"/>
            <a:ext cx="11278020" cy="5509117"/>
          </a:xfrm>
        </p:spPr>
        <p:txBody>
          <a:bodyPr/>
          <a:lstStyle/>
          <a:p>
            <a:pPr algn="l">
              <a:lnSpc>
                <a:spcPts val="2250"/>
              </a:lnSpc>
              <a:spcBef>
                <a:spcPts val="825"/>
              </a:spcBef>
              <a:spcAft>
                <a:spcPts val="450"/>
              </a:spcAft>
              <a:buNone/>
            </a:pPr>
            <a:r>
              <a:rPr lang="en-US" altLang="zh-CN" sz="2400" dirty="0"/>
              <a:t>1. </a:t>
            </a:r>
            <a:r>
              <a:rPr lang="zh-CN" altLang="en-US" sz="2800" b="1" dirty="0"/>
              <a:t>传输延迟（</a:t>
            </a:r>
            <a:r>
              <a:rPr lang="en-US" altLang="zh-CN" sz="2800" b="1" dirty="0"/>
              <a:t>Propagation Delay, </a:t>
            </a:r>
            <a:r>
              <a:rPr lang="en-US" altLang="zh-CN" sz="2800" b="1" dirty="0" err="1"/>
              <a:t>t</a:t>
            </a:r>
            <a:r>
              <a:rPr lang="en-US" altLang="zh-CN" sz="2800" b="1" baseline="-25000" dirty="0" err="1"/>
              <a:t>pd</a:t>
            </a:r>
            <a:r>
              <a:rPr lang="zh-CN" altLang="en-US" sz="2800" b="1" dirty="0"/>
              <a:t>​）</a:t>
            </a:r>
            <a:r>
              <a:rPr lang="zh-CN" altLang="en-US" sz="2800" dirty="0"/>
              <a:t>‌</a:t>
            </a:r>
          </a:p>
          <a:p>
            <a:pPr algn="l">
              <a:lnSpc>
                <a:spcPts val="2100"/>
              </a:lnSpc>
              <a:spcBef>
                <a:spcPts val="450"/>
              </a:spcBef>
              <a:spcAft>
                <a:spcPts val="450"/>
              </a:spcAft>
              <a:buFont typeface="Arial" panose="020B0604020202020204" pitchFamily="34" charset="0"/>
              <a:buChar char="•"/>
            </a:pPr>
            <a:r>
              <a:rPr lang="zh-CN" altLang="en-US" sz="2400" dirty="0"/>
              <a:t>‌定义‌：输入变化到</a:t>
            </a:r>
            <a:r>
              <a:rPr lang="zh-CN" altLang="en-US" sz="2400" dirty="0">
                <a:solidFill>
                  <a:srgbClr val="FF0000"/>
                </a:solidFill>
              </a:rPr>
              <a:t>输出稳定</a:t>
            </a:r>
            <a:r>
              <a:rPr lang="zh-CN" altLang="en-US" sz="2400" dirty="0"/>
              <a:t>为正确值所需的最长时间。</a:t>
            </a:r>
            <a:endParaRPr lang="en-US" altLang="zh-CN" sz="2400" dirty="0"/>
          </a:p>
          <a:p>
            <a:pPr algn="l">
              <a:lnSpc>
                <a:spcPts val="2100"/>
              </a:lnSpc>
              <a:spcBef>
                <a:spcPts val="450"/>
              </a:spcBef>
              <a:spcAft>
                <a:spcPts val="450"/>
              </a:spcAft>
              <a:buFont typeface="Arial" panose="020B0604020202020204" pitchFamily="34" charset="0"/>
              <a:buChar char="•"/>
            </a:pPr>
            <a:r>
              <a:rPr lang="zh-CN" altLang="en-US" sz="2400" dirty="0"/>
              <a:t>传输延迟由</a:t>
            </a:r>
            <a:r>
              <a:rPr lang="zh-CN" altLang="en-US" sz="2400" b="0" i="0" dirty="0">
                <a:solidFill>
                  <a:srgbClr val="333333"/>
                </a:solidFill>
                <a:effectLst/>
                <a:latin typeface="PingFang SC"/>
              </a:rPr>
              <a:t>信号从输入到输出传输过程中，‌</a:t>
            </a:r>
            <a:r>
              <a:rPr lang="zh-CN" altLang="en-US" sz="2400" i="0" dirty="0">
                <a:solidFill>
                  <a:srgbClr val="333333"/>
                </a:solidFill>
                <a:effectLst/>
                <a:latin typeface="PingFang SC"/>
              </a:rPr>
              <a:t>总延迟</a:t>
            </a:r>
            <a:r>
              <a:rPr lang="zh-CN" altLang="en-US" sz="2400" b="1" i="0" dirty="0">
                <a:solidFill>
                  <a:srgbClr val="FF0000"/>
                </a:solidFill>
                <a:effectLst/>
                <a:latin typeface="PingFang SC"/>
              </a:rPr>
              <a:t>最长的路径</a:t>
            </a:r>
            <a:r>
              <a:rPr lang="zh-CN" altLang="en-US" sz="2400" i="0" dirty="0">
                <a:solidFill>
                  <a:schemeClr val="tx1"/>
                </a:solidFill>
                <a:effectLst/>
                <a:latin typeface="PingFang SC"/>
              </a:rPr>
              <a:t>（</a:t>
            </a:r>
            <a:r>
              <a:rPr lang="en-US" altLang="zh-CN" sz="2400" dirty="0">
                <a:solidFill>
                  <a:schemeClr val="tx1"/>
                </a:solidFill>
              </a:rPr>
              <a:t>Critical path</a:t>
            </a:r>
            <a:r>
              <a:rPr lang="zh-CN" altLang="en-US" sz="2400" dirty="0">
                <a:solidFill>
                  <a:schemeClr val="tx1"/>
                </a:solidFill>
              </a:rPr>
              <a:t>）</a:t>
            </a:r>
            <a:r>
              <a:rPr lang="zh-CN" altLang="en-US" sz="2400" dirty="0"/>
              <a:t>决定。</a:t>
            </a:r>
          </a:p>
          <a:p>
            <a:pPr marL="0" indent="0" algn="l">
              <a:lnSpc>
                <a:spcPct val="110000"/>
              </a:lnSpc>
              <a:spcBef>
                <a:spcPts val="450"/>
              </a:spcBef>
              <a:spcAft>
                <a:spcPts val="450"/>
              </a:spcAft>
              <a:buNone/>
            </a:pPr>
            <a:r>
              <a:rPr lang="en-US" altLang="zh-CN" sz="2400" dirty="0"/>
              <a:t>2. </a:t>
            </a:r>
            <a:r>
              <a:rPr lang="zh-CN" altLang="en-US" sz="2800" b="1" dirty="0"/>
              <a:t>污染延迟（</a:t>
            </a:r>
            <a:r>
              <a:rPr lang="en-US" altLang="zh-CN" sz="2800" b="1" dirty="0"/>
              <a:t>Contamination Delay, </a:t>
            </a:r>
            <a:r>
              <a:rPr lang="en-US" altLang="zh-CN" sz="2800" b="1" dirty="0" err="1"/>
              <a:t>t</a:t>
            </a:r>
            <a:r>
              <a:rPr lang="en-US" altLang="zh-CN" sz="2800" b="1" baseline="-25000" dirty="0" err="1"/>
              <a:t>cd</a:t>
            </a:r>
            <a:r>
              <a:rPr lang="zh-CN" altLang="en-US" sz="2800" b="1" dirty="0"/>
              <a:t>）‌</a:t>
            </a:r>
          </a:p>
          <a:p>
            <a:pPr algn="l">
              <a:lnSpc>
                <a:spcPts val="2100"/>
              </a:lnSpc>
              <a:spcBef>
                <a:spcPts val="450"/>
              </a:spcBef>
              <a:spcAft>
                <a:spcPts val="450"/>
              </a:spcAft>
              <a:buFont typeface="Arial" panose="020B0604020202020204" pitchFamily="34" charset="0"/>
              <a:buChar char="•"/>
            </a:pPr>
            <a:r>
              <a:rPr lang="zh-CN" altLang="en-US" sz="2400" dirty="0"/>
              <a:t>‌定义‌：输入变化后，</a:t>
            </a:r>
            <a:r>
              <a:rPr lang="zh-CN" altLang="en-US" sz="2400" dirty="0">
                <a:solidFill>
                  <a:srgbClr val="FF0000"/>
                </a:solidFill>
              </a:rPr>
              <a:t>输出开始改变</a:t>
            </a:r>
            <a:r>
              <a:rPr lang="zh-CN" altLang="en-US" sz="2400" dirty="0"/>
              <a:t>所需的最短时间。</a:t>
            </a:r>
            <a:endParaRPr lang="en-US" altLang="zh-CN" sz="2400" dirty="0"/>
          </a:p>
          <a:p>
            <a:pPr algn="l">
              <a:lnSpc>
                <a:spcPts val="2100"/>
              </a:lnSpc>
              <a:spcBef>
                <a:spcPts val="450"/>
              </a:spcBef>
              <a:spcAft>
                <a:spcPts val="450"/>
              </a:spcAft>
              <a:buFont typeface="Arial" panose="020B0604020202020204" pitchFamily="34" charset="0"/>
              <a:buChar char="•"/>
            </a:pPr>
            <a:r>
              <a:rPr lang="zh-CN" altLang="en-US" sz="2400" dirty="0"/>
              <a:t>污染延迟由</a:t>
            </a:r>
            <a:r>
              <a:rPr lang="zh-CN" altLang="en-US" sz="2400" b="1" dirty="0">
                <a:solidFill>
                  <a:srgbClr val="FF0000"/>
                </a:solidFill>
              </a:rPr>
              <a:t>最短路径</a:t>
            </a:r>
            <a:r>
              <a:rPr lang="zh-CN" altLang="en-US" sz="2400" dirty="0">
                <a:solidFill>
                  <a:schemeClr val="tx1"/>
                </a:solidFill>
              </a:rPr>
              <a:t>（</a:t>
            </a:r>
            <a:r>
              <a:rPr lang="en-US" altLang="zh-CN" sz="2400" dirty="0">
                <a:solidFill>
                  <a:schemeClr val="tx1"/>
                </a:solidFill>
              </a:rPr>
              <a:t>Short Path</a:t>
            </a:r>
            <a:r>
              <a:rPr lang="zh-CN" altLang="en-US" sz="2400" dirty="0">
                <a:solidFill>
                  <a:schemeClr val="tx1"/>
                </a:solidFill>
              </a:rPr>
              <a:t>）</a:t>
            </a:r>
            <a:r>
              <a:rPr lang="zh-CN" altLang="en-US" sz="2400" dirty="0"/>
              <a:t>决定。</a:t>
            </a:r>
          </a:p>
        </p:txBody>
      </p:sp>
      <p:pic>
        <p:nvPicPr>
          <p:cNvPr id="5" name="图片 4">
            <a:extLst>
              <a:ext uri="{FF2B5EF4-FFF2-40B4-BE49-F238E27FC236}">
                <a16:creationId xmlns:a16="http://schemas.microsoft.com/office/drawing/2014/main" id="{05196ECC-3AFF-BCA0-383B-017F3B995E16}"/>
              </a:ext>
            </a:extLst>
          </p:cNvPr>
          <p:cNvPicPr>
            <a:picLocks noChangeAspect="1"/>
          </p:cNvPicPr>
          <p:nvPr/>
        </p:nvPicPr>
        <p:blipFill>
          <a:blip r:embed="rId2"/>
          <a:stretch>
            <a:fillRect/>
          </a:stretch>
        </p:blipFill>
        <p:spPr>
          <a:xfrm>
            <a:off x="3805267" y="3954936"/>
            <a:ext cx="4581466" cy="2346901"/>
          </a:xfrm>
          <a:prstGeom prst="rect">
            <a:avLst/>
          </a:prstGeom>
        </p:spPr>
      </p:pic>
    </p:spTree>
    <p:extLst>
      <p:ext uri="{BB962C8B-B14F-4D97-AF65-F5344CB8AC3E}">
        <p14:creationId xmlns:p14="http://schemas.microsoft.com/office/powerpoint/2010/main" val="856322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7073" y="133467"/>
            <a:ext cx="11231217" cy="857388"/>
          </a:xfrm>
        </p:spPr>
        <p:txBody>
          <a:bodyPr/>
          <a:lstStyle/>
          <a:p>
            <a:r>
              <a:rPr lang="en-US" altLang="zh-CN" b="1" dirty="0"/>
              <a:t>1.2 </a:t>
            </a:r>
            <a:r>
              <a:rPr lang="zh-CN" altLang="en-US" b="1" dirty="0"/>
              <a:t>时序逻辑电路</a:t>
            </a:r>
          </a:p>
        </p:txBody>
      </p:sp>
      <p:sp>
        <p:nvSpPr>
          <p:cNvPr id="3" name="内容占位符 2"/>
          <p:cNvSpPr>
            <a:spLocks noGrp="1"/>
          </p:cNvSpPr>
          <p:nvPr>
            <p:ph idx="1"/>
          </p:nvPr>
        </p:nvSpPr>
        <p:spPr>
          <a:xfrm>
            <a:off x="196721" y="1144993"/>
            <a:ext cx="11551920" cy="5416010"/>
          </a:xfrm>
        </p:spPr>
        <p:txBody>
          <a:bodyPr>
            <a:normAutofit lnSpcReduction="10000"/>
          </a:bodyPr>
          <a:lstStyle/>
          <a:p>
            <a:pPr marL="0" indent="457200">
              <a:lnSpc>
                <a:spcPct val="120000"/>
              </a:lnSpc>
              <a:spcBef>
                <a:spcPts val="500"/>
              </a:spcBef>
              <a:spcAft>
                <a:spcPts val="500"/>
              </a:spcAft>
              <a:buNone/>
            </a:pPr>
            <a:r>
              <a:rPr lang="zh-CN" altLang="en-US" sz="2400" dirty="0"/>
              <a:t>  定义：</a:t>
            </a:r>
            <a:r>
              <a:rPr lang="zh-CN" altLang="en-US" sz="2400" dirty="0">
                <a:solidFill>
                  <a:srgbClr val="FF0000"/>
                </a:solidFill>
              </a:rPr>
              <a:t>输出取决于当前的输入值和</a:t>
            </a:r>
            <a:r>
              <a:rPr lang="zh-CN" altLang="en-US" sz="2400" b="1" dirty="0">
                <a:solidFill>
                  <a:srgbClr val="FF0000"/>
                </a:solidFill>
              </a:rPr>
              <a:t>电路的历史状态</a:t>
            </a:r>
            <a:r>
              <a:rPr lang="zh-CN" altLang="en-US" sz="2400" dirty="0"/>
              <a:t>。一般结构如图所示，由</a:t>
            </a:r>
            <a:r>
              <a:rPr lang="zh-CN" altLang="en-US" sz="2400" dirty="0">
                <a:solidFill>
                  <a:srgbClr val="FF0000"/>
                </a:solidFill>
              </a:rPr>
              <a:t>组合逻辑电路</a:t>
            </a:r>
            <a:r>
              <a:rPr lang="zh-CN" altLang="en-US" sz="2400" dirty="0"/>
              <a:t>和</a:t>
            </a:r>
            <a:r>
              <a:rPr lang="zh-CN" altLang="en-US" sz="2400" dirty="0">
                <a:solidFill>
                  <a:srgbClr val="FF0000"/>
                </a:solidFill>
              </a:rPr>
              <a:t>存储电路</a:t>
            </a:r>
            <a:r>
              <a:rPr lang="zh-CN" altLang="en-US" sz="2400" dirty="0"/>
              <a:t>组成。</a:t>
            </a:r>
            <a:endParaRPr lang="en-US" altLang="zh-CN" sz="2400" b="1" i="0" dirty="0">
              <a:solidFill>
                <a:srgbClr val="333333"/>
              </a:solidFill>
              <a:effectLst/>
              <a:latin typeface="PingFang SC"/>
            </a:endParaRPr>
          </a:p>
          <a:p>
            <a:pPr marL="857250" lvl="1" indent="-457200">
              <a:lnSpc>
                <a:spcPct val="110000"/>
              </a:lnSpc>
              <a:spcBef>
                <a:spcPts val="450"/>
              </a:spcBef>
              <a:spcAft>
                <a:spcPts val="450"/>
              </a:spcAft>
              <a:buFont typeface="+mj-lt"/>
              <a:buAutoNum type="arabicPeriod"/>
            </a:pPr>
            <a:r>
              <a:rPr lang="zh-CN" altLang="en-US" sz="2400" b="1" i="0" dirty="0">
                <a:solidFill>
                  <a:srgbClr val="333333"/>
                </a:solidFill>
                <a:effectLst/>
                <a:latin typeface="PingFang SC"/>
              </a:rPr>
              <a:t>组合逻辑电路</a:t>
            </a:r>
            <a:r>
              <a:rPr lang="zh-CN" altLang="en-US" sz="2400" b="0" i="0" dirty="0">
                <a:solidFill>
                  <a:srgbClr val="333333"/>
                </a:solidFill>
                <a:effectLst/>
                <a:latin typeface="PingFang SC"/>
              </a:rPr>
              <a:t>‌：</a:t>
            </a:r>
            <a:br>
              <a:rPr lang="zh-CN" altLang="en-US" sz="2400" b="0" i="0" dirty="0">
                <a:solidFill>
                  <a:srgbClr val="333333"/>
                </a:solidFill>
                <a:effectLst/>
                <a:latin typeface="PingFang SC"/>
              </a:rPr>
            </a:br>
            <a:r>
              <a:rPr lang="zh-CN" altLang="en-US" sz="2400" b="0" i="0" dirty="0">
                <a:solidFill>
                  <a:srgbClr val="333333"/>
                </a:solidFill>
                <a:effectLst/>
                <a:latin typeface="PingFang SC"/>
              </a:rPr>
              <a:t>处理当前输入和当前状态，生成输出和下一状态。</a:t>
            </a:r>
          </a:p>
          <a:p>
            <a:pPr marL="857250" lvl="1" indent="-457200">
              <a:lnSpc>
                <a:spcPct val="110000"/>
              </a:lnSpc>
              <a:spcBef>
                <a:spcPts val="450"/>
              </a:spcBef>
              <a:spcAft>
                <a:spcPts val="450"/>
              </a:spcAft>
              <a:buFont typeface="+mj-lt"/>
              <a:buAutoNum type="arabicPeriod"/>
            </a:pPr>
            <a:r>
              <a:rPr lang="zh-CN" altLang="en-US" sz="2400" b="1" dirty="0">
                <a:solidFill>
                  <a:srgbClr val="333333"/>
                </a:solidFill>
                <a:latin typeface="PingFang SC"/>
              </a:rPr>
              <a:t>存储电路‌：</a:t>
            </a:r>
            <a:br>
              <a:rPr lang="zh-CN" altLang="en-US" sz="2400" b="0" i="0" dirty="0">
                <a:solidFill>
                  <a:srgbClr val="333333"/>
                </a:solidFill>
                <a:effectLst/>
                <a:latin typeface="PingFang SC"/>
              </a:rPr>
            </a:br>
            <a:r>
              <a:rPr lang="zh-CN" altLang="en-US" sz="2400" b="0" i="0" dirty="0">
                <a:solidFill>
                  <a:srgbClr val="333333"/>
                </a:solidFill>
                <a:effectLst/>
                <a:latin typeface="PingFang SC"/>
              </a:rPr>
              <a:t>在时钟控制下</a:t>
            </a:r>
            <a:r>
              <a:rPr lang="zh-CN" altLang="en-US" sz="2400" dirty="0">
                <a:solidFill>
                  <a:srgbClr val="333333"/>
                </a:solidFill>
                <a:latin typeface="PingFang SC"/>
              </a:rPr>
              <a:t>，用下一个状态</a:t>
            </a:r>
            <a:r>
              <a:rPr lang="zh-CN" altLang="en-US" sz="2400" b="0" i="0" dirty="0">
                <a:solidFill>
                  <a:srgbClr val="333333"/>
                </a:solidFill>
                <a:effectLst/>
                <a:latin typeface="PingFang SC"/>
              </a:rPr>
              <a:t>更新</a:t>
            </a:r>
            <a:r>
              <a:rPr lang="zh-CN" altLang="en-US" sz="2400" dirty="0">
                <a:solidFill>
                  <a:srgbClr val="333333"/>
                </a:solidFill>
                <a:latin typeface="PingFang SC"/>
              </a:rPr>
              <a:t>当前</a:t>
            </a:r>
            <a:r>
              <a:rPr lang="zh-CN" altLang="en-US" sz="2400" b="0" i="0" dirty="0">
                <a:solidFill>
                  <a:srgbClr val="333333"/>
                </a:solidFill>
                <a:effectLst/>
                <a:latin typeface="PingFang SC"/>
              </a:rPr>
              <a:t>状态。</a:t>
            </a:r>
            <a:endParaRPr lang="en-US" altLang="zh-CN" sz="2400" b="0" i="0" dirty="0">
              <a:solidFill>
                <a:srgbClr val="333333"/>
              </a:solidFill>
              <a:effectLst/>
              <a:latin typeface="PingFang SC"/>
            </a:endParaRPr>
          </a:p>
          <a:p>
            <a:pPr marL="400050" lvl="1" indent="0">
              <a:lnSpc>
                <a:spcPct val="110000"/>
              </a:lnSpc>
              <a:spcBef>
                <a:spcPts val="450"/>
              </a:spcBef>
              <a:spcAft>
                <a:spcPts val="450"/>
              </a:spcAft>
              <a:buNone/>
            </a:pPr>
            <a:r>
              <a:rPr lang="zh-CN" altLang="en-US" sz="2400" b="1" dirty="0">
                <a:solidFill>
                  <a:srgbClr val="333333"/>
                </a:solidFill>
                <a:latin typeface="PingFang SC"/>
              </a:rPr>
              <a:t>      </a:t>
            </a:r>
            <a:r>
              <a:rPr lang="en-US" altLang="zh-CN" sz="2400" b="1" dirty="0">
                <a:solidFill>
                  <a:srgbClr val="333333"/>
                </a:solidFill>
                <a:latin typeface="PingFang SC"/>
              </a:rPr>
              <a:t>※</a:t>
            </a:r>
            <a:r>
              <a:rPr lang="zh-CN" altLang="en-US" sz="2400" b="1" dirty="0">
                <a:solidFill>
                  <a:srgbClr val="333333"/>
                </a:solidFill>
                <a:latin typeface="PingFang SC"/>
              </a:rPr>
              <a:t>时钟信号：</a:t>
            </a:r>
            <a:endParaRPr lang="en-US" altLang="zh-CN" sz="2400" b="1" dirty="0">
              <a:solidFill>
                <a:srgbClr val="333333"/>
              </a:solidFill>
              <a:latin typeface="PingFang SC"/>
            </a:endParaRPr>
          </a:p>
          <a:p>
            <a:pPr marL="400050" lvl="1" indent="0">
              <a:lnSpc>
                <a:spcPct val="110000"/>
              </a:lnSpc>
              <a:spcBef>
                <a:spcPts val="450"/>
              </a:spcBef>
              <a:spcAft>
                <a:spcPts val="450"/>
              </a:spcAft>
              <a:buNone/>
            </a:pPr>
            <a:r>
              <a:rPr lang="zh-CN" altLang="en-US" sz="2400" dirty="0">
                <a:solidFill>
                  <a:srgbClr val="333333"/>
                </a:solidFill>
                <a:latin typeface="PingFang SC"/>
              </a:rPr>
              <a:t>          状态更新由时钟信号的‌上升沿‌或‌下降沿‌触发。</a:t>
            </a:r>
            <a:endParaRPr lang="en-US" altLang="zh-CN" sz="2400" dirty="0">
              <a:solidFill>
                <a:srgbClr val="333333"/>
              </a:solidFill>
              <a:latin typeface="PingFang SC"/>
            </a:endParaRPr>
          </a:p>
          <a:p>
            <a:pPr marL="400050" lvl="1" indent="0">
              <a:lnSpc>
                <a:spcPct val="110000"/>
              </a:lnSpc>
              <a:spcBef>
                <a:spcPts val="450"/>
              </a:spcBef>
              <a:spcAft>
                <a:spcPts val="450"/>
              </a:spcAft>
              <a:buNone/>
            </a:pPr>
            <a:r>
              <a:rPr lang="zh-CN" altLang="en-US" sz="2400" b="1" dirty="0">
                <a:solidFill>
                  <a:srgbClr val="333333"/>
                </a:solidFill>
                <a:latin typeface="PingFang SC"/>
              </a:rPr>
              <a:t>      </a:t>
            </a:r>
            <a:r>
              <a:rPr lang="en-US" altLang="zh-CN" sz="2400" b="1" dirty="0">
                <a:solidFill>
                  <a:srgbClr val="333333"/>
                </a:solidFill>
                <a:latin typeface="PingFang SC"/>
              </a:rPr>
              <a:t>※</a:t>
            </a:r>
            <a:r>
              <a:rPr lang="zh-CN" altLang="en-US" sz="2400" b="1" dirty="0">
                <a:solidFill>
                  <a:srgbClr val="333333"/>
                </a:solidFill>
                <a:latin typeface="PingFang SC"/>
              </a:rPr>
              <a:t>复位信号：</a:t>
            </a:r>
            <a:endParaRPr lang="en-US" altLang="zh-CN" sz="2400" b="1" dirty="0">
              <a:solidFill>
                <a:srgbClr val="333333"/>
              </a:solidFill>
              <a:latin typeface="PingFang SC"/>
            </a:endParaRPr>
          </a:p>
          <a:p>
            <a:pPr marL="400050" lvl="1" indent="0">
              <a:lnSpc>
                <a:spcPct val="110000"/>
              </a:lnSpc>
              <a:spcBef>
                <a:spcPts val="450"/>
              </a:spcBef>
              <a:spcAft>
                <a:spcPts val="450"/>
              </a:spcAft>
              <a:buNone/>
            </a:pPr>
            <a:r>
              <a:rPr lang="en-US" altLang="zh-CN" sz="2400" dirty="0">
                <a:solidFill>
                  <a:srgbClr val="333333"/>
                </a:solidFill>
                <a:latin typeface="PingFang SC"/>
              </a:rPr>
              <a:t>          </a:t>
            </a:r>
            <a:r>
              <a:rPr lang="zh-CN" altLang="en-US" sz="2400" dirty="0">
                <a:solidFill>
                  <a:srgbClr val="333333"/>
                </a:solidFill>
                <a:latin typeface="PingFang SC"/>
              </a:rPr>
              <a:t>使存储单元初始状态可控。</a:t>
            </a:r>
            <a:endParaRPr lang="en-US" altLang="zh-CN" sz="2400" dirty="0">
              <a:solidFill>
                <a:srgbClr val="333333"/>
              </a:solidFill>
              <a:latin typeface="PingFang SC"/>
            </a:endParaRPr>
          </a:p>
          <a:p>
            <a:pPr marL="400050" lvl="1" indent="0">
              <a:lnSpc>
                <a:spcPct val="110000"/>
              </a:lnSpc>
              <a:spcBef>
                <a:spcPts val="450"/>
              </a:spcBef>
              <a:spcAft>
                <a:spcPts val="450"/>
              </a:spcAft>
              <a:buNone/>
            </a:pPr>
            <a:r>
              <a:rPr lang="en-US" altLang="zh-CN" sz="2400" dirty="0">
                <a:solidFill>
                  <a:srgbClr val="333333"/>
                </a:solidFill>
                <a:latin typeface="PingFang SC"/>
              </a:rPr>
              <a:t>       </a:t>
            </a:r>
          </a:p>
        </p:txBody>
      </p:sp>
      <p:sp>
        <p:nvSpPr>
          <p:cNvPr id="11" name="文本框 10"/>
          <p:cNvSpPr txBox="1"/>
          <p:nvPr/>
        </p:nvSpPr>
        <p:spPr>
          <a:xfrm>
            <a:off x="10500939" y="3892617"/>
            <a:ext cx="1527219" cy="369332"/>
          </a:xfrm>
          <a:prstGeom prst="rect">
            <a:avLst/>
          </a:prstGeom>
          <a:noFill/>
        </p:spPr>
        <p:txBody>
          <a:bodyPr wrap="square" rtlCol="0">
            <a:spAutoFit/>
          </a:bodyPr>
          <a:lstStyle/>
          <a:p>
            <a:r>
              <a:rPr lang="zh-CN" altLang="en-US" b="1" dirty="0">
                <a:solidFill>
                  <a:srgbClr val="FF0000"/>
                </a:solidFill>
              </a:rPr>
              <a:t>下一个状态</a:t>
            </a:r>
          </a:p>
        </p:txBody>
      </p:sp>
      <p:sp>
        <p:nvSpPr>
          <p:cNvPr id="12" name="文本框 11"/>
          <p:cNvSpPr txBox="1"/>
          <p:nvPr/>
        </p:nvSpPr>
        <p:spPr>
          <a:xfrm>
            <a:off x="7833888" y="3852998"/>
            <a:ext cx="1485312" cy="369332"/>
          </a:xfrm>
          <a:prstGeom prst="rect">
            <a:avLst/>
          </a:prstGeom>
          <a:noFill/>
        </p:spPr>
        <p:txBody>
          <a:bodyPr wrap="square" rtlCol="0">
            <a:spAutoFit/>
          </a:bodyPr>
          <a:lstStyle/>
          <a:p>
            <a:r>
              <a:rPr lang="zh-CN" altLang="en-US" b="1" dirty="0">
                <a:solidFill>
                  <a:srgbClr val="FF0000"/>
                </a:solidFill>
              </a:rPr>
              <a:t>当前状态</a:t>
            </a:r>
          </a:p>
        </p:txBody>
      </p:sp>
      <p:grpSp>
        <p:nvGrpSpPr>
          <p:cNvPr id="14" name="组合 13">
            <a:extLst>
              <a:ext uri="{FF2B5EF4-FFF2-40B4-BE49-F238E27FC236}">
                <a16:creationId xmlns:a16="http://schemas.microsoft.com/office/drawing/2014/main" id="{1E4CDCFD-DE75-CFB2-66E5-3F56FC28C55C}"/>
              </a:ext>
            </a:extLst>
          </p:cNvPr>
          <p:cNvGrpSpPr/>
          <p:nvPr/>
        </p:nvGrpSpPr>
        <p:grpSpPr>
          <a:xfrm>
            <a:off x="7833888" y="2745038"/>
            <a:ext cx="4143413" cy="2623729"/>
            <a:chOff x="7746575" y="3227796"/>
            <a:chExt cx="4143413" cy="2623729"/>
          </a:xfrm>
        </p:grpSpPr>
        <p:grpSp>
          <p:nvGrpSpPr>
            <p:cNvPr id="8" name="组合 7"/>
            <p:cNvGrpSpPr/>
            <p:nvPr/>
          </p:nvGrpSpPr>
          <p:grpSpPr>
            <a:xfrm>
              <a:off x="7746575" y="3227796"/>
              <a:ext cx="4143413" cy="2611939"/>
              <a:chOff x="8157629" y="3082131"/>
              <a:chExt cx="4143413" cy="2611939"/>
            </a:xfrm>
          </p:grpSpPr>
          <p:sp>
            <p:nvSpPr>
              <p:cNvPr id="5" name="文本框 4"/>
              <p:cNvSpPr txBox="1"/>
              <p:nvPr/>
            </p:nvSpPr>
            <p:spPr>
              <a:xfrm>
                <a:off x="8157629" y="3163614"/>
                <a:ext cx="790210" cy="369332"/>
              </a:xfrm>
              <a:prstGeom prst="rect">
                <a:avLst/>
              </a:prstGeom>
              <a:noFill/>
            </p:spPr>
            <p:txBody>
              <a:bodyPr wrap="square" rtlCol="0">
                <a:spAutoFit/>
              </a:bodyPr>
              <a:lstStyle/>
              <a:p>
                <a:r>
                  <a:rPr lang="zh-CN" altLang="en-US" dirty="0"/>
                  <a:t>输入</a:t>
                </a:r>
              </a:p>
            </p:txBody>
          </p:sp>
          <p:grpSp>
            <p:nvGrpSpPr>
              <p:cNvPr id="7" name="组合 6"/>
              <p:cNvGrpSpPr/>
              <p:nvPr/>
            </p:nvGrpSpPr>
            <p:grpSpPr>
              <a:xfrm>
                <a:off x="8725520" y="3082131"/>
                <a:ext cx="3575522" cy="2611939"/>
                <a:chOff x="8725520" y="3082131"/>
                <a:chExt cx="3575522" cy="2611939"/>
              </a:xfrm>
            </p:grpSpPr>
            <p:pic>
              <p:nvPicPr>
                <p:cNvPr id="4" name="图片 3"/>
                <p:cNvPicPr>
                  <a:picLocks noChangeAspect="1"/>
                </p:cNvPicPr>
                <p:nvPr/>
              </p:nvPicPr>
              <p:blipFill>
                <a:blip r:embed="rId3"/>
                <a:stretch>
                  <a:fillRect/>
                </a:stretch>
              </p:blipFill>
              <p:spPr>
                <a:xfrm>
                  <a:off x="8725520" y="3082131"/>
                  <a:ext cx="2862770" cy="2611939"/>
                </a:xfrm>
                <a:prstGeom prst="rect">
                  <a:avLst/>
                </a:prstGeom>
              </p:spPr>
            </p:pic>
            <p:sp>
              <p:nvSpPr>
                <p:cNvPr id="6" name="文本框 5"/>
                <p:cNvSpPr txBox="1"/>
                <p:nvPr/>
              </p:nvSpPr>
              <p:spPr>
                <a:xfrm>
                  <a:off x="11491746" y="3134683"/>
                  <a:ext cx="809296" cy="369332"/>
                </a:xfrm>
                <a:prstGeom prst="rect">
                  <a:avLst/>
                </a:prstGeom>
                <a:noFill/>
              </p:spPr>
              <p:txBody>
                <a:bodyPr wrap="square" rtlCol="0">
                  <a:spAutoFit/>
                </a:bodyPr>
                <a:lstStyle/>
                <a:p>
                  <a:r>
                    <a:rPr lang="zh-CN" altLang="en-US" dirty="0"/>
                    <a:t>输出</a:t>
                  </a:r>
                </a:p>
              </p:txBody>
            </p:sp>
          </p:grpSp>
        </p:grpSp>
        <p:cxnSp>
          <p:nvCxnSpPr>
            <p:cNvPr id="10" name="直接箭头连接符 9">
              <a:extLst>
                <a:ext uri="{FF2B5EF4-FFF2-40B4-BE49-F238E27FC236}">
                  <a16:creationId xmlns:a16="http://schemas.microsoft.com/office/drawing/2014/main" id="{77A1328F-4C5A-1143-BB6D-5FC3B27B366E}"/>
                </a:ext>
              </a:extLst>
            </p:cNvPr>
            <p:cNvCxnSpPr/>
            <p:nvPr/>
          </p:nvCxnSpPr>
          <p:spPr>
            <a:xfrm>
              <a:off x="10207625" y="5429250"/>
              <a:ext cx="0" cy="422275"/>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CEFA29DB-BA6C-CA1B-1197-A5F1313C9000}"/>
                </a:ext>
              </a:extLst>
            </p:cNvPr>
            <p:cNvSpPr txBox="1"/>
            <p:nvPr/>
          </p:nvSpPr>
          <p:spPr>
            <a:xfrm>
              <a:off x="10129233" y="5599118"/>
              <a:ext cx="433385" cy="215444"/>
            </a:xfrm>
            <a:prstGeom prst="rect">
              <a:avLst/>
            </a:prstGeom>
            <a:noFill/>
          </p:spPr>
          <p:txBody>
            <a:bodyPr wrap="square" rtlCol="0">
              <a:spAutoFit/>
            </a:bodyPr>
            <a:lstStyle/>
            <a:p>
              <a:r>
                <a:rPr lang="en-US" altLang="zh-CN" sz="800" dirty="0"/>
                <a:t>reset</a:t>
              </a:r>
              <a:endParaRPr lang="zh-CN" altLang="en-US" sz="800" dirty="0"/>
            </a:p>
          </p:txBody>
        </p:sp>
      </p:grpSp>
    </p:spTree>
    <p:extLst>
      <p:ext uri="{BB962C8B-B14F-4D97-AF65-F5344CB8AC3E}">
        <p14:creationId xmlns:p14="http://schemas.microsoft.com/office/powerpoint/2010/main" val="1702552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8CA653-8A3D-C137-BADA-CDAE7B063539}"/>
              </a:ext>
            </a:extLst>
          </p:cNvPr>
          <p:cNvSpPr>
            <a:spLocks noGrp="1"/>
          </p:cNvSpPr>
          <p:nvPr>
            <p:ph type="title"/>
          </p:nvPr>
        </p:nvSpPr>
        <p:spPr>
          <a:xfrm>
            <a:off x="677334" y="331987"/>
            <a:ext cx="8596668" cy="969302"/>
          </a:xfrm>
        </p:spPr>
        <p:txBody>
          <a:bodyPr/>
          <a:lstStyle/>
          <a:p>
            <a:r>
              <a:rPr lang="zh-CN" altLang="en-US" dirty="0"/>
              <a:t>时序逻辑电路分类</a:t>
            </a:r>
          </a:p>
        </p:txBody>
      </p:sp>
      <p:sp>
        <p:nvSpPr>
          <p:cNvPr id="3" name="内容占位符 2">
            <a:extLst>
              <a:ext uri="{FF2B5EF4-FFF2-40B4-BE49-F238E27FC236}">
                <a16:creationId xmlns:a16="http://schemas.microsoft.com/office/drawing/2014/main" id="{D3EDEBC2-A580-E89F-C71B-20452DA0583B}"/>
              </a:ext>
            </a:extLst>
          </p:cNvPr>
          <p:cNvSpPr>
            <a:spLocks noGrp="1"/>
          </p:cNvSpPr>
          <p:nvPr>
            <p:ph idx="1"/>
          </p:nvPr>
        </p:nvSpPr>
        <p:spPr>
          <a:xfrm>
            <a:off x="677333" y="1357401"/>
            <a:ext cx="10733617" cy="4683961"/>
          </a:xfrm>
        </p:spPr>
        <p:txBody>
          <a:bodyPr>
            <a:normAutofit/>
          </a:bodyPr>
          <a:lstStyle/>
          <a:p>
            <a:pPr marL="0" indent="457200">
              <a:lnSpc>
                <a:spcPct val="100000"/>
              </a:lnSpc>
              <a:spcBef>
                <a:spcPts val="500"/>
              </a:spcBef>
              <a:spcAft>
                <a:spcPts val="500"/>
              </a:spcAft>
              <a:buNone/>
            </a:pPr>
            <a:r>
              <a:rPr lang="zh-CN" altLang="en-US" sz="2800" dirty="0"/>
              <a:t> </a:t>
            </a:r>
            <a:r>
              <a:rPr lang="zh-CN" altLang="en-US" sz="2400" dirty="0"/>
              <a:t>根据存储电路是否共用一个时钟信号，把时序逻辑电路</a:t>
            </a:r>
            <a:r>
              <a:rPr lang="zh-CN" altLang="en-US" sz="2400" dirty="0">
                <a:solidFill>
                  <a:schemeClr val="tx1"/>
                </a:solidFill>
              </a:rPr>
              <a:t>分为</a:t>
            </a:r>
            <a:r>
              <a:rPr lang="zh-CN" altLang="en-US" sz="2400" dirty="0">
                <a:solidFill>
                  <a:srgbClr val="FF0000"/>
                </a:solidFill>
              </a:rPr>
              <a:t>同步时序逻辑电路</a:t>
            </a:r>
            <a:r>
              <a:rPr lang="zh-CN" altLang="en-US" sz="2400" dirty="0"/>
              <a:t>和异步时序逻辑电路。</a:t>
            </a:r>
            <a:endParaRPr lang="en-US" altLang="zh-CN" sz="2400" dirty="0"/>
          </a:p>
          <a:p>
            <a:pPr>
              <a:lnSpc>
                <a:spcPct val="110000"/>
              </a:lnSpc>
              <a:spcBef>
                <a:spcPts val="500"/>
              </a:spcBef>
              <a:spcAft>
                <a:spcPts val="500"/>
              </a:spcAft>
            </a:pPr>
            <a:r>
              <a:rPr lang="zh-CN" altLang="en-US" sz="2400" b="1" dirty="0"/>
              <a:t>同步时序逻辑电路</a:t>
            </a:r>
            <a:r>
              <a:rPr lang="zh-CN" altLang="en-US" sz="2400" dirty="0"/>
              <a:t>凭借‌高可靠性、工具生态成熟‌等优势，成为数字系统设计的主流方案，但其‌功耗、时钟完整性和工艺敏感性‌等问题在先进工艺和高性能场景下逐渐凸显‌。</a:t>
            </a:r>
            <a:endParaRPr lang="en-US" altLang="zh-CN" sz="2400" dirty="0"/>
          </a:p>
          <a:p>
            <a:pPr>
              <a:lnSpc>
                <a:spcPct val="110000"/>
              </a:lnSpc>
              <a:spcBef>
                <a:spcPts val="500"/>
              </a:spcBef>
              <a:spcAft>
                <a:spcPts val="500"/>
              </a:spcAft>
            </a:pPr>
            <a:r>
              <a:rPr lang="zh-CN" altLang="en-US" sz="2400" b="1" dirty="0"/>
              <a:t>异步时序逻辑电路</a:t>
            </a:r>
            <a:r>
              <a:rPr lang="zh-CN" altLang="en-US" sz="2400" dirty="0"/>
              <a:t>通过摒弃全局时钟，在‌低功耗、抗干扰和异构集成‌方面展现出独特优势，但其‌设计复杂度高、工具生态薄弱‌等问题限制了大规模应用。随着工艺节点进入亚微米时代，异步设计在‌能效敏感领域‌（如边缘</a:t>
            </a:r>
            <a:r>
              <a:rPr lang="en-US" altLang="zh-CN" sz="2400" dirty="0"/>
              <a:t>AI</a:t>
            </a:r>
            <a:r>
              <a:rPr lang="zh-CN" altLang="en-US" sz="2400" dirty="0"/>
              <a:t>、生物电子）的价值逐渐凸显。</a:t>
            </a:r>
            <a:r>
              <a:rPr lang="zh-CN" altLang="en-US" sz="2400" b="1" i="0" dirty="0">
                <a:solidFill>
                  <a:srgbClr val="333333"/>
                </a:solidFill>
                <a:effectLst/>
                <a:latin typeface="PingFang SC"/>
              </a:rPr>
              <a:t>‌</a:t>
            </a:r>
            <a:endParaRPr lang="zh-CN" altLang="en-US" sz="2400" dirty="0"/>
          </a:p>
        </p:txBody>
      </p:sp>
    </p:spTree>
    <p:extLst>
      <p:ext uri="{BB962C8B-B14F-4D97-AF65-F5344CB8AC3E}">
        <p14:creationId xmlns:p14="http://schemas.microsoft.com/office/powerpoint/2010/main" val="2958802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存储电路举例：</a:t>
            </a:r>
            <a:r>
              <a:rPr lang="en-US" altLang="zh-CN" b="1" dirty="0"/>
              <a:t>D</a:t>
            </a:r>
            <a:r>
              <a:rPr lang="zh-CN" altLang="en-US" b="1" dirty="0"/>
              <a:t>触发器</a:t>
            </a:r>
          </a:p>
        </p:txBody>
      </p:sp>
      <p:pic>
        <p:nvPicPr>
          <p:cNvPr id="4" name="图片 3"/>
          <p:cNvPicPr>
            <a:picLocks noChangeAspect="1"/>
          </p:cNvPicPr>
          <p:nvPr/>
        </p:nvPicPr>
        <p:blipFill>
          <a:blip r:embed="rId2"/>
          <a:stretch>
            <a:fillRect/>
          </a:stretch>
        </p:blipFill>
        <p:spPr>
          <a:xfrm>
            <a:off x="8710334" y="995396"/>
            <a:ext cx="2006569" cy="1741139"/>
          </a:xfrm>
          <a:prstGeom prst="rect">
            <a:avLst/>
          </a:prstGeom>
        </p:spPr>
      </p:pic>
      <p:grpSp>
        <p:nvGrpSpPr>
          <p:cNvPr id="20" name="组合 19"/>
          <p:cNvGrpSpPr/>
          <p:nvPr/>
        </p:nvGrpSpPr>
        <p:grpSpPr>
          <a:xfrm>
            <a:off x="7940679" y="3366806"/>
            <a:ext cx="3545878" cy="1584059"/>
            <a:chOff x="1822450" y="4068999"/>
            <a:chExt cx="2252594" cy="1584059"/>
          </a:xfrm>
        </p:grpSpPr>
        <p:sp>
          <p:nvSpPr>
            <p:cNvPr id="6" name="文本框 5"/>
            <p:cNvSpPr txBox="1"/>
            <p:nvPr/>
          </p:nvSpPr>
          <p:spPr>
            <a:xfrm>
              <a:off x="1928192" y="4075042"/>
              <a:ext cx="1073426" cy="377687"/>
            </a:xfrm>
            <a:prstGeom prst="rect">
              <a:avLst/>
            </a:prstGeom>
            <a:noFill/>
          </p:spPr>
          <p:txBody>
            <a:bodyPr wrap="square" rtlCol="0">
              <a:spAutoFit/>
            </a:bodyPr>
            <a:lstStyle/>
            <a:p>
              <a:r>
                <a:rPr lang="en-US" altLang="zh-CN" dirty="0"/>
                <a:t>D    CLK</a:t>
              </a:r>
              <a:endParaRPr lang="zh-CN" altLang="en-US" dirty="0"/>
            </a:p>
          </p:txBody>
        </p:sp>
        <p:sp>
          <p:nvSpPr>
            <p:cNvPr id="7" name="文本框 6"/>
            <p:cNvSpPr txBox="1"/>
            <p:nvPr/>
          </p:nvSpPr>
          <p:spPr>
            <a:xfrm>
              <a:off x="1928192" y="4446686"/>
              <a:ext cx="1073426" cy="1200329"/>
            </a:xfrm>
            <a:prstGeom prst="rect">
              <a:avLst/>
            </a:prstGeom>
            <a:noFill/>
          </p:spPr>
          <p:txBody>
            <a:bodyPr wrap="square" rtlCol="0">
              <a:spAutoFit/>
            </a:bodyPr>
            <a:lstStyle/>
            <a:p>
              <a:r>
                <a:rPr lang="en-US" altLang="zh-CN" dirty="0"/>
                <a:t>0      ↑ </a:t>
              </a:r>
            </a:p>
            <a:p>
              <a:r>
                <a:rPr lang="en-US" altLang="zh-CN" dirty="0"/>
                <a:t>1      ↑</a:t>
              </a:r>
            </a:p>
            <a:p>
              <a:r>
                <a:rPr lang="en-US" altLang="zh-CN" dirty="0"/>
                <a:t>X       0</a:t>
              </a:r>
            </a:p>
            <a:p>
              <a:r>
                <a:rPr lang="en-US" altLang="zh-CN" dirty="0"/>
                <a:t>X       1</a:t>
              </a:r>
              <a:endParaRPr lang="zh-CN" altLang="en-US" dirty="0"/>
            </a:p>
          </p:txBody>
        </p:sp>
        <p:sp>
          <p:nvSpPr>
            <p:cNvPr id="8" name="文本框 7"/>
            <p:cNvSpPr txBox="1"/>
            <p:nvPr/>
          </p:nvSpPr>
          <p:spPr>
            <a:xfrm>
              <a:off x="3001618" y="4068999"/>
              <a:ext cx="1073426" cy="646331"/>
            </a:xfrm>
            <a:prstGeom prst="rect">
              <a:avLst/>
            </a:prstGeom>
            <a:noFill/>
          </p:spPr>
          <p:txBody>
            <a:bodyPr wrap="square" rtlCol="0">
              <a:spAutoFit/>
            </a:bodyPr>
            <a:lstStyle/>
            <a:p>
              <a:r>
                <a:rPr lang="en-US" altLang="zh-CN" dirty="0" err="1"/>
                <a:t>Qn</a:t>
              </a:r>
              <a:r>
                <a:rPr lang="en-US" altLang="zh-CN" dirty="0"/>
                <a:t>     </a:t>
              </a:r>
              <a:r>
                <a:rPr lang="en-US" altLang="zh-CN" dirty="0" err="1"/>
                <a:t>Qn</a:t>
              </a:r>
              <a:endParaRPr lang="zh-CN" altLang="en-US" dirty="0"/>
            </a:p>
          </p:txBody>
        </p:sp>
        <p:cxnSp>
          <p:nvCxnSpPr>
            <p:cNvPr id="10" name="直接连接符 9"/>
            <p:cNvCxnSpPr/>
            <p:nvPr/>
          </p:nvCxnSpPr>
          <p:spPr>
            <a:xfrm>
              <a:off x="3429221" y="4132499"/>
              <a:ext cx="15239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3001618" y="4452729"/>
              <a:ext cx="1073426" cy="1200329"/>
            </a:xfrm>
            <a:prstGeom prst="rect">
              <a:avLst/>
            </a:prstGeom>
            <a:noFill/>
          </p:spPr>
          <p:txBody>
            <a:bodyPr wrap="square" rtlCol="0">
              <a:spAutoFit/>
            </a:bodyPr>
            <a:lstStyle/>
            <a:p>
              <a:r>
                <a:rPr lang="en-US" altLang="zh-CN" dirty="0"/>
                <a:t>0        1</a:t>
              </a:r>
            </a:p>
            <a:p>
              <a:r>
                <a:rPr lang="en-US" altLang="zh-CN" dirty="0"/>
                <a:t>1        0</a:t>
              </a:r>
            </a:p>
            <a:p>
              <a:r>
                <a:rPr lang="en-US" altLang="zh-CN" dirty="0"/>
                <a:t>Q</a:t>
              </a:r>
              <a:r>
                <a:rPr lang="en-US" altLang="zh-CN" baseline="-25000" dirty="0"/>
                <a:t>n-1</a:t>
              </a:r>
              <a:r>
                <a:rPr lang="en-US" altLang="zh-CN" dirty="0"/>
                <a:t>     Q</a:t>
              </a:r>
              <a:r>
                <a:rPr lang="en-US" altLang="zh-CN" baseline="-25000" dirty="0"/>
                <a:t>n-1</a:t>
              </a:r>
            </a:p>
            <a:p>
              <a:r>
                <a:rPr lang="en-US" altLang="zh-CN" dirty="0"/>
                <a:t>Q</a:t>
              </a:r>
              <a:r>
                <a:rPr lang="en-US" altLang="zh-CN" baseline="-25000" dirty="0"/>
                <a:t>n-1</a:t>
              </a:r>
              <a:r>
                <a:rPr lang="en-US" altLang="zh-CN" dirty="0"/>
                <a:t>     Q</a:t>
              </a:r>
              <a:r>
                <a:rPr lang="en-US" altLang="zh-CN" baseline="-25000" dirty="0"/>
                <a:t>n-1</a:t>
              </a:r>
              <a:endParaRPr lang="zh-CN" altLang="en-US" baseline="-25000" dirty="0"/>
            </a:p>
          </p:txBody>
        </p:sp>
        <p:cxnSp>
          <p:nvCxnSpPr>
            <p:cNvPr id="13" name="直接连接符 12"/>
            <p:cNvCxnSpPr/>
            <p:nvPr/>
          </p:nvCxnSpPr>
          <p:spPr>
            <a:xfrm>
              <a:off x="3493231" y="5077379"/>
              <a:ext cx="15239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3496707" y="5364399"/>
              <a:ext cx="15239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1822450" y="4446686"/>
              <a:ext cx="198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2895601" y="4068999"/>
              <a:ext cx="16933" cy="157801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1" name="图片 20"/>
          <p:cNvPicPr>
            <a:picLocks noChangeAspect="1"/>
          </p:cNvPicPr>
          <p:nvPr/>
        </p:nvPicPr>
        <p:blipFill>
          <a:blip r:embed="rId3"/>
          <a:stretch>
            <a:fillRect/>
          </a:stretch>
        </p:blipFill>
        <p:spPr>
          <a:xfrm>
            <a:off x="779602" y="1938868"/>
            <a:ext cx="6747684" cy="3369732"/>
          </a:xfrm>
          <a:prstGeom prst="rect">
            <a:avLst/>
          </a:prstGeom>
        </p:spPr>
      </p:pic>
    </p:spTree>
    <p:extLst>
      <p:ext uri="{BB962C8B-B14F-4D97-AF65-F5344CB8AC3E}">
        <p14:creationId xmlns:p14="http://schemas.microsoft.com/office/powerpoint/2010/main" val="709956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33293D-AD5B-1C7B-CD79-CF7577030E91}"/>
              </a:ext>
            </a:extLst>
          </p:cNvPr>
          <p:cNvSpPr>
            <a:spLocks noGrp="1"/>
          </p:cNvSpPr>
          <p:nvPr>
            <p:ph type="title"/>
          </p:nvPr>
        </p:nvSpPr>
        <p:spPr>
          <a:xfrm>
            <a:off x="677333" y="144512"/>
            <a:ext cx="10511287" cy="991389"/>
          </a:xfrm>
        </p:spPr>
        <p:txBody>
          <a:bodyPr/>
          <a:lstStyle/>
          <a:p>
            <a:r>
              <a:rPr lang="en-US" altLang="zh-CN" dirty="0"/>
              <a:t>1.2.1 </a:t>
            </a:r>
            <a:r>
              <a:rPr lang="zh-CN" altLang="en-US" dirty="0"/>
              <a:t>触发器的时序规范</a:t>
            </a:r>
          </a:p>
        </p:txBody>
      </p:sp>
      <p:sp>
        <p:nvSpPr>
          <p:cNvPr id="3" name="内容占位符 2">
            <a:extLst>
              <a:ext uri="{FF2B5EF4-FFF2-40B4-BE49-F238E27FC236}">
                <a16:creationId xmlns:a16="http://schemas.microsoft.com/office/drawing/2014/main" id="{D94B87B4-825C-FC50-502E-D88EDA7FAB17}"/>
              </a:ext>
            </a:extLst>
          </p:cNvPr>
          <p:cNvSpPr>
            <a:spLocks noGrp="1"/>
          </p:cNvSpPr>
          <p:nvPr>
            <p:ph idx="1"/>
          </p:nvPr>
        </p:nvSpPr>
        <p:spPr>
          <a:xfrm>
            <a:off x="677333" y="982554"/>
            <a:ext cx="10837334" cy="5351039"/>
          </a:xfrm>
        </p:spPr>
        <p:txBody>
          <a:bodyPr>
            <a:normAutofit/>
          </a:bodyPr>
          <a:lstStyle/>
          <a:p>
            <a:pPr marL="0" indent="457200">
              <a:lnSpc>
                <a:spcPct val="110000"/>
              </a:lnSpc>
              <a:buNone/>
            </a:pPr>
            <a:r>
              <a:rPr lang="zh-CN" altLang="en-US" sz="2400" b="1" i="0" dirty="0">
                <a:solidFill>
                  <a:srgbClr val="333333"/>
                </a:solidFill>
                <a:effectLst/>
                <a:latin typeface="PingFang SC"/>
              </a:rPr>
              <a:t>  建立时间</a:t>
            </a:r>
            <a:r>
              <a:rPr lang="zh-CN" altLang="en-US" sz="2400" i="0" dirty="0">
                <a:solidFill>
                  <a:srgbClr val="333333"/>
                </a:solidFill>
                <a:effectLst/>
                <a:latin typeface="PingFang SC"/>
              </a:rPr>
              <a:t>和</a:t>
            </a:r>
            <a:r>
              <a:rPr lang="zh-CN" altLang="en-US" sz="2400" b="1" i="0" dirty="0">
                <a:solidFill>
                  <a:srgbClr val="333333"/>
                </a:solidFill>
                <a:effectLst/>
                <a:latin typeface="PingFang SC"/>
              </a:rPr>
              <a:t>保持时间</a:t>
            </a:r>
            <a:r>
              <a:rPr lang="zh-CN" altLang="en-US" sz="2400" i="0" dirty="0">
                <a:solidFill>
                  <a:srgbClr val="333333"/>
                </a:solidFill>
                <a:effectLst/>
                <a:latin typeface="PingFang SC"/>
              </a:rPr>
              <a:t>是为了保证触发器可靠工作，</a:t>
            </a:r>
            <a:r>
              <a:rPr lang="zh-CN" altLang="en-US" sz="2400" b="1" i="0" dirty="0">
                <a:solidFill>
                  <a:srgbClr val="FF0000"/>
                </a:solidFill>
                <a:effectLst/>
                <a:latin typeface="PingFang SC"/>
              </a:rPr>
              <a:t>对输入端的‌时序约束</a:t>
            </a:r>
            <a:r>
              <a:rPr lang="zh-CN" altLang="en-US" sz="2400" i="0" dirty="0">
                <a:solidFill>
                  <a:srgbClr val="333333"/>
                </a:solidFill>
                <a:effectLst/>
                <a:latin typeface="PingFang SC"/>
              </a:rPr>
              <a:t>。其物理根源在于门电路传输延迟与反馈机制的协同作用。</a:t>
            </a:r>
            <a:endParaRPr lang="en-US" altLang="zh-CN" sz="2400" i="0" dirty="0">
              <a:solidFill>
                <a:srgbClr val="333333"/>
              </a:solidFill>
              <a:effectLst/>
              <a:latin typeface="PingFang SC"/>
            </a:endParaRPr>
          </a:p>
          <a:p>
            <a:pPr>
              <a:lnSpc>
                <a:spcPct val="110000"/>
              </a:lnSpc>
            </a:pPr>
            <a:r>
              <a:rPr lang="zh-CN" altLang="en-US" sz="2400" b="0" i="0" dirty="0">
                <a:solidFill>
                  <a:srgbClr val="333333"/>
                </a:solidFill>
                <a:effectLst/>
                <a:latin typeface="PingFang SC"/>
              </a:rPr>
              <a:t>‌</a:t>
            </a:r>
            <a:r>
              <a:rPr lang="zh-CN" altLang="en-US" sz="2400" b="1" i="0" dirty="0">
                <a:solidFill>
                  <a:srgbClr val="FF0000"/>
                </a:solidFill>
                <a:effectLst/>
                <a:latin typeface="PingFang SC"/>
              </a:rPr>
              <a:t>建立时间</a:t>
            </a:r>
            <a:r>
              <a:rPr lang="en-US" altLang="zh-CN" sz="2400" b="1" i="0" dirty="0">
                <a:solidFill>
                  <a:srgbClr val="FF0000"/>
                </a:solidFill>
                <a:effectLst/>
                <a:latin typeface="PingFang SC"/>
              </a:rPr>
              <a:t>T</a:t>
            </a:r>
            <a:r>
              <a:rPr lang="en-US" altLang="zh-CN" sz="2400" b="1" i="0" baseline="-25000" dirty="0">
                <a:solidFill>
                  <a:srgbClr val="FF0000"/>
                </a:solidFill>
                <a:effectLst/>
                <a:latin typeface="PingFang SC"/>
              </a:rPr>
              <a:t>su</a:t>
            </a:r>
            <a:r>
              <a:rPr lang="zh-CN" altLang="en-US" sz="2400" b="1" i="0" dirty="0">
                <a:solidFill>
                  <a:srgbClr val="333333"/>
                </a:solidFill>
                <a:effectLst/>
                <a:latin typeface="PingFang SC"/>
              </a:rPr>
              <a:t>（</a:t>
            </a:r>
            <a:r>
              <a:rPr lang="en-US" altLang="zh-CN" sz="2400" b="1" i="0" dirty="0">
                <a:solidFill>
                  <a:srgbClr val="333333"/>
                </a:solidFill>
                <a:effectLst/>
                <a:latin typeface="PingFang SC"/>
              </a:rPr>
              <a:t>Setup Time</a:t>
            </a:r>
            <a:r>
              <a:rPr lang="zh-CN" altLang="en-US" sz="2400" b="1" i="0" dirty="0">
                <a:solidFill>
                  <a:srgbClr val="333333"/>
                </a:solidFill>
                <a:effectLst/>
                <a:latin typeface="PingFang SC"/>
              </a:rPr>
              <a:t>）</a:t>
            </a:r>
            <a:r>
              <a:rPr lang="zh-CN" altLang="en-US" sz="2400" b="0" i="0" dirty="0">
                <a:solidFill>
                  <a:srgbClr val="333333"/>
                </a:solidFill>
                <a:effectLst/>
                <a:latin typeface="PingFang SC"/>
              </a:rPr>
              <a:t>：</a:t>
            </a:r>
            <a:r>
              <a:rPr lang="zh-CN" altLang="en-US" sz="2400" i="0" dirty="0">
                <a:solidFill>
                  <a:srgbClr val="333333"/>
                </a:solidFill>
                <a:effectLst/>
                <a:latin typeface="PingFang SC"/>
              </a:rPr>
              <a:t>在时钟有效边沿‌到来之前‌，输入数据必须保持稳定的‌最短时间‌。</a:t>
            </a:r>
            <a:endParaRPr lang="en-US" altLang="zh-CN" sz="2400" i="0" dirty="0">
              <a:solidFill>
                <a:srgbClr val="333333"/>
              </a:solidFill>
              <a:effectLst/>
              <a:latin typeface="PingFang SC"/>
            </a:endParaRPr>
          </a:p>
          <a:p>
            <a:pPr>
              <a:lnSpc>
                <a:spcPct val="110000"/>
              </a:lnSpc>
            </a:pPr>
            <a:r>
              <a:rPr lang="zh-CN" altLang="en-US" sz="2400" b="1" i="0" dirty="0">
                <a:solidFill>
                  <a:srgbClr val="FF0000"/>
                </a:solidFill>
                <a:effectLst/>
                <a:latin typeface="PingFang SC"/>
              </a:rPr>
              <a:t>保持时间</a:t>
            </a:r>
            <a:r>
              <a:rPr lang="en-US" altLang="zh-CN" sz="2400" b="1" i="0" dirty="0">
                <a:solidFill>
                  <a:srgbClr val="FF0000"/>
                </a:solidFill>
                <a:effectLst/>
                <a:latin typeface="PingFang SC"/>
              </a:rPr>
              <a:t>T</a:t>
            </a:r>
            <a:r>
              <a:rPr lang="en-US" altLang="zh-CN" sz="2400" b="1" i="0" baseline="-25000" dirty="0">
                <a:solidFill>
                  <a:srgbClr val="FF0000"/>
                </a:solidFill>
                <a:effectLst/>
                <a:latin typeface="PingFang SC"/>
              </a:rPr>
              <a:t>h</a:t>
            </a:r>
            <a:r>
              <a:rPr lang="zh-CN" altLang="en-US" sz="2400" b="1" i="0" dirty="0">
                <a:solidFill>
                  <a:srgbClr val="333333"/>
                </a:solidFill>
                <a:effectLst/>
                <a:latin typeface="PingFang SC"/>
              </a:rPr>
              <a:t>（</a:t>
            </a:r>
            <a:r>
              <a:rPr lang="en-US" altLang="zh-CN" sz="2400" b="1" i="0" dirty="0">
                <a:solidFill>
                  <a:srgbClr val="333333"/>
                </a:solidFill>
                <a:effectLst/>
                <a:latin typeface="PingFang SC"/>
              </a:rPr>
              <a:t>Hold Time</a:t>
            </a:r>
            <a:r>
              <a:rPr lang="zh-CN" altLang="en-US" sz="2400" b="1" i="0" dirty="0">
                <a:solidFill>
                  <a:srgbClr val="333333"/>
                </a:solidFill>
                <a:effectLst/>
                <a:latin typeface="PingFang SC"/>
              </a:rPr>
              <a:t>）</a:t>
            </a:r>
            <a:r>
              <a:rPr lang="zh-CN" altLang="en-US" sz="2400" b="0" i="0" dirty="0">
                <a:solidFill>
                  <a:srgbClr val="333333"/>
                </a:solidFill>
                <a:effectLst/>
                <a:latin typeface="PingFang SC"/>
              </a:rPr>
              <a:t>：</a:t>
            </a:r>
            <a:r>
              <a:rPr lang="zh-CN" altLang="en-US" sz="2400" i="0" dirty="0">
                <a:solidFill>
                  <a:srgbClr val="333333"/>
                </a:solidFill>
                <a:effectLst/>
                <a:latin typeface="PingFang SC"/>
              </a:rPr>
              <a:t>在时钟有效边沿‌到来之后‌，输入数据</a:t>
            </a:r>
            <a:r>
              <a:rPr lang="zh-CN" altLang="en-US" sz="2400" b="0" i="0" dirty="0">
                <a:solidFill>
                  <a:srgbClr val="272933"/>
                </a:solidFill>
                <a:effectLst/>
                <a:latin typeface="PingFang SC"/>
              </a:rPr>
              <a:t>不能被改变</a:t>
            </a:r>
            <a:r>
              <a:rPr lang="zh-CN" altLang="en-US" sz="2400" i="0" dirty="0">
                <a:solidFill>
                  <a:srgbClr val="333333"/>
                </a:solidFill>
                <a:effectLst/>
                <a:latin typeface="PingFang SC"/>
              </a:rPr>
              <a:t>的‌最短时间‌。</a:t>
            </a:r>
            <a:endParaRPr lang="en-US" altLang="zh-CN" sz="2400" i="0" dirty="0">
              <a:solidFill>
                <a:srgbClr val="333333"/>
              </a:solidFill>
              <a:effectLst/>
              <a:latin typeface="PingFang SC"/>
            </a:endParaRPr>
          </a:p>
        </p:txBody>
      </p:sp>
      <p:pic>
        <p:nvPicPr>
          <p:cNvPr id="5" name="图片 4">
            <a:extLst>
              <a:ext uri="{FF2B5EF4-FFF2-40B4-BE49-F238E27FC236}">
                <a16:creationId xmlns:a16="http://schemas.microsoft.com/office/drawing/2014/main" id="{0F19B470-0508-C230-EE94-2C36CFCC33DE}"/>
              </a:ext>
            </a:extLst>
          </p:cNvPr>
          <p:cNvPicPr>
            <a:picLocks noChangeAspect="1"/>
          </p:cNvPicPr>
          <p:nvPr/>
        </p:nvPicPr>
        <p:blipFill>
          <a:blip r:embed="rId2"/>
          <a:srcRect b="55354"/>
          <a:stretch/>
        </p:blipFill>
        <p:spPr>
          <a:xfrm>
            <a:off x="5047976" y="4016901"/>
            <a:ext cx="6300352" cy="1501991"/>
          </a:xfrm>
          <a:prstGeom prst="rect">
            <a:avLst/>
          </a:prstGeom>
        </p:spPr>
      </p:pic>
      <p:pic>
        <p:nvPicPr>
          <p:cNvPr id="6" name="图片 5">
            <a:extLst>
              <a:ext uri="{FF2B5EF4-FFF2-40B4-BE49-F238E27FC236}">
                <a16:creationId xmlns:a16="http://schemas.microsoft.com/office/drawing/2014/main" id="{B8B85651-8982-C607-A015-422348A29392}"/>
              </a:ext>
            </a:extLst>
          </p:cNvPr>
          <p:cNvPicPr>
            <a:picLocks noChangeAspect="1"/>
          </p:cNvPicPr>
          <p:nvPr/>
        </p:nvPicPr>
        <p:blipFill>
          <a:blip r:embed="rId3"/>
          <a:stretch>
            <a:fillRect/>
          </a:stretch>
        </p:blipFill>
        <p:spPr>
          <a:xfrm>
            <a:off x="677333" y="3746695"/>
            <a:ext cx="4370643" cy="2042405"/>
          </a:xfrm>
          <a:prstGeom prst="rect">
            <a:avLst/>
          </a:prstGeom>
        </p:spPr>
      </p:pic>
    </p:spTree>
    <p:extLst>
      <p:ext uri="{BB962C8B-B14F-4D97-AF65-F5344CB8AC3E}">
        <p14:creationId xmlns:p14="http://schemas.microsoft.com/office/powerpoint/2010/main" val="1983447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0AA2A-67BC-81E2-FBF7-F5AA4603AF1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C182EE4-A89F-0B1F-C4D3-40513AC96876}"/>
              </a:ext>
            </a:extLst>
          </p:cNvPr>
          <p:cNvSpPr>
            <a:spLocks noGrp="1"/>
          </p:cNvSpPr>
          <p:nvPr>
            <p:ph type="title"/>
          </p:nvPr>
        </p:nvSpPr>
        <p:spPr>
          <a:xfrm>
            <a:off x="677333" y="144512"/>
            <a:ext cx="10511287" cy="991389"/>
          </a:xfrm>
        </p:spPr>
        <p:txBody>
          <a:bodyPr/>
          <a:lstStyle/>
          <a:p>
            <a:r>
              <a:rPr lang="zh-CN" altLang="en-US" dirty="0"/>
              <a:t>关键的时序参数和约束</a:t>
            </a:r>
          </a:p>
        </p:txBody>
      </p:sp>
      <p:sp>
        <p:nvSpPr>
          <p:cNvPr id="3" name="内容占位符 2">
            <a:extLst>
              <a:ext uri="{FF2B5EF4-FFF2-40B4-BE49-F238E27FC236}">
                <a16:creationId xmlns:a16="http://schemas.microsoft.com/office/drawing/2014/main" id="{EEF94B85-AD8E-E5FA-E280-EE73826F4A0B}"/>
              </a:ext>
            </a:extLst>
          </p:cNvPr>
          <p:cNvSpPr>
            <a:spLocks noGrp="1"/>
          </p:cNvSpPr>
          <p:nvPr>
            <p:ph idx="1"/>
          </p:nvPr>
        </p:nvSpPr>
        <p:spPr>
          <a:xfrm>
            <a:off x="677333" y="1206501"/>
            <a:ext cx="10837334" cy="1718443"/>
          </a:xfrm>
        </p:spPr>
        <p:txBody>
          <a:bodyPr>
            <a:normAutofit/>
          </a:bodyPr>
          <a:lstStyle/>
          <a:p>
            <a:r>
              <a:rPr lang="zh-CN" altLang="en-US" sz="2400" b="1" i="0" dirty="0">
                <a:solidFill>
                  <a:srgbClr val="FF0000"/>
                </a:solidFill>
                <a:effectLst/>
                <a:latin typeface="PingFang SC"/>
              </a:rPr>
              <a:t>时钟到输出的延迟</a:t>
            </a:r>
            <a:r>
              <a:rPr lang="en-US" altLang="zh-CN" sz="2400" b="1" i="0" dirty="0" err="1">
                <a:solidFill>
                  <a:srgbClr val="FF0000"/>
                </a:solidFill>
                <a:effectLst/>
                <a:latin typeface="KaTeX_Main"/>
              </a:rPr>
              <a:t>T</a:t>
            </a:r>
            <a:r>
              <a:rPr lang="en-US" altLang="zh-CN" sz="2400" b="1" i="0" baseline="-25000" dirty="0" err="1">
                <a:solidFill>
                  <a:srgbClr val="FF0000"/>
                </a:solidFill>
                <a:effectLst/>
                <a:latin typeface="KaTeX_Main"/>
              </a:rPr>
              <a:t>co</a:t>
            </a:r>
            <a:r>
              <a:rPr lang="en-US" altLang="zh-CN" sz="2400" b="1" i="0" dirty="0">
                <a:solidFill>
                  <a:srgbClr val="FF0000"/>
                </a:solidFill>
                <a:effectLst/>
                <a:latin typeface="KaTeX_Main"/>
              </a:rPr>
              <a:t> </a:t>
            </a:r>
            <a:r>
              <a:rPr lang="zh-CN" altLang="en-US" sz="2400" b="1" i="0" dirty="0">
                <a:solidFill>
                  <a:srgbClr val="333333"/>
                </a:solidFill>
                <a:effectLst/>
                <a:latin typeface="PingFang SC"/>
              </a:rPr>
              <a:t>（</a:t>
            </a:r>
            <a:r>
              <a:rPr lang="en-US" altLang="zh-CN" sz="2400" b="1" i="0" dirty="0">
                <a:solidFill>
                  <a:srgbClr val="333333"/>
                </a:solidFill>
                <a:effectLst/>
                <a:latin typeface="PingFang SC"/>
              </a:rPr>
              <a:t> Clock-to-Output Delay)</a:t>
            </a:r>
            <a:r>
              <a:rPr lang="zh-CN" altLang="en-US" sz="2400" b="0" i="0" dirty="0">
                <a:solidFill>
                  <a:srgbClr val="333333"/>
                </a:solidFill>
                <a:effectLst/>
                <a:latin typeface="PingFang SC"/>
              </a:rPr>
              <a:t>‌：</a:t>
            </a:r>
            <a:r>
              <a:rPr lang="zh-CN" altLang="en-US" sz="2400" dirty="0">
                <a:solidFill>
                  <a:srgbClr val="333333"/>
                </a:solidFill>
                <a:latin typeface="PingFang SC"/>
              </a:rPr>
              <a:t>从</a:t>
            </a:r>
            <a:r>
              <a:rPr lang="zh-CN" altLang="en-US" sz="2400" dirty="0"/>
              <a:t>时钟有效沿触发开始，触发器的输出数据达到稳定所需的时间</a:t>
            </a:r>
            <a:endParaRPr lang="en-US" altLang="zh-CN" sz="2400" dirty="0"/>
          </a:p>
          <a:p>
            <a:r>
              <a:rPr lang="zh-CN" altLang="en-US" sz="2400" b="0" i="0" dirty="0">
                <a:solidFill>
                  <a:srgbClr val="333333"/>
                </a:solidFill>
                <a:effectLst/>
                <a:latin typeface="PingFang SC"/>
              </a:rPr>
              <a:t>‌</a:t>
            </a:r>
            <a:r>
              <a:rPr lang="zh-CN" altLang="en-US" sz="2400" b="1" i="0" dirty="0">
                <a:solidFill>
                  <a:srgbClr val="FF0000"/>
                </a:solidFill>
                <a:effectLst/>
                <a:latin typeface="PingFang SC"/>
              </a:rPr>
              <a:t>时钟到输出的最小延迟</a:t>
            </a:r>
            <a:r>
              <a:rPr lang="en-US" altLang="zh-CN" sz="2400" b="1" i="0" dirty="0" err="1">
                <a:solidFill>
                  <a:srgbClr val="FF0000"/>
                </a:solidFill>
                <a:effectLst/>
                <a:latin typeface="PingFang SC"/>
              </a:rPr>
              <a:t>T</a:t>
            </a:r>
            <a:r>
              <a:rPr lang="en-US" altLang="zh-CN" sz="2400" b="1" i="0" baseline="-25000" dirty="0" err="1">
                <a:solidFill>
                  <a:srgbClr val="FF0000"/>
                </a:solidFill>
                <a:effectLst/>
                <a:latin typeface="PingFang SC"/>
              </a:rPr>
              <a:t>co_min</a:t>
            </a:r>
            <a:r>
              <a:rPr lang="zh-CN" altLang="en-US" sz="2400" b="0" i="0" baseline="-25000" dirty="0">
                <a:solidFill>
                  <a:srgbClr val="333333"/>
                </a:solidFill>
                <a:effectLst/>
                <a:latin typeface="PingFang SC"/>
              </a:rPr>
              <a:t>‌</a:t>
            </a:r>
            <a:r>
              <a:rPr lang="zh-CN" altLang="en-US" sz="2400" b="0" i="0" dirty="0">
                <a:solidFill>
                  <a:srgbClr val="333333"/>
                </a:solidFill>
                <a:effectLst/>
                <a:latin typeface="PingFang SC"/>
              </a:rPr>
              <a:t> ：从时钟有效边沿触发开始，</a:t>
            </a:r>
            <a:r>
              <a:rPr lang="zh-CN" altLang="en-US" sz="2400" dirty="0"/>
              <a:t>触发器的</a:t>
            </a:r>
            <a:r>
              <a:rPr lang="zh-CN" altLang="en-US" sz="2400" b="0" i="0" dirty="0">
                <a:solidFill>
                  <a:srgbClr val="333333"/>
                </a:solidFill>
                <a:effectLst/>
                <a:latin typeface="PingFang SC"/>
              </a:rPr>
              <a:t>输出数据开始变化的最短时间。</a:t>
            </a:r>
            <a:endParaRPr lang="en-US" altLang="zh-CN" sz="2400" b="0" i="1" dirty="0">
              <a:solidFill>
                <a:srgbClr val="333333"/>
              </a:solidFill>
              <a:effectLst/>
              <a:latin typeface="KaTeX_Math"/>
            </a:endParaRPr>
          </a:p>
        </p:txBody>
      </p:sp>
      <p:sp>
        <p:nvSpPr>
          <p:cNvPr id="4" name="内容占位符 2">
            <a:extLst>
              <a:ext uri="{FF2B5EF4-FFF2-40B4-BE49-F238E27FC236}">
                <a16:creationId xmlns:a16="http://schemas.microsoft.com/office/drawing/2014/main" id="{F1FEE6AC-23AB-5E9C-9336-336A66425C11}"/>
              </a:ext>
            </a:extLst>
          </p:cNvPr>
          <p:cNvSpPr txBox="1">
            <a:spLocks/>
          </p:cNvSpPr>
          <p:nvPr/>
        </p:nvSpPr>
        <p:spPr>
          <a:xfrm>
            <a:off x="677333" y="3138045"/>
            <a:ext cx="10734471" cy="271377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altLang="zh-CN" sz="2400" b="1" i="1" dirty="0">
                <a:solidFill>
                  <a:srgbClr val="FF0000"/>
                </a:solidFill>
                <a:latin typeface="KaTeX_Math"/>
              </a:rPr>
              <a:t> </a:t>
            </a:r>
            <a:r>
              <a:rPr lang="en-US" altLang="zh-CN" sz="2400" b="1" i="1" dirty="0" err="1">
                <a:solidFill>
                  <a:srgbClr val="FF0000"/>
                </a:solidFill>
                <a:latin typeface="KaTeX_Math"/>
              </a:rPr>
              <a:t>T</a:t>
            </a:r>
            <a:r>
              <a:rPr lang="en-US" altLang="zh-CN" sz="2400" b="1" i="1" baseline="-25000" dirty="0" err="1">
                <a:solidFill>
                  <a:srgbClr val="FF0000"/>
                </a:solidFill>
                <a:latin typeface="KaTeX_Math"/>
              </a:rPr>
              <a:t>co</a:t>
            </a:r>
            <a:r>
              <a:rPr lang="en-US" altLang="zh-CN" sz="2400" b="1" dirty="0">
                <a:solidFill>
                  <a:srgbClr val="FF0000"/>
                </a:solidFill>
                <a:latin typeface="KaTeX_Main"/>
              </a:rPr>
              <a:t> </a:t>
            </a:r>
            <a:r>
              <a:rPr lang="zh-CN" altLang="en-US" sz="2400" b="1" dirty="0">
                <a:solidFill>
                  <a:srgbClr val="FF0000"/>
                </a:solidFill>
                <a:latin typeface="KaTeX_Main"/>
              </a:rPr>
              <a:t>​</a:t>
            </a:r>
            <a:r>
              <a:rPr lang="en-US" altLang="zh-CN" sz="2400" b="1" dirty="0">
                <a:solidFill>
                  <a:srgbClr val="FF0000"/>
                </a:solidFill>
                <a:latin typeface="KaTeX_Main"/>
              </a:rPr>
              <a:t>+ </a:t>
            </a:r>
            <a:r>
              <a:rPr lang="en-US" altLang="zh-CN" sz="2400" b="1" i="1" dirty="0" err="1">
                <a:solidFill>
                  <a:srgbClr val="FF0000"/>
                </a:solidFill>
                <a:latin typeface="KaTeX_Math"/>
              </a:rPr>
              <a:t>T</a:t>
            </a:r>
            <a:r>
              <a:rPr lang="en-US" altLang="zh-CN" sz="2400" b="1" i="1" baseline="-25000" dirty="0" err="1">
                <a:solidFill>
                  <a:srgbClr val="FF0000"/>
                </a:solidFill>
                <a:latin typeface="KaTeX_Math"/>
              </a:rPr>
              <a:t>pd</a:t>
            </a:r>
            <a:r>
              <a:rPr lang="en-US" altLang="zh-CN" sz="2400" b="1" dirty="0">
                <a:solidFill>
                  <a:srgbClr val="FF0000"/>
                </a:solidFill>
                <a:latin typeface="KaTeX_Main"/>
              </a:rPr>
              <a:t> ​  </a:t>
            </a:r>
            <a:r>
              <a:rPr lang="zh-CN" altLang="en-US" sz="2400" b="1" dirty="0">
                <a:solidFill>
                  <a:srgbClr val="FF0000"/>
                </a:solidFill>
                <a:latin typeface="KaTeX_Main"/>
              </a:rPr>
              <a:t>≤</a:t>
            </a:r>
            <a:r>
              <a:rPr lang="en-US" altLang="zh-CN" sz="2400" b="1" i="1" dirty="0">
                <a:solidFill>
                  <a:srgbClr val="FF0000"/>
                </a:solidFill>
                <a:latin typeface="KaTeX_Math"/>
              </a:rPr>
              <a:t>  </a:t>
            </a:r>
            <a:r>
              <a:rPr lang="en-US" altLang="zh-CN" sz="2400" b="1" i="1" dirty="0" err="1">
                <a:solidFill>
                  <a:srgbClr val="FF0000"/>
                </a:solidFill>
                <a:latin typeface="KaTeX_Math"/>
              </a:rPr>
              <a:t>T</a:t>
            </a:r>
            <a:r>
              <a:rPr lang="en-US" altLang="zh-CN" sz="2400" b="1" baseline="-25000" dirty="0" err="1">
                <a:solidFill>
                  <a:srgbClr val="FF0000"/>
                </a:solidFill>
                <a:latin typeface="KaTeX_Main"/>
              </a:rPr>
              <a:t>clock</a:t>
            </a:r>
            <a:r>
              <a:rPr lang="en-US" altLang="zh-CN" sz="2400" b="1" dirty="0">
                <a:solidFill>
                  <a:srgbClr val="FF0000"/>
                </a:solidFill>
                <a:latin typeface="KaTeX_Main"/>
              </a:rPr>
              <a:t>  - </a:t>
            </a:r>
            <a:r>
              <a:rPr lang="en-US" altLang="zh-CN" sz="2400" b="1" i="1" dirty="0">
                <a:solidFill>
                  <a:srgbClr val="FF0000"/>
                </a:solidFill>
                <a:latin typeface="KaTeX_Math"/>
              </a:rPr>
              <a:t>T</a:t>
            </a:r>
            <a:r>
              <a:rPr lang="en-US" altLang="zh-CN" sz="2400" b="1" i="1" baseline="-25000" dirty="0">
                <a:solidFill>
                  <a:srgbClr val="FF0000"/>
                </a:solidFill>
                <a:latin typeface="KaTeX_Math"/>
              </a:rPr>
              <a:t>su </a:t>
            </a:r>
            <a:endParaRPr lang="en-US" altLang="zh-CN" sz="2400" dirty="0">
              <a:solidFill>
                <a:srgbClr val="333333"/>
              </a:solidFill>
              <a:latin typeface="PingFang SC"/>
            </a:endParaRPr>
          </a:p>
          <a:p>
            <a:pPr marL="0" indent="0">
              <a:buNone/>
            </a:pPr>
            <a:r>
              <a:rPr lang="zh-CN" altLang="en-US" sz="2400" b="1" dirty="0">
                <a:solidFill>
                  <a:srgbClr val="333333"/>
                </a:solidFill>
                <a:latin typeface="PingFang SC"/>
              </a:rPr>
              <a:t>物理意义</a:t>
            </a:r>
            <a:r>
              <a:rPr lang="zh-CN" altLang="en-US" sz="2400" dirty="0">
                <a:solidFill>
                  <a:srgbClr val="333333"/>
                </a:solidFill>
                <a:latin typeface="PingFang SC"/>
              </a:rPr>
              <a:t>‌：数据从</a:t>
            </a:r>
            <a:r>
              <a:rPr lang="zh-CN" altLang="en-US" sz="2400" dirty="0">
                <a:solidFill>
                  <a:srgbClr val="0000FF"/>
                </a:solidFill>
                <a:latin typeface="PingFang SC"/>
              </a:rPr>
              <a:t>源触发器</a:t>
            </a:r>
            <a:r>
              <a:rPr lang="en-US" altLang="zh-CN" sz="2400" dirty="0">
                <a:solidFill>
                  <a:srgbClr val="333333"/>
                </a:solidFill>
                <a:latin typeface="PingFang SC"/>
              </a:rPr>
              <a:t>Q</a:t>
            </a:r>
            <a:r>
              <a:rPr lang="zh-CN" altLang="en-US" sz="2400" dirty="0">
                <a:solidFill>
                  <a:srgbClr val="333333"/>
                </a:solidFill>
                <a:latin typeface="PingFang SC"/>
              </a:rPr>
              <a:t>端稳定输出（</a:t>
            </a:r>
            <a:r>
              <a:rPr lang="en-US" altLang="zh-CN" sz="2400" dirty="0" err="1">
                <a:solidFill>
                  <a:srgbClr val="333333"/>
                </a:solidFill>
                <a:latin typeface="KaTeX_Main"/>
              </a:rPr>
              <a:t>T</a:t>
            </a:r>
            <a:r>
              <a:rPr lang="en-US" altLang="zh-CN" sz="2400" baseline="-25000" dirty="0" err="1">
                <a:solidFill>
                  <a:srgbClr val="333333"/>
                </a:solidFill>
                <a:latin typeface="KaTeX_Main"/>
              </a:rPr>
              <a:t>co</a:t>
            </a:r>
            <a:r>
              <a:rPr lang="zh-CN" altLang="en-US" sz="2400" dirty="0">
                <a:solidFill>
                  <a:srgbClr val="333333"/>
                </a:solidFill>
                <a:latin typeface="KaTeX_Main"/>
              </a:rPr>
              <a:t>​</a:t>
            </a:r>
            <a:r>
              <a:rPr lang="zh-CN" altLang="en-US" sz="2400" dirty="0">
                <a:solidFill>
                  <a:srgbClr val="333333"/>
                </a:solidFill>
                <a:latin typeface="PingFang SC"/>
              </a:rPr>
              <a:t>）</a:t>
            </a:r>
            <a:r>
              <a:rPr lang="zh-CN" altLang="en-US" sz="2400" b="1" dirty="0">
                <a:solidFill>
                  <a:srgbClr val="333333"/>
                </a:solidFill>
                <a:latin typeface="PingFang SC"/>
              </a:rPr>
              <a:t>到</a:t>
            </a:r>
            <a:r>
              <a:rPr lang="zh-CN" altLang="en-US" sz="2400" dirty="0">
                <a:solidFill>
                  <a:srgbClr val="333333"/>
                </a:solidFill>
                <a:latin typeface="PingFang SC"/>
              </a:rPr>
              <a:t> 通过组合逻辑最长路径（</a:t>
            </a:r>
            <a:r>
              <a:rPr lang="en-US" altLang="zh-CN" sz="2400" dirty="0" err="1">
                <a:solidFill>
                  <a:srgbClr val="333333"/>
                </a:solidFill>
                <a:latin typeface="KaTeX_Main"/>
              </a:rPr>
              <a:t>T</a:t>
            </a:r>
            <a:r>
              <a:rPr lang="en-US" altLang="zh-CN" sz="2400" baseline="-25000" dirty="0" err="1">
                <a:solidFill>
                  <a:srgbClr val="333333"/>
                </a:solidFill>
                <a:latin typeface="KaTeX_Main"/>
              </a:rPr>
              <a:t>pd</a:t>
            </a:r>
            <a:r>
              <a:rPr lang="zh-CN" altLang="en-US" sz="2400" dirty="0">
                <a:solidFill>
                  <a:srgbClr val="333333"/>
                </a:solidFill>
                <a:latin typeface="PingFang SC"/>
              </a:rPr>
              <a:t>）</a:t>
            </a:r>
            <a:r>
              <a:rPr lang="zh-CN" altLang="en-US" sz="2400" b="1" dirty="0">
                <a:solidFill>
                  <a:srgbClr val="333333"/>
                </a:solidFill>
                <a:latin typeface="PingFang SC"/>
              </a:rPr>
              <a:t>，</a:t>
            </a:r>
            <a:r>
              <a:rPr lang="zh-CN" altLang="en-US" sz="2400" dirty="0">
                <a:solidFill>
                  <a:srgbClr val="333333"/>
                </a:solidFill>
                <a:latin typeface="PingFang SC"/>
              </a:rPr>
              <a:t> 在</a:t>
            </a:r>
            <a:r>
              <a:rPr lang="zh-CN" altLang="en-US" sz="2400" dirty="0">
                <a:solidFill>
                  <a:srgbClr val="0000FF"/>
                </a:solidFill>
                <a:latin typeface="PingFang SC"/>
              </a:rPr>
              <a:t>目标触发器</a:t>
            </a:r>
            <a:r>
              <a:rPr lang="zh-CN" altLang="en-US" sz="2400" dirty="0">
                <a:solidFill>
                  <a:srgbClr val="333333"/>
                </a:solidFill>
                <a:latin typeface="PingFang SC"/>
              </a:rPr>
              <a:t>时钟边沿前至少</a:t>
            </a:r>
            <a:r>
              <a:rPr lang="en-US" altLang="zh-CN" sz="2400" dirty="0">
                <a:solidFill>
                  <a:srgbClr val="333333"/>
                </a:solidFill>
                <a:latin typeface="KaTeX_Main"/>
              </a:rPr>
              <a:t>T</a:t>
            </a:r>
            <a:r>
              <a:rPr lang="en-US" altLang="zh-CN" sz="2400" baseline="-25000" dirty="0">
                <a:solidFill>
                  <a:srgbClr val="333333"/>
                </a:solidFill>
                <a:latin typeface="KaTeX_Main"/>
              </a:rPr>
              <a:t>su</a:t>
            </a:r>
            <a:r>
              <a:rPr lang="zh-CN" altLang="en-US" sz="2400" dirty="0">
                <a:solidFill>
                  <a:srgbClr val="333333"/>
                </a:solidFill>
                <a:latin typeface="PingFang SC"/>
              </a:rPr>
              <a:t>稳定。</a:t>
            </a:r>
          </a:p>
          <a:p>
            <a:r>
              <a:rPr lang="en-US" altLang="zh-CN" sz="2400" dirty="0">
                <a:solidFill>
                  <a:srgbClr val="333333"/>
                </a:solidFill>
                <a:latin typeface="PingFang SC"/>
              </a:rPr>
              <a:t> </a:t>
            </a:r>
            <a:r>
              <a:rPr lang="en-US" altLang="zh-CN" sz="2400" b="1" dirty="0" err="1">
                <a:solidFill>
                  <a:srgbClr val="FF0000"/>
                </a:solidFill>
                <a:latin typeface="PingFang SC"/>
              </a:rPr>
              <a:t>T</a:t>
            </a:r>
            <a:r>
              <a:rPr lang="en-US" altLang="zh-CN" sz="2400" b="1" baseline="-25000" dirty="0" err="1">
                <a:solidFill>
                  <a:srgbClr val="FF0000"/>
                </a:solidFill>
                <a:latin typeface="PingFang SC"/>
              </a:rPr>
              <a:t>co_min</a:t>
            </a:r>
            <a:r>
              <a:rPr lang="en-US" altLang="zh-CN" sz="2400" b="1" baseline="-25000" dirty="0">
                <a:solidFill>
                  <a:srgbClr val="FF0000"/>
                </a:solidFill>
                <a:latin typeface="PingFang SC"/>
              </a:rPr>
              <a:t>  </a:t>
            </a:r>
            <a:r>
              <a:rPr lang="zh-CN" altLang="en-US" sz="2400" b="1" dirty="0">
                <a:solidFill>
                  <a:srgbClr val="FF0000"/>
                </a:solidFill>
                <a:latin typeface="KaTeX_Main"/>
              </a:rPr>
              <a:t>​</a:t>
            </a:r>
            <a:r>
              <a:rPr lang="en-US" altLang="zh-CN" sz="2400" b="1" dirty="0">
                <a:solidFill>
                  <a:srgbClr val="FF0000"/>
                </a:solidFill>
                <a:latin typeface="KaTeX_Main"/>
              </a:rPr>
              <a:t>+ </a:t>
            </a:r>
            <a:r>
              <a:rPr lang="en-US" altLang="zh-CN" sz="2400" b="1" i="1" dirty="0" err="1">
                <a:solidFill>
                  <a:srgbClr val="FF0000"/>
                </a:solidFill>
                <a:latin typeface="KaTeX_Math"/>
              </a:rPr>
              <a:t>T</a:t>
            </a:r>
            <a:r>
              <a:rPr lang="en-US" altLang="zh-CN" sz="2400" b="1" i="1" baseline="-25000" dirty="0" err="1">
                <a:solidFill>
                  <a:srgbClr val="FF0000"/>
                </a:solidFill>
                <a:latin typeface="KaTeX_Math"/>
              </a:rPr>
              <a:t>cd</a:t>
            </a:r>
            <a:r>
              <a:rPr lang="zh-CN" altLang="en-US" sz="2400" b="1" dirty="0">
                <a:solidFill>
                  <a:srgbClr val="FF0000"/>
                </a:solidFill>
                <a:latin typeface="KaTeX_Main"/>
              </a:rPr>
              <a:t>​</a:t>
            </a:r>
            <a:r>
              <a:rPr lang="zh-CN" altLang="en-US" sz="2400" b="1" dirty="0">
                <a:solidFill>
                  <a:srgbClr val="FF0000"/>
                </a:solidFill>
                <a:latin typeface="PingFang SC"/>
              </a:rPr>
              <a:t>‌ </a:t>
            </a:r>
            <a:r>
              <a:rPr lang="en-US" altLang="zh-CN" sz="2400" b="1" i="1" dirty="0">
                <a:solidFill>
                  <a:srgbClr val="FF0000"/>
                </a:solidFill>
                <a:latin typeface="KaTeX_Math"/>
              </a:rPr>
              <a:t> </a:t>
            </a:r>
            <a:r>
              <a:rPr lang="en-US" altLang="zh-CN" sz="2400" b="1" dirty="0">
                <a:solidFill>
                  <a:srgbClr val="FF0000"/>
                </a:solidFill>
                <a:latin typeface="KaTeX_Main"/>
              </a:rPr>
              <a:t>​≥  </a:t>
            </a:r>
            <a:r>
              <a:rPr lang="en-US" altLang="zh-CN" sz="2400" b="1" i="1" dirty="0">
                <a:solidFill>
                  <a:srgbClr val="FF0000"/>
                </a:solidFill>
                <a:latin typeface="KaTeX_Math"/>
              </a:rPr>
              <a:t>T</a:t>
            </a:r>
            <a:r>
              <a:rPr lang="en-US" altLang="zh-CN" sz="2400" b="1" i="1" baseline="-25000" dirty="0">
                <a:solidFill>
                  <a:srgbClr val="FF0000"/>
                </a:solidFill>
                <a:latin typeface="KaTeX_Math"/>
              </a:rPr>
              <a:t>h</a:t>
            </a:r>
            <a:endParaRPr lang="en-US" altLang="zh-CN" sz="2400" b="1" dirty="0">
              <a:solidFill>
                <a:srgbClr val="FF0000"/>
              </a:solidFill>
              <a:latin typeface="PingFang SC"/>
            </a:endParaRPr>
          </a:p>
          <a:p>
            <a:pPr marL="0" indent="0">
              <a:buFont typeface="Wingdings 3" charset="2"/>
              <a:buNone/>
            </a:pPr>
            <a:r>
              <a:rPr lang="zh-CN" altLang="en-US" sz="2400" b="1" dirty="0">
                <a:solidFill>
                  <a:srgbClr val="333333"/>
                </a:solidFill>
                <a:latin typeface="PingFang SC"/>
              </a:rPr>
              <a:t>物理意义 </a:t>
            </a:r>
            <a:r>
              <a:rPr lang="zh-CN" altLang="en-US" sz="2400" dirty="0">
                <a:solidFill>
                  <a:srgbClr val="333333"/>
                </a:solidFill>
                <a:latin typeface="PingFang SC"/>
              </a:rPr>
              <a:t>‌：数据从</a:t>
            </a:r>
            <a:r>
              <a:rPr lang="zh-CN" altLang="en-US" sz="2400" dirty="0">
                <a:solidFill>
                  <a:srgbClr val="0000FF"/>
                </a:solidFill>
                <a:latin typeface="PingFang SC"/>
              </a:rPr>
              <a:t>源触发器</a:t>
            </a:r>
            <a:r>
              <a:rPr lang="en-US" altLang="zh-CN" sz="2400" dirty="0">
                <a:solidFill>
                  <a:srgbClr val="333333"/>
                </a:solidFill>
                <a:latin typeface="PingFang SC"/>
              </a:rPr>
              <a:t>Q</a:t>
            </a:r>
            <a:r>
              <a:rPr lang="zh-CN" altLang="en-US" sz="2400" dirty="0">
                <a:solidFill>
                  <a:srgbClr val="333333"/>
                </a:solidFill>
                <a:latin typeface="PingFang SC"/>
              </a:rPr>
              <a:t>端开始输出（</a:t>
            </a:r>
            <a:r>
              <a:rPr lang="en-US" altLang="zh-CN" sz="2400" dirty="0">
                <a:solidFill>
                  <a:srgbClr val="333333"/>
                </a:solidFill>
                <a:latin typeface="PingFang SC"/>
              </a:rPr>
              <a:t> </a:t>
            </a:r>
            <a:r>
              <a:rPr lang="en-US" altLang="zh-CN" sz="2400" dirty="0" err="1">
                <a:solidFill>
                  <a:srgbClr val="333333"/>
                </a:solidFill>
                <a:latin typeface="PingFang SC"/>
              </a:rPr>
              <a:t>T</a:t>
            </a:r>
            <a:r>
              <a:rPr lang="en-US" altLang="zh-CN" sz="2400" baseline="-25000" dirty="0" err="1">
                <a:solidFill>
                  <a:srgbClr val="333333"/>
                </a:solidFill>
                <a:latin typeface="PingFang SC"/>
              </a:rPr>
              <a:t>co_min</a:t>
            </a:r>
            <a:r>
              <a:rPr lang="en-US" altLang="zh-CN" sz="2400" baseline="-25000" dirty="0">
                <a:solidFill>
                  <a:srgbClr val="333333"/>
                </a:solidFill>
                <a:latin typeface="PingFang SC"/>
              </a:rPr>
              <a:t> </a:t>
            </a:r>
            <a:r>
              <a:rPr lang="zh-CN" altLang="en-US" sz="2400" dirty="0">
                <a:solidFill>
                  <a:srgbClr val="333333"/>
                </a:solidFill>
                <a:latin typeface="KaTeX_Main"/>
              </a:rPr>
              <a:t>​</a:t>
            </a:r>
            <a:r>
              <a:rPr lang="zh-CN" altLang="en-US" sz="2400" dirty="0">
                <a:solidFill>
                  <a:srgbClr val="333333"/>
                </a:solidFill>
                <a:latin typeface="PingFang SC"/>
              </a:rPr>
              <a:t>）到 通过组合逻辑最短路径（</a:t>
            </a:r>
            <a:r>
              <a:rPr lang="en-US" altLang="zh-CN" sz="2400" dirty="0" err="1">
                <a:solidFill>
                  <a:srgbClr val="333333"/>
                </a:solidFill>
                <a:latin typeface="KaTeX_Main"/>
              </a:rPr>
              <a:t>T</a:t>
            </a:r>
            <a:r>
              <a:rPr lang="en-US" altLang="zh-CN" sz="2400" baseline="-25000" dirty="0" err="1">
                <a:solidFill>
                  <a:srgbClr val="333333"/>
                </a:solidFill>
                <a:latin typeface="KaTeX_Main"/>
              </a:rPr>
              <a:t>cd</a:t>
            </a:r>
            <a:r>
              <a:rPr lang="zh-CN" altLang="en-US" sz="2400" dirty="0">
                <a:solidFill>
                  <a:srgbClr val="333333"/>
                </a:solidFill>
                <a:latin typeface="PingFang SC"/>
              </a:rPr>
              <a:t>）</a:t>
            </a:r>
            <a:r>
              <a:rPr lang="zh-CN" altLang="en-US" sz="2400" b="1" dirty="0">
                <a:solidFill>
                  <a:srgbClr val="FF0000"/>
                </a:solidFill>
                <a:latin typeface="KaTeX_Main"/>
              </a:rPr>
              <a:t> </a:t>
            </a:r>
            <a:r>
              <a:rPr lang="zh-CN" altLang="en-US" sz="2400" dirty="0">
                <a:solidFill>
                  <a:srgbClr val="333333"/>
                </a:solidFill>
                <a:latin typeface="PingFang SC"/>
              </a:rPr>
              <a:t>，在</a:t>
            </a:r>
            <a:r>
              <a:rPr lang="zh-CN" altLang="en-US" sz="2400" dirty="0">
                <a:solidFill>
                  <a:srgbClr val="0000FF"/>
                </a:solidFill>
                <a:latin typeface="PingFang SC"/>
              </a:rPr>
              <a:t>目标触发器</a:t>
            </a:r>
            <a:r>
              <a:rPr lang="zh-CN" altLang="en-US" sz="2400" dirty="0">
                <a:solidFill>
                  <a:srgbClr val="333333"/>
                </a:solidFill>
                <a:latin typeface="PingFang SC"/>
              </a:rPr>
              <a:t>时钟边沿后保持稳定至少</a:t>
            </a:r>
            <a:r>
              <a:rPr lang="en-US" altLang="zh-CN" sz="2400" dirty="0">
                <a:solidFill>
                  <a:srgbClr val="333333"/>
                </a:solidFill>
                <a:latin typeface="KaTeX_Main"/>
              </a:rPr>
              <a:t>T</a:t>
            </a:r>
            <a:r>
              <a:rPr lang="en-US" altLang="zh-CN" sz="2400" baseline="-25000" dirty="0">
                <a:solidFill>
                  <a:srgbClr val="333333"/>
                </a:solidFill>
                <a:latin typeface="KaTeX_Main"/>
              </a:rPr>
              <a:t>h</a:t>
            </a:r>
            <a:r>
              <a:rPr lang="zh-CN" altLang="en-US" sz="2400" dirty="0">
                <a:solidFill>
                  <a:srgbClr val="333333"/>
                </a:solidFill>
                <a:latin typeface="PingFang SC"/>
              </a:rPr>
              <a:t>。</a:t>
            </a:r>
            <a:endParaRPr lang="en-US" altLang="zh-CN" sz="2400" dirty="0">
              <a:solidFill>
                <a:srgbClr val="333333"/>
              </a:solidFill>
              <a:latin typeface="PingFang SC"/>
            </a:endParaRPr>
          </a:p>
          <a:p>
            <a:pPr marL="0" indent="0">
              <a:buFont typeface="Wingdings 3" charset="2"/>
              <a:buNone/>
            </a:pPr>
            <a:endParaRPr lang="zh-CN" altLang="en-US" dirty="0"/>
          </a:p>
        </p:txBody>
      </p:sp>
    </p:spTree>
    <p:extLst>
      <p:ext uri="{BB962C8B-B14F-4D97-AF65-F5344CB8AC3E}">
        <p14:creationId xmlns:p14="http://schemas.microsoft.com/office/powerpoint/2010/main" val="3437112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BF8D1-CDCD-2BB5-924A-F2D051BA2A3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B7EC90C-0FAC-53F1-8F5A-A2FFCBC28BB7}"/>
              </a:ext>
            </a:extLst>
          </p:cNvPr>
          <p:cNvSpPr>
            <a:spLocks noGrp="1"/>
          </p:cNvSpPr>
          <p:nvPr>
            <p:ph type="title"/>
          </p:nvPr>
        </p:nvSpPr>
        <p:spPr>
          <a:xfrm>
            <a:off x="677333" y="115483"/>
            <a:ext cx="8596668" cy="1320800"/>
          </a:xfrm>
        </p:spPr>
        <p:txBody>
          <a:bodyPr/>
          <a:lstStyle/>
          <a:p>
            <a:r>
              <a:rPr lang="zh-CN" altLang="en-US" dirty="0"/>
              <a:t>亚稳态</a:t>
            </a:r>
          </a:p>
        </p:txBody>
      </p:sp>
      <p:sp>
        <p:nvSpPr>
          <p:cNvPr id="3" name="内容占位符 2">
            <a:extLst>
              <a:ext uri="{FF2B5EF4-FFF2-40B4-BE49-F238E27FC236}">
                <a16:creationId xmlns:a16="http://schemas.microsoft.com/office/drawing/2014/main" id="{07750A36-05D2-BB50-4026-61556100E19D}"/>
              </a:ext>
            </a:extLst>
          </p:cNvPr>
          <p:cNvSpPr>
            <a:spLocks noGrp="1"/>
          </p:cNvSpPr>
          <p:nvPr>
            <p:ph idx="1"/>
          </p:nvPr>
        </p:nvSpPr>
        <p:spPr>
          <a:xfrm>
            <a:off x="677333" y="1187017"/>
            <a:ext cx="10806621" cy="4130040"/>
          </a:xfrm>
        </p:spPr>
        <p:txBody>
          <a:bodyPr/>
          <a:lstStyle/>
          <a:p>
            <a:pPr marL="0" indent="457200">
              <a:lnSpc>
                <a:spcPct val="110000"/>
              </a:lnSpc>
              <a:buNone/>
            </a:pPr>
            <a:r>
              <a:rPr lang="zh-CN" altLang="en-US" sz="2400" b="0" i="0" dirty="0">
                <a:solidFill>
                  <a:srgbClr val="191919"/>
                </a:solidFill>
                <a:effectLst/>
                <a:latin typeface="PingFang SC"/>
              </a:rPr>
              <a:t>如果信号不能在目的寄存器的建立时间和保持时间定义的窗口内保持稳定，那么目的寄存器的输出有可能进入</a:t>
            </a:r>
            <a:r>
              <a:rPr lang="zh-CN" altLang="en-US" sz="2400" b="1" i="0" dirty="0">
                <a:solidFill>
                  <a:srgbClr val="191919"/>
                </a:solidFill>
                <a:effectLst/>
                <a:latin typeface="PingFang SC"/>
              </a:rPr>
              <a:t>非</a:t>
            </a:r>
            <a:r>
              <a:rPr lang="en-US" altLang="zh-CN" sz="2400" b="1" i="0" dirty="0">
                <a:solidFill>
                  <a:srgbClr val="191919"/>
                </a:solidFill>
                <a:effectLst/>
                <a:latin typeface="PingFang SC"/>
              </a:rPr>
              <a:t>0</a:t>
            </a:r>
            <a:r>
              <a:rPr lang="zh-CN" altLang="en-US" sz="2400" b="1" i="0" dirty="0">
                <a:solidFill>
                  <a:srgbClr val="191919"/>
                </a:solidFill>
                <a:effectLst/>
                <a:latin typeface="PingFang SC"/>
              </a:rPr>
              <a:t>非</a:t>
            </a:r>
            <a:r>
              <a:rPr lang="en-US" altLang="zh-CN" sz="2400" b="1" i="0" dirty="0">
                <a:solidFill>
                  <a:srgbClr val="191919"/>
                </a:solidFill>
                <a:effectLst/>
                <a:latin typeface="PingFang SC"/>
              </a:rPr>
              <a:t>1</a:t>
            </a:r>
            <a:r>
              <a:rPr lang="zh-CN" altLang="en-US" sz="2400" b="0" i="0" dirty="0">
                <a:solidFill>
                  <a:srgbClr val="191919"/>
                </a:solidFill>
                <a:effectLst/>
                <a:latin typeface="PingFang SC"/>
              </a:rPr>
              <a:t>的不确定状态，这个状态称为</a:t>
            </a:r>
            <a:r>
              <a:rPr lang="zh-CN" altLang="en-US" sz="2400" b="1" i="0" dirty="0">
                <a:solidFill>
                  <a:srgbClr val="191919"/>
                </a:solidFill>
                <a:effectLst/>
                <a:latin typeface="PingFang SC"/>
              </a:rPr>
              <a:t>亚稳态</a:t>
            </a:r>
            <a:r>
              <a:rPr lang="zh-CN" altLang="en-US" sz="2400" b="0" i="0" dirty="0">
                <a:solidFill>
                  <a:srgbClr val="191919"/>
                </a:solidFill>
                <a:effectLst/>
                <a:latin typeface="PingFang SC"/>
              </a:rPr>
              <a:t>（</a:t>
            </a:r>
            <a:r>
              <a:rPr lang="en-US" altLang="zh-CN" sz="2400" b="0" i="0" dirty="0">
                <a:solidFill>
                  <a:srgbClr val="191919"/>
                </a:solidFill>
                <a:effectLst/>
                <a:latin typeface="PingFang SC"/>
              </a:rPr>
              <a:t>metastability</a:t>
            </a:r>
            <a:r>
              <a:rPr lang="zh-CN" altLang="en-US" sz="2400" b="0" i="0" dirty="0">
                <a:solidFill>
                  <a:srgbClr val="191919"/>
                </a:solidFill>
                <a:effectLst/>
                <a:latin typeface="PingFang SC"/>
              </a:rPr>
              <a:t>）。相应的，把目的寄存器脱离亚稳态进入稳态的时间称为</a:t>
            </a:r>
            <a:r>
              <a:rPr lang="zh-CN" altLang="en-US" sz="2400" b="1" i="0" dirty="0">
                <a:solidFill>
                  <a:srgbClr val="191919"/>
                </a:solidFill>
                <a:effectLst/>
                <a:latin typeface="PingFang SC"/>
              </a:rPr>
              <a:t>决断时间</a:t>
            </a:r>
            <a:r>
              <a:rPr lang="zh-CN" altLang="en-US" sz="2400" b="0" i="0" dirty="0">
                <a:solidFill>
                  <a:srgbClr val="191919"/>
                </a:solidFill>
                <a:effectLst/>
                <a:latin typeface="PingFang SC"/>
              </a:rPr>
              <a:t>（</a:t>
            </a:r>
            <a:r>
              <a:rPr lang="en-US" altLang="zh-CN" sz="2400" b="0" i="0" dirty="0">
                <a:solidFill>
                  <a:srgbClr val="191919"/>
                </a:solidFill>
                <a:effectLst/>
                <a:latin typeface="PingFang SC"/>
              </a:rPr>
              <a:t>resolution time</a:t>
            </a:r>
            <a:r>
              <a:rPr lang="zh-CN" altLang="en-US" sz="2400" b="0" i="0" dirty="0">
                <a:solidFill>
                  <a:srgbClr val="191919"/>
                </a:solidFill>
                <a:effectLst/>
                <a:latin typeface="PingFang SC"/>
              </a:rPr>
              <a:t>），用</a:t>
            </a:r>
            <a:r>
              <a:rPr lang="en-US" altLang="zh-CN" sz="2400" b="1" i="0" dirty="0">
                <a:solidFill>
                  <a:srgbClr val="191919"/>
                </a:solidFill>
                <a:effectLst/>
                <a:latin typeface="PingFang SC"/>
              </a:rPr>
              <a:t>t</a:t>
            </a:r>
            <a:r>
              <a:rPr lang="en-US" altLang="zh-CN" sz="2400" b="1" i="0" baseline="-25000" dirty="0">
                <a:solidFill>
                  <a:srgbClr val="191919"/>
                </a:solidFill>
                <a:effectLst/>
                <a:latin typeface="PingFang SC"/>
              </a:rPr>
              <a:t>met</a:t>
            </a:r>
            <a:r>
              <a:rPr lang="zh-CN" altLang="en-US" sz="2400" b="0" i="0" dirty="0">
                <a:solidFill>
                  <a:srgbClr val="191919"/>
                </a:solidFill>
                <a:effectLst/>
                <a:latin typeface="PingFang SC"/>
              </a:rPr>
              <a:t>表示。经过决断时间后，目的寄存器的输出最终稳定到</a:t>
            </a:r>
            <a:r>
              <a:rPr lang="en-US" altLang="zh-CN" sz="2400" b="0" i="0" dirty="0">
                <a:solidFill>
                  <a:srgbClr val="191919"/>
                </a:solidFill>
                <a:effectLst/>
                <a:latin typeface="PingFang SC"/>
              </a:rPr>
              <a:t>0</a:t>
            </a:r>
            <a:r>
              <a:rPr lang="zh-CN" altLang="en-US" sz="2400" b="0" i="0" dirty="0">
                <a:solidFill>
                  <a:srgbClr val="191919"/>
                </a:solidFill>
                <a:effectLst/>
                <a:latin typeface="PingFang SC"/>
              </a:rPr>
              <a:t>还是</a:t>
            </a:r>
            <a:r>
              <a:rPr lang="en-US" altLang="zh-CN" sz="2400" b="0" i="0" dirty="0">
                <a:solidFill>
                  <a:srgbClr val="191919"/>
                </a:solidFill>
                <a:effectLst/>
                <a:latin typeface="PingFang SC"/>
              </a:rPr>
              <a:t>1</a:t>
            </a:r>
            <a:r>
              <a:rPr lang="zh-CN" altLang="en-US" sz="2400" b="0" i="0" dirty="0">
                <a:solidFill>
                  <a:srgbClr val="191919"/>
                </a:solidFill>
                <a:effectLst/>
                <a:latin typeface="PingFang SC"/>
              </a:rPr>
              <a:t>是随机的，与输入信号没有必然的关系。</a:t>
            </a:r>
            <a:endParaRPr lang="zh-CN" altLang="en-US" sz="2400" dirty="0"/>
          </a:p>
        </p:txBody>
      </p:sp>
      <p:pic>
        <p:nvPicPr>
          <p:cNvPr id="5" name="图片 4">
            <a:extLst>
              <a:ext uri="{FF2B5EF4-FFF2-40B4-BE49-F238E27FC236}">
                <a16:creationId xmlns:a16="http://schemas.microsoft.com/office/drawing/2014/main" id="{6682B782-2C16-9560-0213-FB41BC066849}"/>
              </a:ext>
            </a:extLst>
          </p:cNvPr>
          <p:cNvPicPr>
            <a:picLocks noChangeAspect="1"/>
          </p:cNvPicPr>
          <p:nvPr/>
        </p:nvPicPr>
        <p:blipFill>
          <a:blip r:embed="rId2"/>
          <a:srcRect b="11368"/>
          <a:stretch/>
        </p:blipFill>
        <p:spPr>
          <a:xfrm>
            <a:off x="3524930" y="3342955"/>
            <a:ext cx="5142140" cy="3071193"/>
          </a:xfrm>
          <a:prstGeom prst="rect">
            <a:avLst/>
          </a:prstGeom>
        </p:spPr>
      </p:pic>
    </p:spTree>
    <p:extLst>
      <p:ext uri="{BB962C8B-B14F-4D97-AF65-F5344CB8AC3E}">
        <p14:creationId xmlns:p14="http://schemas.microsoft.com/office/powerpoint/2010/main" val="518884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F201BE-2E86-09DD-21E5-75775F3D30FF}"/>
              </a:ext>
            </a:extLst>
          </p:cNvPr>
          <p:cNvSpPr>
            <a:spLocks noGrp="1"/>
          </p:cNvSpPr>
          <p:nvPr>
            <p:ph type="title"/>
          </p:nvPr>
        </p:nvSpPr>
        <p:spPr>
          <a:xfrm>
            <a:off x="677334" y="57151"/>
            <a:ext cx="8596668" cy="1320800"/>
          </a:xfrm>
        </p:spPr>
        <p:txBody>
          <a:bodyPr/>
          <a:lstStyle/>
          <a:p>
            <a:r>
              <a:rPr lang="en-US" altLang="zh-CN" dirty="0"/>
              <a:t>1.2.2  </a:t>
            </a:r>
            <a:r>
              <a:rPr lang="zh-CN" altLang="en-US" dirty="0"/>
              <a:t>复位方式</a:t>
            </a:r>
          </a:p>
        </p:txBody>
      </p:sp>
      <p:sp>
        <p:nvSpPr>
          <p:cNvPr id="3" name="内容占位符 2">
            <a:extLst>
              <a:ext uri="{FF2B5EF4-FFF2-40B4-BE49-F238E27FC236}">
                <a16:creationId xmlns:a16="http://schemas.microsoft.com/office/drawing/2014/main" id="{E8B7A2EC-4689-B2F5-F37C-25FD4FB26809}"/>
              </a:ext>
            </a:extLst>
          </p:cNvPr>
          <p:cNvSpPr>
            <a:spLocks noGrp="1"/>
          </p:cNvSpPr>
          <p:nvPr>
            <p:ph idx="1"/>
          </p:nvPr>
        </p:nvSpPr>
        <p:spPr>
          <a:xfrm>
            <a:off x="609600" y="833768"/>
            <a:ext cx="10905066" cy="5190463"/>
          </a:xfrm>
        </p:spPr>
        <p:txBody>
          <a:bodyPr>
            <a:noAutofit/>
          </a:bodyPr>
          <a:lstStyle/>
          <a:p>
            <a:pPr>
              <a:lnSpc>
                <a:spcPct val="110000"/>
              </a:lnSpc>
            </a:pPr>
            <a:r>
              <a:rPr lang="zh-CN" altLang="en-US" sz="2400" b="1" dirty="0">
                <a:solidFill>
                  <a:srgbClr val="FF0000"/>
                </a:solidFill>
                <a:effectLst/>
              </a:rPr>
              <a:t>同步复位</a:t>
            </a:r>
            <a:r>
              <a:rPr lang="zh-CN" altLang="en-US" sz="2400" dirty="0">
                <a:solidFill>
                  <a:srgbClr val="FF0000"/>
                </a:solidFill>
                <a:effectLst/>
              </a:rPr>
              <a:t>‌</a:t>
            </a:r>
            <a:r>
              <a:rPr lang="zh-CN" altLang="en-US" sz="2400" dirty="0">
                <a:solidFill>
                  <a:srgbClr val="FF0000"/>
                </a:solidFill>
              </a:rPr>
              <a:t>：</a:t>
            </a:r>
            <a:r>
              <a:rPr lang="zh-CN" altLang="en-US" sz="2400" b="0" i="0" dirty="0">
                <a:solidFill>
                  <a:srgbClr val="333333"/>
                </a:solidFill>
                <a:effectLst/>
                <a:latin typeface="PingFang SC"/>
              </a:rPr>
              <a:t>复位信号仅在时钟有效边沿触发，复位操作与时钟同步</a:t>
            </a:r>
            <a:r>
              <a:rPr lang="zh-CN" altLang="en-US" sz="2400" dirty="0">
                <a:solidFill>
                  <a:srgbClr val="333333"/>
                </a:solidFill>
                <a:latin typeface="PingFang SC"/>
              </a:rPr>
              <a:t>。</a:t>
            </a:r>
            <a:endParaRPr lang="en-US" altLang="zh-CN" sz="2400" b="0" i="0" dirty="0">
              <a:solidFill>
                <a:srgbClr val="333333"/>
              </a:solidFill>
              <a:effectLst/>
              <a:latin typeface="PingFang SC"/>
            </a:endParaRPr>
          </a:p>
          <a:p>
            <a:pPr lvl="1">
              <a:lnSpc>
                <a:spcPct val="110000"/>
              </a:lnSpc>
              <a:spcBef>
                <a:spcPts val="450"/>
              </a:spcBef>
              <a:spcAft>
                <a:spcPts val="450"/>
              </a:spcAft>
              <a:buFont typeface="Arial" panose="020B0604020202020204" pitchFamily="34" charset="0"/>
              <a:buChar char="•"/>
            </a:pPr>
            <a:r>
              <a:rPr lang="zh-CN" altLang="en-US" sz="2400" b="1" i="0" dirty="0">
                <a:solidFill>
                  <a:srgbClr val="333333"/>
                </a:solidFill>
                <a:effectLst/>
                <a:latin typeface="PingFang SC"/>
              </a:rPr>
              <a:t>优点</a:t>
            </a:r>
            <a:r>
              <a:rPr lang="zh-CN" altLang="en-US" sz="2400" b="0" i="0" dirty="0">
                <a:solidFill>
                  <a:srgbClr val="333333"/>
                </a:solidFill>
                <a:effectLst/>
                <a:latin typeface="PingFang SC"/>
              </a:rPr>
              <a:t>‌：避免复位信号毛刺影响，时序分析简单‌。</a:t>
            </a:r>
          </a:p>
          <a:p>
            <a:pPr lvl="1">
              <a:lnSpc>
                <a:spcPct val="110000"/>
              </a:lnSpc>
              <a:spcBef>
                <a:spcPts val="450"/>
              </a:spcBef>
              <a:spcAft>
                <a:spcPts val="450"/>
              </a:spcAft>
              <a:buFont typeface="Arial" panose="020B0604020202020204" pitchFamily="34" charset="0"/>
              <a:buChar char="•"/>
            </a:pPr>
            <a:r>
              <a:rPr lang="zh-CN" altLang="en-US" sz="2400" b="0" i="0" dirty="0">
                <a:solidFill>
                  <a:srgbClr val="333333"/>
                </a:solidFill>
                <a:effectLst/>
                <a:latin typeface="PingFang SC"/>
              </a:rPr>
              <a:t>‌</a:t>
            </a:r>
            <a:r>
              <a:rPr lang="zh-CN" altLang="en-US" sz="2400" b="1" i="0" dirty="0">
                <a:solidFill>
                  <a:srgbClr val="333333"/>
                </a:solidFill>
                <a:effectLst/>
                <a:latin typeface="PingFang SC"/>
              </a:rPr>
              <a:t>缺点</a:t>
            </a:r>
            <a:r>
              <a:rPr lang="zh-CN" altLang="en-US" sz="2400" b="0" i="0" dirty="0">
                <a:solidFill>
                  <a:srgbClr val="333333"/>
                </a:solidFill>
                <a:effectLst/>
                <a:latin typeface="PingFang SC"/>
              </a:rPr>
              <a:t>‌：</a:t>
            </a:r>
            <a:r>
              <a:rPr lang="zh-CN" altLang="en-US" sz="2400" b="0" i="0" dirty="0">
                <a:solidFill>
                  <a:srgbClr val="333333"/>
                </a:solidFill>
                <a:effectLst/>
                <a:latin typeface="pingfang SC"/>
              </a:rPr>
              <a:t>复位信号的宽度必须大于一个时钟周期</a:t>
            </a:r>
            <a:r>
              <a:rPr lang="zh-CN" altLang="en-US" sz="2400" b="0" i="0" dirty="0">
                <a:solidFill>
                  <a:srgbClr val="333333"/>
                </a:solidFill>
                <a:effectLst/>
                <a:latin typeface="PingFang SC"/>
              </a:rPr>
              <a:t>；</a:t>
            </a:r>
            <a:r>
              <a:rPr lang="zh-CN" altLang="en-US" sz="2400" b="0" i="0" dirty="0">
                <a:solidFill>
                  <a:srgbClr val="0070C0"/>
                </a:solidFill>
                <a:effectLst/>
                <a:latin typeface="PingFang SC"/>
              </a:rPr>
              <a:t>消耗额外组合逻辑资源</a:t>
            </a:r>
            <a:r>
              <a:rPr lang="en-US" altLang="zh-CN" sz="2400" b="0" i="0" dirty="0">
                <a:solidFill>
                  <a:srgbClr val="0070C0"/>
                </a:solidFill>
                <a:effectLst/>
                <a:latin typeface="PingFang SC"/>
              </a:rPr>
              <a:t>*</a:t>
            </a:r>
            <a:r>
              <a:rPr lang="zh-CN" altLang="en-US" sz="2400" b="0" i="0" dirty="0">
                <a:solidFill>
                  <a:schemeClr val="tx1"/>
                </a:solidFill>
                <a:effectLst/>
                <a:latin typeface="PingFang SC"/>
              </a:rPr>
              <a:t>。</a:t>
            </a:r>
            <a:r>
              <a:rPr lang="zh-CN" altLang="en-US" sz="2400" b="0" i="0" dirty="0">
                <a:solidFill>
                  <a:srgbClr val="333333"/>
                </a:solidFill>
                <a:effectLst/>
                <a:latin typeface="PingFang SC"/>
              </a:rPr>
              <a:t>‌</a:t>
            </a:r>
            <a:endParaRPr lang="en-US" altLang="zh-CN" sz="2400" b="0" i="0" dirty="0">
              <a:solidFill>
                <a:srgbClr val="333333"/>
              </a:solidFill>
              <a:effectLst/>
              <a:latin typeface="PingFang SC"/>
            </a:endParaRPr>
          </a:p>
          <a:p>
            <a:pPr>
              <a:lnSpc>
                <a:spcPct val="110000"/>
              </a:lnSpc>
            </a:pPr>
            <a:r>
              <a:rPr lang="zh-CN" altLang="en-US" sz="2400" b="1" dirty="0">
                <a:solidFill>
                  <a:srgbClr val="FF0000"/>
                </a:solidFill>
                <a:effectLst/>
              </a:rPr>
              <a:t>异步复位</a:t>
            </a:r>
            <a:r>
              <a:rPr lang="zh-CN" altLang="en-US" sz="2400" dirty="0">
                <a:solidFill>
                  <a:srgbClr val="FF0000"/>
                </a:solidFill>
              </a:rPr>
              <a:t>：</a:t>
            </a:r>
            <a:r>
              <a:rPr lang="zh-CN" altLang="en-US" sz="2400" b="0" i="0" dirty="0">
                <a:solidFill>
                  <a:srgbClr val="333333"/>
                </a:solidFill>
                <a:effectLst/>
                <a:latin typeface="PingFang SC"/>
              </a:rPr>
              <a:t>无需等待时钟，复位信号立即生效。‌</a:t>
            </a:r>
            <a:endParaRPr lang="en-US" altLang="zh-CN" sz="2400" b="0" i="0" dirty="0">
              <a:solidFill>
                <a:srgbClr val="333333"/>
              </a:solidFill>
              <a:effectLst/>
              <a:latin typeface="PingFang SC"/>
            </a:endParaRPr>
          </a:p>
          <a:p>
            <a:pPr lvl="1">
              <a:lnSpc>
                <a:spcPct val="110000"/>
              </a:lnSpc>
              <a:spcBef>
                <a:spcPts val="450"/>
              </a:spcBef>
              <a:spcAft>
                <a:spcPts val="450"/>
              </a:spcAft>
              <a:buFont typeface="Arial" panose="020B0604020202020204" pitchFamily="34" charset="0"/>
              <a:buChar char="•"/>
            </a:pPr>
            <a:r>
              <a:rPr lang="zh-CN" altLang="en-US" sz="2400" b="1" i="0" dirty="0">
                <a:solidFill>
                  <a:srgbClr val="333333"/>
                </a:solidFill>
                <a:effectLst/>
                <a:latin typeface="PingFang SC"/>
              </a:rPr>
              <a:t>优点</a:t>
            </a:r>
            <a:r>
              <a:rPr lang="zh-CN" altLang="en-US" sz="2400" b="0" i="0" dirty="0">
                <a:solidFill>
                  <a:srgbClr val="333333"/>
                </a:solidFill>
                <a:effectLst/>
                <a:latin typeface="PingFang SC"/>
              </a:rPr>
              <a:t>‌：响应速度快；</a:t>
            </a:r>
            <a:r>
              <a:rPr lang="zh-CN" altLang="en-US" sz="2400" b="0" i="0" dirty="0">
                <a:solidFill>
                  <a:srgbClr val="0070C0"/>
                </a:solidFill>
                <a:effectLst/>
                <a:latin typeface="PingFang SC"/>
              </a:rPr>
              <a:t>节省逻辑资源</a:t>
            </a:r>
            <a:r>
              <a:rPr lang="en-US" altLang="zh-CN" sz="2400" b="0" i="0" dirty="0">
                <a:solidFill>
                  <a:srgbClr val="0070C0"/>
                </a:solidFill>
                <a:effectLst/>
                <a:latin typeface="PingFang SC"/>
              </a:rPr>
              <a:t>*</a:t>
            </a:r>
            <a:r>
              <a:rPr lang="zh-CN" altLang="en-US" sz="2400" b="0" i="0" dirty="0">
                <a:solidFill>
                  <a:srgbClr val="333333"/>
                </a:solidFill>
                <a:effectLst/>
                <a:latin typeface="PingFang SC"/>
              </a:rPr>
              <a:t>。</a:t>
            </a:r>
          </a:p>
          <a:p>
            <a:pPr lvl="1">
              <a:lnSpc>
                <a:spcPct val="110000"/>
              </a:lnSpc>
              <a:spcBef>
                <a:spcPts val="450"/>
              </a:spcBef>
              <a:spcAft>
                <a:spcPts val="450"/>
              </a:spcAft>
              <a:buFont typeface="Arial" panose="020B0604020202020204" pitchFamily="34" charset="0"/>
              <a:buChar char="•"/>
            </a:pPr>
            <a:r>
              <a:rPr lang="zh-CN" altLang="en-US" sz="2400" b="0" i="0" dirty="0">
                <a:solidFill>
                  <a:srgbClr val="333333"/>
                </a:solidFill>
                <a:effectLst/>
                <a:latin typeface="PingFang SC"/>
              </a:rPr>
              <a:t>‌</a:t>
            </a:r>
            <a:r>
              <a:rPr lang="zh-CN" altLang="en-US" sz="2400" b="1" i="0" dirty="0">
                <a:solidFill>
                  <a:srgbClr val="333333"/>
                </a:solidFill>
                <a:effectLst/>
                <a:latin typeface="PingFang SC"/>
              </a:rPr>
              <a:t>缺点</a:t>
            </a:r>
            <a:r>
              <a:rPr lang="zh-CN" altLang="en-US" sz="2400" b="0" i="0" dirty="0">
                <a:solidFill>
                  <a:srgbClr val="333333"/>
                </a:solidFill>
                <a:effectLst/>
                <a:latin typeface="PingFang SC"/>
              </a:rPr>
              <a:t>‌：易受毛刺干扰；</a:t>
            </a:r>
            <a:r>
              <a:rPr lang="zh-CN" altLang="en-US" sz="2400" b="1" i="0" dirty="0">
                <a:solidFill>
                  <a:srgbClr val="FF0000"/>
                </a:solidFill>
                <a:effectLst/>
                <a:latin typeface="pingfang SC"/>
              </a:rPr>
              <a:t>复位信号释放的随机性，可能导致时序违规</a:t>
            </a:r>
            <a:r>
              <a:rPr lang="zh-CN" altLang="en-US" sz="2400" b="0" i="0" dirty="0">
                <a:solidFill>
                  <a:srgbClr val="333333"/>
                </a:solidFill>
                <a:effectLst/>
                <a:latin typeface="PingFang SC"/>
              </a:rPr>
              <a:t>。‌</a:t>
            </a:r>
          </a:p>
          <a:p>
            <a:pPr>
              <a:lnSpc>
                <a:spcPct val="110000"/>
              </a:lnSpc>
            </a:pPr>
            <a:r>
              <a:rPr lang="zh-CN" altLang="en-US" sz="2400" b="1" dirty="0">
                <a:solidFill>
                  <a:srgbClr val="FF0000"/>
                </a:solidFill>
                <a:effectLst/>
              </a:rPr>
              <a:t>异步复位同步释放（</a:t>
            </a:r>
            <a:r>
              <a:rPr lang="en-US" altLang="zh-CN" sz="2400" b="1" dirty="0">
                <a:solidFill>
                  <a:srgbClr val="FF0000"/>
                </a:solidFill>
                <a:effectLst/>
              </a:rPr>
              <a:t>ARS</a:t>
            </a:r>
            <a:r>
              <a:rPr lang="zh-CN" altLang="en-US" sz="2400" b="1" dirty="0">
                <a:solidFill>
                  <a:srgbClr val="FF0000"/>
                </a:solidFill>
                <a:effectLst/>
              </a:rPr>
              <a:t>）</a:t>
            </a:r>
            <a:r>
              <a:rPr lang="en-US" altLang="zh-CN" sz="2400" b="1" dirty="0">
                <a:solidFill>
                  <a:srgbClr val="FF0000"/>
                </a:solidFill>
                <a:effectLst/>
              </a:rPr>
              <a:t>*</a:t>
            </a:r>
            <a:r>
              <a:rPr lang="zh-CN" altLang="en-US" sz="2400" b="1" dirty="0">
                <a:solidFill>
                  <a:srgbClr val="FF0000"/>
                </a:solidFill>
                <a:effectLst/>
              </a:rPr>
              <a:t>：</a:t>
            </a:r>
            <a:r>
              <a:rPr lang="zh-CN" altLang="en-US" sz="2400" dirty="0">
                <a:effectLst/>
              </a:rPr>
              <a:t>复位信号立即生效，</a:t>
            </a:r>
            <a:r>
              <a:rPr lang="zh-CN" altLang="en-US" sz="2400" b="0" i="0" dirty="0">
                <a:solidFill>
                  <a:srgbClr val="333333"/>
                </a:solidFill>
                <a:effectLst/>
                <a:latin typeface="PingFang SC"/>
              </a:rPr>
              <a:t>‌复位信号撤销时，通过同步逻辑将其与时钟边沿对齐，避免复位信号释放时引发</a:t>
            </a:r>
            <a:r>
              <a:rPr lang="zh-CN" altLang="en-US" sz="2400" dirty="0">
                <a:solidFill>
                  <a:srgbClr val="333333"/>
                </a:solidFill>
                <a:latin typeface="PingFang SC"/>
              </a:rPr>
              <a:t>的</a:t>
            </a:r>
            <a:r>
              <a:rPr lang="zh-CN" altLang="en-US" sz="2400" b="0" i="0" dirty="0">
                <a:solidFill>
                  <a:srgbClr val="333333"/>
                </a:solidFill>
                <a:effectLst/>
                <a:latin typeface="PingFang SC"/>
              </a:rPr>
              <a:t>时序问题。‌</a:t>
            </a:r>
            <a:endParaRPr lang="en-US" altLang="zh-CN" sz="2400" b="0" i="0" dirty="0">
              <a:solidFill>
                <a:srgbClr val="333333"/>
              </a:solidFill>
              <a:effectLst/>
              <a:latin typeface="PingFang SC"/>
            </a:endParaRPr>
          </a:p>
          <a:p>
            <a:pPr lvl="1">
              <a:lnSpc>
                <a:spcPct val="110000"/>
              </a:lnSpc>
              <a:buFont typeface="Arial" panose="020B0604020202020204" pitchFamily="34" charset="0"/>
              <a:buChar char="•"/>
            </a:pPr>
            <a:r>
              <a:rPr lang="zh-CN" altLang="en-US" sz="2400" b="1" i="0" dirty="0">
                <a:solidFill>
                  <a:srgbClr val="333333"/>
                </a:solidFill>
                <a:effectLst/>
                <a:latin typeface="PingFang SC"/>
              </a:rPr>
              <a:t>优点</a:t>
            </a:r>
            <a:r>
              <a:rPr lang="zh-CN" altLang="en-US" sz="2400" b="0" i="0" dirty="0">
                <a:solidFill>
                  <a:srgbClr val="333333"/>
                </a:solidFill>
                <a:effectLst/>
                <a:latin typeface="PingFang SC"/>
              </a:rPr>
              <a:t>‌：兼具异步复位响应快和同步复位稳定性。</a:t>
            </a:r>
            <a:endParaRPr lang="en-US" altLang="zh-CN" sz="2400" b="0" i="0" dirty="0">
              <a:solidFill>
                <a:srgbClr val="333333"/>
              </a:solidFill>
              <a:effectLst/>
              <a:latin typeface="PingFang SC"/>
            </a:endParaRPr>
          </a:p>
          <a:p>
            <a:pPr marL="0" lvl="1" indent="457200">
              <a:lnSpc>
                <a:spcPct val="110000"/>
              </a:lnSpc>
              <a:buNone/>
            </a:pPr>
            <a:r>
              <a:rPr lang="en-US" altLang="zh-CN" sz="1800" b="0" i="0" dirty="0">
                <a:solidFill>
                  <a:srgbClr val="0070C0"/>
                </a:solidFill>
                <a:effectLst/>
                <a:latin typeface="pingfang SC"/>
              </a:rPr>
              <a:t>*</a:t>
            </a:r>
            <a:r>
              <a:rPr lang="zh-CN" altLang="en-US" sz="1800" b="0" i="0" dirty="0">
                <a:solidFill>
                  <a:srgbClr val="0070C0"/>
                </a:solidFill>
                <a:effectLst/>
                <a:latin typeface="pingfang SC"/>
              </a:rPr>
              <a:t>在现有的大多数逻辑器件库中，触发器都只包含异步复位端口，所以同步复位的使用会造成冗余组合逻辑的使用，浪费资源。</a:t>
            </a:r>
            <a:endParaRPr lang="en-US" altLang="zh-CN" sz="1800" b="0" i="0" dirty="0">
              <a:solidFill>
                <a:srgbClr val="0070C0"/>
              </a:solidFill>
              <a:effectLst/>
              <a:latin typeface="PingFang SC"/>
            </a:endParaRPr>
          </a:p>
        </p:txBody>
      </p:sp>
    </p:spTree>
    <p:extLst>
      <p:ext uri="{BB962C8B-B14F-4D97-AF65-F5344CB8AC3E}">
        <p14:creationId xmlns:p14="http://schemas.microsoft.com/office/powerpoint/2010/main" val="2052337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B4D829-7646-D95B-EDF8-2056432C19E8}"/>
              </a:ext>
            </a:extLst>
          </p:cNvPr>
          <p:cNvSpPr>
            <a:spLocks noGrp="1"/>
          </p:cNvSpPr>
          <p:nvPr>
            <p:ph type="title"/>
          </p:nvPr>
        </p:nvSpPr>
        <p:spPr>
          <a:xfrm>
            <a:off x="1191684" y="2679700"/>
            <a:ext cx="8596668" cy="1320800"/>
          </a:xfrm>
        </p:spPr>
        <p:txBody>
          <a:bodyPr/>
          <a:lstStyle/>
          <a:p>
            <a:pPr algn="ctr"/>
            <a:r>
              <a:rPr lang="zh-CN" altLang="en-US" b="1" dirty="0"/>
              <a:t>二</a:t>
            </a:r>
            <a:r>
              <a:rPr lang="en-US" altLang="zh-CN" b="1" dirty="0"/>
              <a:t>.  Verilog HDL</a:t>
            </a:r>
            <a:r>
              <a:rPr lang="zh-CN" altLang="en-US" b="1" dirty="0"/>
              <a:t>语言</a:t>
            </a:r>
            <a:endParaRPr lang="zh-CN" altLang="en-US" dirty="0"/>
          </a:p>
        </p:txBody>
      </p:sp>
    </p:spTree>
    <p:extLst>
      <p:ext uri="{BB962C8B-B14F-4D97-AF65-F5344CB8AC3E}">
        <p14:creationId xmlns:p14="http://schemas.microsoft.com/office/powerpoint/2010/main" val="2015999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06709"/>
            <a:ext cx="10515600" cy="1214092"/>
          </a:xfrm>
        </p:spPr>
        <p:txBody>
          <a:bodyPr/>
          <a:lstStyle/>
          <a:p>
            <a:r>
              <a:rPr lang="zh-CN" altLang="en-US" b="1" dirty="0"/>
              <a:t>概述</a:t>
            </a:r>
          </a:p>
        </p:txBody>
      </p:sp>
      <p:sp>
        <p:nvSpPr>
          <p:cNvPr id="3" name="内容占位符 2"/>
          <p:cNvSpPr>
            <a:spLocks noGrp="1"/>
          </p:cNvSpPr>
          <p:nvPr>
            <p:ph idx="1"/>
          </p:nvPr>
        </p:nvSpPr>
        <p:spPr>
          <a:xfrm>
            <a:off x="838200" y="1320802"/>
            <a:ext cx="10515600" cy="5219146"/>
          </a:xfrm>
        </p:spPr>
        <p:txBody>
          <a:bodyPr>
            <a:normAutofit/>
          </a:bodyPr>
          <a:lstStyle/>
          <a:p>
            <a:pPr marL="0" indent="0">
              <a:spcAft>
                <a:spcPts val="1000"/>
              </a:spcAft>
              <a:buNone/>
            </a:pPr>
            <a:r>
              <a:rPr lang="zh-CN" altLang="en-US" sz="2400" b="0" i="0" dirty="0">
                <a:solidFill>
                  <a:srgbClr val="333333"/>
                </a:solidFill>
                <a:effectLst/>
                <a:latin typeface="PingFang SC"/>
              </a:rPr>
              <a:t>         硬件描述语言（</a:t>
            </a:r>
            <a:r>
              <a:rPr lang="en-US" altLang="zh-CN" sz="2400" b="0" i="0" dirty="0">
                <a:solidFill>
                  <a:srgbClr val="333333"/>
                </a:solidFill>
                <a:effectLst/>
                <a:latin typeface="PingFang SC"/>
              </a:rPr>
              <a:t>HDL</a:t>
            </a:r>
            <a:r>
              <a:rPr lang="zh-CN" altLang="en-US" sz="2400" b="0" i="0" dirty="0">
                <a:solidFill>
                  <a:srgbClr val="333333"/>
                </a:solidFill>
                <a:effectLst/>
                <a:latin typeface="PingFang SC"/>
              </a:rPr>
              <a:t>）</a:t>
            </a:r>
            <a:r>
              <a:rPr lang="zh-CN" altLang="en-US" sz="2400" dirty="0">
                <a:solidFill>
                  <a:srgbClr val="333333"/>
                </a:solidFill>
                <a:latin typeface="PingFang SC"/>
              </a:rPr>
              <a:t>是</a:t>
            </a:r>
            <a:r>
              <a:rPr lang="zh-CN" altLang="en-US" sz="2400" b="0" i="0" dirty="0">
                <a:solidFill>
                  <a:srgbClr val="333333"/>
                </a:solidFill>
                <a:effectLst/>
                <a:latin typeface="PingFang SC"/>
              </a:rPr>
              <a:t>一种用于‌</a:t>
            </a:r>
            <a:r>
              <a:rPr lang="zh-CN" altLang="en-US" sz="2400" b="1" i="0" dirty="0">
                <a:solidFill>
                  <a:srgbClr val="333333"/>
                </a:solidFill>
                <a:effectLst/>
                <a:latin typeface="PingFang SC"/>
              </a:rPr>
              <a:t>描述数字电路结构和行为</a:t>
            </a:r>
            <a:r>
              <a:rPr lang="zh-CN" altLang="en-US" sz="2400" b="0" i="0" dirty="0">
                <a:solidFill>
                  <a:srgbClr val="333333"/>
                </a:solidFill>
                <a:effectLst/>
                <a:latin typeface="PingFang SC"/>
              </a:rPr>
              <a:t>‌的计算机语言。</a:t>
            </a:r>
            <a:endParaRPr lang="en-US" altLang="zh-CN" sz="2400" dirty="0"/>
          </a:p>
          <a:p>
            <a:pPr lvl="1">
              <a:spcAft>
                <a:spcPts val="1000"/>
              </a:spcAft>
            </a:pPr>
            <a:r>
              <a:rPr lang="en-US" altLang="zh-CN" sz="2400" dirty="0"/>
              <a:t>verilog HDL</a:t>
            </a:r>
            <a:r>
              <a:rPr lang="zh-CN" altLang="en-US" sz="2400" dirty="0"/>
              <a:t>语言与</a:t>
            </a:r>
            <a:r>
              <a:rPr lang="en-US" altLang="zh-CN" sz="2400" dirty="0"/>
              <a:t>C</a:t>
            </a:r>
            <a:r>
              <a:rPr lang="zh-CN" altLang="en-US" sz="2400" dirty="0"/>
              <a:t>语言</a:t>
            </a:r>
            <a:r>
              <a:rPr lang="zh-CN" altLang="en-US" sz="2400" b="1" dirty="0">
                <a:solidFill>
                  <a:srgbClr val="FF0000"/>
                </a:solidFill>
              </a:rPr>
              <a:t>语法类似</a:t>
            </a:r>
            <a:r>
              <a:rPr lang="zh-CN" altLang="en-US" sz="2400" dirty="0"/>
              <a:t>。</a:t>
            </a:r>
            <a:endParaRPr lang="en-US" altLang="zh-CN" sz="2400" dirty="0"/>
          </a:p>
          <a:p>
            <a:pPr lvl="1">
              <a:spcAft>
                <a:spcPts val="1000"/>
              </a:spcAft>
            </a:pPr>
            <a:r>
              <a:rPr lang="zh-CN" altLang="en-US" sz="2400" b="1" dirty="0">
                <a:solidFill>
                  <a:srgbClr val="FF0000"/>
                </a:solidFill>
              </a:rPr>
              <a:t>区别</a:t>
            </a:r>
            <a:r>
              <a:rPr lang="zh-CN" altLang="en-US" sz="2400" b="1" dirty="0"/>
              <a:t>：</a:t>
            </a:r>
            <a:r>
              <a:rPr lang="zh-CN" altLang="en-US" sz="2400" dirty="0"/>
              <a:t>用</a:t>
            </a:r>
            <a:r>
              <a:rPr lang="en-US" altLang="zh-CN" sz="2400" dirty="0"/>
              <a:t>verilog </a:t>
            </a:r>
            <a:r>
              <a:rPr lang="zh-CN" altLang="en-US" sz="2400" dirty="0"/>
              <a:t>程序描述的是硬件电路，</a:t>
            </a:r>
            <a:r>
              <a:rPr lang="en-US" altLang="zh-CN" sz="2400" dirty="0"/>
              <a:t> </a:t>
            </a:r>
            <a:r>
              <a:rPr lang="zh-CN" altLang="en-US" sz="2400" dirty="0"/>
              <a:t>所以</a:t>
            </a:r>
            <a:r>
              <a:rPr lang="en-US" altLang="zh-CN" sz="2400" dirty="0"/>
              <a:t>verilog</a:t>
            </a:r>
            <a:r>
              <a:rPr lang="zh-CN" altLang="en-US" sz="2400" dirty="0"/>
              <a:t>语句是</a:t>
            </a:r>
            <a:r>
              <a:rPr lang="zh-CN" altLang="en-US" sz="2400" b="1" dirty="0">
                <a:solidFill>
                  <a:srgbClr val="FF0000"/>
                </a:solidFill>
              </a:rPr>
              <a:t>并行</a:t>
            </a:r>
            <a:r>
              <a:rPr lang="zh-CN" altLang="en-US" sz="2400" dirty="0"/>
              <a:t>执行的；而</a:t>
            </a:r>
            <a:r>
              <a:rPr lang="en-US" altLang="zh-CN" sz="2400" dirty="0"/>
              <a:t>C</a:t>
            </a:r>
            <a:r>
              <a:rPr lang="zh-CN" altLang="en-US" sz="2400" dirty="0"/>
              <a:t>程序描述的是计算机执行流程，所以</a:t>
            </a:r>
            <a:r>
              <a:rPr lang="en-US" altLang="zh-CN" sz="2400" dirty="0"/>
              <a:t>C</a:t>
            </a:r>
            <a:r>
              <a:rPr lang="zh-CN" altLang="en-US" sz="2400" dirty="0"/>
              <a:t>语句是</a:t>
            </a:r>
            <a:r>
              <a:rPr lang="zh-CN" altLang="en-US" sz="2400" b="1" dirty="0">
                <a:solidFill>
                  <a:srgbClr val="FF0000"/>
                </a:solidFill>
              </a:rPr>
              <a:t>串行</a:t>
            </a:r>
            <a:r>
              <a:rPr lang="zh-CN" altLang="en-US" sz="2400" dirty="0"/>
              <a:t>执行的。</a:t>
            </a:r>
            <a:endParaRPr lang="en-US" altLang="zh-CN" sz="2400" dirty="0"/>
          </a:p>
          <a:p>
            <a:pPr lvl="1">
              <a:spcAft>
                <a:spcPts val="1000"/>
              </a:spcAft>
            </a:pPr>
            <a:r>
              <a:rPr lang="zh-CN" altLang="en-US" sz="2400" dirty="0"/>
              <a:t>利用</a:t>
            </a:r>
            <a:r>
              <a:rPr lang="en-US" altLang="zh-CN" sz="2400" dirty="0"/>
              <a:t>verilog</a:t>
            </a:r>
            <a:r>
              <a:rPr lang="zh-CN" altLang="en-US" sz="2400" dirty="0"/>
              <a:t>编程时一定要先进行电路</a:t>
            </a:r>
            <a:r>
              <a:rPr lang="zh-CN" altLang="en-US" sz="2400" b="1" dirty="0">
                <a:solidFill>
                  <a:srgbClr val="FF0000"/>
                </a:solidFill>
              </a:rPr>
              <a:t>设计</a:t>
            </a:r>
            <a:r>
              <a:rPr lang="zh-CN" altLang="en-US" sz="2400" dirty="0"/>
              <a:t>，再用代码</a:t>
            </a:r>
            <a:r>
              <a:rPr lang="zh-CN" altLang="en-US" sz="2400" b="1" dirty="0">
                <a:solidFill>
                  <a:srgbClr val="FF0000"/>
                </a:solidFill>
              </a:rPr>
              <a:t>描述</a:t>
            </a:r>
            <a:r>
              <a:rPr lang="zh-CN" altLang="en-US" sz="2400" dirty="0"/>
              <a:t>设计。</a:t>
            </a:r>
            <a:endParaRPr lang="en-US" altLang="zh-CN" sz="2400" dirty="0"/>
          </a:p>
          <a:p>
            <a:pPr lvl="1">
              <a:spcAft>
                <a:spcPts val="1000"/>
              </a:spcAft>
            </a:pPr>
            <a:r>
              <a:rPr lang="en-US" altLang="zh-CN" sz="2400" dirty="0"/>
              <a:t>verilog </a:t>
            </a:r>
            <a:r>
              <a:rPr lang="zh-CN" altLang="en-US" sz="2400" dirty="0"/>
              <a:t>语言描述组合逻辑电路和时序逻辑电路时有相对固定的</a:t>
            </a:r>
            <a:r>
              <a:rPr lang="zh-CN" altLang="en-US" sz="2400" b="1" dirty="0">
                <a:solidFill>
                  <a:srgbClr val="FF0000"/>
                </a:solidFill>
              </a:rPr>
              <a:t>描述风格</a:t>
            </a:r>
            <a:r>
              <a:rPr lang="zh-CN" altLang="en-US" sz="2400" dirty="0"/>
              <a:t>。</a:t>
            </a:r>
            <a:endParaRPr lang="en-US" altLang="zh-CN" sz="2400" dirty="0"/>
          </a:p>
        </p:txBody>
      </p:sp>
    </p:spTree>
    <p:extLst>
      <p:ext uri="{BB962C8B-B14F-4D97-AF65-F5344CB8AC3E}">
        <p14:creationId xmlns:p14="http://schemas.microsoft.com/office/powerpoint/2010/main" val="12772650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5818FA-4CD7-04A6-6CBD-38D3EDCC9A70}"/>
              </a:ext>
            </a:extLst>
          </p:cNvPr>
          <p:cNvSpPr>
            <a:spLocks noGrp="1"/>
          </p:cNvSpPr>
          <p:nvPr>
            <p:ph type="title"/>
          </p:nvPr>
        </p:nvSpPr>
        <p:spPr>
          <a:xfrm>
            <a:off x="677334" y="156237"/>
            <a:ext cx="8596668" cy="831997"/>
          </a:xfrm>
        </p:spPr>
        <p:txBody>
          <a:bodyPr/>
          <a:lstStyle/>
          <a:p>
            <a:r>
              <a:rPr lang="zh-CN" altLang="en-US" b="1" dirty="0"/>
              <a:t>设计方法</a:t>
            </a:r>
          </a:p>
        </p:txBody>
      </p:sp>
      <p:sp>
        <p:nvSpPr>
          <p:cNvPr id="3" name="内容占位符 2">
            <a:extLst>
              <a:ext uri="{FF2B5EF4-FFF2-40B4-BE49-F238E27FC236}">
                <a16:creationId xmlns:a16="http://schemas.microsoft.com/office/drawing/2014/main" id="{2F928A13-46DF-8AF5-0108-B93BA93F5EFA}"/>
              </a:ext>
            </a:extLst>
          </p:cNvPr>
          <p:cNvSpPr>
            <a:spLocks noGrp="1"/>
          </p:cNvSpPr>
          <p:nvPr>
            <p:ph idx="1"/>
          </p:nvPr>
        </p:nvSpPr>
        <p:spPr>
          <a:xfrm>
            <a:off x="677334" y="948476"/>
            <a:ext cx="10837332" cy="5423925"/>
          </a:xfrm>
        </p:spPr>
        <p:txBody>
          <a:bodyPr>
            <a:normAutofit lnSpcReduction="10000"/>
          </a:bodyPr>
          <a:lstStyle/>
          <a:p>
            <a:pPr marL="0" indent="457200">
              <a:lnSpc>
                <a:spcPct val="110000"/>
              </a:lnSpc>
              <a:buNone/>
            </a:pPr>
            <a:r>
              <a:rPr lang="zh-CN" altLang="en-US" sz="2800" b="0" i="0" dirty="0">
                <a:solidFill>
                  <a:srgbClr val="333333"/>
                </a:solidFill>
                <a:effectLst/>
                <a:latin typeface="PingFang SC"/>
              </a:rPr>
              <a:t>    </a:t>
            </a:r>
            <a:r>
              <a:rPr lang="en-US" altLang="zh-CN" sz="2400" b="0" i="0" dirty="0">
                <a:solidFill>
                  <a:srgbClr val="333333"/>
                </a:solidFill>
                <a:effectLst/>
                <a:latin typeface="PingFang SC"/>
              </a:rPr>
              <a:t>verilog</a:t>
            </a:r>
            <a:r>
              <a:rPr lang="zh-CN" altLang="en-US" sz="2400" b="0" i="0" dirty="0">
                <a:solidFill>
                  <a:srgbClr val="333333"/>
                </a:solidFill>
                <a:effectLst/>
                <a:latin typeface="PingFang SC"/>
              </a:rPr>
              <a:t>硬件描述语言主要有三种设计方法：‌</a:t>
            </a:r>
            <a:r>
              <a:rPr lang="zh-CN" altLang="en-US" sz="2400" b="1" i="0" dirty="0">
                <a:solidFill>
                  <a:srgbClr val="333333"/>
                </a:solidFill>
                <a:effectLst/>
                <a:latin typeface="PingFang SC"/>
              </a:rPr>
              <a:t>行为级建模</a:t>
            </a:r>
            <a:r>
              <a:rPr lang="zh-CN" altLang="en-US" sz="2400" b="0" i="0" dirty="0">
                <a:solidFill>
                  <a:srgbClr val="333333"/>
                </a:solidFill>
                <a:effectLst/>
                <a:latin typeface="PingFang SC"/>
              </a:rPr>
              <a:t>‌、‌</a:t>
            </a:r>
            <a:r>
              <a:rPr lang="zh-CN" altLang="en-US" sz="2400" b="1" i="0" dirty="0">
                <a:solidFill>
                  <a:srgbClr val="333333"/>
                </a:solidFill>
                <a:effectLst/>
                <a:latin typeface="PingFang SC"/>
              </a:rPr>
              <a:t>数据流建模</a:t>
            </a:r>
            <a:r>
              <a:rPr lang="zh-CN" altLang="en-US" sz="2400" b="0" i="0" dirty="0">
                <a:solidFill>
                  <a:srgbClr val="333333"/>
                </a:solidFill>
                <a:effectLst/>
                <a:latin typeface="PingFang SC"/>
              </a:rPr>
              <a:t>‌和‌</a:t>
            </a:r>
            <a:r>
              <a:rPr lang="zh-CN" altLang="en-US" sz="2400" b="1" i="0" dirty="0">
                <a:solidFill>
                  <a:srgbClr val="333333"/>
                </a:solidFill>
                <a:effectLst/>
                <a:latin typeface="PingFang SC"/>
              </a:rPr>
              <a:t>结构级建模</a:t>
            </a:r>
            <a:r>
              <a:rPr lang="zh-CN" altLang="en-US" sz="2400" b="0" i="0" dirty="0">
                <a:solidFill>
                  <a:srgbClr val="333333"/>
                </a:solidFill>
                <a:effectLst/>
                <a:latin typeface="PingFang SC"/>
              </a:rPr>
              <a:t>‌。通过灵活组合这三种方法，可以高效完成从抽象行为到具体硬件的全流程设计。</a:t>
            </a:r>
            <a:endParaRPr lang="en-US" altLang="zh-CN" sz="2400" b="0" i="0" dirty="0">
              <a:solidFill>
                <a:srgbClr val="333333"/>
              </a:solidFill>
              <a:effectLst/>
              <a:latin typeface="PingFang SC"/>
            </a:endParaRPr>
          </a:p>
          <a:p>
            <a:pPr lvl="1">
              <a:lnSpc>
                <a:spcPct val="110000"/>
              </a:lnSpc>
              <a:spcBef>
                <a:spcPts val="1200"/>
              </a:spcBef>
              <a:spcAft>
                <a:spcPts val="525"/>
              </a:spcAft>
            </a:pPr>
            <a:r>
              <a:rPr lang="zh-CN" altLang="en-US" sz="2400" b="1" i="0" dirty="0">
                <a:solidFill>
                  <a:srgbClr val="FF0000"/>
                </a:solidFill>
                <a:effectLst/>
                <a:latin typeface="PingFang SC"/>
              </a:rPr>
              <a:t>行为级建模</a:t>
            </a:r>
            <a:r>
              <a:rPr lang="zh-CN" altLang="en-US" sz="2400" b="0" i="0" dirty="0">
                <a:solidFill>
                  <a:srgbClr val="333333"/>
                </a:solidFill>
                <a:effectLst/>
                <a:latin typeface="PingFang SC"/>
              </a:rPr>
              <a:t>：描述电路的功能行为，不涉及具体硬件结构或时序细节。常用于设计复杂控制逻辑或算法。</a:t>
            </a:r>
            <a:endParaRPr lang="en-US" altLang="zh-CN" sz="2400" b="0" i="0" dirty="0">
              <a:solidFill>
                <a:srgbClr val="333333"/>
              </a:solidFill>
              <a:effectLst/>
              <a:latin typeface="PingFang SC"/>
            </a:endParaRPr>
          </a:p>
          <a:p>
            <a:pPr lvl="1">
              <a:lnSpc>
                <a:spcPct val="110000"/>
              </a:lnSpc>
              <a:spcBef>
                <a:spcPts val="1200"/>
              </a:spcBef>
              <a:spcAft>
                <a:spcPts val="525"/>
              </a:spcAft>
            </a:pPr>
            <a:r>
              <a:rPr lang="zh-CN" altLang="en-US" sz="2400" b="1" i="0" dirty="0">
                <a:solidFill>
                  <a:srgbClr val="FF0000"/>
                </a:solidFill>
                <a:effectLst/>
                <a:latin typeface="PingFang SC"/>
              </a:rPr>
              <a:t>数据流建模</a:t>
            </a:r>
            <a:r>
              <a:rPr lang="zh-CN" altLang="en-US" sz="2400" b="0" i="0" dirty="0">
                <a:solidFill>
                  <a:srgbClr val="333333"/>
                </a:solidFill>
                <a:effectLst/>
                <a:latin typeface="PingFang SC"/>
              </a:rPr>
              <a:t>‌：描述数据的流动和组合逻辑操作，关注信号间的逻辑关系而非结构。</a:t>
            </a:r>
            <a:endParaRPr lang="en-US" altLang="zh-CN" sz="2400" b="0" i="0" dirty="0">
              <a:solidFill>
                <a:srgbClr val="333333"/>
              </a:solidFill>
              <a:effectLst/>
              <a:latin typeface="PingFang SC"/>
            </a:endParaRPr>
          </a:p>
          <a:p>
            <a:pPr lvl="1">
              <a:lnSpc>
                <a:spcPct val="110000"/>
              </a:lnSpc>
              <a:spcBef>
                <a:spcPts val="1200"/>
              </a:spcBef>
              <a:spcAft>
                <a:spcPts val="525"/>
              </a:spcAft>
            </a:pPr>
            <a:r>
              <a:rPr lang="zh-CN" altLang="en-US" sz="2400" b="1" i="0" dirty="0">
                <a:solidFill>
                  <a:srgbClr val="FF0000"/>
                </a:solidFill>
                <a:effectLst/>
                <a:latin typeface="PingFang SC"/>
              </a:rPr>
              <a:t>结构级建模</a:t>
            </a:r>
            <a:r>
              <a:rPr lang="zh-CN" altLang="en-US" sz="2400" b="0" i="0" dirty="0">
                <a:solidFill>
                  <a:srgbClr val="333333"/>
                </a:solidFill>
                <a:effectLst/>
                <a:latin typeface="PingFang SC"/>
              </a:rPr>
              <a:t>‌：通过实例化现有模块（如门级原语、自定义模块）并连接端口，构建层次化设计。类似电路原理图设计。</a:t>
            </a:r>
            <a:endParaRPr lang="en-US" altLang="zh-CN" sz="2400" b="0" i="0" dirty="0">
              <a:solidFill>
                <a:srgbClr val="333333"/>
              </a:solidFill>
              <a:effectLst/>
              <a:latin typeface="PingFang SC"/>
            </a:endParaRPr>
          </a:p>
          <a:p>
            <a:pPr marL="0" indent="457200">
              <a:lnSpc>
                <a:spcPct val="110000"/>
              </a:lnSpc>
              <a:buNone/>
            </a:pPr>
            <a:r>
              <a:rPr lang="zh-CN" altLang="en-US" sz="2800" b="1" dirty="0">
                <a:solidFill>
                  <a:srgbClr val="333333"/>
                </a:solidFill>
                <a:latin typeface="PingFang SC"/>
              </a:rPr>
              <a:t>结构级建模适用于模块间互连，行为级和数据流更适合模块内部实现。</a:t>
            </a:r>
          </a:p>
        </p:txBody>
      </p:sp>
    </p:spTree>
    <p:extLst>
      <p:ext uri="{BB962C8B-B14F-4D97-AF65-F5344CB8AC3E}">
        <p14:creationId xmlns:p14="http://schemas.microsoft.com/office/powerpoint/2010/main" val="19450965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9B24F9-AE44-0D74-6327-6E16F80BA1B0}"/>
              </a:ext>
            </a:extLst>
          </p:cNvPr>
          <p:cNvSpPr>
            <a:spLocks noGrp="1"/>
          </p:cNvSpPr>
          <p:nvPr>
            <p:ph type="title"/>
          </p:nvPr>
        </p:nvSpPr>
        <p:spPr>
          <a:xfrm>
            <a:off x="677334" y="70679"/>
            <a:ext cx="8596668" cy="701733"/>
          </a:xfrm>
        </p:spPr>
        <p:txBody>
          <a:bodyPr/>
          <a:lstStyle/>
          <a:p>
            <a:r>
              <a:rPr lang="zh-CN" altLang="en-US" b="0" i="0" dirty="0">
                <a:solidFill>
                  <a:srgbClr val="333333"/>
                </a:solidFill>
                <a:effectLst/>
                <a:latin typeface="PingFang SC"/>
              </a:rPr>
              <a:t>‌</a:t>
            </a:r>
            <a:r>
              <a:rPr lang="en-US" altLang="zh-CN" b="1" dirty="0"/>
              <a:t>2.1</a:t>
            </a:r>
            <a:r>
              <a:rPr lang="en-US" altLang="zh-CN" b="0" i="0" dirty="0">
                <a:solidFill>
                  <a:srgbClr val="333333"/>
                </a:solidFill>
                <a:effectLst/>
                <a:latin typeface="PingFang SC"/>
              </a:rPr>
              <a:t>  </a:t>
            </a:r>
            <a:r>
              <a:rPr lang="zh-CN" altLang="en-US" b="1" dirty="0"/>
              <a:t>模块（</a:t>
            </a:r>
            <a:r>
              <a:rPr lang="en-US" altLang="zh-CN" b="1" dirty="0"/>
              <a:t>module</a:t>
            </a:r>
            <a:r>
              <a:rPr lang="zh-CN" altLang="en-US" b="1" dirty="0"/>
              <a:t>）</a:t>
            </a:r>
          </a:p>
        </p:txBody>
      </p:sp>
      <p:sp>
        <p:nvSpPr>
          <p:cNvPr id="3" name="内容占位符 2">
            <a:extLst>
              <a:ext uri="{FF2B5EF4-FFF2-40B4-BE49-F238E27FC236}">
                <a16:creationId xmlns:a16="http://schemas.microsoft.com/office/drawing/2014/main" id="{385885C5-6588-5DD4-43A7-BEBAAFF2516A}"/>
              </a:ext>
            </a:extLst>
          </p:cNvPr>
          <p:cNvSpPr>
            <a:spLocks noGrp="1"/>
          </p:cNvSpPr>
          <p:nvPr>
            <p:ph idx="1"/>
          </p:nvPr>
        </p:nvSpPr>
        <p:spPr>
          <a:xfrm>
            <a:off x="677333" y="692899"/>
            <a:ext cx="10761186" cy="5946439"/>
          </a:xfrm>
        </p:spPr>
        <p:txBody>
          <a:bodyPr>
            <a:normAutofit fontScale="55000" lnSpcReduction="20000"/>
          </a:bodyPr>
          <a:lstStyle/>
          <a:p>
            <a:pPr marL="0" indent="457200">
              <a:lnSpc>
                <a:spcPct val="130000"/>
              </a:lnSpc>
              <a:buNone/>
            </a:pPr>
            <a:r>
              <a:rPr lang="en-US" altLang="zh-CN" sz="3100" dirty="0"/>
              <a:t>   </a:t>
            </a:r>
            <a:r>
              <a:rPr lang="en-US" altLang="zh-CN" sz="4400" b="1" dirty="0">
                <a:solidFill>
                  <a:srgbClr val="FF0000"/>
                </a:solidFill>
              </a:rPr>
              <a:t>module</a:t>
            </a:r>
            <a:r>
              <a:rPr lang="zh-CN" altLang="en-US" sz="4400" dirty="0"/>
              <a:t>是</a:t>
            </a:r>
            <a:r>
              <a:rPr lang="en-US" altLang="zh-CN" sz="4400" dirty="0"/>
              <a:t>verilog </a:t>
            </a:r>
            <a:r>
              <a:rPr lang="zh-CN" altLang="en-US" sz="4400" dirty="0"/>
              <a:t>中硬件设计的</a:t>
            </a:r>
            <a:r>
              <a:rPr lang="zh-CN" altLang="en-US" sz="4400" b="1" dirty="0"/>
              <a:t>基本单元</a:t>
            </a:r>
            <a:r>
              <a:rPr lang="zh-CN" altLang="en-US" sz="4400" dirty="0"/>
              <a:t>，</a:t>
            </a:r>
            <a:r>
              <a:rPr lang="zh-CN" altLang="en-US" sz="4400" i="0" dirty="0">
                <a:solidFill>
                  <a:srgbClr val="333333"/>
                </a:solidFill>
                <a:effectLst/>
                <a:latin typeface="PingFang SC"/>
              </a:rPr>
              <a:t>类似于软件编程中的“函数”</a:t>
            </a:r>
            <a:r>
              <a:rPr lang="zh-CN" altLang="en-US" sz="4400" dirty="0"/>
              <a:t>。一个 </a:t>
            </a:r>
            <a:r>
              <a:rPr lang="en-US" altLang="zh-CN" sz="4400" dirty="0"/>
              <a:t>module </a:t>
            </a:r>
            <a:r>
              <a:rPr lang="zh-CN" altLang="en-US" sz="4400" dirty="0"/>
              <a:t>定义了一个具有特定功能的电路模块，</a:t>
            </a:r>
            <a:r>
              <a:rPr lang="zh-CN" altLang="en-US" sz="4400" i="0" dirty="0">
                <a:solidFill>
                  <a:srgbClr val="333333"/>
                </a:solidFill>
                <a:effectLst/>
                <a:latin typeface="PingFang SC"/>
              </a:rPr>
              <a:t>隐藏了内部实现细节，模块</a:t>
            </a:r>
            <a:r>
              <a:rPr lang="zh-CN" altLang="en-US" sz="4400" dirty="0"/>
              <a:t>通过端口与其他模块或外部信号交互。</a:t>
            </a:r>
            <a:endParaRPr lang="en-US" altLang="zh-CN" sz="4400" dirty="0"/>
          </a:p>
          <a:p>
            <a:pPr marL="0" indent="457200">
              <a:lnSpc>
                <a:spcPct val="130000"/>
              </a:lnSpc>
              <a:buNone/>
            </a:pPr>
            <a:r>
              <a:rPr lang="zh-CN" altLang="en-US" sz="4400" b="0" i="0" dirty="0">
                <a:solidFill>
                  <a:srgbClr val="333333"/>
                </a:solidFill>
                <a:effectLst/>
                <a:latin typeface="+mn-ea"/>
              </a:rPr>
              <a:t>这种机制允许设计者将复杂系统分解为多个子模块，并通过连接这些子模块构建完整电路。</a:t>
            </a:r>
            <a:endParaRPr lang="en-US" altLang="zh-CN" sz="4400" dirty="0"/>
          </a:p>
          <a:p>
            <a:pPr marL="0" indent="0">
              <a:spcBef>
                <a:spcPts val="0"/>
              </a:spcBef>
              <a:buNone/>
            </a:pPr>
            <a:endParaRPr lang="en-US" altLang="zh-CN" dirty="0">
              <a:solidFill>
                <a:srgbClr val="333333"/>
              </a:solidFill>
              <a:latin typeface="Courier New" panose="02070309020205020404" pitchFamily="49" charset="0"/>
            </a:endParaRPr>
          </a:p>
          <a:p>
            <a:pPr marL="2160000" indent="0">
              <a:spcBef>
                <a:spcPts val="0"/>
              </a:spcBef>
              <a:buNone/>
            </a:pPr>
            <a:r>
              <a:rPr lang="en-US" altLang="zh-CN" sz="2900" dirty="0">
                <a:solidFill>
                  <a:srgbClr val="0000FF"/>
                </a:solidFill>
                <a:latin typeface="Courier New" panose="02070309020205020404" pitchFamily="49" charset="0"/>
              </a:rPr>
              <a:t>module</a:t>
            </a:r>
            <a:r>
              <a:rPr lang="en-US" altLang="zh-CN" sz="2900" dirty="0">
                <a:solidFill>
                  <a:srgbClr val="333333"/>
                </a:solidFill>
                <a:latin typeface="Courier New" panose="02070309020205020404" pitchFamily="49" charset="0"/>
              </a:rPr>
              <a:t> &lt;</a:t>
            </a:r>
            <a:r>
              <a:rPr lang="zh-CN" altLang="en-US" sz="2900" dirty="0">
                <a:solidFill>
                  <a:srgbClr val="333333"/>
                </a:solidFill>
                <a:latin typeface="Courier New" panose="02070309020205020404" pitchFamily="49" charset="0"/>
              </a:rPr>
              <a:t>模块名</a:t>
            </a:r>
            <a:r>
              <a:rPr lang="en-US" altLang="zh-CN" sz="2900" dirty="0">
                <a:solidFill>
                  <a:srgbClr val="333333"/>
                </a:solidFill>
                <a:latin typeface="Courier New" panose="02070309020205020404" pitchFamily="49" charset="0"/>
              </a:rPr>
              <a:t>&gt; </a:t>
            </a:r>
            <a:r>
              <a:rPr lang="en-US" altLang="zh-CN" sz="2900" dirty="0">
                <a:solidFill>
                  <a:srgbClr val="0070C0"/>
                </a:solidFill>
                <a:latin typeface="Courier New" panose="02070309020205020404" pitchFamily="49" charset="0"/>
              </a:rPr>
              <a:t>#</a:t>
            </a:r>
            <a:r>
              <a:rPr lang="en-US" altLang="zh-CN" sz="2900" dirty="0">
                <a:solidFill>
                  <a:srgbClr val="333333"/>
                </a:solidFill>
                <a:latin typeface="Courier New" panose="02070309020205020404" pitchFamily="49" charset="0"/>
              </a:rPr>
              <a:t>(</a:t>
            </a:r>
            <a:r>
              <a:rPr lang="en-US" altLang="zh-CN" sz="2900" dirty="0">
                <a:solidFill>
                  <a:srgbClr val="0000FF"/>
                </a:solidFill>
                <a:latin typeface="Courier New" panose="02070309020205020404" pitchFamily="49" charset="0"/>
              </a:rPr>
              <a:t>parameter</a:t>
            </a:r>
            <a:r>
              <a:rPr lang="en-US" altLang="zh-CN" sz="2900" dirty="0">
                <a:solidFill>
                  <a:srgbClr val="333333"/>
                </a:solidFill>
                <a:latin typeface="Courier New" panose="02070309020205020404" pitchFamily="49" charset="0"/>
              </a:rPr>
              <a:t> WIDTH = 8/*</a:t>
            </a:r>
            <a:r>
              <a:rPr lang="zh-CN" altLang="en-US" sz="2900" dirty="0">
                <a:solidFill>
                  <a:srgbClr val="333333"/>
                </a:solidFill>
                <a:latin typeface="Courier New" panose="02070309020205020404" pitchFamily="49" charset="0"/>
              </a:rPr>
              <a:t>参数定义（可选）</a:t>
            </a:r>
            <a:r>
              <a:rPr lang="en-US" altLang="zh-CN" sz="2900" dirty="0">
                <a:solidFill>
                  <a:srgbClr val="333333"/>
                </a:solidFill>
                <a:latin typeface="Courier New" panose="02070309020205020404" pitchFamily="49" charset="0"/>
              </a:rPr>
              <a:t>*/)(</a:t>
            </a:r>
          </a:p>
          <a:p>
            <a:pPr marL="2160000" indent="0">
              <a:spcBef>
                <a:spcPts val="0"/>
              </a:spcBef>
              <a:buNone/>
            </a:pPr>
            <a:r>
              <a:rPr lang="en-US" altLang="zh-CN" sz="2900" dirty="0">
                <a:solidFill>
                  <a:srgbClr val="333333"/>
                </a:solidFill>
                <a:latin typeface="Courier New" panose="02070309020205020404" pitchFamily="49" charset="0"/>
              </a:rPr>
              <a:t>// </a:t>
            </a:r>
            <a:r>
              <a:rPr lang="zh-CN" altLang="en-US" sz="2900" dirty="0">
                <a:solidFill>
                  <a:srgbClr val="333333"/>
                </a:solidFill>
                <a:latin typeface="Courier New" panose="02070309020205020404" pitchFamily="49" charset="0"/>
              </a:rPr>
              <a:t>端口声明（输入、输出、双向）</a:t>
            </a:r>
          </a:p>
          <a:p>
            <a:pPr marL="2160000" indent="0">
              <a:spcBef>
                <a:spcPts val="0"/>
              </a:spcBef>
              <a:buNone/>
            </a:pPr>
            <a:r>
              <a:rPr lang="zh-CN" altLang="en-US" sz="2900" dirty="0">
                <a:solidFill>
                  <a:srgbClr val="333333"/>
                </a:solidFill>
                <a:latin typeface="Courier New" panose="02070309020205020404" pitchFamily="49" charset="0"/>
              </a:rPr>
              <a:t>    </a:t>
            </a:r>
            <a:r>
              <a:rPr lang="en-US" altLang="zh-CN" sz="2900" dirty="0">
                <a:solidFill>
                  <a:srgbClr val="0000FF"/>
                </a:solidFill>
                <a:latin typeface="Courier New" panose="02070309020205020404" pitchFamily="49" charset="0"/>
              </a:rPr>
              <a:t>input</a:t>
            </a:r>
            <a:r>
              <a:rPr lang="en-US" altLang="zh-CN" sz="2900" dirty="0">
                <a:solidFill>
                  <a:srgbClr val="333333"/>
                </a:solidFill>
                <a:latin typeface="Courier New" panose="02070309020205020404" pitchFamily="49" charset="0"/>
              </a:rPr>
              <a:t>  &lt;</a:t>
            </a:r>
            <a:r>
              <a:rPr lang="zh-CN" altLang="en-US" sz="2900" dirty="0">
                <a:solidFill>
                  <a:srgbClr val="333333"/>
                </a:solidFill>
                <a:latin typeface="Courier New" panose="02070309020205020404" pitchFamily="49" charset="0"/>
              </a:rPr>
              <a:t>端口</a:t>
            </a:r>
            <a:r>
              <a:rPr lang="en-US" altLang="zh-CN" sz="2900" dirty="0">
                <a:solidFill>
                  <a:srgbClr val="333333"/>
                </a:solidFill>
                <a:latin typeface="Courier New" panose="02070309020205020404" pitchFamily="49" charset="0"/>
              </a:rPr>
              <a:t>1&gt;,</a:t>
            </a:r>
          </a:p>
          <a:p>
            <a:pPr marL="2160000" indent="0">
              <a:spcBef>
                <a:spcPts val="0"/>
              </a:spcBef>
              <a:buNone/>
            </a:pPr>
            <a:r>
              <a:rPr lang="en-US" altLang="zh-CN" sz="2900" dirty="0">
                <a:solidFill>
                  <a:srgbClr val="333333"/>
                </a:solidFill>
                <a:latin typeface="Courier New" panose="02070309020205020404" pitchFamily="49" charset="0"/>
              </a:rPr>
              <a:t>    </a:t>
            </a:r>
            <a:r>
              <a:rPr lang="en-US" altLang="zh-CN" sz="2900" dirty="0">
                <a:solidFill>
                  <a:srgbClr val="0000FF"/>
                </a:solidFill>
                <a:latin typeface="Courier New" panose="02070309020205020404" pitchFamily="49" charset="0"/>
              </a:rPr>
              <a:t>output</a:t>
            </a:r>
            <a:r>
              <a:rPr lang="en-US" altLang="zh-CN" sz="2900" dirty="0">
                <a:solidFill>
                  <a:srgbClr val="333333"/>
                </a:solidFill>
                <a:latin typeface="Courier New" panose="02070309020205020404" pitchFamily="49" charset="0"/>
              </a:rPr>
              <a:t> &lt;</a:t>
            </a:r>
            <a:r>
              <a:rPr lang="zh-CN" altLang="en-US" sz="2900" dirty="0">
                <a:solidFill>
                  <a:srgbClr val="333333"/>
                </a:solidFill>
                <a:latin typeface="Courier New" panose="02070309020205020404" pitchFamily="49" charset="0"/>
              </a:rPr>
              <a:t>端口</a:t>
            </a:r>
            <a:r>
              <a:rPr lang="en-US" altLang="zh-CN" sz="2900" dirty="0">
                <a:solidFill>
                  <a:srgbClr val="333333"/>
                </a:solidFill>
                <a:latin typeface="Courier New" panose="02070309020205020404" pitchFamily="49" charset="0"/>
              </a:rPr>
              <a:t>2&gt;,</a:t>
            </a:r>
          </a:p>
          <a:p>
            <a:pPr marL="2160000" indent="0">
              <a:spcBef>
                <a:spcPts val="0"/>
              </a:spcBef>
              <a:buNone/>
            </a:pPr>
            <a:r>
              <a:rPr lang="en-US" altLang="zh-CN" sz="2900" dirty="0">
                <a:solidFill>
                  <a:srgbClr val="333333"/>
                </a:solidFill>
                <a:latin typeface="Courier New" panose="02070309020205020404" pitchFamily="49" charset="0"/>
              </a:rPr>
              <a:t>    </a:t>
            </a:r>
            <a:r>
              <a:rPr lang="en-US" altLang="zh-CN" sz="2900" dirty="0" err="1">
                <a:solidFill>
                  <a:srgbClr val="0000FF"/>
                </a:solidFill>
                <a:latin typeface="Courier New" panose="02070309020205020404" pitchFamily="49" charset="0"/>
              </a:rPr>
              <a:t>inout</a:t>
            </a:r>
            <a:r>
              <a:rPr lang="en-US" altLang="zh-CN" sz="2900" dirty="0">
                <a:solidFill>
                  <a:srgbClr val="0000FF"/>
                </a:solidFill>
                <a:latin typeface="Courier New" panose="02070309020205020404" pitchFamily="49" charset="0"/>
              </a:rPr>
              <a:t> </a:t>
            </a:r>
            <a:r>
              <a:rPr lang="en-US" altLang="zh-CN" sz="2900" dirty="0">
                <a:solidFill>
                  <a:srgbClr val="333333"/>
                </a:solidFill>
                <a:latin typeface="Courier New" panose="02070309020205020404" pitchFamily="49" charset="0"/>
              </a:rPr>
              <a:t> &lt;</a:t>
            </a:r>
            <a:r>
              <a:rPr lang="zh-CN" altLang="en-US" sz="2900" dirty="0">
                <a:solidFill>
                  <a:srgbClr val="333333"/>
                </a:solidFill>
                <a:latin typeface="Courier New" panose="02070309020205020404" pitchFamily="49" charset="0"/>
              </a:rPr>
              <a:t>端口</a:t>
            </a:r>
            <a:r>
              <a:rPr lang="en-US" altLang="zh-CN" sz="2900" dirty="0">
                <a:solidFill>
                  <a:srgbClr val="333333"/>
                </a:solidFill>
                <a:latin typeface="Courier New" panose="02070309020205020404" pitchFamily="49" charset="0"/>
              </a:rPr>
              <a:t>3&gt;, </a:t>
            </a:r>
          </a:p>
          <a:p>
            <a:pPr marL="2160000" indent="0">
              <a:spcBef>
                <a:spcPts val="0"/>
              </a:spcBef>
              <a:buNone/>
            </a:pPr>
            <a:r>
              <a:rPr lang="en-US" altLang="zh-CN" sz="2900" dirty="0">
                <a:solidFill>
                  <a:srgbClr val="333333"/>
                </a:solidFill>
                <a:latin typeface="Courier New" panose="02070309020205020404" pitchFamily="49" charset="0"/>
              </a:rPr>
              <a:t>    ...</a:t>
            </a:r>
          </a:p>
          <a:p>
            <a:pPr marL="2160000" indent="0">
              <a:spcBef>
                <a:spcPts val="0"/>
              </a:spcBef>
              <a:buNone/>
            </a:pPr>
            <a:r>
              <a:rPr lang="en-US" altLang="zh-CN" sz="2900" dirty="0">
                <a:solidFill>
                  <a:srgbClr val="333333"/>
                </a:solidFill>
                <a:latin typeface="Courier New" panose="02070309020205020404" pitchFamily="49" charset="0"/>
              </a:rPr>
              <a:t>);</a:t>
            </a:r>
          </a:p>
          <a:p>
            <a:pPr marL="2160000" indent="0">
              <a:spcBef>
                <a:spcPts val="0"/>
              </a:spcBef>
              <a:buNone/>
            </a:pPr>
            <a:r>
              <a:rPr lang="en-US" altLang="zh-CN" sz="2900" dirty="0">
                <a:solidFill>
                  <a:srgbClr val="333333"/>
                </a:solidFill>
                <a:latin typeface="Courier New" panose="02070309020205020404" pitchFamily="49" charset="0"/>
              </a:rPr>
              <a:t>  // </a:t>
            </a:r>
            <a:r>
              <a:rPr lang="zh-CN" altLang="en-US" sz="2900" dirty="0">
                <a:solidFill>
                  <a:srgbClr val="333333"/>
                </a:solidFill>
                <a:latin typeface="Courier New" panose="02070309020205020404" pitchFamily="49" charset="0"/>
              </a:rPr>
              <a:t>内部信号声明（</a:t>
            </a:r>
            <a:r>
              <a:rPr lang="en-US" altLang="zh-CN" sz="2900" dirty="0">
                <a:solidFill>
                  <a:srgbClr val="333333"/>
                </a:solidFill>
                <a:latin typeface="Courier New" panose="02070309020205020404" pitchFamily="49" charset="0"/>
              </a:rPr>
              <a:t>wire</a:t>
            </a:r>
            <a:r>
              <a:rPr lang="zh-CN" altLang="en-US" sz="2900" dirty="0">
                <a:solidFill>
                  <a:srgbClr val="333333"/>
                </a:solidFill>
                <a:latin typeface="Courier New" panose="02070309020205020404" pitchFamily="49" charset="0"/>
              </a:rPr>
              <a:t>、</a:t>
            </a:r>
            <a:r>
              <a:rPr lang="en-US" altLang="zh-CN" sz="2900" dirty="0">
                <a:solidFill>
                  <a:srgbClr val="333333"/>
                </a:solidFill>
                <a:latin typeface="Courier New" panose="02070309020205020404" pitchFamily="49" charset="0"/>
              </a:rPr>
              <a:t>reg</a:t>
            </a:r>
            <a:r>
              <a:rPr lang="zh-CN" altLang="en-US" sz="2900" dirty="0">
                <a:solidFill>
                  <a:srgbClr val="333333"/>
                </a:solidFill>
                <a:latin typeface="Courier New" panose="02070309020205020404" pitchFamily="49" charset="0"/>
              </a:rPr>
              <a:t>）</a:t>
            </a:r>
          </a:p>
          <a:p>
            <a:pPr marL="2160000" indent="0">
              <a:spcBef>
                <a:spcPts val="0"/>
              </a:spcBef>
              <a:buNone/>
            </a:pPr>
            <a:r>
              <a:rPr lang="zh-CN" altLang="en-US" sz="2900" dirty="0">
                <a:solidFill>
                  <a:srgbClr val="333333"/>
                </a:solidFill>
                <a:latin typeface="Courier New" panose="02070309020205020404" pitchFamily="49" charset="0"/>
              </a:rPr>
              <a:t>    </a:t>
            </a:r>
            <a:r>
              <a:rPr lang="en-US" altLang="zh-CN" sz="2900" dirty="0">
                <a:solidFill>
                  <a:srgbClr val="0000FF"/>
                </a:solidFill>
                <a:latin typeface="Courier New" panose="02070309020205020404" pitchFamily="49" charset="0"/>
              </a:rPr>
              <a:t>wire</a:t>
            </a:r>
            <a:r>
              <a:rPr lang="en-US" altLang="zh-CN" sz="2900" dirty="0">
                <a:solidFill>
                  <a:srgbClr val="333333"/>
                </a:solidFill>
                <a:latin typeface="Courier New" panose="02070309020205020404" pitchFamily="49" charset="0"/>
              </a:rPr>
              <a:t>  &lt;</a:t>
            </a:r>
            <a:r>
              <a:rPr lang="zh-CN" altLang="en-US" sz="2900" dirty="0">
                <a:solidFill>
                  <a:srgbClr val="333333"/>
                </a:solidFill>
                <a:latin typeface="Courier New" panose="02070309020205020404" pitchFamily="49" charset="0"/>
              </a:rPr>
              <a:t>内部信号</a:t>
            </a:r>
            <a:r>
              <a:rPr lang="en-US" altLang="zh-CN" sz="2900" dirty="0">
                <a:solidFill>
                  <a:srgbClr val="333333"/>
                </a:solidFill>
                <a:latin typeface="Courier New" panose="02070309020205020404" pitchFamily="49" charset="0"/>
              </a:rPr>
              <a:t>1&gt;;</a:t>
            </a:r>
          </a:p>
          <a:p>
            <a:pPr marL="2160000" indent="0">
              <a:spcBef>
                <a:spcPts val="0"/>
              </a:spcBef>
              <a:buNone/>
            </a:pPr>
            <a:r>
              <a:rPr lang="en-US" altLang="zh-CN" sz="2900" dirty="0">
                <a:solidFill>
                  <a:srgbClr val="333333"/>
                </a:solidFill>
                <a:latin typeface="Courier New" panose="02070309020205020404" pitchFamily="49" charset="0"/>
              </a:rPr>
              <a:t>    </a:t>
            </a:r>
            <a:r>
              <a:rPr lang="en-US" altLang="zh-CN" sz="2900" dirty="0">
                <a:solidFill>
                  <a:srgbClr val="0000FF"/>
                </a:solidFill>
                <a:latin typeface="Courier New" panose="02070309020205020404" pitchFamily="49" charset="0"/>
              </a:rPr>
              <a:t>reg </a:t>
            </a:r>
            <a:r>
              <a:rPr lang="en-US" altLang="zh-CN" sz="2900" dirty="0">
                <a:solidFill>
                  <a:srgbClr val="333333"/>
                </a:solidFill>
                <a:latin typeface="Courier New" panose="02070309020205020404" pitchFamily="49" charset="0"/>
              </a:rPr>
              <a:t>  &lt;</a:t>
            </a:r>
            <a:r>
              <a:rPr lang="zh-CN" altLang="en-US" sz="2900" dirty="0">
                <a:solidFill>
                  <a:srgbClr val="333333"/>
                </a:solidFill>
                <a:latin typeface="Courier New" panose="02070309020205020404" pitchFamily="49" charset="0"/>
              </a:rPr>
              <a:t>内部信号</a:t>
            </a:r>
            <a:r>
              <a:rPr lang="en-US" altLang="zh-CN" sz="2900" dirty="0">
                <a:solidFill>
                  <a:srgbClr val="333333"/>
                </a:solidFill>
                <a:latin typeface="Courier New" panose="02070309020205020404" pitchFamily="49" charset="0"/>
              </a:rPr>
              <a:t>2&gt;;</a:t>
            </a:r>
          </a:p>
          <a:p>
            <a:pPr marL="2160000" indent="0">
              <a:spcBef>
                <a:spcPts val="0"/>
              </a:spcBef>
              <a:buNone/>
            </a:pPr>
            <a:endParaRPr lang="en-US" altLang="zh-CN" sz="2900" dirty="0">
              <a:solidFill>
                <a:srgbClr val="333333"/>
              </a:solidFill>
              <a:latin typeface="Courier New" panose="02070309020205020404" pitchFamily="49" charset="0"/>
            </a:endParaRPr>
          </a:p>
          <a:p>
            <a:pPr marL="2160000" indent="0">
              <a:spcBef>
                <a:spcPts val="0"/>
              </a:spcBef>
              <a:buNone/>
            </a:pPr>
            <a:r>
              <a:rPr lang="en-US" altLang="zh-CN" sz="2900" dirty="0">
                <a:solidFill>
                  <a:srgbClr val="333333"/>
                </a:solidFill>
                <a:latin typeface="Courier New" panose="02070309020205020404" pitchFamily="49" charset="0"/>
              </a:rPr>
              <a:t>    // </a:t>
            </a:r>
            <a:r>
              <a:rPr lang="zh-CN" altLang="en-US" sz="2900" dirty="0">
                <a:solidFill>
                  <a:srgbClr val="333333"/>
                </a:solidFill>
                <a:latin typeface="Courier New" panose="02070309020205020404" pitchFamily="49" charset="0"/>
              </a:rPr>
              <a:t>模块功能实现（组合逻辑、时序逻辑或子模块实例化）</a:t>
            </a:r>
          </a:p>
          <a:p>
            <a:pPr marL="2160000" indent="0">
              <a:spcBef>
                <a:spcPts val="0"/>
              </a:spcBef>
              <a:buNone/>
            </a:pPr>
            <a:r>
              <a:rPr lang="zh-CN" altLang="en-US" sz="2900" dirty="0">
                <a:solidFill>
                  <a:srgbClr val="333333"/>
                </a:solidFill>
                <a:latin typeface="Courier New" panose="02070309020205020404" pitchFamily="49" charset="0"/>
              </a:rPr>
              <a:t>    </a:t>
            </a:r>
            <a:r>
              <a:rPr lang="en-US" altLang="zh-CN" sz="2900" dirty="0">
                <a:solidFill>
                  <a:srgbClr val="0000FF"/>
                </a:solidFill>
                <a:latin typeface="Courier New" panose="02070309020205020404" pitchFamily="49" charset="0"/>
              </a:rPr>
              <a:t>assign</a:t>
            </a:r>
            <a:r>
              <a:rPr lang="en-US" altLang="zh-CN" sz="2900" dirty="0">
                <a:solidFill>
                  <a:srgbClr val="333333"/>
                </a:solidFill>
                <a:latin typeface="Courier New" panose="02070309020205020404" pitchFamily="49" charset="0"/>
              </a:rPr>
              <a:t> &lt;</a:t>
            </a:r>
            <a:r>
              <a:rPr lang="zh-CN" altLang="en-US" sz="2900" dirty="0">
                <a:solidFill>
                  <a:srgbClr val="333333"/>
                </a:solidFill>
                <a:latin typeface="Courier New" panose="02070309020205020404" pitchFamily="49" charset="0"/>
              </a:rPr>
              <a:t>内部信号</a:t>
            </a:r>
            <a:r>
              <a:rPr lang="en-US" altLang="zh-CN" sz="2900" dirty="0">
                <a:solidFill>
                  <a:srgbClr val="333333"/>
                </a:solidFill>
                <a:latin typeface="Courier New" panose="02070309020205020404" pitchFamily="49" charset="0"/>
              </a:rPr>
              <a:t>1&gt; = ...;    </a:t>
            </a:r>
            <a:endParaRPr lang="zh-CN" altLang="en-US" sz="2900" dirty="0">
              <a:solidFill>
                <a:srgbClr val="333333"/>
              </a:solidFill>
              <a:latin typeface="Courier New" panose="02070309020205020404" pitchFamily="49" charset="0"/>
            </a:endParaRPr>
          </a:p>
          <a:p>
            <a:pPr marL="2160000" indent="0">
              <a:spcBef>
                <a:spcPts val="0"/>
              </a:spcBef>
              <a:buNone/>
            </a:pPr>
            <a:r>
              <a:rPr lang="zh-CN" altLang="en-US" sz="2900" dirty="0">
                <a:solidFill>
                  <a:srgbClr val="333333"/>
                </a:solidFill>
                <a:latin typeface="Courier New" panose="02070309020205020404" pitchFamily="49" charset="0"/>
              </a:rPr>
              <a:t>    </a:t>
            </a:r>
            <a:r>
              <a:rPr lang="en-US" altLang="zh-CN" sz="2900" dirty="0">
                <a:solidFill>
                  <a:srgbClr val="0000FF"/>
                </a:solidFill>
                <a:latin typeface="Courier New" panose="02070309020205020404" pitchFamily="49" charset="0"/>
              </a:rPr>
              <a:t>always</a:t>
            </a:r>
            <a:r>
              <a:rPr lang="en-US" altLang="zh-CN" sz="2900" dirty="0">
                <a:solidFill>
                  <a:srgbClr val="333333"/>
                </a:solidFill>
                <a:latin typeface="Courier New" panose="02070309020205020404" pitchFamily="49" charset="0"/>
              </a:rPr>
              <a:t> </a:t>
            </a:r>
            <a:r>
              <a:rPr lang="en-US" altLang="zh-CN" sz="2900" dirty="0">
                <a:solidFill>
                  <a:srgbClr val="0070C0"/>
                </a:solidFill>
                <a:latin typeface="Courier New" panose="02070309020205020404" pitchFamily="49" charset="0"/>
              </a:rPr>
              <a:t>@</a:t>
            </a:r>
            <a:r>
              <a:rPr lang="en-US" altLang="zh-CN" sz="2900" dirty="0">
                <a:solidFill>
                  <a:srgbClr val="333333"/>
                </a:solidFill>
                <a:latin typeface="Courier New" panose="02070309020205020404" pitchFamily="49" charset="0"/>
              </a:rPr>
              <a:t>(...) </a:t>
            </a:r>
            <a:r>
              <a:rPr lang="en-US" altLang="zh-CN" sz="2900" dirty="0">
                <a:solidFill>
                  <a:srgbClr val="0000FF"/>
                </a:solidFill>
                <a:latin typeface="Courier New" panose="02070309020205020404" pitchFamily="49" charset="0"/>
              </a:rPr>
              <a:t>begin</a:t>
            </a:r>
            <a:r>
              <a:rPr lang="en-US" altLang="zh-CN" sz="2900" dirty="0">
                <a:solidFill>
                  <a:srgbClr val="333333"/>
                </a:solidFill>
                <a:latin typeface="Courier New" panose="02070309020205020404" pitchFamily="49" charset="0"/>
              </a:rPr>
              <a:t> ... </a:t>
            </a:r>
            <a:r>
              <a:rPr lang="en-US" altLang="zh-CN" sz="2900" dirty="0">
                <a:solidFill>
                  <a:srgbClr val="0000FF"/>
                </a:solidFill>
                <a:latin typeface="Courier New" panose="02070309020205020404" pitchFamily="49" charset="0"/>
              </a:rPr>
              <a:t>end</a:t>
            </a:r>
            <a:endParaRPr lang="zh-CN" altLang="en-US" sz="2900" dirty="0">
              <a:solidFill>
                <a:srgbClr val="333333"/>
              </a:solidFill>
              <a:latin typeface="Courier New" panose="02070309020205020404" pitchFamily="49" charset="0"/>
            </a:endParaRPr>
          </a:p>
          <a:p>
            <a:pPr marL="2160000" indent="0">
              <a:spcBef>
                <a:spcPts val="0"/>
              </a:spcBef>
              <a:buNone/>
            </a:pPr>
            <a:r>
              <a:rPr lang="zh-CN" altLang="en-US" sz="2900" dirty="0">
                <a:solidFill>
                  <a:srgbClr val="333333"/>
                </a:solidFill>
                <a:latin typeface="Courier New" panose="02070309020205020404" pitchFamily="49" charset="0"/>
              </a:rPr>
              <a:t>    </a:t>
            </a:r>
            <a:r>
              <a:rPr lang="en-US" altLang="zh-CN" sz="2900" dirty="0">
                <a:solidFill>
                  <a:srgbClr val="333333"/>
                </a:solidFill>
                <a:latin typeface="Courier New" panose="02070309020205020404" pitchFamily="49" charset="0"/>
              </a:rPr>
              <a:t>&lt;</a:t>
            </a:r>
            <a:r>
              <a:rPr lang="zh-CN" altLang="en-US" sz="2900" dirty="0">
                <a:solidFill>
                  <a:srgbClr val="333333"/>
                </a:solidFill>
                <a:latin typeface="Courier New" panose="02070309020205020404" pitchFamily="49" charset="0"/>
              </a:rPr>
              <a:t>子模块名</a:t>
            </a:r>
            <a:r>
              <a:rPr lang="en-US" altLang="zh-CN" sz="2900" dirty="0">
                <a:solidFill>
                  <a:srgbClr val="333333"/>
                </a:solidFill>
                <a:latin typeface="Courier New" panose="02070309020205020404" pitchFamily="49" charset="0"/>
              </a:rPr>
              <a:t>&gt;  &lt;</a:t>
            </a:r>
            <a:r>
              <a:rPr lang="zh-CN" altLang="en-US" sz="2900" dirty="0">
                <a:solidFill>
                  <a:srgbClr val="333333"/>
                </a:solidFill>
                <a:latin typeface="Courier New" panose="02070309020205020404" pitchFamily="49" charset="0"/>
              </a:rPr>
              <a:t>实例名</a:t>
            </a:r>
            <a:r>
              <a:rPr lang="en-US" altLang="zh-CN" sz="2900" dirty="0">
                <a:solidFill>
                  <a:srgbClr val="333333"/>
                </a:solidFill>
                <a:latin typeface="Courier New" panose="02070309020205020404" pitchFamily="49" charset="0"/>
              </a:rPr>
              <a:t>&gt; (...);    </a:t>
            </a:r>
            <a:endParaRPr lang="zh-CN" altLang="en-US" sz="2900" dirty="0">
              <a:solidFill>
                <a:srgbClr val="333333"/>
              </a:solidFill>
              <a:latin typeface="Courier New" panose="02070309020205020404" pitchFamily="49" charset="0"/>
            </a:endParaRPr>
          </a:p>
          <a:p>
            <a:pPr marL="2160000" indent="0">
              <a:spcBef>
                <a:spcPts val="0"/>
              </a:spcBef>
              <a:buNone/>
            </a:pPr>
            <a:endParaRPr lang="zh-CN" altLang="en-US" sz="2900" dirty="0">
              <a:solidFill>
                <a:srgbClr val="333333"/>
              </a:solidFill>
              <a:latin typeface="Courier New" panose="02070309020205020404" pitchFamily="49" charset="0"/>
            </a:endParaRPr>
          </a:p>
          <a:p>
            <a:pPr marL="2160000" indent="0">
              <a:spcBef>
                <a:spcPts val="0"/>
              </a:spcBef>
              <a:buNone/>
            </a:pPr>
            <a:r>
              <a:rPr lang="en-US" altLang="zh-CN" sz="2900" dirty="0" err="1">
                <a:solidFill>
                  <a:srgbClr val="0000FF"/>
                </a:solidFill>
                <a:latin typeface="Courier New" panose="02070309020205020404" pitchFamily="49" charset="0"/>
              </a:rPr>
              <a:t>endmodule</a:t>
            </a:r>
            <a:endParaRPr lang="en-US" altLang="zh-CN" sz="2900" dirty="0"/>
          </a:p>
        </p:txBody>
      </p:sp>
    </p:spTree>
    <p:extLst>
      <p:ext uri="{BB962C8B-B14F-4D97-AF65-F5344CB8AC3E}">
        <p14:creationId xmlns:p14="http://schemas.microsoft.com/office/powerpoint/2010/main" val="14124894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04089B-2627-C2FA-9BE4-E59CFF60E692}"/>
              </a:ext>
            </a:extLst>
          </p:cNvPr>
          <p:cNvSpPr>
            <a:spLocks noGrp="1"/>
          </p:cNvSpPr>
          <p:nvPr>
            <p:ph type="title"/>
          </p:nvPr>
        </p:nvSpPr>
        <p:spPr>
          <a:xfrm>
            <a:off x="677334" y="183638"/>
            <a:ext cx="8596668" cy="923866"/>
          </a:xfrm>
        </p:spPr>
        <p:txBody>
          <a:bodyPr/>
          <a:lstStyle/>
          <a:p>
            <a:r>
              <a:rPr lang="zh-CN" altLang="en-US" dirty="0"/>
              <a:t>模块实例化</a:t>
            </a:r>
          </a:p>
        </p:txBody>
      </p:sp>
      <p:sp>
        <p:nvSpPr>
          <p:cNvPr id="3" name="内容占位符 2">
            <a:extLst>
              <a:ext uri="{FF2B5EF4-FFF2-40B4-BE49-F238E27FC236}">
                <a16:creationId xmlns:a16="http://schemas.microsoft.com/office/drawing/2014/main" id="{A037C811-5C2B-0061-5E2D-75AB54BB07CE}"/>
              </a:ext>
            </a:extLst>
          </p:cNvPr>
          <p:cNvSpPr>
            <a:spLocks noGrp="1"/>
          </p:cNvSpPr>
          <p:nvPr>
            <p:ph idx="1"/>
          </p:nvPr>
        </p:nvSpPr>
        <p:spPr>
          <a:xfrm>
            <a:off x="677333" y="948477"/>
            <a:ext cx="10817981" cy="5191066"/>
          </a:xfrm>
        </p:spPr>
        <p:txBody>
          <a:bodyPr>
            <a:normAutofit/>
          </a:bodyPr>
          <a:lstStyle/>
          <a:p>
            <a:pPr marL="0" indent="457200">
              <a:lnSpc>
                <a:spcPct val="110000"/>
              </a:lnSpc>
              <a:buNone/>
            </a:pPr>
            <a:r>
              <a:rPr lang="zh-CN" altLang="en-US" sz="2800" b="0" i="0" dirty="0">
                <a:solidFill>
                  <a:srgbClr val="333333"/>
                </a:solidFill>
                <a:effectLst/>
                <a:latin typeface="+mn-ea"/>
              </a:rPr>
              <a:t>  </a:t>
            </a:r>
            <a:r>
              <a:rPr lang="zh-CN" altLang="en-US" sz="2400" b="0" i="0" dirty="0">
                <a:solidFill>
                  <a:srgbClr val="333333"/>
                </a:solidFill>
                <a:effectLst/>
                <a:latin typeface="+mn-ea"/>
              </a:rPr>
              <a:t>在</a:t>
            </a:r>
            <a:r>
              <a:rPr lang="en-US" altLang="zh-CN" sz="2400" b="0" i="0" dirty="0">
                <a:solidFill>
                  <a:srgbClr val="333333"/>
                </a:solidFill>
                <a:effectLst/>
                <a:latin typeface="+mn-ea"/>
              </a:rPr>
              <a:t>verilog</a:t>
            </a:r>
            <a:r>
              <a:rPr lang="zh-CN" altLang="en-US" sz="2400" b="0" i="0" dirty="0">
                <a:solidFill>
                  <a:srgbClr val="333333"/>
                </a:solidFill>
                <a:effectLst/>
                <a:latin typeface="+mn-ea"/>
              </a:rPr>
              <a:t>中，</a:t>
            </a:r>
            <a:r>
              <a:rPr lang="zh-CN" altLang="en-US" sz="2400" b="0" i="0" dirty="0">
                <a:solidFill>
                  <a:srgbClr val="FF0000"/>
                </a:solidFill>
                <a:effectLst/>
                <a:latin typeface="+mn-ea"/>
              </a:rPr>
              <a:t>‌</a:t>
            </a:r>
            <a:r>
              <a:rPr lang="zh-CN" altLang="en-US" sz="2400" b="1" i="0" dirty="0">
                <a:solidFill>
                  <a:srgbClr val="FF0000"/>
                </a:solidFill>
                <a:effectLst/>
                <a:latin typeface="+mn-ea"/>
              </a:rPr>
              <a:t>模块实例化</a:t>
            </a:r>
            <a:r>
              <a:rPr lang="zh-CN" altLang="en-US" sz="2400" b="0" i="0" dirty="0">
                <a:solidFill>
                  <a:srgbClr val="FF0000"/>
                </a:solidFill>
                <a:effectLst/>
                <a:latin typeface="+mn-ea"/>
              </a:rPr>
              <a:t>‌</a:t>
            </a:r>
            <a:r>
              <a:rPr lang="zh-CN" altLang="en-US" sz="2400" i="0" dirty="0">
                <a:solidFill>
                  <a:schemeClr val="tx1"/>
                </a:solidFill>
                <a:effectLst/>
                <a:latin typeface="+mn-ea"/>
              </a:rPr>
              <a:t>相当于高级语言的函数调用。模块和实例</a:t>
            </a:r>
            <a:r>
              <a:rPr lang="zh-CN" altLang="en-US" sz="2400" i="0" dirty="0">
                <a:solidFill>
                  <a:schemeClr val="tx1"/>
                </a:solidFill>
                <a:effectLst/>
                <a:latin typeface="PingFang SC"/>
              </a:rPr>
              <a:t>的关系可类比为 ‌“模板与具体产品”‌。</a:t>
            </a:r>
            <a:endParaRPr lang="en-US" altLang="zh-CN" sz="2400" i="0" dirty="0">
              <a:solidFill>
                <a:schemeClr val="tx1"/>
              </a:solidFill>
              <a:effectLst/>
              <a:latin typeface="PingFang SC"/>
            </a:endParaRPr>
          </a:p>
          <a:p>
            <a:pPr marL="0" indent="457200">
              <a:lnSpc>
                <a:spcPct val="110000"/>
              </a:lnSpc>
              <a:buNone/>
            </a:pPr>
            <a:r>
              <a:rPr lang="en-US" altLang="zh-CN" sz="2400" b="1" dirty="0">
                <a:solidFill>
                  <a:schemeClr val="tx1"/>
                </a:solidFill>
                <a:latin typeface="PingFang SC"/>
              </a:rPr>
              <a:t>  </a:t>
            </a:r>
            <a:r>
              <a:rPr lang="en-US" altLang="zh-CN" sz="2400" b="1" dirty="0">
                <a:solidFill>
                  <a:srgbClr val="FF0000"/>
                </a:solidFill>
                <a:latin typeface="+mn-ea"/>
              </a:rPr>
              <a:t>&lt;</a:t>
            </a:r>
            <a:r>
              <a:rPr lang="zh-CN" altLang="en-US" sz="2400" b="1" dirty="0">
                <a:solidFill>
                  <a:srgbClr val="FF0000"/>
                </a:solidFill>
                <a:latin typeface="+mn-ea"/>
              </a:rPr>
              <a:t>模块名</a:t>
            </a:r>
            <a:r>
              <a:rPr lang="en-US" altLang="zh-CN" sz="2400" b="1" dirty="0">
                <a:solidFill>
                  <a:srgbClr val="FF0000"/>
                </a:solidFill>
                <a:latin typeface="+mn-ea"/>
              </a:rPr>
              <a:t>&gt;   &lt;</a:t>
            </a:r>
            <a:r>
              <a:rPr lang="zh-CN" altLang="en-US" sz="2400" b="1" dirty="0">
                <a:solidFill>
                  <a:srgbClr val="FF0000"/>
                </a:solidFill>
                <a:latin typeface="+mn-ea"/>
              </a:rPr>
              <a:t>实例名</a:t>
            </a:r>
            <a:r>
              <a:rPr lang="en-US" altLang="zh-CN" sz="2400" b="1" dirty="0">
                <a:solidFill>
                  <a:srgbClr val="FF0000"/>
                </a:solidFill>
                <a:latin typeface="+mn-ea"/>
              </a:rPr>
              <a:t>&gt; (/*</a:t>
            </a:r>
            <a:r>
              <a:rPr lang="zh-CN" altLang="en-US" sz="2400" b="1" dirty="0">
                <a:solidFill>
                  <a:srgbClr val="FF0000"/>
                </a:solidFill>
                <a:latin typeface="+mn-ea"/>
              </a:rPr>
              <a:t>端口连接</a:t>
            </a:r>
            <a:r>
              <a:rPr lang="en-US" altLang="zh-CN" sz="2400" b="1" dirty="0">
                <a:solidFill>
                  <a:srgbClr val="FF0000"/>
                </a:solidFill>
                <a:latin typeface="+mn-ea"/>
              </a:rPr>
              <a:t>*/);</a:t>
            </a:r>
          </a:p>
          <a:p>
            <a:pPr algn="l">
              <a:lnSpc>
                <a:spcPts val="2250"/>
              </a:lnSpc>
              <a:spcBef>
                <a:spcPts val="825"/>
              </a:spcBef>
              <a:spcAft>
                <a:spcPts val="450"/>
              </a:spcAft>
            </a:pPr>
            <a:r>
              <a:rPr lang="zh-CN" altLang="en-US" sz="2400" b="1" i="0" dirty="0">
                <a:solidFill>
                  <a:srgbClr val="333333"/>
                </a:solidFill>
                <a:effectLst/>
                <a:latin typeface="PingFang SC"/>
              </a:rPr>
              <a:t>端口连接方式‌</a:t>
            </a:r>
          </a:p>
          <a:p>
            <a:pPr marL="1062900" algn="l">
              <a:lnSpc>
                <a:spcPts val="2175"/>
              </a:lnSpc>
              <a:spcBef>
                <a:spcPts val="525"/>
              </a:spcBef>
              <a:spcAft>
                <a:spcPts val="525"/>
              </a:spcAft>
              <a:buFont typeface="Arial" panose="020B0604020202020204" pitchFamily="34" charset="0"/>
              <a:buChar char="•"/>
            </a:pPr>
            <a:r>
              <a:rPr lang="zh-CN" altLang="en-US" sz="2400" b="1" i="0" dirty="0">
                <a:solidFill>
                  <a:srgbClr val="333333"/>
                </a:solidFill>
                <a:effectLst/>
                <a:latin typeface="PingFang SC"/>
              </a:rPr>
              <a:t>按名称连接</a:t>
            </a:r>
            <a:r>
              <a:rPr lang="en-US" altLang="zh-CN" sz="2400" b="1" i="0" dirty="0">
                <a:solidFill>
                  <a:srgbClr val="333333"/>
                </a:solidFill>
                <a:effectLst/>
                <a:latin typeface="PingFang SC"/>
              </a:rPr>
              <a:t>: </a:t>
            </a:r>
            <a:r>
              <a:rPr lang="zh-CN" altLang="en-US" sz="2400" b="0" i="0" dirty="0">
                <a:solidFill>
                  <a:srgbClr val="333333"/>
                </a:solidFill>
                <a:effectLst/>
                <a:latin typeface="PingFang SC"/>
              </a:rPr>
              <a:t>显式指定端口名称与连接信号的对应关系‌。</a:t>
            </a:r>
            <a:endParaRPr lang="zh-CN" altLang="en-US" sz="2400" b="1" i="0" dirty="0">
              <a:solidFill>
                <a:srgbClr val="333333"/>
              </a:solidFill>
              <a:effectLst/>
              <a:latin typeface="PingFang SC"/>
            </a:endParaRPr>
          </a:p>
          <a:p>
            <a:pPr marL="1062900">
              <a:lnSpc>
                <a:spcPts val="2175"/>
              </a:lnSpc>
              <a:spcBef>
                <a:spcPts val="525"/>
              </a:spcBef>
              <a:spcAft>
                <a:spcPts val="525"/>
              </a:spcAft>
              <a:buFont typeface="Arial" panose="020B0604020202020204" pitchFamily="34" charset="0"/>
              <a:buChar char="•"/>
            </a:pPr>
            <a:r>
              <a:rPr lang="zh-CN" altLang="en-US" sz="2400" b="1" i="0" dirty="0">
                <a:solidFill>
                  <a:srgbClr val="333333"/>
                </a:solidFill>
                <a:effectLst/>
                <a:latin typeface="PingFang SC"/>
              </a:rPr>
              <a:t>按顺序连接‌</a:t>
            </a:r>
            <a:r>
              <a:rPr lang="en-US" altLang="zh-CN" sz="2400" b="1" i="0" dirty="0">
                <a:solidFill>
                  <a:srgbClr val="333333"/>
                </a:solidFill>
                <a:effectLst/>
                <a:latin typeface="PingFang SC"/>
              </a:rPr>
              <a:t>: </a:t>
            </a:r>
            <a:r>
              <a:rPr lang="zh-CN" altLang="en-US" sz="2400" b="0" i="0" dirty="0">
                <a:solidFill>
                  <a:srgbClr val="333333"/>
                </a:solidFill>
                <a:effectLst/>
                <a:latin typeface="PingFang SC"/>
              </a:rPr>
              <a:t>根据被实例化模块的端口定义顺序直接连接信号。</a:t>
            </a:r>
          </a:p>
          <a:p>
            <a:pPr marL="0" indent="0">
              <a:buNone/>
            </a:pPr>
            <a:endParaRPr lang="en-US" altLang="zh-CN" dirty="0"/>
          </a:p>
          <a:p>
            <a:endParaRPr lang="zh-CN" altLang="en-US" dirty="0"/>
          </a:p>
        </p:txBody>
      </p:sp>
      <p:sp>
        <p:nvSpPr>
          <p:cNvPr id="4" name="文本框 3">
            <a:extLst>
              <a:ext uri="{FF2B5EF4-FFF2-40B4-BE49-F238E27FC236}">
                <a16:creationId xmlns:a16="http://schemas.microsoft.com/office/drawing/2014/main" id="{6C3698D9-81A3-C9C0-9848-B07AA6ECC1C3}"/>
              </a:ext>
            </a:extLst>
          </p:cNvPr>
          <p:cNvSpPr txBox="1"/>
          <p:nvPr/>
        </p:nvSpPr>
        <p:spPr>
          <a:xfrm>
            <a:off x="1891275" y="4075538"/>
            <a:ext cx="2851109" cy="1603965"/>
          </a:xfrm>
          <a:prstGeom prst="rect">
            <a:avLst/>
          </a:prstGeom>
          <a:noFill/>
          <a:ln>
            <a:solidFill>
              <a:schemeClr val="tx1"/>
            </a:solidFill>
            <a:prstDash val="dash"/>
          </a:ln>
        </p:spPr>
        <p:txBody>
          <a:bodyPr wrap="square" rtlCol="0">
            <a:spAutoFit/>
          </a:bodyPr>
          <a:lstStyle/>
          <a:p>
            <a:pPr>
              <a:lnSpc>
                <a:spcPct val="110000"/>
              </a:lnSpc>
              <a:buNone/>
            </a:pPr>
            <a:r>
              <a:rPr lang="en-US" altLang="zh-CN" sz="1800" dirty="0">
                <a:latin typeface="+mn-ea"/>
              </a:rPr>
              <a:t>&lt;</a:t>
            </a:r>
            <a:r>
              <a:rPr lang="zh-CN" altLang="en-US" sz="1800" dirty="0">
                <a:latin typeface="+mn-ea"/>
              </a:rPr>
              <a:t>模块名</a:t>
            </a:r>
            <a:r>
              <a:rPr lang="en-US" altLang="zh-CN" sz="1800" dirty="0">
                <a:latin typeface="+mn-ea"/>
              </a:rPr>
              <a:t>&gt;   &lt;</a:t>
            </a:r>
            <a:r>
              <a:rPr lang="zh-CN" altLang="en-US" sz="1800" dirty="0">
                <a:latin typeface="+mn-ea"/>
              </a:rPr>
              <a:t>实例名</a:t>
            </a:r>
            <a:r>
              <a:rPr lang="en-US" altLang="zh-CN" sz="1800" dirty="0">
                <a:latin typeface="+mn-ea"/>
              </a:rPr>
              <a:t>&gt; (</a:t>
            </a:r>
          </a:p>
          <a:p>
            <a:pPr>
              <a:lnSpc>
                <a:spcPct val="110000"/>
              </a:lnSpc>
              <a:buNone/>
            </a:pPr>
            <a:r>
              <a:rPr lang="en-US" altLang="zh-CN" sz="1800" dirty="0">
                <a:latin typeface="+mn-ea"/>
              </a:rPr>
              <a:t>    .&lt;</a:t>
            </a:r>
            <a:r>
              <a:rPr lang="zh-CN" altLang="en-US" sz="1800" dirty="0">
                <a:latin typeface="+mn-ea"/>
              </a:rPr>
              <a:t>端口</a:t>
            </a:r>
            <a:r>
              <a:rPr lang="en-US" altLang="zh-CN" sz="1800" dirty="0">
                <a:latin typeface="+mn-ea"/>
              </a:rPr>
              <a:t>1&gt;(</a:t>
            </a:r>
            <a:r>
              <a:rPr lang="zh-CN" altLang="en-US" sz="1800" dirty="0">
                <a:latin typeface="+mn-ea"/>
              </a:rPr>
              <a:t>信号 </a:t>
            </a:r>
            <a:r>
              <a:rPr lang="en-US" altLang="zh-CN" sz="1800" dirty="0">
                <a:latin typeface="+mn-ea"/>
              </a:rPr>
              <a:t>1), </a:t>
            </a:r>
          </a:p>
          <a:p>
            <a:pPr>
              <a:lnSpc>
                <a:spcPct val="110000"/>
              </a:lnSpc>
              <a:buNone/>
            </a:pPr>
            <a:r>
              <a:rPr lang="en-US" altLang="zh-CN" sz="1800" dirty="0">
                <a:latin typeface="+mn-ea"/>
              </a:rPr>
              <a:t>    .&lt;</a:t>
            </a:r>
            <a:r>
              <a:rPr lang="zh-CN" altLang="en-US" sz="1800" dirty="0">
                <a:latin typeface="+mn-ea"/>
              </a:rPr>
              <a:t>端口</a:t>
            </a:r>
            <a:r>
              <a:rPr lang="en-US" altLang="zh-CN" sz="1800" dirty="0">
                <a:latin typeface="+mn-ea"/>
              </a:rPr>
              <a:t>2&gt;(</a:t>
            </a:r>
            <a:r>
              <a:rPr lang="zh-CN" altLang="en-US" sz="1800" dirty="0">
                <a:latin typeface="+mn-ea"/>
              </a:rPr>
              <a:t>信号</a:t>
            </a:r>
            <a:r>
              <a:rPr lang="en-US" altLang="zh-CN" sz="1800" dirty="0">
                <a:latin typeface="+mn-ea"/>
              </a:rPr>
              <a:t>2), </a:t>
            </a:r>
          </a:p>
          <a:p>
            <a:pPr>
              <a:lnSpc>
                <a:spcPct val="110000"/>
              </a:lnSpc>
              <a:buNone/>
            </a:pPr>
            <a:r>
              <a:rPr lang="en-US" altLang="zh-CN" sz="1800" dirty="0">
                <a:latin typeface="+mn-ea"/>
              </a:rPr>
              <a:t>    ...</a:t>
            </a:r>
          </a:p>
          <a:p>
            <a:pPr>
              <a:lnSpc>
                <a:spcPct val="110000"/>
              </a:lnSpc>
              <a:buNone/>
            </a:pPr>
            <a:r>
              <a:rPr lang="en-US" altLang="zh-CN" sz="1800" dirty="0">
                <a:latin typeface="+mn-ea"/>
              </a:rPr>
              <a:t>);  </a:t>
            </a:r>
            <a:r>
              <a:rPr lang="en-US" altLang="zh-CN" sz="1800" i="1" dirty="0">
                <a:latin typeface="+mn-ea"/>
              </a:rPr>
              <a:t>//</a:t>
            </a:r>
            <a:r>
              <a:rPr lang="zh-CN" altLang="en-US" i="1" dirty="0">
                <a:solidFill>
                  <a:srgbClr val="FF0000"/>
                </a:solidFill>
                <a:latin typeface="+mn-ea"/>
              </a:rPr>
              <a:t>按名称连接</a:t>
            </a:r>
            <a:endParaRPr lang="en-US" altLang="zh-CN" sz="3200" i="1" dirty="0">
              <a:solidFill>
                <a:srgbClr val="FF0000"/>
              </a:solidFill>
              <a:latin typeface="+mn-ea"/>
            </a:endParaRPr>
          </a:p>
        </p:txBody>
      </p:sp>
      <p:sp>
        <p:nvSpPr>
          <p:cNvPr id="5" name="文本框 4">
            <a:extLst>
              <a:ext uri="{FF2B5EF4-FFF2-40B4-BE49-F238E27FC236}">
                <a16:creationId xmlns:a16="http://schemas.microsoft.com/office/drawing/2014/main" id="{171A2000-115A-BBF9-F761-F0BDA061B3B9}"/>
              </a:ext>
            </a:extLst>
          </p:cNvPr>
          <p:cNvSpPr txBox="1"/>
          <p:nvPr/>
        </p:nvSpPr>
        <p:spPr>
          <a:xfrm>
            <a:off x="6693294" y="4075538"/>
            <a:ext cx="2851109" cy="1603965"/>
          </a:xfrm>
          <a:prstGeom prst="rect">
            <a:avLst/>
          </a:prstGeom>
          <a:noFill/>
          <a:ln>
            <a:solidFill>
              <a:schemeClr val="tx1"/>
            </a:solidFill>
            <a:prstDash val="dash"/>
          </a:ln>
        </p:spPr>
        <p:txBody>
          <a:bodyPr wrap="square" rtlCol="0">
            <a:spAutoFit/>
          </a:bodyPr>
          <a:lstStyle/>
          <a:p>
            <a:pPr>
              <a:lnSpc>
                <a:spcPct val="110000"/>
              </a:lnSpc>
              <a:buNone/>
            </a:pPr>
            <a:r>
              <a:rPr lang="en-US" altLang="zh-CN" sz="1800" dirty="0">
                <a:latin typeface="+mn-ea"/>
              </a:rPr>
              <a:t>&lt;</a:t>
            </a:r>
            <a:r>
              <a:rPr lang="zh-CN" altLang="en-US" sz="1800" dirty="0">
                <a:latin typeface="+mn-ea"/>
              </a:rPr>
              <a:t>模块名</a:t>
            </a:r>
            <a:r>
              <a:rPr lang="en-US" altLang="zh-CN" sz="1800" dirty="0">
                <a:latin typeface="+mn-ea"/>
              </a:rPr>
              <a:t>&gt;   &lt;</a:t>
            </a:r>
            <a:r>
              <a:rPr lang="zh-CN" altLang="en-US" sz="1800" dirty="0">
                <a:latin typeface="+mn-ea"/>
              </a:rPr>
              <a:t>实例名</a:t>
            </a:r>
            <a:r>
              <a:rPr lang="en-US" altLang="zh-CN" sz="1800" dirty="0">
                <a:latin typeface="+mn-ea"/>
              </a:rPr>
              <a:t>&gt; (</a:t>
            </a:r>
          </a:p>
          <a:p>
            <a:pPr>
              <a:lnSpc>
                <a:spcPct val="110000"/>
              </a:lnSpc>
              <a:buNone/>
            </a:pPr>
            <a:r>
              <a:rPr lang="zh-CN" altLang="en-US" sz="1800" dirty="0">
                <a:latin typeface="+mn-ea"/>
              </a:rPr>
              <a:t>信号</a:t>
            </a:r>
            <a:r>
              <a:rPr lang="en-US" altLang="zh-CN" sz="1800" dirty="0">
                <a:latin typeface="+mn-ea"/>
              </a:rPr>
              <a:t>1,     </a:t>
            </a:r>
            <a:r>
              <a:rPr lang="en-US" altLang="zh-CN" sz="1800" i="1" dirty="0">
                <a:latin typeface="+mn-ea"/>
              </a:rPr>
              <a:t>//</a:t>
            </a:r>
            <a:r>
              <a:rPr lang="zh-CN" altLang="en-US" sz="1800" i="1" dirty="0">
                <a:latin typeface="+mn-ea"/>
              </a:rPr>
              <a:t>连接端口</a:t>
            </a:r>
            <a:r>
              <a:rPr lang="en-US" altLang="zh-CN" sz="1800" i="1" dirty="0">
                <a:latin typeface="+mn-ea"/>
              </a:rPr>
              <a:t>1</a:t>
            </a:r>
          </a:p>
          <a:p>
            <a:pPr>
              <a:lnSpc>
                <a:spcPct val="110000"/>
              </a:lnSpc>
              <a:buNone/>
            </a:pPr>
            <a:r>
              <a:rPr lang="zh-CN" altLang="en-US" sz="1800" dirty="0">
                <a:latin typeface="+mn-ea"/>
              </a:rPr>
              <a:t>信号</a:t>
            </a:r>
            <a:r>
              <a:rPr lang="en-US" altLang="zh-CN" sz="1800" dirty="0">
                <a:latin typeface="+mn-ea"/>
              </a:rPr>
              <a:t>2,   </a:t>
            </a:r>
            <a:r>
              <a:rPr lang="en-US" altLang="zh-CN" sz="1800" i="1" dirty="0">
                <a:latin typeface="+mn-ea"/>
              </a:rPr>
              <a:t>//</a:t>
            </a:r>
            <a:r>
              <a:rPr lang="zh-CN" altLang="en-US" sz="1800" i="1" dirty="0">
                <a:latin typeface="+mn-ea"/>
              </a:rPr>
              <a:t>连接端口</a:t>
            </a:r>
            <a:r>
              <a:rPr lang="en-US" altLang="zh-CN" sz="1800" i="1" dirty="0">
                <a:latin typeface="+mn-ea"/>
              </a:rPr>
              <a:t>2</a:t>
            </a:r>
          </a:p>
          <a:p>
            <a:pPr>
              <a:lnSpc>
                <a:spcPct val="110000"/>
              </a:lnSpc>
              <a:buNone/>
            </a:pPr>
            <a:r>
              <a:rPr lang="en-US" altLang="zh-CN" sz="1800" dirty="0">
                <a:latin typeface="+mn-ea"/>
              </a:rPr>
              <a:t>    ...</a:t>
            </a:r>
          </a:p>
          <a:p>
            <a:pPr>
              <a:lnSpc>
                <a:spcPct val="110000"/>
              </a:lnSpc>
              <a:buNone/>
            </a:pPr>
            <a:r>
              <a:rPr lang="en-US" altLang="zh-CN" sz="1800" dirty="0">
                <a:latin typeface="+mn-ea"/>
              </a:rPr>
              <a:t>);  </a:t>
            </a:r>
            <a:r>
              <a:rPr lang="en-US" altLang="zh-CN" sz="1800" i="1" dirty="0">
                <a:latin typeface="+mn-ea"/>
              </a:rPr>
              <a:t>//</a:t>
            </a:r>
            <a:r>
              <a:rPr lang="zh-CN" altLang="en-US" sz="1800" i="1" dirty="0">
                <a:solidFill>
                  <a:srgbClr val="FF0000"/>
                </a:solidFill>
                <a:latin typeface="+mn-ea"/>
              </a:rPr>
              <a:t>按顺序连接</a:t>
            </a:r>
            <a:endParaRPr lang="en-US" altLang="zh-CN" sz="3200" i="1" dirty="0">
              <a:solidFill>
                <a:srgbClr val="FF0000"/>
              </a:solidFill>
              <a:latin typeface="+mn-ea"/>
            </a:endParaRPr>
          </a:p>
        </p:txBody>
      </p:sp>
    </p:spTree>
    <p:extLst>
      <p:ext uri="{BB962C8B-B14F-4D97-AF65-F5344CB8AC3E}">
        <p14:creationId xmlns:p14="http://schemas.microsoft.com/office/powerpoint/2010/main" val="3537688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84AD36-4367-A29B-B1B0-3AABD77FD93E}"/>
              </a:ext>
            </a:extLst>
          </p:cNvPr>
          <p:cNvSpPr>
            <a:spLocks noGrp="1"/>
          </p:cNvSpPr>
          <p:nvPr>
            <p:ph type="title"/>
          </p:nvPr>
        </p:nvSpPr>
        <p:spPr>
          <a:xfrm>
            <a:off x="677334" y="246112"/>
            <a:ext cx="8596668" cy="810276"/>
          </a:xfrm>
        </p:spPr>
        <p:txBody>
          <a:bodyPr/>
          <a:lstStyle/>
          <a:p>
            <a:r>
              <a:rPr lang="en-US" altLang="zh-CN" dirty="0"/>
              <a:t>2.2  </a:t>
            </a:r>
            <a:r>
              <a:rPr lang="zh-CN" altLang="en-US" dirty="0"/>
              <a:t>数据类型</a:t>
            </a:r>
          </a:p>
        </p:txBody>
      </p:sp>
      <p:sp>
        <p:nvSpPr>
          <p:cNvPr id="3" name="内容占位符 2">
            <a:extLst>
              <a:ext uri="{FF2B5EF4-FFF2-40B4-BE49-F238E27FC236}">
                <a16:creationId xmlns:a16="http://schemas.microsoft.com/office/drawing/2014/main" id="{ECE9CEF8-FEC4-5073-AD57-1F8E79D5C180}"/>
              </a:ext>
            </a:extLst>
          </p:cNvPr>
          <p:cNvSpPr>
            <a:spLocks noGrp="1"/>
          </p:cNvSpPr>
          <p:nvPr>
            <p:ph idx="1"/>
          </p:nvPr>
        </p:nvSpPr>
        <p:spPr>
          <a:xfrm>
            <a:off x="677333" y="1277889"/>
            <a:ext cx="10744147" cy="4763474"/>
          </a:xfrm>
        </p:spPr>
        <p:txBody>
          <a:bodyPr>
            <a:normAutofit/>
          </a:bodyPr>
          <a:lstStyle/>
          <a:p>
            <a:r>
              <a:rPr lang="en-US" altLang="zh-CN" sz="2400" b="1" dirty="0"/>
              <a:t>wire </a:t>
            </a:r>
          </a:p>
          <a:p>
            <a:pPr lvl="1">
              <a:buFont typeface="Arial" panose="020B0604020202020204" pitchFamily="34" charset="0"/>
              <a:buChar char="•"/>
            </a:pPr>
            <a:r>
              <a:rPr lang="zh-CN" altLang="en-US" sz="2400" dirty="0">
                <a:solidFill>
                  <a:srgbClr val="FF0000"/>
                </a:solidFill>
              </a:rPr>
              <a:t>模块的</a:t>
            </a:r>
            <a:r>
              <a:rPr lang="en-US" altLang="zh-CN" sz="2400" dirty="0">
                <a:solidFill>
                  <a:srgbClr val="FF0000"/>
                </a:solidFill>
              </a:rPr>
              <a:t>input</a:t>
            </a:r>
            <a:r>
              <a:rPr lang="zh-CN" altLang="en-US" sz="2400" dirty="0">
                <a:solidFill>
                  <a:srgbClr val="FF0000"/>
                </a:solidFill>
              </a:rPr>
              <a:t>端口必须是 </a:t>
            </a:r>
            <a:r>
              <a:rPr lang="en-US" altLang="zh-CN" sz="2400" dirty="0">
                <a:solidFill>
                  <a:srgbClr val="FF0000"/>
                </a:solidFill>
              </a:rPr>
              <a:t>wire</a:t>
            </a:r>
            <a:r>
              <a:rPr lang="zh-CN" altLang="en-US" sz="2400" dirty="0">
                <a:solidFill>
                  <a:srgbClr val="FF0000"/>
                </a:solidFill>
              </a:rPr>
              <a:t>类型</a:t>
            </a:r>
            <a:r>
              <a:rPr lang="zh-CN" altLang="en-US" sz="2400" dirty="0"/>
              <a:t>。</a:t>
            </a:r>
          </a:p>
          <a:p>
            <a:pPr lvl="1">
              <a:buFont typeface="Arial" panose="020B0604020202020204" pitchFamily="34" charset="0"/>
              <a:buChar char="•"/>
            </a:pPr>
            <a:r>
              <a:rPr lang="zh-CN" altLang="en-US" sz="2400" dirty="0">
                <a:solidFill>
                  <a:srgbClr val="FF0000"/>
                </a:solidFill>
              </a:rPr>
              <a:t>连续赋值语句（</a:t>
            </a:r>
            <a:r>
              <a:rPr lang="en-US" altLang="zh-CN" sz="2400" dirty="0">
                <a:solidFill>
                  <a:srgbClr val="FF0000"/>
                </a:solidFill>
              </a:rPr>
              <a:t>assign</a:t>
            </a:r>
            <a:r>
              <a:rPr lang="zh-CN" altLang="en-US" sz="2400" dirty="0">
                <a:solidFill>
                  <a:srgbClr val="FF0000"/>
                </a:solidFill>
              </a:rPr>
              <a:t>语句）</a:t>
            </a:r>
            <a:r>
              <a:rPr lang="en-US" altLang="zh-CN" sz="2400" dirty="0">
                <a:solidFill>
                  <a:srgbClr val="FF0000"/>
                </a:solidFill>
              </a:rPr>
              <a:t> </a:t>
            </a:r>
            <a:r>
              <a:rPr lang="zh-CN" altLang="en-US" sz="2400" dirty="0">
                <a:solidFill>
                  <a:srgbClr val="FF0000"/>
                </a:solidFill>
              </a:rPr>
              <a:t>的左值必须是</a:t>
            </a:r>
            <a:r>
              <a:rPr lang="en-US" altLang="zh-CN" sz="2400" dirty="0">
                <a:solidFill>
                  <a:srgbClr val="FF0000"/>
                </a:solidFill>
              </a:rPr>
              <a:t>wire</a:t>
            </a:r>
            <a:r>
              <a:rPr lang="zh-CN" altLang="en-US" sz="2400" dirty="0">
                <a:solidFill>
                  <a:srgbClr val="FF0000"/>
                </a:solidFill>
              </a:rPr>
              <a:t>类型</a:t>
            </a:r>
            <a:r>
              <a:rPr lang="zh-CN" altLang="en-US" sz="2400" dirty="0"/>
              <a:t>。</a:t>
            </a:r>
            <a:endParaRPr lang="en-US" altLang="zh-CN" sz="2400" dirty="0"/>
          </a:p>
          <a:p>
            <a:pPr lvl="1">
              <a:buFont typeface="Arial" panose="020B0604020202020204" pitchFamily="34" charset="0"/>
              <a:buChar char="•"/>
            </a:pPr>
            <a:r>
              <a:rPr lang="zh-CN" altLang="en-US" sz="2400" dirty="0"/>
              <a:t>未初始化时，值为</a:t>
            </a:r>
            <a:r>
              <a:rPr lang="en-US" altLang="zh-CN" sz="2400" dirty="0"/>
              <a:t>z</a:t>
            </a:r>
            <a:r>
              <a:rPr lang="zh-CN" altLang="en-US" sz="2400" dirty="0"/>
              <a:t>（高阻态）。</a:t>
            </a:r>
            <a:endParaRPr lang="en-US" altLang="zh-CN" sz="2400" dirty="0"/>
          </a:p>
          <a:p>
            <a:r>
              <a:rPr lang="en-US" altLang="zh-CN" sz="2400" b="1" dirty="0"/>
              <a:t>reg</a:t>
            </a:r>
          </a:p>
          <a:p>
            <a:pPr lvl="1">
              <a:buFont typeface="Arial" panose="020B0604020202020204" pitchFamily="34" charset="0"/>
              <a:buChar char="•"/>
            </a:pPr>
            <a:r>
              <a:rPr lang="zh-CN" altLang="en-US" sz="2400" dirty="0">
                <a:solidFill>
                  <a:srgbClr val="FF0000"/>
                </a:solidFill>
              </a:rPr>
              <a:t>只能在‌过程块‌（</a:t>
            </a:r>
            <a:r>
              <a:rPr lang="en-US" altLang="zh-CN" sz="2400" dirty="0">
                <a:solidFill>
                  <a:srgbClr val="FF0000"/>
                </a:solidFill>
              </a:rPr>
              <a:t>always</a:t>
            </a:r>
            <a:r>
              <a:rPr lang="zh-CN" altLang="en-US" sz="2400" dirty="0">
                <a:solidFill>
                  <a:srgbClr val="FF0000"/>
                </a:solidFill>
              </a:rPr>
              <a:t>、</a:t>
            </a:r>
            <a:r>
              <a:rPr lang="en-US" altLang="zh-CN" sz="2400" dirty="0">
                <a:solidFill>
                  <a:srgbClr val="FF0000"/>
                </a:solidFill>
              </a:rPr>
              <a:t>initial</a:t>
            </a:r>
            <a:r>
              <a:rPr lang="zh-CN" altLang="en-US" sz="2400" dirty="0">
                <a:solidFill>
                  <a:srgbClr val="FF0000"/>
                </a:solidFill>
              </a:rPr>
              <a:t>）中被赋值</a:t>
            </a:r>
            <a:r>
              <a:rPr lang="zh-CN" altLang="en-US" sz="2400" dirty="0"/>
              <a:t>。</a:t>
            </a:r>
            <a:endParaRPr lang="en-US" altLang="zh-CN" sz="2400" dirty="0"/>
          </a:p>
          <a:p>
            <a:pPr lvl="1">
              <a:buFont typeface="Arial" panose="020B0604020202020204" pitchFamily="34" charset="0"/>
              <a:buChar char="•"/>
            </a:pPr>
            <a:r>
              <a:rPr lang="zh-CN" altLang="en-US" sz="2400" dirty="0"/>
              <a:t>未初始化时，值为</a:t>
            </a:r>
            <a:r>
              <a:rPr lang="en-US" altLang="zh-CN" sz="2400" dirty="0"/>
              <a:t>x</a:t>
            </a:r>
            <a:r>
              <a:rPr lang="zh-CN" altLang="en-US" sz="2400" dirty="0"/>
              <a:t>（未知）。</a:t>
            </a:r>
            <a:endParaRPr lang="en-US" altLang="zh-CN" sz="2400" dirty="0"/>
          </a:p>
        </p:txBody>
      </p:sp>
    </p:spTree>
    <p:extLst>
      <p:ext uri="{BB962C8B-B14F-4D97-AF65-F5344CB8AC3E}">
        <p14:creationId xmlns:p14="http://schemas.microsoft.com/office/powerpoint/2010/main" val="6131020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30326C-F436-1B65-15F1-884DDDA6ED5D}"/>
              </a:ext>
            </a:extLst>
          </p:cNvPr>
          <p:cNvSpPr>
            <a:spLocks noGrp="1"/>
          </p:cNvSpPr>
          <p:nvPr>
            <p:ph type="title"/>
          </p:nvPr>
        </p:nvSpPr>
        <p:spPr>
          <a:xfrm>
            <a:off x="677334" y="343346"/>
            <a:ext cx="8596668" cy="946584"/>
          </a:xfrm>
        </p:spPr>
        <p:txBody>
          <a:bodyPr/>
          <a:lstStyle/>
          <a:p>
            <a:r>
              <a:rPr lang="zh-CN" altLang="en-US" dirty="0"/>
              <a:t>数据值</a:t>
            </a:r>
          </a:p>
        </p:txBody>
      </p:sp>
      <p:sp>
        <p:nvSpPr>
          <p:cNvPr id="3" name="内容占位符 2">
            <a:extLst>
              <a:ext uri="{FF2B5EF4-FFF2-40B4-BE49-F238E27FC236}">
                <a16:creationId xmlns:a16="http://schemas.microsoft.com/office/drawing/2014/main" id="{350330CB-E584-5D89-EBBF-9DF061712E4F}"/>
              </a:ext>
            </a:extLst>
          </p:cNvPr>
          <p:cNvSpPr>
            <a:spLocks noGrp="1"/>
          </p:cNvSpPr>
          <p:nvPr>
            <p:ph idx="1"/>
          </p:nvPr>
        </p:nvSpPr>
        <p:spPr>
          <a:xfrm>
            <a:off x="677334" y="1289931"/>
            <a:ext cx="10528326" cy="4751432"/>
          </a:xfrm>
        </p:spPr>
        <p:txBody>
          <a:bodyPr/>
          <a:lstStyle/>
          <a:p>
            <a:pPr marL="0" indent="457200">
              <a:lnSpc>
                <a:spcPct val="110000"/>
              </a:lnSpc>
              <a:buNone/>
            </a:pPr>
            <a:r>
              <a:rPr lang="en-US" altLang="zh-CN" sz="2400" b="0" i="0" dirty="0">
                <a:solidFill>
                  <a:srgbClr val="333333"/>
                </a:solidFill>
                <a:effectLst/>
                <a:latin typeface="PingFang SC"/>
              </a:rPr>
              <a:t>verilog </a:t>
            </a:r>
            <a:r>
              <a:rPr lang="zh-CN" altLang="en-US" sz="2400" b="0" i="0" dirty="0">
                <a:solidFill>
                  <a:srgbClr val="333333"/>
                </a:solidFill>
                <a:effectLst/>
                <a:latin typeface="PingFang SC"/>
              </a:rPr>
              <a:t>的</a:t>
            </a:r>
            <a:r>
              <a:rPr lang="zh-CN" altLang="en-US" sz="2400" b="0" i="0" dirty="0">
                <a:solidFill>
                  <a:srgbClr val="FF0000"/>
                </a:solidFill>
                <a:effectLst/>
                <a:latin typeface="PingFang SC"/>
              </a:rPr>
              <a:t>‌</a:t>
            </a:r>
            <a:r>
              <a:rPr lang="zh-CN" altLang="en-US" sz="2400" b="1" i="0" dirty="0">
                <a:solidFill>
                  <a:srgbClr val="FF0000"/>
                </a:solidFill>
                <a:effectLst/>
                <a:latin typeface="PingFang SC"/>
              </a:rPr>
              <a:t>四值系统</a:t>
            </a:r>
            <a:r>
              <a:rPr lang="zh-CN" altLang="en-US" sz="2400" b="0" i="0" dirty="0">
                <a:solidFill>
                  <a:srgbClr val="333333"/>
                </a:solidFill>
                <a:effectLst/>
                <a:latin typeface="PingFang SC"/>
              </a:rPr>
              <a:t>‌用于描述数字电路中信号的物理状态。四值系统包含 </a:t>
            </a:r>
            <a:r>
              <a:rPr lang="zh-CN" altLang="en-US" sz="2400" b="1" i="0" dirty="0">
                <a:solidFill>
                  <a:srgbClr val="FF0000"/>
                </a:solidFill>
                <a:effectLst/>
                <a:latin typeface="PingFang SC"/>
              </a:rPr>
              <a:t>‌</a:t>
            </a:r>
            <a:r>
              <a:rPr lang="en-US" altLang="zh-CN" sz="2400" b="1" i="0" dirty="0">
                <a:solidFill>
                  <a:srgbClr val="FF0000"/>
                </a:solidFill>
                <a:effectLst/>
                <a:latin typeface="PingFang SC"/>
              </a:rPr>
              <a:t>0</a:t>
            </a:r>
            <a:r>
              <a:rPr lang="zh-CN" altLang="en-US" sz="2400" b="1" i="0" dirty="0">
                <a:solidFill>
                  <a:srgbClr val="FF0000"/>
                </a:solidFill>
                <a:effectLst/>
                <a:latin typeface="PingFang SC"/>
              </a:rPr>
              <a:t>、</a:t>
            </a:r>
            <a:r>
              <a:rPr lang="en-US" altLang="zh-CN" sz="2400" b="1" i="0" dirty="0">
                <a:solidFill>
                  <a:srgbClr val="FF0000"/>
                </a:solidFill>
                <a:effectLst/>
                <a:latin typeface="PingFang SC"/>
              </a:rPr>
              <a:t>1</a:t>
            </a:r>
            <a:r>
              <a:rPr lang="zh-CN" altLang="en-US" sz="2400" b="1" i="0" dirty="0">
                <a:solidFill>
                  <a:srgbClr val="FF0000"/>
                </a:solidFill>
                <a:effectLst/>
                <a:latin typeface="PingFang SC"/>
              </a:rPr>
              <a:t>、</a:t>
            </a:r>
            <a:r>
              <a:rPr lang="en-US" altLang="zh-CN" sz="2400" b="1" i="0" dirty="0">
                <a:solidFill>
                  <a:srgbClr val="FF0000"/>
                </a:solidFill>
                <a:effectLst/>
                <a:latin typeface="PingFang SC"/>
              </a:rPr>
              <a:t>X</a:t>
            </a:r>
            <a:r>
              <a:rPr lang="zh-CN" altLang="en-US" sz="2400" b="1" i="0" dirty="0">
                <a:solidFill>
                  <a:srgbClr val="FF0000"/>
                </a:solidFill>
                <a:effectLst/>
                <a:latin typeface="PingFang SC"/>
              </a:rPr>
              <a:t>（未知）、</a:t>
            </a:r>
            <a:r>
              <a:rPr lang="en-US" altLang="zh-CN" sz="2400" b="1" i="0" dirty="0">
                <a:solidFill>
                  <a:srgbClr val="FF0000"/>
                </a:solidFill>
                <a:effectLst/>
                <a:latin typeface="PingFang SC"/>
              </a:rPr>
              <a:t>Z</a:t>
            </a:r>
            <a:r>
              <a:rPr lang="zh-CN" altLang="en-US" sz="2400" b="1" i="0" dirty="0">
                <a:solidFill>
                  <a:srgbClr val="FF0000"/>
                </a:solidFill>
                <a:effectLst/>
                <a:latin typeface="PingFang SC"/>
              </a:rPr>
              <a:t>（高阻）</a:t>
            </a:r>
            <a:r>
              <a:rPr lang="zh-CN" altLang="en-US" sz="2400" b="1" i="0" dirty="0">
                <a:solidFill>
                  <a:srgbClr val="333333"/>
                </a:solidFill>
                <a:effectLst/>
                <a:latin typeface="PingFang SC"/>
              </a:rPr>
              <a:t>‌</a:t>
            </a:r>
            <a:r>
              <a:rPr lang="zh-CN" altLang="en-US" sz="2400" b="0" i="0" dirty="0">
                <a:solidFill>
                  <a:srgbClr val="333333"/>
                </a:solidFill>
                <a:effectLst/>
                <a:latin typeface="PingFang SC"/>
              </a:rPr>
              <a:t>，主要用于仿真阶段模拟真实硬件行为。</a:t>
            </a:r>
            <a:endParaRPr lang="en-US" altLang="zh-CN" sz="2400" b="0" i="0" dirty="0">
              <a:solidFill>
                <a:srgbClr val="333333"/>
              </a:solidFill>
              <a:effectLst/>
              <a:latin typeface="PingFang SC"/>
            </a:endParaRPr>
          </a:p>
          <a:p>
            <a:pPr marL="0" indent="0">
              <a:buNone/>
            </a:pPr>
            <a:endParaRPr lang="zh-CN" altLang="en-US" dirty="0"/>
          </a:p>
        </p:txBody>
      </p:sp>
      <p:graphicFrame>
        <p:nvGraphicFramePr>
          <p:cNvPr id="4" name="表格 3">
            <a:extLst>
              <a:ext uri="{FF2B5EF4-FFF2-40B4-BE49-F238E27FC236}">
                <a16:creationId xmlns:a16="http://schemas.microsoft.com/office/drawing/2014/main" id="{AD0AD441-ED82-61C2-3347-CEC3D1980FEB}"/>
              </a:ext>
            </a:extLst>
          </p:cNvPr>
          <p:cNvGraphicFramePr>
            <a:graphicFrameLocks noGrp="1"/>
          </p:cNvGraphicFramePr>
          <p:nvPr>
            <p:extLst>
              <p:ext uri="{D42A27DB-BD31-4B8C-83A1-F6EECF244321}">
                <p14:modId xmlns:p14="http://schemas.microsoft.com/office/powerpoint/2010/main" val="4230915232"/>
              </p:ext>
            </p:extLst>
          </p:nvPr>
        </p:nvGraphicFramePr>
        <p:xfrm>
          <a:off x="2124134" y="2623980"/>
          <a:ext cx="7150040" cy="2954653"/>
        </p:xfrm>
        <a:graphic>
          <a:graphicData uri="http://schemas.openxmlformats.org/drawingml/2006/table">
            <a:tbl>
              <a:tblPr/>
              <a:tblGrid>
                <a:gridCol w="1419166">
                  <a:extLst>
                    <a:ext uri="{9D8B030D-6E8A-4147-A177-3AD203B41FA5}">
                      <a16:colId xmlns:a16="http://schemas.microsoft.com/office/drawing/2014/main" val="3141809926"/>
                    </a:ext>
                  </a:extLst>
                </a:gridCol>
                <a:gridCol w="2865437">
                  <a:extLst>
                    <a:ext uri="{9D8B030D-6E8A-4147-A177-3AD203B41FA5}">
                      <a16:colId xmlns:a16="http://schemas.microsoft.com/office/drawing/2014/main" val="180738439"/>
                    </a:ext>
                  </a:extLst>
                </a:gridCol>
                <a:gridCol w="2865437">
                  <a:extLst>
                    <a:ext uri="{9D8B030D-6E8A-4147-A177-3AD203B41FA5}">
                      <a16:colId xmlns:a16="http://schemas.microsoft.com/office/drawing/2014/main" val="2571641564"/>
                    </a:ext>
                  </a:extLst>
                </a:gridCol>
              </a:tblGrid>
              <a:tr h="0">
                <a:tc>
                  <a:txBody>
                    <a:bodyPr/>
                    <a:lstStyle/>
                    <a:p>
                      <a:pPr algn="ctr"/>
                      <a:r>
                        <a:rPr lang="zh-CN" altLang="en-US" b="1" dirty="0">
                          <a:effectLst/>
                          <a:latin typeface="PingFang SC"/>
                        </a:rPr>
                        <a:t>值</a:t>
                      </a:r>
                      <a:r>
                        <a:rPr lang="zh-CN" altLang="en-US" dirty="0">
                          <a:effectLst/>
                          <a:latin typeface="PingFang SC"/>
                        </a:rPr>
                        <a:t>‌</a:t>
                      </a:r>
                    </a:p>
                  </a:txBody>
                  <a:tcPr marL="76200" marR="76200" marT="50006" marB="35719" anchor="ctr">
                    <a:lnL w="4763" cap="flat" cmpd="sng" algn="ctr">
                      <a:solidFill>
                        <a:srgbClr val="10285C"/>
                      </a:solidFill>
                      <a:prstDash val="solid"/>
                      <a:round/>
                      <a:headEnd type="none" w="med" len="med"/>
                      <a:tailEnd type="none" w="med" len="med"/>
                    </a:lnL>
                    <a:lnR w="4763" cap="flat" cmpd="sng" algn="ctr">
                      <a:solidFill>
                        <a:srgbClr val="10285C"/>
                      </a:solidFill>
                      <a:prstDash val="solid"/>
                      <a:round/>
                      <a:headEnd type="none" w="med" len="med"/>
                      <a:tailEnd type="none" w="med" len="med"/>
                    </a:lnR>
                    <a:lnT w="4763" cap="flat" cmpd="sng" algn="ctr">
                      <a:solidFill>
                        <a:srgbClr val="10285C"/>
                      </a:solidFill>
                      <a:prstDash val="solid"/>
                      <a:round/>
                      <a:headEnd type="none" w="med" len="med"/>
                      <a:tailEnd type="none" w="med" len="med"/>
                    </a:lnT>
                    <a:lnB w="4763" cap="flat" cmpd="sng" algn="ctr">
                      <a:solidFill>
                        <a:srgbClr val="10285C"/>
                      </a:solidFill>
                      <a:prstDash val="solid"/>
                      <a:round/>
                      <a:headEnd type="none" w="med" len="med"/>
                      <a:tailEnd type="none" w="med" len="med"/>
                    </a:lnB>
                    <a:solidFill>
                      <a:srgbClr val="FFFFFF"/>
                    </a:solidFill>
                  </a:tcPr>
                </a:tc>
                <a:tc>
                  <a:txBody>
                    <a:bodyPr/>
                    <a:lstStyle/>
                    <a:p>
                      <a:pPr algn="ctr"/>
                      <a:r>
                        <a:rPr lang="zh-CN" altLang="en-US" dirty="0">
                          <a:effectLst/>
                          <a:latin typeface="PingFang SC"/>
                        </a:rPr>
                        <a:t>‌</a:t>
                      </a:r>
                      <a:r>
                        <a:rPr lang="zh-CN" altLang="en-US" b="1" dirty="0">
                          <a:effectLst/>
                          <a:latin typeface="PingFang SC"/>
                        </a:rPr>
                        <a:t>含义</a:t>
                      </a:r>
                      <a:r>
                        <a:rPr lang="zh-CN" altLang="en-US" dirty="0">
                          <a:effectLst/>
                          <a:latin typeface="PingFang SC"/>
                        </a:rPr>
                        <a:t>‌</a:t>
                      </a:r>
                    </a:p>
                  </a:txBody>
                  <a:tcPr marL="76200" marR="76200" marT="50006" marB="35719" anchor="ctr">
                    <a:lnL w="4763" cap="flat" cmpd="sng" algn="ctr">
                      <a:solidFill>
                        <a:srgbClr val="10285C"/>
                      </a:solidFill>
                      <a:prstDash val="solid"/>
                      <a:round/>
                      <a:headEnd type="none" w="med" len="med"/>
                      <a:tailEnd type="none" w="med" len="med"/>
                    </a:lnL>
                    <a:lnR w="4763" cap="flat" cmpd="sng" algn="ctr">
                      <a:solidFill>
                        <a:srgbClr val="F0245C"/>
                      </a:solidFill>
                      <a:prstDash val="solid"/>
                      <a:round/>
                      <a:headEnd type="none" w="med" len="med"/>
                      <a:tailEnd type="none" w="med" len="med"/>
                    </a:lnR>
                    <a:lnT w="4763" cap="flat" cmpd="sng" algn="ctr">
                      <a:solidFill>
                        <a:srgbClr val="F0245C"/>
                      </a:solidFill>
                      <a:prstDash val="solid"/>
                      <a:round/>
                      <a:headEnd type="none" w="med" len="med"/>
                      <a:tailEnd type="none" w="med" len="med"/>
                    </a:lnT>
                    <a:lnB w="4763" cap="flat" cmpd="sng" algn="ctr">
                      <a:solidFill>
                        <a:srgbClr val="F0245C"/>
                      </a:solidFill>
                      <a:prstDash val="solid"/>
                      <a:round/>
                      <a:headEnd type="none" w="med" len="med"/>
                      <a:tailEnd type="none" w="med" len="med"/>
                    </a:lnB>
                    <a:solidFill>
                      <a:srgbClr val="FFFFFF"/>
                    </a:solidFill>
                  </a:tcPr>
                </a:tc>
                <a:tc>
                  <a:txBody>
                    <a:bodyPr/>
                    <a:lstStyle/>
                    <a:p>
                      <a:pPr algn="ctr"/>
                      <a:r>
                        <a:rPr lang="zh-CN" altLang="en-US" dirty="0">
                          <a:effectLst/>
                          <a:latin typeface="PingFang SC"/>
                        </a:rPr>
                        <a:t>‌</a:t>
                      </a:r>
                      <a:r>
                        <a:rPr lang="zh-CN" altLang="en-US" b="1" dirty="0">
                          <a:effectLst/>
                          <a:latin typeface="PingFang SC"/>
                        </a:rPr>
                        <a:t>典型场景</a:t>
                      </a:r>
                      <a:r>
                        <a:rPr lang="zh-CN" altLang="en-US" dirty="0">
                          <a:effectLst/>
                          <a:latin typeface="PingFang SC"/>
                        </a:rPr>
                        <a:t>‌</a:t>
                      </a:r>
                    </a:p>
                  </a:txBody>
                  <a:tcPr marL="76200" marR="76200" marT="50006" marB="35719" anchor="ctr">
                    <a:lnL w="4763" cap="flat" cmpd="sng" algn="ctr">
                      <a:solidFill>
                        <a:srgbClr val="F0245C"/>
                      </a:solidFill>
                      <a:prstDash val="solid"/>
                      <a:round/>
                      <a:headEnd type="none" w="med" len="med"/>
                      <a:tailEnd type="none" w="med" len="med"/>
                    </a:lnL>
                    <a:lnR w="4763" cap="flat" cmpd="sng" algn="ctr">
                      <a:solidFill>
                        <a:srgbClr val="70315C"/>
                      </a:solidFill>
                      <a:prstDash val="solid"/>
                      <a:round/>
                      <a:headEnd type="none" w="med" len="med"/>
                      <a:tailEnd type="none" w="med" len="med"/>
                    </a:lnR>
                    <a:lnT w="4763" cap="flat" cmpd="sng" algn="ctr">
                      <a:solidFill>
                        <a:srgbClr val="70315C"/>
                      </a:solidFill>
                      <a:prstDash val="solid"/>
                      <a:round/>
                      <a:headEnd type="none" w="med" len="med"/>
                      <a:tailEnd type="none" w="med" len="med"/>
                    </a:lnT>
                    <a:lnB w="4763" cap="flat" cmpd="sng" algn="ctr">
                      <a:solidFill>
                        <a:srgbClr val="70315C"/>
                      </a:solidFill>
                      <a:prstDash val="solid"/>
                      <a:round/>
                      <a:headEnd type="none" w="med" len="med"/>
                      <a:tailEnd type="none" w="med" len="med"/>
                    </a:lnB>
                    <a:solidFill>
                      <a:srgbClr val="FFFFFF"/>
                    </a:solidFill>
                  </a:tcPr>
                </a:tc>
                <a:extLst>
                  <a:ext uri="{0D108BD9-81ED-4DB2-BD59-A6C34878D82A}">
                    <a16:rowId xmlns:a16="http://schemas.microsoft.com/office/drawing/2014/main" val="4235109827"/>
                  </a:ext>
                </a:extLst>
              </a:tr>
              <a:tr h="0">
                <a:tc>
                  <a:txBody>
                    <a:bodyPr/>
                    <a:lstStyle/>
                    <a:p>
                      <a:pPr algn="ctr"/>
                      <a:r>
                        <a:rPr lang="zh-CN" altLang="en-US" dirty="0">
                          <a:effectLst/>
                        </a:rPr>
                        <a:t>‌</a:t>
                      </a:r>
                      <a:r>
                        <a:rPr lang="en-US" altLang="zh-CN" b="1" dirty="0">
                          <a:effectLst/>
                          <a:latin typeface="PingFang SC"/>
                        </a:rPr>
                        <a:t>0</a:t>
                      </a:r>
                      <a:r>
                        <a:rPr lang="zh-CN" altLang="en-US" dirty="0">
                          <a:effectLst/>
                        </a:rPr>
                        <a:t>‌</a:t>
                      </a:r>
                    </a:p>
                  </a:txBody>
                  <a:tcPr marL="76200" marR="76200" marT="50006" marB="50006" anchor="ctr">
                    <a:lnL w="4763" cap="flat" cmpd="sng" algn="ctr">
                      <a:solidFill>
                        <a:srgbClr val="80265C"/>
                      </a:solidFill>
                      <a:prstDash val="solid"/>
                      <a:round/>
                      <a:headEnd type="none" w="med" len="med"/>
                      <a:tailEnd type="none" w="med" len="med"/>
                    </a:lnL>
                    <a:lnR w="4763" cap="flat" cmpd="sng" algn="ctr">
                      <a:solidFill>
                        <a:srgbClr val="80265C"/>
                      </a:solidFill>
                      <a:prstDash val="solid"/>
                      <a:round/>
                      <a:headEnd type="none" w="med" len="med"/>
                      <a:tailEnd type="none" w="med" len="med"/>
                    </a:lnR>
                    <a:lnT w="4763" cap="flat" cmpd="sng" algn="ctr">
                      <a:solidFill>
                        <a:srgbClr val="10285C"/>
                      </a:solidFill>
                      <a:prstDash val="solid"/>
                      <a:round/>
                      <a:headEnd type="none" w="med" len="med"/>
                      <a:tailEnd type="none" w="med" len="med"/>
                    </a:lnT>
                    <a:lnB w="4763" cap="flat" cmpd="sng" algn="ctr">
                      <a:solidFill>
                        <a:srgbClr val="80265C"/>
                      </a:solidFill>
                      <a:prstDash val="solid"/>
                      <a:round/>
                      <a:headEnd type="none" w="med" len="med"/>
                      <a:tailEnd type="none" w="med" len="med"/>
                    </a:lnB>
                    <a:solidFill>
                      <a:srgbClr val="FFFFFF"/>
                    </a:solidFill>
                  </a:tcPr>
                </a:tc>
                <a:tc>
                  <a:txBody>
                    <a:bodyPr/>
                    <a:lstStyle/>
                    <a:p>
                      <a:r>
                        <a:rPr lang="zh-CN" altLang="en-US" dirty="0">
                          <a:effectLst/>
                        </a:rPr>
                        <a:t>低电平（逻辑假）</a:t>
                      </a:r>
                    </a:p>
                  </a:txBody>
                  <a:tcPr marL="76200" marR="76200" marT="50006" marB="50006" anchor="ctr">
                    <a:lnL w="4763" cap="flat" cmpd="sng" algn="ctr">
                      <a:solidFill>
                        <a:srgbClr val="80265C"/>
                      </a:solidFill>
                      <a:prstDash val="solid"/>
                      <a:round/>
                      <a:headEnd type="none" w="med" len="med"/>
                      <a:tailEnd type="none" w="med" len="med"/>
                    </a:lnL>
                    <a:lnR w="4763" cap="flat" cmpd="sng" algn="ctr">
                      <a:solidFill>
                        <a:srgbClr val="902F5C"/>
                      </a:solidFill>
                      <a:prstDash val="solid"/>
                      <a:round/>
                      <a:headEnd type="none" w="med" len="med"/>
                      <a:tailEnd type="none" w="med" len="med"/>
                    </a:lnR>
                    <a:lnT w="4763" cap="flat" cmpd="sng" algn="ctr">
                      <a:solidFill>
                        <a:srgbClr val="F0245C"/>
                      </a:solidFill>
                      <a:prstDash val="solid"/>
                      <a:round/>
                      <a:headEnd type="none" w="med" len="med"/>
                      <a:tailEnd type="none" w="med" len="med"/>
                    </a:lnT>
                    <a:lnB w="4763" cap="flat" cmpd="sng" algn="ctr">
                      <a:solidFill>
                        <a:srgbClr val="902F5C"/>
                      </a:solidFill>
                      <a:prstDash val="solid"/>
                      <a:round/>
                      <a:headEnd type="none" w="med" len="med"/>
                      <a:tailEnd type="none" w="med" len="med"/>
                    </a:lnB>
                    <a:solidFill>
                      <a:srgbClr val="FFFFFF"/>
                    </a:solidFill>
                  </a:tcPr>
                </a:tc>
                <a:tc>
                  <a:txBody>
                    <a:bodyPr/>
                    <a:lstStyle/>
                    <a:p>
                      <a:r>
                        <a:rPr lang="zh-CN" altLang="en-US" dirty="0">
                          <a:effectLst/>
                        </a:rPr>
                        <a:t>信号接地、逻辑门输出低电平</a:t>
                      </a:r>
                    </a:p>
                  </a:txBody>
                  <a:tcPr marL="76200" marR="76200" marT="50006" marB="50006" anchor="ctr">
                    <a:lnL w="4763" cap="flat" cmpd="sng" algn="ctr">
                      <a:solidFill>
                        <a:srgbClr val="902F5C"/>
                      </a:solidFill>
                      <a:prstDash val="solid"/>
                      <a:round/>
                      <a:headEnd type="none" w="med" len="med"/>
                      <a:tailEnd type="none" w="med" len="med"/>
                    </a:lnL>
                    <a:lnR w="4763" cap="flat" cmpd="sng" algn="ctr">
                      <a:solidFill>
                        <a:srgbClr val="E02A5C"/>
                      </a:solidFill>
                      <a:prstDash val="solid"/>
                      <a:round/>
                      <a:headEnd type="none" w="med" len="med"/>
                      <a:tailEnd type="none" w="med" len="med"/>
                    </a:lnR>
                    <a:lnT w="4763" cap="flat" cmpd="sng" algn="ctr">
                      <a:solidFill>
                        <a:srgbClr val="70315C"/>
                      </a:solidFill>
                      <a:prstDash val="solid"/>
                      <a:round/>
                      <a:headEnd type="none" w="med" len="med"/>
                      <a:tailEnd type="none" w="med" len="med"/>
                    </a:lnT>
                    <a:lnB w="4763" cap="flat" cmpd="sng" algn="ctr">
                      <a:solidFill>
                        <a:srgbClr val="E02A5C"/>
                      </a:solidFill>
                      <a:prstDash val="solid"/>
                      <a:round/>
                      <a:headEnd type="none" w="med" len="med"/>
                      <a:tailEnd type="none" w="med" len="med"/>
                    </a:lnB>
                    <a:solidFill>
                      <a:srgbClr val="FFFFFF"/>
                    </a:solidFill>
                  </a:tcPr>
                </a:tc>
                <a:extLst>
                  <a:ext uri="{0D108BD9-81ED-4DB2-BD59-A6C34878D82A}">
                    <a16:rowId xmlns:a16="http://schemas.microsoft.com/office/drawing/2014/main" val="272557010"/>
                  </a:ext>
                </a:extLst>
              </a:tr>
              <a:tr h="0">
                <a:tc>
                  <a:txBody>
                    <a:bodyPr/>
                    <a:lstStyle/>
                    <a:p>
                      <a:pPr algn="ctr"/>
                      <a:r>
                        <a:rPr lang="zh-CN" altLang="en-US">
                          <a:effectLst/>
                        </a:rPr>
                        <a:t>‌</a:t>
                      </a:r>
                      <a:r>
                        <a:rPr lang="en-US" altLang="zh-CN" b="1">
                          <a:effectLst/>
                          <a:latin typeface="PingFang SC"/>
                        </a:rPr>
                        <a:t>1</a:t>
                      </a:r>
                      <a:r>
                        <a:rPr lang="zh-CN" altLang="en-US">
                          <a:effectLst/>
                        </a:rPr>
                        <a:t>‌</a:t>
                      </a:r>
                    </a:p>
                  </a:txBody>
                  <a:tcPr marL="76200" marR="76200" marT="50006" marB="50006" anchor="ctr">
                    <a:lnL w="4763" cap="flat" cmpd="sng" algn="ctr">
                      <a:solidFill>
                        <a:srgbClr val="C0225C"/>
                      </a:solidFill>
                      <a:prstDash val="solid"/>
                      <a:round/>
                      <a:headEnd type="none" w="med" len="med"/>
                      <a:tailEnd type="none" w="med" len="med"/>
                    </a:lnL>
                    <a:lnR w="4763" cap="flat" cmpd="sng" algn="ctr">
                      <a:solidFill>
                        <a:srgbClr val="C0225C"/>
                      </a:solidFill>
                      <a:prstDash val="solid"/>
                      <a:round/>
                      <a:headEnd type="none" w="med" len="med"/>
                      <a:tailEnd type="none" w="med" len="med"/>
                    </a:lnR>
                    <a:lnT w="4763" cap="flat" cmpd="sng" algn="ctr">
                      <a:solidFill>
                        <a:srgbClr val="80265C"/>
                      </a:solidFill>
                      <a:prstDash val="solid"/>
                      <a:round/>
                      <a:headEnd type="none" w="med" len="med"/>
                      <a:tailEnd type="none" w="med" len="med"/>
                    </a:lnT>
                    <a:lnB w="4763" cap="flat" cmpd="sng" algn="ctr">
                      <a:solidFill>
                        <a:srgbClr val="C0225C"/>
                      </a:solidFill>
                      <a:prstDash val="solid"/>
                      <a:round/>
                      <a:headEnd type="none" w="med" len="med"/>
                      <a:tailEnd type="none" w="med" len="med"/>
                    </a:lnB>
                    <a:solidFill>
                      <a:srgbClr val="FFFFFF"/>
                    </a:solidFill>
                  </a:tcPr>
                </a:tc>
                <a:tc>
                  <a:txBody>
                    <a:bodyPr/>
                    <a:lstStyle/>
                    <a:p>
                      <a:r>
                        <a:rPr lang="zh-CN" altLang="en-US" dirty="0">
                          <a:effectLst/>
                        </a:rPr>
                        <a:t>高电平（逻辑真）</a:t>
                      </a:r>
                    </a:p>
                  </a:txBody>
                  <a:tcPr marL="76200" marR="76200" marT="50006" marB="50006" anchor="ctr">
                    <a:lnL w="4763" cap="flat" cmpd="sng" algn="ctr">
                      <a:solidFill>
                        <a:srgbClr val="C0225C"/>
                      </a:solidFill>
                      <a:prstDash val="solid"/>
                      <a:round/>
                      <a:headEnd type="none" w="med" len="med"/>
                      <a:tailEnd type="none" w="med" len="med"/>
                    </a:lnL>
                    <a:lnR w="4763" cap="flat" cmpd="sng" algn="ctr">
                      <a:solidFill>
                        <a:srgbClr val="E0205C"/>
                      </a:solidFill>
                      <a:prstDash val="solid"/>
                      <a:round/>
                      <a:headEnd type="none" w="med" len="med"/>
                      <a:tailEnd type="none" w="med" len="med"/>
                    </a:lnR>
                    <a:lnT w="4763" cap="flat" cmpd="sng" algn="ctr">
                      <a:solidFill>
                        <a:srgbClr val="902F5C"/>
                      </a:solidFill>
                      <a:prstDash val="solid"/>
                      <a:round/>
                      <a:headEnd type="none" w="med" len="med"/>
                      <a:tailEnd type="none" w="med" len="med"/>
                    </a:lnT>
                    <a:lnB w="4763" cap="flat" cmpd="sng" algn="ctr">
                      <a:solidFill>
                        <a:srgbClr val="E0205C"/>
                      </a:solidFill>
                      <a:prstDash val="solid"/>
                      <a:round/>
                      <a:headEnd type="none" w="med" len="med"/>
                      <a:tailEnd type="none" w="med" len="med"/>
                    </a:lnB>
                    <a:solidFill>
                      <a:srgbClr val="FFFFFF"/>
                    </a:solidFill>
                  </a:tcPr>
                </a:tc>
                <a:tc>
                  <a:txBody>
                    <a:bodyPr/>
                    <a:lstStyle/>
                    <a:p>
                      <a:r>
                        <a:rPr lang="zh-CN" altLang="en-US" dirty="0">
                          <a:effectLst/>
                        </a:rPr>
                        <a:t>信号接电源、逻辑门输出高电平</a:t>
                      </a:r>
                    </a:p>
                  </a:txBody>
                  <a:tcPr marL="76200" marR="76200" marT="50006" marB="50006" anchor="ctr">
                    <a:lnL w="4763" cap="flat" cmpd="sng" algn="ctr">
                      <a:solidFill>
                        <a:srgbClr val="E0205C"/>
                      </a:solidFill>
                      <a:prstDash val="solid"/>
                      <a:round/>
                      <a:headEnd type="none" w="med" len="med"/>
                      <a:tailEnd type="none" w="med" len="med"/>
                    </a:lnL>
                    <a:lnR w="4763" cap="flat" cmpd="sng" algn="ctr">
                      <a:solidFill>
                        <a:srgbClr val="20225C"/>
                      </a:solidFill>
                      <a:prstDash val="solid"/>
                      <a:round/>
                      <a:headEnd type="none" w="med" len="med"/>
                      <a:tailEnd type="none" w="med" len="med"/>
                    </a:lnR>
                    <a:lnT w="4763" cap="flat" cmpd="sng" algn="ctr">
                      <a:solidFill>
                        <a:srgbClr val="E02A5C"/>
                      </a:solidFill>
                      <a:prstDash val="solid"/>
                      <a:round/>
                      <a:headEnd type="none" w="med" len="med"/>
                      <a:tailEnd type="none" w="med" len="med"/>
                    </a:lnT>
                    <a:lnB w="4763" cap="flat" cmpd="sng" algn="ctr">
                      <a:solidFill>
                        <a:srgbClr val="20225C"/>
                      </a:solidFill>
                      <a:prstDash val="solid"/>
                      <a:round/>
                      <a:headEnd type="none" w="med" len="med"/>
                      <a:tailEnd type="none" w="med" len="med"/>
                    </a:lnB>
                    <a:solidFill>
                      <a:srgbClr val="FFFFFF"/>
                    </a:solidFill>
                  </a:tcPr>
                </a:tc>
                <a:extLst>
                  <a:ext uri="{0D108BD9-81ED-4DB2-BD59-A6C34878D82A}">
                    <a16:rowId xmlns:a16="http://schemas.microsoft.com/office/drawing/2014/main" val="3374159934"/>
                  </a:ext>
                </a:extLst>
              </a:tr>
              <a:tr h="0">
                <a:tc>
                  <a:txBody>
                    <a:bodyPr/>
                    <a:lstStyle/>
                    <a:p>
                      <a:pPr algn="ctr"/>
                      <a:r>
                        <a:rPr lang="en-US" dirty="0">
                          <a:effectLst/>
                        </a:rPr>
                        <a:t>‌</a:t>
                      </a:r>
                      <a:r>
                        <a:rPr lang="en-US" b="1" dirty="0">
                          <a:effectLst/>
                          <a:latin typeface="PingFang SC"/>
                        </a:rPr>
                        <a:t>X</a:t>
                      </a:r>
                      <a:r>
                        <a:rPr lang="en-US" dirty="0">
                          <a:effectLst/>
                        </a:rPr>
                        <a:t>‌</a:t>
                      </a:r>
                    </a:p>
                  </a:txBody>
                  <a:tcPr marL="76200" marR="76200" marT="50006" marB="50006" anchor="ctr">
                    <a:lnL w="4763" cap="flat" cmpd="sng" algn="ctr">
                      <a:solidFill>
                        <a:srgbClr val="902A5C"/>
                      </a:solidFill>
                      <a:prstDash val="solid"/>
                      <a:round/>
                      <a:headEnd type="none" w="med" len="med"/>
                      <a:tailEnd type="none" w="med" len="med"/>
                    </a:lnL>
                    <a:lnR w="4763" cap="flat" cmpd="sng" algn="ctr">
                      <a:solidFill>
                        <a:srgbClr val="902A5C"/>
                      </a:solidFill>
                      <a:prstDash val="solid"/>
                      <a:round/>
                      <a:headEnd type="none" w="med" len="med"/>
                      <a:tailEnd type="none" w="med" len="med"/>
                    </a:lnR>
                    <a:lnT w="4763" cap="flat" cmpd="sng" algn="ctr">
                      <a:solidFill>
                        <a:srgbClr val="C0225C"/>
                      </a:solidFill>
                      <a:prstDash val="solid"/>
                      <a:round/>
                      <a:headEnd type="none" w="med" len="med"/>
                      <a:tailEnd type="none" w="med" len="med"/>
                    </a:lnT>
                    <a:lnB w="4763" cap="flat" cmpd="sng" algn="ctr">
                      <a:solidFill>
                        <a:srgbClr val="902A5C"/>
                      </a:solidFill>
                      <a:prstDash val="solid"/>
                      <a:round/>
                      <a:headEnd type="none" w="med" len="med"/>
                      <a:tailEnd type="none" w="med" len="med"/>
                    </a:lnB>
                    <a:solidFill>
                      <a:srgbClr val="FFFFFF"/>
                    </a:solidFill>
                  </a:tcPr>
                </a:tc>
                <a:tc>
                  <a:txBody>
                    <a:bodyPr/>
                    <a:lstStyle/>
                    <a:p>
                      <a:r>
                        <a:rPr lang="zh-CN" altLang="en-US" dirty="0">
                          <a:effectLst/>
                        </a:rPr>
                        <a:t>未知（</a:t>
                      </a:r>
                      <a:r>
                        <a:rPr lang="en-US" dirty="0">
                          <a:effectLst/>
                        </a:rPr>
                        <a:t>Un</a:t>
                      </a:r>
                      <a:r>
                        <a:rPr lang="en-US" altLang="zh-CN" dirty="0">
                          <a:effectLst/>
                        </a:rPr>
                        <a:t>known</a:t>
                      </a:r>
                      <a:r>
                        <a:rPr lang="en-US" dirty="0">
                          <a:effectLst/>
                        </a:rPr>
                        <a:t>）</a:t>
                      </a:r>
                    </a:p>
                  </a:txBody>
                  <a:tcPr marL="76200" marR="76200" marT="50006" marB="50006" anchor="ctr">
                    <a:lnL w="4763" cap="flat" cmpd="sng" algn="ctr">
                      <a:solidFill>
                        <a:srgbClr val="902A5C"/>
                      </a:solidFill>
                      <a:prstDash val="solid"/>
                      <a:round/>
                      <a:headEnd type="none" w="med" len="med"/>
                      <a:tailEnd type="none" w="med" len="med"/>
                    </a:lnL>
                    <a:lnR w="4763" cap="flat" cmpd="sng" algn="ctr">
                      <a:solidFill>
                        <a:srgbClr val="902A5C"/>
                      </a:solidFill>
                      <a:prstDash val="solid"/>
                      <a:round/>
                      <a:headEnd type="none" w="med" len="med"/>
                      <a:tailEnd type="none" w="med" len="med"/>
                    </a:lnR>
                    <a:lnT w="4763" cap="flat" cmpd="sng" algn="ctr">
                      <a:solidFill>
                        <a:srgbClr val="E0205C"/>
                      </a:solidFill>
                      <a:prstDash val="solid"/>
                      <a:round/>
                      <a:headEnd type="none" w="med" len="med"/>
                      <a:tailEnd type="none" w="med" len="med"/>
                    </a:lnT>
                    <a:lnB w="4763" cap="flat" cmpd="sng" algn="ctr">
                      <a:solidFill>
                        <a:srgbClr val="902A5C"/>
                      </a:solidFill>
                      <a:prstDash val="solid"/>
                      <a:round/>
                      <a:headEnd type="none" w="med" len="med"/>
                      <a:tailEnd type="none" w="med" len="med"/>
                    </a:lnB>
                    <a:solidFill>
                      <a:srgbClr val="FFFFFF"/>
                    </a:solidFill>
                  </a:tcPr>
                </a:tc>
                <a:tc>
                  <a:txBody>
                    <a:bodyPr/>
                    <a:lstStyle/>
                    <a:p>
                      <a:r>
                        <a:rPr lang="zh-CN" altLang="en-US" dirty="0">
                          <a:effectLst/>
                        </a:rPr>
                        <a:t>未初始化的寄存器、多驱动冲突</a:t>
                      </a:r>
                    </a:p>
                  </a:txBody>
                  <a:tcPr marL="76200" marR="76200" marT="50006" marB="50006" anchor="ctr">
                    <a:lnL w="4763" cap="flat" cmpd="sng" algn="ctr">
                      <a:solidFill>
                        <a:srgbClr val="902A5C"/>
                      </a:solidFill>
                      <a:prstDash val="solid"/>
                      <a:round/>
                      <a:headEnd type="none" w="med" len="med"/>
                      <a:tailEnd type="none" w="med" len="med"/>
                    </a:lnL>
                    <a:lnR w="4763" cap="flat" cmpd="sng" algn="ctr">
                      <a:solidFill>
                        <a:srgbClr val="C0275C"/>
                      </a:solidFill>
                      <a:prstDash val="solid"/>
                      <a:round/>
                      <a:headEnd type="none" w="med" len="med"/>
                      <a:tailEnd type="none" w="med" len="med"/>
                    </a:lnR>
                    <a:lnT w="4763" cap="flat" cmpd="sng" algn="ctr">
                      <a:solidFill>
                        <a:srgbClr val="20225C"/>
                      </a:solidFill>
                      <a:prstDash val="solid"/>
                      <a:round/>
                      <a:headEnd type="none" w="med" len="med"/>
                      <a:tailEnd type="none" w="med" len="med"/>
                    </a:lnT>
                    <a:lnB w="4763" cap="flat" cmpd="sng" algn="ctr">
                      <a:solidFill>
                        <a:srgbClr val="C0275C"/>
                      </a:solidFill>
                      <a:prstDash val="solid"/>
                      <a:round/>
                      <a:headEnd type="none" w="med" len="med"/>
                      <a:tailEnd type="none" w="med" len="med"/>
                    </a:lnB>
                    <a:solidFill>
                      <a:srgbClr val="FFFFFF"/>
                    </a:solidFill>
                  </a:tcPr>
                </a:tc>
                <a:extLst>
                  <a:ext uri="{0D108BD9-81ED-4DB2-BD59-A6C34878D82A}">
                    <a16:rowId xmlns:a16="http://schemas.microsoft.com/office/drawing/2014/main" val="2542324715"/>
                  </a:ext>
                </a:extLst>
              </a:tr>
              <a:tr h="0">
                <a:tc>
                  <a:txBody>
                    <a:bodyPr/>
                    <a:lstStyle/>
                    <a:p>
                      <a:pPr algn="ctr"/>
                      <a:r>
                        <a:rPr lang="en-US" dirty="0">
                          <a:effectLst/>
                        </a:rPr>
                        <a:t>‌</a:t>
                      </a:r>
                      <a:r>
                        <a:rPr lang="en-US" b="1" dirty="0">
                          <a:effectLst/>
                          <a:latin typeface="PingFang SC"/>
                        </a:rPr>
                        <a:t>Z</a:t>
                      </a:r>
                      <a:r>
                        <a:rPr lang="en-US" dirty="0">
                          <a:effectLst/>
                        </a:rPr>
                        <a:t>‌</a:t>
                      </a:r>
                    </a:p>
                  </a:txBody>
                  <a:tcPr marL="76200" marR="76200" marT="50006" marB="50006" anchor="ctr">
                    <a:lnL w="4763" cap="flat" cmpd="sng" algn="ctr">
                      <a:solidFill>
                        <a:srgbClr val="001F5C"/>
                      </a:solidFill>
                      <a:prstDash val="solid"/>
                      <a:round/>
                      <a:headEnd type="none" w="med" len="med"/>
                      <a:tailEnd type="none" w="med" len="med"/>
                    </a:lnL>
                    <a:lnR w="4763" cap="flat" cmpd="sng" algn="ctr">
                      <a:solidFill>
                        <a:srgbClr val="001F5C"/>
                      </a:solidFill>
                      <a:prstDash val="solid"/>
                      <a:round/>
                      <a:headEnd type="none" w="med" len="med"/>
                      <a:tailEnd type="none" w="med" len="med"/>
                    </a:lnR>
                    <a:lnT w="4763" cap="flat" cmpd="sng" algn="ctr">
                      <a:solidFill>
                        <a:srgbClr val="902A5C"/>
                      </a:solidFill>
                      <a:prstDash val="solid"/>
                      <a:round/>
                      <a:headEnd type="none" w="med" len="med"/>
                      <a:tailEnd type="none" w="med" len="med"/>
                    </a:lnT>
                    <a:lnB w="4763" cap="flat" cmpd="sng" algn="ctr">
                      <a:solidFill>
                        <a:srgbClr val="001F5C"/>
                      </a:solidFill>
                      <a:prstDash val="solid"/>
                      <a:round/>
                      <a:headEnd type="none" w="med" len="med"/>
                      <a:tailEnd type="none" w="med" len="med"/>
                    </a:lnB>
                    <a:solidFill>
                      <a:srgbClr val="FFFFFF"/>
                    </a:solidFill>
                  </a:tcPr>
                </a:tc>
                <a:tc>
                  <a:txBody>
                    <a:bodyPr/>
                    <a:lstStyle/>
                    <a:p>
                      <a:r>
                        <a:rPr lang="zh-CN" altLang="en-US" dirty="0">
                          <a:effectLst/>
                        </a:rPr>
                        <a:t>高阻态（</a:t>
                      </a:r>
                      <a:r>
                        <a:rPr lang="en-US" dirty="0">
                          <a:effectLst/>
                        </a:rPr>
                        <a:t>Tri-State）</a:t>
                      </a:r>
                    </a:p>
                  </a:txBody>
                  <a:tcPr marL="76200" marR="76200" marT="50006" marB="50006" anchor="ctr">
                    <a:lnL w="4763" cap="flat" cmpd="sng" algn="ctr">
                      <a:solidFill>
                        <a:srgbClr val="001F5C"/>
                      </a:solidFill>
                      <a:prstDash val="solid"/>
                      <a:round/>
                      <a:headEnd type="none" w="med" len="med"/>
                      <a:tailEnd type="none" w="med" len="med"/>
                    </a:lnL>
                    <a:lnR w="4763" cap="flat" cmpd="sng" algn="ctr">
                      <a:solidFill>
                        <a:srgbClr val="702C5C"/>
                      </a:solidFill>
                      <a:prstDash val="solid"/>
                      <a:round/>
                      <a:headEnd type="none" w="med" len="med"/>
                      <a:tailEnd type="none" w="med" len="med"/>
                    </a:lnR>
                    <a:lnT w="4763" cap="flat" cmpd="sng" algn="ctr">
                      <a:solidFill>
                        <a:srgbClr val="902A5C"/>
                      </a:solidFill>
                      <a:prstDash val="solid"/>
                      <a:round/>
                      <a:headEnd type="none" w="med" len="med"/>
                      <a:tailEnd type="none" w="med" len="med"/>
                    </a:lnT>
                    <a:lnB w="4763" cap="flat" cmpd="sng" algn="ctr">
                      <a:solidFill>
                        <a:srgbClr val="702C5C"/>
                      </a:solidFill>
                      <a:prstDash val="solid"/>
                      <a:round/>
                      <a:headEnd type="none" w="med" len="med"/>
                      <a:tailEnd type="none" w="med" len="med"/>
                    </a:lnB>
                    <a:solidFill>
                      <a:srgbClr val="FFFFFF"/>
                    </a:solidFill>
                  </a:tcPr>
                </a:tc>
                <a:tc>
                  <a:txBody>
                    <a:bodyPr/>
                    <a:lstStyle/>
                    <a:p>
                      <a:r>
                        <a:rPr lang="zh-CN" altLang="en-US" dirty="0">
                          <a:effectLst/>
                        </a:rPr>
                        <a:t>三态总线未被驱动时的悬空状态</a:t>
                      </a:r>
                    </a:p>
                  </a:txBody>
                  <a:tcPr marL="76200" marR="76200" marT="50006" marB="50006" anchor="ctr">
                    <a:lnL w="4763" cap="flat" cmpd="sng" algn="ctr">
                      <a:solidFill>
                        <a:srgbClr val="702C5C"/>
                      </a:solidFill>
                      <a:prstDash val="solid"/>
                      <a:round/>
                      <a:headEnd type="none" w="med" len="med"/>
                      <a:tailEnd type="none" w="med" len="med"/>
                    </a:lnL>
                    <a:lnR w="4763" cap="flat" cmpd="sng" algn="ctr">
                      <a:solidFill>
                        <a:srgbClr val="80265C"/>
                      </a:solidFill>
                      <a:prstDash val="solid"/>
                      <a:round/>
                      <a:headEnd type="none" w="med" len="med"/>
                      <a:tailEnd type="none" w="med" len="med"/>
                    </a:lnR>
                    <a:lnT w="4763" cap="flat" cmpd="sng" algn="ctr">
                      <a:solidFill>
                        <a:srgbClr val="C0275C"/>
                      </a:solidFill>
                      <a:prstDash val="solid"/>
                      <a:round/>
                      <a:headEnd type="none" w="med" len="med"/>
                      <a:tailEnd type="none" w="med" len="med"/>
                    </a:lnT>
                    <a:lnB w="4763" cap="flat" cmpd="sng" algn="ctr">
                      <a:solidFill>
                        <a:srgbClr val="80265C"/>
                      </a:solidFill>
                      <a:prstDash val="solid"/>
                      <a:round/>
                      <a:headEnd type="none" w="med" len="med"/>
                      <a:tailEnd type="none" w="med" len="med"/>
                    </a:lnB>
                    <a:solidFill>
                      <a:srgbClr val="FFFFFF"/>
                    </a:solidFill>
                  </a:tcPr>
                </a:tc>
                <a:extLst>
                  <a:ext uri="{0D108BD9-81ED-4DB2-BD59-A6C34878D82A}">
                    <a16:rowId xmlns:a16="http://schemas.microsoft.com/office/drawing/2014/main" val="1651425401"/>
                  </a:ext>
                </a:extLst>
              </a:tr>
            </a:tbl>
          </a:graphicData>
        </a:graphic>
      </p:graphicFrame>
    </p:spTree>
    <p:extLst>
      <p:ext uri="{BB962C8B-B14F-4D97-AF65-F5344CB8AC3E}">
        <p14:creationId xmlns:p14="http://schemas.microsoft.com/office/powerpoint/2010/main" val="7397419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29D23-0D30-331B-C222-5F3B727AEBA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8B221F6-9ECE-9BAD-362A-F4223217515D}"/>
              </a:ext>
            </a:extLst>
          </p:cNvPr>
          <p:cNvSpPr>
            <a:spLocks noGrp="1"/>
          </p:cNvSpPr>
          <p:nvPr>
            <p:ph type="title"/>
          </p:nvPr>
        </p:nvSpPr>
        <p:spPr>
          <a:xfrm>
            <a:off x="677334" y="217715"/>
            <a:ext cx="8596668" cy="725083"/>
          </a:xfrm>
        </p:spPr>
        <p:txBody>
          <a:bodyPr/>
          <a:lstStyle/>
          <a:p>
            <a:r>
              <a:rPr lang="zh-CN" altLang="en-US" dirty="0"/>
              <a:t>数据位宽</a:t>
            </a:r>
          </a:p>
        </p:txBody>
      </p:sp>
      <p:sp>
        <p:nvSpPr>
          <p:cNvPr id="3" name="内容占位符 2">
            <a:extLst>
              <a:ext uri="{FF2B5EF4-FFF2-40B4-BE49-F238E27FC236}">
                <a16:creationId xmlns:a16="http://schemas.microsoft.com/office/drawing/2014/main" id="{9527476A-00ED-833E-0199-A399AABFB360}"/>
              </a:ext>
            </a:extLst>
          </p:cNvPr>
          <p:cNvSpPr>
            <a:spLocks noGrp="1"/>
          </p:cNvSpPr>
          <p:nvPr>
            <p:ph idx="1"/>
          </p:nvPr>
        </p:nvSpPr>
        <p:spPr>
          <a:xfrm>
            <a:off x="677334" y="1147260"/>
            <a:ext cx="10568082" cy="5134269"/>
          </a:xfrm>
        </p:spPr>
        <p:txBody>
          <a:bodyPr>
            <a:normAutofit/>
          </a:bodyPr>
          <a:lstStyle/>
          <a:p>
            <a:pPr marL="0" indent="457200">
              <a:lnSpc>
                <a:spcPct val="130000"/>
              </a:lnSpc>
              <a:buNone/>
            </a:pPr>
            <a:r>
              <a:rPr lang="zh-CN" altLang="en-US" sz="2400" b="0" i="0" dirty="0">
                <a:solidFill>
                  <a:srgbClr val="333333"/>
                </a:solidFill>
                <a:effectLst/>
                <a:latin typeface="PingFang SC"/>
              </a:rPr>
              <a:t>在</a:t>
            </a:r>
            <a:r>
              <a:rPr lang="en-US" altLang="zh-CN" sz="2400" b="0" i="0" dirty="0">
                <a:solidFill>
                  <a:srgbClr val="333333"/>
                </a:solidFill>
                <a:effectLst/>
                <a:latin typeface="PingFang SC"/>
              </a:rPr>
              <a:t>verilog</a:t>
            </a:r>
            <a:r>
              <a:rPr lang="zh-CN" altLang="en-US" sz="2400" b="0" i="0" dirty="0">
                <a:solidFill>
                  <a:srgbClr val="333333"/>
                </a:solidFill>
                <a:effectLst/>
                <a:latin typeface="PingFang SC"/>
              </a:rPr>
              <a:t>中，</a:t>
            </a:r>
            <a:r>
              <a:rPr lang="zh-CN" altLang="en-US" sz="2400" b="0" i="0" dirty="0">
                <a:solidFill>
                  <a:srgbClr val="FF0000"/>
                </a:solidFill>
                <a:effectLst/>
                <a:latin typeface="PingFang SC"/>
              </a:rPr>
              <a:t>位宽</a:t>
            </a:r>
            <a:r>
              <a:rPr lang="zh-CN" altLang="en-US" sz="2400" b="0" i="0" dirty="0">
                <a:solidFill>
                  <a:srgbClr val="333333"/>
                </a:solidFill>
                <a:effectLst/>
                <a:latin typeface="PingFang SC"/>
              </a:rPr>
              <a:t>用于指定变量或信号可以存储的位数。通过方括号</a:t>
            </a:r>
            <a:r>
              <a:rPr lang="en-US" altLang="zh-CN" sz="2400" b="0" i="0" dirty="0">
                <a:solidFill>
                  <a:srgbClr val="333333"/>
                </a:solidFill>
                <a:effectLst/>
                <a:latin typeface="PingFang SC"/>
              </a:rPr>
              <a:t>[]</a:t>
            </a:r>
            <a:r>
              <a:rPr lang="zh-CN" altLang="en-US" sz="2400" b="0" i="0" dirty="0">
                <a:solidFill>
                  <a:srgbClr val="333333"/>
                </a:solidFill>
                <a:effectLst/>
                <a:latin typeface="PingFang SC"/>
              </a:rPr>
              <a:t>内的整数表达式来定义。基本的语法格式：</a:t>
            </a:r>
            <a:r>
              <a:rPr lang="en-US" altLang="zh-CN" sz="2400" b="1" dirty="0">
                <a:solidFill>
                  <a:srgbClr val="FF0000"/>
                </a:solidFill>
                <a:latin typeface="PingFang SC"/>
              </a:rPr>
              <a:t>[</a:t>
            </a:r>
            <a:r>
              <a:rPr lang="en-US" altLang="zh-CN" sz="2400" b="1" dirty="0" err="1">
                <a:solidFill>
                  <a:srgbClr val="FF0000"/>
                </a:solidFill>
                <a:latin typeface="PingFang SC"/>
              </a:rPr>
              <a:t>msb</a:t>
            </a:r>
            <a:r>
              <a:rPr lang="en-US" altLang="zh-CN" sz="2400" b="1" dirty="0">
                <a:solidFill>
                  <a:srgbClr val="FF0000"/>
                </a:solidFill>
                <a:latin typeface="PingFang SC"/>
              </a:rPr>
              <a:t> : </a:t>
            </a:r>
            <a:r>
              <a:rPr lang="en-US" altLang="zh-CN" sz="2400" b="1" dirty="0" err="1">
                <a:solidFill>
                  <a:srgbClr val="FF0000"/>
                </a:solidFill>
                <a:latin typeface="PingFang SC"/>
              </a:rPr>
              <a:t>lsb</a:t>
            </a:r>
            <a:r>
              <a:rPr lang="en-US" altLang="zh-CN" sz="2400" b="1" dirty="0">
                <a:solidFill>
                  <a:srgbClr val="FF0000"/>
                </a:solidFill>
                <a:latin typeface="PingFang SC"/>
              </a:rPr>
              <a:t>]</a:t>
            </a:r>
          </a:p>
          <a:p>
            <a:pPr marL="2160000" indent="0">
              <a:lnSpc>
                <a:spcPct val="130000"/>
              </a:lnSpc>
              <a:buNone/>
            </a:pPr>
            <a:r>
              <a:rPr lang="en-US" altLang="zh-CN" dirty="0"/>
              <a:t>//</a:t>
            </a:r>
            <a:r>
              <a:rPr lang="zh-CN" altLang="en-US" dirty="0"/>
              <a:t>默认时表示</a:t>
            </a:r>
            <a:r>
              <a:rPr lang="en-US" altLang="zh-CN" dirty="0"/>
              <a:t>1</a:t>
            </a:r>
            <a:r>
              <a:rPr lang="zh-CN" altLang="en-US" dirty="0"/>
              <a:t>位</a:t>
            </a:r>
            <a:endParaRPr lang="en-US" altLang="zh-CN" dirty="0"/>
          </a:p>
          <a:p>
            <a:pPr marL="2160000" indent="0">
              <a:lnSpc>
                <a:spcPct val="130000"/>
              </a:lnSpc>
              <a:buNone/>
            </a:pPr>
            <a:r>
              <a:rPr lang="en-US" altLang="zh-CN" dirty="0"/>
              <a:t> </a:t>
            </a:r>
            <a:r>
              <a:rPr lang="en-US" altLang="zh-CN" dirty="0">
                <a:solidFill>
                  <a:srgbClr val="0000FF"/>
                </a:solidFill>
              </a:rPr>
              <a:t>wire</a:t>
            </a:r>
            <a:r>
              <a:rPr lang="en-US" altLang="zh-CN" dirty="0"/>
              <a:t>  a; </a:t>
            </a:r>
          </a:p>
          <a:p>
            <a:pPr marL="2160000" indent="0">
              <a:buNone/>
            </a:pPr>
            <a:r>
              <a:rPr lang="en-US" altLang="zh-CN" dirty="0"/>
              <a:t>// </a:t>
            </a:r>
            <a:r>
              <a:rPr lang="zh-CN" altLang="en-US" dirty="0"/>
              <a:t>定义一个</a:t>
            </a:r>
            <a:r>
              <a:rPr lang="en-US" altLang="zh-CN" dirty="0"/>
              <a:t>8</a:t>
            </a:r>
            <a:r>
              <a:rPr lang="zh-CN" altLang="en-US" dirty="0"/>
              <a:t>位宽的寄存器</a:t>
            </a:r>
          </a:p>
          <a:p>
            <a:pPr marL="2160000" indent="0">
              <a:buNone/>
            </a:pPr>
            <a:r>
              <a:rPr lang="en-US" altLang="zh-CN" dirty="0">
                <a:solidFill>
                  <a:srgbClr val="0000FF"/>
                </a:solidFill>
              </a:rPr>
              <a:t>reg</a:t>
            </a:r>
            <a:r>
              <a:rPr lang="en-US" altLang="zh-CN" dirty="0"/>
              <a:t>  [7:0]   </a:t>
            </a:r>
            <a:r>
              <a:rPr lang="en-US" altLang="zh-CN" dirty="0" err="1"/>
              <a:t>my_reg</a:t>
            </a:r>
            <a:r>
              <a:rPr lang="en-US" altLang="zh-CN" dirty="0"/>
              <a:t>;</a:t>
            </a:r>
          </a:p>
          <a:p>
            <a:pPr marL="2160000" indent="0">
              <a:buNone/>
            </a:pPr>
            <a:r>
              <a:rPr lang="en-US" altLang="zh-CN" dirty="0"/>
              <a:t>// </a:t>
            </a:r>
            <a:r>
              <a:rPr lang="zh-CN" altLang="en-US" dirty="0"/>
              <a:t>定义一个</a:t>
            </a:r>
            <a:r>
              <a:rPr lang="en-US" altLang="zh-CN" dirty="0"/>
              <a:t>16</a:t>
            </a:r>
            <a:r>
              <a:rPr lang="zh-CN" altLang="en-US" dirty="0"/>
              <a:t>位宽的线网</a:t>
            </a:r>
            <a:endParaRPr lang="en-US" altLang="zh-CN" dirty="0"/>
          </a:p>
          <a:p>
            <a:pPr marL="2160000" indent="0">
              <a:buNone/>
            </a:pPr>
            <a:r>
              <a:rPr lang="en-US" altLang="zh-CN" dirty="0">
                <a:solidFill>
                  <a:srgbClr val="0000FF"/>
                </a:solidFill>
              </a:rPr>
              <a:t>wire</a:t>
            </a:r>
            <a:r>
              <a:rPr lang="en-US" altLang="zh-CN" dirty="0"/>
              <a:t>  [15:0]   </a:t>
            </a:r>
            <a:r>
              <a:rPr lang="en-US" altLang="zh-CN" dirty="0" err="1"/>
              <a:t>my_wire</a:t>
            </a:r>
            <a:r>
              <a:rPr lang="en-US" altLang="zh-CN" dirty="0"/>
              <a:t>;</a:t>
            </a:r>
          </a:p>
          <a:p>
            <a:pPr marL="2160000" indent="0">
              <a:buNone/>
            </a:pPr>
            <a:endParaRPr lang="zh-CN" altLang="en-US" dirty="0"/>
          </a:p>
          <a:p>
            <a:pPr marL="2160000" indent="0">
              <a:buNone/>
            </a:pPr>
            <a:r>
              <a:rPr lang="en-US" altLang="zh-CN" dirty="0">
                <a:solidFill>
                  <a:srgbClr val="0000FF"/>
                </a:solidFill>
              </a:rPr>
              <a:t> </a:t>
            </a:r>
            <a:endParaRPr lang="en-US" altLang="zh-CN" dirty="0"/>
          </a:p>
        </p:txBody>
      </p:sp>
    </p:spTree>
    <p:extLst>
      <p:ext uri="{BB962C8B-B14F-4D97-AF65-F5344CB8AC3E}">
        <p14:creationId xmlns:p14="http://schemas.microsoft.com/office/powerpoint/2010/main" val="33421851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970960-A05D-D2EB-22AE-4520728AD3E3}"/>
              </a:ext>
            </a:extLst>
          </p:cNvPr>
          <p:cNvSpPr>
            <a:spLocks noGrp="1"/>
          </p:cNvSpPr>
          <p:nvPr>
            <p:ph type="title"/>
          </p:nvPr>
        </p:nvSpPr>
        <p:spPr>
          <a:xfrm>
            <a:off x="677334" y="156238"/>
            <a:ext cx="8596668" cy="792239"/>
          </a:xfrm>
        </p:spPr>
        <p:txBody>
          <a:bodyPr/>
          <a:lstStyle/>
          <a:p>
            <a:r>
              <a:rPr lang="zh-CN" altLang="en-US" dirty="0"/>
              <a:t>位操作</a:t>
            </a:r>
          </a:p>
        </p:txBody>
      </p:sp>
      <p:sp>
        <p:nvSpPr>
          <p:cNvPr id="3" name="内容占位符 2">
            <a:extLst>
              <a:ext uri="{FF2B5EF4-FFF2-40B4-BE49-F238E27FC236}">
                <a16:creationId xmlns:a16="http://schemas.microsoft.com/office/drawing/2014/main" id="{A7410446-4F61-192C-08B2-5DBF47B3109E}"/>
              </a:ext>
            </a:extLst>
          </p:cNvPr>
          <p:cNvSpPr>
            <a:spLocks noGrp="1"/>
          </p:cNvSpPr>
          <p:nvPr>
            <p:ph idx="1"/>
          </p:nvPr>
        </p:nvSpPr>
        <p:spPr>
          <a:xfrm>
            <a:off x="677333" y="1198375"/>
            <a:ext cx="10193235" cy="5287618"/>
          </a:xfrm>
        </p:spPr>
        <p:txBody>
          <a:bodyPr>
            <a:normAutofit/>
          </a:bodyPr>
          <a:lstStyle/>
          <a:p>
            <a:pPr marL="0" indent="0">
              <a:buNone/>
            </a:pPr>
            <a:r>
              <a:rPr lang="en-US" altLang="zh-CN" sz="2400" dirty="0"/>
              <a:t>1. ‌</a:t>
            </a:r>
            <a:r>
              <a:rPr lang="zh-CN" altLang="en-US" sz="2400" b="1" dirty="0">
                <a:solidFill>
                  <a:srgbClr val="FF0000"/>
                </a:solidFill>
              </a:rPr>
              <a:t>位选择</a:t>
            </a:r>
            <a:r>
              <a:rPr lang="zh-CN" altLang="en-US" sz="2400" dirty="0">
                <a:solidFill>
                  <a:srgbClr val="FF0000"/>
                </a:solidFill>
              </a:rPr>
              <a:t>‌</a:t>
            </a:r>
            <a:r>
              <a:rPr lang="en-US" altLang="zh-CN" sz="2400" dirty="0">
                <a:solidFill>
                  <a:srgbClr val="FF0000"/>
                </a:solidFill>
              </a:rPr>
              <a:t>: </a:t>
            </a:r>
            <a:r>
              <a:rPr lang="zh-CN" altLang="en-US" sz="2400" dirty="0"/>
              <a:t>访问信号的单个位或位区间。</a:t>
            </a:r>
          </a:p>
          <a:p>
            <a:pPr marL="1080000" indent="0">
              <a:buNone/>
            </a:pPr>
            <a:r>
              <a:rPr lang="en-US" altLang="zh-CN" dirty="0"/>
              <a:t>wire  [7:0] data = 8'b1010_1101;</a:t>
            </a:r>
          </a:p>
          <a:p>
            <a:pPr marL="1080000" indent="0">
              <a:buNone/>
            </a:pPr>
            <a:r>
              <a:rPr lang="en-US" altLang="zh-CN" dirty="0"/>
              <a:t>assign  bit3 = data[3];      // </a:t>
            </a:r>
            <a:r>
              <a:rPr lang="zh-CN" altLang="en-US" dirty="0"/>
              <a:t>取第</a:t>
            </a:r>
            <a:r>
              <a:rPr lang="en-US" altLang="zh-CN" dirty="0"/>
              <a:t>3</a:t>
            </a:r>
            <a:r>
              <a:rPr lang="zh-CN" altLang="en-US" dirty="0"/>
              <a:t>位（值为</a:t>
            </a:r>
            <a:r>
              <a:rPr lang="en-US" altLang="zh-CN" dirty="0"/>
              <a:t>1</a:t>
            </a:r>
            <a:r>
              <a:rPr lang="zh-CN" altLang="en-US" dirty="0"/>
              <a:t>）</a:t>
            </a:r>
          </a:p>
          <a:p>
            <a:pPr marL="1080000" indent="0">
              <a:buNone/>
            </a:pPr>
            <a:r>
              <a:rPr lang="en-US" altLang="zh-CN" dirty="0"/>
              <a:t>assign  low4 = data[3:0];    // </a:t>
            </a:r>
            <a:r>
              <a:rPr lang="zh-CN" altLang="en-US" dirty="0"/>
              <a:t>取低</a:t>
            </a:r>
            <a:r>
              <a:rPr lang="en-US" altLang="zh-CN" dirty="0"/>
              <a:t>4</a:t>
            </a:r>
            <a:r>
              <a:rPr lang="zh-CN" altLang="en-US" dirty="0"/>
              <a:t>位（</a:t>
            </a:r>
            <a:r>
              <a:rPr lang="en-US" altLang="zh-CN" dirty="0"/>
              <a:t>4'b1101</a:t>
            </a:r>
            <a:r>
              <a:rPr lang="zh-CN" altLang="en-US" dirty="0"/>
              <a:t>）</a:t>
            </a:r>
          </a:p>
          <a:p>
            <a:pPr marL="0" indent="0">
              <a:buNone/>
            </a:pPr>
            <a:r>
              <a:rPr lang="en-US" altLang="zh-CN" sz="2400" dirty="0"/>
              <a:t>2. ‌</a:t>
            </a:r>
            <a:r>
              <a:rPr lang="zh-CN" altLang="en-US" sz="2400" b="1" dirty="0">
                <a:solidFill>
                  <a:srgbClr val="FF0000"/>
                </a:solidFill>
              </a:rPr>
              <a:t>位拼接</a:t>
            </a:r>
            <a:r>
              <a:rPr lang="zh-CN" altLang="en-US" sz="2400" dirty="0">
                <a:solidFill>
                  <a:srgbClr val="FF0000"/>
                </a:solidFill>
              </a:rPr>
              <a:t>‌</a:t>
            </a:r>
            <a:r>
              <a:rPr lang="en-US" altLang="zh-CN" sz="2400" dirty="0">
                <a:solidFill>
                  <a:srgbClr val="FF0000"/>
                </a:solidFill>
              </a:rPr>
              <a:t>: </a:t>
            </a:r>
            <a:r>
              <a:rPr lang="zh-CN" altLang="en-US" sz="2400" dirty="0"/>
              <a:t>将多个信号拼接为新向量。</a:t>
            </a:r>
          </a:p>
          <a:p>
            <a:pPr marL="1080000" indent="0">
              <a:buNone/>
            </a:pPr>
            <a:r>
              <a:rPr lang="en-US" altLang="zh-CN" dirty="0"/>
              <a:t>wire [3:0]  a = 4'b1010;</a:t>
            </a:r>
          </a:p>
          <a:p>
            <a:pPr marL="1080000" indent="0">
              <a:buNone/>
            </a:pPr>
            <a:r>
              <a:rPr lang="en-US" altLang="zh-CN" dirty="0"/>
              <a:t>wire [3:0]  b = 4'b1100;</a:t>
            </a:r>
          </a:p>
          <a:p>
            <a:pPr marL="1080000" indent="0">
              <a:buNone/>
            </a:pPr>
            <a:r>
              <a:rPr lang="en-US" altLang="zh-CN" dirty="0"/>
              <a:t>wire [7:0]  c = </a:t>
            </a:r>
            <a:r>
              <a:rPr lang="en-US" altLang="zh-CN" dirty="0">
                <a:solidFill>
                  <a:srgbClr val="0000FF"/>
                </a:solidFill>
              </a:rPr>
              <a:t>{</a:t>
            </a:r>
            <a:r>
              <a:rPr lang="en-US" altLang="zh-CN" dirty="0"/>
              <a:t>a, b</a:t>
            </a:r>
            <a:r>
              <a:rPr lang="en-US" altLang="zh-CN" dirty="0">
                <a:solidFill>
                  <a:srgbClr val="0000FF"/>
                </a:solidFill>
              </a:rPr>
              <a:t>}</a:t>
            </a:r>
            <a:r>
              <a:rPr lang="en-US" altLang="zh-CN" dirty="0"/>
              <a:t>;     // </a:t>
            </a:r>
            <a:r>
              <a:rPr lang="zh-CN" altLang="en-US" dirty="0"/>
              <a:t>结果为</a:t>
            </a:r>
            <a:r>
              <a:rPr lang="en-US" altLang="zh-CN" dirty="0"/>
              <a:t>8'b10101100</a:t>
            </a:r>
          </a:p>
          <a:p>
            <a:pPr marL="0" indent="0">
              <a:buNone/>
            </a:pPr>
            <a:r>
              <a:rPr lang="en-US" altLang="zh-CN" sz="2400" dirty="0"/>
              <a:t>3. </a:t>
            </a:r>
            <a:r>
              <a:rPr lang="en-US" altLang="zh-CN" sz="2400" dirty="0">
                <a:solidFill>
                  <a:srgbClr val="FF0000"/>
                </a:solidFill>
              </a:rPr>
              <a:t>‌</a:t>
            </a:r>
            <a:r>
              <a:rPr lang="zh-CN" altLang="en-US" sz="2400" b="1" dirty="0">
                <a:solidFill>
                  <a:srgbClr val="FF0000"/>
                </a:solidFill>
              </a:rPr>
              <a:t>位复制</a:t>
            </a:r>
            <a:r>
              <a:rPr lang="zh-CN" altLang="en-US" sz="2400" dirty="0">
                <a:solidFill>
                  <a:srgbClr val="FF0000"/>
                </a:solidFill>
              </a:rPr>
              <a:t>‌</a:t>
            </a:r>
            <a:r>
              <a:rPr lang="en-US" altLang="zh-CN" sz="2400" dirty="0">
                <a:solidFill>
                  <a:srgbClr val="FF0000"/>
                </a:solidFill>
              </a:rPr>
              <a:t>: </a:t>
            </a:r>
            <a:r>
              <a:rPr lang="zh-CN" altLang="en-US" sz="2400" dirty="0"/>
              <a:t>重复拼接同一信号多次。</a:t>
            </a:r>
          </a:p>
          <a:p>
            <a:pPr marL="1080000" indent="0">
              <a:buNone/>
            </a:pPr>
            <a:r>
              <a:rPr lang="en-US" altLang="zh-CN" dirty="0"/>
              <a:t>wire [2:0]  pattern = 3'b101;</a:t>
            </a:r>
          </a:p>
          <a:p>
            <a:pPr marL="1080000" indent="0">
              <a:buNone/>
            </a:pPr>
            <a:r>
              <a:rPr lang="en-US" altLang="zh-CN" dirty="0"/>
              <a:t>wire [11:0]  repeated = </a:t>
            </a:r>
            <a:r>
              <a:rPr lang="en-US" altLang="zh-CN" dirty="0">
                <a:solidFill>
                  <a:srgbClr val="0000FF"/>
                </a:solidFill>
              </a:rPr>
              <a:t>{</a:t>
            </a:r>
            <a:r>
              <a:rPr lang="en-US" altLang="zh-CN" dirty="0"/>
              <a:t>4</a:t>
            </a:r>
            <a:r>
              <a:rPr lang="en-US" altLang="zh-CN" dirty="0">
                <a:solidFill>
                  <a:srgbClr val="0000FF"/>
                </a:solidFill>
              </a:rPr>
              <a:t>{</a:t>
            </a:r>
            <a:r>
              <a:rPr lang="en-US" altLang="zh-CN" dirty="0"/>
              <a:t>pattern</a:t>
            </a:r>
            <a:r>
              <a:rPr lang="en-US" altLang="zh-CN" dirty="0">
                <a:solidFill>
                  <a:srgbClr val="0000FF"/>
                </a:solidFill>
              </a:rPr>
              <a:t>}}</a:t>
            </a:r>
            <a:r>
              <a:rPr lang="en-US" altLang="zh-CN" dirty="0"/>
              <a:t>; // </a:t>
            </a:r>
            <a:r>
              <a:rPr lang="zh-CN" altLang="en-US" dirty="0"/>
              <a:t>结果为</a:t>
            </a:r>
            <a:r>
              <a:rPr lang="en-US" altLang="zh-CN" dirty="0"/>
              <a:t>12'b101101101101</a:t>
            </a:r>
            <a:endParaRPr lang="zh-CN" altLang="en-US" dirty="0"/>
          </a:p>
        </p:txBody>
      </p:sp>
    </p:spTree>
    <p:extLst>
      <p:ext uri="{BB962C8B-B14F-4D97-AF65-F5344CB8AC3E}">
        <p14:creationId xmlns:p14="http://schemas.microsoft.com/office/powerpoint/2010/main" val="37420412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8D53AC-35BC-1BD5-4228-11CC49CA9D02}"/>
              </a:ext>
            </a:extLst>
          </p:cNvPr>
          <p:cNvSpPr>
            <a:spLocks noGrp="1"/>
          </p:cNvSpPr>
          <p:nvPr>
            <p:ph type="title"/>
          </p:nvPr>
        </p:nvSpPr>
        <p:spPr>
          <a:xfrm>
            <a:off x="677334" y="92765"/>
            <a:ext cx="8596668" cy="723872"/>
          </a:xfrm>
        </p:spPr>
        <p:txBody>
          <a:bodyPr/>
          <a:lstStyle/>
          <a:p>
            <a:r>
              <a:rPr lang="zh-CN" altLang="en-US" dirty="0"/>
              <a:t>数组</a:t>
            </a:r>
          </a:p>
        </p:txBody>
      </p:sp>
      <p:sp>
        <p:nvSpPr>
          <p:cNvPr id="3" name="内容占位符 2">
            <a:extLst>
              <a:ext uri="{FF2B5EF4-FFF2-40B4-BE49-F238E27FC236}">
                <a16:creationId xmlns:a16="http://schemas.microsoft.com/office/drawing/2014/main" id="{D80A7A5C-21DC-4D36-7D27-51F784C7B32C}"/>
              </a:ext>
            </a:extLst>
          </p:cNvPr>
          <p:cNvSpPr>
            <a:spLocks noGrp="1"/>
          </p:cNvSpPr>
          <p:nvPr>
            <p:ph idx="1"/>
          </p:nvPr>
        </p:nvSpPr>
        <p:spPr>
          <a:xfrm>
            <a:off x="613385" y="1141580"/>
            <a:ext cx="10717223" cy="5372809"/>
          </a:xfrm>
        </p:spPr>
        <p:txBody>
          <a:bodyPr>
            <a:normAutofit/>
          </a:bodyPr>
          <a:lstStyle/>
          <a:p>
            <a:pPr marL="0" indent="457200">
              <a:lnSpc>
                <a:spcPct val="120000"/>
              </a:lnSpc>
              <a:buNone/>
            </a:pPr>
            <a:r>
              <a:rPr lang="zh-CN" altLang="en-US" sz="2800" b="0" i="0" dirty="0">
                <a:solidFill>
                  <a:srgbClr val="333333"/>
                </a:solidFill>
                <a:effectLst/>
                <a:latin typeface="PingFang SC"/>
              </a:rPr>
              <a:t>    </a:t>
            </a:r>
            <a:r>
              <a:rPr lang="zh-CN" altLang="en-US" sz="2400" b="0" i="0" dirty="0">
                <a:solidFill>
                  <a:srgbClr val="333333"/>
                </a:solidFill>
                <a:effectLst/>
                <a:latin typeface="PingFang SC"/>
              </a:rPr>
              <a:t>在</a:t>
            </a:r>
            <a:r>
              <a:rPr lang="en-US" altLang="zh-CN" sz="2400" b="0" i="0" dirty="0">
                <a:solidFill>
                  <a:srgbClr val="333333"/>
                </a:solidFill>
                <a:effectLst/>
                <a:latin typeface="PingFang SC"/>
              </a:rPr>
              <a:t>Verilog</a:t>
            </a:r>
            <a:r>
              <a:rPr lang="zh-CN" altLang="en-US" sz="2400" b="0" i="0" dirty="0">
                <a:solidFill>
                  <a:srgbClr val="333333"/>
                </a:solidFill>
                <a:effectLst/>
                <a:latin typeface="PingFang SC"/>
              </a:rPr>
              <a:t>中，数组常用于建模存储器、寄存器堆、查找表等。</a:t>
            </a:r>
            <a:endParaRPr lang="en-US" altLang="zh-CN" sz="2400" b="0" i="0" dirty="0">
              <a:solidFill>
                <a:srgbClr val="333333"/>
              </a:solidFill>
              <a:effectLst/>
              <a:latin typeface="PingFang SC"/>
            </a:endParaRPr>
          </a:p>
          <a:p>
            <a:pPr marL="0" indent="0">
              <a:buNone/>
            </a:pPr>
            <a:r>
              <a:rPr lang="en-US" altLang="zh-CN" sz="2400" b="0" i="0" dirty="0">
                <a:solidFill>
                  <a:srgbClr val="333333"/>
                </a:solidFill>
                <a:effectLst/>
                <a:latin typeface="Courier New" panose="02070309020205020404" pitchFamily="49" charset="0"/>
              </a:rPr>
              <a:t>    </a:t>
            </a:r>
            <a:r>
              <a:rPr lang="en-US" altLang="zh-CN" sz="2400" b="1" i="0" dirty="0">
                <a:solidFill>
                  <a:srgbClr val="FF0000"/>
                </a:solidFill>
                <a:effectLst/>
                <a:latin typeface="Courier New" panose="02070309020205020404" pitchFamily="49" charset="0"/>
              </a:rPr>
              <a:t>&lt;</a:t>
            </a:r>
            <a:r>
              <a:rPr lang="zh-CN" altLang="en-US" sz="2400" b="1" i="0" dirty="0">
                <a:solidFill>
                  <a:srgbClr val="FF0000"/>
                </a:solidFill>
                <a:effectLst/>
                <a:latin typeface="Courier New" panose="02070309020205020404" pitchFamily="49" charset="0"/>
              </a:rPr>
              <a:t>数据类型</a:t>
            </a:r>
            <a:r>
              <a:rPr lang="en-US" altLang="zh-CN" sz="2400" b="1" i="0" dirty="0">
                <a:solidFill>
                  <a:srgbClr val="FF0000"/>
                </a:solidFill>
                <a:effectLst/>
                <a:latin typeface="Courier New" panose="02070309020205020404" pitchFamily="49" charset="0"/>
              </a:rPr>
              <a:t>&gt;  [</a:t>
            </a:r>
            <a:r>
              <a:rPr lang="zh-CN" altLang="en-US" sz="2400" b="1" i="0" dirty="0">
                <a:solidFill>
                  <a:srgbClr val="FF0000"/>
                </a:solidFill>
                <a:effectLst/>
                <a:latin typeface="Courier New" panose="02070309020205020404" pitchFamily="49" charset="0"/>
              </a:rPr>
              <a:t>位宽</a:t>
            </a:r>
            <a:r>
              <a:rPr lang="en-US" altLang="zh-CN" sz="2400" b="1" i="0" dirty="0">
                <a:solidFill>
                  <a:srgbClr val="FF0000"/>
                </a:solidFill>
                <a:effectLst/>
                <a:latin typeface="Courier New" panose="02070309020205020404" pitchFamily="49" charset="0"/>
              </a:rPr>
              <a:t>]  &lt;</a:t>
            </a:r>
            <a:r>
              <a:rPr lang="zh-CN" altLang="en-US" sz="2400" b="1" i="0" dirty="0">
                <a:solidFill>
                  <a:srgbClr val="FF0000"/>
                </a:solidFill>
                <a:effectLst/>
                <a:latin typeface="Courier New" panose="02070309020205020404" pitchFamily="49" charset="0"/>
              </a:rPr>
              <a:t>数组名</a:t>
            </a:r>
            <a:r>
              <a:rPr lang="en-US" altLang="zh-CN" sz="2400" b="1" i="0" dirty="0">
                <a:solidFill>
                  <a:srgbClr val="FF0000"/>
                </a:solidFill>
                <a:effectLst/>
                <a:latin typeface="Courier New" panose="02070309020205020404" pitchFamily="49" charset="0"/>
              </a:rPr>
              <a:t>&gt;[</a:t>
            </a:r>
            <a:r>
              <a:rPr lang="zh-CN" altLang="en-US" sz="2400" b="1" i="0" dirty="0">
                <a:solidFill>
                  <a:srgbClr val="FF0000"/>
                </a:solidFill>
                <a:effectLst/>
                <a:latin typeface="Courier New" panose="02070309020205020404" pitchFamily="49" charset="0"/>
              </a:rPr>
              <a:t>维度</a:t>
            </a:r>
            <a:r>
              <a:rPr lang="en-US" altLang="zh-CN" sz="2400" b="1" i="0" dirty="0">
                <a:solidFill>
                  <a:srgbClr val="FF0000"/>
                </a:solidFill>
                <a:effectLst/>
                <a:latin typeface="Courier New" panose="02070309020205020404" pitchFamily="49" charset="0"/>
              </a:rPr>
              <a:t>1][</a:t>
            </a:r>
            <a:r>
              <a:rPr lang="zh-CN" altLang="en-US" sz="2400" b="1" i="0" dirty="0">
                <a:solidFill>
                  <a:srgbClr val="FF0000"/>
                </a:solidFill>
                <a:effectLst/>
                <a:latin typeface="Courier New" panose="02070309020205020404" pitchFamily="49" charset="0"/>
              </a:rPr>
              <a:t>维度</a:t>
            </a:r>
            <a:r>
              <a:rPr lang="en-US" altLang="zh-CN" sz="2400" b="1" i="0" dirty="0">
                <a:solidFill>
                  <a:srgbClr val="FF0000"/>
                </a:solidFill>
                <a:effectLst/>
                <a:latin typeface="Courier New" panose="02070309020205020404" pitchFamily="49" charset="0"/>
              </a:rPr>
              <a:t>2]...</a:t>
            </a:r>
            <a:endParaRPr lang="en-US" altLang="zh-CN" sz="2400" b="1" dirty="0">
              <a:solidFill>
                <a:srgbClr val="FF0000"/>
              </a:solidFill>
              <a:latin typeface="PingFang SC"/>
            </a:endParaRPr>
          </a:p>
          <a:p>
            <a:pPr marL="1800000" indent="0">
              <a:buNone/>
            </a:pPr>
            <a:r>
              <a:rPr lang="en-US" altLang="zh-CN" dirty="0"/>
              <a:t>reg  [7:0]  mem</a:t>
            </a:r>
            <a:r>
              <a:rPr lang="en-US" altLang="zh-CN" dirty="0">
                <a:solidFill>
                  <a:srgbClr val="FF0000"/>
                </a:solidFill>
              </a:rPr>
              <a:t>[15:0]</a:t>
            </a:r>
            <a:r>
              <a:rPr lang="en-US" altLang="zh-CN" dirty="0"/>
              <a:t>;  // </a:t>
            </a:r>
            <a:r>
              <a:rPr lang="zh-CN" altLang="en-US" dirty="0"/>
              <a:t>一维数组：</a:t>
            </a:r>
            <a:r>
              <a:rPr lang="en-US" altLang="zh-CN" dirty="0"/>
              <a:t>16</a:t>
            </a:r>
            <a:r>
              <a:rPr lang="zh-CN" altLang="en-US" dirty="0"/>
              <a:t>个元素，每个元素是</a:t>
            </a:r>
            <a:r>
              <a:rPr lang="en-US" altLang="zh-CN" dirty="0"/>
              <a:t>8</a:t>
            </a:r>
            <a:r>
              <a:rPr lang="zh-CN" altLang="en-US" dirty="0"/>
              <a:t>位</a:t>
            </a:r>
            <a:endParaRPr lang="en-US" altLang="zh-CN" dirty="0"/>
          </a:p>
          <a:p>
            <a:pPr marL="1800000" indent="0">
              <a:buNone/>
            </a:pPr>
            <a:r>
              <a:rPr lang="en-US" altLang="zh-CN" dirty="0"/>
              <a:t>reg  [31:0]  </a:t>
            </a:r>
            <a:r>
              <a:rPr lang="en-US" altLang="zh-CN" dirty="0" err="1"/>
              <a:t>reg_file</a:t>
            </a:r>
            <a:r>
              <a:rPr lang="en-US" altLang="zh-CN" dirty="0">
                <a:solidFill>
                  <a:srgbClr val="FF0000"/>
                </a:solidFill>
              </a:rPr>
              <a:t>[31:0][3:0]</a:t>
            </a:r>
            <a:r>
              <a:rPr lang="en-US" altLang="zh-CN" dirty="0"/>
              <a:t>; // </a:t>
            </a:r>
            <a:r>
              <a:rPr lang="zh-CN" altLang="en-US" dirty="0"/>
              <a:t>二维数组：</a:t>
            </a:r>
            <a:r>
              <a:rPr lang="en-US" altLang="zh-CN" dirty="0"/>
              <a:t>32</a:t>
            </a:r>
            <a:r>
              <a:rPr lang="zh-CN" altLang="en-US" dirty="0"/>
              <a:t>行</a:t>
            </a:r>
            <a:r>
              <a:rPr lang="en-US" altLang="zh-CN" dirty="0"/>
              <a:t>×4</a:t>
            </a:r>
            <a:r>
              <a:rPr lang="zh-CN" altLang="en-US" dirty="0"/>
              <a:t>列的</a:t>
            </a:r>
            <a:r>
              <a:rPr lang="en-US" altLang="zh-CN" dirty="0"/>
              <a:t>32</a:t>
            </a:r>
            <a:r>
              <a:rPr lang="zh-CN" altLang="en-US" dirty="0"/>
              <a:t>位寄存器堆</a:t>
            </a:r>
            <a:endParaRPr lang="en-US" altLang="zh-CN" dirty="0"/>
          </a:p>
          <a:p>
            <a:pPr>
              <a:buFont typeface="Wingdings" panose="05000000000000000000" pitchFamily="2" charset="2"/>
              <a:buChar char="Ø"/>
            </a:pPr>
            <a:r>
              <a:rPr lang="zh-CN" altLang="en-US" sz="2800" i="0" dirty="0">
                <a:solidFill>
                  <a:srgbClr val="333333"/>
                </a:solidFill>
                <a:effectLst/>
                <a:latin typeface="PingFang SC"/>
              </a:rPr>
              <a:t>数组访问方法</a:t>
            </a:r>
            <a:endParaRPr lang="en-US" altLang="zh-CN" sz="2800" i="0" dirty="0">
              <a:solidFill>
                <a:srgbClr val="333333"/>
              </a:solidFill>
              <a:effectLst/>
              <a:latin typeface="PingFang SC"/>
            </a:endParaRPr>
          </a:p>
          <a:p>
            <a:pPr marL="0" indent="0">
              <a:buNone/>
            </a:pPr>
            <a:r>
              <a:rPr lang="en-US" altLang="zh-CN" sz="2800" b="0" i="0" dirty="0">
                <a:solidFill>
                  <a:srgbClr val="333333"/>
                </a:solidFill>
                <a:effectLst/>
                <a:latin typeface="Courier New" panose="02070309020205020404" pitchFamily="49" charset="0"/>
              </a:rPr>
              <a:t> </a:t>
            </a:r>
            <a:r>
              <a:rPr lang="en-US" altLang="zh-CN" sz="2200" b="0" i="0" dirty="0">
                <a:solidFill>
                  <a:srgbClr val="333333"/>
                </a:solidFill>
                <a:effectLst/>
                <a:latin typeface="Courier New" panose="02070309020205020404" pitchFamily="49" charset="0"/>
              </a:rPr>
              <a:t>mem[</a:t>
            </a:r>
            <a:r>
              <a:rPr lang="en-US" altLang="zh-CN" sz="2200" b="0" i="0" dirty="0" err="1">
                <a:solidFill>
                  <a:srgbClr val="333333"/>
                </a:solidFill>
                <a:effectLst/>
                <a:latin typeface="Courier New" panose="02070309020205020404" pitchFamily="49" charset="0"/>
              </a:rPr>
              <a:t>addr</a:t>
            </a:r>
            <a:r>
              <a:rPr lang="en-US" altLang="zh-CN" sz="2200" b="0" i="0" dirty="0">
                <a:solidFill>
                  <a:srgbClr val="333333"/>
                </a:solidFill>
                <a:effectLst/>
                <a:latin typeface="Courier New" panose="02070309020205020404" pitchFamily="49" charset="0"/>
              </a:rPr>
              <a:t>] = </a:t>
            </a:r>
            <a:r>
              <a:rPr lang="en-US" altLang="zh-CN" sz="2200" b="0" i="0" dirty="0" err="1">
                <a:solidFill>
                  <a:srgbClr val="333333"/>
                </a:solidFill>
                <a:effectLst/>
                <a:latin typeface="Courier New" panose="02070309020205020404" pitchFamily="49" charset="0"/>
              </a:rPr>
              <a:t>data_in</a:t>
            </a:r>
            <a:r>
              <a:rPr lang="en-US" altLang="zh-CN" sz="2200" b="0" i="0" dirty="0">
                <a:solidFill>
                  <a:srgbClr val="333333"/>
                </a:solidFill>
                <a:effectLst/>
                <a:latin typeface="Courier New" panose="02070309020205020404" pitchFamily="49" charset="0"/>
              </a:rPr>
              <a:t>; //</a:t>
            </a:r>
            <a:r>
              <a:rPr lang="zh-CN" altLang="en-US" sz="2200" b="0" i="0" dirty="0">
                <a:solidFill>
                  <a:srgbClr val="4D4D4D"/>
                </a:solidFill>
                <a:effectLst/>
                <a:latin typeface="-apple-system"/>
              </a:rPr>
              <a:t>使用</a:t>
            </a:r>
            <a:r>
              <a:rPr lang="zh-CN" altLang="en-US" sz="2200" b="0" i="0" dirty="0">
                <a:solidFill>
                  <a:srgbClr val="00B0F0"/>
                </a:solidFill>
                <a:effectLst/>
                <a:latin typeface="-apple-system"/>
              </a:rPr>
              <a:t>数组下标</a:t>
            </a:r>
            <a:r>
              <a:rPr lang="zh-CN" altLang="en-US" sz="2200" b="0" i="0" dirty="0">
                <a:solidFill>
                  <a:srgbClr val="4D4D4D"/>
                </a:solidFill>
                <a:effectLst/>
                <a:latin typeface="-apple-system"/>
              </a:rPr>
              <a:t>访问数组中的元素</a:t>
            </a:r>
            <a:endParaRPr lang="en-US" altLang="zh-CN" sz="2200" b="0" i="0" dirty="0">
              <a:solidFill>
                <a:srgbClr val="333333"/>
              </a:solidFill>
              <a:effectLst/>
              <a:latin typeface="Courier New" panose="02070309020205020404" pitchFamily="49" charset="0"/>
            </a:endParaRPr>
          </a:p>
          <a:p>
            <a:pPr marL="0" indent="0">
              <a:buNone/>
            </a:pPr>
            <a:r>
              <a:rPr lang="zh-CN" altLang="en-US" sz="2200" b="0" i="0" dirty="0">
                <a:solidFill>
                  <a:srgbClr val="333333"/>
                </a:solidFill>
                <a:effectLst/>
                <a:latin typeface="Courier New" panose="02070309020205020404" pitchFamily="49" charset="0"/>
              </a:rPr>
              <a:t> </a:t>
            </a:r>
            <a:r>
              <a:rPr lang="en-US" altLang="zh-CN" sz="2200" b="0" i="0" dirty="0">
                <a:solidFill>
                  <a:srgbClr val="333333"/>
                </a:solidFill>
                <a:effectLst/>
                <a:latin typeface="Courier New" panose="02070309020205020404" pitchFamily="49" charset="0"/>
              </a:rPr>
              <a:t>matrix[row][col] = 8'hFF; // </a:t>
            </a:r>
            <a:r>
              <a:rPr lang="zh-CN" altLang="en-US" sz="2200" b="0" i="0" dirty="0">
                <a:solidFill>
                  <a:srgbClr val="333333"/>
                </a:solidFill>
                <a:effectLst/>
                <a:latin typeface="Courier New" panose="02070309020205020404" pitchFamily="49" charset="0"/>
              </a:rPr>
              <a:t>二维数组访问</a:t>
            </a:r>
            <a:endParaRPr lang="en-US" altLang="zh-CN" sz="2200" b="1" i="0" dirty="0">
              <a:solidFill>
                <a:srgbClr val="333333"/>
              </a:solidFill>
              <a:effectLst/>
              <a:latin typeface="PingFang SC"/>
            </a:endParaRPr>
          </a:p>
        </p:txBody>
      </p:sp>
    </p:spTree>
    <p:extLst>
      <p:ext uri="{BB962C8B-B14F-4D97-AF65-F5344CB8AC3E}">
        <p14:creationId xmlns:p14="http://schemas.microsoft.com/office/powerpoint/2010/main" val="27240487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1FAF7C-AF44-0B95-66AA-E08E5E78A181}"/>
              </a:ext>
            </a:extLst>
          </p:cNvPr>
          <p:cNvSpPr>
            <a:spLocks noGrp="1"/>
          </p:cNvSpPr>
          <p:nvPr>
            <p:ph type="title"/>
          </p:nvPr>
        </p:nvSpPr>
        <p:spPr>
          <a:xfrm>
            <a:off x="1797666" y="2768600"/>
            <a:ext cx="8596668" cy="1320800"/>
          </a:xfrm>
        </p:spPr>
        <p:txBody>
          <a:bodyPr/>
          <a:lstStyle/>
          <a:p>
            <a:pPr algn="ctr"/>
            <a:r>
              <a:rPr lang="en-US" altLang="zh-CN" dirty="0"/>
              <a:t>2.3 </a:t>
            </a:r>
            <a:r>
              <a:rPr lang="zh-CN" altLang="en-US" dirty="0"/>
              <a:t>常用语句</a:t>
            </a:r>
          </a:p>
        </p:txBody>
      </p:sp>
    </p:spTree>
    <p:extLst>
      <p:ext uri="{BB962C8B-B14F-4D97-AF65-F5344CB8AC3E}">
        <p14:creationId xmlns:p14="http://schemas.microsoft.com/office/powerpoint/2010/main" val="31563594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1F99AC-3D6D-B2C2-509D-C6FE1523A501}"/>
              </a:ext>
            </a:extLst>
          </p:cNvPr>
          <p:cNvSpPr>
            <a:spLocks noGrp="1"/>
          </p:cNvSpPr>
          <p:nvPr>
            <p:ph type="title"/>
          </p:nvPr>
        </p:nvSpPr>
        <p:spPr>
          <a:xfrm>
            <a:off x="677333" y="143881"/>
            <a:ext cx="8596668" cy="872750"/>
          </a:xfrm>
        </p:spPr>
        <p:txBody>
          <a:bodyPr/>
          <a:lstStyle/>
          <a:p>
            <a:r>
              <a:rPr lang="en-US" altLang="zh-CN" dirty="0"/>
              <a:t>2.3.1  always</a:t>
            </a:r>
            <a:r>
              <a:rPr lang="zh-CN" altLang="en-US" dirty="0"/>
              <a:t>语句块</a:t>
            </a:r>
          </a:p>
        </p:txBody>
      </p:sp>
      <p:sp>
        <p:nvSpPr>
          <p:cNvPr id="3" name="内容占位符 2">
            <a:extLst>
              <a:ext uri="{FF2B5EF4-FFF2-40B4-BE49-F238E27FC236}">
                <a16:creationId xmlns:a16="http://schemas.microsoft.com/office/drawing/2014/main" id="{FE0DC312-9A82-35DA-B226-4BD91F97ABED}"/>
              </a:ext>
            </a:extLst>
          </p:cNvPr>
          <p:cNvSpPr>
            <a:spLocks noGrp="1"/>
          </p:cNvSpPr>
          <p:nvPr>
            <p:ph idx="1"/>
          </p:nvPr>
        </p:nvSpPr>
        <p:spPr>
          <a:xfrm>
            <a:off x="677333" y="1124542"/>
            <a:ext cx="10511287" cy="5419192"/>
          </a:xfrm>
        </p:spPr>
        <p:txBody>
          <a:bodyPr>
            <a:normAutofit/>
          </a:bodyPr>
          <a:lstStyle/>
          <a:p>
            <a:pPr marL="0" indent="457200">
              <a:lnSpc>
                <a:spcPct val="110000"/>
              </a:lnSpc>
              <a:spcAft>
                <a:spcPts val="1800"/>
              </a:spcAft>
              <a:buNone/>
            </a:pPr>
            <a:r>
              <a:rPr lang="en-US" altLang="zh-CN" sz="2800" dirty="0">
                <a:solidFill>
                  <a:srgbClr val="FF0000"/>
                </a:solidFill>
              </a:rPr>
              <a:t>   </a:t>
            </a:r>
            <a:r>
              <a:rPr lang="en-US" altLang="zh-CN" sz="2400" dirty="0">
                <a:solidFill>
                  <a:srgbClr val="FF0000"/>
                </a:solidFill>
              </a:rPr>
              <a:t>always </a:t>
            </a:r>
            <a:r>
              <a:rPr lang="zh-CN" altLang="en-US" sz="2400" dirty="0">
                <a:solidFill>
                  <a:srgbClr val="FF0000"/>
                </a:solidFill>
              </a:rPr>
              <a:t>语句块</a:t>
            </a:r>
            <a:r>
              <a:rPr lang="zh-CN" altLang="en-US" sz="2400" dirty="0"/>
              <a:t>是</a:t>
            </a:r>
            <a:r>
              <a:rPr lang="en-US" altLang="zh-CN" sz="2400" dirty="0"/>
              <a:t>verilog </a:t>
            </a:r>
            <a:r>
              <a:rPr lang="zh-CN" altLang="en-US" sz="2400" dirty="0"/>
              <a:t>语言中</a:t>
            </a:r>
            <a:r>
              <a:rPr lang="zh-CN" altLang="en-US" sz="2400" i="0" dirty="0">
                <a:solidFill>
                  <a:srgbClr val="333333"/>
                </a:solidFill>
                <a:effectLst/>
                <a:latin typeface="PingFang SC"/>
              </a:rPr>
              <a:t>描述硬件电路行为的基本结构</a:t>
            </a:r>
            <a:r>
              <a:rPr lang="zh-CN" altLang="en-US" sz="2400" dirty="0"/>
              <a:t>。它定义了代码的执行条件和行为模式，其本质是</a:t>
            </a:r>
            <a:r>
              <a:rPr lang="zh-CN" altLang="en-US" sz="2400" dirty="0">
                <a:solidFill>
                  <a:srgbClr val="FF0000"/>
                </a:solidFill>
              </a:rPr>
              <a:t>敏感事件触发的循环机制</a:t>
            </a:r>
            <a:r>
              <a:rPr lang="zh-CN" altLang="en-US" sz="2400" dirty="0"/>
              <a:t>‌，当敏感列表中的信号变化时，块内代码会被执行。</a:t>
            </a:r>
            <a:endParaRPr lang="en-US" altLang="zh-CN" sz="2400" dirty="0"/>
          </a:p>
          <a:p>
            <a:pPr marL="0" indent="0">
              <a:lnSpc>
                <a:spcPct val="80000"/>
              </a:lnSpc>
              <a:spcBef>
                <a:spcPts val="0"/>
              </a:spcBef>
              <a:buNone/>
            </a:pPr>
            <a:endParaRPr lang="en-US" altLang="zh-CN" sz="2400" dirty="0">
              <a:solidFill>
                <a:srgbClr val="0000FF"/>
              </a:solidFill>
              <a:latin typeface="Courier New" panose="02070309020205020404" pitchFamily="49" charset="0"/>
            </a:endParaRPr>
          </a:p>
          <a:p>
            <a:pPr marL="0" indent="0">
              <a:lnSpc>
                <a:spcPct val="80000"/>
              </a:lnSpc>
              <a:spcBef>
                <a:spcPts val="0"/>
              </a:spcBef>
              <a:buNone/>
            </a:pPr>
            <a:r>
              <a:rPr lang="en-US" altLang="zh-CN" sz="2000" dirty="0">
                <a:solidFill>
                  <a:srgbClr val="0000FF"/>
                </a:solidFill>
                <a:latin typeface="Courier New" panose="02070309020205020404" pitchFamily="49" charset="0"/>
              </a:rPr>
              <a:t>always </a:t>
            </a:r>
            <a:r>
              <a:rPr lang="en-US" altLang="zh-CN" sz="2000" dirty="0">
                <a:solidFill>
                  <a:srgbClr val="0070C0"/>
                </a:solidFill>
                <a:latin typeface="Courier New" panose="02070309020205020404" pitchFamily="49" charset="0"/>
              </a:rPr>
              <a:t>@</a:t>
            </a:r>
            <a:r>
              <a:rPr lang="en-US" altLang="zh-CN" sz="2000" dirty="0">
                <a:solidFill>
                  <a:schemeClr val="tx1"/>
                </a:solidFill>
                <a:latin typeface="Courier New" panose="02070309020205020404" pitchFamily="49" charset="0"/>
              </a:rPr>
              <a:t>(&lt;</a:t>
            </a:r>
            <a:r>
              <a:rPr lang="zh-CN" altLang="en-US" sz="2000" dirty="0">
                <a:solidFill>
                  <a:schemeClr val="tx1"/>
                </a:solidFill>
                <a:latin typeface="Courier New" panose="02070309020205020404" pitchFamily="49" charset="0"/>
              </a:rPr>
              <a:t>敏感列表</a:t>
            </a:r>
            <a:r>
              <a:rPr lang="en-US" altLang="zh-CN" sz="2000" dirty="0">
                <a:solidFill>
                  <a:schemeClr val="tx1"/>
                </a:solidFill>
                <a:latin typeface="Courier New" panose="02070309020205020404" pitchFamily="49" charset="0"/>
              </a:rPr>
              <a:t>&gt;)</a:t>
            </a:r>
          </a:p>
          <a:p>
            <a:pPr marL="0" indent="0">
              <a:lnSpc>
                <a:spcPct val="80000"/>
              </a:lnSpc>
              <a:spcBef>
                <a:spcPts val="0"/>
              </a:spcBef>
              <a:buNone/>
            </a:pPr>
            <a:r>
              <a:rPr lang="en-US" altLang="zh-CN" sz="2000" dirty="0">
                <a:solidFill>
                  <a:srgbClr val="0000FF"/>
                </a:solidFill>
                <a:latin typeface="Courier New" panose="02070309020205020404" pitchFamily="49" charset="0"/>
              </a:rPr>
              <a:t>begin</a:t>
            </a:r>
          </a:p>
          <a:p>
            <a:pPr marL="0" indent="0">
              <a:lnSpc>
                <a:spcPct val="80000"/>
              </a:lnSpc>
              <a:spcBef>
                <a:spcPts val="0"/>
              </a:spcBef>
              <a:buNone/>
            </a:pPr>
            <a:endParaRPr lang="en-US" altLang="zh-CN" sz="2000" dirty="0">
              <a:solidFill>
                <a:srgbClr val="0000FF"/>
              </a:solidFill>
              <a:latin typeface="Courier New" panose="02070309020205020404" pitchFamily="49" charset="0"/>
            </a:endParaRPr>
          </a:p>
          <a:p>
            <a:pPr marL="0" indent="0">
              <a:lnSpc>
                <a:spcPct val="80000"/>
              </a:lnSpc>
              <a:spcBef>
                <a:spcPts val="0"/>
              </a:spcBef>
              <a:buNone/>
            </a:pPr>
            <a:r>
              <a:rPr lang="en-US" altLang="zh-CN" sz="2000" dirty="0">
                <a:solidFill>
                  <a:srgbClr val="0000FF"/>
                </a:solidFill>
                <a:latin typeface="Courier New" panose="02070309020205020404" pitchFamily="49" charset="0"/>
              </a:rPr>
              <a:t>    </a:t>
            </a:r>
            <a:r>
              <a:rPr lang="en-US" altLang="zh-CN" sz="2000" dirty="0">
                <a:solidFill>
                  <a:schemeClr val="tx1"/>
                </a:solidFill>
                <a:latin typeface="Courier New" panose="02070309020205020404" pitchFamily="49" charset="0"/>
              </a:rPr>
              <a:t>// </a:t>
            </a:r>
            <a:r>
              <a:rPr lang="zh-CN" altLang="en-US" sz="2000" dirty="0">
                <a:solidFill>
                  <a:schemeClr val="tx1"/>
                </a:solidFill>
                <a:latin typeface="Courier New" panose="02070309020205020404" pitchFamily="49" charset="0"/>
              </a:rPr>
              <a:t>代码块</a:t>
            </a:r>
            <a:endParaRPr lang="en-US" altLang="zh-CN" sz="2000" dirty="0">
              <a:solidFill>
                <a:schemeClr val="tx1"/>
              </a:solidFill>
              <a:latin typeface="Courier New" panose="02070309020205020404" pitchFamily="49" charset="0"/>
            </a:endParaRPr>
          </a:p>
          <a:p>
            <a:pPr marL="0" indent="0">
              <a:lnSpc>
                <a:spcPct val="80000"/>
              </a:lnSpc>
              <a:spcBef>
                <a:spcPts val="0"/>
              </a:spcBef>
              <a:buNone/>
            </a:pPr>
            <a:r>
              <a:rPr lang="en-US" altLang="zh-CN" sz="2000" dirty="0">
                <a:solidFill>
                  <a:schemeClr val="tx1"/>
                </a:solidFill>
                <a:latin typeface="Courier New" panose="02070309020205020404" pitchFamily="49" charset="0"/>
              </a:rPr>
              <a:t>    //</a:t>
            </a:r>
            <a:r>
              <a:rPr lang="zh-CN" altLang="en-US" sz="2000" dirty="0"/>
              <a:t>条件语句（</a:t>
            </a:r>
            <a:r>
              <a:rPr lang="en-US" altLang="zh-CN" sz="2000" dirty="0"/>
              <a:t>if</a:t>
            </a:r>
            <a:r>
              <a:rPr lang="zh-CN" altLang="en-US" sz="2000" dirty="0"/>
              <a:t>、</a:t>
            </a:r>
            <a:r>
              <a:rPr lang="en-US" altLang="zh-CN" sz="2000" dirty="0"/>
              <a:t>case</a:t>
            </a:r>
            <a:r>
              <a:rPr lang="zh-CN" altLang="en-US" sz="2000" dirty="0"/>
              <a:t>）、循环语句（</a:t>
            </a:r>
            <a:r>
              <a:rPr lang="en-US" altLang="zh-CN" sz="2000" dirty="0"/>
              <a:t>for</a:t>
            </a:r>
            <a:r>
              <a:rPr lang="zh-CN" altLang="en-US" sz="2000" dirty="0"/>
              <a:t>、</a:t>
            </a:r>
            <a:r>
              <a:rPr lang="en-US" altLang="zh-CN" sz="2000" dirty="0"/>
              <a:t>while</a:t>
            </a:r>
            <a:r>
              <a:rPr lang="zh-CN" altLang="en-US" sz="2000" dirty="0"/>
              <a:t>）、</a:t>
            </a:r>
            <a:r>
              <a:rPr lang="zh-CN" altLang="en-US" sz="2000" dirty="0">
                <a:solidFill>
                  <a:srgbClr val="FF0000"/>
                </a:solidFill>
              </a:rPr>
              <a:t>过程赋值</a:t>
            </a:r>
            <a:r>
              <a:rPr lang="zh-CN" altLang="en-US" sz="2000" dirty="0"/>
              <a:t>（</a:t>
            </a:r>
            <a:r>
              <a:rPr lang="en-US" altLang="zh-CN" sz="2000" dirty="0"/>
              <a:t>=</a:t>
            </a:r>
            <a:r>
              <a:rPr lang="zh-CN" altLang="en-US" sz="2000" dirty="0"/>
              <a:t>、</a:t>
            </a:r>
            <a:r>
              <a:rPr lang="en-US" altLang="zh-CN" sz="2000" dirty="0"/>
              <a:t>&lt;=</a:t>
            </a:r>
            <a:r>
              <a:rPr lang="zh-CN" altLang="en-US" sz="2000" dirty="0"/>
              <a:t>）</a:t>
            </a:r>
            <a:endParaRPr lang="zh-CN" altLang="en-US" sz="2000" dirty="0">
              <a:solidFill>
                <a:schemeClr val="tx1"/>
              </a:solidFill>
              <a:latin typeface="Courier New" panose="02070309020205020404" pitchFamily="49" charset="0"/>
            </a:endParaRPr>
          </a:p>
          <a:p>
            <a:pPr marL="0" indent="0">
              <a:lnSpc>
                <a:spcPct val="80000"/>
              </a:lnSpc>
              <a:spcBef>
                <a:spcPts val="0"/>
              </a:spcBef>
              <a:buNone/>
            </a:pPr>
            <a:endParaRPr lang="en-US" altLang="zh-CN" sz="2000" dirty="0">
              <a:solidFill>
                <a:srgbClr val="0000FF"/>
              </a:solidFill>
              <a:latin typeface="Courier New" panose="02070309020205020404" pitchFamily="49" charset="0"/>
            </a:endParaRPr>
          </a:p>
          <a:p>
            <a:pPr marL="0" indent="0">
              <a:lnSpc>
                <a:spcPct val="80000"/>
              </a:lnSpc>
              <a:spcBef>
                <a:spcPts val="0"/>
              </a:spcBef>
              <a:buNone/>
            </a:pPr>
            <a:r>
              <a:rPr lang="en-US" altLang="zh-CN" sz="2000" dirty="0">
                <a:solidFill>
                  <a:srgbClr val="0000FF"/>
                </a:solidFill>
                <a:latin typeface="Courier New" panose="02070309020205020404" pitchFamily="49" charset="0"/>
              </a:rPr>
              <a:t>end</a:t>
            </a:r>
          </a:p>
          <a:p>
            <a:pPr marL="0" indent="457200">
              <a:lnSpc>
                <a:spcPct val="110000"/>
              </a:lnSpc>
              <a:spcBef>
                <a:spcPts val="0"/>
              </a:spcBef>
              <a:buNone/>
            </a:pPr>
            <a:endParaRPr lang="en-US" altLang="zh-CN" sz="2400" dirty="0">
              <a:solidFill>
                <a:srgbClr val="0000FF"/>
              </a:solidFill>
              <a:latin typeface="Courier New" panose="02070309020205020404" pitchFamily="49" charset="0"/>
            </a:endParaRPr>
          </a:p>
        </p:txBody>
      </p:sp>
    </p:spTree>
    <p:extLst>
      <p:ext uri="{BB962C8B-B14F-4D97-AF65-F5344CB8AC3E}">
        <p14:creationId xmlns:p14="http://schemas.microsoft.com/office/powerpoint/2010/main" val="28531695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F7CCF-2BF8-995E-A4C4-B3681A9A94B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80D16AC-6B99-0B4A-70DA-79C3F80DBE14}"/>
              </a:ext>
            </a:extLst>
          </p:cNvPr>
          <p:cNvSpPr>
            <a:spLocks noGrp="1"/>
          </p:cNvSpPr>
          <p:nvPr>
            <p:ph type="title"/>
          </p:nvPr>
        </p:nvSpPr>
        <p:spPr>
          <a:xfrm>
            <a:off x="677333" y="143881"/>
            <a:ext cx="8596668" cy="872750"/>
          </a:xfrm>
        </p:spPr>
        <p:txBody>
          <a:bodyPr/>
          <a:lstStyle/>
          <a:p>
            <a:r>
              <a:rPr lang="zh-CN" altLang="en-US" dirty="0"/>
              <a:t>敏感列表的触发方式</a:t>
            </a:r>
          </a:p>
        </p:txBody>
      </p:sp>
      <p:sp>
        <p:nvSpPr>
          <p:cNvPr id="3" name="内容占位符 2">
            <a:extLst>
              <a:ext uri="{FF2B5EF4-FFF2-40B4-BE49-F238E27FC236}">
                <a16:creationId xmlns:a16="http://schemas.microsoft.com/office/drawing/2014/main" id="{354EAA39-B2BD-0DDE-D552-9AB0C76FD9A7}"/>
              </a:ext>
            </a:extLst>
          </p:cNvPr>
          <p:cNvSpPr>
            <a:spLocks noGrp="1"/>
          </p:cNvSpPr>
          <p:nvPr>
            <p:ph idx="1"/>
          </p:nvPr>
        </p:nvSpPr>
        <p:spPr>
          <a:xfrm>
            <a:off x="677333" y="1158618"/>
            <a:ext cx="10886135" cy="5385115"/>
          </a:xfrm>
        </p:spPr>
        <p:txBody>
          <a:bodyPr>
            <a:normAutofit/>
          </a:bodyPr>
          <a:lstStyle/>
          <a:p>
            <a:r>
              <a:rPr lang="zh-CN" altLang="en-US" sz="2400" b="1" dirty="0"/>
              <a:t>边沿触发（时序逻辑）</a:t>
            </a:r>
            <a:r>
              <a:rPr lang="zh-CN" altLang="en-US" sz="2400" dirty="0"/>
              <a:t>‌‌：</a:t>
            </a:r>
            <a:r>
              <a:rPr lang="en-US" altLang="zh-CN" sz="2400" dirty="0"/>
              <a:t>always @(</a:t>
            </a:r>
            <a:r>
              <a:rPr lang="en-US" altLang="zh-CN" sz="2400" dirty="0">
                <a:solidFill>
                  <a:srgbClr val="FF0000"/>
                </a:solidFill>
              </a:rPr>
              <a:t>posedge</a:t>
            </a:r>
            <a:r>
              <a:rPr lang="en-US" altLang="zh-CN" sz="2400" dirty="0"/>
              <a:t> </a:t>
            </a:r>
            <a:r>
              <a:rPr lang="en-US" altLang="zh-CN" sz="2400" dirty="0" err="1"/>
              <a:t>clk</a:t>
            </a:r>
            <a:r>
              <a:rPr lang="en-US" altLang="zh-CN" sz="2400" dirty="0"/>
              <a:t>) </a:t>
            </a:r>
            <a:r>
              <a:rPr lang="zh-CN" altLang="en-US" sz="2400" dirty="0"/>
              <a:t>或 </a:t>
            </a:r>
            <a:r>
              <a:rPr lang="en-US" altLang="zh-CN" sz="2400" dirty="0"/>
              <a:t>always @(</a:t>
            </a:r>
            <a:r>
              <a:rPr lang="en-US" altLang="zh-CN" sz="2400" dirty="0">
                <a:solidFill>
                  <a:srgbClr val="FF0000"/>
                </a:solidFill>
              </a:rPr>
              <a:t>negedge</a:t>
            </a:r>
            <a:r>
              <a:rPr lang="en-US" altLang="zh-CN" sz="2400" dirty="0"/>
              <a:t> </a:t>
            </a:r>
            <a:r>
              <a:rPr lang="en-US" altLang="zh-CN" sz="2400" dirty="0" err="1"/>
              <a:t>rst</a:t>
            </a:r>
            <a:r>
              <a:rPr lang="en-US" altLang="zh-CN" sz="2400" dirty="0"/>
              <a:t>)</a:t>
            </a:r>
          </a:p>
          <a:p>
            <a:pPr lvl="1">
              <a:buFont typeface="Arial" panose="020B0604020202020204" pitchFamily="34" charset="0"/>
              <a:buChar char="•"/>
            </a:pPr>
            <a:r>
              <a:rPr lang="zh-CN" altLang="en-US" sz="2400" dirty="0"/>
              <a:t>使用 ‌</a:t>
            </a:r>
            <a:r>
              <a:rPr lang="zh-CN" altLang="en-US" sz="2400" dirty="0">
                <a:solidFill>
                  <a:srgbClr val="FF0000"/>
                </a:solidFill>
              </a:rPr>
              <a:t>非阻塞赋值‌（</a:t>
            </a:r>
            <a:r>
              <a:rPr lang="en-US" altLang="zh-CN" sz="2400" dirty="0">
                <a:solidFill>
                  <a:srgbClr val="FF0000"/>
                </a:solidFill>
              </a:rPr>
              <a:t>&lt;=</a:t>
            </a:r>
            <a:r>
              <a:rPr lang="zh-CN" altLang="en-US" sz="2400" dirty="0">
                <a:solidFill>
                  <a:srgbClr val="FF0000"/>
                </a:solidFill>
              </a:rPr>
              <a:t>）</a:t>
            </a:r>
            <a:r>
              <a:rPr lang="zh-CN" altLang="en-US" sz="2400" dirty="0"/>
              <a:t>，表示并行更新寄存器。</a:t>
            </a:r>
          </a:p>
          <a:p>
            <a:pPr lvl="1">
              <a:buFont typeface="Arial" panose="020B0604020202020204" pitchFamily="34" charset="0"/>
              <a:buChar char="•"/>
            </a:pPr>
            <a:r>
              <a:rPr lang="zh-CN" altLang="en-US" sz="2400" dirty="0"/>
              <a:t>仅在</a:t>
            </a:r>
            <a:r>
              <a:rPr lang="zh-CN" altLang="en-US" sz="2400" dirty="0">
                <a:solidFill>
                  <a:srgbClr val="FF0000"/>
                </a:solidFill>
              </a:rPr>
              <a:t>时钟边沿触发</a:t>
            </a:r>
            <a:r>
              <a:rPr lang="zh-CN" altLang="en-US" sz="2400" dirty="0"/>
              <a:t>，体现为时序逻辑的延迟更新。</a:t>
            </a:r>
            <a:endParaRPr lang="en-US" altLang="zh-CN" sz="2400" dirty="0"/>
          </a:p>
          <a:p>
            <a:r>
              <a:rPr lang="zh-CN" altLang="en-US" sz="2400" b="1" i="0" dirty="0">
                <a:solidFill>
                  <a:srgbClr val="333333"/>
                </a:solidFill>
                <a:effectLst/>
                <a:latin typeface="PingFang SC"/>
              </a:rPr>
              <a:t>电平触发（组合逻辑）</a:t>
            </a:r>
            <a:r>
              <a:rPr lang="zh-CN" altLang="en-US" sz="2400" dirty="0"/>
              <a:t>‌：</a:t>
            </a:r>
            <a:r>
              <a:rPr lang="en-US" altLang="zh-CN" sz="2400" dirty="0"/>
              <a:t>always @(</a:t>
            </a:r>
            <a:r>
              <a:rPr lang="en-US" altLang="zh-CN" sz="2400" dirty="0">
                <a:solidFill>
                  <a:srgbClr val="FF0000"/>
                </a:solidFill>
              </a:rPr>
              <a:t>*</a:t>
            </a:r>
            <a:r>
              <a:rPr lang="en-US" altLang="zh-CN" sz="2400" dirty="0"/>
              <a:t>) </a:t>
            </a:r>
            <a:r>
              <a:rPr lang="zh-CN" altLang="en-US" sz="2400" dirty="0"/>
              <a:t>或 </a:t>
            </a:r>
            <a:r>
              <a:rPr lang="en-US" altLang="zh-CN" sz="2400" dirty="0"/>
              <a:t>always @(</a:t>
            </a:r>
            <a:r>
              <a:rPr lang="zh-CN" altLang="en-US" sz="2400" dirty="0">
                <a:solidFill>
                  <a:srgbClr val="FF0000"/>
                </a:solidFill>
              </a:rPr>
              <a:t>所有输入信号列表</a:t>
            </a:r>
            <a:r>
              <a:rPr lang="en-US" altLang="zh-CN" sz="2400" dirty="0"/>
              <a:t>)</a:t>
            </a:r>
          </a:p>
          <a:p>
            <a:pPr lvl="1">
              <a:buFont typeface="Arial" panose="020B0604020202020204" pitchFamily="34" charset="0"/>
              <a:buChar char="•"/>
            </a:pPr>
            <a:r>
              <a:rPr lang="zh-CN" altLang="en-US" sz="2400" dirty="0"/>
              <a:t>使用 ‌</a:t>
            </a:r>
            <a:r>
              <a:rPr lang="zh-CN" altLang="en-US" sz="2400" dirty="0">
                <a:solidFill>
                  <a:srgbClr val="FF0000"/>
                </a:solidFill>
              </a:rPr>
              <a:t>阻塞赋值‌（</a:t>
            </a:r>
            <a:r>
              <a:rPr lang="en-US" altLang="zh-CN" sz="2400" dirty="0">
                <a:solidFill>
                  <a:srgbClr val="FF0000"/>
                </a:solidFill>
              </a:rPr>
              <a:t>=</a:t>
            </a:r>
            <a:r>
              <a:rPr lang="zh-CN" altLang="en-US" sz="2400" dirty="0">
                <a:solidFill>
                  <a:srgbClr val="FF0000"/>
                </a:solidFill>
              </a:rPr>
              <a:t>）</a:t>
            </a:r>
            <a:r>
              <a:rPr lang="zh-CN" altLang="en-US" sz="2400" dirty="0"/>
              <a:t>，按顺序立即更新信号。</a:t>
            </a:r>
          </a:p>
          <a:p>
            <a:pPr lvl="1">
              <a:buFont typeface="Arial" panose="020B0604020202020204" pitchFamily="34" charset="0"/>
              <a:buChar char="•"/>
            </a:pPr>
            <a:r>
              <a:rPr lang="zh-CN" altLang="en-US" sz="2400" dirty="0">
                <a:solidFill>
                  <a:srgbClr val="FF0000"/>
                </a:solidFill>
              </a:rPr>
              <a:t>敏感列表需包含所有输入信号</a:t>
            </a:r>
            <a:r>
              <a:rPr lang="zh-CN" altLang="en-US" sz="2400" dirty="0"/>
              <a:t>（推荐用 </a:t>
            </a:r>
            <a:r>
              <a:rPr lang="en-US" altLang="zh-CN" sz="2400" dirty="0"/>
              <a:t>always @(*) </a:t>
            </a:r>
            <a:r>
              <a:rPr lang="zh-CN" altLang="en-US" sz="2400" dirty="0"/>
              <a:t>）。</a:t>
            </a:r>
            <a:endParaRPr lang="en-US" altLang="zh-CN" sz="2400" dirty="0"/>
          </a:p>
          <a:p>
            <a:pPr lvl="1">
              <a:buFont typeface="Arial" panose="020B0604020202020204" pitchFamily="34" charset="0"/>
              <a:buChar char="•"/>
            </a:pPr>
            <a:r>
              <a:rPr lang="zh-CN" altLang="en-US" sz="2400" b="0" i="0" dirty="0">
                <a:solidFill>
                  <a:srgbClr val="333333"/>
                </a:solidFill>
                <a:effectLst/>
                <a:latin typeface="PingFang SC"/>
              </a:rPr>
              <a:t> </a:t>
            </a:r>
            <a:r>
              <a:rPr lang="zh-CN" altLang="en-US" sz="2400" b="1" i="0" dirty="0">
                <a:solidFill>
                  <a:srgbClr val="FF0000"/>
                </a:solidFill>
                <a:effectLst/>
                <a:latin typeface="PingFang SC"/>
              </a:rPr>
              <a:t>完整分支覆盖</a:t>
            </a:r>
            <a:r>
              <a:rPr lang="zh-CN" altLang="en-US" sz="2400" b="1" dirty="0">
                <a:solidFill>
                  <a:srgbClr val="FF0000"/>
                </a:solidFill>
                <a:latin typeface="PingFang SC"/>
              </a:rPr>
              <a:t>，避免生成锁存器</a:t>
            </a:r>
            <a:r>
              <a:rPr lang="zh-CN" altLang="en-US" sz="2400" b="1" i="0" dirty="0">
                <a:solidFill>
                  <a:srgbClr val="FF0000"/>
                </a:solidFill>
                <a:effectLst/>
                <a:latin typeface="PingFang SC"/>
              </a:rPr>
              <a:t>。</a:t>
            </a:r>
            <a:endParaRPr lang="zh-CN" altLang="en-US" sz="2400" b="1" dirty="0">
              <a:solidFill>
                <a:srgbClr val="FF0000"/>
              </a:solidFill>
            </a:endParaRPr>
          </a:p>
        </p:txBody>
      </p:sp>
    </p:spTree>
    <p:extLst>
      <p:ext uri="{BB962C8B-B14F-4D97-AF65-F5344CB8AC3E}">
        <p14:creationId xmlns:p14="http://schemas.microsoft.com/office/powerpoint/2010/main" val="2275449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7C999E-1448-6567-CDC1-A611B7388661}"/>
              </a:ext>
            </a:extLst>
          </p:cNvPr>
          <p:cNvSpPr>
            <a:spLocks noGrp="1"/>
          </p:cNvSpPr>
          <p:nvPr>
            <p:ph type="title"/>
          </p:nvPr>
        </p:nvSpPr>
        <p:spPr>
          <a:xfrm>
            <a:off x="677334" y="160920"/>
            <a:ext cx="8596668" cy="770519"/>
          </a:xfrm>
        </p:spPr>
        <p:txBody>
          <a:bodyPr/>
          <a:lstStyle/>
          <a:p>
            <a:r>
              <a:rPr lang="zh-CN" altLang="en-US" dirty="0"/>
              <a:t>过程赋值语句</a:t>
            </a:r>
          </a:p>
        </p:txBody>
      </p:sp>
      <p:sp>
        <p:nvSpPr>
          <p:cNvPr id="3" name="内容占位符 2">
            <a:extLst>
              <a:ext uri="{FF2B5EF4-FFF2-40B4-BE49-F238E27FC236}">
                <a16:creationId xmlns:a16="http://schemas.microsoft.com/office/drawing/2014/main" id="{2D00F510-6734-6937-39A2-C099CB5B7935}"/>
              </a:ext>
            </a:extLst>
          </p:cNvPr>
          <p:cNvSpPr>
            <a:spLocks noGrp="1"/>
          </p:cNvSpPr>
          <p:nvPr>
            <p:ph idx="1"/>
          </p:nvPr>
        </p:nvSpPr>
        <p:spPr>
          <a:xfrm>
            <a:off x="677333" y="1005272"/>
            <a:ext cx="10880455" cy="5458003"/>
          </a:xfrm>
        </p:spPr>
        <p:txBody>
          <a:bodyPr>
            <a:normAutofit lnSpcReduction="10000"/>
          </a:bodyPr>
          <a:lstStyle/>
          <a:p>
            <a:pPr marL="0" indent="457200">
              <a:lnSpc>
                <a:spcPct val="120000"/>
              </a:lnSpc>
              <a:buNone/>
            </a:pPr>
            <a:r>
              <a:rPr lang="zh-CN" altLang="en-US" sz="2400" dirty="0"/>
              <a:t>    </a:t>
            </a:r>
            <a:r>
              <a:rPr lang="zh-CN" altLang="en-US" sz="2600" dirty="0">
                <a:solidFill>
                  <a:srgbClr val="FF0000"/>
                </a:solidFill>
              </a:rPr>
              <a:t>过程赋值语句</a:t>
            </a:r>
            <a:r>
              <a:rPr lang="zh-CN" altLang="en-US" sz="2600" dirty="0"/>
              <a:t>在 </a:t>
            </a:r>
            <a:r>
              <a:rPr lang="en-US" altLang="zh-CN" sz="2600" dirty="0"/>
              <a:t>always </a:t>
            </a:r>
            <a:r>
              <a:rPr lang="zh-CN" altLang="en-US" sz="2600" dirty="0"/>
              <a:t>或 </a:t>
            </a:r>
            <a:r>
              <a:rPr lang="en-US" altLang="zh-CN" sz="2600" dirty="0"/>
              <a:t>initial </a:t>
            </a:r>
            <a:r>
              <a:rPr lang="zh-CN" altLang="en-US" sz="2600" dirty="0"/>
              <a:t>语句块中对</a:t>
            </a:r>
            <a:r>
              <a:rPr lang="zh-CN" altLang="en-US" sz="2600" b="1" dirty="0">
                <a:solidFill>
                  <a:srgbClr val="FF0000"/>
                </a:solidFill>
              </a:rPr>
              <a:t> </a:t>
            </a:r>
            <a:r>
              <a:rPr lang="en-US" altLang="zh-CN" sz="2600" b="1" dirty="0">
                <a:solidFill>
                  <a:srgbClr val="FF0000"/>
                </a:solidFill>
              </a:rPr>
              <a:t>reg </a:t>
            </a:r>
            <a:r>
              <a:rPr lang="zh-CN" altLang="en-US" sz="2600" b="1" dirty="0">
                <a:solidFill>
                  <a:srgbClr val="FF0000"/>
                </a:solidFill>
              </a:rPr>
              <a:t>类型变量</a:t>
            </a:r>
            <a:r>
              <a:rPr lang="zh-CN" altLang="en-US" sz="2600" dirty="0"/>
              <a:t>进行赋值。分为 ‌阻塞赋值‌（</a:t>
            </a:r>
            <a:r>
              <a:rPr lang="en-US" altLang="zh-CN" sz="2600" dirty="0"/>
              <a:t>=</a:t>
            </a:r>
            <a:r>
              <a:rPr lang="zh-CN" altLang="en-US" sz="2600" dirty="0"/>
              <a:t>）和 ‌非阻塞赋值‌（</a:t>
            </a:r>
            <a:r>
              <a:rPr lang="en-US" altLang="zh-CN" sz="2600" dirty="0"/>
              <a:t>&lt;=</a:t>
            </a:r>
            <a:r>
              <a:rPr lang="zh-CN" altLang="en-US" sz="2600" dirty="0"/>
              <a:t>）。</a:t>
            </a:r>
            <a:endParaRPr lang="en-US" altLang="zh-CN" sz="2600" dirty="0"/>
          </a:p>
          <a:p>
            <a:r>
              <a:rPr lang="zh-CN" altLang="en-US" sz="2600" b="1" dirty="0">
                <a:solidFill>
                  <a:srgbClr val="FF0000"/>
                </a:solidFill>
              </a:rPr>
              <a:t>非阻塞赋值：</a:t>
            </a:r>
            <a:r>
              <a:rPr lang="zh-CN" altLang="en-US" sz="2600" i="0" dirty="0">
                <a:solidFill>
                  <a:srgbClr val="333333"/>
                </a:solidFill>
                <a:effectLst/>
                <a:latin typeface="PingFang SC"/>
              </a:rPr>
              <a:t>在同一个 </a:t>
            </a:r>
            <a:r>
              <a:rPr lang="en-US" altLang="zh-CN" sz="2600" i="0" dirty="0">
                <a:solidFill>
                  <a:srgbClr val="333333"/>
                </a:solidFill>
                <a:effectLst/>
                <a:latin typeface="PingFang SC"/>
              </a:rPr>
              <a:t>always </a:t>
            </a:r>
            <a:r>
              <a:rPr lang="zh-CN" altLang="en-US" sz="2600" i="0" dirty="0">
                <a:solidFill>
                  <a:srgbClr val="333333"/>
                </a:solidFill>
                <a:effectLst/>
                <a:latin typeface="PingFang SC"/>
              </a:rPr>
              <a:t>块中，</a:t>
            </a:r>
            <a:r>
              <a:rPr lang="zh-CN" altLang="en-US" sz="2600" dirty="0"/>
              <a:t>所有非阻塞赋值语句</a:t>
            </a:r>
            <a:r>
              <a:rPr lang="zh-CN" altLang="en-US" sz="2600" dirty="0">
                <a:solidFill>
                  <a:srgbClr val="FF0000"/>
                </a:solidFill>
              </a:rPr>
              <a:t>并行执行</a:t>
            </a:r>
            <a:r>
              <a:rPr lang="zh-CN" altLang="en-US" sz="2600" dirty="0"/>
              <a:t>，块结束时统一更新左值。</a:t>
            </a:r>
          </a:p>
          <a:p>
            <a:pPr marL="2160000" indent="0">
              <a:spcBef>
                <a:spcPts val="1200"/>
              </a:spcBef>
              <a:buNone/>
            </a:pPr>
            <a:r>
              <a:rPr lang="zh-CN" altLang="en-US" dirty="0"/>
              <a:t>‌</a:t>
            </a:r>
            <a:r>
              <a:rPr lang="en-US" altLang="zh-CN" dirty="0"/>
              <a:t> always @(posedge </a:t>
            </a:r>
            <a:r>
              <a:rPr lang="en-US" altLang="zh-CN" dirty="0" err="1"/>
              <a:t>clk</a:t>
            </a:r>
            <a:r>
              <a:rPr lang="en-US" altLang="zh-CN" dirty="0"/>
              <a:t>) begin</a:t>
            </a:r>
          </a:p>
          <a:p>
            <a:pPr marL="2160000" indent="0">
              <a:buNone/>
            </a:pPr>
            <a:r>
              <a:rPr lang="en-US" altLang="zh-CN" dirty="0"/>
              <a:t>       q1 &lt;= </a:t>
            </a:r>
            <a:r>
              <a:rPr lang="en-US" altLang="zh-CN" dirty="0" err="1"/>
              <a:t>d</a:t>
            </a:r>
            <a:r>
              <a:rPr lang="en-US" altLang="zh-CN" b="1" dirty="0" err="1"/>
              <a:t>&amp;</a:t>
            </a:r>
            <a:r>
              <a:rPr lang="en-US" altLang="zh-CN" dirty="0" err="1"/>
              <a:t>b</a:t>
            </a:r>
            <a:r>
              <a:rPr lang="en-US" altLang="zh-CN" dirty="0"/>
              <a:t>;     // q1  = </a:t>
            </a:r>
            <a:r>
              <a:rPr lang="en-US" altLang="zh-CN" dirty="0" err="1"/>
              <a:t>d</a:t>
            </a:r>
            <a:r>
              <a:rPr lang="en-US" altLang="zh-CN" b="1" dirty="0" err="1"/>
              <a:t>&amp;</a:t>
            </a:r>
            <a:r>
              <a:rPr lang="en-US" altLang="zh-CN" dirty="0" err="1"/>
              <a:t>b</a:t>
            </a:r>
            <a:endParaRPr lang="en-US" altLang="zh-CN" dirty="0"/>
          </a:p>
          <a:p>
            <a:pPr marL="2160000" indent="0">
              <a:buNone/>
            </a:pPr>
            <a:r>
              <a:rPr lang="zh-CN" altLang="en-US" dirty="0"/>
              <a:t>       </a:t>
            </a:r>
            <a:r>
              <a:rPr lang="en-US" altLang="zh-CN" dirty="0"/>
              <a:t>q2 &lt;= q1;    // q2 =  q1 </a:t>
            </a:r>
            <a:r>
              <a:rPr lang="zh-CN" altLang="en-US" dirty="0"/>
              <a:t>旧值</a:t>
            </a:r>
          </a:p>
          <a:p>
            <a:pPr marL="2160000" indent="0">
              <a:buNone/>
            </a:pPr>
            <a:r>
              <a:rPr lang="en-US" altLang="zh-CN" dirty="0"/>
              <a:t>end  </a:t>
            </a:r>
          </a:p>
          <a:p>
            <a:r>
              <a:rPr lang="zh-CN" altLang="en-US" sz="2600" b="1" dirty="0">
                <a:solidFill>
                  <a:srgbClr val="FF0000"/>
                </a:solidFill>
                <a:latin typeface="PingFang SC"/>
              </a:rPr>
              <a:t>阻塞赋值：</a:t>
            </a:r>
            <a:r>
              <a:rPr lang="zh-CN" altLang="en-US" sz="2600" dirty="0">
                <a:solidFill>
                  <a:srgbClr val="333333"/>
                </a:solidFill>
                <a:latin typeface="PingFang SC"/>
              </a:rPr>
              <a:t>在同一个 </a:t>
            </a:r>
            <a:r>
              <a:rPr lang="en-US" altLang="zh-CN" sz="2600" dirty="0">
                <a:solidFill>
                  <a:srgbClr val="333333"/>
                </a:solidFill>
                <a:latin typeface="PingFang SC"/>
              </a:rPr>
              <a:t>always </a:t>
            </a:r>
            <a:r>
              <a:rPr lang="zh-CN" altLang="en-US" sz="2600" dirty="0">
                <a:solidFill>
                  <a:srgbClr val="333333"/>
                </a:solidFill>
                <a:latin typeface="PingFang SC"/>
              </a:rPr>
              <a:t>块中，阻塞赋值按代码</a:t>
            </a:r>
            <a:r>
              <a:rPr lang="zh-CN" altLang="en-US" sz="2600" dirty="0">
                <a:solidFill>
                  <a:srgbClr val="FF0000"/>
                </a:solidFill>
                <a:latin typeface="PingFang SC"/>
              </a:rPr>
              <a:t>顺序执行</a:t>
            </a:r>
            <a:r>
              <a:rPr lang="zh-CN" altLang="en-US" sz="2600" dirty="0">
                <a:solidFill>
                  <a:srgbClr val="333333"/>
                </a:solidFill>
                <a:latin typeface="PingFang SC"/>
              </a:rPr>
              <a:t>。</a:t>
            </a:r>
            <a:endParaRPr lang="en-US" altLang="zh-CN" sz="2600" dirty="0"/>
          </a:p>
          <a:p>
            <a:pPr marL="2160000" indent="0">
              <a:buNone/>
            </a:pPr>
            <a:r>
              <a:rPr lang="en-US" altLang="zh-CN" dirty="0">
                <a:solidFill>
                  <a:srgbClr val="0000FF"/>
                </a:solidFill>
              </a:rPr>
              <a:t>always </a:t>
            </a:r>
            <a:r>
              <a:rPr lang="en-US" altLang="zh-CN" dirty="0"/>
              <a:t>@(*) begin</a:t>
            </a:r>
          </a:p>
          <a:p>
            <a:pPr marL="2160000" indent="0">
              <a:buNone/>
            </a:pPr>
            <a:r>
              <a:rPr lang="en-US" altLang="zh-CN" dirty="0"/>
              <a:t>       x = a;         // x </a:t>
            </a:r>
            <a:r>
              <a:rPr lang="zh-CN" altLang="en-US" dirty="0"/>
              <a:t>立即更新为 </a:t>
            </a:r>
            <a:r>
              <a:rPr lang="en-US" altLang="zh-CN" dirty="0"/>
              <a:t>a</a:t>
            </a:r>
          </a:p>
          <a:p>
            <a:pPr marL="2160000" indent="0">
              <a:buNone/>
            </a:pPr>
            <a:r>
              <a:rPr lang="en-US" altLang="zh-CN" dirty="0"/>
              <a:t>       y = x + b;  // y </a:t>
            </a:r>
            <a:r>
              <a:rPr lang="zh-CN" altLang="en-US" dirty="0"/>
              <a:t>使用更新后的 </a:t>
            </a:r>
            <a:r>
              <a:rPr lang="en-US" altLang="zh-CN" dirty="0"/>
              <a:t>x, y=</a:t>
            </a:r>
            <a:r>
              <a:rPr lang="en-US" altLang="zh-CN" dirty="0" err="1"/>
              <a:t>a+b</a:t>
            </a:r>
            <a:endParaRPr lang="zh-CN" altLang="en-US" dirty="0"/>
          </a:p>
          <a:p>
            <a:pPr marL="2160000" indent="0">
              <a:buNone/>
            </a:pPr>
            <a:r>
              <a:rPr lang="en-US" altLang="zh-CN" dirty="0"/>
              <a:t>end</a:t>
            </a:r>
          </a:p>
        </p:txBody>
      </p:sp>
    </p:spTree>
    <p:extLst>
      <p:ext uri="{BB962C8B-B14F-4D97-AF65-F5344CB8AC3E}">
        <p14:creationId xmlns:p14="http://schemas.microsoft.com/office/powerpoint/2010/main" val="35496349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7AF8EC-62C7-9293-CE6B-921562E7D371}"/>
              </a:ext>
            </a:extLst>
          </p:cNvPr>
          <p:cNvSpPr>
            <a:spLocks noGrp="1"/>
          </p:cNvSpPr>
          <p:nvPr>
            <p:ph type="title"/>
          </p:nvPr>
        </p:nvSpPr>
        <p:spPr>
          <a:xfrm>
            <a:off x="779565" y="200676"/>
            <a:ext cx="10477210" cy="798917"/>
          </a:xfrm>
        </p:spPr>
        <p:txBody>
          <a:bodyPr/>
          <a:lstStyle/>
          <a:p>
            <a:r>
              <a:rPr lang="en-US" altLang="zh-CN" dirty="0"/>
              <a:t>2.3.2  initial</a:t>
            </a:r>
            <a:r>
              <a:rPr lang="zh-CN" altLang="en-US" dirty="0"/>
              <a:t>语句块</a:t>
            </a:r>
          </a:p>
        </p:txBody>
      </p:sp>
      <p:sp>
        <p:nvSpPr>
          <p:cNvPr id="3" name="内容占位符 2">
            <a:extLst>
              <a:ext uri="{FF2B5EF4-FFF2-40B4-BE49-F238E27FC236}">
                <a16:creationId xmlns:a16="http://schemas.microsoft.com/office/drawing/2014/main" id="{A34C4DB4-5634-E33F-E2AC-7D0330DAF558}"/>
              </a:ext>
            </a:extLst>
          </p:cNvPr>
          <p:cNvSpPr>
            <a:spLocks noGrp="1"/>
          </p:cNvSpPr>
          <p:nvPr>
            <p:ph idx="1"/>
          </p:nvPr>
        </p:nvSpPr>
        <p:spPr>
          <a:xfrm>
            <a:off x="677333" y="1118863"/>
            <a:ext cx="10715750" cy="4922500"/>
          </a:xfrm>
        </p:spPr>
        <p:txBody>
          <a:bodyPr/>
          <a:lstStyle/>
          <a:p>
            <a:pPr marL="0" indent="457200">
              <a:lnSpc>
                <a:spcPct val="110000"/>
              </a:lnSpc>
              <a:buNone/>
            </a:pPr>
            <a:r>
              <a:rPr lang="en-US" altLang="zh-CN" sz="2400" b="1" dirty="0">
                <a:solidFill>
                  <a:srgbClr val="FF0000"/>
                </a:solidFill>
              </a:rPr>
              <a:t>initial </a:t>
            </a:r>
            <a:r>
              <a:rPr lang="zh-CN" altLang="en-US" sz="2400" b="1" dirty="0">
                <a:solidFill>
                  <a:srgbClr val="FF0000"/>
                </a:solidFill>
              </a:rPr>
              <a:t>语句块</a:t>
            </a:r>
            <a:r>
              <a:rPr lang="zh-CN" altLang="en-US" sz="2400" dirty="0"/>
              <a:t>用于</a:t>
            </a:r>
            <a:r>
              <a:rPr lang="zh-CN" altLang="en-US" sz="2400" dirty="0">
                <a:solidFill>
                  <a:srgbClr val="FF0000"/>
                </a:solidFill>
              </a:rPr>
              <a:t>在</a:t>
            </a:r>
            <a:r>
              <a:rPr lang="zh-CN" altLang="en-US" sz="2400" b="1" dirty="0">
                <a:solidFill>
                  <a:srgbClr val="FF0000"/>
                </a:solidFill>
              </a:rPr>
              <a:t>仿真</a:t>
            </a:r>
            <a:r>
              <a:rPr lang="zh-CN" altLang="en-US" sz="2400" dirty="0">
                <a:solidFill>
                  <a:srgbClr val="FF0000"/>
                </a:solidFill>
              </a:rPr>
              <a:t>开始时执行一次</a:t>
            </a:r>
            <a:r>
              <a:rPr lang="zh-CN" altLang="en-US" sz="2400" dirty="0"/>
              <a:t>性初始化操作或生成测试激励，用于</a:t>
            </a:r>
            <a:r>
              <a:rPr lang="en-US" altLang="zh-CN" sz="2400" dirty="0"/>
              <a:t>testbench</a:t>
            </a:r>
            <a:r>
              <a:rPr lang="zh-CN" altLang="en-US" sz="2400" dirty="0"/>
              <a:t>中，</a:t>
            </a:r>
            <a:r>
              <a:rPr lang="zh-CN" altLang="en-US" sz="2400" dirty="0">
                <a:solidFill>
                  <a:srgbClr val="FF0000"/>
                </a:solidFill>
              </a:rPr>
              <a:t>不可综合</a:t>
            </a:r>
            <a:r>
              <a:rPr lang="zh-CN" altLang="en-US" sz="2400" dirty="0"/>
              <a:t>。同一模块中允许定义多个 </a:t>
            </a:r>
            <a:r>
              <a:rPr lang="en-US" altLang="zh-CN" sz="2400" dirty="0"/>
              <a:t>initial </a:t>
            </a:r>
            <a:r>
              <a:rPr lang="zh-CN" altLang="en-US" sz="2400" dirty="0"/>
              <a:t>块，所有</a:t>
            </a:r>
            <a:r>
              <a:rPr lang="en-US" altLang="zh-CN" sz="2400" dirty="0"/>
              <a:t>initial</a:t>
            </a:r>
            <a:r>
              <a:rPr lang="zh-CN" altLang="en-US" sz="2400" dirty="0"/>
              <a:t>块在仿真开始时‌并行执行‌，互不阻塞‌。</a:t>
            </a:r>
            <a:endParaRPr lang="en-US" altLang="zh-CN" sz="2400" dirty="0">
              <a:solidFill>
                <a:srgbClr val="0000FF"/>
              </a:solidFill>
            </a:endParaRPr>
          </a:p>
          <a:p>
            <a:pPr marL="2160000" indent="0">
              <a:lnSpc>
                <a:spcPct val="80000"/>
              </a:lnSpc>
              <a:buNone/>
            </a:pPr>
            <a:endParaRPr lang="en-US" altLang="zh-CN" dirty="0">
              <a:solidFill>
                <a:srgbClr val="0000FF"/>
              </a:solidFill>
            </a:endParaRPr>
          </a:p>
          <a:p>
            <a:pPr marL="2160000" indent="0">
              <a:lnSpc>
                <a:spcPct val="80000"/>
              </a:lnSpc>
              <a:buNone/>
            </a:pPr>
            <a:r>
              <a:rPr lang="en-US" altLang="zh-CN" dirty="0">
                <a:solidFill>
                  <a:srgbClr val="0000FF"/>
                </a:solidFill>
              </a:rPr>
              <a:t>initial</a:t>
            </a:r>
          </a:p>
          <a:p>
            <a:pPr marL="2160000" indent="0">
              <a:lnSpc>
                <a:spcPct val="80000"/>
              </a:lnSpc>
              <a:buNone/>
            </a:pPr>
            <a:r>
              <a:rPr lang="en-US" altLang="zh-CN" dirty="0">
                <a:solidFill>
                  <a:srgbClr val="0000FF"/>
                </a:solidFill>
              </a:rPr>
              <a:t> begin</a:t>
            </a:r>
          </a:p>
          <a:p>
            <a:pPr marL="2160000" indent="0">
              <a:lnSpc>
                <a:spcPct val="80000"/>
              </a:lnSpc>
              <a:buNone/>
            </a:pPr>
            <a:r>
              <a:rPr lang="en-US" altLang="zh-CN" dirty="0"/>
              <a:t>    // </a:t>
            </a:r>
            <a:r>
              <a:rPr lang="zh-CN" altLang="en-US" dirty="0"/>
              <a:t>初始化操作</a:t>
            </a:r>
          </a:p>
          <a:p>
            <a:pPr marL="2160000" indent="0">
              <a:lnSpc>
                <a:spcPct val="80000"/>
              </a:lnSpc>
              <a:buNone/>
            </a:pPr>
            <a:r>
              <a:rPr lang="zh-CN" altLang="en-US" dirty="0"/>
              <a:t>    </a:t>
            </a:r>
            <a:r>
              <a:rPr lang="en-US" altLang="zh-CN" dirty="0"/>
              <a:t>// </a:t>
            </a:r>
            <a:r>
              <a:rPr lang="zh-CN" altLang="en-US" dirty="0"/>
              <a:t>可包含赋值、延时控制（</a:t>
            </a:r>
            <a:r>
              <a:rPr lang="en-US" altLang="zh-CN" dirty="0"/>
              <a:t>#</a:t>
            </a:r>
            <a:r>
              <a:rPr lang="zh-CN" altLang="en-US" dirty="0"/>
              <a:t>）、任务调用、循环等</a:t>
            </a:r>
          </a:p>
          <a:p>
            <a:pPr marL="2160000" indent="0">
              <a:lnSpc>
                <a:spcPct val="80000"/>
              </a:lnSpc>
              <a:buNone/>
            </a:pPr>
            <a:r>
              <a:rPr lang="en-US" altLang="zh-CN" dirty="0">
                <a:solidFill>
                  <a:srgbClr val="0000FF"/>
                </a:solidFill>
              </a:rPr>
              <a:t>end</a:t>
            </a:r>
          </a:p>
          <a:p>
            <a:pPr marL="2160000" indent="0">
              <a:lnSpc>
                <a:spcPct val="80000"/>
              </a:lnSpc>
              <a:buNone/>
            </a:pPr>
            <a:endParaRPr lang="en-US" altLang="zh-CN" dirty="0">
              <a:solidFill>
                <a:srgbClr val="0000FF"/>
              </a:solidFill>
            </a:endParaRPr>
          </a:p>
        </p:txBody>
      </p:sp>
    </p:spTree>
    <p:extLst>
      <p:ext uri="{BB962C8B-B14F-4D97-AF65-F5344CB8AC3E}">
        <p14:creationId xmlns:p14="http://schemas.microsoft.com/office/powerpoint/2010/main" val="23504760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EBBD71-5928-CBE3-9F76-6203A2F73180}"/>
              </a:ext>
            </a:extLst>
          </p:cNvPr>
          <p:cNvSpPr>
            <a:spLocks noGrp="1"/>
          </p:cNvSpPr>
          <p:nvPr>
            <p:ph type="title"/>
          </p:nvPr>
        </p:nvSpPr>
        <p:spPr>
          <a:xfrm>
            <a:off x="677334" y="189317"/>
            <a:ext cx="8596668" cy="821635"/>
          </a:xfrm>
        </p:spPr>
        <p:txBody>
          <a:bodyPr/>
          <a:lstStyle/>
          <a:p>
            <a:r>
              <a:rPr lang="en-US" altLang="zh-CN" dirty="0"/>
              <a:t>2.3.3  assign</a:t>
            </a:r>
            <a:r>
              <a:rPr lang="zh-CN" altLang="en-US" dirty="0"/>
              <a:t>语句</a:t>
            </a:r>
          </a:p>
        </p:txBody>
      </p:sp>
      <p:sp>
        <p:nvSpPr>
          <p:cNvPr id="3" name="内容占位符 2">
            <a:extLst>
              <a:ext uri="{FF2B5EF4-FFF2-40B4-BE49-F238E27FC236}">
                <a16:creationId xmlns:a16="http://schemas.microsoft.com/office/drawing/2014/main" id="{4C79EFF2-C9BB-9C4B-60BB-F9CC0F147EC7}"/>
              </a:ext>
            </a:extLst>
          </p:cNvPr>
          <p:cNvSpPr>
            <a:spLocks noGrp="1"/>
          </p:cNvSpPr>
          <p:nvPr>
            <p:ph idx="1"/>
          </p:nvPr>
        </p:nvSpPr>
        <p:spPr>
          <a:xfrm>
            <a:off x="677334" y="1164299"/>
            <a:ext cx="10863416" cy="4877064"/>
          </a:xfrm>
        </p:spPr>
        <p:txBody>
          <a:bodyPr>
            <a:normAutofit/>
          </a:bodyPr>
          <a:lstStyle/>
          <a:p>
            <a:pPr marL="0" indent="457200">
              <a:lnSpc>
                <a:spcPct val="110000"/>
              </a:lnSpc>
              <a:buNone/>
            </a:pPr>
            <a:r>
              <a:rPr lang="zh-CN" altLang="en-US" sz="2400" dirty="0"/>
              <a:t>‌</a:t>
            </a:r>
            <a:r>
              <a:rPr lang="en-US" altLang="zh-CN" sz="2400" b="1" dirty="0">
                <a:solidFill>
                  <a:srgbClr val="FF0000"/>
                </a:solidFill>
              </a:rPr>
              <a:t>assign‌ </a:t>
            </a:r>
            <a:r>
              <a:rPr lang="zh-CN" altLang="en-US" sz="2400" b="1" dirty="0">
                <a:solidFill>
                  <a:srgbClr val="FF0000"/>
                </a:solidFill>
              </a:rPr>
              <a:t>语句</a:t>
            </a:r>
            <a:r>
              <a:rPr lang="zh-CN" altLang="en-US" sz="2400" dirty="0"/>
              <a:t>叫做连续赋值语句，专门用于实现‌</a:t>
            </a:r>
            <a:r>
              <a:rPr lang="zh-CN" altLang="en-US" sz="2400" dirty="0">
                <a:solidFill>
                  <a:srgbClr val="FF0000"/>
                </a:solidFill>
              </a:rPr>
              <a:t>组合逻辑</a:t>
            </a:r>
            <a:r>
              <a:rPr lang="zh-CN" altLang="en-US" sz="2400" dirty="0"/>
              <a:t>‌。它的核心特点是：‌实时驱动信号‌（</a:t>
            </a:r>
            <a:r>
              <a:rPr lang="zh-CN" altLang="en-US" sz="2400" b="0" i="0" dirty="0">
                <a:solidFill>
                  <a:srgbClr val="333333"/>
                </a:solidFill>
                <a:effectLst/>
                <a:latin typeface="PingFang SC"/>
              </a:rPr>
              <a:t> 右侧表达式中的任何变量变化都会立即更新</a:t>
            </a:r>
            <a:r>
              <a:rPr lang="zh-CN" altLang="en-US" sz="2400" dirty="0">
                <a:solidFill>
                  <a:srgbClr val="333333"/>
                </a:solidFill>
                <a:latin typeface="PingFang SC"/>
              </a:rPr>
              <a:t>左值</a:t>
            </a:r>
            <a:r>
              <a:rPr lang="zh-CN" altLang="en-US" sz="2400" b="0" i="0" dirty="0">
                <a:solidFill>
                  <a:srgbClr val="333333"/>
                </a:solidFill>
                <a:effectLst/>
                <a:latin typeface="PingFang SC"/>
              </a:rPr>
              <a:t> </a:t>
            </a:r>
            <a:r>
              <a:rPr lang="zh-CN" altLang="en-US" sz="2400" dirty="0"/>
              <a:t>）。</a:t>
            </a:r>
            <a:endParaRPr lang="en-US" altLang="zh-CN" sz="2400" dirty="0"/>
          </a:p>
          <a:p>
            <a:pPr marL="2160000" indent="0">
              <a:lnSpc>
                <a:spcPct val="80000"/>
              </a:lnSpc>
              <a:buNone/>
            </a:pPr>
            <a:r>
              <a:rPr lang="en-US" altLang="zh-CN" sz="2400" dirty="0">
                <a:solidFill>
                  <a:srgbClr val="0000FF"/>
                </a:solidFill>
              </a:rPr>
              <a:t>assign  </a:t>
            </a:r>
            <a:r>
              <a:rPr lang="en-US" altLang="zh-CN" sz="2400" dirty="0">
                <a:solidFill>
                  <a:schemeClr val="tx1"/>
                </a:solidFill>
              </a:rPr>
              <a:t>&lt;</a:t>
            </a:r>
            <a:r>
              <a:rPr lang="zh-CN" altLang="en-US" sz="2400" dirty="0">
                <a:solidFill>
                  <a:schemeClr val="tx1"/>
                </a:solidFill>
              </a:rPr>
              <a:t>信号名</a:t>
            </a:r>
            <a:r>
              <a:rPr lang="en-US" altLang="zh-CN" sz="2400" dirty="0">
                <a:solidFill>
                  <a:schemeClr val="tx1"/>
                </a:solidFill>
              </a:rPr>
              <a:t>&gt; = &lt;</a:t>
            </a:r>
            <a:r>
              <a:rPr lang="zh-CN" altLang="en-US" sz="2400" dirty="0">
                <a:solidFill>
                  <a:schemeClr val="tx1"/>
                </a:solidFill>
              </a:rPr>
              <a:t>表达式</a:t>
            </a:r>
            <a:r>
              <a:rPr lang="en-US" altLang="zh-CN" sz="2400" dirty="0">
                <a:solidFill>
                  <a:schemeClr val="tx1"/>
                </a:solidFill>
              </a:rPr>
              <a:t>&gt;;</a:t>
            </a:r>
          </a:p>
          <a:p>
            <a:pPr lvl="1">
              <a:lnSpc>
                <a:spcPct val="110000"/>
              </a:lnSpc>
              <a:buFont typeface="Arial" panose="020B0604020202020204" pitchFamily="34" charset="0"/>
              <a:buChar char="•"/>
            </a:pPr>
            <a:r>
              <a:rPr lang="zh-CN" altLang="en-US" sz="2400" dirty="0"/>
              <a:t>左侧信号‌必须是 </a:t>
            </a:r>
            <a:r>
              <a:rPr lang="en-US" altLang="zh-CN" sz="2400" b="1" dirty="0">
                <a:solidFill>
                  <a:srgbClr val="FF0000"/>
                </a:solidFill>
              </a:rPr>
              <a:t>wire </a:t>
            </a:r>
            <a:r>
              <a:rPr lang="zh-CN" altLang="en-US" sz="2400" b="1" dirty="0">
                <a:solidFill>
                  <a:srgbClr val="FF0000"/>
                </a:solidFill>
              </a:rPr>
              <a:t>类型</a:t>
            </a:r>
            <a:r>
              <a:rPr lang="zh-CN" altLang="en-US" sz="2400" dirty="0"/>
              <a:t>。</a:t>
            </a:r>
            <a:endParaRPr lang="en-US" altLang="zh-CN" sz="2400" dirty="0"/>
          </a:p>
          <a:p>
            <a:pPr lvl="1">
              <a:lnSpc>
                <a:spcPct val="110000"/>
              </a:lnSpc>
              <a:buFont typeface="Arial" panose="020B0604020202020204" pitchFamily="34" charset="0"/>
              <a:buChar char="•"/>
            </a:pPr>
            <a:r>
              <a:rPr lang="zh-CN" altLang="en-US" sz="2400" dirty="0"/>
              <a:t>右侧‌可以是任意逻辑表达式、位操作、条件运算符等。</a:t>
            </a:r>
            <a:endParaRPr lang="en-US" altLang="zh-CN" sz="2400" dirty="0"/>
          </a:p>
          <a:p>
            <a:pPr lvl="1">
              <a:lnSpc>
                <a:spcPct val="110000"/>
              </a:lnSpc>
              <a:buFont typeface="Arial" panose="020B0604020202020204" pitchFamily="34" charset="0"/>
              <a:buChar char="•"/>
            </a:pPr>
            <a:r>
              <a:rPr lang="en-US" altLang="zh-CN" sz="2400" dirty="0">
                <a:solidFill>
                  <a:schemeClr val="tx1"/>
                </a:solidFill>
              </a:rPr>
              <a:t>assign </a:t>
            </a:r>
            <a:r>
              <a:rPr lang="zh-CN" altLang="en-US" sz="2400" dirty="0">
                <a:solidFill>
                  <a:schemeClr val="tx1"/>
                </a:solidFill>
              </a:rPr>
              <a:t>语句只能</a:t>
            </a:r>
            <a:r>
              <a:rPr lang="zh-CN" altLang="en-US" sz="2400" dirty="0">
                <a:solidFill>
                  <a:srgbClr val="FF0000"/>
                </a:solidFill>
              </a:rPr>
              <a:t>在模块内部直接使用</a:t>
            </a:r>
            <a:r>
              <a:rPr lang="zh-CN" altLang="en-US" sz="2400" dirty="0">
                <a:solidFill>
                  <a:schemeClr val="tx1"/>
                </a:solidFill>
              </a:rPr>
              <a:t>，</a:t>
            </a:r>
            <a:r>
              <a:rPr lang="zh-CN" altLang="en-US" sz="2400" dirty="0">
                <a:solidFill>
                  <a:srgbClr val="FF0000"/>
                </a:solidFill>
              </a:rPr>
              <a:t>不能包裹于过程块</a:t>
            </a:r>
            <a:r>
              <a:rPr lang="zh-CN" altLang="en-US" sz="2400" dirty="0">
                <a:solidFill>
                  <a:schemeClr val="tx1"/>
                </a:solidFill>
              </a:rPr>
              <a:t>（如 </a:t>
            </a:r>
            <a:r>
              <a:rPr lang="en-US" altLang="zh-CN" sz="2400" dirty="0">
                <a:solidFill>
                  <a:schemeClr val="tx1"/>
                </a:solidFill>
              </a:rPr>
              <a:t>always</a:t>
            </a:r>
            <a:r>
              <a:rPr lang="zh-CN" altLang="en-US" sz="2400" dirty="0">
                <a:solidFill>
                  <a:schemeClr val="tx1"/>
                </a:solidFill>
              </a:rPr>
              <a:t>、</a:t>
            </a:r>
            <a:r>
              <a:rPr lang="en-US" altLang="zh-CN" sz="2400" dirty="0">
                <a:solidFill>
                  <a:schemeClr val="tx1"/>
                </a:solidFill>
              </a:rPr>
              <a:t>initial</a:t>
            </a:r>
            <a:r>
              <a:rPr lang="zh-CN" altLang="en-US" sz="2400" dirty="0">
                <a:solidFill>
                  <a:schemeClr val="tx1"/>
                </a:solidFill>
              </a:rPr>
              <a:t>）中。</a:t>
            </a:r>
          </a:p>
        </p:txBody>
      </p:sp>
    </p:spTree>
    <p:extLst>
      <p:ext uri="{BB962C8B-B14F-4D97-AF65-F5344CB8AC3E}">
        <p14:creationId xmlns:p14="http://schemas.microsoft.com/office/powerpoint/2010/main" val="31317636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72E62-38C4-0510-A3CA-7909CEE0685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65F853C-2732-D09B-0886-7389FEF04BA7}"/>
              </a:ext>
            </a:extLst>
          </p:cNvPr>
          <p:cNvSpPr>
            <a:spLocks noGrp="1"/>
          </p:cNvSpPr>
          <p:nvPr>
            <p:ph type="title"/>
          </p:nvPr>
        </p:nvSpPr>
        <p:spPr>
          <a:xfrm>
            <a:off x="677333" y="92766"/>
            <a:ext cx="8596668" cy="736442"/>
          </a:xfrm>
        </p:spPr>
        <p:txBody>
          <a:bodyPr/>
          <a:lstStyle/>
          <a:p>
            <a:r>
              <a:rPr lang="en-US" altLang="zh-CN" dirty="0"/>
              <a:t>2.3.4  </a:t>
            </a:r>
            <a:r>
              <a:rPr lang="zh-CN" altLang="en-US" dirty="0"/>
              <a:t>系统任务</a:t>
            </a:r>
          </a:p>
        </p:txBody>
      </p:sp>
      <p:sp>
        <p:nvSpPr>
          <p:cNvPr id="3" name="内容占位符 2">
            <a:extLst>
              <a:ext uri="{FF2B5EF4-FFF2-40B4-BE49-F238E27FC236}">
                <a16:creationId xmlns:a16="http://schemas.microsoft.com/office/drawing/2014/main" id="{86355AA4-A215-CB20-6D60-3FA7D507697C}"/>
              </a:ext>
            </a:extLst>
          </p:cNvPr>
          <p:cNvSpPr>
            <a:spLocks noGrp="1"/>
          </p:cNvSpPr>
          <p:nvPr>
            <p:ph idx="1"/>
          </p:nvPr>
        </p:nvSpPr>
        <p:spPr>
          <a:xfrm>
            <a:off x="677333" y="891682"/>
            <a:ext cx="10744147" cy="5571593"/>
          </a:xfrm>
        </p:spPr>
        <p:txBody>
          <a:bodyPr>
            <a:normAutofit fontScale="92500"/>
          </a:bodyPr>
          <a:lstStyle/>
          <a:p>
            <a:pPr marL="0" indent="457200">
              <a:lnSpc>
                <a:spcPct val="120000"/>
              </a:lnSpc>
              <a:buNone/>
            </a:pPr>
            <a:r>
              <a:rPr lang="en-US" altLang="zh-CN" sz="2600" dirty="0"/>
              <a:t>verilog </a:t>
            </a:r>
            <a:r>
              <a:rPr lang="zh-CN" altLang="en-US" sz="2600" dirty="0"/>
              <a:t>中的‌</a:t>
            </a:r>
            <a:r>
              <a:rPr lang="zh-CN" altLang="en-US" sz="2600" b="1" dirty="0">
                <a:solidFill>
                  <a:srgbClr val="FF0000"/>
                </a:solidFill>
              </a:rPr>
              <a:t>系统任务</a:t>
            </a:r>
            <a:r>
              <a:rPr lang="zh-CN" altLang="en-US" sz="2600" dirty="0"/>
              <a:t>‌是</a:t>
            </a:r>
            <a:r>
              <a:rPr lang="zh-CN" altLang="en-US" sz="2600" dirty="0">
                <a:solidFill>
                  <a:srgbClr val="FF0000"/>
                </a:solidFill>
              </a:rPr>
              <a:t>预定义的内置函数</a:t>
            </a:r>
            <a:r>
              <a:rPr lang="zh-CN" altLang="en-US" sz="2600" dirty="0"/>
              <a:t>，以 </a:t>
            </a:r>
            <a:r>
              <a:rPr lang="en-US" altLang="zh-CN" sz="2600" dirty="0"/>
              <a:t>$ </a:t>
            </a:r>
            <a:r>
              <a:rPr lang="zh-CN" altLang="en-US" sz="2600" dirty="0"/>
              <a:t>符号开头，主要</a:t>
            </a:r>
            <a:r>
              <a:rPr lang="zh-CN" altLang="en-US" sz="2600" b="1" dirty="0">
                <a:solidFill>
                  <a:srgbClr val="FF0000"/>
                </a:solidFill>
              </a:rPr>
              <a:t>用于‌仿真</a:t>
            </a:r>
            <a:r>
              <a:rPr lang="zh-CN" altLang="en-US" sz="2600" dirty="0"/>
              <a:t>控制、调试、文件操作和结果验证‌。</a:t>
            </a:r>
            <a:endParaRPr lang="en-US" altLang="zh-CN" sz="2600" dirty="0"/>
          </a:p>
          <a:p>
            <a:pPr>
              <a:buFont typeface="Arial" panose="020B0604020202020204" pitchFamily="34" charset="0"/>
              <a:buChar char="•"/>
            </a:pPr>
            <a:r>
              <a:rPr lang="en-US" altLang="zh-CN" sz="2200" b="1" dirty="0">
                <a:solidFill>
                  <a:srgbClr val="FF0000"/>
                </a:solidFill>
              </a:rPr>
              <a:t>$display</a:t>
            </a:r>
            <a:r>
              <a:rPr lang="zh-CN" altLang="en-US" sz="2200" dirty="0"/>
              <a:t>： 格式化输出（类似</a:t>
            </a:r>
            <a:r>
              <a:rPr lang="en-US" altLang="zh-CN" sz="2200" dirty="0"/>
              <a:t>C</a:t>
            </a:r>
            <a:r>
              <a:rPr lang="zh-CN" altLang="en-US" sz="2200" dirty="0"/>
              <a:t>语言的</a:t>
            </a:r>
            <a:r>
              <a:rPr lang="en-US" altLang="zh-CN" sz="2200" dirty="0" err="1"/>
              <a:t>printf</a:t>
            </a:r>
            <a:r>
              <a:rPr lang="zh-CN" altLang="en-US" sz="2200" dirty="0"/>
              <a:t>）。</a:t>
            </a:r>
          </a:p>
          <a:p>
            <a:pPr marL="0" indent="0">
              <a:buNone/>
            </a:pPr>
            <a:r>
              <a:rPr lang="en-US" altLang="zh-CN" b="0" i="0" dirty="0">
                <a:solidFill>
                  <a:srgbClr val="333333"/>
                </a:solidFill>
                <a:effectLst/>
                <a:latin typeface="Courier New" panose="02070309020205020404" pitchFamily="49" charset="0"/>
              </a:rPr>
              <a:t>    </a:t>
            </a:r>
            <a:r>
              <a:rPr lang="en-US" altLang="zh-CN" b="0" i="0" dirty="0">
                <a:solidFill>
                  <a:srgbClr val="FF0000"/>
                </a:solidFill>
                <a:effectLst/>
                <a:latin typeface="Courier New" panose="02070309020205020404" pitchFamily="49" charset="0"/>
              </a:rPr>
              <a:t>$display(</a:t>
            </a:r>
            <a:r>
              <a:rPr lang="en-US" altLang="zh-CN" b="0" i="0" dirty="0" err="1">
                <a:solidFill>
                  <a:srgbClr val="FF0000"/>
                </a:solidFill>
                <a:effectLst/>
                <a:latin typeface="Courier New" panose="02070309020205020404" pitchFamily="49" charset="0"/>
              </a:rPr>
              <a:t>format_string</a:t>
            </a:r>
            <a:r>
              <a:rPr lang="en-US" altLang="zh-CN" b="0" i="0" dirty="0">
                <a:solidFill>
                  <a:srgbClr val="FF0000"/>
                </a:solidFill>
                <a:effectLst/>
                <a:latin typeface="Courier New" panose="02070309020205020404" pitchFamily="49" charset="0"/>
              </a:rPr>
              <a:t>, arg1, arg2, ...);</a:t>
            </a:r>
            <a:r>
              <a:rPr lang="en-US" altLang="zh-CN" dirty="0">
                <a:solidFill>
                  <a:srgbClr val="FF0000"/>
                </a:solidFill>
                <a:latin typeface="Courier New" panose="02070309020205020404" pitchFamily="49" charset="0"/>
              </a:rPr>
              <a:t>//</a:t>
            </a:r>
            <a:r>
              <a:rPr lang="zh-CN" altLang="en-US" dirty="0">
                <a:solidFill>
                  <a:srgbClr val="FF0000"/>
                </a:solidFill>
                <a:latin typeface="Courier New" panose="02070309020205020404" pitchFamily="49" charset="0"/>
              </a:rPr>
              <a:t>自动换行</a:t>
            </a:r>
            <a:endParaRPr lang="en-US" altLang="zh-CN" dirty="0">
              <a:solidFill>
                <a:srgbClr val="FF0000"/>
              </a:solidFill>
              <a:latin typeface="Courier New" panose="02070309020205020404" pitchFamily="49" charset="0"/>
            </a:endParaRPr>
          </a:p>
          <a:p>
            <a:pPr marL="0" indent="0">
              <a:buNone/>
            </a:pPr>
            <a:r>
              <a:rPr lang="en-US" altLang="zh-CN" dirty="0"/>
              <a:t>        </a:t>
            </a:r>
            <a:r>
              <a:rPr lang="en-US" altLang="zh-CN" b="0" i="0" dirty="0">
                <a:solidFill>
                  <a:srgbClr val="333333"/>
                </a:solidFill>
                <a:effectLst/>
                <a:latin typeface="Courier New" panose="02070309020205020404" pitchFamily="49" charset="0"/>
              </a:rPr>
              <a:t>$display("Time=%0t: data=0x%h", $time, data); // </a:t>
            </a:r>
            <a:r>
              <a:rPr lang="zh-CN" altLang="en-US" b="0" i="0" dirty="0">
                <a:solidFill>
                  <a:srgbClr val="333333"/>
                </a:solidFill>
                <a:effectLst/>
                <a:latin typeface="Courier New" panose="02070309020205020404" pitchFamily="49" charset="0"/>
              </a:rPr>
              <a:t>输出：</a:t>
            </a:r>
            <a:r>
              <a:rPr lang="en-US" altLang="zh-CN" b="0" i="0" dirty="0">
                <a:solidFill>
                  <a:srgbClr val="333333"/>
                </a:solidFill>
                <a:effectLst/>
                <a:latin typeface="Courier New" panose="02070309020205020404" pitchFamily="49" charset="0"/>
              </a:rPr>
              <a:t>Time=100: data=0xdead </a:t>
            </a:r>
            <a:endParaRPr lang="en-US" altLang="zh-CN" dirty="0"/>
          </a:p>
          <a:p>
            <a:pPr>
              <a:buFont typeface="Arial" panose="020B0604020202020204" pitchFamily="34" charset="0"/>
              <a:buChar char="•"/>
            </a:pPr>
            <a:r>
              <a:rPr lang="en-US" altLang="zh-CN" sz="2200" b="1" dirty="0">
                <a:solidFill>
                  <a:srgbClr val="FF0000"/>
                </a:solidFill>
              </a:rPr>
              <a:t>$monitor‌</a:t>
            </a:r>
            <a:r>
              <a:rPr lang="zh-CN" altLang="en-US" sz="2200" dirty="0"/>
              <a:t>：持续监控变量变化。</a:t>
            </a:r>
          </a:p>
          <a:p>
            <a:pPr marL="0" indent="0">
              <a:buNone/>
            </a:pPr>
            <a:r>
              <a:rPr lang="en-US" altLang="zh-CN" dirty="0"/>
              <a:t>        </a:t>
            </a:r>
            <a:r>
              <a:rPr lang="en-US" altLang="zh-CN" dirty="0">
                <a:solidFill>
                  <a:srgbClr val="333333"/>
                </a:solidFill>
                <a:latin typeface="Courier New" panose="02070309020205020404" pitchFamily="49" charset="0"/>
              </a:rPr>
              <a:t>$monitor("Time=%0t: a=%b, b=%d", $time, a, b);  // </a:t>
            </a:r>
            <a:r>
              <a:rPr lang="zh-CN" altLang="en-US" dirty="0">
                <a:solidFill>
                  <a:srgbClr val="333333"/>
                </a:solidFill>
                <a:latin typeface="Courier New" panose="02070309020205020404" pitchFamily="49" charset="0"/>
              </a:rPr>
              <a:t>当</a:t>
            </a:r>
            <a:r>
              <a:rPr lang="en-US" altLang="zh-CN" dirty="0">
                <a:solidFill>
                  <a:srgbClr val="333333"/>
                </a:solidFill>
                <a:latin typeface="Courier New" panose="02070309020205020404" pitchFamily="49" charset="0"/>
              </a:rPr>
              <a:t>a</a:t>
            </a:r>
            <a:r>
              <a:rPr lang="zh-CN" altLang="en-US" dirty="0">
                <a:solidFill>
                  <a:srgbClr val="333333"/>
                </a:solidFill>
                <a:latin typeface="Courier New" panose="02070309020205020404" pitchFamily="49" charset="0"/>
              </a:rPr>
              <a:t>或</a:t>
            </a:r>
            <a:r>
              <a:rPr lang="en-US" altLang="zh-CN" dirty="0">
                <a:solidFill>
                  <a:srgbClr val="333333"/>
                </a:solidFill>
                <a:latin typeface="Courier New" panose="02070309020205020404" pitchFamily="49" charset="0"/>
              </a:rPr>
              <a:t>b</a:t>
            </a:r>
            <a:r>
              <a:rPr lang="zh-CN" altLang="en-US" dirty="0">
                <a:solidFill>
                  <a:srgbClr val="333333"/>
                </a:solidFill>
                <a:latin typeface="Courier New" panose="02070309020205020404" pitchFamily="49" charset="0"/>
              </a:rPr>
              <a:t>变化时自动打印</a:t>
            </a:r>
            <a:endParaRPr lang="en-US" altLang="zh-CN" dirty="0">
              <a:solidFill>
                <a:srgbClr val="333333"/>
              </a:solidFill>
              <a:latin typeface="Courier New" panose="02070309020205020404" pitchFamily="49" charset="0"/>
            </a:endParaRPr>
          </a:p>
          <a:p>
            <a:pPr>
              <a:buFont typeface="Arial" panose="020B0604020202020204" pitchFamily="34" charset="0"/>
              <a:buChar char="•"/>
            </a:pPr>
            <a:r>
              <a:rPr lang="en-US" altLang="zh-CN" sz="2200" b="1" dirty="0">
                <a:solidFill>
                  <a:srgbClr val="FF0000"/>
                </a:solidFill>
              </a:rPr>
              <a:t>$</a:t>
            </a:r>
            <a:r>
              <a:rPr lang="en-US" altLang="zh-CN" sz="2200" b="1" dirty="0" err="1">
                <a:solidFill>
                  <a:srgbClr val="FF0000"/>
                </a:solidFill>
              </a:rPr>
              <a:t>readmemh</a:t>
            </a:r>
            <a:r>
              <a:rPr lang="en-US" altLang="zh-CN" sz="2200" b="1" dirty="0">
                <a:solidFill>
                  <a:srgbClr val="FF0000"/>
                </a:solidFill>
              </a:rPr>
              <a:t>/$</a:t>
            </a:r>
            <a:r>
              <a:rPr lang="en-US" altLang="zh-CN" sz="2200" b="1" dirty="0" err="1">
                <a:solidFill>
                  <a:srgbClr val="FF0000"/>
                </a:solidFill>
              </a:rPr>
              <a:t>readmemb</a:t>
            </a:r>
            <a:r>
              <a:rPr lang="en-US" altLang="zh-CN" sz="2200" b="1" dirty="0">
                <a:solidFill>
                  <a:srgbClr val="FF0000"/>
                </a:solidFill>
              </a:rPr>
              <a:t>‌</a:t>
            </a:r>
            <a:r>
              <a:rPr lang="zh-CN" altLang="en-US" sz="2200" dirty="0"/>
              <a:t>：从文件加载十六进制</a:t>
            </a:r>
            <a:r>
              <a:rPr lang="en-US" altLang="zh-CN" sz="2200" dirty="0"/>
              <a:t>/</a:t>
            </a:r>
            <a:r>
              <a:rPr lang="zh-CN" altLang="en-US" sz="2200" dirty="0"/>
              <a:t>二进制数据到存储器。</a:t>
            </a:r>
          </a:p>
          <a:p>
            <a:pPr marL="0" indent="0">
              <a:buNone/>
            </a:pPr>
            <a:r>
              <a:rPr lang="en-US" altLang="zh-CN" dirty="0"/>
              <a:t>        </a:t>
            </a:r>
            <a:r>
              <a:rPr lang="en-US" altLang="zh-CN" dirty="0">
                <a:solidFill>
                  <a:srgbClr val="333333"/>
                </a:solidFill>
                <a:latin typeface="Courier New" panose="02070309020205020404" pitchFamily="49" charset="0"/>
              </a:rPr>
              <a:t>$</a:t>
            </a:r>
            <a:r>
              <a:rPr lang="en-US" altLang="zh-CN" dirty="0" err="1">
                <a:solidFill>
                  <a:srgbClr val="333333"/>
                </a:solidFill>
                <a:latin typeface="Courier New" panose="02070309020205020404" pitchFamily="49" charset="0"/>
              </a:rPr>
              <a:t>readmemh</a:t>
            </a:r>
            <a:r>
              <a:rPr lang="en-US" altLang="zh-CN" dirty="0">
                <a:solidFill>
                  <a:srgbClr val="333333"/>
                </a:solidFill>
                <a:latin typeface="Courier New" panose="02070309020205020404" pitchFamily="49" charset="0"/>
              </a:rPr>
              <a:t>(“</a:t>
            </a:r>
            <a:r>
              <a:rPr lang="en-US" altLang="zh-CN" dirty="0" err="1">
                <a:solidFill>
                  <a:srgbClr val="333333"/>
                </a:solidFill>
                <a:latin typeface="Courier New" panose="02070309020205020404" pitchFamily="49" charset="0"/>
              </a:rPr>
              <a:t>data.hex</a:t>
            </a:r>
            <a:r>
              <a:rPr lang="en-US" altLang="zh-CN" dirty="0">
                <a:solidFill>
                  <a:srgbClr val="333333"/>
                </a:solidFill>
                <a:latin typeface="Courier New" panose="02070309020205020404" pitchFamily="49" charset="0"/>
              </a:rPr>
              <a:t>”, mem);  // </a:t>
            </a:r>
            <a:r>
              <a:rPr lang="zh-CN" altLang="en-US" dirty="0">
                <a:solidFill>
                  <a:srgbClr val="333333"/>
                </a:solidFill>
                <a:latin typeface="Courier New" panose="02070309020205020404" pitchFamily="49" charset="0"/>
              </a:rPr>
              <a:t>加载</a:t>
            </a:r>
            <a:r>
              <a:rPr lang="en-US" altLang="zh-CN" dirty="0" err="1">
                <a:solidFill>
                  <a:srgbClr val="333333"/>
                </a:solidFill>
                <a:latin typeface="Courier New" panose="02070309020205020404" pitchFamily="49" charset="0"/>
              </a:rPr>
              <a:t>data.hex</a:t>
            </a:r>
            <a:r>
              <a:rPr lang="zh-CN" altLang="en-US" dirty="0">
                <a:solidFill>
                  <a:srgbClr val="333333"/>
                </a:solidFill>
                <a:latin typeface="Courier New" panose="02070309020205020404" pitchFamily="49" charset="0"/>
              </a:rPr>
              <a:t>中的数据到</a:t>
            </a:r>
            <a:r>
              <a:rPr lang="en-US" altLang="zh-CN" dirty="0">
                <a:solidFill>
                  <a:srgbClr val="333333"/>
                </a:solidFill>
                <a:latin typeface="Courier New" panose="02070309020205020404" pitchFamily="49" charset="0"/>
              </a:rPr>
              <a:t>mem</a:t>
            </a:r>
            <a:r>
              <a:rPr lang="zh-CN" altLang="en-US" dirty="0">
                <a:solidFill>
                  <a:srgbClr val="333333"/>
                </a:solidFill>
                <a:latin typeface="Courier New" panose="02070309020205020404" pitchFamily="49" charset="0"/>
              </a:rPr>
              <a:t>数组 </a:t>
            </a:r>
            <a:endParaRPr lang="en-US" altLang="zh-CN" dirty="0">
              <a:solidFill>
                <a:srgbClr val="333333"/>
              </a:solidFill>
              <a:latin typeface="Courier New" panose="02070309020205020404" pitchFamily="49" charset="0"/>
            </a:endParaRPr>
          </a:p>
          <a:p>
            <a:pPr>
              <a:buFont typeface="Arial" panose="020B0604020202020204" pitchFamily="34" charset="0"/>
              <a:buChar char="•"/>
            </a:pPr>
            <a:r>
              <a:rPr lang="en-US" altLang="zh-CN" sz="2200" b="1" dirty="0">
                <a:solidFill>
                  <a:srgbClr val="FF0000"/>
                </a:solidFill>
              </a:rPr>
              <a:t>$finish‌</a:t>
            </a:r>
            <a:r>
              <a:rPr lang="zh-CN" altLang="en-US" sz="2200" dirty="0"/>
              <a:t>：终止仿真并退出。</a:t>
            </a:r>
          </a:p>
          <a:p>
            <a:pPr>
              <a:buFont typeface="Arial" panose="020B0604020202020204" pitchFamily="34" charset="0"/>
              <a:buChar char="•"/>
            </a:pPr>
            <a:r>
              <a:rPr lang="zh-CN" altLang="en-US" sz="2200" b="1" dirty="0"/>
              <a:t>‌</a:t>
            </a:r>
            <a:r>
              <a:rPr lang="en-US" altLang="zh-CN" sz="2200" b="1" dirty="0">
                <a:solidFill>
                  <a:srgbClr val="FF0000"/>
                </a:solidFill>
              </a:rPr>
              <a:t>$stop‌</a:t>
            </a:r>
            <a:r>
              <a:rPr lang="zh-CN" altLang="en-US" sz="2200" dirty="0"/>
              <a:t>：暂停仿真，进入调试模式‌</a:t>
            </a:r>
            <a:endParaRPr lang="en-US" altLang="zh-CN" sz="2200" dirty="0"/>
          </a:p>
          <a:p>
            <a:pPr>
              <a:buFont typeface="Arial" panose="020B0604020202020204" pitchFamily="34" charset="0"/>
              <a:buChar char="•"/>
            </a:pPr>
            <a:r>
              <a:rPr lang="en-US" altLang="zh-CN" sz="2200" b="1" dirty="0">
                <a:solidFill>
                  <a:srgbClr val="FF0000"/>
                </a:solidFill>
              </a:rPr>
              <a:t>$random‌</a:t>
            </a:r>
            <a:r>
              <a:rPr lang="zh-CN" altLang="en-US" sz="2200" dirty="0"/>
              <a:t>： 生成</a:t>
            </a:r>
            <a:r>
              <a:rPr lang="en-US" altLang="zh-CN" sz="2200" dirty="0"/>
              <a:t>32</a:t>
            </a:r>
            <a:r>
              <a:rPr lang="zh-CN" altLang="en-US" sz="2200" dirty="0"/>
              <a:t>位有符号随机数，需配合取模限定范围</a:t>
            </a:r>
            <a:r>
              <a:rPr lang="zh-CN" altLang="en-US" dirty="0"/>
              <a:t>‌</a:t>
            </a:r>
            <a:endParaRPr lang="en-US" altLang="zh-CN" dirty="0"/>
          </a:p>
          <a:p>
            <a:pPr marL="0" indent="0">
              <a:buNone/>
            </a:pPr>
            <a:r>
              <a:rPr lang="en-US" altLang="zh-CN" dirty="0"/>
              <a:t>        </a:t>
            </a:r>
            <a:r>
              <a:rPr lang="en-US" altLang="zh-CN" b="0" i="0" dirty="0">
                <a:solidFill>
                  <a:srgbClr val="333333"/>
                </a:solidFill>
                <a:effectLst/>
                <a:latin typeface="Courier New" panose="02070309020205020404" pitchFamily="49" charset="0"/>
              </a:rPr>
              <a:t>reg [7:0]  data = $random % 256; // </a:t>
            </a:r>
            <a:r>
              <a:rPr lang="zh-CN" altLang="en-US" b="0" i="0" dirty="0">
                <a:solidFill>
                  <a:srgbClr val="333333"/>
                </a:solidFill>
                <a:effectLst/>
                <a:latin typeface="Courier New" panose="02070309020205020404" pitchFamily="49" charset="0"/>
              </a:rPr>
              <a:t>生成</a:t>
            </a:r>
            <a:r>
              <a:rPr lang="en-US" altLang="zh-CN" b="0" i="0" dirty="0">
                <a:solidFill>
                  <a:srgbClr val="333333"/>
                </a:solidFill>
                <a:effectLst/>
                <a:latin typeface="Courier New" panose="02070309020205020404" pitchFamily="49" charset="0"/>
              </a:rPr>
              <a:t>0~255</a:t>
            </a:r>
            <a:r>
              <a:rPr lang="zh-CN" altLang="en-US" b="0" i="0" dirty="0">
                <a:solidFill>
                  <a:srgbClr val="333333"/>
                </a:solidFill>
                <a:effectLst/>
                <a:latin typeface="Courier New" panose="02070309020205020404" pitchFamily="49" charset="0"/>
              </a:rPr>
              <a:t>的随机数 </a:t>
            </a:r>
            <a:endParaRPr lang="zh-CN" altLang="en-US" dirty="0"/>
          </a:p>
        </p:txBody>
      </p:sp>
    </p:spTree>
    <p:extLst>
      <p:ext uri="{BB962C8B-B14F-4D97-AF65-F5344CB8AC3E}">
        <p14:creationId xmlns:p14="http://schemas.microsoft.com/office/powerpoint/2010/main" val="39763146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EBB6D0-C768-AB41-50A0-03F78D116F81}"/>
              </a:ext>
            </a:extLst>
          </p:cNvPr>
          <p:cNvSpPr>
            <a:spLocks noGrp="1"/>
          </p:cNvSpPr>
          <p:nvPr>
            <p:ph type="title"/>
          </p:nvPr>
        </p:nvSpPr>
        <p:spPr>
          <a:xfrm>
            <a:off x="677333" y="280189"/>
            <a:ext cx="8596668" cy="1320800"/>
          </a:xfrm>
        </p:spPr>
        <p:txBody>
          <a:bodyPr/>
          <a:lstStyle/>
          <a:p>
            <a:r>
              <a:rPr lang="zh-CN" altLang="en-US" dirty="0"/>
              <a:t>总结</a:t>
            </a:r>
          </a:p>
        </p:txBody>
      </p:sp>
      <p:sp>
        <p:nvSpPr>
          <p:cNvPr id="3" name="内容占位符 2">
            <a:extLst>
              <a:ext uri="{FF2B5EF4-FFF2-40B4-BE49-F238E27FC236}">
                <a16:creationId xmlns:a16="http://schemas.microsoft.com/office/drawing/2014/main" id="{8617CDF5-041B-633A-26C7-D3A1C0F6CA4D}"/>
              </a:ext>
            </a:extLst>
          </p:cNvPr>
          <p:cNvSpPr>
            <a:spLocks noGrp="1"/>
          </p:cNvSpPr>
          <p:nvPr>
            <p:ph idx="1"/>
          </p:nvPr>
        </p:nvSpPr>
        <p:spPr>
          <a:xfrm>
            <a:off x="677333" y="1368761"/>
            <a:ext cx="10948609" cy="4776461"/>
          </a:xfrm>
        </p:spPr>
        <p:txBody>
          <a:bodyPr>
            <a:normAutofit/>
          </a:bodyPr>
          <a:lstStyle/>
          <a:p>
            <a:r>
              <a:rPr lang="zh-CN" altLang="en-US" sz="2400" dirty="0"/>
              <a:t>可直接在模块中使用的语句‌：</a:t>
            </a:r>
          </a:p>
          <a:p>
            <a:pPr marL="0" indent="0">
              <a:buNone/>
            </a:pPr>
            <a:r>
              <a:rPr lang="zh-CN" altLang="en-US" sz="2400" dirty="0"/>
              <a:t>     端口</a:t>
            </a:r>
            <a:r>
              <a:rPr lang="en-US" altLang="zh-CN" sz="2400" dirty="0"/>
              <a:t>/</a:t>
            </a:r>
            <a:r>
              <a:rPr lang="zh-CN" altLang="en-US" sz="2400" dirty="0"/>
              <a:t>信号声明、</a:t>
            </a:r>
            <a:r>
              <a:rPr lang="en-US" altLang="zh-CN" sz="2400" dirty="0"/>
              <a:t>assign</a:t>
            </a:r>
            <a:r>
              <a:rPr lang="zh-CN" altLang="en-US" sz="2400" dirty="0"/>
              <a:t>、</a:t>
            </a:r>
            <a:r>
              <a:rPr lang="en-US" altLang="zh-CN" sz="2400" dirty="0"/>
              <a:t>always/initial </a:t>
            </a:r>
            <a:r>
              <a:rPr lang="zh-CN" altLang="en-US" sz="2400" dirty="0"/>
              <a:t>块、模块实例化等。</a:t>
            </a:r>
          </a:p>
          <a:p>
            <a:r>
              <a:rPr lang="zh-CN" altLang="en-US" sz="2400" dirty="0"/>
              <a:t>‌需包裹在块中的语句‌：</a:t>
            </a:r>
          </a:p>
          <a:p>
            <a:pPr marL="0" indent="0">
              <a:buNone/>
            </a:pPr>
            <a:r>
              <a:rPr lang="zh-CN" altLang="en-US" sz="2400" dirty="0"/>
              <a:t>     条件语句（</a:t>
            </a:r>
            <a:r>
              <a:rPr lang="en-US" altLang="zh-CN" sz="2400" dirty="0"/>
              <a:t>if</a:t>
            </a:r>
            <a:r>
              <a:rPr lang="zh-CN" altLang="en-US" sz="2400" dirty="0"/>
              <a:t>、</a:t>
            </a:r>
            <a:r>
              <a:rPr lang="en-US" altLang="zh-CN" sz="2400" dirty="0"/>
              <a:t>case</a:t>
            </a:r>
            <a:r>
              <a:rPr lang="zh-CN" altLang="en-US" sz="2400" dirty="0"/>
              <a:t>）、循环语句（</a:t>
            </a:r>
            <a:r>
              <a:rPr lang="en-US" altLang="zh-CN" sz="2400" dirty="0"/>
              <a:t>for</a:t>
            </a:r>
            <a:r>
              <a:rPr lang="zh-CN" altLang="en-US" sz="2400" dirty="0"/>
              <a:t>、</a:t>
            </a:r>
            <a:r>
              <a:rPr lang="en-US" altLang="zh-CN" sz="2400" dirty="0"/>
              <a:t>while</a:t>
            </a:r>
            <a:r>
              <a:rPr lang="zh-CN" altLang="en-US" sz="2400" dirty="0"/>
              <a:t>）、过程赋值（</a:t>
            </a:r>
            <a:r>
              <a:rPr lang="en-US" altLang="zh-CN" sz="2400" dirty="0"/>
              <a:t>=</a:t>
            </a:r>
            <a:r>
              <a:rPr lang="zh-CN" altLang="en-US" sz="2400" dirty="0"/>
              <a:t>、</a:t>
            </a:r>
            <a:r>
              <a:rPr lang="en-US" altLang="zh-CN" sz="2400" dirty="0"/>
              <a:t>&lt;=</a:t>
            </a:r>
            <a:r>
              <a:rPr lang="zh-CN" altLang="en-US" sz="2400" dirty="0"/>
              <a:t>）。</a:t>
            </a:r>
          </a:p>
          <a:p>
            <a:r>
              <a:rPr lang="zh-CN" altLang="en-US" sz="2400" dirty="0"/>
              <a:t>‌仅用于仿真的语句‌：</a:t>
            </a:r>
          </a:p>
          <a:p>
            <a:pPr marL="0" indent="0">
              <a:buNone/>
            </a:pPr>
            <a:r>
              <a:rPr lang="en-US" altLang="zh-CN" sz="2400" dirty="0"/>
              <a:t>     initial </a:t>
            </a:r>
            <a:r>
              <a:rPr lang="zh-CN" altLang="en-US" sz="2400" dirty="0"/>
              <a:t>块、</a:t>
            </a:r>
            <a:r>
              <a:rPr lang="en-US" altLang="zh-CN" sz="2400" dirty="0"/>
              <a:t># </a:t>
            </a:r>
            <a:r>
              <a:rPr lang="zh-CN" altLang="en-US" sz="2400" dirty="0"/>
              <a:t>延迟、</a:t>
            </a:r>
            <a:r>
              <a:rPr lang="en-US" altLang="zh-CN" sz="2400" dirty="0"/>
              <a:t>$display </a:t>
            </a:r>
            <a:r>
              <a:rPr lang="zh-CN" altLang="en-US" sz="2400" dirty="0"/>
              <a:t>等系统任务。</a:t>
            </a:r>
            <a:endParaRPr lang="en-US" altLang="zh-CN" sz="2400" dirty="0"/>
          </a:p>
          <a:p>
            <a:r>
              <a:rPr lang="zh-CN" altLang="en-US" sz="2400" dirty="0">
                <a:solidFill>
                  <a:srgbClr val="FF0000"/>
                </a:solidFill>
              </a:rPr>
              <a:t>模块中的语句是并行执行的，与顺序无关。</a:t>
            </a:r>
            <a:endParaRPr lang="en-US" altLang="zh-CN" sz="2400" dirty="0">
              <a:solidFill>
                <a:srgbClr val="FF0000"/>
              </a:solidFill>
            </a:endParaRPr>
          </a:p>
        </p:txBody>
      </p:sp>
    </p:spTree>
    <p:extLst>
      <p:ext uri="{BB962C8B-B14F-4D97-AF65-F5344CB8AC3E}">
        <p14:creationId xmlns:p14="http://schemas.microsoft.com/office/powerpoint/2010/main" val="15413339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9B6F04-5FEA-90B6-A3C1-398696788D86}"/>
              </a:ext>
            </a:extLst>
          </p:cNvPr>
          <p:cNvSpPr>
            <a:spLocks noGrp="1"/>
          </p:cNvSpPr>
          <p:nvPr>
            <p:ph type="title"/>
          </p:nvPr>
        </p:nvSpPr>
        <p:spPr>
          <a:xfrm>
            <a:off x="677334" y="156238"/>
            <a:ext cx="8596668" cy="1320800"/>
          </a:xfrm>
        </p:spPr>
        <p:txBody>
          <a:bodyPr/>
          <a:lstStyle/>
          <a:p>
            <a:r>
              <a:rPr lang="en-US" altLang="zh-CN" dirty="0"/>
              <a:t>2.4  </a:t>
            </a:r>
            <a:r>
              <a:rPr lang="zh-CN" altLang="en-US" dirty="0"/>
              <a:t>仿真测试平台</a:t>
            </a:r>
          </a:p>
        </p:txBody>
      </p:sp>
      <p:sp>
        <p:nvSpPr>
          <p:cNvPr id="3" name="内容占位符 2">
            <a:extLst>
              <a:ext uri="{FF2B5EF4-FFF2-40B4-BE49-F238E27FC236}">
                <a16:creationId xmlns:a16="http://schemas.microsoft.com/office/drawing/2014/main" id="{73D330EA-BB62-842A-759C-10BC9606B85A}"/>
              </a:ext>
            </a:extLst>
          </p:cNvPr>
          <p:cNvSpPr>
            <a:spLocks noGrp="1"/>
          </p:cNvSpPr>
          <p:nvPr>
            <p:ph idx="1"/>
          </p:nvPr>
        </p:nvSpPr>
        <p:spPr>
          <a:xfrm>
            <a:off x="677334" y="1351723"/>
            <a:ext cx="10749826" cy="4689640"/>
          </a:xfrm>
        </p:spPr>
        <p:txBody>
          <a:bodyPr/>
          <a:lstStyle/>
          <a:p>
            <a:pPr marL="0" indent="457200">
              <a:lnSpc>
                <a:spcPct val="110000"/>
              </a:lnSpc>
              <a:buNone/>
            </a:pPr>
            <a:r>
              <a:rPr lang="zh-CN" altLang="en-US" sz="2400" b="1" dirty="0">
                <a:solidFill>
                  <a:srgbClr val="FF0000"/>
                </a:solidFill>
              </a:rPr>
              <a:t>仿真</a:t>
            </a:r>
            <a:r>
              <a:rPr lang="zh-CN" altLang="en-US" sz="2400" dirty="0"/>
              <a:t>是确保设计正确性的核心环节。通过编写</a:t>
            </a:r>
            <a:r>
              <a:rPr lang="zh-CN" altLang="en-US" sz="2400" dirty="0">
                <a:solidFill>
                  <a:srgbClr val="FF0000"/>
                </a:solidFill>
              </a:rPr>
              <a:t>仿真测试平台</a:t>
            </a:r>
            <a:r>
              <a:rPr lang="zh-CN" altLang="en-US" sz="2400" dirty="0"/>
              <a:t>、合理生成激励信号，并结合调试工具和打印机制，可高效定位和修复设计缺陷。</a:t>
            </a:r>
            <a:endParaRPr lang="en-US" altLang="zh-CN" sz="2400" dirty="0"/>
          </a:p>
          <a:p>
            <a:pPr marL="0" indent="457200">
              <a:lnSpc>
                <a:spcPct val="110000"/>
              </a:lnSpc>
              <a:buNone/>
            </a:pPr>
            <a:r>
              <a:rPr lang="en-US" altLang="zh-CN" sz="2400" b="1" i="0" dirty="0">
                <a:solidFill>
                  <a:srgbClr val="FF0000"/>
                </a:solidFill>
                <a:effectLst/>
                <a:latin typeface="PingFang SC"/>
              </a:rPr>
              <a:t>testbench</a:t>
            </a:r>
            <a:r>
              <a:rPr lang="zh-CN" altLang="en-US" sz="2400" b="0" i="0" dirty="0">
                <a:solidFill>
                  <a:srgbClr val="333333"/>
                </a:solidFill>
                <a:effectLst/>
                <a:latin typeface="PingFang SC"/>
              </a:rPr>
              <a:t>是验证设计的核心工具，通过模拟输入信号并观察输出，验证设计</a:t>
            </a:r>
            <a:r>
              <a:rPr lang="zh-CN" altLang="en-US" sz="2400" dirty="0">
                <a:solidFill>
                  <a:srgbClr val="333333"/>
                </a:solidFill>
                <a:latin typeface="PingFang SC"/>
              </a:rPr>
              <a:t>的正确性。</a:t>
            </a:r>
            <a:r>
              <a:rPr lang="en-US" altLang="zh-CN" sz="2400" dirty="0">
                <a:solidFill>
                  <a:srgbClr val="333333"/>
                </a:solidFill>
                <a:latin typeface="PingFang SC"/>
              </a:rPr>
              <a:t>testbench</a:t>
            </a:r>
            <a:r>
              <a:rPr lang="zh-CN" altLang="en-US" sz="2400" dirty="0">
                <a:solidFill>
                  <a:srgbClr val="333333"/>
                </a:solidFill>
                <a:latin typeface="PingFang SC"/>
              </a:rPr>
              <a:t>的形式</a:t>
            </a:r>
            <a:r>
              <a:rPr lang="zh-CN" altLang="en-US" sz="2400" dirty="0">
                <a:solidFill>
                  <a:srgbClr val="FF0000"/>
                </a:solidFill>
                <a:latin typeface="PingFang SC"/>
              </a:rPr>
              <a:t>是一个模块，无输入输出端口</a:t>
            </a:r>
            <a:r>
              <a:rPr lang="zh-CN" altLang="en-US" sz="2400" dirty="0">
                <a:solidFill>
                  <a:srgbClr val="333333"/>
                </a:solidFill>
                <a:latin typeface="PingFang SC"/>
              </a:rPr>
              <a:t>，包括</a:t>
            </a:r>
            <a:r>
              <a:rPr lang="en-US" altLang="zh-CN" sz="2400" dirty="0">
                <a:solidFill>
                  <a:srgbClr val="333333"/>
                </a:solidFill>
                <a:latin typeface="PingFang SC"/>
              </a:rPr>
              <a:t>3</a:t>
            </a:r>
            <a:r>
              <a:rPr lang="zh-CN" altLang="en-US" sz="2400" dirty="0">
                <a:solidFill>
                  <a:srgbClr val="333333"/>
                </a:solidFill>
                <a:latin typeface="PingFang SC"/>
              </a:rPr>
              <a:t>个部分：</a:t>
            </a:r>
            <a:endParaRPr lang="en-US" altLang="zh-CN" sz="2400" dirty="0">
              <a:solidFill>
                <a:srgbClr val="333333"/>
              </a:solidFill>
              <a:latin typeface="PingFang SC"/>
            </a:endParaRPr>
          </a:p>
          <a:p>
            <a:pPr marL="914400" lvl="1" indent="-457200">
              <a:buClr>
                <a:schemeClr val="tx1"/>
              </a:buClr>
              <a:buFont typeface="+mj-lt"/>
              <a:buAutoNum type="arabicPeriod"/>
            </a:pPr>
            <a:r>
              <a:rPr lang="zh-CN" altLang="en-US" sz="2400" dirty="0">
                <a:solidFill>
                  <a:srgbClr val="4D4D4D"/>
                </a:solidFill>
                <a:highlight>
                  <a:srgbClr val="FFFFFF"/>
                </a:highlight>
                <a:latin typeface="-apple-system"/>
              </a:rPr>
              <a:t>对被测模块进行</a:t>
            </a:r>
            <a:r>
              <a:rPr lang="zh-CN" altLang="en-US" sz="2400" b="1" dirty="0">
                <a:solidFill>
                  <a:srgbClr val="4D4D4D"/>
                </a:solidFill>
                <a:highlight>
                  <a:srgbClr val="FFFFFF"/>
                </a:highlight>
                <a:latin typeface="-apple-system"/>
              </a:rPr>
              <a:t>实例化</a:t>
            </a:r>
            <a:r>
              <a:rPr lang="zh-CN" altLang="en-US" sz="2400" dirty="0">
                <a:solidFill>
                  <a:srgbClr val="4D4D4D"/>
                </a:solidFill>
                <a:highlight>
                  <a:srgbClr val="FFFFFF"/>
                </a:highlight>
                <a:latin typeface="-apple-system"/>
              </a:rPr>
              <a:t>；</a:t>
            </a:r>
            <a:endParaRPr lang="en-US" altLang="zh-CN" sz="2400" dirty="0">
              <a:solidFill>
                <a:srgbClr val="4D4D4D"/>
              </a:solidFill>
              <a:highlight>
                <a:srgbClr val="FFFFFF"/>
              </a:highlight>
              <a:latin typeface="-apple-system"/>
            </a:endParaRPr>
          </a:p>
          <a:p>
            <a:pPr marL="914400" lvl="1" indent="-457200">
              <a:buClr>
                <a:schemeClr val="tx1"/>
              </a:buClr>
              <a:buFont typeface="+mj-lt"/>
              <a:buAutoNum type="arabicPeriod"/>
            </a:pPr>
            <a:r>
              <a:rPr lang="zh-CN" altLang="en-US" sz="2400" b="0" i="0" dirty="0">
                <a:solidFill>
                  <a:srgbClr val="4D4D4D"/>
                </a:solidFill>
                <a:effectLst/>
                <a:highlight>
                  <a:srgbClr val="FFFFFF"/>
                </a:highlight>
                <a:latin typeface="-apple-system"/>
              </a:rPr>
              <a:t>向被测模块添加</a:t>
            </a:r>
            <a:r>
              <a:rPr lang="zh-CN" altLang="en-US" sz="2400" b="1" i="0" dirty="0">
                <a:solidFill>
                  <a:schemeClr val="tx1"/>
                </a:solidFill>
                <a:effectLst/>
                <a:highlight>
                  <a:srgbClr val="FFFFFF"/>
                </a:highlight>
                <a:latin typeface="-apple-system"/>
              </a:rPr>
              <a:t>激励</a:t>
            </a:r>
            <a:r>
              <a:rPr lang="zh-CN" altLang="en-US" sz="2400" b="0" i="0" dirty="0">
                <a:solidFill>
                  <a:srgbClr val="4D4D4D"/>
                </a:solidFill>
                <a:effectLst/>
                <a:highlight>
                  <a:srgbClr val="FFFFFF"/>
                </a:highlight>
                <a:latin typeface="-apple-system"/>
              </a:rPr>
              <a:t>；</a:t>
            </a:r>
            <a:endParaRPr lang="en-US" altLang="zh-CN" sz="2400" b="0" i="0" dirty="0">
              <a:solidFill>
                <a:srgbClr val="4D4D4D"/>
              </a:solidFill>
              <a:effectLst/>
              <a:highlight>
                <a:srgbClr val="FFFFFF"/>
              </a:highlight>
              <a:latin typeface="-apple-system"/>
            </a:endParaRPr>
          </a:p>
          <a:p>
            <a:pPr marL="914400" lvl="1" indent="-457200">
              <a:buClr>
                <a:schemeClr val="tx1"/>
              </a:buClr>
              <a:buFont typeface="+mj-lt"/>
              <a:buAutoNum type="arabicPeriod"/>
            </a:pPr>
            <a:r>
              <a:rPr lang="zh-CN" altLang="en-US" sz="2400" i="0" dirty="0">
                <a:solidFill>
                  <a:schemeClr val="tx1"/>
                </a:solidFill>
                <a:effectLst/>
                <a:highlight>
                  <a:srgbClr val="FFFFFF"/>
                </a:highlight>
                <a:latin typeface="-apple-system"/>
              </a:rPr>
              <a:t> </a:t>
            </a:r>
            <a:r>
              <a:rPr lang="zh-CN" altLang="en-US" sz="2400" b="1" dirty="0">
                <a:solidFill>
                  <a:srgbClr val="333333"/>
                </a:solidFill>
                <a:latin typeface="PingFang SC"/>
              </a:rPr>
              <a:t>判断</a:t>
            </a:r>
            <a:r>
              <a:rPr lang="zh-CN" altLang="en-US" sz="2400" dirty="0">
                <a:solidFill>
                  <a:srgbClr val="333333"/>
                </a:solidFill>
                <a:latin typeface="PingFang SC"/>
              </a:rPr>
              <a:t>被测模块的</a:t>
            </a:r>
            <a:r>
              <a:rPr lang="zh-CN" altLang="en-US" sz="2400" b="1" dirty="0">
                <a:solidFill>
                  <a:srgbClr val="333333"/>
                </a:solidFill>
                <a:latin typeface="PingFang SC"/>
              </a:rPr>
              <a:t>输出</a:t>
            </a:r>
            <a:r>
              <a:rPr lang="zh-CN" altLang="en-US" sz="2400" dirty="0">
                <a:solidFill>
                  <a:srgbClr val="333333"/>
                </a:solidFill>
                <a:latin typeface="PingFang SC"/>
              </a:rPr>
              <a:t>是否满足设计预期。可以采用两种方式：①查看波形，</a:t>
            </a:r>
            <a:r>
              <a:rPr lang="en-US" altLang="zh-CN" sz="2400" dirty="0">
                <a:solidFill>
                  <a:srgbClr val="333333"/>
                </a:solidFill>
                <a:latin typeface="PingFang SC"/>
              </a:rPr>
              <a:t>②</a:t>
            </a:r>
            <a:r>
              <a:rPr lang="zh-CN" altLang="en-US" sz="2400" dirty="0">
                <a:solidFill>
                  <a:srgbClr val="333333"/>
                </a:solidFill>
                <a:latin typeface="PingFang SC"/>
              </a:rPr>
              <a:t>查看打印语句。</a:t>
            </a:r>
            <a:endParaRPr lang="en-US" altLang="zh-CN" sz="2400" dirty="0">
              <a:solidFill>
                <a:srgbClr val="333333"/>
              </a:solidFill>
              <a:latin typeface="PingFang SC"/>
            </a:endParaRPr>
          </a:p>
        </p:txBody>
      </p:sp>
    </p:spTree>
    <p:extLst>
      <p:ext uri="{BB962C8B-B14F-4D97-AF65-F5344CB8AC3E}">
        <p14:creationId xmlns:p14="http://schemas.microsoft.com/office/powerpoint/2010/main" val="22433496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53787D-0D9A-0B87-519A-8E99192271F4}"/>
              </a:ext>
            </a:extLst>
          </p:cNvPr>
          <p:cNvSpPr>
            <a:spLocks noGrp="1"/>
          </p:cNvSpPr>
          <p:nvPr>
            <p:ph idx="1"/>
          </p:nvPr>
        </p:nvSpPr>
        <p:spPr>
          <a:xfrm>
            <a:off x="189315" y="244218"/>
            <a:ext cx="5911417" cy="5963478"/>
          </a:xfrm>
          <a:ln>
            <a:solidFill>
              <a:schemeClr val="tx1"/>
            </a:solidFill>
            <a:prstDash val="dash"/>
          </a:ln>
        </p:spPr>
        <p:txBody>
          <a:bodyPr>
            <a:normAutofit fontScale="25000" lnSpcReduction="20000"/>
          </a:bodyPr>
          <a:lstStyle/>
          <a:p>
            <a:pPr marL="0" indent="0">
              <a:spcBef>
                <a:spcPts val="600"/>
              </a:spcBef>
              <a:buNone/>
            </a:pPr>
            <a:r>
              <a:rPr lang="en-US" altLang="zh-CN" sz="7200" dirty="0">
                <a:solidFill>
                  <a:srgbClr val="0000FF"/>
                </a:solidFill>
                <a:latin typeface="Courier New" panose="02070309020205020404" pitchFamily="49" charset="0"/>
              </a:rPr>
              <a:t>module</a:t>
            </a:r>
            <a:r>
              <a:rPr lang="en-US" altLang="zh-CN" sz="7200" dirty="0">
                <a:solidFill>
                  <a:srgbClr val="333333"/>
                </a:solidFill>
                <a:latin typeface="Courier New" panose="02070309020205020404" pitchFamily="49" charset="0"/>
              </a:rPr>
              <a:t> </a:t>
            </a:r>
            <a:r>
              <a:rPr lang="en-US" altLang="zh-CN" sz="7200" dirty="0" err="1">
                <a:solidFill>
                  <a:srgbClr val="333333"/>
                </a:solidFill>
                <a:latin typeface="Courier New" panose="02070309020205020404" pitchFamily="49" charset="0"/>
              </a:rPr>
              <a:t>tb_adder</a:t>
            </a:r>
            <a:r>
              <a:rPr lang="en-US" altLang="zh-CN" sz="7200" dirty="0">
                <a:solidFill>
                  <a:srgbClr val="333333"/>
                </a:solidFill>
                <a:latin typeface="Courier New" panose="02070309020205020404" pitchFamily="49" charset="0"/>
              </a:rPr>
              <a:t>;//</a:t>
            </a:r>
            <a:r>
              <a:rPr lang="zh-CN" altLang="en-US" sz="7200" b="0" i="0" dirty="0">
                <a:solidFill>
                  <a:srgbClr val="FF0000"/>
                </a:solidFill>
                <a:effectLst/>
                <a:latin typeface="PingFang SC"/>
              </a:rPr>
              <a:t>无输入输出端口</a:t>
            </a:r>
            <a:endParaRPr lang="en-US" altLang="zh-CN" sz="7200" dirty="0">
              <a:solidFill>
                <a:srgbClr val="FF0000"/>
              </a:solidFill>
              <a:latin typeface="Courier New" panose="02070309020205020404" pitchFamily="49" charset="0"/>
            </a:endParaRPr>
          </a:p>
          <a:p>
            <a:pPr marL="0" indent="0">
              <a:spcBef>
                <a:spcPts val="600"/>
              </a:spcBef>
              <a:buNone/>
            </a:pPr>
            <a:r>
              <a:rPr lang="en-US" altLang="zh-CN" sz="7200" dirty="0">
                <a:solidFill>
                  <a:srgbClr val="333333"/>
                </a:solidFill>
                <a:latin typeface="Courier New" panose="02070309020205020404" pitchFamily="49" charset="0"/>
              </a:rPr>
              <a:t>// </a:t>
            </a:r>
            <a:r>
              <a:rPr lang="zh-CN" altLang="en-US" sz="7200" dirty="0">
                <a:solidFill>
                  <a:srgbClr val="333333"/>
                </a:solidFill>
                <a:latin typeface="Courier New" panose="02070309020205020404" pitchFamily="49" charset="0"/>
              </a:rPr>
              <a:t>声明信号</a:t>
            </a:r>
          </a:p>
          <a:p>
            <a:pPr marL="0" indent="0">
              <a:spcBef>
                <a:spcPts val="600"/>
              </a:spcBef>
              <a:buNone/>
            </a:pPr>
            <a:r>
              <a:rPr lang="en-US" altLang="zh-CN" sz="7200" dirty="0">
                <a:solidFill>
                  <a:srgbClr val="0000FF"/>
                </a:solidFill>
                <a:latin typeface="Courier New" panose="02070309020205020404" pitchFamily="49" charset="0"/>
              </a:rPr>
              <a:t>reg</a:t>
            </a:r>
            <a:r>
              <a:rPr lang="en-US" altLang="zh-CN" sz="7200" dirty="0">
                <a:solidFill>
                  <a:srgbClr val="333333"/>
                </a:solidFill>
                <a:latin typeface="Courier New" panose="02070309020205020404" pitchFamily="49" charset="0"/>
              </a:rPr>
              <a:t> [7:0] a, b; //</a:t>
            </a:r>
            <a:r>
              <a:rPr lang="zh-CN" altLang="en-US" sz="7200" b="1" dirty="0">
                <a:solidFill>
                  <a:srgbClr val="FF0000"/>
                </a:solidFill>
                <a:latin typeface="Courier New" panose="02070309020205020404" pitchFamily="49" charset="0"/>
              </a:rPr>
              <a:t>输入信号</a:t>
            </a:r>
            <a:r>
              <a:rPr lang="en-US" altLang="zh-CN" sz="7200" b="1" dirty="0">
                <a:solidFill>
                  <a:srgbClr val="FF0000"/>
                </a:solidFill>
                <a:latin typeface="Courier New" panose="02070309020205020404" pitchFamily="49" charset="0"/>
              </a:rPr>
              <a:t>reg</a:t>
            </a:r>
            <a:r>
              <a:rPr lang="zh-CN" altLang="en-US" sz="7200" b="1" dirty="0">
                <a:solidFill>
                  <a:srgbClr val="FF0000"/>
                </a:solidFill>
                <a:latin typeface="Courier New" panose="02070309020205020404" pitchFamily="49" charset="0"/>
              </a:rPr>
              <a:t>类型</a:t>
            </a:r>
            <a:r>
              <a:rPr lang="en-US" altLang="zh-CN" sz="7200" b="1" dirty="0">
                <a:solidFill>
                  <a:srgbClr val="333333"/>
                </a:solidFill>
                <a:latin typeface="Courier New" panose="02070309020205020404" pitchFamily="49" charset="0"/>
              </a:rPr>
              <a:t> </a:t>
            </a:r>
          </a:p>
          <a:p>
            <a:pPr marL="0" indent="0">
              <a:spcBef>
                <a:spcPts val="600"/>
              </a:spcBef>
              <a:buNone/>
            </a:pPr>
            <a:r>
              <a:rPr lang="en-US" altLang="zh-CN" sz="7200" dirty="0">
                <a:solidFill>
                  <a:srgbClr val="0000FF"/>
                </a:solidFill>
                <a:latin typeface="Courier New" panose="02070309020205020404" pitchFamily="49" charset="0"/>
              </a:rPr>
              <a:t>wire</a:t>
            </a:r>
            <a:r>
              <a:rPr lang="en-US" altLang="zh-CN" sz="7200" dirty="0">
                <a:solidFill>
                  <a:srgbClr val="333333"/>
                </a:solidFill>
                <a:latin typeface="Courier New" panose="02070309020205020404" pitchFamily="49" charset="0"/>
              </a:rPr>
              <a:t> [8:0] sum; //</a:t>
            </a:r>
            <a:r>
              <a:rPr lang="zh-CN" altLang="en-US" sz="7200" b="1" dirty="0">
                <a:solidFill>
                  <a:srgbClr val="FF0000"/>
                </a:solidFill>
                <a:latin typeface="Courier New" panose="02070309020205020404" pitchFamily="49" charset="0"/>
              </a:rPr>
              <a:t>输出信号</a:t>
            </a:r>
            <a:r>
              <a:rPr lang="en-US" altLang="zh-CN" sz="7200" b="1" dirty="0">
                <a:solidFill>
                  <a:srgbClr val="FF0000"/>
                </a:solidFill>
                <a:latin typeface="Courier New" panose="02070309020205020404" pitchFamily="49" charset="0"/>
              </a:rPr>
              <a:t>wire</a:t>
            </a:r>
            <a:r>
              <a:rPr lang="zh-CN" altLang="en-US" sz="7200" b="1" dirty="0">
                <a:solidFill>
                  <a:srgbClr val="FF0000"/>
                </a:solidFill>
                <a:latin typeface="Courier New" panose="02070309020205020404" pitchFamily="49" charset="0"/>
              </a:rPr>
              <a:t>类型</a:t>
            </a:r>
            <a:endParaRPr lang="en-US" altLang="zh-CN" sz="7200" b="1" dirty="0">
              <a:solidFill>
                <a:srgbClr val="FF0000"/>
              </a:solidFill>
              <a:latin typeface="Courier New" panose="02070309020205020404" pitchFamily="49" charset="0"/>
            </a:endParaRPr>
          </a:p>
          <a:p>
            <a:pPr marL="0" indent="0">
              <a:spcBef>
                <a:spcPts val="600"/>
              </a:spcBef>
              <a:buNone/>
            </a:pPr>
            <a:r>
              <a:rPr lang="en-US" altLang="zh-CN" sz="7200" dirty="0">
                <a:solidFill>
                  <a:srgbClr val="333333"/>
                </a:solidFill>
                <a:latin typeface="Courier New" panose="02070309020205020404" pitchFamily="49" charset="0"/>
              </a:rPr>
              <a:t> </a:t>
            </a:r>
          </a:p>
          <a:p>
            <a:pPr marL="0" indent="0">
              <a:spcBef>
                <a:spcPts val="600"/>
              </a:spcBef>
              <a:buNone/>
            </a:pPr>
            <a:r>
              <a:rPr lang="en-US" altLang="zh-CN" sz="7200" dirty="0">
                <a:solidFill>
                  <a:srgbClr val="333333"/>
                </a:solidFill>
                <a:latin typeface="Courier New" panose="02070309020205020404" pitchFamily="49" charset="0"/>
              </a:rPr>
              <a:t>// </a:t>
            </a:r>
            <a:r>
              <a:rPr lang="zh-CN" altLang="en-US" sz="7200" dirty="0">
                <a:solidFill>
                  <a:srgbClr val="FF0000"/>
                </a:solidFill>
                <a:latin typeface="Courier New" panose="02070309020205020404" pitchFamily="49" charset="0"/>
              </a:rPr>
              <a:t>实例化被测模块</a:t>
            </a:r>
            <a:r>
              <a:rPr lang="en-US" altLang="zh-CN" sz="7200" dirty="0">
                <a:solidFill>
                  <a:srgbClr val="FF0000"/>
                </a:solidFill>
                <a:latin typeface="Courier New" panose="02070309020205020404" pitchFamily="49" charset="0"/>
              </a:rPr>
              <a:t>adder</a:t>
            </a:r>
          </a:p>
          <a:p>
            <a:pPr marL="0" indent="0">
              <a:spcBef>
                <a:spcPts val="600"/>
              </a:spcBef>
              <a:buNone/>
            </a:pPr>
            <a:r>
              <a:rPr lang="en-US" altLang="zh-CN" sz="7200" dirty="0">
                <a:solidFill>
                  <a:srgbClr val="333333"/>
                </a:solidFill>
                <a:latin typeface="Courier New" panose="02070309020205020404" pitchFamily="49" charset="0"/>
              </a:rPr>
              <a:t>adder </a:t>
            </a:r>
            <a:r>
              <a:rPr lang="en-US" altLang="zh-CN" sz="7200" dirty="0" err="1">
                <a:solidFill>
                  <a:srgbClr val="333333"/>
                </a:solidFill>
                <a:latin typeface="Courier New" panose="02070309020205020404" pitchFamily="49" charset="0"/>
              </a:rPr>
              <a:t>dut</a:t>
            </a:r>
            <a:r>
              <a:rPr lang="en-US" altLang="zh-CN" sz="7200" dirty="0">
                <a:solidFill>
                  <a:srgbClr val="333333"/>
                </a:solidFill>
                <a:latin typeface="Courier New" panose="02070309020205020404" pitchFamily="49" charset="0"/>
              </a:rPr>
              <a:t>(.a(a),</a:t>
            </a:r>
          </a:p>
          <a:p>
            <a:pPr marL="0" indent="0">
              <a:spcBef>
                <a:spcPts val="600"/>
              </a:spcBef>
              <a:buNone/>
            </a:pPr>
            <a:r>
              <a:rPr lang="en-US" altLang="zh-CN" sz="7200" dirty="0">
                <a:solidFill>
                  <a:srgbClr val="333333"/>
                </a:solidFill>
                <a:latin typeface="Courier New" panose="02070309020205020404" pitchFamily="49" charset="0"/>
              </a:rPr>
              <a:t>          .b(b),</a:t>
            </a:r>
          </a:p>
          <a:p>
            <a:pPr marL="0" indent="0">
              <a:spcBef>
                <a:spcPts val="600"/>
              </a:spcBef>
              <a:buNone/>
            </a:pPr>
            <a:r>
              <a:rPr lang="en-US" altLang="zh-CN" sz="7200" dirty="0">
                <a:solidFill>
                  <a:srgbClr val="333333"/>
                </a:solidFill>
                <a:latin typeface="Courier New" panose="02070309020205020404" pitchFamily="49" charset="0"/>
              </a:rPr>
              <a:t>          .sum(sum));</a:t>
            </a:r>
          </a:p>
          <a:p>
            <a:pPr marL="0" indent="0">
              <a:lnSpc>
                <a:spcPct val="80000"/>
              </a:lnSpc>
              <a:spcBef>
                <a:spcPts val="600"/>
              </a:spcBef>
              <a:buNone/>
            </a:pPr>
            <a:endParaRPr lang="en-US" altLang="zh-CN" sz="7200" dirty="0">
              <a:solidFill>
                <a:srgbClr val="333333"/>
              </a:solidFill>
              <a:latin typeface="Courier New" panose="02070309020205020404" pitchFamily="49" charset="0"/>
            </a:endParaRPr>
          </a:p>
          <a:p>
            <a:pPr marL="0" indent="0">
              <a:lnSpc>
                <a:spcPct val="80000"/>
              </a:lnSpc>
              <a:spcBef>
                <a:spcPts val="600"/>
              </a:spcBef>
              <a:buNone/>
            </a:pPr>
            <a:r>
              <a:rPr lang="en-US" altLang="zh-CN" sz="7200" dirty="0">
                <a:solidFill>
                  <a:srgbClr val="333333"/>
                </a:solidFill>
                <a:latin typeface="Courier New" panose="02070309020205020404" pitchFamily="49" charset="0"/>
              </a:rPr>
              <a:t>// </a:t>
            </a:r>
            <a:r>
              <a:rPr lang="zh-CN" altLang="en-US" sz="7200" dirty="0">
                <a:solidFill>
                  <a:srgbClr val="FF0000"/>
                </a:solidFill>
                <a:latin typeface="Courier New" panose="02070309020205020404" pitchFamily="49" charset="0"/>
              </a:rPr>
              <a:t>生成测试激励</a:t>
            </a:r>
          </a:p>
          <a:p>
            <a:pPr marL="0" indent="0">
              <a:lnSpc>
                <a:spcPct val="80000"/>
              </a:lnSpc>
              <a:spcBef>
                <a:spcPts val="600"/>
              </a:spcBef>
              <a:buNone/>
            </a:pPr>
            <a:r>
              <a:rPr lang="en-US" altLang="zh-CN" sz="7200" dirty="0">
                <a:solidFill>
                  <a:srgbClr val="333333"/>
                </a:solidFill>
                <a:latin typeface="Courier New" panose="02070309020205020404" pitchFamily="49" charset="0"/>
              </a:rPr>
              <a:t>initial </a:t>
            </a:r>
          </a:p>
          <a:p>
            <a:pPr marL="0" indent="0">
              <a:lnSpc>
                <a:spcPct val="80000"/>
              </a:lnSpc>
              <a:spcBef>
                <a:spcPts val="600"/>
              </a:spcBef>
              <a:buNone/>
            </a:pPr>
            <a:r>
              <a:rPr lang="en-US" altLang="zh-CN" sz="7200" dirty="0">
                <a:solidFill>
                  <a:srgbClr val="0000FF"/>
                </a:solidFill>
                <a:latin typeface="Courier New" panose="02070309020205020404" pitchFamily="49" charset="0"/>
              </a:rPr>
              <a:t>begin</a:t>
            </a:r>
          </a:p>
          <a:p>
            <a:pPr marL="0" indent="0">
              <a:lnSpc>
                <a:spcPct val="80000"/>
              </a:lnSpc>
              <a:spcBef>
                <a:spcPts val="600"/>
              </a:spcBef>
              <a:buNone/>
            </a:pPr>
            <a:r>
              <a:rPr lang="en-US" altLang="zh-CN" sz="7200" b="0" i="0" dirty="0">
                <a:solidFill>
                  <a:srgbClr val="333333"/>
                </a:solidFill>
                <a:effectLst/>
                <a:latin typeface="Courier New" panose="02070309020205020404" pitchFamily="49" charset="0"/>
              </a:rPr>
              <a:t>// </a:t>
            </a:r>
            <a:r>
              <a:rPr lang="zh-CN" altLang="en-US" sz="7200" b="0" i="0" dirty="0">
                <a:solidFill>
                  <a:srgbClr val="333333"/>
                </a:solidFill>
                <a:effectLst/>
                <a:latin typeface="Courier New" panose="02070309020205020404" pitchFamily="49" charset="0"/>
              </a:rPr>
              <a:t>测试用例</a:t>
            </a:r>
            <a:r>
              <a:rPr lang="en-US" altLang="zh-CN" sz="7200" b="0" i="0" dirty="0">
                <a:solidFill>
                  <a:srgbClr val="333333"/>
                </a:solidFill>
                <a:effectLst/>
                <a:latin typeface="Courier New" panose="02070309020205020404" pitchFamily="49" charset="0"/>
              </a:rPr>
              <a:t>1</a:t>
            </a:r>
            <a:r>
              <a:rPr lang="zh-CN" altLang="en-US" sz="7200" b="0" i="0" dirty="0">
                <a:solidFill>
                  <a:srgbClr val="333333"/>
                </a:solidFill>
                <a:effectLst/>
                <a:latin typeface="Courier New" panose="02070309020205020404" pitchFamily="49" charset="0"/>
              </a:rPr>
              <a:t>：固定值</a:t>
            </a:r>
            <a:endParaRPr lang="en-US" altLang="zh-CN" sz="7200" b="0" i="0" dirty="0">
              <a:solidFill>
                <a:srgbClr val="333333"/>
              </a:solidFill>
              <a:effectLst/>
              <a:latin typeface="Courier New" panose="02070309020205020404" pitchFamily="49" charset="0"/>
            </a:endParaRPr>
          </a:p>
          <a:p>
            <a:pPr marL="0" indent="0">
              <a:lnSpc>
                <a:spcPct val="80000"/>
              </a:lnSpc>
              <a:spcBef>
                <a:spcPts val="600"/>
              </a:spcBef>
              <a:buNone/>
            </a:pPr>
            <a:r>
              <a:rPr lang="en-US" altLang="zh-CN" sz="7200" b="0" i="0" dirty="0">
                <a:solidFill>
                  <a:srgbClr val="333333"/>
                </a:solidFill>
                <a:effectLst/>
                <a:latin typeface="Courier New" panose="02070309020205020404" pitchFamily="49" charset="0"/>
              </a:rPr>
              <a:t>    a = 8'h12;</a:t>
            </a:r>
          </a:p>
          <a:p>
            <a:pPr marL="0" indent="0">
              <a:lnSpc>
                <a:spcPct val="80000"/>
              </a:lnSpc>
              <a:spcBef>
                <a:spcPts val="600"/>
              </a:spcBef>
              <a:buNone/>
            </a:pPr>
            <a:r>
              <a:rPr lang="en-US" altLang="zh-CN" sz="7200" b="0" i="0" dirty="0">
                <a:solidFill>
                  <a:srgbClr val="333333"/>
                </a:solidFill>
                <a:effectLst/>
                <a:latin typeface="Courier New" panose="02070309020205020404" pitchFamily="49" charset="0"/>
              </a:rPr>
              <a:t>    b = 8'h34; </a:t>
            </a:r>
          </a:p>
          <a:p>
            <a:pPr marL="0" indent="0">
              <a:lnSpc>
                <a:spcPct val="80000"/>
              </a:lnSpc>
              <a:spcBef>
                <a:spcPts val="600"/>
              </a:spcBef>
              <a:buNone/>
            </a:pPr>
            <a:r>
              <a:rPr lang="en-US" altLang="zh-CN" sz="7200" b="0" i="0" dirty="0">
                <a:solidFill>
                  <a:srgbClr val="0070C0"/>
                </a:solidFill>
                <a:effectLst/>
                <a:latin typeface="Courier New" panose="02070309020205020404" pitchFamily="49" charset="0"/>
              </a:rPr>
              <a:t>#</a:t>
            </a:r>
            <a:r>
              <a:rPr lang="en-US" altLang="zh-CN" sz="7200" b="0" i="0" dirty="0">
                <a:solidFill>
                  <a:srgbClr val="333333"/>
                </a:solidFill>
                <a:effectLst/>
                <a:latin typeface="Courier New" panose="02070309020205020404" pitchFamily="49" charset="0"/>
              </a:rPr>
              <a:t>10  </a:t>
            </a:r>
            <a:r>
              <a:rPr lang="pt-BR" altLang="zh-CN" sz="7200" dirty="0">
                <a:solidFill>
                  <a:srgbClr val="0070C0"/>
                </a:solidFill>
                <a:latin typeface="Courier New" panose="02070309020205020404" pitchFamily="49" charset="0"/>
              </a:rPr>
              <a:t>$display</a:t>
            </a:r>
            <a:r>
              <a:rPr lang="pt-BR" altLang="zh-CN" sz="7200" dirty="0">
                <a:solidFill>
                  <a:srgbClr val="333333"/>
                </a:solidFill>
                <a:latin typeface="Courier New" panose="02070309020205020404" pitchFamily="49" charset="0"/>
              </a:rPr>
              <a:t>(“a=%h</a:t>
            </a:r>
            <a:r>
              <a:rPr lang="zh-CN" altLang="en-US" sz="7200" dirty="0">
                <a:solidFill>
                  <a:srgbClr val="333333"/>
                </a:solidFill>
                <a:latin typeface="Courier New" panose="02070309020205020404" pitchFamily="49" charset="0"/>
              </a:rPr>
              <a:t>，</a:t>
            </a:r>
            <a:r>
              <a:rPr lang="pt-BR" altLang="zh-CN" sz="7200" dirty="0">
                <a:solidFill>
                  <a:srgbClr val="333333"/>
                </a:solidFill>
                <a:latin typeface="Courier New" panose="02070309020205020404" pitchFamily="49" charset="0"/>
              </a:rPr>
              <a:t>b=%h</a:t>
            </a:r>
            <a:r>
              <a:rPr lang="zh-CN" altLang="en-US" sz="7200" dirty="0">
                <a:solidFill>
                  <a:srgbClr val="333333"/>
                </a:solidFill>
                <a:latin typeface="Courier New" panose="02070309020205020404" pitchFamily="49" charset="0"/>
              </a:rPr>
              <a:t>，</a:t>
            </a:r>
            <a:r>
              <a:rPr lang="pt-BR" altLang="zh-CN" sz="7200" dirty="0">
                <a:solidFill>
                  <a:srgbClr val="333333"/>
                </a:solidFill>
                <a:latin typeface="Courier New" panose="02070309020205020404" pitchFamily="49" charset="0"/>
              </a:rPr>
              <a:t>sum=%h", a, b, sum);</a:t>
            </a:r>
          </a:p>
          <a:p>
            <a:pPr marL="0" indent="0">
              <a:lnSpc>
                <a:spcPct val="80000"/>
              </a:lnSpc>
              <a:spcBef>
                <a:spcPts val="600"/>
              </a:spcBef>
              <a:buNone/>
            </a:pPr>
            <a:endParaRPr lang="zh-CN" altLang="en-US" sz="7200" dirty="0">
              <a:solidFill>
                <a:srgbClr val="333333"/>
              </a:solidFill>
              <a:latin typeface="Courier New" panose="02070309020205020404" pitchFamily="49" charset="0"/>
            </a:endParaRPr>
          </a:p>
          <a:p>
            <a:pPr marL="0" indent="0">
              <a:spcBef>
                <a:spcPts val="600"/>
              </a:spcBef>
              <a:buNone/>
            </a:pPr>
            <a:endParaRPr lang="en-US" altLang="zh-CN" sz="7200" dirty="0">
              <a:solidFill>
                <a:srgbClr val="333333"/>
              </a:solidFill>
              <a:latin typeface="Courier New" panose="02070309020205020404" pitchFamily="49" charset="0"/>
            </a:endParaRPr>
          </a:p>
          <a:p>
            <a:pPr marL="0" indent="0">
              <a:spcBef>
                <a:spcPts val="600"/>
              </a:spcBef>
              <a:buNone/>
            </a:pPr>
            <a:r>
              <a:rPr lang="en-US" altLang="zh-CN" sz="7200" dirty="0"/>
              <a:t>  </a:t>
            </a:r>
          </a:p>
          <a:p>
            <a:pPr marL="0" indent="0">
              <a:spcBef>
                <a:spcPts val="600"/>
              </a:spcBef>
              <a:buNone/>
            </a:pPr>
            <a:r>
              <a:rPr lang="en-US" altLang="zh-CN" sz="7200" dirty="0"/>
              <a:t>  </a:t>
            </a:r>
            <a:endParaRPr lang="zh-CN" altLang="en-US" dirty="0"/>
          </a:p>
        </p:txBody>
      </p:sp>
      <p:sp>
        <p:nvSpPr>
          <p:cNvPr id="4" name="内容占位符 2">
            <a:extLst>
              <a:ext uri="{FF2B5EF4-FFF2-40B4-BE49-F238E27FC236}">
                <a16:creationId xmlns:a16="http://schemas.microsoft.com/office/drawing/2014/main" id="{E2B4F76B-BD5A-10F5-6DE3-2D9A253B19F2}"/>
              </a:ext>
            </a:extLst>
          </p:cNvPr>
          <p:cNvSpPr txBox="1">
            <a:spLocks/>
          </p:cNvSpPr>
          <p:nvPr/>
        </p:nvSpPr>
        <p:spPr>
          <a:xfrm>
            <a:off x="6100732" y="232859"/>
            <a:ext cx="5911417" cy="5963479"/>
          </a:xfrm>
          <a:prstGeom prst="rect">
            <a:avLst/>
          </a:prstGeom>
          <a:ln>
            <a:solidFill>
              <a:schemeClr val="tx1"/>
            </a:solidFill>
            <a:prstDash val="dash"/>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80000"/>
              </a:lnSpc>
              <a:spcBef>
                <a:spcPts val="600"/>
              </a:spcBef>
              <a:buNone/>
            </a:pPr>
            <a:r>
              <a:rPr lang="en-US" altLang="zh-CN" sz="1800" dirty="0">
                <a:solidFill>
                  <a:srgbClr val="333333"/>
                </a:solidFill>
                <a:latin typeface="Courier New" panose="02070309020205020404" pitchFamily="49" charset="0"/>
              </a:rPr>
              <a:t>// </a:t>
            </a:r>
            <a:r>
              <a:rPr lang="zh-CN" altLang="en-US" sz="1800" dirty="0">
                <a:solidFill>
                  <a:srgbClr val="333333"/>
                </a:solidFill>
                <a:latin typeface="Courier New" panose="02070309020205020404" pitchFamily="49" charset="0"/>
              </a:rPr>
              <a:t>测试用例</a:t>
            </a:r>
            <a:r>
              <a:rPr lang="en-US" altLang="zh-CN" sz="1800" dirty="0">
                <a:solidFill>
                  <a:srgbClr val="333333"/>
                </a:solidFill>
                <a:latin typeface="Courier New" panose="02070309020205020404" pitchFamily="49" charset="0"/>
              </a:rPr>
              <a:t>2</a:t>
            </a:r>
            <a:r>
              <a:rPr lang="zh-CN" altLang="en-US" sz="1800" dirty="0">
                <a:solidFill>
                  <a:srgbClr val="333333"/>
                </a:solidFill>
                <a:latin typeface="Courier New" panose="02070309020205020404" pitchFamily="49" charset="0"/>
              </a:rPr>
              <a:t>：随机值加法</a:t>
            </a:r>
          </a:p>
          <a:p>
            <a:pPr marL="0" indent="0">
              <a:lnSpc>
                <a:spcPct val="80000"/>
              </a:lnSpc>
              <a:spcBef>
                <a:spcPts val="600"/>
              </a:spcBef>
              <a:buNone/>
            </a:pPr>
            <a:r>
              <a:rPr lang="zh-CN" altLang="en-US" sz="1800" dirty="0">
                <a:solidFill>
                  <a:srgbClr val="333333"/>
                </a:solidFill>
                <a:latin typeface="Courier New" panose="02070309020205020404" pitchFamily="49" charset="0"/>
              </a:rPr>
              <a:t>      </a:t>
            </a:r>
            <a:r>
              <a:rPr lang="en-US" altLang="zh-CN" sz="1800" dirty="0">
                <a:solidFill>
                  <a:srgbClr val="0000FF"/>
                </a:solidFill>
                <a:latin typeface="Courier New" panose="02070309020205020404" pitchFamily="49" charset="0"/>
              </a:rPr>
              <a:t>repeat</a:t>
            </a:r>
            <a:r>
              <a:rPr lang="en-US" altLang="zh-CN" sz="1800" dirty="0">
                <a:solidFill>
                  <a:srgbClr val="333333"/>
                </a:solidFill>
                <a:latin typeface="Courier New" panose="02070309020205020404" pitchFamily="49" charset="0"/>
              </a:rPr>
              <a:t>(5) //</a:t>
            </a:r>
            <a:r>
              <a:rPr lang="zh-CN" altLang="en-US" sz="1800" dirty="0">
                <a:solidFill>
                  <a:srgbClr val="333333"/>
                </a:solidFill>
                <a:latin typeface="Courier New" panose="02070309020205020404" pitchFamily="49" charset="0"/>
              </a:rPr>
              <a:t>重复</a:t>
            </a:r>
            <a:r>
              <a:rPr lang="en-US" altLang="zh-CN" sz="1800" dirty="0">
                <a:solidFill>
                  <a:srgbClr val="333333"/>
                </a:solidFill>
                <a:latin typeface="Courier New" panose="02070309020205020404" pitchFamily="49" charset="0"/>
              </a:rPr>
              <a:t>5</a:t>
            </a:r>
            <a:r>
              <a:rPr lang="zh-CN" altLang="en-US" dirty="0">
                <a:solidFill>
                  <a:srgbClr val="333333"/>
                </a:solidFill>
                <a:latin typeface="Courier New" panose="02070309020205020404" pitchFamily="49" charset="0"/>
              </a:rPr>
              <a:t>次</a:t>
            </a:r>
            <a:endParaRPr lang="en-US" altLang="zh-CN" sz="1800" dirty="0">
              <a:solidFill>
                <a:srgbClr val="333333"/>
              </a:solidFill>
              <a:latin typeface="Courier New" panose="02070309020205020404" pitchFamily="49" charset="0"/>
            </a:endParaRPr>
          </a:p>
          <a:p>
            <a:pPr marL="0" indent="0">
              <a:lnSpc>
                <a:spcPct val="80000"/>
              </a:lnSpc>
              <a:spcBef>
                <a:spcPts val="600"/>
              </a:spcBef>
              <a:buNone/>
            </a:pPr>
            <a:r>
              <a:rPr lang="en-US" altLang="zh-CN" dirty="0">
                <a:solidFill>
                  <a:srgbClr val="333333"/>
                </a:solidFill>
                <a:latin typeface="Courier New" panose="02070309020205020404" pitchFamily="49" charset="0"/>
              </a:rPr>
              <a:t>      </a:t>
            </a:r>
            <a:r>
              <a:rPr lang="en-US" altLang="zh-CN" sz="1800" dirty="0">
                <a:solidFill>
                  <a:srgbClr val="0000FF"/>
                </a:solidFill>
                <a:latin typeface="Courier New" panose="02070309020205020404" pitchFamily="49" charset="0"/>
              </a:rPr>
              <a:t>begin</a:t>
            </a:r>
          </a:p>
          <a:p>
            <a:pPr marL="0" indent="0">
              <a:lnSpc>
                <a:spcPct val="80000"/>
              </a:lnSpc>
              <a:spcBef>
                <a:spcPts val="600"/>
              </a:spcBef>
              <a:buNone/>
            </a:pPr>
            <a:r>
              <a:rPr lang="en-US" altLang="zh-CN" sz="1800" dirty="0">
                <a:solidFill>
                  <a:srgbClr val="333333"/>
                </a:solidFill>
                <a:latin typeface="Courier New" panose="02070309020205020404" pitchFamily="49" charset="0"/>
              </a:rPr>
              <a:t>      a = </a:t>
            </a:r>
            <a:r>
              <a:rPr lang="en-US" altLang="zh-CN" sz="1800" dirty="0">
                <a:solidFill>
                  <a:srgbClr val="0070C0"/>
                </a:solidFill>
                <a:latin typeface="Courier New" panose="02070309020205020404" pitchFamily="49" charset="0"/>
              </a:rPr>
              <a:t>$random</a:t>
            </a:r>
            <a:r>
              <a:rPr lang="en-US" altLang="zh-CN" sz="1800" dirty="0">
                <a:solidFill>
                  <a:srgbClr val="333333"/>
                </a:solidFill>
                <a:latin typeface="Courier New" panose="02070309020205020404" pitchFamily="49" charset="0"/>
              </a:rPr>
              <a:t>;//</a:t>
            </a:r>
            <a:r>
              <a:rPr lang="zh-CN" altLang="en-US" sz="1800" dirty="0">
                <a:solidFill>
                  <a:srgbClr val="333333"/>
                </a:solidFill>
                <a:latin typeface="Courier New" panose="02070309020205020404" pitchFamily="49" charset="0"/>
              </a:rPr>
              <a:t>随机数</a:t>
            </a:r>
            <a:endParaRPr lang="en-US" altLang="zh-CN" sz="1800" dirty="0">
              <a:solidFill>
                <a:srgbClr val="333333"/>
              </a:solidFill>
              <a:latin typeface="Courier New" panose="02070309020205020404" pitchFamily="49" charset="0"/>
            </a:endParaRPr>
          </a:p>
          <a:p>
            <a:pPr marL="0" indent="0">
              <a:lnSpc>
                <a:spcPct val="80000"/>
              </a:lnSpc>
              <a:spcBef>
                <a:spcPts val="600"/>
              </a:spcBef>
              <a:buNone/>
            </a:pPr>
            <a:r>
              <a:rPr lang="en-US" altLang="zh-CN" sz="1800" dirty="0">
                <a:solidFill>
                  <a:srgbClr val="333333"/>
                </a:solidFill>
                <a:latin typeface="Courier New" panose="02070309020205020404" pitchFamily="49" charset="0"/>
              </a:rPr>
              <a:t>      b = </a:t>
            </a:r>
            <a:r>
              <a:rPr lang="en-US" altLang="zh-CN" sz="1800" dirty="0">
                <a:solidFill>
                  <a:srgbClr val="0070C0"/>
                </a:solidFill>
                <a:latin typeface="Courier New" panose="02070309020205020404" pitchFamily="49" charset="0"/>
              </a:rPr>
              <a:t>$random</a:t>
            </a:r>
            <a:r>
              <a:rPr lang="en-US" altLang="zh-CN" sz="1800" dirty="0">
                <a:solidFill>
                  <a:srgbClr val="333333"/>
                </a:solidFill>
                <a:latin typeface="Courier New" panose="02070309020205020404" pitchFamily="49" charset="0"/>
              </a:rPr>
              <a:t>;</a:t>
            </a:r>
          </a:p>
          <a:p>
            <a:pPr marL="0" indent="0">
              <a:lnSpc>
                <a:spcPct val="80000"/>
              </a:lnSpc>
              <a:spcBef>
                <a:spcPts val="600"/>
              </a:spcBef>
              <a:buNone/>
            </a:pPr>
            <a:r>
              <a:rPr lang="en-US" altLang="zh-CN" sz="1800" dirty="0">
                <a:solidFill>
                  <a:srgbClr val="333333"/>
                </a:solidFill>
                <a:latin typeface="Courier New" panose="02070309020205020404" pitchFamily="49" charset="0"/>
              </a:rPr>
              <a:t>      </a:t>
            </a:r>
            <a:r>
              <a:rPr lang="en-US" altLang="zh-CN" sz="1800" dirty="0">
                <a:solidFill>
                  <a:srgbClr val="0070C0"/>
                </a:solidFill>
                <a:latin typeface="Courier New" panose="02070309020205020404" pitchFamily="49" charset="0"/>
              </a:rPr>
              <a:t>#</a:t>
            </a:r>
            <a:r>
              <a:rPr lang="en-US" altLang="zh-CN" sz="1800" dirty="0">
                <a:solidFill>
                  <a:srgbClr val="333333"/>
                </a:solidFill>
                <a:latin typeface="Courier New" panose="02070309020205020404" pitchFamily="49" charset="0"/>
              </a:rPr>
              <a:t>10;</a:t>
            </a:r>
          </a:p>
          <a:p>
            <a:pPr marL="0" indent="0">
              <a:lnSpc>
                <a:spcPct val="80000"/>
              </a:lnSpc>
              <a:spcBef>
                <a:spcPts val="600"/>
              </a:spcBef>
              <a:buNone/>
            </a:pPr>
            <a:r>
              <a:rPr lang="en-US" altLang="zh-CN" sz="1800" dirty="0">
                <a:solidFill>
                  <a:srgbClr val="333333"/>
                </a:solidFill>
                <a:latin typeface="Courier New" panose="02070309020205020404" pitchFamily="49" charset="0"/>
              </a:rPr>
              <a:t>      </a:t>
            </a:r>
            <a:r>
              <a:rPr lang="pt-BR" altLang="zh-CN" sz="1800" dirty="0">
                <a:solidFill>
                  <a:srgbClr val="0070C0"/>
                </a:solidFill>
                <a:latin typeface="Courier New" panose="02070309020205020404" pitchFamily="49" charset="0"/>
              </a:rPr>
              <a:t>$display</a:t>
            </a:r>
            <a:r>
              <a:rPr lang="pt-BR" altLang="zh-CN" sz="1800" dirty="0">
                <a:solidFill>
                  <a:srgbClr val="333333"/>
                </a:solidFill>
                <a:latin typeface="Courier New" panose="02070309020205020404" pitchFamily="49" charset="0"/>
              </a:rPr>
              <a:t>(“a=%h</a:t>
            </a:r>
            <a:r>
              <a:rPr lang="zh-CN" altLang="en-US" sz="1800" dirty="0">
                <a:solidFill>
                  <a:srgbClr val="333333"/>
                </a:solidFill>
                <a:latin typeface="Courier New" panose="02070309020205020404" pitchFamily="49" charset="0"/>
              </a:rPr>
              <a:t>，</a:t>
            </a:r>
            <a:r>
              <a:rPr lang="pt-BR" altLang="zh-CN" sz="1800" dirty="0">
                <a:solidFill>
                  <a:srgbClr val="333333"/>
                </a:solidFill>
                <a:latin typeface="Courier New" panose="02070309020205020404" pitchFamily="49" charset="0"/>
              </a:rPr>
              <a:t>b=%h</a:t>
            </a:r>
            <a:r>
              <a:rPr lang="zh-CN" altLang="en-US" sz="1800" dirty="0">
                <a:solidFill>
                  <a:srgbClr val="333333"/>
                </a:solidFill>
                <a:latin typeface="Courier New" panose="02070309020205020404" pitchFamily="49" charset="0"/>
              </a:rPr>
              <a:t>，</a:t>
            </a:r>
            <a:r>
              <a:rPr lang="pt-BR" altLang="zh-CN" sz="1800" dirty="0">
                <a:solidFill>
                  <a:srgbClr val="333333"/>
                </a:solidFill>
                <a:latin typeface="Courier New" panose="02070309020205020404" pitchFamily="49" charset="0"/>
              </a:rPr>
              <a:t>sum=%h", a, b, sum);</a:t>
            </a:r>
            <a:endParaRPr lang="en-US" altLang="zh-CN" sz="1800" dirty="0">
              <a:solidFill>
                <a:srgbClr val="333333"/>
              </a:solidFill>
              <a:latin typeface="Courier New" panose="02070309020205020404" pitchFamily="49" charset="0"/>
            </a:endParaRPr>
          </a:p>
          <a:p>
            <a:pPr marL="0" indent="0">
              <a:lnSpc>
                <a:spcPct val="80000"/>
              </a:lnSpc>
              <a:spcBef>
                <a:spcPts val="600"/>
              </a:spcBef>
              <a:buNone/>
            </a:pPr>
            <a:r>
              <a:rPr lang="en-US" altLang="zh-CN" sz="1800" dirty="0">
                <a:solidFill>
                  <a:srgbClr val="333333"/>
                </a:solidFill>
                <a:latin typeface="Courier New" panose="02070309020205020404" pitchFamily="49" charset="0"/>
              </a:rPr>
              <a:t>      </a:t>
            </a:r>
            <a:r>
              <a:rPr lang="en-US" altLang="zh-CN" sz="1800" dirty="0">
                <a:solidFill>
                  <a:srgbClr val="0000FF"/>
                </a:solidFill>
                <a:latin typeface="Courier New" panose="02070309020205020404" pitchFamily="49" charset="0"/>
              </a:rPr>
              <a:t>end</a:t>
            </a:r>
          </a:p>
          <a:p>
            <a:pPr marL="0" indent="0">
              <a:lnSpc>
                <a:spcPct val="80000"/>
              </a:lnSpc>
              <a:spcBef>
                <a:spcPts val="600"/>
              </a:spcBef>
              <a:buNone/>
            </a:pPr>
            <a:r>
              <a:rPr lang="en-US" altLang="zh-CN" sz="1800" dirty="0">
                <a:solidFill>
                  <a:srgbClr val="333333"/>
                </a:solidFill>
                <a:latin typeface="Courier New" panose="02070309020205020404" pitchFamily="49" charset="0"/>
              </a:rPr>
              <a:t>      </a:t>
            </a:r>
            <a:r>
              <a:rPr lang="en-US" altLang="zh-CN" sz="1800" dirty="0">
                <a:solidFill>
                  <a:srgbClr val="0070C0"/>
                </a:solidFill>
                <a:latin typeface="Courier New" panose="02070309020205020404" pitchFamily="49" charset="0"/>
              </a:rPr>
              <a:t>$finish</a:t>
            </a:r>
            <a:r>
              <a:rPr lang="en-US" altLang="zh-CN" sz="1800" dirty="0">
                <a:solidFill>
                  <a:srgbClr val="333333"/>
                </a:solidFill>
                <a:latin typeface="Courier New" panose="02070309020205020404" pitchFamily="49" charset="0"/>
              </a:rPr>
              <a:t>; // </a:t>
            </a:r>
            <a:r>
              <a:rPr lang="zh-CN" altLang="en-US" sz="1800" dirty="0">
                <a:solidFill>
                  <a:srgbClr val="333333"/>
                </a:solidFill>
                <a:latin typeface="Courier New" panose="02070309020205020404" pitchFamily="49" charset="0"/>
              </a:rPr>
              <a:t>结束仿真</a:t>
            </a:r>
          </a:p>
          <a:p>
            <a:pPr marL="0" indent="0">
              <a:lnSpc>
                <a:spcPct val="80000"/>
              </a:lnSpc>
              <a:spcBef>
                <a:spcPts val="600"/>
              </a:spcBef>
              <a:buNone/>
            </a:pPr>
            <a:r>
              <a:rPr lang="en-US" altLang="zh-CN" sz="1800" dirty="0">
                <a:solidFill>
                  <a:srgbClr val="0000FF"/>
                </a:solidFill>
                <a:latin typeface="Courier New" panose="02070309020205020404" pitchFamily="49" charset="0"/>
              </a:rPr>
              <a:t>end</a:t>
            </a:r>
          </a:p>
          <a:p>
            <a:pPr marL="0" indent="0">
              <a:lnSpc>
                <a:spcPct val="80000"/>
              </a:lnSpc>
              <a:spcBef>
                <a:spcPts val="600"/>
              </a:spcBef>
              <a:buNone/>
            </a:pPr>
            <a:r>
              <a:rPr lang="en-US" altLang="zh-CN" sz="1800" dirty="0" err="1">
                <a:solidFill>
                  <a:srgbClr val="0000FF"/>
                </a:solidFill>
                <a:latin typeface="Courier New" panose="02070309020205020404" pitchFamily="49" charset="0"/>
              </a:rPr>
              <a:t>endmodule</a:t>
            </a:r>
            <a:endParaRPr lang="en-US" altLang="zh-CN" sz="1800" dirty="0">
              <a:solidFill>
                <a:srgbClr val="0000FF"/>
              </a:solidFill>
              <a:latin typeface="Courier New" panose="02070309020205020404" pitchFamily="49" charset="0"/>
            </a:endParaRPr>
          </a:p>
        </p:txBody>
      </p:sp>
    </p:spTree>
    <p:extLst>
      <p:ext uri="{BB962C8B-B14F-4D97-AF65-F5344CB8AC3E}">
        <p14:creationId xmlns:p14="http://schemas.microsoft.com/office/powerpoint/2010/main" val="11877676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0F5101-7B55-25B1-4D5E-47F506AFAB61}"/>
              </a:ext>
            </a:extLst>
          </p:cNvPr>
          <p:cNvSpPr>
            <a:spLocks noGrp="1"/>
          </p:cNvSpPr>
          <p:nvPr>
            <p:ph type="title"/>
          </p:nvPr>
        </p:nvSpPr>
        <p:spPr>
          <a:xfrm>
            <a:off x="613834" y="209550"/>
            <a:ext cx="8596668" cy="850900"/>
          </a:xfrm>
        </p:spPr>
        <p:txBody>
          <a:bodyPr/>
          <a:lstStyle/>
          <a:p>
            <a:r>
              <a:rPr lang="zh-CN" altLang="zh-CN" sz="3600" dirty="0"/>
              <a:t>模块分割原则</a:t>
            </a:r>
            <a:endParaRPr lang="zh-CN" altLang="en-US" dirty="0"/>
          </a:p>
        </p:txBody>
      </p:sp>
      <p:sp>
        <p:nvSpPr>
          <p:cNvPr id="5" name="Rectangle 2">
            <a:extLst>
              <a:ext uri="{FF2B5EF4-FFF2-40B4-BE49-F238E27FC236}">
                <a16:creationId xmlns:a16="http://schemas.microsoft.com/office/drawing/2014/main" id="{F9990D3C-3A29-816E-7E3C-0D8A002E33EC}"/>
              </a:ext>
            </a:extLst>
          </p:cNvPr>
          <p:cNvSpPr>
            <a:spLocks noGrp="1" noChangeArrowheads="1"/>
          </p:cNvSpPr>
          <p:nvPr>
            <p:ph idx="1"/>
          </p:nvPr>
        </p:nvSpPr>
        <p:spPr bwMode="auto">
          <a:xfrm>
            <a:off x="770629" y="1036712"/>
            <a:ext cx="10650742" cy="4049827"/>
          </a:xfrm>
          <a:prstGeom prst="rect">
            <a:avLst/>
          </a:prstGeom>
          <a:noFill/>
          <a:ln>
            <a:noFill/>
          </a:ln>
          <a:effectLst/>
        </p:spPr>
        <p:txBody>
          <a:bodyPr vert="horz" wrap="square" lIns="0" tIns="0" rIns="0" bIns="0" numCol="1" anchor="ctr" anchorCtr="0" compatLnSpc="1">
            <a:prstTxWarp prst="textNoShape">
              <a:avLst/>
            </a:prstTxWarp>
            <a:spAutoFit/>
          </a:bodyPr>
          <a:lstStyle/>
          <a:p>
            <a:pPr marR="0" lvl="0" fontAlgn="base">
              <a:lnSpc>
                <a:spcPct val="150000"/>
              </a:lnSpc>
              <a:spcBef>
                <a:spcPts val="450"/>
              </a:spcBef>
              <a:spcAft>
                <a:spcPts val="450"/>
              </a:spcAft>
              <a:tabLst/>
            </a:pPr>
            <a:r>
              <a:rPr lang="zh-CN" altLang="zh-CN" sz="2400" b="1" dirty="0"/>
              <a:t>‌一个模块一个文件</a:t>
            </a:r>
            <a:r>
              <a:rPr lang="zh-CN" altLang="zh-CN" sz="2400" dirty="0"/>
              <a:t>‌：每个Verilog模块应存在于单独的源文件中，源文件名应与模块名相同。例如模块uart应放在uart.v文件中。</a:t>
            </a:r>
          </a:p>
          <a:p>
            <a:pPr marR="0" lvl="0" fontAlgn="base">
              <a:lnSpc>
                <a:spcPct val="150000"/>
              </a:lnSpc>
              <a:spcBef>
                <a:spcPts val="450"/>
              </a:spcBef>
              <a:spcAft>
                <a:spcPts val="450"/>
              </a:spcAft>
              <a:tabLst/>
            </a:pPr>
            <a:r>
              <a:rPr lang="zh-CN" altLang="zh-CN" sz="2400" b="1" dirty="0"/>
              <a:t>‌模块功能单一化</a:t>
            </a:r>
            <a:r>
              <a:rPr lang="zh-CN" altLang="zh-CN" sz="2400" dirty="0"/>
              <a:t>‌：每个模块应专注于单一功能，遵循"高内聚、低耦合"原则。</a:t>
            </a:r>
          </a:p>
          <a:p>
            <a:pPr marR="0" lvl="0" fontAlgn="base">
              <a:lnSpc>
                <a:spcPct val="150000"/>
              </a:lnSpc>
              <a:spcBef>
                <a:spcPts val="450"/>
              </a:spcBef>
              <a:spcAft>
                <a:spcPts val="450"/>
              </a:spcAft>
              <a:tabLst/>
            </a:pPr>
            <a:r>
              <a:rPr lang="zh-CN" altLang="zh-CN" sz="2400" dirty="0"/>
              <a:t>‌</a:t>
            </a:r>
            <a:r>
              <a:rPr lang="zh-CN" altLang="zh-CN" sz="2400" b="1" dirty="0"/>
              <a:t>层次化设计</a:t>
            </a:r>
            <a:r>
              <a:rPr lang="zh-CN" altLang="zh-CN" sz="2400" dirty="0"/>
              <a:t>‌：将复杂系统分解为多个层次，顶层模块只包含实例化和连线，具体实现放在子模块中。</a:t>
            </a:r>
            <a:endParaRPr lang="en-US" altLang="zh-CN" sz="2400" dirty="0"/>
          </a:p>
          <a:p>
            <a:pPr fontAlgn="base">
              <a:lnSpc>
                <a:spcPct val="150000"/>
              </a:lnSpc>
              <a:spcBef>
                <a:spcPts val="450"/>
              </a:spcBef>
              <a:spcAft>
                <a:spcPts val="450"/>
              </a:spcAft>
            </a:pPr>
            <a:r>
              <a:rPr lang="zh-CN" altLang="en-US" sz="2400" dirty="0"/>
              <a:t>将共享定义放在单独的头文件</a:t>
            </a:r>
            <a:r>
              <a:rPr lang="en-US" altLang="zh-CN" sz="2400" dirty="0"/>
              <a:t>(.h)</a:t>
            </a:r>
            <a:r>
              <a:rPr lang="zh-CN" altLang="en-US" sz="2400" dirty="0"/>
              <a:t>中。</a:t>
            </a:r>
            <a:endParaRPr lang="zh-CN" altLang="zh-CN" sz="24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177531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9D2327-D7D7-4EB6-59F8-8698994A683D}"/>
              </a:ext>
            </a:extLst>
          </p:cNvPr>
          <p:cNvSpPr>
            <a:spLocks noGrp="1"/>
          </p:cNvSpPr>
          <p:nvPr>
            <p:ph type="title"/>
          </p:nvPr>
        </p:nvSpPr>
        <p:spPr/>
        <p:txBody>
          <a:bodyPr/>
          <a:lstStyle/>
          <a:p>
            <a:r>
              <a:rPr lang="zh-CN" altLang="zh-CN" sz="3600" b="1" dirty="0"/>
              <a:t>命名规范</a:t>
            </a:r>
            <a:endParaRPr lang="zh-CN" altLang="en-US" dirty="0"/>
          </a:p>
        </p:txBody>
      </p:sp>
      <p:sp>
        <p:nvSpPr>
          <p:cNvPr id="5" name="Rectangle 2">
            <a:extLst>
              <a:ext uri="{FF2B5EF4-FFF2-40B4-BE49-F238E27FC236}">
                <a16:creationId xmlns:a16="http://schemas.microsoft.com/office/drawing/2014/main" id="{604E97B1-19F9-2B26-34A1-08208DBF8154}"/>
              </a:ext>
            </a:extLst>
          </p:cNvPr>
          <p:cNvSpPr>
            <a:spLocks noGrp="1" noChangeArrowheads="1"/>
          </p:cNvSpPr>
          <p:nvPr>
            <p:ph idx="1"/>
          </p:nvPr>
        </p:nvSpPr>
        <p:spPr bwMode="auto">
          <a:xfrm>
            <a:off x="677334" y="1698622"/>
            <a:ext cx="10931570" cy="2941831"/>
          </a:xfrm>
          <a:prstGeom prst="rect">
            <a:avLst/>
          </a:prstGeom>
          <a:noFill/>
          <a:ln>
            <a:noFill/>
          </a:ln>
          <a:effectLst/>
        </p:spPr>
        <p:txBody>
          <a:bodyPr vert="horz" wrap="square" lIns="17457" tIns="0" rIns="17457" bIns="0" numCol="1" anchor="ctr" anchorCtr="0" compatLnSpc="1">
            <a:prstTxWarp prst="textNoShape">
              <a:avLst/>
            </a:prstTxWarp>
            <a:spAutoFit/>
          </a:bodyPr>
          <a:lstStyle/>
          <a:p>
            <a:pPr marR="0" lvl="0" fontAlgn="base">
              <a:lnSpc>
                <a:spcPct val="150000"/>
              </a:lnSpc>
              <a:spcBef>
                <a:spcPts val="450"/>
              </a:spcBef>
              <a:spcAft>
                <a:spcPts val="450"/>
              </a:spcAft>
              <a:tabLst/>
            </a:pPr>
            <a:r>
              <a:rPr lang="zh-CN" altLang="zh-CN" sz="2400" dirty="0"/>
              <a:t>模块名、文件名使用小写字母和下划线组合，如fifo_controller.v</a:t>
            </a:r>
            <a:r>
              <a:rPr lang="zh-CN" altLang="en-US" sz="2400" dirty="0"/>
              <a:t>。</a:t>
            </a:r>
            <a:endParaRPr lang="zh-CN" altLang="zh-CN" sz="2400" dirty="0"/>
          </a:p>
          <a:p>
            <a:pPr marR="0" lvl="0" fontAlgn="base">
              <a:lnSpc>
                <a:spcPct val="150000"/>
              </a:lnSpc>
              <a:spcBef>
                <a:spcPts val="450"/>
              </a:spcBef>
              <a:spcAft>
                <a:spcPts val="450"/>
              </a:spcAft>
              <a:tabLst/>
            </a:pPr>
            <a:r>
              <a:rPr lang="zh-CN" altLang="zh-CN" sz="2400" dirty="0"/>
              <a:t>避免使用Verilog</a:t>
            </a:r>
            <a:r>
              <a:rPr lang="zh-CN" altLang="en-US" sz="2400" dirty="0"/>
              <a:t>的</a:t>
            </a:r>
            <a:r>
              <a:rPr lang="zh-CN" altLang="zh-CN" sz="2400" dirty="0"/>
              <a:t>保留关键字作为标识符</a:t>
            </a:r>
            <a:r>
              <a:rPr lang="zh-CN" altLang="en-US" sz="2400" dirty="0"/>
              <a:t>。</a:t>
            </a:r>
            <a:endParaRPr lang="zh-CN" altLang="zh-CN" sz="2400" dirty="0"/>
          </a:p>
          <a:p>
            <a:pPr marR="0" lvl="0" fontAlgn="base">
              <a:lnSpc>
                <a:spcPct val="150000"/>
              </a:lnSpc>
              <a:spcBef>
                <a:spcPts val="450"/>
              </a:spcBef>
              <a:spcAft>
                <a:spcPts val="450"/>
              </a:spcAft>
              <a:tabLst/>
            </a:pPr>
            <a:r>
              <a:rPr lang="zh-CN" altLang="zh-CN" sz="2400" dirty="0"/>
              <a:t>常量名和宏定义使用大写字母，如DATA_WIDTH</a:t>
            </a:r>
            <a:r>
              <a:rPr lang="zh-CN" altLang="en-US" sz="2400" dirty="0"/>
              <a:t>。</a:t>
            </a:r>
            <a:endParaRPr lang="zh-CN" altLang="zh-CN" sz="2400" dirty="0"/>
          </a:p>
          <a:p>
            <a:pPr marR="0" lvl="0" fontAlgn="base">
              <a:lnSpc>
                <a:spcPct val="150000"/>
              </a:lnSpc>
              <a:spcBef>
                <a:spcPts val="450"/>
              </a:spcBef>
              <a:spcAft>
                <a:spcPts val="450"/>
              </a:spcAft>
              <a:tabLst/>
            </a:pPr>
            <a:r>
              <a:rPr lang="zh-CN" altLang="zh-CN" sz="2400" dirty="0"/>
              <a:t>低电平有效信号加_n后缀，如reset_n</a:t>
            </a:r>
            <a:r>
              <a:rPr lang="zh-CN" altLang="en-US" sz="2400" dirty="0"/>
              <a:t>。</a:t>
            </a:r>
            <a:endParaRPr lang="zh-CN" altLang="zh-CN" sz="24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114207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060E18-42CE-49B6-34DF-DE758A5D6D36}"/>
              </a:ext>
            </a:extLst>
          </p:cNvPr>
          <p:cNvSpPr>
            <a:spLocks noGrp="1"/>
          </p:cNvSpPr>
          <p:nvPr>
            <p:ph type="title"/>
          </p:nvPr>
        </p:nvSpPr>
        <p:spPr>
          <a:xfrm>
            <a:off x="677334" y="609600"/>
            <a:ext cx="8596668" cy="704850"/>
          </a:xfrm>
        </p:spPr>
        <p:txBody>
          <a:bodyPr/>
          <a:lstStyle/>
          <a:p>
            <a:r>
              <a:rPr lang="en-US" altLang="zh-CN" b="1" i="0" dirty="0">
                <a:solidFill>
                  <a:srgbClr val="333333"/>
                </a:solidFill>
                <a:effectLst/>
                <a:latin typeface="PingFang SC"/>
              </a:rPr>
              <a:t>`include</a:t>
            </a:r>
            <a:r>
              <a:rPr lang="zh-CN" altLang="en-US" b="1" i="0" dirty="0">
                <a:solidFill>
                  <a:srgbClr val="333333"/>
                </a:solidFill>
                <a:effectLst/>
                <a:latin typeface="PingFang SC"/>
              </a:rPr>
              <a:t>的适用场景</a:t>
            </a:r>
            <a:endParaRPr lang="zh-CN" altLang="en-US" dirty="0"/>
          </a:p>
        </p:txBody>
      </p:sp>
      <p:graphicFrame>
        <p:nvGraphicFramePr>
          <p:cNvPr id="4" name="内容占位符 3">
            <a:extLst>
              <a:ext uri="{FF2B5EF4-FFF2-40B4-BE49-F238E27FC236}">
                <a16:creationId xmlns:a16="http://schemas.microsoft.com/office/drawing/2014/main" id="{5DAAD4B0-DC94-C386-8E1C-B1C53A849577}"/>
              </a:ext>
            </a:extLst>
          </p:cNvPr>
          <p:cNvGraphicFramePr>
            <a:graphicFrameLocks noGrp="1"/>
          </p:cNvGraphicFramePr>
          <p:nvPr>
            <p:ph idx="1"/>
            <p:extLst>
              <p:ext uri="{D42A27DB-BD31-4B8C-83A1-F6EECF244321}">
                <p14:modId xmlns:p14="http://schemas.microsoft.com/office/powerpoint/2010/main" val="3074446412"/>
              </p:ext>
            </p:extLst>
          </p:nvPr>
        </p:nvGraphicFramePr>
        <p:xfrm>
          <a:off x="1195918" y="2455922"/>
          <a:ext cx="9800164" cy="2437091"/>
        </p:xfrm>
        <a:graphic>
          <a:graphicData uri="http://schemas.openxmlformats.org/drawingml/2006/table">
            <a:tbl>
              <a:tblPr/>
              <a:tblGrid>
                <a:gridCol w="2573131">
                  <a:extLst>
                    <a:ext uri="{9D8B030D-6E8A-4147-A177-3AD203B41FA5}">
                      <a16:colId xmlns:a16="http://schemas.microsoft.com/office/drawing/2014/main" val="2578757187"/>
                    </a:ext>
                  </a:extLst>
                </a:gridCol>
                <a:gridCol w="2573131">
                  <a:extLst>
                    <a:ext uri="{9D8B030D-6E8A-4147-A177-3AD203B41FA5}">
                      <a16:colId xmlns:a16="http://schemas.microsoft.com/office/drawing/2014/main" val="2594757187"/>
                    </a:ext>
                  </a:extLst>
                </a:gridCol>
                <a:gridCol w="4653902">
                  <a:extLst>
                    <a:ext uri="{9D8B030D-6E8A-4147-A177-3AD203B41FA5}">
                      <a16:colId xmlns:a16="http://schemas.microsoft.com/office/drawing/2014/main" val="61776834"/>
                    </a:ext>
                  </a:extLst>
                </a:gridCol>
              </a:tblGrid>
              <a:tr h="805875">
                <a:tc>
                  <a:txBody>
                    <a:bodyPr/>
                    <a:lstStyle/>
                    <a:p>
                      <a:r>
                        <a:rPr lang="zh-CN" altLang="en-US" sz="2400" dirty="0">
                          <a:effectLst/>
                          <a:latin typeface="PingFang SC"/>
                        </a:rPr>
                        <a:t>场景</a:t>
                      </a:r>
                    </a:p>
                  </a:txBody>
                  <a:tcPr marL="51908" marR="51908" marT="34065" marB="24332" anchor="ctr">
                    <a:lnL w="4763" cap="flat" cmpd="sng" algn="ctr">
                      <a:solidFill>
                        <a:srgbClr val="504250"/>
                      </a:solidFill>
                      <a:prstDash val="solid"/>
                      <a:round/>
                      <a:headEnd type="none" w="med" len="med"/>
                      <a:tailEnd type="none" w="med" len="med"/>
                    </a:lnL>
                    <a:lnR w="4763" cap="flat" cmpd="sng" algn="ctr">
                      <a:solidFill>
                        <a:srgbClr val="504250"/>
                      </a:solidFill>
                      <a:prstDash val="solid"/>
                      <a:round/>
                      <a:headEnd type="none" w="med" len="med"/>
                      <a:tailEnd type="none" w="med" len="med"/>
                    </a:lnR>
                    <a:lnT w="4763" cap="flat" cmpd="sng" algn="ctr">
                      <a:solidFill>
                        <a:srgbClr val="504250"/>
                      </a:solidFill>
                      <a:prstDash val="solid"/>
                      <a:round/>
                      <a:headEnd type="none" w="med" len="med"/>
                      <a:tailEnd type="none" w="med" len="med"/>
                    </a:lnT>
                    <a:lnB w="4763" cap="flat" cmpd="sng" algn="ctr">
                      <a:solidFill>
                        <a:srgbClr val="504250"/>
                      </a:solidFill>
                      <a:prstDash val="solid"/>
                      <a:round/>
                      <a:headEnd type="none" w="med" len="med"/>
                      <a:tailEnd type="none" w="med" len="med"/>
                    </a:lnB>
                    <a:noFill/>
                  </a:tcPr>
                </a:tc>
                <a:tc>
                  <a:txBody>
                    <a:bodyPr/>
                    <a:lstStyle/>
                    <a:p>
                      <a:r>
                        <a:rPr lang="zh-CN" altLang="en-US" sz="2400">
                          <a:effectLst/>
                          <a:latin typeface="PingFang SC"/>
                        </a:rPr>
                        <a:t>是否需要</a:t>
                      </a:r>
                      <a:r>
                        <a:rPr lang="en-US" altLang="zh-CN" sz="2400">
                          <a:effectLst/>
                          <a:latin typeface="PingFang SC"/>
                        </a:rPr>
                        <a:t>`</a:t>
                      </a:r>
                      <a:r>
                        <a:rPr lang="en-US" sz="2400">
                          <a:effectLst/>
                          <a:latin typeface="PingFang SC"/>
                        </a:rPr>
                        <a:t>include</a:t>
                      </a:r>
                    </a:p>
                  </a:txBody>
                  <a:tcPr marL="51908" marR="51908" marT="34065" marB="24332" anchor="ctr">
                    <a:lnL w="4763" cap="flat" cmpd="sng" algn="ctr">
                      <a:solidFill>
                        <a:srgbClr val="504250"/>
                      </a:solidFill>
                      <a:prstDash val="solid"/>
                      <a:round/>
                      <a:headEnd type="none" w="med" len="med"/>
                      <a:tailEnd type="none" w="med" len="med"/>
                    </a:lnL>
                    <a:lnR w="4763" cap="flat" cmpd="sng" algn="ctr">
                      <a:solidFill>
                        <a:srgbClr val="B03C50"/>
                      </a:solidFill>
                      <a:prstDash val="solid"/>
                      <a:round/>
                      <a:headEnd type="none" w="med" len="med"/>
                      <a:tailEnd type="none" w="med" len="med"/>
                    </a:lnR>
                    <a:lnT w="4763" cap="flat" cmpd="sng" algn="ctr">
                      <a:solidFill>
                        <a:srgbClr val="B03C50"/>
                      </a:solidFill>
                      <a:prstDash val="solid"/>
                      <a:round/>
                      <a:headEnd type="none" w="med" len="med"/>
                      <a:tailEnd type="none" w="med" len="med"/>
                    </a:lnT>
                    <a:lnB w="4763" cap="flat" cmpd="sng" algn="ctr">
                      <a:solidFill>
                        <a:srgbClr val="B03C50"/>
                      </a:solidFill>
                      <a:prstDash val="solid"/>
                      <a:round/>
                      <a:headEnd type="none" w="med" len="med"/>
                      <a:tailEnd type="none" w="med" len="med"/>
                    </a:lnB>
                    <a:noFill/>
                  </a:tcPr>
                </a:tc>
                <a:tc>
                  <a:txBody>
                    <a:bodyPr/>
                    <a:lstStyle/>
                    <a:p>
                      <a:r>
                        <a:rPr lang="zh-CN" altLang="en-US" sz="2400" dirty="0">
                          <a:effectLst/>
                          <a:latin typeface="PingFang SC"/>
                        </a:rPr>
                        <a:t>说明</a:t>
                      </a:r>
                    </a:p>
                  </a:txBody>
                  <a:tcPr marL="51908" marR="51908" marT="34065" marB="24332" anchor="ctr">
                    <a:lnL w="4763" cap="flat" cmpd="sng" algn="ctr">
                      <a:solidFill>
                        <a:srgbClr val="B03C50"/>
                      </a:solidFill>
                      <a:prstDash val="solid"/>
                      <a:round/>
                      <a:headEnd type="none" w="med" len="med"/>
                      <a:tailEnd type="none" w="med" len="med"/>
                    </a:lnL>
                    <a:lnR w="4763" cap="flat" cmpd="sng" algn="ctr">
                      <a:solidFill>
                        <a:srgbClr val="803F50"/>
                      </a:solidFill>
                      <a:prstDash val="solid"/>
                      <a:round/>
                      <a:headEnd type="none" w="med" len="med"/>
                      <a:tailEnd type="none" w="med" len="med"/>
                    </a:lnR>
                    <a:lnT w="4763" cap="flat" cmpd="sng" algn="ctr">
                      <a:solidFill>
                        <a:srgbClr val="803F50"/>
                      </a:solidFill>
                      <a:prstDash val="solid"/>
                      <a:round/>
                      <a:headEnd type="none" w="med" len="med"/>
                      <a:tailEnd type="none" w="med" len="med"/>
                    </a:lnT>
                    <a:lnB w="4763" cap="flat" cmpd="sng" algn="ctr">
                      <a:solidFill>
                        <a:srgbClr val="803F50"/>
                      </a:solidFill>
                      <a:prstDash val="solid"/>
                      <a:round/>
                      <a:headEnd type="none" w="med" len="med"/>
                      <a:tailEnd type="none" w="med" len="med"/>
                    </a:lnB>
                    <a:noFill/>
                  </a:tcPr>
                </a:tc>
                <a:extLst>
                  <a:ext uri="{0D108BD9-81ED-4DB2-BD59-A6C34878D82A}">
                    <a16:rowId xmlns:a16="http://schemas.microsoft.com/office/drawing/2014/main" val="696671316"/>
                  </a:ext>
                </a:extLst>
              </a:tr>
              <a:tr h="815608">
                <a:tc>
                  <a:txBody>
                    <a:bodyPr/>
                    <a:lstStyle/>
                    <a:p>
                      <a:r>
                        <a:rPr lang="zh-CN" altLang="en-US" sz="2400" dirty="0">
                          <a:effectLst/>
                        </a:rPr>
                        <a:t>实例化其他模块</a:t>
                      </a:r>
                    </a:p>
                  </a:txBody>
                  <a:tcPr marL="51908" marR="51908" marT="34065" marB="34065" anchor="ctr">
                    <a:lnL w="4763" cap="flat" cmpd="sng" algn="ctr">
                      <a:solidFill>
                        <a:srgbClr val="803F50"/>
                      </a:solidFill>
                      <a:prstDash val="solid"/>
                      <a:round/>
                      <a:headEnd type="none" w="med" len="med"/>
                      <a:tailEnd type="none" w="med" len="med"/>
                    </a:lnL>
                    <a:lnR w="4763" cap="flat" cmpd="sng" algn="ctr">
                      <a:solidFill>
                        <a:srgbClr val="803F50"/>
                      </a:solidFill>
                      <a:prstDash val="solid"/>
                      <a:round/>
                      <a:headEnd type="none" w="med" len="med"/>
                      <a:tailEnd type="none" w="med" len="med"/>
                    </a:lnR>
                    <a:lnT w="4763" cap="flat" cmpd="sng" algn="ctr">
                      <a:solidFill>
                        <a:srgbClr val="504250"/>
                      </a:solidFill>
                      <a:prstDash val="solid"/>
                      <a:round/>
                      <a:headEnd type="none" w="med" len="med"/>
                      <a:tailEnd type="none" w="med" len="med"/>
                    </a:lnT>
                    <a:lnB w="4763" cap="flat" cmpd="sng" algn="ctr">
                      <a:solidFill>
                        <a:srgbClr val="803F50"/>
                      </a:solidFill>
                      <a:prstDash val="solid"/>
                      <a:round/>
                      <a:headEnd type="none" w="med" len="med"/>
                      <a:tailEnd type="none" w="med" len="med"/>
                    </a:lnB>
                    <a:noFill/>
                  </a:tcPr>
                </a:tc>
                <a:tc>
                  <a:txBody>
                    <a:bodyPr/>
                    <a:lstStyle/>
                    <a:p>
                      <a:pPr algn="ctr"/>
                      <a:r>
                        <a:rPr lang="zh-CN" altLang="en-US" sz="2400" dirty="0">
                          <a:effectLst/>
                        </a:rPr>
                        <a:t>不需要</a:t>
                      </a:r>
                    </a:p>
                  </a:txBody>
                  <a:tcPr marL="51908" marR="51908" marT="34065" marB="34065" anchor="ctr">
                    <a:lnL w="4763" cap="flat" cmpd="sng" algn="ctr">
                      <a:solidFill>
                        <a:srgbClr val="803F50"/>
                      </a:solidFill>
                      <a:prstDash val="solid"/>
                      <a:round/>
                      <a:headEnd type="none" w="med" len="med"/>
                      <a:tailEnd type="none" w="med" len="med"/>
                    </a:lnL>
                    <a:lnR w="4763" cap="flat" cmpd="sng" algn="ctr">
                      <a:solidFill>
                        <a:srgbClr val="F04C50"/>
                      </a:solidFill>
                      <a:prstDash val="solid"/>
                      <a:round/>
                      <a:headEnd type="none" w="med" len="med"/>
                      <a:tailEnd type="none" w="med" len="med"/>
                    </a:lnR>
                    <a:lnT w="4763" cap="flat" cmpd="sng" algn="ctr">
                      <a:solidFill>
                        <a:srgbClr val="B03C50"/>
                      </a:solidFill>
                      <a:prstDash val="solid"/>
                      <a:round/>
                      <a:headEnd type="none" w="med" len="med"/>
                      <a:tailEnd type="none" w="med" len="med"/>
                    </a:lnT>
                    <a:lnB w="4763" cap="flat" cmpd="sng" algn="ctr">
                      <a:solidFill>
                        <a:srgbClr val="F04C50"/>
                      </a:solidFill>
                      <a:prstDash val="solid"/>
                      <a:round/>
                      <a:headEnd type="none" w="med" len="med"/>
                      <a:tailEnd type="none" w="med" len="med"/>
                    </a:lnB>
                    <a:noFill/>
                  </a:tcPr>
                </a:tc>
                <a:tc>
                  <a:txBody>
                    <a:bodyPr/>
                    <a:lstStyle/>
                    <a:p>
                      <a:r>
                        <a:rPr lang="zh-CN" altLang="en-US" sz="2400" dirty="0">
                          <a:effectLst/>
                        </a:rPr>
                        <a:t>依赖编译系统解决模块引用</a:t>
                      </a:r>
                    </a:p>
                  </a:txBody>
                  <a:tcPr marL="51908" marR="51908" marT="34065" marB="34065" anchor="ctr">
                    <a:lnL w="4763" cap="flat" cmpd="sng" algn="ctr">
                      <a:solidFill>
                        <a:srgbClr val="F04C50"/>
                      </a:solidFill>
                      <a:prstDash val="solid"/>
                      <a:round/>
                      <a:headEnd type="none" w="med" len="med"/>
                      <a:tailEnd type="none" w="med" len="med"/>
                    </a:lnL>
                    <a:lnR w="4763" cap="flat" cmpd="sng" algn="ctr">
                      <a:solidFill>
                        <a:srgbClr val="604B50"/>
                      </a:solidFill>
                      <a:prstDash val="solid"/>
                      <a:round/>
                      <a:headEnd type="none" w="med" len="med"/>
                      <a:tailEnd type="none" w="med" len="med"/>
                    </a:lnR>
                    <a:lnT w="4763" cap="flat" cmpd="sng" algn="ctr">
                      <a:solidFill>
                        <a:srgbClr val="803F50"/>
                      </a:solidFill>
                      <a:prstDash val="solid"/>
                      <a:round/>
                      <a:headEnd type="none" w="med" len="med"/>
                      <a:tailEnd type="none" w="med" len="med"/>
                    </a:lnT>
                    <a:lnB w="4763" cap="flat" cmpd="sng" algn="ctr">
                      <a:solidFill>
                        <a:srgbClr val="604B50"/>
                      </a:solidFill>
                      <a:prstDash val="solid"/>
                      <a:round/>
                      <a:headEnd type="none" w="med" len="med"/>
                      <a:tailEnd type="none" w="med" len="med"/>
                    </a:lnB>
                    <a:noFill/>
                  </a:tcPr>
                </a:tc>
                <a:extLst>
                  <a:ext uri="{0D108BD9-81ED-4DB2-BD59-A6C34878D82A}">
                    <a16:rowId xmlns:a16="http://schemas.microsoft.com/office/drawing/2014/main" val="4208227416"/>
                  </a:ext>
                </a:extLst>
              </a:tr>
              <a:tr h="815608">
                <a:tc>
                  <a:txBody>
                    <a:bodyPr/>
                    <a:lstStyle/>
                    <a:p>
                      <a:r>
                        <a:rPr lang="zh-CN" altLang="en-US" sz="2400" dirty="0">
                          <a:effectLst/>
                        </a:rPr>
                        <a:t>使用共享宏定义</a:t>
                      </a:r>
                    </a:p>
                  </a:txBody>
                  <a:tcPr marL="51908" marR="51908" marT="34065" marB="34065" anchor="ctr">
                    <a:lnL w="4763" cap="flat" cmpd="sng" algn="ctr">
                      <a:solidFill>
                        <a:srgbClr val="103C50"/>
                      </a:solidFill>
                      <a:prstDash val="solid"/>
                      <a:round/>
                      <a:headEnd type="none" w="med" len="med"/>
                      <a:tailEnd type="none" w="med" len="med"/>
                    </a:lnL>
                    <a:lnR w="4763" cap="flat" cmpd="sng" algn="ctr">
                      <a:solidFill>
                        <a:srgbClr val="103C50"/>
                      </a:solidFill>
                      <a:prstDash val="solid"/>
                      <a:round/>
                      <a:headEnd type="none" w="med" len="med"/>
                      <a:tailEnd type="none" w="med" len="med"/>
                    </a:lnR>
                    <a:lnT w="4763" cap="flat" cmpd="sng" algn="ctr">
                      <a:solidFill>
                        <a:srgbClr val="803F50"/>
                      </a:solidFill>
                      <a:prstDash val="solid"/>
                      <a:round/>
                      <a:headEnd type="none" w="med" len="med"/>
                      <a:tailEnd type="none" w="med" len="med"/>
                    </a:lnT>
                    <a:lnB w="4763" cap="flat" cmpd="sng" algn="ctr">
                      <a:solidFill>
                        <a:srgbClr val="103C50"/>
                      </a:solidFill>
                      <a:prstDash val="solid"/>
                      <a:round/>
                      <a:headEnd type="none" w="med" len="med"/>
                      <a:tailEnd type="none" w="med" len="med"/>
                    </a:lnB>
                    <a:noFill/>
                  </a:tcPr>
                </a:tc>
                <a:tc>
                  <a:txBody>
                    <a:bodyPr/>
                    <a:lstStyle/>
                    <a:p>
                      <a:pPr algn="ctr"/>
                      <a:r>
                        <a:rPr lang="zh-CN" altLang="en-US" sz="2400" dirty="0">
                          <a:effectLst/>
                        </a:rPr>
                        <a:t>需要</a:t>
                      </a:r>
                    </a:p>
                  </a:txBody>
                  <a:tcPr marL="51908" marR="51908" marT="34065" marB="34065" anchor="ctr">
                    <a:lnL w="4763" cap="flat" cmpd="sng" algn="ctr">
                      <a:solidFill>
                        <a:srgbClr val="103C50"/>
                      </a:solidFill>
                      <a:prstDash val="solid"/>
                      <a:round/>
                      <a:headEnd type="none" w="med" len="med"/>
                      <a:tailEnd type="none" w="med" len="med"/>
                    </a:lnL>
                    <a:lnR w="4763" cap="flat" cmpd="sng" algn="ctr">
                      <a:solidFill>
                        <a:srgbClr val="303F50"/>
                      </a:solidFill>
                      <a:prstDash val="solid"/>
                      <a:round/>
                      <a:headEnd type="none" w="med" len="med"/>
                      <a:tailEnd type="none" w="med" len="med"/>
                    </a:lnR>
                    <a:lnT w="4763" cap="flat" cmpd="sng" algn="ctr">
                      <a:solidFill>
                        <a:srgbClr val="F04C50"/>
                      </a:solidFill>
                      <a:prstDash val="solid"/>
                      <a:round/>
                      <a:headEnd type="none" w="med" len="med"/>
                      <a:tailEnd type="none" w="med" len="med"/>
                    </a:lnT>
                    <a:lnB w="4763" cap="flat" cmpd="sng" algn="ctr">
                      <a:solidFill>
                        <a:srgbClr val="303F50"/>
                      </a:solidFill>
                      <a:prstDash val="solid"/>
                      <a:round/>
                      <a:headEnd type="none" w="med" len="med"/>
                      <a:tailEnd type="none" w="med" len="med"/>
                    </a:lnB>
                    <a:noFill/>
                  </a:tcPr>
                </a:tc>
                <a:tc>
                  <a:txBody>
                    <a:bodyPr/>
                    <a:lstStyle/>
                    <a:p>
                      <a:r>
                        <a:rPr lang="zh-CN" altLang="en-US" sz="2400" dirty="0">
                          <a:effectLst/>
                        </a:rPr>
                        <a:t>如</a:t>
                      </a:r>
                      <a:r>
                        <a:rPr lang="en-US" altLang="zh-CN" sz="2400" dirty="0">
                          <a:effectLst/>
                        </a:rPr>
                        <a:t>`</a:t>
                      </a:r>
                      <a:r>
                        <a:rPr lang="en-US" sz="2400" dirty="0">
                          <a:effectLst/>
                        </a:rPr>
                        <a:t>define、</a:t>
                      </a:r>
                      <a:r>
                        <a:rPr lang="zh-CN" altLang="en-US" sz="2400" dirty="0">
                          <a:effectLst/>
                        </a:rPr>
                        <a:t>参数定义</a:t>
                      </a:r>
                    </a:p>
                  </a:txBody>
                  <a:tcPr marL="51908" marR="51908" marT="34065" marB="34065" anchor="ctr">
                    <a:lnL w="4763" cap="flat" cmpd="sng" algn="ctr">
                      <a:solidFill>
                        <a:srgbClr val="303F50"/>
                      </a:solidFill>
                      <a:prstDash val="solid"/>
                      <a:round/>
                      <a:headEnd type="none" w="med" len="med"/>
                      <a:tailEnd type="none" w="med" len="med"/>
                    </a:lnL>
                    <a:lnR w="4763" cap="flat" cmpd="sng" algn="ctr">
                      <a:solidFill>
                        <a:srgbClr val="303F50"/>
                      </a:solidFill>
                      <a:prstDash val="solid"/>
                      <a:round/>
                      <a:headEnd type="none" w="med" len="med"/>
                      <a:tailEnd type="none" w="med" len="med"/>
                    </a:lnR>
                    <a:lnT w="4763" cap="flat" cmpd="sng" algn="ctr">
                      <a:solidFill>
                        <a:srgbClr val="604B50"/>
                      </a:solidFill>
                      <a:prstDash val="solid"/>
                      <a:round/>
                      <a:headEnd type="none" w="med" len="med"/>
                      <a:tailEnd type="none" w="med" len="med"/>
                    </a:lnT>
                    <a:lnB w="4763" cap="flat" cmpd="sng" algn="ctr">
                      <a:solidFill>
                        <a:srgbClr val="303F50"/>
                      </a:solidFill>
                      <a:prstDash val="solid"/>
                      <a:round/>
                      <a:headEnd type="none" w="med" len="med"/>
                      <a:tailEnd type="none" w="med" len="med"/>
                    </a:lnB>
                    <a:noFill/>
                  </a:tcPr>
                </a:tc>
                <a:extLst>
                  <a:ext uri="{0D108BD9-81ED-4DB2-BD59-A6C34878D82A}">
                    <a16:rowId xmlns:a16="http://schemas.microsoft.com/office/drawing/2014/main" val="194639004"/>
                  </a:ext>
                </a:extLst>
              </a:tr>
            </a:tbl>
          </a:graphicData>
        </a:graphic>
      </p:graphicFrame>
    </p:spTree>
    <p:extLst>
      <p:ext uri="{BB962C8B-B14F-4D97-AF65-F5344CB8AC3E}">
        <p14:creationId xmlns:p14="http://schemas.microsoft.com/office/powerpoint/2010/main" val="26213413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47BB3D-C439-C0A6-2405-55F69AA3BEFA}"/>
              </a:ext>
            </a:extLst>
          </p:cNvPr>
          <p:cNvSpPr>
            <a:spLocks noGrp="1"/>
          </p:cNvSpPr>
          <p:nvPr>
            <p:ph type="title"/>
          </p:nvPr>
        </p:nvSpPr>
        <p:spPr>
          <a:xfrm>
            <a:off x="1797666" y="2768600"/>
            <a:ext cx="8596668" cy="1320800"/>
          </a:xfrm>
        </p:spPr>
        <p:txBody>
          <a:bodyPr/>
          <a:lstStyle/>
          <a:p>
            <a:pPr algn="ctr"/>
            <a:r>
              <a:rPr lang="en-US" altLang="zh-CN" dirty="0"/>
              <a:t>3  </a:t>
            </a:r>
            <a:r>
              <a:rPr lang="zh-CN" altLang="en-US" dirty="0"/>
              <a:t>数字电路具体描述方法</a:t>
            </a:r>
          </a:p>
        </p:txBody>
      </p:sp>
    </p:spTree>
    <p:extLst>
      <p:ext uri="{BB962C8B-B14F-4D97-AF65-F5344CB8AC3E}">
        <p14:creationId xmlns:p14="http://schemas.microsoft.com/office/powerpoint/2010/main" val="28363588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8450" y="371692"/>
            <a:ext cx="8596668" cy="1320800"/>
          </a:xfrm>
        </p:spPr>
        <p:txBody>
          <a:bodyPr/>
          <a:lstStyle/>
          <a:p>
            <a:r>
              <a:rPr lang="en-US" altLang="zh-CN" b="1" dirty="0"/>
              <a:t>3.1  </a:t>
            </a:r>
            <a:r>
              <a:rPr lang="zh-CN" altLang="en-US" b="1" dirty="0"/>
              <a:t>组合逻辑描述方法</a:t>
            </a:r>
          </a:p>
        </p:txBody>
      </p:sp>
      <p:sp>
        <p:nvSpPr>
          <p:cNvPr id="3" name="内容占位符 2"/>
          <p:cNvSpPr>
            <a:spLocks noGrp="1"/>
          </p:cNvSpPr>
          <p:nvPr>
            <p:ph idx="1"/>
          </p:nvPr>
        </p:nvSpPr>
        <p:spPr>
          <a:xfrm>
            <a:off x="677333" y="1692492"/>
            <a:ext cx="10261389" cy="5165507"/>
          </a:xfrm>
        </p:spPr>
        <p:txBody>
          <a:bodyPr>
            <a:normAutofit/>
          </a:bodyPr>
          <a:lstStyle/>
          <a:p>
            <a:pPr marL="514350" indent="-514350">
              <a:buClr>
                <a:schemeClr val="tx1"/>
              </a:buClr>
              <a:buFont typeface="+mj-lt"/>
              <a:buAutoNum type="arabicPeriod"/>
            </a:pPr>
            <a:r>
              <a:rPr lang="en-US" altLang="zh-CN" sz="2400" dirty="0">
                <a:solidFill>
                  <a:srgbClr val="FF0000"/>
                </a:solidFill>
              </a:rPr>
              <a:t>assign</a:t>
            </a:r>
            <a:r>
              <a:rPr lang="zh-CN" altLang="en-US" sz="2400" dirty="0"/>
              <a:t>语句</a:t>
            </a:r>
            <a:r>
              <a:rPr lang="en-US" altLang="zh-CN" sz="2400" dirty="0"/>
              <a:t>(</a:t>
            </a:r>
            <a:r>
              <a:rPr lang="zh-CN" altLang="en-US" sz="2400" dirty="0"/>
              <a:t>连续赋值语句</a:t>
            </a:r>
            <a:r>
              <a:rPr lang="en-US" altLang="zh-CN" sz="2400" dirty="0"/>
              <a:t>)</a:t>
            </a:r>
            <a:r>
              <a:rPr lang="zh-CN" altLang="en-US" sz="2400" dirty="0"/>
              <a:t> </a:t>
            </a:r>
            <a:endParaRPr lang="en-US" altLang="zh-CN" sz="2400" dirty="0"/>
          </a:p>
          <a:p>
            <a:pPr marL="514350" indent="-514350">
              <a:buClr>
                <a:schemeClr val="tx1"/>
              </a:buClr>
              <a:buFont typeface="+mj-lt"/>
              <a:buAutoNum type="arabicPeriod" startAt="2"/>
            </a:pPr>
            <a:r>
              <a:rPr lang="en-US" altLang="zh-CN" sz="2400" dirty="0">
                <a:solidFill>
                  <a:srgbClr val="FF0000"/>
                </a:solidFill>
              </a:rPr>
              <a:t>always</a:t>
            </a:r>
            <a:r>
              <a:rPr lang="zh-CN" altLang="en-US" sz="2400" dirty="0"/>
              <a:t>语句块结合阻塞赋值语句（</a:t>
            </a:r>
            <a:r>
              <a:rPr lang="en-US" altLang="zh-CN" sz="2400" dirty="0"/>
              <a:t>=</a:t>
            </a:r>
            <a:r>
              <a:rPr lang="zh-CN" altLang="en-US" sz="2400" dirty="0"/>
              <a:t>）</a:t>
            </a:r>
            <a:endParaRPr lang="en-US" altLang="zh-CN" sz="2400" dirty="0"/>
          </a:p>
          <a:p>
            <a:pPr marL="0" indent="0">
              <a:buNone/>
            </a:pPr>
            <a:r>
              <a:rPr lang="zh-CN" altLang="en-US" sz="2800" dirty="0"/>
              <a:t>      </a:t>
            </a:r>
          </a:p>
        </p:txBody>
      </p:sp>
    </p:spTree>
    <p:extLst>
      <p:ext uri="{BB962C8B-B14F-4D97-AF65-F5344CB8AC3E}">
        <p14:creationId xmlns:p14="http://schemas.microsoft.com/office/powerpoint/2010/main" val="18811256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77333" y="331304"/>
            <a:ext cx="8596668" cy="1320800"/>
          </a:xfrm>
        </p:spPr>
        <p:txBody>
          <a:bodyPr/>
          <a:lstStyle/>
          <a:p>
            <a:r>
              <a:rPr lang="en-US" altLang="zh-CN" b="1" dirty="0"/>
              <a:t>3.1.1 assign</a:t>
            </a:r>
            <a:r>
              <a:rPr lang="zh-CN" altLang="en-US" b="1" dirty="0"/>
              <a:t>语句实现组合逻辑</a:t>
            </a:r>
          </a:p>
        </p:txBody>
      </p:sp>
      <p:sp>
        <p:nvSpPr>
          <p:cNvPr id="3" name="内容占位符 2"/>
          <p:cNvSpPr>
            <a:spLocks noGrp="1"/>
          </p:cNvSpPr>
          <p:nvPr>
            <p:ph idx="1"/>
          </p:nvPr>
        </p:nvSpPr>
        <p:spPr>
          <a:xfrm>
            <a:off x="677333" y="1725939"/>
            <a:ext cx="10261389" cy="3828616"/>
          </a:xfrm>
        </p:spPr>
        <p:txBody>
          <a:bodyPr>
            <a:normAutofit/>
          </a:bodyPr>
          <a:lstStyle/>
          <a:p>
            <a:pPr marL="0" indent="0">
              <a:buNone/>
            </a:pPr>
            <a:r>
              <a:rPr lang="zh-CN" altLang="en-US" sz="2400" dirty="0"/>
              <a:t>举例：</a:t>
            </a:r>
            <a:r>
              <a:rPr lang="en-US" altLang="zh-CN" sz="2400" i="1" dirty="0"/>
              <a:t>assign  out = (a</a:t>
            </a:r>
            <a:r>
              <a:rPr lang="zh-CN" altLang="en-US" sz="2400" i="1" dirty="0"/>
              <a:t>＆</a:t>
            </a:r>
            <a:r>
              <a:rPr lang="en-US" altLang="zh-CN" sz="2400" i="1" dirty="0"/>
              <a:t>b)|c;</a:t>
            </a:r>
          </a:p>
          <a:p>
            <a:pPr marL="0" indent="0">
              <a:buNone/>
            </a:pPr>
            <a:r>
              <a:rPr lang="zh-CN" altLang="en-US" sz="2400" dirty="0"/>
              <a:t>特点：</a:t>
            </a:r>
            <a:r>
              <a:rPr lang="en-US" altLang="zh-CN" sz="2400" dirty="0"/>
              <a:t>1</a:t>
            </a:r>
            <a:r>
              <a:rPr lang="zh-CN" altLang="en-US" sz="2400" dirty="0"/>
              <a:t>、左值必须为</a:t>
            </a:r>
            <a:r>
              <a:rPr lang="en-US" altLang="zh-CN" sz="2400" b="1" dirty="0">
                <a:solidFill>
                  <a:srgbClr val="FF0000"/>
                </a:solidFill>
              </a:rPr>
              <a:t>wire</a:t>
            </a:r>
            <a:r>
              <a:rPr lang="zh-CN" altLang="en-US" sz="2400" b="1" dirty="0">
                <a:solidFill>
                  <a:srgbClr val="FF0000"/>
                </a:solidFill>
              </a:rPr>
              <a:t>类型</a:t>
            </a:r>
            <a:r>
              <a:rPr lang="zh-CN" altLang="en-US" sz="2400" dirty="0"/>
              <a:t>；</a:t>
            </a:r>
            <a:endParaRPr lang="en-US" altLang="zh-CN" sz="2400" dirty="0"/>
          </a:p>
          <a:p>
            <a:pPr marL="0" indent="0">
              <a:buNone/>
            </a:pPr>
            <a:r>
              <a:rPr lang="en-US" altLang="zh-CN" sz="2400" dirty="0"/>
              <a:t>          2</a:t>
            </a:r>
            <a:r>
              <a:rPr lang="zh-CN" altLang="en-US" sz="2400" dirty="0"/>
              <a:t>、只要任何输入发生变化，等号右边的表达式都会被立即重新计算，并将结果赋给左边的变量。</a:t>
            </a:r>
            <a:endParaRPr lang="en-US" altLang="zh-CN" sz="2400" dirty="0"/>
          </a:p>
        </p:txBody>
      </p:sp>
    </p:spTree>
    <p:extLst>
      <p:ext uri="{BB962C8B-B14F-4D97-AF65-F5344CB8AC3E}">
        <p14:creationId xmlns:p14="http://schemas.microsoft.com/office/powerpoint/2010/main" val="34752584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77334" y="183637"/>
            <a:ext cx="8596668" cy="1071533"/>
          </a:xfrm>
        </p:spPr>
        <p:txBody>
          <a:bodyPr>
            <a:normAutofit fontScale="90000"/>
          </a:bodyPr>
          <a:lstStyle/>
          <a:p>
            <a:r>
              <a:rPr lang="en-US" altLang="zh-CN" b="1" dirty="0"/>
              <a:t>3.1.2  </a:t>
            </a:r>
            <a:r>
              <a:rPr lang="en-US" altLang="zh-CN" dirty="0"/>
              <a:t>always</a:t>
            </a:r>
            <a:r>
              <a:rPr lang="zh-CN" altLang="en-US" dirty="0"/>
              <a:t>语句块结合阻塞赋值语句</a:t>
            </a:r>
            <a:br>
              <a:rPr lang="en-US" altLang="zh-CN" dirty="0"/>
            </a:br>
            <a:endParaRPr lang="zh-CN" altLang="en-US" b="1" dirty="0"/>
          </a:p>
        </p:txBody>
      </p:sp>
      <p:sp>
        <p:nvSpPr>
          <p:cNvPr id="3" name="内容占位符 2"/>
          <p:cNvSpPr>
            <a:spLocks noGrp="1"/>
          </p:cNvSpPr>
          <p:nvPr>
            <p:ph idx="1"/>
          </p:nvPr>
        </p:nvSpPr>
        <p:spPr>
          <a:xfrm>
            <a:off x="402298" y="1107503"/>
            <a:ext cx="11387403" cy="5321695"/>
          </a:xfrm>
        </p:spPr>
        <p:txBody>
          <a:bodyPr>
            <a:noAutofit/>
          </a:bodyPr>
          <a:lstStyle/>
          <a:p>
            <a:pPr marL="0" indent="0">
              <a:buNone/>
            </a:pPr>
            <a:r>
              <a:rPr lang="zh-CN" altLang="en-US" sz="2400" dirty="0"/>
              <a:t>举例：</a:t>
            </a:r>
            <a:r>
              <a:rPr lang="en-US" altLang="zh-CN" i="1" dirty="0">
                <a:solidFill>
                  <a:srgbClr val="0000FF"/>
                </a:solidFill>
              </a:rPr>
              <a:t>always</a:t>
            </a:r>
            <a:r>
              <a:rPr lang="en-US" altLang="zh-CN" i="1" dirty="0"/>
              <a:t> </a:t>
            </a:r>
            <a:r>
              <a:rPr lang="en-US" altLang="zh-CN" i="1" dirty="0">
                <a:solidFill>
                  <a:srgbClr val="0070C0"/>
                </a:solidFill>
              </a:rPr>
              <a:t>@</a:t>
            </a:r>
            <a:r>
              <a:rPr lang="en-US" altLang="zh-CN" i="1" dirty="0"/>
              <a:t>(*)</a:t>
            </a:r>
            <a:r>
              <a:rPr lang="zh-CN" altLang="en-US" i="1" dirty="0"/>
              <a:t> </a:t>
            </a:r>
            <a:r>
              <a:rPr lang="en-US" altLang="zh-CN" i="1" dirty="0"/>
              <a:t>//</a:t>
            </a:r>
            <a:r>
              <a:rPr lang="zh-CN" altLang="en-US" i="1" dirty="0"/>
              <a:t>或者</a:t>
            </a:r>
            <a:r>
              <a:rPr lang="en-US" altLang="zh-CN" i="1" dirty="0"/>
              <a:t>always @(a, b, c)</a:t>
            </a:r>
            <a:r>
              <a:rPr lang="zh-CN" altLang="en-US" i="1" dirty="0"/>
              <a:t>        </a:t>
            </a:r>
            <a:endParaRPr lang="en-US" altLang="zh-CN" i="1" dirty="0"/>
          </a:p>
          <a:p>
            <a:pPr marL="0" indent="0">
              <a:buNone/>
            </a:pPr>
            <a:r>
              <a:rPr lang="en-US" altLang="zh-CN" i="1" dirty="0"/>
              <a:t>               </a:t>
            </a:r>
            <a:r>
              <a:rPr lang="en-US" altLang="zh-CN" i="1" dirty="0">
                <a:solidFill>
                  <a:srgbClr val="0000FF"/>
                </a:solidFill>
              </a:rPr>
              <a:t>begin</a:t>
            </a:r>
          </a:p>
          <a:p>
            <a:pPr marL="0" indent="0">
              <a:buNone/>
            </a:pPr>
            <a:r>
              <a:rPr lang="en-US" altLang="zh-CN" i="1" dirty="0"/>
              <a:t>                      t = a</a:t>
            </a:r>
            <a:r>
              <a:rPr lang="zh-CN" altLang="en-US" i="1" dirty="0"/>
              <a:t>＆</a:t>
            </a:r>
            <a:r>
              <a:rPr lang="en-US" altLang="zh-CN" i="1" dirty="0"/>
              <a:t>b;</a:t>
            </a:r>
          </a:p>
          <a:p>
            <a:pPr marL="0" indent="0">
              <a:buNone/>
            </a:pPr>
            <a:r>
              <a:rPr lang="en-US" altLang="zh-CN" i="1" dirty="0"/>
              <a:t>                      out = </a:t>
            </a:r>
            <a:r>
              <a:rPr lang="en-US" altLang="zh-CN" i="1" dirty="0" err="1"/>
              <a:t>t|c</a:t>
            </a:r>
            <a:r>
              <a:rPr lang="en-US" altLang="zh-CN" i="1" dirty="0"/>
              <a:t>;</a:t>
            </a:r>
          </a:p>
          <a:p>
            <a:pPr marL="0" indent="0">
              <a:buNone/>
            </a:pPr>
            <a:r>
              <a:rPr lang="en-US" altLang="zh-CN" i="1" dirty="0"/>
              <a:t>               </a:t>
            </a:r>
            <a:r>
              <a:rPr lang="en-US" altLang="zh-CN" i="1" dirty="0">
                <a:solidFill>
                  <a:srgbClr val="0000FF"/>
                </a:solidFill>
              </a:rPr>
              <a:t>end</a:t>
            </a:r>
          </a:p>
          <a:p>
            <a:pPr>
              <a:buFont typeface="Wingdings" panose="05000000000000000000" pitchFamily="2" charset="2"/>
              <a:buChar char="Ø"/>
            </a:pPr>
            <a:r>
              <a:rPr lang="zh-CN" altLang="en-US" sz="2400" b="1" dirty="0"/>
              <a:t>敏感信号列表</a:t>
            </a:r>
            <a:r>
              <a:rPr lang="zh-CN" altLang="en-US" sz="2400" dirty="0"/>
              <a:t>里的</a:t>
            </a:r>
            <a:r>
              <a:rPr lang="zh-CN" altLang="en-US" sz="2400" dirty="0">
                <a:solidFill>
                  <a:srgbClr val="FF0000"/>
                </a:solidFill>
              </a:rPr>
              <a:t>任何一个信号发生变化时，循环执行一次</a:t>
            </a:r>
            <a:r>
              <a:rPr lang="zh-CN" altLang="en-US" sz="2400" dirty="0"/>
              <a:t>。</a:t>
            </a:r>
            <a:endParaRPr lang="en-US" altLang="zh-CN" sz="2400" dirty="0"/>
          </a:p>
          <a:p>
            <a:pPr>
              <a:buFont typeface="Wingdings" panose="05000000000000000000" pitchFamily="2" charset="2"/>
              <a:buChar char="Ø"/>
            </a:pPr>
            <a:r>
              <a:rPr lang="zh-CN" altLang="en-US" sz="2400" dirty="0"/>
              <a:t>对于组合逻辑，敏感信号应包括</a:t>
            </a:r>
            <a:r>
              <a:rPr lang="zh-CN" altLang="en-US" sz="2400" b="1" dirty="0"/>
              <a:t>等号右边所有的变量</a:t>
            </a:r>
            <a:r>
              <a:rPr lang="zh-CN" altLang="en-US" sz="2400" dirty="0"/>
              <a:t>，可以用</a:t>
            </a:r>
            <a:r>
              <a:rPr lang="en-US" altLang="zh-CN" sz="2400" b="1" dirty="0">
                <a:solidFill>
                  <a:srgbClr val="FF0000"/>
                </a:solidFill>
              </a:rPr>
              <a:t>*</a:t>
            </a:r>
            <a:r>
              <a:rPr lang="zh-CN" altLang="en-US" sz="2400" dirty="0"/>
              <a:t>表示。</a:t>
            </a:r>
            <a:endParaRPr lang="en-US" altLang="zh-CN" sz="2400" dirty="0"/>
          </a:p>
          <a:p>
            <a:pPr>
              <a:buFont typeface="Wingdings" panose="05000000000000000000" pitchFamily="2" charset="2"/>
              <a:buChar char="Ø"/>
            </a:pPr>
            <a:r>
              <a:rPr lang="zh-CN" altLang="en-US" sz="2400" b="1" dirty="0">
                <a:solidFill>
                  <a:srgbClr val="FF0000"/>
                </a:solidFill>
              </a:rPr>
              <a:t>阻塞赋值语句（</a:t>
            </a:r>
            <a:r>
              <a:rPr lang="en-US" altLang="zh-CN" sz="2400" b="1" dirty="0">
                <a:solidFill>
                  <a:srgbClr val="FF0000"/>
                </a:solidFill>
              </a:rPr>
              <a:t>=</a:t>
            </a:r>
            <a:r>
              <a:rPr lang="zh-CN" altLang="en-US" sz="2400" b="1" dirty="0">
                <a:solidFill>
                  <a:srgbClr val="FF0000"/>
                </a:solidFill>
              </a:rPr>
              <a:t>）</a:t>
            </a:r>
            <a:r>
              <a:rPr lang="zh-CN" altLang="en-US" sz="2400" dirty="0">
                <a:solidFill>
                  <a:schemeClr val="tx1"/>
                </a:solidFill>
              </a:rPr>
              <a:t>顺序执行，用于实现组合逻辑电路</a:t>
            </a:r>
            <a:r>
              <a:rPr lang="zh-CN" altLang="en-US" sz="2400" dirty="0"/>
              <a:t>。</a:t>
            </a:r>
            <a:endParaRPr lang="en-US" altLang="zh-CN" sz="2400" dirty="0"/>
          </a:p>
          <a:p>
            <a:pPr>
              <a:buFont typeface="Wingdings" panose="05000000000000000000" pitchFamily="2" charset="2"/>
              <a:buChar char="Ø"/>
            </a:pPr>
            <a:r>
              <a:rPr lang="en-US" altLang="zh-CN" sz="2400" dirty="0"/>
              <a:t>always</a:t>
            </a:r>
            <a:r>
              <a:rPr lang="zh-CN" altLang="en-US" sz="2400" dirty="0"/>
              <a:t>语句块中的赋值语句的</a:t>
            </a:r>
            <a:r>
              <a:rPr lang="zh-CN" altLang="en-US" sz="2400" b="1" dirty="0">
                <a:solidFill>
                  <a:srgbClr val="FF0000"/>
                </a:solidFill>
              </a:rPr>
              <a:t>左值必须是</a:t>
            </a:r>
            <a:r>
              <a:rPr lang="en-US" altLang="zh-CN" sz="2400" b="1" dirty="0">
                <a:solidFill>
                  <a:srgbClr val="FF0000"/>
                </a:solidFill>
              </a:rPr>
              <a:t>reg</a:t>
            </a:r>
            <a:r>
              <a:rPr lang="zh-CN" altLang="en-US" sz="2400" b="1" dirty="0">
                <a:solidFill>
                  <a:srgbClr val="FF0000"/>
                </a:solidFill>
              </a:rPr>
              <a:t>类型</a:t>
            </a:r>
            <a:r>
              <a:rPr lang="zh-CN" altLang="en-US" sz="2400" b="1" dirty="0"/>
              <a:t>。</a:t>
            </a:r>
            <a:endParaRPr lang="en-US" altLang="zh-CN" sz="2400" b="1" dirty="0"/>
          </a:p>
        </p:txBody>
      </p:sp>
    </p:spTree>
    <p:extLst>
      <p:ext uri="{BB962C8B-B14F-4D97-AF65-F5344CB8AC3E}">
        <p14:creationId xmlns:p14="http://schemas.microsoft.com/office/powerpoint/2010/main" val="27189946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2A8B68-2832-E253-1A60-989272EE8D45}"/>
              </a:ext>
            </a:extLst>
          </p:cNvPr>
          <p:cNvSpPr>
            <a:spLocks noGrp="1"/>
          </p:cNvSpPr>
          <p:nvPr>
            <p:ph type="title"/>
          </p:nvPr>
        </p:nvSpPr>
        <p:spPr>
          <a:xfrm>
            <a:off x="552606" y="142783"/>
            <a:ext cx="8596668" cy="1320800"/>
          </a:xfrm>
        </p:spPr>
        <p:txBody>
          <a:bodyPr/>
          <a:lstStyle/>
          <a:p>
            <a:r>
              <a:rPr lang="en-US" altLang="zh-CN" dirty="0"/>
              <a:t>※</a:t>
            </a:r>
            <a:r>
              <a:rPr lang="zh-CN" altLang="en-US" dirty="0"/>
              <a:t>常见错误</a:t>
            </a:r>
            <a:r>
              <a:rPr lang="en-US" altLang="zh-CN" dirty="0"/>
              <a:t>---</a:t>
            </a:r>
            <a:r>
              <a:rPr lang="zh-CN" altLang="en-US" dirty="0"/>
              <a:t>敏感信号不全</a:t>
            </a:r>
          </a:p>
        </p:txBody>
      </p:sp>
      <p:pic>
        <p:nvPicPr>
          <p:cNvPr id="5" name="图片 4">
            <a:extLst>
              <a:ext uri="{FF2B5EF4-FFF2-40B4-BE49-F238E27FC236}">
                <a16:creationId xmlns:a16="http://schemas.microsoft.com/office/drawing/2014/main" id="{B490531A-295B-1066-757E-AF4172069497}"/>
              </a:ext>
            </a:extLst>
          </p:cNvPr>
          <p:cNvPicPr>
            <a:picLocks noChangeAspect="1"/>
          </p:cNvPicPr>
          <p:nvPr/>
        </p:nvPicPr>
        <p:blipFill>
          <a:blip r:embed="rId2"/>
          <a:stretch>
            <a:fillRect/>
          </a:stretch>
        </p:blipFill>
        <p:spPr>
          <a:xfrm>
            <a:off x="677334" y="1270000"/>
            <a:ext cx="5201816" cy="4124417"/>
          </a:xfrm>
          <a:prstGeom prst="rect">
            <a:avLst/>
          </a:prstGeom>
        </p:spPr>
      </p:pic>
      <p:pic>
        <p:nvPicPr>
          <p:cNvPr id="7" name="图片 6">
            <a:extLst>
              <a:ext uri="{FF2B5EF4-FFF2-40B4-BE49-F238E27FC236}">
                <a16:creationId xmlns:a16="http://schemas.microsoft.com/office/drawing/2014/main" id="{4CBF3DE4-A172-1C94-E64F-69F5A82A59CD}"/>
              </a:ext>
            </a:extLst>
          </p:cNvPr>
          <p:cNvPicPr>
            <a:picLocks noChangeAspect="1"/>
          </p:cNvPicPr>
          <p:nvPr/>
        </p:nvPicPr>
        <p:blipFill>
          <a:blip r:embed="rId3"/>
          <a:stretch>
            <a:fillRect/>
          </a:stretch>
        </p:blipFill>
        <p:spPr>
          <a:xfrm>
            <a:off x="6194449" y="816638"/>
            <a:ext cx="5589047" cy="2759946"/>
          </a:xfrm>
          <a:prstGeom prst="rect">
            <a:avLst/>
          </a:prstGeom>
        </p:spPr>
      </p:pic>
      <p:cxnSp>
        <p:nvCxnSpPr>
          <p:cNvPr id="9" name="直接连接符 8">
            <a:extLst>
              <a:ext uri="{FF2B5EF4-FFF2-40B4-BE49-F238E27FC236}">
                <a16:creationId xmlns:a16="http://schemas.microsoft.com/office/drawing/2014/main" id="{8019D6D3-5160-3514-5CB6-ABD612EFA4E1}"/>
              </a:ext>
            </a:extLst>
          </p:cNvPr>
          <p:cNvCxnSpPr/>
          <p:nvPr/>
        </p:nvCxnSpPr>
        <p:spPr>
          <a:xfrm>
            <a:off x="9681882" y="1234543"/>
            <a:ext cx="0" cy="165841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CEA2EAA3-DC79-5352-5479-B54B9CB2A9E9}"/>
              </a:ext>
            </a:extLst>
          </p:cNvPr>
          <p:cNvCxnSpPr/>
          <p:nvPr/>
        </p:nvCxnSpPr>
        <p:spPr>
          <a:xfrm>
            <a:off x="10214491" y="1203305"/>
            <a:ext cx="0" cy="172088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10E526E2-172B-769E-B03B-1B57D7B54C5D}"/>
              </a:ext>
            </a:extLst>
          </p:cNvPr>
          <p:cNvSpPr txBox="1"/>
          <p:nvPr/>
        </p:nvSpPr>
        <p:spPr>
          <a:xfrm>
            <a:off x="9384971" y="2892958"/>
            <a:ext cx="593821" cy="276999"/>
          </a:xfrm>
          <a:prstGeom prst="rect">
            <a:avLst/>
          </a:prstGeom>
          <a:noFill/>
        </p:spPr>
        <p:txBody>
          <a:bodyPr wrap="square" rtlCol="0">
            <a:spAutoFit/>
          </a:bodyPr>
          <a:lstStyle/>
          <a:p>
            <a:r>
              <a:rPr lang="zh-CN" altLang="en-US" sz="1200" dirty="0">
                <a:solidFill>
                  <a:srgbClr val="FF0000"/>
                </a:solidFill>
              </a:rPr>
              <a:t>时刻</a:t>
            </a:r>
            <a:r>
              <a:rPr lang="en-US" altLang="zh-CN" sz="1200" dirty="0">
                <a:solidFill>
                  <a:srgbClr val="FF0000"/>
                </a:solidFill>
              </a:rPr>
              <a:t>1</a:t>
            </a:r>
            <a:endParaRPr lang="zh-CN" altLang="en-US" sz="1200" dirty="0">
              <a:solidFill>
                <a:srgbClr val="FF0000"/>
              </a:solidFill>
            </a:endParaRPr>
          </a:p>
        </p:txBody>
      </p:sp>
      <p:sp>
        <p:nvSpPr>
          <p:cNvPr id="13" name="文本框 12">
            <a:extLst>
              <a:ext uri="{FF2B5EF4-FFF2-40B4-BE49-F238E27FC236}">
                <a16:creationId xmlns:a16="http://schemas.microsoft.com/office/drawing/2014/main" id="{E59BDC93-125B-34CC-0FCE-7B30DEA57F54}"/>
              </a:ext>
            </a:extLst>
          </p:cNvPr>
          <p:cNvSpPr txBox="1"/>
          <p:nvPr/>
        </p:nvSpPr>
        <p:spPr>
          <a:xfrm>
            <a:off x="9917581" y="2892957"/>
            <a:ext cx="593821" cy="276999"/>
          </a:xfrm>
          <a:prstGeom prst="rect">
            <a:avLst/>
          </a:prstGeom>
          <a:noFill/>
        </p:spPr>
        <p:txBody>
          <a:bodyPr wrap="square" rtlCol="0">
            <a:spAutoFit/>
          </a:bodyPr>
          <a:lstStyle/>
          <a:p>
            <a:r>
              <a:rPr lang="zh-CN" altLang="en-US" sz="1200" dirty="0">
                <a:solidFill>
                  <a:srgbClr val="FF0000"/>
                </a:solidFill>
              </a:rPr>
              <a:t>时刻</a:t>
            </a:r>
            <a:r>
              <a:rPr lang="en-US" altLang="zh-CN" sz="1200" dirty="0">
                <a:solidFill>
                  <a:srgbClr val="FF0000"/>
                </a:solidFill>
              </a:rPr>
              <a:t>2</a:t>
            </a:r>
            <a:endParaRPr lang="zh-CN" altLang="en-US" sz="1200" dirty="0">
              <a:solidFill>
                <a:srgbClr val="FF0000"/>
              </a:solidFill>
            </a:endParaRPr>
          </a:p>
        </p:txBody>
      </p:sp>
      <p:sp>
        <p:nvSpPr>
          <p:cNvPr id="14" name="矩形 13">
            <a:extLst>
              <a:ext uri="{FF2B5EF4-FFF2-40B4-BE49-F238E27FC236}">
                <a16:creationId xmlns:a16="http://schemas.microsoft.com/office/drawing/2014/main" id="{C4EF1ECF-14EC-075B-A37F-46B8E590ABB2}"/>
              </a:ext>
            </a:extLst>
          </p:cNvPr>
          <p:cNvSpPr/>
          <p:nvPr/>
        </p:nvSpPr>
        <p:spPr>
          <a:xfrm>
            <a:off x="1118862" y="2385391"/>
            <a:ext cx="2243404" cy="29533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标注: 线形 14">
            <a:extLst>
              <a:ext uri="{FF2B5EF4-FFF2-40B4-BE49-F238E27FC236}">
                <a16:creationId xmlns:a16="http://schemas.microsoft.com/office/drawing/2014/main" id="{E653C4A1-2E85-351A-800A-98B1CCF84BB8}"/>
              </a:ext>
            </a:extLst>
          </p:cNvPr>
          <p:cNvSpPr/>
          <p:nvPr/>
        </p:nvSpPr>
        <p:spPr>
          <a:xfrm>
            <a:off x="4582958" y="2914764"/>
            <a:ext cx="1828800" cy="834887"/>
          </a:xfrm>
          <a:prstGeom prst="borderCallout1">
            <a:avLst>
              <a:gd name="adj1" fmla="val 18750"/>
              <a:gd name="adj2" fmla="val -8333"/>
              <a:gd name="adj3" fmla="val -35119"/>
              <a:gd name="adj4" fmla="val -61314"/>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敏感信号列表里</a:t>
            </a:r>
            <a:r>
              <a:rPr lang="zh-CN" altLang="en-US">
                <a:solidFill>
                  <a:schemeClr val="tx1"/>
                </a:solidFill>
              </a:rPr>
              <a:t>没有选择信号</a:t>
            </a:r>
            <a:r>
              <a:rPr lang="en-US" altLang="zh-CN" dirty="0">
                <a:solidFill>
                  <a:schemeClr val="tx1"/>
                </a:solidFill>
              </a:rPr>
              <a:t>s</a:t>
            </a:r>
            <a:endParaRPr lang="zh-CN" altLang="en-US" dirty="0">
              <a:solidFill>
                <a:schemeClr val="tx1"/>
              </a:solidFill>
            </a:endParaRPr>
          </a:p>
        </p:txBody>
      </p:sp>
      <p:sp>
        <p:nvSpPr>
          <p:cNvPr id="16" name="文本框 15">
            <a:extLst>
              <a:ext uri="{FF2B5EF4-FFF2-40B4-BE49-F238E27FC236}">
                <a16:creationId xmlns:a16="http://schemas.microsoft.com/office/drawing/2014/main" id="{E2D552F9-11F6-3A21-9029-BF3DE98938F3}"/>
              </a:ext>
            </a:extLst>
          </p:cNvPr>
          <p:cNvSpPr txBox="1"/>
          <p:nvPr/>
        </p:nvSpPr>
        <p:spPr>
          <a:xfrm>
            <a:off x="5531836" y="4175575"/>
            <a:ext cx="6292889" cy="2308324"/>
          </a:xfrm>
          <a:prstGeom prst="rect">
            <a:avLst/>
          </a:prstGeom>
          <a:noFill/>
        </p:spPr>
        <p:txBody>
          <a:bodyPr wrap="square" rtlCol="0">
            <a:spAutoFit/>
          </a:bodyPr>
          <a:lstStyle/>
          <a:p>
            <a:r>
              <a:rPr lang="zh-CN" altLang="en-US" sz="2400" dirty="0"/>
              <a:t>      由于敏感信号列表里只有</a:t>
            </a:r>
            <a:r>
              <a:rPr lang="en-US" altLang="zh-CN" sz="2400" dirty="0"/>
              <a:t>a</a:t>
            </a:r>
            <a:r>
              <a:rPr lang="zh-CN" altLang="en-US" sz="2400" dirty="0"/>
              <a:t>，</a:t>
            </a:r>
            <a:r>
              <a:rPr lang="en-US" altLang="zh-CN" sz="2400" dirty="0"/>
              <a:t>b</a:t>
            </a:r>
            <a:r>
              <a:rPr lang="zh-CN" altLang="en-US" sz="2400" dirty="0"/>
              <a:t>，</a:t>
            </a:r>
            <a:r>
              <a:rPr lang="en-US" altLang="zh-CN" sz="2400" dirty="0"/>
              <a:t>c</a:t>
            </a:r>
            <a:r>
              <a:rPr lang="zh-CN" altLang="en-US" sz="2400" dirty="0"/>
              <a:t>。时刻</a:t>
            </a:r>
            <a:r>
              <a:rPr lang="en-US" altLang="zh-CN" sz="2400" dirty="0"/>
              <a:t>1</a:t>
            </a:r>
            <a:r>
              <a:rPr lang="zh-CN" altLang="en-US" sz="2400" dirty="0"/>
              <a:t>和时刻</a:t>
            </a:r>
            <a:r>
              <a:rPr lang="en-US" altLang="zh-CN" sz="2400" dirty="0"/>
              <a:t>2</a:t>
            </a:r>
            <a:r>
              <a:rPr lang="zh-CN" altLang="en-US" sz="2400" dirty="0"/>
              <a:t>中，信号</a:t>
            </a:r>
            <a:r>
              <a:rPr lang="en-US" altLang="zh-CN" sz="2400" dirty="0"/>
              <a:t>a</a:t>
            </a:r>
            <a:r>
              <a:rPr lang="zh-CN" altLang="en-US" sz="2400" dirty="0"/>
              <a:t>，</a:t>
            </a:r>
            <a:r>
              <a:rPr lang="en-US" altLang="zh-CN" sz="2400" dirty="0"/>
              <a:t>b</a:t>
            </a:r>
            <a:r>
              <a:rPr lang="zh-CN" altLang="en-US" sz="2400" dirty="0"/>
              <a:t>，</a:t>
            </a:r>
            <a:r>
              <a:rPr lang="en-US" altLang="zh-CN" sz="2400" dirty="0"/>
              <a:t>c</a:t>
            </a:r>
            <a:r>
              <a:rPr lang="zh-CN" altLang="en-US" sz="2400" dirty="0"/>
              <a:t>没有变化，所以时刻</a:t>
            </a:r>
            <a:r>
              <a:rPr lang="en-US" altLang="zh-CN" sz="2400" dirty="0"/>
              <a:t>2 always</a:t>
            </a:r>
            <a:r>
              <a:rPr lang="zh-CN" altLang="en-US" sz="2400" dirty="0"/>
              <a:t>语句不会执行，</a:t>
            </a:r>
            <a:r>
              <a:rPr lang="en-US" altLang="zh-CN" sz="2400" dirty="0"/>
              <a:t>out</a:t>
            </a:r>
            <a:r>
              <a:rPr lang="zh-CN" altLang="en-US" sz="2400" dirty="0"/>
              <a:t>不变。</a:t>
            </a:r>
            <a:endParaRPr lang="en-US" altLang="zh-CN" sz="2400" dirty="0"/>
          </a:p>
          <a:p>
            <a:r>
              <a:rPr lang="zh-CN" altLang="en-US" sz="2400" dirty="0"/>
              <a:t>       实际上，时刻</a:t>
            </a:r>
            <a:r>
              <a:rPr lang="en-US" altLang="zh-CN" sz="2400" dirty="0"/>
              <a:t>1</a:t>
            </a:r>
            <a:r>
              <a:rPr lang="zh-CN" altLang="en-US" sz="2400" dirty="0"/>
              <a:t>时，</a:t>
            </a:r>
            <a:r>
              <a:rPr lang="en-US" altLang="zh-CN" sz="2400" dirty="0"/>
              <a:t>s=1</a:t>
            </a:r>
            <a:r>
              <a:rPr lang="zh-CN" altLang="en-US" sz="2400" dirty="0"/>
              <a:t>，</a:t>
            </a:r>
            <a:r>
              <a:rPr lang="en-US" altLang="zh-CN" sz="2400" dirty="0"/>
              <a:t>out=</a:t>
            </a:r>
            <a:r>
              <a:rPr lang="zh-CN" altLang="en-US" sz="2400" dirty="0"/>
              <a:t>（</a:t>
            </a:r>
            <a:r>
              <a:rPr lang="en-US" altLang="zh-CN" sz="2400" dirty="0" err="1"/>
              <a:t>a|b</a:t>
            </a:r>
            <a:r>
              <a:rPr lang="zh-CN" altLang="en-US" sz="2400" dirty="0"/>
              <a:t>）</a:t>
            </a:r>
            <a:r>
              <a:rPr lang="en-US" altLang="zh-CN" sz="2400" dirty="0">
                <a:latin typeface="SimSun" panose="02010600030101010101" pitchFamily="2" charset="-122"/>
                <a:ea typeface="SimSun" panose="02010600030101010101" pitchFamily="2" charset="-122"/>
              </a:rPr>
              <a:t>＆</a:t>
            </a:r>
            <a:r>
              <a:rPr lang="en-US" altLang="zh-CN" sz="2400" dirty="0"/>
              <a:t>c; </a:t>
            </a:r>
            <a:r>
              <a:rPr lang="zh-CN" altLang="en-US" sz="2400" dirty="0"/>
              <a:t>时刻</a:t>
            </a:r>
            <a:r>
              <a:rPr lang="en-US" altLang="zh-CN" sz="2400" dirty="0"/>
              <a:t>2</a:t>
            </a:r>
            <a:r>
              <a:rPr lang="zh-CN" altLang="en-US" sz="2400" dirty="0"/>
              <a:t>时，</a:t>
            </a:r>
            <a:r>
              <a:rPr lang="en-US" altLang="zh-CN" sz="2400" dirty="0"/>
              <a:t>s=2</a:t>
            </a:r>
            <a:r>
              <a:rPr lang="zh-CN" altLang="en-US" sz="2400" dirty="0"/>
              <a:t>，</a:t>
            </a:r>
            <a:r>
              <a:rPr lang="en-US" altLang="zh-CN" sz="2400" dirty="0"/>
              <a:t>out=</a:t>
            </a:r>
            <a:r>
              <a:rPr lang="en-US" altLang="zh-CN" sz="2400" dirty="0" err="1"/>
              <a:t>a</a:t>
            </a:r>
            <a:r>
              <a:rPr lang="en-US" altLang="zh-CN" sz="2400" dirty="0" err="1">
                <a:latin typeface="宋体" panose="02010600030101010101" pitchFamily="2" charset="-122"/>
                <a:ea typeface="宋体" panose="02010600030101010101" pitchFamily="2" charset="-122"/>
              </a:rPr>
              <a:t>&amp;</a:t>
            </a:r>
            <a:r>
              <a:rPr lang="en-US" altLang="zh-CN" sz="2400" dirty="0" err="1"/>
              <a:t>b</a:t>
            </a:r>
            <a:r>
              <a:rPr lang="en-US" altLang="zh-CN" sz="2400" dirty="0" err="1">
                <a:latin typeface="宋体" panose="02010600030101010101" pitchFamily="2" charset="-122"/>
                <a:ea typeface="宋体" panose="02010600030101010101" pitchFamily="2" charset="-122"/>
              </a:rPr>
              <a:t>&amp;</a:t>
            </a:r>
            <a:r>
              <a:rPr lang="en-US" altLang="zh-CN" sz="2400" dirty="0" err="1"/>
              <a:t>c</a:t>
            </a:r>
            <a:r>
              <a:rPr lang="en-US" altLang="zh-CN" sz="2400" dirty="0"/>
              <a:t>; out</a:t>
            </a:r>
            <a:r>
              <a:rPr lang="zh-CN" altLang="en-US" sz="2400" dirty="0"/>
              <a:t>应该被重新计算。</a:t>
            </a:r>
          </a:p>
        </p:txBody>
      </p:sp>
    </p:spTree>
    <p:extLst>
      <p:ext uri="{BB962C8B-B14F-4D97-AF65-F5344CB8AC3E}">
        <p14:creationId xmlns:p14="http://schemas.microsoft.com/office/powerpoint/2010/main" val="797077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animBg="1"/>
      <p:bldP spid="15" grpId="0" animBg="1"/>
      <p:bldP spid="1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36F299-0958-1A4F-9DC3-44C5E9337CC1}"/>
              </a:ext>
            </a:extLst>
          </p:cNvPr>
          <p:cNvSpPr>
            <a:spLocks noGrp="1"/>
          </p:cNvSpPr>
          <p:nvPr>
            <p:ph type="title"/>
          </p:nvPr>
        </p:nvSpPr>
        <p:spPr/>
        <p:txBody>
          <a:bodyPr>
            <a:normAutofit fontScale="90000"/>
          </a:bodyPr>
          <a:lstStyle/>
          <a:p>
            <a:r>
              <a:rPr lang="zh-CN" altLang="en-US" sz="4000" dirty="0"/>
              <a:t>举例：</a:t>
            </a:r>
            <a:r>
              <a:rPr lang="en-US" altLang="zh-CN" sz="4000" dirty="0"/>
              <a:t>2</a:t>
            </a:r>
            <a:r>
              <a:rPr lang="zh-CN" altLang="en-US" sz="4000" dirty="0"/>
              <a:t>选</a:t>
            </a:r>
            <a:r>
              <a:rPr lang="en-US" altLang="zh-CN" sz="4000" dirty="0"/>
              <a:t>1</a:t>
            </a:r>
            <a:r>
              <a:rPr lang="zh-CN" altLang="en-US" sz="4000" dirty="0"/>
              <a:t>选择器</a:t>
            </a:r>
            <a:br>
              <a:rPr lang="en-US" altLang="zh-CN" sz="4000" dirty="0"/>
            </a:br>
            <a:br>
              <a:rPr lang="en-US" altLang="zh-CN" dirty="0"/>
            </a:br>
            <a:r>
              <a:rPr lang="en-US" altLang="zh-CN" dirty="0"/>
              <a:t>assign</a:t>
            </a:r>
            <a:r>
              <a:rPr lang="zh-CN" altLang="en-US" dirty="0"/>
              <a:t>语句实现</a:t>
            </a:r>
          </a:p>
        </p:txBody>
      </p:sp>
      <p:sp>
        <p:nvSpPr>
          <p:cNvPr id="5" name="文本框 4">
            <a:extLst>
              <a:ext uri="{FF2B5EF4-FFF2-40B4-BE49-F238E27FC236}">
                <a16:creationId xmlns:a16="http://schemas.microsoft.com/office/drawing/2014/main" id="{1BF99B9E-AF67-7C23-0BA3-797C045BCF9F}"/>
              </a:ext>
            </a:extLst>
          </p:cNvPr>
          <p:cNvSpPr txBox="1"/>
          <p:nvPr/>
        </p:nvSpPr>
        <p:spPr>
          <a:xfrm>
            <a:off x="1151627" y="2692534"/>
            <a:ext cx="7015498" cy="1349087"/>
          </a:xfrm>
          <a:prstGeom prst="rect">
            <a:avLst/>
          </a:prstGeom>
          <a:noFill/>
        </p:spPr>
        <p:txBody>
          <a:bodyPr wrap="square">
            <a:spAutoFit/>
          </a:bodyPr>
          <a:lstStyle/>
          <a:p>
            <a:pPr>
              <a:lnSpc>
                <a:spcPts val="1650"/>
              </a:lnSpc>
              <a:spcBef>
                <a:spcPts val="1000"/>
              </a:spcBef>
              <a:buClr>
                <a:schemeClr val="accent1"/>
              </a:buClr>
              <a:buSzPct val="80000"/>
            </a:pPr>
            <a:r>
              <a:rPr lang="en-US" altLang="zh-CN" i="1" dirty="0">
                <a:solidFill>
                  <a:srgbClr val="0000FF"/>
                </a:solidFill>
              </a:rPr>
              <a:t>module</a:t>
            </a:r>
            <a:r>
              <a:rPr lang="en-US" altLang="zh-CN" i="1" dirty="0"/>
              <a:t> mux_2 (</a:t>
            </a:r>
            <a:r>
              <a:rPr lang="en-US" altLang="zh-CN" i="1" dirty="0">
                <a:solidFill>
                  <a:srgbClr val="0000FF"/>
                </a:solidFill>
              </a:rPr>
              <a:t>input</a:t>
            </a:r>
            <a:r>
              <a:rPr lang="en-US" altLang="zh-CN" i="1" dirty="0"/>
              <a:t> a, b, </a:t>
            </a:r>
            <a:r>
              <a:rPr lang="en-US" altLang="zh-CN" i="1" dirty="0" err="1"/>
              <a:t>sel</a:t>
            </a:r>
            <a:r>
              <a:rPr lang="en-US" altLang="zh-CN" i="1" dirty="0"/>
              <a:t>,   //</a:t>
            </a:r>
            <a:r>
              <a:rPr lang="en-US" altLang="zh-CN" i="1" dirty="0" err="1"/>
              <a:t>input,output</a:t>
            </a:r>
            <a:r>
              <a:rPr lang="zh-CN" altLang="en-US" i="1" dirty="0"/>
              <a:t>默认</a:t>
            </a:r>
            <a:r>
              <a:rPr lang="en-US" altLang="zh-CN" i="1" dirty="0"/>
              <a:t>wire</a:t>
            </a:r>
            <a:r>
              <a:rPr lang="zh-CN" altLang="en-US" i="1" dirty="0"/>
              <a:t>类型</a:t>
            </a:r>
            <a:endParaRPr lang="en-US" altLang="zh-CN" i="1" dirty="0"/>
          </a:p>
          <a:p>
            <a:pPr>
              <a:lnSpc>
                <a:spcPts val="1650"/>
              </a:lnSpc>
              <a:spcBef>
                <a:spcPts val="1000"/>
              </a:spcBef>
              <a:buClr>
                <a:schemeClr val="accent1"/>
              </a:buClr>
              <a:buSzPct val="80000"/>
            </a:pPr>
            <a:r>
              <a:rPr lang="en-US" altLang="zh-CN" i="1" dirty="0"/>
              <a:t>                        </a:t>
            </a:r>
            <a:r>
              <a:rPr lang="en-US" altLang="zh-CN" i="1" dirty="0">
                <a:solidFill>
                  <a:srgbClr val="0000FF"/>
                </a:solidFill>
              </a:rPr>
              <a:t>output</a:t>
            </a:r>
            <a:r>
              <a:rPr lang="en-US" altLang="zh-CN" i="1" dirty="0"/>
              <a:t> out);</a:t>
            </a:r>
          </a:p>
          <a:p>
            <a:pPr>
              <a:lnSpc>
                <a:spcPts val="1650"/>
              </a:lnSpc>
              <a:spcBef>
                <a:spcPts val="1000"/>
              </a:spcBef>
              <a:buClr>
                <a:schemeClr val="accent1"/>
              </a:buClr>
              <a:buSzPct val="80000"/>
            </a:pPr>
            <a:r>
              <a:rPr lang="en-US" altLang="zh-CN" i="1" dirty="0"/>
              <a:t>    </a:t>
            </a:r>
            <a:r>
              <a:rPr lang="en-US" altLang="zh-CN" i="1" dirty="0">
                <a:solidFill>
                  <a:srgbClr val="0000FF"/>
                </a:solidFill>
              </a:rPr>
              <a:t>assign</a:t>
            </a:r>
            <a:r>
              <a:rPr lang="en-US" altLang="zh-CN" i="1" dirty="0"/>
              <a:t> out = </a:t>
            </a:r>
            <a:r>
              <a:rPr lang="en-US" altLang="zh-CN" i="1" dirty="0" err="1"/>
              <a:t>sel</a:t>
            </a:r>
            <a:r>
              <a:rPr lang="en-US" altLang="zh-CN" i="1" dirty="0"/>
              <a:t> </a:t>
            </a:r>
            <a:r>
              <a:rPr lang="en-US" altLang="zh-CN" i="1" dirty="0">
                <a:solidFill>
                  <a:srgbClr val="0070C0"/>
                </a:solidFill>
              </a:rPr>
              <a:t>?</a:t>
            </a:r>
            <a:r>
              <a:rPr lang="en-US" altLang="zh-CN" i="1" dirty="0"/>
              <a:t> a </a:t>
            </a:r>
            <a:r>
              <a:rPr lang="en-US" altLang="zh-CN" i="1" dirty="0">
                <a:solidFill>
                  <a:srgbClr val="0070C0"/>
                </a:solidFill>
              </a:rPr>
              <a:t>:</a:t>
            </a:r>
            <a:r>
              <a:rPr lang="en-US" altLang="zh-CN" i="1" dirty="0"/>
              <a:t> b;  //</a:t>
            </a:r>
            <a:r>
              <a:rPr lang="zh-CN" altLang="en-US" i="1" dirty="0"/>
              <a:t>条件运算符</a:t>
            </a:r>
            <a:endParaRPr lang="en-US" altLang="zh-CN" i="1" dirty="0"/>
          </a:p>
          <a:p>
            <a:pPr>
              <a:lnSpc>
                <a:spcPts val="1650"/>
              </a:lnSpc>
              <a:spcBef>
                <a:spcPts val="1000"/>
              </a:spcBef>
              <a:buClr>
                <a:schemeClr val="accent1"/>
              </a:buClr>
              <a:buSzPct val="80000"/>
            </a:pPr>
            <a:r>
              <a:rPr lang="en-US" altLang="zh-CN" i="1" dirty="0" err="1">
                <a:solidFill>
                  <a:srgbClr val="0000FF"/>
                </a:solidFill>
              </a:rPr>
              <a:t>endmodule</a:t>
            </a:r>
            <a:endParaRPr lang="en-US" altLang="zh-CN" i="1" dirty="0">
              <a:solidFill>
                <a:srgbClr val="0000FF"/>
              </a:solidFill>
            </a:endParaRPr>
          </a:p>
        </p:txBody>
      </p:sp>
    </p:spTree>
    <p:extLst>
      <p:ext uri="{BB962C8B-B14F-4D97-AF65-F5344CB8AC3E}">
        <p14:creationId xmlns:p14="http://schemas.microsoft.com/office/powerpoint/2010/main" val="10812489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E0569-B4F6-3A75-18CF-C3C94521309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9BB489C-EF2F-7012-8A32-2B36C4A0D0C7}"/>
              </a:ext>
            </a:extLst>
          </p:cNvPr>
          <p:cNvSpPr>
            <a:spLocks noGrp="1"/>
          </p:cNvSpPr>
          <p:nvPr>
            <p:ph type="title"/>
          </p:nvPr>
        </p:nvSpPr>
        <p:spPr/>
        <p:txBody>
          <a:bodyPr>
            <a:normAutofit/>
          </a:bodyPr>
          <a:lstStyle/>
          <a:p>
            <a:br>
              <a:rPr lang="en-US" altLang="zh-CN" dirty="0"/>
            </a:br>
            <a:r>
              <a:rPr lang="en-US" altLang="zh-CN" dirty="0"/>
              <a:t>always</a:t>
            </a:r>
            <a:r>
              <a:rPr lang="zh-CN" altLang="en-US" dirty="0"/>
              <a:t>语句实现</a:t>
            </a:r>
          </a:p>
        </p:txBody>
      </p:sp>
      <p:sp>
        <p:nvSpPr>
          <p:cNvPr id="4" name="文本框 3">
            <a:extLst>
              <a:ext uri="{FF2B5EF4-FFF2-40B4-BE49-F238E27FC236}">
                <a16:creationId xmlns:a16="http://schemas.microsoft.com/office/drawing/2014/main" id="{DCFB2EC9-DAB5-FE94-AF61-EBFAC4C7E9CC}"/>
              </a:ext>
            </a:extLst>
          </p:cNvPr>
          <p:cNvSpPr txBox="1"/>
          <p:nvPr/>
        </p:nvSpPr>
        <p:spPr>
          <a:xfrm>
            <a:off x="1151518" y="2372916"/>
            <a:ext cx="8980716" cy="2490425"/>
          </a:xfrm>
          <a:prstGeom prst="rect">
            <a:avLst/>
          </a:prstGeom>
          <a:noFill/>
        </p:spPr>
        <p:txBody>
          <a:bodyPr wrap="square">
            <a:spAutoFit/>
          </a:bodyPr>
          <a:lstStyle/>
          <a:p>
            <a:pPr algn="l" latinLnBrk="1">
              <a:lnSpc>
                <a:spcPts val="1650"/>
              </a:lnSpc>
              <a:buNone/>
            </a:pPr>
            <a:r>
              <a:rPr lang="en-US" altLang="zh-CN" b="0" i="1" dirty="0">
                <a:solidFill>
                  <a:srgbClr val="0000FF"/>
                </a:solidFill>
                <a:effectLst/>
              </a:rPr>
              <a:t>module</a:t>
            </a:r>
            <a:r>
              <a:rPr lang="en-US" altLang="zh-CN" b="0" i="1" dirty="0">
                <a:effectLst/>
              </a:rPr>
              <a:t> mux_2 ( </a:t>
            </a:r>
            <a:r>
              <a:rPr lang="en-US" altLang="zh-CN" b="0" i="1" dirty="0">
                <a:solidFill>
                  <a:srgbClr val="0000FF"/>
                </a:solidFill>
                <a:effectLst/>
              </a:rPr>
              <a:t>input</a:t>
            </a:r>
            <a:r>
              <a:rPr lang="en-US" altLang="zh-CN" b="0" i="1" dirty="0">
                <a:effectLst/>
              </a:rPr>
              <a:t> a, b, </a:t>
            </a:r>
            <a:r>
              <a:rPr lang="en-US" altLang="zh-CN" b="0" i="1" dirty="0" err="1">
                <a:effectLst/>
              </a:rPr>
              <a:t>sel</a:t>
            </a:r>
            <a:r>
              <a:rPr lang="en-US" altLang="zh-CN" b="0" i="1" dirty="0">
                <a:effectLst/>
              </a:rPr>
              <a:t>,</a:t>
            </a:r>
          </a:p>
          <a:p>
            <a:pPr latinLnBrk="1">
              <a:lnSpc>
                <a:spcPts val="1650"/>
              </a:lnSpc>
            </a:pPr>
            <a:r>
              <a:rPr lang="en-US" altLang="zh-CN" b="0" i="1" dirty="0">
                <a:effectLst/>
              </a:rPr>
              <a:t>                         </a:t>
            </a:r>
            <a:r>
              <a:rPr lang="en-US" altLang="zh-CN" b="0" i="1" dirty="0">
                <a:solidFill>
                  <a:srgbClr val="0000FF"/>
                </a:solidFill>
                <a:effectLst/>
              </a:rPr>
              <a:t>output</a:t>
            </a:r>
            <a:r>
              <a:rPr lang="en-US" altLang="zh-CN" b="0" i="1" dirty="0">
                <a:effectLst/>
              </a:rPr>
              <a:t> </a:t>
            </a:r>
            <a:r>
              <a:rPr lang="en-US" altLang="zh-CN" b="0" i="1" dirty="0">
                <a:solidFill>
                  <a:srgbClr val="0000FF"/>
                </a:solidFill>
                <a:effectLst/>
              </a:rPr>
              <a:t>reg</a:t>
            </a:r>
            <a:r>
              <a:rPr lang="en-US" altLang="zh-CN" b="0" i="1" dirty="0">
                <a:effectLst/>
              </a:rPr>
              <a:t> out </a:t>
            </a:r>
            <a:r>
              <a:rPr lang="en-US" altLang="zh-CN" i="1" dirty="0"/>
              <a:t>);</a:t>
            </a:r>
            <a:r>
              <a:rPr lang="en-US" altLang="zh-CN" b="0" i="1" dirty="0">
                <a:effectLst/>
              </a:rPr>
              <a:t>  // always </a:t>
            </a:r>
            <a:r>
              <a:rPr lang="zh-CN" altLang="en-US" b="0" i="1" dirty="0">
                <a:effectLst/>
              </a:rPr>
              <a:t>块中</a:t>
            </a:r>
            <a:r>
              <a:rPr lang="zh-CN" altLang="en-US" i="1" dirty="0"/>
              <a:t>被</a:t>
            </a:r>
            <a:r>
              <a:rPr lang="zh-CN" altLang="en-US" b="0" i="1" dirty="0">
                <a:effectLst/>
              </a:rPr>
              <a:t>赋值的信号必须定义为 </a:t>
            </a:r>
            <a:r>
              <a:rPr lang="en-US" altLang="zh-CN" b="0" i="1" dirty="0">
                <a:effectLst/>
              </a:rPr>
              <a:t>reg </a:t>
            </a:r>
            <a:r>
              <a:rPr lang="zh-CN" altLang="en-US" b="0" i="1" dirty="0">
                <a:effectLst/>
              </a:rPr>
              <a:t>类型</a:t>
            </a:r>
          </a:p>
          <a:p>
            <a:pPr algn="l" latinLnBrk="1">
              <a:lnSpc>
                <a:spcPts val="1650"/>
              </a:lnSpc>
              <a:buNone/>
            </a:pPr>
            <a:endParaRPr lang="en-US" altLang="zh-CN" b="0" i="1" dirty="0">
              <a:solidFill>
                <a:srgbClr val="0000FF"/>
              </a:solidFill>
              <a:effectLst/>
            </a:endParaRPr>
          </a:p>
          <a:p>
            <a:pPr latinLnBrk="1">
              <a:lnSpc>
                <a:spcPts val="1650"/>
              </a:lnSpc>
            </a:pPr>
            <a:r>
              <a:rPr lang="en-US" altLang="zh-CN" b="0" i="1" dirty="0">
                <a:solidFill>
                  <a:srgbClr val="0000FF"/>
                </a:solidFill>
                <a:effectLst/>
              </a:rPr>
              <a:t>always</a:t>
            </a:r>
            <a:r>
              <a:rPr lang="en-US" altLang="zh-CN" b="0" i="1" dirty="0">
                <a:effectLst/>
              </a:rPr>
              <a:t> </a:t>
            </a:r>
            <a:r>
              <a:rPr lang="en-US" altLang="zh-CN" b="0" i="1" dirty="0">
                <a:solidFill>
                  <a:srgbClr val="0070C0"/>
                </a:solidFill>
                <a:effectLst/>
              </a:rPr>
              <a:t>@</a:t>
            </a:r>
            <a:r>
              <a:rPr lang="en-US" altLang="zh-CN" b="0" i="1" dirty="0">
                <a:effectLst/>
              </a:rPr>
              <a:t>(</a:t>
            </a:r>
            <a:r>
              <a:rPr lang="en-US" altLang="zh-CN" b="0" i="1" dirty="0">
                <a:solidFill>
                  <a:srgbClr val="0070C0"/>
                </a:solidFill>
                <a:effectLst/>
              </a:rPr>
              <a:t>*</a:t>
            </a:r>
            <a:r>
              <a:rPr lang="en-US" altLang="zh-CN" b="0" i="1" dirty="0">
                <a:effectLst/>
              </a:rPr>
              <a:t>) </a:t>
            </a:r>
            <a:r>
              <a:rPr lang="en-US" altLang="zh-CN" i="1" dirty="0"/>
              <a:t>// </a:t>
            </a:r>
            <a:r>
              <a:rPr lang="zh-CN" altLang="en-US" i="1" dirty="0"/>
              <a:t>* 表示包含所有输入</a:t>
            </a:r>
            <a:endParaRPr lang="en-US" altLang="zh-CN" b="0" i="1" dirty="0">
              <a:effectLst/>
            </a:endParaRPr>
          </a:p>
          <a:p>
            <a:pPr algn="l" latinLnBrk="1">
              <a:lnSpc>
                <a:spcPts val="1650"/>
              </a:lnSpc>
              <a:buNone/>
            </a:pPr>
            <a:r>
              <a:rPr lang="en-US" altLang="zh-CN" i="1" dirty="0">
                <a:solidFill>
                  <a:srgbClr val="0000FF"/>
                </a:solidFill>
              </a:rPr>
              <a:t>    </a:t>
            </a:r>
            <a:r>
              <a:rPr lang="en-US" altLang="zh-CN" b="0" i="1" dirty="0">
                <a:solidFill>
                  <a:srgbClr val="0000FF"/>
                </a:solidFill>
                <a:effectLst/>
              </a:rPr>
              <a:t>begin</a:t>
            </a:r>
            <a:endParaRPr lang="zh-CN" altLang="en-US" b="0" i="1" dirty="0">
              <a:effectLst/>
            </a:endParaRPr>
          </a:p>
          <a:p>
            <a:pPr algn="l" latinLnBrk="1">
              <a:lnSpc>
                <a:spcPts val="1650"/>
              </a:lnSpc>
              <a:buNone/>
            </a:pPr>
            <a:r>
              <a:rPr lang="zh-CN" altLang="en-US" b="0" i="1" dirty="0">
                <a:effectLst/>
              </a:rPr>
              <a:t>        </a:t>
            </a:r>
            <a:r>
              <a:rPr lang="en-US" altLang="zh-CN" b="0" i="1" dirty="0">
                <a:solidFill>
                  <a:srgbClr val="0000FF"/>
                </a:solidFill>
                <a:effectLst/>
              </a:rPr>
              <a:t>if</a:t>
            </a:r>
            <a:r>
              <a:rPr lang="en-US" altLang="zh-CN" b="0" i="1" dirty="0">
                <a:effectLst/>
              </a:rPr>
              <a:t> (</a:t>
            </a:r>
            <a:r>
              <a:rPr lang="en-US" altLang="zh-CN" b="0" i="1" dirty="0" err="1">
                <a:effectLst/>
              </a:rPr>
              <a:t>sel</a:t>
            </a:r>
            <a:r>
              <a:rPr lang="en-US" altLang="zh-CN" b="0" i="1" dirty="0">
                <a:effectLst/>
              </a:rPr>
              <a:t>)</a:t>
            </a:r>
          </a:p>
          <a:p>
            <a:pPr algn="l" latinLnBrk="1">
              <a:lnSpc>
                <a:spcPts val="1650"/>
              </a:lnSpc>
              <a:buNone/>
            </a:pPr>
            <a:r>
              <a:rPr lang="en-US" altLang="zh-CN" b="0" i="1" dirty="0">
                <a:effectLst/>
              </a:rPr>
              <a:t>            out = a;    // </a:t>
            </a:r>
            <a:r>
              <a:rPr lang="zh-CN" altLang="en-US" b="0" i="1" dirty="0">
                <a:effectLst/>
              </a:rPr>
              <a:t>阻塞赋值（</a:t>
            </a:r>
            <a:r>
              <a:rPr lang="en-US" altLang="zh-CN" b="0" i="1" dirty="0">
                <a:effectLst/>
              </a:rPr>
              <a:t>=</a:t>
            </a:r>
            <a:r>
              <a:rPr lang="zh-CN" altLang="en-US" b="0" i="1" dirty="0">
                <a:effectLst/>
              </a:rPr>
              <a:t>）</a:t>
            </a:r>
          </a:p>
          <a:p>
            <a:pPr algn="l" latinLnBrk="1">
              <a:lnSpc>
                <a:spcPts val="1650"/>
              </a:lnSpc>
              <a:buNone/>
            </a:pPr>
            <a:r>
              <a:rPr lang="zh-CN" altLang="en-US" b="0" i="1" dirty="0">
                <a:effectLst/>
              </a:rPr>
              <a:t>        </a:t>
            </a:r>
            <a:r>
              <a:rPr lang="en-US" altLang="zh-CN" b="0" i="1" dirty="0">
                <a:solidFill>
                  <a:srgbClr val="0000FF"/>
                </a:solidFill>
                <a:effectLst/>
              </a:rPr>
              <a:t>else</a:t>
            </a:r>
          </a:p>
          <a:p>
            <a:pPr algn="l" latinLnBrk="1">
              <a:lnSpc>
                <a:spcPts val="1650"/>
              </a:lnSpc>
              <a:buNone/>
            </a:pPr>
            <a:r>
              <a:rPr lang="en-US" altLang="zh-CN" b="0" i="1" dirty="0">
                <a:effectLst/>
              </a:rPr>
              <a:t>            out = b;</a:t>
            </a:r>
          </a:p>
          <a:p>
            <a:pPr algn="l" latinLnBrk="1">
              <a:lnSpc>
                <a:spcPts val="1650"/>
              </a:lnSpc>
              <a:buNone/>
            </a:pPr>
            <a:r>
              <a:rPr lang="en-US" altLang="zh-CN" b="0" i="1" dirty="0">
                <a:effectLst/>
              </a:rPr>
              <a:t>    </a:t>
            </a:r>
            <a:r>
              <a:rPr lang="en-US" altLang="zh-CN" b="0" i="1" dirty="0">
                <a:solidFill>
                  <a:srgbClr val="0000FF"/>
                </a:solidFill>
                <a:effectLst/>
              </a:rPr>
              <a:t>end</a:t>
            </a:r>
          </a:p>
          <a:p>
            <a:pPr algn="l" latinLnBrk="1">
              <a:lnSpc>
                <a:spcPts val="1650"/>
              </a:lnSpc>
              <a:buNone/>
            </a:pPr>
            <a:r>
              <a:rPr lang="en-US" altLang="zh-CN" b="0" i="1" dirty="0" err="1">
                <a:solidFill>
                  <a:srgbClr val="0000FF"/>
                </a:solidFill>
                <a:effectLst/>
              </a:rPr>
              <a:t>endmodule</a:t>
            </a:r>
            <a:endParaRPr lang="en-US" altLang="zh-CN" b="0" i="1" dirty="0">
              <a:solidFill>
                <a:srgbClr val="0000FF"/>
              </a:solidFill>
              <a:effectLst/>
            </a:endParaRPr>
          </a:p>
        </p:txBody>
      </p:sp>
    </p:spTree>
    <p:extLst>
      <p:ext uri="{BB962C8B-B14F-4D97-AF65-F5344CB8AC3E}">
        <p14:creationId xmlns:p14="http://schemas.microsoft.com/office/powerpoint/2010/main" val="42122094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CD32A86-9E33-AE70-BF3C-83E416B21DFA}"/>
              </a:ext>
            </a:extLst>
          </p:cNvPr>
          <p:cNvSpPr txBox="1"/>
          <p:nvPr/>
        </p:nvSpPr>
        <p:spPr>
          <a:xfrm>
            <a:off x="295334" y="1056388"/>
            <a:ext cx="10972800" cy="5760551"/>
          </a:xfrm>
          <a:prstGeom prst="rect">
            <a:avLst/>
          </a:prstGeom>
          <a:noFill/>
        </p:spPr>
        <p:txBody>
          <a:bodyPr wrap="square">
            <a:spAutoFit/>
          </a:bodyPr>
          <a:lstStyle/>
          <a:p>
            <a:pPr latinLnBrk="1">
              <a:lnSpc>
                <a:spcPts val="1650"/>
              </a:lnSpc>
            </a:pPr>
            <a:r>
              <a:rPr lang="en-US" altLang="zh-CN" b="0" i="1" dirty="0">
                <a:solidFill>
                  <a:srgbClr val="0000FF"/>
                </a:solidFill>
                <a:effectLst/>
              </a:rPr>
              <a:t>`timescale </a:t>
            </a:r>
            <a:r>
              <a:rPr lang="en-US" altLang="zh-CN" b="0" i="1" dirty="0">
                <a:effectLst/>
              </a:rPr>
              <a:t>1ns/1ps   //</a:t>
            </a:r>
            <a:r>
              <a:rPr lang="zh-CN" altLang="en-US" i="1" dirty="0"/>
              <a:t>指定了仿真中时间单位</a:t>
            </a:r>
            <a:r>
              <a:rPr lang="en-US" altLang="zh-CN" i="1" dirty="0"/>
              <a:t>(</a:t>
            </a:r>
            <a:r>
              <a:rPr lang="en-US" altLang="zh-CN" i="1" dirty="0" err="1"/>
              <a:t>time_unit</a:t>
            </a:r>
            <a:r>
              <a:rPr lang="en-US" altLang="zh-CN" i="1" dirty="0"/>
              <a:t>)</a:t>
            </a:r>
            <a:r>
              <a:rPr lang="zh-CN" altLang="en-US" i="1" dirty="0"/>
              <a:t>和时间精度</a:t>
            </a:r>
            <a:r>
              <a:rPr lang="en-US" altLang="zh-CN" i="1" dirty="0"/>
              <a:t>(</a:t>
            </a:r>
            <a:r>
              <a:rPr lang="en-US" altLang="zh-CN" i="1" dirty="0" err="1"/>
              <a:t>time_precision</a:t>
            </a:r>
            <a:r>
              <a:rPr lang="en-US" altLang="zh-CN" i="1" dirty="0"/>
              <a:t>)</a:t>
            </a:r>
            <a:endParaRPr lang="en-US" altLang="zh-CN" b="0" i="1" dirty="0">
              <a:effectLst/>
            </a:endParaRPr>
          </a:p>
          <a:p>
            <a:pPr algn="l" latinLnBrk="1">
              <a:lnSpc>
                <a:spcPts val="1650"/>
              </a:lnSpc>
              <a:buNone/>
            </a:pPr>
            <a:endParaRPr lang="en-US" altLang="zh-CN" b="0" i="1" dirty="0">
              <a:effectLst/>
            </a:endParaRPr>
          </a:p>
          <a:p>
            <a:pPr algn="l" latinLnBrk="1">
              <a:lnSpc>
                <a:spcPts val="1650"/>
              </a:lnSpc>
              <a:buNone/>
            </a:pPr>
            <a:r>
              <a:rPr lang="en-US" altLang="zh-CN" b="0" i="1" dirty="0">
                <a:solidFill>
                  <a:srgbClr val="0000FF"/>
                </a:solidFill>
                <a:effectLst/>
              </a:rPr>
              <a:t>module</a:t>
            </a:r>
            <a:r>
              <a:rPr lang="en-US" altLang="zh-CN" b="0" i="1" dirty="0">
                <a:effectLst/>
              </a:rPr>
              <a:t> mux2_tb;</a:t>
            </a:r>
          </a:p>
          <a:p>
            <a:pPr algn="l" latinLnBrk="1">
              <a:lnSpc>
                <a:spcPts val="1650"/>
              </a:lnSpc>
              <a:buNone/>
            </a:pPr>
            <a:endParaRPr lang="en-US" altLang="zh-CN" b="0" i="1" dirty="0">
              <a:effectLst/>
            </a:endParaRPr>
          </a:p>
          <a:p>
            <a:pPr latinLnBrk="1">
              <a:lnSpc>
                <a:spcPts val="1650"/>
              </a:lnSpc>
            </a:pPr>
            <a:r>
              <a:rPr lang="en-US" altLang="zh-CN" b="0" i="1" dirty="0">
                <a:effectLst/>
              </a:rPr>
              <a:t>    </a:t>
            </a:r>
            <a:r>
              <a:rPr lang="en-US" altLang="zh-CN" b="0" i="1" dirty="0">
                <a:solidFill>
                  <a:srgbClr val="0000FF"/>
                </a:solidFill>
                <a:effectLst/>
              </a:rPr>
              <a:t>reg</a:t>
            </a:r>
            <a:r>
              <a:rPr lang="en-US" altLang="zh-CN" b="0" i="1" dirty="0">
                <a:effectLst/>
              </a:rPr>
              <a:t>  A, B, SEL; </a:t>
            </a:r>
            <a:r>
              <a:rPr lang="en-US" altLang="zh-CN" i="1" dirty="0"/>
              <a:t>// </a:t>
            </a:r>
            <a:r>
              <a:rPr lang="zh-CN" altLang="en-US" i="1" dirty="0"/>
              <a:t>输入信号</a:t>
            </a:r>
            <a:r>
              <a:rPr lang="en-US" altLang="zh-CN" i="1" dirty="0"/>
              <a:t>reg</a:t>
            </a:r>
            <a:r>
              <a:rPr lang="zh-CN" altLang="en-US" i="1" dirty="0"/>
              <a:t>类型</a:t>
            </a:r>
            <a:endParaRPr lang="en-US" altLang="zh-CN" b="0" i="1" dirty="0">
              <a:effectLst/>
            </a:endParaRPr>
          </a:p>
          <a:p>
            <a:pPr algn="l" latinLnBrk="1">
              <a:lnSpc>
                <a:spcPts val="1650"/>
              </a:lnSpc>
              <a:buNone/>
            </a:pPr>
            <a:r>
              <a:rPr lang="en-US" altLang="zh-CN" b="0" i="1" dirty="0">
                <a:effectLst/>
              </a:rPr>
              <a:t>    </a:t>
            </a:r>
            <a:r>
              <a:rPr lang="en-US" altLang="zh-CN" b="0" i="1" dirty="0">
                <a:solidFill>
                  <a:srgbClr val="0000FF"/>
                </a:solidFill>
                <a:effectLst/>
              </a:rPr>
              <a:t>wire</a:t>
            </a:r>
            <a:r>
              <a:rPr lang="en-US" altLang="zh-CN" b="0" i="1" dirty="0">
                <a:effectLst/>
              </a:rPr>
              <a:t> OUT;       //</a:t>
            </a:r>
            <a:r>
              <a:rPr lang="zh-CN" altLang="en-US" b="0" i="1" dirty="0">
                <a:effectLst/>
              </a:rPr>
              <a:t>输出信号</a:t>
            </a:r>
            <a:r>
              <a:rPr lang="en-US" altLang="zh-CN" b="0" i="1" dirty="0">
                <a:effectLst/>
              </a:rPr>
              <a:t>wire</a:t>
            </a:r>
            <a:r>
              <a:rPr lang="zh-CN" altLang="en-US" b="0" i="1" dirty="0">
                <a:effectLst/>
              </a:rPr>
              <a:t>类型</a:t>
            </a:r>
            <a:endParaRPr lang="en-US" altLang="zh-CN" b="0" i="1" dirty="0">
              <a:effectLst/>
            </a:endParaRPr>
          </a:p>
          <a:p>
            <a:pPr algn="l" latinLnBrk="1">
              <a:lnSpc>
                <a:spcPts val="1650"/>
              </a:lnSpc>
              <a:buNone/>
            </a:pPr>
            <a:endParaRPr lang="zh-CN" altLang="en-US" b="0" i="1" dirty="0">
              <a:effectLst/>
            </a:endParaRPr>
          </a:p>
          <a:p>
            <a:pPr latinLnBrk="1">
              <a:lnSpc>
                <a:spcPts val="1650"/>
              </a:lnSpc>
            </a:pPr>
            <a:r>
              <a:rPr lang="zh-CN" altLang="en-US" b="0" i="1" dirty="0">
                <a:effectLst/>
              </a:rPr>
              <a:t>    </a:t>
            </a:r>
            <a:r>
              <a:rPr lang="en-US" altLang="zh-CN" b="0" i="1" dirty="0">
                <a:effectLst/>
              </a:rPr>
              <a:t>mux2  </a:t>
            </a:r>
            <a:r>
              <a:rPr lang="en-US" altLang="zh-CN" b="0" i="1" dirty="0" err="1">
                <a:effectLst/>
              </a:rPr>
              <a:t>u_mux</a:t>
            </a:r>
            <a:r>
              <a:rPr lang="en-US" altLang="zh-CN" b="0" i="1" dirty="0">
                <a:effectLst/>
              </a:rPr>
              <a:t> (</a:t>
            </a:r>
            <a:r>
              <a:rPr lang="en-US" altLang="zh-CN" i="1" dirty="0"/>
              <a:t>.a   (A     ),      // </a:t>
            </a:r>
            <a:r>
              <a:rPr lang="zh-CN" altLang="en-US" i="1" dirty="0"/>
              <a:t>实例化待测模块</a:t>
            </a:r>
            <a:r>
              <a:rPr lang="en-US" altLang="zh-CN" b="0" i="1" dirty="0">
                <a:effectLst/>
              </a:rPr>
              <a:t>                    </a:t>
            </a:r>
          </a:p>
          <a:p>
            <a:pPr algn="l" latinLnBrk="1">
              <a:lnSpc>
                <a:spcPts val="1650"/>
              </a:lnSpc>
              <a:buNone/>
            </a:pPr>
            <a:r>
              <a:rPr lang="en-US" altLang="zh-CN" b="0" i="1" dirty="0">
                <a:effectLst/>
              </a:rPr>
              <a:t>                          .b   (B     ),</a:t>
            </a:r>
          </a:p>
          <a:p>
            <a:pPr algn="l" latinLnBrk="1">
              <a:lnSpc>
                <a:spcPts val="1650"/>
              </a:lnSpc>
              <a:buNone/>
            </a:pPr>
            <a:r>
              <a:rPr lang="en-US" altLang="zh-CN" b="0" i="1" dirty="0">
                <a:effectLst/>
              </a:rPr>
              <a:t>                          .</a:t>
            </a:r>
            <a:r>
              <a:rPr lang="en-US" altLang="zh-CN" b="0" i="1" dirty="0" err="1">
                <a:effectLst/>
              </a:rPr>
              <a:t>sel</a:t>
            </a:r>
            <a:r>
              <a:rPr lang="en-US" altLang="zh-CN" b="0" i="1" dirty="0">
                <a:effectLst/>
              </a:rPr>
              <a:t> (SEL  ),</a:t>
            </a:r>
          </a:p>
          <a:p>
            <a:pPr algn="l" latinLnBrk="1">
              <a:lnSpc>
                <a:spcPts val="1650"/>
              </a:lnSpc>
              <a:buNone/>
            </a:pPr>
            <a:r>
              <a:rPr lang="en-US" altLang="zh-CN" b="0" i="1" dirty="0">
                <a:effectLst/>
              </a:rPr>
              <a:t>                          .out (OUT)  );</a:t>
            </a:r>
          </a:p>
          <a:p>
            <a:pPr algn="l" latinLnBrk="1">
              <a:lnSpc>
                <a:spcPts val="1650"/>
              </a:lnSpc>
              <a:buNone/>
            </a:pPr>
            <a:endParaRPr lang="en-US" altLang="zh-CN" b="0" i="1" dirty="0">
              <a:effectLst/>
            </a:endParaRPr>
          </a:p>
          <a:p>
            <a:pPr latinLnBrk="1">
              <a:lnSpc>
                <a:spcPts val="1650"/>
              </a:lnSpc>
            </a:pPr>
            <a:r>
              <a:rPr lang="en-US" altLang="zh-CN" b="0" i="1" dirty="0">
                <a:solidFill>
                  <a:srgbClr val="0000FF"/>
                </a:solidFill>
                <a:effectLst/>
              </a:rPr>
              <a:t>   initial</a:t>
            </a:r>
            <a:r>
              <a:rPr lang="en-US" altLang="zh-CN" b="0" i="1" dirty="0">
                <a:effectLst/>
              </a:rPr>
              <a:t> </a:t>
            </a:r>
          </a:p>
          <a:p>
            <a:pPr latinLnBrk="1">
              <a:lnSpc>
                <a:spcPts val="1650"/>
              </a:lnSpc>
            </a:pPr>
            <a:r>
              <a:rPr lang="en-US" altLang="zh-CN" b="0" i="1" dirty="0">
                <a:solidFill>
                  <a:srgbClr val="0000FF"/>
                </a:solidFill>
                <a:effectLst/>
              </a:rPr>
              <a:t>   begin</a:t>
            </a:r>
            <a:r>
              <a:rPr lang="en-US" altLang="zh-CN" b="0" i="1" dirty="0">
                <a:effectLst/>
              </a:rPr>
              <a:t>   </a:t>
            </a:r>
            <a:r>
              <a:rPr lang="en-US" altLang="zh-CN" i="1" dirty="0"/>
              <a:t> // </a:t>
            </a:r>
            <a:r>
              <a:rPr lang="zh-CN" altLang="en-US" i="1" dirty="0"/>
              <a:t>生成测试激励</a:t>
            </a:r>
            <a:endParaRPr lang="en-US" altLang="zh-CN" b="0" i="1" dirty="0">
              <a:effectLst/>
            </a:endParaRPr>
          </a:p>
          <a:p>
            <a:pPr algn="l" latinLnBrk="1">
              <a:lnSpc>
                <a:spcPts val="1650"/>
              </a:lnSpc>
              <a:buNone/>
            </a:pPr>
            <a:r>
              <a:rPr lang="en-US" altLang="zh-CN" b="0" i="1" dirty="0">
                <a:effectLst/>
              </a:rPr>
              <a:t>       </a:t>
            </a:r>
            <a:r>
              <a:rPr lang="en-US" altLang="zh-CN" b="0" i="1" dirty="0">
                <a:solidFill>
                  <a:srgbClr val="0000FF"/>
                </a:solidFill>
                <a:effectLst/>
              </a:rPr>
              <a:t>for</a:t>
            </a:r>
            <a:r>
              <a:rPr lang="en-US" altLang="zh-CN" b="0" i="1" dirty="0">
                <a:effectLst/>
              </a:rPr>
              <a:t> (</a:t>
            </a:r>
            <a:r>
              <a:rPr lang="en-US" altLang="zh-CN" b="0" i="1" dirty="0">
                <a:solidFill>
                  <a:srgbClr val="0000FF"/>
                </a:solidFill>
                <a:effectLst/>
              </a:rPr>
              <a:t>int</a:t>
            </a:r>
            <a:r>
              <a:rPr lang="en-US" altLang="zh-CN" b="0" i="1" dirty="0">
                <a:effectLst/>
              </a:rPr>
              <a:t> </a:t>
            </a:r>
            <a:r>
              <a:rPr lang="en-US" altLang="zh-CN" b="0" i="1" dirty="0" err="1">
                <a:effectLst/>
              </a:rPr>
              <a:t>i</a:t>
            </a:r>
            <a:r>
              <a:rPr lang="en-US" altLang="zh-CN" b="0" i="1" dirty="0">
                <a:effectLst/>
              </a:rPr>
              <a:t> = 0; </a:t>
            </a:r>
            <a:r>
              <a:rPr lang="en-US" altLang="zh-CN" b="0" i="1" dirty="0" err="1">
                <a:effectLst/>
              </a:rPr>
              <a:t>i</a:t>
            </a:r>
            <a:r>
              <a:rPr lang="en-US" altLang="zh-CN" b="0" i="1" dirty="0">
                <a:effectLst/>
              </a:rPr>
              <a:t> &lt; 8; </a:t>
            </a:r>
            <a:r>
              <a:rPr lang="en-US" altLang="zh-CN" b="0" i="1" dirty="0" err="1">
                <a:effectLst/>
              </a:rPr>
              <a:t>i</a:t>
            </a:r>
            <a:r>
              <a:rPr lang="en-US" altLang="zh-CN" b="0" i="1" dirty="0">
                <a:effectLst/>
              </a:rPr>
              <a:t>++) </a:t>
            </a:r>
            <a:r>
              <a:rPr lang="en-US" altLang="zh-CN" i="1" dirty="0"/>
              <a:t>// </a:t>
            </a:r>
            <a:r>
              <a:rPr lang="zh-CN" altLang="en-US" i="1" dirty="0"/>
              <a:t>遍历所有 </a:t>
            </a:r>
            <a:r>
              <a:rPr lang="en-US" altLang="zh-CN" i="1" dirty="0"/>
              <a:t>8 </a:t>
            </a:r>
            <a:r>
              <a:rPr lang="zh-CN" altLang="en-US" i="1" dirty="0"/>
              <a:t>种输入组合 </a:t>
            </a:r>
            <a:r>
              <a:rPr lang="en-US" altLang="zh-CN" i="1" dirty="0"/>
              <a:t>(a, b, </a:t>
            </a:r>
            <a:r>
              <a:rPr lang="en-US" altLang="zh-CN" i="1" dirty="0" err="1"/>
              <a:t>sel</a:t>
            </a:r>
            <a:r>
              <a:rPr lang="en-US" altLang="zh-CN" i="1" dirty="0"/>
              <a:t>)</a:t>
            </a:r>
          </a:p>
          <a:p>
            <a:pPr latinLnBrk="1">
              <a:lnSpc>
                <a:spcPts val="1650"/>
              </a:lnSpc>
            </a:pPr>
            <a:r>
              <a:rPr lang="en-US" altLang="zh-CN" b="0" i="1" dirty="0">
                <a:effectLst/>
              </a:rPr>
              <a:t>       </a:t>
            </a:r>
            <a:r>
              <a:rPr lang="en-US" altLang="zh-CN" i="1" dirty="0">
                <a:solidFill>
                  <a:srgbClr val="0000FF"/>
                </a:solidFill>
              </a:rPr>
              <a:t>begin</a:t>
            </a:r>
            <a:endParaRPr lang="en-US" altLang="zh-CN" b="0" i="1" dirty="0">
              <a:effectLst/>
            </a:endParaRPr>
          </a:p>
          <a:p>
            <a:pPr algn="l" latinLnBrk="1">
              <a:lnSpc>
                <a:spcPts val="1650"/>
              </a:lnSpc>
              <a:buNone/>
            </a:pPr>
            <a:r>
              <a:rPr lang="en-US" altLang="zh-CN" b="0" i="1" dirty="0">
                <a:effectLst/>
              </a:rPr>
              <a:t>            // </a:t>
            </a:r>
            <a:r>
              <a:rPr lang="zh-CN" altLang="en-US" b="0" i="1" dirty="0">
                <a:effectLst/>
              </a:rPr>
              <a:t>将 </a:t>
            </a:r>
            <a:r>
              <a:rPr lang="en-US" altLang="zh-CN" b="0" i="1" dirty="0" err="1">
                <a:effectLst/>
              </a:rPr>
              <a:t>i</a:t>
            </a:r>
            <a:r>
              <a:rPr lang="en-US" altLang="zh-CN" b="0" i="1" dirty="0">
                <a:effectLst/>
              </a:rPr>
              <a:t> </a:t>
            </a:r>
            <a:r>
              <a:rPr lang="zh-CN" altLang="en-US" b="0" i="1" dirty="0">
                <a:effectLst/>
              </a:rPr>
              <a:t>的 </a:t>
            </a:r>
            <a:r>
              <a:rPr lang="en-US" altLang="zh-CN" b="0" i="1" dirty="0">
                <a:effectLst/>
              </a:rPr>
              <a:t>bit[2:0] </a:t>
            </a:r>
            <a:r>
              <a:rPr lang="zh-CN" altLang="en-US" b="0" i="1" dirty="0">
                <a:effectLst/>
              </a:rPr>
              <a:t>分配到 </a:t>
            </a:r>
            <a:r>
              <a:rPr lang="en-US" altLang="zh-CN" b="0" i="1" dirty="0">
                <a:effectLst/>
              </a:rPr>
              <a:t>a, b, </a:t>
            </a:r>
            <a:r>
              <a:rPr lang="en-US" altLang="zh-CN" b="0" i="1" dirty="0" err="1">
                <a:effectLst/>
              </a:rPr>
              <a:t>sel</a:t>
            </a:r>
            <a:endParaRPr lang="en-US" altLang="zh-CN" b="0" i="1" dirty="0">
              <a:effectLst/>
            </a:endParaRPr>
          </a:p>
          <a:p>
            <a:pPr algn="l" latinLnBrk="1">
              <a:lnSpc>
                <a:spcPts val="1650"/>
              </a:lnSpc>
              <a:buNone/>
            </a:pPr>
            <a:r>
              <a:rPr lang="en-US" altLang="zh-CN" b="0" i="1" dirty="0">
                <a:effectLst/>
              </a:rPr>
              <a:t>            {A, B, SEL} = </a:t>
            </a:r>
            <a:r>
              <a:rPr lang="en-US" altLang="zh-CN" b="0" i="1" dirty="0" err="1">
                <a:effectLst/>
              </a:rPr>
              <a:t>i</a:t>
            </a:r>
            <a:r>
              <a:rPr lang="en-US" altLang="zh-CN" b="0" i="1" dirty="0">
                <a:effectLst/>
              </a:rPr>
              <a:t>;   </a:t>
            </a:r>
          </a:p>
          <a:p>
            <a:pPr algn="l" latinLnBrk="1">
              <a:lnSpc>
                <a:spcPts val="1650"/>
              </a:lnSpc>
              <a:buNone/>
            </a:pPr>
            <a:r>
              <a:rPr lang="en-US" altLang="zh-CN" b="0" i="1" dirty="0">
                <a:effectLst/>
              </a:rPr>
              <a:t>            #10   </a:t>
            </a:r>
            <a:r>
              <a:rPr lang="zh-CN" altLang="en-US" b="0" i="1" dirty="0">
                <a:effectLst/>
              </a:rPr>
              <a:t> </a:t>
            </a:r>
            <a:r>
              <a:rPr lang="en-US" altLang="zh-CN" b="0" i="1" dirty="0">
                <a:solidFill>
                  <a:srgbClr val="0070C0"/>
                </a:solidFill>
                <a:effectLst/>
              </a:rPr>
              <a:t>$</a:t>
            </a:r>
            <a:r>
              <a:rPr lang="en-US" altLang="zh-CN" b="0" i="1" dirty="0">
                <a:solidFill>
                  <a:srgbClr val="0000FF"/>
                </a:solidFill>
                <a:effectLst/>
              </a:rPr>
              <a:t>display</a:t>
            </a:r>
            <a:r>
              <a:rPr lang="en-US" altLang="zh-CN" b="0" i="1" dirty="0">
                <a:effectLst/>
              </a:rPr>
              <a:t>(“ %0d  %0d  %0d   |  %0d ”,</a:t>
            </a:r>
            <a:r>
              <a:rPr lang="en-US" altLang="zh-CN" i="1" dirty="0"/>
              <a:t> </a:t>
            </a:r>
            <a:r>
              <a:rPr lang="en-US" altLang="zh-CN" b="0" i="1" dirty="0">
                <a:effectLst/>
              </a:rPr>
              <a:t>A, B, SEL, OUT); </a:t>
            </a:r>
            <a:r>
              <a:rPr lang="en-US" altLang="zh-CN" i="1" dirty="0"/>
              <a:t>// </a:t>
            </a:r>
            <a:r>
              <a:rPr lang="zh-CN" altLang="en-US" i="1" dirty="0"/>
              <a:t>每执行一次打印一次，自动换行</a:t>
            </a:r>
            <a:endParaRPr lang="en-US" altLang="zh-CN" b="0" i="1" dirty="0">
              <a:effectLst/>
            </a:endParaRPr>
          </a:p>
          <a:p>
            <a:pPr algn="l" latinLnBrk="1">
              <a:lnSpc>
                <a:spcPts val="1650"/>
              </a:lnSpc>
              <a:buNone/>
            </a:pPr>
            <a:r>
              <a:rPr lang="en-US" altLang="zh-CN" b="0" i="1" dirty="0">
                <a:effectLst/>
              </a:rPr>
              <a:t>        </a:t>
            </a:r>
            <a:r>
              <a:rPr lang="en-US" altLang="zh-CN" b="0" i="1" dirty="0">
                <a:solidFill>
                  <a:srgbClr val="0000FF"/>
                </a:solidFill>
                <a:effectLst/>
              </a:rPr>
              <a:t>end</a:t>
            </a:r>
          </a:p>
          <a:p>
            <a:pPr algn="l" latinLnBrk="1">
              <a:lnSpc>
                <a:spcPts val="1650"/>
              </a:lnSpc>
              <a:buNone/>
            </a:pPr>
            <a:endParaRPr lang="en-US" altLang="zh-CN" b="0" i="1" dirty="0">
              <a:effectLst/>
            </a:endParaRPr>
          </a:p>
          <a:p>
            <a:pPr algn="l" latinLnBrk="1">
              <a:lnSpc>
                <a:spcPts val="1650"/>
              </a:lnSpc>
              <a:buNone/>
            </a:pPr>
            <a:r>
              <a:rPr lang="en-US" altLang="zh-CN" b="0" i="1" dirty="0">
                <a:effectLst/>
              </a:rPr>
              <a:t>    </a:t>
            </a:r>
            <a:r>
              <a:rPr lang="en-US" altLang="zh-CN" b="0" i="1" dirty="0">
                <a:solidFill>
                  <a:srgbClr val="0070C0"/>
                </a:solidFill>
                <a:effectLst/>
              </a:rPr>
              <a:t>$</a:t>
            </a:r>
            <a:r>
              <a:rPr lang="en-US" altLang="zh-CN" b="0" i="1" dirty="0">
                <a:solidFill>
                  <a:srgbClr val="0000FF"/>
                </a:solidFill>
                <a:effectLst/>
              </a:rPr>
              <a:t>finish</a:t>
            </a:r>
            <a:r>
              <a:rPr lang="en-US" altLang="zh-CN" b="0" i="1" dirty="0">
                <a:effectLst/>
              </a:rPr>
              <a:t>;//</a:t>
            </a:r>
            <a:r>
              <a:rPr lang="zh-CN" altLang="en-US" b="0" i="1" dirty="0">
                <a:effectLst/>
              </a:rPr>
              <a:t>结束仿真</a:t>
            </a:r>
            <a:endParaRPr lang="en-US" altLang="zh-CN" b="0" i="1" dirty="0">
              <a:effectLst/>
            </a:endParaRPr>
          </a:p>
          <a:p>
            <a:pPr algn="l" latinLnBrk="1">
              <a:lnSpc>
                <a:spcPts val="1650"/>
              </a:lnSpc>
              <a:buNone/>
            </a:pPr>
            <a:r>
              <a:rPr lang="en-US" altLang="zh-CN" b="0" i="1" dirty="0">
                <a:effectLst/>
              </a:rPr>
              <a:t>    </a:t>
            </a:r>
            <a:r>
              <a:rPr lang="en-US" altLang="zh-CN" b="0" i="1" dirty="0">
                <a:solidFill>
                  <a:srgbClr val="0000FF"/>
                </a:solidFill>
                <a:effectLst/>
              </a:rPr>
              <a:t>end</a:t>
            </a:r>
          </a:p>
          <a:p>
            <a:pPr algn="l" latinLnBrk="1">
              <a:lnSpc>
                <a:spcPts val="1650"/>
              </a:lnSpc>
              <a:buNone/>
            </a:pPr>
            <a:endParaRPr lang="en-US" altLang="zh-CN" b="0" i="1" dirty="0">
              <a:effectLst/>
            </a:endParaRPr>
          </a:p>
          <a:p>
            <a:pPr algn="l" latinLnBrk="1">
              <a:lnSpc>
                <a:spcPts val="1650"/>
              </a:lnSpc>
              <a:buNone/>
            </a:pPr>
            <a:r>
              <a:rPr lang="en-US" altLang="zh-CN" b="0" i="1" dirty="0" err="1">
                <a:solidFill>
                  <a:srgbClr val="0000FF"/>
                </a:solidFill>
                <a:effectLst/>
              </a:rPr>
              <a:t>endmodule</a:t>
            </a:r>
            <a:endParaRPr lang="en-US" altLang="zh-CN" b="0" i="1" dirty="0">
              <a:solidFill>
                <a:srgbClr val="0000FF"/>
              </a:solidFill>
              <a:effectLst/>
            </a:endParaRPr>
          </a:p>
        </p:txBody>
      </p:sp>
      <p:sp>
        <p:nvSpPr>
          <p:cNvPr id="6" name="标题 1">
            <a:extLst>
              <a:ext uri="{FF2B5EF4-FFF2-40B4-BE49-F238E27FC236}">
                <a16:creationId xmlns:a16="http://schemas.microsoft.com/office/drawing/2014/main" id="{FE8DF3A3-51DA-1AAF-36E1-8A009FF44A10}"/>
              </a:ext>
            </a:extLst>
          </p:cNvPr>
          <p:cNvSpPr>
            <a:spLocks noGrp="1"/>
          </p:cNvSpPr>
          <p:nvPr>
            <p:ph type="title"/>
          </p:nvPr>
        </p:nvSpPr>
        <p:spPr>
          <a:xfrm>
            <a:off x="484231" y="185833"/>
            <a:ext cx="8596668" cy="870555"/>
          </a:xfrm>
        </p:spPr>
        <p:txBody>
          <a:bodyPr>
            <a:normAutofit/>
          </a:bodyPr>
          <a:lstStyle/>
          <a:p>
            <a:r>
              <a:rPr lang="en-US" altLang="zh-CN" dirty="0"/>
              <a:t>testbench</a:t>
            </a:r>
            <a:endParaRPr lang="zh-CN" altLang="en-US" dirty="0"/>
          </a:p>
        </p:txBody>
      </p:sp>
      <p:graphicFrame>
        <p:nvGraphicFramePr>
          <p:cNvPr id="9" name="表格 8">
            <a:extLst>
              <a:ext uri="{FF2B5EF4-FFF2-40B4-BE49-F238E27FC236}">
                <a16:creationId xmlns:a16="http://schemas.microsoft.com/office/drawing/2014/main" id="{5381A3DB-F577-6A45-176A-FE015D87FA19}"/>
              </a:ext>
            </a:extLst>
          </p:cNvPr>
          <p:cNvGraphicFramePr>
            <a:graphicFrameLocks noGrp="1"/>
          </p:cNvGraphicFramePr>
          <p:nvPr>
            <p:extLst>
              <p:ext uri="{D42A27DB-BD31-4B8C-83A1-F6EECF244321}">
                <p14:modId xmlns:p14="http://schemas.microsoft.com/office/powerpoint/2010/main" val="2062047203"/>
              </p:ext>
            </p:extLst>
          </p:nvPr>
        </p:nvGraphicFramePr>
        <p:xfrm>
          <a:off x="8746434" y="1446925"/>
          <a:ext cx="3032540" cy="3291840"/>
        </p:xfrm>
        <a:graphic>
          <a:graphicData uri="http://schemas.openxmlformats.org/drawingml/2006/table">
            <a:tbl>
              <a:tblPr firstRow="1" bandRow="1">
                <a:tableStyleId>{5C22544A-7EE6-4342-B048-85BDC9FD1C3A}</a:tableStyleId>
              </a:tblPr>
              <a:tblGrid>
                <a:gridCol w="758135">
                  <a:extLst>
                    <a:ext uri="{9D8B030D-6E8A-4147-A177-3AD203B41FA5}">
                      <a16:colId xmlns:a16="http://schemas.microsoft.com/office/drawing/2014/main" val="4036563373"/>
                    </a:ext>
                  </a:extLst>
                </a:gridCol>
                <a:gridCol w="758135">
                  <a:extLst>
                    <a:ext uri="{9D8B030D-6E8A-4147-A177-3AD203B41FA5}">
                      <a16:colId xmlns:a16="http://schemas.microsoft.com/office/drawing/2014/main" val="747837832"/>
                    </a:ext>
                  </a:extLst>
                </a:gridCol>
                <a:gridCol w="758135">
                  <a:extLst>
                    <a:ext uri="{9D8B030D-6E8A-4147-A177-3AD203B41FA5}">
                      <a16:colId xmlns:a16="http://schemas.microsoft.com/office/drawing/2014/main" val="3655714284"/>
                    </a:ext>
                  </a:extLst>
                </a:gridCol>
                <a:gridCol w="758135">
                  <a:extLst>
                    <a:ext uri="{9D8B030D-6E8A-4147-A177-3AD203B41FA5}">
                      <a16:colId xmlns:a16="http://schemas.microsoft.com/office/drawing/2014/main" val="1246246681"/>
                    </a:ext>
                  </a:extLst>
                </a:gridCol>
              </a:tblGrid>
              <a:tr h="351727">
                <a:tc>
                  <a:txBody>
                    <a:bodyPr/>
                    <a:lstStyle/>
                    <a:p>
                      <a:pPr algn="ctr"/>
                      <a:r>
                        <a:rPr lang="en-US" altLang="zh-CN" dirty="0"/>
                        <a:t>A</a:t>
                      </a:r>
                      <a:endParaRPr lang="zh-CN" altLang="en-US" dirty="0"/>
                    </a:p>
                  </a:txBody>
                  <a:tcPr/>
                </a:tc>
                <a:tc>
                  <a:txBody>
                    <a:bodyPr/>
                    <a:lstStyle/>
                    <a:p>
                      <a:pPr algn="ctr"/>
                      <a:r>
                        <a:rPr lang="en-US" altLang="zh-CN" dirty="0"/>
                        <a:t>B</a:t>
                      </a:r>
                      <a:endParaRPr lang="zh-CN" altLang="en-US" dirty="0"/>
                    </a:p>
                  </a:txBody>
                  <a:tcPr/>
                </a:tc>
                <a:tc>
                  <a:txBody>
                    <a:bodyPr/>
                    <a:lstStyle/>
                    <a:p>
                      <a:pPr algn="ctr"/>
                      <a:r>
                        <a:rPr lang="en-US" altLang="zh-CN" dirty="0"/>
                        <a:t>SEL</a:t>
                      </a:r>
                      <a:endParaRPr lang="zh-CN" altLang="en-US" dirty="0"/>
                    </a:p>
                  </a:txBody>
                  <a:tcPr/>
                </a:tc>
                <a:tc>
                  <a:txBody>
                    <a:bodyPr/>
                    <a:lstStyle/>
                    <a:p>
                      <a:pPr algn="ctr"/>
                      <a:r>
                        <a:rPr lang="en-US" altLang="zh-CN" dirty="0">
                          <a:solidFill>
                            <a:srgbClr val="0000FF"/>
                          </a:solidFill>
                        </a:rPr>
                        <a:t>OUT</a:t>
                      </a:r>
                      <a:endParaRPr lang="zh-CN" altLang="en-US" dirty="0">
                        <a:solidFill>
                          <a:srgbClr val="0000FF"/>
                        </a:solidFill>
                      </a:endParaRPr>
                    </a:p>
                  </a:txBody>
                  <a:tcPr/>
                </a:tc>
                <a:extLst>
                  <a:ext uri="{0D108BD9-81ED-4DB2-BD59-A6C34878D82A}">
                    <a16:rowId xmlns:a16="http://schemas.microsoft.com/office/drawing/2014/main" val="1648208059"/>
                  </a:ext>
                </a:extLst>
              </a:tr>
              <a:tr h="351727">
                <a:tc>
                  <a:txBody>
                    <a:bodyPr/>
                    <a:lstStyle/>
                    <a:p>
                      <a:pPr algn="ctr"/>
                      <a:r>
                        <a:rPr lang="en-US" altLang="zh-CN" dirty="0"/>
                        <a:t>0</a:t>
                      </a:r>
                      <a:endParaRPr lang="zh-CN" altLang="en-US" dirty="0"/>
                    </a:p>
                  </a:txBody>
                  <a:tcPr/>
                </a:tc>
                <a:tc>
                  <a:txBody>
                    <a:bodyPr/>
                    <a:lstStyle/>
                    <a:p>
                      <a:pPr algn="ctr"/>
                      <a:r>
                        <a:rPr lang="en-US" altLang="zh-CN" dirty="0"/>
                        <a:t>0</a:t>
                      </a:r>
                      <a:endParaRPr lang="zh-CN" altLang="en-US" dirty="0"/>
                    </a:p>
                  </a:txBody>
                  <a:tcPr/>
                </a:tc>
                <a:tc>
                  <a:txBody>
                    <a:bodyPr/>
                    <a:lstStyle/>
                    <a:p>
                      <a:pPr algn="ctr"/>
                      <a:r>
                        <a:rPr lang="en-US" altLang="zh-CN" dirty="0"/>
                        <a:t>0</a:t>
                      </a:r>
                      <a:endParaRPr lang="zh-CN" altLang="en-US" dirty="0"/>
                    </a:p>
                  </a:txBody>
                  <a:tcPr/>
                </a:tc>
                <a:tc>
                  <a:txBody>
                    <a:bodyPr/>
                    <a:lstStyle/>
                    <a:p>
                      <a:pPr algn="ctr"/>
                      <a:r>
                        <a:rPr lang="en-US" altLang="zh-CN" dirty="0">
                          <a:solidFill>
                            <a:srgbClr val="0000FF"/>
                          </a:solidFill>
                        </a:rPr>
                        <a:t>0</a:t>
                      </a:r>
                      <a:endParaRPr lang="zh-CN" altLang="en-US" dirty="0">
                        <a:solidFill>
                          <a:srgbClr val="0000FF"/>
                        </a:solidFill>
                      </a:endParaRPr>
                    </a:p>
                  </a:txBody>
                  <a:tcPr/>
                </a:tc>
                <a:extLst>
                  <a:ext uri="{0D108BD9-81ED-4DB2-BD59-A6C34878D82A}">
                    <a16:rowId xmlns:a16="http://schemas.microsoft.com/office/drawing/2014/main" val="1397614780"/>
                  </a:ext>
                </a:extLst>
              </a:tr>
              <a:tr h="351727">
                <a:tc>
                  <a:txBody>
                    <a:bodyPr/>
                    <a:lstStyle/>
                    <a:p>
                      <a:pPr algn="ctr"/>
                      <a:r>
                        <a:rPr lang="en-US" altLang="zh-CN" dirty="0"/>
                        <a:t>0</a:t>
                      </a:r>
                      <a:endParaRPr lang="zh-CN" altLang="en-US" dirty="0"/>
                    </a:p>
                  </a:txBody>
                  <a:tcPr/>
                </a:tc>
                <a:tc>
                  <a:txBody>
                    <a:bodyPr/>
                    <a:lstStyle/>
                    <a:p>
                      <a:pPr algn="ctr"/>
                      <a:r>
                        <a:rPr lang="en-US" altLang="zh-CN" dirty="0"/>
                        <a:t>0</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solidFill>
                            <a:srgbClr val="0000FF"/>
                          </a:solidFill>
                        </a:rPr>
                        <a:t>0</a:t>
                      </a:r>
                      <a:endParaRPr lang="zh-CN" altLang="en-US" dirty="0">
                        <a:solidFill>
                          <a:srgbClr val="0000FF"/>
                        </a:solidFill>
                      </a:endParaRPr>
                    </a:p>
                  </a:txBody>
                  <a:tcPr/>
                </a:tc>
                <a:extLst>
                  <a:ext uri="{0D108BD9-81ED-4DB2-BD59-A6C34878D82A}">
                    <a16:rowId xmlns:a16="http://schemas.microsoft.com/office/drawing/2014/main" val="70617445"/>
                  </a:ext>
                </a:extLst>
              </a:tr>
              <a:tr h="351727">
                <a:tc>
                  <a:txBody>
                    <a:bodyPr/>
                    <a:lstStyle/>
                    <a:p>
                      <a:pPr algn="ctr"/>
                      <a:r>
                        <a:rPr lang="en-US" altLang="zh-CN" dirty="0"/>
                        <a:t>0</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0</a:t>
                      </a:r>
                      <a:endParaRPr lang="zh-CN" altLang="en-US" dirty="0"/>
                    </a:p>
                  </a:txBody>
                  <a:tcPr/>
                </a:tc>
                <a:tc>
                  <a:txBody>
                    <a:bodyPr/>
                    <a:lstStyle/>
                    <a:p>
                      <a:pPr algn="ctr"/>
                      <a:r>
                        <a:rPr lang="en-US" altLang="zh-CN" dirty="0">
                          <a:solidFill>
                            <a:srgbClr val="0000FF"/>
                          </a:solidFill>
                        </a:rPr>
                        <a:t>1</a:t>
                      </a:r>
                      <a:endParaRPr lang="zh-CN" altLang="en-US" dirty="0">
                        <a:solidFill>
                          <a:srgbClr val="0000FF"/>
                        </a:solidFill>
                      </a:endParaRPr>
                    </a:p>
                  </a:txBody>
                  <a:tcPr/>
                </a:tc>
                <a:extLst>
                  <a:ext uri="{0D108BD9-81ED-4DB2-BD59-A6C34878D82A}">
                    <a16:rowId xmlns:a16="http://schemas.microsoft.com/office/drawing/2014/main" val="1636467897"/>
                  </a:ext>
                </a:extLst>
              </a:tr>
              <a:tr h="351727">
                <a:tc>
                  <a:txBody>
                    <a:bodyPr/>
                    <a:lstStyle/>
                    <a:p>
                      <a:pPr algn="ctr"/>
                      <a:r>
                        <a:rPr lang="en-US" altLang="zh-CN" dirty="0"/>
                        <a:t>0</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solidFill>
                            <a:srgbClr val="0000FF"/>
                          </a:solidFill>
                        </a:rPr>
                        <a:t>0</a:t>
                      </a:r>
                      <a:endParaRPr lang="zh-CN" altLang="en-US" dirty="0">
                        <a:solidFill>
                          <a:srgbClr val="0000FF"/>
                        </a:solidFill>
                      </a:endParaRPr>
                    </a:p>
                  </a:txBody>
                  <a:tcPr/>
                </a:tc>
                <a:extLst>
                  <a:ext uri="{0D108BD9-81ED-4DB2-BD59-A6C34878D82A}">
                    <a16:rowId xmlns:a16="http://schemas.microsoft.com/office/drawing/2014/main" val="2793464056"/>
                  </a:ext>
                </a:extLst>
              </a:tr>
              <a:tr h="351727">
                <a:tc>
                  <a:txBody>
                    <a:bodyPr/>
                    <a:lstStyle/>
                    <a:p>
                      <a:pPr algn="ctr"/>
                      <a:r>
                        <a:rPr lang="en-US" altLang="zh-CN" dirty="0"/>
                        <a:t>1</a:t>
                      </a:r>
                      <a:endParaRPr lang="zh-CN" altLang="en-US" dirty="0"/>
                    </a:p>
                  </a:txBody>
                  <a:tcPr/>
                </a:tc>
                <a:tc>
                  <a:txBody>
                    <a:bodyPr/>
                    <a:lstStyle/>
                    <a:p>
                      <a:pPr algn="ctr"/>
                      <a:r>
                        <a:rPr lang="en-US" altLang="zh-CN" dirty="0"/>
                        <a:t>0</a:t>
                      </a:r>
                      <a:endParaRPr lang="zh-CN" altLang="en-US" dirty="0"/>
                    </a:p>
                  </a:txBody>
                  <a:tcPr/>
                </a:tc>
                <a:tc>
                  <a:txBody>
                    <a:bodyPr/>
                    <a:lstStyle/>
                    <a:p>
                      <a:pPr algn="ctr"/>
                      <a:r>
                        <a:rPr lang="en-US" altLang="zh-CN" dirty="0"/>
                        <a:t>0</a:t>
                      </a:r>
                      <a:endParaRPr lang="zh-CN" altLang="en-US" dirty="0"/>
                    </a:p>
                  </a:txBody>
                  <a:tcPr/>
                </a:tc>
                <a:tc>
                  <a:txBody>
                    <a:bodyPr/>
                    <a:lstStyle/>
                    <a:p>
                      <a:pPr algn="ctr"/>
                      <a:r>
                        <a:rPr lang="en-US" altLang="zh-CN" dirty="0">
                          <a:solidFill>
                            <a:srgbClr val="0000FF"/>
                          </a:solidFill>
                        </a:rPr>
                        <a:t>0</a:t>
                      </a:r>
                      <a:endParaRPr lang="zh-CN" altLang="en-US" dirty="0">
                        <a:solidFill>
                          <a:srgbClr val="0000FF"/>
                        </a:solidFill>
                      </a:endParaRPr>
                    </a:p>
                  </a:txBody>
                  <a:tcPr/>
                </a:tc>
                <a:extLst>
                  <a:ext uri="{0D108BD9-81ED-4DB2-BD59-A6C34878D82A}">
                    <a16:rowId xmlns:a16="http://schemas.microsoft.com/office/drawing/2014/main" val="1127100105"/>
                  </a:ext>
                </a:extLst>
              </a:tr>
              <a:tr h="351727">
                <a:tc>
                  <a:txBody>
                    <a:bodyPr/>
                    <a:lstStyle/>
                    <a:p>
                      <a:pPr algn="ctr"/>
                      <a:r>
                        <a:rPr lang="en-US" altLang="zh-CN" dirty="0"/>
                        <a:t>1</a:t>
                      </a:r>
                      <a:endParaRPr lang="zh-CN" altLang="en-US" dirty="0"/>
                    </a:p>
                  </a:txBody>
                  <a:tcPr/>
                </a:tc>
                <a:tc>
                  <a:txBody>
                    <a:bodyPr/>
                    <a:lstStyle/>
                    <a:p>
                      <a:pPr algn="ctr"/>
                      <a:r>
                        <a:rPr lang="en-US" altLang="zh-CN" dirty="0"/>
                        <a:t>0</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solidFill>
                            <a:srgbClr val="0000FF"/>
                          </a:solidFill>
                        </a:rPr>
                        <a:t>1</a:t>
                      </a:r>
                      <a:endParaRPr lang="zh-CN" altLang="en-US" dirty="0">
                        <a:solidFill>
                          <a:srgbClr val="0000FF"/>
                        </a:solidFill>
                      </a:endParaRPr>
                    </a:p>
                  </a:txBody>
                  <a:tcPr/>
                </a:tc>
                <a:extLst>
                  <a:ext uri="{0D108BD9-81ED-4DB2-BD59-A6C34878D82A}">
                    <a16:rowId xmlns:a16="http://schemas.microsoft.com/office/drawing/2014/main" val="703469578"/>
                  </a:ext>
                </a:extLst>
              </a:tr>
              <a:tr h="351727">
                <a:tc>
                  <a:txBody>
                    <a:bodyPr/>
                    <a:lstStyle/>
                    <a:p>
                      <a:pPr algn="ctr"/>
                      <a:r>
                        <a:rPr lang="en-US" altLang="zh-CN" dirty="0"/>
                        <a:t>1</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0</a:t>
                      </a:r>
                      <a:endParaRPr lang="zh-CN" altLang="en-US" dirty="0"/>
                    </a:p>
                  </a:txBody>
                  <a:tcPr/>
                </a:tc>
                <a:tc>
                  <a:txBody>
                    <a:bodyPr/>
                    <a:lstStyle/>
                    <a:p>
                      <a:pPr algn="ctr"/>
                      <a:r>
                        <a:rPr lang="en-US" altLang="zh-CN" dirty="0">
                          <a:solidFill>
                            <a:srgbClr val="0000FF"/>
                          </a:solidFill>
                        </a:rPr>
                        <a:t>1</a:t>
                      </a:r>
                      <a:endParaRPr lang="zh-CN" altLang="en-US" dirty="0">
                        <a:solidFill>
                          <a:srgbClr val="0000FF"/>
                        </a:solidFill>
                      </a:endParaRPr>
                    </a:p>
                  </a:txBody>
                  <a:tcPr/>
                </a:tc>
                <a:extLst>
                  <a:ext uri="{0D108BD9-81ED-4DB2-BD59-A6C34878D82A}">
                    <a16:rowId xmlns:a16="http://schemas.microsoft.com/office/drawing/2014/main" val="1137455355"/>
                  </a:ext>
                </a:extLst>
              </a:tr>
              <a:tr h="351727">
                <a:tc>
                  <a:txBody>
                    <a:bodyPr/>
                    <a:lstStyle/>
                    <a:p>
                      <a:pPr algn="ctr"/>
                      <a:r>
                        <a:rPr lang="en-US" altLang="zh-CN" dirty="0"/>
                        <a:t>1</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solidFill>
                            <a:srgbClr val="0000FF"/>
                          </a:solidFill>
                        </a:rPr>
                        <a:t>1</a:t>
                      </a:r>
                      <a:endParaRPr lang="zh-CN" altLang="en-US" dirty="0">
                        <a:solidFill>
                          <a:srgbClr val="0000FF"/>
                        </a:solidFill>
                      </a:endParaRPr>
                    </a:p>
                  </a:txBody>
                  <a:tcPr/>
                </a:tc>
                <a:extLst>
                  <a:ext uri="{0D108BD9-81ED-4DB2-BD59-A6C34878D82A}">
                    <a16:rowId xmlns:a16="http://schemas.microsoft.com/office/drawing/2014/main" val="3031323527"/>
                  </a:ext>
                </a:extLst>
              </a:tr>
            </a:tbl>
          </a:graphicData>
        </a:graphic>
      </p:graphicFrame>
    </p:spTree>
    <p:extLst>
      <p:ext uri="{BB962C8B-B14F-4D97-AF65-F5344CB8AC3E}">
        <p14:creationId xmlns:p14="http://schemas.microsoft.com/office/powerpoint/2010/main" val="15121399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77334" y="251791"/>
            <a:ext cx="8596668" cy="1320800"/>
          </a:xfrm>
        </p:spPr>
        <p:txBody>
          <a:bodyPr/>
          <a:lstStyle/>
          <a:p>
            <a:r>
              <a:rPr lang="en-US" altLang="zh-CN" b="1" dirty="0"/>
              <a:t>3.2  </a:t>
            </a:r>
            <a:r>
              <a:rPr lang="zh-CN" altLang="en-US" b="1" dirty="0"/>
              <a:t>时序逻辑实现方法</a:t>
            </a:r>
          </a:p>
        </p:txBody>
      </p:sp>
      <p:sp>
        <p:nvSpPr>
          <p:cNvPr id="3" name="内容占位符 2"/>
          <p:cNvSpPr>
            <a:spLocks noGrp="1"/>
          </p:cNvSpPr>
          <p:nvPr>
            <p:ph idx="1"/>
          </p:nvPr>
        </p:nvSpPr>
        <p:spPr>
          <a:xfrm>
            <a:off x="677334" y="1249492"/>
            <a:ext cx="10045568" cy="4838936"/>
          </a:xfrm>
        </p:spPr>
        <p:txBody>
          <a:bodyPr>
            <a:normAutofit/>
          </a:bodyPr>
          <a:lstStyle/>
          <a:p>
            <a:pPr marL="0" indent="0">
              <a:buNone/>
            </a:pPr>
            <a:r>
              <a:rPr lang="zh-CN" altLang="en-US" sz="2400" b="1" dirty="0">
                <a:solidFill>
                  <a:srgbClr val="FF0000"/>
                </a:solidFill>
              </a:rPr>
              <a:t>时钟敏感</a:t>
            </a:r>
            <a:r>
              <a:rPr lang="zh-CN" altLang="en-US" sz="2400" dirty="0"/>
              <a:t>的</a:t>
            </a:r>
            <a:r>
              <a:rPr lang="en-US" altLang="zh-CN" sz="2400" dirty="0"/>
              <a:t>always</a:t>
            </a:r>
            <a:r>
              <a:rPr lang="zh-CN" altLang="en-US" sz="2400" dirty="0"/>
              <a:t>语句块结合非阻塞赋值语句（</a:t>
            </a:r>
            <a:r>
              <a:rPr lang="en-US" altLang="zh-CN" sz="2400" b="1" dirty="0">
                <a:solidFill>
                  <a:srgbClr val="FF0000"/>
                </a:solidFill>
              </a:rPr>
              <a:t>&lt;=</a:t>
            </a:r>
            <a:r>
              <a:rPr lang="zh-CN" altLang="en-US" sz="2400" dirty="0"/>
              <a:t>）</a:t>
            </a:r>
            <a:endParaRPr lang="en-US" altLang="zh-CN" sz="2400" dirty="0"/>
          </a:p>
          <a:p>
            <a:pPr marL="0" indent="0">
              <a:buNone/>
            </a:pPr>
            <a:r>
              <a:rPr lang="zh-CN" altLang="en-US" sz="2400" dirty="0"/>
              <a:t>举例：</a:t>
            </a:r>
            <a:r>
              <a:rPr lang="en-US" altLang="zh-CN" i="1" dirty="0">
                <a:solidFill>
                  <a:srgbClr val="0000FF"/>
                </a:solidFill>
              </a:rPr>
              <a:t>always</a:t>
            </a:r>
            <a:r>
              <a:rPr lang="en-US" altLang="zh-CN" i="1" dirty="0"/>
              <a:t>  </a:t>
            </a:r>
            <a:r>
              <a:rPr lang="en-US" altLang="zh-CN" i="1" dirty="0">
                <a:solidFill>
                  <a:srgbClr val="0070C0"/>
                </a:solidFill>
              </a:rPr>
              <a:t>@</a:t>
            </a:r>
            <a:r>
              <a:rPr lang="en-US" altLang="zh-CN" i="1" dirty="0"/>
              <a:t>(</a:t>
            </a:r>
            <a:r>
              <a:rPr lang="en-US" altLang="zh-CN" i="1" dirty="0">
                <a:solidFill>
                  <a:srgbClr val="0000FF"/>
                </a:solidFill>
              </a:rPr>
              <a:t>posedge</a:t>
            </a:r>
            <a:r>
              <a:rPr lang="en-US" altLang="zh-CN" i="1" dirty="0"/>
              <a:t> clock)</a:t>
            </a:r>
          </a:p>
          <a:p>
            <a:pPr marL="0" indent="0">
              <a:buNone/>
            </a:pPr>
            <a:r>
              <a:rPr lang="en-US" altLang="zh-CN" i="1" dirty="0"/>
              <a:t>                </a:t>
            </a:r>
            <a:r>
              <a:rPr lang="en-US" altLang="zh-CN" i="1" dirty="0">
                <a:solidFill>
                  <a:srgbClr val="0000FF"/>
                </a:solidFill>
              </a:rPr>
              <a:t>begin</a:t>
            </a:r>
          </a:p>
          <a:p>
            <a:pPr marL="0" indent="0">
              <a:buNone/>
            </a:pPr>
            <a:r>
              <a:rPr lang="en-US" altLang="zh-CN" i="1" dirty="0"/>
              <a:t>                     </a:t>
            </a:r>
            <a:r>
              <a:rPr lang="en-US" altLang="zh-CN" i="1" dirty="0" err="1"/>
              <a:t>d_reg</a:t>
            </a:r>
            <a:r>
              <a:rPr lang="en-US" altLang="zh-CN" i="1" dirty="0"/>
              <a:t> &lt;= </a:t>
            </a:r>
            <a:r>
              <a:rPr lang="en-US" altLang="zh-CN" i="1" dirty="0" err="1"/>
              <a:t>f_reg</a:t>
            </a:r>
            <a:r>
              <a:rPr lang="en-US" altLang="zh-CN" i="1" dirty="0"/>
              <a:t>;   // </a:t>
            </a:r>
            <a:r>
              <a:rPr lang="en-US" altLang="zh-CN" i="1" dirty="0" err="1"/>
              <a:t>d_reg</a:t>
            </a:r>
            <a:r>
              <a:rPr lang="zh-CN" altLang="en-US" i="1" dirty="0"/>
              <a:t>新值</a:t>
            </a:r>
            <a:r>
              <a:rPr lang="en-US" altLang="zh-CN" i="1" dirty="0"/>
              <a:t> = </a:t>
            </a:r>
            <a:r>
              <a:rPr lang="en-US" altLang="zh-CN" i="1" dirty="0" err="1"/>
              <a:t>f_reg</a:t>
            </a:r>
            <a:endParaRPr lang="en-US" altLang="zh-CN" i="1" dirty="0"/>
          </a:p>
          <a:p>
            <a:pPr marL="0" indent="0">
              <a:buNone/>
            </a:pPr>
            <a:r>
              <a:rPr lang="en-US" altLang="zh-CN" i="1" dirty="0"/>
              <a:t>                     </a:t>
            </a:r>
            <a:r>
              <a:rPr lang="en-US" altLang="zh-CN" i="1" dirty="0" err="1"/>
              <a:t>e_reg</a:t>
            </a:r>
            <a:r>
              <a:rPr lang="en-US" altLang="zh-CN" i="1" dirty="0"/>
              <a:t> &lt;= </a:t>
            </a:r>
            <a:r>
              <a:rPr lang="en-US" altLang="zh-CN" i="1" dirty="0" err="1"/>
              <a:t>d_reg</a:t>
            </a:r>
            <a:r>
              <a:rPr lang="en-US" altLang="zh-CN" i="1" dirty="0"/>
              <a:t>;  // </a:t>
            </a:r>
            <a:r>
              <a:rPr lang="en-US" altLang="zh-CN" i="1" dirty="0" err="1"/>
              <a:t>e_reg</a:t>
            </a:r>
            <a:r>
              <a:rPr lang="en-US" altLang="zh-CN" i="1" dirty="0"/>
              <a:t> = </a:t>
            </a:r>
            <a:r>
              <a:rPr lang="en-US" altLang="zh-CN" i="1" dirty="0" err="1"/>
              <a:t>d_reg</a:t>
            </a:r>
            <a:r>
              <a:rPr lang="zh-CN" altLang="en-US" i="1" dirty="0"/>
              <a:t>旧值</a:t>
            </a:r>
            <a:endParaRPr lang="en-US" altLang="zh-CN" i="1" dirty="0"/>
          </a:p>
          <a:p>
            <a:pPr marL="0" indent="0">
              <a:buNone/>
            </a:pPr>
            <a:r>
              <a:rPr lang="en-US" altLang="zh-CN" i="1" dirty="0"/>
              <a:t>                </a:t>
            </a:r>
            <a:r>
              <a:rPr lang="en-US" altLang="zh-CN" i="1" dirty="0">
                <a:solidFill>
                  <a:srgbClr val="0000FF"/>
                </a:solidFill>
              </a:rPr>
              <a:t>end</a:t>
            </a:r>
          </a:p>
          <a:p>
            <a:pPr>
              <a:buFont typeface="Wingdings" panose="05000000000000000000" pitchFamily="2" charset="2"/>
              <a:buChar char="Ø"/>
            </a:pPr>
            <a:r>
              <a:rPr lang="zh-CN" altLang="en-US" sz="2400" dirty="0"/>
              <a:t>对于时序逻辑，敏感信号一般包含</a:t>
            </a:r>
            <a:r>
              <a:rPr lang="en-US" altLang="zh-CN" sz="2400" b="1" dirty="0">
                <a:solidFill>
                  <a:srgbClr val="FF0000"/>
                </a:solidFill>
              </a:rPr>
              <a:t>clock</a:t>
            </a:r>
            <a:r>
              <a:rPr lang="zh-CN" altLang="en-US" sz="2400" b="1" dirty="0">
                <a:solidFill>
                  <a:srgbClr val="FF0000"/>
                </a:solidFill>
              </a:rPr>
              <a:t>边沿</a:t>
            </a:r>
            <a:r>
              <a:rPr lang="zh-CN" altLang="en-US" sz="2400" dirty="0"/>
              <a:t>，</a:t>
            </a:r>
            <a:r>
              <a:rPr lang="en-US" altLang="zh-CN" sz="2400" b="1" dirty="0">
                <a:solidFill>
                  <a:srgbClr val="FF0000"/>
                </a:solidFill>
              </a:rPr>
              <a:t>reset</a:t>
            </a:r>
            <a:r>
              <a:rPr lang="zh-CN" altLang="en-US" sz="2400" b="1" dirty="0">
                <a:solidFill>
                  <a:srgbClr val="FF0000"/>
                </a:solidFill>
              </a:rPr>
              <a:t>边沿</a:t>
            </a:r>
            <a:r>
              <a:rPr lang="zh-CN" altLang="en-US" sz="2400" dirty="0"/>
              <a:t>。</a:t>
            </a:r>
            <a:endParaRPr lang="en-US" altLang="zh-CN" sz="2400" dirty="0"/>
          </a:p>
          <a:p>
            <a:pPr>
              <a:buFont typeface="Wingdings" panose="05000000000000000000" pitchFamily="2" charset="2"/>
              <a:buChar char="Ø"/>
            </a:pPr>
            <a:r>
              <a:rPr lang="zh-CN" altLang="en-US" sz="2400" b="1" dirty="0"/>
              <a:t>非阻塞赋值语句（</a:t>
            </a:r>
            <a:r>
              <a:rPr lang="en-US" altLang="zh-CN" sz="2400" b="1" dirty="0"/>
              <a:t>&lt;=</a:t>
            </a:r>
            <a:r>
              <a:rPr lang="zh-CN" altLang="en-US" sz="2400" b="1" dirty="0"/>
              <a:t>）</a:t>
            </a:r>
            <a:r>
              <a:rPr lang="zh-CN" altLang="en-US" sz="2400" dirty="0"/>
              <a:t>按</a:t>
            </a:r>
            <a:r>
              <a:rPr lang="zh-CN" altLang="en-US" sz="2400" b="1" dirty="0">
                <a:solidFill>
                  <a:srgbClr val="FF0000"/>
                </a:solidFill>
              </a:rPr>
              <a:t>并行执行</a:t>
            </a:r>
            <a:r>
              <a:rPr lang="zh-CN" altLang="en-US" sz="2400" dirty="0"/>
              <a:t>，用于实现在时钟沿同步更新。</a:t>
            </a:r>
            <a:endParaRPr lang="en-US" altLang="zh-CN" sz="2400" dirty="0"/>
          </a:p>
          <a:p>
            <a:pPr>
              <a:buFont typeface="Wingdings" panose="05000000000000000000" pitchFamily="2" charset="2"/>
              <a:buChar char="Ø"/>
            </a:pPr>
            <a:r>
              <a:rPr lang="en-US" altLang="zh-CN" sz="2400" dirty="0"/>
              <a:t>always</a:t>
            </a:r>
            <a:r>
              <a:rPr lang="zh-CN" altLang="en-US" sz="2400" dirty="0"/>
              <a:t>语句块中的赋值语句的</a:t>
            </a:r>
            <a:r>
              <a:rPr lang="zh-CN" altLang="en-US" sz="2400" b="1" dirty="0">
                <a:solidFill>
                  <a:srgbClr val="FF0000"/>
                </a:solidFill>
              </a:rPr>
              <a:t>左值必须是</a:t>
            </a:r>
            <a:r>
              <a:rPr lang="en-US" altLang="zh-CN" sz="2400" b="1" dirty="0">
                <a:solidFill>
                  <a:srgbClr val="FF0000"/>
                </a:solidFill>
              </a:rPr>
              <a:t>reg</a:t>
            </a:r>
            <a:r>
              <a:rPr lang="zh-CN" altLang="en-US" sz="2400" b="1" dirty="0">
                <a:solidFill>
                  <a:srgbClr val="FF0000"/>
                </a:solidFill>
              </a:rPr>
              <a:t>类型</a:t>
            </a:r>
            <a:r>
              <a:rPr lang="zh-CN" altLang="en-US" sz="2400" b="1" dirty="0"/>
              <a:t>。</a:t>
            </a:r>
            <a:endParaRPr lang="en-US" altLang="zh-CN" sz="2400" b="1" dirty="0"/>
          </a:p>
        </p:txBody>
      </p:sp>
    </p:spTree>
    <p:extLst>
      <p:ext uri="{BB962C8B-B14F-4D97-AF65-F5344CB8AC3E}">
        <p14:creationId xmlns:p14="http://schemas.microsoft.com/office/powerpoint/2010/main" val="32477752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D6D9AF-3F68-4837-AC20-81AE2D1B9513}"/>
              </a:ext>
            </a:extLst>
          </p:cNvPr>
          <p:cNvSpPr>
            <a:spLocks noGrp="1"/>
          </p:cNvSpPr>
          <p:nvPr>
            <p:ph type="title"/>
          </p:nvPr>
        </p:nvSpPr>
        <p:spPr/>
        <p:txBody>
          <a:bodyPr>
            <a:normAutofit fontScale="90000"/>
          </a:bodyPr>
          <a:lstStyle/>
          <a:p>
            <a:r>
              <a:rPr lang="en-US" altLang="zh-CN" sz="4000" dirty="0"/>
              <a:t>3.2.1  clock</a:t>
            </a:r>
            <a:r>
              <a:rPr lang="zh-CN" altLang="en-US" sz="4000" dirty="0"/>
              <a:t>激励产生方法</a:t>
            </a:r>
            <a:br>
              <a:rPr lang="en-US" altLang="zh-CN" dirty="0"/>
            </a:br>
            <a:br>
              <a:rPr lang="en-US" altLang="zh-CN" dirty="0"/>
            </a:br>
            <a:r>
              <a:rPr lang="zh-CN" altLang="en-US" dirty="0"/>
              <a:t>方法一：</a:t>
            </a:r>
          </a:p>
        </p:txBody>
      </p:sp>
      <p:sp>
        <p:nvSpPr>
          <p:cNvPr id="9" name="文本框 8">
            <a:extLst>
              <a:ext uri="{FF2B5EF4-FFF2-40B4-BE49-F238E27FC236}">
                <a16:creationId xmlns:a16="http://schemas.microsoft.com/office/drawing/2014/main" id="{47218D99-0843-B8BB-6A5D-C2DFC216B842}"/>
              </a:ext>
            </a:extLst>
          </p:cNvPr>
          <p:cNvSpPr txBox="1"/>
          <p:nvPr/>
        </p:nvSpPr>
        <p:spPr>
          <a:xfrm>
            <a:off x="1236709" y="2487388"/>
            <a:ext cx="8106071" cy="2387833"/>
          </a:xfrm>
          <a:prstGeom prst="rect">
            <a:avLst/>
          </a:prstGeom>
          <a:noFill/>
        </p:spPr>
        <p:txBody>
          <a:bodyPr wrap="square">
            <a:spAutoFit/>
          </a:bodyPr>
          <a:lstStyle/>
          <a:p>
            <a:pPr>
              <a:lnSpc>
                <a:spcPts val="1650"/>
              </a:lnSpc>
              <a:spcBef>
                <a:spcPts val="1000"/>
              </a:spcBef>
              <a:buClr>
                <a:schemeClr val="accent1"/>
              </a:buClr>
              <a:buSzPct val="80000"/>
            </a:pPr>
            <a:r>
              <a:rPr lang="en-US" altLang="zh-CN" i="1" dirty="0">
                <a:solidFill>
                  <a:srgbClr val="0000FF"/>
                </a:solidFill>
              </a:rPr>
              <a:t>reg </a:t>
            </a:r>
            <a:r>
              <a:rPr lang="en-US" altLang="zh-CN" i="1" dirty="0" err="1"/>
              <a:t>clk</a:t>
            </a:r>
            <a:r>
              <a:rPr lang="en-US" altLang="zh-CN" i="1" dirty="0"/>
              <a:t>;</a:t>
            </a:r>
          </a:p>
          <a:p>
            <a:pPr>
              <a:lnSpc>
                <a:spcPts val="1650"/>
              </a:lnSpc>
              <a:spcBef>
                <a:spcPts val="1000"/>
              </a:spcBef>
              <a:buClr>
                <a:schemeClr val="accent1"/>
              </a:buClr>
              <a:buSzPct val="80000"/>
            </a:pPr>
            <a:endParaRPr lang="en-US" altLang="zh-CN" i="1" dirty="0"/>
          </a:p>
          <a:p>
            <a:pPr>
              <a:lnSpc>
                <a:spcPts val="1650"/>
              </a:lnSpc>
              <a:spcBef>
                <a:spcPts val="1000"/>
              </a:spcBef>
              <a:buClr>
                <a:schemeClr val="accent1"/>
              </a:buClr>
              <a:buSzPct val="80000"/>
            </a:pPr>
            <a:r>
              <a:rPr lang="en-US" altLang="zh-CN" i="1" dirty="0">
                <a:solidFill>
                  <a:srgbClr val="0000FF"/>
                </a:solidFill>
              </a:rPr>
              <a:t>initial</a:t>
            </a:r>
          </a:p>
          <a:p>
            <a:pPr>
              <a:lnSpc>
                <a:spcPts val="1650"/>
              </a:lnSpc>
              <a:spcBef>
                <a:spcPts val="1000"/>
              </a:spcBef>
              <a:buClr>
                <a:schemeClr val="accent1"/>
              </a:buClr>
              <a:buSzPct val="80000"/>
            </a:pPr>
            <a:r>
              <a:rPr lang="en-US" altLang="zh-CN" i="1" dirty="0">
                <a:solidFill>
                  <a:srgbClr val="0000FF"/>
                </a:solidFill>
              </a:rPr>
              <a:t> begin</a:t>
            </a:r>
          </a:p>
          <a:p>
            <a:pPr>
              <a:lnSpc>
                <a:spcPts val="1650"/>
              </a:lnSpc>
              <a:spcBef>
                <a:spcPts val="1000"/>
              </a:spcBef>
              <a:buClr>
                <a:schemeClr val="accent1"/>
              </a:buClr>
              <a:buSzPct val="80000"/>
            </a:pPr>
            <a:r>
              <a:rPr lang="en-US" altLang="zh-CN" i="1" dirty="0"/>
              <a:t>    </a:t>
            </a:r>
            <a:r>
              <a:rPr lang="en-US" altLang="zh-CN" i="1" dirty="0" err="1"/>
              <a:t>clk</a:t>
            </a:r>
            <a:r>
              <a:rPr lang="en-US" altLang="zh-CN" i="1" dirty="0"/>
              <a:t> = 0;                 // </a:t>
            </a:r>
            <a:r>
              <a:rPr lang="zh-CN" altLang="en-US" i="1" dirty="0"/>
              <a:t>初始电平</a:t>
            </a:r>
          </a:p>
          <a:p>
            <a:pPr>
              <a:lnSpc>
                <a:spcPts val="1650"/>
              </a:lnSpc>
              <a:spcBef>
                <a:spcPts val="1000"/>
              </a:spcBef>
              <a:buClr>
                <a:schemeClr val="accent1"/>
              </a:buClr>
              <a:buSzPct val="80000"/>
            </a:pPr>
            <a:r>
              <a:rPr lang="zh-CN" altLang="en-US" i="1" dirty="0"/>
              <a:t>    </a:t>
            </a:r>
            <a:r>
              <a:rPr lang="en-US" altLang="zh-CN" i="1" dirty="0">
                <a:solidFill>
                  <a:srgbClr val="0000FF"/>
                </a:solidFill>
              </a:rPr>
              <a:t>forever</a:t>
            </a:r>
            <a:r>
              <a:rPr lang="en-US" altLang="zh-CN" i="1" dirty="0"/>
              <a:t> </a:t>
            </a:r>
            <a:r>
              <a:rPr lang="en-US" altLang="zh-CN" i="1" dirty="0">
                <a:solidFill>
                  <a:srgbClr val="0070C0"/>
                </a:solidFill>
              </a:rPr>
              <a:t>#</a:t>
            </a:r>
            <a:r>
              <a:rPr lang="en-US" altLang="zh-CN" i="1" dirty="0"/>
              <a:t>5 </a:t>
            </a:r>
            <a:r>
              <a:rPr lang="en-US" altLang="zh-CN" i="1" dirty="0" err="1"/>
              <a:t>clk</a:t>
            </a:r>
            <a:r>
              <a:rPr lang="en-US" altLang="zh-CN" i="1" dirty="0"/>
              <a:t> = ~</a:t>
            </a:r>
            <a:r>
              <a:rPr lang="en-US" altLang="zh-CN" i="1" dirty="0" err="1"/>
              <a:t>clk</a:t>
            </a:r>
            <a:r>
              <a:rPr lang="en-US" altLang="zh-CN" i="1" dirty="0"/>
              <a:t>;   // </a:t>
            </a:r>
            <a:r>
              <a:rPr lang="zh-CN" altLang="en-US" i="1" dirty="0"/>
              <a:t>每隔 </a:t>
            </a:r>
            <a:r>
              <a:rPr lang="en-US" altLang="zh-CN" i="1" dirty="0"/>
              <a:t>5 </a:t>
            </a:r>
            <a:r>
              <a:rPr lang="zh-CN" altLang="en-US" i="1" dirty="0"/>
              <a:t>个时间单位翻转一次 → 周期 </a:t>
            </a:r>
            <a:r>
              <a:rPr lang="en-US" altLang="zh-CN" i="1" dirty="0"/>
              <a:t>10 </a:t>
            </a:r>
            <a:r>
              <a:rPr lang="zh-CN" altLang="en-US" i="1" dirty="0"/>
              <a:t>单位</a:t>
            </a:r>
          </a:p>
          <a:p>
            <a:pPr>
              <a:lnSpc>
                <a:spcPts val="1650"/>
              </a:lnSpc>
              <a:spcBef>
                <a:spcPts val="1000"/>
              </a:spcBef>
              <a:buClr>
                <a:schemeClr val="accent1"/>
              </a:buClr>
              <a:buSzPct val="80000"/>
            </a:pPr>
            <a:r>
              <a:rPr lang="en-US" altLang="zh-CN" i="1" dirty="0">
                <a:solidFill>
                  <a:srgbClr val="0000FF"/>
                </a:solidFill>
              </a:rPr>
              <a:t>end</a:t>
            </a:r>
          </a:p>
        </p:txBody>
      </p:sp>
    </p:spTree>
    <p:extLst>
      <p:ext uri="{BB962C8B-B14F-4D97-AF65-F5344CB8AC3E}">
        <p14:creationId xmlns:p14="http://schemas.microsoft.com/office/powerpoint/2010/main" val="1287704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DBA654-AEFF-7DFA-D0E6-059C438442E6}"/>
              </a:ext>
            </a:extLst>
          </p:cNvPr>
          <p:cNvSpPr>
            <a:spLocks noGrp="1"/>
          </p:cNvSpPr>
          <p:nvPr>
            <p:ph type="title"/>
          </p:nvPr>
        </p:nvSpPr>
        <p:spPr>
          <a:xfrm>
            <a:off x="614859" y="907871"/>
            <a:ext cx="8596668" cy="1320800"/>
          </a:xfrm>
        </p:spPr>
        <p:txBody>
          <a:bodyPr>
            <a:normAutofit/>
          </a:bodyPr>
          <a:lstStyle/>
          <a:p>
            <a:r>
              <a:rPr lang="zh-CN" altLang="en-US" sz="3200" dirty="0"/>
              <a:t>方法二：</a:t>
            </a:r>
          </a:p>
        </p:txBody>
      </p:sp>
      <p:sp>
        <p:nvSpPr>
          <p:cNvPr id="8" name="文本框 7">
            <a:extLst>
              <a:ext uri="{FF2B5EF4-FFF2-40B4-BE49-F238E27FC236}">
                <a16:creationId xmlns:a16="http://schemas.microsoft.com/office/drawing/2014/main" id="{8D10DEE7-9F13-F6DD-035A-7B74B3172A68}"/>
              </a:ext>
            </a:extLst>
          </p:cNvPr>
          <p:cNvSpPr txBox="1"/>
          <p:nvPr/>
        </p:nvSpPr>
        <p:spPr>
          <a:xfrm>
            <a:off x="1003852" y="2059501"/>
            <a:ext cx="6096946" cy="1349087"/>
          </a:xfrm>
          <a:prstGeom prst="rect">
            <a:avLst/>
          </a:prstGeom>
          <a:noFill/>
        </p:spPr>
        <p:txBody>
          <a:bodyPr wrap="square">
            <a:spAutoFit/>
          </a:bodyPr>
          <a:lstStyle/>
          <a:p>
            <a:pPr>
              <a:lnSpc>
                <a:spcPts val="1650"/>
              </a:lnSpc>
              <a:spcBef>
                <a:spcPts val="1000"/>
              </a:spcBef>
              <a:buClr>
                <a:schemeClr val="accent1"/>
              </a:buClr>
              <a:buSzPct val="80000"/>
              <a:buNone/>
            </a:pPr>
            <a:r>
              <a:rPr lang="en-US" altLang="zh-CN" i="1" dirty="0">
                <a:solidFill>
                  <a:srgbClr val="0000FF"/>
                </a:solidFill>
              </a:rPr>
              <a:t>reg</a:t>
            </a:r>
            <a:r>
              <a:rPr lang="en-US" altLang="zh-CN" i="1" dirty="0"/>
              <a:t> </a:t>
            </a:r>
            <a:r>
              <a:rPr lang="en-US" altLang="zh-CN" i="1" dirty="0" err="1"/>
              <a:t>clk</a:t>
            </a:r>
            <a:r>
              <a:rPr lang="en-US" altLang="zh-CN" i="1" dirty="0"/>
              <a:t>;</a:t>
            </a:r>
          </a:p>
          <a:p>
            <a:pPr>
              <a:lnSpc>
                <a:spcPts val="1650"/>
              </a:lnSpc>
              <a:spcBef>
                <a:spcPts val="1000"/>
              </a:spcBef>
              <a:buClr>
                <a:schemeClr val="accent1"/>
              </a:buClr>
              <a:buSzPct val="80000"/>
              <a:buNone/>
            </a:pPr>
            <a:endParaRPr lang="en-US" altLang="zh-CN" i="1" dirty="0"/>
          </a:p>
          <a:p>
            <a:pPr>
              <a:lnSpc>
                <a:spcPts val="1650"/>
              </a:lnSpc>
              <a:spcBef>
                <a:spcPts val="1000"/>
              </a:spcBef>
              <a:buClr>
                <a:schemeClr val="accent1"/>
              </a:buClr>
              <a:buSzPct val="80000"/>
              <a:buNone/>
            </a:pPr>
            <a:r>
              <a:rPr lang="en-US" altLang="zh-CN" i="1" dirty="0">
                <a:solidFill>
                  <a:srgbClr val="0000FF"/>
                </a:solidFill>
              </a:rPr>
              <a:t>initial</a:t>
            </a:r>
            <a:r>
              <a:rPr lang="en-US" altLang="zh-CN" i="1" dirty="0"/>
              <a:t> </a:t>
            </a:r>
            <a:r>
              <a:rPr lang="en-US" altLang="zh-CN" i="1" dirty="0" err="1"/>
              <a:t>clk</a:t>
            </a:r>
            <a:r>
              <a:rPr lang="en-US" altLang="zh-CN" i="1" dirty="0"/>
              <a:t> = 0;      // </a:t>
            </a:r>
            <a:r>
              <a:rPr lang="zh-CN" altLang="en-US" i="1" dirty="0"/>
              <a:t>必须先赋初值</a:t>
            </a:r>
          </a:p>
          <a:p>
            <a:pPr>
              <a:lnSpc>
                <a:spcPts val="1650"/>
              </a:lnSpc>
              <a:spcBef>
                <a:spcPts val="1000"/>
              </a:spcBef>
              <a:buClr>
                <a:schemeClr val="accent1"/>
              </a:buClr>
              <a:buSzPct val="80000"/>
              <a:buNone/>
            </a:pPr>
            <a:r>
              <a:rPr lang="en-US" altLang="zh-CN" i="1" dirty="0">
                <a:solidFill>
                  <a:srgbClr val="0000FF"/>
                </a:solidFill>
              </a:rPr>
              <a:t>always</a:t>
            </a:r>
            <a:r>
              <a:rPr lang="en-US" altLang="zh-CN" i="1" dirty="0"/>
              <a:t> </a:t>
            </a:r>
            <a:r>
              <a:rPr lang="en-US" altLang="zh-CN" i="1" dirty="0">
                <a:solidFill>
                  <a:srgbClr val="0070C0"/>
                </a:solidFill>
              </a:rPr>
              <a:t>#</a:t>
            </a:r>
            <a:r>
              <a:rPr lang="en-US" altLang="zh-CN" i="1" dirty="0"/>
              <a:t>5 </a:t>
            </a:r>
            <a:r>
              <a:rPr lang="en-US" altLang="zh-CN" i="1" dirty="0" err="1"/>
              <a:t>clk</a:t>
            </a:r>
            <a:r>
              <a:rPr lang="en-US" altLang="zh-CN" i="1" dirty="0"/>
              <a:t> = ~</a:t>
            </a:r>
            <a:r>
              <a:rPr lang="en-US" altLang="zh-CN" i="1" dirty="0" err="1"/>
              <a:t>clk</a:t>
            </a:r>
            <a:r>
              <a:rPr lang="en-US" altLang="zh-CN" i="1" dirty="0"/>
              <a:t>;</a:t>
            </a:r>
          </a:p>
        </p:txBody>
      </p:sp>
    </p:spTree>
    <p:extLst>
      <p:ext uri="{BB962C8B-B14F-4D97-AF65-F5344CB8AC3E}">
        <p14:creationId xmlns:p14="http://schemas.microsoft.com/office/powerpoint/2010/main" val="33221009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A2E9BF-47E9-525B-B08A-83FFE0878894}"/>
              </a:ext>
            </a:extLst>
          </p:cNvPr>
          <p:cNvSpPr>
            <a:spLocks noGrp="1"/>
          </p:cNvSpPr>
          <p:nvPr>
            <p:ph type="title"/>
          </p:nvPr>
        </p:nvSpPr>
        <p:spPr>
          <a:xfrm>
            <a:off x="620539" y="242693"/>
            <a:ext cx="10982686" cy="1599192"/>
          </a:xfrm>
        </p:spPr>
        <p:txBody>
          <a:bodyPr>
            <a:normAutofit fontScale="90000"/>
          </a:bodyPr>
          <a:lstStyle/>
          <a:p>
            <a:r>
              <a:rPr lang="en-US" altLang="zh-CN" sz="4000" dirty="0"/>
              <a:t>3.2.2 </a:t>
            </a:r>
            <a:r>
              <a:rPr lang="zh-CN" altLang="en-US" sz="4000" dirty="0"/>
              <a:t>复位</a:t>
            </a:r>
            <a:br>
              <a:rPr lang="en-US" altLang="zh-CN" dirty="0"/>
            </a:br>
            <a:br>
              <a:rPr lang="en-US" altLang="zh-CN" dirty="0"/>
            </a:br>
            <a:r>
              <a:rPr lang="zh-CN" altLang="en-US" dirty="0"/>
              <a:t>同步复位：复位信号仅在时钟有效边沿被采样。</a:t>
            </a:r>
          </a:p>
        </p:txBody>
      </p:sp>
      <p:sp>
        <p:nvSpPr>
          <p:cNvPr id="5" name="文本框 4">
            <a:extLst>
              <a:ext uri="{FF2B5EF4-FFF2-40B4-BE49-F238E27FC236}">
                <a16:creationId xmlns:a16="http://schemas.microsoft.com/office/drawing/2014/main" id="{CDD94AF7-8E88-E4D7-FEA5-568F540A642E}"/>
              </a:ext>
            </a:extLst>
          </p:cNvPr>
          <p:cNvSpPr txBox="1"/>
          <p:nvPr/>
        </p:nvSpPr>
        <p:spPr>
          <a:xfrm>
            <a:off x="1482351" y="2584174"/>
            <a:ext cx="6822502" cy="2387833"/>
          </a:xfrm>
          <a:prstGeom prst="rect">
            <a:avLst/>
          </a:prstGeom>
          <a:noFill/>
        </p:spPr>
        <p:txBody>
          <a:bodyPr wrap="square">
            <a:spAutoFit/>
          </a:bodyPr>
          <a:lstStyle/>
          <a:p>
            <a:pPr>
              <a:lnSpc>
                <a:spcPts val="1650"/>
              </a:lnSpc>
              <a:spcBef>
                <a:spcPts val="1000"/>
              </a:spcBef>
              <a:buClr>
                <a:schemeClr val="accent1"/>
              </a:buClr>
              <a:buSzPct val="80000"/>
            </a:pPr>
            <a:r>
              <a:rPr lang="en-US" altLang="zh-CN" i="1" dirty="0">
                <a:solidFill>
                  <a:srgbClr val="0000FF"/>
                </a:solidFill>
              </a:rPr>
              <a:t>always</a:t>
            </a:r>
            <a:r>
              <a:rPr lang="en-US" altLang="zh-CN" i="1" dirty="0"/>
              <a:t> </a:t>
            </a:r>
            <a:r>
              <a:rPr lang="en-US" altLang="zh-CN" i="1" dirty="0">
                <a:solidFill>
                  <a:srgbClr val="0070C0"/>
                </a:solidFill>
              </a:rPr>
              <a:t>@</a:t>
            </a:r>
            <a:r>
              <a:rPr lang="en-US" altLang="zh-CN" i="1" dirty="0"/>
              <a:t>(</a:t>
            </a:r>
            <a:r>
              <a:rPr lang="en-US" altLang="zh-CN" i="1" dirty="0">
                <a:solidFill>
                  <a:srgbClr val="0000FF"/>
                </a:solidFill>
              </a:rPr>
              <a:t>posedge</a:t>
            </a:r>
            <a:r>
              <a:rPr lang="en-US" altLang="zh-CN" i="1" dirty="0"/>
              <a:t> </a:t>
            </a:r>
            <a:r>
              <a:rPr lang="en-US" altLang="zh-CN" i="1" dirty="0" err="1"/>
              <a:t>clk</a:t>
            </a:r>
            <a:r>
              <a:rPr lang="en-US" altLang="zh-CN" i="1" dirty="0"/>
              <a:t>) </a:t>
            </a:r>
          </a:p>
          <a:p>
            <a:pPr>
              <a:lnSpc>
                <a:spcPts val="1650"/>
              </a:lnSpc>
              <a:spcBef>
                <a:spcPts val="1000"/>
              </a:spcBef>
              <a:buClr>
                <a:schemeClr val="accent1"/>
              </a:buClr>
              <a:buSzPct val="80000"/>
            </a:pPr>
            <a:r>
              <a:rPr lang="en-US" altLang="zh-CN" i="1" dirty="0">
                <a:solidFill>
                  <a:srgbClr val="0000FF"/>
                </a:solidFill>
              </a:rPr>
              <a:t>begin</a:t>
            </a:r>
          </a:p>
          <a:p>
            <a:pPr>
              <a:lnSpc>
                <a:spcPts val="1650"/>
              </a:lnSpc>
              <a:spcBef>
                <a:spcPts val="1000"/>
              </a:spcBef>
              <a:buClr>
                <a:schemeClr val="accent1"/>
              </a:buClr>
              <a:buSzPct val="80000"/>
            </a:pPr>
            <a:r>
              <a:rPr lang="en-US" altLang="zh-CN" i="1" dirty="0"/>
              <a:t>    </a:t>
            </a:r>
            <a:r>
              <a:rPr lang="en-US" altLang="zh-CN" i="1" dirty="0">
                <a:solidFill>
                  <a:srgbClr val="0000FF"/>
                </a:solidFill>
              </a:rPr>
              <a:t>if </a:t>
            </a:r>
            <a:r>
              <a:rPr lang="en-US" altLang="zh-CN" i="1" dirty="0"/>
              <a:t>(!</a:t>
            </a:r>
            <a:r>
              <a:rPr lang="en-US" altLang="zh-CN" i="1" dirty="0" err="1"/>
              <a:t>rst_n</a:t>
            </a:r>
            <a:r>
              <a:rPr lang="en-US" altLang="zh-CN" i="1" dirty="0"/>
              <a:t>)        // </a:t>
            </a:r>
            <a:r>
              <a:rPr lang="zh-CN" altLang="en-US" i="1" dirty="0"/>
              <a:t>复位信号</a:t>
            </a:r>
          </a:p>
          <a:p>
            <a:pPr>
              <a:lnSpc>
                <a:spcPts val="1650"/>
              </a:lnSpc>
              <a:spcBef>
                <a:spcPts val="1000"/>
              </a:spcBef>
              <a:buClr>
                <a:schemeClr val="accent1"/>
              </a:buClr>
              <a:buSzPct val="80000"/>
            </a:pPr>
            <a:r>
              <a:rPr lang="zh-CN" altLang="en-US" i="1" dirty="0"/>
              <a:t>        </a:t>
            </a:r>
            <a:r>
              <a:rPr lang="en-US" altLang="zh-CN" i="1" dirty="0"/>
              <a:t>q &lt;= 1'b0;</a:t>
            </a:r>
          </a:p>
          <a:p>
            <a:pPr>
              <a:lnSpc>
                <a:spcPts val="1650"/>
              </a:lnSpc>
              <a:spcBef>
                <a:spcPts val="1000"/>
              </a:spcBef>
              <a:buClr>
                <a:schemeClr val="accent1"/>
              </a:buClr>
              <a:buSzPct val="80000"/>
            </a:pPr>
            <a:r>
              <a:rPr lang="en-US" altLang="zh-CN" i="1" dirty="0"/>
              <a:t>    </a:t>
            </a:r>
            <a:r>
              <a:rPr lang="en-US" altLang="zh-CN" i="1" dirty="0">
                <a:solidFill>
                  <a:srgbClr val="0000FF"/>
                </a:solidFill>
              </a:rPr>
              <a:t>else</a:t>
            </a:r>
          </a:p>
          <a:p>
            <a:pPr>
              <a:lnSpc>
                <a:spcPts val="1650"/>
              </a:lnSpc>
              <a:spcBef>
                <a:spcPts val="1000"/>
              </a:spcBef>
              <a:buClr>
                <a:schemeClr val="accent1"/>
              </a:buClr>
              <a:buSzPct val="80000"/>
            </a:pPr>
            <a:r>
              <a:rPr lang="en-US" altLang="zh-CN" i="1" dirty="0"/>
              <a:t>        q &lt;= d;</a:t>
            </a:r>
          </a:p>
          <a:p>
            <a:pPr>
              <a:lnSpc>
                <a:spcPts val="1650"/>
              </a:lnSpc>
              <a:spcBef>
                <a:spcPts val="1000"/>
              </a:spcBef>
              <a:buClr>
                <a:schemeClr val="accent1"/>
              </a:buClr>
              <a:buSzPct val="80000"/>
            </a:pPr>
            <a:r>
              <a:rPr lang="en-US" altLang="zh-CN" i="1" dirty="0">
                <a:solidFill>
                  <a:srgbClr val="0000FF"/>
                </a:solidFill>
              </a:rPr>
              <a:t>end</a:t>
            </a:r>
          </a:p>
        </p:txBody>
      </p:sp>
    </p:spTree>
    <p:extLst>
      <p:ext uri="{BB962C8B-B14F-4D97-AF65-F5344CB8AC3E}">
        <p14:creationId xmlns:p14="http://schemas.microsoft.com/office/powerpoint/2010/main" val="37595029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13B815-6E59-3228-C210-22A2E273E1F4}"/>
              </a:ext>
            </a:extLst>
          </p:cNvPr>
          <p:cNvSpPr>
            <a:spLocks noGrp="1"/>
          </p:cNvSpPr>
          <p:nvPr>
            <p:ph type="title"/>
          </p:nvPr>
        </p:nvSpPr>
        <p:spPr>
          <a:xfrm>
            <a:off x="563744" y="1126435"/>
            <a:ext cx="10272748" cy="1320800"/>
          </a:xfrm>
        </p:spPr>
        <p:txBody>
          <a:bodyPr>
            <a:normAutofit/>
          </a:bodyPr>
          <a:lstStyle/>
          <a:p>
            <a:r>
              <a:rPr lang="zh-CN" altLang="en-US" sz="3200" dirty="0"/>
              <a:t>异步复位：复位信号一旦有效，立即复位。</a:t>
            </a:r>
          </a:p>
        </p:txBody>
      </p:sp>
      <p:sp>
        <p:nvSpPr>
          <p:cNvPr id="8" name="文本框 7">
            <a:extLst>
              <a:ext uri="{FF2B5EF4-FFF2-40B4-BE49-F238E27FC236}">
                <a16:creationId xmlns:a16="http://schemas.microsoft.com/office/drawing/2014/main" id="{AAFBBBE1-54E6-6CE4-DCCE-4A086D0F0637}"/>
              </a:ext>
            </a:extLst>
          </p:cNvPr>
          <p:cNvSpPr txBox="1"/>
          <p:nvPr/>
        </p:nvSpPr>
        <p:spPr>
          <a:xfrm>
            <a:off x="1242391" y="2539598"/>
            <a:ext cx="6096946" cy="2387833"/>
          </a:xfrm>
          <a:prstGeom prst="rect">
            <a:avLst/>
          </a:prstGeom>
          <a:noFill/>
        </p:spPr>
        <p:txBody>
          <a:bodyPr wrap="square">
            <a:spAutoFit/>
          </a:bodyPr>
          <a:lstStyle/>
          <a:p>
            <a:pPr>
              <a:lnSpc>
                <a:spcPts val="1650"/>
              </a:lnSpc>
              <a:spcBef>
                <a:spcPts val="1000"/>
              </a:spcBef>
              <a:buClr>
                <a:schemeClr val="accent1"/>
              </a:buClr>
              <a:buSzPct val="80000"/>
              <a:buNone/>
            </a:pPr>
            <a:r>
              <a:rPr lang="en-US" altLang="zh-CN" i="1" dirty="0">
                <a:solidFill>
                  <a:srgbClr val="0000FF"/>
                </a:solidFill>
              </a:rPr>
              <a:t>always</a:t>
            </a:r>
            <a:r>
              <a:rPr lang="en-US" altLang="zh-CN" i="1" dirty="0"/>
              <a:t> </a:t>
            </a:r>
            <a:r>
              <a:rPr lang="en-US" altLang="zh-CN" i="1" dirty="0">
                <a:solidFill>
                  <a:srgbClr val="0070C0"/>
                </a:solidFill>
              </a:rPr>
              <a:t>@</a:t>
            </a:r>
            <a:r>
              <a:rPr lang="en-US" altLang="zh-CN" i="1" dirty="0"/>
              <a:t>(</a:t>
            </a:r>
            <a:r>
              <a:rPr lang="en-US" altLang="zh-CN" i="1" dirty="0">
                <a:solidFill>
                  <a:srgbClr val="0000FF"/>
                </a:solidFill>
              </a:rPr>
              <a:t>posedge</a:t>
            </a:r>
            <a:r>
              <a:rPr lang="en-US" altLang="zh-CN" i="1" dirty="0"/>
              <a:t> </a:t>
            </a:r>
            <a:r>
              <a:rPr lang="en-US" altLang="zh-CN" i="1" dirty="0" err="1"/>
              <a:t>clk</a:t>
            </a:r>
            <a:r>
              <a:rPr lang="en-US" altLang="zh-CN" i="1" dirty="0"/>
              <a:t> </a:t>
            </a:r>
            <a:r>
              <a:rPr lang="en-US" altLang="zh-CN" i="1" dirty="0">
                <a:solidFill>
                  <a:srgbClr val="0000FF"/>
                </a:solidFill>
              </a:rPr>
              <a:t>or</a:t>
            </a:r>
            <a:r>
              <a:rPr lang="en-US" altLang="zh-CN" i="1" dirty="0"/>
              <a:t> </a:t>
            </a:r>
            <a:r>
              <a:rPr lang="en-US" altLang="zh-CN" i="1" dirty="0" err="1">
                <a:solidFill>
                  <a:srgbClr val="0000FF"/>
                </a:solidFill>
              </a:rPr>
              <a:t>negedge</a:t>
            </a:r>
            <a:r>
              <a:rPr lang="en-US" altLang="zh-CN" i="1" dirty="0"/>
              <a:t> </a:t>
            </a:r>
            <a:r>
              <a:rPr lang="en-US" altLang="zh-CN" i="1" dirty="0" err="1"/>
              <a:t>rst_n</a:t>
            </a:r>
            <a:r>
              <a:rPr lang="en-US" altLang="zh-CN" i="1" dirty="0"/>
              <a:t>)</a:t>
            </a:r>
          </a:p>
          <a:p>
            <a:pPr>
              <a:lnSpc>
                <a:spcPts val="1650"/>
              </a:lnSpc>
              <a:spcBef>
                <a:spcPts val="1000"/>
              </a:spcBef>
              <a:buClr>
                <a:schemeClr val="accent1"/>
              </a:buClr>
              <a:buSzPct val="80000"/>
              <a:buNone/>
            </a:pPr>
            <a:r>
              <a:rPr lang="en-US" altLang="zh-CN" i="1" dirty="0"/>
              <a:t> </a:t>
            </a:r>
            <a:r>
              <a:rPr lang="en-US" altLang="zh-CN" i="1" dirty="0">
                <a:solidFill>
                  <a:srgbClr val="0000FF"/>
                </a:solidFill>
              </a:rPr>
              <a:t>begin</a:t>
            </a:r>
          </a:p>
          <a:p>
            <a:pPr>
              <a:lnSpc>
                <a:spcPts val="1650"/>
              </a:lnSpc>
              <a:spcBef>
                <a:spcPts val="1000"/>
              </a:spcBef>
              <a:buClr>
                <a:schemeClr val="accent1"/>
              </a:buClr>
              <a:buSzPct val="80000"/>
              <a:buNone/>
            </a:pPr>
            <a:r>
              <a:rPr lang="en-US" altLang="zh-CN" i="1" dirty="0"/>
              <a:t>    </a:t>
            </a:r>
            <a:r>
              <a:rPr lang="en-US" altLang="zh-CN" i="1" dirty="0">
                <a:solidFill>
                  <a:srgbClr val="0000FF"/>
                </a:solidFill>
              </a:rPr>
              <a:t>if</a:t>
            </a:r>
            <a:r>
              <a:rPr lang="en-US" altLang="zh-CN" i="1" dirty="0"/>
              <a:t> (!</a:t>
            </a:r>
            <a:r>
              <a:rPr lang="en-US" altLang="zh-CN" i="1" dirty="0" err="1"/>
              <a:t>rst_n</a:t>
            </a:r>
            <a:r>
              <a:rPr lang="en-US" altLang="zh-CN" i="1" dirty="0"/>
              <a:t>)        // </a:t>
            </a:r>
            <a:r>
              <a:rPr lang="zh-CN" altLang="en-US" i="1" dirty="0"/>
              <a:t>异步复位优先</a:t>
            </a:r>
            <a:endParaRPr lang="en-US" altLang="zh-CN" i="1" dirty="0"/>
          </a:p>
          <a:p>
            <a:pPr>
              <a:lnSpc>
                <a:spcPts val="1650"/>
              </a:lnSpc>
              <a:spcBef>
                <a:spcPts val="1000"/>
              </a:spcBef>
              <a:buClr>
                <a:schemeClr val="accent1"/>
              </a:buClr>
              <a:buSzPct val="80000"/>
              <a:buNone/>
            </a:pPr>
            <a:r>
              <a:rPr lang="en-US" altLang="zh-CN" i="1" dirty="0"/>
              <a:t>        q &lt;= 1'b0;</a:t>
            </a:r>
          </a:p>
          <a:p>
            <a:pPr>
              <a:lnSpc>
                <a:spcPts val="1650"/>
              </a:lnSpc>
              <a:spcBef>
                <a:spcPts val="1000"/>
              </a:spcBef>
              <a:buClr>
                <a:schemeClr val="accent1"/>
              </a:buClr>
              <a:buSzPct val="80000"/>
              <a:buNone/>
            </a:pPr>
            <a:r>
              <a:rPr lang="en-US" altLang="zh-CN" i="1" dirty="0"/>
              <a:t>    </a:t>
            </a:r>
            <a:r>
              <a:rPr lang="en-US" altLang="zh-CN" i="1" dirty="0">
                <a:solidFill>
                  <a:srgbClr val="0000FF"/>
                </a:solidFill>
              </a:rPr>
              <a:t>else</a:t>
            </a:r>
          </a:p>
          <a:p>
            <a:pPr>
              <a:lnSpc>
                <a:spcPts val="1650"/>
              </a:lnSpc>
              <a:spcBef>
                <a:spcPts val="1000"/>
              </a:spcBef>
              <a:buClr>
                <a:schemeClr val="accent1"/>
              </a:buClr>
              <a:buSzPct val="80000"/>
              <a:buNone/>
            </a:pPr>
            <a:r>
              <a:rPr lang="en-US" altLang="zh-CN" i="1" dirty="0"/>
              <a:t>        q &lt;= d;</a:t>
            </a:r>
          </a:p>
          <a:p>
            <a:pPr>
              <a:lnSpc>
                <a:spcPts val="1650"/>
              </a:lnSpc>
              <a:spcBef>
                <a:spcPts val="1000"/>
              </a:spcBef>
              <a:buClr>
                <a:schemeClr val="accent1"/>
              </a:buClr>
              <a:buSzPct val="80000"/>
              <a:buNone/>
            </a:pPr>
            <a:r>
              <a:rPr lang="en-US" altLang="zh-CN" i="1" dirty="0">
                <a:solidFill>
                  <a:srgbClr val="0000FF"/>
                </a:solidFill>
              </a:rPr>
              <a:t>end</a:t>
            </a:r>
          </a:p>
        </p:txBody>
      </p:sp>
    </p:spTree>
    <p:extLst>
      <p:ext uri="{BB962C8B-B14F-4D97-AF65-F5344CB8AC3E}">
        <p14:creationId xmlns:p14="http://schemas.microsoft.com/office/powerpoint/2010/main" val="12903896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5589BA7-E69A-F64C-F8ED-EFE9BD63309B}"/>
              </a:ext>
            </a:extLst>
          </p:cNvPr>
          <p:cNvSpPr txBox="1"/>
          <p:nvPr/>
        </p:nvSpPr>
        <p:spPr>
          <a:xfrm>
            <a:off x="529667" y="1316208"/>
            <a:ext cx="8691059" cy="5078313"/>
          </a:xfrm>
          <a:prstGeom prst="rect">
            <a:avLst/>
          </a:prstGeom>
          <a:noFill/>
        </p:spPr>
        <p:txBody>
          <a:bodyPr wrap="square">
            <a:spAutoFit/>
          </a:bodyPr>
          <a:lstStyle/>
          <a:p>
            <a:r>
              <a:rPr lang="zh-CN" altLang="en-US" i="1" dirty="0">
                <a:solidFill>
                  <a:srgbClr val="0000FF"/>
                </a:solidFill>
              </a:rPr>
              <a:t>module</a:t>
            </a:r>
            <a:r>
              <a:rPr lang="zh-CN" altLang="en-US" i="1" dirty="0"/>
              <a:t> shift #(</a:t>
            </a:r>
            <a:r>
              <a:rPr lang="zh-CN" altLang="en-US" i="1" dirty="0">
                <a:solidFill>
                  <a:srgbClr val="0000FF"/>
                </a:solidFill>
              </a:rPr>
              <a:t>parameter</a:t>
            </a:r>
            <a:r>
              <a:rPr lang="zh-CN" altLang="en-US" i="1" dirty="0"/>
              <a:t> WIDTH=8) (</a:t>
            </a:r>
            <a:r>
              <a:rPr lang="zh-CN" altLang="en-US" i="1" dirty="0">
                <a:solidFill>
                  <a:srgbClr val="0000FF"/>
                </a:solidFill>
              </a:rPr>
              <a:t>output</a:t>
            </a:r>
            <a:r>
              <a:rPr lang="zh-CN" altLang="en-US" i="1" dirty="0"/>
              <a:t>  </a:t>
            </a:r>
            <a:r>
              <a:rPr lang="zh-CN" altLang="en-US" i="1" dirty="0">
                <a:solidFill>
                  <a:srgbClr val="0000FF"/>
                </a:solidFill>
              </a:rPr>
              <a:t>reg</a:t>
            </a:r>
            <a:r>
              <a:rPr lang="zh-CN" altLang="en-US" i="1" dirty="0"/>
              <a:t> [WIDTH-1 : 0] q,</a:t>
            </a:r>
          </a:p>
          <a:p>
            <a:r>
              <a:rPr lang="zh-CN" altLang="en-US" i="1" dirty="0"/>
              <a:t>								   </a:t>
            </a:r>
            <a:r>
              <a:rPr lang="zh-CN" altLang="en-US" i="1" dirty="0">
                <a:solidFill>
                  <a:srgbClr val="0000FF"/>
                </a:solidFill>
              </a:rPr>
              <a:t>input</a:t>
            </a:r>
            <a:r>
              <a:rPr lang="zh-CN" altLang="en-US" i="1" dirty="0"/>
              <a:t>          [WIDTH-1 : 0] in,</a:t>
            </a:r>
          </a:p>
          <a:p>
            <a:r>
              <a:rPr lang="zh-CN" altLang="en-US" i="1" dirty="0"/>
              <a:t>								   </a:t>
            </a:r>
            <a:r>
              <a:rPr lang="zh-CN" altLang="en-US" i="1" dirty="0">
                <a:solidFill>
                  <a:srgbClr val="0000FF"/>
                </a:solidFill>
              </a:rPr>
              <a:t>input</a:t>
            </a:r>
            <a:r>
              <a:rPr lang="zh-CN" altLang="en-US" i="1" dirty="0"/>
              <a:t> 				         clock,</a:t>
            </a:r>
          </a:p>
          <a:p>
            <a:r>
              <a:rPr lang="zh-CN" altLang="en-US" i="1" dirty="0"/>
              <a:t>								   </a:t>
            </a:r>
            <a:r>
              <a:rPr lang="zh-CN" altLang="en-US" i="1" dirty="0">
                <a:solidFill>
                  <a:srgbClr val="0000FF"/>
                </a:solidFill>
              </a:rPr>
              <a:t>input</a:t>
            </a:r>
            <a:r>
              <a:rPr lang="zh-CN" altLang="en-US" i="1" dirty="0"/>
              <a:t> 				         set,</a:t>
            </a:r>
          </a:p>
          <a:p>
            <a:r>
              <a:rPr lang="zh-CN" altLang="en-US" i="1" dirty="0"/>
              <a:t>								   </a:t>
            </a:r>
            <a:r>
              <a:rPr lang="zh-CN" altLang="en-US" i="1" dirty="0">
                <a:solidFill>
                  <a:srgbClr val="0000FF"/>
                </a:solidFill>
              </a:rPr>
              <a:t>input</a:t>
            </a:r>
            <a:r>
              <a:rPr lang="zh-CN" altLang="en-US" i="1" dirty="0"/>
              <a:t> 				         reset);</a:t>
            </a:r>
          </a:p>
          <a:p>
            <a:r>
              <a:rPr lang="zh-CN" altLang="en-US" i="1" dirty="0">
                <a:solidFill>
                  <a:srgbClr val="0000FF"/>
                </a:solidFill>
              </a:rPr>
              <a:t>integer</a:t>
            </a:r>
            <a:r>
              <a:rPr lang="zh-CN" altLang="en-US" i="1" dirty="0"/>
              <a:t> i;</a:t>
            </a:r>
          </a:p>
          <a:p>
            <a:r>
              <a:rPr lang="zh-CN" altLang="en-US" i="1" dirty="0">
                <a:solidFill>
                  <a:srgbClr val="0000FF"/>
                </a:solidFill>
              </a:rPr>
              <a:t>always</a:t>
            </a:r>
            <a:r>
              <a:rPr lang="zh-CN" altLang="en-US" i="1" dirty="0"/>
              <a:t> </a:t>
            </a:r>
            <a:r>
              <a:rPr lang="zh-CN" altLang="en-US" i="1" dirty="0">
                <a:solidFill>
                  <a:srgbClr val="0070C0"/>
                </a:solidFill>
              </a:rPr>
              <a:t>@</a:t>
            </a:r>
            <a:r>
              <a:rPr lang="zh-CN" altLang="en-US" i="1" dirty="0"/>
              <a:t>(</a:t>
            </a:r>
            <a:r>
              <a:rPr lang="zh-CN" altLang="en-US" i="1" dirty="0">
                <a:solidFill>
                  <a:srgbClr val="0000FF"/>
                </a:solidFill>
              </a:rPr>
              <a:t>posedge</a:t>
            </a:r>
            <a:r>
              <a:rPr lang="zh-CN" altLang="en-US" i="1" dirty="0"/>
              <a:t> clock, </a:t>
            </a:r>
            <a:r>
              <a:rPr lang="zh-CN" altLang="en-US" i="1" dirty="0">
                <a:solidFill>
                  <a:srgbClr val="0000FF"/>
                </a:solidFill>
              </a:rPr>
              <a:t>negedge</a:t>
            </a:r>
            <a:r>
              <a:rPr lang="zh-CN" altLang="en-US" i="1" dirty="0"/>
              <a:t> reset)   </a:t>
            </a:r>
            <a:r>
              <a:rPr lang="en-US" altLang="zh-CN" i="1" dirty="0"/>
              <a:t>//</a:t>
            </a:r>
            <a:r>
              <a:rPr lang="zh-CN" altLang="en-US" i="1" dirty="0"/>
              <a:t>异步复位</a:t>
            </a:r>
          </a:p>
          <a:p>
            <a:r>
              <a:rPr lang="zh-CN" altLang="en-US" i="1" dirty="0">
                <a:solidFill>
                  <a:srgbClr val="0000FF"/>
                </a:solidFill>
              </a:rPr>
              <a:t>if</a:t>
            </a:r>
            <a:r>
              <a:rPr lang="zh-CN" altLang="en-US" i="1" dirty="0"/>
              <a:t>(!reset)</a:t>
            </a:r>
          </a:p>
          <a:p>
            <a:r>
              <a:rPr lang="zh-CN" altLang="en-US" i="1" dirty="0"/>
              <a:t>	q &lt;= 0;   </a:t>
            </a:r>
          </a:p>
          <a:p>
            <a:r>
              <a:rPr lang="en-US" altLang="zh-CN" i="1" dirty="0">
                <a:solidFill>
                  <a:srgbClr val="0000FF"/>
                </a:solidFill>
              </a:rPr>
              <a:t>e</a:t>
            </a:r>
            <a:r>
              <a:rPr lang="zh-CN" altLang="en-US" i="1" dirty="0">
                <a:solidFill>
                  <a:srgbClr val="0000FF"/>
                </a:solidFill>
              </a:rPr>
              <a:t>lse if</a:t>
            </a:r>
            <a:r>
              <a:rPr lang="zh-CN" altLang="en-US" i="1" dirty="0"/>
              <a:t>(set)   </a:t>
            </a:r>
            <a:r>
              <a:rPr lang="en-US" altLang="zh-CN" i="1" dirty="0"/>
              <a:t>//</a:t>
            </a:r>
            <a:r>
              <a:rPr lang="zh-CN" altLang="en-US" i="1" dirty="0"/>
              <a:t>同步置数</a:t>
            </a:r>
          </a:p>
          <a:p>
            <a:r>
              <a:rPr lang="zh-CN" altLang="en-US" i="1" dirty="0"/>
              <a:t>		q &lt;= in;</a:t>
            </a:r>
          </a:p>
          <a:p>
            <a:r>
              <a:rPr lang="zh-CN" altLang="en-US" i="1" dirty="0"/>
              <a:t>	</a:t>
            </a:r>
            <a:r>
              <a:rPr lang="zh-CN" altLang="en-US" i="1" dirty="0">
                <a:solidFill>
                  <a:srgbClr val="0000FF"/>
                </a:solidFill>
              </a:rPr>
              <a:t>else begin</a:t>
            </a:r>
          </a:p>
          <a:p>
            <a:r>
              <a:rPr lang="zh-CN" altLang="en-US" i="1" dirty="0"/>
              <a:t>		for(i=0;i&lt;WIDTH-1;i=i+1)    </a:t>
            </a:r>
            <a:r>
              <a:rPr lang="en-US" altLang="zh-CN" i="1" dirty="0"/>
              <a:t>//</a:t>
            </a:r>
            <a:r>
              <a:rPr lang="zh-CN" altLang="en-US" i="1" dirty="0"/>
              <a:t>综合后被展开成并行的</a:t>
            </a:r>
            <a:r>
              <a:rPr lang="en-US" altLang="zh-CN" i="1" dirty="0"/>
              <a:t>WIDTH-1</a:t>
            </a:r>
            <a:r>
              <a:rPr lang="zh-CN" altLang="en-US" i="1" dirty="0"/>
              <a:t>个触发器</a:t>
            </a:r>
          </a:p>
          <a:p>
            <a:r>
              <a:rPr lang="zh-CN" altLang="en-US" i="1" dirty="0"/>
              <a:t>			 q[i] &lt;= q[i+1];    </a:t>
            </a:r>
            <a:r>
              <a:rPr lang="en-US" altLang="zh-CN" i="1" dirty="0"/>
              <a:t>//</a:t>
            </a:r>
            <a:r>
              <a:rPr lang="zh-CN" altLang="en-US" i="1" dirty="0"/>
              <a:t>用非阻塞赋值语句</a:t>
            </a:r>
          </a:p>
          <a:p>
            <a:r>
              <a:rPr lang="zh-CN" altLang="en-US" i="1" dirty="0"/>
              <a:t>		</a:t>
            </a:r>
          </a:p>
          <a:p>
            <a:r>
              <a:rPr lang="zh-CN" altLang="en-US" i="1" dirty="0"/>
              <a:t>		q[WIDTH-1] &lt;= q[0]; 		</a:t>
            </a:r>
          </a:p>
          <a:p>
            <a:r>
              <a:rPr lang="zh-CN" altLang="en-US" i="1" dirty="0"/>
              <a:t>		</a:t>
            </a:r>
            <a:r>
              <a:rPr lang="zh-CN" altLang="en-US" i="1" dirty="0">
                <a:solidFill>
                  <a:srgbClr val="0000FF"/>
                </a:solidFill>
              </a:rPr>
              <a:t>end</a:t>
            </a:r>
            <a:endParaRPr lang="zh-CN" altLang="en-US" i="1" dirty="0"/>
          </a:p>
          <a:p>
            <a:r>
              <a:rPr lang="zh-CN" altLang="en-US" i="1" dirty="0">
                <a:solidFill>
                  <a:srgbClr val="0000FF"/>
                </a:solidFill>
              </a:rPr>
              <a:t>endmodule</a:t>
            </a:r>
          </a:p>
        </p:txBody>
      </p:sp>
      <p:sp>
        <p:nvSpPr>
          <p:cNvPr id="6" name="标题 1">
            <a:extLst>
              <a:ext uri="{FF2B5EF4-FFF2-40B4-BE49-F238E27FC236}">
                <a16:creationId xmlns:a16="http://schemas.microsoft.com/office/drawing/2014/main" id="{3ECEECFB-3E7B-D081-734C-394BC3900D92}"/>
              </a:ext>
            </a:extLst>
          </p:cNvPr>
          <p:cNvSpPr>
            <a:spLocks noGrp="1"/>
          </p:cNvSpPr>
          <p:nvPr>
            <p:ph type="title"/>
          </p:nvPr>
        </p:nvSpPr>
        <p:spPr>
          <a:xfrm>
            <a:off x="529667" y="87086"/>
            <a:ext cx="8596668" cy="1320800"/>
          </a:xfrm>
        </p:spPr>
        <p:txBody>
          <a:bodyPr>
            <a:normAutofit/>
          </a:bodyPr>
          <a:lstStyle/>
          <a:p>
            <a:r>
              <a:rPr lang="zh-CN" altLang="en-US" sz="4000" dirty="0"/>
              <a:t>举例：</a:t>
            </a:r>
            <a:r>
              <a:rPr lang="zh-CN" altLang="en-US" dirty="0"/>
              <a:t>右循环移位寄存器</a:t>
            </a:r>
          </a:p>
        </p:txBody>
      </p:sp>
    </p:spTree>
    <p:extLst>
      <p:ext uri="{BB962C8B-B14F-4D97-AF65-F5344CB8AC3E}">
        <p14:creationId xmlns:p14="http://schemas.microsoft.com/office/powerpoint/2010/main" val="39127925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B4543A4F-3B6B-BCBE-7587-26884578C773}"/>
              </a:ext>
            </a:extLst>
          </p:cNvPr>
          <p:cNvSpPr txBox="1"/>
          <p:nvPr/>
        </p:nvSpPr>
        <p:spPr>
          <a:xfrm>
            <a:off x="413183" y="539273"/>
            <a:ext cx="5344412" cy="5766963"/>
          </a:xfrm>
          <a:prstGeom prst="rect">
            <a:avLst/>
          </a:prstGeom>
          <a:noFill/>
          <a:ln w="12700">
            <a:solidFill>
              <a:schemeClr val="tx1"/>
            </a:solidFill>
            <a:prstDash val="dash"/>
          </a:ln>
        </p:spPr>
        <p:txBody>
          <a:bodyPr wrap="square">
            <a:spAutoFit/>
          </a:bodyPr>
          <a:lstStyle/>
          <a:p>
            <a:pPr algn="l" latinLnBrk="1">
              <a:lnSpc>
                <a:spcPts val="1650"/>
              </a:lnSpc>
              <a:buNone/>
            </a:pPr>
            <a:r>
              <a:rPr lang="en-US" altLang="zh-CN" b="0" i="1" dirty="0">
                <a:solidFill>
                  <a:srgbClr val="0000FF"/>
                </a:solidFill>
                <a:effectLst/>
                <a:latin typeface="Menlo"/>
              </a:rPr>
              <a:t>`timescale </a:t>
            </a:r>
            <a:r>
              <a:rPr lang="en-US" altLang="zh-CN" b="0" i="1" dirty="0">
                <a:effectLst/>
                <a:latin typeface="Menlo"/>
              </a:rPr>
              <a:t>1ns / 1ps</a:t>
            </a:r>
          </a:p>
          <a:p>
            <a:pPr algn="l" latinLnBrk="1">
              <a:lnSpc>
                <a:spcPts val="1650"/>
              </a:lnSpc>
              <a:buNone/>
            </a:pPr>
            <a:endParaRPr lang="en-US" altLang="zh-CN" b="0" i="1" dirty="0">
              <a:effectLst/>
              <a:latin typeface="Menlo"/>
            </a:endParaRPr>
          </a:p>
          <a:p>
            <a:pPr algn="l" latinLnBrk="1">
              <a:lnSpc>
                <a:spcPts val="1650"/>
              </a:lnSpc>
              <a:buNone/>
            </a:pPr>
            <a:r>
              <a:rPr lang="en-US" altLang="zh-CN" b="0" i="1" dirty="0">
                <a:solidFill>
                  <a:srgbClr val="0000FF"/>
                </a:solidFill>
                <a:effectLst/>
                <a:latin typeface="Menlo"/>
              </a:rPr>
              <a:t>module</a:t>
            </a:r>
            <a:r>
              <a:rPr lang="en-US" altLang="zh-CN" b="0" i="1" dirty="0">
                <a:effectLst/>
                <a:latin typeface="Menlo"/>
              </a:rPr>
              <a:t> </a:t>
            </a:r>
            <a:r>
              <a:rPr lang="en-US" altLang="zh-CN" b="0" i="1" dirty="0" err="1">
                <a:effectLst/>
                <a:latin typeface="Menlo"/>
              </a:rPr>
              <a:t>shift_tb</a:t>
            </a:r>
            <a:r>
              <a:rPr lang="en-US" altLang="zh-CN" b="0" i="1" dirty="0">
                <a:effectLst/>
                <a:latin typeface="Menlo"/>
              </a:rPr>
              <a:t>();</a:t>
            </a:r>
          </a:p>
          <a:p>
            <a:pPr algn="l" latinLnBrk="1">
              <a:lnSpc>
                <a:spcPts val="1650"/>
              </a:lnSpc>
              <a:buNone/>
            </a:pPr>
            <a:endParaRPr lang="zh-CN" altLang="en-US" i="1" dirty="0">
              <a:latin typeface="Menlo"/>
            </a:endParaRPr>
          </a:p>
          <a:p>
            <a:pPr latinLnBrk="1">
              <a:lnSpc>
                <a:spcPts val="1650"/>
              </a:lnSpc>
            </a:pPr>
            <a:r>
              <a:rPr lang="zh-CN" altLang="en-US" i="1" dirty="0"/>
              <a:t>    </a:t>
            </a:r>
            <a:r>
              <a:rPr lang="en-US" altLang="zh-CN" i="1" dirty="0">
                <a:solidFill>
                  <a:srgbClr val="0000FF"/>
                </a:solidFill>
                <a:latin typeface="Menlo"/>
              </a:rPr>
              <a:t>parameter</a:t>
            </a:r>
            <a:r>
              <a:rPr lang="en-US" altLang="zh-CN" i="1" dirty="0">
                <a:latin typeface="Menlo"/>
              </a:rPr>
              <a:t> WIDTH = 8;</a:t>
            </a:r>
          </a:p>
          <a:p>
            <a:pPr latinLnBrk="1">
              <a:lnSpc>
                <a:spcPts val="1650"/>
              </a:lnSpc>
            </a:pPr>
            <a:r>
              <a:rPr lang="en-US" altLang="zh-CN" i="1" dirty="0">
                <a:latin typeface="Menlo"/>
              </a:rPr>
              <a:t>     </a:t>
            </a:r>
            <a:r>
              <a:rPr lang="en-US" altLang="zh-CN" i="1" dirty="0">
                <a:solidFill>
                  <a:srgbClr val="0000FF"/>
                </a:solidFill>
                <a:latin typeface="Menlo"/>
              </a:rPr>
              <a:t>parameter</a:t>
            </a:r>
            <a:r>
              <a:rPr lang="en-US" altLang="zh-CN" i="1" dirty="0">
                <a:latin typeface="Menlo"/>
              </a:rPr>
              <a:t> CLK_PERIOD = 10; // </a:t>
            </a:r>
            <a:r>
              <a:rPr lang="zh-CN" altLang="en-US" i="1" dirty="0">
                <a:latin typeface="Menlo"/>
              </a:rPr>
              <a:t>时钟周期 </a:t>
            </a:r>
            <a:r>
              <a:rPr lang="en-US" altLang="zh-CN" i="1" dirty="0">
                <a:latin typeface="Menlo"/>
              </a:rPr>
              <a:t>10ns</a:t>
            </a:r>
          </a:p>
          <a:p>
            <a:pPr latinLnBrk="1">
              <a:lnSpc>
                <a:spcPts val="1650"/>
              </a:lnSpc>
              <a:buNone/>
            </a:pPr>
            <a:endParaRPr lang="en-US" altLang="zh-CN" i="1" dirty="0">
              <a:latin typeface="Menlo"/>
            </a:endParaRPr>
          </a:p>
          <a:p>
            <a:pPr algn="l" latinLnBrk="1">
              <a:lnSpc>
                <a:spcPts val="1650"/>
              </a:lnSpc>
              <a:buNone/>
            </a:pPr>
            <a:r>
              <a:rPr lang="en-US" altLang="zh-CN" b="0" i="1" dirty="0">
                <a:effectLst/>
                <a:latin typeface="Menlo"/>
              </a:rPr>
              <a:t>   </a:t>
            </a:r>
            <a:r>
              <a:rPr lang="en-US" altLang="zh-CN" i="1" dirty="0">
                <a:latin typeface="Menlo"/>
              </a:rPr>
              <a:t> </a:t>
            </a:r>
            <a:r>
              <a:rPr lang="en-US" altLang="zh-CN" b="0" i="1" dirty="0">
                <a:solidFill>
                  <a:srgbClr val="0000FF"/>
                </a:solidFill>
                <a:effectLst/>
                <a:latin typeface="Menlo"/>
              </a:rPr>
              <a:t>reg</a:t>
            </a:r>
            <a:r>
              <a:rPr lang="en-US" altLang="zh-CN" b="0" i="1" dirty="0">
                <a:effectLst/>
                <a:latin typeface="Menlo"/>
              </a:rPr>
              <a:t>  [</a:t>
            </a:r>
            <a:r>
              <a:rPr lang="en-US" altLang="zh-CN" i="1" dirty="0">
                <a:latin typeface="Menlo"/>
              </a:rPr>
              <a:t>WIDTH-1:</a:t>
            </a:r>
            <a:r>
              <a:rPr lang="en-US" altLang="zh-CN" b="0" i="1" dirty="0">
                <a:effectLst/>
                <a:latin typeface="Menlo"/>
              </a:rPr>
              <a:t>0]  IN;</a:t>
            </a:r>
          </a:p>
          <a:p>
            <a:pPr latinLnBrk="1">
              <a:lnSpc>
                <a:spcPts val="1650"/>
              </a:lnSpc>
            </a:pPr>
            <a:r>
              <a:rPr lang="en-US" altLang="zh-CN" b="0" i="1" dirty="0">
                <a:effectLst/>
                <a:latin typeface="Menlo"/>
              </a:rPr>
              <a:t>    </a:t>
            </a:r>
            <a:r>
              <a:rPr lang="en-US" altLang="zh-CN" b="0" i="1" dirty="0">
                <a:solidFill>
                  <a:srgbClr val="0000FF"/>
                </a:solidFill>
                <a:effectLst/>
                <a:latin typeface="Menlo"/>
              </a:rPr>
              <a:t>reg</a:t>
            </a:r>
            <a:r>
              <a:rPr lang="en-US" altLang="zh-CN" b="0" i="1" dirty="0">
                <a:effectLst/>
                <a:latin typeface="Menlo"/>
              </a:rPr>
              <a:t>            CLOCK, </a:t>
            </a:r>
            <a:r>
              <a:rPr lang="en-US" altLang="zh-CN" i="1" dirty="0">
                <a:latin typeface="Menlo"/>
              </a:rPr>
              <a:t>SET, RESET</a:t>
            </a:r>
            <a:r>
              <a:rPr lang="en-US" altLang="zh-CN" b="0" i="1" dirty="0">
                <a:effectLst/>
                <a:latin typeface="Menlo"/>
              </a:rPr>
              <a:t>;</a:t>
            </a:r>
          </a:p>
          <a:p>
            <a:pPr latinLnBrk="1">
              <a:lnSpc>
                <a:spcPts val="1650"/>
              </a:lnSpc>
            </a:pPr>
            <a:r>
              <a:rPr lang="en-US" altLang="zh-CN" b="0" i="1" dirty="0">
                <a:effectLst/>
                <a:latin typeface="Menlo"/>
              </a:rPr>
              <a:t>    </a:t>
            </a:r>
            <a:r>
              <a:rPr lang="en-US" altLang="zh-CN" b="0" i="1" dirty="0">
                <a:solidFill>
                  <a:srgbClr val="0000FF"/>
                </a:solidFill>
                <a:effectLst/>
                <a:latin typeface="Menlo"/>
              </a:rPr>
              <a:t>wire</a:t>
            </a:r>
            <a:r>
              <a:rPr lang="en-US" altLang="zh-CN" b="0" i="1" dirty="0">
                <a:effectLst/>
                <a:latin typeface="Menlo"/>
              </a:rPr>
              <a:t> [</a:t>
            </a:r>
            <a:r>
              <a:rPr lang="en-US" altLang="zh-CN" i="1" dirty="0">
                <a:latin typeface="Menlo"/>
              </a:rPr>
              <a:t>WIDTH-1</a:t>
            </a:r>
            <a:r>
              <a:rPr lang="en-US" altLang="zh-CN" b="0" i="1" dirty="0">
                <a:effectLst/>
                <a:latin typeface="Menlo"/>
              </a:rPr>
              <a:t>:0] Q;</a:t>
            </a:r>
          </a:p>
          <a:p>
            <a:pPr algn="l" latinLnBrk="1">
              <a:lnSpc>
                <a:spcPts val="1650"/>
              </a:lnSpc>
              <a:buNone/>
            </a:pPr>
            <a:endParaRPr lang="en-US" altLang="zh-CN" b="0" i="1" dirty="0">
              <a:effectLst/>
              <a:latin typeface="Menlo"/>
            </a:endParaRPr>
          </a:p>
          <a:p>
            <a:pPr algn="l" latinLnBrk="1">
              <a:lnSpc>
                <a:spcPts val="1650"/>
              </a:lnSpc>
              <a:buNone/>
            </a:pPr>
            <a:r>
              <a:rPr lang="en-US" altLang="zh-CN" b="0" i="1" dirty="0">
                <a:effectLst/>
                <a:latin typeface="Menlo"/>
              </a:rPr>
              <a:t>    // </a:t>
            </a:r>
            <a:r>
              <a:rPr lang="zh-CN" altLang="en-US" b="0" i="1" dirty="0">
                <a:effectLst/>
                <a:latin typeface="Menlo"/>
              </a:rPr>
              <a:t>实例化待测模块</a:t>
            </a:r>
          </a:p>
          <a:p>
            <a:pPr latinLnBrk="1">
              <a:lnSpc>
                <a:spcPts val="1650"/>
              </a:lnSpc>
            </a:pPr>
            <a:r>
              <a:rPr lang="zh-CN" altLang="en-US" b="0" i="1" dirty="0">
                <a:effectLst/>
                <a:latin typeface="Menlo"/>
              </a:rPr>
              <a:t>    </a:t>
            </a:r>
            <a:r>
              <a:rPr lang="en-US" altLang="zh-CN" b="0" i="1" dirty="0">
                <a:effectLst/>
                <a:latin typeface="Menlo"/>
              </a:rPr>
              <a:t>shift </a:t>
            </a:r>
            <a:r>
              <a:rPr lang="en-US" altLang="zh-CN" b="0" i="1" dirty="0">
                <a:solidFill>
                  <a:srgbClr val="0070C0"/>
                </a:solidFill>
                <a:effectLst/>
                <a:latin typeface="Menlo"/>
              </a:rPr>
              <a:t>#</a:t>
            </a:r>
            <a:r>
              <a:rPr lang="en-US" altLang="zh-CN" b="0" i="1" dirty="0">
                <a:effectLst/>
                <a:latin typeface="Menlo"/>
              </a:rPr>
              <a:t>(.WIDTH</a:t>
            </a:r>
            <a:r>
              <a:rPr lang="en-US" altLang="zh-CN" i="1" dirty="0">
                <a:latin typeface="Menlo"/>
              </a:rPr>
              <a:t>(WIDTH</a:t>
            </a:r>
            <a:r>
              <a:rPr lang="en-US" altLang="zh-CN" b="0" i="1" dirty="0">
                <a:effectLst/>
                <a:latin typeface="Menlo"/>
              </a:rPr>
              <a:t>)) </a:t>
            </a:r>
            <a:r>
              <a:rPr lang="en-US" altLang="zh-CN" b="0" i="1" dirty="0" err="1">
                <a:effectLst/>
                <a:latin typeface="Menlo"/>
              </a:rPr>
              <a:t>uut</a:t>
            </a:r>
            <a:r>
              <a:rPr lang="en-US" altLang="zh-CN" b="0" i="1" dirty="0">
                <a:effectLst/>
                <a:latin typeface="Menlo"/>
              </a:rPr>
              <a:t> (  .q       (Q),</a:t>
            </a:r>
          </a:p>
          <a:p>
            <a:pPr algn="l" latinLnBrk="1">
              <a:lnSpc>
                <a:spcPts val="1650"/>
              </a:lnSpc>
              <a:buNone/>
            </a:pPr>
            <a:r>
              <a:rPr lang="en-US" altLang="zh-CN" b="0" i="1" dirty="0">
                <a:effectLst/>
                <a:latin typeface="Menlo"/>
              </a:rPr>
              <a:t>                                                         .in      (IN),</a:t>
            </a:r>
          </a:p>
          <a:p>
            <a:pPr latinLnBrk="1">
              <a:lnSpc>
                <a:spcPts val="1650"/>
              </a:lnSpc>
            </a:pPr>
            <a:r>
              <a:rPr lang="en-US" altLang="zh-CN" b="0" i="1" dirty="0">
                <a:effectLst/>
                <a:latin typeface="Menlo"/>
              </a:rPr>
              <a:t>                                                         .clock(</a:t>
            </a:r>
            <a:r>
              <a:rPr lang="en-US" altLang="zh-CN" i="1" dirty="0">
                <a:latin typeface="Menlo"/>
              </a:rPr>
              <a:t>CLOCK</a:t>
            </a:r>
            <a:r>
              <a:rPr lang="en-US" altLang="zh-CN" b="0" i="1" dirty="0">
                <a:effectLst/>
                <a:latin typeface="Menlo"/>
              </a:rPr>
              <a:t>),</a:t>
            </a:r>
          </a:p>
          <a:p>
            <a:pPr algn="l" latinLnBrk="1">
              <a:lnSpc>
                <a:spcPts val="1650"/>
              </a:lnSpc>
              <a:buNone/>
            </a:pPr>
            <a:r>
              <a:rPr lang="en-US" altLang="zh-CN" b="0" i="1" dirty="0">
                <a:effectLst/>
                <a:latin typeface="Menlo"/>
              </a:rPr>
              <a:t>                                                         .set    (SET),</a:t>
            </a:r>
          </a:p>
          <a:p>
            <a:pPr latinLnBrk="1">
              <a:lnSpc>
                <a:spcPts val="1650"/>
              </a:lnSpc>
            </a:pPr>
            <a:r>
              <a:rPr lang="en-US" altLang="zh-CN" b="0" i="1" dirty="0">
                <a:effectLst/>
                <a:latin typeface="Menlo"/>
              </a:rPr>
              <a:t>                                                         .reset(</a:t>
            </a:r>
            <a:r>
              <a:rPr lang="en-US" altLang="zh-CN" i="1" dirty="0">
                <a:latin typeface="Menlo"/>
              </a:rPr>
              <a:t>RESET</a:t>
            </a:r>
            <a:r>
              <a:rPr lang="en-US" altLang="zh-CN" b="0" i="1" dirty="0">
                <a:effectLst/>
                <a:latin typeface="Menlo"/>
              </a:rPr>
              <a:t>));</a:t>
            </a:r>
          </a:p>
          <a:p>
            <a:pPr algn="l" latinLnBrk="1">
              <a:lnSpc>
                <a:spcPts val="1650"/>
              </a:lnSpc>
              <a:buNone/>
            </a:pPr>
            <a:endParaRPr lang="en-US" altLang="zh-CN" b="0" i="1" dirty="0">
              <a:effectLst/>
              <a:latin typeface="Menlo"/>
            </a:endParaRPr>
          </a:p>
          <a:p>
            <a:pPr latinLnBrk="1">
              <a:lnSpc>
                <a:spcPts val="1650"/>
              </a:lnSpc>
            </a:pPr>
            <a:r>
              <a:rPr lang="en-US" altLang="zh-CN" b="0" i="1" dirty="0">
                <a:solidFill>
                  <a:srgbClr val="0000FF"/>
                </a:solidFill>
                <a:effectLst/>
                <a:latin typeface="Menlo"/>
              </a:rPr>
              <a:t>    initial</a:t>
            </a:r>
            <a:r>
              <a:rPr lang="en-US" altLang="zh-CN" b="0" i="1" dirty="0">
                <a:effectLst/>
                <a:latin typeface="Menlo"/>
              </a:rPr>
              <a:t> </a:t>
            </a:r>
            <a:r>
              <a:rPr lang="en-US" altLang="zh-CN" b="0" i="1" dirty="0">
                <a:solidFill>
                  <a:srgbClr val="0000FF"/>
                </a:solidFill>
                <a:effectLst/>
                <a:latin typeface="Menlo"/>
              </a:rPr>
              <a:t>begin   </a:t>
            </a:r>
            <a:r>
              <a:rPr lang="en-US" altLang="zh-CN" i="1" dirty="0">
                <a:latin typeface="Menlo"/>
              </a:rPr>
              <a:t> // </a:t>
            </a:r>
            <a:r>
              <a:rPr lang="zh-CN" altLang="en-US" i="1" dirty="0">
                <a:latin typeface="Menlo"/>
              </a:rPr>
              <a:t>生成时钟</a:t>
            </a:r>
            <a:endParaRPr lang="en-US" altLang="zh-CN" b="0" i="1" dirty="0">
              <a:solidFill>
                <a:srgbClr val="0000FF"/>
              </a:solidFill>
              <a:effectLst/>
              <a:latin typeface="Menlo"/>
            </a:endParaRPr>
          </a:p>
          <a:p>
            <a:pPr latinLnBrk="1">
              <a:lnSpc>
                <a:spcPts val="1650"/>
              </a:lnSpc>
            </a:pPr>
            <a:r>
              <a:rPr lang="en-US" altLang="zh-CN" b="0" i="1" dirty="0">
                <a:effectLst/>
                <a:latin typeface="Menlo"/>
              </a:rPr>
              <a:t>        </a:t>
            </a:r>
            <a:r>
              <a:rPr lang="en-US" altLang="zh-CN" i="1" dirty="0">
                <a:latin typeface="Menlo"/>
              </a:rPr>
              <a:t>CLOCK</a:t>
            </a:r>
            <a:r>
              <a:rPr lang="en-US" altLang="zh-CN" b="0" i="1" dirty="0">
                <a:effectLst/>
                <a:latin typeface="Menlo"/>
              </a:rPr>
              <a:t> = 0;</a:t>
            </a:r>
          </a:p>
          <a:p>
            <a:pPr latinLnBrk="1">
              <a:lnSpc>
                <a:spcPts val="1650"/>
              </a:lnSpc>
            </a:pPr>
            <a:r>
              <a:rPr lang="en-US" altLang="zh-CN" b="0" i="1" dirty="0">
                <a:effectLst/>
                <a:latin typeface="Menlo"/>
              </a:rPr>
              <a:t>        </a:t>
            </a:r>
            <a:r>
              <a:rPr lang="en-US" altLang="zh-CN" b="0" i="1" dirty="0">
                <a:solidFill>
                  <a:srgbClr val="0000FF"/>
                </a:solidFill>
                <a:effectLst/>
                <a:latin typeface="Menlo"/>
              </a:rPr>
              <a:t>forever</a:t>
            </a:r>
            <a:r>
              <a:rPr lang="en-US" altLang="zh-CN" b="0" i="1" dirty="0">
                <a:effectLst/>
                <a:latin typeface="Menlo"/>
              </a:rPr>
              <a:t> </a:t>
            </a:r>
            <a:r>
              <a:rPr lang="en-US" altLang="zh-CN" b="0" i="1" dirty="0">
                <a:solidFill>
                  <a:srgbClr val="0070C0"/>
                </a:solidFill>
                <a:effectLst/>
                <a:latin typeface="Menlo"/>
              </a:rPr>
              <a:t>#</a:t>
            </a:r>
            <a:r>
              <a:rPr lang="en-US" altLang="zh-CN" i="1" dirty="0"/>
              <a:t> </a:t>
            </a:r>
            <a:r>
              <a:rPr lang="en-US" altLang="zh-CN" i="1" dirty="0">
                <a:latin typeface="Menlo"/>
              </a:rPr>
              <a:t>(CLK_PERIOD/2)  CLOCK</a:t>
            </a:r>
            <a:r>
              <a:rPr lang="en-US" altLang="zh-CN" b="0" i="1" dirty="0">
                <a:effectLst/>
                <a:latin typeface="Menlo"/>
              </a:rPr>
              <a:t> = ~</a:t>
            </a:r>
            <a:r>
              <a:rPr lang="en-US" altLang="zh-CN" i="1" dirty="0">
                <a:latin typeface="Menlo"/>
              </a:rPr>
              <a:t> CLOCK</a:t>
            </a:r>
            <a:r>
              <a:rPr lang="en-US" altLang="zh-CN" b="0" i="1" dirty="0">
                <a:effectLst/>
                <a:latin typeface="Menlo"/>
              </a:rPr>
              <a:t>;</a:t>
            </a:r>
          </a:p>
          <a:p>
            <a:pPr algn="l" latinLnBrk="1">
              <a:lnSpc>
                <a:spcPts val="1650"/>
              </a:lnSpc>
              <a:buNone/>
            </a:pPr>
            <a:r>
              <a:rPr lang="en-US" altLang="zh-CN" b="0" i="1" dirty="0">
                <a:effectLst/>
                <a:latin typeface="Menlo"/>
              </a:rPr>
              <a:t>    </a:t>
            </a:r>
            <a:r>
              <a:rPr lang="en-US" altLang="zh-CN" b="0" i="1" dirty="0">
                <a:solidFill>
                  <a:srgbClr val="0000FF"/>
                </a:solidFill>
                <a:effectLst/>
                <a:latin typeface="Menlo"/>
              </a:rPr>
              <a:t>end</a:t>
            </a:r>
          </a:p>
          <a:p>
            <a:pPr algn="l" latinLnBrk="1">
              <a:lnSpc>
                <a:spcPts val="1650"/>
              </a:lnSpc>
              <a:buNone/>
            </a:pPr>
            <a:endParaRPr lang="en-US" altLang="zh-CN" b="0" dirty="0">
              <a:solidFill>
                <a:srgbClr val="0000FF"/>
              </a:solidFill>
              <a:effectLst/>
              <a:latin typeface="Menlo"/>
            </a:endParaRPr>
          </a:p>
          <a:p>
            <a:pPr latinLnBrk="1">
              <a:lnSpc>
                <a:spcPts val="1650"/>
              </a:lnSpc>
            </a:pPr>
            <a:r>
              <a:rPr lang="en-US" altLang="zh-CN" i="1" dirty="0">
                <a:solidFill>
                  <a:srgbClr val="0000FF"/>
                </a:solidFill>
                <a:latin typeface="Menlo"/>
              </a:rPr>
              <a:t>   initial</a:t>
            </a:r>
            <a:r>
              <a:rPr lang="en-US" altLang="zh-CN" i="1" dirty="0">
                <a:latin typeface="Menlo"/>
              </a:rPr>
              <a:t> </a:t>
            </a:r>
            <a:r>
              <a:rPr lang="en-US" altLang="zh-CN" i="1" dirty="0">
                <a:solidFill>
                  <a:srgbClr val="0000FF"/>
                </a:solidFill>
                <a:latin typeface="Menlo"/>
              </a:rPr>
              <a:t>begin</a:t>
            </a:r>
            <a:r>
              <a:rPr lang="en-US" altLang="zh-CN" i="1" dirty="0">
                <a:latin typeface="Menlo"/>
              </a:rPr>
              <a:t>   // </a:t>
            </a:r>
            <a:r>
              <a:rPr lang="zh-CN" altLang="en-US" i="1" dirty="0">
                <a:latin typeface="Menlo"/>
              </a:rPr>
              <a:t>测试激励</a:t>
            </a:r>
            <a:r>
              <a:rPr lang="en-US" altLang="zh-CN" i="1" dirty="0">
                <a:latin typeface="Menlo"/>
              </a:rPr>
              <a:t> </a:t>
            </a:r>
            <a:endParaRPr lang="zh-CN" altLang="en-US" i="1" dirty="0">
              <a:latin typeface="Menlo"/>
            </a:endParaRPr>
          </a:p>
          <a:p>
            <a:pPr latinLnBrk="1">
              <a:lnSpc>
                <a:spcPts val="1650"/>
              </a:lnSpc>
            </a:pPr>
            <a:r>
              <a:rPr lang="zh-CN" altLang="en-US" i="1" dirty="0">
                <a:latin typeface="Menlo"/>
              </a:rPr>
              <a:t>        </a:t>
            </a:r>
            <a:r>
              <a:rPr lang="en-US" altLang="zh-CN" i="1" dirty="0">
                <a:latin typeface="Menlo"/>
              </a:rPr>
              <a:t>IN = 0; // </a:t>
            </a:r>
            <a:r>
              <a:rPr lang="zh-CN" altLang="en-US" i="1" dirty="0">
                <a:latin typeface="Menlo"/>
              </a:rPr>
              <a:t>初始化信号</a:t>
            </a:r>
            <a:endParaRPr lang="en-US" altLang="zh-CN" i="1" dirty="0">
              <a:latin typeface="Menlo"/>
            </a:endParaRPr>
          </a:p>
          <a:p>
            <a:pPr latinLnBrk="1">
              <a:lnSpc>
                <a:spcPts val="1650"/>
              </a:lnSpc>
            </a:pPr>
            <a:r>
              <a:rPr lang="en-US" altLang="zh-CN" i="1" dirty="0">
                <a:latin typeface="Menlo"/>
              </a:rPr>
              <a:t>        SET = 0;</a:t>
            </a:r>
          </a:p>
        </p:txBody>
      </p:sp>
      <p:sp>
        <p:nvSpPr>
          <p:cNvPr id="9" name="文本框 8">
            <a:extLst>
              <a:ext uri="{FF2B5EF4-FFF2-40B4-BE49-F238E27FC236}">
                <a16:creationId xmlns:a16="http://schemas.microsoft.com/office/drawing/2014/main" id="{3390C7AD-AC12-44BD-9AF3-EF96CBC9BC63}"/>
              </a:ext>
            </a:extLst>
          </p:cNvPr>
          <p:cNvSpPr txBox="1"/>
          <p:nvPr/>
        </p:nvSpPr>
        <p:spPr>
          <a:xfrm>
            <a:off x="5899582" y="539273"/>
            <a:ext cx="5567335" cy="5766963"/>
          </a:xfrm>
          <a:prstGeom prst="rect">
            <a:avLst/>
          </a:prstGeom>
          <a:noFill/>
          <a:ln w="12700">
            <a:solidFill>
              <a:schemeClr val="tx1"/>
            </a:solidFill>
            <a:prstDash val="dash"/>
          </a:ln>
        </p:spPr>
        <p:txBody>
          <a:bodyPr wrap="square">
            <a:spAutoFit/>
          </a:bodyPr>
          <a:lstStyle/>
          <a:p>
            <a:pPr latinLnBrk="1">
              <a:lnSpc>
                <a:spcPts val="1650"/>
              </a:lnSpc>
            </a:pPr>
            <a:r>
              <a:rPr lang="en-US" altLang="zh-CN" i="1" dirty="0">
                <a:latin typeface="Menlo"/>
              </a:rPr>
              <a:t>        </a:t>
            </a:r>
            <a:endParaRPr lang="en-US" altLang="zh-CN" b="0" i="1" dirty="0">
              <a:effectLst/>
              <a:latin typeface="Menlo"/>
            </a:endParaRPr>
          </a:p>
          <a:p>
            <a:pPr algn="l" latinLnBrk="1">
              <a:lnSpc>
                <a:spcPts val="1650"/>
              </a:lnSpc>
              <a:buNone/>
            </a:pPr>
            <a:r>
              <a:rPr lang="en-US" altLang="zh-CN" i="1" dirty="0">
                <a:latin typeface="Menlo"/>
              </a:rPr>
              <a:t>        </a:t>
            </a:r>
            <a:r>
              <a:rPr lang="en-US" altLang="zh-CN" b="0" i="1" dirty="0">
                <a:effectLst/>
                <a:latin typeface="Menlo"/>
              </a:rPr>
              <a:t>// 1. </a:t>
            </a:r>
            <a:r>
              <a:rPr lang="zh-CN" altLang="en-US" i="1" dirty="0">
                <a:latin typeface="Menlo"/>
              </a:rPr>
              <a:t>测试</a:t>
            </a:r>
            <a:r>
              <a:rPr lang="zh-CN" altLang="en-US" b="0" i="1" dirty="0">
                <a:effectLst/>
                <a:latin typeface="Menlo"/>
              </a:rPr>
              <a:t>异步复位</a:t>
            </a:r>
          </a:p>
          <a:p>
            <a:pPr latinLnBrk="1">
              <a:lnSpc>
                <a:spcPts val="1650"/>
              </a:lnSpc>
            </a:pPr>
            <a:r>
              <a:rPr lang="zh-CN" altLang="en-US" b="0" i="1" dirty="0">
                <a:effectLst/>
                <a:latin typeface="Menlo"/>
              </a:rPr>
              <a:t>       </a:t>
            </a:r>
            <a:r>
              <a:rPr lang="en-US" altLang="zh-CN" i="1" dirty="0">
                <a:latin typeface="Menlo"/>
              </a:rPr>
              <a:t>RESET</a:t>
            </a:r>
            <a:r>
              <a:rPr lang="en-US" altLang="zh-CN" b="0" i="1" dirty="0">
                <a:effectLst/>
                <a:latin typeface="Menlo"/>
              </a:rPr>
              <a:t> = 0; </a:t>
            </a:r>
          </a:p>
          <a:p>
            <a:pPr latinLnBrk="1">
              <a:lnSpc>
                <a:spcPts val="1650"/>
              </a:lnSpc>
            </a:pPr>
            <a:r>
              <a:rPr lang="en-US" altLang="zh-CN" i="1" dirty="0">
                <a:solidFill>
                  <a:srgbClr val="0070C0"/>
                </a:solidFill>
                <a:latin typeface="Menlo"/>
              </a:rPr>
              <a:t>      #</a:t>
            </a:r>
            <a:r>
              <a:rPr lang="en-US" altLang="zh-CN" i="1" dirty="0">
                <a:latin typeface="Menlo"/>
              </a:rPr>
              <a:t>20 </a:t>
            </a:r>
            <a:r>
              <a:rPr lang="en-US" altLang="zh-CN" b="0" i="1" dirty="0">
                <a:effectLst/>
                <a:latin typeface="Menlo"/>
              </a:rPr>
              <a:t>reset = 1;  //</a:t>
            </a:r>
            <a:r>
              <a:rPr lang="zh-CN" altLang="en-US" i="1" dirty="0">
                <a:latin typeface="Menlo"/>
              </a:rPr>
              <a:t>保持复位 </a:t>
            </a:r>
            <a:r>
              <a:rPr lang="en-US" altLang="zh-CN" i="1" dirty="0">
                <a:latin typeface="Menlo"/>
              </a:rPr>
              <a:t>20ns, </a:t>
            </a:r>
            <a:r>
              <a:rPr lang="zh-CN" altLang="en-US" b="0" i="1" dirty="0">
                <a:effectLst/>
                <a:latin typeface="Menlo"/>
              </a:rPr>
              <a:t>释放复位</a:t>
            </a:r>
            <a:endParaRPr lang="en-US" altLang="zh-CN" i="1" dirty="0">
              <a:latin typeface="Menlo"/>
            </a:endParaRPr>
          </a:p>
          <a:p>
            <a:pPr latinLnBrk="1">
              <a:lnSpc>
                <a:spcPts val="1650"/>
              </a:lnSpc>
            </a:pPr>
            <a:endParaRPr lang="zh-CN" altLang="en-US" b="0" i="1" dirty="0">
              <a:effectLst/>
              <a:latin typeface="Menlo"/>
            </a:endParaRPr>
          </a:p>
          <a:p>
            <a:pPr algn="l" latinLnBrk="1">
              <a:lnSpc>
                <a:spcPts val="1650"/>
              </a:lnSpc>
              <a:buNone/>
            </a:pPr>
            <a:r>
              <a:rPr lang="zh-CN" altLang="en-US" b="0" i="1" dirty="0">
                <a:effectLst/>
                <a:latin typeface="Menlo"/>
              </a:rPr>
              <a:t>        </a:t>
            </a:r>
            <a:r>
              <a:rPr lang="en-US" altLang="zh-CN" b="0" i="1" dirty="0">
                <a:effectLst/>
                <a:latin typeface="Menlo"/>
              </a:rPr>
              <a:t>// 2. </a:t>
            </a:r>
            <a:r>
              <a:rPr lang="zh-CN" altLang="en-US" b="0" i="1" dirty="0">
                <a:effectLst/>
                <a:latin typeface="Menlo"/>
              </a:rPr>
              <a:t>测试 </a:t>
            </a:r>
            <a:r>
              <a:rPr lang="en-US" altLang="zh-CN" b="0" i="1" dirty="0">
                <a:effectLst/>
                <a:latin typeface="Menlo"/>
              </a:rPr>
              <a:t>set </a:t>
            </a:r>
            <a:r>
              <a:rPr lang="zh-CN" altLang="en-US" b="0" i="1" dirty="0">
                <a:effectLst/>
                <a:latin typeface="Menlo"/>
              </a:rPr>
              <a:t>加载功能</a:t>
            </a:r>
            <a:endParaRPr lang="en-US" altLang="zh-CN" b="0" i="1" dirty="0">
              <a:effectLst/>
              <a:latin typeface="Menlo"/>
            </a:endParaRPr>
          </a:p>
          <a:p>
            <a:pPr latinLnBrk="1">
              <a:lnSpc>
                <a:spcPts val="1650"/>
              </a:lnSpc>
            </a:pPr>
            <a:r>
              <a:rPr lang="en-US" altLang="zh-CN" b="0" i="1" dirty="0">
                <a:effectLst/>
                <a:latin typeface="Menlo"/>
              </a:rPr>
              <a:t>        </a:t>
            </a:r>
            <a:r>
              <a:rPr lang="en-US" altLang="zh-CN" i="1" dirty="0">
                <a:latin typeface="Menlo"/>
              </a:rPr>
              <a:t>IN</a:t>
            </a:r>
            <a:r>
              <a:rPr lang="en-US" altLang="zh-CN" b="0" i="1" dirty="0">
                <a:effectLst/>
                <a:latin typeface="Menlo"/>
              </a:rPr>
              <a:t> = 8'hA5;</a:t>
            </a:r>
          </a:p>
          <a:p>
            <a:pPr latinLnBrk="1">
              <a:lnSpc>
                <a:spcPts val="1650"/>
              </a:lnSpc>
            </a:pPr>
            <a:r>
              <a:rPr lang="en-US" altLang="zh-CN" b="0" i="1" dirty="0">
                <a:effectLst/>
                <a:latin typeface="Menlo"/>
              </a:rPr>
              <a:t>        </a:t>
            </a:r>
            <a:r>
              <a:rPr lang="en-US" altLang="zh-CN" i="1" dirty="0">
                <a:latin typeface="Menlo"/>
              </a:rPr>
              <a:t>SET</a:t>
            </a:r>
            <a:r>
              <a:rPr lang="en-US" altLang="zh-CN" b="0" i="1" dirty="0">
                <a:effectLst/>
                <a:latin typeface="Menlo"/>
              </a:rPr>
              <a:t> = 1;</a:t>
            </a:r>
          </a:p>
          <a:p>
            <a:pPr algn="l" latinLnBrk="1">
              <a:lnSpc>
                <a:spcPts val="1650"/>
              </a:lnSpc>
              <a:buNone/>
            </a:pPr>
            <a:r>
              <a:rPr lang="en-US" altLang="zh-CN" b="0" i="1" dirty="0">
                <a:effectLst/>
                <a:latin typeface="Menlo"/>
              </a:rPr>
              <a:t>        </a:t>
            </a:r>
            <a:r>
              <a:rPr lang="en-US" altLang="zh-CN" b="0" i="1" dirty="0">
                <a:solidFill>
                  <a:srgbClr val="0070C0"/>
                </a:solidFill>
                <a:effectLst/>
                <a:latin typeface="Menlo"/>
              </a:rPr>
              <a:t>@</a:t>
            </a:r>
            <a:r>
              <a:rPr lang="en-US" altLang="zh-CN" b="0" i="1" dirty="0">
                <a:effectLst/>
                <a:latin typeface="Menlo"/>
              </a:rPr>
              <a:t>(</a:t>
            </a:r>
            <a:r>
              <a:rPr lang="en-US" altLang="zh-CN" b="0" i="1" dirty="0">
                <a:solidFill>
                  <a:srgbClr val="0000FF"/>
                </a:solidFill>
                <a:effectLst/>
                <a:latin typeface="Menlo"/>
              </a:rPr>
              <a:t>posedge</a:t>
            </a:r>
            <a:r>
              <a:rPr lang="en-US" altLang="zh-CN" b="0" i="1" dirty="0">
                <a:effectLst/>
                <a:latin typeface="Menlo"/>
              </a:rPr>
              <a:t> clock); // </a:t>
            </a:r>
            <a:r>
              <a:rPr lang="zh-CN" altLang="en-US" b="0" i="1" dirty="0">
                <a:effectLst/>
                <a:latin typeface="Menlo"/>
              </a:rPr>
              <a:t>等待时钟上升沿</a:t>
            </a:r>
          </a:p>
          <a:p>
            <a:pPr latinLnBrk="1">
              <a:lnSpc>
                <a:spcPts val="1650"/>
              </a:lnSpc>
            </a:pPr>
            <a:r>
              <a:rPr lang="zh-CN" altLang="en-US" b="0" i="1" dirty="0">
                <a:effectLst/>
                <a:latin typeface="Menlo"/>
              </a:rPr>
              <a:t>         </a:t>
            </a:r>
            <a:r>
              <a:rPr lang="en-US" altLang="zh-CN" i="1" dirty="0">
                <a:solidFill>
                  <a:srgbClr val="0070C0"/>
                </a:solidFill>
                <a:latin typeface="Menlo"/>
              </a:rPr>
              <a:t>#</a:t>
            </a:r>
            <a:r>
              <a:rPr lang="en-US" altLang="zh-CN" i="1" dirty="0">
                <a:latin typeface="Menlo"/>
              </a:rPr>
              <a:t>1 SET</a:t>
            </a:r>
            <a:r>
              <a:rPr lang="en-US" altLang="zh-CN" b="0" i="1" dirty="0">
                <a:effectLst/>
                <a:latin typeface="Menlo"/>
              </a:rPr>
              <a:t> = 0;   </a:t>
            </a:r>
            <a:r>
              <a:rPr lang="en-US" altLang="zh-CN" i="1" dirty="0">
                <a:latin typeface="Menlo"/>
              </a:rPr>
              <a:t>// </a:t>
            </a:r>
            <a:r>
              <a:rPr lang="zh-CN" altLang="en-US" i="1" dirty="0">
                <a:latin typeface="Menlo"/>
              </a:rPr>
              <a:t>此时 </a:t>
            </a:r>
            <a:r>
              <a:rPr lang="en-US" altLang="zh-CN" i="1" dirty="0">
                <a:latin typeface="Menlo"/>
              </a:rPr>
              <a:t>q </a:t>
            </a:r>
            <a:r>
              <a:rPr lang="zh-CN" altLang="en-US" i="1" dirty="0">
                <a:latin typeface="Menlo"/>
              </a:rPr>
              <a:t>应变为 </a:t>
            </a:r>
            <a:r>
              <a:rPr lang="en-US" altLang="zh-CN" i="1" dirty="0">
                <a:latin typeface="Menlo"/>
              </a:rPr>
              <a:t>0xA5</a:t>
            </a:r>
            <a:endParaRPr lang="en-US" altLang="zh-CN" b="0" i="1" dirty="0">
              <a:effectLst/>
              <a:latin typeface="Menlo"/>
            </a:endParaRPr>
          </a:p>
          <a:p>
            <a:pPr algn="l" latinLnBrk="1">
              <a:lnSpc>
                <a:spcPts val="1650"/>
              </a:lnSpc>
              <a:buNone/>
            </a:pPr>
            <a:endParaRPr lang="en-US" altLang="zh-CN" b="0" i="1" dirty="0">
              <a:effectLst/>
              <a:latin typeface="Menlo"/>
            </a:endParaRPr>
          </a:p>
          <a:p>
            <a:pPr algn="l" latinLnBrk="1">
              <a:lnSpc>
                <a:spcPts val="1650"/>
              </a:lnSpc>
              <a:buNone/>
            </a:pPr>
            <a:r>
              <a:rPr lang="en-US" altLang="zh-CN" b="0" i="1" dirty="0">
                <a:effectLst/>
                <a:latin typeface="Menlo"/>
              </a:rPr>
              <a:t>        // 3. </a:t>
            </a:r>
            <a:r>
              <a:rPr lang="zh-CN" altLang="en-US" b="0" i="1" dirty="0">
                <a:effectLst/>
                <a:latin typeface="Menlo"/>
              </a:rPr>
              <a:t>连续执行</a:t>
            </a:r>
            <a:r>
              <a:rPr lang="zh-CN" altLang="en-US" i="1" dirty="0">
                <a:latin typeface="Menlo"/>
              </a:rPr>
              <a:t>多</a:t>
            </a:r>
            <a:r>
              <a:rPr lang="zh-CN" altLang="en-US" b="0" i="1" dirty="0">
                <a:effectLst/>
                <a:latin typeface="Menlo"/>
              </a:rPr>
              <a:t>次循环右移，观察结果</a:t>
            </a:r>
          </a:p>
          <a:p>
            <a:pPr algn="l" latinLnBrk="1">
              <a:lnSpc>
                <a:spcPts val="1650"/>
              </a:lnSpc>
              <a:buNone/>
            </a:pPr>
            <a:r>
              <a:rPr lang="en-US" altLang="zh-CN" b="0" i="1" dirty="0">
                <a:effectLst/>
                <a:latin typeface="Menlo"/>
              </a:rPr>
              <a:t>        </a:t>
            </a:r>
            <a:r>
              <a:rPr lang="en-US" altLang="zh-CN" b="0" i="1" dirty="0">
                <a:solidFill>
                  <a:srgbClr val="0070C0"/>
                </a:solidFill>
                <a:effectLst/>
                <a:latin typeface="Menlo"/>
              </a:rPr>
              <a:t>#</a:t>
            </a:r>
            <a:r>
              <a:rPr lang="en-US" altLang="zh-CN" b="0" i="1" dirty="0">
                <a:effectLst/>
                <a:latin typeface="Menlo"/>
              </a:rPr>
              <a:t>100;</a:t>
            </a:r>
          </a:p>
          <a:p>
            <a:pPr algn="l" latinLnBrk="1">
              <a:lnSpc>
                <a:spcPts val="1650"/>
              </a:lnSpc>
              <a:buNone/>
            </a:pPr>
            <a:endParaRPr lang="en-US" altLang="zh-CN" b="0" i="1" dirty="0">
              <a:effectLst/>
              <a:latin typeface="Menlo"/>
            </a:endParaRPr>
          </a:p>
          <a:p>
            <a:pPr algn="l" latinLnBrk="1">
              <a:lnSpc>
                <a:spcPts val="1650"/>
              </a:lnSpc>
              <a:buNone/>
            </a:pPr>
            <a:r>
              <a:rPr lang="en-US" altLang="zh-CN" i="1" dirty="0">
                <a:latin typeface="Menlo"/>
              </a:rPr>
              <a:t>        </a:t>
            </a:r>
            <a:r>
              <a:rPr lang="en-US" altLang="zh-CN" i="1" dirty="0">
                <a:solidFill>
                  <a:srgbClr val="0000FF"/>
                </a:solidFill>
                <a:latin typeface="Menlo"/>
              </a:rPr>
              <a:t>$stop;  </a:t>
            </a:r>
            <a:r>
              <a:rPr lang="en-US" altLang="zh-CN" i="1" dirty="0">
                <a:latin typeface="Menlo"/>
              </a:rPr>
              <a:t>//</a:t>
            </a:r>
            <a:r>
              <a:rPr lang="zh-CN" altLang="en-US" i="1" dirty="0">
                <a:latin typeface="Menlo"/>
              </a:rPr>
              <a:t>暂停仿真</a:t>
            </a:r>
            <a:endParaRPr lang="en-US" altLang="zh-CN" b="0" i="1" dirty="0">
              <a:effectLst/>
              <a:latin typeface="Menlo"/>
            </a:endParaRPr>
          </a:p>
          <a:p>
            <a:pPr algn="l" latinLnBrk="1">
              <a:lnSpc>
                <a:spcPts val="1650"/>
              </a:lnSpc>
              <a:buNone/>
            </a:pPr>
            <a:r>
              <a:rPr lang="en-US" altLang="zh-CN" b="0" i="1" dirty="0">
                <a:effectLst/>
                <a:latin typeface="Menlo"/>
              </a:rPr>
              <a:t>        </a:t>
            </a:r>
            <a:r>
              <a:rPr lang="en-US" altLang="zh-CN" b="0" i="1" dirty="0">
                <a:solidFill>
                  <a:srgbClr val="0000FF"/>
                </a:solidFill>
                <a:effectLst/>
                <a:latin typeface="Menlo"/>
              </a:rPr>
              <a:t>end</a:t>
            </a:r>
          </a:p>
          <a:p>
            <a:pPr algn="l" latinLnBrk="1">
              <a:lnSpc>
                <a:spcPts val="1650"/>
              </a:lnSpc>
              <a:buNone/>
            </a:pPr>
            <a:endParaRPr lang="en-US" altLang="zh-CN" b="0" i="1" dirty="0">
              <a:solidFill>
                <a:srgbClr val="0000FF"/>
              </a:solidFill>
              <a:effectLst/>
              <a:latin typeface="Menlo"/>
            </a:endParaRPr>
          </a:p>
          <a:p>
            <a:pPr algn="l" latinLnBrk="1">
              <a:lnSpc>
                <a:spcPts val="1650"/>
              </a:lnSpc>
              <a:buNone/>
            </a:pPr>
            <a:r>
              <a:rPr lang="en-US" altLang="zh-CN" b="0" i="1" dirty="0">
                <a:effectLst/>
                <a:latin typeface="Menlo"/>
              </a:rPr>
              <a:t>    // </a:t>
            </a:r>
            <a:r>
              <a:rPr lang="zh-CN" altLang="en-US" b="0" i="1" dirty="0">
                <a:effectLst/>
                <a:latin typeface="Menlo"/>
              </a:rPr>
              <a:t>只要检测信号有变化，就会打印一次</a:t>
            </a:r>
            <a:endParaRPr lang="en-US" altLang="zh-CN" b="0" i="1" dirty="0">
              <a:effectLst/>
              <a:latin typeface="Menlo"/>
            </a:endParaRPr>
          </a:p>
          <a:p>
            <a:pPr algn="l" latinLnBrk="1">
              <a:lnSpc>
                <a:spcPts val="1650"/>
              </a:lnSpc>
              <a:buNone/>
            </a:pPr>
            <a:r>
              <a:rPr lang="zh-CN" altLang="en-US" b="0" i="1" dirty="0">
                <a:solidFill>
                  <a:srgbClr val="0000FF"/>
                </a:solidFill>
                <a:effectLst/>
                <a:latin typeface="Menlo"/>
              </a:rPr>
              <a:t>    </a:t>
            </a:r>
            <a:r>
              <a:rPr lang="en-US" altLang="zh-CN" b="0" i="1" dirty="0">
                <a:solidFill>
                  <a:srgbClr val="0000FF"/>
                </a:solidFill>
                <a:effectLst/>
                <a:latin typeface="Menlo"/>
              </a:rPr>
              <a:t>initial</a:t>
            </a:r>
          </a:p>
          <a:p>
            <a:pPr latinLnBrk="1">
              <a:lnSpc>
                <a:spcPts val="1650"/>
              </a:lnSpc>
            </a:pPr>
            <a:r>
              <a:rPr lang="en-US" altLang="zh-CN" b="0" i="1" dirty="0">
                <a:effectLst/>
                <a:latin typeface="Menlo"/>
              </a:rPr>
              <a:t>        </a:t>
            </a:r>
            <a:r>
              <a:rPr lang="en-US" altLang="zh-CN" b="0" i="1" dirty="0">
                <a:solidFill>
                  <a:srgbClr val="0000FF"/>
                </a:solidFill>
                <a:effectLst/>
                <a:latin typeface="Menlo"/>
              </a:rPr>
              <a:t>$monitor</a:t>
            </a:r>
            <a:r>
              <a:rPr lang="en-US" altLang="zh-CN" b="0" i="1" dirty="0">
                <a:effectLst/>
                <a:latin typeface="Menlo"/>
              </a:rPr>
              <a:t>("Time = %0t, reset=%b, </a:t>
            </a:r>
            <a:r>
              <a:rPr lang="en-US" altLang="zh-CN" i="1" dirty="0">
                <a:latin typeface="Menlo"/>
              </a:rPr>
              <a:t>SET </a:t>
            </a:r>
            <a:r>
              <a:rPr lang="en-US" altLang="zh-CN" b="0" i="1" dirty="0">
                <a:effectLst/>
                <a:latin typeface="Menlo"/>
              </a:rPr>
              <a:t>=%b, </a:t>
            </a:r>
            <a:r>
              <a:rPr lang="en-US" altLang="zh-CN" i="1" dirty="0">
                <a:latin typeface="Menlo"/>
              </a:rPr>
              <a:t>IN </a:t>
            </a:r>
            <a:r>
              <a:rPr lang="en-US" altLang="zh-CN" b="0" i="1" dirty="0">
                <a:effectLst/>
                <a:latin typeface="Menlo"/>
              </a:rPr>
              <a:t>=%h, </a:t>
            </a:r>
            <a:r>
              <a:rPr lang="en-US" altLang="zh-CN" i="1" dirty="0">
                <a:latin typeface="Menlo"/>
              </a:rPr>
              <a:t>Q </a:t>
            </a:r>
            <a:r>
              <a:rPr lang="en-US" altLang="zh-CN" b="0" i="1" dirty="0">
                <a:effectLst/>
                <a:latin typeface="Menlo"/>
              </a:rPr>
              <a:t>=%h", $time, reset, </a:t>
            </a:r>
            <a:r>
              <a:rPr lang="en-US" altLang="zh-CN" i="1" dirty="0">
                <a:latin typeface="Menlo"/>
              </a:rPr>
              <a:t>SET</a:t>
            </a:r>
            <a:r>
              <a:rPr lang="en-US" altLang="zh-CN" b="0" i="1" dirty="0">
                <a:effectLst/>
                <a:latin typeface="Menlo"/>
              </a:rPr>
              <a:t>, </a:t>
            </a:r>
            <a:r>
              <a:rPr lang="en-US" altLang="zh-CN" i="1" dirty="0">
                <a:latin typeface="Menlo"/>
              </a:rPr>
              <a:t>IN</a:t>
            </a:r>
            <a:r>
              <a:rPr lang="en-US" altLang="zh-CN" b="0" i="1" dirty="0">
                <a:effectLst/>
                <a:latin typeface="Menlo"/>
              </a:rPr>
              <a:t>, </a:t>
            </a:r>
            <a:r>
              <a:rPr lang="en-US" altLang="zh-CN" i="1" dirty="0">
                <a:latin typeface="Menlo"/>
              </a:rPr>
              <a:t>Q</a:t>
            </a:r>
            <a:r>
              <a:rPr lang="en-US" altLang="zh-CN" b="0" i="1" dirty="0">
                <a:effectLst/>
                <a:latin typeface="Menlo"/>
              </a:rPr>
              <a:t>);</a:t>
            </a:r>
          </a:p>
          <a:p>
            <a:pPr latinLnBrk="1">
              <a:lnSpc>
                <a:spcPts val="1650"/>
              </a:lnSpc>
            </a:pPr>
            <a:endParaRPr lang="en-US" altLang="zh-CN" b="0" i="1" dirty="0">
              <a:effectLst/>
              <a:latin typeface="Menlo"/>
            </a:endParaRPr>
          </a:p>
          <a:p>
            <a:pPr algn="l" latinLnBrk="1">
              <a:lnSpc>
                <a:spcPts val="1650"/>
              </a:lnSpc>
              <a:buNone/>
            </a:pPr>
            <a:endParaRPr lang="en-US" altLang="zh-CN" b="0" i="1" dirty="0">
              <a:effectLst/>
              <a:latin typeface="Menlo"/>
            </a:endParaRPr>
          </a:p>
          <a:p>
            <a:pPr algn="l" latinLnBrk="1">
              <a:lnSpc>
                <a:spcPts val="1650"/>
              </a:lnSpc>
              <a:buNone/>
            </a:pPr>
            <a:r>
              <a:rPr lang="en-US" altLang="zh-CN" b="0" i="1" dirty="0">
                <a:solidFill>
                  <a:srgbClr val="0000FF"/>
                </a:solidFill>
                <a:effectLst/>
                <a:latin typeface="Menlo"/>
              </a:rPr>
              <a:t>    </a:t>
            </a:r>
            <a:r>
              <a:rPr lang="en-US" altLang="zh-CN" b="0" i="1" dirty="0" err="1">
                <a:solidFill>
                  <a:srgbClr val="0000FF"/>
                </a:solidFill>
                <a:effectLst/>
                <a:latin typeface="Menlo"/>
              </a:rPr>
              <a:t>endmodule</a:t>
            </a:r>
            <a:endParaRPr lang="en-US" altLang="zh-CN" b="0" i="1" dirty="0">
              <a:solidFill>
                <a:srgbClr val="0000FF"/>
              </a:solidFill>
              <a:effectLst/>
              <a:latin typeface="Menlo"/>
            </a:endParaRPr>
          </a:p>
          <a:p>
            <a:pPr algn="l" latinLnBrk="1">
              <a:lnSpc>
                <a:spcPts val="1650"/>
              </a:lnSpc>
              <a:buNone/>
            </a:pPr>
            <a:endParaRPr lang="en-US" altLang="zh-CN" i="1" dirty="0">
              <a:solidFill>
                <a:srgbClr val="0000FF"/>
              </a:solidFill>
              <a:latin typeface="Menlo"/>
            </a:endParaRPr>
          </a:p>
          <a:p>
            <a:pPr algn="l" latinLnBrk="1">
              <a:lnSpc>
                <a:spcPts val="1650"/>
              </a:lnSpc>
              <a:buNone/>
            </a:pPr>
            <a:endParaRPr lang="en-US" altLang="zh-CN" b="0" i="1" dirty="0">
              <a:solidFill>
                <a:srgbClr val="0000FF"/>
              </a:solidFill>
              <a:effectLst/>
              <a:latin typeface="Menlo"/>
            </a:endParaRPr>
          </a:p>
        </p:txBody>
      </p:sp>
    </p:spTree>
    <p:extLst>
      <p:ext uri="{BB962C8B-B14F-4D97-AF65-F5344CB8AC3E}">
        <p14:creationId xmlns:p14="http://schemas.microsoft.com/office/powerpoint/2010/main" val="40080476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7D405C-99AA-E5A0-C84B-AD0E98CA4D0C}"/>
              </a:ext>
            </a:extLst>
          </p:cNvPr>
          <p:cNvSpPr>
            <a:spLocks noGrp="1"/>
          </p:cNvSpPr>
          <p:nvPr>
            <p:ph type="title"/>
          </p:nvPr>
        </p:nvSpPr>
        <p:spPr>
          <a:xfrm>
            <a:off x="677333" y="314947"/>
            <a:ext cx="8596668" cy="1003379"/>
          </a:xfrm>
        </p:spPr>
        <p:txBody>
          <a:bodyPr/>
          <a:lstStyle/>
          <a:p>
            <a:r>
              <a:rPr lang="en-US" altLang="zh-CN" b="1" dirty="0"/>
              <a:t>3.3  </a:t>
            </a:r>
            <a:r>
              <a:rPr lang="zh-CN" altLang="en-US" b="1" dirty="0"/>
              <a:t>层次化设计</a:t>
            </a:r>
          </a:p>
        </p:txBody>
      </p:sp>
      <p:sp>
        <p:nvSpPr>
          <p:cNvPr id="3" name="内容占位符 2">
            <a:extLst>
              <a:ext uri="{FF2B5EF4-FFF2-40B4-BE49-F238E27FC236}">
                <a16:creationId xmlns:a16="http://schemas.microsoft.com/office/drawing/2014/main" id="{FA0FD2D2-DDFA-22FB-2615-907F638A677A}"/>
              </a:ext>
            </a:extLst>
          </p:cNvPr>
          <p:cNvSpPr>
            <a:spLocks noGrp="1"/>
          </p:cNvSpPr>
          <p:nvPr>
            <p:ph idx="1"/>
          </p:nvPr>
        </p:nvSpPr>
        <p:spPr>
          <a:xfrm>
            <a:off x="677333" y="1232452"/>
            <a:ext cx="10744147" cy="4808911"/>
          </a:xfrm>
        </p:spPr>
        <p:txBody>
          <a:bodyPr>
            <a:normAutofit/>
          </a:bodyPr>
          <a:lstStyle/>
          <a:p>
            <a:r>
              <a:rPr lang="zh-CN" altLang="en-US" sz="2800" dirty="0"/>
              <a:t>设计：先根据要求定义顶层模块功能，再</a:t>
            </a:r>
            <a:r>
              <a:rPr lang="zh-CN" altLang="en-US" sz="2800" dirty="0">
                <a:solidFill>
                  <a:srgbClr val="FF0000"/>
                </a:solidFill>
              </a:rPr>
              <a:t>自顶向下</a:t>
            </a:r>
            <a:r>
              <a:rPr lang="zh-CN" altLang="en-US" sz="2800" dirty="0"/>
              <a:t>把复杂功能</a:t>
            </a:r>
            <a:r>
              <a:rPr lang="zh-CN" altLang="en-US" sz="2800" dirty="0">
                <a:solidFill>
                  <a:srgbClr val="FF0000"/>
                </a:solidFill>
              </a:rPr>
              <a:t>分解</a:t>
            </a:r>
            <a:r>
              <a:rPr lang="zh-CN" altLang="en-US" sz="2800" dirty="0"/>
              <a:t>成简单的功能，直到很容易实现。</a:t>
            </a:r>
            <a:endParaRPr lang="en-US" altLang="zh-CN" sz="2800" dirty="0"/>
          </a:p>
          <a:p>
            <a:r>
              <a:rPr lang="zh-CN" altLang="en-US" sz="2800" dirty="0"/>
              <a:t>实现：先实现简单的功能</a:t>
            </a:r>
            <a:r>
              <a:rPr lang="en-US" altLang="zh-CN" sz="2800" dirty="0"/>
              <a:t>(</a:t>
            </a:r>
            <a:r>
              <a:rPr lang="zh-CN" altLang="en-US" sz="2800" dirty="0"/>
              <a:t>叶子模块</a:t>
            </a:r>
            <a:r>
              <a:rPr lang="en-US" altLang="zh-CN" sz="2800" dirty="0"/>
              <a:t>)</a:t>
            </a:r>
            <a:r>
              <a:rPr lang="zh-CN" altLang="en-US" sz="2800" dirty="0"/>
              <a:t>，再</a:t>
            </a:r>
            <a:r>
              <a:rPr lang="zh-CN" altLang="en-US" sz="2800" dirty="0">
                <a:solidFill>
                  <a:srgbClr val="FF0000"/>
                </a:solidFill>
              </a:rPr>
              <a:t>自底向上</a:t>
            </a:r>
            <a:r>
              <a:rPr lang="zh-CN" altLang="en-US" sz="2800" dirty="0"/>
              <a:t>用简单的</a:t>
            </a:r>
            <a:r>
              <a:rPr lang="zh-CN" altLang="en-US" sz="2800" dirty="0">
                <a:solidFill>
                  <a:srgbClr val="FF0000"/>
                </a:solidFill>
              </a:rPr>
              <a:t>功能组合</a:t>
            </a:r>
            <a:r>
              <a:rPr lang="zh-CN" altLang="en-US" sz="2800" dirty="0"/>
              <a:t>起来实现复杂的功能。</a:t>
            </a:r>
          </a:p>
        </p:txBody>
      </p:sp>
      <p:pic>
        <p:nvPicPr>
          <p:cNvPr id="5" name="图片 4">
            <a:extLst>
              <a:ext uri="{FF2B5EF4-FFF2-40B4-BE49-F238E27FC236}">
                <a16:creationId xmlns:a16="http://schemas.microsoft.com/office/drawing/2014/main" id="{3804C1AA-500F-FE7A-8171-0FD65A869B04}"/>
              </a:ext>
            </a:extLst>
          </p:cNvPr>
          <p:cNvPicPr>
            <a:picLocks noChangeAspect="1"/>
          </p:cNvPicPr>
          <p:nvPr/>
        </p:nvPicPr>
        <p:blipFill>
          <a:blip r:embed="rId2"/>
          <a:stretch>
            <a:fillRect/>
          </a:stretch>
        </p:blipFill>
        <p:spPr>
          <a:xfrm>
            <a:off x="1138453" y="2962051"/>
            <a:ext cx="10233145" cy="3536247"/>
          </a:xfrm>
          <a:prstGeom prst="rect">
            <a:avLst/>
          </a:prstGeom>
        </p:spPr>
      </p:pic>
    </p:spTree>
    <p:extLst>
      <p:ext uri="{BB962C8B-B14F-4D97-AF65-F5344CB8AC3E}">
        <p14:creationId xmlns:p14="http://schemas.microsoft.com/office/powerpoint/2010/main" val="31670491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4CDABF-9200-4D76-B8F5-743C6ED6346C}"/>
              </a:ext>
            </a:extLst>
          </p:cNvPr>
          <p:cNvSpPr>
            <a:spLocks noGrp="1"/>
          </p:cNvSpPr>
          <p:nvPr>
            <p:ph type="title"/>
          </p:nvPr>
        </p:nvSpPr>
        <p:spPr>
          <a:xfrm>
            <a:off x="838200" y="365126"/>
            <a:ext cx="10515600" cy="1303306"/>
          </a:xfrm>
        </p:spPr>
        <p:txBody>
          <a:bodyPr>
            <a:normAutofit/>
          </a:bodyPr>
          <a:lstStyle/>
          <a:p>
            <a:r>
              <a:rPr lang="zh-CN" altLang="en-US" b="1" dirty="0"/>
              <a:t>举例：</a:t>
            </a:r>
            <a:r>
              <a:rPr lang="en-US" altLang="zh-CN" b="1" dirty="0"/>
              <a:t>4</a:t>
            </a:r>
            <a:r>
              <a:rPr lang="zh-CN" altLang="en-US" b="1" dirty="0"/>
              <a:t>选</a:t>
            </a:r>
            <a:r>
              <a:rPr lang="en-US" altLang="zh-CN" b="1" dirty="0"/>
              <a:t>1</a:t>
            </a:r>
            <a:r>
              <a:rPr lang="zh-CN" altLang="en-US" b="1" dirty="0"/>
              <a:t>选择器</a:t>
            </a:r>
          </a:p>
        </p:txBody>
      </p:sp>
      <p:pic>
        <p:nvPicPr>
          <p:cNvPr id="7" name="图片 6">
            <a:extLst>
              <a:ext uri="{FF2B5EF4-FFF2-40B4-BE49-F238E27FC236}">
                <a16:creationId xmlns:a16="http://schemas.microsoft.com/office/drawing/2014/main" id="{EF099225-5A82-4785-A23E-378745D4E971}"/>
              </a:ext>
            </a:extLst>
          </p:cNvPr>
          <p:cNvPicPr>
            <a:picLocks noChangeAspect="1"/>
          </p:cNvPicPr>
          <p:nvPr/>
        </p:nvPicPr>
        <p:blipFill>
          <a:blip r:embed="rId2"/>
          <a:stretch>
            <a:fillRect/>
          </a:stretch>
        </p:blipFill>
        <p:spPr>
          <a:xfrm>
            <a:off x="5664828" y="1797737"/>
            <a:ext cx="5108144" cy="3981784"/>
          </a:xfrm>
          <a:prstGeom prst="rect">
            <a:avLst/>
          </a:prstGeom>
        </p:spPr>
      </p:pic>
      <p:graphicFrame>
        <p:nvGraphicFramePr>
          <p:cNvPr id="5" name="表格 4"/>
          <p:cNvGraphicFramePr>
            <a:graphicFrameLocks noGrp="1"/>
          </p:cNvGraphicFramePr>
          <p:nvPr>
            <p:extLst>
              <p:ext uri="{D42A27DB-BD31-4B8C-83A1-F6EECF244321}">
                <p14:modId xmlns:p14="http://schemas.microsoft.com/office/powerpoint/2010/main" val="932723023"/>
              </p:ext>
            </p:extLst>
          </p:nvPr>
        </p:nvGraphicFramePr>
        <p:xfrm>
          <a:off x="739540" y="2922025"/>
          <a:ext cx="2826328" cy="1849120"/>
        </p:xfrm>
        <a:graphic>
          <a:graphicData uri="http://schemas.openxmlformats.org/drawingml/2006/table">
            <a:tbl>
              <a:tblPr firstRow="1" bandRow="1">
                <a:tableStyleId>{5C22544A-7EE6-4342-B048-85BDC9FD1C3A}</a:tableStyleId>
              </a:tblPr>
              <a:tblGrid>
                <a:gridCol w="516285">
                  <a:extLst>
                    <a:ext uri="{9D8B030D-6E8A-4147-A177-3AD203B41FA5}">
                      <a16:colId xmlns:a16="http://schemas.microsoft.com/office/drawing/2014/main" val="2155973704"/>
                    </a:ext>
                  </a:extLst>
                </a:gridCol>
                <a:gridCol w="476570">
                  <a:extLst>
                    <a:ext uri="{9D8B030D-6E8A-4147-A177-3AD203B41FA5}">
                      <a16:colId xmlns:a16="http://schemas.microsoft.com/office/drawing/2014/main" val="3442881176"/>
                    </a:ext>
                  </a:extLst>
                </a:gridCol>
                <a:gridCol w="1833473">
                  <a:extLst>
                    <a:ext uri="{9D8B030D-6E8A-4147-A177-3AD203B41FA5}">
                      <a16:colId xmlns:a16="http://schemas.microsoft.com/office/drawing/2014/main" val="3688070569"/>
                    </a:ext>
                  </a:extLst>
                </a:gridCol>
              </a:tblGrid>
              <a:tr h="0">
                <a:tc gridSpan="2">
                  <a:txBody>
                    <a:bodyPr/>
                    <a:lstStyle/>
                    <a:p>
                      <a:pPr algn="ctr"/>
                      <a:r>
                        <a:rPr lang="en-US" altLang="zh-CN" dirty="0"/>
                        <a:t>s</a:t>
                      </a:r>
                      <a:endParaRPr lang="zh-CN" altLang="en-US" dirty="0"/>
                    </a:p>
                  </a:txBody>
                  <a:tcPr/>
                </a:tc>
                <a:tc hMerge="1">
                  <a:txBody>
                    <a:bodyPr/>
                    <a:lstStyle/>
                    <a:p>
                      <a:endParaRPr lang="zh-CN" altLang="en-US"/>
                    </a:p>
                  </a:txBody>
                  <a:tcPr/>
                </a:tc>
                <a:tc>
                  <a:txBody>
                    <a:bodyPr/>
                    <a:lstStyle/>
                    <a:p>
                      <a:pPr algn="ctr"/>
                      <a:r>
                        <a:rPr lang="en-US" altLang="zh-CN" dirty="0"/>
                        <a:t>out</a:t>
                      </a:r>
                      <a:endParaRPr lang="zh-CN" altLang="en-US" dirty="0"/>
                    </a:p>
                  </a:txBody>
                  <a:tcPr/>
                </a:tc>
                <a:extLst>
                  <a:ext uri="{0D108BD9-81ED-4DB2-BD59-A6C34878D82A}">
                    <a16:rowId xmlns:a16="http://schemas.microsoft.com/office/drawing/2014/main" val="914455172"/>
                  </a:ext>
                </a:extLst>
              </a:tr>
              <a:tr h="370840">
                <a:tc>
                  <a:txBody>
                    <a:bodyPr/>
                    <a:lstStyle/>
                    <a:p>
                      <a:pPr algn="ctr"/>
                      <a:r>
                        <a:rPr lang="en-US" altLang="zh-CN" dirty="0"/>
                        <a:t>0</a:t>
                      </a:r>
                      <a:endParaRPr lang="zh-CN" altLang="en-US" dirty="0"/>
                    </a:p>
                  </a:txBody>
                  <a:tcPr/>
                </a:tc>
                <a:tc>
                  <a:txBody>
                    <a:bodyPr/>
                    <a:lstStyle/>
                    <a:p>
                      <a:pPr algn="ctr"/>
                      <a:r>
                        <a:rPr lang="en-US" altLang="zh-CN" dirty="0"/>
                        <a:t>0</a:t>
                      </a:r>
                      <a:endParaRPr lang="zh-CN" altLang="en-US" dirty="0"/>
                    </a:p>
                  </a:txBody>
                  <a:tcPr/>
                </a:tc>
                <a:tc>
                  <a:txBody>
                    <a:bodyPr/>
                    <a:lstStyle/>
                    <a:p>
                      <a:pPr algn="ctr"/>
                      <a:r>
                        <a:rPr lang="en-US" altLang="zh-CN" dirty="0"/>
                        <a:t>d0</a:t>
                      </a:r>
                      <a:endParaRPr lang="zh-CN" altLang="en-US" dirty="0"/>
                    </a:p>
                  </a:txBody>
                  <a:tcPr/>
                </a:tc>
                <a:extLst>
                  <a:ext uri="{0D108BD9-81ED-4DB2-BD59-A6C34878D82A}">
                    <a16:rowId xmlns:a16="http://schemas.microsoft.com/office/drawing/2014/main" val="314289967"/>
                  </a:ext>
                </a:extLst>
              </a:tr>
              <a:tr h="370840">
                <a:tc>
                  <a:txBody>
                    <a:bodyPr/>
                    <a:lstStyle/>
                    <a:p>
                      <a:pPr algn="ctr"/>
                      <a:r>
                        <a:rPr lang="en-US" altLang="zh-CN" dirty="0"/>
                        <a:t>0</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d1</a:t>
                      </a:r>
                      <a:endParaRPr lang="zh-CN" altLang="en-US" dirty="0"/>
                    </a:p>
                  </a:txBody>
                  <a:tcPr/>
                </a:tc>
                <a:extLst>
                  <a:ext uri="{0D108BD9-81ED-4DB2-BD59-A6C34878D82A}">
                    <a16:rowId xmlns:a16="http://schemas.microsoft.com/office/drawing/2014/main" val="248361103"/>
                  </a:ext>
                </a:extLst>
              </a:tr>
              <a:tr h="370840">
                <a:tc>
                  <a:txBody>
                    <a:bodyPr/>
                    <a:lstStyle/>
                    <a:p>
                      <a:pPr algn="ctr"/>
                      <a:r>
                        <a:rPr lang="en-US" altLang="zh-CN" dirty="0"/>
                        <a:t>1</a:t>
                      </a:r>
                      <a:endParaRPr lang="zh-CN" altLang="en-US" dirty="0"/>
                    </a:p>
                  </a:txBody>
                  <a:tcPr/>
                </a:tc>
                <a:tc>
                  <a:txBody>
                    <a:bodyPr/>
                    <a:lstStyle/>
                    <a:p>
                      <a:pPr algn="ctr"/>
                      <a:r>
                        <a:rPr lang="en-US" altLang="zh-CN" dirty="0"/>
                        <a:t>0</a:t>
                      </a:r>
                      <a:endParaRPr lang="zh-CN" altLang="en-US" dirty="0"/>
                    </a:p>
                  </a:txBody>
                  <a:tcPr/>
                </a:tc>
                <a:tc>
                  <a:txBody>
                    <a:bodyPr/>
                    <a:lstStyle/>
                    <a:p>
                      <a:pPr algn="ctr"/>
                      <a:r>
                        <a:rPr lang="en-US" altLang="zh-CN" dirty="0"/>
                        <a:t>d2</a:t>
                      </a:r>
                      <a:endParaRPr lang="zh-CN" altLang="en-US" dirty="0"/>
                    </a:p>
                  </a:txBody>
                  <a:tcPr/>
                </a:tc>
                <a:extLst>
                  <a:ext uri="{0D108BD9-81ED-4DB2-BD59-A6C34878D82A}">
                    <a16:rowId xmlns:a16="http://schemas.microsoft.com/office/drawing/2014/main" val="2087850843"/>
                  </a:ext>
                </a:extLst>
              </a:tr>
              <a:tr h="370840">
                <a:tc>
                  <a:txBody>
                    <a:bodyPr/>
                    <a:lstStyle/>
                    <a:p>
                      <a:pPr algn="ctr"/>
                      <a:r>
                        <a:rPr lang="en-US" altLang="zh-CN" dirty="0"/>
                        <a:t>1</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d3</a:t>
                      </a:r>
                      <a:endParaRPr lang="zh-CN" altLang="en-US" dirty="0"/>
                    </a:p>
                  </a:txBody>
                  <a:tcPr/>
                </a:tc>
                <a:extLst>
                  <a:ext uri="{0D108BD9-81ED-4DB2-BD59-A6C34878D82A}">
                    <a16:rowId xmlns:a16="http://schemas.microsoft.com/office/drawing/2014/main" val="156627996"/>
                  </a:ext>
                </a:extLst>
              </a:tr>
            </a:tbl>
          </a:graphicData>
        </a:graphic>
      </p:graphicFrame>
      <p:sp>
        <p:nvSpPr>
          <p:cNvPr id="6" name="右箭头 5"/>
          <p:cNvSpPr/>
          <p:nvPr/>
        </p:nvSpPr>
        <p:spPr>
          <a:xfrm>
            <a:off x="4159176" y="3602366"/>
            <a:ext cx="1062181" cy="3725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49049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34BC0F52-DB14-08CD-A9AA-999DDAE75D22}"/>
              </a:ext>
            </a:extLst>
          </p:cNvPr>
          <p:cNvSpPr txBox="1"/>
          <p:nvPr/>
        </p:nvSpPr>
        <p:spPr>
          <a:xfrm>
            <a:off x="1130222" y="1305341"/>
            <a:ext cx="8713777" cy="4247317"/>
          </a:xfrm>
          <a:prstGeom prst="rect">
            <a:avLst/>
          </a:prstGeom>
          <a:noFill/>
        </p:spPr>
        <p:txBody>
          <a:bodyPr wrap="square">
            <a:spAutoFit/>
          </a:bodyPr>
          <a:lstStyle/>
          <a:p>
            <a:r>
              <a:rPr lang="zh-CN" altLang="en-US" dirty="0">
                <a:solidFill>
                  <a:srgbClr val="0000FF"/>
                </a:solidFill>
              </a:rPr>
              <a:t>module</a:t>
            </a:r>
            <a:r>
              <a:rPr lang="zh-CN" altLang="en-US" dirty="0"/>
              <a:t> mux4  #(</a:t>
            </a:r>
            <a:r>
              <a:rPr lang="zh-CN" altLang="en-US" dirty="0">
                <a:solidFill>
                  <a:srgbClr val="0000FF"/>
                </a:solidFill>
              </a:rPr>
              <a:t>parameter</a:t>
            </a:r>
            <a:r>
              <a:rPr lang="zh-CN" altLang="en-US" dirty="0"/>
              <a:t> width = 32) (</a:t>
            </a:r>
            <a:r>
              <a:rPr lang="zh-CN" altLang="en-US" dirty="0">
                <a:solidFill>
                  <a:srgbClr val="0000FF"/>
                </a:solidFill>
              </a:rPr>
              <a:t>output</a:t>
            </a:r>
            <a:r>
              <a:rPr lang="zh-CN" altLang="en-US" dirty="0"/>
              <a:t> [width - 1 : 0] out, </a:t>
            </a:r>
          </a:p>
          <a:p>
            <a:r>
              <a:rPr lang="zh-CN" altLang="en-US" dirty="0"/>
              <a:t>									 </a:t>
            </a:r>
            <a:r>
              <a:rPr lang="zh-CN" altLang="en-US" dirty="0">
                <a:solidFill>
                  <a:srgbClr val="0000FF"/>
                </a:solidFill>
              </a:rPr>
              <a:t>input</a:t>
            </a:r>
            <a:r>
              <a:rPr lang="zh-CN" altLang="en-US" dirty="0"/>
              <a:t> [1 : 0] s, </a:t>
            </a:r>
          </a:p>
          <a:p>
            <a:r>
              <a:rPr lang="zh-CN" altLang="en-US" dirty="0"/>
              <a:t>									 </a:t>
            </a:r>
            <a:r>
              <a:rPr lang="zh-CN" altLang="en-US" dirty="0">
                <a:solidFill>
                  <a:srgbClr val="0000FF"/>
                </a:solidFill>
              </a:rPr>
              <a:t>input</a:t>
            </a:r>
            <a:r>
              <a:rPr lang="zh-CN" altLang="en-US" dirty="0"/>
              <a:t> [width - 1 : 0] d0, d1, d2, d3);</a:t>
            </a:r>
          </a:p>
          <a:p>
            <a:r>
              <a:rPr lang="zh-CN" altLang="en-US" dirty="0"/>
              <a:t>//内部信号声明</a:t>
            </a:r>
          </a:p>
          <a:p>
            <a:r>
              <a:rPr lang="zh-CN" altLang="en-US" dirty="0">
                <a:solidFill>
                  <a:srgbClr val="0000FF"/>
                </a:solidFill>
              </a:rPr>
              <a:t>wire</a:t>
            </a:r>
            <a:r>
              <a:rPr lang="zh-CN" altLang="en-US" dirty="0"/>
              <a:t> [width -1 : 0] t1, t2;</a:t>
            </a:r>
          </a:p>
          <a:p>
            <a:endParaRPr lang="zh-CN" altLang="en-US" dirty="0"/>
          </a:p>
          <a:p>
            <a:r>
              <a:rPr lang="zh-CN" altLang="en-US" dirty="0"/>
              <a:t>mux2  </a:t>
            </a:r>
            <a:r>
              <a:rPr lang="zh-CN" altLang="en-US" dirty="0">
                <a:solidFill>
                  <a:srgbClr val="0070C0"/>
                </a:solidFill>
              </a:rPr>
              <a:t>#</a:t>
            </a:r>
            <a:r>
              <a:rPr lang="zh-CN" altLang="en-US" dirty="0"/>
              <a:t>(width)              muxl(t1, s[0], d0, d1); </a:t>
            </a:r>
          </a:p>
          <a:p>
            <a:r>
              <a:rPr lang="zh-CN" altLang="en-US" dirty="0"/>
              <a:t>mux2  </a:t>
            </a:r>
            <a:r>
              <a:rPr lang="zh-CN" altLang="en-US" dirty="0">
                <a:solidFill>
                  <a:srgbClr val="0070C0"/>
                </a:solidFill>
              </a:rPr>
              <a:t>#</a:t>
            </a:r>
            <a:r>
              <a:rPr lang="zh-CN" altLang="en-US" dirty="0"/>
              <a:t>(.width(width))  muxh(.out(t2), .s(s[0]), .d0(d2), .d1(d3)); </a:t>
            </a:r>
          </a:p>
          <a:p>
            <a:r>
              <a:rPr lang="zh-CN" altLang="en-US" dirty="0"/>
              <a:t>mux2  </a:t>
            </a:r>
            <a:r>
              <a:rPr lang="zh-CN" altLang="en-US" dirty="0">
                <a:solidFill>
                  <a:srgbClr val="0070C0"/>
                </a:solidFill>
              </a:rPr>
              <a:t>#</a:t>
            </a:r>
            <a:r>
              <a:rPr lang="zh-CN" altLang="en-US" dirty="0"/>
              <a:t>(width)              muxfinal(.s  (s[1] ),</a:t>
            </a:r>
            <a:endParaRPr lang="en-US" altLang="zh-CN" dirty="0"/>
          </a:p>
          <a:p>
            <a:r>
              <a:rPr lang="zh-CN" altLang="en-US" dirty="0"/>
              <a:t>                                                   .d0(t1   ),</a:t>
            </a:r>
            <a:endParaRPr lang="en-US" altLang="zh-CN" dirty="0"/>
          </a:p>
          <a:p>
            <a:r>
              <a:rPr lang="zh-CN" altLang="en-US" dirty="0"/>
              <a:t>                                                   .out(out),</a:t>
            </a:r>
            <a:endParaRPr lang="en-US" altLang="zh-CN" dirty="0"/>
          </a:p>
          <a:p>
            <a:r>
              <a:rPr lang="zh-CN" altLang="en-US" dirty="0"/>
              <a:t>                                                   .d1 (t2  ) );									 </a:t>
            </a:r>
          </a:p>
          <a:p>
            <a:endParaRPr lang="zh-CN" altLang="en-US" dirty="0"/>
          </a:p>
          <a:p>
            <a:r>
              <a:rPr lang="zh-CN" altLang="en-US" dirty="0"/>
              <a:t>endmodule</a:t>
            </a:r>
          </a:p>
        </p:txBody>
      </p:sp>
    </p:spTree>
    <p:extLst>
      <p:ext uri="{BB962C8B-B14F-4D97-AF65-F5344CB8AC3E}">
        <p14:creationId xmlns:p14="http://schemas.microsoft.com/office/powerpoint/2010/main" val="4052042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C46B6E-C8ED-EA91-1295-0D4F460EDCB5}"/>
              </a:ext>
            </a:extLst>
          </p:cNvPr>
          <p:cNvSpPr>
            <a:spLocks noGrp="1"/>
          </p:cNvSpPr>
          <p:nvPr>
            <p:ph type="title"/>
          </p:nvPr>
        </p:nvSpPr>
        <p:spPr>
          <a:xfrm>
            <a:off x="717091" y="156238"/>
            <a:ext cx="10318184" cy="860393"/>
          </a:xfrm>
        </p:spPr>
        <p:txBody>
          <a:bodyPr/>
          <a:lstStyle/>
          <a:p>
            <a:r>
              <a:rPr lang="zh-CN" altLang="en-US" b="0" i="0" dirty="0">
                <a:solidFill>
                  <a:srgbClr val="333333"/>
                </a:solidFill>
                <a:effectLst/>
                <a:latin typeface="PingFang SC"/>
              </a:rPr>
              <a:t>‌</a:t>
            </a:r>
            <a:r>
              <a:rPr lang="zh-CN" altLang="en-US" dirty="0"/>
              <a:t>常见错误</a:t>
            </a:r>
          </a:p>
        </p:txBody>
      </p:sp>
      <p:sp>
        <p:nvSpPr>
          <p:cNvPr id="3" name="内容占位符 2">
            <a:extLst>
              <a:ext uri="{FF2B5EF4-FFF2-40B4-BE49-F238E27FC236}">
                <a16:creationId xmlns:a16="http://schemas.microsoft.com/office/drawing/2014/main" id="{8E901227-5D50-FDF2-632C-93A7FFCE9780}"/>
              </a:ext>
            </a:extLst>
          </p:cNvPr>
          <p:cNvSpPr>
            <a:spLocks noGrp="1"/>
          </p:cNvSpPr>
          <p:nvPr>
            <p:ph idx="1"/>
          </p:nvPr>
        </p:nvSpPr>
        <p:spPr>
          <a:xfrm>
            <a:off x="677333" y="1067747"/>
            <a:ext cx="10800943" cy="4973615"/>
          </a:xfrm>
        </p:spPr>
        <p:txBody>
          <a:bodyPr>
            <a:normAutofit/>
          </a:bodyPr>
          <a:lstStyle/>
          <a:p>
            <a:r>
              <a:rPr lang="en-US" altLang="zh-CN" sz="2400" dirty="0"/>
              <a:t>module</a:t>
            </a:r>
            <a:r>
              <a:rPr lang="zh-CN" altLang="en-US" sz="2400" dirty="0"/>
              <a:t>定义时漏写分号（</a:t>
            </a:r>
            <a:r>
              <a:rPr lang="en-US" altLang="zh-CN" sz="2400" dirty="0"/>
              <a:t>;</a:t>
            </a:r>
            <a:r>
              <a:rPr lang="zh-CN" altLang="en-US" sz="2400" dirty="0"/>
              <a:t>）</a:t>
            </a:r>
            <a:endParaRPr lang="en-US" altLang="zh-CN" sz="2400" dirty="0"/>
          </a:p>
          <a:p>
            <a:r>
              <a:rPr lang="zh-CN" altLang="en-US" sz="2400" dirty="0"/>
              <a:t>括号（</a:t>
            </a:r>
            <a:r>
              <a:rPr lang="en-US" altLang="zh-CN" sz="2400" dirty="0"/>
              <a:t>{}</a:t>
            </a:r>
            <a:r>
              <a:rPr lang="zh-CN" altLang="en-US" sz="2400" dirty="0"/>
              <a:t>或</a:t>
            </a:r>
            <a:r>
              <a:rPr lang="en-US" altLang="zh-CN" sz="2400" dirty="0"/>
              <a:t>()</a:t>
            </a:r>
            <a:r>
              <a:rPr lang="zh-CN" altLang="en-US" sz="2400" dirty="0"/>
              <a:t>）不匹配。</a:t>
            </a:r>
            <a:endParaRPr lang="en-US" altLang="zh-CN" sz="2400" dirty="0"/>
          </a:p>
          <a:p>
            <a:r>
              <a:rPr lang="zh-CN" altLang="en-US" sz="2400" dirty="0"/>
              <a:t>信号传递时，位宽不匹配。</a:t>
            </a:r>
            <a:endParaRPr lang="en-US" altLang="zh-CN" sz="2400" dirty="0"/>
          </a:p>
          <a:p>
            <a:r>
              <a:rPr lang="zh-CN" altLang="en-US" sz="2400" dirty="0"/>
              <a:t>组合逻辑的</a:t>
            </a:r>
            <a:r>
              <a:rPr lang="en-US" altLang="zh-CN" sz="2400" dirty="0"/>
              <a:t>always</a:t>
            </a:r>
            <a:r>
              <a:rPr lang="zh-CN" altLang="en-US" sz="2400" dirty="0"/>
              <a:t>块的敏感信号列表未包含所有输入信号。</a:t>
            </a:r>
            <a:endParaRPr lang="en-US" altLang="zh-CN" sz="2400" dirty="0"/>
          </a:p>
          <a:p>
            <a:r>
              <a:rPr lang="zh-CN" altLang="en-US" sz="2400" dirty="0"/>
              <a:t>阻塞与非阻塞赋值用错。</a:t>
            </a:r>
            <a:endParaRPr lang="en-US" altLang="zh-CN" sz="2400" dirty="0"/>
          </a:p>
          <a:p>
            <a:r>
              <a:rPr lang="zh-CN" altLang="en-US" sz="2400" dirty="0"/>
              <a:t>同一变量多处赋值，导致多驱动冲突。</a:t>
            </a:r>
            <a:endParaRPr lang="en-US" altLang="zh-CN" sz="2400" dirty="0"/>
          </a:p>
          <a:p>
            <a:r>
              <a:rPr lang="zh-CN" altLang="en-US" sz="2400" dirty="0"/>
              <a:t>‌模块实例化时，端口连接错误。</a:t>
            </a:r>
            <a:endParaRPr lang="en-US" altLang="zh-CN" sz="2400" dirty="0"/>
          </a:p>
          <a:p>
            <a:r>
              <a:rPr lang="zh-CN" altLang="en-US" sz="2400" dirty="0"/>
              <a:t>‌组合逻辑环路（输出直接或间接依赖自身）。</a:t>
            </a:r>
            <a:endParaRPr lang="en-US" altLang="zh-CN" sz="2400" dirty="0"/>
          </a:p>
        </p:txBody>
      </p:sp>
    </p:spTree>
    <p:extLst>
      <p:ext uri="{BB962C8B-B14F-4D97-AF65-F5344CB8AC3E}">
        <p14:creationId xmlns:p14="http://schemas.microsoft.com/office/powerpoint/2010/main" val="1979061912"/>
      </p:ext>
    </p:extLst>
  </p:cSld>
  <p:clrMapOvr>
    <a:masterClrMapping/>
  </p:clrMapOvr>
</p:sld>
</file>

<file path=ppt/theme/theme1.xml><?xml version="1.0" encoding="utf-8"?>
<a:theme xmlns:a="http://schemas.openxmlformats.org/drawingml/2006/main" name="平面">
  <a:themeElements>
    <a:clrScheme name="平面">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平面">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平面">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41074</TotalTime>
  <Words>5473</Words>
  <Application>Microsoft Office PowerPoint</Application>
  <PresentationFormat>宽屏</PresentationFormat>
  <Paragraphs>621</Paragraphs>
  <Slides>55</Slides>
  <Notes>5</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55</vt:i4>
      </vt:variant>
    </vt:vector>
  </HeadingPairs>
  <TitlesOfParts>
    <vt:vector size="71" baseType="lpstr">
      <vt:lpstr>-apple-system</vt:lpstr>
      <vt:lpstr>KaTeX_Main</vt:lpstr>
      <vt:lpstr>KaTeX_Math</vt:lpstr>
      <vt:lpstr>Menlo</vt:lpstr>
      <vt:lpstr>pingfang SC</vt:lpstr>
      <vt:lpstr>pingfang SC</vt:lpstr>
      <vt:lpstr>等线</vt:lpstr>
      <vt:lpstr>黑体</vt:lpstr>
      <vt:lpstr>宋体</vt:lpstr>
      <vt:lpstr>宋体</vt:lpstr>
      <vt:lpstr>Arial</vt:lpstr>
      <vt:lpstr>Courier New</vt:lpstr>
      <vt:lpstr>Trebuchet MS</vt:lpstr>
      <vt:lpstr>Wingdings</vt:lpstr>
      <vt:lpstr>Wingdings 3</vt:lpstr>
      <vt:lpstr>平面</vt:lpstr>
      <vt:lpstr>先修知识</vt:lpstr>
      <vt:lpstr>计算机系统的抽象层</vt:lpstr>
      <vt:lpstr>一. 数字逻辑电路基本知识</vt:lpstr>
      <vt:lpstr>1 数字逻辑电路</vt:lpstr>
      <vt:lpstr>1.1 组合逻辑电路</vt:lpstr>
      <vt:lpstr>时序规范</vt:lpstr>
      <vt:lpstr>1.2 时序逻辑电路</vt:lpstr>
      <vt:lpstr>时序逻辑电路分类</vt:lpstr>
      <vt:lpstr>存储电路举例：D触发器</vt:lpstr>
      <vt:lpstr>1.2.1 触发器的时序规范</vt:lpstr>
      <vt:lpstr>关键的时序参数和约束</vt:lpstr>
      <vt:lpstr>亚稳态</vt:lpstr>
      <vt:lpstr>1.2.2  复位方式</vt:lpstr>
      <vt:lpstr>二.  Verilog HDL语言</vt:lpstr>
      <vt:lpstr>概述</vt:lpstr>
      <vt:lpstr>设计方法</vt:lpstr>
      <vt:lpstr>‌2.1  模块（module）</vt:lpstr>
      <vt:lpstr>模块实例化</vt:lpstr>
      <vt:lpstr>2.2  数据类型</vt:lpstr>
      <vt:lpstr>数据值</vt:lpstr>
      <vt:lpstr>数据位宽</vt:lpstr>
      <vt:lpstr>位操作</vt:lpstr>
      <vt:lpstr>数组</vt:lpstr>
      <vt:lpstr>2.3 常用语句</vt:lpstr>
      <vt:lpstr>2.3.1  always语句块</vt:lpstr>
      <vt:lpstr>敏感列表的触发方式</vt:lpstr>
      <vt:lpstr>过程赋值语句</vt:lpstr>
      <vt:lpstr>2.3.2  initial语句块</vt:lpstr>
      <vt:lpstr>2.3.3  assign语句</vt:lpstr>
      <vt:lpstr>2.3.4  系统任务</vt:lpstr>
      <vt:lpstr>总结</vt:lpstr>
      <vt:lpstr>2.4  仿真测试平台</vt:lpstr>
      <vt:lpstr>PowerPoint 演示文稿</vt:lpstr>
      <vt:lpstr>模块分割原则</vt:lpstr>
      <vt:lpstr>命名规范</vt:lpstr>
      <vt:lpstr>`include的适用场景</vt:lpstr>
      <vt:lpstr>3  数字电路具体描述方法</vt:lpstr>
      <vt:lpstr>3.1  组合逻辑描述方法</vt:lpstr>
      <vt:lpstr>3.1.1 assign语句实现组合逻辑</vt:lpstr>
      <vt:lpstr>3.1.2  always语句块结合阻塞赋值语句 </vt:lpstr>
      <vt:lpstr>※常见错误---敏感信号不全</vt:lpstr>
      <vt:lpstr>举例：2选1选择器  assign语句实现</vt:lpstr>
      <vt:lpstr> always语句实现</vt:lpstr>
      <vt:lpstr>testbench</vt:lpstr>
      <vt:lpstr>3.2  时序逻辑实现方法</vt:lpstr>
      <vt:lpstr>3.2.1  clock激励产生方法  方法一：</vt:lpstr>
      <vt:lpstr>方法二：</vt:lpstr>
      <vt:lpstr>3.2.2 复位  同步复位：复位信号仅在时钟有效边沿被采样。</vt:lpstr>
      <vt:lpstr>异步复位：复位信号一旦有效，立即复位。</vt:lpstr>
      <vt:lpstr>举例：右循环移位寄存器</vt:lpstr>
      <vt:lpstr>PowerPoint 演示文稿</vt:lpstr>
      <vt:lpstr>3.3  层次化设计</vt:lpstr>
      <vt:lpstr>举例：4选1选择器</vt:lpstr>
      <vt:lpstr>PowerPoint 演示文稿</vt:lpstr>
      <vt:lpstr>‌常见错误</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guo yan</dc:creator>
  <cp:lastModifiedBy>yan guo</cp:lastModifiedBy>
  <cp:revision>525</cp:revision>
  <dcterms:created xsi:type="dcterms:W3CDTF">2020-03-13T01:07:41Z</dcterms:created>
  <dcterms:modified xsi:type="dcterms:W3CDTF">2026-05-08T02:44:42Z</dcterms:modified>
</cp:coreProperties>
</file>