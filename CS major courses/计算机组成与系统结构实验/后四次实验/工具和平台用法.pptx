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notesMasterIdLst>
    <p:notesMasterId r:id="rId58"/>
  </p:notesMasterIdLst>
  <p:sldIdLst>
    <p:sldId id="286" r:id="rId2"/>
    <p:sldId id="292" r:id="rId3"/>
    <p:sldId id="287" r:id="rId4"/>
    <p:sldId id="288" r:id="rId5"/>
    <p:sldId id="289" r:id="rId6"/>
    <p:sldId id="339" r:id="rId7"/>
    <p:sldId id="338" r:id="rId8"/>
    <p:sldId id="257" r:id="rId9"/>
    <p:sldId id="258" r:id="rId10"/>
    <p:sldId id="259" r:id="rId11"/>
    <p:sldId id="256" r:id="rId12"/>
    <p:sldId id="318" r:id="rId13"/>
    <p:sldId id="310" r:id="rId14"/>
    <p:sldId id="260" r:id="rId15"/>
    <p:sldId id="312" r:id="rId16"/>
    <p:sldId id="311" r:id="rId17"/>
    <p:sldId id="261" r:id="rId18"/>
    <p:sldId id="263" r:id="rId19"/>
    <p:sldId id="316" r:id="rId20"/>
    <p:sldId id="264" r:id="rId21"/>
    <p:sldId id="313" r:id="rId22"/>
    <p:sldId id="265" r:id="rId23"/>
    <p:sldId id="266" r:id="rId24"/>
    <p:sldId id="267" r:id="rId25"/>
    <p:sldId id="268" r:id="rId26"/>
    <p:sldId id="269" r:id="rId27"/>
    <p:sldId id="314" r:id="rId28"/>
    <p:sldId id="299" r:id="rId29"/>
    <p:sldId id="301" r:id="rId30"/>
    <p:sldId id="302" r:id="rId31"/>
    <p:sldId id="300" r:id="rId32"/>
    <p:sldId id="303" r:id="rId33"/>
    <p:sldId id="324" r:id="rId34"/>
    <p:sldId id="271" r:id="rId35"/>
    <p:sldId id="272" r:id="rId36"/>
    <p:sldId id="284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325" r:id="rId48"/>
    <p:sldId id="293" r:id="rId49"/>
    <p:sldId id="294" r:id="rId50"/>
    <p:sldId id="295" r:id="rId51"/>
    <p:sldId id="296" r:id="rId52"/>
    <p:sldId id="321" r:id="rId53"/>
    <p:sldId id="319" r:id="rId54"/>
    <p:sldId id="320" r:id="rId55"/>
    <p:sldId id="308" r:id="rId56"/>
    <p:sldId id="334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61BFF54-6AAB-47EE-8CE8-EE13AAEC6B1D}">
          <p14:sldIdLst>
            <p14:sldId id="286"/>
            <p14:sldId id="292"/>
            <p14:sldId id="287"/>
            <p14:sldId id="288"/>
            <p14:sldId id="289"/>
            <p14:sldId id="339"/>
            <p14:sldId id="338"/>
            <p14:sldId id="257"/>
            <p14:sldId id="258"/>
            <p14:sldId id="259"/>
            <p14:sldId id="256"/>
            <p14:sldId id="318"/>
            <p14:sldId id="310"/>
            <p14:sldId id="260"/>
            <p14:sldId id="312"/>
            <p14:sldId id="311"/>
            <p14:sldId id="261"/>
            <p14:sldId id="263"/>
            <p14:sldId id="316"/>
            <p14:sldId id="264"/>
            <p14:sldId id="313"/>
            <p14:sldId id="265"/>
            <p14:sldId id="266"/>
            <p14:sldId id="267"/>
            <p14:sldId id="268"/>
            <p14:sldId id="269"/>
            <p14:sldId id="314"/>
            <p14:sldId id="299"/>
            <p14:sldId id="301"/>
            <p14:sldId id="302"/>
            <p14:sldId id="300"/>
            <p14:sldId id="303"/>
            <p14:sldId id="324"/>
            <p14:sldId id="271"/>
            <p14:sldId id="272"/>
            <p14:sldId id="284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325"/>
            <p14:sldId id="293"/>
            <p14:sldId id="294"/>
            <p14:sldId id="295"/>
            <p14:sldId id="296"/>
            <p14:sldId id="321"/>
            <p14:sldId id="319"/>
            <p14:sldId id="320"/>
            <p14:sldId id="308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595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0BC8E-2C39-4933-B7C1-1D0B4FED2426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C60E1-67A0-439E-B36A-9A2BE9D7D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6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C60E1-67A0-439E-B36A-9A2BE9D7D8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861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C60E1-67A0-439E-B36A-9A2BE9D7D8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906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C60E1-67A0-439E-B36A-9A2BE9D7D88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860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C60E1-67A0-439E-B36A-9A2BE9D7D88F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478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C60E1-67A0-439E-B36A-9A2BE9D7D88F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149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C60E1-67A0-439E-B36A-9A2BE9D7D88F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2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164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5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6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66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10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735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84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3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68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599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558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1503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82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492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82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F24BF-649A-4674-B4D5-A35FC625C9EE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121F8BC-5E30-4CFF-9ECC-B51B8CD948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30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hyperlink" Target="ftp://10.12.13.1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BAB4A-CBCE-48E1-8735-BF6825D0B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527" y="784086"/>
            <a:ext cx="9144000" cy="5010427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          目录</a:t>
            </a:r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软件安装方法</a:t>
            </a:r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Questasim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基本用法</a:t>
            </a:r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 Mars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基本用法</a:t>
            </a:r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希冀实验平台的使用方法</a:t>
            </a:r>
          </a:p>
        </p:txBody>
      </p:sp>
    </p:spTree>
    <p:extLst>
      <p:ext uri="{BB962C8B-B14F-4D97-AF65-F5344CB8AC3E}">
        <p14:creationId xmlns:p14="http://schemas.microsoft.com/office/powerpoint/2010/main" val="264505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4BAB4A-CBCE-48E1-8735-BF6825D0B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523" y="2609385"/>
            <a:ext cx="6336619" cy="1215484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软件安装方法</a:t>
            </a:r>
          </a:p>
        </p:txBody>
      </p:sp>
    </p:spTree>
    <p:extLst>
      <p:ext uri="{BB962C8B-B14F-4D97-AF65-F5344CB8AC3E}">
        <p14:creationId xmlns:p14="http://schemas.microsoft.com/office/powerpoint/2010/main" val="234308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0CC04-C660-4787-9652-C9EEBC58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Notepad++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2D518-4100-4207-96AA-7D4DA84A2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07" y="1744953"/>
            <a:ext cx="923697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dirty="0"/>
              <a:t>        Notepad++</a:t>
            </a:r>
            <a:r>
              <a:rPr lang="zh-CN" altLang="en-US" sz="2800" dirty="0"/>
              <a:t>是一套文本编辑器</a:t>
            </a:r>
            <a:r>
              <a:rPr lang="en-US" altLang="zh-CN" sz="2800" dirty="0"/>
              <a:t>(</a:t>
            </a:r>
            <a:r>
              <a:rPr lang="zh-CN" altLang="en-US" sz="2800" dirty="0"/>
              <a:t>软件版权许可证</a:t>
            </a:r>
            <a:r>
              <a:rPr lang="en-US" altLang="zh-CN" sz="2800" dirty="0"/>
              <a:t>: GPL)</a:t>
            </a:r>
            <a:r>
              <a:rPr lang="zh-CN" altLang="en-US" sz="2800" dirty="0"/>
              <a:t>，它是开源软件，可以免费使用。它自带中文，支持众多计算机程序语言，十分适合编写计算机程序代码。不仅有语法高亮度显示，也有语法折叠功能。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 </a:t>
            </a:r>
            <a:r>
              <a:rPr lang="zh-CN" altLang="en-US" sz="2800" dirty="0"/>
              <a:t>安装没有任何难度，不赘述。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 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         </a:t>
            </a:r>
            <a:r>
              <a:rPr lang="zh-CN" altLang="en-US" sz="2800" dirty="0">
                <a:solidFill>
                  <a:srgbClr val="FF0000"/>
                </a:solidFill>
              </a:rPr>
              <a:t>注意：也可以使用</a:t>
            </a:r>
            <a:r>
              <a:rPr lang="en-US" altLang="zh-CN" sz="2800" dirty="0" err="1">
                <a:solidFill>
                  <a:srgbClr val="FF0000"/>
                </a:solidFill>
              </a:rPr>
              <a:t>Editplus</a:t>
            </a:r>
            <a:r>
              <a:rPr lang="zh-CN" altLang="en-US" sz="2800" dirty="0">
                <a:solidFill>
                  <a:srgbClr val="FF0000"/>
                </a:solidFill>
              </a:rPr>
              <a:t>、</a:t>
            </a:r>
            <a:r>
              <a:rPr lang="en-US" altLang="zh-CN" sz="2800" dirty="0" err="1">
                <a:solidFill>
                  <a:srgbClr val="FF0000"/>
                </a:solidFill>
              </a:rPr>
              <a:t>UltraEdit</a:t>
            </a:r>
            <a:r>
              <a:rPr lang="zh-CN" altLang="en-US" sz="2800" dirty="0">
                <a:solidFill>
                  <a:srgbClr val="FF0000"/>
                </a:solidFill>
              </a:rPr>
              <a:t>等编辑软件。</a:t>
            </a:r>
          </a:p>
        </p:txBody>
      </p:sp>
    </p:spTree>
    <p:extLst>
      <p:ext uri="{BB962C8B-B14F-4D97-AF65-F5344CB8AC3E}">
        <p14:creationId xmlns:p14="http://schemas.microsoft.com/office/powerpoint/2010/main" val="305691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836" y="258935"/>
            <a:ext cx="8596668" cy="1320800"/>
          </a:xfrm>
        </p:spPr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Mars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9886" y="1028460"/>
            <a:ext cx="10848278" cy="289197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Mars</a:t>
            </a:r>
            <a:r>
              <a:rPr lang="zh-CN" altLang="en-US" sz="2800" dirty="0"/>
              <a:t>是一个轻量级的交互式开发环境（</a:t>
            </a:r>
            <a:r>
              <a:rPr lang="en-US" altLang="zh-CN" sz="2800" dirty="0"/>
              <a:t>IDE</a:t>
            </a:r>
            <a:r>
              <a:rPr lang="zh-CN" altLang="en-US" sz="2800" dirty="0"/>
              <a:t>），用于使用</a:t>
            </a:r>
            <a:r>
              <a:rPr lang="en-US" altLang="zh-CN" sz="2800" dirty="0"/>
              <a:t>MIPS</a:t>
            </a:r>
            <a:r>
              <a:rPr lang="zh-CN" altLang="en-US" sz="2800" dirty="0"/>
              <a:t>汇编语言进行编程。</a:t>
            </a:r>
            <a:endParaRPr lang="en-US" altLang="zh-CN" sz="2800" dirty="0"/>
          </a:p>
          <a:p>
            <a:r>
              <a:rPr lang="en-US" altLang="zh-CN" sz="2800" dirty="0"/>
              <a:t>             </a:t>
            </a:r>
            <a:r>
              <a:rPr lang="zh-CN" altLang="en-US" sz="2800" dirty="0"/>
              <a:t>是一个</a:t>
            </a:r>
            <a:r>
              <a:rPr lang="en-US" altLang="zh-CN" sz="2800" dirty="0"/>
              <a:t> .jar</a:t>
            </a:r>
            <a:r>
              <a:rPr lang="zh-CN" altLang="en-US" sz="2800" dirty="0"/>
              <a:t>可执行文件，需要使用</a:t>
            </a:r>
            <a:r>
              <a:rPr lang="en-US" altLang="zh-CN" sz="2800" dirty="0"/>
              <a:t>Java</a:t>
            </a:r>
            <a:r>
              <a:rPr lang="zh-CN" altLang="en-US" sz="2800" dirty="0"/>
              <a:t>环境。</a:t>
            </a:r>
            <a:endParaRPr lang="en-US" altLang="zh-CN" sz="2800" dirty="0"/>
          </a:p>
          <a:p>
            <a:r>
              <a:rPr lang="zh-CN" altLang="en-US" sz="2800" dirty="0"/>
              <a:t>先安装                        ，然后双击             就可以使用了。</a:t>
            </a:r>
            <a:endParaRPr lang="en-US" altLang="zh-CN" sz="2800" dirty="0"/>
          </a:p>
          <a:p>
            <a:r>
              <a:rPr lang="zh-CN" altLang="en-US" sz="2800" dirty="0"/>
              <a:t>安装没有难度，不赘述。</a:t>
            </a:r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t="1" r="25108" b="14913"/>
          <a:stretch/>
        </p:blipFill>
        <p:spPr>
          <a:xfrm>
            <a:off x="1243380" y="2099582"/>
            <a:ext cx="1106352" cy="28309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1" r="7955" b="14913"/>
          <a:stretch/>
        </p:blipFill>
        <p:spPr>
          <a:xfrm>
            <a:off x="2045772" y="2726910"/>
            <a:ext cx="2520688" cy="2830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63" y="2726910"/>
            <a:ext cx="1306524" cy="32743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8104" y="3921409"/>
            <a:ext cx="10848279" cy="267765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注意：如果安装完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jdk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后，双击              没有反应，可能是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jar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包被你的压缩软件关联，没有和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jdk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关联。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pPr indent="457200"/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解决办法：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将默认的文件打开方式改为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JDK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目录下</a:t>
            </a:r>
            <a:r>
              <a:rPr lang="en-US" altLang="zh-CN" sz="2400" dirty="0" err="1">
                <a:solidFill>
                  <a:schemeClr val="accent1">
                    <a:lumMod val="75000"/>
                  </a:schemeClr>
                </a:solidFill>
              </a:rPr>
              <a:t>jre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\bin\javaw.exe</a:t>
            </a:r>
          </a:p>
          <a:p>
            <a:pPr marL="342900" lvl="0" indent="-342900">
              <a:buFontTx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如果方法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不管用，将注册表中</a:t>
            </a:r>
            <a:r>
              <a:rPr lang="zh-CN" altLang="zh-CN" sz="2400" dirty="0">
                <a:solidFill>
                  <a:schemeClr val="accent1">
                    <a:lumMod val="75000"/>
                  </a:schemeClr>
                </a:solidFill>
              </a:rPr>
              <a:t>HKEY_CLASSES_ROOT\Applications\javaw.exe\shell\open\command</a:t>
            </a:r>
            <a:br>
              <a:rPr lang="zh-CN" altLang="zh-CN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的值</a:t>
            </a:r>
            <a:r>
              <a:rPr lang="zh-CN" altLang="zh-CN" sz="2400" dirty="0">
                <a:solidFill>
                  <a:schemeClr val="accent1">
                    <a:lumMod val="75000"/>
                  </a:schemeClr>
                </a:solidFill>
              </a:rPr>
              <a:t>在"%1"前面加上 -jar 。 </a:t>
            </a:r>
            <a:endParaRPr lang="en-US" altLang="zh-C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r="25518" b="7689"/>
          <a:stretch>
            <a:fillRect/>
          </a:stretch>
        </p:blipFill>
        <p:spPr>
          <a:xfrm>
            <a:off x="5134916" y="4015283"/>
            <a:ext cx="1160590" cy="323961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043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7792" y="364975"/>
            <a:ext cx="10515600" cy="726958"/>
          </a:xfrm>
        </p:spPr>
        <p:txBody>
          <a:bodyPr>
            <a:normAutofit/>
          </a:bodyPr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QuestaSim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78363" y="1248937"/>
            <a:ext cx="6703743" cy="357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800" dirty="0" err="1"/>
              <a:t>QuestaSim</a:t>
            </a:r>
            <a:r>
              <a:rPr lang="zh-CN" altLang="en-US" sz="2800" dirty="0"/>
              <a:t>是</a:t>
            </a:r>
            <a:r>
              <a:rPr lang="en-US" altLang="zh-CN" sz="2800" dirty="0"/>
              <a:t>Modelsim</a:t>
            </a:r>
            <a:r>
              <a:rPr lang="zh-CN" altLang="en-US" sz="2800" dirty="0"/>
              <a:t>的扩展版，增加了</a:t>
            </a:r>
            <a:r>
              <a:rPr lang="en-US" altLang="zh-CN" sz="2800" dirty="0"/>
              <a:t>System Verilog</a:t>
            </a:r>
            <a:r>
              <a:rPr lang="zh-CN" altLang="en-US" sz="2800" dirty="0"/>
              <a:t>仿真的功能，除此之外，几乎没区别。</a:t>
            </a:r>
            <a:endParaRPr lang="en-US" altLang="zh-CN" sz="2800" dirty="0"/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zh-CN" altLang="en-US" sz="2800" b="1" dirty="0">
                <a:solidFill>
                  <a:srgbClr val="FF0000"/>
                </a:solidFill>
              </a:rPr>
              <a:t>解压</a:t>
            </a:r>
            <a:r>
              <a:rPr lang="zh-CN" altLang="en-US" sz="2800" dirty="0"/>
              <a:t>                        ，得到                </a:t>
            </a:r>
            <a:endParaRPr lang="en-US" altLang="zh-CN" sz="2800" dirty="0"/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2800" b="1" dirty="0"/>
              <a:t>双击</a:t>
            </a:r>
            <a:r>
              <a:rPr lang="zh-CN" altLang="en-US" sz="2800" b="1" dirty="0">
                <a:solidFill>
                  <a:srgbClr val="FF0000"/>
                </a:solidFill>
              </a:rPr>
              <a:t>安装</a:t>
            </a:r>
            <a:r>
              <a:rPr lang="zh-CN" altLang="en-US" sz="2800" dirty="0"/>
              <a:t>                     ，安装没有难度，不赘述。（最后一步如图选择否）</a:t>
            </a:r>
            <a:endParaRPr lang="en-US" altLang="zh-CN" sz="2800" dirty="0"/>
          </a:p>
          <a:p>
            <a:pPr marL="514350" indent="-51435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2800" dirty="0"/>
              <a:t>进入        ，得到             ，按照            </a:t>
            </a:r>
            <a:r>
              <a:rPr lang="zh-CN" altLang="en-US" sz="2800" b="1" dirty="0">
                <a:solidFill>
                  <a:srgbClr val="FF0000"/>
                </a:solidFill>
              </a:rPr>
              <a:t>破解</a:t>
            </a:r>
            <a:r>
              <a:rPr lang="zh-CN" altLang="en-US" sz="2800" dirty="0"/>
              <a:t>软件。      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7711665" y="1310047"/>
            <a:ext cx="3801972" cy="2347475"/>
            <a:chOff x="7511420" y="2071400"/>
            <a:chExt cx="3801972" cy="234747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1420" y="2071400"/>
              <a:ext cx="3801972" cy="2347475"/>
            </a:xfrm>
            <a:prstGeom prst="rect">
              <a:avLst/>
            </a:prstGeom>
          </p:spPr>
        </p:pic>
        <p:sp>
          <p:nvSpPr>
            <p:cNvPr id="6" name="圆角矩形 5"/>
            <p:cNvSpPr/>
            <p:nvPr/>
          </p:nvSpPr>
          <p:spPr>
            <a:xfrm>
              <a:off x="11040524" y="4222019"/>
              <a:ext cx="272868" cy="174653"/>
            </a:xfrm>
            <a:prstGeom prst="round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832" y="3880239"/>
            <a:ext cx="1276190" cy="69523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4165" y="2626992"/>
            <a:ext cx="2504762" cy="2571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016" y="2282262"/>
            <a:ext cx="1742857" cy="7809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7"/>
          <a:srcRect t="1" r="10143" b="4531"/>
          <a:stretch/>
        </p:blipFill>
        <p:spPr>
          <a:xfrm>
            <a:off x="2669306" y="3082498"/>
            <a:ext cx="2152075" cy="3138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8"/>
          <a:srcRect t="1" r="26339" b="11139"/>
          <a:stretch/>
        </p:blipFill>
        <p:spPr>
          <a:xfrm>
            <a:off x="1921812" y="4002771"/>
            <a:ext cx="876806" cy="3138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9"/>
          <a:srcRect r="24508"/>
          <a:stretch/>
        </p:blipFill>
        <p:spPr>
          <a:xfrm>
            <a:off x="6319236" y="4003750"/>
            <a:ext cx="1054385" cy="322336"/>
          </a:xfrm>
          <a:prstGeom prst="rect">
            <a:avLst/>
          </a:prstGeom>
        </p:spPr>
      </p:pic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89017F79-E3FC-4A6F-9FEF-82F3AD61FC23}"/>
              </a:ext>
            </a:extLst>
          </p:cNvPr>
          <p:cNvSpPr/>
          <p:nvPr/>
        </p:nvSpPr>
        <p:spPr>
          <a:xfrm>
            <a:off x="9902976" y="287491"/>
            <a:ext cx="1402080" cy="883920"/>
          </a:xfrm>
          <a:prstGeom prst="borderCallout2">
            <a:avLst>
              <a:gd name="adj1" fmla="val 39440"/>
              <a:gd name="adj2" fmla="val 98913"/>
              <a:gd name="adj3" fmla="val 57831"/>
              <a:gd name="adj4" fmla="val 145651"/>
              <a:gd name="adj5" fmla="val 372270"/>
              <a:gd name="adj6" fmla="val 1055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这儿选否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42343" y="5099938"/>
            <a:ext cx="6957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* </a:t>
            </a:r>
            <a:r>
              <a:rPr lang="zh-CN" altLang="en-US" sz="2400" b="1" dirty="0">
                <a:solidFill>
                  <a:srgbClr val="FF0000"/>
                </a:solidFill>
              </a:rPr>
              <a:t>安装路径不要有中文字符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* </a:t>
            </a:r>
            <a:r>
              <a:rPr lang="zh-CN" altLang="en-US" sz="2400" b="1" dirty="0">
                <a:solidFill>
                  <a:srgbClr val="FF0000"/>
                </a:solidFill>
              </a:rPr>
              <a:t>如果已经安装</a:t>
            </a:r>
            <a:r>
              <a:rPr lang="en-US" altLang="zh-CN" sz="2400" b="1" dirty="0" err="1">
                <a:solidFill>
                  <a:srgbClr val="FF0000"/>
                </a:solidFill>
              </a:rPr>
              <a:t>ModelSim</a:t>
            </a:r>
            <a:r>
              <a:rPr lang="zh-CN" altLang="en-US" sz="2400" b="1" dirty="0">
                <a:solidFill>
                  <a:srgbClr val="FF0000"/>
                </a:solidFill>
              </a:rPr>
              <a:t>，无需再安装</a:t>
            </a:r>
            <a:r>
              <a:rPr lang="en-US" altLang="zh-CN" sz="2400" b="1" dirty="0" err="1">
                <a:solidFill>
                  <a:srgbClr val="FF0000"/>
                </a:solidFill>
              </a:rPr>
              <a:t>QuestaSim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58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3822E-A354-41D0-4196-7527C7B9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破解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54189-389F-421C-B600-99F9ECD52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69" y="1600865"/>
            <a:ext cx="10816397" cy="388077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zh-CN" altLang="en-US" sz="2400" dirty="0"/>
              <a:t>将</a:t>
            </a:r>
            <a:r>
              <a:rPr lang="en-US" altLang="zh-CN" sz="2400" dirty="0"/>
              <a:t>Patch</a:t>
            </a:r>
            <a:r>
              <a:rPr lang="zh-CN" altLang="en-US" sz="2400" dirty="0"/>
              <a:t>文件夹中的</a:t>
            </a:r>
            <a:r>
              <a:rPr lang="en-US" altLang="zh-CN" sz="2400" dirty="0"/>
              <a:t>MentorKG.exe</a:t>
            </a:r>
            <a:r>
              <a:rPr lang="zh-CN" altLang="en-US" sz="2400" dirty="0"/>
              <a:t>和</a:t>
            </a:r>
            <a:r>
              <a:rPr lang="en-US" altLang="zh-CN" sz="2400" dirty="0"/>
              <a:t>patch64_dll.bat</a:t>
            </a:r>
            <a:r>
              <a:rPr lang="zh-CN" altLang="en-US" sz="2400" b="1" dirty="0">
                <a:solidFill>
                  <a:srgbClr val="FF0000"/>
                </a:solidFill>
              </a:rPr>
              <a:t>复制</a:t>
            </a:r>
            <a:r>
              <a:rPr lang="zh-CN" altLang="en-US" sz="2400" dirty="0"/>
              <a:t>到</a:t>
            </a:r>
            <a:r>
              <a:rPr lang="en-US" altLang="zh-CN" sz="2400" dirty="0" err="1"/>
              <a:t>questasim</a:t>
            </a:r>
            <a:r>
              <a:rPr lang="zh-CN" altLang="en-US" sz="2400" dirty="0"/>
              <a:t>安装目录下的</a:t>
            </a:r>
            <a:r>
              <a:rPr lang="en-US" altLang="zh-CN" sz="2400" dirty="0"/>
              <a:t>win64</a:t>
            </a:r>
            <a:r>
              <a:rPr lang="zh-CN" altLang="en-US" sz="2400" dirty="0"/>
              <a:t>子目录中（如</a:t>
            </a:r>
            <a:r>
              <a:rPr lang="en-US" altLang="zh-CN" sz="2400" dirty="0"/>
              <a:t>C:\questasim64_10.4e\win64</a:t>
            </a:r>
            <a:r>
              <a:rPr lang="zh-CN" altLang="en-US" sz="2400" dirty="0"/>
              <a:t>）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zh-CN" altLang="en-US" sz="2400" dirty="0"/>
              <a:t>打开</a:t>
            </a:r>
            <a:r>
              <a:rPr lang="en-US" altLang="zh-CN" sz="2400" dirty="0" err="1"/>
              <a:t>cmd</a:t>
            </a:r>
            <a:r>
              <a:rPr lang="zh-CN" altLang="en-US" sz="2400" dirty="0"/>
              <a:t>终端，输入命令：</a:t>
            </a:r>
            <a:r>
              <a:rPr lang="en-US" altLang="zh-CN" sz="2400" i="1" dirty="0">
                <a:solidFill>
                  <a:srgbClr val="0070C0"/>
                </a:solidFill>
              </a:rPr>
              <a:t>cd  C:\questasim64_10.4e\win64</a:t>
            </a:r>
            <a:r>
              <a:rPr lang="zh-CN" altLang="en-US" sz="2400" dirty="0"/>
              <a:t>，</a:t>
            </a:r>
            <a:r>
              <a:rPr lang="zh-CN" altLang="en-US" sz="2400" b="1" dirty="0">
                <a:solidFill>
                  <a:srgbClr val="FF0000"/>
                </a:solidFill>
              </a:rPr>
              <a:t>运行</a:t>
            </a:r>
            <a:r>
              <a:rPr lang="en-US" altLang="zh-CN" sz="2400" dirty="0"/>
              <a:t>patch64_dll.bat</a:t>
            </a:r>
            <a:r>
              <a:rPr lang="zh-CN" altLang="en-US" sz="2400" dirty="0"/>
              <a:t>生成</a:t>
            </a:r>
            <a:r>
              <a:rPr lang="en-US" altLang="zh-CN" sz="2400" dirty="0"/>
              <a:t>license</a:t>
            </a:r>
            <a:r>
              <a:rPr lang="zh-CN" altLang="en-US" sz="2400" dirty="0"/>
              <a:t>文件，将</a:t>
            </a:r>
            <a:r>
              <a:rPr lang="en-US" altLang="zh-CN" sz="2400" dirty="0"/>
              <a:t>license</a:t>
            </a:r>
            <a:r>
              <a:rPr lang="zh-CN" altLang="en-US" sz="2400" dirty="0"/>
              <a:t>文件</a:t>
            </a:r>
            <a:r>
              <a:rPr lang="zh-CN" altLang="en-US" sz="2400" b="1" dirty="0">
                <a:solidFill>
                  <a:srgbClr val="FF0000"/>
                </a:solidFill>
              </a:rPr>
              <a:t>另存</a:t>
            </a:r>
            <a:r>
              <a:rPr lang="zh-CN" altLang="en-US" sz="2400" dirty="0"/>
              <a:t>到</a:t>
            </a:r>
            <a:r>
              <a:rPr lang="en-US" altLang="zh-CN" sz="2400" dirty="0"/>
              <a:t>C:\questasim64_10.4e\LICENSE.txt</a:t>
            </a:r>
            <a:r>
              <a:rPr lang="zh-CN" altLang="en-US" sz="2400" dirty="0"/>
              <a:t>文件夹中。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zh-CN" altLang="en-US" sz="2400" b="1" dirty="0">
                <a:solidFill>
                  <a:srgbClr val="FF0000"/>
                </a:solidFill>
              </a:rPr>
              <a:t>设置</a:t>
            </a:r>
            <a:r>
              <a:rPr lang="zh-CN" altLang="en-US" sz="2400" dirty="0"/>
              <a:t>环境变量。“我的电脑</a:t>
            </a:r>
            <a:r>
              <a:rPr lang="en-US" altLang="zh-CN" sz="2400" dirty="0"/>
              <a:t>–</a:t>
            </a:r>
            <a:r>
              <a:rPr lang="zh-CN" altLang="en-US" sz="2400" dirty="0"/>
              <a:t>属性</a:t>
            </a:r>
            <a:r>
              <a:rPr lang="en-US" altLang="zh-CN" sz="2400" dirty="0"/>
              <a:t>–</a:t>
            </a:r>
            <a:r>
              <a:rPr lang="zh-CN" altLang="en-US" sz="2400" dirty="0"/>
              <a:t>高级系统设置</a:t>
            </a:r>
            <a:r>
              <a:rPr lang="en-US" altLang="zh-CN" sz="2400" dirty="0"/>
              <a:t>–</a:t>
            </a:r>
            <a:r>
              <a:rPr lang="zh-CN" altLang="en-US" sz="2400" dirty="0"/>
              <a:t>环境变量</a:t>
            </a:r>
            <a:r>
              <a:rPr lang="en-US" altLang="zh-CN" sz="2400" dirty="0"/>
              <a:t>-</a:t>
            </a:r>
            <a:r>
              <a:rPr lang="zh-CN" altLang="en-US" sz="2400" dirty="0"/>
              <a:t>新建用户变量”：</a:t>
            </a:r>
            <a:r>
              <a:rPr lang="en-US" altLang="zh-CN" sz="2400" dirty="0">
                <a:solidFill>
                  <a:srgbClr val="0070C0"/>
                </a:solidFill>
              </a:rPr>
              <a:t>LM_LICENSE_FILE=C:\questasim64_10.4e\LICENSE.txt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09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E2B9A-60AA-2490-2184-594E2E62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ECD4D-35AA-4D32-A79C-31FB1B62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C58E1B-33CE-13EA-8C8B-285B7B39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50" y="439027"/>
            <a:ext cx="10266300" cy="59799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8029D77-67E5-9C1E-6193-C7A6ABC97E9D}"/>
              </a:ext>
            </a:extLst>
          </p:cNvPr>
          <p:cNvSpPr/>
          <p:nvPr/>
        </p:nvSpPr>
        <p:spPr>
          <a:xfrm>
            <a:off x="1075113" y="3131127"/>
            <a:ext cx="1524000" cy="3380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B9C53B81-822D-3918-A1E9-5A9E94437A93}"/>
              </a:ext>
            </a:extLst>
          </p:cNvPr>
          <p:cNvSpPr/>
          <p:nvPr/>
        </p:nvSpPr>
        <p:spPr>
          <a:xfrm>
            <a:off x="1834342" y="4444538"/>
            <a:ext cx="2382982" cy="748146"/>
          </a:xfrm>
          <a:prstGeom prst="borderCallout2">
            <a:avLst>
              <a:gd name="adj1" fmla="val 18750"/>
              <a:gd name="adj2" fmla="val -8333"/>
              <a:gd name="adj3" fmla="val -39028"/>
              <a:gd name="adj4" fmla="val -10388"/>
              <a:gd name="adj5" fmla="val -130463"/>
              <a:gd name="adj6" fmla="val -101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不用管这个提示，只要最终生成</a:t>
            </a:r>
            <a:r>
              <a:rPr lang="en-US" altLang="zh-CN" dirty="0"/>
              <a:t>LICENSE</a:t>
            </a:r>
            <a:r>
              <a:rPr lang="zh-CN" altLang="en-US" dirty="0"/>
              <a:t>文件就行</a:t>
            </a:r>
          </a:p>
        </p:txBody>
      </p:sp>
    </p:spTree>
    <p:extLst>
      <p:ext uri="{BB962C8B-B14F-4D97-AF65-F5344CB8AC3E}">
        <p14:creationId xmlns:p14="http://schemas.microsoft.com/office/powerpoint/2010/main" val="121460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CAAE0-9106-4833-9066-35E3EB107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443" y="2587081"/>
            <a:ext cx="9144000" cy="967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Questasim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基本用法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50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AE321-AABF-47AF-8BD2-7C50DAC1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altLang="zh-CN" b="1" dirty="0" err="1"/>
              <a:t>QuestaSim</a:t>
            </a:r>
            <a:r>
              <a:rPr lang="en-US" altLang="zh-CN" b="1" dirty="0"/>
              <a:t> </a:t>
            </a:r>
            <a:r>
              <a:rPr lang="zh-CN" altLang="en-US" b="1" dirty="0"/>
              <a:t>简介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2E281F-F662-45BD-8B97-E025E24FD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5839691" cy="4805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       </a:t>
            </a:r>
            <a:r>
              <a:rPr lang="en-US" altLang="zh-CN" sz="2800" dirty="0" err="1"/>
              <a:t>QuestaSim</a:t>
            </a:r>
            <a:r>
              <a:rPr lang="zh-CN" altLang="zh-CN" sz="2800" dirty="0"/>
              <a:t>是</a:t>
            </a:r>
            <a:r>
              <a:rPr lang="en-US" altLang="zh-CN" sz="2800" dirty="0"/>
              <a:t>Model Technology</a:t>
            </a:r>
            <a:r>
              <a:rPr lang="zh-CN" altLang="zh-CN" sz="2800" dirty="0"/>
              <a:t>（</a:t>
            </a:r>
            <a:r>
              <a:rPr lang="en-US" altLang="zh-CN" sz="2800" dirty="0"/>
              <a:t>Mentor Graphics</a:t>
            </a:r>
            <a:r>
              <a:rPr lang="zh-CN" altLang="zh-CN" sz="2800" dirty="0"/>
              <a:t>的子公司）的</a:t>
            </a:r>
            <a:r>
              <a:rPr lang="en-US" altLang="zh-CN" sz="2800" dirty="0"/>
              <a:t>HDL</a:t>
            </a:r>
            <a:r>
              <a:rPr lang="zh-CN" altLang="zh-CN" sz="2800" dirty="0"/>
              <a:t>硬件描述语言的仿真软件，该软件可以用来实现对</a:t>
            </a:r>
            <a:r>
              <a:rPr lang="en-US" altLang="zh-CN" sz="2800" dirty="0"/>
              <a:t>VHDL</a:t>
            </a:r>
            <a:r>
              <a:rPr lang="zh-CN" altLang="zh-CN" sz="2800" dirty="0"/>
              <a:t>、</a:t>
            </a:r>
            <a:r>
              <a:rPr lang="en-US" altLang="zh-CN" sz="2800" dirty="0"/>
              <a:t>Verilog HDL</a:t>
            </a:r>
            <a:r>
              <a:rPr lang="zh-CN" altLang="zh-CN" sz="2800" dirty="0"/>
              <a:t>或是两种语言混合的程序进行仿真，同时也支持</a:t>
            </a:r>
            <a:r>
              <a:rPr lang="en-US" altLang="zh-CN" sz="2800" dirty="0"/>
              <a:t>IEEE</a:t>
            </a:r>
            <a:r>
              <a:rPr lang="zh-CN" altLang="zh-CN" sz="2800" dirty="0"/>
              <a:t>常见的各种硬件描述语言标准。</a:t>
            </a:r>
          </a:p>
          <a:p>
            <a:pPr marL="0" indent="45720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QuestaSim</a:t>
            </a:r>
            <a:r>
              <a:rPr lang="zh-CN" altLang="zh-CN" sz="2800" dirty="0"/>
              <a:t>不仅可以用于数字电路系统设计的功能仿真，还可以应用于数字电路系统设计的时序仿真。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A7AA0D9-9254-4351-82BB-1646B29702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170341"/>
              </p:ext>
            </p:extLst>
          </p:nvPr>
        </p:nvGraphicFramePr>
        <p:xfrm>
          <a:off x="7283356" y="565708"/>
          <a:ext cx="2258087" cy="5841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328760" imgH="3431520" progId="Visio.Drawing.11">
                  <p:embed/>
                </p:oleObj>
              </mc:Choice>
              <mc:Fallback>
                <p:oleObj name="Visio" r:id="rId2" imgW="1328760" imgH="343152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356" y="565708"/>
                        <a:ext cx="2258087" cy="5841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428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20838-752B-4B59-B500-12F9052D6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6440" cy="843915"/>
          </a:xfrm>
        </p:spPr>
        <p:txBody>
          <a:bodyPr/>
          <a:lstStyle/>
          <a:p>
            <a:r>
              <a:rPr lang="en-US" altLang="zh-CN" dirty="0" err="1"/>
              <a:t>QuestaSim</a:t>
            </a:r>
            <a:r>
              <a:rPr lang="zh-CN" altLang="en-US" b="1" dirty="0"/>
              <a:t>界面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94E57D3D-614B-4BCC-B501-030302D90D6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112" y="1119043"/>
            <a:ext cx="9639724" cy="54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98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84534F83-16EB-4C4C-ABA7-8FA5A525C346}"/>
              </a:ext>
            </a:extLst>
          </p:cNvPr>
          <p:cNvGrpSpPr/>
          <p:nvPr/>
        </p:nvGrpSpPr>
        <p:grpSpPr>
          <a:xfrm>
            <a:off x="228600" y="147485"/>
            <a:ext cx="14371320" cy="6563029"/>
            <a:chOff x="350520" y="0"/>
            <a:chExt cx="14620240" cy="6563029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51B8342-9504-4014-8064-6BBFC3898574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520" y="519838"/>
              <a:ext cx="4356100" cy="2864475"/>
            </a:xfrm>
            <a:prstGeom prst="rect">
              <a:avLst/>
            </a:prstGeom>
          </p:spPr>
        </p:pic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F6BC039-28B9-47CC-A16B-39707937D1A1}"/>
                </a:ext>
              </a:extLst>
            </p:cNvPr>
            <p:cNvGrpSpPr/>
            <p:nvPr/>
          </p:nvGrpSpPr>
          <p:grpSpPr>
            <a:xfrm>
              <a:off x="2194560" y="0"/>
              <a:ext cx="12776200" cy="6563029"/>
              <a:chOff x="1981200" y="0"/>
              <a:chExt cx="12776200" cy="6563029"/>
            </a:xfrm>
          </p:grpSpPr>
          <p:sp>
            <p:nvSpPr>
              <p:cNvPr id="12" name="Rectangle 13">
                <a:extLst>
                  <a:ext uri="{FF2B5EF4-FFF2-40B4-BE49-F238E27FC236}">
                    <a16:creationId xmlns:a16="http://schemas.microsoft.com/office/drawing/2014/main" id="{DE9A89D3-DF9A-46CE-9EAE-51EFF4134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1200" y="0"/>
                <a:ext cx="12192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Rectangle 14">
                <a:extLst>
                  <a:ext uri="{FF2B5EF4-FFF2-40B4-BE49-F238E27FC236}">
                    <a16:creationId xmlns:a16="http://schemas.microsoft.com/office/drawing/2014/main" id="{BE24C009-66E4-4EFF-9B29-3C863D0F3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5400" y="457200"/>
                <a:ext cx="12192000" cy="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indent="2667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2667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br>
                  <a:rPr kumimoji="0" lang="zh-CN" altLang="zh-CN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</a:br>
                <a:endParaRPr kumimoji="0" lang="zh-CN" altLang="zh-CN" sz="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2667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br>
                  <a:rPr kumimoji="0" lang="zh-CN" altLang="zh-CN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</a:b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2667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D83B795E-323C-4354-9DF4-07A2D23FD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5400" y="457200"/>
                <a:ext cx="12192000" cy="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endParaRPr lang="zh-CN" altLang="en-US"/>
              </a:p>
            </p:txBody>
          </p:sp>
          <p:pic>
            <p:nvPicPr>
              <p:cNvPr id="21" name="图片 20">
                <a:extLst>
                  <a:ext uri="{FF2B5EF4-FFF2-40B4-BE49-F238E27FC236}">
                    <a16:creationId xmlns:a16="http://schemas.microsoft.com/office/drawing/2014/main" id="{3B456408-7281-4231-992F-C7D4521FD776}"/>
                  </a:ext>
                </a:extLst>
              </p:cNvPr>
              <p:cNvPicPr/>
              <p:nvPr/>
            </p:nvPicPr>
            <p:blipFill rotWithShape="1">
              <a:blip r:embed="rId3"/>
              <a:srcRect t="2777"/>
              <a:stretch/>
            </p:blipFill>
            <p:spPr>
              <a:xfrm>
                <a:off x="4706620" y="2019245"/>
                <a:ext cx="6657340" cy="4543784"/>
              </a:xfrm>
              <a:prstGeom prst="rect">
                <a:avLst/>
              </a:prstGeom>
            </p:spPr>
          </p:pic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E6D786C6-DEF7-4565-B853-9D183DB193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4720" y="1645920"/>
                <a:ext cx="1757680" cy="1890406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E9697D9E-88A4-4F8C-B07D-5772F63F3D69}"/>
                  </a:ext>
                </a:extLst>
              </p:cNvPr>
              <p:cNvSpPr/>
              <p:nvPr/>
            </p:nvSpPr>
            <p:spPr>
              <a:xfrm>
                <a:off x="7331710" y="4147185"/>
                <a:ext cx="495300" cy="31115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FCB46DCF-BA6C-4B19-82EA-C437F44EF9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94930" y="3094517"/>
                <a:ext cx="503555" cy="109394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对话气泡: 椭圆形 29">
                <a:extLst>
                  <a:ext uri="{FF2B5EF4-FFF2-40B4-BE49-F238E27FC236}">
                    <a16:creationId xmlns:a16="http://schemas.microsoft.com/office/drawing/2014/main" id="{B54BFD93-DA4F-4D2F-B4F9-48A1EFB54C67}"/>
                  </a:ext>
                </a:extLst>
              </p:cNvPr>
              <p:cNvSpPr/>
              <p:nvPr/>
            </p:nvSpPr>
            <p:spPr>
              <a:xfrm>
                <a:off x="2800357" y="2966430"/>
                <a:ext cx="1875149" cy="710458"/>
              </a:xfrm>
              <a:prstGeom prst="wedgeEllipseCallout">
                <a:avLst>
                  <a:gd name="adj1" fmla="val 85260"/>
                  <a:gd name="adj2" fmla="val 64426"/>
                </a:avLst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0"/>
                  </a:spcAft>
                </a:pPr>
                <a:r>
                  <a:rPr lang="zh-CN" sz="12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工程名和顶层文件名保持一致</a:t>
                </a:r>
                <a:endParaRPr lang="zh-CN" sz="1200" dirty="0">
                  <a:effectLst/>
                  <a:latin typeface="Times New Roman" panose="02020603050405020304" pitchFamily="18" charset="0"/>
                  <a:ea typeface="等线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B26CE1DE-A3E8-4BBD-82C0-B623F5A045DF}"/>
              </a:ext>
            </a:extLst>
          </p:cNvPr>
          <p:cNvSpPr txBox="1"/>
          <p:nvPr/>
        </p:nvSpPr>
        <p:spPr>
          <a:xfrm>
            <a:off x="5635256" y="599117"/>
            <a:ext cx="571322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2.1 </a:t>
            </a:r>
            <a:r>
              <a:rPr lang="zh-CN" altLang="en-US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创建工程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A3BA62F-1B36-4F59-AA52-329F9A83C5A3}"/>
              </a:ext>
            </a:extLst>
          </p:cNvPr>
          <p:cNvSpPr/>
          <p:nvPr/>
        </p:nvSpPr>
        <p:spPr>
          <a:xfrm>
            <a:off x="8788400" y="3622795"/>
            <a:ext cx="802640" cy="2176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A3CDC5-B307-E6D0-D87B-8E06DABEAE0B}"/>
              </a:ext>
            </a:extLst>
          </p:cNvPr>
          <p:cNvSpPr txBox="1"/>
          <p:nvPr/>
        </p:nvSpPr>
        <p:spPr>
          <a:xfrm>
            <a:off x="522514" y="4686020"/>
            <a:ext cx="3782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</a:rPr>
              <a:t>注意：</a:t>
            </a:r>
            <a:r>
              <a:rPr lang="zh-CN" altLang="en-US" sz="2400" dirty="0">
                <a:solidFill>
                  <a:srgbClr val="FF0000"/>
                </a:solidFill>
              </a:rPr>
              <a:t>工程目录要提前创建好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QuestaSim</a:t>
            </a:r>
            <a:r>
              <a:rPr lang="zh-CN" altLang="en-US" sz="2400" dirty="0">
                <a:solidFill>
                  <a:schemeClr val="tx1"/>
                </a:solidFill>
              </a:rPr>
              <a:t>不会自动创建工程目录</a:t>
            </a:r>
          </a:p>
        </p:txBody>
      </p:sp>
    </p:spTree>
    <p:extLst>
      <p:ext uri="{BB962C8B-B14F-4D97-AF65-F5344CB8AC3E}">
        <p14:creationId xmlns:p14="http://schemas.microsoft.com/office/powerpoint/2010/main" val="212319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E224E-038F-4A8D-936A-321D07C1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561"/>
            <a:ext cx="10515600" cy="785581"/>
          </a:xfrm>
        </p:spPr>
        <p:txBody>
          <a:bodyPr/>
          <a:lstStyle/>
          <a:p>
            <a:r>
              <a:rPr lang="en-US" altLang="zh-CN" b="1" dirty="0"/>
              <a:t>2.2 </a:t>
            </a:r>
            <a:r>
              <a:rPr lang="zh-CN" altLang="en-US" b="1" dirty="0"/>
              <a:t>打开已有工程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A70DA23-F0A1-4FBB-B383-8548BFD7E80C}"/>
              </a:ext>
            </a:extLst>
          </p:cNvPr>
          <p:cNvGrpSpPr/>
          <p:nvPr/>
        </p:nvGrpSpPr>
        <p:grpSpPr>
          <a:xfrm>
            <a:off x="1200037" y="493160"/>
            <a:ext cx="9791925" cy="6051086"/>
            <a:chOff x="977905" y="18541"/>
            <a:chExt cx="10560627" cy="660789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E86FA96-67BF-405A-8815-636982844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7905" y="1086493"/>
              <a:ext cx="3968954" cy="3803845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742AD45-129A-4220-85DD-775B2C988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7767" y="2602138"/>
              <a:ext cx="4480389" cy="4024301"/>
            </a:xfrm>
            <a:prstGeom prst="rect">
              <a:avLst/>
            </a:prstGeom>
          </p:spPr>
        </p:pic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C2B96F98-8CFA-4403-AD2B-7D75DD3B7BAB}"/>
                </a:ext>
              </a:extLst>
            </p:cNvPr>
            <p:cNvCxnSpPr>
              <a:cxnSpLocks/>
            </p:cNvCxnSpPr>
            <p:nvPr/>
          </p:nvCxnSpPr>
          <p:spPr>
            <a:xfrm>
              <a:off x="2578813" y="1808252"/>
              <a:ext cx="3968954" cy="223976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C71AACB-AC86-43AE-B6A1-9CAF83FBDF2C}"/>
                </a:ext>
              </a:extLst>
            </p:cNvPr>
            <p:cNvSpPr/>
            <p:nvPr/>
          </p:nvSpPr>
          <p:spPr>
            <a:xfrm>
              <a:off x="7344724" y="3667873"/>
              <a:ext cx="1498164" cy="2054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C29EF09-A793-4B31-BC3D-2B737C0C4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9724" y="18541"/>
              <a:ext cx="4038808" cy="2425825"/>
            </a:xfrm>
            <a:prstGeom prst="rect">
              <a:avLst/>
            </a:prstGeom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475DA60-3E55-45A9-8F28-E35E9383E521}"/>
                </a:ext>
              </a:extLst>
            </p:cNvPr>
            <p:cNvCxnSpPr/>
            <p:nvPr/>
          </p:nvCxnSpPr>
          <p:spPr>
            <a:xfrm flipV="1">
              <a:off x="7951045" y="1623317"/>
              <a:ext cx="1860775" cy="204455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47773BB-4264-4F73-8044-EA7408E65F7E}"/>
                </a:ext>
              </a:extLst>
            </p:cNvPr>
            <p:cNvSpPr/>
            <p:nvPr/>
          </p:nvSpPr>
          <p:spPr>
            <a:xfrm>
              <a:off x="9647434" y="1304818"/>
              <a:ext cx="523982" cy="3184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24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CACD5B2-80B8-4285-8F72-9790A80E0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661" y="2093021"/>
            <a:ext cx="5200917" cy="3816546"/>
          </a:xfrm>
          <a:prstGeom prst="rect">
            <a:avLst/>
          </a:prstGeom>
        </p:spPr>
      </p:pic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24704154-3E66-47CB-8F23-3E2618493CA6}"/>
              </a:ext>
            </a:extLst>
          </p:cNvPr>
          <p:cNvSpPr/>
          <p:nvPr/>
        </p:nvSpPr>
        <p:spPr>
          <a:xfrm>
            <a:off x="1437639" y="1958084"/>
            <a:ext cx="2814320" cy="1656080"/>
          </a:xfrm>
          <a:prstGeom prst="cloudCallout">
            <a:avLst>
              <a:gd name="adj1" fmla="val 43788"/>
              <a:gd name="adj2" fmla="val 8888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空白处右击鼠标，右键菜单项可以调出添加文件到工程的功能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ED379FA-DA16-406B-9FF1-A280BF2B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r>
              <a:rPr lang="zh-CN" altLang="zh-CN" dirty="0"/>
              <a:t> </a:t>
            </a:r>
            <a:r>
              <a:rPr lang="en-US" altLang="zh-CN" b="1" dirty="0"/>
              <a:t>2.3 </a:t>
            </a:r>
            <a:r>
              <a:rPr lang="zh-CN" altLang="zh-CN" b="1" dirty="0"/>
              <a:t>给工程中添加文件</a:t>
            </a:r>
            <a:r>
              <a:rPr lang="zh-CN" altLang="en-US" b="1" dirty="0"/>
              <a:t>（新文件）</a:t>
            </a:r>
          </a:p>
        </p:txBody>
      </p:sp>
    </p:spTree>
    <p:extLst>
      <p:ext uri="{BB962C8B-B14F-4D97-AF65-F5344CB8AC3E}">
        <p14:creationId xmlns:p14="http://schemas.microsoft.com/office/powerpoint/2010/main" val="337989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E4B8244D-BBEC-4619-A1F2-3C610409340C}"/>
              </a:ext>
            </a:extLst>
          </p:cNvPr>
          <p:cNvGrpSpPr/>
          <p:nvPr/>
        </p:nvGrpSpPr>
        <p:grpSpPr>
          <a:xfrm>
            <a:off x="448309" y="1229042"/>
            <a:ext cx="5727700" cy="2501265"/>
            <a:chOff x="448309" y="1229042"/>
            <a:chExt cx="5727700" cy="250126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AB0D43A-C8EC-435A-BB54-6495BCF1E18C}"/>
                </a:ext>
              </a:extLst>
            </p:cNvPr>
            <p:cNvGrpSpPr/>
            <p:nvPr/>
          </p:nvGrpSpPr>
          <p:grpSpPr>
            <a:xfrm>
              <a:off x="448309" y="1229042"/>
              <a:ext cx="5727700" cy="2501265"/>
              <a:chOff x="448309" y="1229042"/>
              <a:chExt cx="5727700" cy="2501265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F2945A0-2145-44C5-BB3F-4300238B0CEC}"/>
                  </a:ext>
                </a:extLst>
              </p:cNvPr>
              <p:cNvGrpSpPr/>
              <p:nvPr/>
            </p:nvGrpSpPr>
            <p:grpSpPr>
              <a:xfrm>
                <a:off x="448309" y="1229042"/>
                <a:ext cx="5727700" cy="2501265"/>
                <a:chOff x="671829" y="1481456"/>
                <a:chExt cx="5727700" cy="2501265"/>
              </a:xfrm>
            </p:grpSpPr>
            <p:pic>
              <p:nvPicPr>
                <p:cNvPr id="4" name="图片 3">
                  <a:extLst>
                    <a:ext uri="{FF2B5EF4-FFF2-40B4-BE49-F238E27FC236}">
                      <a16:creationId xmlns:a16="http://schemas.microsoft.com/office/drawing/2014/main" id="{B0BC847A-3B6E-4027-8F2A-7A90FBC10CD1}"/>
                    </a:ext>
                  </a:extLst>
                </p:cNvPr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1829" y="1481456"/>
                  <a:ext cx="5727700" cy="2501265"/>
                </a:xfrm>
                <a:prstGeom prst="rect">
                  <a:avLst/>
                </a:prstGeom>
              </p:spPr>
            </p:pic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D9D87160-2376-4B01-8A14-740970BE8BFD}"/>
                    </a:ext>
                  </a:extLst>
                </p:cNvPr>
                <p:cNvSpPr/>
                <p:nvPr/>
              </p:nvSpPr>
              <p:spPr>
                <a:xfrm>
                  <a:off x="2804160" y="3048000"/>
                  <a:ext cx="965200" cy="381000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1D2465ED-455C-4EBA-A309-688A62F6DA15}"/>
                  </a:ext>
                </a:extLst>
              </p:cNvPr>
              <p:cNvSpPr/>
              <p:nvPr/>
            </p:nvSpPr>
            <p:spPr>
              <a:xfrm>
                <a:off x="711200" y="1747520"/>
                <a:ext cx="775877" cy="612648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DEF36985-9729-460F-835A-4EF4B4BB415F}"/>
                </a:ext>
              </a:extLst>
            </p:cNvPr>
            <p:cNvCxnSpPr>
              <a:stCxn id="3" idx="3"/>
            </p:cNvCxnSpPr>
            <p:nvPr/>
          </p:nvCxnSpPr>
          <p:spPr>
            <a:xfrm>
              <a:off x="1487077" y="2053844"/>
              <a:ext cx="1093563" cy="50647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ED379FA-DA16-406B-9FF1-A280BF2B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endParaRPr lang="zh-CN" altLang="en-US" b="1" dirty="0"/>
          </a:p>
        </p:txBody>
      </p:sp>
      <p:sp>
        <p:nvSpPr>
          <p:cNvPr id="9" name="箭头: 虚尾 8">
            <a:extLst>
              <a:ext uri="{FF2B5EF4-FFF2-40B4-BE49-F238E27FC236}">
                <a16:creationId xmlns:a16="http://schemas.microsoft.com/office/drawing/2014/main" id="{091E06BF-ECA1-47FD-90D7-5237FF2086D0}"/>
              </a:ext>
            </a:extLst>
          </p:cNvPr>
          <p:cNvSpPr/>
          <p:nvPr/>
        </p:nvSpPr>
        <p:spPr>
          <a:xfrm rot="2092001">
            <a:off x="3545379" y="3437848"/>
            <a:ext cx="1193722" cy="80105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8354A8-65DF-47B6-925E-FEA7F8CA358F}"/>
              </a:ext>
            </a:extLst>
          </p:cNvPr>
          <p:cNvGrpSpPr/>
          <p:nvPr/>
        </p:nvGrpSpPr>
        <p:grpSpPr>
          <a:xfrm>
            <a:off x="4674872" y="2804369"/>
            <a:ext cx="5727700" cy="2824589"/>
            <a:chOff x="4725672" y="2721183"/>
            <a:chExt cx="5727700" cy="282458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8B6F557-0F51-49CF-AC1E-A9E4918BA84D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725672" y="3730307"/>
              <a:ext cx="5727700" cy="1815465"/>
            </a:xfrm>
            <a:prstGeom prst="rect">
              <a:avLst/>
            </a:prstGeom>
          </p:spPr>
        </p:pic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A20096C-147A-44F1-8CE2-6174BAB8C76C}"/>
                </a:ext>
              </a:extLst>
            </p:cNvPr>
            <p:cNvSpPr/>
            <p:nvPr/>
          </p:nvSpPr>
          <p:spPr>
            <a:xfrm>
              <a:off x="6234158" y="4104640"/>
              <a:ext cx="447040" cy="702944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对话气泡: 椭圆形 11">
              <a:extLst>
                <a:ext uri="{FF2B5EF4-FFF2-40B4-BE49-F238E27FC236}">
                  <a16:creationId xmlns:a16="http://schemas.microsoft.com/office/drawing/2014/main" id="{F6E4D772-26BF-4F35-9682-D365BFA7B9F7}"/>
                </a:ext>
              </a:extLst>
            </p:cNvPr>
            <p:cNvSpPr/>
            <p:nvPr/>
          </p:nvSpPr>
          <p:spPr>
            <a:xfrm>
              <a:off x="7018925" y="2721183"/>
              <a:ext cx="1619886" cy="894715"/>
            </a:xfrm>
            <a:prstGeom prst="wedgeEllipseCallout">
              <a:avLst>
                <a:gd name="adj1" fmla="val -76991"/>
                <a:gd name="adj2" fmla="val 107372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?</a:t>
              </a:r>
              <a:r>
                <a:rPr lang="zh-CN" altLang="en-US" dirty="0">
                  <a:solidFill>
                    <a:schemeClr val="accent1"/>
                  </a:solidFill>
                </a:rPr>
                <a:t>表示没有编译</a:t>
              </a:r>
            </a:p>
          </p:txBody>
        </p:sp>
      </p:grpSp>
      <p:sp>
        <p:nvSpPr>
          <p:cNvPr id="14" name="对话气泡: 椭圆形 13">
            <a:extLst>
              <a:ext uri="{FF2B5EF4-FFF2-40B4-BE49-F238E27FC236}">
                <a16:creationId xmlns:a16="http://schemas.microsoft.com/office/drawing/2014/main" id="{FF0240C7-B19D-4223-8254-B54413FB8C3E}"/>
              </a:ext>
            </a:extLst>
          </p:cNvPr>
          <p:cNvSpPr/>
          <p:nvPr/>
        </p:nvSpPr>
        <p:spPr>
          <a:xfrm>
            <a:off x="1487077" y="3697890"/>
            <a:ext cx="1275262" cy="612648"/>
          </a:xfrm>
          <a:prstGeom prst="wedgeEllipseCallout">
            <a:avLst>
              <a:gd name="adj1" fmla="val 59981"/>
              <a:gd name="adj2" fmla="val -138086"/>
            </a:avLst>
          </a:prstGeom>
          <a:solidFill>
            <a:schemeClr val="accent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选择</a:t>
            </a:r>
            <a:r>
              <a:rPr lang="en-US" altLang="zh-CN" dirty="0" err="1"/>
              <a:t>verilog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07260" y="5495624"/>
            <a:ext cx="562313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注意：必须先这样创建好</a:t>
            </a:r>
            <a:r>
              <a:rPr lang="en-US" altLang="zh-CN" sz="2400" dirty="0"/>
              <a:t>.v</a:t>
            </a:r>
            <a:r>
              <a:rPr lang="zh-CN" altLang="en-US" sz="2400" dirty="0"/>
              <a:t>文件后，再用</a:t>
            </a:r>
            <a:r>
              <a:rPr lang="en-US" altLang="zh-CN" sz="2400" dirty="0"/>
              <a:t>notepad++</a:t>
            </a:r>
            <a:r>
              <a:rPr lang="zh-CN" altLang="en-US" sz="2400" dirty="0"/>
              <a:t>或其它编辑器编辑</a:t>
            </a:r>
          </a:p>
        </p:txBody>
      </p:sp>
    </p:spTree>
    <p:extLst>
      <p:ext uri="{BB962C8B-B14F-4D97-AF65-F5344CB8AC3E}">
        <p14:creationId xmlns:p14="http://schemas.microsoft.com/office/powerpoint/2010/main" val="1135805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C5740-4A02-4CF3-B6F6-E837CE98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01" y="194701"/>
            <a:ext cx="10515600" cy="793115"/>
          </a:xfrm>
        </p:spPr>
        <p:txBody>
          <a:bodyPr>
            <a:normAutofit/>
          </a:bodyPr>
          <a:lstStyle/>
          <a:p>
            <a:r>
              <a:rPr lang="en-US" altLang="zh-CN" b="1" dirty="0"/>
              <a:t>2.4 </a:t>
            </a:r>
            <a:r>
              <a:rPr lang="zh-CN" altLang="en-US" b="1" dirty="0"/>
              <a:t>给工程中添加已存在的文件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D89D9A0-4A1B-4B0C-98A2-F98151661464}"/>
              </a:ext>
            </a:extLst>
          </p:cNvPr>
          <p:cNvGrpSpPr/>
          <p:nvPr/>
        </p:nvGrpSpPr>
        <p:grpSpPr>
          <a:xfrm>
            <a:off x="703460" y="1400081"/>
            <a:ext cx="9734056" cy="5263218"/>
            <a:chOff x="703460" y="1400081"/>
            <a:chExt cx="9734056" cy="526321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DC8B386-C38A-4DA3-9DC6-2953ED0D3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460" y="1400081"/>
              <a:ext cx="4648439" cy="3651438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5A3E6D3-61CA-412B-A9CC-49610768B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17321" y="3321807"/>
              <a:ext cx="3720195" cy="3341492"/>
            </a:xfrm>
            <a:prstGeom prst="rect">
              <a:avLst/>
            </a:prstGeom>
          </p:spPr>
        </p:pic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02465B05-F042-4AD8-8D7C-42CD7E0E7939}"/>
                </a:ext>
              </a:extLst>
            </p:cNvPr>
            <p:cNvCxnSpPr>
              <a:cxnSpLocks/>
            </p:cNvCxnSpPr>
            <p:nvPr/>
          </p:nvCxnSpPr>
          <p:spPr>
            <a:xfrm>
              <a:off x="5151120" y="3962400"/>
              <a:ext cx="1566201" cy="27709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425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C2931-63D4-4844-824A-AC5D9023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" y="192406"/>
            <a:ext cx="10515600" cy="881290"/>
          </a:xfrm>
        </p:spPr>
        <p:txBody>
          <a:bodyPr/>
          <a:lstStyle/>
          <a:p>
            <a:r>
              <a:rPr lang="en-US" altLang="zh-CN" b="1" dirty="0"/>
              <a:t>2.5 </a:t>
            </a:r>
            <a:r>
              <a:rPr lang="zh-CN" altLang="en-US" b="1" dirty="0"/>
              <a:t>从工程中删除文件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FF28AD6-C7CB-4D42-8CB0-2A969140263E}"/>
              </a:ext>
            </a:extLst>
          </p:cNvPr>
          <p:cNvGrpSpPr/>
          <p:nvPr/>
        </p:nvGrpSpPr>
        <p:grpSpPr>
          <a:xfrm>
            <a:off x="1539006" y="1246415"/>
            <a:ext cx="5756108" cy="3677436"/>
            <a:chOff x="1539006" y="1246415"/>
            <a:chExt cx="5756108" cy="367743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A8D6003-1CA3-42A9-9E29-7EE593E2A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9006" y="1246415"/>
              <a:ext cx="4546834" cy="351173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DF65B69-14D1-4D60-B660-A1EB3518E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8481" y="3736340"/>
              <a:ext cx="1606633" cy="1187511"/>
            </a:xfrm>
            <a:prstGeom prst="rect">
              <a:avLst/>
            </a:prstGeom>
          </p:spPr>
        </p:pic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8399B29E-E344-4BA1-A626-0C09362D920F}"/>
              </a:ext>
            </a:extLst>
          </p:cNvPr>
          <p:cNvSpPr/>
          <p:nvPr/>
        </p:nvSpPr>
        <p:spPr>
          <a:xfrm>
            <a:off x="5795837" y="4238568"/>
            <a:ext cx="1391920" cy="2844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E583E8B-B2BE-41A0-8400-EA94B48FF201}"/>
              </a:ext>
            </a:extLst>
          </p:cNvPr>
          <p:cNvCxnSpPr>
            <a:cxnSpLocks/>
          </p:cNvCxnSpPr>
          <p:nvPr/>
        </p:nvCxnSpPr>
        <p:spPr>
          <a:xfrm>
            <a:off x="3728720" y="3337560"/>
            <a:ext cx="1901767" cy="7975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注: 线形 10">
            <a:extLst>
              <a:ext uri="{FF2B5EF4-FFF2-40B4-BE49-F238E27FC236}">
                <a16:creationId xmlns:a16="http://schemas.microsoft.com/office/drawing/2014/main" id="{98A2463F-7CCE-44FA-8DD1-9DB3EBD6A9C5}"/>
              </a:ext>
            </a:extLst>
          </p:cNvPr>
          <p:cNvSpPr/>
          <p:nvPr/>
        </p:nvSpPr>
        <p:spPr>
          <a:xfrm>
            <a:off x="8404401" y="3182850"/>
            <a:ext cx="2103120" cy="1412241"/>
          </a:xfrm>
          <a:prstGeom prst="borderCallout1">
            <a:avLst>
              <a:gd name="adj1" fmla="val 18750"/>
              <a:gd name="adj2" fmla="val -8333"/>
              <a:gd name="adj3" fmla="val 84442"/>
              <a:gd name="adj4" fmla="val -56207"/>
            </a:avLst>
          </a:prstGeom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注意这个选项，如果选择，会删除该文件，否则，只是从工程中移出。</a:t>
            </a:r>
          </a:p>
        </p:txBody>
      </p:sp>
    </p:spTree>
    <p:extLst>
      <p:ext uri="{BB962C8B-B14F-4D97-AF65-F5344CB8AC3E}">
        <p14:creationId xmlns:p14="http://schemas.microsoft.com/office/powerpoint/2010/main" val="328005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724F3-CDE5-4772-B24A-46633608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/>
          <a:lstStyle/>
          <a:p>
            <a:r>
              <a:rPr lang="en-US" altLang="zh-CN" b="1" dirty="0"/>
              <a:t>2.6 </a:t>
            </a:r>
            <a:r>
              <a:rPr lang="zh-CN" altLang="en-US" b="1" dirty="0"/>
              <a:t>编辑源文件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3E752E-46D1-4935-9FD6-42381DC6A37D}"/>
              </a:ext>
            </a:extLst>
          </p:cNvPr>
          <p:cNvSpPr txBox="1"/>
          <p:nvPr/>
        </p:nvSpPr>
        <p:spPr>
          <a:xfrm>
            <a:off x="426584" y="2426246"/>
            <a:ext cx="1042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       </a:t>
            </a:r>
            <a:r>
              <a:rPr lang="en-US" altLang="zh-CN" sz="2800" dirty="0" err="1"/>
              <a:t>modelsim</a:t>
            </a:r>
            <a:r>
              <a:rPr lang="zh-CN" altLang="zh-CN" sz="2800" dirty="0"/>
              <a:t>软件自带的编辑环境不是很</a:t>
            </a:r>
            <a:r>
              <a:rPr lang="zh-CN" altLang="en-US" sz="2800" dirty="0"/>
              <a:t>友</a:t>
            </a:r>
            <a:r>
              <a:rPr lang="zh-CN" altLang="zh-CN" sz="2800" dirty="0"/>
              <a:t>好，建议使用</a:t>
            </a:r>
            <a:r>
              <a:rPr lang="en-US" altLang="zh-CN" sz="2800" dirty="0"/>
              <a:t>Notepad++ </a:t>
            </a:r>
            <a:r>
              <a:rPr lang="zh-CN" altLang="zh-CN" sz="2800" dirty="0"/>
              <a:t>或</a:t>
            </a:r>
            <a:r>
              <a:rPr lang="en-US" altLang="zh-CN" sz="2800" dirty="0" err="1"/>
              <a:t>UltraEdit</a:t>
            </a:r>
            <a:r>
              <a:rPr lang="zh-CN" altLang="zh-CN" sz="2800" dirty="0"/>
              <a:t>这些专业的</a:t>
            </a:r>
            <a:r>
              <a:rPr lang="zh-CN" altLang="en-US" sz="2800" dirty="0"/>
              <a:t>代码</a:t>
            </a:r>
            <a:r>
              <a:rPr lang="zh-CN" altLang="zh-CN" sz="2800" dirty="0"/>
              <a:t>编辑软件。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28583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DB7F0-925F-4D6D-BF45-949A543C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955"/>
          </a:xfrm>
        </p:spPr>
        <p:txBody>
          <a:bodyPr/>
          <a:lstStyle/>
          <a:p>
            <a:r>
              <a:rPr lang="en-US" altLang="zh-CN" b="1" dirty="0"/>
              <a:t>2.7 </a:t>
            </a:r>
            <a:r>
              <a:rPr lang="zh-CN" altLang="en-US" b="1" dirty="0"/>
              <a:t>编译</a:t>
            </a:r>
            <a:r>
              <a:rPr lang="en-US" altLang="zh-CN" b="1" dirty="0"/>
              <a:t>——</a:t>
            </a:r>
            <a:r>
              <a:rPr lang="zh-CN" altLang="en-US" b="1" dirty="0"/>
              <a:t>检查语法错误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61FFB9-CE6F-46BB-AB2E-1532E30F2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35" y="1335088"/>
            <a:ext cx="3302170" cy="2743341"/>
          </a:xfrm>
          <a:prstGeom prst="rect">
            <a:avLst/>
          </a:prstGeom>
        </p:spPr>
      </p:pic>
      <p:sp>
        <p:nvSpPr>
          <p:cNvPr id="8" name="箭头: 虚尾 7">
            <a:extLst>
              <a:ext uri="{FF2B5EF4-FFF2-40B4-BE49-F238E27FC236}">
                <a16:creationId xmlns:a16="http://schemas.microsoft.com/office/drawing/2014/main" id="{C19000A6-B9F1-4D91-96E0-E141C074152A}"/>
              </a:ext>
            </a:extLst>
          </p:cNvPr>
          <p:cNvSpPr/>
          <p:nvPr/>
        </p:nvSpPr>
        <p:spPr>
          <a:xfrm rot="2588959">
            <a:off x="3525999" y="3183087"/>
            <a:ext cx="1219200" cy="87026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EBDC528-41F9-443B-A869-AF9A5736860A}"/>
              </a:ext>
            </a:extLst>
          </p:cNvPr>
          <p:cNvGrpSpPr/>
          <p:nvPr/>
        </p:nvGrpSpPr>
        <p:grpSpPr>
          <a:xfrm>
            <a:off x="4786630" y="1742183"/>
            <a:ext cx="5829300" cy="4292856"/>
            <a:chOff x="4786630" y="1742183"/>
            <a:chExt cx="5829300" cy="4292856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CBE8C46-285B-42EA-9C1E-35923525DE30}"/>
                </a:ext>
              </a:extLst>
            </p:cNvPr>
            <p:cNvGrpSpPr/>
            <p:nvPr/>
          </p:nvGrpSpPr>
          <p:grpSpPr>
            <a:xfrm>
              <a:off x="4786630" y="2883852"/>
              <a:ext cx="5829300" cy="3151187"/>
              <a:chOff x="4786630" y="2883852"/>
              <a:chExt cx="5829300" cy="3151187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DC75A8B4-B3AE-48A8-A4C6-B81A853042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8230" y="2883852"/>
                <a:ext cx="5727700" cy="1415415"/>
              </a:xfrm>
              <a:prstGeom prst="rect">
                <a:avLst/>
              </a:prstGeom>
            </p:spPr>
          </p:pic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E2D86688-082F-47BE-9794-BF4B54FC37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6630" y="4643754"/>
                <a:ext cx="5727700" cy="1391285"/>
              </a:xfrm>
              <a:prstGeom prst="rect">
                <a:avLst/>
              </a:prstGeom>
            </p:spPr>
          </p:pic>
        </p:grp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5FD667F-8ABD-4EE1-9200-E29570838F98}"/>
                </a:ext>
              </a:extLst>
            </p:cNvPr>
            <p:cNvSpPr/>
            <p:nvPr/>
          </p:nvSpPr>
          <p:spPr>
            <a:xfrm>
              <a:off x="6339706" y="3103880"/>
              <a:ext cx="345432" cy="7112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对话气泡: 椭圆形 9">
              <a:extLst>
                <a:ext uri="{FF2B5EF4-FFF2-40B4-BE49-F238E27FC236}">
                  <a16:creationId xmlns:a16="http://schemas.microsoft.com/office/drawing/2014/main" id="{B7460545-825B-4254-9CAE-DA09573841E1}"/>
                </a:ext>
              </a:extLst>
            </p:cNvPr>
            <p:cNvSpPr/>
            <p:nvPr/>
          </p:nvSpPr>
          <p:spPr>
            <a:xfrm>
              <a:off x="7018925" y="1742183"/>
              <a:ext cx="1619886" cy="894715"/>
            </a:xfrm>
            <a:prstGeom prst="wedgeEllipseCallout">
              <a:avLst>
                <a:gd name="adj1" fmla="val -76991"/>
                <a:gd name="adj2" fmla="val 107372"/>
              </a:avLst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accent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√</a:t>
              </a:r>
              <a:r>
                <a:rPr lang="zh-CN" altLang="en-US" dirty="0">
                  <a:solidFill>
                    <a:schemeClr val="accent1"/>
                  </a:solidFill>
                </a:rPr>
                <a:t>表示</a:t>
              </a:r>
              <a:endParaRPr lang="en-US" altLang="zh-CN" dirty="0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 dirty="0">
                  <a:solidFill>
                    <a:schemeClr val="accent1"/>
                  </a:solidFill>
                </a:rPr>
                <a:t>编译成功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55983" y="4643754"/>
            <a:ext cx="3810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800" dirty="0"/>
              <a:t>编辑好源代码后，</a:t>
            </a:r>
            <a:r>
              <a:rPr lang="zh-CN" altLang="en-US" sz="2800" b="1" dirty="0">
                <a:solidFill>
                  <a:srgbClr val="FF0000"/>
                </a:solidFill>
              </a:rPr>
              <a:t>记得保存后再编译</a:t>
            </a:r>
            <a:r>
              <a:rPr lang="zh-CN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69738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D39EC-6E78-46CF-97ED-2EA9487BC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84" y="277783"/>
            <a:ext cx="10515600" cy="652017"/>
          </a:xfrm>
        </p:spPr>
        <p:txBody>
          <a:bodyPr>
            <a:noAutofit/>
          </a:bodyPr>
          <a:lstStyle/>
          <a:p>
            <a:r>
              <a:rPr lang="zh-CN" altLang="en-US" b="1" dirty="0"/>
              <a:t>编译有错误时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564EDDF-B056-497F-9295-A8EDEC015A5A}"/>
              </a:ext>
            </a:extLst>
          </p:cNvPr>
          <p:cNvGrpSpPr/>
          <p:nvPr/>
        </p:nvGrpSpPr>
        <p:grpSpPr>
          <a:xfrm>
            <a:off x="838200" y="1109066"/>
            <a:ext cx="10515600" cy="5471151"/>
            <a:chOff x="838200" y="1109066"/>
            <a:chExt cx="10515600" cy="547115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27FC09B-3B72-485F-9E28-B5C2CECCA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109066"/>
              <a:ext cx="10515600" cy="5471151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82CDACB-7AD0-41AD-A6E9-EE76BF10D9EA}"/>
                </a:ext>
              </a:extLst>
            </p:cNvPr>
            <p:cNvSpPr/>
            <p:nvPr/>
          </p:nvSpPr>
          <p:spPr>
            <a:xfrm>
              <a:off x="838200" y="6020656"/>
              <a:ext cx="3168721" cy="3390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D41CAE4D-19F8-4421-A867-EAC5489A7642}"/>
                </a:ext>
              </a:extLst>
            </p:cNvPr>
            <p:cNvCxnSpPr/>
            <p:nvPr/>
          </p:nvCxnSpPr>
          <p:spPr>
            <a:xfrm flipV="1">
              <a:off x="3380198" y="3429000"/>
              <a:ext cx="2383604" cy="269439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BAC514D-1CDE-40EE-BD12-70645D487429}"/>
                </a:ext>
              </a:extLst>
            </p:cNvPr>
            <p:cNvSpPr/>
            <p:nvPr/>
          </p:nvSpPr>
          <p:spPr>
            <a:xfrm>
              <a:off x="5763802" y="3082247"/>
              <a:ext cx="5024063" cy="9246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标注: 线形 10">
              <a:extLst>
                <a:ext uri="{FF2B5EF4-FFF2-40B4-BE49-F238E27FC236}">
                  <a16:creationId xmlns:a16="http://schemas.microsoft.com/office/drawing/2014/main" id="{EFCE2660-B2A4-4A1D-8D93-A3966A45C9F8}"/>
                </a:ext>
              </a:extLst>
            </p:cNvPr>
            <p:cNvSpPr/>
            <p:nvPr/>
          </p:nvSpPr>
          <p:spPr>
            <a:xfrm>
              <a:off x="8496728" y="5044611"/>
              <a:ext cx="1962364" cy="842481"/>
            </a:xfrm>
            <a:prstGeom prst="borderCallout1">
              <a:avLst>
                <a:gd name="adj1" fmla="val 18750"/>
                <a:gd name="adj2" fmla="val -8333"/>
                <a:gd name="adj3" fmla="val -115549"/>
                <a:gd name="adj4" fmla="val -35192"/>
              </a:avLst>
            </a:prstGeom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2. </a:t>
              </a:r>
              <a:r>
                <a:rPr lang="zh-CN" altLang="en-US" dirty="0"/>
                <a:t>按照错误提示修改源程序</a:t>
              </a:r>
            </a:p>
          </p:txBody>
        </p:sp>
      </p:grpSp>
      <p:sp>
        <p:nvSpPr>
          <p:cNvPr id="13" name="对话气泡: 椭圆形 9">
            <a:extLst>
              <a:ext uri="{FF2B5EF4-FFF2-40B4-BE49-F238E27FC236}">
                <a16:creationId xmlns:a16="http://schemas.microsoft.com/office/drawing/2014/main" id="{B7460545-825B-4254-9CAE-DA09573841E1}"/>
              </a:ext>
            </a:extLst>
          </p:cNvPr>
          <p:cNvSpPr/>
          <p:nvPr/>
        </p:nvSpPr>
        <p:spPr>
          <a:xfrm>
            <a:off x="2491058" y="2802376"/>
            <a:ext cx="1619886" cy="894715"/>
          </a:xfrm>
          <a:prstGeom prst="wedgeEllipseCallout">
            <a:avLst>
              <a:gd name="adj1" fmla="val -53675"/>
              <a:gd name="adj2" fmla="val -10480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×</a:t>
            </a:r>
            <a:r>
              <a:rPr lang="zh-CN" altLang="en-US" dirty="0">
                <a:solidFill>
                  <a:srgbClr val="FF0000"/>
                </a:solidFill>
              </a:rPr>
              <a:t>表示编译失败</a:t>
            </a:r>
          </a:p>
        </p:txBody>
      </p:sp>
      <p:sp>
        <p:nvSpPr>
          <p:cNvPr id="3" name="椭圆 2"/>
          <p:cNvSpPr/>
          <p:nvPr/>
        </p:nvSpPr>
        <p:spPr>
          <a:xfrm>
            <a:off x="2087217" y="1928191"/>
            <a:ext cx="327992" cy="4770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注: 线形 4">
            <a:extLst>
              <a:ext uri="{FF2B5EF4-FFF2-40B4-BE49-F238E27FC236}">
                <a16:creationId xmlns:a16="http://schemas.microsoft.com/office/drawing/2014/main" id="{D3F2971D-2DD2-D0C6-5AB9-6C7FCBE308AF}"/>
              </a:ext>
            </a:extLst>
          </p:cNvPr>
          <p:cNvSpPr/>
          <p:nvPr/>
        </p:nvSpPr>
        <p:spPr>
          <a:xfrm>
            <a:off x="4839556" y="5930567"/>
            <a:ext cx="2082175" cy="842481"/>
          </a:xfrm>
          <a:prstGeom prst="borderCallout1">
            <a:avLst>
              <a:gd name="adj1" fmla="val 18750"/>
              <a:gd name="adj2" fmla="val -8333"/>
              <a:gd name="adj3" fmla="val 37060"/>
              <a:gd name="adj4" fmla="val -63715"/>
            </a:avLst>
          </a:prstGeom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 </a:t>
            </a:r>
            <a:r>
              <a:rPr lang="zh-CN" altLang="en-US" dirty="0"/>
              <a:t>双击错误条目，打开具体错误提示</a:t>
            </a:r>
          </a:p>
        </p:txBody>
      </p:sp>
    </p:spTree>
    <p:extLst>
      <p:ext uri="{BB962C8B-B14F-4D97-AF65-F5344CB8AC3E}">
        <p14:creationId xmlns:p14="http://schemas.microsoft.com/office/powerpoint/2010/main" val="4045762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5EF5F-37A4-4F0A-9D8E-C9201710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6410" y="164139"/>
            <a:ext cx="4516120" cy="1026795"/>
          </a:xfrm>
        </p:spPr>
        <p:txBody>
          <a:bodyPr>
            <a:normAutofit/>
          </a:bodyPr>
          <a:lstStyle/>
          <a:p>
            <a:r>
              <a:rPr lang="en-US" altLang="zh-CN" b="1" dirty="0"/>
              <a:t>2.8  </a:t>
            </a:r>
            <a:r>
              <a:rPr lang="zh-CN" altLang="en-US" b="1" dirty="0"/>
              <a:t>仿真设置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CE3F9E8-15A8-4E95-BBF1-20DC283EE11D}"/>
              </a:ext>
            </a:extLst>
          </p:cNvPr>
          <p:cNvCxnSpPr>
            <a:cxnSpLocks/>
          </p:cNvCxnSpPr>
          <p:nvPr/>
        </p:nvCxnSpPr>
        <p:spPr>
          <a:xfrm>
            <a:off x="5638800" y="1757680"/>
            <a:ext cx="558800" cy="5635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E8673C6-27E5-4BB1-88D6-70446211A47B}"/>
              </a:ext>
            </a:extLst>
          </p:cNvPr>
          <p:cNvGrpSpPr/>
          <p:nvPr/>
        </p:nvGrpSpPr>
        <p:grpSpPr>
          <a:xfrm>
            <a:off x="80660" y="75775"/>
            <a:ext cx="11916553" cy="6549890"/>
            <a:chOff x="194787" y="239914"/>
            <a:chExt cx="11916553" cy="654989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E0082DB-36B9-4943-9468-AB1D00662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787" y="239914"/>
              <a:ext cx="6153466" cy="2254366"/>
            </a:xfrm>
            <a:prstGeom prst="rect">
              <a:avLst/>
            </a:prstGeom>
          </p:spPr>
        </p:pic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3C01796-0C19-45C9-9E6C-EC880DA7FA5B}"/>
                </a:ext>
              </a:extLst>
            </p:cNvPr>
            <p:cNvGrpSpPr/>
            <p:nvPr/>
          </p:nvGrpSpPr>
          <p:grpSpPr>
            <a:xfrm>
              <a:off x="6197600" y="1367097"/>
              <a:ext cx="5913740" cy="5422707"/>
              <a:chOff x="6197600" y="1367097"/>
              <a:chExt cx="5913740" cy="5422707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32AC2946-17C2-48E5-8547-F8A84550DE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7600" y="1367097"/>
                <a:ext cx="5913740" cy="5422707"/>
              </a:xfrm>
              <a:prstGeom prst="rect">
                <a:avLst/>
              </a:prstGeom>
            </p:spPr>
          </p:pic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492C8DE7-DEC0-4B6F-B598-9D0A79DC30E0}"/>
                  </a:ext>
                </a:extLst>
              </p:cNvPr>
              <p:cNvSpPr/>
              <p:nvPr/>
            </p:nvSpPr>
            <p:spPr>
              <a:xfrm>
                <a:off x="6197600" y="5872480"/>
                <a:ext cx="1737360" cy="3556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对话气泡: 椭圆形 11">
                <a:extLst>
                  <a:ext uri="{FF2B5EF4-FFF2-40B4-BE49-F238E27FC236}">
                    <a16:creationId xmlns:a16="http://schemas.microsoft.com/office/drawing/2014/main" id="{562A688D-193C-495A-AEB9-C742777A3213}"/>
                  </a:ext>
                </a:extLst>
              </p:cNvPr>
              <p:cNvSpPr/>
              <p:nvPr/>
            </p:nvSpPr>
            <p:spPr>
              <a:xfrm>
                <a:off x="8379597" y="5331562"/>
                <a:ext cx="2401453" cy="1094638"/>
              </a:xfrm>
              <a:prstGeom prst="wedgeEllipseCallout">
                <a:avLst>
                  <a:gd name="adj1" fmla="val -66926"/>
                  <a:gd name="adj2" fmla="val 14692"/>
                </a:avLst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dirty="0">
                    <a:solidFill>
                      <a:schemeClr val="bg1"/>
                    </a:solidFill>
                  </a:rPr>
                  <a:t>去掉前面</a:t>
                </a:r>
                <a:r>
                  <a:rPr lang="zh-CN" altLang="en-US" b="1" dirty="0">
                    <a:solidFill>
                      <a:schemeClr val="bg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√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，否则无法进行仿真</a:t>
                </a: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CEC4C872-10AF-49C1-8502-10E4164EB227}"/>
                  </a:ext>
                </a:extLst>
              </p:cNvPr>
              <p:cNvSpPr/>
              <p:nvPr/>
            </p:nvSpPr>
            <p:spPr>
              <a:xfrm>
                <a:off x="6348253" y="3332480"/>
                <a:ext cx="1728947" cy="288983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对话气泡: 椭圆形 14">
                <a:extLst>
                  <a:ext uri="{FF2B5EF4-FFF2-40B4-BE49-F238E27FC236}">
                    <a16:creationId xmlns:a16="http://schemas.microsoft.com/office/drawing/2014/main" id="{241A1242-A89A-4531-A34D-4B32E4CA2ECF}"/>
                  </a:ext>
                </a:extLst>
              </p:cNvPr>
              <p:cNvSpPr/>
              <p:nvPr/>
            </p:nvSpPr>
            <p:spPr>
              <a:xfrm>
                <a:off x="9413161" y="2494280"/>
                <a:ext cx="2021636" cy="721472"/>
              </a:xfrm>
              <a:prstGeom prst="wedgeEllipseCallout">
                <a:avLst>
                  <a:gd name="adj1" fmla="val -134551"/>
                  <a:gd name="adj2" fmla="val 72407"/>
                </a:avLst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</a:rPr>
                  <a:t>选择</a:t>
                </a:r>
                <a:r>
                  <a:rPr lang="en-US" altLang="zh-CN" dirty="0" err="1">
                    <a:solidFill>
                      <a:schemeClr val="bg1"/>
                    </a:solidFill>
                  </a:rPr>
                  <a:t>testbench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p:grp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F9962135-27FC-4587-89C8-865CDAACEA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0" y="3946317"/>
            <a:ext cx="4529470" cy="1449099"/>
          </a:xfrm>
          <a:prstGeom prst="rect">
            <a:avLst/>
          </a:prstGeom>
        </p:spPr>
      </p:pic>
      <p:sp>
        <p:nvSpPr>
          <p:cNvPr id="21" name="箭头: 虚尾 20">
            <a:extLst>
              <a:ext uri="{FF2B5EF4-FFF2-40B4-BE49-F238E27FC236}">
                <a16:creationId xmlns:a16="http://schemas.microsoft.com/office/drawing/2014/main" id="{1137E8DB-BC76-4FC9-8AAC-A4FFA4AE070C}"/>
              </a:ext>
            </a:extLst>
          </p:cNvPr>
          <p:cNvSpPr/>
          <p:nvPr/>
        </p:nvSpPr>
        <p:spPr>
          <a:xfrm rot="9032978">
            <a:off x="4548136" y="2794504"/>
            <a:ext cx="1518355" cy="1018141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C51B119-2C37-4FBE-BE02-6CC5249CBA66}"/>
              </a:ext>
            </a:extLst>
          </p:cNvPr>
          <p:cNvSpPr/>
          <p:nvPr/>
        </p:nvSpPr>
        <p:spPr>
          <a:xfrm>
            <a:off x="340242" y="4688958"/>
            <a:ext cx="1201479" cy="4784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对话气泡: 椭圆形 22">
            <a:extLst>
              <a:ext uri="{FF2B5EF4-FFF2-40B4-BE49-F238E27FC236}">
                <a16:creationId xmlns:a16="http://schemas.microsoft.com/office/drawing/2014/main" id="{06C614BA-DBE2-41B8-8FAE-57DF390F70E2}"/>
              </a:ext>
            </a:extLst>
          </p:cNvPr>
          <p:cNvSpPr/>
          <p:nvPr/>
        </p:nvSpPr>
        <p:spPr>
          <a:xfrm>
            <a:off x="1380559" y="5645888"/>
            <a:ext cx="1856824" cy="742641"/>
          </a:xfrm>
          <a:prstGeom prst="wedgeEllipseCallout">
            <a:avLst>
              <a:gd name="adj1" fmla="val -51475"/>
              <a:gd name="adj2" fmla="val -11945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</a:rPr>
              <a:t>双击进入仿真界面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EBEFD76-E991-4DE0-B5BC-42AE028AC066}"/>
              </a:ext>
            </a:extLst>
          </p:cNvPr>
          <p:cNvCxnSpPr/>
          <p:nvPr/>
        </p:nvCxnSpPr>
        <p:spPr>
          <a:xfrm>
            <a:off x="5638800" y="1615440"/>
            <a:ext cx="558800" cy="2946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766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B9C-3DC5-4FFB-8FF6-A61ACA945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471" y="411202"/>
            <a:ext cx="11231880" cy="936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dirty="0"/>
              <a:t>     注意：进入仿真界面时可能会报</a:t>
            </a:r>
            <a:r>
              <a:rPr lang="en-US" altLang="zh-CN" sz="2800" dirty="0"/>
              <a:t>error</a:t>
            </a:r>
            <a:r>
              <a:rPr lang="zh-CN" altLang="en-US" sz="2800" dirty="0"/>
              <a:t>或</a:t>
            </a:r>
            <a:r>
              <a:rPr lang="en-US" altLang="zh-CN" sz="2800" dirty="0"/>
              <a:t>warning</a:t>
            </a:r>
            <a:r>
              <a:rPr lang="zh-CN" altLang="en-US" sz="2800" dirty="0"/>
              <a:t>（</a:t>
            </a:r>
            <a:r>
              <a:rPr lang="zh-CN" altLang="en-US" sz="2800" b="1" dirty="0">
                <a:solidFill>
                  <a:srgbClr val="FF0000"/>
                </a:solidFill>
              </a:rPr>
              <a:t>特别注意，</a:t>
            </a:r>
            <a:r>
              <a:rPr lang="en-US" altLang="zh-CN" sz="2800" b="1" dirty="0">
                <a:solidFill>
                  <a:srgbClr val="FF0000"/>
                </a:solidFill>
              </a:rPr>
              <a:t>warning</a:t>
            </a:r>
            <a:r>
              <a:rPr lang="zh-CN" altLang="en-US" sz="2800" b="1" dirty="0">
                <a:solidFill>
                  <a:srgbClr val="FF0000"/>
                </a:solidFill>
              </a:rPr>
              <a:t>一般也需要改正</a:t>
            </a:r>
            <a:r>
              <a:rPr lang="zh-CN" altLang="en-US" sz="2800" dirty="0"/>
              <a:t>），需修改后重新编译再进行仿真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5E127E-80B2-443E-B15E-CDF132596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076" y="1891190"/>
            <a:ext cx="8375866" cy="214134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24" y="4375122"/>
            <a:ext cx="11818752" cy="17755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87825" y="3289851"/>
            <a:ext cx="2067339" cy="1987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87626" y="4731026"/>
            <a:ext cx="815009" cy="1562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185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3D727-24E1-46E1-BF84-F32ACCE0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US" altLang="zh-CN" b="1" dirty="0"/>
              <a:t>2.9 </a:t>
            </a:r>
            <a:r>
              <a:rPr lang="zh-CN" altLang="en-US" b="1" dirty="0"/>
              <a:t>仿真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6DA5F7-38CB-4522-8582-6215166472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59691" y="1397826"/>
            <a:ext cx="9448949" cy="483025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3D121C8-D323-422A-90E0-0FB3508782F3}"/>
              </a:ext>
            </a:extLst>
          </p:cNvPr>
          <p:cNvSpPr/>
          <p:nvPr/>
        </p:nvSpPr>
        <p:spPr>
          <a:xfrm>
            <a:off x="2590800" y="2448560"/>
            <a:ext cx="2997200" cy="192024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B6A99A-8E5D-4F9F-9313-62B12214219A}"/>
              </a:ext>
            </a:extLst>
          </p:cNvPr>
          <p:cNvSpPr/>
          <p:nvPr/>
        </p:nvSpPr>
        <p:spPr>
          <a:xfrm>
            <a:off x="1259691" y="2875280"/>
            <a:ext cx="1290469" cy="1524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注: 线形 5">
            <a:extLst>
              <a:ext uri="{FF2B5EF4-FFF2-40B4-BE49-F238E27FC236}">
                <a16:creationId xmlns:a16="http://schemas.microsoft.com/office/drawing/2014/main" id="{533752BC-9A17-4609-9757-EA22A525524E}"/>
              </a:ext>
            </a:extLst>
          </p:cNvPr>
          <p:cNvSpPr/>
          <p:nvPr/>
        </p:nvSpPr>
        <p:spPr>
          <a:xfrm>
            <a:off x="4765040" y="1651826"/>
            <a:ext cx="2834640" cy="542734"/>
          </a:xfrm>
          <a:prstGeom prst="borderCallout1">
            <a:avLst>
              <a:gd name="adj1" fmla="val 18750"/>
              <a:gd name="adj2" fmla="val -8333"/>
              <a:gd name="adj3" fmla="val 142452"/>
              <a:gd name="adj4" fmla="val -268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默认显示顶层模块的信号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259691" y="2693504"/>
            <a:ext cx="1331109" cy="2385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2067339" y="3816626"/>
            <a:ext cx="1212574" cy="26835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148470" y="3796748"/>
            <a:ext cx="2007704" cy="4671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线形标注 2 11"/>
          <p:cNvSpPr/>
          <p:nvPr/>
        </p:nvSpPr>
        <p:spPr>
          <a:xfrm>
            <a:off x="3011557" y="5078896"/>
            <a:ext cx="2047460" cy="1123121"/>
          </a:xfrm>
          <a:prstGeom prst="borderCallout2">
            <a:avLst>
              <a:gd name="adj1" fmla="val -7197"/>
              <a:gd name="adj2" fmla="val 10599"/>
              <a:gd name="adj3" fmla="val -28819"/>
              <a:gd name="adj4" fmla="val 2750"/>
              <a:gd name="adj5" fmla="val -97667"/>
              <a:gd name="adj6" fmla="val -1851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①在</a:t>
            </a:r>
            <a:r>
              <a:rPr lang="en-US" altLang="zh-CN" dirty="0"/>
              <a:t>Instance</a:t>
            </a:r>
            <a:r>
              <a:rPr lang="zh-CN" altLang="en-US" dirty="0"/>
              <a:t>窗口选择（单击）一个模块的信号到</a:t>
            </a:r>
            <a:r>
              <a:rPr lang="en-US" altLang="zh-CN" dirty="0"/>
              <a:t>Objects</a:t>
            </a:r>
            <a:r>
              <a:rPr lang="zh-CN" altLang="en-US" dirty="0"/>
              <a:t>窗口</a:t>
            </a:r>
          </a:p>
        </p:txBody>
      </p:sp>
      <p:sp>
        <p:nvSpPr>
          <p:cNvPr id="13" name="线形标注 2 12"/>
          <p:cNvSpPr/>
          <p:nvPr/>
        </p:nvSpPr>
        <p:spPr>
          <a:xfrm>
            <a:off x="6937514" y="2693505"/>
            <a:ext cx="2375452" cy="110324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7352"/>
              <a:gd name="adj6" fmla="val -3736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②在</a:t>
            </a:r>
            <a:r>
              <a:rPr lang="en-US" altLang="zh-CN" dirty="0"/>
              <a:t>Objects</a:t>
            </a:r>
            <a:r>
              <a:rPr lang="zh-CN" altLang="en-US" dirty="0"/>
              <a:t>窗口选择需要观察波形的信号到</a:t>
            </a:r>
            <a:r>
              <a:rPr lang="en-US" altLang="zh-CN" dirty="0"/>
              <a:t>Wave</a:t>
            </a:r>
            <a:r>
              <a:rPr lang="zh-CN" altLang="en-US" dirty="0"/>
              <a:t>窗口（见下页）</a:t>
            </a:r>
          </a:p>
        </p:txBody>
      </p:sp>
    </p:spTree>
    <p:extLst>
      <p:ext uri="{BB962C8B-B14F-4D97-AF65-F5344CB8AC3E}">
        <p14:creationId xmlns:p14="http://schemas.microsoft.com/office/powerpoint/2010/main" val="2754765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B7F4D-9AAE-4D0E-92CC-C5E6BE837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9013" y="324015"/>
            <a:ext cx="5585570" cy="857568"/>
          </a:xfrm>
        </p:spPr>
        <p:txBody>
          <a:bodyPr>
            <a:normAutofit/>
          </a:bodyPr>
          <a:lstStyle/>
          <a:p>
            <a:r>
              <a:rPr lang="en-US" altLang="zh-CN" b="1" dirty="0"/>
              <a:t>2.10 </a:t>
            </a:r>
            <a:r>
              <a:rPr lang="zh-CN" altLang="en-US" b="1" dirty="0"/>
              <a:t>添加待仿真的信号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E97473-E1B9-4A46-BCB9-649F8A9D2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1" y="179615"/>
            <a:ext cx="6394779" cy="3511730"/>
          </a:xfrm>
          <a:prstGeom prst="rect">
            <a:avLst/>
          </a:prstGeom>
        </p:spPr>
      </p:pic>
      <p:sp>
        <p:nvSpPr>
          <p:cNvPr id="6" name="箭头: 虚尾 5">
            <a:extLst>
              <a:ext uri="{FF2B5EF4-FFF2-40B4-BE49-F238E27FC236}">
                <a16:creationId xmlns:a16="http://schemas.microsoft.com/office/drawing/2014/main" id="{B8559732-A61C-41EE-B6EB-21595177BDA0}"/>
              </a:ext>
            </a:extLst>
          </p:cNvPr>
          <p:cNvSpPr/>
          <p:nvPr/>
        </p:nvSpPr>
        <p:spPr>
          <a:xfrm rot="2624266">
            <a:off x="6773313" y="2562510"/>
            <a:ext cx="1422400" cy="94996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7D5B36-966D-4C9D-B552-1446BF4497B7}"/>
              </a:ext>
            </a:extLst>
          </p:cNvPr>
          <p:cNvGrpSpPr/>
          <p:nvPr/>
        </p:nvGrpSpPr>
        <p:grpSpPr>
          <a:xfrm>
            <a:off x="4200698" y="3820510"/>
            <a:ext cx="7898921" cy="2857875"/>
            <a:chOff x="4200698" y="3820510"/>
            <a:chExt cx="7898921" cy="285787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0FF588A-2055-4610-BEC3-B0D450C8EA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428"/>
            <a:stretch/>
          </p:blipFill>
          <p:spPr>
            <a:xfrm>
              <a:off x="4200698" y="3820510"/>
              <a:ext cx="7898921" cy="2857875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8B55604-F2A8-48B8-9B64-F698A42B3468}"/>
                </a:ext>
              </a:extLst>
            </p:cNvPr>
            <p:cNvSpPr/>
            <p:nvPr/>
          </p:nvSpPr>
          <p:spPr>
            <a:xfrm>
              <a:off x="7345680" y="4572000"/>
              <a:ext cx="2529840" cy="139192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0A32EF3-26D7-CC52-86C8-B6EE840894F4}"/>
              </a:ext>
            </a:extLst>
          </p:cNvPr>
          <p:cNvSpPr txBox="1"/>
          <p:nvPr/>
        </p:nvSpPr>
        <p:spPr>
          <a:xfrm>
            <a:off x="92381" y="4385908"/>
            <a:ext cx="39531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本页展示的方法是把</a:t>
            </a:r>
            <a:r>
              <a:rPr lang="en-US" altLang="zh-CN" sz="2000" dirty="0"/>
              <a:t>Objects</a:t>
            </a:r>
            <a:r>
              <a:rPr lang="zh-CN" altLang="en-US" sz="2000" dirty="0"/>
              <a:t>窗口中的所有信号全部添加到</a:t>
            </a:r>
            <a:r>
              <a:rPr lang="en-US" altLang="zh-CN" sz="2000" dirty="0"/>
              <a:t>Wave</a:t>
            </a:r>
            <a:r>
              <a:rPr lang="zh-CN" altLang="en-US" sz="2000" dirty="0"/>
              <a:t>窗口。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也可以通过拖拉的方式添加信号。</a:t>
            </a:r>
          </a:p>
        </p:txBody>
      </p:sp>
    </p:spTree>
    <p:extLst>
      <p:ext uri="{BB962C8B-B14F-4D97-AF65-F5344CB8AC3E}">
        <p14:creationId xmlns:p14="http://schemas.microsoft.com/office/powerpoint/2010/main" val="575995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67535-5CC9-4FBC-A7B4-1FF8A39B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60280" cy="823595"/>
          </a:xfrm>
        </p:spPr>
        <p:txBody>
          <a:bodyPr>
            <a:normAutofit/>
          </a:bodyPr>
          <a:lstStyle/>
          <a:p>
            <a:r>
              <a:rPr lang="en-US" altLang="zh-CN" b="1" dirty="0"/>
              <a:t>2.11 </a:t>
            </a:r>
            <a:r>
              <a:rPr lang="zh-CN" altLang="en-US" b="1" dirty="0"/>
              <a:t>波形仿真</a:t>
            </a:r>
            <a:r>
              <a:rPr lang="en-US" altLang="zh-CN" b="1" dirty="0"/>
              <a:t>——</a:t>
            </a:r>
            <a:r>
              <a:rPr lang="zh-CN" altLang="en-US" b="1" dirty="0"/>
              <a:t>检查功能是否正确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2142675-AE3D-474F-89CC-3D6191D536C1}"/>
              </a:ext>
            </a:extLst>
          </p:cNvPr>
          <p:cNvGrpSpPr/>
          <p:nvPr/>
        </p:nvGrpSpPr>
        <p:grpSpPr>
          <a:xfrm>
            <a:off x="1201901" y="1575352"/>
            <a:ext cx="9371986" cy="5038808"/>
            <a:chOff x="1201901" y="1575352"/>
            <a:chExt cx="9371986" cy="503880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B5E26CE-F5E7-4518-A653-40BC32D88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1901" y="1575352"/>
              <a:ext cx="9371986" cy="5038808"/>
            </a:xfrm>
            <a:prstGeom prst="rect">
              <a:avLst/>
            </a:prstGeom>
          </p:spPr>
        </p:pic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D4A83BB-9688-4712-8D53-D96FD8A217F8}"/>
                </a:ext>
              </a:extLst>
            </p:cNvPr>
            <p:cNvSpPr/>
            <p:nvPr/>
          </p:nvSpPr>
          <p:spPr>
            <a:xfrm>
              <a:off x="9052560" y="1645120"/>
              <a:ext cx="375920" cy="42672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55CE104-8035-4BB1-A24A-346F86734806}"/>
                </a:ext>
              </a:extLst>
            </p:cNvPr>
            <p:cNvCxnSpPr/>
            <p:nvPr/>
          </p:nvCxnSpPr>
          <p:spPr>
            <a:xfrm flipH="1">
              <a:off x="6817360" y="2071840"/>
              <a:ext cx="2326640" cy="22453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标注: 线形(无边框) 2">
            <a:extLst>
              <a:ext uri="{FF2B5EF4-FFF2-40B4-BE49-F238E27FC236}">
                <a16:creationId xmlns:a16="http://schemas.microsoft.com/office/drawing/2014/main" id="{329D1709-0AC4-7F29-60C0-2244D9E015B1}"/>
              </a:ext>
            </a:extLst>
          </p:cNvPr>
          <p:cNvSpPr/>
          <p:nvPr/>
        </p:nvSpPr>
        <p:spPr>
          <a:xfrm>
            <a:off x="9986355" y="476596"/>
            <a:ext cx="1507375" cy="712124"/>
          </a:xfrm>
          <a:prstGeom prst="callout1">
            <a:avLst>
              <a:gd name="adj1" fmla="val 18750"/>
              <a:gd name="adj2" fmla="val -8333"/>
              <a:gd name="adj3" fmla="val 170866"/>
              <a:gd name="adj4" fmla="val -5373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 </a:t>
            </a:r>
            <a:r>
              <a:rPr lang="zh-CN" altLang="en-US" dirty="0"/>
              <a:t>运行程序</a:t>
            </a:r>
          </a:p>
        </p:txBody>
      </p:sp>
      <p:sp>
        <p:nvSpPr>
          <p:cNvPr id="4" name="标注: 线形(无边框) 3">
            <a:extLst>
              <a:ext uri="{FF2B5EF4-FFF2-40B4-BE49-F238E27FC236}">
                <a16:creationId xmlns:a16="http://schemas.microsoft.com/office/drawing/2014/main" id="{A93487B0-DE00-ECFD-4386-6C800777B1DA}"/>
              </a:ext>
            </a:extLst>
          </p:cNvPr>
          <p:cNvSpPr/>
          <p:nvPr/>
        </p:nvSpPr>
        <p:spPr>
          <a:xfrm>
            <a:off x="7090756" y="4347770"/>
            <a:ext cx="1504604" cy="712124"/>
          </a:xfrm>
          <a:prstGeom prst="callout1">
            <a:avLst>
              <a:gd name="adj1" fmla="val 18750"/>
              <a:gd name="adj2" fmla="val -8333"/>
              <a:gd name="adj3" fmla="val 117169"/>
              <a:gd name="adj4" fmla="val -91018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2. </a:t>
            </a:r>
            <a:r>
              <a:rPr lang="zh-CN" altLang="en-US" dirty="0"/>
              <a:t>出现波形</a:t>
            </a:r>
          </a:p>
        </p:txBody>
      </p:sp>
    </p:spTree>
    <p:extLst>
      <p:ext uri="{BB962C8B-B14F-4D97-AF65-F5344CB8AC3E}">
        <p14:creationId xmlns:p14="http://schemas.microsoft.com/office/powerpoint/2010/main" val="2907684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C8D21-55E2-4182-BB84-E1817CD8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4715"/>
          </a:xfrm>
        </p:spPr>
        <p:txBody>
          <a:bodyPr/>
          <a:lstStyle/>
          <a:p>
            <a:r>
              <a:rPr lang="zh-CN" altLang="en-US" b="1" dirty="0"/>
              <a:t>放大</a:t>
            </a:r>
            <a:r>
              <a:rPr lang="en-US" altLang="zh-CN" b="1" dirty="0"/>
              <a:t>/</a:t>
            </a:r>
            <a:r>
              <a:rPr lang="zh-CN" altLang="en-US" b="1" dirty="0"/>
              <a:t>缩小波形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FE0EA5-66C6-44AD-AE5C-7C90D67C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4156"/>
            <a:ext cx="4718292" cy="20956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73765B6-16D0-4EA7-BFE2-D257A6507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280" y="4273232"/>
            <a:ext cx="7588567" cy="2403981"/>
          </a:xfrm>
          <a:prstGeom prst="rect">
            <a:avLst/>
          </a:prstGeom>
        </p:spPr>
      </p:pic>
      <p:sp>
        <p:nvSpPr>
          <p:cNvPr id="6" name="箭头: 虚尾 5">
            <a:extLst>
              <a:ext uri="{FF2B5EF4-FFF2-40B4-BE49-F238E27FC236}">
                <a16:creationId xmlns:a16="http://schemas.microsoft.com/office/drawing/2014/main" id="{9C7BA0CC-8DA6-42A0-BC87-BC514342F0C7}"/>
              </a:ext>
            </a:extLst>
          </p:cNvPr>
          <p:cNvSpPr/>
          <p:nvPr/>
        </p:nvSpPr>
        <p:spPr>
          <a:xfrm rot="2287880">
            <a:off x="5781038" y="3133778"/>
            <a:ext cx="1280160" cy="83312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240157" y="2236304"/>
            <a:ext cx="1699591" cy="2087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线形标注 2 6"/>
          <p:cNvSpPr/>
          <p:nvPr/>
        </p:nvSpPr>
        <p:spPr>
          <a:xfrm>
            <a:off x="5923722" y="1156630"/>
            <a:ext cx="1470991" cy="61622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2177"/>
              <a:gd name="adj6" fmla="val -723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放大波形</a:t>
            </a:r>
          </a:p>
        </p:txBody>
      </p:sp>
      <p:sp>
        <p:nvSpPr>
          <p:cNvPr id="8" name="矩形 7"/>
          <p:cNvSpPr/>
          <p:nvPr/>
        </p:nvSpPr>
        <p:spPr>
          <a:xfrm>
            <a:off x="3240157" y="2445026"/>
            <a:ext cx="1699591" cy="20872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线形标注 2 8"/>
          <p:cNvSpPr/>
          <p:nvPr/>
        </p:nvSpPr>
        <p:spPr>
          <a:xfrm>
            <a:off x="6096000" y="2217643"/>
            <a:ext cx="1589563" cy="53693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925"/>
              <a:gd name="adj6" fmla="val -78556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缩小波形</a:t>
            </a:r>
          </a:p>
        </p:txBody>
      </p:sp>
      <p:sp>
        <p:nvSpPr>
          <p:cNvPr id="10" name="标注: 线形(无边框) 9">
            <a:extLst>
              <a:ext uri="{FF2B5EF4-FFF2-40B4-BE49-F238E27FC236}">
                <a16:creationId xmlns:a16="http://schemas.microsoft.com/office/drawing/2014/main" id="{5FE476E6-1E4C-510C-D855-68E93CFC8B2D}"/>
              </a:ext>
            </a:extLst>
          </p:cNvPr>
          <p:cNvSpPr/>
          <p:nvPr/>
        </p:nvSpPr>
        <p:spPr>
          <a:xfrm>
            <a:off x="4643935" y="238587"/>
            <a:ext cx="2211186" cy="732642"/>
          </a:xfrm>
          <a:prstGeom prst="callout1">
            <a:avLst>
              <a:gd name="adj1" fmla="val 18750"/>
              <a:gd name="adj2" fmla="val -8333"/>
              <a:gd name="adj3" fmla="val 252437"/>
              <a:gd name="adj4" fmla="val -235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在</a:t>
            </a:r>
            <a:r>
              <a:rPr lang="en-US" altLang="zh-CN" dirty="0"/>
              <a:t>Wave</a:t>
            </a:r>
            <a:r>
              <a:rPr lang="zh-CN" altLang="en-US" dirty="0"/>
              <a:t>窗口右击鼠标，弹出右键菜单</a:t>
            </a:r>
          </a:p>
        </p:txBody>
      </p:sp>
    </p:spTree>
    <p:extLst>
      <p:ext uri="{BB962C8B-B14F-4D97-AF65-F5344CB8AC3E}">
        <p14:creationId xmlns:p14="http://schemas.microsoft.com/office/powerpoint/2010/main" val="3288490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B9B70-68AB-4A61-B0A1-6168AFD3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9507" y="424258"/>
            <a:ext cx="5941305" cy="925195"/>
          </a:xfrm>
        </p:spPr>
        <p:txBody>
          <a:bodyPr>
            <a:noAutofit/>
          </a:bodyPr>
          <a:lstStyle/>
          <a:p>
            <a:r>
              <a:rPr lang="en-US" altLang="zh-CN" b="1" dirty="0"/>
              <a:t> </a:t>
            </a:r>
            <a:r>
              <a:rPr lang="zh-CN" altLang="en-US" b="1" dirty="0"/>
              <a:t>设置信号显示方式</a:t>
            </a:r>
          </a:p>
        </p:txBody>
      </p:sp>
      <p:sp>
        <p:nvSpPr>
          <p:cNvPr id="6" name="箭头: 虚尾 5">
            <a:extLst>
              <a:ext uri="{FF2B5EF4-FFF2-40B4-BE49-F238E27FC236}">
                <a16:creationId xmlns:a16="http://schemas.microsoft.com/office/drawing/2014/main" id="{4B80C4C7-0A0A-48DD-9C6D-1DE08ADC409C}"/>
              </a:ext>
            </a:extLst>
          </p:cNvPr>
          <p:cNvSpPr/>
          <p:nvPr/>
        </p:nvSpPr>
        <p:spPr>
          <a:xfrm rot="2608863">
            <a:off x="5926150" y="2078020"/>
            <a:ext cx="1898928" cy="1212248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5EC63B-A638-440E-9174-3639AE8A884F}"/>
              </a:ext>
            </a:extLst>
          </p:cNvPr>
          <p:cNvGrpSpPr/>
          <p:nvPr/>
        </p:nvGrpSpPr>
        <p:grpSpPr>
          <a:xfrm>
            <a:off x="218929" y="190501"/>
            <a:ext cx="5658141" cy="3384724"/>
            <a:chOff x="218929" y="190501"/>
            <a:chExt cx="5658141" cy="338472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818F52E-50BE-41B3-9F43-3A86A016F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929" y="190501"/>
              <a:ext cx="5658141" cy="3384724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25B2231-E630-4ED9-A064-D1A04D3D7E2B}"/>
                </a:ext>
              </a:extLst>
            </p:cNvPr>
            <p:cNvSpPr/>
            <p:nvPr/>
          </p:nvSpPr>
          <p:spPr>
            <a:xfrm>
              <a:off x="1818640" y="1849120"/>
              <a:ext cx="386080" cy="2133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214901E-5BBC-40B0-B3F5-3D19FDA8C32E}"/>
              </a:ext>
            </a:extLst>
          </p:cNvPr>
          <p:cNvGrpSpPr/>
          <p:nvPr/>
        </p:nvGrpSpPr>
        <p:grpSpPr>
          <a:xfrm>
            <a:off x="2860992" y="3667124"/>
            <a:ext cx="9172575" cy="3000375"/>
            <a:chOff x="2860992" y="3667124"/>
            <a:chExt cx="9172575" cy="300037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CE768C6-3694-4C4F-97D3-7186C20FE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0992" y="3667124"/>
              <a:ext cx="9172575" cy="3000375"/>
            </a:xfrm>
            <a:prstGeom prst="rect">
              <a:avLst/>
            </a:prstGeom>
          </p:spPr>
        </p:pic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77A00B9-614D-44CF-8821-C5CD987B8CF6}"/>
                </a:ext>
              </a:extLst>
            </p:cNvPr>
            <p:cNvSpPr/>
            <p:nvPr/>
          </p:nvSpPr>
          <p:spPr>
            <a:xfrm>
              <a:off x="5608320" y="5075412"/>
              <a:ext cx="642375" cy="23780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标注: 线形(无边框) 2">
            <a:extLst>
              <a:ext uri="{FF2B5EF4-FFF2-40B4-BE49-F238E27FC236}">
                <a16:creationId xmlns:a16="http://schemas.microsoft.com/office/drawing/2014/main" id="{F8A1C1F2-3985-E206-3B6C-8D2EE5A95B5D}"/>
              </a:ext>
            </a:extLst>
          </p:cNvPr>
          <p:cNvSpPr/>
          <p:nvPr/>
        </p:nvSpPr>
        <p:spPr>
          <a:xfrm>
            <a:off x="559724" y="4250575"/>
            <a:ext cx="1845425" cy="983269"/>
          </a:xfrm>
          <a:prstGeom prst="callout1">
            <a:avLst>
              <a:gd name="adj1" fmla="val -4922"/>
              <a:gd name="adj2" fmla="val 30105"/>
              <a:gd name="adj3" fmla="val -102236"/>
              <a:gd name="adj4" fmla="val 95001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选中要设置的信号，右击鼠标，弹出右键菜单</a:t>
            </a:r>
          </a:p>
        </p:txBody>
      </p:sp>
    </p:spTree>
    <p:extLst>
      <p:ext uri="{BB962C8B-B14F-4D97-AF65-F5344CB8AC3E}">
        <p14:creationId xmlns:p14="http://schemas.microsoft.com/office/powerpoint/2010/main" val="110938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D205A3D6-6D60-40BE-A3A2-E525F192DD27}"/>
              </a:ext>
            </a:extLst>
          </p:cNvPr>
          <p:cNvGrpSpPr/>
          <p:nvPr/>
        </p:nvGrpSpPr>
        <p:grpSpPr>
          <a:xfrm>
            <a:off x="1541006" y="1513840"/>
            <a:ext cx="8432988" cy="4420306"/>
            <a:chOff x="1541006" y="1513840"/>
            <a:chExt cx="8432988" cy="442030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DCA2FFF-239A-4BAE-920F-542955437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1006" y="1513840"/>
              <a:ext cx="5391427" cy="280049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7D25021-7A56-449D-A3F4-379CD7F77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9845" y="3159053"/>
              <a:ext cx="1924149" cy="2775093"/>
            </a:xfrm>
            <a:prstGeom prst="rect">
              <a:avLst/>
            </a:prstGeom>
          </p:spPr>
        </p:pic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E7C58FEB-50B8-42E7-922A-738D0956530C}"/>
                </a:ext>
              </a:extLst>
            </p:cNvPr>
            <p:cNvCxnSpPr/>
            <p:nvPr/>
          </p:nvCxnSpPr>
          <p:spPr>
            <a:xfrm>
              <a:off x="4490720" y="3048000"/>
              <a:ext cx="3484880" cy="18288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69036DD-0F10-421D-8F66-EECB0D27315D}"/>
                </a:ext>
              </a:extLst>
            </p:cNvPr>
            <p:cNvSpPr/>
            <p:nvPr/>
          </p:nvSpPr>
          <p:spPr>
            <a:xfrm>
              <a:off x="9011919" y="5527040"/>
              <a:ext cx="406401" cy="407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946B9B70-68AB-4A61-B0A1-6168AFD31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66" y="394441"/>
            <a:ext cx="5941305" cy="925195"/>
          </a:xfrm>
        </p:spPr>
        <p:txBody>
          <a:bodyPr>
            <a:noAutofit/>
          </a:bodyPr>
          <a:lstStyle/>
          <a:p>
            <a:r>
              <a:rPr lang="zh-CN" altLang="en-US" b="1" dirty="0"/>
              <a:t>重新仿真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325139" y="857038"/>
            <a:ext cx="4482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400" dirty="0"/>
              <a:t>仿真过程中，如果对源代码进行了修改，可以重新编译源代码，然后</a:t>
            </a:r>
            <a:r>
              <a:rPr lang="en-US" altLang="zh-CN" sz="2400" dirty="0"/>
              <a:t>restart</a:t>
            </a:r>
            <a:r>
              <a:rPr lang="zh-CN" altLang="en-US" sz="2400" dirty="0"/>
              <a:t>重新仿真。不需要关闭仿真界面。</a:t>
            </a:r>
          </a:p>
        </p:txBody>
      </p:sp>
    </p:spTree>
    <p:extLst>
      <p:ext uri="{BB962C8B-B14F-4D97-AF65-F5344CB8AC3E}">
        <p14:creationId xmlns:p14="http://schemas.microsoft.com/office/powerpoint/2010/main" val="1686423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794532-4EA9-455F-8FDA-D845D931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US" altLang="zh-CN" b="1" dirty="0"/>
              <a:t>2.12  </a:t>
            </a:r>
            <a:r>
              <a:rPr lang="zh-CN" altLang="en-US" b="1" dirty="0"/>
              <a:t>工程复制问题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2FFEB-9F4A-4922-B105-0D7CC2F5A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8881"/>
            <a:ext cx="10515600" cy="701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/>
              <a:t>Questasim</a:t>
            </a:r>
            <a:r>
              <a:rPr lang="zh-CN" altLang="en-US" sz="2400" dirty="0"/>
              <a:t>工程如果复制到另一个位置，就不能正常使用。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93BC9E-5839-44C4-BBC7-252C2B78B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28" y="1769605"/>
            <a:ext cx="8905544" cy="485471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CCF2A1-F923-4591-B33C-3781EDC6FFF5}"/>
              </a:ext>
            </a:extLst>
          </p:cNvPr>
          <p:cNvSpPr/>
          <p:nvPr/>
        </p:nvSpPr>
        <p:spPr>
          <a:xfrm>
            <a:off x="5262880" y="4196962"/>
            <a:ext cx="4653280" cy="19091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5A1B2072-8342-47CE-8A2B-1F975028207F}"/>
              </a:ext>
            </a:extLst>
          </p:cNvPr>
          <p:cNvSpPr/>
          <p:nvPr/>
        </p:nvSpPr>
        <p:spPr>
          <a:xfrm>
            <a:off x="8874538" y="2736818"/>
            <a:ext cx="2803939" cy="1174782"/>
          </a:xfrm>
          <a:prstGeom prst="cloudCallout">
            <a:avLst>
              <a:gd name="adj1" fmla="val -53460"/>
              <a:gd name="adj2" fmla="val 698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 编译时，会出现这样的错误</a:t>
            </a:r>
          </a:p>
        </p:txBody>
      </p:sp>
    </p:spTree>
    <p:extLst>
      <p:ext uri="{BB962C8B-B14F-4D97-AF65-F5344CB8AC3E}">
        <p14:creationId xmlns:p14="http://schemas.microsoft.com/office/powerpoint/2010/main" val="1953032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D6B62-A99E-4783-9721-03AB7B3E3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307987"/>
            <a:ext cx="10515600" cy="1271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>
                <a:solidFill>
                  <a:schemeClr val="accent1"/>
                </a:solidFill>
              </a:rPr>
              <a:t>解决方法</a:t>
            </a:r>
            <a:endParaRPr lang="en-US" altLang="zh-CN" sz="3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1.  </a:t>
            </a:r>
            <a:r>
              <a:rPr lang="zh-CN" altLang="en-US" sz="2400" dirty="0"/>
              <a:t>如果你已经进入上页界面，打开任务管理器，强制关掉</a:t>
            </a:r>
            <a:r>
              <a:rPr lang="en-US" altLang="zh-CN" sz="2400" dirty="0" err="1"/>
              <a:t>Questasim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0AAECE-4F34-4355-BCFF-90EC740834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972"/>
          <a:stretch/>
        </p:blipFill>
        <p:spPr>
          <a:xfrm>
            <a:off x="2253816" y="1767840"/>
            <a:ext cx="7008265" cy="394577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B5B114D1-4EF7-4EB6-9490-7AC2C66BB1F6}"/>
              </a:ext>
            </a:extLst>
          </p:cNvPr>
          <p:cNvSpPr/>
          <p:nvPr/>
        </p:nvSpPr>
        <p:spPr>
          <a:xfrm>
            <a:off x="2298150" y="3967480"/>
            <a:ext cx="2071573" cy="2641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460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9B406F-FA42-4DE3-AD9D-0C7560CE9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505"/>
            <a:ext cx="10515600" cy="531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2.  </a:t>
            </a:r>
            <a:r>
              <a:rPr lang="zh-CN" altLang="en-US" sz="2400" dirty="0"/>
              <a:t>删除掉原来的工程文件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185CCF-7546-4FF0-957A-8152F61F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20" y="1155260"/>
            <a:ext cx="7195448" cy="54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899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0BD66-B9EC-4393-A2E1-D733EDF66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8345"/>
            <a:ext cx="10515600" cy="480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3.  </a:t>
            </a:r>
            <a:r>
              <a:rPr lang="zh-CN" altLang="en-US" sz="2400" dirty="0"/>
              <a:t>然后新建一个工程，把源文件加进去。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7846FE-530B-42CB-96E9-A87F7A065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31365"/>
            <a:ext cx="3857625" cy="34861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A56771-F4F8-40D1-A83D-5879B13E4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193" y="1461896"/>
            <a:ext cx="5710687" cy="5070983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E84D8F-1FB2-45D2-AA40-DCADD8746FDF}"/>
              </a:ext>
            </a:extLst>
          </p:cNvPr>
          <p:cNvSpPr/>
          <p:nvPr/>
        </p:nvSpPr>
        <p:spPr>
          <a:xfrm>
            <a:off x="2614612" y="2722880"/>
            <a:ext cx="1601788" cy="1137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BBB5FBD-D971-45A5-BD49-DC140472F968}"/>
              </a:ext>
            </a:extLst>
          </p:cNvPr>
          <p:cNvSpPr/>
          <p:nvPr/>
        </p:nvSpPr>
        <p:spPr>
          <a:xfrm>
            <a:off x="6096000" y="2540000"/>
            <a:ext cx="4541520" cy="27635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44585D62-1131-470A-B1FA-BE8860C20758}"/>
              </a:ext>
            </a:extLst>
          </p:cNvPr>
          <p:cNvSpPr/>
          <p:nvPr/>
        </p:nvSpPr>
        <p:spPr>
          <a:xfrm>
            <a:off x="8580120" y="203200"/>
            <a:ext cx="3093720" cy="1625600"/>
          </a:xfrm>
          <a:prstGeom prst="cloudCallout">
            <a:avLst>
              <a:gd name="adj1" fmla="val -40209"/>
              <a:gd name="adj2" fmla="val 91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       只添加</a:t>
            </a:r>
            <a:r>
              <a:rPr lang="en-US" altLang="zh-CN" dirty="0"/>
              <a:t>.v</a:t>
            </a:r>
            <a:r>
              <a:rPr lang="zh-CN" altLang="en-US" dirty="0"/>
              <a:t>文件，其它辅助的文本文件不需要添加</a:t>
            </a:r>
          </a:p>
        </p:txBody>
      </p:sp>
    </p:spTree>
    <p:extLst>
      <p:ext uri="{BB962C8B-B14F-4D97-AF65-F5344CB8AC3E}">
        <p14:creationId xmlns:p14="http://schemas.microsoft.com/office/powerpoint/2010/main" val="279886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9795A2-4690-4730-BF14-DF34B71C0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505"/>
            <a:ext cx="10515600" cy="6838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4. </a:t>
            </a:r>
            <a:r>
              <a:rPr lang="zh-CN" altLang="en-US" sz="2400" dirty="0"/>
              <a:t>又可以编译通过了！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B85AF1-32CF-4585-B2E6-F9729B5AC7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802"/>
          <a:stretch/>
        </p:blipFill>
        <p:spPr>
          <a:xfrm>
            <a:off x="1814180" y="1248826"/>
            <a:ext cx="8563639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64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CAAE0-9106-4833-9066-35E3EB107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3870" y="2457872"/>
            <a:ext cx="8286486" cy="967485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3. Mars</a:t>
            </a:r>
            <a:r>
              <a:rPr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基本用法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5794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54891-484F-49C9-A823-C0AF206F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使用</a:t>
            </a:r>
            <a:r>
              <a:rPr lang="en-US" altLang="zh-CN" b="1" dirty="0"/>
              <a:t>Mars</a:t>
            </a:r>
            <a:r>
              <a:rPr lang="zh-CN" altLang="en-US" b="1" dirty="0"/>
              <a:t>的目的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622BF8-FE83-41CC-AFC8-8462B7C22B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86"/>
          <a:stretch/>
        </p:blipFill>
        <p:spPr>
          <a:xfrm>
            <a:off x="5935287" y="364548"/>
            <a:ext cx="1346662" cy="169545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5EAC653-ED37-47EA-8DA9-9200A44A5D4B}"/>
              </a:ext>
            </a:extLst>
          </p:cNvPr>
          <p:cNvSpPr txBox="1"/>
          <p:nvPr/>
        </p:nvSpPr>
        <p:spPr>
          <a:xfrm>
            <a:off x="842355" y="2676109"/>
            <a:ext cx="74869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2800" b="1" dirty="0"/>
              <a:t>汇编</a:t>
            </a:r>
            <a:r>
              <a:rPr lang="zh-CN" altLang="en-US" sz="2800" dirty="0"/>
              <a:t>：得到机器指令；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/>
              <a:t>导出机器指令</a:t>
            </a:r>
            <a:r>
              <a:rPr lang="zh-CN" altLang="en-US" sz="2800" dirty="0"/>
              <a:t>：用于加载到设计的</a:t>
            </a:r>
            <a:r>
              <a:rPr lang="en-US" altLang="zh-CN" sz="2800" dirty="0"/>
              <a:t>CPU</a:t>
            </a:r>
            <a:r>
              <a:rPr lang="zh-CN" altLang="en-US" sz="2800" dirty="0"/>
              <a:t>；</a:t>
            </a:r>
            <a:endParaRPr lang="en-US" altLang="zh-CN" sz="28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2800" b="1" dirty="0"/>
              <a:t>执行程序</a:t>
            </a:r>
            <a:r>
              <a:rPr lang="zh-CN" altLang="en-US" sz="2800" dirty="0"/>
              <a:t>：用于和设计的</a:t>
            </a:r>
            <a:r>
              <a:rPr lang="en-US" altLang="zh-CN" sz="2800" dirty="0"/>
              <a:t>CPU</a:t>
            </a:r>
            <a:r>
              <a:rPr lang="zh-CN" altLang="en-US" sz="2800" dirty="0"/>
              <a:t>对照执行。</a:t>
            </a:r>
          </a:p>
        </p:txBody>
      </p:sp>
    </p:spTree>
    <p:extLst>
      <p:ext uri="{BB962C8B-B14F-4D97-AF65-F5344CB8AC3E}">
        <p14:creationId xmlns:p14="http://schemas.microsoft.com/office/powerpoint/2010/main" val="1209729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87B4EE-F238-412F-886D-9972AAFB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253365"/>
            <a:ext cx="10307320" cy="803275"/>
          </a:xfrm>
        </p:spPr>
        <p:txBody>
          <a:bodyPr/>
          <a:lstStyle/>
          <a:p>
            <a:r>
              <a:rPr lang="en-US" altLang="zh-CN" b="1" dirty="0"/>
              <a:t>Mars</a:t>
            </a:r>
            <a:r>
              <a:rPr lang="zh-CN" altLang="en-US" b="1" dirty="0"/>
              <a:t>界面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B97910-90CD-40B5-8800-89F0432A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480" y="1056640"/>
            <a:ext cx="10515600" cy="548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47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FFFB7-D4F9-4D21-8D24-C4D9BA7ED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479" y="5029958"/>
            <a:ext cx="3579633" cy="843280"/>
          </a:xfrm>
        </p:spPr>
        <p:txBody>
          <a:bodyPr>
            <a:normAutofit/>
          </a:bodyPr>
          <a:lstStyle/>
          <a:p>
            <a:r>
              <a:rPr lang="en-US" altLang="zh-CN" b="1" dirty="0"/>
              <a:t>3.1 </a:t>
            </a:r>
            <a:r>
              <a:rPr lang="zh-CN" altLang="en-US" b="1" dirty="0"/>
              <a:t>内存设置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AF2509-3194-4135-BB08-F46EA3AFC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66" y="256686"/>
            <a:ext cx="5388147" cy="38588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75CD94-D606-4CCC-B5DF-1C214501B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919" y="1407955"/>
            <a:ext cx="4555615" cy="5186027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3CCF58A-F977-4B8B-BB74-99C4ECD48C47}"/>
              </a:ext>
            </a:extLst>
          </p:cNvPr>
          <p:cNvSpPr/>
          <p:nvPr/>
        </p:nvSpPr>
        <p:spPr>
          <a:xfrm>
            <a:off x="1391920" y="3357880"/>
            <a:ext cx="1188720" cy="3098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7C01161-1F29-45DE-B777-8727503E3591}"/>
              </a:ext>
            </a:extLst>
          </p:cNvPr>
          <p:cNvCxnSpPr/>
          <p:nvPr/>
        </p:nvCxnSpPr>
        <p:spPr>
          <a:xfrm flipV="1">
            <a:off x="2651760" y="3058160"/>
            <a:ext cx="4582159" cy="4546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352DCC6-0956-412A-9DA5-0578AC9AAF7D}"/>
              </a:ext>
            </a:extLst>
          </p:cNvPr>
          <p:cNvSpPr/>
          <p:nvPr/>
        </p:nvSpPr>
        <p:spPr>
          <a:xfrm>
            <a:off x="7416799" y="3810000"/>
            <a:ext cx="1686561" cy="3055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76161D3-1121-4252-8F02-FC6F03936818}"/>
              </a:ext>
            </a:extLst>
          </p:cNvPr>
          <p:cNvSpPr/>
          <p:nvPr/>
        </p:nvSpPr>
        <p:spPr>
          <a:xfrm>
            <a:off x="9103360" y="4115558"/>
            <a:ext cx="1798320" cy="21260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6BEB1C-F032-4FFA-B0AF-B3DC2626FD84}"/>
              </a:ext>
            </a:extLst>
          </p:cNvPr>
          <p:cNvSpPr/>
          <p:nvPr/>
        </p:nvSpPr>
        <p:spPr>
          <a:xfrm>
            <a:off x="9103360" y="5760720"/>
            <a:ext cx="2235200" cy="21260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思想气泡: 云 2">
            <a:extLst>
              <a:ext uri="{FF2B5EF4-FFF2-40B4-BE49-F238E27FC236}">
                <a16:creationId xmlns:a16="http://schemas.microsoft.com/office/drawing/2014/main" id="{6015C9FA-AF71-4111-BE0D-839E93DD8281}"/>
              </a:ext>
            </a:extLst>
          </p:cNvPr>
          <p:cNvSpPr/>
          <p:nvPr/>
        </p:nvSpPr>
        <p:spPr>
          <a:xfrm>
            <a:off x="6654800" y="264018"/>
            <a:ext cx="3779520" cy="1656222"/>
          </a:xfrm>
          <a:prstGeom prst="cloudCallout">
            <a:avLst>
              <a:gd name="adj1" fmla="val -30186"/>
              <a:gd name="adj2" fmla="val 8104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目的是为了和设计的</a:t>
            </a:r>
            <a:r>
              <a:rPr lang="en-US" altLang="zh-CN" dirty="0"/>
              <a:t>CPU</a:t>
            </a:r>
            <a:r>
              <a:rPr lang="zh-CN" altLang="en-US" dirty="0"/>
              <a:t>配置一样！</a:t>
            </a:r>
          </a:p>
        </p:txBody>
      </p:sp>
    </p:spTree>
    <p:extLst>
      <p:ext uri="{BB962C8B-B14F-4D97-AF65-F5344CB8AC3E}">
        <p14:creationId xmlns:p14="http://schemas.microsoft.com/office/powerpoint/2010/main" val="2314218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E4664-56DD-450A-807B-87B004427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29240" cy="1006475"/>
          </a:xfrm>
        </p:spPr>
        <p:txBody>
          <a:bodyPr/>
          <a:lstStyle/>
          <a:p>
            <a:r>
              <a:rPr lang="en-US" altLang="zh-CN" b="1" dirty="0"/>
              <a:t>3.2  </a:t>
            </a:r>
            <a:r>
              <a:rPr lang="zh-CN" altLang="en-US" b="1" dirty="0"/>
              <a:t>新建</a:t>
            </a:r>
            <a:r>
              <a:rPr lang="en-US" altLang="zh-CN" b="1" dirty="0"/>
              <a:t>MIPS</a:t>
            </a:r>
            <a:r>
              <a:rPr lang="zh-CN" altLang="en-US" b="1" dirty="0"/>
              <a:t>汇编源程序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94A7BC-6A76-430E-B530-A6545E15A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82"/>
            <a:ext cx="3797495" cy="3257717"/>
          </a:xfrm>
          <a:prstGeom prst="rect">
            <a:avLst/>
          </a:prstGeom>
        </p:spPr>
      </p:pic>
      <p:sp>
        <p:nvSpPr>
          <p:cNvPr id="6" name="箭头: 虚尾 5">
            <a:extLst>
              <a:ext uri="{FF2B5EF4-FFF2-40B4-BE49-F238E27FC236}">
                <a16:creationId xmlns:a16="http://schemas.microsoft.com/office/drawing/2014/main" id="{F8BBE443-52FF-488C-AB8F-110CB05EC3C3}"/>
              </a:ext>
            </a:extLst>
          </p:cNvPr>
          <p:cNvSpPr/>
          <p:nvPr/>
        </p:nvSpPr>
        <p:spPr>
          <a:xfrm rot="2481092">
            <a:off x="4786946" y="3354853"/>
            <a:ext cx="1677747" cy="109102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E54F42-9310-4A07-AD5D-7077180D1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91" y="4533916"/>
            <a:ext cx="7563609" cy="2351832"/>
          </a:xfrm>
          <a:prstGeom prst="rect">
            <a:avLst/>
          </a:prstGeom>
        </p:spPr>
      </p:pic>
      <p:sp>
        <p:nvSpPr>
          <p:cNvPr id="3" name="思想气泡: 云 2">
            <a:extLst>
              <a:ext uri="{FF2B5EF4-FFF2-40B4-BE49-F238E27FC236}">
                <a16:creationId xmlns:a16="http://schemas.microsoft.com/office/drawing/2014/main" id="{992E6D04-81FC-0E84-D9AA-C282D078CD51}"/>
              </a:ext>
            </a:extLst>
          </p:cNvPr>
          <p:cNvSpPr/>
          <p:nvPr/>
        </p:nvSpPr>
        <p:spPr>
          <a:xfrm>
            <a:off x="7343685" y="2324084"/>
            <a:ext cx="3779520" cy="1656222"/>
          </a:xfrm>
          <a:prstGeom prst="cloudCallout">
            <a:avLst>
              <a:gd name="adj1" fmla="val -30186"/>
              <a:gd name="adj2" fmla="val 8104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新建的源程序需要先保存才能汇编！</a:t>
            </a:r>
          </a:p>
        </p:txBody>
      </p:sp>
    </p:spTree>
    <p:extLst>
      <p:ext uri="{BB962C8B-B14F-4D97-AF65-F5344CB8AC3E}">
        <p14:creationId xmlns:p14="http://schemas.microsoft.com/office/powerpoint/2010/main" val="2396842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B7CE7-A756-43D7-A0E6-0EDB11B1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897" y="295991"/>
            <a:ext cx="2473960" cy="782955"/>
          </a:xfrm>
        </p:spPr>
        <p:txBody>
          <a:bodyPr>
            <a:normAutofit/>
          </a:bodyPr>
          <a:lstStyle/>
          <a:p>
            <a:r>
              <a:rPr lang="en-US" altLang="zh-CN" b="1" dirty="0"/>
              <a:t>3.3  </a:t>
            </a:r>
            <a:r>
              <a:rPr lang="zh-CN" altLang="en-US" b="1" dirty="0"/>
              <a:t>汇编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AD2C14-E6D8-4FB3-B615-7811CB8A7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480" y="2758156"/>
            <a:ext cx="8392160" cy="369977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24292405-DF06-4675-BB64-ACAE2DC520F2}"/>
              </a:ext>
            </a:extLst>
          </p:cNvPr>
          <p:cNvGrpSpPr/>
          <p:nvPr/>
        </p:nvGrpSpPr>
        <p:grpSpPr>
          <a:xfrm>
            <a:off x="234769" y="139652"/>
            <a:ext cx="7048862" cy="1854295"/>
            <a:chOff x="234769" y="139652"/>
            <a:chExt cx="7048862" cy="185429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963E7EE-C5FE-4D2C-BE46-66CB0BB64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769" y="139652"/>
              <a:ext cx="7048862" cy="1854295"/>
            </a:xfrm>
            <a:prstGeom prst="rect">
              <a:avLst/>
            </a:prstGeom>
          </p:spPr>
        </p:pic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82405AE-4724-4515-A043-EEE9FEB336C1}"/>
                </a:ext>
              </a:extLst>
            </p:cNvPr>
            <p:cNvSpPr/>
            <p:nvPr/>
          </p:nvSpPr>
          <p:spPr>
            <a:xfrm>
              <a:off x="4368800" y="400074"/>
              <a:ext cx="467360" cy="52895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89E1D6C-7B66-4C68-8F7C-43BDBF2BC59A}"/>
              </a:ext>
            </a:extLst>
          </p:cNvPr>
          <p:cNvCxnSpPr>
            <a:cxnSpLocks/>
          </p:cNvCxnSpPr>
          <p:nvPr/>
        </p:nvCxnSpPr>
        <p:spPr>
          <a:xfrm>
            <a:off x="4836160" y="929029"/>
            <a:ext cx="843280" cy="17328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547EB7D-E9B2-2092-4929-A7AD5113DF3B}"/>
              </a:ext>
            </a:extLst>
          </p:cNvPr>
          <p:cNvSpPr/>
          <p:nvPr/>
        </p:nvSpPr>
        <p:spPr>
          <a:xfrm>
            <a:off x="4494415" y="3879273"/>
            <a:ext cx="509847" cy="197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E8E7ECDC-6E8E-2D07-A2C5-83EA29524DE0}"/>
              </a:ext>
            </a:extLst>
          </p:cNvPr>
          <p:cNvSpPr/>
          <p:nvPr/>
        </p:nvSpPr>
        <p:spPr>
          <a:xfrm>
            <a:off x="5746865" y="4491047"/>
            <a:ext cx="1690255" cy="640677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2141"/>
              <a:gd name="adj6" fmla="val -52253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十六进制格式的机器指令</a:t>
            </a:r>
          </a:p>
        </p:txBody>
      </p:sp>
    </p:spTree>
    <p:extLst>
      <p:ext uri="{BB962C8B-B14F-4D97-AF65-F5344CB8AC3E}">
        <p14:creationId xmlns:p14="http://schemas.microsoft.com/office/powerpoint/2010/main" val="3071797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B6FFB-71B5-4C4C-ABBB-D4A7BD83B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6953" y="452441"/>
            <a:ext cx="4057454" cy="898208"/>
          </a:xfrm>
        </p:spPr>
        <p:txBody>
          <a:bodyPr>
            <a:normAutofit/>
          </a:bodyPr>
          <a:lstStyle/>
          <a:p>
            <a:r>
              <a:rPr lang="en-US" altLang="zh-CN" b="1" dirty="0"/>
              <a:t>3.4  </a:t>
            </a:r>
            <a:r>
              <a:rPr lang="zh-CN" altLang="en-US" b="1" dirty="0"/>
              <a:t>导出机器指令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6BE8955-3ABF-416B-96E2-EA9DE6B664FD}"/>
              </a:ext>
            </a:extLst>
          </p:cNvPr>
          <p:cNvGrpSpPr/>
          <p:nvPr/>
        </p:nvGrpSpPr>
        <p:grpSpPr>
          <a:xfrm>
            <a:off x="398023" y="521908"/>
            <a:ext cx="4730993" cy="2400423"/>
            <a:chOff x="398023" y="521908"/>
            <a:chExt cx="4730993" cy="240042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800BA94-2148-4088-8FAB-3D2A6AB60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023" y="521908"/>
              <a:ext cx="4730993" cy="2400423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7B5E909A-8A17-45C7-8089-697535EA1C59}"/>
                </a:ext>
              </a:extLst>
            </p:cNvPr>
            <p:cNvSpPr/>
            <p:nvPr/>
          </p:nvSpPr>
          <p:spPr>
            <a:xfrm>
              <a:off x="1788160" y="784384"/>
              <a:ext cx="345440" cy="4491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DEF3D6-B8FF-412B-874F-214DF0281FB1}"/>
              </a:ext>
            </a:extLst>
          </p:cNvPr>
          <p:cNvGrpSpPr/>
          <p:nvPr/>
        </p:nvGrpSpPr>
        <p:grpSpPr>
          <a:xfrm>
            <a:off x="3943667" y="2973767"/>
            <a:ext cx="7862253" cy="3362325"/>
            <a:chOff x="3943667" y="2973767"/>
            <a:chExt cx="7862253" cy="336232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66B5366-2569-4179-ADBB-CBC1529A3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3667" y="2973767"/>
              <a:ext cx="7820025" cy="3362325"/>
            </a:xfrm>
            <a:prstGeom prst="rect">
              <a:avLst/>
            </a:prstGeom>
          </p:spPr>
        </p:pic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603ABE58-5406-4D03-908D-D78205AA4A50}"/>
                </a:ext>
              </a:extLst>
            </p:cNvPr>
            <p:cNvSpPr/>
            <p:nvPr/>
          </p:nvSpPr>
          <p:spPr>
            <a:xfrm>
              <a:off x="7975600" y="5039360"/>
              <a:ext cx="1849120" cy="64008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对话气泡: 椭圆形 12">
              <a:extLst>
                <a:ext uri="{FF2B5EF4-FFF2-40B4-BE49-F238E27FC236}">
                  <a16:creationId xmlns:a16="http://schemas.microsoft.com/office/drawing/2014/main" id="{F0ECA154-2A95-48B8-9108-843509FB9AD5}"/>
                </a:ext>
              </a:extLst>
            </p:cNvPr>
            <p:cNvSpPr/>
            <p:nvPr/>
          </p:nvSpPr>
          <p:spPr>
            <a:xfrm>
              <a:off x="9824720" y="3742628"/>
              <a:ext cx="1981200" cy="1158240"/>
            </a:xfrm>
            <a:prstGeom prst="wedgeEllipseCallout">
              <a:avLst>
                <a:gd name="adj1" fmla="val -53653"/>
                <a:gd name="adj2" fmla="val 61623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以其中一种格式导出</a:t>
              </a:r>
            </a:p>
          </p:txBody>
        </p:sp>
      </p:grp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A317631-BB7B-4638-8AC7-926D714D84EC}"/>
              </a:ext>
            </a:extLst>
          </p:cNvPr>
          <p:cNvCxnSpPr>
            <a:cxnSpLocks/>
          </p:cNvCxnSpPr>
          <p:nvPr/>
        </p:nvCxnSpPr>
        <p:spPr>
          <a:xfrm>
            <a:off x="2133600" y="1233488"/>
            <a:ext cx="2133600" cy="19513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35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57A87CD-7861-41A7-BD9B-6201DFC4D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551980"/>
            <a:ext cx="6772275" cy="22098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4B37A17-1C0B-4313-9897-F2300F9FE133}"/>
              </a:ext>
            </a:extLst>
          </p:cNvPr>
          <p:cNvCxnSpPr/>
          <p:nvPr/>
        </p:nvCxnSpPr>
        <p:spPr>
          <a:xfrm>
            <a:off x="3088640" y="2458720"/>
            <a:ext cx="3007360" cy="14020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6F6C4BB2-0914-4B39-8342-C240CE09758D}"/>
              </a:ext>
            </a:extLst>
          </p:cNvPr>
          <p:cNvGrpSpPr/>
          <p:nvPr/>
        </p:nvGrpSpPr>
        <p:grpSpPr>
          <a:xfrm>
            <a:off x="6096000" y="2761781"/>
            <a:ext cx="5805487" cy="4096219"/>
            <a:chOff x="6096000" y="2761781"/>
            <a:chExt cx="5805487" cy="409621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80282C4-CA29-4FCB-AFE4-E9552CCE5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761781"/>
              <a:ext cx="5805487" cy="4096219"/>
            </a:xfrm>
            <a:prstGeom prst="rect">
              <a:avLst/>
            </a:prstGeom>
          </p:spPr>
        </p:pic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D2D1401-B32D-471D-8105-847C103EB03B}"/>
                </a:ext>
              </a:extLst>
            </p:cNvPr>
            <p:cNvSpPr/>
            <p:nvPr/>
          </p:nvSpPr>
          <p:spPr>
            <a:xfrm>
              <a:off x="7152640" y="5516880"/>
              <a:ext cx="762000" cy="38608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370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6D11663-132E-37D8-CDB7-80A2D84F0044}"/>
              </a:ext>
            </a:extLst>
          </p:cNvPr>
          <p:cNvGrpSpPr/>
          <p:nvPr/>
        </p:nvGrpSpPr>
        <p:grpSpPr>
          <a:xfrm>
            <a:off x="6339351" y="3673640"/>
            <a:ext cx="4965960" cy="1331912"/>
            <a:chOff x="1739641" y="1283826"/>
            <a:chExt cx="4965960" cy="133191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90940C0-0A1D-4318-8656-D9D564EA23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5959" b="40397"/>
            <a:stretch/>
          </p:blipFill>
          <p:spPr>
            <a:xfrm>
              <a:off x="1739641" y="1283826"/>
              <a:ext cx="4965960" cy="1331912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17E8480-71EF-7153-781D-D561B5399A7D}"/>
                </a:ext>
              </a:extLst>
            </p:cNvPr>
            <p:cNvSpPr txBox="1"/>
            <p:nvPr/>
          </p:nvSpPr>
          <p:spPr>
            <a:xfrm>
              <a:off x="4627417" y="1335578"/>
              <a:ext cx="15461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B050"/>
                  </a:solidFill>
                </a:rPr>
                <a:t>二进制格式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221941D-DDF3-D15D-6641-CBA7655B3C10}"/>
              </a:ext>
            </a:extLst>
          </p:cNvPr>
          <p:cNvGrpSpPr/>
          <p:nvPr/>
        </p:nvGrpSpPr>
        <p:grpSpPr>
          <a:xfrm>
            <a:off x="1058458" y="3673640"/>
            <a:ext cx="4699953" cy="1097867"/>
            <a:chOff x="1739640" y="3518468"/>
            <a:chExt cx="4699953" cy="109786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D3FD882-BE07-4E90-925D-6CAD0EC5B4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9129" b="42079"/>
            <a:stretch/>
          </p:blipFill>
          <p:spPr>
            <a:xfrm>
              <a:off x="1739640" y="3518468"/>
              <a:ext cx="4699953" cy="1097867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9A4BE90-3ABF-D77C-4ACB-D3A203D4790C}"/>
                </a:ext>
              </a:extLst>
            </p:cNvPr>
            <p:cNvSpPr txBox="1"/>
            <p:nvPr/>
          </p:nvSpPr>
          <p:spPr>
            <a:xfrm>
              <a:off x="3990109" y="3518468"/>
              <a:ext cx="165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十六进制格式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1C23CFF1-625C-39BB-6A36-683326D278D8}"/>
              </a:ext>
            </a:extLst>
          </p:cNvPr>
          <p:cNvSpPr txBox="1"/>
          <p:nvPr/>
        </p:nvSpPr>
        <p:spPr>
          <a:xfrm>
            <a:off x="1407622" y="1662545"/>
            <a:ext cx="9587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导出的代码文件是一个文本文件，一行一条指令。</a:t>
            </a:r>
            <a:endParaRPr lang="en-US" altLang="zh-CN" sz="2400" dirty="0"/>
          </a:p>
          <a:p>
            <a:r>
              <a:rPr lang="zh-CN" altLang="en-US" sz="2400" dirty="0"/>
              <a:t>用</a:t>
            </a:r>
            <a:r>
              <a:rPr lang="en-US" altLang="zh-CN" sz="2400" dirty="0">
                <a:solidFill>
                  <a:srgbClr val="FF0000"/>
                </a:solidFill>
              </a:rPr>
              <a:t>$</a:t>
            </a:r>
            <a:r>
              <a:rPr lang="en-US" altLang="zh-CN" sz="2400" dirty="0" err="1">
                <a:solidFill>
                  <a:srgbClr val="FF0000"/>
                </a:solidFill>
              </a:rPr>
              <a:t>readmemh</a:t>
            </a:r>
            <a:r>
              <a:rPr lang="zh-CN" altLang="en-US" sz="2400" dirty="0"/>
              <a:t>或</a:t>
            </a:r>
            <a:r>
              <a:rPr lang="en-US" altLang="zh-CN" sz="2400" dirty="0">
                <a:solidFill>
                  <a:srgbClr val="00B050"/>
                </a:solidFill>
              </a:rPr>
              <a:t>$</a:t>
            </a:r>
            <a:r>
              <a:rPr lang="en-US" altLang="zh-CN" sz="2400" dirty="0" err="1">
                <a:solidFill>
                  <a:srgbClr val="00B050"/>
                </a:solidFill>
              </a:rPr>
              <a:t>readmemb</a:t>
            </a:r>
            <a:r>
              <a:rPr lang="zh-CN" altLang="en-US" sz="2400" dirty="0"/>
              <a:t>系统任务可以加载到指令存储器。</a:t>
            </a:r>
          </a:p>
        </p:txBody>
      </p:sp>
    </p:spTree>
    <p:extLst>
      <p:ext uri="{BB962C8B-B14F-4D97-AF65-F5344CB8AC3E}">
        <p14:creationId xmlns:p14="http://schemas.microsoft.com/office/powerpoint/2010/main" val="2950665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51FA4B-3E9E-49F5-B9E6-7439022B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12725"/>
            <a:ext cx="10337800" cy="788515"/>
          </a:xfrm>
        </p:spPr>
        <p:txBody>
          <a:bodyPr/>
          <a:lstStyle/>
          <a:p>
            <a:r>
              <a:rPr lang="en-US" altLang="zh-CN" b="1" dirty="0"/>
              <a:t>3.5  </a:t>
            </a:r>
            <a:r>
              <a:rPr lang="zh-CN" altLang="en-US" b="1" dirty="0"/>
              <a:t>对照执行    </a:t>
            </a:r>
            <a:r>
              <a:rPr lang="en-US" altLang="zh-CN" b="1" dirty="0"/>
              <a:t>----</a:t>
            </a:r>
            <a:r>
              <a:rPr lang="zh-CN" altLang="en-US" b="1" dirty="0"/>
              <a:t>源程序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1E82B0-56D8-49C0-A064-2BDAC8B4C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153640"/>
            <a:ext cx="11064240" cy="570436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C6D23CE-FA66-3E6F-CCB7-D479C41D905D}"/>
              </a:ext>
            </a:extLst>
          </p:cNvPr>
          <p:cNvSpPr/>
          <p:nvPr/>
        </p:nvSpPr>
        <p:spPr>
          <a:xfrm>
            <a:off x="4450080" y="1374371"/>
            <a:ext cx="349135" cy="415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注: 弯曲线形 4">
            <a:extLst>
              <a:ext uri="{FF2B5EF4-FFF2-40B4-BE49-F238E27FC236}">
                <a16:creationId xmlns:a16="http://schemas.microsoft.com/office/drawing/2014/main" id="{E09A6FE6-E82B-95F8-B911-0F55D1AC7BDE}"/>
              </a:ext>
            </a:extLst>
          </p:cNvPr>
          <p:cNvSpPr/>
          <p:nvPr/>
        </p:nvSpPr>
        <p:spPr>
          <a:xfrm>
            <a:off x="6134793" y="2842953"/>
            <a:ext cx="1612669" cy="94765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6155"/>
              <a:gd name="adj6" fmla="val -8481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点这儿进入执行窗口</a:t>
            </a:r>
          </a:p>
        </p:txBody>
      </p:sp>
    </p:spTree>
    <p:extLst>
      <p:ext uri="{BB962C8B-B14F-4D97-AF65-F5344CB8AC3E}">
        <p14:creationId xmlns:p14="http://schemas.microsoft.com/office/powerpoint/2010/main" val="12758347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A3CA4444-C822-4870-9480-1FCF0F61D3D7}"/>
              </a:ext>
            </a:extLst>
          </p:cNvPr>
          <p:cNvGrpSpPr/>
          <p:nvPr/>
        </p:nvGrpSpPr>
        <p:grpSpPr>
          <a:xfrm>
            <a:off x="225415" y="70020"/>
            <a:ext cx="11741170" cy="6473655"/>
            <a:chOff x="225415" y="70020"/>
            <a:chExt cx="11741170" cy="647365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BD062DD-16CF-4E99-9897-B4CAE39AF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415" y="731520"/>
              <a:ext cx="11741170" cy="5812155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358AC40-CFB9-43E5-85F4-A86B71CD338C}"/>
                </a:ext>
              </a:extLst>
            </p:cNvPr>
            <p:cNvGrpSpPr/>
            <p:nvPr/>
          </p:nvGrpSpPr>
          <p:grpSpPr>
            <a:xfrm>
              <a:off x="3332480" y="70020"/>
              <a:ext cx="7660640" cy="4847420"/>
              <a:chOff x="3332480" y="70020"/>
              <a:chExt cx="7660640" cy="4847420"/>
            </a:xfrm>
          </p:grpSpPr>
          <p:sp>
            <p:nvSpPr>
              <p:cNvPr id="10" name="对话气泡: 椭圆形 9">
                <a:extLst>
                  <a:ext uri="{FF2B5EF4-FFF2-40B4-BE49-F238E27FC236}">
                    <a16:creationId xmlns:a16="http://schemas.microsoft.com/office/drawing/2014/main" id="{E754E4B4-1D47-40C7-8729-0819FA49928C}"/>
                  </a:ext>
                </a:extLst>
              </p:cNvPr>
              <p:cNvSpPr/>
              <p:nvPr/>
            </p:nvSpPr>
            <p:spPr>
              <a:xfrm>
                <a:off x="3332480" y="141140"/>
                <a:ext cx="1066800" cy="476241"/>
              </a:xfrm>
              <a:prstGeom prst="wedgeEllipseCallout">
                <a:avLst>
                  <a:gd name="adj1" fmla="val 81072"/>
                  <a:gd name="adj2" fmla="val 12210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执行</a:t>
                </a:r>
              </a:p>
            </p:txBody>
          </p:sp>
          <p:sp>
            <p:nvSpPr>
              <p:cNvPr id="12" name="对话气泡: 椭圆形 11">
                <a:extLst>
                  <a:ext uri="{FF2B5EF4-FFF2-40B4-BE49-F238E27FC236}">
                    <a16:creationId xmlns:a16="http://schemas.microsoft.com/office/drawing/2014/main" id="{A72CD73F-121A-4E71-B1A8-3819752A729A}"/>
                  </a:ext>
                </a:extLst>
              </p:cNvPr>
              <p:cNvSpPr/>
              <p:nvPr/>
            </p:nvSpPr>
            <p:spPr>
              <a:xfrm>
                <a:off x="4592319" y="81280"/>
                <a:ext cx="1066800" cy="547361"/>
              </a:xfrm>
              <a:prstGeom prst="wedgeEllipseCallout">
                <a:avLst>
                  <a:gd name="adj1" fmla="val -833"/>
                  <a:gd name="adj2" fmla="val 10263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单步执行</a:t>
                </a:r>
              </a:p>
            </p:txBody>
          </p:sp>
          <p:sp>
            <p:nvSpPr>
              <p:cNvPr id="13" name="对话气泡: 椭圆形 12">
                <a:extLst>
                  <a:ext uri="{FF2B5EF4-FFF2-40B4-BE49-F238E27FC236}">
                    <a16:creationId xmlns:a16="http://schemas.microsoft.com/office/drawing/2014/main" id="{36E8CD15-4B11-4D90-A668-68F8372276AD}"/>
                  </a:ext>
                </a:extLst>
              </p:cNvPr>
              <p:cNvSpPr/>
              <p:nvPr/>
            </p:nvSpPr>
            <p:spPr>
              <a:xfrm>
                <a:off x="5696162" y="152400"/>
                <a:ext cx="1066800" cy="350842"/>
              </a:xfrm>
              <a:prstGeom prst="wedgeEllipseCallout">
                <a:avLst>
                  <a:gd name="adj1" fmla="val -39880"/>
                  <a:gd name="adj2" fmla="val 182099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暂停</a:t>
                </a:r>
              </a:p>
            </p:txBody>
          </p:sp>
          <p:sp>
            <p:nvSpPr>
              <p:cNvPr id="14" name="对话气泡: 椭圆形 13">
                <a:extLst>
                  <a:ext uri="{FF2B5EF4-FFF2-40B4-BE49-F238E27FC236}">
                    <a16:creationId xmlns:a16="http://schemas.microsoft.com/office/drawing/2014/main" id="{978D1D91-1BFB-4FA5-8FA4-A71FCC2697D2}"/>
                  </a:ext>
                </a:extLst>
              </p:cNvPr>
              <p:cNvSpPr/>
              <p:nvPr/>
            </p:nvSpPr>
            <p:spPr>
              <a:xfrm>
                <a:off x="6908800" y="70020"/>
                <a:ext cx="1066800" cy="547361"/>
              </a:xfrm>
              <a:prstGeom prst="wedgeEllipseCallout">
                <a:avLst>
                  <a:gd name="adj1" fmla="val -95118"/>
                  <a:gd name="adj2" fmla="val 106123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重新开始</a:t>
                </a:r>
              </a:p>
            </p:txBody>
          </p:sp>
          <p:sp>
            <p:nvSpPr>
              <p:cNvPr id="15" name="云形 14">
                <a:extLst>
                  <a:ext uri="{FF2B5EF4-FFF2-40B4-BE49-F238E27FC236}">
                    <a16:creationId xmlns:a16="http://schemas.microsoft.com/office/drawing/2014/main" id="{F705095D-1D94-45C3-A8EE-83FB7C8A62B2}"/>
                  </a:ext>
                </a:extLst>
              </p:cNvPr>
              <p:cNvSpPr/>
              <p:nvPr/>
            </p:nvSpPr>
            <p:spPr>
              <a:xfrm>
                <a:off x="6593840" y="4216400"/>
                <a:ext cx="1381760" cy="701040"/>
              </a:xfrm>
              <a:prstGeom prst="clou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数据存储器</a:t>
                </a:r>
              </a:p>
            </p:txBody>
          </p:sp>
          <p:sp>
            <p:nvSpPr>
              <p:cNvPr id="17" name="云形 16">
                <a:extLst>
                  <a:ext uri="{FF2B5EF4-FFF2-40B4-BE49-F238E27FC236}">
                    <a16:creationId xmlns:a16="http://schemas.microsoft.com/office/drawing/2014/main" id="{637C9A15-E44F-4DDF-9342-9DA17C452D4C}"/>
                  </a:ext>
                </a:extLst>
              </p:cNvPr>
              <p:cNvSpPr/>
              <p:nvPr/>
            </p:nvSpPr>
            <p:spPr>
              <a:xfrm>
                <a:off x="9611360" y="3891280"/>
                <a:ext cx="1381760" cy="701040"/>
              </a:xfrm>
              <a:prstGeom prst="clou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寄存器</a:t>
                </a:r>
              </a:p>
            </p:txBody>
          </p:sp>
        </p:grpSp>
      </p:grpSp>
      <p:sp>
        <p:nvSpPr>
          <p:cNvPr id="20" name="标题 1">
            <a:extLst>
              <a:ext uri="{FF2B5EF4-FFF2-40B4-BE49-F238E27FC236}">
                <a16:creationId xmlns:a16="http://schemas.microsoft.com/office/drawing/2014/main" id="{DD73A07D-FD5F-4EC6-A403-EAF6AB21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99" y="13678"/>
            <a:ext cx="2509520" cy="848841"/>
          </a:xfrm>
        </p:spPr>
        <p:txBody>
          <a:bodyPr>
            <a:normAutofit/>
          </a:bodyPr>
          <a:lstStyle/>
          <a:p>
            <a:r>
              <a:rPr lang="zh-CN" altLang="en-US" b="1" dirty="0"/>
              <a:t>执行窗口</a:t>
            </a:r>
          </a:p>
        </p:txBody>
      </p:sp>
      <p:sp>
        <p:nvSpPr>
          <p:cNvPr id="2" name="对话气泡: 椭圆形 1">
            <a:extLst>
              <a:ext uri="{FF2B5EF4-FFF2-40B4-BE49-F238E27FC236}">
                <a16:creationId xmlns:a16="http://schemas.microsoft.com/office/drawing/2014/main" id="{A5596A77-D91A-5E81-86AE-425BAD72FCE2}"/>
              </a:ext>
            </a:extLst>
          </p:cNvPr>
          <p:cNvSpPr/>
          <p:nvPr/>
        </p:nvSpPr>
        <p:spPr>
          <a:xfrm>
            <a:off x="4153688" y="1530466"/>
            <a:ext cx="1505431" cy="547361"/>
          </a:xfrm>
          <a:prstGeom prst="wedgeEllipseCallout">
            <a:avLst>
              <a:gd name="adj1" fmla="val 30508"/>
              <a:gd name="adj2" fmla="val -1170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回退一条指令</a:t>
            </a:r>
          </a:p>
        </p:txBody>
      </p:sp>
    </p:spTree>
    <p:extLst>
      <p:ext uri="{BB962C8B-B14F-4D97-AF65-F5344CB8AC3E}">
        <p14:creationId xmlns:p14="http://schemas.microsoft.com/office/powerpoint/2010/main" val="23983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7A03C-639E-4912-A508-4D83FD19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>
            <a:normAutofit/>
          </a:bodyPr>
          <a:lstStyle/>
          <a:p>
            <a:r>
              <a:rPr lang="en-US" altLang="zh-CN" b="1" dirty="0"/>
              <a:t>Mars</a:t>
            </a:r>
            <a:r>
              <a:rPr lang="zh-CN" altLang="en-US" b="1" dirty="0"/>
              <a:t>执行过程中，数据存储器和寄存器的值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AE0E69-07F7-433A-9527-18AA07754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1373650"/>
            <a:ext cx="11353800" cy="481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656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F09DEC-B03F-4043-933B-F50E8A6E1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914" y="1263968"/>
            <a:ext cx="9880171" cy="460656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E4B8B319-7A61-455B-BF4B-A976A4F4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85" y="27563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b="1" dirty="0"/>
              <a:t>设计的</a:t>
            </a:r>
            <a:r>
              <a:rPr lang="en-US" altLang="zh-CN" b="1" dirty="0"/>
              <a:t>CPU</a:t>
            </a:r>
            <a:r>
              <a:rPr lang="zh-CN" altLang="en-US" b="1" dirty="0"/>
              <a:t>执行过程中，数据存储器的值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BE85F1-3235-91D8-853A-B1962547DA94}"/>
              </a:ext>
            </a:extLst>
          </p:cNvPr>
          <p:cNvSpPr/>
          <p:nvPr/>
        </p:nvSpPr>
        <p:spPr>
          <a:xfrm>
            <a:off x="6688975" y="5370022"/>
            <a:ext cx="2421774" cy="2881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5878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7F84A7C-6E5C-4579-A762-83929D392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626043"/>
            <a:ext cx="10952480" cy="4501431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D8B4BA96-39F3-40AD-9A63-ABB377D5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85" y="275635"/>
            <a:ext cx="10442155" cy="1035005"/>
          </a:xfrm>
        </p:spPr>
        <p:txBody>
          <a:bodyPr>
            <a:normAutofit/>
          </a:bodyPr>
          <a:lstStyle/>
          <a:p>
            <a:r>
              <a:rPr lang="zh-CN" altLang="en-US" b="1" dirty="0"/>
              <a:t>设计的</a:t>
            </a:r>
            <a:r>
              <a:rPr lang="en-US" altLang="zh-CN" b="1" dirty="0"/>
              <a:t>CPU</a:t>
            </a:r>
            <a:r>
              <a:rPr lang="zh-CN" altLang="en-US" b="1" dirty="0"/>
              <a:t>执行过程中，寄存器的值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E46198-CF55-3448-CE65-F4649120A400}"/>
              </a:ext>
            </a:extLst>
          </p:cNvPr>
          <p:cNvSpPr/>
          <p:nvPr/>
        </p:nvSpPr>
        <p:spPr>
          <a:xfrm>
            <a:off x="6367549" y="5375564"/>
            <a:ext cx="2698866" cy="238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440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CAAE0-9106-4833-9066-35E3EB107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5443" y="2587081"/>
            <a:ext cx="9144000" cy="967485"/>
          </a:xfrm>
        </p:spPr>
        <p:txBody>
          <a:bodyPr>
            <a:normAutofit/>
          </a:bodyPr>
          <a:lstStyle/>
          <a:p>
            <a:pPr algn="l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希冀实验平台用法</a:t>
            </a:r>
          </a:p>
        </p:txBody>
      </p:sp>
    </p:spTree>
    <p:extLst>
      <p:ext uri="{BB962C8B-B14F-4D97-AF65-F5344CB8AC3E}">
        <p14:creationId xmlns:p14="http://schemas.microsoft.com/office/powerpoint/2010/main" val="3027389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53729C-DDAA-46EF-98DC-614AA763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285"/>
            <a:ext cx="10515600" cy="661035"/>
          </a:xfrm>
        </p:spPr>
        <p:txBody>
          <a:bodyPr>
            <a:noAutofit/>
          </a:bodyPr>
          <a:lstStyle/>
          <a:p>
            <a:r>
              <a:rPr lang="en-US" altLang="zh-CN" b="1" dirty="0"/>
              <a:t>4.1  </a:t>
            </a:r>
            <a:r>
              <a:rPr lang="zh-CN" altLang="en-US" b="1" dirty="0"/>
              <a:t>登录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82F834-E4EA-49DD-B953-060C360F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441747"/>
            <a:ext cx="10017760" cy="5281045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8DE601-BD84-42DB-975B-D4D0EE98E6AE}"/>
              </a:ext>
            </a:extLst>
          </p:cNvPr>
          <p:cNvSpPr/>
          <p:nvPr/>
        </p:nvSpPr>
        <p:spPr>
          <a:xfrm>
            <a:off x="8163612" y="2328421"/>
            <a:ext cx="2849828" cy="313752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注: 线形 7">
            <a:extLst>
              <a:ext uri="{FF2B5EF4-FFF2-40B4-BE49-F238E27FC236}">
                <a16:creationId xmlns:a16="http://schemas.microsoft.com/office/drawing/2014/main" id="{FB7639BB-20A4-4EDE-8B1C-CF7F15F3D2D1}"/>
              </a:ext>
            </a:extLst>
          </p:cNvPr>
          <p:cNvSpPr/>
          <p:nvPr/>
        </p:nvSpPr>
        <p:spPr>
          <a:xfrm>
            <a:off x="9915929" y="2831957"/>
            <a:ext cx="1976120" cy="725227"/>
          </a:xfrm>
          <a:prstGeom prst="borderCallout1">
            <a:avLst>
              <a:gd name="adj1" fmla="val 18750"/>
              <a:gd name="adj2" fmla="val -8333"/>
              <a:gd name="adj3" fmla="val 84750"/>
              <a:gd name="adj4" fmla="val -313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用户名和初始密码均为学号</a:t>
            </a:r>
          </a:p>
        </p:txBody>
      </p:sp>
      <p:sp>
        <p:nvSpPr>
          <p:cNvPr id="9" name="标注: 线形 8">
            <a:extLst>
              <a:ext uri="{FF2B5EF4-FFF2-40B4-BE49-F238E27FC236}">
                <a16:creationId xmlns:a16="http://schemas.microsoft.com/office/drawing/2014/main" id="{6DE62CC0-3345-4932-91AD-DF3B61D32163}"/>
              </a:ext>
            </a:extLst>
          </p:cNvPr>
          <p:cNvSpPr/>
          <p:nvPr/>
        </p:nvSpPr>
        <p:spPr>
          <a:xfrm>
            <a:off x="3957319" y="1026160"/>
            <a:ext cx="3025372" cy="661034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网址为：</a:t>
            </a:r>
            <a:r>
              <a:rPr lang="en-US" altLang="zh-CN" dirty="0"/>
              <a:t>https://course.educg.net/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022424" y="392545"/>
            <a:ext cx="3255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请及时修改密码</a:t>
            </a:r>
            <a:endParaRPr lang="en-US" altLang="zh-CN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451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67" y="1621662"/>
            <a:ext cx="9908746" cy="4043643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159B049F-06C6-4BA0-904C-B4E5C1B7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40" y="131709"/>
            <a:ext cx="10515600" cy="661035"/>
          </a:xfrm>
        </p:spPr>
        <p:txBody>
          <a:bodyPr>
            <a:noAutofit/>
          </a:bodyPr>
          <a:lstStyle/>
          <a:p>
            <a:r>
              <a:rPr lang="en-US" altLang="zh-CN" b="1" dirty="0"/>
              <a:t>4.3  </a:t>
            </a:r>
            <a:r>
              <a:rPr lang="zh-CN" altLang="en-US" b="1" dirty="0"/>
              <a:t>作业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26640" y="5188251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注意截止日期！！！</a:t>
            </a:r>
            <a:endParaRPr lang="en-US" altLang="zh-CN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超过截止日期，每晚交一天扣分</a:t>
            </a:r>
            <a:r>
              <a:rPr lang="en-US" altLang="zh-CN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10%</a:t>
            </a:r>
            <a:r>
              <a:rPr lang="zh-CN" altLang="en-US" sz="28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！！！</a:t>
            </a:r>
          </a:p>
        </p:txBody>
      </p:sp>
    </p:spTree>
    <p:extLst>
      <p:ext uri="{BB962C8B-B14F-4D97-AF65-F5344CB8AC3E}">
        <p14:creationId xmlns:p14="http://schemas.microsoft.com/office/powerpoint/2010/main" val="34617843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21220AD-CDCE-4CBB-8E26-89553ACA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1050604"/>
            <a:ext cx="9504680" cy="4913647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601A99-5FF3-4021-8E18-52897225545D}"/>
              </a:ext>
            </a:extLst>
          </p:cNvPr>
          <p:cNvSpPr/>
          <p:nvPr/>
        </p:nvSpPr>
        <p:spPr>
          <a:xfrm>
            <a:off x="2966720" y="3220720"/>
            <a:ext cx="1168400" cy="4267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C8F1FEDA-406A-4A9C-A4C3-88EEF582E7A2}"/>
              </a:ext>
            </a:extLst>
          </p:cNvPr>
          <p:cNvSpPr/>
          <p:nvPr/>
        </p:nvSpPr>
        <p:spPr>
          <a:xfrm>
            <a:off x="5181600" y="1849120"/>
            <a:ext cx="2541104" cy="1036320"/>
          </a:xfrm>
          <a:prstGeom prst="cloudCallout">
            <a:avLst>
              <a:gd name="adj1" fmla="val -91678"/>
              <a:gd name="adj2" fmla="val 946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点击打开，查看作业要求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8668058-7FC0-4140-B8E9-C2F6429B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22" y="121770"/>
            <a:ext cx="10515600" cy="661035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1. </a:t>
            </a:r>
            <a:r>
              <a:rPr lang="zh-CN" altLang="en-US" sz="3200" b="1" dirty="0"/>
              <a:t>查看作业</a:t>
            </a:r>
          </a:p>
        </p:txBody>
      </p:sp>
    </p:spTree>
    <p:extLst>
      <p:ext uri="{BB962C8B-B14F-4D97-AF65-F5344CB8AC3E}">
        <p14:creationId xmlns:p14="http://schemas.microsoft.com/office/powerpoint/2010/main" val="32622903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583" y="738265"/>
            <a:ext cx="8498659" cy="5784744"/>
          </a:xfrm>
          <a:prstGeom prst="rect">
            <a:avLst/>
          </a:prstGeom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EFE8AFE6-E52C-432B-83FE-68F5C05E6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40" y="131709"/>
            <a:ext cx="10515600" cy="661035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2. </a:t>
            </a:r>
            <a:r>
              <a:rPr lang="zh-CN" altLang="en-US" sz="3200" b="1" dirty="0"/>
              <a:t>提交作业</a:t>
            </a:r>
          </a:p>
        </p:txBody>
      </p:sp>
      <p:sp>
        <p:nvSpPr>
          <p:cNvPr id="12" name="矩形 11"/>
          <p:cNvSpPr/>
          <p:nvPr/>
        </p:nvSpPr>
        <p:spPr>
          <a:xfrm>
            <a:off x="4959626" y="5367130"/>
            <a:ext cx="675861" cy="354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204568" y="4057470"/>
            <a:ext cx="65501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注意： ①只需要提交</a:t>
            </a:r>
            <a:r>
              <a:rPr lang="en-US" altLang="zh-CN" b="1" dirty="0">
                <a:solidFill>
                  <a:srgbClr val="FF0000"/>
                </a:solidFill>
              </a:rPr>
              <a:t>.v</a:t>
            </a:r>
            <a:r>
              <a:rPr lang="zh-CN" altLang="en-US" b="1" dirty="0">
                <a:solidFill>
                  <a:srgbClr val="FF0000"/>
                </a:solidFill>
              </a:rPr>
              <a:t>文件，不用提交</a:t>
            </a:r>
            <a:r>
              <a:rPr lang="en-US" altLang="zh-CN" b="1" dirty="0" err="1">
                <a:solidFill>
                  <a:srgbClr val="FF0000"/>
                </a:solidFill>
              </a:rPr>
              <a:t>testbench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US" altLang="zh-CN" b="1" dirty="0">
                <a:solidFill>
                  <a:srgbClr val="FF0000"/>
                </a:solidFill>
              </a:rPr>
              <a:t>txt</a:t>
            </a:r>
            <a:r>
              <a:rPr lang="zh-CN" altLang="en-US" b="1" dirty="0">
                <a:solidFill>
                  <a:srgbClr val="FF0000"/>
                </a:solidFill>
              </a:rPr>
              <a:t>文件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           </a:t>
            </a:r>
            <a:r>
              <a:rPr lang="zh-CN" altLang="zh-CN" b="1" dirty="0">
                <a:solidFill>
                  <a:srgbClr val="FF0000"/>
                </a:solidFill>
              </a:rPr>
              <a:t>②</a:t>
            </a:r>
            <a:r>
              <a:rPr lang="zh-CN" altLang="en-US" b="1" dirty="0">
                <a:solidFill>
                  <a:srgbClr val="FF0000"/>
                </a:solidFill>
              </a:rPr>
              <a:t>如果只需要提交一个</a:t>
            </a:r>
            <a:r>
              <a:rPr lang="en-US" altLang="zh-CN" b="1" dirty="0">
                <a:solidFill>
                  <a:srgbClr val="FF0000"/>
                </a:solidFill>
              </a:rPr>
              <a:t>.v</a:t>
            </a:r>
            <a:r>
              <a:rPr lang="zh-CN" altLang="en-US" b="1" dirty="0">
                <a:solidFill>
                  <a:srgbClr val="FF0000"/>
                </a:solidFill>
              </a:rPr>
              <a:t>文件，可以直接提交</a:t>
            </a:r>
            <a:r>
              <a:rPr lang="en-US" altLang="zh-CN" b="1" dirty="0">
                <a:solidFill>
                  <a:srgbClr val="FF0000"/>
                </a:solidFill>
              </a:rPr>
              <a:t>.v</a:t>
            </a:r>
            <a:r>
              <a:rPr lang="zh-CN" altLang="en-US" b="1" dirty="0">
                <a:solidFill>
                  <a:srgbClr val="FF0000"/>
                </a:solidFill>
              </a:rPr>
              <a:t>文件；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           </a:t>
            </a:r>
            <a:r>
              <a:rPr lang="zh-CN" altLang="zh-CN" b="1" dirty="0">
                <a:solidFill>
                  <a:srgbClr val="FF0000"/>
                </a:solidFill>
              </a:rPr>
              <a:t>③</a:t>
            </a:r>
            <a:r>
              <a:rPr lang="zh-CN" altLang="en-US" b="1" dirty="0">
                <a:solidFill>
                  <a:srgbClr val="FF0000"/>
                </a:solidFill>
              </a:rPr>
              <a:t>如果需要提交多个</a:t>
            </a:r>
            <a:r>
              <a:rPr lang="en-US" altLang="zh-CN" b="1" dirty="0">
                <a:solidFill>
                  <a:srgbClr val="FF0000"/>
                </a:solidFill>
              </a:rPr>
              <a:t>.v</a:t>
            </a:r>
            <a:r>
              <a:rPr lang="zh-CN" altLang="en-US" b="1" dirty="0">
                <a:solidFill>
                  <a:srgbClr val="FF0000"/>
                </a:solidFill>
              </a:rPr>
              <a:t>文件，压缩后提交。（压缩方法见下页）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86032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37BF5-061F-4B8A-8FE6-B3C38B2A9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72" y="215032"/>
            <a:ext cx="10998076" cy="908871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lang="zh-CN" altLang="zh-CN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压缩文件的方法为：选择要压缩的文件，右键选择压缩。</a:t>
            </a:r>
            <a:br>
              <a:rPr lang="en-US" altLang="zh-CN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注意：</a:t>
            </a:r>
            <a:r>
              <a:rPr lang="zh-CN" altLang="zh-CN" sz="24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不能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把文件</a:t>
            </a:r>
            <a:r>
              <a:rPr lang="zh-CN" altLang="zh-CN" sz="24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放入文件夹中压缩文件夹</a:t>
            </a:r>
            <a:r>
              <a:rPr lang="zh-CN" altLang="zh-CN" sz="2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7B0C37-B64D-4527-9A1D-8C7B4FBE0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72" y="1243173"/>
            <a:ext cx="7321926" cy="52326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F62691-50AA-4BE2-B072-AE419A5C37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511"/>
          <a:stretch/>
        </p:blipFill>
        <p:spPr>
          <a:xfrm>
            <a:off x="8183473" y="4852292"/>
            <a:ext cx="3181350" cy="325995"/>
          </a:xfrm>
          <a:prstGeom prst="rect">
            <a:avLst/>
          </a:prstGeom>
        </p:spPr>
      </p:pic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B53570F-DB31-4936-929C-A622C9654FA9}"/>
              </a:ext>
            </a:extLst>
          </p:cNvPr>
          <p:cNvSpPr/>
          <p:nvPr/>
        </p:nvSpPr>
        <p:spPr>
          <a:xfrm>
            <a:off x="6688477" y="3565132"/>
            <a:ext cx="2332233" cy="1287159"/>
          </a:xfrm>
          <a:custGeom>
            <a:avLst/>
            <a:gdLst>
              <a:gd name="connsiteX0" fmla="*/ 0 w 2198669"/>
              <a:gd name="connsiteY0" fmla="*/ 0 h 1315092"/>
              <a:gd name="connsiteX1" fmla="*/ 2198669 w 2198669"/>
              <a:gd name="connsiteY1" fmla="*/ 1315092 h 1315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98669" h="1315092">
                <a:moveTo>
                  <a:pt x="0" y="0"/>
                </a:moveTo>
                <a:lnTo>
                  <a:pt x="2198669" y="1315092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2315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DABB3-837C-474E-B7E4-0855C4F08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5355"/>
          </a:xfrm>
        </p:spPr>
        <p:txBody>
          <a:bodyPr/>
          <a:lstStyle/>
          <a:p>
            <a:r>
              <a:rPr lang="zh-CN" altLang="en-US" b="1" dirty="0"/>
              <a:t>结果正确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46EB377-6137-44F9-8631-D105C8D8E6D9}"/>
              </a:ext>
            </a:extLst>
          </p:cNvPr>
          <p:cNvGrpSpPr/>
          <p:nvPr/>
        </p:nvGrpSpPr>
        <p:grpSpPr>
          <a:xfrm>
            <a:off x="2316480" y="1483512"/>
            <a:ext cx="8119526" cy="5198248"/>
            <a:chOff x="2316480" y="1483512"/>
            <a:chExt cx="8119526" cy="519824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CF102C2-BF8A-44B2-8C85-49C4EE410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16480" y="1483512"/>
              <a:ext cx="8119526" cy="5198248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2C35067-3DBB-4D28-B7DB-76603FDACED5}"/>
                </a:ext>
              </a:extLst>
            </p:cNvPr>
            <p:cNvSpPr/>
            <p:nvPr/>
          </p:nvSpPr>
          <p:spPr>
            <a:xfrm>
              <a:off x="2316480" y="2540000"/>
              <a:ext cx="802640" cy="24384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8178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110948" y="172719"/>
            <a:ext cx="8665041" cy="6213452"/>
            <a:chOff x="695960" y="1010376"/>
            <a:chExt cx="9557241" cy="750895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960" y="1010376"/>
              <a:ext cx="9557241" cy="396260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3"/>
            <a:srcRect t="2369"/>
            <a:stretch/>
          </p:blipFill>
          <p:spPr>
            <a:xfrm>
              <a:off x="803915" y="4972980"/>
              <a:ext cx="9449286" cy="3546350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346A008-F8F3-4E83-988B-106DD142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172719"/>
            <a:ext cx="10515600" cy="1016635"/>
          </a:xfrm>
        </p:spPr>
        <p:txBody>
          <a:bodyPr/>
          <a:lstStyle/>
          <a:p>
            <a:r>
              <a:rPr lang="zh-CN" altLang="en-US" b="1" dirty="0"/>
              <a:t>结果错误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8417" y="2802835"/>
            <a:ext cx="35383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标红部分是你的输出和正确输出不同的地方。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可以多次提交！只记最后的结果！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7528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D431E-32F2-413D-A2CB-FA25BB665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>
            <a:normAutofit/>
          </a:bodyPr>
          <a:lstStyle/>
          <a:p>
            <a:r>
              <a:rPr lang="zh-CN" altLang="en-US" sz="32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注意事项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027CA-BF16-44DE-9809-C39B8D363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54563"/>
          </a:xfrm>
        </p:spPr>
        <p:txBody>
          <a:bodyPr/>
          <a:lstStyle/>
          <a:p>
            <a:pPr marL="342900" lvl="0" indent="-342900" algn="just">
              <a:buFont typeface="+mj-lt"/>
              <a:buAutoNum type="arabicPeriod"/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在线下</a:t>
            </a:r>
            <a:r>
              <a:rPr lang="zh-CN" altLang="en-US" sz="24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编译仿真通过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后，再在平台提交！</a:t>
            </a: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提交的代码文件包括你的工程里除了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testbench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以外所有的</a:t>
            </a:r>
            <a:r>
              <a:rPr lang="en-US" altLang="zh-CN" sz="24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.v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文件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。（比如单周期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CPU,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要提交顶层模块和它调用的所有模块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实验过程循序渐进，所以</a:t>
            </a:r>
            <a:r>
              <a:rPr lang="zh-CN" altLang="zh-CN" sz="24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实现后面功能的时候前面的功能必须保留。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（比如实现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指令时，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型指令的功能必须保留）</a:t>
            </a:r>
          </a:p>
        </p:txBody>
      </p:sp>
    </p:spTree>
    <p:extLst>
      <p:ext uri="{BB962C8B-B14F-4D97-AF65-F5344CB8AC3E}">
        <p14:creationId xmlns:p14="http://schemas.microsoft.com/office/powerpoint/2010/main" val="33507245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2EEAB-F383-5856-04AF-1DAB6E2A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82" y="354676"/>
            <a:ext cx="8596668" cy="892233"/>
          </a:xfrm>
        </p:spPr>
        <p:txBody>
          <a:bodyPr/>
          <a:lstStyle/>
          <a:p>
            <a:r>
              <a:rPr lang="zh-CN" altLang="en-US" dirty="0"/>
              <a:t>通过校内</a:t>
            </a:r>
            <a:r>
              <a:rPr lang="en-US" altLang="zh-CN" dirty="0"/>
              <a:t>ftp</a:t>
            </a:r>
            <a:r>
              <a:rPr lang="zh-CN" altLang="en-US" dirty="0"/>
              <a:t>下载软件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6E4161A-88F8-3C63-D19B-6311BDF58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352" y="1334857"/>
            <a:ext cx="7417389" cy="4999442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2CEEE8-7679-1167-8208-C5AC622B9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92"/>
          <a:stretch>
            <a:fillRect/>
          </a:stretch>
        </p:blipFill>
        <p:spPr>
          <a:xfrm>
            <a:off x="2837410" y="2196407"/>
            <a:ext cx="5674823" cy="147669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0A90200-4DD4-4687-205B-9839BC19D5A2}"/>
              </a:ext>
            </a:extLst>
          </p:cNvPr>
          <p:cNvCxnSpPr/>
          <p:nvPr/>
        </p:nvCxnSpPr>
        <p:spPr>
          <a:xfrm flipV="1">
            <a:off x="1759526" y="3418941"/>
            <a:ext cx="2255520" cy="10086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5D53E76-8B3A-9D35-0037-8D96DD315C49}"/>
              </a:ext>
            </a:extLst>
          </p:cNvPr>
          <p:cNvSpPr txBox="1"/>
          <p:nvPr/>
        </p:nvSpPr>
        <p:spPr>
          <a:xfrm>
            <a:off x="5303520" y="266728"/>
            <a:ext cx="6090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在资源管理器地址栏输入：</a:t>
            </a:r>
            <a:r>
              <a:rPr lang="en-US" altLang="zh-CN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ftp://10.12.13.10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只需要下载</a:t>
            </a:r>
            <a:r>
              <a:rPr lang="en-US" altLang="zh-CN" dirty="0"/>
              <a:t>mars</a:t>
            </a:r>
            <a:r>
              <a:rPr lang="zh-CN" altLang="en-US" dirty="0"/>
              <a:t>， </a:t>
            </a:r>
            <a:r>
              <a:rPr lang="en-US" altLang="zh-CN" dirty="0" err="1"/>
              <a:t>Questasim</a:t>
            </a:r>
            <a:r>
              <a:rPr lang="zh-CN" altLang="en-US" dirty="0"/>
              <a:t>， </a:t>
            </a:r>
            <a:r>
              <a:rPr lang="en-US" altLang="zh-CN" dirty="0" err="1"/>
              <a:t>npp</a:t>
            </a:r>
            <a:r>
              <a:rPr lang="zh-CN" altLang="en-US" dirty="0"/>
              <a:t>（</a:t>
            </a:r>
            <a:r>
              <a:rPr lang="en-US" altLang="zh-CN" dirty="0"/>
              <a:t>notepad++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741849265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5801</TotalTime>
  <Words>1469</Words>
  <Application>Microsoft Office PowerPoint</Application>
  <PresentationFormat>宽屏</PresentationFormat>
  <Paragraphs>154</Paragraphs>
  <Slides>56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5" baseType="lpstr">
      <vt:lpstr>等线</vt:lpstr>
      <vt:lpstr>楷体</vt:lpstr>
      <vt:lpstr>宋体</vt:lpstr>
      <vt:lpstr>Arial</vt:lpstr>
      <vt:lpstr>Times New Roman</vt:lpstr>
      <vt:lpstr>Trebuchet MS</vt:lpstr>
      <vt:lpstr>Wingdings 3</vt:lpstr>
      <vt:lpstr>平面</vt:lpstr>
      <vt:lpstr>Visio</vt:lpstr>
      <vt:lpstr>            目录 1. 软件安装方法 2. Questasim的基本用法 3. Mars的基本用法 4. 希冀实验平台的使用方法</vt:lpstr>
      <vt:lpstr>1. 软件安装方法</vt:lpstr>
      <vt:lpstr>安装Notepad++</vt:lpstr>
      <vt:lpstr>安装Mars</vt:lpstr>
      <vt:lpstr>安装QuestaSim</vt:lpstr>
      <vt:lpstr>破解</vt:lpstr>
      <vt:lpstr>PowerPoint 演示文稿</vt:lpstr>
      <vt:lpstr>2. Questasim的基本用法</vt:lpstr>
      <vt:lpstr>QuestaSim 简介</vt:lpstr>
      <vt:lpstr>QuestaSim界面</vt:lpstr>
      <vt:lpstr>PowerPoint 演示文稿</vt:lpstr>
      <vt:lpstr>2.2 打开已有工程</vt:lpstr>
      <vt:lpstr> 2.3 给工程中添加文件（新文件）</vt:lpstr>
      <vt:lpstr>PowerPoint 演示文稿</vt:lpstr>
      <vt:lpstr>2.4 给工程中添加已存在的文件</vt:lpstr>
      <vt:lpstr>2.5 从工程中删除文件</vt:lpstr>
      <vt:lpstr>2.6 编辑源文件</vt:lpstr>
      <vt:lpstr>2.7 编译——检查语法错误</vt:lpstr>
      <vt:lpstr>编译有错误时</vt:lpstr>
      <vt:lpstr>2.8  仿真设置</vt:lpstr>
      <vt:lpstr>PowerPoint 演示文稿</vt:lpstr>
      <vt:lpstr>2.9 仿真</vt:lpstr>
      <vt:lpstr>2.10 添加待仿真的信号</vt:lpstr>
      <vt:lpstr>2.11 波形仿真——检查功能是否正确</vt:lpstr>
      <vt:lpstr>放大/缩小波形</vt:lpstr>
      <vt:lpstr> 设置信号显示方式</vt:lpstr>
      <vt:lpstr>重新仿真</vt:lpstr>
      <vt:lpstr>2.12  工程复制问题</vt:lpstr>
      <vt:lpstr>PowerPoint 演示文稿</vt:lpstr>
      <vt:lpstr>PowerPoint 演示文稿</vt:lpstr>
      <vt:lpstr>PowerPoint 演示文稿</vt:lpstr>
      <vt:lpstr>PowerPoint 演示文稿</vt:lpstr>
      <vt:lpstr> 3. Mars基本用法</vt:lpstr>
      <vt:lpstr>使用Mars的目的</vt:lpstr>
      <vt:lpstr>Mars界面</vt:lpstr>
      <vt:lpstr>3.1 内存设置</vt:lpstr>
      <vt:lpstr>3.2  新建MIPS汇编源程序</vt:lpstr>
      <vt:lpstr>3.3  汇编</vt:lpstr>
      <vt:lpstr>3.4  导出机器指令</vt:lpstr>
      <vt:lpstr>PowerPoint 演示文稿</vt:lpstr>
      <vt:lpstr>PowerPoint 演示文稿</vt:lpstr>
      <vt:lpstr>3.5  对照执行    ----源程序</vt:lpstr>
      <vt:lpstr>执行窗口</vt:lpstr>
      <vt:lpstr>Mars执行过程中，数据存储器和寄存器的值</vt:lpstr>
      <vt:lpstr>设计的CPU执行过程中，数据存储器的值</vt:lpstr>
      <vt:lpstr>设计的CPU执行过程中，寄存器的值</vt:lpstr>
      <vt:lpstr>4.希冀实验平台用法</vt:lpstr>
      <vt:lpstr>4.1  登录</vt:lpstr>
      <vt:lpstr>4.3  作业</vt:lpstr>
      <vt:lpstr>1. 查看作业</vt:lpstr>
      <vt:lpstr>2. 提交作业</vt:lpstr>
      <vt:lpstr>压缩文件的方法为：选择要压缩的文件，右键选择压缩。 注意：不能把文件放入文件夹中压缩文件夹。</vt:lpstr>
      <vt:lpstr>结果正确</vt:lpstr>
      <vt:lpstr>结果错误</vt:lpstr>
      <vt:lpstr>注意事项</vt:lpstr>
      <vt:lpstr>通过校内ftp下载软件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188</cp:revision>
  <dcterms:created xsi:type="dcterms:W3CDTF">2020-03-23T13:02:14Z</dcterms:created>
  <dcterms:modified xsi:type="dcterms:W3CDTF">2026-05-04T18:28:39Z</dcterms:modified>
</cp:coreProperties>
</file>