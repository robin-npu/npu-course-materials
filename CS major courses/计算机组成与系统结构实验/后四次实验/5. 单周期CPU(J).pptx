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9" r:id="rId1"/>
  </p:sldMasterIdLst>
  <p:sldIdLst>
    <p:sldId id="256" r:id="rId2"/>
    <p:sldId id="331" r:id="rId3"/>
    <p:sldId id="327" r:id="rId4"/>
    <p:sldId id="304" r:id="rId5"/>
    <p:sldId id="319" r:id="rId6"/>
    <p:sldId id="328" r:id="rId7"/>
    <p:sldId id="307" r:id="rId8"/>
    <p:sldId id="309" r:id="rId9"/>
    <p:sldId id="320" r:id="rId10"/>
    <p:sldId id="329" r:id="rId11"/>
    <p:sldId id="311" r:id="rId12"/>
    <p:sldId id="312" r:id="rId13"/>
    <p:sldId id="321" r:id="rId14"/>
    <p:sldId id="330" r:id="rId15"/>
    <p:sldId id="315" r:id="rId16"/>
    <p:sldId id="333" r:id="rId17"/>
    <p:sldId id="33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135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861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8927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5119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0346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24736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4737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4570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00391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8634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1483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303220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75314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395244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68852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81670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6820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3B673-DCE4-4699-8C15-4B3A97032352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316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0" r:id="rId1"/>
    <p:sldLayoutId id="2147483981" r:id="rId2"/>
    <p:sldLayoutId id="2147483982" r:id="rId3"/>
    <p:sldLayoutId id="2147483983" r:id="rId4"/>
    <p:sldLayoutId id="2147483984" r:id="rId5"/>
    <p:sldLayoutId id="2147483985" r:id="rId6"/>
    <p:sldLayoutId id="2147483986" r:id="rId7"/>
    <p:sldLayoutId id="2147483987" r:id="rId8"/>
    <p:sldLayoutId id="2147483988" r:id="rId9"/>
    <p:sldLayoutId id="2147483989" r:id="rId10"/>
    <p:sldLayoutId id="2147483990" r:id="rId11"/>
    <p:sldLayoutId id="2147483991" r:id="rId12"/>
    <p:sldLayoutId id="2147483992" r:id="rId13"/>
    <p:sldLayoutId id="2147483993" r:id="rId14"/>
    <p:sldLayoutId id="2147483994" r:id="rId15"/>
    <p:sldLayoutId id="214748399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9D4D14-625B-460E-8934-2E47E74426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132" y="2425022"/>
            <a:ext cx="9252334" cy="137859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br>
              <a:rPr lang="en-US" altLang="zh-CN" dirty="0"/>
            </a:br>
            <a:br>
              <a:rPr lang="en-US" altLang="zh-CN" dirty="0"/>
            </a:br>
            <a:r>
              <a:rPr lang="zh-CN" altLang="en-US" b="1" dirty="0"/>
              <a:t>增加实现跳转指令</a:t>
            </a:r>
          </a:p>
        </p:txBody>
      </p:sp>
    </p:spTree>
    <p:extLst>
      <p:ext uri="{BB962C8B-B14F-4D97-AF65-F5344CB8AC3E}">
        <p14:creationId xmlns:p14="http://schemas.microsoft.com/office/powerpoint/2010/main" val="2577972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17475"/>
            <a:ext cx="10515600" cy="1325563"/>
          </a:xfrm>
        </p:spPr>
        <p:txBody>
          <a:bodyPr/>
          <a:lstStyle/>
          <a:p>
            <a:r>
              <a:rPr lang="zh-CN" altLang="en-US" dirty="0"/>
              <a:t>跳转指令分类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38086"/>
            <a:ext cx="10515600" cy="5330880"/>
          </a:xfrm>
        </p:spPr>
        <p:txBody>
          <a:bodyPr>
            <a:noAutofit/>
          </a:bodyPr>
          <a:lstStyle/>
          <a:p>
            <a:r>
              <a:rPr lang="zh-CN" altLang="en-US" sz="2800" b="1" dirty="0"/>
              <a:t>段内绝对跳转指令：</a:t>
            </a:r>
            <a:r>
              <a:rPr lang="en-US" altLang="zh-CN" sz="2800" b="1" dirty="0"/>
              <a:t>j  </a:t>
            </a:r>
            <a:r>
              <a:rPr lang="en-US" altLang="zh-CN" sz="2800" b="1" dirty="0" err="1"/>
              <a:t>jal</a:t>
            </a:r>
            <a:endParaRPr lang="en-US" altLang="zh-CN" sz="2800" b="1" dirty="0"/>
          </a:p>
          <a:p>
            <a:pPr marL="0" indent="457200">
              <a:buNone/>
            </a:pPr>
            <a:r>
              <a:rPr lang="zh-CN" altLang="en-US" sz="2400" dirty="0"/>
              <a:t>指令的低</a:t>
            </a:r>
            <a:r>
              <a:rPr lang="en-US" altLang="zh-CN" sz="2400" dirty="0">
                <a:solidFill>
                  <a:srgbClr val="FF0000"/>
                </a:solidFill>
              </a:rPr>
              <a:t>26</a:t>
            </a:r>
            <a:r>
              <a:rPr lang="zh-CN" altLang="en-US" sz="2400" dirty="0"/>
              <a:t>位用于目标地址的编址。因为目标地址的最低</a:t>
            </a:r>
            <a:r>
              <a:rPr lang="en-US" altLang="zh-CN" sz="2400" dirty="0"/>
              <a:t>2</a:t>
            </a:r>
            <a:r>
              <a:rPr lang="zh-CN" altLang="en-US" sz="2400" dirty="0"/>
              <a:t>位不需要存储（确定是</a:t>
            </a:r>
            <a:r>
              <a:rPr lang="en-US" altLang="zh-CN" sz="2400" dirty="0"/>
              <a:t>2’b00</a:t>
            </a:r>
            <a:r>
              <a:rPr lang="zh-CN" altLang="en-US" sz="2400" dirty="0"/>
              <a:t>），所以实际可寻址范围为</a:t>
            </a:r>
            <a:r>
              <a:rPr lang="en-US" altLang="zh-CN" sz="2400" dirty="0"/>
              <a:t>2</a:t>
            </a:r>
            <a:r>
              <a:rPr lang="en-US" altLang="zh-CN" sz="2400" baseline="30000" dirty="0">
                <a:solidFill>
                  <a:srgbClr val="FF0000"/>
                </a:solidFill>
              </a:rPr>
              <a:t>28</a:t>
            </a:r>
            <a:r>
              <a:rPr lang="en-US" altLang="zh-CN" sz="2400" dirty="0"/>
              <a:t>=256MB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r>
              <a:rPr lang="zh-CN" altLang="en-US" sz="2800" b="1" dirty="0"/>
              <a:t>寄存器跳转指令</a:t>
            </a:r>
            <a:r>
              <a:rPr lang="en-US" altLang="zh-CN" sz="2800" b="1" dirty="0"/>
              <a:t>:   </a:t>
            </a:r>
            <a:r>
              <a:rPr lang="en-US" altLang="zh-CN" sz="2800" b="1" dirty="0" err="1"/>
              <a:t>jr</a:t>
            </a:r>
            <a:endParaRPr lang="en-US" altLang="zh-CN" sz="2800" b="1" dirty="0"/>
          </a:p>
          <a:p>
            <a:pPr marL="0" indent="457200">
              <a:buNone/>
            </a:pPr>
            <a:r>
              <a:rPr lang="zh-CN" altLang="en-US" sz="2400" dirty="0"/>
              <a:t>目标地址存放在寄存器中，所以可以跳转到任意</a:t>
            </a:r>
            <a:r>
              <a:rPr lang="en-US" altLang="zh-CN" sz="2400" dirty="0"/>
              <a:t>32</a:t>
            </a:r>
            <a:r>
              <a:rPr lang="zh-CN" altLang="en-US" sz="2400" dirty="0"/>
              <a:t>位目标地址，是一种绝对跳转指令。</a:t>
            </a:r>
            <a:endParaRPr lang="en-US" altLang="zh-CN" sz="2400" dirty="0"/>
          </a:p>
          <a:p>
            <a:r>
              <a:rPr lang="zh-CN" altLang="en-US" sz="2800" b="1" dirty="0"/>
              <a:t>相对跳转指令</a:t>
            </a:r>
            <a:r>
              <a:rPr lang="en-US" altLang="zh-CN" sz="2800" b="1" dirty="0"/>
              <a:t>:  </a:t>
            </a:r>
            <a:r>
              <a:rPr lang="en-US" altLang="zh-CN" sz="2800" b="1" dirty="0" err="1"/>
              <a:t>beq</a:t>
            </a:r>
            <a:endParaRPr lang="en-US" altLang="zh-CN" sz="2800" b="1" dirty="0"/>
          </a:p>
          <a:p>
            <a:pPr marL="0" indent="457200">
              <a:buNone/>
            </a:pPr>
            <a:r>
              <a:rPr lang="zh-CN" altLang="en-US" sz="2400" dirty="0"/>
              <a:t>指令低</a:t>
            </a:r>
            <a:r>
              <a:rPr lang="en-US" altLang="zh-CN" sz="2400" dirty="0">
                <a:solidFill>
                  <a:srgbClr val="FF0000"/>
                </a:solidFill>
              </a:rPr>
              <a:t>16</a:t>
            </a:r>
            <a:r>
              <a:rPr lang="en-US" altLang="zh-CN" sz="2400" dirty="0"/>
              <a:t> </a:t>
            </a:r>
            <a:r>
              <a:rPr lang="zh-CN" altLang="en-US" sz="2400" dirty="0"/>
              <a:t>位为相对</a:t>
            </a:r>
            <a:r>
              <a:rPr lang="en-US" altLang="zh-CN" sz="2400" dirty="0"/>
              <a:t>PC</a:t>
            </a:r>
            <a:r>
              <a:rPr lang="zh-CN" altLang="en-US" sz="2400" dirty="0"/>
              <a:t>的偏移地址（</a:t>
            </a:r>
            <a:r>
              <a:rPr lang="zh-CN" altLang="en-US" sz="2400" b="1" dirty="0"/>
              <a:t>有符号</a:t>
            </a:r>
            <a:r>
              <a:rPr lang="zh-CN" altLang="en-US" sz="2400" dirty="0"/>
              <a:t>偏移量）。同样地，偏移地址的最低两位也不需要存储，因此可支持的跳转范围实际上是</a:t>
            </a:r>
            <a:r>
              <a:rPr lang="en-US" altLang="zh-CN" sz="2400" dirty="0"/>
              <a:t>2</a:t>
            </a:r>
            <a:r>
              <a:rPr lang="en-US" altLang="zh-CN" sz="2400" baseline="30000" dirty="0">
                <a:solidFill>
                  <a:srgbClr val="FF0000"/>
                </a:solidFill>
              </a:rPr>
              <a:t>18</a:t>
            </a:r>
            <a:r>
              <a:rPr lang="en-US" altLang="zh-CN" sz="2400" dirty="0"/>
              <a:t>=256KB</a:t>
            </a:r>
            <a:r>
              <a:rPr lang="zh-CN" altLang="en-US" sz="2400" dirty="0"/>
              <a:t>（相对</a:t>
            </a:r>
            <a:r>
              <a:rPr lang="en-US" altLang="zh-CN" sz="2400" dirty="0"/>
              <a:t>PC</a:t>
            </a:r>
            <a:r>
              <a:rPr lang="zh-CN" altLang="en-US" sz="2400" dirty="0"/>
              <a:t>的</a:t>
            </a:r>
            <a:r>
              <a:rPr lang="en-US" altLang="zh-CN" sz="2400" dirty="0"/>
              <a:t>-128KB~+127KB</a:t>
            </a:r>
            <a:r>
              <a:rPr lang="zh-CN" altLang="en-US" sz="2400" dirty="0"/>
              <a:t>）。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22142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ABA099-F39D-4F35-A579-193B540FE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891" y="366568"/>
            <a:ext cx="10515600" cy="1325563"/>
          </a:xfrm>
        </p:spPr>
        <p:txBody>
          <a:bodyPr/>
          <a:lstStyle/>
          <a:p>
            <a:r>
              <a:rPr lang="zh-CN" altLang="en-US" b="1" dirty="0"/>
              <a:t>实验过程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08891" y="1858386"/>
            <a:ext cx="11002818" cy="2990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</a:pPr>
            <a:r>
              <a:rPr lang="en-US" altLang="zh-CN" sz="2800" dirty="0"/>
              <a:t>1. </a:t>
            </a:r>
            <a:r>
              <a:rPr lang="zh-CN" altLang="en-US" sz="2800" dirty="0">
                <a:solidFill>
                  <a:srgbClr val="FF0000"/>
                </a:solidFill>
              </a:rPr>
              <a:t>分析</a:t>
            </a:r>
            <a:r>
              <a:rPr lang="zh-CN" altLang="en-US" sz="2800" dirty="0"/>
              <a:t>指令，确定复用部分和需要增加的硬件功能；</a:t>
            </a:r>
            <a:endParaRPr lang="en-US" altLang="zh-CN" sz="2800" dirty="0"/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lang="en-US" altLang="zh-CN" sz="2800" dirty="0"/>
              <a:t>2. </a:t>
            </a:r>
            <a:r>
              <a:rPr lang="zh-CN" altLang="en-US" sz="2800" dirty="0">
                <a:solidFill>
                  <a:srgbClr val="FF0000"/>
                </a:solidFill>
              </a:rPr>
              <a:t>设计</a:t>
            </a:r>
            <a:r>
              <a:rPr lang="zh-CN" altLang="en-US" sz="2800" dirty="0"/>
              <a:t>数据通路和控制逻辑；</a:t>
            </a:r>
            <a:endParaRPr lang="en-US" altLang="zh-CN" sz="2800" dirty="0"/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lang="en-US" altLang="zh-CN" sz="2800" dirty="0"/>
              <a:t>3. </a:t>
            </a:r>
            <a:r>
              <a:rPr lang="zh-CN" altLang="en-US" sz="2800" dirty="0"/>
              <a:t>用</a:t>
            </a:r>
            <a:r>
              <a:rPr lang="en-US" altLang="zh-CN" sz="2800" dirty="0"/>
              <a:t>Verilog </a:t>
            </a:r>
            <a:r>
              <a:rPr lang="zh-CN" altLang="en-US" sz="2800" dirty="0"/>
              <a:t>语言</a:t>
            </a:r>
            <a:r>
              <a:rPr lang="zh-CN" altLang="en-US" sz="2800" dirty="0">
                <a:solidFill>
                  <a:srgbClr val="FF0000"/>
                </a:solidFill>
              </a:rPr>
              <a:t>实现</a:t>
            </a:r>
            <a:r>
              <a:rPr lang="zh-CN" altLang="en-US" sz="2800" dirty="0"/>
              <a:t>设计。</a:t>
            </a:r>
            <a:endParaRPr lang="en-US" altLang="zh-CN" sz="2800" dirty="0"/>
          </a:p>
          <a:p>
            <a:pPr>
              <a:spcBef>
                <a:spcPts val="1000"/>
              </a:spcBef>
              <a:spcAft>
                <a:spcPts val="1000"/>
              </a:spcAft>
            </a:pPr>
            <a:endParaRPr lang="en-US" altLang="zh-CN" sz="28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1335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1EA565-8814-422A-89A9-88F382D80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03500"/>
            <a:ext cx="10515600" cy="1325563"/>
          </a:xfrm>
        </p:spPr>
        <p:txBody>
          <a:bodyPr/>
          <a:lstStyle/>
          <a:p>
            <a:pPr marL="742950" indent="-742950" algn="ctr">
              <a:buFont typeface="+mj-lt"/>
              <a:buAutoNum type="arabicPeriod"/>
            </a:pPr>
            <a:r>
              <a:rPr lang="en-US" altLang="zh-CN" b="1" dirty="0"/>
              <a:t>j </a:t>
            </a:r>
            <a:r>
              <a:rPr lang="zh-CN" altLang="en-US" b="1" dirty="0"/>
              <a:t>和 </a:t>
            </a:r>
            <a:r>
              <a:rPr lang="en-US" altLang="zh-CN" b="1" dirty="0" err="1"/>
              <a:t>jal</a:t>
            </a:r>
            <a:r>
              <a:rPr lang="en-US" altLang="zh-CN" b="1" dirty="0"/>
              <a:t> </a:t>
            </a:r>
            <a:r>
              <a:rPr lang="zh-CN" altLang="en-US" b="1" dirty="0"/>
              <a:t>指令</a:t>
            </a:r>
          </a:p>
        </p:txBody>
      </p:sp>
    </p:spTree>
    <p:extLst>
      <p:ext uri="{BB962C8B-B14F-4D97-AF65-F5344CB8AC3E}">
        <p14:creationId xmlns:p14="http://schemas.microsoft.com/office/powerpoint/2010/main" val="4208671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DAD8AE-DFDB-4D42-B518-9D80AE1FA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327313"/>
            <a:ext cx="10965873" cy="1159741"/>
          </a:xfrm>
        </p:spPr>
        <p:txBody>
          <a:bodyPr/>
          <a:lstStyle/>
          <a:p>
            <a:r>
              <a:rPr lang="zh-CN" altLang="en-US" dirty="0"/>
              <a:t>指令格式</a:t>
            </a: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94A19E3B-A134-4D2D-8FA0-BCA00D8FD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048892"/>
              </p:ext>
            </p:extLst>
          </p:nvPr>
        </p:nvGraphicFramePr>
        <p:xfrm>
          <a:off x="679449" y="2427515"/>
          <a:ext cx="10833101" cy="1846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0371">
                  <a:extLst>
                    <a:ext uri="{9D8B030D-6E8A-4147-A177-3AD203B41FA5}">
                      <a16:colId xmlns:a16="http://schemas.microsoft.com/office/drawing/2014/main" val="2717078196"/>
                    </a:ext>
                  </a:extLst>
                </a:gridCol>
                <a:gridCol w="4468586">
                  <a:extLst>
                    <a:ext uri="{9D8B030D-6E8A-4147-A177-3AD203B41FA5}">
                      <a16:colId xmlns:a16="http://schemas.microsoft.com/office/drawing/2014/main" val="556409912"/>
                    </a:ext>
                  </a:extLst>
                </a:gridCol>
                <a:gridCol w="1132114">
                  <a:extLst>
                    <a:ext uri="{9D8B030D-6E8A-4147-A177-3AD203B41FA5}">
                      <a16:colId xmlns:a16="http://schemas.microsoft.com/office/drawing/2014/main" val="935924381"/>
                    </a:ext>
                  </a:extLst>
                </a:gridCol>
                <a:gridCol w="3712030">
                  <a:extLst>
                    <a:ext uri="{9D8B030D-6E8A-4147-A177-3AD203B41FA5}">
                      <a16:colId xmlns:a16="http://schemas.microsoft.com/office/drawing/2014/main" val="1596634783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指令格式	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描述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31~26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25~0                                                             </a:t>
                      </a:r>
                      <a:endParaRPr lang="zh-CN" altLang="en-US" sz="180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753019"/>
                  </a:ext>
                </a:extLst>
              </a:tr>
              <a:tr h="475247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位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26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位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705389"/>
                  </a:ext>
                </a:extLst>
              </a:tr>
              <a:tr h="361857">
                <a:tc>
                  <a:txBody>
                    <a:bodyPr/>
                    <a:lstStyle/>
                    <a:p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 target	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PC 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←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{PC[31..28 ], 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instr_index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,2’b00}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000010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instr_index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	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8871472"/>
                  </a:ext>
                </a:extLst>
              </a:tr>
              <a:tr h="356900">
                <a:tc>
                  <a:txBody>
                    <a:bodyPr/>
                    <a:lstStyle/>
                    <a:p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jal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target	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①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GPR[31] 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←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PC + 4	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②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PC 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←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{PC[31..28 ], 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instr_index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,2’b00}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000011	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instr_index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37419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0241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91CD95-4B95-4C3F-A1B3-C0D7131ED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/>
          <a:lstStyle/>
          <a:p>
            <a:r>
              <a:rPr lang="zh-CN" altLang="en-US" dirty="0"/>
              <a:t>指令比较分析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0758AC-09CB-4BD2-8158-C4C6EB9B6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5875"/>
            <a:ext cx="10515600" cy="489108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指令格式</a:t>
            </a:r>
            <a:r>
              <a:rPr lang="zh-CN" altLang="en-US" sz="2800" dirty="0"/>
              <a:t>：</a:t>
            </a:r>
            <a:r>
              <a:rPr lang="zh-CN" altLang="en-US" sz="2800" dirty="0">
                <a:solidFill>
                  <a:schemeClr val="dk1"/>
                </a:solidFill>
              </a:rPr>
              <a:t>一种</a:t>
            </a:r>
            <a:r>
              <a:rPr lang="zh-CN" altLang="en-US" sz="2800" dirty="0"/>
              <a:t>新的指令格式；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指令功能</a:t>
            </a:r>
            <a:r>
              <a:rPr lang="zh-CN" altLang="en-US" sz="2800" dirty="0"/>
              <a:t>：指令执行流程和先前实现的指令不同。</a:t>
            </a:r>
            <a:endParaRPr lang="en-US" altLang="zh-CN" sz="28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dirty="0"/>
              <a:t>	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复用</a:t>
            </a:r>
            <a:r>
              <a:rPr lang="zh-CN" altLang="en-US" sz="2800" dirty="0"/>
              <a:t>：取指，</a:t>
            </a:r>
            <a:r>
              <a:rPr lang="zh-CN" altLang="en-US" sz="2800" dirty="0">
                <a:solidFill>
                  <a:srgbClr val="00B050"/>
                </a:solidFill>
              </a:rPr>
              <a:t>写</a:t>
            </a:r>
            <a:r>
              <a:rPr lang="en-US" altLang="zh-CN" sz="2800" dirty="0">
                <a:solidFill>
                  <a:srgbClr val="00B050"/>
                </a:solidFill>
              </a:rPr>
              <a:t>GPR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增加</a:t>
            </a:r>
            <a:r>
              <a:rPr lang="zh-CN" altLang="en-US" sz="2800" dirty="0"/>
              <a:t>：求跳转地址；</a:t>
            </a:r>
            <a:r>
              <a:rPr lang="en-US" altLang="zh-CN" sz="2800" dirty="0">
                <a:solidFill>
                  <a:srgbClr val="00B050"/>
                </a:solidFill>
              </a:rPr>
              <a:t> </a:t>
            </a:r>
            <a:r>
              <a:rPr lang="en-US" altLang="zh-CN" sz="2800" dirty="0"/>
              <a:t>GPR</a:t>
            </a:r>
            <a:r>
              <a:rPr lang="zh-CN" altLang="en-US" sz="2800" dirty="0"/>
              <a:t>写端口</a:t>
            </a:r>
            <a:r>
              <a:rPr lang="zh-CN" altLang="en-US" sz="2800" b="1" dirty="0">
                <a:solidFill>
                  <a:srgbClr val="FF0000"/>
                </a:solidFill>
              </a:rPr>
              <a:t>增加</a:t>
            </a:r>
            <a:r>
              <a:rPr lang="zh-CN" altLang="en-US" sz="2800" dirty="0"/>
              <a:t>写返回地址到</a:t>
            </a:r>
            <a:r>
              <a:rPr lang="en-US" altLang="zh-CN" sz="2800" dirty="0"/>
              <a:t>31</a:t>
            </a:r>
            <a:r>
              <a:rPr lang="zh-CN" altLang="en-US" sz="2800" dirty="0"/>
              <a:t>号寄存器；</a:t>
            </a:r>
            <a:endParaRPr lang="en-US" altLang="zh-CN" sz="28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dirty="0"/>
              <a:t>              PC</a:t>
            </a:r>
            <a:r>
              <a:rPr lang="zh-CN" altLang="en-US" sz="2800" dirty="0"/>
              <a:t>模块的输入</a:t>
            </a:r>
            <a:r>
              <a:rPr lang="zh-CN" altLang="en-US" sz="2800" b="1" dirty="0">
                <a:solidFill>
                  <a:srgbClr val="FF0000"/>
                </a:solidFill>
              </a:rPr>
              <a:t>增加</a:t>
            </a:r>
            <a:r>
              <a:rPr lang="zh-CN" altLang="en-US" sz="2800" dirty="0"/>
              <a:t>跳转地址。</a:t>
            </a:r>
            <a:endParaRPr lang="en-US" altLang="zh-CN" sz="2800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8F1C049-3E8E-31DF-86AD-8106B3EC857F}"/>
              </a:ext>
            </a:extLst>
          </p:cNvPr>
          <p:cNvGrpSpPr/>
          <p:nvPr/>
        </p:nvGrpSpPr>
        <p:grpSpPr>
          <a:xfrm>
            <a:off x="1108939" y="2878114"/>
            <a:ext cx="8923181" cy="1274711"/>
            <a:chOff x="1193022" y="2604845"/>
            <a:chExt cx="8923181" cy="1274711"/>
          </a:xfrm>
        </p:grpSpPr>
        <p:grpSp>
          <p:nvGrpSpPr>
            <p:cNvPr id="12" name="组合 11"/>
            <p:cNvGrpSpPr/>
            <p:nvPr/>
          </p:nvGrpSpPr>
          <p:grpSpPr>
            <a:xfrm>
              <a:off x="4202546" y="2977645"/>
              <a:ext cx="4610378" cy="378691"/>
              <a:chOff x="1976582" y="3205018"/>
              <a:chExt cx="4073236" cy="378691"/>
            </a:xfrm>
          </p:grpSpPr>
          <p:cxnSp>
            <p:nvCxnSpPr>
              <p:cNvPr id="7" name="直接连接符 6"/>
              <p:cNvCxnSpPr/>
              <p:nvPr/>
            </p:nvCxnSpPr>
            <p:spPr>
              <a:xfrm>
                <a:off x="1976582" y="3205018"/>
                <a:ext cx="0" cy="37869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>
                <a:off x="1976582" y="3583709"/>
                <a:ext cx="407323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箭头连接符 10"/>
              <p:cNvCxnSpPr/>
              <p:nvPr/>
            </p:nvCxnSpPr>
            <p:spPr>
              <a:xfrm flipH="1" flipV="1">
                <a:off x="6040582" y="3205018"/>
                <a:ext cx="9236" cy="37869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文本框 3"/>
            <p:cNvSpPr txBox="1"/>
            <p:nvPr/>
          </p:nvSpPr>
          <p:spPr>
            <a:xfrm>
              <a:off x="5885875" y="3356336"/>
              <a:ext cx="168101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/>
                <a:t>j</a:t>
              </a:r>
              <a:r>
                <a:rPr lang="zh-CN" altLang="en-US" sz="2800" dirty="0"/>
                <a:t>指令</a:t>
              </a: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BAF14BCD-5816-0B06-71E9-EB5094362F77}"/>
                </a:ext>
              </a:extLst>
            </p:cNvPr>
            <p:cNvSpPr txBox="1"/>
            <p:nvPr/>
          </p:nvSpPr>
          <p:spPr>
            <a:xfrm>
              <a:off x="1193022" y="2604845"/>
              <a:ext cx="892318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/>
                <a:t>取指→求跳转地址→</a:t>
              </a:r>
              <a:r>
                <a:rPr lang="zh-CN" altLang="en-US" sz="2800" dirty="0">
                  <a:solidFill>
                    <a:srgbClr val="00B050"/>
                  </a:solidFill>
                </a:rPr>
                <a:t>保存返回地址</a:t>
              </a:r>
              <a:r>
                <a:rPr lang="zh-CN" altLang="en-US" sz="2800" dirty="0"/>
                <a:t>（</a:t>
              </a:r>
              <a:r>
                <a:rPr lang="en-US" altLang="zh-CN" sz="2800" dirty="0" err="1"/>
                <a:t>jal</a:t>
              </a:r>
              <a:r>
                <a:rPr lang="zh-CN" altLang="en-US" sz="2800" dirty="0"/>
                <a:t>指令）→跳转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09874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6FB24F-116F-45A3-93CA-ECB31C519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637" y="39256"/>
            <a:ext cx="10515600" cy="1325563"/>
          </a:xfrm>
        </p:spPr>
        <p:txBody>
          <a:bodyPr/>
          <a:lstStyle/>
          <a:p>
            <a:r>
              <a:rPr lang="zh-CN" altLang="en-US" dirty="0"/>
              <a:t>数据通路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B453434-75AF-65B2-93F6-C8BAB9C89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82" y="910657"/>
            <a:ext cx="11697914" cy="553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339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1EA565-8814-422A-89A9-88F382D80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03500"/>
            <a:ext cx="10515600" cy="1325563"/>
          </a:xfrm>
        </p:spPr>
        <p:txBody>
          <a:bodyPr/>
          <a:lstStyle/>
          <a:p>
            <a:pPr marL="742950" indent="-742950" algn="ctr">
              <a:buFont typeface="+mj-lt"/>
              <a:buAutoNum type="arabicPeriod" startAt="2"/>
            </a:pPr>
            <a:r>
              <a:rPr lang="en-US" altLang="zh-CN" b="1" dirty="0" err="1"/>
              <a:t>jr</a:t>
            </a:r>
            <a:r>
              <a:rPr lang="zh-CN" altLang="en-US" b="1" dirty="0"/>
              <a:t>指令</a:t>
            </a:r>
          </a:p>
        </p:txBody>
      </p:sp>
    </p:spTree>
    <p:extLst>
      <p:ext uri="{BB962C8B-B14F-4D97-AF65-F5344CB8AC3E}">
        <p14:creationId xmlns:p14="http://schemas.microsoft.com/office/powerpoint/2010/main" val="413201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DAD8AE-DFDB-4D42-B518-9D80AE1FA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436" y="525963"/>
            <a:ext cx="10836564" cy="1136582"/>
          </a:xfrm>
        </p:spPr>
        <p:txBody>
          <a:bodyPr/>
          <a:lstStyle/>
          <a:p>
            <a:r>
              <a:rPr lang="zh-CN" altLang="en-US" dirty="0"/>
              <a:t>指令格式</a:t>
            </a: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94A19E3B-A134-4D2D-8FA0-BCA00D8FD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169078"/>
              </p:ext>
            </p:extLst>
          </p:nvPr>
        </p:nvGraphicFramePr>
        <p:xfrm>
          <a:off x="704849" y="2163755"/>
          <a:ext cx="10344151" cy="1252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39">
                  <a:extLst>
                    <a:ext uri="{9D8B030D-6E8A-4147-A177-3AD203B41FA5}">
                      <a16:colId xmlns:a16="http://schemas.microsoft.com/office/drawing/2014/main" val="2717078196"/>
                    </a:ext>
                  </a:extLst>
                </a:gridCol>
                <a:gridCol w="2566462">
                  <a:extLst>
                    <a:ext uri="{9D8B030D-6E8A-4147-A177-3AD203B41FA5}">
                      <a16:colId xmlns:a16="http://schemas.microsoft.com/office/drawing/2014/main" val="556409912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935924381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val="1596634783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735847477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844706948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val="828049092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829112751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指令格式	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描述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31~26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25~21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20~16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15~11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10~6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5~0</a:t>
                      </a:r>
                      <a:endParaRPr lang="zh-CN" altLang="en-US" sz="180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753019"/>
                  </a:ext>
                </a:extLst>
              </a:tr>
              <a:tr h="475247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rd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shamt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funct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705389"/>
                  </a:ext>
                </a:extLst>
              </a:tr>
              <a:tr h="41100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jr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rs	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PC 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←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GPR[rs]	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000000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endParaRPr lang="zh-CN" altLang="en-US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00000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00000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001000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0615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3583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91CD95-4B95-4C3F-A1B3-C0D7131ED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/>
          <a:lstStyle/>
          <a:p>
            <a:r>
              <a:rPr lang="zh-CN" altLang="en-US" dirty="0"/>
              <a:t>指令比较分析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0758AC-09CB-4BD2-8158-C4C6EB9B6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5875"/>
            <a:ext cx="10515600" cy="489108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指令格式</a:t>
            </a:r>
            <a:r>
              <a:rPr lang="zh-CN" altLang="en-US" sz="2800" dirty="0"/>
              <a:t>：</a:t>
            </a:r>
            <a:r>
              <a:rPr lang="en-US" altLang="zh-CN" sz="2800" dirty="0">
                <a:solidFill>
                  <a:schemeClr val="dk1"/>
                </a:solidFill>
              </a:rPr>
              <a:t>R</a:t>
            </a:r>
            <a:r>
              <a:rPr lang="zh-CN" altLang="en-US" sz="2800" dirty="0">
                <a:solidFill>
                  <a:schemeClr val="dk1"/>
                </a:solidFill>
              </a:rPr>
              <a:t>型指令</a:t>
            </a:r>
            <a:r>
              <a:rPr lang="zh-CN" altLang="en-US" sz="2800" dirty="0"/>
              <a:t>；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指令功能</a:t>
            </a:r>
            <a:r>
              <a:rPr lang="zh-CN" altLang="en-US" sz="2800" dirty="0"/>
              <a:t>：指令执行流程：取指→读</a:t>
            </a:r>
            <a:r>
              <a:rPr lang="en-US" altLang="zh-CN" sz="2800" dirty="0" err="1"/>
              <a:t>rs</a:t>
            </a:r>
            <a:r>
              <a:rPr lang="zh-CN" altLang="en-US" sz="2800" dirty="0"/>
              <a:t>寄存器→跳转。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复用</a:t>
            </a:r>
            <a:r>
              <a:rPr lang="zh-CN" altLang="en-US" sz="2800" dirty="0"/>
              <a:t>：取指，读</a:t>
            </a:r>
            <a:r>
              <a:rPr lang="en-US" altLang="zh-CN" sz="2800" dirty="0"/>
              <a:t>GPR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增加</a:t>
            </a:r>
            <a:r>
              <a:rPr lang="zh-CN" altLang="en-US" sz="2800" dirty="0"/>
              <a:t>：</a:t>
            </a:r>
            <a:r>
              <a:rPr lang="en-US" altLang="zh-CN" sz="2800" dirty="0"/>
              <a:t>PC</a:t>
            </a:r>
            <a:r>
              <a:rPr lang="zh-CN" altLang="en-US" sz="2800" dirty="0"/>
              <a:t>模块的输入</a:t>
            </a:r>
            <a:r>
              <a:rPr lang="zh-CN" altLang="en-US" sz="2800" b="1" dirty="0">
                <a:solidFill>
                  <a:srgbClr val="FF0000"/>
                </a:solidFill>
              </a:rPr>
              <a:t>增加</a:t>
            </a:r>
            <a:r>
              <a:rPr lang="en-US" altLang="zh-CN" sz="2800" dirty="0" err="1"/>
              <a:t>rs</a:t>
            </a:r>
            <a:r>
              <a:rPr lang="zh-CN" altLang="en-US" sz="2800" dirty="0"/>
              <a:t>寄存器的值。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2806959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AC806C-DEF0-4F31-95CD-DB9D9346B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790" y="295274"/>
            <a:ext cx="10515600" cy="1054100"/>
          </a:xfrm>
        </p:spPr>
        <p:txBody>
          <a:bodyPr/>
          <a:lstStyle/>
          <a:p>
            <a:r>
              <a:rPr lang="zh-CN" altLang="en-US" dirty="0"/>
              <a:t>数据通路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698DF61-AEE1-CD34-619A-21937DC88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96" y="958962"/>
            <a:ext cx="11612617" cy="5603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439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1EA565-8814-422A-89A9-88F382D80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03500"/>
            <a:ext cx="10515600" cy="1325563"/>
          </a:xfrm>
        </p:spPr>
        <p:txBody>
          <a:bodyPr/>
          <a:lstStyle/>
          <a:p>
            <a:pPr marL="742950" indent="-742950" algn="ctr">
              <a:buFont typeface="+mj-lt"/>
              <a:buAutoNum type="arabicPeriod" startAt="3"/>
            </a:pPr>
            <a:r>
              <a:rPr lang="en-US" altLang="zh-CN" b="1" dirty="0" err="1"/>
              <a:t>beq</a:t>
            </a:r>
            <a:r>
              <a:rPr lang="zh-CN" altLang="en-US" b="1" dirty="0"/>
              <a:t>指令</a:t>
            </a:r>
          </a:p>
        </p:txBody>
      </p:sp>
    </p:spTree>
    <p:extLst>
      <p:ext uri="{BB962C8B-B14F-4D97-AF65-F5344CB8AC3E}">
        <p14:creationId xmlns:p14="http://schemas.microsoft.com/office/powerpoint/2010/main" val="3944817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DAD8AE-DFDB-4D42-B518-9D80AE1FA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274" y="521278"/>
            <a:ext cx="11058236" cy="1122795"/>
          </a:xfrm>
        </p:spPr>
        <p:txBody>
          <a:bodyPr/>
          <a:lstStyle/>
          <a:p>
            <a:r>
              <a:rPr lang="zh-CN" altLang="en-US" dirty="0"/>
              <a:t>指令格式</a:t>
            </a: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94A19E3B-A134-4D2D-8FA0-BCA00D8FD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9139703"/>
              </p:ext>
            </p:extLst>
          </p:nvPr>
        </p:nvGraphicFramePr>
        <p:xfrm>
          <a:off x="381000" y="2118398"/>
          <a:ext cx="11430000" cy="20297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9900">
                  <a:extLst>
                    <a:ext uri="{9D8B030D-6E8A-4147-A177-3AD203B41FA5}">
                      <a16:colId xmlns:a16="http://schemas.microsoft.com/office/drawing/2014/main" val="2717078196"/>
                    </a:ext>
                  </a:extLst>
                </a:gridCol>
                <a:gridCol w="4498427">
                  <a:extLst>
                    <a:ext uri="{9D8B030D-6E8A-4147-A177-3AD203B41FA5}">
                      <a16:colId xmlns:a16="http://schemas.microsoft.com/office/drawing/2014/main" val="556409912"/>
                    </a:ext>
                  </a:extLst>
                </a:gridCol>
                <a:gridCol w="961697">
                  <a:extLst>
                    <a:ext uri="{9D8B030D-6E8A-4147-A177-3AD203B41FA5}">
                      <a16:colId xmlns:a16="http://schemas.microsoft.com/office/drawing/2014/main" val="935924381"/>
                    </a:ext>
                  </a:extLst>
                </a:gridCol>
                <a:gridCol w="893379">
                  <a:extLst>
                    <a:ext uri="{9D8B030D-6E8A-4147-A177-3AD203B41FA5}">
                      <a16:colId xmlns:a16="http://schemas.microsoft.com/office/drawing/2014/main" val="1596634783"/>
                    </a:ext>
                  </a:extLst>
                </a:gridCol>
                <a:gridCol w="919655">
                  <a:extLst>
                    <a:ext uri="{9D8B030D-6E8A-4147-A177-3AD203B41FA5}">
                      <a16:colId xmlns:a16="http://schemas.microsoft.com/office/drawing/2014/main" val="735847477"/>
                    </a:ext>
                  </a:extLst>
                </a:gridCol>
                <a:gridCol w="2236942">
                  <a:extLst>
                    <a:ext uri="{9D8B030D-6E8A-4147-A177-3AD203B41FA5}">
                      <a16:colId xmlns:a16="http://schemas.microsoft.com/office/drawing/2014/main" val="3645231923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指令格式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描述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31~26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25~21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20~16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15 ~ 0</a:t>
                      </a:r>
                      <a:endParaRPr lang="zh-CN" altLang="en-US" sz="180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753019"/>
                  </a:ext>
                </a:extLst>
              </a:tr>
              <a:tr h="475247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imm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705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altLang="zh-CN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beq rs, rt, offset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if (GPR[rs] == GPR[rt])</a:t>
                      </a:r>
                    </a:p>
                    <a:p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PC 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←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PC + 4 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+(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sign_extend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(offset)&lt;&lt;2)</a:t>
                      </a:r>
                    </a:p>
                    <a:p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else </a:t>
                      </a:r>
                    </a:p>
                    <a:p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PC 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←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PC + 4	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000100 	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endParaRPr lang="zh-CN" altLang="en-US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rt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offset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7420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23676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91CD95-4B95-4C3F-A1B3-C0D7131ED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/>
          <a:lstStyle/>
          <a:p>
            <a:r>
              <a:rPr lang="zh-CN" altLang="en-US" dirty="0"/>
              <a:t>指令比较分析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0758AC-09CB-4BD2-8158-C4C6EB9B6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227" y="1156137"/>
            <a:ext cx="11190890" cy="515006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指令格式</a:t>
            </a:r>
            <a:r>
              <a:rPr lang="zh-CN" altLang="en-US" sz="2800" dirty="0"/>
              <a:t>：</a:t>
            </a:r>
            <a:r>
              <a:rPr lang="en-US" altLang="zh-CN" sz="2800" dirty="0">
                <a:solidFill>
                  <a:schemeClr val="dk1"/>
                </a:solidFill>
              </a:rPr>
              <a:t>I</a:t>
            </a:r>
            <a:r>
              <a:rPr lang="zh-CN" altLang="en-US" sz="2800" dirty="0">
                <a:solidFill>
                  <a:schemeClr val="dk1"/>
                </a:solidFill>
              </a:rPr>
              <a:t>型指令</a:t>
            </a:r>
            <a:r>
              <a:rPr lang="zh-CN" altLang="en-US" sz="2800" dirty="0"/>
              <a:t>；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指令功能</a:t>
            </a:r>
            <a:r>
              <a:rPr lang="zh-CN" altLang="en-US" sz="2800" dirty="0"/>
              <a:t>：指令执行流程：</a:t>
            </a:r>
            <a:endParaRPr lang="en-US" altLang="zh-CN" sz="28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复用</a:t>
            </a:r>
            <a:r>
              <a:rPr lang="zh-CN" altLang="en-US" sz="2800" dirty="0"/>
              <a:t>：取指，读</a:t>
            </a:r>
            <a:r>
              <a:rPr lang="en-US" altLang="zh-CN" sz="2800" dirty="0"/>
              <a:t>GPR</a:t>
            </a:r>
            <a:r>
              <a:rPr lang="zh-CN" altLang="en-US" sz="2800" dirty="0"/>
              <a:t>，立即数扩展，</a:t>
            </a:r>
            <a:r>
              <a:rPr lang="en-US" altLang="zh-CN" sz="2800" dirty="0">
                <a:solidFill>
                  <a:schemeClr val="accent2"/>
                </a:solidFill>
              </a:rPr>
              <a:t>ALU</a:t>
            </a:r>
            <a:r>
              <a:rPr lang="zh-CN" altLang="en-US" sz="2800" dirty="0">
                <a:solidFill>
                  <a:schemeClr val="accent2"/>
                </a:solidFill>
              </a:rPr>
              <a:t>减法功能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增加</a:t>
            </a:r>
            <a:r>
              <a:rPr lang="zh-CN" altLang="en-US" sz="2800" dirty="0"/>
              <a:t>：计算分支地址；</a:t>
            </a:r>
            <a:r>
              <a:rPr lang="en-US" altLang="zh-CN" sz="2800" dirty="0">
                <a:solidFill>
                  <a:schemeClr val="accent2"/>
                </a:solidFill>
              </a:rPr>
              <a:t>ALU</a:t>
            </a:r>
            <a:r>
              <a:rPr lang="zh-CN" altLang="en-US" sz="2800" b="1" dirty="0">
                <a:solidFill>
                  <a:schemeClr val="accent2"/>
                </a:solidFill>
              </a:rPr>
              <a:t>增加</a:t>
            </a:r>
            <a:r>
              <a:rPr lang="zh-CN" altLang="en-US" sz="2800" dirty="0">
                <a:solidFill>
                  <a:schemeClr val="accent2"/>
                </a:solidFill>
              </a:rPr>
              <a:t>判断功能</a:t>
            </a:r>
            <a:r>
              <a:rPr lang="zh-CN" altLang="en-US" sz="2800" dirty="0"/>
              <a:t>；</a:t>
            </a:r>
            <a:r>
              <a:rPr lang="zh-CN" altLang="en-US" sz="2800" b="1" dirty="0">
                <a:solidFill>
                  <a:srgbClr val="FF0000"/>
                </a:solidFill>
              </a:rPr>
              <a:t>增加</a:t>
            </a:r>
            <a:r>
              <a:rPr lang="zh-CN" altLang="en-US" sz="2800" dirty="0"/>
              <a:t>二选一选择器确定目的地址是分支地址还是顺序地址；</a:t>
            </a:r>
            <a:r>
              <a:rPr lang="en-US" altLang="zh-CN" sz="2800" dirty="0"/>
              <a:t>pc</a:t>
            </a:r>
            <a:r>
              <a:rPr lang="zh-CN" altLang="en-US" sz="2800" dirty="0"/>
              <a:t>模块输入</a:t>
            </a:r>
            <a:r>
              <a:rPr lang="zh-CN" altLang="en-US" sz="2800" b="1" dirty="0">
                <a:solidFill>
                  <a:srgbClr val="FF0000"/>
                </a:solidFill>
              </a:rPr>
              <a:t>增加</a:t>
            </a:r>
            <a:r>
              <a:rPr lang="en-US" altLang="zh-CN" sz="2800" dirty="0" err="1"/>
              <a:t>beq</a:t>
            </a:r>
            <a:r>
              <a:rPr lang="zh-CN" altLang="en-US" sz="2800" dirty="0"/>
              <a:t>指令目标地址。</a:t>
            </a:r>
            <a:endParaRPr lang="en-US" altLang="zh-CN" sz="2800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F2603BC-EE84-21D0-8F93-CC0048EB47F1}"/>
              </a:ext>
            </a:extLst>
          </p:cNvPr>
          <p:cNvGrpSpPr/>
          <p:nvPr/>
        </p:nvGrpSpPr>
        <p:grpSpPr>
          <a:xfrm>
            <a:off x="765504" y="2781845"/>
            <a:ext cx="9082689" cy="1204486"/>
            <a:chOff x="891628" y="3013073"/>
            <a:chExt cx="9082689" cy="1204486"/>
          </a:xfrm>
        </p:grpSpPr>
        <p:sp>
          <p:nvSpPr>
            <p:cNvPr id="4" name="文本框 3"/>
            <p:cNvSpPr txBox="1"/>
            <p:nvPr/>
          </p:nvSpPr>
          <p:spPr>
            <a:xfrm>
              <a:off x="4827944" y="3013073"/>
              <a:ext cx="2189018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600" dirty="0"/>
                <a:t>计算分支地址</a:t>
              </a: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2212110" y="3013074"/>
              <a:ext cx="1879599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600" dirty="0"/>
                <a:t>立即数扩展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8E2F735F-36F9-B173-77CE-5168CD4E466A}"/>
                </a:ext>
              </a:extLst>
            </p:cNvPr>
            <p:cNvSpPr txBox="1"/>
            <p:nvPr/>
          </p:nvSpPr>
          <p:spPr>
            <a:xfrm>
              <a:off x="2212110" y="3725116"/>
              <a:ext cx="1879599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600" dirty="0"/>
                <a:t>读源操作数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91594E8-02A7-AE63-BB01-ECDB4C05F58E}"/>
                </a:ext>
              </a:extLst>
            </p:cNvPr>
            <p:cNvSpPr txBox="1"/>
            <p:nvPr/>
          </p:nvSpPr>
          <p:spPr>
            <a:xfrm>
              <a:off x="4242676" y="3429000"/>
              <a:ext cx="61987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600" dirty="0"/>
                <a:t>→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77D81F6A-F701-7D7C-7B5C-3BC79B7FA5C5}"/>
                </a:ext>
              </a:extLst>
            </p:cNvPr>
            <p:cNvSpPr txBox="1"/>
            <p:nvPr/>
          </p:nvSpPr>
          <p:spPr>
            <a:xfrm>
              <a:off x="891628" y="3369095"/>
              <a:ext cx="1320482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600" dirty="0"/>
                <a:t>取指 →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184C7464-6F80-95DA-9DB9-CBDB2760CE82}"/>
                </a:ext>
              </a:extLst>
            </p:cNvPr>
            <p:cNvSpPr txBox="1"/>
            <p:nvPr/>
          </p:nvSpPr>
          <p:spPr>
            <a:xfrm>
              <a:off x="5259302" y="3725116"/>
              <a:ext cx="99442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600" dirty="0">
                  <a:solidFill>
                    <a:schemeClr val="accent2"/>
                  </a:solidFill>
                </a:rPr>
                <a:t>判断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7C7C1D1-B6FF-8C5E-414E-D330E1C722C9}"/>
                </a:ext>
              </a:extLst>
            </p:cNvPr>
            <p:cNvSpPr txBox="1"/>
            <p:nvPr/>
          </p:nvSpPr>
          <p:spPr>
            <a:xfrm>
              <a:off x="6838444" y="3339689"/>
              <a:ext cx="3135873" cy="6316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600" dirty="0"/>
                <a:t>→ 跳转或顺序执行</a:t>
              </a:r>
              <a:endParaRPr lang="en-US" altLang="zh-CN" sz="26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14119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371D72-45FA-46ED-96FA-DCCB51BD8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186170"/>
            <a:ext cx="11009746" cy="1025525"/>
          </a:xfrm>
        </p:spPr>
        <p:txBody>
          <a:bodyPr/>
          <a:lstStyle/>
          <a:p>
            <a:r>
              <a:rPr lang="zh-CN" altLang="en-US" dirty="0"/>
              <a:t>数据通路</a:t>
            </a:r>
            <a:r>
              <a:rPr lang="en-US" altLang="zh-CN" dirty="0"/>
              <a:t>1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DB9819A-DEF6-09DA-BA25-CCA3A27CE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621" y="288663"/>
            <a:ext cx="11132757" cy="6422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2299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91CD95-4B95-4C3F-A1B3-C0D7131ED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/>
          <a:lstStyle/>
          <a:p>
            <a:r>
              <a:rPr lang="zh-CN" altLang="en-US" dirty="0"/>
              <a:t>指令比较分析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0758AC-09CB-4BD2-8158-C4C6EB9B6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227" y="1156137"/>
            <a:ext cx="11190890" cy="515006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指令格式</a:t>
            </a:r>
            <a:r>
              <a:rPr lang="zh-CN" altLang="en-US" sz="2800" dirty="0"/>
              <a:t>：</a:t>
            </a:r>
            <a:r>
              <a:rPr lang="en-US" altLang="zh-CN" sz="2800" dirty="0">
                <a:solidFill>
                  <a:schemeClr val="dk1"/>
                </a:solidFill>
              </a:rPr>
              <a:t>I</a:t>
            </a:r>
            <a:r>
              <a:rPr lang="zh-CN" altLang="en-US" sz="2800" dirty="0">
                <a:solidFill>
                  <a:schemeClr val="dk1"/>
                </a:solidFill>
              </a:rPr>
              <a:t>型指令</a:t>
            </a:r>
            <a:r>
              <a:rPr lang="zh-CN" altLang="en-US" sz="2800" dirty="0"/>
              <a:t>；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指令功能</a:t>
            </a:r>
            <a:r>
              <a:rPr lang="zh-CN" altLang="en-US" sz="2800" dirty="0"/>
              <a:t>：指令执行流程：</a:t>
            </a:r>
            <a:endParaRPr lang="en-US" altLang="zh-CN" sz="28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复用</a:t>
            </a:r>
            <a:r>
              <a:rPr lang="zh-CN" altLang="en-US" sz="2800" dirty="0"/>
              <a:t>：取指，读</a:t>
            </a:r>
            <a:r>
              <a:rPr lang="en-US" altLang="zh-CN" sz="2800" dirty="0"/>
              <a:t>GPR</a:t>
            </a:r>
            <a:r>
              <a:rPr lang="zh-CN" altLang="en-US" sz="2800" dirty="0"/>
              <a:t>，立即数扩展，</a:t>
            </a:r>
            <a:r>
              <a:rPr lang="en-US" altLang="zh-CN" sz="2800" dirty="0">
                <a:solidFill>
                  <a:schemeClr val="accent2"/>
                </a:solidFill>
              </a:rPr>
              <a:t>ALU</a:t>
            </a:r>
            <a:r>
              <a:rPr lang="zh-CN" altLang="en-US" sz="2800" dirty="0">
                <a:solidFill>
                  <a:schemeClr val="accent2"/>
                </a:solidFill>
              </a:rPr>
              <a:t>加法功能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增加</a:t>
            </a:r>
            <a:r>
              <a:rPr lang="zh-CN" altLang="en-US" sz="2800" dirty="0"/>
              <a:t>：判断功能；</a:t>
            </a:r>
            <a:r>
              <a:rPr lang="en-US" altLang="zh-CN" sz="2800" dirty="0">
                <a:solidFill>
                  <a:schemeClr val="accent2"/>
                </a:solidFill>
              </a:rPr>
              <a:t>ALU</a:t>
            </a:r>
            <a:r>
              <a:rPr lang="zh-CN" altLang="en-US" sz="2800" dirty="0">
                <a:solidFill>
                  <a:schemeClr val="accent2"/>
                </a:solidFill>
              </a:rPr>
              <a:t>输入</a:t>
            </a:r>
            <a:r>
              <a:rPr lang="en-US" altLang="zh-CN" sz="2800" dirty="0">
                <a:solidFill>
                  <a:schemeClr val="accent2"/>
                </a:solidFill>
              </a:rPr>
              <a:t>1</a:t>
            </a:r>
            <a:r>
              <a:rPr lang="zh-CN" altLang="en-US" sz="2800" dirty="0">
                <a:solidFill>
                  <a:schemeClr val="accent2"/>
                </a:solidFill>
              </a:rPr>
              <a:t>增加</a:t>
            </a:r>
            <a:r>
              <a:rPr lang="en-US" altLang="zh-CN" sz="2800" dirty="0">
                <a:solidFill>
                  <a:schemeClr val="accent2"/>
                </a:solidFill>
              </a:rPr>
              <a:t>pc+4</a:t>
            </a:r>
            <a:r>
              <a:rPr lang="zh-CN" altLang="en-US" sz="2800" dirty="0"/>
              <a:t>；</a:t>
            </a:r>
            <a:r>
              <a:rPr lang="en-US" altLang="zh-CN" sz="2800" dirty="0"/>
              <a:t>pc</a:t>
            </a:r>
            <a:r>
              <a:rPr lang="zh-CN" altLang="en-US" sz="2800" dirty="0"/>
              <a:t>模块输入</a:t>
            </a:r>
            <a:r>
              <a:rPr lang="zh-CN" altLang="en-US" sz="2800" b="1" dirty="0">
                <a:solidFill>
                  <a:srgbClr val="FF0000"/>
                </a:solidFill>
              </a:rPr>
              <a:t>增加</a:t>
            </a:r>
            <a:r>
              <a:rPr lang="en-US" altLang="zh-CN" sz="2800" dirty="0" err="1"/>
              <a:t>beq</a:t>
            </a:r>
            <a:r>
              <a:rPr lang="zh-CN" altLang="en-US" sz="2800" dirty="0"/>
              <a:t>指令分支地址。</a:t>
            </a:r>
            <a:endParaRPr lang="en-US" altLang="zh-CN" sz="2800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F2603BC-EE84-21D0-8F93-CC0048EB47F1}"/>
              </a:ext>
            </a:extLst>
          </p:cNvPr>
          <p:cNvGrpSpPr/>
          <p:nvPr/>
        </p:nvGrpSpPr>
        <p:grpSpPr>
          <a:xfrm>
            <a:off x="765504" y="2781845"/>
            <a:ext cx="9082689" cy="1204486"/>
            <a:chOff x="891628" y="3013073"/>
            <a:chExt cx="9082689" cy="1204486"/>
          </a:xfrm>
        </p:grpSpPr>
        <p:sp>
          <p:nvSpPr>
            <p:cNvPr id="4" name="文本框 3"/>
            <p:cNvSpPr txBox="1"/>
            <p:nvPr/>
          </p:nvSpPr>
          <p:spPr>
            <a:xfrm>
              <a:off x="4827944" y="3013073"/>
              <a:ext cx="2189018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600" dirty="0">
                  <a:solidFill>
                    <a:schemeClr val="accent2"/>
                  </a:solidFill>
                </a:rPr>
                <a:t>计算分支地址</a:t>
              </a: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2212110" y="3013074"/>
              <a:ext cx="1879599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600" dirty="0"/>
                <a:t>立即数扩展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8E2F735F-36F9-B173-77CE-5168CD4E466A}"/>
                </a:ext>
              </a:extLst>
            </p:cNvPr>
            <p:cNvSpPr txBox="1"/>
            <p:nvPr/>
          </p:nvSpPr>
          <p:spPr>
            <a:xfrm>
              <a:off x="2212110" y="3725116"/>
              <a:ext cx="1879599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600" dirty="0"/>
                <a:t>读源操作数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91594E8-02A7-AE63-BB01-ECDB4C05F58E}"/>
                </a:ext>
              </a:extLst>
            </p:cNvPr>
            <p:cNvSpPr txBox="1"/>
            <p:nvPr/>
          </p:nvSpPr>
          <p:spPr>
            <a:xfrm>
              <a:off x="4242676" y="3429000"/>
              <a:ext cx="61987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600" dirty="0"/>
                <a:t>→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77D81F6A-F701-7D7C-7B5C-3BC79B7FA5C5}"/>
                </a:ext>
              </a:extLst>
            </p:cNvPr>
            <p:cNvSpPr txBox="1"/>
            <p:nvPr/>
          </p:nvSpPr>
          <p:spPr>
            <a:xfrm>
              <a:off x="891628" y="3369095"/>
              <a:ext cx="1320482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600" dirty="0"/>
                <a:t>取指 →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184C7464-6F80-95DA-9DB9-CBDB2760CE82}"/>
                </a:ext>
              </a:extLst>
            </p:cNvPr>
            <p:cNvSpPr txBox="1"/>
            <p:nvPr/>
          </p:nvSpPr>
          <p:spPr>
            <a:xfrm>
              <a:off x="5259302" y="3725116"/>
              <a:ext cx="99442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600" dirty="0"/>
                <a:t>判断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7C7C1D1-B6FF-8C5E-414E-D330E1C722C9}"/>
                </a:ext>
              </a:extLst>
            </p:cNvPr>
            <p:cNvSpPr txBox="1"/>
            <p:nvPr/>
          </p:nvSpPr>
          <p:spPr>
            <a:xfrm>
              <a:off x="6838444" y="3339689"/>
              <a:ext cx="3135873" cy="6316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600" dirty="0"/>
                <a:t>→ 跳转或顺序执行</a:t>
              </a:r>
              <a:endParaRPr lang="en-US" altLang="zh-CN" sz="2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83175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94DEFED-1C65-92AA-F067-DC8D65723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28" y="268014"/>
            <a:ext cx="10602830" cy="632197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382" y="126125"/>
            <a:ext cx="8596668" cy="1320800"/>
          </a:xfrm>
        </p:spPr>
        <p:txBody>
          <a:bodyPr/>
          <a:lstStyle/>
          <a:p>
            <a:r>
              <a:rPr lang="zh-CN" altLang="en-US" dirty="0"/>
              <a:t>数据通路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16725776"/>
      </p:ext>
    </p:extLst>
  </p:cSld>
  <p:clrMapOvr>
    <a:masterClrMapping/>
  </p:clrMapOvr>
</p:sld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19262</TotalTime>
  <Words>645</Words>
  <Application>Microsoft Office PowerPoint</Application>
  <PresentationFormat>宽屏</PresentationFormat>
  <Paragraphs>123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2" baseType="lpstr">
      <vt:lpstr>宋体</vt:lpstr>
      <vt:lpstr>Arial</vt:lpstr>
      <vt:lpstr>Trebuchet MS</vt:lpstr>
      <vt:lpstr>Wingdings 3</vt:lpstr>
      <vt:lpstr>平面</vt:lpstr>
      <vt:lpstr>  增加实现跳转指令</vt:lpstr>
      <vt:lpstr>跳转指令分类</vt:lpstr>
      <vt:lpstr>实验过程</vt:lpstr>
      <vt:lpstr>j 和 jal 指令</vt:lpstr>
      <vt:lpstr>指令格式</vt:lpstr>
      <vt:lpstr>指令比较分析</vt:lpstr>
      <vt:lpstr>数据通路</vt:lpstr>
      <vt:lpstr>jr指令</vt:lpstr>
      <vt:lpstr>指令格式</vt:lpstr>
      <vt:lpstr>指令比较分析</vt:lpstr>
      <vt:lpstr>数据通路</vt:lpstr>
      <vt:lpstr>beq指令</vt:lpstr>
      <vt:lpstr>指令格式</vt:lpstr>
      <vt:lpstr>指令比较分析1</vt:lpstr>
      <vt:lpstr>数据通路1</vt:lpstr>
      <vt:lpstr>指令比较分析2</vt:lpstr>
      <vt:lpstr>数据通路2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guo yan</dc:creator>
  <cp:lastModifiedBy>yan guo</cp:lastModifiedBy>
  <cp:revision>392</cp:revision>
  <dcterms:created xsi:type="dcterms:W3CDTF">2020-03-13T01:07:41Z</dcterms:created>
  <dcterms:modified xsi:type="dcterms:W3CDTF">2026-05-12T09:16:05Z</dcterms:modified>
</cp:coreProperties>
</file>