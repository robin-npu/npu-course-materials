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996" r:id="rId1"/>
  </p:sldMasterIdLst>
  <p:sldIdLst>
    <p:sldId id="256" r:id="rId2"/>
    <p:sldId id="314" r:id="rId3"/>
    <p:sldId id="337" r:id="rId4"/>
    <p:sldId id="338" r:id="rId5"/>
    <p:sldId id="318" r:id="rId6"/>
    <p:sldId id="328" r:id="rId7"/>
    <p:sldId id="319" r:id="rId8"/>
    <p:sldId id="339" r:id="rId9"/>
    <p:sldId id="322" r:id="rId10"/>
    <p:sldId id="34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80" autoAdjust="0"/>
    <p:restoredTop sz="94660"/>
  </p:normalViewPr>
  <p:slideViewPr>
    <p:cSldViewPr snapToGrid="0">
      <p:cViewPr varScale="1">
        <p:scale>
          <a:sx n="91" d="100"/>
          <a:sy n="91" d="100"/>
        </p:scale>
        <p:origin x="201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6399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6804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5358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12240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10800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9592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9326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99533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5876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8385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410622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00736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816746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64452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4597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9620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C3B673-DCE4-4699-8C15-4B3A97032352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9421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7" r:id="rId1"/>
    <p:sldLayoutId id="2147483998" r:id="rId2"/>
    <p:sldLayoutId id="2147483999" r:id="rId3"/>
    <p:sldLayoutId id="2147484000" r:id="rId4"/>
    <p:sldLayoutId id="2147484001" r:id="rId5"/>
    <p:sldLayoutId id="2147484002" r:id="rId6"/>
    <p:sldLayoutId id="2147484003" r:id="rId7"/>
    <p:sldLayoutId id="2147484004" r:id="rId8"/>
    <p:sldLayoutId id="2147484005" r:id="rId9"/>
    <p:sldLayoutId id="2147484006" r:id="rId10"/>
    <p:sldLayoutId id="2147484007" r:id="rId11"/>
    <p:sldLayoutId id="2147484008" r:id="rId12"/>
    <p:sldLayoutId id="2147484009" r:id="rId13"/>
    <p:sldLayoutId id="2147484010" r:id="rId14"/>
    <p:sldLayoutId id="2147484011" r:id="rId15"/>
    <p:sldLayoutId id="214748401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9D4D14-625B-460E-8934-2E47E74426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8292" y="2334412"/>
            <a:ext cx="9144000" cy="1234208"/>
          </a:xfrm>
        </p:spPr>
        <p:txBody>
          <a:bodyPr>
            <a:normAutofit fontScale="90000"/>
          </a:bodyPr>
          <a:lstStyle/>
          <a:p>
            <a:br>
              <a:rPr lang="en-US" altLang="zh-CN" dirty="0"/>
            </a:br>
            <a:r>
              <a:rPr lang="zh-CN" altLang="en-US" b="1" dirty="0"/>
              <a:t>增加实现</a:t>
            </a:r>
            <a:r>
              <a:rPr lang="en-US" altLang="zh-CN" b="1" dirty="0"/>
              <a:t>R</a:t>
            </a:r>
            <a:r>
              <a:rPr lang="zh-CN" altLang="en-US" b="1" dirty="0"/>
              <a:t>型指令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77972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ABA099-F39D-4F35-A579-193B540FE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891" y="366568"/>
            <a:ext cx="10515600" cy="1325563"/>
          </a:xfrm>
        </p:spPr>
        <p:txBody>
          <a:bodyPr/>
          <a:lstStyle/>
          <a:p>
            <a:r>
              <a:rPr lang="zh-CN" altLang="en-US" b="1" dirty="0"/>
              <a:t>实验过程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08891" y="1858386"/>
            <a:ext cx="11002818" cy="29905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</a:pPr>
            <a:r>
              <a:rPr lang="en-US" altLang="zh-CN" sz="2800" dirty="0"/>
              <a:t>1. </a:t>
            </a:r>
            <a:r>
              <a:rPr lang="zh-CN" altLang="en-US" sz="2800" dirty="0">
                <a:solidFill>
                  <a:srgbClr val="FF0000"/>
                </a:solidFill>
              </a:rPr>
              <a:t>分析</a:t>
            </a:r>
            <a:r>
              <a:rPr lang="zh-CN" altLang="en-US" sz="2800" dirty="0"/>
              <a:t>指令，确定复用部分和需要增加的硬件功能；</a:t>
            </a:r>
            <a:endParaRPr lang="en-US" altLang="zh-CN" sz="2800" dirty="0"/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lang="en-US" altLang="zh-CN" sz="2800" dirty="0"/>
              <a:t>2. </a:t>
            </a:r>
            <a:r>
              <a:rPr lang="zh-CN" altLang="en-US" sz="2800" dirty="0">
                <a:solidFill>
                  <a:srgbClr val="FF0000"/>
                </a:solidFill>
              </a:rPr>
              <a:t>设计</a:t>
            </a:r>
            <a:r>
              <a:rPr lang="zh-CN" altLang="en-US" sz="2800" dirty="0"/>
              <a:t>数据通路和控制逻辑；</a:t>
            </a:r>
            <a:endParaRPr lang="en-US" altLang="zh-CN" sz="2800" dirty="0"/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lang="en-US" altLang="zh-CN" sz="2800" dirty="0"/>
              <a:t>3. </a:t>
            </a:r>
            <a:r>
              <a:rPr lang="zh-CN" altLang="en-US" sz="2800" dirty="0"/>
              <a:t>用</a:t>
            </a:r>
            <a:r>
              <a:rPr lang="en-US" altLang="zh-CN" sz="2800" dirty="0"/>
              <a:t>Verilog </a:t>
            </a:r>
            <a:r>
              <a:rPr lang="zh-CN" altLang="en-US" sz="2800" dirty="0"/>
              <a:t>语言</a:t>
            </a:r>
            <a:r>
              <a:rPr lang="zh-CN" altLang="en-US" sz="2800" dirty="0">
                <a:solidFill>
                  <a:srgbClr val="FF0000"/>
                </a:solidFill>
              </a:rPr>
              <a:t>实现</a:t>
            </a:r>
            <a:r>
              <a:rPr lang="zh-CN" altLang="en-US" sz="2800" dirty="0"/>
              <a:t>设计。</a:t>
            </a:r>
            <a:endParaRPr lang="en-US" altLang="zh-CN" sz="2800" dirty="0"/>
          </a:p>
          <a:p>
            <a:pPr>
              <a:spcBef>
                <a:spcPts val="1000"/>
              </a:spcBef>
              <a:spcAft>
                <a:spcPts val="1000"/>
              </a:spcAft>
            </a:pPr>
            <a:endParaRPr lang="en-US" altLang="zh-CN" sz="280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16480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22271B-8BA8-4F3A-BBCA-9AACC2DED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65"/>
            <a:ext cx="10515600" cy="892175"/>
          </a:xfrm>
        </p:spPr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指令格式</a:t>
            </a:r>
          </a:p>
        </p:txBody>
      </p:sp>
      <p:graphicFrame>
        <p:nvGraphicFramePr>
          <p:cNvPr id="4" name="表格 6">
            <a:extLst>
              <a:ext uri="{FF2B5EF4-FFF2-40B4-BE49-F238E27FC236}">
                <a16:creationId xmlns:a16="http://schemas.microsoft.com/office/drawing/2014/main" id="{0D8D764D-823D-4099-B6C8-7D45D76FDC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7051209"/>
              </p:ext>
            </p:extLst>
          </p:nvPr>
        </p:nvGraphicFramePr>
        <p:xfrm>
          <a:off x="892378" y="711329"/>
          <a:ext cx="10153649" cy="60613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341">
                  <a:extLst>
                    <a:ext uri="{9D8B030D-6E8A-4147-A177-3AD203B41FA5}">
                      <a16:colId xmlns:a16="http://schemas.microsoft.com/office/drawing/2014/main" val="2717078196"/>
                    </a:ext>
                  </a:extLst>
                </a:gridCol>
                <a:gridCol w="1377449">
                  <a:extLst>
                    <a:ext uri="{9D8B030D-6E8A-4147-A177-3AD203B41FA5}">
                      <a16:colId xmlns:a16="http://schemas.microsoft.com/office/drawing/2014/main" val="935924381"/>
                    </a:ext>
                  </a:extLst>
                </a:gridCol>
                <a:gridCol w="961005">
                  <a:extLst>
                    <a:ext uri="{9D8B030D-6E8A-4147-A177-3AD203B41FA5}">
                      <a16:colId xmlns:a16="http://schemas.microsoft.com/office/drawing/2014/main" val="1596634783"/>
                    </a:ext>
                  </a:extLst>
                </a:gridCol>
                <a:gridCol w="1126026">
                  <a:extLst>
                    <a:ext uri="{9D8B030D-6E8A-4147-A177-3AD203B41FA5}">
                      <a16:colId xmlns:a16="http://schemas.microsoft.com/office/drawing/2014/main" val="2896182007"/>
                    </a:ext>
                  </a:extLst>
                </a:gridCol>
                <a:gridCol w="1038662">
                  <a:extLst>
                    <a:ext uri="{9D8B030D-6E8A-4147-A177-3AD203B41FA5}">
                      <a16:colId xmlns:a16="http://schemas.microsoft.com/office/drawing/2014/main" val="2760008904"/>
                    </a:ext>
                  </a:extLst>
                </a:gridCol>
                <a:gridCol w="1349290">
                  <a:extLst>
                    <a:ext uri="{9D8B030D-6E8A-4147-A177-3AD203B41FA5}">
                      <a16:colId xmlns:a16="http://schemas.microsoft.com/office/drawing/2014/main" val="875946454"/>
                    </a:ext>
                  </a:extLst>
                </a:gridCol>
                <a:gridCol w="1329876">
                  <a:extLst>
                    <a:ext uri="{9D8B030D-6E8A-4147-A177-3AD203B41FA5}">
                      <a16:colId xmlns:a16="http://schemas.microsoft.com/office/drawing/2014/main" val="2962175388"/>
                    </a:ext>
                  </a:extLst>
                </a:gridCol>
              </a:tblGrid>
              <a:tr h="4368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 u="none" strike="noStrike" kern="1200" baseline="0" dirty="0">
                          <a:ln>
                            <a:noFill/>
                          </a:ln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  位段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31          26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25    21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20      16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15     11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10         6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5             0 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0753019"/>
                  </a:ext>
                </a:extLst>
              </a:tr>
              <a:tr h="50378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编码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op(6</a:t>
                      </a:r>
                      <a:r>
                        <a:rPr lang="zh-CN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位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rs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(5</a:t>
                      </a:r>
                      <a:r>
                        <a:rPr lang="zh-CN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位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rt(5</a:t>
                      </a:r>
                      <a:r>
                        <a:rPr lang="zh-CN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位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rd(5</a:t>
                      </a:r>
                      <a:r>
                        <a:rPr lang="zh-CN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位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shamt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(5</a:t>
                      </a:r>
                      <a:r>
                        <a:rPr lang="zh-CN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位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funct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(6</a:t>
                      </a:r>
                      <a:r>
                        <a:rPr lang="zh-CN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位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2705389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addu rd, </a:t>
                      </a:r>
                      <a:r>
                        <a:rPr lang="en-US" altLang="zh-CN" sz="1800" b="0" i="0" u="none" strike="noStrike" kern="1200" baseline="0" dirty="0" err="1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rs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, rt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000000	</a:t>
                      </a:r>
                      <a:endParaRPr lang="zh-CN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rs</a:t>
                      </a:r>
                      <a:endParaRPr lang="zh-CN" alt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rt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rd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0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00000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0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100001 	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7420418"/>
                  </a:ext>
                </a:extLst>
              </a:tr>
              <a:tr h="1587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GPR[rd]</a:t>
                      </a:r>
                      <a:r>
                        <a:rPr lang="zh-CN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←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GPR[</a:t>
                      </a:r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rs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en-US" altLang="zh-CN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GPR[rt]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398923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subu rd, </a:t>
                      </a:r>
                      <a:r>
                        <a:rPr lang="en-US" altLang="zh-CN" sz="1800" b="0" i="0" u="none" strike="noStrike" kern="1200" baseline="0" dirty="0" err="1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rs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, rt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000000</a:t>
                      </a:r>
                      <a:endParaRPr lang="zh-CN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rs</a:t>
                      </a:r>
                      <a:endParaRPr lang="zh-CN" alt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rt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rd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00000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100011 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871472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GPR[rd]</a:t>
                      </a:r>
                      <a:r>
                        <a:rPr lang="zh-CN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←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GPR[</a:t>
                      </a:r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rs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en-US" altLang="zh-CN" sz="1800" b="1" i="0" u="none" strike="noStrike" kern="1200" baseline="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GPR[rt]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309874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add 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rd, </a:t>
                      </a:r>
                      <a:r>
                        <a:rPr lang="en-US" altLang="zh-CN" sz="1800" b="0" i="0" u="none" strike="noStrike" kern="1200" baseline="0" dirty="0" err="1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rs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, rt  </a:t>
                      </a:r>
                      <a:r>
                        <a:rPr lang="zh-CN" altLang="en-US" sz="1400" b="0" i="0" u="none" strike="noStrike" kern="1200" baseline="0" dirty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（不考虑溢出）</a:t>
                      </a:r>
                      <a:endParaRPr lang="zh-CN" altLang="en-US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000000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rs</a:t>
                      </a:r>
                      <a:endParaRPr lang="zh-CN" alt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rt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rd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00000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100000 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374194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GPR[rd]</a:t>
                      </a:r>
                      <a:r>
                        <a:rPr lang="zh-CN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←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GPR[</a:t>
                      </a:r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rs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en-US" altLang="zh-CN" sz="1800" b="1" i="0" u="none" strike="noStrike" kern="1200" baseline="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GPR[rt]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807319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and 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rd, </a:t>
                      </a:r>
                      <a:r>
                        <a:rPr lang="en-US" altLang="zh-CN" sz="1800" b="0" i="0" u="none" strike="noStrike" kern="1200" baseline="0" dirty="0" err="1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rs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, rt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000000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rs</a:t>
                      </a:r>
                      <a:endParaRPr lang="zh-CN" alt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rt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rd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00000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100100 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06156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GPR[rd]</a:t>
                      </a:r>
                      <a:r>
                        <a:rPr lang="zh-CN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←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GPR[</a:t>
                      </a:r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rs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en-US" altLang="zh-CN" sz="1800" b="1" i="0" u="none" strike="noStrike" kern="1200" baseline="0" dirty="0">
                          <a:solidFill>
                            <a:srgbClr val="00B0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&amp;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GPR[rt]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77063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or </a:t>
                      </a:r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rd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rs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rt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000000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rs</a:t>
                      </a:r>
                      <a:endParaRPr lang="zh-CN" alt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rt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rd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00000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100101 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178255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GPR[</a:t>
                      </a:r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rd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zh-CN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←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GPR[</a:t>
                      </a:r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rs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en-US" altLang="zh-CN" sz="1800" b="1" i="0" u="none" strike="noStrike" kern="1200" baseline="0" dirty="0">
                          <a:solidFill>
                            <a:srgbClr val="00B05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|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GPR[rt]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09363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slt 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rd, </a:t>
                      </a:r>
                      <a:r>
                        <a:rPr lang="en-US" altLang="zh-CN" sz="1800" b="0" i="0" u="none" strike="noStrike" kern="1200" baseline="0" dirty="0" err="1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rs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, rt </a:t>
                      </a:r>
                      <a:r>
                        <a:rPr lang="zh-CN" altLang="en-US" sz="1400" b="0" i="0" u="none" strike="noStrike" kern="1200" baseline="0" dirty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（有符号数比较）</a:t>
                      </a:r>
                      <a:endParaRPr lang="zh-CN" altLang="en-US" sz="14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000000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rs</a:t>
                      </a:r>
                      <a:endParaRPr lang="zh-CN" alt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rt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rd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00000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101010 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67036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GPR[rd]</a:t>
                      </a:r>
                      <a:r>
                        <a:rPr lang="zh-CN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←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GPR[</a:t>
                      </a:r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rs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en-US" altLang="zh-CN" sz="1800" b="1" i="0" u="none" strike="noStrike" kern="1200" baseline="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GPR[</a:t>
                      </a:r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rt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075147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 err="1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sll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800" b="0" i="0" u="none" strike="noStrike" kern="1200" baseline="0" dirty="0" err="1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rd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, rt, s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000000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rt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rd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000000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737972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GPR[</a:t>
                      </a:r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rd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zh-CN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←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GPR[rt] </a:t>
                      </a:r>
                      <a:r>
                        <a:rPr lang="en-US" altLang="zh-CN" sz="1800" b="1" i="0" u="none" strike="noStrike" kern="1200" baseline="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&lt;&lt;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s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2714450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9756785" y="1181894"/>
            <a:ext cx="1210699" cy="554319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817091" y="2567708"/>
            <a:ext cx="234453" cy="348221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2645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91CD95-4B95-4C3F-A1B3-C0D7131ED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</p:spPr>
        <p:txBody>
          <a:bodyPr/>
          <a:lstStyle/>
          <a:p>
            <a:r>
              <a:rPr lang="zh-CN" altLang="en-US" dirty="0"/>
              <a:t>和已经实现的</a:t>
            </a:r>
            <a:r>
              <a:rPr lang="en-US" altLang="zh-CN" dirty="0" err="1"/>
              <a:t>addu</a:t>
            </a:r>
            <a:r>
              <a:rPr lang="zh-CN" altLang="en-US" dirty="0"/>
              <a:t>指令比较</a:t>
            </a:r>
            <a:r>
              <a:rPr lang="en-US" altLang="zh-CN" dirty="0"/>
              <a:t>(</a:t>
            </a:r>
            <a:r>
              <a:rPr lang="en-US" altLang="zh-CN" dirty="0" err="1"/>
              <a:t>sll</a:t>
            </a:r>
            <a:r>
              <a:rPr lang="zh-CN" altLang="en-US" dirty="0"/>
              <a:t>指令除外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0758AC-09CB-4BD2-8158-C4C6EB9B6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5875"/>
            <a:ext cx="10515600" cy="489108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/>
              <a:t>指令格式</a:t>
            </a:r>
            <a:r>
              <a:rPr lang="zh-CN" altLang="en-US" sz="2800" dirty="0"/>
              <a:t>：指令格式相同，</a:t>
            </a:r>
            <a:r>
              <a:rPr lang="zh-CN" altLang="en-US" sz="2800" dirty="0">
                <a:solidFill>
                  <a:srgbClr val="FF0000"/>
                </a:solidFill>
              </a:rPr>
              <a:t>不同</a:t>
            </a:r>
            <a:r>
              <a:rPr lang="zh-CN" altLang="en-US" sz="2800" dirty="0"/>
              <a:t>的</a:t>
            </a:r>
            <a:r>
              <a:rPr lang="en-US" altLang="zh-CN" sz="2800" dirty="0" err="1"/>
              <a:t>funct</a:t>
            </a:r>
            <a:r>
              <a:rPr lang="zh-CN" altLang="en-US" sz="2800" dirty="0"/>
              <a:t>字段决定运算类型；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b="1" dirty="0"/>
              <a:t>指令功能</a:t>
            </a:r>
            <a:r>
              <a:rPr lang="zh-CN" altLang="en-US" sz="2800" dirty="0"/>
              <a:t>：指令执行流程相同：</a:t>
            </a:r>
            <a:endParaRPr lang="en-US" altLang="zh-CN" sz="28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 dirty="0"/>
              <a:t>                   </a:t>
            </a:r>
            <a:r>
              <a:rPr lang="zh-CN" altLang="en-US" sz="2400" dirty="0">
                <a:latin typeface="华文隶书" panose="02010800040101010101" pitchFamily="2" charset="-122"/>
                <a:ea typeface="华文隶书" panose="02010800040101010101" pitchFamily="2" charset="-122"/>
              </a:rPr>
              <a:t>取指→读寄存器（操作数）→</a:t>
            </a:r>
            <a:r>
              <a:rPr lang="zh-CN" altLang="en-US" sz="2400" dirty="0">
                <a:solidFill>
                  <a:srgbClr val="FF0000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运算</a:t>
            </a:r>
            <a:r>
              <a:rPr lang="zh-CN" altLang="en-US" sz="2400" dirty="0">
                <a:latin typeface="华文隶书" panose="02010800040101010101" pitchFamily="2" charset="-122"/>
                <a:ea typeface="华文隶书" panose="02010800040101010101" pitchFamily="2" charset="-122"/>
              </a:rPr>
              <a:t>→写回寄存器（运算结果）</a:t>
            </a:r>
            <a:endParaRPr lang="en-US" altLang="zh-CN" sz="2400" dirty="0">
              <a:latin typeface="华文隶书" panose="02010800040101010101" pitchFamily="2" charset="-122"/>
              <a:ea typeface="华文隶书" panose="020108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/>
              <a:t>复用</a:t>
            </a:r>
            <a:r>
              <a:rPr lang="zh-CN" altLang="en-US" sz="2800" dirty="0"/>
              <a:t>：取指，读寄存器，写回寄存器。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</a:rPr>
              <a:t>增加</a:t>
            </a:r>
            <a:r>
              <a:rPr lang="zh-CN" altLang="en-US" sz="2800" dirty="0"/>
              <a:t>：运算部件需要增加</a:t>
            </a:r>
            <a:r>
              <a:rPr lang="en-US" altLang="zh-CN" sz="2800" dirty="0"/>
              <a:t>-</a:t>
            </a:r>
            <a:r>
              <a:rPr lang="zh-CN" altLang="en-US" sz="2800" dirty="0"/>
              <a:t>、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&amp;</a:t>
            </a:r>
            <a:r>
              <a:rPr lang="zh-CN" altLang="en-US" sz="2800" dirty="0"/>
              <a:t>、</a:t>
            </a:r>
            <a:r>
              <a:rPr lang="en-US" altLang="zh-CN" sz="2800" dirty="0"/>
              <a:t>|</a:t>
            </a:r>
            <a:r>
              <a:rPr lang="zh-CN" altLang="en-US" sz="2800" dirty="0"/>
              <a:t>、</a:t>
            </a:r>
            <a:r>
              <a:rPr lang="en-US" altLang="zh-CN" sz="2800" dirty="0"/>
              <a:t>&lt;</a:t>
            </a:r>
            <a:r>
              <a:rPr lang="zh-CN" altLang="en-US" sz="2800" dirty="0"/>
              <a:t>功能。</a:t>
            </a:r>
            <a:endParaRPr lang="en-US" altLang="zh-CN" sz="28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>
                <a:latin typeface="华文隶书" panose="02010800040101010101" pitchFamily="2" charset="-122"/>
                <a:ea typeface="华文隶书" panose="02010800040101010101" pitchFamily="2" charset="-122"/>
              </a:rPr>
              <a:t>     </a:t>
            </a:r>
            <a:r>
              <a:rPr lang="zh-CN" altLang="en-US" sz="2400" dirty="0"/>
              <a:t>注意：</a:t>
            </a:r>
            <a:r>
              <a:rPr lang="en-US" altLang="zh-CN" sz="2400" dirty="0"/>
              <a:t>add</a:t>
            </a:r>
            <a:r>
              <a:rPr lang="zh-CN" altLang="en-US" sz="2400" dirty="0"/>
              <a:t>指令在不考虑溢出的情况下可以复用已经实现的加法功能。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187401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E4645D-4A45-4F8F-9DF3-DA5C80746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数据通路</a:t>
            </a:r>
          </a:p>
        </p:txBody>
      </p:sp>
      <p:sp>
        <p:nvSpPr>
          <p:cNvPr id="6" name="矩形 5"/>
          <p:cNvSpPr/>
          <p:nvPr/>
        </p:nvSpPr>
        <p:spPr>
          <a:xfrm>
            <a:off x="4065681" y="221320"/>
            <a:ext cx="7162299" cy="212776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特别注意：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1. ALU</a:t>
            </a:r>
            <a:r>
              <a:rPr lang="zh-CN" altLang="en-US" dirty="0">
                <a:solidFill>
                  <a:srgbClr val="FF0000"/>
                </a:solidFill>
              </a:rPr>
              <a:t>同时具有＋、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rgbClr val="FF0000"/>
                </a:solidFill>
              </a:rPr>
              <a:t>、</a:t>
            </a:r>
            <a:r>
              <a:rPr lang="en-US" altLang="zh-CN" dirty="0">
                <a:solidFill>
                  <a:srgbClr val="FF0000"/>
                </a:solidFill>
              </a:rPr>
              <a:t>&amp;</a:t>
            </a:r>
            <a:r>
              <a:rPr lang="zh-CN" altLang="en-US" dirty="0">
                <a:solidFill>
                  <a:srgbClr val="FF0000"/>
                </a:solidFill>
              </a:rPr>
              <a:t>、</a:t>
            </a:r>
            <a:r>
              <a:rPr lang="en-US" altLang="zh-CN" dirty="0">
                <a:solidFill>
                  <a:srgbClr val="FF0000"/>
                </a:solidFill>
              </a:rPr>
              <a:t>|</a:t>
            </a:r>
            <a:r>
              <a:rPr lang="zh-CN" altLang="en-US" dirty="0">
                <a:solidFill>
                  <a:srgbClr val="FF0000"/>
                </a:solidFill>
              </a:rPr>
              <a:t>、</a:t>
            </a:r>
            <a:r>
              <a:rPr lang="en-US" altLang="zh-CN" dirty="0">
                <a:solidFill>
                  <a:srgbClr val="FF0000"/>
                </a:solidFill>
              </a:rPr>
              <a:t>&lt;</a:t>
            </a:r>
            <a:r>
              <a:rPr lang="zh-CN" altLang="en-US" dirty="0">
                <a:solidFill>
                  <a:srgbClr val="FF0000"/>
                </a:solidFill>
              </a:rPr>
              <a:t>运算功能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2. </a:t>
            </a:r>
            <a:r>
              <a:rPr lang="zh-CN" altLang="en-US" dirty="0"/>
              <a:t>输入同时传递给各个运算功能，</a:t>
            </a:r>
            <a:r>
              <a:rPr lang="zh-CN" altLang="en-US" dirty="0">
                <a:solidFill>
                  <a:srgbClr val="FF0000"/>
                </a:solidFill>
              </a:rPr>
              <a:t>各个运算功能</a:t>
            </a:r>
            <a:r>
              <a:rPr lang="zh-CN" altLang="en-US" b="1" dirty="0">
                <a:solidFill>
                  <a:srgbClr val="FF0000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并行工作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3. </a:t>
            </a:r>
            <a:r>
              <a:rPr lang="zh-CN" altLang="en-US" dirty="0"/>
              <a:t>控制信号</a:t>
            </a:r>
            <a:r>
              <a:rPr lang="en-US" altLang="zh-CN" dirty="0" err="1">
                <a:solidFill>
                  <a:srgbClr val="FF0000"/>
                </a:solidFill>
              </a:rPr>
              <a:t>alu_op</a:t>
            </a:r>
            <a:r>
              <a:rPr lang="zh-CN" altLang="en-US" dirty="0"/>
              <a:t>控制一个多路选择电路</a:t>
            </a:r>
            <a:r>
              <a:rPr lang="zh-CN" altLang="en-US" dirty="0">
                <a:solidFill>
                  <a:srgbClr val="FF0000"/>
                </a:solidFill>
              </a:rPr>
              <a:t>把所需的运算结果选择出来作为</a:t>
            </a:r>
            <a:r>
              <a:rPr lang="en-US" altLang="zh-CN" dirty="0">
                <a:solidFill>
                  <a:srgbClr val="FF0000"/>
                </a:solidFill>
              </a:rPr>
              <a:t>ALU</a:t>
            </a:r>
            <a:r>
              <a:rPr lang="zh-CN" altLang="en-US" dirty="0">
                <a:solidFill>
                  <a:srgbClr val="FF0000"/>
                </a:solidFill>
              </a:rPr>
              <a:t>的输出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3D3EBF9-6399-E21D-AC28-374A9A198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294" y="1706346"/>
            <a:ext cx="11037372" cy="4715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982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 </a:t>
            </a:r>
            <a:r>
              <a:rPr lang="zh-CN" altLang="en-US" dirty="0"/>
              <a:t>实现</a:t>
            </a:r>
            <a:r>
              <a:rPr lang="en-US" altLang="zh-CN" dirty="0"/>
              <a:t>----ALU</a:t>
            </a:r>
            <a:r>
              <a:rPr lang="zh-CN" altLang="en-US" dirty="0"/>
              <a:t>模块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4D59301-475D-410F-922C-442503B89EA7}"/>
              </a:ext>
            </a:extLst>
          </p:cNvPr>
          <p:cNvSpPr txBox="1"/>
          <p:nvPr/>
        </p:nvSpPr>
        <p:spPr>
          <a:xfrm>
            <a:off x="6042913" y="3081550"/>
            <a:ext cx="4462653" cy="1200329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00B050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sz="2400" dirty="0"/>
              <a:t>建议：</a:t>
            </a:r>
            <a:endParaRPr lang="en-US" altLang="zh-CN" sz="2400" dirty="0"/>
          </a:p>
          <a:p>
            <a:pPr indent="457200"/>
            <a:r>
              <a:rPr lang="en-US" altLang="zh-CN" sz="2400" b="0" dirty="0" err="1"/>
              <a:t>alu_op</a:t>
            </a:r>
            <a:r>
              <a:rPr lang="zh-CN" altLang="en-US" sz="2400" b="0" dirty="0"/>
              <a:t>信号的取值采用</a:t>
            </a:r>
            <a:r>
              <a:rPr lang="zh-CN" altLang="en-US" sz="2400" dirty="0">
                <a:solidFill>
                  <a:srgbClr val="FF0000"/>
                </a:solidFill>
              </a:rPr>
              <a:t>宏定义</a:t>
            </a:r>
            <a:r>
              <a:rPr lang="zh-CN" altLang="en-US" sz="2400" b="0" dirty="0"/>
              <a:t>，可读性更好。</a:t>
            </a:r>
            <a:endParaRPr lang="en-US" altLang="zh-CN" sz="2400" b="0" dirty="0"/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606973" y="2502491"/>
            <a:ext cx="4772891" cy="23584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rgbClr val="0070C0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module </a:t>
            </a:r>
            <a:r>
              <a:rPr lang="en-US" altLang="zh-CN" sz="1800" dirty="0" err="1">
                <a:solidFill>
                  <a:srgbClr val="0070C0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alu</a:t>
            </a:r>
            <a:r>
              <a:rPr lang="en-US" altLang="zh-CN" sz="1800" dirty="0">
                <a:solidFill>
                  <a:srgbClr val="0070C0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(</a:t>
            </a:r>
            <a:r>
              <a:rPr lang="en-US" altLang="zh-CN" sz="1800" dirty="0">
                <a:solidFill>
                  <a:srgbClr val="0070C0"/>
                </a:solidFill>
                <a:latin typeface="Courier New" panose="02070309020205020404" pitchFamily="49" charset="0"/>
              </a:rPr>
              <a:t>output [31:0] c   ,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rgbClr val="0070C0"/>
                </a:solidFill>
                <a:latin typeface="Courier New" panose="02070309020205020404" pitchFamily="49" charset="0"/>
              </a:rPr>
              <a:t>	    input  [31:0] a   ,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800" dirty="0">
                <a:solidFill>
                  <a:srgbClr val="0070C0"/>
                </a:solidFill>
                <a:latin typeface="Courier New" panose="02070309020205020404" pitchFamily="49" charset="0"/>
              </a:rPr>
              <a:t>	    input  [31:0] b   ,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rgbClr val="0070C0"/>
                </a:solidFill>
                <a:latin typeface="Courier New" panose="02070309020205020404" pitchFamily="49" charset="0"/>
              </a:rPr>
              <a:t>           input  [3:0] </a:t>
            </a:r>
            <a:r>
              <a:rPr lang="en-US" altLang="zh-CN" sz="1800" dirty="0" err="1">
                <a:solidFill>
                  <a:srgbClr val="0070C0"/>
                </a:solidFill>
                <a:latin typeface="Courier New" panose="02070309020205020404" pitchFamily="49" charset="0"/>
              </a:rPr>
              <a:t>aluop</a:t>
            </a:r>
            <a:r>
              <a:rPr lang="en-US" altLang="zh-CN" sz="1800" dirty="0">
                <a:solidFill>
                  <a:srgbClr val="0070C0"/>
                </a:solidFill>
                <a:latin typeface="Courier New" panose="02070309020205020404" pitchFamily="49" charset="0"/>
              </a:rPr>
              <a:t> );</a:t>
            </a:r>
            <a:endParaRPr lang="zh-CN" altLang="en-US" sz="1800" dirty="0">
              <a:solidFill>
                <a:srgbClr val="0070C0"/>
              </a:solidFill>
              <a:latin typeface="Courier New" panose="02070309020205020404" pitchFamily="49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zh-CN" sz="1800" dirty="0">
              <a:solidFill>
                <a:srgbClr val="0070C0"/>
              </a:solidFill>
              <a:latin typeface="Courier New" panose="02070309020205020404" pitchFamily="49" charset="0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15737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E65E17-E94A-44AF-9A65-6F6F3DC15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 ctrl</a:t>
            </a:r>
            <a:r>
              <a:rPr lang="zh-CN" altLang="en-US" dirty="0"/>
              <a:t>模块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ADA1873-A6EA-47B0-9760-62A4F8EF0459}"/>
              </a:ext>
            </a:extLst>
          </p:cNvPr>
          <p:cNvSpPr txBox="1">
            <a:spLocks/>
          </p:cNvSpPr>
          <p:nvPr/>
        </p:nvSpPr>
        <p:spPr>
          <a:xfrm>
            <a:off x="3402445" y="2153676"/>
            <a:ext cx="5387109" cy="28847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rgbClr val="0070C0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module ctrl( output </a:t>
            </a:r>
            <a:r>
              <a:rPr lang="en-US" altLang="zh-CN" sz="1800" dirty="0" err="1">
                <a:solidFill>
                  <a:srgbClr val="0070C0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reg_write</a:t>
            </a:r>
            <a:r>
              <a:rPr lang="en-US" altLang="zh-CN" sz="1800" dirty="0">
                <a:solidFill>
                  <a:srgbClr val="0070C0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  ,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rgbClr val="0070C0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             output[3:0] </a:t>
            </a:r>
            <a:r>
              <a:rPr lang="en-US" altLang="zh-CN" sz="1800" dirty="0" err="1">
                <a:solidFill>
                  <a:srgbClr val="FF0000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aluop</a:t>
            </a:r>
            <a:r>
              <a:rPr lang="en-US" altLang="zh-CN" sz="1800" dirty="0">
                <a:solidFill>
                  <a:srgbClr val="FF0000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 </a:t>
            </a:r>
            <a:r>
              <a:rPr lang="en-US" altLang="zh-CN" sz="1800" dirty="0">
                <a:solidFill>
                  <a:srgbClr val="0070C0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,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rgbClr val="0070C0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             input [5:0] </a:t>
            </a:r>
            <a:r>
              <a:rPr lang="en-US" altLang="zh-CN" sz="1800">
                <a:solidFill>
                  <a:srgbClr val="0070C0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op    ,</a:t>
            </a:r>
            <a:endParaRPr lang="en-US" altLang="zh-CN" sz="1800" dirty="0">
              <a:solidFill>
                <a:srgbClr val="0070C0"/>
              </a:solidFill>
              <a:latin typeface="Courier New" panose="02070309020205020404" pitchFamily="49" charset="0"/>
              <a:ea typeface="等线" panose="02010600030101010101" pitchFamily="2" charset="-122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rgbClr val="0070C0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             input [5:0] </a:t>
            </a:r>
            <a:r>
              <a:rPr lang="en-US" altLang="zh-CN" sz="1800" dirty="0" err="1">
                <a:solidFill>
                  <a:srgbClr val="0070C0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funct</a:t>
            </a:r>
            <a:r>
              <a:rPr lang="en-US" altLang="zh-CN" sz="1800" dirty="0">
                <a:solidFill>
                  <a:srgbClr val="0070C0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 );</a:t>
            </a:r>
            <a:endParaRPr lang="zh-CN" altLang="en-US" sz="1800" dirty="0">
              <a:solidFill>
                <a:srgbClr val="0070C0"/>
              </a:solidFill>
              <a:latin typeface="Courier New" panose="02070309020205020404" pitchFamily="49" charset="0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60162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273F3A-13C8-69CD-91E4-13C498E2E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568" y="141890"/>
            <a:ext cx="8596668" cy="1320800"/>
          </a:xfrm>
        </p:spPr>
        <p:txBody>
          <a:bodyPr/>
          <a:lstStyle/>
          <a:p>
            <a:r>
              <a:rPr lang="zh-CN" altLang="en-US" dirty="0"/>
              <a:t>增加</a:t>
            </a:r>
            <a:r>
              <a:rPr lang="en-US" altLang="zh-CN" dirty="0" err="1"/>
              <a:t>sll</a:t>
            </a:r>
            <a:r>
              <a:rPr lang="zh-CN" altLang="en-US" dirty="0"/>
              <a:t>指令</a:t>
            </a:r>
          </a:p>
        </p:txBody>
      </p:sp>
      <p:graphicFrame>
        <p:nvGraphicFramePr>
          <p:cNvPr id="4" name="表格 6">
            <a:extLst>
              <a:ext uri="{FF2B5EF4-FFF2-40B4-BE49-F238E27FC236}">
                <a16:creationId xmlns:a16="http://schemas.microsoft.com/office/drawing/2014/main" id="{0A226F6B-553C-37B2-52FD-63923F1957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166707"/>
              </p:ext>
            </p:extLst>
          </p:nvPr>
        </p:nvGraphicFramePr>
        <p:xfrm>
          <a:off x="661568" y="841157"/>
          <a:ext cx="10153649" cy="24037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341">
                  <a:extLst>
                    <a:ext uri="{9D8B030D-6E8A-4147-A177-3AD203B41FA5}">
                      <a16:colId xmlns:a16="http://schemas.microsoft.com/office/drawing/2014/main" val="2717078196"/>
                    </a:ext>
                  </a:extLst>
                </a:gridCol>
                <a:gridCol w="1377449">
                  <a:extLst>
                    <a:ext uri="{9D8B030D-6E8A-4147-A177-3AD203B41FA5}">
                      <a16:colId xmlns:a16="http://schemas.microsoft.com/office/drawing/2014/main" val="935924381"/>
                    </a:ext>
                  </a:extLst>
                </a:gridCol>
                <a:gridCol w="961005">
                  <a:extLst>
                    <a:ext uri="{9D8B030D-6E8A-4147-A177-3AD203B41FA5}">
                      <a16:colId xmlns:a16="http://schemas.microsoft.com/office/drawing/2014/main" val="1596634783"/>
                    </a:ext>
                  </a:extLst>
                </a:gridCol>
                <a:gridCol w="1126026">
                  <a:extLst>
                    <a:ext uri="{9D8B030D-6E8A-4147-A177-3AD203B41FA5}">
                      <a16:colId xmlns:a16="http://schemas.microsoft.com/office/drawing/2014/main" val="2896182007"/>
                    </a:ext>
                  </a:extLst>
                </a:gridCol>
                <a:gridCol w="1038662">
                  <a:extLst>
                    <a:ext uri="{9D8B030D-6E8A-4147-A177-3AD203B41FA5}">
                      <a16:colId xmlns:a16="http://schemas.microsoft.com/office/drawing/2014/main" val="2760008904"/>
                    </a:ext>
                  </a:extLst>
                </a:gridCol>
                <a:gridCol w="1349290">
                  <a:extLst>
                    <a:ext uri="{9D8B030D-6E8A-4147-A177-3AD203B41FA5}">
                      <a16:colId xmlns:a16="http://schemas.microsoft.com/office/drawing/2014/main" val="875946454"/>
                    </a:ext>
                  </a:extLst>
                </a:gridCol>
                <a:gridCol w="1329876">
                  <a:extLst>
                    <a:ext uri="{9D8B030D-6E8A-4147-A177-3AD203B41FA5}">
                      <a16:colId xmlns:a16="http://schemas.microsoft.com/office/drawing/2014/main" val="2962175388"/>
                    </a:ext>
                  </a:extLst>
                </a:gridCol>
              </a:tblGrid>
              <a:tr h="4368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 u="none" strike="noStrike" kern="1200" baseline="0" dirty="0">
                          <a:ln>
                            <a:noFill/>
                          </a:ln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  位段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31          26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25    21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20      16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15     11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10         6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5             0 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0753019"/>
                  </a:ext>
                </a:extLst>
              </a:tr>
              <a:tr h="50378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编码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op(6</a:t>
                      </a:r>
                      <a:r>
                        <a:rPr lang="zh-CN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位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rs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(5</a:t>
                      </a:r>
                      <a:r>
                        <a:rPr lang="zh-CN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位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rt(5</a:t>
                      </a:r>
                      <a:r>
                        <a:rPr lang="zh-CN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位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rd(5</a:t>
                      </a:r>
                      <a:r>
                        <a:rPr lang="zh-CN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位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shamt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(5</a:t>
                      </a:r>
                      <a:r>
                        <a:rPr lang="zh-CN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位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funct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(6</a:t>
                      </a:r>
                      <a:r>
                        <a:rPr lang="zh-CN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位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2705389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addu rd, </a:t>
                      </a:r>
                      <a:r>
                        <a:rPr lang="en-US" altLang="zh-CN" sz="1800" b="0" i="0" u="none" strike="noStrike" kern="1200" baseline="0" dirty="0" err="1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rs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, rt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000000	</a:t>
                      </a:r>
                      <a:endParaRPr lang="zh-CN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rs</a:t>
                      </a:r>
                      <a:endParaRPr lang="zh-CN" alt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rt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rd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0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00000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0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100001 	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7420418"/>
                  </a:ext>
                </a:extLst>
              </a:tr>
              <a:tr h="1587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GPR[rd]</a:t>
                      </a:r>
                      <a:r>
                        <a:rPr lang="zh-CN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←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GPR[</a:t>
                      </a:r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rs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en-US" altLang="zh-CN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GPR[rt]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398923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 err="1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sll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800" b="0" i="0" u="none" strike="noStrike" kern="1200" baseline="0" dirty="0" err="1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rd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, rt, s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000000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rt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rd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000000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737972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GPR[</a:t>
                      </a:r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rd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zh-CN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←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GPR[rt] </a:t>
                      </a:r>
                      <a:r>
                        <a:rPr lang="en-US" altLang="zh-CN" sz="1800" b="1" i="0" u="none" strike="noStrike" kern="1200" baseline="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&lt;&lt;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s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2714450"/>
                  </a:ext>
                </a:extLst>
              </a:tr>
            </a:tbl>
          </a:graphicData>
        </a:graphic>
      </p:graphicFrame>
      <p:sp>
        <p:nvSpPr>
          <p:cNvPr id="5" name="内容占位符 2">
            <a:extLst>
              <a:ext uri="{FF2B5EF4-FFF2-40B4-BE49-F238E27FC236}">
                <a16:creationId xmlns:a16="http://schemas.microsoft.com/office/drawing/2014/main" id="{BCE3DF9C-05D8-6069-A7EB-D9A20EEB39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568" y="3382689"/>
            <a:ext cx="10515600" cy="2876221"/>
          </a:xfrm>
        </p:spPr>
        <p:txBody>
          <a:bodyPr>
            <a:normAutofit/>
          </a:bodyPr>
          <a:lstStyle/>
          <a:p>
            <a:pPr>
              <a:lnSpc>
                <a:spcPts val="3360"/>
              </a:lnSpc>
            </a:pPr>
            <a:r>
              <a:rPr lang="zh-CN" altLang="en-US" sz="2800" b="1" dirty="0"/>
              <a:t>指令格式</a:t>
            </a:r>
            <a:r>
              <a:rPr lang="zh-CN" altLang="en-US" sz="2800" dirty="0"/>
              <a:t>：指令格式相同，</a:t>
            </a:r>
            <a:r>
              <a:rPr lang="zh-CN" altLang="en-US" sz="2800" dirty="0">
                <a:solidFill>
                  <a:srgbClr val="FF0000"/>
                </a:solidFill>
              </a:rPr>
              <a:t>不同</a:t>
            </a:r>
            <a:r>
              <a:rPr lang="zh-CN" altLang="en-US" sz="2800" dirty="0"/>
              <a:t>的</a:t>
            </a:r>
            <a:r>
              <a:rPr lang="en-US" altLang="zh-CN" sz="2800" dirty="0" err="1"/>
              <a:t>funct</a:t>
            </a:r>
            <a:r>
              <a:rPr lang="zh-CN" altLang="en-US" sz="2800" dirty="0"/>
              <a:t>字段决定运算类型；</a:t>
            </a:r>
            <a:endParaRPr lang="en-US" altLang="zh-CN" sz="2800" dirty="0"/>
          </a:p>
          <a:p>
            <a:pPr>
              <a:lnSpc>
                <a:spcPts val="3360"/>
              </a:lnSpc>
            </a:pPr>
            <a:r>
              <a:rPr lang="zh-CN" altLang="en-US" sz="2800" b="1" dirty="0"/>
              <a:t>指令功能</a:t>
            </a:r>
            <a:r>
              <a:rPr lang="zh-CN" altLang="en-US" sz="2800" dirty="0"/>
              <a:t>：指令执行流程略不相同：</a:t>
            </a:r>
            <a:endParaRPr lang="en-US" altLang="zh-CN" sz="2800" dirty="0"/>
          </a:p>
          <a:p>
            <a:pPr marL="0" indent="0">
              <a:lnSpc>
                <a:spcPts val="3360"/>
              </a:lnSpc>
              <a:buNone/>
            </a:pPr>
            <a:r>
              <a:rPr lang="en-US" altLang="zh-CN" sz="2800" dirty="0"/>
              <a:t>        </a:t>
            </a:r>
            <a:r>
              <a:rPr lang="zh-CN" altLang="en-US" sz="2400" dirty="0">
                <a:latin typeface="华文隶书" panose="02010800040101010101" pitchFamily="2" charset="-122"/>
                <a:ea typeface="华文隶书" panose="02010800040101010101" pitchFamily="2" charset="-122"/>
              </a:rPr>
              <a:t>取指→</a:t>
            </a:r>
            <a:r>
              <a:rPr lang="zh-CN" altLang="en-US" sz="2400" dirty="0">
                <a:solidFill>
                  <a:schemeClr val="tx1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读源操作数（寄存器和</a:t>
            </a:r>
            <a:r>
              <a:rPr lang="en-US" altLang="zh-CN" sz="2400" dirty="0" err="1">
                <a:solidFill>
                  <a:srgbClr val="FF0000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shamt</a:t>
            </a:r>
            <a:r>
              <a:rPr lang="zh-CN" altLang="en-US" sz="2400" dirty="0">
                <a:solidFill>
                  <a:srgbClr val="FF0000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字段</a:t>
            </a:r>
            <a:r>
              <a:rPr lang="zh-CN" altLang="en-US" sz="2400" dirty="0">
                <a:solidFill>
                  <a:schemeClr val="tx1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）</a:t>
            </a:r>
            <a:r>
              <a:rPr lang="zh-CN" altLang="en-US" sz="2400" dirty="0">
                <a:latin typeface="华文隶书" panose="02010800040101010101" pitchFamily="2" charset="-122"/>
                <a:ea typeface="华文隶书" panose="02010800040101010101" pitchFamily="2" charset="-122"/>
              </a:rPr>
              <a:t>→</a:t>
            </a:r>
            <a:r>
              <a:rPr lang="zh-CN" altLang="en-US" sz="2400" dirty="0">
                <a:solidFill>
                  <a:srgbClr val="FF0000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运算</a:t>
            </a:r>
            <a:r>
              <a:rPr lang="zh-CN" altLang="en-US" sz="2400" dirty="0">
                <a:latin typeface="华文隶书" panose="02010800040101010101" pitchFamily="2" charset="-122"/>
                <a:ea typeface="华文隶书" panose="02010800040101010101" pitchFamily="2" charset="-122"/>
              </a:rPr>
              <a:t>→写回寄存器</a:t>
            </a:r>
            <a:endParaRPr lang="en-US" altLang="zh-CN" sz="2400" dirty="0">
              <a:latin typeface="华文隶书" panose="02010800040101010101" pitchFamily="2" charset="-122"/>
              <a:ea typeface="华文隶书" panose="02010800040101010101" pitchFamily="2" charset="-122"/>
            </a:endParaRPr>
          </a:p>
          <a:p>
            <a:pPr>
              <a:lnSpc>
                <a:spcPts val="3360"/>
              </a:lnSpc>
            </a:pPr>
            <a:r>
              <a:rPr lang="zh-CN" altLang="en-US" sz="2800" b="1" dirty="0"/>
              <a:t>复用</a:t>
            </a:r>
            <a:r>
              <a:rPr lang="zh-CN" altLang="en-US" sz="2800" dirty="0"/>
              <a:t>：取指，读寄存器，写回寄存器。</a:t>
            </a:r>
            <a:endParaRPr lang="en-US" altLang="zh-CN" sz="2800" dirty="0"/>
          </a:p>
          <a:p>
            <a:pPr>
              <a:lnSpc>
                <a:spcPts val="3360"/>
              </a:lnSpc>
            </a:pPr>
            <a:r>
              <a:rPr lang="zh-CN" altLang="en-US" sz="2800" b="1" dirty="0">
                <a:solidFill>
                  <a:srgbClr val="FF0000"/>
                </a:solidFill>
              </a:rPr>
              <a:t>增加</a:t>
            </a:r>
            <a:r>
              <a:rPr lang="zh-CN" altLang="en-US" sz="2800" dirty="0"/>
              <a:t>：</a:t>
            </a:r>
            <a:r>
              <a:rPr lang="en-US" altLang="zh-CN" sz="2800" dirty="0"/>
              <a:t>ALU</a:t>
            </a:r>
            <a:r>
              <a:rPr lang="zh-CN" altLang="en-US" sz="2800" dirty="0"/>
              <a:t>输入</a:t>
            </a:r>
            <a:r>
              <a:rPr lang="en-US" altLang="zh-CN" sz="2800" dirty="0"/>
              <a:t>2</a:t>
            </a:r>
            <a:r>
              <a:rPr lang="zh-CN" altLang="en-US" sz="2800" dirty="0"/>
              <a:t>增加</a:t>
            </a:r>
            <a:r>
              <a:rPr lang="en-US" altLang="zh-CN" sz="2800" dirty="0" err="1"/>
              <a:t>shamt</a:t>
            </a:r>
            <a:r>
              <a:rPr lang="zh-CN" altLang="en-US" sz="2800" dirty="0"/>
              <a:t>字段</a:t>
            </a:r>
            <a:r>
              <a:rPr lang="en-US" altLang="zh-CN" sz="2800" dirty="0"/>
              <a:t>;</a:t>
            </a:r>
            <a:r>
              <a:rPr lang="zh-CN" altLang="en-US" sz="2800" dirty="0"/>
              <a:t>运算部件需要增加</a:t>
            </a:r>
            <a:r>
              <a:rPr lang="en-US" altLang="zh-CN" sz="2800" dirty="0"/>
              <a:t>&lt;&lt;</a:t>
            </a:r>
            <a:r>
              <a:rPr lang="zh-CN" altLang="en-US" sz="2800" dirty="0"/>
              <a:t>功能。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3182570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811088-5CB9-417C-9765-2515345EF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453"/>
            <a:ext cx="10515600" cy="949325"/>
          </a:xfrm>
        </p:spPr>
        <p:txBody>
          <a:bodyPr/>
          <a:lstStyle/>
          <a:p>
            <a:r>
              <a:rPr lang="en-US" altLang="zh-CN" b="1" dirty="0">
                <a:latin typeface="SimSun" panose="02010600030101010101" pitchFamily="2" charset="-122"/>
                <a:ea typeface="SimSun" panose="02010600030101010101" pitchFamily="2" charset="-122"/>
              </a:rPr>
              <a:t>※</a:t>
            </a:r>
            <a:r>
              <a:rPr lang="zh-CN" altLang="en-US" b="1" dirty="0"/>
              <a:t>多路选择器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348175-C8A6-45A0-A85B-CF513506AB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6400"/>
            <a:ext cx="10515600" cy="501072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/>
              <a:t>当一个端口有多个输入源时，需要在其前面增加多路选择器。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多路选择器根据控制信号确定具体情况时端口接哪个输入。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25150747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08C998-6ECB-29CC-D33D-DC60CF678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845" y="283779"/>
            <a:ext cx="8596668" cy="1320800"/>
          </a:xfrm>
        </p:spPr>
        <p:txBody>
          <a:bodyPr/>
          <a:lstStyle/>
          <a:p>
            <a:r>
              <a:rPr lang="zh-CN" altLang="en-US" dirty="0"/>
              <a:t>数据通路图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ED98236-D8B1-3A17-C53F-E54FE3681E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657" y="1500452"/>
            <a:ext cx="11406686" cy="4873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933104"/>
      </p:ext>
    </p:extLst>
  </p:cSld>
  <p:clrMapOvr>
    <a:masterClrMapping/>
  </p:clrMapOvr>
</p:sld>
</file>

<file path=ppt/theme/theme1.xml><?xml version="1.0" encoding="utf-8"?>
<a:theme xmlns:a="http://schemas.openxmlformats.org/drawingml/2006/main" name="平面">
  <a:themeElements>
    <a:clrScheme name="平面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平面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平面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25065</TotalTime>
  <Words>753</Words>
  <Application>Microsoft Office PowerPoint</Application>
  <PresentationFormat>宽屏</PresentationFormat>
  <Paragraphs>140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方正舒体</vt:lpstr>
      <vt:lpstr>华文隶书</vt:lpstr>
      <vt:lpstr>宋体</vt:lpstr>
      <vt:lpstr>宋体</vt:lpstr>
      <vt:lpstr>Arial</vt:lpstr>
      <vt:lpstr>Courier New</vt:lpstr>
      <vt:lpstr>Trebuchet MS</vt:lpstr>
      <vt:lpstr>Wingdings 3</vt:lpstr>
      <vt:lpstr>平面</vt:lpstr>
      <vt:lpstr> 增加实现R型指令</vt:lpstr>
      <vt:lpstr>实验过程</vt:lpstr>
      <vt:lpstr>1. 指令格式</vt:lpstr>
      <vt:lpstr>和已经实现的addu指令比较(sll指令除外)</vt:lpstr>
      <vt:lpstr>2. 数据通路</vt:lpstr>
      <vt:lpstr>3. 实现----ALU模块</vt:lpstr>
      <vt:lpstr>4. ctrl模块</vt:lpstr>
      <vt:lpstr>增加sll指令</vt:lpstr>
      <vt:lpstr>※多路选择器</vt:lpstr>
      <vt:lpstr>数据通路图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guo yan</dc:creator>
  <cp:lastModifiedBy>yan guo</cp:lastModifiedBy>
  <cp:revision>384</cp:revision>
  <dcterms:created xsi:type="dcterms:W3CDTF">2020-03-13T01:07:41Z</dcterms:created>
  <dcterms:modified xsi:type="dcterms:W3CDTF">2026-05-11T09:58:13Z</dcterms:modified>
</cp:coreProperties>
</file>