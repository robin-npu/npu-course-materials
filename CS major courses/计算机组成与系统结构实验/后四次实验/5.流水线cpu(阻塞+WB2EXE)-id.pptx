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43" r:id="rId3"/>
    <p:sldId id="342" r:id="rId4"/>
    <p:sldId id="347" r:id="rId5"/>
    <p:sldId id="350" r:id="rId6"/>
    <p:sldId id="348" r:id="rId7"/>
    <p:sldId id="31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3D30E8"/>
    <a:srgbClr val="0000FF"/>
    <a:srgbClr val="2618DE"/>
    <a:srgbClr val="1B119F"/>
    <a:srgbClr val="461A9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3" autoAdjust="0"/>
  </p:normalViewPr>
  <p:slideViewPr>
    <p:cSldViewPr snapToGrid="0">
      <p:cViewPr varScale="1">
        <p:scale>
          <a:sx n="85" d="100"/>
          <a:sy n="85" d="100"/>
        </p:scale>
        <p:origin x="3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321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85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9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86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32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12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32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493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31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36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9343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76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4755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16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71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54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9781" y="2662894"/>
            <a:ext cx="7786005" cy="144240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数据冒险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阻塞</a:t>
            </a:r>
            <a:r>
              <a:rPr lang="en-US" altLang="zh-CN" dirty="0"/>
              <a:t>+WB2EXE)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标题 1">
            <a:extLst>
              <a:ext uri="{FF2B5EF4-FFF2-40B4-BE49-F238E27FC236}">
                <a16:creationId xmlns:a16="http://schemas.microsoft.com/office/drawing/2014/main" id="{69595E22-1735-47DE-AE11-C26053B6D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70" y="87283"/>
            <a:ext cx="10515600" cy="1023097"/>
          </a:xfrm>
        </p:spPr>
        <p:txBody>
          <a:bodyPr/>
          <a:lstStyle/>
          <a:p>
            <a:r>
              <a:rPr lang="zh-CN" altLang="en-US" dirty="0"/>
              <a:t>多周期流水线图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34" y="1181957"/>
            <a:ext cx="10521575" cy="551440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933758" y="2096655"/>
            <a:ext cx="1025236" cy="9790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933758" y="3306618"/>
            <a:ext cx="1025236" cy="951346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5139294" y="4309516"/>
            <a:ext cx="5620756" cy="1154076"/>
            <a:chOff x="6085573" y="5609007"/>
            <a:chExt cx="5620756" cy="1154076"/>
          </a:xfrm>
        </p:grpSpPr>
        <p:sp>
          <p:nvSpPr>
            <p:cNvPr id="43" name="矩形 42"/>
            <p:cNvSpPr/>
            <p:nvPr/>
          </p:nvSpPr>
          <p:spPr>
            <a:xfrm>
              <a:off x="6085573" y="5609007"/>
              <a:ext cx="5620756" cy="11540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5573" y="5743267"/>
              <a:ext cx="5477392" cy="985961"/>
            </a:xfrm>
            <a:prstGeom prst="rect">
              <a:avLst/>
            </a:prstGeom>
          </p:spPr>
        </p:pic>
      </p:grpSp>
      <p:grpSp>
        <p:nvGrpSpPr>
          <p:cNvPr id="45" name="组合 44"/>
          <p:cNvGrpSpPr/>
          <p:nvPr/>
        </p:nvGrpSpPr>
        <p:grpSpPr>
          <a:xfrm>
            <a:off x="4852006" y="3167194"/>
            <a:ext cx="4511555" cy="1137158"/>
            <a:chOff x="6881456" y="4323841"/>
            <a:chExt cx="4511555" cy="1137158"/>
          </a:xfrm>
        </p:grpSpPr>
        <p:sp>
          <p:nvSpPr>
            <p:cNvPr id="46" name="矩形 45"/>
            <p:cNvSpPr/>
            <p:nvPr/>
          </p:nvSpPr>
          <p:spPr>
            <a:xfrm>
              <a:off x="6914145" y="4323841"/>
              <a:ext cx="4478866" cy="11371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1456" y="4461629"/>
              <a:ext cx="4438443" cy="984467"/>
            </a:xfrm>
            <a:prstGeom prst="rect">
              <a:avLst/>
            </a:prstGeom>
          </p:spPr>
        </p:pic>
      </p:grpSp>
      <p:sp>
        <p:nvSpPr>
          <p:cNvPr id="44" name="矩形 43"/>
          <p:cNvSpPr/>
          <p:nvPr/>
        </p:nvSpPr>
        <p:spPr>
          <a:xfrm>
            <a:off x="6082548" y="3298895"/>
            <a:ext cx="1025236" cy="951346"/>
          </a:xfrm>
          <a:prstGeom prst="rect">
            <a:avLst/>
          </a:prstGeom>
          <a:noFill/>
          <a:ln w="28575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4996410" y="5571044"/>
            <a:ext cx="6814556" cy="1154076"/>
            <a:chOff x="4949963" y="5609007"/>
            <a:chExt cx="6756366" cy="1154076"/>
          </a:xfrm>
        </p:grpSpPr>
        <p:sp>
          <p:nvSpPr>
            <p:cNvPr id="49" name="矩形 48"/>
            <p:cNvSpPr/>
            <p:nvPr/>
          </p:nvSpPr>
          <p:spPr>
            <a:xfrm>
              <a:off x="4949963" y="5609007"/>
              <a:ext cx="6756366" cy="11540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57255" y="5693064"/>
              <a:ext cx="5477392" cy="985961"/>
            </a:xfrm>
            <a:prstGeom prst="rect">
              <a:avLst/>
            </a:prstGeom>
          </p:spPr>
        </p:pic>
      </p:grpSp>
      <p:cxnSp>
        <p:nvCxnSpPr>
          <p:cNvPr id="54" name="直接箭头连接符 53"/>
          <p:cNvCxnSpPr/>
          <p:nvPr/>
        </p:nvCxnSpPr>
        <p:spPr>
          <a:xfrm>
            <a:off x="6082548" y="2815167"/>
            <a:ext cx="309785" cy="850900"/>
          </a:xfrm>
          <a:prstGeom prst="straightConnector1">
            <a:avLst/>
          </a:prstGeom>
          <a:ln w="127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6082548" y="2810933"/>
            <a:ext cx="179344" cy="1147234"/>
          </a:xfrm>
          <a:prstGeom prst="straightConnector1">
            <a:avLst/>
          </a:prstGeom>
          <a:ln w="127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3503100" y="3207370"/>
            <a:ext cx="2453533" cy="117195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3503099" y="4433447"/>
            <a:ext cx="2453533" cy="117195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23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7" grpId="1" animBg="1"/>
      <p:bldP spid="44" grpId="0" animBg="1"/>
      <p:bldP spid="2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3601" y="1647942"/>
            <a:ext cx="10761134" cy="359682"/>
            <a:chOff x="1227667" y="1388684"/>
            <a:chExt cx="10414000" cy="35968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1227667" y="1557867"/>
              <a:ext cx="10414000" cy="42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1227667" y="1397000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3101804" y="1411585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22491" y="1388684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9801668" y="1411585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587772" y="1393669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1641667" y="1452033"/>
              <a:ext cx="0" cy="296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5362943" y="1461575"/>
            <a:ext cx="145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lw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$5</a:t>
            </a:r>
            <a:r>
              <a:rPr lang="en-US" altLang="zh-CN" dirty="0"/>
              <a:t>, 8($6)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129770" y="1468261"/>
            <a:ext cx="171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sub  $8, $9, </a:t>
            </a:r>
            <a:r>
              <a:rPr lang="en-US" altLang="zh-CN" dirty="0">
                <a:solidFill>
                  <a:srgbClr val="FF0000"/>
                </a:solidFill>
              </a:rPr>
              <a:t>$5</a:t>
            </a:r>
            <a:r>
              <a:rPr lang="zh-CN" altLang="en-US" dirty="0"/>
              <a:t>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04271" y="1437415"/>
            <a:ext cx="192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ori</a:t>
            </a:r>
            <a:r>
              <a:rPr lang="en-US" altLang="zh-CN" dirty="0"/>
              <a:t> $1, $15, 0x78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343715" y="5553353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CLOCK3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1343715" y="5553353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CLOCK4</a:t>
            </a:r>
            <a:endParaRPr lang="zh-CN" altLang="en-US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801540" y="1526625"/>
            <a:ext cx="145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lw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$5</a:t>
            </a:r>
            <a:r>
              <a:rPr lang="en-US" altLang="zh-CN" dirty="0"/>
              <a:t>, 8($6)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844799" y="1486177"/>
            <a:ext cx="166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071191" y="1461575"/>
            <a:ext cx="191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ori</a:t>
            </a:r>
            <a:r>
              <a:rPr lang="en-US" altLang="zh-CN" dirty="0"/>
              <a:t> $1, $15, 0x78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1343715" y="5516145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CLOCK5</a:t>
            </a:r>
            <a:endParaRPr lang="zh-CN" altLang="en-US" b="1" dirty="0"/>
          </a:p>
        </p:txBody>
      </p:sp>
      <p:sp>
        <p:nvSpPr>
          <p:cNvPr id="24" name="文本框 23"/>
          <p:cNvSpPr txBox="1"/>
          <p:nvPr/>
        </p:nvSpPr>
        <p:spPr>
          <a:xfrm>
            <a:off x="10151536" y="1526625"/>
            <a:ext cx="145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lw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$5</a:t>
            </a:r>
            <a:r>
              <a:rPr lang="en-US" altLang="zh-CN" dirty="0"/>
              <a:t>, 8($6)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362943" y="1421556"/>
            <a:ext cx="166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5416820" y="1450107"/>
            <a:ext cx="175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sub  $8, $9, </a:t>
            </a:r>
            <a:r>
              <a:rPr lang="en-US" altLang="zh-CN" dirty="0">
                <a:solidFill>
                  <a:srgbClr val="FF0000"/>
                </a:solidFill>
              </a:rPr>
              <a:t>$5</a:t>
            </a:r>
            <a:r>
              <a:rPr lang="zh-CN" altLang="en-US" dirty="0"/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0" y="2583610"/>
            <a:ext cx="10671655" cy="1920957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71060" y="1462372"/>
            <a:ext cx="179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sw</a:t>
            </a:r>
            <a:r>
              <a:rPr lang="en-US" altLang="zh-CN" dirty="0"/>
              <a:t> 4($0), $7</a:t>
            </a:r>
            <a:endParaRPr lang="zh-CN" altLang="en-US" dirty="0"/>
          </a:p>
        </p:txBody>
      </p:sp>
      <p:grpSp>
        <p:nvGrpSpPr>
          <p:cNvPr id="34" name="组合 33"/>
          <p:cNvGrpSpPr/>
          <p:nvPr/>
        </p:nvGrpSpPr>
        <p:grpSpPr>
          <a:xfrm>
            <a:off x="5465233" y="3263899"/>
            <a:ext cx="4733359" cy="1502833"/>
            <a:chOff x="5422883" y="3603992"/>
            <a:chExt cx="4135983" cy="1272808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9321800" y="4166936"/>
              <a:ext cx="237066" cy="0"/>
            </a:xfrm>
            <a:prstGeom prst="line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5664201" y="4876800"/>
              <a:ext cx="3894665" cy="0"/>
            </a:xfrm>
            <a:prstGeom prst="line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5672667" y="4073676"/>
              <a:ext cx="0" cy="803124"/>
            </a:xfrm>
            <a:prstGeom prst="line">
              <a:avLst/>
            </a:prstGeom>
            <a:ln w="28575">
              <a:solidFill>
                <a:srgbClr val="FF33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5422883" y="3603992"/>
              <a:ext cx="7398" cy="1272808"/>
            </a:xfrm>
            <a:prstGeom prst="line">
              <a:avLst/>
            </a:prstGeom>
            <a:ln w="28575">
              <a:solidFill>
                <a:srgbClr val="FF33CC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5422883" y="4876800"/>
              <a:ext cx="249784" cy="0"/>
            </a:xfrm>
            <a:prstGeom prst="line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9558866" y="4166936"/>
              <a:ext cx="0" cy="709864"/>
            </a:xfrm>
            <a:prstGeom prst="line">
              <a:avLst/>
            </a:prstGeom>
            <a:ln w="28575">
              <a:solidFill>
                <a:srgbClr val="FF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框 42"/>
          <p:cNvSpPr txBox="1"/>
          <p:nvPr/>
        </p:nvSpPr>
        <p:spPr>
          <a:xfrm>
            <a:off x="10139714" y="1526625"/>
            <a:ext cx="166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nop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7698840" y="1541306"/>
            <a:ext cx="1711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sub  $8, $9, </a:t>
            </a:r>
            <a:r>
              <a:rPr lang="en-US" altLang="zh-CN" dirty="0">
                <a:solidFill>
                  <a:srgbClr val="FF0000"/>
                </a:solidFill>
              </a:rPr>
              <a:t>$5</a:t>
            </a:r>
            <a:r>
              <a:rPr lang="zh-CN" altLang="en-US" dirty="0"/>
              <a:t> 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5254201" y="1438639"/>
            <a:ext cx="19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ori</a:t>
            </a:r>
            <a:r>
              <a:rPr lang="en-US" altLang="zh-CN" dirty="0"/>
              <a:t> $1, $15, 0x78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3185073" y="1474947"/>
            <a:ext cx="179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sw</a:t>
            </a:r>
            <a:r>
              <a:rPr lang="en-US" altLang="zh-CN" dirty="0"/>
              <a:t> 4($0), $7</a:t>
            </a:r>
            <a:endParaRPr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879981" y="1413617"/>
            <a:ext cx="179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1343715" y="5516145"/>
            <a:ext cx="1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CLOCK6</a:t>
            </a:r>
            <a:endParaRPr lang="zh-CN" altLang="en-US" b="1" dirty="0"/>
          </a:p>
        </p:txBody>
      </p:sp>
      <p:sp>
        <p:nvSpPr>
          <p:cNvPr id="42" name="标题 1">
            <a:extLst>
              <a:ext uri="{FF2B5EF4-FFF2-40B4-BE49-F238E27FC236}">
                <a16:creationId xmlns:a16="http://schemas.microsoft.com/office/drawing/2014/main" id="{69595E22-1735-47DE-AE11-C26053B6D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70" y="87283"/>
            <a:ext cx="10515600" cy="1023097"/>
          </a:xfrm>
        </p:spPr>
        <p:txBody>
          <a:bodyPr/>
          <a:lstStyle/>
          <a:p>
            <a:r>
              <a:rPr lang="zh-CN" altLang="en-US" dirty="0"/>
              <a:t>单周期流水线图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5198253" y="1192696"/>
            <a:ext cx="2237457" cy="1143000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73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8" grpId="0"/>
      <p:bldP spid="28" grpId="1"/>
      <p:bldP spid="26" grpId="0"/>
      <p:bldP spid="26" grpId="1"/>
      <p:bldP spid="43" grpId="0"/>
      <p:bldP spid="44" grpId="0"/>
      <p:bldP spid="45" grpId="0"/>
      <p:bldP spid="46" grpId="0"/>
      <p:bldP spid="47" grpId="0"/>
      <p:bldP spid="41" grpId="0"/>
      <p:bldP spid="2" grpId="0" animBg="1"/>
      <p:bldP spid="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76425"/>
            <a:ext cx="10515600" cy="2797175"/>
          </a:xfrm>
        </p:spPr>
        <p:txBody>
          <a:bodyPr>
            <a:normAutofit/>
          </a:bodyPr>
          <a:lstStyle/>
          <a:p>
            <a:pPr marL="514350" indent="-514350">
              <a:lnSpc>
                <a:spcPts val="4000"/>
              </a:lnSpc>
              <a:buAutoNum type="arabicPeriod"/>
            </a:pPr>
            <a:r>
              <a:rPr lang="zh-CN" altLang="en-US" sz="2800" dirty="0"/>
              <a:t>使有数据的指令在</a:t>
            </a:r>
            <a:r>
              <a:rPr lang="en-US" altLang="zh-CN" sz="2800" dirty="0"/>
              <a:t>ID</a:t>
            </a:r>
            <a:r>
              <a:rPr lang="zh-CN" altLang="en-US" sz="2800" dirty="0"/>
              <a:t>级</a:t>
            </a:r>
            <a:r>
              <a:rPr lang="zh-CN" altLang="en-US" sz="2800" b="1" dirty="0">
                <a:solidFill>
                  <a:srgbClr val="FF0000"/>
                </a:solidFill>
              </a:rPr>
              <a:t>等待一个周期</a:t>
            </a:r>
            <a:r>
              <a:rPr lang="en-US" altLang="zh-CN" sz="2800" dirty="0"/>
              <a:t>;</a:t>
            </a:r>
          </a:p>
          <a:p>
            <a:pPr marL="514350" indent="-514350">
              <a:lnSpc>
                <a:spcPts val="4000"/>
              </a:lnSpc>
              <a:buAutoNum type="arabicPeriod"/>
            </a:pPr>
            <a:r>
              <a:rPr lang="zh-CN" altLang="en-US" sz="2800" dirty="0"/>
              <a:t>通过</a:t>
            </a:r>
            <a:r>
              <a:rPr lang="en-US" altLang="zh-CN" sz="2800" dirty="0"/>
              <a:t>WB</a:t>
            </a:r>
            <a:r>
              <a:rPr lang="zh-CN" altLang="en-US" sz="2800" dirty="0"/>
              <a:t>级到</a:t>
            </a:r>
            <a:r>
              <a:rPr lang="en-US" altLang="zh-CN" sz="2800" dirty="0"/>
              <a:t>EXE</a:t>
            </a:r>
            <a:r>
              <a:rPr lang="zh-CN" altLang="en-US" sz="2800" dirty="0"/>
              <a:t>级的</a:t>
            </a:r>
            <a:r>
              <a:rPr lang="zh-CN" altLang="en-US" sz="2800" b="1" dirty="0">
                <a:solidFill>
                  <a:srgbClr val="FF0000"/>
                </a:solidFill>
              </a:rPr>
              <a:t>旁路</a:t>
            </a:r>
            <a:r>
              <a:rPr lang="zh-CN" altLang="en-US" sz="2800" dirty="0"/>
              <a:t>获得寄存器的最新值。（已经实现）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78351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02062-FD83-8323-47B5-E16FAA0D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841B8-42AA-C066-2E15-B3E6A3BC9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647"/>
            <a:ext cx="10515600" cy="1085988"/>
          </a:xfrm>
        </p:spPr>
        <p:txBody>
          <a:bodyPr/>
          <a:lstStyle/>
          <a:p>
            <a:r>
              <a:rPr lang="zh-CN" altLang="en-US" dirty="0"/>
              <a:t>阻塞的方法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C5D15-43CB-3EC2-8900-B79FDBD5E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02634"/>
            <a:ext cx="10718021" cy="520938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altLang="zh-CN" sz="2800" b="1" dirty="0"/>
              <a:t>ID</a:t>
            </a:r>
            <a:r>
              <a:rPr lang="zh-CN" altLang="en-US" sz="2800" b="1" dirty="0"/>
              <a:t>级指令保持不变 </a:t>
            </a:r>
            <a:endParaRPr lang="en-US" altLang="zh-CN" sz="2800" b="1" dirty="0"/>
          </a:p>
          <a:p>
            <a:pPr marL="0" indent="0">
              <a:lnSpc>
                <a:spcPct val="100000"/>
              </a:lnSpc>
              <a:spcAft>
                <a:spcPts val="1800"/>
              </a:spcAft>
              <a:buNone/>
            </a:pPr>
            <a:endParaRPr lang="en-US" altLang="zh-CN" sz="2800" b="1" dirty="0"/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 altLang="zh-CN" sz="2800" b="1" dirty="0"/>
              <a:t>IF</a:t>
            </a:r>
            <a:r>
              <a:rPr lang="zh-CN" altLang="en-US" sz="2800" b="1" dirty="0"/>
              <a:t>级指令保持不变</a:t>
            </a:r>
            <a:endParaRPr lang="en-US" altLang="zh-CN" sz="2800" dirty="0"/>
          </a:p>
          <a:p>
            <a:pPr marL="0" indent="0">
              <a:lnSpc>
                <a:spcPct val="110000"/>
              </a:lnSpc>
              <a:spcAft>
                <a:spcPts val="1800"/>
              </a:spcAft>
              <a:buNone/>
            </a:pPr>
            <a:endParaRPr lang="en-US" altLang="zh-CN" sz="2800" b="1" dirty="0"/>
          </a:p>
          <a:p>
            <a:pPr>
              <a:lnSpc>
                <a:spcPct val="110000"/>
              </a:lnSpc>
              <a:spcAft>
                <a:spcPts val="1800"/>
              </a:spcAft>
            </a:pPr>
            <a:r>
              <a:rPr lang="en-US" altLang="zh-CN" sz="2800" b="1" dirty="0"/>
              <a:t>EXE</a:t>
            </a:r>
            <a:r>
              <a:rPr lang="zh-CN" altLang="en-US" sz="2800" b="1" dirty="0"/>
              <a:t>级执行空操作指令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8FDC5F-0B2F-D90F-A331-220E1700910E}"/>
              </a:ext>
            </a:extLst>
          </p:cNvPr>
          <p:cNvSpPr txBox="1"/>
          <p:nvPr/>
        </p:nvSpPr>
        <p:spPr>
          <a:xfrm>
            <a:off x="4016744" y="1202635"/>
            <a:ext cx="5278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← </a:t>
            </a:r>
            <a:r>
              <a:rPr lang="en-US" altLang="zh-CN" sz="2800" dirty="0"/>
              <a:t>IF_ID</a:t>
            </a:r>
            <a:r>
              <a:rPr lang="zh-CN" altLang="en-US" sz="2800" dirty="0"/>
              <a:t>流水线寄存器保持不变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AA6568-6B34-DC38-F2E8-D5819BBE2343}"/>
              </a:ext>
            </a:extLst>
          </p:cNvPr>
          <p:cNvSpPr txBox="1"/>
          <p:nvPr/>
        </p:nvSpPr>
        <p:spPr>
          <a:xfrm>
            <a:off x="4016744" y="1811970"/>
            <a:ext cx="7017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← </a:t>
            </a:r>
            <a:r>
              <a:rPr lang="en-US" altLang="zh-CN" sz="2800" dirty="0">
                <a:solidFill>
                  <a:srgbClr val="FF0000"/>
                </a:solidFill>
              </a:rPr>
              <a:t>IF_ID</a:t>
            </a:r>
            <a:r>
              <a:rPr lang="zh-CN" altLang="en-US" sz="2800" dirty="0">
                <a:solidFill>
                  <a:srgbClr val="FF0000"/>
                </a:solidFill>
              </a:rPr>
              <a:t>流水线寄存器增加</a:t>
            </a:r>
            <a:r>
              <a:rPr lang="en-US" altLang="zh-CN" sz="2800" dirty="0">
                <a:solidFill>
                  <a:srgbClr val="FF0000"/>
                </a:solidFill>
              </a:rPr>
              <a:t>write</a:t>
            </a:r>
            <a:r>
              <a:rPr lang="zh-CN" altLang="en-US" sz="2800" dirty="0">
                <a:solidFill>
                  <a:srgbClr val="FF0000"/>
                </a:solidFill>
              </a:rPr>
              <a:t>控制信号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1D4EAA-AEC2-7FD4-9088-B5A6B0EBAE89}"/>
              </a:ext>
            </a:extLst>
          </p:cNvPr>
          <p:cNvSpPr txBox="1"/>
          <p:nvPr/>
        </p:nvSpPr>
        <p:spPr>
          <a:xfrm>
            <a:off x="4661757" y="4389388"/>
            <a:ext cx="5278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← </a:t>
            </a:r>
            <a:r>
              <a:rPr lang="en-US" altLang="zh-CN" sz="2800" dirty="0"/>
              <a:t>ID_EXE</a:t>
            </a:r>
            <a:r>
              <a:rPr lang="zh-CN" altLang="en-US" sz="2800" dirty="0"/>
              <a:t>流水线寄存器清零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A8682E-B3F9-A1A0-DA92-528418BEDBB8}"/>
              </a:ext>
            </a:extLst>
          </p:cNvPr>
          <p:cNvSpPr txBox="1"/>
          <p:nvPr/>
        </p:nvSpPr>
        <p:spPr>
          <a:xfrm>
            <a:off x="4661757" y="4836101"/>
            <a:ext cx="7017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← </a:t>
            </a:r>
            <a:r>
              <a:rPr lang="en-US" altLang="zh-CN" sz="2800" dirty="0">
                <a:solidFill>
                  <a:srgbClr val="FF0000"/>
                </a:solidFill>
              </a:rPr>
              <a:t>ID_EXE</a:t>
            </a:r>
            <a:r>
              <a:rPr lang="zh-CN" altLang="en-US" sz="2800" dirty="0">
                <a:solidFill>
                  <a:srgbClr val="FF0000"/>
                </a:solidFill>
              </a:rPr>
              <a:t>流水线寄存器增加</a:t>
            </a:r>
            <a:r>
              <a:rPr lang="en-US" altLang="zh-CN" sz="2800" dirty="0">
                <a:solidFill>
                  <a:srgbClr val="FF0000"/>
                </a:solidFill>
              </a:rPr>
              <a:t>flush</a:t>
            </a:r>
            <a:r>
              <a:rPr lang="zh-CN" altLang="en-US" sz="2800" dirty="0">
                <a:solidFill>
                  <a:srgbClr val="FF0000"/>
                </a:solidFill>
              </a:rPr>
              <a:t>控制信号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B4CFEF-EAE4-3E87-4D90-F4F83B4BBEC1}"/>
              </a:ext>
            </a:extLst>
          </p:cNvPr>
          <p:cNvSpPr txBox="1"/>
          <p:nvPr/>
        </p:nvSpPr>
        <p:spPr>
          <a:xfrm>
            <a:off x="4016744" y="2736964"/>
            <a:ext cx="5278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← </a:t>
            </a:r>
            <a:r>
              <a:rPr lang="en-US" altLang="zh-CN" sz="2800" dirty="0"/>
              <a:t>PC</a:t>
            </a:r>
            <a:r>
              <a:rPr lang="zh-CN" altLang="en-US" sz="2800" dirty="0"/>
              <a:t>寄存器保持不变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17B0A1-FB27-BA6A-5E01-CE5A5552C3CA}"/>
              </a:ext>
            </a:extLst>
          </p:cNvPr>
          <p:cNvSpPr txBox="1"/>
          <p:nvPr/>
        </p:nvSpPr>
        <p:spPr>
          <a:xfrm>
            <a:off x="4016744" y="3260184"/>
            <a:ext cx="7017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← </a:t>
            </a:r>
            <a:r>
              <a:rPr lang="en-US" altLang="zh-CN" sz="2800" dirty="0">
                <a:solidFill>
                  <a:srgbClr val="FF0000"/>
                </a:solidFill>
              </a:rPr>
              <a:t>PC</a:t>
            </a:r>
            <a:r>
              <a:rPr lang="zh-CN" altLang="en-US" sz="2800" dirty="0">
                <a:solidFill>
                  <a:srgbClr val="FF0000"/>
                </a:solidFill>
              </a:rPr>
              <a:t>寄存器增加</a:t>
            </a:r>
            <a:r>
              <a:rPr lang="en-US" altLang="zh-CN" sz="2800" dirty="0">
                <a:solidFill>
                  <a:srgbClr val="FF0000"/>
                </a:solidFill>
              </a:rPr>
              <a:t>write</a:t>
            </a:r>
            <a:r>
              <a:rPr lang="zh-CN" altLang="en-US" sz="2800" dirty="0">
                <a:solidFill>
                  <a:srgbClr val="FF0000"/>
                </a:solidFill>
              </a:rPr>
              <a:t>控制信号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7561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633080"/>
            <a:ext cx="10974254" cy="388077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dirty="0"/>
              <a:t>数据通路：</a:t>
            </a:r>
            <a:r>
              <a:rPr lang="en-US" altLang="zh-CN" sz="2800" dirty="0"/>
              <a:t>PC</a:t>
            </a:r>
            <a:r>
              <a:rPr lang="zh-CN" altLang="en-US" sz="2800" dirty="0"/>
              <a:t>寄存器增加</a:t>
            </a:r>
            <a:r>
              <a:rPr lang="en-US" altLang="zh-CN" sz="2800" dirty="0"/>
              <a:t>write</a:t>
            </a:r>
            <a:r>
              <a:rPr lang="zh-CN" altLang="en-US" sz="2800" dirty="0"/>
              <a:t>信号，</a:t>
            </a:r>
            <a:r>
              <a:rPr lang="en-US" altLang="zh-CN" sz="2800" dirty="0"/>
              <a:t>IF_ID</a:t>
            </a:r>
            <a:r>
              <a:rPr lang="zh-CN" altLang="en-US" sz="2800" dirty="0"/>
              <a:t>流水线寄存器增加</a:t>
            </a:r>
            <a:r>
              <a:rPr lang="en-US" altLang="zh-CN" sz="2800" dirty="0"/>
              <a:t>write</a:t>
            </a:r>
            <a:r>
              <a:rPr lang="zh-CN" altLang="en-US" sz="2800" dirty="0"/>
              <a:t>信号，</a:t>
            </a:r>
            <a:r>
              <a:rPr lang="en-US" altLang="zh-CN" sz="2800" dirty="0"/>
              <a:t>ID_EXE</a:t>
            </a:r>
            <a:r>
              <a:rPr lang="zh-CN" altLang="en-US" sz="2800" dirty="0"/>
              <a:t>流水线寄存器增加</a:t>
            </a:r>
            <a:r>
              <a:rPr lang="en-US" altLang="zh-CN" sz="2800" dirty="0"/>
              <a:t>flush</a:t>
            </a:r>
            <a:r>
              <a:rPr lang="zh-CN" altLang="en-US" sz="2800" dirty="0"/>
              <a:t>信号。</a:t>
            </a:r>
            <a:endParaRPr lang="en-US" altLang="zh-CN" sz="2800" dirty="0"/>
          </a:p>
          <a:p>
            <a:pPr>
              <a:spcAft>
                <a:spcPts val="1200"/>
              </a:spcAft>
            </a:pPr>
            <a:r>
              <a:rPr lang="zh-CN" altLang="en-US" sz="2800" dirty="0"/>
              <a:t>控制逻辑：增加</a:t>
            </a:r>
            <a:r>
              <a:rPr lang="zh-CN" altLang="en-US" sz="2800" b="1" dirty="0">
                <a:solidFill>
                  <a:srgbClr val="FF0000"/>
                </a:solidFill>
              </a:rPr>
              <a:t>阻塞控制模块</a:t>
            </a:r>
            <a:r>
              <a:rPr lang="zh-CN" altLang="en-US" sz="2800" dirty="0"/>
              <a:t>，通过控制上述三个控制信号实现阻塞。</a:t>
            </a:r>
          </a:p>
        </p:txBody>
      </p:sp>
    </p:spTree>
    <p:extLst>
      <p:ext uri="{BB962C8B-B14F-4D97-AF65-F5344CB8AC3E}">
        <p14:creationId xmlns:p14="http://schemas.microsoft.com/office/powerpoint/2010/main" val="824099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84546-2E8B-43C6-8A06-FAD649B0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89" y="74142"/>
            <a:ext cx="4440620" cy="1078798"/>
          </a:xfrm>
        </p:spPr>
        <p:txBody>
          <a:bodyPr/>
          <a:lstStyle/>
          <a:p>
            <a:r>
              <a:rPr lang="zh-CN" altLang="en-US" dirty="0"/>
              <a:t>数据通路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9AE6E2-089B-4D97-CAE4-E8DA98AF0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14" y="875132"/>
            <a:ext cx="11601571" cy="552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11781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16960</TotalTime>
  <Words>253</Words>
  <Application>Microsoft Office PowerPoint</Application>
  <PresentationFormat>宽屏</PresentationFormat>
  <Paragraphs>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平面</vt:lpstr>
      <vt:lpstr>数据冒险 (阻塞+WB2EXE)</vt:lpstr>
      <vt:lpstr>多周期流水线图</vt:lpstr>
      <vt:lpstr>单周期流水线图</vt:lpstr>
      <vt:lpstr>分析</vt:lpstr>
      <vt:lpstr>阻塞的方法</vt:lpstr>
      <vt:lpstr>分析</vt:lpstr>
      <vt:lpstr>数据通路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520</cp:revision>
  <dcterms:created xsi:type="dcterms:W3CDTF">2020-03-13T01:07:41Z</dcterms:created>
  <dcterms:modified xsi:type="dcterms:W3CDTF">2026-06-04T06:50:05Z</dcterms:modified>
</cp:coreProperties>
</file>