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979" r:id="rId1"/>
  </p:sldMasterIdLst>
  <p:sldIdLst>
    <p:sldId id="256" r:id="rId2"/>
    <p:sldId id="303" r:id="rId3"/>
    <p:sldId id="293" r:id="rId4"/>
    <p:sldId id="321" r:id="rId5"/>
    <p:sldId id="346" r:id="rId6"/>
    <p:sldId id="325" r:id="rId7"/>
    <p:sldId id="338" r:id="rId8"/>
    <p:sldId id="331" r:id="rId9"/>
    <p:sldId id="350" r:id="rId10"/>
    <p:sldId id="337" r:id="rId11"/>
    <p:sldId id="333" r:id="rId12"/>
    <p:sldId id="349" r:id="rId13"/>
    <p:sldId id="336" r:id="rId14"/>
    <p:sldId id="332" r:id="rId15"/>
    <p:sldId id="347" r:id="rId16"/>
    <p:sldId id="334" r:id="rId17"/>
    <p:sldId id="348" r:id="rId18"/>
    <p:sldId id="340" r:id="rId19"/>
    <p:sldId id="324" r:id="rId20"/>
    <p:sldId id="327" r:id="rId21"/>
    <p:sldId id="305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44" autoAdjust="0"/>
    <p:restoredTop sz="94660"/>
  </p:normalViewPr>
  <p:slideViewPr>
    <p:cSldViewPr snapToGrid="0">
      <p:cViewPr varScale="1">
        <p:scale>
          <a:sx n="89" d="100"/>
          <a:sy n="89" d="100"/>
        </p:scale>
        <p:origin x="12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88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92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4228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3161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5974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971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445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23313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905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195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8316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535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608171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762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91301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249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3B673-DCE4-4699-8C15-4B3A97032352}" type="datetimeFigureOut">
              <a:rPr lang="zh-CN" altLang="en-US" smtClean="0"/>
              <a:t>2026/5/9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7936E560-0074-4ACD-AB2F-05F7618504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312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1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D4D14-625B-460E-8934-2E47E74426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301" y="2447636"/>
            <a:ext cx="11044845" cy="1206499"/>
          </a:xfrm>
        </p:spPr>
        <p:txBody>
          <a:bodyPr>
            <a:normAutofit/>
          </a:bodyPr>
          <a:lstStyle/>
          <a:p>
            <a:r>
              <a:rPr lang="zh-CN" altLang="en-US" sz="5400" b="1" dirty="0"/>
              <a:t>支持</a:t>
            </a:r>
            <a:r>
              <a:rPr lang="en-US" altLang="zh-CN" sz="5400" b="1" dirty="0" err="1"/>
              <a:t>addu</a:t>
            </a:r>
            <a:r>
              <a:rPr lang="zh-CN" altLang="en-US" sz="5400" b="1" dirty="0"/>
              <a:t>指令的单周期</a:t>
            </a:r>
            <a:r>
              <a:rPr lang="en-US" altLang="zh-CN" sz="5400" b="1" dirty="0"/>
              <a:t>CPU</a:t>
            </a:r>
            <a:r>
              <a:rPr lang="zh-CN" altLang="en-US" sz="5400" b="1" dirty="0"/>
              <a:t>设计</a:t>
            </a:r>
          </a:p>
        </p:txBody>
      </p:sp>
    </p:spTree>
    <p:extLst>
      <p:ext uri="{BB962C8B-B14F-4D97-AF65-F5344CB8AC3E}">
        <p14:creationId xmlns:p14="http://schemas.microsoft.com/office/powerpoint/2010/main" val="257797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67520E-AD7B-4277-B2D1-D802D4D84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几个基本概念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C48C54-BEB2-405E-9D24-BE820C211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250"/>
            <a:ext cx="10515600" cy="4786313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zh-CN" altLang="en-US" sz="2800" dirty="0">
                <a:solidFill>
                  <a:srgbClr val="FF0000"/>
                </a:solidFill>
              </a:rPr>
              <a:t>体系结构</a:t>
            </a:r>
            <a:r>
              <a:rPr lang="zh-CN" altLang="en-US" sz="2800" dirty="0"/>
              <a:t>是程序员所见到的计算机。它由指令集和操作数地址（寄存器和存储器）来定义。</a:t>
            </a:r>
            <a:endParaRPr lang="en-US" altLang="zh-CN" sz="2800" dirty="0"/>
          </a:p>
          <a:p>
            <a:pPr>
              <a:spcAft>
                <a:spcPts val="1000"/>
              </a:spcAft>
            </a:pPr>
            <a:r>
              <a:rPr lang="zh-CN" altLang="en-US" sz="2800" dirty="0">
                <a:solidFill>
                  <a:srgbClr val="FF0000"/>
                </a:solidFill>
              </a:rPr>
              <a:t>微体系结构</a:t>
            </a:r>
            <a:r>
              <a:rPr lang="zh-CN" altLang="en-US" sz="2800" dirty="0"/>
              <a:t>是体系结构的具体实现。它通过将寄存器、</a:t>
            </a:r>
            <a:r>
              <a:rPr lang="en-US" altLang="zh-CN" sz="2800" dirty="0"/>
              <a:t>ALU</a:t>
            </a:r>
            <a:r>
              <a:rPr lang="zh-CN" altLang="en-US" sz="2800" dirty="0"/>
              <a:t>、有限状态机、存储器和其他逻辑模块等组合在一起实现。</a:t>
            </a:r>
            <a:endParaRPr lang="en-US" altLang="zh-CN" sz="2800" dirty="0"/>
          </a:p>
          <a:p>
            <a:pPr>
              <a:spcAft>
                <a:spcPts val="1000"/>
              </a:spcAft>
            </a:pPr>
            <a:r>
              <a:rPr lang="zh-CN" altLang="en-US" sz="2800" dirty="0"/>
              <a:t>一个特定的体系结构可以有不同的微体系结构，每种微体系结构具有性能、成本和复杂性的不同折中。</a:t>
            </a:r>
            <a:endParaRPr lang="en-US" altLang="zh-CN" sz="2800" dirty="0"/>
          </a:p>
          <a:p>
            <a:pPr>
              <a:spcAft>
                <a:spcPts val="1000"/>
              </a:spcAft>
            </a:pPr>
            <a:r>
              <a:rPr lang="zh-CN" altLang="en-US" sz="2800" dirty="0">
                <a:solidFill>
                  <a:srgbClr val="FF0000"/>
                </a:solidFill>
              </a:rPr>
              <a:t>单周期微体系结构</a:t>
            </a:r>
            <a:r>
              <a:rPr lang="zh-CN" altLang="en-US" sz="2800" dirty="0"/>
              <a:t>在一个周期中执行一条完整的指令。</a:t>
            </a:r>
          </a:p>
        </p:txBody>
      </p:sp>
    </p:spTree>
    <p:extLst>
      <p:ext uri="{BB962C8B-B14F-4D97-AF65-F5344CB8AC3E}">
        <p14:creationId xmlns:p14="http://schemas.microsoft.com/office/powerpoint/2010/main" val="2822945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31EAAA-D567-4514-BE62-62D0ECEFB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1225"/>
          </a:xfrm>
        </p:spPr>
        <p:txBody>
          <a:bodyPr/>
          <a:lstStyle/>
          <a:p>
            <a:r>
              <a:rPr lang="zh-CN" altLang="en-US" dirty="0"/>
              <a:t>实验过程</a:t>
            </a:r>
            <a:endParaRPr lang="zh-CN" altLang="en-US" sz="3600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DA458D-A5FF-4EDD-B4C8-9A26DCE98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3564" y="1514186"/>
            <a:ext cx="10515600" cy="4672013"/>
          </a:xfrm>
        </p:spPr>
        <p:txBody>
          <a:bodyPr>
            <a:normAutofit/>
          </a:bodyPr>
          <a:lstStyle/>
          <a:p>
            <a:pPr marL="571500" indent="-571500" algn="just">
              <a:spcAft>
                <a:spcPts val="1000"/>
              </a:spcAft>
              <a:buFont typeface="+mj-ea"/>
              <a:buAutoNum type="ea1JpnChsDbPeriod"/>
            </a:pPr>
            <a:r>
              <a:rPr lang="zh-CN" altLang="en-US" sz="2800" dirty="0"/>
              <a:t> </a:t>
            </a:r>
            <a:r>
              <a:rPr lang="zh-CN" altLang="en-US" sz="2800" b="1" dirty="0">
                <a:solidFill>
                  <a:srgbClr val="FF0000"/>
                </a:solidFill>
              </a:rPr>
              <a:t>设计</a:t>
            </a:r>
            <a:r>
              <a:rPr lang="zh-CN" altLang="en-US" sz="2800" dirty="0"/>
              <a:t>能够执行</a:t>
            </a:r>
            <a:r>
              <a:rPr lang="en-US" altLang="zh-CN" sz="2800" dirty="0" err="1"/>
              <a:t>addu</a:t>
            </a:r>
            <a:r>
              <a:rPr lang="zh-CN" altLang="en-US" sz="2800" dirty="0"/>
              <a:t>指令的单周期</a:t>
            </a:r>
            <a:r>
              <a:rPr lang="en-US" altLang="zh-CN" sz="2800" dirty="0"/>
              <a:t>CPU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914400" lvl="1" indent="-457200">
              <a:spcAft>
                <a:spcPts val="1000"/>
              </a:spcAft>
              <a:buFont typeface="+mj-ea"/>
              <a:buAutoNum type="circleNumDbPlain"/>
            </a:pPr>
            <a:r>
              <a:rPr lang="zh-CN" altLang="en-US" sz="2400" dirty="0"/>
              <a:t>从指令入手，</a:t>
            </a:r>
            <a:r>
              <a:rPr lang="zh-CN" altLang="en-US" sz="2400" dirty="0">
                <a:solidFill>
                  <a:srgbClr val="00B050"/>
                </a:solidFill>
              </a:rPr>
              <a:t>分析</a:t>
            </a:r>
            <a:r>
              <a:rPr lang="en-US" altLang="zh-CN" sz="2400" dirty="0" err="1"/>
              <a:t>addu</a:t>
            </a:r>
            <a:r>
              <a:rPr lang="zh-CN" altLang="en-US" sz="2400" dirty="0"/>
              <a:t>指令的功能。</a:t>
            </a:r>
            <a:endParaRPr lang="en-US" altLang="zh-CN" sz="2400" dirty="0"/>
          </a:p>
          <a:p>
            <a:pPr marL="914400" lvl="1" indent="-457200">
              <a:spcAft>
                <a:spcPts val="1000"/>
              </a:spcAft>
              <a:buFont typeface="+mj-ea"/>
              <a:buAutoNum type="circleNumDbPlain"/>
            </a:pPr>
            <a:r>
              <a:rPr lang="zh-CN" altLang="en-US" sz="2400" dirty="0"/>
              <a:t>得到一系列</a:t>
            </a:r>
            <a:r>
              <a:rPr lang="zh-CN" altLang="en-US" sz="2400" dirty="0">
                <a:solidFill>
                  <a:srgbClr val="00B050"/>
                </a:solidFill>
              </a:rPr>
              <a:t>操作</a:t>
            </a:r>
            <a:r>
              <a:rPr lang="zh-CN" altLang="en-US" sz="2400" dirty="0"/>
              <a:t>和操作的</a:t>
            </a:r>
            <a:r>
              <a:rPr lang="zh-CN" altLang="en-US" sz="2400" dirty="0">
                <a:solidFill>
                  <a:srgbClr val="00B050"/>
                </a:solidFill>
              </a:rPr>
              <a:t>对象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914400" lvl="1" indent="-457200">
              <a:spcAft>
                <a:spcPts val="1000"/>
              </a:spcAft>
              <a:buFont typeface="+mj-ea"/>
              <a:buAutoNum type="circleNumDbPlain"/>
            </a:pPr>
            <a:r>
              <a:rPr lang="zh-CN" altLang="en-US" sz="2400" dirty="0">
                <a:solidFill>
                  <a:srgbClr val="00B050"/>
                </a:solidFill>
              </a:rPr>
              <a:t>设计</a:t>
            </a:r>
            <a:r>
              <a:rPr lang="zh-CN" altLang="en-US" sz="2400" dirty="0"/>
              <a:t>具有相应操作功能的对象。</a:t>
            </a:r>
            <a:endParaRPr lang="en-US" altLang="zh-CN" sz="2400" dirty="0"/>
          </a:p>
          <a:p>
            <a:pPr marL="571500" indent="-571500" algn="just">
              <a:spcAft>
                <a:spcPts val="1000"/>
              </a:spcAft>
              <a:buFont typeface="+mj-ea"/>
              <a:buAutoNum type="ea1JpnChsDbPeriod"/>
            </a:pPr>
            <a:r>
              <a:rPr lang="zh-CN" altLang="en-US" sz="2800" dirty="0"/>
              <a:t>用</a:t>
            </a:r>
            <a:r>
              <a:rPr lang="en-US" altLang="zh-CN" sz="2800" dirty="0" err="1"/>
              <a:t>verilog</a:t>
            </a:r>
            <a:r>
              <a:rPr lang="zh-CN" altLang="en-US" sz="2800" b="1" dirty="0">
                <a:solidFill>
                  <a:srgbClr val="FF0000"/>
                </a:solidFill>
              </a:rPr>
              <a:t>实现</a:t>
            </a:r>
            <a:r>
              <a:rPr lang="zh-CN" altLang="en-US" sz="2800" dirty="0"/>
              <a:t>支持</a:t>
            </a:r>
            <a:r>
              <a:rPr lang="en-US" altLang="zh-CN" sz="2800" dirty="0" err="1"/>
              <a:t>addu</a:t>
            </a:r>
            <a:r>
              <a:rPr lang="zh-CN" altLang="en-US" sz="2800" dirty="0"/>
              <a:t>指令的单周期</a:t>
            </a:r>
            <a:r>
              <a:rPr lang="en-US" altLang="zh-CN" sz="2800" dirty="0"/>
              <a:t>CPU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971550" lvl="1" indent="-514350" algn="just">
              <a:spcBef>
                <a:spcPts val="1000"/>
              </a:spcBef>
              <a:spcAft>
                <a:spcPts val="1000"/>
              </a:spcAft>
              <a:buFont typeface="+mj-ea"/>
              <a:buAutoNum type="circleNumDbPlain"/>
            </a:pPr>
            <a:r>
              <a:rPr lang="zh-CN" altLang="en-US" sz="2400" dirty="0"/>
              <a:t> 实现</a:t>
            </a:r>
            <a:r>
              <a:rPr lang="zh-CN" altLang="en-US" sz="2400" dirty="0">
                <a:solidFill>
                  <a:srgbClr val="00B050"/>
                </a:solidFill>
              </a:rPr>
              <a:t>对象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971550" lvl="1" indent="-514350" algn="just">
              <a:spcBef>
                <a:spcPts val="1000"/>
              </a:spcBef>
              <a:spcAft>
                <a:spcPts val="1000"/>
              </a:spcAft>
              <a:buFont typeface="+mj-ea"/>
              <a:buAutoNum type="circleNumDbPlain"/>
            </a:pPr>
            <a:r>
              <a:rPr lang="zh-CN" altLang="en-US" sz="2400" dirty="0"/>
              <a:t> </a:t>
            </a:r>
            <a:r>
              <a:rPr lang="zh-CN" altLang="en-US" sz="2400" dirty="0">
                <a:solidFill>
                  <a:srgbClr val="00B050"/>
                </a:solidFill>
              </a:rPr>
              <a:t>连接</a:t>
            </a:r>
            <a:r>
              <a:rPr lang="zh-CN" altLang="en-US" sz="2400" dirty="0">
                <a:solidFill>
                  <a:schemeClr val="tx1"/>
                </a:solidFill>
              </a:rPr>
              <a:t>对象</a:t>
            </a:r>
            <a:r>
              <a:rPr lang="zh-CN" altLang="en-US" sz="2400" dirty="0"/>
              <a:t>。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410388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4A9C5034-3DD8-4AD9-B0BB-DB7A6AC66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15900"/>
              </p:ext>
            </p:extLst>
          </p:nvPr>
        </p:nvGraphicFramePr>
        <p:xfrm>
          <a:off x="1352332" y="1439950"/>
          <a:ext cx="9728199" cy="25030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9841">
                  <a:extLst>
                    <a:ext uri="{9D8B030D-6E8A-4147-A177-3AD203B41FA5}">
                      <a16:colId xmlns:a16="http://schemas.microsoft.com/office/drawing/2014/main" val="2717078196"/>
                    </a:ext>
                  </a:extLst>
                </a:gridCol>
                <a:gridCol w="1291393">
                  <a:extLst>
                    <a:ext uri="{9D8B030D-6E8A-4147-A177-3AD203B41FA5}">
                      <a16:colId xmlns:a16="http://schemas.microsoft.com/office/drawing/2014/main" val="935924381"/>
                    </a:ext>
                  </a:extLst>
                </a:gridCol>
                <a:gridCol w="1291393">
                  <a:extLst>
                    <a:ext uri="{9D8B030D-6E8A-4147-A177-3AD203B41FA5}">
                      <a16:colId xmlns:a16="http://schemas.microsoft.com/office/drawing/2014/main" val="1596634783"/>
                    </a:ext>
                  </a:extLst>
                </a:gridCol>
                <a:gridCol w="1291393">
                  <a:extLst>
                    <a:ext uri="{9D8B030D-6E8A-4147-A177-3AD203B41FA5}">
                      <a16:colId xmlns:a16="http://schemas.microsoft.com/office/drawing/2014/main" val="2896182007"/>
                    </a:ext>
                  </a:extLst>
                </a:gridCol>
                <a:gridCol w="1291393">
                  <a:extLst>
                    <a:ext uri="{9D8B030D-6E8A-4147-A177-3AD203B41FA5}">
                      <a16:colId xmlns:a16="http://schemas.microsoft.com/office/drawing/2014/main" val="2760008904"/>
                    </a:ext>
                  </a:extLst>
                </a:gridCol>
                <a:gridCol w="1291393">
                  <a:extLst>
                    <a:ext uri="{9D8B030D-6E8A-4147-A177-3AD203B41FA5}">
                      <a16:colId xmlns:a16="http://schemas.microsoft.com/office/drawing/2014/main" val="875946454"/>
                    </a:ext>
                  </a:extLst>
                </a:gridCol>
                <a:gridCol w="1291393">
                  <a:extLst>
                    <a:ext uri="{9D8B030D-6E8A-4147-A177-3AD203B41FA5}">
                      <a16:colId xmlns:a16="http://schemas.microsoft.com/office/drawing/2014/main" val="2962175388"/>
                    </a:ext>
                  </a:extLst>
                </a:gridCol>
              </a:tblGrid>
              <a:tr h="451679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800" b="0" i="0" u="none" strike="noStrike" kern="1200" baseline="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   编码	</a:t>
                      </a:r>
                    </a:p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31      26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25      21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20      16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15      11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10        6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5          0 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0753019"/>
                  </a:ext>
                </a:extLst>
              </a:tr>
              <a:tr h="677519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00000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100001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874007"/>
                  </a:ext>
                </a:extLst>
              </a:tr>
              <a:tr h="4579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格式	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altLang="zh-CN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addu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zh-CN" sz="1800" b="1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rt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7420418"/>
                  </a:ext>
                </a:extLst>
              </a:tr>
              <a:tr h="4579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描述	</a:t>
                      </a:r>
                      <a:endParaRPr lang="en-US" altLang="zh-CN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 </a:t>
                      </a:r>
                      <a:r>
                        <a:rPr lang="zh-CN" alt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←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GPR[</a:t>
                      </a: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]+GPR[rt]	</a:t>
                      </a:r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871472"/>
                  </a:ext>
                </a:extLst>
              </a:tr>
              <a:tr h="457952">
                <a:tc>
                  <a:txBody>
                    <a:bodyPr/>
                    <a:lstStyle/>
                    <a:p>
                      <a:r>
                        <a:rPr lang="zh-CN" altLang="en-US" dirty="0"/>
                        <a:t>举例</a:t>
                      </a:r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addu</a:t>
                      </a:r>
                      <a:r>
                        <a:rPr lang="en-US" altLang="zh-C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$s1, $s2, $s3	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741943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F877120-8352-420D-95A8-3EFF047A38A1}"/>
              </a:ext>
            </a:extLst>
          </p:cNvPr>
          <p:cNvSpPr txBox="1"/>
          <p:nvPr/>
        </p:nvSpPr>
        <p:spPr>
          <a:xfrm>
            <a:off x="1285875" y="4162425"/>
            <a:ext cx="10067925" cy="1167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zh-CN" altLang="en-US" sz="2800" dirty="0"/>
              <a:t>功能描述        </a:t>
            </a:r>
            <a:endParaRPr lang="en-US" altLang="zh-CN" sz="2800" dirty="0"/>
          </a:p>
          <a:p>
            <a:pPr>
              <a:spcBef>
                <a:spcPts val="1000"/>
              </a:spcBef>
              <a:spcAft>
                <a:spcPts val="1000"/>
              </a:spcAft>
            </a:pPr>
            <a:r>
              <a:rPr lang="zh-CN" altLang="en-US" sz="2800" dirty="0"/>
              <a:t>将</a:t>
            </a:r>
            <a:r>
              <a:rPr lang="en-US" altLang="zh-CN" sz="2800" dirty="0" err="1"/>
              <a:t>rs</a:t>
            </a:r>
            <a:r>
              <a:rPr lang="zh-CN" altLang="en-US" sz="2800" dirty="0"/>
              <a:t>寄存器的值和</a:t>
            </a:r>
            <a:r>
              <a:rPr lang="en-US" altLang="zh-CN" sz="2800" dirty="0"/>
              <a:t>rt</a:t>
            </a:r>
            <a:r>
              <a:rPr lang="zh-CN" altLang="en-US" sz="2800" dirty="0"/>
              <a:t>寄存器的值相加，结果写入</a:t>
            </a:r>
            <a:r>
              <a:rPr lang="en-US" altLang="zh-CN" sz="2800" dirty="0" err="1"/>
              <a:t>rd</a:t>
            </a:r>
            <a:r>
              <a:rPr lang="zh-CN" altLang="en-US" sz="2800" dirty="0"/>
              <a:t>寄存器中。</a:t>
            </a:r>
            <a:endParaRPr lang="en-US" altLang="zh-CN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21CCDCD-FC4B-42A0-A5A2-55D1B9733B3C}"/>
              </a:ext>
            </a:extLst>
          </p:cNvPr>
          <p:cNvSpPr txBox="1"/>
          <p:nvPr/>
        </p:nvSpPr>
        <p:spPr>
          <a:xfrm>
            <a:off x="657354" y="1976467"/>
            <a:ext cx="553998" cy="143002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400" dirty="0"/>
              <a:t>指令格式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109D0A5-561A-4DBA-BEF7-5AD8D2B1C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309" y="85798"/>
            <a:ext cx="10515600" cy="1325563"/>
          </a:xfrm>
        </p:spPr>
        <p:txBody>
          <a:bodyPr/>
          <a:lstStyle/>
          <a:p>
            <a:r>
              <a:rPr lang="en-US" altLang="zh-CN" dirty="0"/>
              <a:t>1  </a:t>
            </a:r>
            <a:r>
              <a:rPr lang="en-US" altLang="zh-CN" dirty="0" err="1"/>
              <a:t>addu</a:t>
            </a:r>
            <a:r>
              <a:rPr lang="zh-CN" altLang="en-US" dirty="0"/>
              <a:t>指令的功能</a:t>
            </a:r>
          </a:p>
        </p:txBody>
      </p:sp>
    </p:spTree>
    <p:extLst>
      <p:ext uri="{BB962C8B-B14F-4D97-AF65-F5344CB8AC3E}">
        <p14:creationId xmlns:p14="http://schemas.microsoft.com/office/powerpoint/2010/main" val="273081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021A9-1EFF-1B28-CC00-26C35A4A2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从指令功能推导所需硬件部件</a:t>
            </a:r>
            <a:endParaRPr lang="zh-CN" altLang="en-US" dirty="0"/>
          </a:p>
        </p:txBody>
      </p:sp>
      <p:graphicFrame>
        <p:nvGraphicFramePr>
          <p:cNvPr id="8" name="内容占位符 7">
            <a:extLst>
              <a:ext uri="{FF2B5EF4-FFF2-40B4-BE49-F238E27FC236}">
                <a16:creationId xmlns:a16="http://schemas.microsoft.com/office/drawing/2014/main" id="{0B0AA994-B273-D0E9-2B22-213A1FF90F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77084"/>
              </p:ext>
            </p:extLst>
          </p:nvPr>
        </p:nvGraphicFramePr>
        <p:xfrm>
          <a:off x="677333" y="2108038"/>
          <a:ext cx="10237660" cy="39435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77437">
                  <a:extLst>
                    <a:ext uri="{9D8B030D-6E8A-4147-A177-3AD203B41FA5}">
                      <a16:colId xmlns:a16="http://schemas.microsoft.com/office/drawing/2014/main" val="2552017594"/>
                    </a:ext>
                  </a:extLst>
                </a:gridCol>
                <a:gridCol w="2836660">
                  <a:extLst>
                    <a:ext uri="{9D8B030D-6E8A-4147-A177-3AD203B41FA5}">
                      <a16:colId xmlns:a16="http://schemas.microsoft.com/office/drawing/2014/main" val="529251148"/>
                    </a:ext>
                  </a:extLst>
                </a:gridCol>
                <a:gridCol w="4123563">
                  <a:extLst>
                    <a:ext uri="{9D8B030D-6E8A-4147-A177-3AD203B41FA5}">
                      <a16:colId xmlns:a16="http://schemas.microsoft.com/office/drawing/2014/main" val="452652772"/>
                    </a:ext>
                  </a:extLst>
                </a:gridCol>
              </a:tblGrid>
              <a:tr h="4366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功能需求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31798" marT="82373" marB="823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对应硬件部件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1798" marR="131798" marT="82373" marB="823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作用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1798" marR="131798" marT="82373" marB="82373" anchor="ctr"/>
                </a:tc>
                <a:extLst>
                  <a:ext uri="{0D108BD9-81ED-4DB2-BD59-A6C34878D82A}">
                    <a16:rowId xmlns:a16="http://schemas.microsoft.com/office/drawing/2014/main" val="3389320058"/>
                  </a:ext>
                </a:extLst>
              </a:tr>
              <a:tr h="6075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存放指令并读出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31798" marT="82373" marB="823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b="1" kern="100" dirty="0">
                          <a:effectLst/>
                        </a:rPr>
                        <a:t>指令存储器（</a:t>
                      </a:r>
                      <a:r>
                        <a:rPr lang="en-US" sz="1800" b="1" kern="100" dirty="0">
                          <a:effectLst/>
                        </a:rPr>
                        <a:t>IM</a:t>
                      </a:r>
                      <a:r>
                        <a:rPr lang="zh-CN" sz="1800" b="1" kern="100" dirty="0">
                          <a:effectLst/>
                        </a:rPr>
                        <a:t>）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1798" marR="131798" marT="82373" marB="823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根据地址（</a:t>
                      </a:r>
                      <a:r>
                        <a:rPr lang="en-US" sz="1800" kern="100" dirty="0">
                          <a:effectLst/>
                        </a:rPr>
                        <a:t>PC</a:t>
                      </a:r>
                      <a:r>
                        <a:rPr lang="zh-CN" sz="1800" kern="100" dirty="0">
                          <a:effectLst/>
                        </a:rPr>
                        <a:t>）输出</a:t>
                      </a:r>
                      <a:r>
                        <a:rPr lang="en-US" sz="1800" kern="100" dirty="0">
                          <a:effectLst/>
                        </a:rPr>
                        <a:t> 32 </a:t>
                      </a:r>
                      <a:r>
                        <a:rPr lang="zh-CN" sz="1800" kern="100" dirty="0">
                          <a:effectLst/>
                        </a:rPr>
                        <a:t>位指令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1798" marR="0" marT="82373" marB="82373" anchor="ctr"/>
                </a:tc>
                <a:extLst>
                  <a:ext uri="{0D108BD9-81ED-4DB2-BD59-A6C34878D82A}">
                    <a16:rowId xmlns:a16="http://schemas.microsoft.com/office/drawing/2014/main" val="2046594315"/>
                  </a:ext>
                </a:extLst>
              </a:tr>
              <a:tr h="70564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记住当前指令地址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31798" marT="82373" marB="823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b="1" kern="100" dirty="0">
                          <a:effectLst/>
                        </a:rPr>
                        <a:t>程序计数器（</a:t>
                      </a:r>
                      <a:r>
                        <a:rPr lang="en-US" sz="1800" b="1" kern="100" dirty="0">
                          <a:effectLst/>
                        </a:rPr>
                        <a:t>PC</a:t>
                      </a:r>
                      <a:r>
                        <a:rPr lang="zh-CN" sz="1800" b="1" kern="100" dirty="0">
                          <a:effectLst/>
                        </a:rPr>
                        <a:t>）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1798" marR="131798" marT="82373" marB="823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提供下一条指令的地址，每个周期更新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1798" marR="0" marT="82373" marB="82373" anchor="ctr"/>
                </a:tc>
                <a:extLst>
                  <a:ext uri="{0D108BD9-81ED-4DB2-BD59-A6C34878D82A}">
                    <a16:rowId xmlns:a16="http://schemas.microsoft.com/office/drawing/2014/main" val="3689481526"/>
                  </a:ext>
                </a:extLst>
              </a:tr>
              <a:tr h="70564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0" dirty="0">
                          <a:effectLst/>
                          <a:latin typeface="quote-cjk-patch"/>
                        </a:rPr>
                        <a:t>计算下一条指令地址</a:t>
                      </a:r>
                    </a:p>
                  </a:txBody>
                  <a:tcPr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zh-CN" altLang="en-US" b="1">
                          <a:effectLst/>
                          <a:latin typeface="quote-cjk-patch"/>
                        </a:rPr>
                        <a:t>加法器（</a:t>
                      </a:r>
                      <a:r>
                        <a:rPr lang="en-US" b="1">
                          <a:effectLst/>
                          <a:latin typeface="quote-cjk-patch"/>
                        </a:rPr>
                        <a:t>PC+4）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76200" marR="76200" marT="47625" marB="476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PC </a:t>
                      </a:r>
                      <a:r>
                        <a:rPr lang="zh-CN" altLang="en-US" b="0" dirty="0">
                          <a:effectLst/>
                          <a:latin typeface="quote-cjk-patch"/>
                        </a:rPr>
                        <a:t>默认递增 </a:t>
                      </a:r>
                      <a:r>
                        <a:rPr lang="en-US" altLang="zh-CN" b="0" dirty="0">
                          <a:effectLst/>
                          <a:latin typeface="quote-cjk-patch"/>
                        </a:rPr>
                        <a:t>4</a:t>
                      </a:r>
                    </a:p>
                  </a:txBody>
                  <a:tcPr marL="76200" marT="47625" marB="47625" anchor="ctr"/>
                </a:tc>
                <a:extLst>
                  <a:ext uri="{0D108BD9-81ED-4DB2-BD59-A6C34878D82A}">
                    <a16:rowId xmlns:a16="http://schemas.microsoft.com/office/drawing/2014/main" val="1701035400"/>
                  </a:ext>
                </a:extLst>
              </a:tr>
              <a:tr h="60752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解码指令字段，生成控制信号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31798" marT="82373" marB="823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b="1" kern="100" dirty="0">
                          <a:effectLst/>
                        </a:rPr>
                        <a:t>控制单元（</a:t>
                      </a:r>
                      <a:r>
                        <a:rPr lang="en-US" sz="1800" b="1" kern="100" dirty="0">
                          <a:effectLst/>
                        </a:rPr>
                        <a:t>CTRL</a:t>
                      </a:r>
                      <a:r>
                        <a:rPr lang="zh-CN" sz="1800" b="1" kern="100" dirty="0">
                          <a:effectLst/>
                        </a:rPr>
                        <a:t>）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1798" marR="131798" marT="82373" marB="823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识别</a:t>
                      </a:r>
                      <a:r>
                        <a:rPr lang="en-US" sz="1800" kern="100" dirty="0">
                          <a:effectLst/>
                        </a:rPr>
                        <a:t> </a:t>
                      </a:r>
                      <a:r>
                        <a:rPr lang="en-US" sz="1800" kern="100" dirty="0" err="1">
                          <a:effectLst/>
                        </a:rPr>
                        <a:t>addu</a:t>
                      </a:r>
                      <a:r>
                        <a:rPr lang="zh-CN" sz="1800" kern="100" dirty="0">
                          <a:effectLst/>
                        </a:rPr>
                        <a:t>，产生写使能、选择信号等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1798" marR="0" marT="82373" marB="82373" anchor="ctr"/>
                </a:tc>
                <a:extLst>
                  <a:ext uri="{0D108BD9-81ED-4DB2-BD59-A6C34878D82A}">
                    <a16:rowId xmlns:a16="http://schemas.microsoft.com/office/drawing/2014/main" val="915579611"/>
                  </a:ext>
                </a:extLst>
              </a:tr>
              <a:tr h="4366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根据</a:t>
                      </a:r>
                      <a:r>
                        <a:rPr lang="en-US" sz="1800" kern="100">
                          <a:effectLst/>
                        </a:rPr>
                        <a:t> rs/rt </a:t>
                      </a:r>
                      <a:r>
                        <a:rPr lang="zh-CN" sz="1800" kern="100">
                          <a:effectLst/>
                        </a:rPr>
                        <a:t>读出寄存器值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31798" marT="82373" marB="823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b="1" kern="100" dirty="0">
                          <a:effectLst/>
                        </a:rPr>
                        <a:t>寄存器堆（</a:t>
                      </a:r>
                      <a:r>
                        <a:rPr lang="en-US" sz="1800" b="1" kern="100" dirty="0">
                          <a:effectLst/>
                        </a:rPr>
                        <a:t>GPR</a:t>
                      </a:r>
                      <a:r>
                        <a:rPr lang="zh-CN" sz="1800" b="1" kern="100" dirty="0">
                          <a:effectLst/>
                        </a:rPr>
                        <a:t>）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1798" marR="131798" marT="82373" marB="823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两个读端口，一个写端口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1798" marR="0" marT="82373" marB="82373" anchor="ctr"/>
                </a:tc>
                <a:extLst>
                  <a:ext uri="{0D108BD9-81ED-4DB2-BD59-A6C34878D82A}">
                    <a16:rowId xmlns:a16="http://schemas.microsoft.com/office/drawing/2014/main" val="1978327833"/>
                  </a:ext>
                </a:extLst>
              </a:tr>
              <a:tr h="43667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</a:rPr>
                        <a:t>执行加法运算</a:t>
                      </a:r>
                      <a:endParaRPr lang="zh-CN" sz="18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31798" marT="82373" marB="823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b="1" kern="100" dirty="0">
                          <a:effectLst/>
                        </a:rPr>
                        <a:t>ALU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1798" marR="131798" marT="82373" marB="8237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</a:rPr>
                        <a:t>输入两个操作数，输出和</a:t>
                      </a:r>
                      <a:endParaRPr lang="zh-CN" sz="1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1798" marR="0" marT="82373" marB="82373" anchor="ctr"/>
                </a:tc>
                <a:extLst>
                  <a:ext uri="{0D108BD9-81ED-4DB2-BD59-A6C34878D82A}">
                    <a16:rowId xmlns:a16="http://schemas.microsoft.com/office/drawing/2014/main" val="1412469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212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865910" y="2631658"/>
            <a:ext cx="10515600" cy="1325563"/>
          </a:xfrm>
        </p:spPr>
        <p:txBody>
          <a:bodyPr/>
          <a:lstStyle/>
          <a:p>
            <a:pPr algn="ctr"/>
            <a:r>
              <a:rPr lang="en-US" altLang="zh-CN" dirty="0"/>
              <a:t>2 </a:t>
            </a:r>
            <a:r>
              <a:rPr lang="zh-CN" altLang="en-US" dirty="0"/>
              <a:t>基本模块设计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65740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6579"/>
            <a:ext cx="10515600" cy="1325563"/>
          </a:xfrm>
        </p:spPr>
        <p:txBody>
          <a:bodyPr/>
          <a:lstStyle/>
          <a:p>
            <a:r>
              <a:rPr lang="en-US" altLang="zh-CN" dirty="0"/>
              <a:t>2.1 PC</a:t>
            </a:r>
            <a:r>
              <a:rPr lang="zh-CN" altLang="en-US" dirty="0"/>
              <a:t>寄存器设计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708727"/>
            <a:ext cx="10515600" cy="4726854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dirty="0"/>
              <a:t>功能：</a:t>
            </a:r>
            <a:endParaRPr lang="en-US" altLang="zh-CN" sz="2800" dirty="0"/>
          </a:p>
          <a:p>
            <a:r>
              <a:rPr lang="zh-CN" altLang="en-US" sz="2800" dirty="0"/>
              <a:t>存储当前执行指令的地址；</a:t>
            </a:r>
            <a:endParaRPr lang="en-US" altLang="zh-CN" sz="2800" dirty="0"/>
          </a:p>
          <a:p>
            <a:r>
              <a:rPr lang="zh-CN" altLang="en-US" sz="2800" dirty="0"/>
              <a:t>每个</a:t>
            </a:r>
            <a:r>
              <a:rPr lang="en-US" altLang="zh-CN" sz="2800" dirty="0"/>
              <a:t>clock</a:t>
            </a:r>
            <a:r>
              <a:rPr lang="zh-CN" altLang="en-US" sz="2800" dirty="0"/>
              <a:t>更新一次；</a:t>
            </a:r>
            <a:endParaRPr lang="en-US" altLang="zh-CN" sz="2800" dirty="0"/>
          </a:p>
          <a:p>
            <a:r>
              <a:rPr lang="zh-CN" altLang="en-US" sz="2800" dirty="0"/>
              <a:t>初始值为第一条指令的地址。</a:t>
            </a:r>
            <a:endParaRPr lang="en-US" altLang="zh-CN" sz="2800" dirty="0"/>
          </a:p>
        </p:txBody>
      </p:sp>
      <p:grpSp>
        <p:nvGrpSpPr>
          <p:cNvPr id="10" name="组合 9"/>
          <p:cNvGrpSpPr/>
          <p:nvPr/>
        </p:nvGrpSpPr>
        <p:grpSpPr>
          <a:xfrm>
            <a:off x="5729731" y="2460042"/>
            <a:ext cx="544945" cy="1264949"/>
            <a:chOff x="7019637" y="1769341"/>
            <a:chExt cx="544945" cy="1264949"/>
          </a:xfrm>
        </p:grpSpPr>
        <p:sp>
          <p:nvSpPr>
            <p:cNvPr id="4" name="右大括号 3"/>
            <p:cNvSpPr/>
            <p:nvPr/>
          </p:nvSpPr>
          <p:spPr>
            <a:xfrm>
              <a:off x="7019637" y="1769341"/>
              <a:ext cx="314036" cy="1264949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箭头连接符 5"/>
            <p:cNvCxnSpPr>
              <a:stCxn id="4" idx="1"/>
            </p:cNvCxnSpPr>
            <p:nvPr/>
          </p:nvCxnSpPr>
          <p:spPr>
            <a:xfrm flipV="1">
              <a:off x="7333673" y="2399398"/>
              <a:ext cx="230909" cy="241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文本框 7"/>
          <p:cNvSpPr txBox="1"/>
          <p:nvPr/>
        </p:nvSpPr>
        <p:spPr>
          <a:xfrm>
            <a:off x="6274676" y="2828489"/>
            <a:ext cx="34359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带有复位端的寄存器</a:t>
            </a:r>
          </a:p>
        </p:txBody>
      </p:sp>
    </p:spTree>
    <p:extLst>
      <p:ext uri="{BB962C8B-B14F-4D97-AF65-F5344CB8AC3E}">
        <p14:creationId xmlns:p14="http://schemas.microsoft.com/office/powerpoint/2010/main" val="293808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5C80B-EFF7-4F19-9BA6-745F1E2E7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6080" y="751491"/>
            <a:ext cx="11049000" cy="5539298"/>
          </a:xfrm>
        </p:spPr>
        <p:txBody>
          <a:bodyPr/>
          <a:lstStyle/>
          <a:p>
            <a:r>
              <a:rPr lang="zh-CN" altLang="en-US" sz="2400" dirty="0"/>
              <a:t>模块接口说明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sz="2400" dirty="0"/>
              <a:t>功能</a:t>
            </a:r>
            <a:endParaRPr lang="en-US" altLang="zh-CN" sz="2400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23" name="表格 23">
            <a:extLst>
              <a:ext uri="{FF2B5EF4-FFF2-40B4-BE49-F238E27FC236}">
                <a16:creationId xmlns:a16="http://schemas.microsoft.com/office/drawing/2014/main" id="{944D383C-42E8-4251-B9C8-55A734BA6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849919"/>
              </p:ext>
            </p:extLst>
          </p:nvPr>
        </p:nvGraphicFramePr>
        <p:xfrm>
          <a:off x="860164" y="1321537"/>
          <a:ext cx="6612691" cy="2199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277">
                  <a:extLst>
                    <a:ext uri="{9D8B030D-6E8A-4147-A177-3AD203B41FA5}">
                      <a16:colId xmlns:a16="http://schemas.microsoft.com/office/drawing/2014/main" val="3506273767"/>
                    </a:ext>
                  </a:extLst>
                </a:gridCol>
                <a:gridCol w="966952">
                  <a:extLst>
                    <a:ext uri="{9D8B030D-6E8A-4147-A177-3AD203B41FA5}">
                      <a16:colId xmlns:a16="http://schemas.microsoft.com/office/drawing/2014/main" val="2833099949"/>
                    </a:ext>
                  </a:extLst>
                </a:gridCol>
                <a:gridCol w="4025462">
                  <a:extLst>
                    <a:ext uri="{9D8B030D-6E8A-4147-A177-3AD203B41FA5}">
                      <a16:colId xmlns:a16="http://schemas.microsoft.com/office/drawing/2014/main" val="483743079"/>
                    </a:ext>
                  </a:extLst>
                </a:gridCol>
              </a:tblGrid>
              <a:tr h="44479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信号名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162156"/>
                  </a:ext>
                </a:extLst>
              </a:tr>
              <a:tr h="4387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pc[31:0]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当前指令地址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456730"/>
                  </a:ext>
                </a:extLst>
              </a:tr>
              <a:tr h="43870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clock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时钟信号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上升沿有效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392592"/>
                  </a:ext>
                </a:extLst>
              </a:tr>
              <a:tr h="43870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reset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复位信号   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低电平有效，同步复位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0342160"/>
                  </a:ext>
                </a:extLst>
              </a:tr>
              <a:tr h="438702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npc</a:t>
                      </a:r>
                      <a:r>
                        <a:rPr lang="en-US" altLang="zh-CN" dirty="0"/>
                        <a:t>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下条指令地址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03483"/>
                  </a:ext>
                </a:extLst>
              </a:tr>
            </a:tbl>
          </a:graphicData>
        </a:graphic>
      </p:graphicFrame>
      <p:graphicFrame>
        <p:nvGraphicFramePr>
          <p:cNvPr id="29" name="表格 29">
            <a:extLst>
              <a:ext uri="{FF2B5EF4-FFF2-40B4-BE49-F238E27FC236}">
                <a16:creationId xmlns:a16="http://schemas.microsoft.com/office/drawing/2014/main" id="{5154F9D3-26B8-40AF-9579-F35CF8CFF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2427565"/>
              </p:ext>
            </p:extLst>
          </p:nvPr>
        </p:nvGraphicFramePr>
        <p:xfrm>
          <a:off x="860164" y="4280648"/>
          <a:ext cx="8071950" cy="14599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6814">
                  <a:extLst>
                    <a:ext uri="{9D8B030D-6E8A-4147-A177-3AD203B41FA5}">
                      <a16:colId xmlns:a16="http://schemas.microsoft.com/office/drawing/2014/main" val="1646783832"/>
                    </a:ext>
                  </a:extLst>
                </a:gridCol>
                <a:gridCol w="6235136">
                  <a:extLst>
                    <a:ext uri="{9D8B030D-6E8A-4147-A177-3AD203B41FA5}">
                      <a16:colId xmlns:a16="http://schemas.microsoft.com/office/drawing/2014/main" val="2425045120"/>
                    </a:ext>
                  </a:extLst>
                </a:gridCol>
              </a:tblGrid>
              <a:tr h="48889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657042"/>
                  </a:ext>
                </a:extLst>
              </a:tr>
              <a:tr h="488894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复位功能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低电平时，异步复位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值为</a:t>
                      </a:r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0x3000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707505"/>
                  </a:ext>
                </a:extLst>
              </a:tr>
              <a:tr h="482197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写入功能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reset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高电平时，在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clock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的上升沿把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npc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写入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寄存器。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974505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A313A067-ECCE-4C88-A420-EFBA26A50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325" y="1024281"/>
            <a:ext cx="3047971" cy="298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664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8766C-1C8D-7243-69AA-D47C77097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PC</a:t>
            </a:r>
            <a:r>
              <a:rPr lang="zh-CN" altLang="en-US" dirty="0"/>
              <a:t>模块接口定义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6B7BDF3-4F06-AC7C-42F7-E905535D8F31}"/>
              </a:ext>
            </a:extLst>
          </p:cNvPr>
          <p:cNvSpPr txBox="1"/>
          <p:nvPr/>
        </p:nvSpPr>
        <p:spPr>
          <a:xfrm>
            <a:off x="1164333" y="2592851"/>
            <a:ext cx="7170370" cy="255069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</a:rPr>
              <a:t>//pc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模块接口定义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latin typeface="Courier New" panose="02070309020205020404" pitchFamily="49" charset="0"/>
              </a:rPr>
              <a:t>module pc(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output [31:0] pc   ,  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当前指令地址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		   input 	    clock,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		   input 	    reset,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		   input  [31:0] 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</a:rPr>
              <a:t>npc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  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下条指令地址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endParaRPr lang="zh-CN" altLang="en-US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59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2.2 </a:t>
            </a:r>
            <a:r>
              <a:rPr lang="zh-CN" altLang="en-US" dirty="0"/>
              <a:t>指令存储器设计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7334" y="1660635"/>
            <a:ext cx="9848776" cy="4380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800" b="1" dirty="0"/>
              <a:t>功能：</a:t>
            </a:r>
            <a:endParaRPr lang="en-US" altLang="zh-CN" sz="2800" b="1" dirty="0"/>
          </a:p>
          <a:p>
            <a:r>
              <a:rPr lang="zh-CN" altLang="en-US" sz="2800" dirty="0"/>
              <a:t>存储指令</a:t>
            </a:r>
            <a:endParaRPr lang="en-US" altLang="zh-CN" sz="2800" dirty="0"/>
          </a:p>
          <a:p>
            <a:pPr marL="0" indent="0">
              <a:buNone/>
            </a:pPr>
            <a:r>
              <a:rPr lang="en-US" altLang="zh-CN" sz="2800" dirty="0"/>
              <a:t>	</a:t>
            </a:r>
            <a:r>
              <a:rPr lang="zh-CN" altLang="en-US" sz="2800" dirty="0"/>
              <a:t>指令存储器不设计写端口，</a:t>
            </a:r>
            <a:r>
              <a:rPr lang="zh-CN" altLang="en-US" sz="2800" b="1" dirty="0"/>
              <a:t>指令通过其它方式提前存入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zh-CN" altLang="en-US" sz="2800" dirty="0"/>
              <a:t>取指令 → 一个读端口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r>
              <a:rPr lang="zh-CN" altLang="en-US" sz="2800" dirty="0"/>
              <a:t>读端口是</a:t>
            </a:r>
            <a:r>
              <a:rPr lang="zh-CN" altLang="en-US" sz="2800" dirty="0">
                <a:solidFill>
                  <a:srgbClr val="FF0000"/>
                </a:solidFill>
              </a:rPr>
              <a:t>组合逻辑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955517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5C80B-EFF7-4F19-9BA6-745F1E2E7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992" y="757382"/>
            <a:ext cx="10987088" cy="5533406"/>
          </a:xfrm>
        </p:spPr>
        <p:txBody>
          <a:bodyPr/>
          <a:lstStyle/>
          <a:p>
            <a:r>
              <a:rPr lang="zh-CN" altLang="en-US" sz="2400" dirty="0"/>
              <a:t>模块接口说明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sz="2400" dirty="0"/>
              <a:t>功能</a:t>
            </a:r>
            <a:endParaRPr lang="en-US" altLang="zh-CN" sz="2400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23" name="表格 23">
            <a:extLst>
              <a:ext uri="{FF2B5EF4-FFF2-40B4-BE49-F238E27FC236}">
                <a16:creationId xmlns:a16="http://schemas.microsoft.com/office/drawing/2014/main" id="{944D383C-42E8-4251-B9C8-55A734BA6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3551817"/>
              </p:ext>
            </p:extLst>
          </p:nvPr>
        </p:nvGraphicFramePr>
        <p:xfrm>
          <a:off x="837982" y="1378122"/>
          <a:ext cx="5562817" cy="1706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7581">
                  <a:extLst>
                    <a:ext uri="{9D8B030D-6E8A-4147-A177-3AD203B41FA5}">
                      <a16:colId xmlns:a16="http://schemas.microsoft.com/office/drawing/2014/main" val="3506273767"/>
                    </a:ext>
                  </a:extLst>
                </a:gridCol>
                <a:gridCol w="951345">
                  <a:extLst>
                    <a:ext uri="{9D8B030D-6E8A-4147-A177-3AD203B41FA5}">
                      <a16:colId xmlns:a16="http://schemas.microsoft.com/office/drawing/2014/main" val="2833099949"/>
                    </a:ext>
                  </a:extLst>
                </a:gridCol>
                <a:gridCol w="2613891">
                  <a:extLst>
                    <a:ext uri="{9D8B030D-6E8A-4147-A177-3AD203B41FA5}">
                      <a16:colId xmlns:a16="http://schemas.microsoft.com/office/drawing/2014/main" val="483743079"/>
                    </a:ext>
                  </a:extLst>
                </a:gridCol>
              </a:tblGrid>
              <a:tr h="57397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信号名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162156"/>
                  </a:ext>
                </a:extLst>
              </a:tr>
              <a:tr h="56610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instruction[31:0]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取出的指令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456730"/>
                  </a:ext>
                </a:extLst>
              </a:tr>
              <a:tr h="56610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pc[31:0]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指令的地址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03483"/>
                  </a:ext>
                </a:extLst>
              </a:tr>
            </a:tbl>
          </a:graphicData>
        </a:graphic>
      </p:graphicFrame>
      <p:graphicFrame>
        <p:nvGraphicFramePr>
          <p:cNvPr id="29" name="表格 29">
            <a:extLst>
              <a:ext uri="{FF2B5EF4-FFF2-40B4-BE49-F238E27FC236}">
                <a16:creationId xmlns:a16="http://schemas.microsoft.com/office/drawing/2014/main" id="{5154F9D3-26B8-40AF-9579-F35CF8CFF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469377"/>
              </p:ext>
            </p:extLst>
          </p:nvPr>
        </p:nvGraphicFramePr>
        <p:xfrm>
          <a:off x="837982" y="3966884"/>
          <a:ext cx="5710599" cy="12836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6409">
                  <a:extLst>
                    <a:ext uri="{9D8B030D-6E8A-4147-A177-3AD203B41FA5}">
                      <a16:colId xmlns:a16="http://schemas.microsoft.com/office/drawing/2014/main" val="1646783832"/>
                    </a:ext>
                  </a:extLst>
                </a:gridCol>
                <a:gridCol w="4314190">
                  <a:extLst>
                    <a:ext uri="{9D8B030D-6E8A-4147-A177-3AD203B41FA5}">
                      <a16:colId xmlns:a16="http://schemas.microsoft.com/office/drawing/2014/main" val="2425045120"/>
                    </a:ext>
                  </a:extLst>
                </a:gridCol>
              </a:tblGrid>
              <a:tr h="64183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657042"/>
                  </a:ext>
                </a:extLst>
              </a:tr>
              <a:tr h="64183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取指令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instruction =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指令存储器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zh-CN" sz="1800" kern="1200" dirty="0">
                          <a:solidFill>
                            <a:srgbClr val="00B05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707505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E27771C6-25C1-4E60-9371-A42773424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974" y="2153182"/>
            <a:ext cx="3879177" cy="255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693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40122-99F7-6EF5-7E62-51E7722E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548" y="126125"/>
            <a:ext cx="8596668" cy="1320800"/>
          </a:xfrm>
        </p:spPr>
        <p:txBody>
          <a:bodyPr/>
          <a:lstStyle/>
          <a:p>
            <a:r>
              <a:rPr lang="zh-CN" altLang="en-US" dirty="0"/>
              <a:t>指令存储器接口定义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6033735-4EDB-E009-208F-BD202D5C8CBB}"/>
              </a:ext>
            </a:extLst>
          </p:cNvPr>
          <p:cNvSpPr txBox="1"/>
          <p:nvPr/>
        </p:nvSpPr>
        <p:spPr>
          <a:xfrm>
            <a:off x="756162" y="933015"/>
            <a:ext cx="6552398" cy="25853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指令存储器接口定义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module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</a:rPr>
              <a:t>im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(output [31:0] instruction,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		   input  [31:0] pc           );      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指令存储器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4kB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大小，类型为字，所以大小为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1024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字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reg [31:0]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</a:rPr>
              <a:t>ins_memory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[1023:0];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 </a:t>
            </a:r>
            <a:endParaRPr lang="zh-CN" altLang="en-US" dirty="0">
              <a:solidFill>
                <a:srgbClr val="0070C0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9543411-BC23-DC1D-F0FC-9118F375D5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2590" y="3631324"/>
            <a:ext cx="10460964" cy="2777359"/>
          </a:xfrm>
        </p:spPr>
        <p:txBody>
          <a:bodyPr>
            <a:normAutofit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zh-CN" altLang="en-US" sz="2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问题</a:t>
            </a:r>
            <a:r>
              <a:rPr lang="en-US" altLang="zh-CN" sz="2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字节地址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200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ins_memory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数组是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字类型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解决方法：把字节地址转换为字地址。</a:t>
            </a:r>
            <a:endParaRPr lang="en-US" altLang="zh-CN" sz="2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2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问题</a:t>
            </a:r>
            <a:r>
              <a:rPr lang="en-US" altLang="zh-CN" sz="2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Mars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导出的</a:t>
            </a:r>
            <a:r>
              <a:rPr lang="en-US" altLang="zh-CN" sz="2200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mips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代码起始地址是</a:t>
            </a: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0x3000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。本</a:t>
            </a:r>
            <a:r>
              <a:rPr lang="en-US" altLang="zh-CN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lang="en-US" altLang="zh-CN" sz="2200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ins_memory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</a:t>
            </a: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单元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开始存放代码。</a:t>
            </a:r>
            <a:endParaRPr lang="en-US" altLang="zh-CN" sz="2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Clr>
                <a:schemeClr val="tx1"/>
              </a:buClr>
              <a:buNone/>
            </a:pPr>
            <a:r>
              <a:rPr lang="en-US" altLang="zh-CN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解决方法：屏蔽高位，只取</a:t>
            </a:r>
            <a:r>
              <a:rPr lang="en-US" altLang="zh-CN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低</a:t>
            </a:r>
            <a:r>
              <a:rPr lang="en-US" altLang="zh-CN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endParaRPr lang="en-US" altLang="zh-CN" sz="2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200" dirty="0">
                <a:solidFill>
                  <a:schemeClr val="tx1"/>
                </a:solidFill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</a:rPr>
              <a:t>※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最终，使用</a:t>
            </a:r>
            <a:r>
              <a:rPr lang="en-US" altLang="zh-CN" sz="22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pc[11:2]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作为</a:t>
            </a:r>
            <a:r>
              <a:rPr lang="en-US" altLang="zh-CN" sz="2200" dirty="0" err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ins_memory</a:t>
            </a:r>
            <a:r>
              <a:rPr lang="zh-CN" altLang="en-US" sz="2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数组的索引可以取到正确的指令。</a:t>
            </a:r>
            <a:endParaRPr lang="en-US" altLang="zh-CN" sz="22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4271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180397"/>
            <a:ext cx="10515600" cy="1325563"/>
          </a:xfrm>
        </p:spPr>
        <p:txBody>
          <a:bodyPr/>
          <a:lstStyle/>
          <a:p>
            <a:r>
              <a:rPr lang="en-US" altLang="zh-CN" dirty="0"/>
              <a:t>2.3 </a:t>
            </a:r>
            <a:r>
              <a:rPr lang="zh-CN" altLang="en-US" dirty="0"/>
              <a:t>寄存器堆设计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05960"/>
            <a:ext cx="10515600" cy="467100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800" b="1" dirty="0"/>
              <a:t>功能：</a:t>
            </a:r>
            <a:endParaRPr lang="en-US" altLang="zh-CN" sz="2800" b="1" dirty="0"/>
          </a:p>
          <a:p>
            <a:r>
              <a:rPr lang="zh-CN" altLang="en-US" sz="2800" dirty="0"/>
              <a:t>两个寄存器源操作数 </a:t>
            </a:r>
            <a:r>
              <a:rPr lang="en-US" altLang="zh-CN" sz="2800" dirty="0"/>
              <a:t>→ </a:t>
            </a:r>
            <a:r>
              <a:rPr lang="zh-CN" altLang="en-US" sz="2800" dirty="0"/>
              <a:t>两个读端口</a:t>
            </a:r>
            <a:endParaRPr lang="en-US" altLang="zh-CN" sz="2800" dirty="0"/>
          </a:p>
          <a:p>
            <a:r>
              <a:rPr lang="zh-CN" altLang="en-US" sz="2800" dirty="0"/>
              <a:t>写运算结果 </a:t>
            </a:r>
            <a:r>
              <a:rPr lang="en-US" altLang="zh-CN" sz="2800" dirty="0"/>
              <a:t>→ </a:t>
            </a:r>
            <a:r>
              <a:rPr lang="zh-CN" altLang="en-US" sz="2800" dirty="0"/>
              <a:t>一个写端口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r>
              <a:rPr lang="zh-CN" altLang="en-US" sz="2800" dirty="0"/>
              <a:t>读端口是</a:t>
            </a:r>
            <a:r>
              <a:rPr lang="zh-CN" altLang="en-US" sz="2800" dirty="0">
                <a:solidFill>
                  <a:srgbClr val="FF0000"/>
                </a:solidFill>
              </a:rPr>
              <a:t>组合逻辑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pPr marL="0" indent="0">
              <a:buNone/>
            </a:pPr>
            <a:endParaRPr lang="en-US" altLang="zh-CN" sz="2800" dirty="0"/>
          </a:p>
          <a:p>
            <a:r>
              <a:rPr lang="zh-CN" altLang="en-US" sz="2800" dirty="0"/>
              <a:t>写端口是</a:t>
            </a:r>
            <a:r>
              <a:rPr lang="zh-CN" altLang="en-US" sz="2800" dirty="0">
                <a:solidFill>
                  <a:srgbClr val="FF0000"/>
                </a:solidFill>
              </a:rPr>
              <a:t>时序逻辑</a:t>
            </a:r>
            <a:r>
              <a:rPr lang="zh-CN" altLang="en-US" sz="2800" dirty="0"/>
              <a:t>。</a:t>
            </a:r>
            <a:endParaRPr lang="en-US" altLang="zh-CN" sz="2800" dirty="0"/>
          </a:p>
          <a:p>
            <a:r>
              <a:rPr lang="zh-CN" altLang="en-US" sz="2800" dirty="0"/>
              <a:t>写端口需要写使能信号控制。</a:t>
            </a:r>
            <a:endParaRPr lang="en-US" altLang="zh-CN" sz="280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7743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5C80B-EFF7-4F19-9BA6-745F1E2E7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783" y="289034"/>
            <a:ext cx="11049000" cy="4822466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模块接口说明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sz="2400" dirty="0"/>
              <a:t>功能</a:t>
            </a:r>
            <a:endParaRPr lang="en-US" altLang="zh-CN" sz="2400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23" name="表格 23">
            <a:extLst>
              <a:ext uri="{FF2B5EF4-FFF2-40B4-BE49-F238E27FC236}">
                <a16:creationId xmlns:a16="http://schemas.microsoft.com/office/drawing/2014/main" id="{944D383C-42E8-4251-B9C8-55A734BA6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744064"/>
              </p:ext>
            </p:extLst>
          </p:nvPr>
        </p:nvGraphicFramePr>
        <p:xfrm>
          <a:off x="940477" y="809103"/>
          <a:ext cx="7112613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830">
                  <a:extLst>
                    <a:ext uri="{9D8B030D-6E8A-4147-A177-3AD203B41FA5}">
                      <a16:colId xmlns:a16="http://schemas.microsoft.com/office/drawing/2014/main" val="3506273767"/>
                    </a:ext>
                  </a:extLst>
                </a:gridCol>
                <a:gridCol w="1305846">
                  <a:extLst>
                    <a:ext uri="{9D8B030D-6E8A-4147-A177-3AD203B41FA5}">
                      <a16:colId xmlns:a16="http://schemas.microsoft.com/office/drawing/2014/main" val="2833099949"/>
                    </a:ext>
                  </a:extLst>
                </a:gridCol>
                <a:gridCol w="3891937">
                  <a:extLst>
                    <a:ext uri="{9D8B030D-6E8A-4147-A177-3AD203B41FA5}">
                      <a16:colId xmlns:a16="http://schemas.microsoft.com/office/drawing/2014/main" val="4837430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信号名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162156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a[31:0]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读寄存器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的值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456730"/>
                  </a:ext>
                </a:extLst>
              </a:tr>
              <a:tr h="18542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b[31:0]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读寄存器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的值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55154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rs</a:t>
                      </a:r>
                      <a:r>
                        <a:rPr lang="en-US" altLang="zh-CN" dirty="0"/>
                        <a:t>[4:0]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读寄存器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128144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rt</a:t>
                      </a:r>
                      <a:r>
                        <a:rPr lang="en-US" altLang="zh-CN" dirty="0"/>
                        <a:t>[4:0]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读寄存器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的编号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31862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clock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时钟信号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zh-CN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上升沿有效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371496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reg_write</a:t>
                      </a:r>
                      <a:endParaRPr lang="zh-CN" alt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I</a:t>
                      </a:r>
                      <a:endParaRPr lang="zh-CN" altLang="en-US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写使能信号   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：有效；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zh-CN" altLang="en-US" dirty="0">
                          <a:solidFill>
                            <a:srgbClr val="FF0000"/>
                          </a:solidFill>
                        </a:rPr>
                        <a:t>：无效。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59431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data_write</a:t>
                      </a:r>
                      <a:r>
                        <a:rPr lang="en-US" altLang="zh-CN" dirty="0"/>
                        <a:t>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写数据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034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num_write</a:t>
                      </a:r>
                      <a:r>
                        <a:rPr lang="en-US" altLang="zh-CN" dirty="0"/>
                        <a:t>[4:0]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写寄存器的编号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23569"/>
                  </a:ext>
                </a:extLst>
              </a:tr>
            </a:tbl>
          </a:graphicData>
        </a:graphic>
      </p:graphicFrame>
      <p:graphicFrame>
        <p:nvGraphicFramePr>
          <p:cNvPr id="29" name="表格 29">
            <a:extLst>
              <a:ext uri="{FF2B5EF4-FFF2-40B4-BE49-F238E27FC236}">
                <a16:creationId xmlns:a16="http://schemas.microsoft.com/office/drawing/2014/main" id="{5154F9D3-26B8-40AF-9579-F35CF8CFF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5656763"/>
              </p:ext>
            </p:extLst>
          </p:nvPr>
        </p:nvGraphicFramePr>
        <p:xfrm>
          <a:off x="898435" y="4941457"/>
          <a:ext cx="10048089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8603">
                  <a:extLst>
                    <a:ext uri="{9D8B030D-6E8A-4147-A177-3AD203B41FA5}">
                      <a16:colId xmlns:a16="http://schemas.microsoft.com/office/drawing/2014/main" val="1646783832"/>
                    </a:ext>
                  </a:extLst>
                </a:gridCol>
                <a:gridCol w="8049486">
                  <a:extLst>
                    <a:ext uri="{9D8B030D-6E8A-4147-A177-3AD203B41FA5}">
                      <a16:colId xmlns:a16="http://schemas.microsoft.com/office/drawing/2014/main" val="24250451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657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读寄存器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a/b = 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寄存器堆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rs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rt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7075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写寄存器</a:t>
                      </a:r>
                      <a:endParaRPr lang="en-US" alt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clock</a:t>
                      </a:r>
                      <a:r>
                        <a:rPr lang="zh-CN" alt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的上升沿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，如果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reg_write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有效，寄存器堆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</a:t>
                      </a:r>
                      <a:r>
                        <a:rPr lang="en-US" altLang="zh-C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num_write</a:t>
                      </a:r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 = </a:t>
                      </a:r>
                      <a:r>
                        <a:rPr lang="en-US" altLang="zh-CN" dirty="0" err="1"/>
                        <a:t>data_write</a:t>
                      </a:r>
                      <a:r>
                        <a:rPr lang="zh-CN" altLang="en-US" dirty="0"/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3974505"/>
                  </a:ext>
                </a:extLst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0404" y="1091948"/>
            <a:ext cx="3338932" cy="301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050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D95EBA-E1EC-579C-5474-A2C6DF756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75" y="236482"/>
            <a:ext cx="8596668" cy="1320800"/>
          </a:xfrm>
        </p:spPr>
        <p:txBody>
          <a:bodyPr/>
          <a:lstStyle/>
          <a:p>
            <a:r>
              <a:rPr lang="zh-CN" altLang="en-US" dirty="0"/>
              <a:t>寄存器堆模块接口定义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22E3E1-EC43-D04E-D08C-EC9018811A1E}"/>
              </a:ext>
            </a:extLst>
          </p:cNvPr>
          <p:cNvSpPr txBox="1"/>
          <p:nvPr/>
        </p:nvSpPr>
        <p:spPr>
          <a:xfrm>
            <a:off x="1682750" y="1355809"/>
            <a:ext cx="7525108" cy="50783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寄存器堆模块接口定义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module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</a:rPr>
              <a:t>gpr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(output [31:0] a         ,  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寄存器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的值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		    output [31:0] b         ,  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寄存器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2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的值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		    input         clock     ,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		    input        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</a:rPr>
              <a:t>reg_write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 ,  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写使能信号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		    input [4:0]  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</a:rPr>
              <a:t>rs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        , 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读寄存器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1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编号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		    input [4:0]  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</a:rPr>
              <a:t>rt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        , 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读寄存器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2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编号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		    input [4:0]  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</a:rPr>
              <a:t>num_write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 , 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写寄存器编号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		    input [31:0] 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</a:rPr>
              <a:t>data_write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  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写数据      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);</a:t>
            </a:r>
            <a:r>
              <a:rPr lang="en-US" altLang="zh-CN" dirty="0">
                <a:latin typeface="Courier New" panose="02070309020205020404" pitchFamily="49" charset="0"/>
              </a:rPr>
              <a:t> 	</a:t>
            </a: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</a:rPr>
              <a:t>reg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 [31:0]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</a:rPr>
              <a:t>gp_registers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[31:0]; //32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</a:rPr>
              <a:t>个寄存器</a:t>
            </a:r>
            <a:endParaRPr lang="en-US" altLang="zh-CN" dirty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endParaRPr lang="zh-CN" alt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355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45C80B-EFF7-4F19-9BA6-745F1E2E7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371" y="1198179"/>
            <a:ext cx="11049000" cy="4506831"/>
          </a:xfrm>
        </p:spPr>
        <p:txBody>
          <a:bodyPr/>
          <a:lstStyle/>
          <a:p>
            <a:r>
              <a:rPr lang="zh-CN" altLang="en-US" sz="2400" dirty="0"/>
              <a:t>模块接口说明</a:t>
            </a:r>
            <a:endParaRPr lang="en-US" altLang="zh-CN" sz="2400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sz="2400" dirty="0"/>
              <a:t>功能</a:t>
            </a:r>
            <a:endParaRPr lang="en-US" altLang="zh-CN" sz="2400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graphicFrame>
        <p:nvGraphicFramePr>
          <p:cNvPr id="23" name="表格 23">
            <a:extLst>
              <a:ext uri="{FF2B5EF4-FFF2-40B4-BE49-F238E27FC236}">
                <a16:creationId xmlns:a16="http://schemas.microsoft.com/office/drawing/2014/main" id="{944D383C-42E8-4251-B9C8-55A734BA6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1540485"/>
              </p:ext>
            </p:extLst>
          </p:nvPr>
        </p:nvGraphicFramePr>
        <p:xfrm>
          <a:off x="871369" y="1746216"/>
          <a:ext cx="5650300" cy="1705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41">
                  <a:extLst>
                    <a:ext uri="{9D8B030D-6E8A-4147-A177-3AD203B41FA5}">
                      <a16:colId xmlns:a16="http://schemas.microsoft.com/office/drawing/2014/main" val="3506273767"/>
                    </a:ext>
                  </a:extLst>
                </a:gridCol>
                <a:gridCol w="1371868">
                  <a:extLst>
                    <a:ext uri="{9D8B030D-6E8A-4147-A177-3AD203B41FA5}">
                      <a16:colId xmlns:a16="http://schemas.microsoft.com/office/drawing/2014/main" val="2833099949"/>
                    </a:ext>
                  </a:extLst>
                </a:gridCol>
                <a:gridCol w="2266791">
                  <a:extLst>
                    <a:ext uri="{9D8B030D-6E8A-4147-A177-3AD203B41FA5}">
                      <a16:colId xmlns:a16="http://schemas.microsoft.com/office/drawing/2014/main" val="483743079"/>
                    </a:ext>
                  </a:extLst>
                </a:gridCol>
              </a:tblGrid>
              <a:tr h="42928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信号名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方向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162156"/>
                  </a:ext>
                </a:extLst>
              </a:tr>
              <a:tr h="423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c[31:0]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O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和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8456730"/>
                  </a:ext>
                </a:extLst>
              </a:tr>
              <a:tr h="423404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被加数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403483"/>
                  </a:ext>
                </a:extLst>
              </a:tr>
              <a:tr h="429285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b[31:0]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/>
                        <a:t>加数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423569"/>
                  </a:ext>
                </a:extLst>
              </a:tr>
            </a:tbl>
          </a:graphicData>
        </a:graphic>
      </p:graphicFrame>
      <p:graphicFrame>
        <p:nvGraphicFramePr>
          <p:cNvPr id="29" name="表格 29">
            <a:extLst>
              <a:ext uri="{FF2B5EF4-FFF2-40B4-BE49-F238E27FC236}">
                <a16:creationId xmlns:a16="http://schemas.microsoft.com/office/drawing/2014/main" id="{5154F9D3-26B8-40AF-9579-F35CF8CFF0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582796"/>
              </p:ext>
            </p:extLst>
          </p:nvPr>
        </p:nvGraphicFramePr>
        <p:xfrm>
          <a:off x="871370" y="4314522"/>
          <a:ext cx="4121044" cy="9753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900">
                  <a:extLst>
                    <a:ext uri="{9D8B030D-6E8A-4147-A177-3AD203B41FA5}">
                      <a16:colId xmlns:a16="http://schemas.microsoft.com/office/drawing/2014/main" val="1646783832"/>
                    </a:ext>
                  </a:extLst>
                </a:gridCol>
                <a:gridCol w="2332144">
                  <a:extLst>
                    <a:ext uri="{9D8B030D-6E8A-4147-A177-3AD203B41FA5}">
                      <a16:colId xmlns:a16="http://schemas.microsoft.com/office/drawing/2014/main" val="2425045120"/>
                    </a:ext>
                  </a:extLst>
                </a:gridCol>
              </a:tblGrid>
              <a:tr h="48766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功能描述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657042"/>
                  </a:ext>
                </a:extLst>
              </a:tr>
              <a:tr h="487665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加法功能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 = a + b</a:t>
                      </a:r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707505"/>
                  </a:ext>
                </a:extLst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775855" y="341746"/>
            <a:ext cx="10215418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2.4 ALU</a:t>
            </a:r>
            <a:r>
              <a:rPr lang="zh-CN" altLang="en-US" sz="36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设计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267843D-C55C-D0C5-7F82-3F0B4F4C4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5655" y="2450224"/>
            <a:ext cx="2728658" cy="251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08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22630-FE32-9899-D8D7-7D59FE567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ALU</a:t>
            </a:r>
            <a:r>
              <a:rPr lang="zh-CN" altLang="en-US" dirty="0"/>
              <a:t>模块接口定义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BC0907-9174-7F05-D9BC-778912DF836B}"/>
              </a:ext>
            </a:extLst>
          </p:cNvPr>
          <p:cNvSpPr txBox="1"/>
          <p:nvPr/>
        </p:nvSpPr>
        <p:spPr>
          <a:xfrm>
            <a:off x="2129678" y="2488101"/>
            <a:ext cx="4187676" cy="216982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</a:rPr>
              <a:t>//ALU</a:t>
            </a:r>
            <a:r>
              <a:rPr lang="zh-CN" altLang="zh-CN" dirty="0">
                <a:solidFill>
                  <a:srgbClr val="FF0000"/>
                </a:solidFill>
                <a:latin typeface="Courier New" panose="02070309020205020404" pitchFamily="49" charset="0"/>
              </a:rPr>
              <a:t>模块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</a:rPr>
              <a:t>接口定义</a:t>
            </a:r>
            <a:endParaRPr lang="zh-CN" altLang="zh-CN" dirty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tabLst>
                <a:tab pos="495300" algn="l"/>
              </a:tabLst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module alu(output </a:t>
            </a:r>
            <a:r>
              <a:rPr lang="en-US" altLang="zh-CN" sz="18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[31:0] c,</a:t>
            </a:r>
            <a:endParaRPr lang="zh-CN" altLang="zh-CN" sz="2000" dirty="0">
              <a:effectLst/>
              <a:latin typeface="Times New Roman" panose="02020603050405020304" pitchFamily="18" charset="0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solidFill>
                  <a:srgbClr val="0070C0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	        input  [31:0] a,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</a:rPr>
              <a:t>           input  [31:0] b );  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3304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349" y="1267439"/>
            <a:ext cx="3026130" cy="273631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27771C6-25C1-4E60-9371-A42773424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060" y="1267439"/>
            <a:ext cx="2841531" cy="18690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313A067-ECCE-4C88-A420-EFBA26A50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306" y="3923414"/>
            <a:ext cx="1994719" cy="195257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C3E9E4B-465C-A6C6-A1C7-C08EBC0322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103" y="1317734"/>
            <a:ext cx="2289793" cy="211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12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804FB4-9D42-43AA-B2C8-D51EBC067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27" y="499050"/>
            <a:ext cx="8635820" cy="757420"/>
          </a:xfrm>
        </p:spPr>
        <p:txBody>
          <a:bodyPr/>
          <a:lstStyle/>
          <a:p>
            <a:r>
              <a:rPr lang="en-US" altLang="zh-CN" dirty="0"/>
              <a:t>3 </a:t>
            </a:r>
            <a:r>
              <a:rPr lang="zh-CN" altLang="en-US" dirty="0"/>
              <a:t>数据通路图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056A43-06D5-DE88-8F29-582891AAFDAB}"/>
              </a:ext>
            </a:extLst>
          </p:cNvPr>
          <p:cNvSpPr txBox="1"/>
          <p:nvPr/>
        </p:nvSpPr>
        <p:spPr>
          <a:xfrm>
            <a:off x="5037037" y="273747"/>
            <a:ext cx="6480111" cy="17543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顶层模块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module </a:t>
            </a:r>
            <a:r>
              <a:rPr lang="en-US" altLang="zh-CN" dirty="0" err="1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s_cycle_cpu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(input clock, 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时钟信号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		            input reset  //</a:t>
            </a: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复位信号  </a:t>
            </a:r>
            <a:r>
              <a:rPr lang="en-US" altLang="zh-CN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E8810B-7447-6C64-AABD-AD74DCE10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371" y="1812312"/>
            <a:ext cx="10776777" cy="460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65E17-E94A-44AF-9A65-6F6F3DC15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控制模块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DA1873-A6EA-47B0-9760-62A4F8EF0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709" y="1761132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Courier New" panose="02070309020205020404" pitchFamily="49" charset="0"/>
              </a:rPr>
              <a:t>module ctrl(output </a:t>
            </a:r>
            <a:r>
              <a:rPr lang="en-US" altLang="zh-CN" sz="1800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reg_write</a:t>
            </a:r>
            <a:r>
              <a:rPr lang="en-US" altLang="zh-CN" sz="1800" dirty="0">
                <a:solidFill>
                  <a:schemeClr val="accent1"/>
                </a:solidFill>
                <a:latin typeface="Courier New" panose="02070309020205020404" pitchFamily="49" charset="0"/>
              </a:rPr>
              <a:t>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Courier New" panose="02070309020205020404" pitchFamily="49" charset="0"/>
              </a:rPr>
              <a:t>	     input [5:0] op,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800" dirty="0">
                <a:solidFill>
                  <a:schemeClr val="accent1"/>
                </a:solidFill>
                <a:latin typeface="Courier New" panose="02070309020205020404" pitchFamily="49" charset="0"/>
              </a:rPr>
              <a:t>	     input [5:0] </a:t>
            </a:r>
            <a:r>
              <a:rPr lang="en-US" altLang="zh-CN" sz="1800" dirty="0" err="1">
                <a:solidFill>
                  <a:schemeClr val="accent1"/>
                </a:solidFill>
                <a:latin typeface="Courier New" panose="02070309020205020404" pitchFamily="49" charset="0"/>
              </a:rPr>
              <a:t>funct</a:t>
            </a:r>
            <a:r>
              <a:rPr lang="zh-CN" altLang="en-US" sz="1800" dirty="0">
                <a:solidFill>
                  <a:schemeClr val="accent1"/>
                </a:solidFill>
                <a:latin typeface="Courier New" panose="02070309020205020404" pitchFamily="49" charset="0"/>
              </a:rPr>
              <a:t>  </a:t>
            </a:r>
            <a:r>
              <a:rPr lang="en-US" altLang="zh-CN" sz="1800" dirty="0">
                <a:solidFill>
                  <a:schemeClr val="accent1"/>
                </a:solidFill>
                <a:latin typeface="Courier New" panose="02070309020205020404" pitchFamily="49" charset="0"/>
              </a:rPr>
              <a:t>);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FECEF6-D43F-4220-A872-6B1849EE5493}"/>
              </a:ext>
            </a:extLst>
          </p:cNvPr>
          <p:cNvSpPr txBox="1"/>
          <p:nvPr/>
        </p:nvSpPr>
        <p:spPr>
          <a:xfrm>
            <a:off x="1888117" y="4425419"/>
            <a:ext cx="7849717" cy="110799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sz="2400" dirty="0"/>
              <a:t>提示：</a:t>
            </a:r>
            <a:endParaRPr lang="en-US" altLang="zh-CN" sz="2400" dirty="0"/>
          </a:p>
          <a:p>
            <a:r>
              <a:rPr lang="en-US" altLang="zh-CN" sz="2400" dirty="0"/>
              <a:t>     </a:t>
            </a:r>
            <a:r>
              <a:rPr lang="zh-CN" altLang="en-US" sz="2400" b="0" dirty="0"/>
              <a:t>目前</a:t>
            </a:r>
            <a:r>
              <a:rPr lang="en-US" altLang="zh-CN" sz="2400" b="0" dirty="0" err="1"/>
              <a:t>reg_write</a:t>
            </a:r>
            <a:r>
              <a:rPr lang="zh-CN" altLang="en-US" sz="2400" b="0" dirty="0"/>
              <a:t>一直为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，可以不定义控制模块。</a:t>
            </a:r>
            <a:endParaRPr lang="en-US" altLang="zh-CN" sz="2400" b="0" dirty="0"/>
          </a:p>
          <a:p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28190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C972ED-C2D2-4B8B-B02E-217E61C91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54" y="210899"/>
            <a:ext cx="10306050" cy="758825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附：加载指令到指令存储器（</a:t>
            </a:r>
            <a:r>
              <a:rPr lang="zh-CN" altLang="en-US" sz="3600" b="1" dirty="0">
                <a:solidFill>
                  <a:srgbClr val="FF0000"/>
                </a:solidFill>
              </a:rPr>
              <a:t>在</a:t>
            </a:r>
            <a:r>
              <a:rPr lang="en-US" altLang="zh-CN" sz="3600" b="1" dirty="0">
                <a:solidFill>
                  <a:srgbClr val="FF0000"/>
                </a:solidFill>
              </a:rPr>
              <a:t>testbench</a:t>
            </a:r>
            <a:r>
              <a:rPr lang="zh-CN" altLang="en-US" sz="3600" b="1" dirty="0">
                <a:solidFill>
                  <a:srgbClr val="FF0000"/>
                </a:solidFill>
              </a:rPr>
              <a:t>中实现</a:t>
            </a:r>
            <a:r>
              <a:rPr lang="zh-CN" altLang="en-US" sz="3600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49FCCD5-A2B8-4BA0-8663-AF661A1780FC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029" y="969724"/>
            <a:ext cx="8689686" cy="5581015"/>
          </a:xfrm>
          <a:prstGeom prst="rect">
            <a:avLst/>
          </a:prstGeom>
        </p:spPr>
      </p:pic>
      <p:sp>
        <p:nvSpPr>
          <p:cNvPr id="3" name="线形标注 2 2"/>
          <p:cNvSpPr/>
          <p:nvPr/>
        </p:nvSpPr>
        <p:spPr>
          <a:xfrm>
            <a:off x="399392" y="1199475"/>
            <a:ext cx="2007957" cy="758826"/>
          </a:xfrm>
          <a:prstGeom prst="borderCallout2">
            <a:avLst>
              <a:gd name="adj1" fmla="val 75892"/>
              <a:gd name="adj2" fmla="val 92796"/>
              <a:gd name="adj3" fmla="val 135632"/>
              <a:gd name="adj4" fmla="val 111017"/>
              <a:gd name="adj5" fmla="val 157349"/>
              <a:gd name="adj6" fmla="val 14072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这个文本文件是从</a:t>
            </a:r>
            <a:r>
              <a:rPr lang="en-US" altLang="zh-CN" dirty="0"/>
              <a:t>Mars</a:t>
            </a:r>
            <a:r>
              <a:rPr lang="zh-CN" altLang="en-US" dirty="0"/>
              <a:t>中导出的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FF976A-3C64-FA25-4121-859FDB00D17A}"/>
              </a:ext>
            </a:extLst>
          </p:cNvPr>
          <p:cNvSpPr txBox="1"/>
          <p:nvPr/>
        </p:nvSpPr>
        <p:spPr>
          <a:xfrm>
            <a:off x="97584" y="3133564"/>
            <a:ext cx="2721935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b="1">
                <a:solidFill>
                  <a:srgbClr val="00B050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sz="2400" dirty="0">
                <a:solidFill>
                  <a:schemeClr val="tx1"/>
                </a:solidFill>
              </a:rPr>
              <a:t>提醒：</a:t>
            </a:r>
            <a:endParaRPr lang="en-US" altLang="zh-CN" sz="2400" dirty="0">
              <a:solidFill>
                <a:schemeClr val="tx1"/>
              </a:solidFill>
            </a:endParaRPr>
          </a:p>
          <a:p>
            <a:r>
              <a:rPr lang="zh-CN" altLang="en-US" sz="2400" b="0" dirty="0">
                <a:solidFill>
                  <a:schemeClr val="tx1"/>
                </a:solidFill>
              </a:rPr>
              <a:t>加载十六进制的指令用</a:t>
            </a:r>
            <a:r>
              <a:rPr lang="en-US" altLang="zh-CN" sz="2400" b="0" dirty="0">
                <a:solidFill>
                  <a:schemeClr val="tx1"/>
                </a:solidFill>
              </a:rPr>
              <a:t>$</a:t>
            </a:r>
            <a:r>
              <a:rPr lang="en-US" altLang="zh-CN" sz="2400" b="0" dirty="0" err="1">
                <a:solidFill>
                  <a:schemeClr val="tx1"/>
                </a:solidFill>
              </a:rPr>
              <a:t>readmem</a:t>
            </a:r>
            <a:r>
              <a:rPr lang="en-US" altLang="zh-CN" sz="2400" b="0" dirty="0" err="1">
                <a:solidFill>
                  <a:srgbClr val="FF0000"/>
                </a:solidFill>
              </a:rPr>
              <a:t>h</a:t>
            </a:r>
            <a:r>
              <a:rPr lang="en-US" altLang="zh-CN" sz="2400" b="0" dirty="0">
                <a:solidFill>
                  <a:schemeClr val="tx1"/>
                </a:solidFill>
              </a:rPr>
              <a:t>;</a:t>
            </a:r>
          </a:p>
          <a:p>
            <a:r>
              <a:rPr lang="zh-CN" altLang="en-US" sz="2400" b="0" dirty="0">
                <a:solidFill>
                  <a:schemeClr val="tx1"/>
                </a:solidFill>
              </a:rPr>
              <a:t>加载二进制的指令用</a:t>
            </a:r>
            <a:r>
              <a:rPr lang="en-US" altLang="zh-CN" sz="2400" b="0" dirty="0">
                <a:solidFill>
                  <a:schemeClr val="tx1"/>
                </a:solidFill>
              </a:rPr>
              <a:t>$</a:t>
            </a:r>
            <a:r>
              <a:rPr lang="en-US" altLang="zh-CN" sz="2400" b="0" dirty="0" err="1">
                <a:solidFill>
                  <a:schemeClr val="tx1"/>
                </a:solidFill>
              </a:rPr>
              <a:t>readmem</a:t>
            </a:r>
            <a:r>
              <a:rPr lang="en-US" altLang="zh-CN" sz="2400" b="0" dirty="0" err="1">
                <a:solidFill>
                  <a:srgbClr val="FF0000"/>
                </a:solidFill>
              </a:rPr>
              <a:t>b</a:t>
            </a:r>
            <a:r>
              <a:rPr lang="zh-CN" altLang="en-US" sz="2400" b="0" dirty="0">
                <a:solidFill>
                  <a:schemeClr val="tx1"/>
                </a:solidFill>
              </a:rPr>
              <a:t>。</a:t>
            </a:r>
            <a:endParaRPr lang="zh-CN" altLang="en-US" b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14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29368</TotalTime>
  <Words>1224</Words>
  <Application>Microsoft Office PowerPoint</Application>
  <PresentationFormat>宽屏</PresentationFormat>
  <Paragraphs>251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quote-cjk-patch</vt:lpstr>
      <vt:lpstr>等线</vt:lpstr>
      <vt:lpstr>楷体</vt:lpstr>
      <vt:lpstr>Arial</vt:lpstr>
      <vt:lpstr>Courier New</vt:lpstr>
      <vt:lpstr>Times New Roman</vt:lpstr>
      <vt:lpstr>Trebuchet MS</vt:lpstr>
      <vt:lpstr>Wingdings 3</vt:lpstr>
      <vt:lpstr>平面</vt:lpstr>
      <vt:lpstr>支持addu指令的单周期CPU设计</vt:lpstr>
      <vt:lpstr>几个基本概念</vt:lpstr>
      <vt:lpstr>实验过程</vt:lpstr>
      <vt:lpstr>1  addu指令的功能</vt:lpstr>
      <vt:lpstr>从指令功能推导所需硬件部件</vt:lpstr>
      <vt:lpstr>2 基本模块设计</vt:lpstr>
      <vt:lpstr>2.1 PC寄存器设计</vt:lpstr>
      <vt:lpstr>PowerPoint 演示文稿</vt:lpstr>
      <vt:lpstr>PC模块接口定义</vt:lpstr>
      <vt:lpstr>2.2 指令存储器设计</vt:lpstr>
      <vt:lpstr>PowerPoint 演示文稿</vt:lpstr>
      <vt:lpstr>指令存储器接口定义</vt:lpstr>
      <vt:lpstr>2.3 寄存器堆设计</vt:lpstr>
      <vt:lpstr>PowerPoint 演示文稿</vt:lpstr>
      <vt:lpstr>寄存器堆模块接口定义</vt:lpstr>
      <vt:lpstr>PowerPoint 演示文稿</vt:lpstr>
      <vt:lpstr>ALU模块接口定义</vt:lpstr>
      <vt:lpstr>PowerPoint 演示文稿</vt:lpstr>
      <vt:lpstr>3 数据通路图</vt:lpstr>
      <vt:lpstr>控制模块</vt:lpstr>
      <vt:lpstr>附：加载指令到指令存储器（在testbench中实现）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guo yan</dc:creator>
  <cp:lastModifiedBy>yan guo</cp:lastModifiedBy>
  <cp:revision>427</cp:revision>
  <dcterms:created xsi:type="dcterms:W3CDTF">2020-03-13T01:07:41Z</dcterms:created>
  <dcterms:modified xsi:type="dcterms:W3CDTF">2026-05-11T09:53:57Z</dcterms:modified>
</cp:coreProperties>
</file>