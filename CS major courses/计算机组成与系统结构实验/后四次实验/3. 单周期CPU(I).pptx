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27" r:id="rId3"/>
    <p:sldId id="265" r:id="rId4"/>
    <p:sldId id="328" r:id="rId5"/>
    <p:sldId id="322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18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57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289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694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213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48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0698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791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14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4457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91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6289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193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30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94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50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4781" y="2645740"/>
            <a:ext cx="8760574" cy="137859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altLang="zh-CN" dirty="0"/>
            </a:br>
            <a:br>
              <a:rPr lang="en-US" altLang="zh-CN" dirty="0"/>
            </a:br>
            <a:r>
              <a:rPr lang="zh-CN" altLang="en-US" b="1" dirty="0"/>
              <a:t>增加实现</a:t>
            </a:r>
            <a:r>
              <a:rPr lang="en-US" altLang="zh-CN" b="1" dirty="0"/>
              <a:t>I</a:t>
            </a:r>
            <a:r>
              <a:rPr lang="zh-CN" altLang="en-US" b="1" dirty="0"/>
              <a:t>型指令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BA099-F39D-4F35-A579-193B540F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1" y="366568"/>
            <a:ext cx="10515600" cy="1325563"/>
          </a:xfrm>
        </p:spPr>
        <p:txBody>
          <a:bodyPr/>
          <a:lstStyle/>
          <a:p>
            <a:r>
              <a:rPr lang="zh-CN" altLang="en-US" b="1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8891" y="1858386"/>
            <a:ext cx="11002818" cy="2990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1. </a:t>
            </a:r>
            <a:r>
              <a:rPr lang="zh-CN" altLang="en-US" sz="2800" dirty="0">
                <a:solidFill>
                  <a:srgbClr val="FF0000"/>
                </a:solidFill>
              </a:rPr>
              <a:t>分析</a:t>
            </a:r>
            <a:r>
              <a:rPr lang="zh-CN" altLang="en-US" sz="2800" dirty="0"/>
              <a:t>指令，确定复用部分和需要增加的硬件功能；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2. </a:t>
            </a:r>
            <a:r>
              <a:rPr lang="zh-CN" altLang="en-US" sz="2800" dirty="0">
                <a:solidFill>
                  <a:srgbClr val="FF0000"/>
                </a:solidFill>
              </a:rPr>
              <a:t>设计</a:t>
            </a:r>
            <a:r>
              <a:rPr lang="zh-CN" altLang="en-US" sz="2800" dirty="0"/>
              <a:t>数据通路和控制逻辑；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3. </a:t>
            </a:r>
            <a:r>
              <a:rPr lang="zh-CN" altLang="en-US" sz="2800" dirty="0"/>
              <a:t>用</a:t>
            </a:r>
            <a:r>
              <a:rPr lang="en-US" altLang="zh-CN" sz="2800" dirty="0"/>
              <a:t>Verilog </a:t>
            </a:r>
            <a:r>
              <a:rPr lang="zh-CN" altLang="en-US" sz="2800" dirty="0"/>
              <a:t>语言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设计。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CN" sz="2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133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2271B-8BA8-4F3A-BBCA-9AACC2DED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325667"/>
            <a:ext cx="10515600" cy="892175"/>
          </a:xfrm>
        </p:spPr>
        <p:txBody>
          <a:bodyPr/>
          <a:lstStyle/>
          <a:p>
            <a:r>
              <a:rPr lang="zh-CN" altLang="en-US" dirty="0"/>
              <a:t>指令格式</a:t>
            </a:r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880D9436-DA81-AA47-546D-525BEA116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375540"/>
              </p:ext>
            </p:extLst>
          </p:nvPr>
        </p:nvGraphicFramePr>
        <p:xfrm>
          <a:off x="627628" y="1580740"/>
          <a:ext cx="10936743" cy="4059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810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4321923">
                  <a:extLst>
                    <a:ext uri="{9D8B030D-6E8A-4147-A177-3AD203B41FA5}">
                      <a16:colId xmlns:a16="http://schemas.microsoft.com/office/drawing/2014/main" val="556409912"/>
                    </a:ext>
                  </a:extLst>
                </a:gridCol>
                <a:gridCol w="1199917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1005487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  <a:gridCol w="883272">
                  <a:extLst>
                    <a:ext uri="{9D8B030D-6E8A-4147-A177-3AD203B41FA5}">
                      <a16:colId xmlns:a16="http://schemas.microsoft.com/office/drawing/2014/main" val="2896182007"/>
                    </a:ext>
                  </a:extLst>
                </a:gridCol>
                <a:gridCol w="1185334">
                  <a:extLst>
                    <a:ext uri="{9D8B030D-6E8A-4147-A177-3AD203B41FA5}">
                      <a16:colId xmlns:a16="http://schemas.microsoft.com/office/drawing/2014/main" val="2760008904"/>
                    </a:ext>
                  </a:extLst>
                </a:gridCol>
              </a:tblGrid>
              <a:tr h="53328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指令格式</a:t>
                      </a:r>
                    </a:p>
                  </a:txBody>
                  <a:tcPr anchor="ctr" anchorCtr="1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描述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31       26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25   21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20  16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15         0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634185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op(6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r>
                        <a:rPr lang="en-US" altLang="zh-CN" dirty="0"/>
                        <a:t>(16</a:t>
                      </a:r>
                      <a:r>
                        <a:rPr lang="zh-CN" altLang="en-US" dirty="0"/>
                        <a:t>位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6341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addi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GPR[rt]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+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sign_extend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001000 	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20418"/>
                  </a:ext>
                </a:extLst>
              </a:tr>
              <a:tr h="4575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addiu rt,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GPR[rt]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+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sign_extend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001001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871472"/>
                  </a:ext>
                </a:extLst>
              </a:tr>
              <a:tr h="6341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andi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GPR[rt]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&amp;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zero_extend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001100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741943"/>
                  </a:ext>
                </a:extLst>
              </a:tr>
              <a:tr h="5141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ori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GPR[rt]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 |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zero_extend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001101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615611"/>
                  </a:ext>
                </a:extLst>
              </a:tr>
              <a:tr h="6341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lui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   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GPR[rt]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CN" sz="180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}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001111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4996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1E7F607-059B-A3DF-97B3-E949AE4406DA}"/>
              </a:ext>
            </a:extLst>
          </p:cNvPr>
          <p:cNvSpPr/>
          <p:nvPr/>
        </p:nvSpPr>
        <p:spPr>
          <a:xfrm>
            <a:off x="10401300" y="1580740"/>
            <a:ext cx="1163071" cy="4059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E3C39A-766D-59F6-8DA7-F92B44CDE2FA}"/>
              </a:ext>
            </a:extLst>
          </p:cNvPr>
          <p:cNvSpPr/>
          <p:nvPr/>
        </p:nvSpPr>
        <p:spPr>
          <a:xfrm>
            <a:off x="5072743" y="2764971"/>
            <a:ext cx="2090057" cy="213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E0F9EA-4C49-5DA9-2671-9CD93A3B1C04}"/>
              </a:ext>
            </a:extLst>
          </p:cNvPr>
          <p:cNvSpPr/>
          <p:nvPr/>
        </p:nvSpPr>
        <p:spPr>
          <a:xfrm>
            <a:off x="1279071" y="2764971"/>
            <a:ext cx="348343" cy="2737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4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型指令比较分析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99" y="1285875"/>
            <a:ext cx="11594969" cy="48910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</a:t>
            </a:r>
            <a:r>
              <a:rPr lang="en-US" altLang="zh-CN" sz="2800" dirty="0"/>
              <a:t> I</a:t>
            </a:r>
            <a:r>
              <a:rPr lang="zh-CN" altLang="en-US" sz="2800" dirty="0"/>
              <a:t>型指令和</a:t>
            </a:r>
            <a:r>
              <a:rPr lang="en-US" altLang="zh-CN" sz="2800" dirty="0"/>
              <a:t>R</a:t>
            </a:r>
            <a:r>
              <a:rPr lang="zh-CN" altLang="en-US" sz="2800" dirty="0"/>
              <a:t>型指令的格式不同；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：指令执行流程相同，取指→                  →运算→写回运算结果。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</a:t>
            </a:r>
            <a:r>
              <a:rPr lang="en-US" altLang="zh-CN" sz="2800" dirty="0">
                <a:solidFill>
                  <a:srgbClr val="FFC000"/>
                </a:solidFill>
              </a:rPr>
              <a:t>GPR</a:t>
            </a:r>
            <a:r>
              <a:rPr lang="zh-CN" altLang="en-US" sz="2800" dirty="0">
                <a:solidFill>
                  <a:srgbClr val="FFC000"/>
                </a:solidFill>
              </a:rPr>
              <a:t>读</a:t>
            </a:r>
            <a:r>
              <a:rPr lang="zh-CN" altLang="en-US" sz="2800" dirty="0"/>
              <a:t>，</a:t>
            </a:r>
            <a:r>
              <a:rPr lang="en-US" altLang="zh-CN" sz="2800" dirty="0"/>
              <a:t>ALU</a:t>
            </a:r>
            <a:r>
              <a:rPr lang="zh-CN" altLang="en-US" sz="2800" dirty="0"/>
              <a:t>，</a:t>
            </a:r>
            <a:r>
              <a:rPr lang="en-US" altLang="zh-CN" sz="2800" dirty="0"/>
              <a:t>GPR</a:t>
            </a:r>
            <a:r>
              <a:rPr lang="zh-CN" altLang="en-US" sz="2800" dirty="0"/>
              <a:t>写。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：立即数扩展功能；</a:t>
            </a:r>
            <a:r>
              <a:rPr lang="en-US" altLang="zh-CN" sz="2800" dirty="0"/>
              <a:t>ALU</a:t>
            </a:r>
            <a:r>
              <a:rPr lang="zh-CN" altLang="en-US" sz="2800" dirty="0"/>
              <a:t>增加</a:t>
            </a:r>
            <a:r>
              <a:rPr lang="en-US" altLang="zh-CN" sz="2800" dirty="0" err="1"/>
              <a:t>lui</a:t>
            </a:r>
            <a:r>
              <a:rPr lang="zh-CN" altLang="en-US" sz="2800" dirty="0"/>
              <a:t>指令的功能；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             增加</a:t>
            </a:r>
            <a:r>
              <a:rPr lang="zh-CN" altLang="en-US" sz="2800" dirty="0"/>
              <a:t>立即数为</a:t>
            </a:r>
            <a:r>
              <a:rPr lang="en-US" altLang="zh-CN" sz="2800" dirty="0"/>
              <a:t>ALU</a:t>
            </a:r>
            <a:r>
              <a:rPr lang="zh-CN" altLang="en-US" sz="2800" dirty="0"/>
              <a:t>的操作数</a:t>
            </a:r>
            <a:r>
              <a:rPr lang="en-US" altLang="zh-CN" sz="2800" dirty="0"/>
              <a:t>2 </a:t>
            </a:r>
            <a:r>
              <a:rPr lang="zh-CN" altLang="en-US" sz="2800" dirty="0"/>
              <a:t>；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en-US" altLang="zh-CN" sz="2800" dirty="0" err="1"/>
              <a:t>rt</a:t>
            </a:r>
            <a:r>
              <a:rPr lang="zh-CN" altLang="en-US" sz="2800" dirty="0"/>
              <a:t>为</a:t>
            </a:r>
            <a:r>
              <a:rPr lang="en-US" altLang="zh-CN" sz="2800" dirty="0"/>
              <a:t>GPR</a:t>
            </a:r>
            <a:r>
              <a:rPr lang="zh-CN" altLang="en-US" sz="2800" dirty="0"/>
              <a:t>的写寄存器。</a:t>
            </a:r>
            <a:endParaRPr lang="en-US" altLang="zh-CN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6948204" y="1941000"/>
            <a:ext cx="1857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C000"/>
                </a:solidFill>
              </a:rPr>
              <a:t>读源操作数</a:t>
            </a:r>
            <a:endParaRPr lang="en-US" altLang="zh-CN" sz="2400" dirty="0">
              <a:solidFill>
                <a:srgbClr val="FFC000"/>
              </a:solidFill>
            </a:endParaRPr>
          </a:p>
          <a:p>
            <a:r>
              <a:rPr lang="zh-CN" altLang="en-US" sz="2400" dirty="0"/>
              <a:t>立即数扩展</a:t>
            </a:r>
          </a:p>
        </p:txBody>
      </p:sp>
    </p:spTree>
    <p:extLst>
      <p:ext uri="{BB962C8B-B14F-4D97-AF65-F5344CB8AC3E}">
        <p14:creationId xmlns:p14="http://schemas.microsoft.com/office/powerpoint/2010/main" val="236682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11088-5CB9-417C-9765-2515345E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453"/>
            <a:ext cx="10515600" cy="949325"/>
          </a:xfrm>
        </p:spPr>
        <p:txBody>
          <a:bodyPr/>
          <a:lstStyle/>
          <a:p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※</a:t>
            </a:r>
            <a:r>
              <a:rPr lang="zh-CN" altLang="en-US" b="1" dirty="0"/>
              <a:t>多路选择器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348175-C8A6-45A0-A85B-CF513506A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400"/>
            <a:ext cx="10515600" cy="50107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当一个端口有多个输入时，需要在其前面增加多路选择器。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多路选择器根据控制信号确定具体情况时端口接哪个输入。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51507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01E15-1745-4BF8-89FA-3EDEB60F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94" y="211985"/>
            <a:ext cx="5616769" cy="905615"/>
          </a:xfrm>
        </p:spPr>
        <p:txBody>
          <a:bodyPr>
            <a:normAutofit/>
          </a:bodyPr>
          <a:lstStyle/>
          <a:p>
            <a:r>
              <a:rPr lang="zh-CN" altLang="en-US" dirty="0"/>
              <a:t>数据通路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8200E11-0617-64F2-9FAE-CC3016DB8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06" y="1035957"/>
            <a:ext cx="11424465" cy="530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09382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23083</TotalTime>
  <Words>332</Words>
  <Application>Microsoft Office PowerPoint</Application>
  <PresentationFormat>宽屏</PresentationFormat>
  <Paragraphs>58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SimSun</vt:lpstr>
      <vt:lpstr>Arial</vt:lpstr>
      <vt:lpstr>Trebuchet MS</vt:lpstr>
      <vt:lpstr>Wingdings 3</vt:lpstr>
      <vt:lpstr>平面</vt:lpstr>
      <vt:lpstr>  增加实现I型指令</vt:lpstr>
      <vt:lpstr>实验过程</vt:lpstr>
      <vt:lpstr>指令格式</vt:lpstr>
      <vt:lpstr>和R型指令比较分析</vt:lpstr>
      <vt:lpstr>※多路选择器</vt:lpstr>
      <vt:lpstr>数据通路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331</cp:revision>
  <dcterms:created xsi:type="dcterms:W3CDTF">2020-03-13T01:07:41Z</dcterms:created>
  <dcterms:modified xsi:type="dcterms:W3CDTF">2026-05-11T10:00:40Z</dcterms:modified>
</cp:coreProperties>
</file>