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1.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3"/>
  </p:notesMasterIdLst>
  <p:handoutMasterIdLst>
    <p:handoutMasterId r:id="rId94"/>
  </p:handout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70" r:id="rId14"/>
    <p:sldId id="271"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379" r:id="rId31"/>
    <p:sldId id="288" r:id="rId32"/>
    <p:sldId id="289" r:id="rId33"/>
    <p:sldId id="290" r:id="rId34"/>
    <p:sldId id="291" r:id="rId35"/>
    <p:sldId id="292" r:id="rId36"/>
    <p:sldId id="293" r:id="rId37"/>
    <p:sldId id="294" r:id="rId38"/>
    <p:sldId id="295" r:id="rId39"/>
    <p:sldId id="366"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80" r:id="rId59"/>
    <p:sldId id="377" r:id="rId60"/>
    <p:sldId id="378" r:id="rId61"/>
    <p:sldId id="314" r:id="rId62"/>
    <p:sldId id="315" r:id="rId63"/>
    <p:sldId id="316" r:id="rId64"/>
    <p:sldId id="317" r:id="rId65"/>
    <p:sldId id="318" r:id="rId66"/>
    <p:sldId id="319" r:id="rId67"/>
    <p:sldId id="320" r:id="rId68"/>
    <p:sldId id="321" r:id="rId69"/>
    <p:sldId id="322" r:id="rId70"/>
    <p:sldId id="370" r:id="rId71"/>
    <p:sldId id="342" r:id="rId72"/>
    <p:sldId id="341" r:id="rId73"/>
    <p:sldId id="326" r:id="rId74"/>
    <p:sldId id="327" r:id="rId75"/>
    <p:sldId id="328" r:id="rId76"/>
    <p:sldId id="329" r:id="rId77"/>
    <p:sldId id="330" r:id="rId78"/>
    <p:sldId id="331" r:id="rId79"/>
    <p:sldId id="332" r:id="rId80"/>
    <p:sldId id="333" r:id="rId81"/>
    <p:sldId id="334" r:id="rId82"/>
    <p:sldId id="335" r:id="rId83"/>
    <p:sldId id="371" r:id="rId84"/>
    <p:sldId id="372" r:id="rId85"/>
    <p:sldId id="373" r:id="rId86"/>
    <p:sldId id="374" r:id="rId87"/>
    <p:sldId id="336" r:id="rId88"/>
    <p:sldId id="337" r:id="rId89"/>
    <p:sldId id="338" r:id="rId90"/>
    <p:sldId id="339" r:id="rId91"/>
    <p:sldId id="340" r:id="rId92"/>
  </p:sldIdLst>
  <p:sldSz cx="9144000" cy="6858000" type="screen4x3"/>
  <p:notesSz cx="9144000" cy="6858000"/>
  <p:defaultTextStyle>
    <a:defPPr>
      <a:defRPr lang="en-US"/>
    </a:defPPr>
    <a:lvl1pPr algn="l" rtl="0" eaLnBrk="0" fontAlgn="base" hangingPunct="0">
      <a:spcBef>
        <a:spcPct val="0"/>
      </a:spcBef>
      <a:spcAft>
        <a:spcPct val="0"/>
      </a:spcAft>
      <a:defRPr sz="2800" b="1" kern="1200">
        <a:solidFill>
          <a:schemeClr val="tx1"/>
        </a:solidFill>
        <a:latin typeface="黑体" panose="02010609060101010101" pitchFamily="49" charset="-122"/>
        <a:ea typeface="黑体" panose="02010609060101010101" pitchFamily="49" charset="-122"/>
        <a:cs typeface="+mn-cs"/>
      </a:defRPr>
    </a:lvl1pPr>
    <a:lvl2pPr marL="457200" algn="l" rtl="0" eaLnBrk="0" fontAlgn="base" hangingPunct="0">
      <a:spcBef>
        <a:spcPct val="0"/>
      </a:spcBef>
      <a:spcAft>
        <a:spcPct val="0"/>
      </a:spcAft>
      <a:defRPr sz="2800" b="1" kern="1200">
        <a:solidFill>
          <a:schemeClr val="tx1"/>
        </a:solidFill>
        <a:latin typeface="黑体" panose="02010609060101010101" pitchFamily="49" charset="-122"/>
        <a:ea typeface="黑体" panose="02010609060101010101" pitchFamily="49" charset="-122"/>
        <a:cs typeface="+mn-cs"/>
      </a:defRPr>
    </a:lvl2pPr>
    <a:lvl3pPr marL="914400" algn="l" rtl="0" eaLnBrk="0" fontAlgn="base" hangingPunct="0">
      <a:spcBef>
        <a:spcPct val="0"/>
      </a:spcBef>
      <a:spcAft>
        <a:spcPct val="0"/>
      </a:spcAft>
      <a:defRPr sz="2800" b="1" kern="1200">
        <a:solidFill>
          <a:schemeClr val="tx1"/>
        </a:solidFill>
        <a:latin typeface="黑体" panose="02010609060101010101" pitchFamily="49" charset="-122"/>
        <a:ea typeface="黑体" panose="02010609060101010101" pitchFamily="49" charset="-122"/>
        <a:cs typeface="+mn-cs"/>
      </a:defRPr>
    </a:lvl3pPr>
    <a:lvl4pPr marL="1371600" algn="l" rtl="0" eaLnBrk="0" fontAlgn="base" hangingPunct="0">
      <a:spcBef>
        <a:spcPct val="0"/>
      </a:spcBef>
      <a:spcAft>
        <a:spcPct val="0"/>
      </a:spcAft>
      <a:defRPr sz="2800" b="1" kern="1200">
        <a:solidFill>
          <a:schemeClr val="tx1"/>
        </a:solidFill>
        <a:latin typeface="黑体" panose="02010609060101010101" pitchFamily="49" charset="-122"/>
        <a:ea typeface="黑体" panose="02010609060101010101" pitchFamily="49" charset="-122"/>
        <a:cs typeface="+mn-cs"/>
      </a:defRPr>
    </a:lvl4pPr>
    <a:lvl5pPr marL="1828800" algn="l" rtl="0" eaLnBrk="0" fontAlgn="base" hangingPunct="0">
      <a:spcBef>
        <a:spcPct val="0"/>
      </a:spcBef>
      <a:spcAft>
        <a:spcPct val="0"/>
      </a:spcAft>
      <a:defRPr sz="2800" b="1" kern="1200">
        <a:solidFill>
          <a:schemeClr val="tx1"/>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2800" b="1" kern="1200">
        <a:solidFill>
          <a:schemeClr val="tx1"/>
        </a:solidFill>
        <a:latin typeface="黑体" panose="02010609060101010101" pitchFamily="49" charset="-122"/>
        <a:ea typeface="黑体" panose="02010609060101010101" pitchFamily="49" charset="-122"/>
        <a:cs typeface="+mn-cs"/>
      </a:defRPr>
    </a:lvl6pPr>
    <a:lvl7pPr marL="2743200" algn="l" defTabSz="914400" rtl="0" eaLnBrk="1" latinLnBrk="0" hangingPunct="1">
      <a:defRPr sz="2800" b="1" kern="1200">
        <a:solidFill>
          <a:schemeClr val="tx1"/>
        </a:solidFill>
        <a:latin typeface="黑体" panose="02010609060101010101" pitchFamily="49" charset="-122"/>
        <a:ea typeface="黑体" panose="02010609060101010101" pitchFamily="49" charset="-122"/>
        <a:cs typeface="+mn-cs"/>
      </a:defRPr>
    </a:lvl7pPr>
    <a:lvl8pPr marL="3200400" algn="l" defTabSz="914400" rtl="0" eaLnBrk="1" latinLnBrk="0" hangingPunct="1">
      <a:defRPr sz="2800" b="1" kern="1200">
        <a:solidFill>
          <a:schemeClr val="tx1"/>
        </a:solidFill>
        <a:latin typeface="黑体" panose="02010609060101010101" pitchFamily="49" charset="-122"/>
        <a:ea typeface="黑体" panose="02010609060101010101" pitchFamily="49" charset="-122"/>
        <a:cs typeface="+mn-cs"/>
      </a:defRPr>
    </a:lvl8pPr>
    <a:lvl9pPr marL="3657600" algn="l" defTabSz="914400" rtl="0" eaLnBrk="1" latinLnBrk="0" hangingPunct="1">
      <a:defRPr sz="2800" b="1" kern="1200">
        <a:solidFill>
          <a:schemeClr val="tx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832" userDrawn="1">
          <p15:clr>
            <a:srgbClr val="A4A3A4"/>
          </p15:clr>
        </p15:guide>
        <p15:guide id="2" pos="2141" userDrawn="1">
          <p15:clr>
            <a:srgbClr val="A4A3A4"/>
          </p15:clr>
        </p15:guide>
      </p15:sldGuideLst>
    </p:ext>
    <p:ext uri="{2D200454-40CA-4A62-9FC3-DE9A4176ACB9}">
      <p15:notesGuideLst xmlns:p15="http://schemas.microsoft.com/office/powerpoint/2012/main">
        <p15:guide id="1" orient="horz" pos="2138">
          <p15:clr>
            <a:srgbClr val="A4A3A4"/>
          </p15:clr>
        </p15:guide>
        <p15:guide id="2" pos="283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33CC33"/>
    <a:srgbClr val="0000FF"/>
    <a:srgbClr val="009999"/>
    <a:srgbClr val="CC0066"/>
    <a:srgbClr val="A50021"/>
    <a:srgbClr val="33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935" autoAdjust="0"/>
    <p:restoredTop sz="92095" autoAdjust="0"/>
  </p:normalViewPr>
  <p:slideViewPr>
    <p:cSldViewPr snapToGrid="0" showGuides="1">
      <p:cViewPr>
        <p:scale>
          <a:sx n="99" d="100"/>
          <a:sy n="99" d="100"/>
        </p:scale>
        <p:origin x="468" y="36"/>
      </p:cViewPr>
      <p:guideLst>
        <p:guide orient="horz" pos="2832"/>
        <p:guide pos="214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794"/>
    </p:cViewPr>
  </p:sorterViewPr>
  <p:notesViewPr>
    <p:cSldViewPr snapToGrid="0">
      <p:cViewPr varScale="1">
        <p:scale>
          <a:sx n="73" d="100"/>
          <a:sy n="73" d="100"/>
        </p:scale>
        <p:origin x="-2742" y="-90"/>
      </p:cViewPr>
      <p:guideLst>
        <p:guide orient="horz" pos="2138"/>
        <p:guide pos="2834"/>
      </p:guideLst>
    </p:cSldViewPr>
  </p:notes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962400" cy="342900"/>
          </a:xfrm>
          <a:prstGeom prst="rect">
            <a:avLst/>
          </a:prstGeom>
          <a:noFill/>
          <a:ln w="9525">
            <a:noFill/>
            <a:miter lim="800000"/>
          </a:ln>
        </p:spPr>
        <p:txBody>
          <a:bodyPr vert="horz" wrap="square" lIns="91440" tIns="45720" rIns="91440" bIns="45720" numCol="1" anchor="t" anchorCtr="0" compatLnSpc="1"/>
          <a:lstStyle>
            <a:lvl1pPr algn="l" eaLnBrk="1" hangingPunct="1">
              <a:lnSpc>
                <a:spcPct val="100000"/>
              </a:lnSpc>
              <a:spcBef>
                <a:spcPct val="0"/>
              </a:spcBef>
              <a:buClrTx/>
              <a:buFontTx/>
              <a:buNone/>
              <a:defRPr kumimoji="1" sz="1200" b="0">
                <a:latin typeface="Times New Roman" panose="02020603050405020304" pitchFamily="18" charset="0"/>
                <a:ea typeface="宋体" panose="02010600030101010101" pitchFamily="2" charset="-122"/>
              </a:defRPr>
            </a:lvl1pPr>
          </a:lstStyle>
          <a:p>
            <a:pPr>
              <a:defRPr/>
            </a:pPr>
            <a:r>
              <a:rPr lang="en-US" altLang="zh-CN"/>
              <a:t>计算机控制技术</a:t>
            </a:r>
            <a:endParaRPr lang="en-US" altLang="zh-CN">
              <a:latin typeface="Arial" panose="020B0604020202020204" pitchFamily="34" charset="0"/>
            </a:endParaRPr>
          </a:p>
        </p:txBody>
      </p:sp>
      <p:sp>
        <p:nvSpPr>
          <p:cNvPr id="3075" name="Rectangle 3"/>
          <p:cNvSpPr>
            <a:spLocks noGrp="1" noChangeArrowheads="1"/>
          </p:cNvSpPr>
          <p:nvPr>
            <p:ph type="dt" sz="quarter" idx="1"/>
          </p:nvPr>
        </p:nvSpPr>
        <p:spPr bwMode="auto">
          <a:xfrm>
            <a:off x="5181600" y="0"/>
            <a:ext cx="3962400" cy="342900"/>
          </a:xfrm>
          <a:prstGeom prst="rect">
            <a:avLst/>
          </a:prstGeom>
          <a:noFill/>
          <a:ln w="9525">
            <a:noFill/>
            <a:miter lim="800000"/>
          </a:ln>
        </p:spPr>
        <p:txBody>
          <a:bodyPr vert="horz" wrap="square" lIns="91440" tIns="45720" rIns="91440" bIns="45720" numCol="1" anchor="t" anchorCtr="0" compatLnSpc="1"/>
          <a:lstStyle>
            <a:lvl1pPr algn="r"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fld id="{5612B774-14FE-4881-87D7-4357F3C73C5F}" type="datetimeFigureOut">
              <a:rPr lang="en-US" altLang="zh-CN"/>
              <a:t>4/28/2026</a:t>
            </a:fld>
            <a:endParaRPr lang="en-US" altLang="zh-CN"/>
          </a:p>
        </p:txBody>
      </p:sp>
      <p:sp>
        <p:nvSpPr>
          <p:cNvPr id="3076" name="Rectangle 4"/>
          <p:cNvSpPr>
            <a:spLocks noGrp="1" noChangeArrowheads="1"/>
          </p:cNvSpPr>
          <p:nvPr>
            <p:ph type="ftr" sz="quarter" idx="2"/>
          </p:nvPr>
        </p:nvSpPr>
        <p:spPr bwMode="auto">
          <a:xfrm>
            <a:off x="0" y="6515100"/>
            <a:ext cx="3962400" cy="342900"/>
          </a:xfrm>
          <a:prstGeom prst="rect">
            <a:avLst/>
          </a:prstGeom>
          <a:noFill/>
          <a:ln w="9525">
            <a:noFill/>
            <a:miter lim="800000"/>
          </a:ln>
        </p:spPr>
        <p:txBody>
          <a:bodyPr vert="horz" wrap="square" lIns="91440" tIns="45720" rIns="91440" bIns="45720" numCol="1" anchor="b" anchorCtr="0" compatLnSpc="1"/>
          <a:lstStyle>
            <a:lvl1pPr algn="l"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endParaRPr lang="en-US" altLang="zh-CN"/>
          </a:p>
        </p:txBody>
      </p:sp>
      <p:sp>
        <p:nvSpPr>
          <p:cNvPr id="3077" name="Rectangle 5"/>
          <p:cNvSpPr>
            <a:spLocks noGrp="1" noChangeArrowheads="1"/>
          </p:cNvSpPr>
          <p:nvPr>
            <p:ph type="sldNum" sz="quarter" idx="3"/>
          </p:nvPr>
        </p:nvSpPr>
        <p:spPr bwMode="auto">
          <a:xfrm>
            <a:off x="5181600" y="6515100"/>
            <a:ext cx="3962400" cy="342900"/>
          </a:xfrm>
          <a:prstGeom prst="rect">
            <a:avLst/>
          </a:prstGeom>
          <a:noFill/>
          <a:ln w="9525">
            <a:noFill/>
            <a:miter lim="800000"/>
          </a:ln>
        </p:spPr>
        <p:txBody>
          <a:bodyPr vert="horz" wrap="square" lIns="91440" tIns="45720" rIns="91440" bIns="45720" numCol="1" anchor="b" anchorCtr="0" compatLnSpc="1"/>
          <a:lstStyle>
            <a:lvl1pPr algn="r" eaLnBrk="1" hangingPunct="1">
              <a:defRPr kumimoji="1" sz="1200" b="0">
                <a:latin typeface="Arial" panose="020B0604020202020204" pitchFamily="34" charset="0"/>
                <a:ea typeface="宋体" panose="02010600030101010101" pitchFamily="2" charset="-122"/>
              </a:defRPr>
            </a:lvl1pPr>
          </a:lstStyle>
          <a:p>
            <a:fld id="{CB4D9ACA-04ED-459E-8E62-133757E69974}"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962400" cy="342900"/>
          </a:xfrm>
          <a:prstGeom prst="rect">
            <a:avLst/>
          </a:prstGeom>
          <a:noFill/>
          <a:ln w="9525">
            <a:noFill/>
            <a:miter lim="800000"/>
          </a:ln>
        </p:spPr>
        <p:txBody>
          <a:bodyPr vert="horz" wrap="square" lIns="91440" tIns="45720" rIns="91440" bIns="45720" numCol="1" anchor="t" anchorCtr="0" compatLnSpc="1"/>
          <a:lstStyle>
            <a:lvl1pPr algn="l" eaLnBrk="1" hangingPunct="1">
              <a:lnSpc>
                <a:spcPct val="100000"/>
              </a:lnSpc>
              <a:spcBef>
                <a:spcPct val="0"/>
              </a:spcBef>
              <a:buClrTx/>
              <a:buFontTx/>
              <a:buNone/>
              <a:defRPr kumimoji="1" sz="1200" b="0">
                <a:latin typeface="Times New Roman" panose="02020603050405020304" pitchFamily="18" charset="0"/>
                <a:ea typeface="宋体" panose="02010600030101010101" pitchFamily="2" charset="-122"/>
              </a:defRPr>
            </a:lvl1pPr>
          </a:lstStyle>
          <a:p>
            <a:pPr>
              <a:defRPr/>
            </a:pPr>
            <a:r>
              <a:rPr lang="en-US" altLang="zh-CN"/>
              <a:t>计算机控制技术</a:t>
            </a:r>
            <a:endParaRPr lang="en-US" altLang="zh-CN">
              <a:latin typeface="Arial" panose="020B0604020202020204" pitchFamily="34" charset="0"/>
            </a:endParaRPr>
          </a:p>
        </p:txBody>
      </p:sp>
      <p:sp>
        <p:nvSpPr>
          <p:cNvPr id="2051" name="Rectangle 3"/>
          <p:cNvSpPr>
            <a:spLocks noGrp="1" noChangeArrowheads="1"/>
          </p:cNvSpPr>
          <p:nvPr>
            <p:ph type="dt" idx="1"/>
          </p:nvPr>
        </p:nvSpPr>
        <p:spPr bwMode="auto">
          <a:xfrm>
            <a:off x="5181600" y="0"/>
            <a:ext cx="3962400" cy="342900"/>
          </a:xfrm>
          <a:prstGeom prst="rect">
            <a:avLst/>
          </a:prstGeom>
          <a:noFill/>
          <a:ln w="9525">
            <a:noFill/>
            <a:miter lim="800000"/>
          </a:ln>
        </p:spPr>
        <p:txBody>
          <a:bodyPr vert="horz" wrap="square" lIns="91440" tIns="45720" rIns="91440" bIns="45720" numCol="1" anchor="t" anchorCtr="0" compatLnSpc="1"/>
          <a:lstStyle>
            <a:lvl1pPr algn="r"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fld id="{DBA97F21-2796-4595-93F9-79869531726E}" type="datetimeFigureOut">
              <a:rPr lang="en-US" altLang="zh-CN"/>
              <a:t>4/28/2026</a:t>
            </a:fld>
            <a:endParaRPr lang="en-US" altLang="zh-CN"/>
          </a:p>
        </p:txBody>
      </p:sp>
      <p:sp>
        <p:nvSpPr>
          <p:cNvPr id="11268"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19200" y="3257550"/>
            <a:ext cx="6705600" cy="3086100"/>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6515100"/>
            <a:ext cx="3962400" cy="342900"/>
          </a:xfrm>
          <a:prstGeom prst="rect">
            <a:avLst/>
          </a:prstGeom>
          <a:noFill/>
          <a:ln w="9525">
            <a:noFill/>
            <a:miter lim="800000"/>
          </a:ln>
        </p:spPr>
        <p:txBody>
          <a:bodyPr vert="horz" wrap="square" lIns="91440" tIns="45720" rIns="91440" bIns="45720" numCol="1" anchor="b" anchorCtr="0" compatLnSpc="1"/>
          <a:lstStyle>
            <a:lvl1pPr algn="l"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5181600" y="6515100"/>
            <a:ext cx="3962400" cy="342900"/>
          </a:xfrm>
          <a:prstGeom prst="rect">
            <a:avLst/>
          </a:prstGeom>
          <a:noFill/>
          <a:ln w="9525">
            <a:noFill/>
            <a:miter lim="800000"/>
          </a:ln>
        </p:spPr>
        <p:txBody>
          <a:bodyPr vert="horz" wrap="square" lIns="91440" tIns="45720" rIns="91440" bIns="45720" numCol="1" anchor="b" anchorCtr="0" compatLnSpc="1"/>
          <a:lstStyle>
            <a:lvl1pPr algn="r" eaLnBrk="1" hangingPunct="1">
              <a:defRPr kumimoji="1" sz="1200" b="0">
                <a:latin typeface="Arial" panose="020B0604020202020204" pitchFamily="34" charset="0"/>
                <a:ea typeface="宋体" panose="02010600030101010101" pitchFamily="2" charset="-122"/>
              </a:defRPr>
            </a:lvl1pPr>
          </a:lstStyle>
          <a:p>
            <a:fld id="{C164C777-621A-4C90-9D0F-469EBB373AE0}" type="slidenum">
              <a:rPr lang="en-US" altLang="zh-CN"/>
              <a:t>‹#›</a:t>
            </a:fld>
            <a:endParaRPr lang="en-US" altLang="zh-CN"/>
          </a:p>
        </p:txBody>
      </p:sp>
    </p:spTree>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p:sp>
      <p:sp>
        <p:nvSpPr>
          <p:cNvPr id="430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301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4301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9FD8CE43-72DC-49BA-95BD-06CDF8350BD6}" type="slidenum">
              <a:rPr lang="en-US" altLang="zh-CN" sz="1200" b="0">
                <a:latin typeface="Arial" panose="020B0604020202020204" pitchFamily="34" charset="0"/>
                <a:ea typeface="宋体" panose="02010600030101010101" pitchFamily="2" charset="-122"/>
              </a:rPr>
              <a:t>26</a:t>
            </a:fld>
            <a:endParaRPr lang="en-US" altLang="zh-CN" sz="1200" b="0">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pPr>
              <a:defRPr/>
            </a:pPr>
            <a:r>
              <a:rPr lang="en-US" altLang="zh-CN"/>
              <a:t>计算机控制技术</a:t>
            </a:r>
            <a:endParaRPr lang="en-US" altLang="zh-CN">
              <a:latin typeface="Arial" panose="020B0604020202020204" pitchFamily="34" charset="0"/>
            </a:endParaRPr>
          </a:p>
        </p:txBody>
      </p:sp>
      <p:sp>
        <p:nvSpPr>
          <p:cNvPr id="5" name="灯片编号占位符 4"/>
          <p:cNvSpPr>
            <a:spLocks noGrp="1"/>
          </p:cNvSpPr>
          <p:nvPr>
            <p:ph type="sldNum" sz="quarter" idx="5"/>
          </p:nvPr>
        </p:nvSpPr>
        <p:spPr/>
        <p:txBody>
          <a:bodyPr/>
          <a:lstStyle/>
          <a:p>
            <a:fld id="{C164C777-621A-4C90-9D0F-469EBB373AE0}" type="slidenum">
              <a:rPr lang="en-US" altLang="zh-CN" smtClean="0"/>
              <a:t>29</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p:nvPr>
        </p:nvSpPr>
        <p:spPr/>
      </p:sp>
      <p:sp>
        <p:nvSpPr>
          <p:cNvPr id="430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3012"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r>
              <a:rPr lang="en-US" altLang="zh-CN" sz="1200" b="0">
                <a:latin typeface="Times New Roman" panose="02020603050405020304" pitchFamily="18" charset="0"/>
                <a:ea typeface="宋体" panose="02010600030101010101" pitchFamily="2" charset="-122"/>
              </a:rPr>
              <a:t>计算机控制技术</a:t>
            </a:r>
            <a:endParaRPr lang="en-US" altLang="zh-CN" sz="1200" b="0">
              <a:latin typeface="Arial" panose="020B0604020202020204" pitchFamily="34" charset="0"/>
              <a:ea typeface="宋体" panose="02010600030101010101" pitchFamily="2" charset="-122"/>
            </a:endParaRPr>
          </a:p>
        </p:txBody>
      </p:sp>
      <p:sp>
        <p:nvSpPr>
          <p:cNvPr id="43013"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fld id="{9FD8CE43-72DC-49BA-95BD-06CDF8350BD6}" type="slidenum">
              <a:rPr lang="en-US" altLang="zh-CN" sz="1200" b="0">
                <a:latin typeface="Arial" panose="020B0604020202020204" pitchFamily="34" charset="0"/>
                <a:ea typeface="宋体" panose="02010600030101010101" pitchFamily="2" charset="-122"/>
              </a:rPr>
              <a:t>58</a:t>
            </a:fld>
            <a:endParaRPr lang="en-US" altLang="zh-CN" sz="1200" b="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4763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pPr>
              <a:defRPr/>
            </a:pPr>
            <a:r>
              <a:rPr lang="en-US" altLang="zh-CN"/>
              <a:t>计算机控制技术</a:t>
            </a:r>
            <a:endParaRPr lang="en-US" altLang="zh-CN">
              <a:latin typeface="Arial" panose="020B0604020202020204" pitchFamily="34" charset="0"/>
            </a:endParaRPr>
          </a:p>
        </p:txBody>
      </p:sp>
      <p:sp>
        <p:nvSpPr>
          <p:cNvPr id="5" name="灯片编号占位符 4"/>
          <p:cNvSpPr>
            <a:spLocks noGrp="1"/>
          </p:cNvSpPr>
          <p:nvPr>
            <p:ph type="sldNum" sz="quarter" idx="11"/>
          </p:nvPr>
        </p:nvSpPr>
        <p:spPr/>
        <p:txBody>
          <a:bodyPr/>
          <a:lstStyle/>
          <a:p>
            <a:fld id="{C164C777-621A-4C90-9D0F-469EBB373AE0}" type="slidenum">
              <a:rPr lang="en-US" altLang="zh-CN" smtClean="0"/>
              <a:t>60</a:t>
            </a:fld>
            <a:endParaRPr lang="en-US" altLang="zh-CN"/>
          </a:p>
        </p:txBody>
      </p:sp>
    </p:spTree>
    <p:extLst>
      <p:ext uri="{BB962C8B-B14F-4D97-AF65-F5344CB8AC3E}">
        <p14:creationId xmlns:p14="http://schemas.microsoft.com/office/powerpoint/2010/main" val="39489771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4"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12"/>
          <p:cNvSpPr txBox="1">
            <a:spLocks noChangeArrowheads="1"/>
          </p:cNvSpPr>
          <p:nvPr userDrawn="1"/>
        </p:nvSpPr>
        <p:spPr bwMode="auto">
          <a:xfrm>
            <a:off x="3030538" y="6581775"/>
            <a:ext cx="2527300" cy="273685"/>
          </a:xfrm>
          <a:prstGeom prst="rect">
            <a:avLst/>
          </a:prstGeom>
          <a:noFill/>
          <a:ln>
            <a:noFill/>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dirty="0">
                <a:latin typeface="宋体" panose="02010600030101010101" pitchFamily="2" charset="-122"/>
                <a:ea typeface="宋体" panose="02010600030101010101" pitchFamily="2" charset="-122"/>
              </a:rPr>
              <a:t>第</a:t>
            </a:r>
            <a:r>
              <a:rPr lang="en-US" altLang="zh-CN" sz="1400" dirty="0">
                <a:latin typeface="宋体" panose="02010600030101010101" pitchFamily="2" charset="-122"/>
                <a:ea typeface="宋体" panose="02010600030101010101" pitchFamily="2" charset="-122"/>
              </a:rPr>
              <a:t>6</a:t>
            </a:r>
            <a:r>
              <a:rPr lang="zh-CN" altLang="en-US" sz="1400" dirty="0">
                <a:latin typeface="宋体" panose="02010600030101010101" pitchFamily="2" charset="-122"/>
                <a:ea typeface="宋体" panose="02010600030101010101" pitchFamily="2" charset="-122"/>
              </a:rPr>
              <a:t>章 系统函数</a:t>
            </a:r>
            <a:r>
              <a:rPr lang="en-US" altLang="zh-CN" sz="1400" dirty="0">
                <a:latin typeface="宋体" panose="02010600030101010101" pitchFamily="2" charset="-122"/>
                <a:ea typeface="宋体" panose="02010600030101010101" pitchFamily="2" charset="-122"/>
              </a:rPr>
              <a:t>--</a:t>
            </a:r>
            <a:fld id="{2D682306-555C-42E2-B78F-5C1588161396}" type="slidenum">
              <a:rPr lang="zh-CN" altLang="en-US" sz="1400">
                <a:latin typeface="宋体" panose="02010600030101010101" pitchFamily="2" charset="-122"/>
                <a:ea typeface="宋体" panose="02010600030101010101" pitchFamily="2" charset="-122"/>
              </a:rPr>
              <a:t>‹#›</a:t>
            </a:fld>
            <a:r>
              <a:rPr lang="en-US" altLang="zh-CN" sz="1400" dirty="0">
                <a:latin typeface="宋体" panose="02010600030101010101" pitchFamily="2" charset="-122"/>
                <a:ea typeface="宋体" panose="02010600030101010101" pitchFamily="2" charset="-122"/>
              </a:rPr>
              <a:t>/91</a:t>
            </a:r>
            <a:endParaRPr lang="zh-CN" altLang="en-US" sz="1400" dirty="0">
              <a:latin typeface="宋体" panose="02010600030101010101" pitchFamily="2" charset="-122"/>
              <a:ea typeface="宋体" panose="02010600030101010101" pitchFamily="2" charset="-122"/>
            </a:endParaRPr>
          </a:p>
        </p:txBody>
      </p:sp>
      <p:sp>
        <p:nvSpPr>
          <p:cNvPr id="7" name="Text Box 7"/>
          <p:cNvSpPr txBox="1">
            <a:spLocks noChangeArrowheads="1"/>
          </p:cNvSpPr>
          <p:nvPr userDrawn="1"/>
        </p:nvSpPr>
        <p:spPr bwMode="auto">
          <a:xfrm>
            <a:off x="-45721" y="0"/>
            <a:ext cx="574675" cy="6924973"/>
          </a:xfrm>
          <a:prstGeom prst="rect">
            <a:avLst/>
          </a:prstGeom>
          <a:gradFill rotWithShape="1">
            <a:gsLst>
              <a:gs pos="0">
                <a:srgbClr val="008000"/>
              </a:gs>
              <a:gs pos="100000">
                <a:srgbClr val="003B00"/>
              </a:gs>
            </a:gsLst>
            <a:lin ang="0" scaled="1"/>
          </a:gradFill>
          <a:ln>
            <a:noFill/>
          </a:ln>
        </p:spPr>
        <p:txBody>
          <a:bodyPr wrap="square">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defRPr/>
            </a:pPr>
            <a:endParaRPr lang="en-US" altLang="zh-CN" sz="2400" dirty="0">
              <a:latin typeface="Arial" panose="020B0604020202020204" pitchFamily="34" charset="0"/>
              <a:ea typeface="宋体" panose="02010600030101010101" pitchFamily="2" charset="-122"/>
            </a:endParaRPr>
          </a:p>
          <a:p>
            <a:pPr eaLnBrk="1" hangingPunct="1">
              <a:spcBef>
                <a:spcPct val="50000"/>
              </a:spcBef>
              <a:defRPr/>
            </a:pPr>
            <a:r>
              <a:rPr lang="zh-CN" altLang="en-US" sz="2400" dirty="0">
                <a:latin typeface="Arial" panose="020B0604020202020204" pitchFamily="34" charset="0"/>
                <a:ea typeface="宋体" panose="02010600030101010101" pitchFamily="2" charset="-122"/>
              </a:rPr>
              <a:t>第六章 连续时间系统的系统函数</a:t>
            </a:r>
            <a:endParaRPr lang="en-US" altLang="zh-CN" sz="2400" dirty="0">
              <a:latin typeface="Arial" panose="020B0604020202020204" pitchFamily="34" charset="0"/>
              <a:ea typeface="宋体" panose="02010600030101010101" pitchFamily="2" charset="-122"/>
            </a:endParaRPr>
          </a:p>
          <a:p>
            <a:pPr eaLnBrk="1" hangingPunct="1">
              <a:spcBef>
                <a:spcPct val="50000"/>
              </a:spcBef>
              <a:defRPr/>
            </a:pPr>
            <a:endParaRPr lang="zh-CN" altLang="en-US" sz="2400" dirty="0">
              <a:latin typeface="Arial" panose="020B0604020202020204" pitchFamily="34" charset="0"/>
              <a:ea typeface="宋体" panose="02010600030101010101" pitchFamily="2" charset="-122"/>
            </a:endParaRPr>
          </a:p>
          <a:p>
            <a:pPr eaLnBrk="1" hangingPunct="1">
              <a:spcBef>
                <a:spcPct val="50000"/>
              </a:spcBef>
              <a:defRPr/>
            </a:pPr>
            <a:endParaRPr lang="en-US" altLang="zh-CN" sz="2400" dirty="0">
              <a:latin typeface="Arial" panose="020B0604020202020204" pitchFamily="34" charset="0"/>
              <a:ea typeface="宋体" panose="0201060003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10"/>
          </p:nvPr>
        </p:nvSpPr>
        <p:spPr>
          <a:xfrm>
            <a:off x="0" y="6538913"/>
            <a:ext cx="1597572" cy="319087"/>
          </a:xfrm>
        </p:spPr>
        <p:txBody>
          <a:bodyPr/>
          <a:lstStyle>
            <a:lvl1pPr>
              <a:defRPr/>
            </a:lvl1pPr>
          </a:lstStyle>
          <a:p>
            <a:pPr>
              <a:defRPr/>
            </a:pPr>
            <a:fld id="{D2BFC10B-F994-4265-8983-F05E9E178D0B}" type="datetime1">
              <a:rPr lang="zh-CN" altLang="en-US"/>
              <a:t>2026/4/28</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5"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12"/>
          <p:cNvSpPr txBox="1">
            <a:spLocks noChangeArrowheads="1"/>
          </p:cNvSpPr>
          <p:nvPr userDrawn="1"/>
        </p:nvSpPr>
        <p:spPr bwMode="auto">
          <a:xfrm>
            <a:off x="3030538" y="6581775"/>
            <a:ext cx="2527300" cy="273685"/>
          </a:xfrm>
          <a:prstGeom prst="rect">
            <a:avLst/>
          </a:prstGeom>
          <a:noFill/>
          <a:ln>
            <a:noFill/>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dirty="0">
                <a:latin typeface="宋体" panose="02010600030101010101" pitchFamily="2" charset="-122"/>
                <a:ea typeface="宋体" panose="02010600030101010101" pitchFamily="2" charset="-122"/>
              </a:rPr>
              <a:t>第</a:t>
            </a:r>
            <a:r>
              <a:rPr lang="en-US" altLang="zh-CN" sz="1400" dirty="0">
                <a:latin typeface="宋体" panose="02010600030101010101" pitchFamily="2" charset="-122"/>
                <a:ea typeface="宋体" panose="02010600030101010101" pitchFamily="2" charset="-122"/>
              </a:rPr>
              <a:t>6</a:t>
            </a:r>
            <a:r>
              <a:rPr lang="zh-CN" altLang="en-US" sz="1400" dirty="0">
                <a:latin typeface="宋体" panose="02010600030101010101" pitchFamily="2" charset="-122"/>
                <a:ea typeface="宋体" panose="02010600030101010101" pitchFamily="2" charset="-122"/>
              </a:rPr>
              <a:t>章 系统函数</a:t>
            </a:r>
            <a:r>
              <a:rPr lang="en-US" altLang="zh-CN" sz="1400" dirty="0">
                <a:latin typeface="宋体" panose="02010600030101010101" pitchFamily="2" charset="-122"/>
                <a:ea typeface="宋体" panose="02010600030101010101" pitchFamily="2" charset="-122"/>
              </a:rPr>
              <a:t>--</a:t>
            </a:r>
            <a:fld id="{722A49DD-1845-4B3C-AFCB-0D457C7592E0}" type="slidenum">
              <a:rPr lang="zh-CN" altLang="en-US" sz="1400">
                <a:latin typeface="宋体" panose="02010600030101010101" pitchFamily="2" charset="-122"/>
                <a:ea typeface="宋体" panose="02010600030101010101" pitchFamily="2" charset="-122"/>
              </a:rPr>
              <a:t>‹#›</a:t>
            </a:fld>
            <a:r>
              <a:rPr lang="en-US" altLang="zh-CN" sz="1400" dirty="0">
                <a:latin typeface="宋体" panose="02010600030101010101" pitchFamily="2" charset="-122"/>
                <a:ea typeface="宋体" panose="02010600030101010101" pitchFamily="2" charset="-122"/>
              </a:rPr>
              <a:t>/91</a:t>
            </a:r>
            <a:endParaRPr lang="zh-CN" altLang="en-US" sz="1400" dirty="0">
              <a:latin typeface="宋体" panose="02010600030101010101" pitchFamily="2" charset="-122"/>
              <a:ea typeface="宋体" panose="02010600030101010101" pitchFamily="2" charset="-122"/>
            </a:endParaRPr>
          </a:p>
        </p:txBody>
      </p:sp>
      <p:sp>
        <p:nvSpPr>
          <p:cNvPr id="8" name="Text Box 7"/>
          <p:cNvSpPr txBox="1">
            <a:spLocks noChangeArrowheads="1"/>
          </p:cNvSpPr>
          <p:nvPr userDrawn="1"/>
        </p:nvSpPr>
        <p:spPr bwMode="auto">
          <a:xfrm>
            <a:off x="0" y="0"/>
            <a:ext cx="400050" cy="6740525"/>
          </a:xfrm>
          <a:prstGeom prst="rect">
            <a:avLst/>
          </a:prstGeom>
          <a:gradFill rotWithShape="1">
            <a:gsLst>
              <a:gs pos="0">
                <a:srgbClr val="008000"/>
              </a:gs>
              <a:gs pos="100000">
                <a:srgbClr val="003B00"/>
              </a:gs>
            </a:gsLst>
            <a:lin ang="0" scaled="1"/>
          </a:gradFill>
          <a:ln>
            <a:noFill/>
          </a:ln>
        </p:spPr>
        <p:txBody>
          <a:bodyPr>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defRPr/>
            </a:pPr>
            <a:endParaRPr lang="en-US" altLang="zh-CN" sz="2400">
              <a:latin typeface="Arial" panose="020B0604020202020204" pitchFamily="34" charset="0"/>
              <a:ea typeface="宋体" panose="02010600030101010101" pitchFamily="2" charset="-122"/>
            </a:endParaRPr>
          </a:p>
          <a:p>
            <a:pPr eaLnBrk="1" hangingPunct="1">
              <a:spcBef>
                <a:spcPct val="50000"/>
              </a:spcBef>
              <a:defRPr/>
            </a:pPr>
            <a:r>
              <a:rPr lang="zh-CN" altLang="en-US" sz="2400">
                <a:latin typeface="Arial" panose="020B0604020202020204" pitchFamily="34" charset="0"/>
                <a:ea typeface="宋体" panose="02010600030101010101" pitchFamily="2" charset="-122"/>
              </a:rPr>
              <a:t>第六章 连续时间系统的系统函数</a:t>
            </a:r>
          </a:p>
          <a:p>
            <a:pPr eaLnBrk="1" hangingPunct="1">
              <a:spcBef>
                <a:spcPct val="50000"/>
              </a:spcBef>
              <a:defRPr/>
            </a:pPr>
            <a:endParaRPr lang="en-US" altLang="zh-CN" sz="2400">
              <a:latin typeface="Arial" panose="020B0604020202020204" pitchFamily="34" charset="0"/>
              <a:ea typeface="宋体" panose="02010600030101010101" pitchFamily="2" charset="-122"/>
            </a:endParaRPr>
          </a:p>
        </p:txBody>
      </p:sp>
      <p:sp>
        <p:nvSpPr>
          <p:cNvPr id="2" name="标题 1"/>
          <p:cNvSpPr>
            <a:spLocks noGrp="1"/>
          </p:cNvSpPr>
          <p:nvPr>
            <p:ph type="title"/>
          </p:nvPr>
        </p:nvSpPr>
        <p:spPr>
          <a:xfrm>
            <a:off x="574675" y="0"/>
            <a:ext cx="8001000" cy="747713"/>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484313"/>
            <a:ext cx="3924300" cy="42672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87888" y="1484313"/>
            <a:ext cx="3924300" cy="4267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Rectangle 6"/>
          <p:cNvSpPr>
            <a:spLocks noGrp="1" noChangeArrowheads="1"/>
          </p:cNvSpPr>
          <p:nvPr>
            <p:ph type="dt" sz="half" idx="10"/>
          </p:nvPr>
        </p:nvSpPr>
        <p:spPr>
          <a:xfrm>
            <a:off x="0" y="6602413"/>
            <a:ext cx="1370013" cy="255587"/>
          </a:xfrm>
        </p:spPr>
        <p:txBody>
          <a:bodyPr/>
          <a:lstStyle>
            <a:lvl1pPr>
              <a:defRPr/>
            </a:lvl1pPr>
          </a:lstStyle>
          <a:p>
            <a:pPr>
              <a:defRPr/>
            </a:pPr>
            <a:fld id="{8DBC5D95-4131-403A-8DEC-F5B077FC6108}" type="datetime1">
              <a:rPr lang="zh-CN" altLang="en-US"/>
              <a:t>2026/4/28</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3"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4"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12"/>
          <p:cNvSpPr txBox="1">
            <a:spLocks noChangeArrowheads="1"/>
          </p:cNvSpPr>
          <p:nvPr userDrawn="1"/>
        </p:nvSpPr>
        <p:spPr bwMode="auto">
          <a:xfrm>
            <a:off x="3030538" y="6581775"/>
            <a:ext cx="2527300" cy="273685"/>
          </a:xfrm>
          <a:prstGeom prst="rect">
            <a:avLst/>
          </a:prstGeom>
          <a:noFill/>
          <a:ln>
            <a:noFill/>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dirty="0">
                <a:latin typeface="宋体" panose="02010600030101010101" pitchFamily="2" charset="-122"/>
                <a:ea typeface="宋体" panose="02010600030101010101" pitchFamily="2" charset="-122"/>
              </a:rPr>
              <a:t>第</a:t>
            </a:r>
            <a:r>
              <a:rPr lang="en-US" altLang="zh-CN" sz="1400" dirty="0">
                <a:latin typeface="宋体" panose="02010600030101010101" pitchFamily="2" charset="-122"/>
                <a:ea typeface="宋体" panose="02010600030101010101" pitchFamily="2" charset="-122"/>
              </a:rPr>
              <a:t>6</a:t>
            </a:r>
            <a:r>
              <a:rPr lang="zh-CN" altLang="en-US" sz="1400" dirty="0">
                <a:latin typeface="宋体" panose="02010600030101010101" pitchFamily="2" charset="-122"/>
                <a:ea typeface="宋体" panose="02010600030101010101" pitchFamily="2" charset="-122"/>
              </a:rPr>
              <a:t>章 系统函数</a:t>
            </a:r>
            <a:r>
              <a:rPr lang="en-US" altLang="zh-CN" sz="1400" dirty="0">
                <a:latin typeface="宋体" panose="02010600030101010101" pitchFamily="2" charset="-122"/>
                <a:ea typeface="宋体" panose="02010600030101010101" pitchFamily="2" charset="-122"/>
              </a:rPr>
              <a:t>--</a:t>
            </a:r>
            <a:fld id="{4D6A7FA7-4323-4947-B8B0-C7C6BC486AB9}" type="slidenum">
              <a:rPr lang="zh-CN" altLang="en-US" sz="1400">
                <a:latin typeface="宋体" panose="02010600030101010101" pitchFamily="2" charset="-122"/>
                <a:ea typeface="宋体" panose="02010600030101010101" pitchFamily="2" charset="-122"/>
              </a:rPr>
              <a:t>‹#›</a:t>
            </a:fld>
            <a:r>
              <a:rPr lang="en-US" altLang="zh-CN" sz="1400" dirty="0">
                <a:latin typeface="宋体" panose="02010600030101010101" pitchFamily="2" charset="-122"/>
                <a:ea typeface="宋体" panose="02010600030101010101" pitchFamily="2" charset="-122"/>
              </a:rPr>
              <a:t>/91</a:t>
            </a:r>
            <a:endParaRPr lang="zh-CN" altLang="en-US" sz="1400" dirty="0">
              <a:latin typeface="宋体" panose="02010600030101010101" pitchFamily="2" charset="-122"/>
              <a:ea typeface="宋体" panose="02010600030101010101" pitchFamily="2" charset="-122"/>
            </a:endParaRPr>
          </a:p>
        </p:txBody>
      </p:sp>
      <p:sp>
        <p:nvSpPr>
          <p:cNvPr id="6" name="Text Box 7"/>
          <p:cNvSpPr txBox="1">
            <a:spLocks noChangeArrowheads="1"/>
          </p:cNvSpPr>
          <p:nvPr userDrawn="1"/>
        </p:nvSpPr>
        <p:spPr bwMode="auto">
          <a:xfrm>
            <a:off x="0" y="0"/>
            <a:ext cx="400050" cy="6740525"/>
          </a:xfrm>
          <a:prstGeom prst="rect">
            <a:avLst/>
          </a:prstGeom>
          <a:gradFill rotWithShape="1">
            <a:gsLst>
              <a:gs pos="0">
                <a:srgbClr val="008000"/>
              </a:gs>
              <a:gs pos="100000">
                <a:srgbClr val="003B00"/>
              </a:gs>
            </a:gsLst>
            <a:lin ang="0" scaled="1"/>
          </a:gradFill>
          <a:ln>
            <a:noFill/>
          </a:ln>
        </p:spPr>
        <p:txBody>
          <a:bodyPr>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defRPr/>
            </a:pPr>
            <a:endParaRPr lang="en-US" altLang="zh-CN" sz="2400">
              <a:latin typeface="Arial" panose="020B0604020202020204" pitchFamily="34" charset="0"/>
              <a:ea typeface="宋体" panose="02010600030101010101" pitchFamily="2" charset="-122"/>
            </a:endParaRPr>
          </a:p>
          <a:p>
            <a:pPr eaLnBrk="1" hangingPunct="1">
              <a:spcBef>
                <a:spcPct val="50000"/>
              </a:spcBef>
              <a:defRPr/>
            </a:pPr>
            <a:r>
              <a:rPr lang="zh-CN" altLang="en-US" sz="2400">
                <a:latin typeface="Arial" panose="020B0604020202020204" pitchFamily="34" charset="0"/>
                <a:ea typeface="宋体" panose="02010600030101010101" pitchFamily="2" charset="-122"/>
              </a:rPr>
              <a:t>第六章 连续时间系统的系统函数</a:t>
            </a:r>
          </a:p>
          <a:p>
            <a:pPr eaLnBrk="1" hangingPunct="1">
              <a:spcBef>
                <a:spcPct val="50000"/>
              </a:spcBef>
              <a:defRPr/>
            </a:pPr>
            <a:endParaRPr lang="en-US" altLang="zh-CN" sz="2400">
              <a:latin typeface="Arial" panose="020B0604020202020204" pitchFamily="34" charset="0"/>
              <a:ea typeface="宋体" panose="02010600030101010101" pitchFamily="2" charset="-122"/>
            </a:endParaRPr>
          </a:p>
        </p:txBody>
      </p:sp>
      <p:sp>
        <p:nvSpPr>
          <p:cNvPr id="2" name="内容占位符 1"/>
          <p:cNvSpPr>
            <a:spLocks noGrp="1"/>
          </p:cNvSpPr>
          <p:nvPr>
            <p:ph/>
          </p:nvPr>
        </p:nvSpPr>
        <p:spPr>
          <a:xfrm>
            <a:off x="277793" y="1261641"/>
            <a:ext cx="8507392" cy="471089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Rectangle 6"/>
          <p:cNvSpPr>
            <a:spLocks noGrp="1" noChangeArrowheads="1"/>
          </p:cNvSpPr>
          <p:nvPr>
            <p:ph type="dt" sz="half" idx="10"/>
          </p:nvPr>
        </p:nvSpPr>
        <p:spPr>
          <a:xfrm>
            <a:off x="0" y="6602413"/>
            <a:ext cx="1190625" cy="255587"/>
          </a:xfrm>
        </p:spPr>
        <p:txBody>
          <a:bodyPr/>
          <a:lstStyle>
            <a:lvl1pPr>
              <a:defRPr/>
            </a:lvl1pPr>
          </a:lstStyle>
          <a:p>
            <a:pPr>
              <a:defRPr/>
            </a:pPr>
            <a:fld id="{DCA6DEDC-C4A8-421E-92F5-883B745C4336}" type="datetime1">
              <a:rPr lang="zh-CN" altLang="en-US"/>
              <a:t>2026/4/28</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cSld name="空白">
    <p:spTree>
      <p:nvGrpSpPr>
        <p:cNvPr id="1" name=""/>
        <p:cNvGrpSpPr/>
        <p:nvPr/>
      </p:nvGrpSpPr>
      <p:grpSpPr>
        <a:xfrm>
          <a:off x="0" y="0"/>
          <a:ext cx="0" cy="0"/>
          <a:chOff x="0" y="0"/>
          <a:chExt cx="0" cy="0"/>
        </a:xfrm>
      </p:grpSpPr>
      <p:sp>
        <p:nvSpPr>
          <p:cNvPr id="2"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3"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12"/>
          <p:cNvSpPr txBox="1">
            <a:spLocks noChangeArrowheads="1"/>
          </p:cNvSpPr>
          <p:nvPr userDrawn="1"/>
        </p:nvSpPr>
        <p:spPr bwMode="auto">
          <a:xfrm>
            <a:off x="3030538" y="6581775"/>
            <a:ext cx="2527300" cy="499745"/>
          </a:xfrm>
          <a:prstGeom prst="rect">
            <a:avLst/>
          </a:prstGeom>
          <a:noFill/>
          <a:ln>
            <a:noFill/>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dirty="0">
                <a:latin typeface="宋体" panose="02010600030101010101" pitchFamily="2" charset="-122"/>
                <a:ea typeface="宋体" panose="02010600030101010101" pitchFamily="2" charset="-122"/>
              </a:rPr>
              <a:t>第</a:t>
            </a:r>
            <a:r>
              <a:rPr lang="en-US" altLang="zh-CN" sz="1400" dirty="0">
                <a:latin typeface="宋体" panose="02010600030101010101" pitchFamily="2" charset="-122"/>
                <a:ea typeface="宋体" panose="02010600030101010101" pitchFamily="2" charset="-122"/>
              </a:rPr>
              <a:t>6</a:t>
            </a:r>
            <a:r>
              <a:rPr lang="zh-CN" altLang="en-US" sz="1400" dirty="0">
                <a:latin typeface="宋体" panose="02010600030101010101" pitchFamily="2" charset="-122"/>
                <a:ea typeface="宋体" panose="02010600030101010101" pitchFamily="2" charset="-122"/>
              </a:rPr>
              <a:t>章 系统函数</a:t>
            </a:r>
            <a:r>
              <a:rPr lang="en-US" altLang="zh-CN" sz="1400" dirty="0">
                <a:latin typeface="宋体" panose="02010600030101010101" pitchFamily="2" charset="-122"/>
                <a:ea typeface="宋体" panose="02010600030101010101" pitchFamily="2" charset="-122"/>
              </a:rPr>
              <a:t>--</a:t>
            </a:r>
            <a:fld id="{626BED02-C739-4626-95F4-1FC262D48C8D}" type="slidenum">
              <a:rPr lang="zh-CN" altLang="en-US" sz="1400">
                <a:latin typeface="宋体" panose="02010600030101010101" pitchFamily="2" charset="-122"/>
                <a:ea typeface="宋体" panose="02010600030101010101" pitchFamily="2" charset="-122"/>
              </a:rPr>
              <a:t>‹#›</a:t>
            </a:fld>
            <a:r>
              <a:rPr lang="en-US" altLang="zh-CN" sz="1400" dirty="0">
                <a:latin typeface="宋体" panose="02010600030101010101" pitchFamily="2" charset="-122"/>
                <a:ea typeface="宋体" panose="02010600030101010101" pitchFamily="2" charset="-122"/>
              </a:rPr>
              <a:t>/91</a:t>
            </a:r>
          </a:p>
          <a:p>
            <a:pPr algn="ctr" eaLnBrk="1" hangingPunct="1">
              <a:lnSpc>
                <a:spcPct val="85000"/>
              </a:lnSpc>
              <a:spcBef>
                <a:spcPct val="20000"/>
              </a:spcBef>
              <a:buClr>
                <a:schemeClr val="accent2"/>
              </a:buClr>
              <a:buFont typeface="Wingdings" panose="05000000000000000000" pitchFamily="2" charset="2"/>
              <a:buNone/>
            </a:pPr>
            <a:endParaRPr lang="zh-CN" altLang="en-US" sz="1400" dirty="0">
              <a:latin typeface="宋体" panose="02010600030101010101" pitchFamily="2" charset="-122"/>
              <a:ea typeface="宋体" panose="02010600030101010101" pitchFamily="2" charset="-122"/>
            </a:endParaRPr>
          </a:p>
        </p:txBody>
      </p:sp>
      <p:sp>
        <p:nvSpPr>
          <p:cNvPr id="5" name="Text Box 7"/>
          <p:cNvSpPr txBox="1">
            <a:spLocks noChangeArrowheads="1"/>
          </p:cNvSpPr>
          <p:nvPr userDrawn="1"/>
        </p:nvSpPr>
        <p:spPr bwMode="auto">
          <a:xfrm>
            <a:off x="0" y="0"/>
            <a:ext cx="400050" cy="6740525"/>
          </a:xfrm>
          <a:prstGeom prst="rect">
            <a:avLst/>
          </a:prstGeom>
          <a:gradFill rotWithShape="1">
            <a:gsLst>
              <a:gs pos="0">
                <a:srgbClr val="008000"/>
              </a:gs>
              <a:gs pos="100000">
                <a:srgbClr val="003B00"/>
              </a:gs>
            </a:gsLst>
            <a:lin ang="0" scaled="1"/>
          </a:gradFill>
          <a:ln>
            <a:noFill/>
          </a:ln>
        </p:spPr>
        <p:txBody>
          <a:bodyPr>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defRPr/>
            </a:pPr>
            <a:endParaRPr lang="en-US" altLang="zh-CN" sz="2400">
              <a:latin typeface="Arial" panose="020B0604020202020204" pitchFamily="34" charset="0"/>
              <a:ea typeface="宋体" panose="02010600030101010101" pitchFamily="2" charset="-122"/>
            </a:endParaRPr>
          </a:p>
          <a:p>
            <a:pPr eaLnBrk="1" hangingPunct="1">
              <a:spcBef>
                <a:spcPct val="50000"/>
              </a:spcBef>
              <a:defRPr/>
            </a:pPr>
            <a:r>
              <a:rPr lang="zh-CN" altLang="en-US" sz="2400">
                <a:latin typeface="Arial" panose="020B0604020202020204" pitchFamily="34" charset="0"/>
                <a:ea typeface="宋体" panose="02010600030101010101" pitchFamily="2" charset="-122"/>
              </a:rPr>
              <a:t>第六章 连续时间系统的系统函数</a:t>
            </a:r>
          </a:p>
          <a:p>
            <a:pPr eaLnBrk="1" hangingPunct="1">
              <a:spcBef>
                <a:spcPct val="50000"/>
              </a:spcBef>
              <a:defRPr/>
            </a:pPr>
            <a:endParaRPr lang="en-US" altLang="zh-CN" sz="2400">
              <a:latin typeface="Arial" panose="020B0604020202020204" pitchFamily="34" charset="0"/>
              <a:ea typeface="宋体" panose="02010600030101010101" pitchFamily="2" charset="-122"/>
            </a:endParaRPr>
          </a:p>
        </p:txBody>
      </p:sp>
      <p:sp>
        <p:nvSpPr>
          <p:cNvPr id="6" name="日期占位符 1"/>
          <p:cNvSpPr>
            <a:spLocks noGrp="1"/>
          </p:cNvSpPr>
          <p:nvPr>
            <p:ph type="dt" sz="half" idx="10"/>
          </p:nvPr>
        </p:nvSpPr>
        <p:spPr/>
        <p:txBody>
          <a:bodyPr/>
          <a:lstStyle>
            <a:lvl1pPr>
              <a:defRPr/>
            </a:lvl1pPr>
          </a:lstStyle>
          <a:p>
            <a:pPr>
              <a:defRPr/>
            </a:pPr>
            <a:fld id="{FE20640F-8195-41BC-BB4D-28A4AB7D3E05}" type="datetime1">
              <a:rPr lang="zh-CN" altLang="en-US"/>
              <a:t>2026/4/28</a:t>
            </a:fld>
            <a:endParaRPr lang="en-US" altLang="zh-CN" dirty="0"/>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AndTwoObj">
  <p:cSld name="标题，文本与两项内容">
    <p:spTree>
      <p:nvGrpSpPr>
        <p:cNvPr id="1" name=""/>
        <p:cNvGrpSpPr/>
        <p:nvPr/>
      </p:nvGrpSpPr>
      <p:grpSpPr>
        <a:xfrm>
          <a:off x="0" y="0"/>
          <a:ext cx="0" cy="0"/>
          <a:chOff x="0" y="0"/>
          <a:chExt cx="0" cy="0"/>
        </a:xfrm>
      </p:grpSpPr>
      <p:sp>
        <p:nvSpPr>
          <p:cNvPr id="6"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2"/>
          <p:cNvSpPr txBox="1">
            <a:spLocks noChangeArrowheads="1"/>
          </p:cNvSpPr>
          <p:nvPr userDrawn="1"/>
        </p:nvSpPr>
        <p:spPr bwMode="auto">
          <a:xfrm>
            <a:off x="3030538" y="6581775"/>
            <a:ext cx="2527300" cy="273050"/>
          </a:xfrm>
          <a:prstGeom prst="rect">
            <a:avLst/>
          </a:prstGeom>
          <a:noFill/>
          <a:ln>
            <a:noFill/>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dirty="0">
                <a:latin typeface="宋体" panose="02010600030101010101" pitchFamily="2" charset="-122"/>
                <a:ea typeface="宋体" panose="02010600030101010101" pitchFamily="2" charset="-122"/>
              </a:rPr>
              <a:t>第</a:t>
            </a:r>
            <a:r>
              <a:rPr lang="en-US" altLang="zh-CN" sz="1400" dirty="0">
                <a:latin typeface="宋体" panose="02010600030101010101" pitchFamily="2" charset="-122"/>
                <a:ea typeface="宋体" panose="02010600030101010101" pitchFamily="2" charset="-122"/>
              </a:rPr>
              <a:t>6</a:t>
            </a:r>
            <a:r>
              <a:rPr lang="zh-CN" altLang="en-US" sz="1400" dirty="0">
                <a:latin typeface="宋体" panose="02010600030101010101" pitchFamily="2" charset="-122"/>
                <a:ea typeface="宋体" panose="02010600030101010101" pitchFamily="2" charset="-122"/>
              </a:rPr>
              <a:t>章 系统函数</a:t>
            </a:r>
            <a:r>
              <a:rPr lang="en-US" altLang="zh-CN" sz="1400" dirty="0">
                <a:latin typeface="宋体" panose="02010600030101010101" pitchFamily="2" charset="-122"/>
                <a:ea typeface="宋体" panose="02010600030101010101" pitchFamily="2" charset="-122"/>
              </a:rPr>
              <a:t>--</a:t>
            </a:r>
            <a:fld id="{FBDB75F2-7A3A-4BC2-93C6-8754ACA5BA7C}" type="slidenum">
              <a:rPr lang="zh-CN" altLang="en-US" sz="1400">
                <a:latin typeface="宋体" panose="02010600030101010101" pitchFamily="2" charset="-122"/>
                <a:ea typeface="宋体" panose="02010600030101010101" pitchFamily="2" charset="-122"/>
              </a:rPr>
              <a:t>‹#›</a:t>
            </a:fld>
            <a:r>
              <a:rPr lang="en-US" altLang="zh-CN" sz="1400" dirty="0">
                <a:latin typeface="宋体" panose="02010600030101010101" pitchFamily="2" charset="-122"/>
                <a:ea typeface="宋体" panose="02010600030101010101" pitchFamily="2" charset="-122"/>
              </a:rPr>
              <a:t>/96</a:t>
            </a:r>
            <a:endParaRPr lang="zh-CN" altLang="en-US" sz="1400" dirty="0">
              <a:latin typeface="宋体" panose="02010600030101010101" pitchFamily="2" charset="-122"/>
              <a:ea typeface="宋体" panose="02010600030101010101" pitchFamily="2" charset="-122"/>
            </a:endParaRPr>
          </a:p>
        </p:txBody>
      </p:sp>
      <p:sp>
        <p:nvSpPr>
          <p:cNvPr id="9" name="Text Box 7"/>
          <p:cNvSpPr txBox="1">
            <a:spLocks noChangeArrowheads="1"/>
          </p:cNvSpPr>
          <p:nvPr userDrawn="1"/>
        </p:nvSpPr>
        <p:spPr bwMode="auto">
          <a:xfrm>
            <a:off x="0" y="0"/>
            <a:ext cx="400050" cy="6740525"/>
          </a:xfrm>
          <a:prstGeom prst="rect">
            <a:avLst/>
          </a:prstGeom>
          <a:gradFill rotWithShape="1">
            <a:gsLst>
              <a:gs pos="0">
                <a:srgbClr val="008000"/>
              </a:gs>
              <a:gs pos="100000">
                <a:srgbClr val="003B00"/>
              </a:gs>
            </a:gsLst>
            <a:lin ang="0" scaled="1"/>
          </a:gradFill>
          <a:ln>
            <a:noFill/>
          </a:ln>
        </p:spPr>
        <p:txBody>
          <a:bodyPr>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defRPr/>
            </a:pPr>
            <a:endParaRPr lang="en-US" altLang="zh-CN" sz="2400">
              <a:latin typeface="Arial" panose="020B0604020202020204" pitchFamily="34" charset="0"/>
              <a:ea typeface="宋体" panose="02010600030101010101" pitchFamily="2" charset="-122"/>
            </a:endParaRPr>
          </a:p>
          <a:p>
            <a:pPr eaLnBrk="1" hangingPunct="1">
              <a:spcBef>
                <a:spcPct val="50000"/>
              </a:spcBef>
              <a:defRPr/>
            </a:pPr>
            <a:r>
              <a:rPr lang="zh-CN" altLang="en-US" sz="2400">
                <a:latin typeface="Arial" panose="020B0604020202020204" pitchFamily="34" charset="0"/>
                <a:ea typeface="宋体" panose="02010600030101010101" pitchFamily="2" charset="-122"/>
              </a:rPr>
              <a:t>第六章 连续时间系统的系统函数</a:t>
            </a:r>
          </a:p>
          <a:p>
            <a:pPr eaLnBrk="1" hangingPunct="1">
              <a:spcBef>
                <a:spcPct val="50000"/>
              </a:spcBef>
              <a:defRPr/>
            </a:pPr>
            <a:endParaRPr lang="en-US" altLang="zh-CN" sz="2400">
              <a:latin typeface="Arial" panose="020B0604020202020204" pitchFamily="34" charset="0"/>
              <a:ea typeface="宋体" panose="02010600030101010101" pitchFamily="2" charset="-122"/>
            </a:endParaRPr>
          </a:p>
        </p:txBody>
      </p:sp>
      <p:sp>
        <p:nvSpPr>
          <p:cNvPr id="10" name="日期占位符 5"/>
          <p:cNvSpPr txBox="1"/>
          <p:nvPr userDrawn="1"/>
        </p:nvSpPr>
        <p:spPr bwMode="auto">
          <a:xfrm>
            <a:off x="0" y="6600825"/>
            <a:ext cx="1905000" cy="257175"/>
          </a:xfrm>
          <a:prstGeom prst="rect">
            <a:avLst/>
          </a:prstGeom>
          <a:noFill/>
          <a:ln w="9525">
            <a:noFill/>
            <a:miter lim="800000"/>
          </a:ln>
          <a:effectLst/>
        </p:spPr>
        <p:txBody>
          <a:bodyPr/>
          <a:lstStyle>
            <a:lvl1pPr>
              <a:defRPr/>
            </a:lvl1pPr>
          </a:lstStyle>
          <a:p>
            <a:pPr eaLnBrk="1" hangingPunct="1">
              <a:defRPr/>
            </a:pPr>
            <a:fld id="{6DEC88E6-4620-42FA-9119-5E133770201B}" type="datetime1">
              <a:rPr lang="zh-CN" altLang="en-US" sz="1200" smtClean="0">
                <a:latin typeface="+mn-lt"/>
                <a:ea typeface="+mj-ea"/>
              </a:rPr>
              <a:t>2026/4/28</a:t>
            </a:fld>
            <a:endParaRPr lang="en-US" altLang="zh-CN" sz="1200" dirty="0">
              <a:latin typeface="+mn-lt"/>
              <a:ea typeface="+mj-ea"/>
            </a:endParaRPr>
          </a:p>
        </p:txBody>
      </p:sp>
      <p:sp>
        <p:nvSpPr>
          <p:cNvPr id="2" name="标题 1"/>
          <p:cNvSpPr>
            <a:spLocks noGrp="1"/>
          </p:cNvSpPr>
          <p:nvPr>
            <p:ph type="title"/>
          </p:nvPr>
        </p:nvSpPr>
        <p:spPr>
          <a:xfrm>
            <a:off x="686889" y="1"/>
            <a:ext cx="7770223" cy="878774"/>
          </a:xfrm>
        </p:spPr>
        <p:txBody>
          <a:bodyPr/>
          <a:lstStyle/>
          <a:p>
            <a:r>
              <a:rPr lang="zh-CN" altLang="en-US" dirty="0"/>
              <a:t>单击此处编辑母版标题样式</a:t>
            </a:r>
          </a:p>
        </p:txBody>
      </p:sp>
      <p:sp>
        <p:nvSpPr>
          <p:cNvPr id="3" name="文本占位符 2"/>
          <p:cNvSpPr>
            <a:spLocks noGrp="1"/>
          </p:cNvSpPr>
          <p:nvPr>
            <p:ph type="body" sz="half" idx="1"/>
          </p:nvPr>
        </p:nvSpPr>
        <p:spPr>
          <a:xfrm>
            <a:off x="686889" y="1981963"/>
            <a:ext cx="3832860" cy="411365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24252" y="1981963"/>
            <a:ext cx="3832860" cy="200139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24252" y="4093083"/>
            <a:ext cx="3832860" cy="2002536"/>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en-US" altLang="zh-CN" dirty="0"/>
              <a:t>1</a:t>
            </a:r>
            <a:r>
              <a:rPr lang="zh-CN" altLang="en-US" dirty="0"/>
              <a:t>第五级</a:t>
            </a: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1"/>
          <p:cNvSpPr>
            <a:spLocks noGrp="1"/>
          </p:cNvSpPr>
          <p:nvPr>
            <p:ph type="dt" sz="half" idx="10"/>
          </p:nvPr>
        </p:nvSpPr>
        <p:spPr>
          <a:xfrm>
            <a:off x="0" y="6578600"/>
            <a:ext cx="1190625" cy="279400"/>
          </a:xfrm>
        </p:spPr>
        <p:txBody>
          <a:bodyPr/>
          <a:lstStyle>
            <a:lvl1pPr>
              <a:defRPr/>
            </a:lvl1pPr>
          </a:lstStyle>
          <a:p>
            <a:pPr>
              <a:defRPr/>
            </a:pPr>
            <a:fld id="{9983B0B2-F4DB-4BFF-B6B5-CB2FCDEEB1D8}" type="datetime1">
              <a:rPr lang="zh-CN" altLang="en-US"/>
              <a:t>2026/4/28</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7" name="Text Box 7"/>
          <p:cNvSpPr txBox="1">
            <a:spLocks noChangeArrowheads="1"/>
          </p:cNvSpPr>
          <p:nvPr userDrawn="1"/>
        </p:nvSpPr>
        <p:spPr bwMode="auto">
          <a:xfrm>
            <a:off x="0" y="0"/>
            <a:ext cx="400050" cy="6740525"/>
          </a:xfrm>
          <a:prstGeom prst="rect">
            <a:avLst/>
          </a:prstGeom>
          <a:gradFill rotWithShape="1">
            <a:gsLst>
              <a:gs pos="0">
                <a:srgbClr val="008000"/>
              </a:gs>
              <a:gs pos="100000">
                <a:srgbClr val="003B00"/>
              </a:gs>
            </a:gsLst>
            <a:lin ang="0" scaled="1"/>
          </a:gradFill>
          <a:ln>
            <a:noFill/>
          </a:ln>
        </p:spPr>
        <p:txBody>
          <a:bodyPr>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defRPr/>
            </a:pPr>
            <a:endParaRPr lang="en-US" altLang="zh-CN" sz="2400">
              <a:latin typeface="Arial" panose="020B0604020202020204" pitchFamily="34" charset="0"/>
              <a:ea typeface="宋体" panose="02010600030101010101" pitchFamily="2" charset="-122"/>
            </a:endParaRPr>
          </a:p>
          <a:p>
            <a:pPr eaLnBrk="1" hangingPunct="1">
              <a:spcBef>
                <a:spcPct val="50000"/>
              </a:spcBef>
              <a:defRPr/>
            </a:pPr>
            <a:r>
              <a:rPr lang="zh-CN" altLang="en-US" sz="2400">
                <a:latin typeface="Arial" panose="020B0604020202020204" pitchFamily="34" charset="0"/>
                <a:ea typeface="宋体" panose="02010600030101010101" pitchFamily="2" charset="-122"/>
              </a:rPr>
              <a:t>第六章 连续时间系统的系统函数</a:t>
            </a:r>
          </a:p>
          <a:p>
            <a:pPr eaLnBrk="1" hangingPunct="1">
              <a:spcBef>
                <a:spcPct val="50000"/>
              </a:spcBef>
              <a:defRPr/>
            </a:pPr>
            <a:endParaRPr lang="en-US" altLang="zh-CN" sz="2400">
              <a:latin typeface="Arial" panose="020B0604020202020204" pitchFamily="34" charset="0"/>
              <a:ea typeface="宋体" panose="02010600030101010101" pitchFamily="2" charset="-122"/>
            </a:endParaRPr>
          </a:p>
        </p:txBody>
      </p:sp>
      <p:sp>
        <p:nvSpPr>
          <p:cNvPr id="2" name="标题 1"/>
          <p:cNvSpPr>
            <a:spLocks noGrp="1"/>
          </p:cNvSpPr>
          <p:nvPr>
            <p:ph type="title" sz="quarter"/>
          </p:nvPr>
        </p:nvSpPr>
        <p:spPr>
          <a:xfrm>
            <a:off x="676894" y="0"/>
            <a:ext cx="8238506" cy="783771"/>
          </a:xfrm>
        </p:spPr>
        <p:txBody>
          <a:bodyPr/>
          <a:lstStyle/>
          <a:p>
            <a:r>
              <a:rPr lang="zh-CN" altLang="en-US" dirty="0"/>
              <a:t>单击此处编辑母版标题样式</a:t>
            </a:r>
          </a:p>
        </p:txBody>
      </p:sp>
      <p:sp>
        <p:nvSpPr>
          <p:cNvPr id="3" name="内容占位符 2"/>
          <p:cNvSpPr>
            <a:spLocks noGrp="1"/>
          </p:cNvSpPr>
          <p:nvPr>
            <p:ph sz="quarter" idx="1"/>
          </p:nvPr>
        </p:nvSpPr>
        <p:spPr>
          <a:xfrm>
            <a:off x="1092447" y="894666"/>
            <a:ext cx="3416300" cy="22479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4791776" y="1108421"/>
            <a:ext cx="3416300" cy="22479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1033070" y="3354342"/>
            <a:ext cx="3416300" cy="22479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4756150" y="3639350"/>
            <a:ext cx="3416300" cy="2247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5"/>
          <p:cNvSpPr>
            <a:spLocks noGrp="1"/>
          </p:cNvSpPr>
          <p:nvPr>
            <p:ph type="dt" sz="half" idx="10"/>
          </p:nvPr>
        </p:nvSpPr>
        <p:spPr>
          <a:xfrm>
            <a:off x="0" y="6600825"/>
            <a:ext cx="1905000" cy="257175"/>
          </a:xfrm>
        </p:spPr>
        <p:txBody>
          <a:bodyPr/>
          <a:lstStyle>
            <a:lvl1pPr>
              <a:defRPr/>
            </a:lvl1pPr>
          </a:lstStyle>
          <a:p>
            <a:pPr>
              <a:defRPr/>
            </a:pPr>
            <a:fld id="{12319762-6E0E-45EE-9075-CCB841D32A67}" type="datetime1">
              <a:rPr lang="zh-CN" altLang="en-US"/>
              <a:t>2026/4/28</a:t>
            </a:fld>
            <a:endParaRPr lang="en-US" alt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7450" y="1844675"/>
            <a:ext cx="34163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56150" y="1844675"/>
            <a:ext cx="34163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1"/>
          <p:cNvSpPr>
            <a:spLocks noGrp="1"/>
          </p:cNvSpPr>
          <p:nvPr>
            <p:ph type="dt" sz="half" idx="10"/>
          </p:nvPr>
        </p:nvSpPr>
        <p:spPr>
          <a:xfrm>
            <a:off x="0" y="6578600"/>
            <a:ext cx="1190625" cy="279400"/>
          </a:xfrm>
        </p:spPr>
        <p:txBody>
          <a:bodyPr/>
          <a:lstStyle>
            <a:lvl1pPr>
              <a:defRPr/>
            </a:lvl1pPr>
          </a:lstStyle>
          <a:p>
            <a:pPr>
              <a:defRPr/>
            </a:pPr>
            <a:fld id="{B2C6764C-5BD8-4ACA-A47C-458A6924909F}" type="datetime1">
              <a:rPr lang="zh-CN" altLang="en-US"/>
              <a:t>2026/4/28</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75012" y="0"/>
            <a:ext cx="8440387" cy="736270"/>
          </a:xfrm>
        </p:spPr>
        <p:txBody>
          <a:bodyPr/>
          <a:lstStyle/>
          <a:p>
            <a:r>
              <a:rPr lang="zh-CN" altLang="en-US" dirty="0"/>
              <a:t>单击此处编辑母版标题样式</a:t>
            </a:r>
          </a:p>
        </p:txBody>
      </p:sp>
      <p:sp>
        <p:nvSpPr>
          <p:cNvPr id="3" name="内容占位符 2"/>
          <p:cNvSpPr>
            <a:spLocks noGrp="1"/>
          </p:cNvSpPr>
          <p:nvPr>
            <p:ph sz="half" idx="1"/>
          </p:nvPr>
        </p:nvSpPr>
        <p:spPr>
          <a:xfrm>
            <a:off x="1163699" y="1144041"/>
            <a:ext cx="3416300" cy="46482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4779900" y="1049040"/>
            <a:ext cx="3416300" cy="22479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4779901" y="3639344"/>
            <a:ext cx="3416300" cy="22479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1"/>
          <p:cNvSpPr>
            <a:spLocks noGrp="1"/>
          </p:cNvSpPr>
          <p:nvPr>
            <p:ph type="dt" sz="half" idx="10"/>
          </p:nvPr>
        </p:nvSpPr>
        <p:spPr>
          <a:xfrm>
            <a:off x="0" y="6578600"/>
            <a:ext cx="1190625" cy="279400"/>
          </a:xfrm>
        </p:spPr>
        <p:txBody>
          <a:bodyPr/>
          <a:lstStyle>
            <a:lvl1pPr>
              <a:defRPr/>
            </a:lvl1pPr>
          </a:lstStyle>
          <a:p>
            <a:pPr>
              <a:defRPr/>
            </a:pPr>
            <a:fld id="{04E63C6A-9971-4A10-BE9D-13087E83FC7E}" type="datetime1">
              <a:rPr lang="zh-CN" altLang="en-US"/>
              <a:t>2026/4/28</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1"/>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611188" y="1484313"/>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6614" name="Rectangle 6"/>
          <p:cNvSpPr>
            <a:spLocks noGrp="1" noChangeArrowheads="1"/>
          </p:cNvSpPr>
          <p:nvPr>
            <p:ph type="dt" sz="half" idx="2"/>
          </p:nvPr>
        </p:nvSpPr>
        <p:spPr bwMode="auto">
          <a:xfrm>
            <a:off x="0" y="6488113"/>
            <a:ext cx="1487214" cy="369887"/>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FontTx/>
              <a:buNone/>
              <a:defRPr sz="1200" b="1">
                <a:latin typeface="+mn-lt"/>
                <a:ea typeface="+mj-ea"/>
              </a:defRPr>
            </a:lvl1pPr>
          </a:lstStyle>
          <a:p>
            <a:pPr>
              <a:defRPr/>
            </a:pPr>
            <a:fld id="{E2CAE312-6AD8-493B-8CE5-55A6CE7FFCC9}" type="datetime1">
              <a:rPr lang="zh-CN" altLang="en-US"/>
              <a:t>2026/4/28</a:t>
            </a:fld>
            <a:endParaRPr lang="zh-CN" altLang="en-US" dirty="0"/>
          </a:p>
        </p:txBody>
      </p:sp>
      <p:pic>
        <p:nvPicPr>
          <p:cNvPr id="1030" name="图片 9"/>
          <p:cNvPicPr>
            <a:picLocks noChangeAspect="1" noChangeArrowheads="1"/>
          </p:cNvPicPr>
          <p:nvPr userDrawn="1"/>
        </p:nvPicPr>
        <p:blipFill>
          <a:blip r:embed="rId1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TextBox 9"/>
          <p:cNvSpPr txBox="1">
            <a:spLocks noChangeArrowheads="1"/>
          </p:cNvSpPr>
          <p:nvPr userDrawn="1"/>
        </p:nvSpPr>
        <p:spPr bwMode="auto">
          <a:xfrm>
            <a:off x="3030538" y="6581775"/>
            <a:ext cx="2325687" cy="273685"/>
          </a:xfrm>
          <a:prstGeom prst="rect">
            <a:avLst/>
          </a:prstGeom>
          <a:noFill/>
          <a:ln>
            <a:noFill/>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400" dirty="0">
                <a:latin typeface="宋体" panose="02010600030101010101" pitchFamily="2" charset="-122"/>
                <a:ea typeface="宋体" panose="02010600030101010101" pitchFamily="2" charset="-122"/>
              </a:rPr>
              <a:t>第</a:t>
            </a:r>
            <a:r>
              <a:rPr lang="en-US" altLang="zh-CN" sz="1400" dirty="0">
                <a:latin typeface="宋体" panose="02010600030101010101" pitchFamily="2" charset="-122"/>
                <a:ea typeface="宋体" panose="02010600030101010101" pitchFamily="2" charset="-122"/>
              </a:rPr>
              <a:t>6</a:t>
            </a:r>
            <a:r>
              <a:rPr lang="zh-CN" altLang="en-US" sz="1400" dirty="0">
                <a:latin typeface="宋体" panose="02010600030101010101" pitchFamily="2" charset="-122"/>
                <a:ea typeface="宋体" panose="02010600030101010101" pitchFamily="2" charset="-122"/>
              </a:rPr>
              <a:t>章 系统函数</a:t>
            </a:r>
            <a:r>
              <a:rPr lang="en-US" altLang="zh-CN" sz="1400" dirty="0">
                <a:latin typeface="宋体" panose="02010600030101010101" pitchFamily="2" charset="-122"/>
                <a:ea typeface="宋体" panose="02010600030101010101" pitchFamily="2" charset="-122"/>
              </a:rPr>
              <a:t>--</a:t>
            </a:r>
            <a:fld id="{7A18DC58-BA3A-47F3-B354-60CB583857BE}" type="slidenum">
              <a:rPr lang="zh-CN" altLang="en-US" sz="1400">
                <a:latin typeface="宋体" panose="02010600030101010101" pitchFamily="2" charset="-122"/>
                <a:ea typeface="宋体" panose="02010600030101010101" pitchFamily="2" charset="-122"/>
              </a:rPr>
              <a:t>‹#›</a:t>
            </a:fld>
            <a:r>
              <a:rPr lang="en-US" altLang="zh-CN" sz="1400" dirty="0">
                <a:latin typeface="宋体" panose="02010600030101010101" pitchFamily="2" charset="-122"/>
                <a:ea typeface="宋体" panose="02010600030101010101" pitchFamily="2" charset="-122"/>
              </a:rPr>
              <a:t>/91</a:t>
            </a:r>
            <a:endParaRPr lang="zh-CN" altLang="en-US" sz="1400" dirty="0">
              <a:latin typeface="宋体" panose="02010600030101010101" pitchFamily="2" charset="-122"/>
              <a:ea typeface="宋体" panose="02010600030101010101" pitchFamily="2" charset="-122"/>
            </a:endParaRPr>
          </a:p>
        </p:txBody>
      </p:sp>
      <p:sp>
        <p:nvSpPr>
          <p:cNvPr id="1032" name="Text Box 7"/>
          <p:cNvSpPr txBox="1">
            <a:spLocks noChangeArrowheads="1"/>
          </p:cNvSpPr>
          <p:nvPr userDrawn="1"/>
        </p:nvSpPr>
        <p:spPr bwMode="auto">
          <a:xfrm>
            <a:off x="0" y="0"/>
            <a:ext cx="400050" cy="6924973"/>
          </a:xfrm>
          <a:prstGeom prst="rect">
            <a:avLst/>
          </a:prstGeom>
          <a:gradFill rotWithShape="1">
            <a:gsLst>
              <a:gs pos="0">
                <a:srgbClr val="008000"/>
              </a:gs>
              <a:gs pos="100000">
                <a:srgbClr val="003B00"/>
              </a:gs>
            </a:gsLst>
            <a:lin ang="0" scaled="1"/>
          </a:gradFill>
          <a:ln>
            <a:noFill/>
          </a:ln>
        </p:spPr>
        <p:txBody>
          <a:bodyPr>
            <a:spAutoFit/>
          </a:bodyPr>
          <a:lstStyle>
            <a:lvl1pPr eaLnBrk="0" hangingPunct="0">
              <a:defRPr sz="2800" b="1">
                <a:solidFill>
                  <a:schemeClr val="tx1"/>
                </a:solidFill>
                <a:latin typeface="黑体" panose="02010609060101010101" pitchFamily="49" charset="-122"/>
                <a:ea typeface="黑体" panose="02010609060101010101" pitchFamily="49" charset="-122"/>
              </a:defRPr>
            </a:lvl1pPr>
            <a:lvl2pPr marL="742950" indent="-285750" eaLnBrk="0" hangingPunct="0">
              <a:defRPr sz="2800" b="1">
                <a:solidFill>
                  <a:schemeClr val="tx1"/>
                </a:solidFill>
                <a:latin typeface="黑体" panose="02010609060101010101" pitchFamily="49" charset="-122"/>
                <a:ea typeface="黑体" panose="02010609060101010101" pitchFamily="49" charset="-122"/>
              </a:defRPr>
            </a:lvl2pPr>
            <a:lvl3pPr marL="1143000" indent="-228600" eaLnBrk="0" hangingPunct="0">
              <a:defRPr sz="2800" b="1">
                <a:solidFill>
                  <a:schemeClr val="tx1"/>
                </a:solidFill>
                <a:latin typeface="黑体" panose="02010609060101010101" pitchFamily="49" charset="-122"/>
                <a:ea typeface="黑体" panose="02010609060101010101" pitchFamily="49" charset="-122"/>
              </a:defRPr>
            </a:lvl3pPr>
            <a:lvl4pPr marL="1600200" indent="-228600" eaLnBrk="0" hangingPunct="0">
              <a:defRPr sz="2800" b="1">
                <a:solidFill>
                  <a:schemeClr val="tx1"/>
                </a:solidFill>
                <a:latin typeface="黑体" panose="02010609060101010101" pitchFamily="49" charset="-122"/>
                <a:ea typeface="黑体" panose="02010609060101010101" pitchFamily="49" charset="-122"/>
              </a:defRPr>
            </a:lvl4pPr>
            <a:lvl5pPr marL="2057400" indent="-228600" eaLnBrk="0" hangingPunct="0">
              <a:defRPr sz="2800" b="1">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defRPr/>
            </a:pPr>
            <a:endParaRPr lang="en-US" altLang="zh-CN" sz="2400" dirty="0">
              <a:latin typeface="Arial" panose="020B0604020202020204" pitchFamily="34" charset="0"/>
              <a:ea typeface="宋体" panose="02010600030101010101" pitchFamily="2" charset="-122"/>
            </a:endParaRPr>
          </a:p>
          <a:p>
            <a:pPr eaLnBrk="1" hangingPunct="1">
              <a:spcBef>
                <a:spcPct val="50000"/>
              </a:spcBef>
              <a:defRPr/>
            </a:pPr>
            <a:r>
              <a:rPr lang="zh-CN" altLang="en-US" sz="2400" dirty="0">
                <a:latin typeface="Arial" panose="020B0604020202020204" pitchFamily="34" charset="0"/>
                <a:ea typeface="宋体" panose="02010600030101010101" pitchFamily="2" charset="-122"/>
              </a:rPr>
              <a:t>第六章 连续时间系统的系统函数</a:t>
            </a:r>
            <a:endParaRPr lang="en-US" altLang="zh-CN" sz="2400" dirty="0">
              <a:latin typeface="Arial" panose="020B0604020202020204" pitchFamily="34" charset="0"/>
              <a:ea typeface="宋体" panose="02010600030101010101" pitchFamily="2" charset="-122"/>
            </a:endParaRPr>
          </a:p>
          <a:p>
            <a:pPr eaLnBrk="1" hangingPunct="1">
              <a:spcBef>
                <a:spcPct val="50000"/>
              </a:spcBef>
              <a:defRPr/>
            </a:pPr>
            <a:endParaRPr lang="zh-CN" altLang="en-US" sz="2400" dirty="0">
              <a:latin typeface="Arial" panose="020B0604020202020204" pitchFamily="34" charset="0"/>
              <a:ea typeface="宋体" panose="02010600030101010101" pitchFamily="2" charset="-122"/>
            </a:endParaRPr>
          </a:p>
          <a:p>
            <a:pPr eaLnBrk="1" hangingPunct="1">
              <a:spcBef>
                <a:spcPct val="50000"/>
              </a:spcBef>
              <a:defRPr/>
            </a:pPr>
            <a:endParaRPr lang="en-US" altLang="zh-CN" sz="2400" dirty="0">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audio" Target="../media/audio1.wav"/><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9.wmf"/></Relationships>
</file>

<file path=ppt/slides/_rels/slide4.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12.wmf"/><Relationship Id="rId5" Type="http://schemas.openxmlformats.org/officeDocument/2006/relationships/oleObject" Target="../embeddings/oleObject4.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2.bin"/><Relationship Id="rId18" Type="http://schemas.openxmlformats.org/officeDocument/2006/relationships/image" Target="../media/image22.wmf"/><Relationship Id="rId3" Type="http://schemas.openxmlformats.org/officeDocument/2006/relationships/oleObject" Target="../embeddings/oleObject7.bin"/><Relationship Id="rId21" Type="http://schemas.openxmlformats.org/officeDocument/2006/relationships/oleObject" Target="../embeddings/oleObject16.bin"/><Relationship Id="rId7" Type="http://schemas.openxmlformats.org/officeDocument/2006/relationships/oleObject" Target="../embeddings/oleObject9.bin"/><Relationship Id="rId12" Type="http://schemas.openxmlformats.org/officeDocument/2006/relationships/image" Target="../media/image19.wmf"/><Relationship Id="rId17" Type="http://schemas.openxmlformats.org/officeDocument/2006/relationships/oleObject" Target="../embeddings/oleObject14.bin"/><Relationship Id="rId2" Type="http://schemas.openxmlformats.org/officeDocument/2006/relationships/slideLayout" Target="../slideLayouts/slideLayout1.xml"/><Relationship Id="rId16" Type="http://schemas.openxmlformats.org/officeDocument/2006/relationships/image" Target="../media/image21.wmf"/><Relationship Id="rId20" Type="http://schemas.openxmlformats.org/officeDocument/2006/relationships/image" Target="../media/image23.wmf"/><Relationship Id="rId1" Type="http://schemas.openxmlformats.org/officeDocument/2006/relationships/tags" Target="../tags/tag3.xml"/><Relationship Id="rId6" Type="http://schemas.openxmlformats.org/officeDocument/2006/relationships/image" Target="../media/image16.png"/><Relationship Id="rId11" Type="http://schemas.openxmlformats.org/officeDocument/2006/relationships/oleObject" Target="../embeddings/oleObject11.bin"/><Relationship Id="rId24" Type="http://schemas.openxmlformats.org/officeDocument/2006/relationships/image" Target="../media/image25.wmf"/><Relationship Id="rId5" Type="http://schemas.openxmlformats.org/officeDocument/2006/relationships/oleObject" Target="../embeddings/oleObject8.bin"/><Relationship Id="rId15" Type="http://schemas.openxmlformats.org/officeDocument/2006/relationships/oleObject" Target="../embeddings/oleObject13.bin"/><Relationship Id="rId23" Type="http://schemas.openxmlformats.org/officeDocument/2006/relationships/oleObject" Target="../embeddings/oleObject17.bin"/><Relationship Id="rId10" Type="http://schemas.openxmlformats.org/officeDocument/2006/relationships/image" Target="../media/image18.wmf"/><Relationship Id="rId19" Type="http://schemas.openxmlformats.org/officeDocument/2006/relationships/oleObject" Target="../embeddings/oleObject15.bin"/><Relationship Id="rId4" Type="http://schemas.openxmlformats.org/officeDocument/2006/relationships/image" Target="../media/image15.png"/><Relationship Id="rId9" Type="http://schemas.openxmlformats.org/officeDocument/2006/relationships/oleObject" Target="../embeddings/oleObject10.bin"/><Relationship Id="rId14" Type="http://schemas.openxmlformats.org/officeDocument/2006/relationships/image" Target="../media/image20.wmf"/><Relationship Id="rId22" Type="http://schemas.openxmlformats.org/officeDocument/2006/relationships/image" Target="../media/image24.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26.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27.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28.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29.png"/><Relationship Id="rId7" Type="http://schemas.openxmlformats.org/officeDocument/2006/relationships/image" Target="../media/image31.wmf"/><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oleObject" Target="../embeddings/oleObject22.bin"/><Relationship Id="rId11" Type="http://schemas.openxmlformats.org/officeDocument/2006/relationships/image" Target="../media/image33.wmf"/><Relationship Id="rId5" Type="http://schemas.openxmlformats.org/officeDocument/2006/relationships/image" Target="../media/image30.wmf"/><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32.wmf"/></Relationships>
</file>

<file path=ppt/slides/_rels/slide11.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image" Target="../media/image39.w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tags" Target="../tags/tag8.xml"/><Relationship Id="rId6" Type="http://schemas.openxmlformats.org/officeDocument/2006/relationships/image" Target="../media/image35.wmf"/><Relationship Id="rId11" Type="http://schemas.openxmlformats.org/officeDocument/2006/relationships/image" Target="../media/image38.png"/><Relationship Id="rId5" Type="http://schemas.openxmlformats.org/officeDocument/2006/relationships/oleObject" Target="../embeddings/oleObject26.bin"/><Relationship Id="rId15" Type="http://schemas.openxmlformats.org/officeDocument/2006/relationships/image" Target="../media/image40.wmf"/><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28.bin"/><Relationship Id="rId14" Type="http://schemas.openxmlformats.org/officeDocument/2006/relationships/oleObject" Target="../embeddings/oleObject30.bin"/></Relationships>
</file>

<file path=ppt/slides/_rels/slide12.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1.bin"/><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32.bin"/><Relationship Id="rId1" Type="http://schemas.openxmlformats.org/officeDocument/2006/relationships/slideLayout" Target="../slideLayouts/slideLayout8.xml"/><Relationship Id="rId5" Type="http://schemas.openxmlformats.org/officeDocument/2006/relationships/image" Target="../media/image41.wmf"/><Relationship Id="rId4" Type="http://schemas.openxmlformats.org/officeDocument/2006/relationships/oleObject" Target="../embeddings/oleObject33.bin"/></Relationships>
</file>

<file path=ppt/slides/_rels/slide14.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9.xml"/><Relationship Id="rId1" Type="http://schemas.openxmlformats.org/officeDocument/2006/relationships/tags" Target="../tags/tag9.xml"/><Relationship Id="rId6" Type="http://schemas.openxmlformats.org/officeDocument/2006/relationships/image" Target="../media/image44.wmf"/><Relationship Id="rId5" Type="http://schemas.openxmlformats.org/officeDocument/2006/relationships/oleObject" Target="../embeddings/oleObject35.bin"/><Relationship Id="rId4" Type="http://schemas.openxmlformats.org/officeDocument/2006/relationships/image" Target="../media/image43.wmf"/></Relationships>
</file>

<file path=ppt/slides/_rels/slide15.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37.bin"/><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1.xml"/><Relationship Id="rId1" Type="http://schemas.openxmlformats.org/officeDocument/2006/relationships/tags" Target="../tags/tag10.xml"/><Relationship Id="rId4" Type="http://schemas.openxmlformats.org/officeDocument/2006/relationships/image" Target="../media/image46.wmf"/></Relationships>
</file>

<file path=ppt/slides/_rels/slide17.xml.rels><?xml version="1.0" encoding="UTF-8" standalone="yes"?>
<Relationships xmlns="http://schemas.openxmlformats.org/package/2006/relationships"><Relationship Id="rId2" Type="http://schemas.openxmlformats.org/officeDocument/2006/relationships/image" Target="../media/image47.GI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43.bin"/><Relationship Id="rId18" Type="http://schemas.openxmlformats.org/officeDocument/2006/relationships/image" Target="../media/image55.wmf"/><Relationship Id="rId3" Type="http://schemas.openxmlformats.org/officeDocument/2006/relationships/oleObject" Target="../embeddings/oleObject38.bin"/><Relationship Id="rId21" Type="http://schemas.openxmlformats.org/officeDocument/2006/relationships/oleObject" Target="../embeddings/oleObject47.bin"/><Relationship Id="rId7" Type="http://schemas.openxmlformats.org/officeDocument/2006/relationships/oleObject" Target="../embeddings/oleObject40.bin"/><Relationship Id="rId12" Type="http://schemas.openxmlformats.org/officeDocument/2006/relationships/image" Target="../media/image52.wmf"/><Relationship Id="rId17" Type="http://schemas.openxmlformats.org/officeDocument/2006/relationships/oleObject" Target="../embeddings/oleObject45.bin"/><Relationship Id="rId2" Type="http://schemas.openxmlformats.org/officeDocument/2006/relationships/slideLayout" Target="../slideLayouts/slideLayout1.xml"/><Relationship Id="rId16" Type="http://schemas.openxmlformats.org/officeDocument/2006/relationships/image" Target="../media/image54.wmf"/><Relationship Id="rId20" Type="http://schemas.openxmlformats.org/officeDocument/2006/relationships/image" Target="../media/image56.wmf"/><Relationship Id="rId1" Type="http://schemas.openxmlformats.org/officeDocument/2006/relationships/tags" Target="../tags/tag11.xml"/><Relationship Id="rId6" Type="http://schemas.openxmlformats.org/officeDocument/2006/relationships/image" Target="../media/image49.wmf"/><Relationship Id="rId11" Type="http://schemas.openxmlformats.org/officeDocument/2006/relationships/oleObject" Target="../embeddings/oleObject42.bin"/><Relationship Id="rId5" Type="http://schemas.openxmlformats.org/officeDocument/2006/relationships/oleObject" Target="../embeddings/oleObject39.bin"/><Relationship Id="rId15" Type="http://schemas.openxmlformats.org/officeDocument/2006/relationships/oleObject" Target="../embeddings/oleObject44.bin"/><Relationship Id="rId10" Type="http://schemas.openxmlformats.org/officeDocument/2006/relationships/image" Target="../media/image51.wmf"/><Relationship Id="rId19" Type="http://schemas.openxmlformats.org/officeDocument/2006/relationships/oleObject" Target="../embeddings/oleObject46.bin"/><Relationship Id="rId4" Type="http://schemas.openxmlformats.org/officeDocument/2006/relationships/image" Target="../media/image48.wmf"/><Relationship Id="rId9" Type="http://schemas.openxmlformats.org/officeDocument/2006/relationships/oleObject" Target="../embeddings/oleObject41.bin"/><Relationship Id="rId14" Type="http://schemas.openxmlformats.org/officeDocument/2006/relationships/image" Target="../media/image53.wmf"/><Relationship Id="rId22" Type="http://schemas.openxmlformats.org/officeDocument/2006/relationships/image" Target="../media/image57.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xml"/><Relationship Id="rId1" Type="http://schemas.openxmlformats.org/officeDocument/2006/relationships/tags" Target="../tags/tag12.xml"/><Relationship Id="rId5" Type="http://schemas.openxmlformats.org/officeDocument/2006/relationships/image" Target="../media/image59.png"/><Relationship Id="rId4" Type="http://schemas.openxmlformats.org/officeDocument/2006/relationships/image" Target="../media/image58.emf"/></Relationships>
</file>

<file path=ppt/slides/_rels/slide21.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61.wmf"/><Relationship Id="rId5" Type="http://schemas.openxmlformats.org/officeDocument/2006/relationships/oleObject" Target="../embeddings/oleObject50.bin"/><Relationship Id="rId4" Type="http://schemas.openxmlformats.org/officeDocument/2006/relationships/image" Target="../media/image60.wmf"/></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23.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oleObject" Target="../embeddings/oleObject57.bin"/><Relationship Id="rId18" Type="http://schemas.openxmlformats.org/officeDocument/2006/relationships/image" Target="../media/image70.wmf"/><Relationship Id="rId26" Type="http://schemas.openxmlformats.org/officeDocument/2006/relationships/image" Target="../media/image74.png"/><Relationship Id="rId3" Type="http://schemas.openxmlformats.org/officeDocument/2006/relationships/oleObject" Target="../embeddings/oleObject52.bin"/><Relationship Id="rId21" Type="http://schemas.openxmlformats.org/officeDocument/2006/relationships/oleObject" Target="../embeddings/oleObject61.bin"/><Relationship Id="rId7" Type="http://schemas.openxmlformats.org/officeDocument/2006/relationships/oleObject" Target="../embeddings/oleObject54.bin"/><Relationship Id="rId12" Type="http://schemas.openxmlformats.org/officeDocument/2006/relationships/image" Target="../media/image67.emf"/><Relationship Id="rId17" Type="http://schemas.openxmlformats.org/officeDocument/2006/relationships/oleObject" Target="../embeddings/oleObject59.bin"/><Relationship Id="rId25" Type="http://schemas.openxmlformats.org/officeDocument/2006/relationships/oleObject" Target="../embeddings/oleObject63.bin"/><Relationship Id="rId2" Type="http://schemas.openxmlformats.org/officeDocument/2006/relationships/slideLayout" Target="../slideLayouts/slideLayout4.xml"/><Relationship Id="rId16" Type="http://schemas.openxmlformats.org/officeDocument/2006/relationships/image" Target="../media/image69.wmf"/><Relationship Id="rId20" Type="http://schemas.openxmlformats.org/officeDocument/2006/relationships/image" Target="../media/image71.emf"/><Relationship Id="rId29" Type="http://schemas.openxmlformats.org/officeDocument/2006/relationships/oleObject" Target="../embeddings/oleObject65.bin"/><Relationship Id="rId1" Type="http://schemas.openxmlformats.org/officeDocument/2006/relationships/tags" Target="../tags/tag15.xml"/><Relationship Id="rId6" Type="http://schemas.openxmlformats.org/officeDocument/2006/relationships/image" Target="../media/image64.emf"/><Relationship Id="rId11" Type="http://schemas.openxmlformats.org/officeDocument/2006/relationships/oleObject" Target="../embeddings/oleObject56.bin"/><Relationship Id="rId24" Type="http://schemas.openxmlformats.org/officeDocument/2006/relationships/image" Target="../media/image73.png"/><Relationship Id="rId5" Type="http://schemas.openxmlformats.org/officeDocument/2006/relationships/oleObject" Target="../embeddings/oleObject53.bin"/><Relationship Id="rId15" Type="http://schemas.openxmlformats.org/officeDocument/2006/relationships/oleObject" Target="../embeddings/oleObject58.bin"/><Relationship Id="rId23" Type="http://schemas.openxmlformats.org/officeDocument/2006/relationships/oleObject" Target="../embeddings/oleObject62.bin"/><Relationship Id="rId28" Type="http://schemas.openxmlformats.org/officeDocument/2006/relationships/image" Target="../media/image75.wmf"/><Relationship Id="rId10" Type="http://schemas.openxmlformats.org/officeDocument/2006/relationships/image" Target="../media/image66.wmf"/><Relationship Id="rId19" Type="http://schemas.openxmlformats.org/officeDocument/2006/relationships/oleObject" Target="../embeddings/oleObject60.bin"/><Relationship Id="rId4" Type="http://schemas.openxmlformats.org/officeDocument/2006/relationships/image" Target="../media/image63.png"/><Relationship Id="rId9" Type="http://schemas.openxmlformats.org/officeDocument/2006/relationships/oleObject" Target="../embeddings/oleObject55.bin"/><Relationship Id="rId14" Type="http://schemas.openxmlformats.org/officeDocument/2006/relationships/image" Target="../media/image68.wmf"/><Relationship Id="rId22" Type="http://schemas.openxmlformats.org/officeDocument/2006/relationships/image" Target="../media/image72.emf"/><Relationship Id="rId27" Type="http://schemas.openxmlformats.org/officeDocument/2006/relationships/oleObject" Target="../embeddings/oleObject64.bin"/><Relationship Id="rId30" Type="http://schemas.openxmlformats.org/officeDocument/2006/relationships/image" Target="../media/image76.png"/></Relationships>
</file>

<file path=ppt/slides/_rels/slide24.xml.rels><?xml version="1.0" encoding="UTF-8" standalone="yes"?>
<Relationships xmlns="http://schemas.openxmlformats.org/package/2006/relationships"><Relationship Id="rId8" Type="http://schemas.openxmlformats.org/officeDocument/2006/relationships/image" Target="../media/image79.emf"/><Relationship Id="rId13" Type="http://schemas.openxmlformats.org/officeDocument/2006/relationships/oleObject" Target="../embeddings/oleObject71.bin"/><Relationship Id="rId18" Type="http://schemas.openxmlformats.org/officeDocument/2006/relationships/image" Target="../media/image84.wmf"/><Relationship Id="rId26" Type="http://schemas.openxmlformats.org/officeDocument/2006/relationships/image" Target="../media/image88.emf"/><Relationship Id="rId3" Type="http://schemas.openxmlformats.org/officeDocument/2006/relationships/oleObject" Target="../embeddings/oleObject66.bin"/><Relationship Id="rId21" Type="http://schemas.openxmlformats.org/officeDocument/2006/relationships/oleObject" Target="../embeddings/oleObject75.bin"/><Relationship Id="rId7" Type="http://schemas.openxmlformats.org/officeDocument/2006/relationships/oleObject" Target="../embeddings/oleObject68.bin"/><Relationship Id="rId12" Type="http://schemas.openxmlformats.org/officeDocument/2006/relationships/image" Target="../media/image81.png"/><Relationship Id="rId17" Type="http://schemas.openxmlformats.org/officeDocument/2006/relationships/oleObject" Target="../embeddings/oleObject73.bin"/><Relationship Id="rId25" Type="http://schemas.openxmlformats.org/officeDocument/2006/relationships/oleObject" Target="../embeddings/oleObject77.bin"/><Relationship Id="rId2" Type="http://schemas.openxmlformats.org/officeDocument/2006/relationships/slideLayout" Target="../slideLayouts/slideLayout4.xml"/><Relationship Id="rId16" Type="http://schemas.openxmlformats.org/officeDocument/2006/relationships/image" Target="../media/image83.emf"/><Relationship Id="rId20" Type="http://schemas.openxmlformats.org/officeDocument/2006/relationships/image" Target="../media/image85.wmf"/><Relationship Id="rId29" Type="http://schemas.openxmlformats.org/officeDocument/2006/relationships/oleObject" Target="../embeddings/oleObject79.bin"/><Relationship Id="rId1" Type="http://schemas.openxmlformats.org/officeDocument/2006/relationships/tags" Target="../tags/tag16.xml"/><Relationship Id="rId6" Type="http://schemas.openxmlformats.org/officeDocument/2006/relationships/image" Target="../media/image78.wmf"/><Relationship Id="rId11" Type="http://schemas.openxmlformats.org/officeDocument/2006/relationships/oleObject" Target="../embeddings/oleObject70.bin"/><Relationship Id="rId24" Type="http://schemas.openxmlformats.org/officeDocument/2006/relationships/image" Target="../media/image87.emf"/><Relationship Id="rId5" Type="http://schemas.openxmlformats.org/officeDocument/2006/relationships/oleObject" Target="../embeddings/oleObject67.bin"/><Relationship Id="rId15" Type="http://schemas.openxmlformats.org/officeDocument/2006/relationships/oleObject" Target="../embeddings/oleObject72.bin"/><Relationship Id="rId23" Type="http://schemas.openxmlformats.org/officeDocument/2006/relationships/oleObject" Target="../embeddings/oleObject76.bin"/><Relationship Id="rId28" Type="http://schemas.openxmlformats.org/officeDocument/2006/relationships/image" Target="../media/image89.png"/><Relationship Id="rId10" Type="http://schemas.openxmlformats.org/officeDocument/2006/relationships/image" Target="../media/image80.png"/><Relationship Id="rId19" Type="http://schemas.openxmlformats.org/officeDocument/2006/relationships/oleObject" Target="../embeddings/oleObject74.bin"/><Relationship Id="rId4" Type="http://schemas.openxmlformats.org/officeDocument/2006/relationships/image" Target="../media/image77.png"/><Relationship Id="rId9" Type="http://schemas.openxmlformats.org/officeDocument/2006/relationships/oleObject" Target="../embeddings/oleObject69.bin"/><Relationship Id="rId14" Type="http://schemas.openxmlformats.org/officeDocument/2006/relationships/image" Target="../media/image82.wmf"/><Relationship Id="rId22" Type="http://schemas.openxmlformats.org/officeDocument/2006/relationships/image" Target="../media/image86.wmf"/><Relationship Id="rId27" Type="http://schemas.openxmlformats.org/officeDocument/2006/relationships/oleObject" Target="../embeddings/oleObject78.bin"/><Relationship Id="rId30" Type="http://schemas.openxmlformats.org/officeDocument/2006/relationships/image" Target="../media/image90.png"/></Relationships>
</file>

<file path=ppt/slides/_rels/slide25.xml.rels><?xml version="1.0" encoding="UTF-8" standalone="yes"?>
<Relationships xmlns="http://schemas.openxmlformats.org/package/2006/relationships"><Relationship Id="rId8" Type="http://schemas.openxmlformats.org/officeDocument/2006/relationships/image" Target="../media/image93.emf"/><Relationship Id="rId13" Type="http://schemas.openxmlformats.org/officeDocument/2006/relationships/oleObject" Target="../embeddings/oleObject85.bin"/><Relationship Id="rId18" Type="http://schemas.openxmlformats.org/officeDocument/2006/relationships/image" Target="../media/image98.emf"/><Relationship Id="rId26" Type="http://schemas.openxmlformats.org/officeDocument/2006/relationships/image" Target="../media/image102.emf"/><Relationship Id="rId3" Type="http://schemas.openxmlformats.org/officeDocument/2006/relationships/oleObject" Target="../embeddings/oleObject80.bin"/><Relationship Id="rId21" Type="http://schemas.openxmlformats.org/officeDocument/2006/relationships/oleObject" Target="../embeddings/oleObject89.bin"/><Relationship Id="rId7" Type="http://schemas.openxmlformats.org/officeDocument/2006/relationships/oleObject" Target="../embeddings/oleObject82.bin"/><Relationship Id="rId12" Type="http://schemas.openxmlformats.org/officeDocument/2006/relationships/image" Target="../media/image95.png"/><Relationship Id="rId17" Type="http://schemas.openxmlformats.org/officeDocument/2006/relationships/oleObject" Target="../embeddings/oleObject87.bin"/><Relationship Id="rId25" Type="http://schemas.openxmlformats.org/officeDocument/2006/relationships/oleObject" Target="../embeddings/oleObject91.bin"/><Relationship Id="rId2" Type="http://schemas.openxmlformats.org/officeDocument/2006/relationships/slideLayout" Target="../slideLayouts/slideLayout4.xml"/><Relationship Id="rId16" Type="http://schemas.openxmlformats.org/officeDocument/2006/relationships/image" Target="../media/image97.wmf"/><Relationship Id="rId20" Type="http://schemas.openxmlformats.org/officeDocument/2006/relationships/image" Target="../media/image99.wmf"/><Relationship Id="rId29" Type="http://schemas.openxmlformats.org/officeDocument/2006/relationships/oleObject" Target="../embeddings/oleObject93.bin"/><Relationship Id="rId1" Type="http://schemas.openxmlformats.org/officeDocument/2006/relationships/tags" Target="../tags/tag17.xml"/><Relationship Id="rId6" Type="http://schemas.openxmlformats.org/officeDocument/2006/relationships/image" Target="../media/image92.wmf"/><Relationship Id="rId11" Type="http://schemas.openxmlformats.org/officeDocument/2006/relationships/oleObject" Target="../embeddings/oleObject84.bin"/><Relationship Id="rId24" Type="http://schemas.openxmlformats.org/officeDocument/2006/relationships/image" Target="../media/image101.wmf"/><Relationship Id="rId5" Type="http://schemas.openxmlformats.org/officeDocument/2006/relationships/oleObject" Target="../embeddings/oleObject81.bin"/><Relationship Id="rId15" Type="http://schemas.openxmlformats.org/officeDocument/2006/relationships/oleObject" Target="../embeddings/oleObject86.bin"/><Relationship Id="rId23" Type="http://schemas.openxmlformats.org/officeDocument/2006/relationships/oleObject" Target="../embeddings/oleObject90.bin"/><Relationship Id="rId28" Type="http://schemas.openxmlformats.org/officeDocument/2006/relationships/image" Target="../media/image103.emf"/><Relationship Id="rId10" Type="http://schemas.openxmlformats.org/officeDocument/2006/relationships/image" Target="../media/image94.png"/><Relationship Id="rId19" Type="http://schemas.openxmlformats.org/officeDocument/2006/relationships/oleObject" Target="../embeddings/oleObject88.bin"/><Relationship Id="rId4" Type="http://schemas.openxmlformats.org/officeDocument/2006/relationships/image" Target="../media/image91.png"/><Relationship Id="rId9" Type="http://schemas.openxmlformats.org/officeDocument/2006/relationships/oleObject" Target="../embeddings/oleObject83.bin"/><Relationship Id="rId14" Type="http://schemas.openxmlformats.org/officeDocument/2006/relationships/image" Target="../media/image96.png"/><Relationship Id="rId22" Type="http://schemas.openxmlformats.org/officeDocument/2006/relationships/image" Target="../media/image100.wmf"/><Relationship Id="rId27" Type="http://schemas.openxmlformats.org/officeDocument/2006/relationships/oleObject" Target="../embeddings/oleObject92.bin"/><Relationship Id="rId30" Type="http://schemas.openxmlformats.org/officeDocument/2006/relationships/image" Target="../media/image104.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8" Type="http://schemas.openxmlformats.org/officeDocument/2006/relationships/image" Target="../media/image107.wmf"/><Relationship Id="rId13" Type="http://schemas.openxmlformats.org/officeDocument/2006/relationships/oleObject" Target="../embeddings/oleObject99.bin"/><Relationship Id="rId18" Type="http://schemas.openxmlformats.org/officeDocument/2006/relationships/image" Target="../media/image112.wmf"/><Relationship Id="rId26" Type="http://schemas.openxmlformats.org/officeDocument/2006/relationships/image" Target="../media/image116.emf"/><Relationship Id="rId3" Type="http://schemas.openxmlformats.org/officeDocument/2006/relationships/oleObject" Target="../embeddings/oleObject94.bin"/><Relationship Id="rId21" Type="http://schemas.openxmlformats.org/officeDocument/2006/relationships/oleObject" Target="../embeddings/oleObject103.bin"/><Relationship Id="rId7" Type="http://schemas.openxmlformats.org/officeDocument/2006/relationships/oleObject" Target="../embeddings/oleObject96.bin"/><Relationship Id="rId12" Type="http://schemas.openxmlformats.org/officeDocument/2006/relationships/image" Target="../media/image109.emf"/><Relationship Id="rId17" Type="http://schemas.openxmlformats.org/officeDocument/2006/relationships/oleObject" Target="../embeddings/oleObject101.bin"/><Relationship Id="rId25" Type="http://schemas.openxmlformats.org/officeDocument/2006/relationships/oleObject" Target="../embeddings/oleObject105.bin"/><Relationship Id="rId2" Type="http://schemas.openxmlformats.org/officeDocument/2006/relationships/slideLayout" Target="../slideLayouts/slideLayout4.xml"/><Relationship Id="rId16" Type="http://schemas.openxmlformats.org/officeDocument/2006/relationships/image" Target="../media/image111.wmf"/><Relationship Id="rId20" Type="http://schemas.openxmlformats.org/officeDocument/2006/relationships/image" Target="../media/image113.wmf"/><Relationship Id="rId29" Type="http://schemas.openxmlformats.org/officeDocument/2006/relationships/image" Target="../media/image118.png"/><Relationship Id="rId1" Type="http://schemas.openxmlformats.org/officeDocument/2006/relationships/tags" Target="../tags/tag19.xml"/><Relationship Id="rId6" Type="http://schemas.openxmlformats.org/officeDocument/2006/relationships/image" Target="../media/image106.wmf"/><Relationship Id="rId11" Type="http://schemas.openxmlformats.org/officeDocument/2006/relationships/oleObject" Target="../embeddings/oleObject98.bin"/><Relationship Id="rId24" Type="http://schemas.openxmlformats.org/officeDocument/2006/relationships/image" Target="../media/image115.emf"/><Relationship Id="rId5" Type="http://schemas.openxmlformats.org/officeDocument/2006/relationships/oleObject" Target="../embeddings/oleObject95.bin"/><Relationship Id="rId15" Type="http://schemas.openxmlformats.org/officeDocument/2006/relationships/oleObject" Target="../embeddings/oleObject100.bin"/><Relationship Id="rId23" Type="http://schemas.openxmlformats.org/officeDocument/2006/relationships/oleObject" Target="../embeddings/oleObject104.bin"/><Relationship Id="rId28" Type="http://schemas.openxmlformats.org/officeDocument/2006/relationships/image" Target="../media/image117.emf"/><Relationship Id="rId10" Type="http://schemas.openxmlformats.org/officeDocument/2006/relationships/image" Target="../media/image108.emf"/><Relationship Id="rId19" Type="http://schemas.openxmlformats.org/officeDocument/2006/relationships/oleObject" Target="../embeddings/oleObject102.bin"/><Relationship Id="rId31" Type="http://schemas.openxmlformats.org/officeDocument/2006/relationships/image" Target="../media/image119.emf"/><Relationship Id="rId4" Type="http://schemas.openxmlformats.org/officeDocument/2006/relationships/image" Target="../media/image105.png"/><Relationship Id="rId9" Type="http://schemas.openxmlformats.org/officeDocument/2006/relationships/oleObject" Target="../embeddings/oleObject97.bin"/><Relationship Id="rId14" Type="http://schemas.openxmlformats.org/officeDocument/2006/relationships/image" Target="../media/image110.wmf"/><Relationship Id="rId22" Type="http://schemas.openxmlformats.org/officeDocument/2006/relationships/image" Target="../media/image114.emf"/><Relationship Id="rId27" Type="http://schemas.openxmlformats.org/officeDocument/2006/relationships/oleObject" Target="../embeddings/oleObject106.bin"/><Relationship Id="rId30" Type="http://schemas.openxmlformats.org/officeDocument/2006/relationships/oleObject" Target="../embeddings/oleObject107.bin"/></Relationships>
</file>

<file path=ppt/slides/_rels/slide28.xml.rels><?xml version="1.0" encoding="UTF-8" standalone="yes"?>
<Relationships xmlns="http://schemas.openxmlformats.org/package/2006/relationships"><Relationship Id="rId8" Type="http://schemas.openxmlformats.org/officeDocument/2006/relationships/image" Target="../media/image122.wmf"/><Relationship Id="rId13" Type="http://schemas.openxmlformats.org/officeDocument/2006/relationships/oleObject" Target="../embeddings/oleObject113.bin"/><Relationship Id="rId18" Type="http://schemas.openxmlformats.org/officeDocument/2006/relationships/image" Target="../media/image127.wmf"/><Relationship Id="rId26" Type="http://schemas.openxmlformats.org/officeDocument/2006/relationships/image" Target="../media/image131.wmf"/><Relationship Id="rId3" Type="http://schemas.openxmlformats.org/officeDocument/2006/relationships/oleObject" Target="../embeddings/oleObject108.bin"/><Relationship Id="rId21" Type="http://schemas.openxmlformats.org/officeDocument/2006/relationships/oleObject" Target="../embeddings/oleObject117.bin"/><Relationship Id="rId7" Type="http://schemas.openxmlformats.org/officeDocument/2006/relationships/oleObject" Target="../embeddings/oleObject110.bin"/><Relationship Id="rId12" Type="http://schemas.openxmlformats.org/officeDocument/2006/relationships/image" Target="../media/image124.wmf"/><Relationship Id="rId17" Type="http://schemas.openxmlformats.org/officeDocument/2006/relationships/oleObject" Target="../embeddings/oleObject115.bin"/><Relationship Id="rId25" Type="http://schemas.openxmlformats.org/officeDocument/2006/relationships/oleObject" Target="../embeddings/oleObject119.bin"/><Relationship Id="rId2" Type="http://schemas.openxmlformats.org/officeDocument/2006/relationships/slideLayout" Target="../slideLayouts/slideLayout4.xml"/><Relationship Id="rId16" Type="http://schemas.openxmlformats.org/officeDocument/2006/relationships/image" Target="../media/image126.wmf"/><Relationship Id="rId20" Type="http://schemas.openxmlformats.org/officeDocument/2006/relationships/image" Target="../media/image128.wmf"/><Relationship Id="rId29" Type="http://schemas.openxmlformats.org/officeDocument/2006/relationships/image" Target="../media/image134.png"/><Relationship Id="rId1" Type="http://schemas.openxmlformats.org/officeDocument/2006/relationships/tags" Target="../tags/tag20.xml"/><Relationship Id="rId6" Type="http://schemas.openxmlformats.org/officeDocument/2006/relationships/image" Target="../media/image121.wmf"/><Relationship Id="rId11" Type="http://schemas.openxmlformats.org/officeDocument/2006/relationships/oleObject" Target="../embeddings/oleObject112.bin"/><Relationship Id="rId24" Type="http://schemas.openxmlformats.org/officeDocument/2006/relationships/image" Target="../media/image130.wmf"/><Relationship Id="rId32" Type="http://schemas.openxmlformats.org/officeDocument/2006/relationships/image" Target="../media/image137.png"/><Relationship Id="rId5" Type="http://schemas.openxmlformats.org/officeDocument/2006/relationships/oleObject" Target="../embeddings/oleObject109.bin"/><Relationship Id="rId15" Type="http://schemas.openxmlformats.org/officeDocument/2006/relationships/oleObject" Target="../embeddings/oleObject114.bin"/><Relationship Id="rId23" Type="http://schemas.openxmlformats.org/officeDocument/2006/relationships/oleObject" Target="../embeddings/oleObject118.bin"/><Relationship Id="rId28" Type="http://schemas.openxmlformats.org/officeDocument/2006/relationships/image" Target="../media/image133.png"/><Relationship Id="rId10" Type="http://schemas.openxmlformats.org/officeDocument/2006/relationships/image" Target="../media/image123.wmf"/><Relationship Id="rId19" Type="http://schemas.openxmlformats.org/officeDocument/2006/relationships/oleObject" Target="../embeddings/oleObject116.bin"/><Relationship Id="rId31" Type="http://schemas.openxmlformats.org/officeDocument/2006/relationships/image" Target="../media/image136.png"/><Relationship Id="rId4" Type="http://schemas.openxmlformats.org/officeDocument/2006/relationships/image" Target="../media/image120.wmf"/><Relationship Id="rId9" Type="http://schemas.openxmlformats.org/officeDocument/2006/relationships/oleObject" Target="../embeddings/oleObject111.bin"/><Relationship Id="rId14" Type="http://schemas.openxmlformats.org/officeDocument/2006/relationships/image" Target="../media/image125.wmf"/><Relationship Id="rId22" Type="http://schemas.openxmlformats.org/officeDocument/2006/relationships/image" Target="../media/image129.wmf"/><Relationship Id="rId27" Type="http://schemas.openxmlformats.org/officeDocument/2006/relationships/image" Target="../media/image132.png"/><Relationship Id="rId30" Type="http://schemas.openxmlformats.org/officeDocument/2006/relationships/image" Target="../media/image135.png"/></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22.bin"/><Relationship Id="rId13" Type="http://schemas.openxmlformats.org/officeDocument/2006/relationships/image" Target="../media/image144.png"/><Relationship Id="rId3" Type="http://schemas.openxmlformats.org/officeDocument/2006/relationships/notesSlide" Target="../notesSlides/notesSlide2.xml"/><Relationship Id="rId7" Type="http://schemas.openxmlformats.org/officeDocument/2006/relationships/image" Target="../media/image139.wmf"/><Relationship Id="rId12" Type="http://schemas.openxmlformats.org/officeDocument/2006/relationships/image" Target="../media/image143.png"/><Relationship Id="rId17" Type="http://schemas.openxmlformats.org/officeDocument/2006/relationships/image" Target="../media/image146.emf"/><Relationship Id="rId2" Type="http://schemas.openxmlformats.org/officeDocument/2006/relationships/slideLayout" Target="../slideLayouts/slideLayout1.xml"/><Relationship Id="rId16" Type="http://schemas.openxmlformats.org/officeDocument/2006/relationships/oleObject" Target="../embeddings/oleObject123.bin"/><Relationship Id="rId1" Type="http://schemas.openxmlformats.org/officeDocument/2006/relationships/tags" Target="../tags/tag21.xml"/><Relationship Id="rId6" Type="http://schemas.openxmlformats.org/officeDocument/2006/relationships/oleObject" Target="../embeddings/oleObject121.bin"/><Relationship Id="rId11" Type="http://schemas.openxmlformats.org/officeDocument/2006/relationships/image" Target="../media/image142.png"/><Relationship Id="rId5" Type="http://schemas.openxmlformats.org/officeDocument/2006/relationships/image" Target="../media/image138.wmf"/><Relationship Id="rId15" Type="http://schemas.openxmlformats.org/officeDocument/2006/relationships/image" Target="../media/image145.emf"/><Relationship Id="rId10" Type="http://schemas.openxmlformats.org/officeDocument/2006/relationships/image" Target="../media/image141.png"/><Relationship Id="rId4" Type="http://schemas.openxmlformats.org/officeDocument/2006/relationships/oleObject" Target="../embeddings/oleObject120.bin"/><Relationship Id="rId9" Type="http://schemas.openxmlformats.org/officeDocument/2006/relationships/image" Target="../media/image140.wmf"/><Relationship Id="rId14" Type="http://schemas.openxmlformats.org/officeDocument/2006/relationships/oleObject" Target="../embeddings/oleObject97.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xml"/><Relationship Id="rId1" Type="http://schemas.openxmlformats.org/officeDocument/2006/relationships/tags" Target="../tags/tag22.xml"/><Relationship Id="rId4" Type="http://schemas.openxmlformats.org/officeDocument/2006/relationships/image" Target="../media/image27.wmf"/></Relationships>
</file>

<file path=ppt/slides/_rels/slide31.x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oleObject" Target="../embeddings/oleObject124.bin"/><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8" Type="http://schemas.openxmlformats.org/officeDocument/2006/relationships/image" Target="../media/image150.wmf"/><Relationship Id="rId3" Type="http://schemas.openxmlformats.org/officeDocument/2006/relationships/oleObject" Target="../embeddings/oleObject125.bin"/><Relationship Id="rId7" Type="http://schemas.openxmlformats.org/officeDocument/2006/relationships/oleObject" Target="../embeddings/oleObject127.bin"/><Relationship Id="rId2" Type="http://schemas.openxmlformats.org/officeDocument/2006/relationships/slideLayout" Target="../slideLayouts/slideLayout9.xml"/><Relationship Id="rId1" Type="http://schemas.openxmlformats.org/officeDocument/2006/relationships/tags" Target="../tags/tag23.xml"/><Relationship Id="rId6" Type="http://schemas.openxmlformats.org/officeDocument/2006/relationships/image" Target="../media/image149.wmf"/><Relationship Id="rId5" Type="http://schemas.openxmlformats.org/officeDocument/2006/relationships/oleObject" Target="../embeddings/oleObject126.bin"/><Relationship Id="rId10" Type="http://schemas.openxmlformats.org/officeDocument/2006/relationships/image" Target="../media/image151.wmf"/><Relationship Id="rId4" Type="http://schemas.openxmlformats.org/officeDocument/2006/relationships/image" Target="../media/image148.wmf"/><Relationship Id="rId9" Type="http://schemas.openxmlformats.org/officeDocument/2006/relationships/oleObject" Target="../embeddings/oleObject128.bin"/></Relationships>
</file>

<file path=ppt/slides/_rels/slide33.xml.rels><?xml version="1.0" encoding="UTF-8" standalone="yes"?>
<Relationships xmlns="http://schemas.openxmlformats.org/package/2006/relationships"><Relationship Id="rId8" Type="http://schemas.openxmlformats.org/officeDocument/2006/relationships/image" Target="../media/image154.wmf"/><Relationship Id="rId3" Type="http://schemas.openxmlformats.org/officeDocument/2006/relationships/image" Target="../media/image1.png"/><Relationship Id="rId7" Type="http://schemas.openxmlformats.org/officeDocument/2006/relationships/oleObject" Target="../embeddings/oleObject130.bin"/><Relationship Id="rId2" Type="http://schemas.openxmlformats.org/officeDocument/2006/relationships/slideLayout" Target="../slideLayouts/slideLayout8.xml"/><Relationship Id="rId1" Type="http://schemas.openxmlformats.org/officeDocument/2006/relationships/tags" Target="../tags/tag24.xml"/><Relationship Id="rId6" Type="http://schemas.openxmlformats.org/officeDocument/2006/relationships/image" Target="../media/image153.wmf"/><Relationship Id="rId5" Type="http://schemas.openxmlformats.org/officeDocument/2006/relationships/oleObject" Target="../embeddings/oleObject129.bin"/><Relationship Id="rId4" Type="http://schemas.openxmlformats.org/officeDocument/2006/relationships/image" Target="../media/image152.png"/></Relationships>
</file>

<file path=ppt/slides/_rels/slide34.xml.rels><?xml version="1.0" encoding="UTF-8" standalone="yes"?>
<Relationships xmlns="http://schemas.openxmlformats.org/package/2006/relationships"><Relationship Id="rId8" Type="http://schemas.openxmlformats.org/officeDocument/2006/relationships/image" Target="../media/image158.wmf"/><Relationship Id="rId3" Type="http://schemas.openxmlformats.org/officeDocument/2006/relationships/oleObject" Target="../embeddings/oleObject131.bin"/><Relationship Id="rId7" Type="http://schemas.openxmlformats.org/officeDocument/2006/relationships/oleObject" Target="../embeddings/oleObject133.bin"/><Relationship Id="rId2" Type="http://schemas.openxmlformats.org/officeDocument/2006/relationships/image" Target="../media/image155.png"/><Relationship Id="rId1" Type="http://schemas.openxmlformats.org/officeDocument/2006/relationships/slideLayout" Target="../slideLayouts/slideLayout8.xml"/><Relationship Id="rId6" Type="http://schemas.openxmlformats.org/officeDocument/2006/relationships/image" Target="../media/image157.wmf"/><Relationship Id="rId5" Type="http://schemas.openxmlformats.org/officeDocument/2006/relationships/oleObject" Target="../embeddings/oleObject132.bin"/><Relationship Id="rId4" Type="http://schemas.openxmlformats.org/officeDocument/2006/relationships/image" Target="../media/image156.wmf"/></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34.bin"/><Relationship Id="rId2" Type="http://schemas.openxmlformats.org/officeDocument/2006/relationships/slideLayout" Target="../slideLayouts/slideLayout8.xml"/><Relationship Id="rId1" Type="http://schemas.openxmlformats.org/officeDocument/2006/relationships/tags" Target="../tags/tag25.xml"/><Relationship Id="rId4" Type="http://schemas.openxmlformats.org/officeDocument/2006/relationships/image" Target="../media/image160.wmf"/></Relationships>
</file>

<file path=ppt/slides/_rels/slide38.xml.rels><?xml version="1.0" encoding="UTF-8" standalone="yes"?>
<Relationships xmlns="http://schemas.openxmlformats.org/package/2006/relationships"><Relationship Id="rId8" Type="http://schemas.openxmlformats.org/officeDocument/2006/relationships/image" Target="../media/image163.wmf"/><Relationship Id="rId13" Type="http://schemas.openxmlformats.org/officeDocument/2006/relationships/oleObject" Target="../embeddings/oleObject140.bin"/><Relationship Id="rId3" Type="http://schemas.openxmlformats.org/officeDocument/2006/relationships/oleObject" Target="../embeddings/oleObject135.bin"/><Relationship Id="rId7" Type="http://schemas.openxmlformats.org/officeDocument/2006/relationships/oleObject" Target="../embeddings/oleObject137.bin"/><Relationship Id="rId12" Type="http://schemas.openxmlformats.org/officeDocument/2006/relationships/image" Target="../media/image165.wmf"/><Relationship Id="rId2" Type="http://schemas.openxmlformats.org/officeDocument/2006/relationships/slideLayout" Target="../slideLayouts/slideLayout7.xml"/><Relationship Id="rId1" Type="http://schemas.openxmlformats.org/officeDocument/2006/relationships/tags" Target="../tags/tag26.xml"/><Relationship Id="rId6" Type="http://schemas.openxmlformats.org/officeDocument/2006/relationships/image" Target="../media/image162.wmf"/><Relationship Id="rId11" Type="http://schemas.openxmlformats.org/officeDocument/2006/relationships/oleObject" Target="../embeddings/oleObject139.bin"/><Relationship Id="rId5" Type="http://schemas.openxmlformats.org/officeDocument/2006/relationships/oleObject" Target="../embeddings/oleObject136.bin"/><Relationship Id="rId10" Type="http://schemas.openxmlformats.org/officeDocument/2006/relationships/image" Target="../media/image164.wmf"/><Relationship Id="rId4" Type="http://schemas.openxmlformats.org/officeDocument/2006/relationships/image" Target="../media/image161.wmf"/><Relationship Id="rId9" Type="http://schemas.openxmlformats.org/officeDocument/2006/relationships/oleObject" Target="../embeddings/oleObject138.bin"/><Relationship Id="rId14" Type="http://schemas.openxmlformats.org/officeDocument/2006/relationships/image" Target="../media/image166.wmf"/></Relationships>
</file>

<file path=ppt/slides/_rels/slide39.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44.bin"/><Relationship Id="rId13" Type="http://schemas.openxmlformats.org/officeDocument/2006/relationships/image" Target="../media/image109.emf"/><Relationship Id="rId3" Type="http://schemas.openxmlformats.org/officeDocument/2006/relationships/image" Target="../media/image167.wmf"/><Relationship Id="rId7" Type="http://schemas.openxmlformats.org/officeDocument/2006/relationships/image" Target="../media/image169.wmf"/><Relationship Id="rId12" Type="http://schemas.openxmlformats.org/officeDocument/2006/relationships/oleObject" Target="../embeddings/oleObject123.bin"/><Relationship Id="rId2" Type="http://schemas.openxmlformats.org/officeDocument/2006/relationships/oleObject" Target="../embeddings/oleObject141.bin"/><Relationship Id="rId16" Type="http://schemas.openxmlformats.org/officeDocument/2006/relationships/image" Target="../media/image171.wmf"/><Relationship Id="rId1" Type="http://schemas.openxmlformats.org/officeDocument/2006/relationships/slideLayout" Target="../slideLayouts/slideLayout2.xml"/><Relationship Id="rId6" Type="http://schemas.openxmlformats.org/officeDocument/2006/relationships/oleObject" Target="../embeddings/oleObject143.bin"/><Relationship Id="rId11" Type="http://schemas.openxmlformats.org/officeDocument/2006/relationships/image" Target="../media/image108.emf"/><Relationship Id="rId5" Type="http://schemas.openxmlformats.org/officeDocument/2006/relationships/image" Target="../media/image168.wmf"/><Relationship Id="rId15" Type="http://schemas.openxmlformats.org/officeDocument/2006/relationships/oleObject" Target="../embeddings/oleObject146.bin"/><Relationship Id="rId10" Type="http://schemas.openxmlformats.org/officeDocument/2006/relationships/oleObject" Target="../embeddings/oleObject145.bin"/><Relationship Id="rId4" Type="http://schemas.openxmlformats.org/officeDocument/2006/relationships/oleObject" Target="../embeddings/oleObject142.bin"/><Relationship Id="rId9" Type="http://schemas.openxmlformats.org/officeDocument/2006/relationships/image" Target="../media/image170.wmf"/><Relationship Id="rId14" Type="http://schemas.openxmlformats.org/officeDocument/2006/relationships/image" Target="../media/image134.png"/></Relationships>
</file>

<file path=ppt/slides/_rels/slide42.xml.rels><?xml version="1.0" encoding="UTF-8" standalone="yes"?>
<Relationships xmlns="http://schemas.openxmlformats.org/package/2006/relationships"><Relationship Id="rId8" Type="http://schemas.openxmlformats.org/officeDocument/2006/relationships/image" Target="../media/image174.wmf"/><Relationship Id="rId3" Type="http://schemas.openxmlformats.org/officeDocument/2006/relationships/oleObject" Target="../embeddings/oleObject147.bin"/><Relationship Id="rId7" Type="http://schemas.openxmlformats.org/officeDocument/2006/relationships/oleObject" Target="../embeddings/oleObject149.bin"/><Relationship Id="rId12" Type="http://schemas.openxmlformats.org/officeDocument/2006/relationships/image" Target="../media/image176.wmf"/><Relationship Id="rId2" Type="http://schemas.openxmlformats.org/officeDocument/2006/relationships/slideLayout" Target="../slideLayouts/slideLayout2.xml"/><Relationship Id="rId1" Type="http://schemas.openxmlformats.org/officeDocument/2006/relationships/tags" Target="../tags/tag27.xml"/><Relationship Id="rId6" Type="http://schemas.openxmlformats.org/officeDocument/2006/relationships/image" Target="../media/image173.wmf"/><Relationship Id="rId11" Type="http://schemas.openxmlformats.org/officeDocument/2006/relationships/oleObject" Target="../embeddings/oleObject151.bin"/><Relationship Id="rId5" Type="http://schemas.openxmlformats.org/officeDocument/2006/relationships/oleObject" Target="../embeddings/oleObject148.bin"/><Relationship Id="rId10" Type="http://schemas.openxmlformats.org/officeDocument/2006/relationships/image" Target="../media/image175.wmf"/><Relationship Id="rId4" Type="http://schemas.openxmlformats.org/officeDocument/2006/relationships/image" Target="../media/image172.wmf"/><Relationship Id="rId9" Type="http://schemas.openxmlformats.org/officeDocument/2006/relationships/oleObject" Target="../embeddings/oleObject150.bin"/></Relationships>
</file>

<file path=ppt/slides/_rels/slide43.xml.rels><?xml version="1.0" encoding="UTF-8" standalone="yes"?>
<Relationships xmlns="http://schemas.openxmlformats.org/package/2006/relationships"><Relationship Id="rId8" Type="http://schemas.openxmlformats.org/officeDocument/2006/relationships/image" Target="../media/image179.wmf"/><Relationship Id="rId3" Type="http://schemas.openxmlformats.org/officeDocument/2006/relationships/oleObject" Target="../embeddings/oleObject152.bin"/><Relationship Id="rId7" Type="http://schemas.openxmlformats.org/officeDocument/2006/relationships/oleObject" Target="../embeddings/oleObject154.bin"/><Relationship Id="rId2" Type="http://schemas.openxmlformats.org/officeDocument/2006/relationships/slideLayout" Target="../slideLayouts/slideLayout2.xml"/><Relationship Id="rId1" Type="http://schemas.openxmlformats.org/officeDocument/2006/relationships/tags" Target="../tags/tag28.xml"/><Relationship Id="rId6" Type="http://schemas.openxmlformats.org/officeDocument/2006/relationships/image" Target="../media/image178.wmf"/><Relationship Id="rId5" Type="http://schemas.openxmlformats.org/officeDocument/2006/relationships/oleObject" Target="../embeddings/oleObject153.bin"/><Relationship Id="rId4" Type="http://schemas.openxmlformats.org/officeDocument/2006/relationships/image" Target="../media/image177.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57.bin"/><Relationship Id="rId13" Type="http://schemas.openxmlformats.org/officeDocument/2006/relationships/image" Target="../media/image185.wmf"/><Relationship Id="rId18" Type="http://schemas.openxmlformats.org/officeDocument/2006/relationships/oleObject" Target="../embeddings/oleObject162.bin"/><Relationship Id="rId3" Type="http://schemas.openxmlformats.org/officeDocument/2006/relationships/image" Target="../media/image180.png"/><Relationship Id="rId21" Type="http://schemas.openxmlformats.org/officeDocument/2006/relationships/image" Target="../media/image189.wmf"/><Relationship Id="rId7" Type="http://schemas.openxmlformats.org/officeDocument/2006/relationships/image" Target="../media/image182.wmf"/><Relationship Id="rId12" Type="http://schemas.openxmlformats.org/officeDocument/2006/relationships/oleObject" Target="../embeddings/oleObject159.bin"/><Relationship Id="rId17" Type="http://schemas.openxmlformats.org/officeDocument/2006/relationships/image" Target="../media/image187.wmf"/><Relationship Id="rId2" Type="http://schemas.openxmlformats.org/officeDocument/2006/relationships/slideLayout" Target="../slideLayouts/slideLayout3.xml"/><Relationship Id="rId16" Type="http://schemas.openxmlformats.org/officeDocument/2006/relationships/oleObject" Target="../embeddings/oleObject161.bin"/><Relationship Id="rId20" Type="http://schemas.openxmlformats.org/officeDocument/2006/relationships/oleObject" Target="../embeddings/oleObject163.bin"/><Relationship Id="rId1" Type="http://schemas.openxmlformats.org/officeDocument/2006/relationships/tags" Target="../tags/tag29.xml"/><Relationship Id="rId6" Type="http://schemas.openxmlformats.org/officeDocument/2006/relationships/oleObject" Target="../embeddings/oleObject156.bin"/><Relationship Id="rId11" Type="http://schemas.openxmlformats.org/officeDocument/2006/relationships/image" Target="../media/image184.wmf"/><Relationship Id="rId5" Type="http://schemas.openxmlformats.org/officeDocument/2006/relationships/image" Target="../media/image181.wmf"/><Relationship Id="rId15" Type="http://schemas.openxmlformats.org/officeDocument/2006/relationships/image" Target="../media/image186.wmf"/><Relationship Id="rId10" Type="http://schemas.openxmlformats.org/officeDocument/2006/relationships/oleObject" Target="../embeddings/oleObject158.bin"/><Relationship Id="rId19" Type="http://schemas.openxmlformats.org/officeDocument/2006/relationships/image" Target="../media/image188.wmf"/><Relationship Id="rId4" Type="http://schemas.openxmlformats.org/officeDocument/2006/relationships/oleObject" Target="../embeddings/oleObject155.bin"/><Relationship Id="rId9" Type="http://schemas.openxmlformats.org/officeDocument/2006/relationships/image" Target="../media/image183.wmf"/><Relationship Id="rId14" Type="http://schemas.openxmlformats.org/officeDocument/2006/relationships/oleObject" Target="../embeddings/oleObject160.bin"/></Relationships>
</file>

<file path=ppt/slides/_rels/slide45.xml.rels><?xml version="1.0" encoding="UTF-8" standalone="yes"?>
<Relationships xmlns="http://schemas.openxmlformats.org/package/2006/relationships"><Relationship Id="rId8" Type="http://schemas.openxmlformats.org/officeDocument/2006/relationships/image" Target="../media/image185.wmf"/><Relationship Id="rId13" Type="http://schemas.openxmlformats.org/officeDocument/2006/relationships/image" Target="../media/image182.wmf"/><Relationship Id="rId18" Type="http://schemas.openxmlformats.org/officeDocument/2006/relationships/oleObject" Target="../embeddings/oleObject167.bin"/><Relationship Id="rId3" Type="http://schemas.openxmlformats.org/officeDocument/2006/relationships/oleObject" Target="../embeddings/oleObject164.bin"/><Relationship Id="rId21" Type="http://schemas.openxmlformats.org/officeDocument/2006/relationships/image" Target="../media/image194.wmf"/><Relationship Id="rId7" Type="http://schemas.openxmlformats.org/officeDocument/2006/relationships/oleObject" Target="../embeddings/oleObject159.bin"/><Relationship Id="rId12" Type="http://schemas.openxmlformats.org/officeDocument/2006/relationships/oleObject" Target="../embeddings/oleObject156.bin"/><Relationship Id="rId17" Type="http://schemas.openxmlformats.org/officeDocument/2006/relationships/image" Target="../media/image192.wmf"/><Relationship Id="rId2" Type="http://schemas.openxmlformats.org/officeDocument/2006/relationships/slideLayout" Target="../slideLayouts/slideLayout8.xml"/><Relationship Id="rId16" Type="http://schemas.openxmlformats.org/officeDocument/2006/relationships/oleObject" Target="../embeddings/oleObject166.bin"/><Relationship Id="rId20" Type="http://schemas.openxmlformats.org/officeDocument/2006/relationships/oleObject" Target="../embeddings/oleObject168.bin"/><Relationship Id="rId1" Type="http://schemas.openxmlformats.org/officeDocument/2006/relationships/tags" Target="../tags/tag30.xml"/><Relationship Id="rId6" Type="http://schemas.openxmlformats.org/officeDocument/2006/relationships/image" Target="../media/image191.wmf"/><Relationship Id="rId11" Type="http://schemas.openxmlformats.org/officeDocument/2006/relationships/image" Target="../media/image181.wmf"/><Relationship Id="rId5" Type="http://schemas.openxmlformats.org/officeDocument/2006/relationships/oleObject" Target="../embeddings/oleObject165.bin"/><Relationship Id="rId15" Type="http://schemas.openxmlformats.org/officeDocument/2006/relationships/image" Target="../media/image183.wmf"/><Relationship Id="rId23" Type="http://schemas.openxmlformats.org/officeDocument/2006/relationships/image" Target="../media/image195.wmf"/><Relationship Id="rId10" Type="http://schemas.openxmlformats.org/officeDocument/2006/relationships/oleObject" Target="../embeddings/oleObject155.bin"/><Relationship Id="rId19" Type="http://schemas.openxmlformats.org/officeDocument/2006/relationships/image" Target="../media/image193.wmf"/><Relationship Id="rId4" Type="http://schemas.openxmlformats.org/officeDocument/2006/relationships/image" Target="../media/image190.wmf"/><Relationship Id="rId9" Type="http://schemas.openxmlformats.org/officeDocument/2006/relationships/image" Target="../media/image180.png"/><Relationship Id="rId14" Type="http://schemas.openxmlformats.org/officeDocument/2006/relationships/oleObject" Target="../embeddings/oleObject157.bin"/><Relationship Id="rId22" Type="http://schemas.openxmlformats.org/officeDocument/2006/relationships/oleObject" Target="../embeddings/oleObject169.bin"/></Relationships>
</file>

<file path=ppt/slides/_rels/slide46.xml.rels><?xml version="1.0" encoding="UTF-8" standalone="yes"?>
<Relationships xmlns="http://schemas.openxmlformats.org/package/2006/relationships"><Relationship Id="rId3" Type="http://schemas.openxmlformats.org/officeDocument/2006/relationships/image" Target="../media/image196.wmf"/><Relationship Id="rId7" Type="http://schemas.openxmlformats.org/officeDocument/2006/relationships/image" Target="../media/image199.wmf"/><Relationship Id="rId2" Type="http://schemas.openxmlformats.org/officeDocument/2006/relationships/oleObject" Target="../embeddings/oleObject170.bin"/><Relationship Id="rId1" Type="http://schemas.openxmlformats.org/officeDocument/2006/relationships/slideLayout" Target="../slideLayouts/slideLayout2.xml"/><Relationship Id="rId6" Type="http://schemas.openxmlformats.org/officeDocument/2006/relationships/oleObject" Target="../embeddings/oleObject171.bin"/><Relationship Id="rId5" Type="http://schemas.openxmlformats.org/officeDocument/2006/relationships/image" Target="../media/image198.png"/><Relationship Id="rId4" Type="http://schemas.openxmlformats.org/officeDocument/2006/relationships/image" Target="../media/image197.png"/></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72.bin"/><Relationship Id="rId2" Type="http://schemas.openxmlformats.org/officeDocument/2006/relationships/slideLayout" Target="../slideLayouts/slideLayout5.xml"/><Relationship Id="rId1" Type="http://schemas.openxmlformats.org/officeDocument/2006/relationships/tags" Target="../tags/tag31.xml"/><Relationship Id="rId6" Type="http://schemas.openxmlformats.org/officeDocument/2006/relationships/image" Target="../media/image184.wmf"/><Relationship Id="rId5" Type="http://schemas.openxmlformats.org/officeDocument/2006/relationships/oleObject" Target="../embeddings/oleObject158.bin"/><Relationship Id="rId4" Type="http://schemas.openxmlformats.org/officeDocument/2006/relationships/image" Target="../media/image200.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73.bin"/><Relationship Id="rId7" Type="http://schemas.openxmlformats.org/officeDocument/2006/relationships/image" Target="../media/image203.wmf"/><Relationship Id="rId2" Type="http://schemas.openxmlformats.org/officeDocument/2006/relationships/slideLayout" Target="../slideLayouts/slideLayout5.xml"/><Relationship Id="rId1" Type="http://schemas.openxmlformats.org/officeDocument/2006/relationships/tags" Target="../tags/tag32.xml"/><Relationship Id="rId6" Type="http://schemas.openxmlformats.org/officeDocument/2006/relationships/oleObject" Target="../embeddings/oleObject174.bin"/><Relationship Id="rId5" Type="http://schemas.openxmlformats.org/officeDocument/2006/relationships/image" Target="../media/image202.png"/><Relationship Id="rId4" Type="http://schemas.openxmlformats.org/officeDocument/2006/relationships/image" Target="../media/image201.wmf"/></Relationships>
</file>

<file path=ppt/slides/_rels/slide49.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slideLayout" Target="../slideLayouts/slideLayout2.xml"/><Relationship Id="rId1" Type="http://schemas.openxmlformats.org/officeDocument/2006/relationships/tags" Target="../tags/tag33.xml"/><Relationship Id="rId5" Type="http://schemas.openxmlformats.org/officeDocument/2006/relationships/image" Target="../media/image201.wmf"/><Relationship Id="rId4" Type="http://schemas.openxmlformats.org/officeDocument/2006/relationships/oleObject" Target="../embeddings/oleObject173.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75.bin"/><Relationship Id="rId2" Type="http://schemas.openxmlformats.org/officeDocument/2006/relationships/slideLayout" Target="../slideLayouts/slideLayout5.xml"/><Relationship Id="rId1" Type="http://schemas.openxmlformats.org/officeDocument/2006/relationships/tags" Target="../tags/tag34.xml"/><Relationship Id="rId6" Type="http://schemas.openxmlformats.org/officeDocument/2006/relationships/image" Target="../media/image206.wmf"/><Relationship Id="rId5" Type="http://schemas.openxmlformats.org/officeDocument/2006/relationships/oleObject" Target="../embeddings/oleObject176.bin"/><Relationship Id="rId4" Type="http://schemas.openxmlformats.org/officeDocument/2006/relationships/image" Target="../media/image205.wmf"/></Relationships>
</file>

<file path=ppt/slides/_rels/slide51.xml.rels><?xml version="1.0" encoding="UTF-8" standalone="yes"?>
<Relationships xmlns="http://schemas.openxmlformats.org/package/2006/relationships"><Relationship Id="rId3" Type="http://schemas.openxmlformats.org/officeDocument/2006/relationships/image" Target="../media/image207.wmf"/><Relationship Id="rId2" Type="http://schemas.openxmlformats.org/officeDocument/2006/relationships/oleObject" Target="../embeddings/oleObject177.bin"/><Relationship Id="rId1" Type="http://schemas.openxmlformats.org/officeDocument/2006/relationships/slideLayout" Target="../slideLayouts/slideLayout2.xml"/><Relationship Id="rId5" Type="http://schemas.openxmlformats.org/officeDocument/2006/relationships/image" Target="../media/image208.wmf"/><Relationship Id="rId4" Type="http://schemas.openxmlformats.org/officeDocument/2006/relationships/oleObject" Target="../embeddings/oleObject178.bin"/></Relationships>
</file>

<file path=ppt/slides/_rels/slide52.xml.rels><?xml version="1.0" encoding="UTF-8" standalone="yes"?>
<Relationships xmlns="http://schemas.openxmlformats.org/package/2006/relationships"><Relationship Id="rId8" Type="http://schemas.openxmlformats.org/officeDocument/2006/relationships/image" Target="../media/image212.wmf"/><Relationship Id="rId3" Type="http://schemas.openxmlformats.org/officeDocument/2006/relationships/image" Target="../media/image209.wmf"/><Relationship Id="rId7" Type="http://schemas.openxmlformats.org/officeDocument/2006/relationships/oleObject" Target="../embeddings/oleObject181.bin"/><Relationship Id="rId2" Type="http://schemas.openxmlformats.org/officeDocument/2006/relationships/oleObject" Target="../embeddings/oleObject179.bin"/><Relationship Id="rId1" Type="http://schemas.openxmlformats.org/officeDocument/2006/relationships/slideLayout" Target="../slideLayouts/slideLayout8.xml"/><Relationship Id="rId6" Type="http://schemas.openxmlformats.org/officeDocument/2006/relationships/image" Target="../media/image211.wmf"/><Relationship Id="rId5" Type="http://schemas.openxmlformats.org/officeDocument/2006/relationships/oleObject" Target="../embeddings/oleObject180.bin"/><Relationship Id="rId4" Type="http://schemas.openxmlformats.org/officeDocument/2006/relationships/image" Target="../media/image210.png"/></Relationships>
</file>

<file path=ppt/slides/_rels/slide53.xml.rels><?xml version="1.0" encoding="UTF-8" standalone="yes"?>
<Relationships xmlns="http://schemas.openxmlformats.org/package/2006/relationships"><Relationship Id="rId3" Type="http://schemas.openxmlformats.org/officeDocument/2006/relationships/image" Target="../media/image213.wmf"/><Relationship Id="rId7" Type="http://schemas.openxmlformats.org/officeDocument/2006/relationships/image" Target="../media/image215.wmf"/><Relationship Id="rId2" Type="http://schemas.openxmlformats.org/officeDocument/2006/relationships/oleObject" Target="../embeddings/oleObject182.bin"/><Relationship Id="rId1" Type="http://schemas.openxmlformats.org/officeDocument/2006/relationships/slideLayout" Target="../slideLayouts/slideLayout5.xml"/><Relationship Id="rId6" Type="http://schemas.openxmlformats.org/officeDocument/2006/relationships/oleObject" Target="../embeddings/oleObject184.bin"/><Relationship Id="rId5" Type="http://schemas.openxmlformats.org/officeDocument/2006/relationships/image" Target="../media/image214.wmf"/><Relationship Id="rId4" Type="http://schemas.openxmlformats.org/officeDocument/2006/relationships/oleObject" Target="../embeddings/oleObject183.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85.bin"/><Relationship Id="rId2" Type="http://schemas.openxmlformats.org/officeDocument/2006/relationships/image" Target="../media/image216.png"/><Relationship Id="rId1" Type="http://schemas.openxmlformats.org/officeDocument/2006/relationships/slideLayout" Target="../slideLayouts/slideLayout3.xml"/><Relationship Id="rId4" Type="http://schemas.openxmlformats.org/officeDocument/2006/relationships/image" Target="../media/image217.wmf"/></Relationships>
</file>

<file path=ppt/slides/_rels/slide55.xml.rels><?xml version="1.0" encoding="UTF-8" standalone="yes"?>
<Relationships xmlns="http://schemas.openxmlformats.org/package/2006/relationships"><Relationship Id="rId3" Type="http://schemas.openxmlformats.org/officeDocument/2006/relationships/image" Target="../media/image218.wmf"/><Relationship Id="rId2" Type="http://schemas.openxmlformats.org/officeDocument/2006/relationships/oleObject" Target="../embeddings/oleObject186.bin"/><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19.wmf"/><Relationship Id="rId2" Type="http://schemas.openxmlformats.org/officeDocument/2006/relationships/oleObject" Target="../embeddings/oleObject187.bin"/><Relationship Id="rId1" Type="http://schemas.openxmlformats.org/officeDocument/2006/relationships/slideLayout" Target="../slideLayouts/slideLayout2.xml"/><Relationship Id="rId5" Type="http://schemas.openxmlformats.org/officeDocument/2006/relationships/image" Target="../media/image220.wmf"/><Relationship Id="rId4" Type="http://schemas.openxmlformats.org/officeDocument/2006/relationships/oleObject" Target="../embeddings/oleObject188.bin"/></Relationships>
</file>

<file path=ppt/slides/_rels/slide57.xml.rels><?xml version="1.0" encoding="UTF-8" standalone="yes"?>
<Relationships xmlns="http://schemas.openxmlformats.org/package/2006/relationships"><Relationship Id="rId8" Type="http://schemas.openxmlformats.org/officeDocument/2006/relationships/image" Target="../media/image224.png"/><Relationship Id="rId3" Type="http://schemas.openxmlformats.org/officeDocument/2006/relationships/image" Target="../media/image221.wmf"/><Relationship Id="rId7" Type="http://schemas.openxmlformats.org/officeDocument/2006/relationships/image" Target="../media/image223.wmf"/><Relationship Id="rId2" Type="http://schemas.openxmlformats.org/officeDocument/2006/relationships/oleObject" Target="../embeddings/oleObject189.bin"/><Relationship Id="rId1" Type="http://schemas.openxmlformats.org/officeDocument/2006/relationships/slideLayout" Target="../slideLayouts/slideLayout8.xml"/><Relationship Id="rId6" Type="http://schemas.openxmlformats.org/officeDocument/2006/relationships/oleObject" Target="../embeddings/oleObject191.bin"/><Relationship Id="rId5" Type="http://schemas.openxmlformats.org/officeDocument/2006/relationships/image" Target="../media/image222.wmf"/><Relationship Id="rId4" Type="http://schemas.openxmlformats.org/officeDocument/2006/relationships/oleObject" Target="../embeddings/oleObject190.bin"/><Relationship Id="rId9" Type="http://schemas.openxmlformats.org/officeDocument/2006/relationships/image" Target="../media/image225.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35.xml"/></Relationships>
</file>

<file path=ppt/slides/_rels/slide5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slideLayout" Target="../slideLayouts/slideLayout8.xml"/><Relationship Id="rId1" Type="http://schemas.openxmlformats.org/officeDocument/2006/relationships/tags" Target="../tags/tag36.xml"/></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49.bin"/><Relationship Id="rId3" Type="http://schemas.openxmlformats.org/officeDocument/2006/relationships/notesSlide" Target="../notesSlides/notesSlide4.xml"/><Relationship Id="rId7" Type="http://schemas.openxmlformats.org/officeDocument/2006/relationships/image" Target="../media/image173.wmf"/><Relationship Id="rId2" Type="http://schemas.openxmlformats.org/officeDocument/2006/relationships/slideLayout" Target="../slideLayouts/slideLayout2.xml"/><Relationship Id="rId1" Type="http://schemas.openxmlformats.org/officeDocument/2006/relationships/tags" Target="../tags/tag37.xml"/><Relationship Id="rId6" Type="http://schemas.openxmlformats.org/officeDocument/2006/relationships/oleObject" Target="../embeddings/oleObject148.bin"/><Relationship Id="rId11" Type="http://schemas.openxmlformats.org/officeDocument/2006/relationships/image" Target="../media/image175.wmf"/><Relationship Id="rId5" Type="http://schemas.openxmlformats.org/officeDocument/2006/relationships/image" Target="../media/image226.wmf"/><Relationship Id="rId10" Type="http://schemas.openxmlformats.org/officeDocument/2006/relationships/oleObject" Target="../embeddings/oleObject150.bin"/><Relationship Id="rId4" Type="http://schemas.openxmlformats.org/officeDocument/2006/relationships/oleObject" Target="../embeddings/oleObject192.bin"/><Relationship Id="rId9" Type="http://schemas.openxmlformats.org/officeDocument/2006/relationships/image" Target="../media/image174.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93.bin"/><Relationship Id="rId2" Type="http://schemas.openxmlformats.org/officeDocument/2006/relationships/slideLayout" Target="../slideLayouts/slideLayout1.xml"/><Relationship Id="rId1" Type="http://schemas.openxmlformats.org/officeDocument/2006/relationships/tags" Target="../tags/tag38.xml"/><Relationship Id="rId4" Type="http://schemas.openxmlformats.org/officeDocument/2006/relationships/image" Target="../media/image227.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8" Type="http://schemas.openxmlformats.org/officeDocument/2006/relationships/image" Target="../media/image230.wmf"/><Relationship Id="rId3" Type="http://schemas.openxmlformats.org/officeDocument/2006/relationships/oleObject" Target="../embeddings/oleObject194.bin"/><Relationship Id="rId7" Type="http://schemas.openxmlformats.org/officeDocument/2006/relationships/oleObject" Target="../embeddings/oleObject196.bin"/><Relationship Id="rId2" Type="http://schemas.openxmlformats.org/officeDocument/2006/relationships/slideLayout" Target="../slideLayouts/slideLayout1.xml"/><Relationship Id="rId1" Type="http://schemas.openxmlformats.org/officeDocument/2006/relationships/tags" Target="../tags/tag39.xml"/><Relationship Id="rId6" Type="http://schemas.openxmlformats.org/officeDocument/2006/relationships/image" Target="../media/image229.wmf"/><Relationship Id="rId5" Type="http://schemas.openxmlformats.org/officeDocument/2006/relationships/oleObject" Target="../embeddings/oleObject195.bin"/><Relationship Id="rId10" Type="http://schemas.openxmlformats.org/officeDocument/2006/relationships/image" Target="../media/image231.wmf"/><Relationship Id="rId4" Type="http://schemas.openxmlformats.org/officeDocument/2006/relationships/image" Target="../media/image228.wmf"/><Relationship Id="rId9" Type="http://schemas.openxmlformats.org/officeDocument/2006/relationships/oleObject" Target="../embeddings/oleObject197.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98.bin"/><Relationship Id="rId2" Type="http://schemas.openxmlformats.org/officeDocument/2006/relationships/slideLayout" Target="../slideLayouts/slideLayout1.xml"/><Relationship Id="rId1" Type="http://schemas.openxmlformats.org/officeDocument/2006/relationships/tags" Target="../tags/tag40.xml"/><Relationship Id="rId6" Type="http://schemas.openxmlformats.org/officeDocument/2006/relationships/image" Target="../media/image233.wmf"/><Relationship Id="rId5" Type="http://schemas.openxmlformats.org/officeDocument/2006/relationships/oleObject" Target="../embeddings/oleObject199.bin"/><Relationship Id="rId4" Type="http://schemas.openxmlformats.org/officeDocument/2006/relationships/image" Target="../media/image232.wmf"/></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202.bin"/><Relationship Id="rId13" Type="http://schemas.openxmlformats.org/officeDocument/2006/relationships/image" Target="../media/image239.wmf"/><Relationship Id="rId3" Type="http://schemas.openxmlformats.org/officeDocument/2006/relationships/oleObject" Target="../embeddings/oleObject200.bin"/><Relationship Id="rId7" Type="http://schemas.openxmlformats.org/officeDocument/2006/relationships/image" Target="../media/image236.wmf"/><Relationship Id="rId12" Type="http://schemas.openxmlformats.org/officeDocument/2006/relationships/oleObject" Target="../embeddings/oleObject204.bin"/><Relationship Id="rId17" Type="http://schemas.openxmlformats.org/officeDocument/2006/relationships/image" Target="../media/image241.wmf"/><Relationship Id="rId2" Type="http://schemas.openxmlformats.org/officeDocument/2006/relationships/slideLayout" Target="../slideLayouts/slideLayout1.xml"/><Relationship Id="rId16" Type="http://schemas.openxmlformats.org/officeDocument/2006/relationships/oleObject" Target="../embeddings/oleObject206.bin"/><Relationship Id="rId1" Type="http://schemas.openxmlformats.org/officeDocument/2006/relationships/tags" Target="../tags/tag42.xml"/><Relationship Id="rId6" Type="http://schemas.openxmlformats.org/officeDocument/2006/relationships/image" Target="../media/image235.wmf"/><Relationship Id="rId11" Type="http://schemas.openxmlformats.org/officeDocument/2006/relationships/image" Target="../media/image238.wmf"/><Relationship Id="rId5" Type="http://schemas.openxmlformats.org/officeDocument/2006/relationships/oleObject" Target="../embeddings/oleObject201.bin"/><Relationship Id="rId15" Type="http://schemas.openxmlformats.org/officeDocument/2006/relationships/image" Target="../media/image240.wmf"/><Relationship Id="rId10" Type="http://schemas.openxmlformats.org/officeDocument/2006/relationships/oleObject" Target="../embeddings/oleObject203.bin"/><Relationship Id="rId4" Type="http://schemas.openxmlformats.org/officeDocument/2006/relationships/image" Target="../media/image234.wmf"/><Relationship Id="rId9" Type="http://schemas.openxmlformats.org/officeDocument/2006/relationships/image" Target="../media/image237.wmf"/><Relationship Id="rId14" Type="http://schemas.openxmlformats.org/officeDocument/2006/relationships/oleObject" Target="../embeddings/oleObject205.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07.bin"/><Relationship Id="rId2" Type="http://schemas.openxmlformats.org/officeDocument/2006/relationships/slideLayout" Target="../slideLayouts/slideLayout1.xml"/><Relationship Id="rId1" Type="http://schemas.openxmlformats.org/officeDocument/2006/relationships/tags" Target="../tags/tag43.xml"/><Relationship Id="rId6" Type="http://schemas.openxmlformats.org/officeDocument/2006/relationships/image" Target="../media/image243.wmf"/><Relationship Id="rId5" Type="http://schemas.openxmlformats.org/officeDocument/2006/relationships/oleObject" Target="../embeddings/oleObject208.bin"/><Relationship Id="rId4" Type="http://schemas.openxmlformats.org/officeDocument/2006/relationships/image" Target="../media/image242.w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209.bin"/><Relationship Id="rId2" Type="http://schemas.openxmlformats.org/officeDocument/2006/relationships/slideLayout" Target="../slideLayouts/slideLayout1.xml"/><Relationship Id="rId1" Type="http://schemas.openxmlformats.org/officeDocument/2006/relationships/tags" Target="../tags/tag44.xml"/><Relationship Id="rId6" Type="http://schemas.openxmlformats.org/officeDocument/2006/relationships/image" Target="../media/image245.wmf"/><Relationship Id="rId5" Type="http://schemas.openxmlformats.org/officeDocument/2006/relationships/oleObject" Target="../embeddings/oleObject210.bin"/><Relationship Id="rId4" Type="http://schemas.openxmlformats.org/officeDocument/2006/relationships/image" Target="../media/image244.wmf"/></Relationships>
</file>

<file path=ppt/slides/_rels/slide71.xml.rels><?xml version="1.0" encoding="UTF-8" standalone="yes"?>
<Relationships xmlns="http://schemas.openxmlformats.org/package/2006/relationships"><Relationship Id="rId8" Type="http://schemas.openxmlformats.org/officeDocument/2006/relationships/image" Target="../media/image248.wmf"/><Relationship Id="rId13" Type="http://schemas.openxmlformats.org/officeDocument/2006/relationships/oleObject" Target="../embeddings/oleObject216.bin"/><Relationship Id="rId3" Type="http://schemas.openxmlformats.org/officeDocument/2006/relationships/oleObject" Target="../embeddings/oleObject211.bin"/><Relationship Id="rId7" Type="http://schemas.openxmlformats.org/officeDocument/2006/relationships/oleObject" Target="../embeddings/oleObject213.bin"/><Relationship Id="rId12" Type="http://schemas.openxmlformats.org/officeDocument/2006/relationships/image" Target="../media/image250.wmf"/><Relationship Id="rId2" Type="http://schemas.openxmlformats.org/officeDocument/2006/relationships/slideLayout" Target="../slideLayouts/slideLayout1.xml"/><Relationship Id="rId1" Type="http://schemas.openxmlformats.org/officeDocument/2006/relationships/tags" Target="../tags/tag45.xml"/><Relationship Id="rId6" Type="http://schemas.openxmlformats.org/officeDocument/2006/relationships/image" Target="../media/image247.wmf"/><Relationship Id="rId11" Type="http://schemas.openxmlformats.org/officeDocument/2006/relationships/oleObject" Target="../embeddings/oleObject215.bin"/><Relationship Id="rId5" Type="http://schemas.openxmlformats.org/officeDocument/2006/relationships/oleObject" Target="../embeddings/oleObject212.bin"/><Relationship Id="rId10" Type="http://schemas.openxmlformats.org/officeDocument/2006/relationships/image" Target="../media/image249.wmf"/><Relationship Id="rId4" Type="http://schemas.openxmlformats.org/officeDocument/2006/relationships/image" Target="../media/image246.wmf"/><Relationship Id="rId9" Type="http://schemas.openxmlformats.org/officeDocument/2006/relationships/oleObject" Target="../embeddings/oleObject214.bin"/><Relationship Id="rId14" Type="http://schemas.openxmlformats.org/officeDocument/2006/relationships/image" Target="../media/image251.wmf"/></Relationships>
</file>

<file path=ppt/slides/_rels/slide72.xml.rels><?xml version="1.0" encoding="UTF-8" standalone="yes"?>
<Relationships xmlns="http://schemas.openxmlformats.org/package/2006/relationships"><Relationship Id="rId8" Type="http://schemas.openxmlformats.org/officeDocument/2006/relationships/image" Target="../media/image247.wmf"/><Relationship Id="rId3" Type="http://schemas.openxmlformats.org/officeDocument/2006/relationships/oleObject" Target="../embeddings/oleObject217.bin"/><Relationship Id="rId7" Type="http://schemas.openxmlformats.org/officeDocument/2006/relationships/oleObject" Target="../embeddings/oleObject212.bin"/><Relationship Id="rId12" Type="http://schemas.openxmlformats.org/officeDocument/2006/relationships/image" Target="../media/image249.wmf"/><Relationship Id="rId2" Type="http://schemas.openxmlformats.org/officeDocument/2006/relationships/slideLayout" Target="../slideLayouts/slideLayout1.xml"/><Relationship Id="rId1" Type="http://schemas.openxmlformats.org/officeDocument/2006/relationships/tags" Target="../tags/tag46.xml"/><Relationship Id="rId6" Type="http://schemas.openxmlformats.org/officeDocument/2006/relationships/image" Target="../media/image246.wmf"/><Relationship Id="rId11" Type="http://schemas.openxmlformats.org/officeDocument/2006/relationships/oleObject" Target="../embeddings/oleObject214.bin"/><Relationship Id="rId5" Type="http://schemas.openxmlformats.org/officeDocument/2006/relationships/oleObject" Target="../embeddings/oleObject211.bin"/><Relationship Id="rId10" Type="http://schemas.openxmlformats.org/officeDocument/2006/relationships/image" Target="../media/image248.wmf"/><Relationship Id="rId4" Type="http://schemas.openxmlformats.org/officeDocument/2006/relationships/image" Target="../media/image252.wmf"/><Relationship Id="rId9" Type="http://schemas.openxmlformats.org/officeDocument/2006/relationships/oleObject" Target="../embeddings/oleObject213.bin"/></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214.bin"/><Relationship Id="rId3" Type="http://schemas.openxmlformats.org/officeDocument/2006/relationships/image" Target="../media/image246.wmf"/><Relationship Id="rId7" Type="http://schemas.openxmlformats.org/officeDocument/2006/relationships/image" Target="../media/image248.wmf"/><Relationship Id="rId2" Type="http://schemas.openxmlformats.org/officeDocument/2006/relationships/oleObject" Target="../embeddings/oleObject211.bin"/><Relationship Id="rId1" Type="http://schemas.openxmlformats.org/officeDocument/2006/relationships/slideLayout" Target="../slideLayouts/slideLayout1.xml"/><Relationship Id="rId6" Type="http://schemas.openxmlformats.org/officeDocument/2006/relationships/oleObject" Target="../embeddings/oleObject213.bin"/><Relationship Id="rId5" Type="http://schemas.openxmlformats.org/officeDocument/2006/relationships/image" Target="../media/image247.wmf"/><Relationship Id="rId4" Type="http://schemas.openxmlformats.org/officeDocument/2006/relationships/oleObject" Target="../embeddings/oleObject212.bin"/><Relationship Id="rId9" Type="http://schemas.openxmlformats.org/officeDocument/2006/relationships/image" Target="../media/image249.w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211.bin"/><Relationship Id="rId2" Type="http://schemas.openxmlformats.org/officeDocument/2006/relationships/slideLayout" Target="../slideLayouts/slideLayout1.xml"/><Relationship Id="rId1" Type="http://schemas.openxmlformats.org/officeDocument/2006/relationships/tags" Target="../tags/tag47.xml"/><Relationship Id="rId6" Type="http://schemas.openxmlformats.org/officeDocument/2006/relationships/image" Target="../media/image247.wmf"/><Relationship Id="rId5" Type="http://schemas.openxmlformats.org/officeDocument/2006/relationships/oleObject" Target="../embeddings/oleObject212.bin"/><Relationship Id="rId4" Type="http://schemas.openxmlformats.org/officeDocument/2006/relationships/image" Target="../media/image246.wmf"/></Relationships>
</file>

<file path=ppt/slides/_rels/slide75.xml.rels><?xml version="1.0" encoding="UTF-8" standalone="yes"?>
<Relationships xmlns="http://schemas.openxmlformats.org/package/2006/relationships"><Relationship Id="rId13" Type="http://schemas.openxmlformats.org/officeDocument/2006/relationships/oleObject" Target="../embeddings/oleObject223.bin"/><Relationship Id="rId18" Type="http://schemas.openxmlformats.org/officeDocument/2006/relationships/image" Target="../media/image260.emf"/><Relationship Id="rId26" Type="http://schemas.openxmlformats.org/officeDocument/2006/relationships/image" Target="../media/image264.emf"/><Relationship Id="rId3" Type="http://schemas.openxmlformats.org/officeDocument/2006/relationships/oleObject" Target="../embeddings/oleObject218.bin"/><Relationship Id="rId21" Type="http://schemas.openxmlformats.org/officeDocument/2006/relationships/oleObject" Target="../embeddings/oleObject227.bin"/><Relationship Id="rId34" Type="http://schemas.openxmlformats.org/officeDocument/2006/relationships/image" Target="../media/image268.emf"/><Relationship Id="rId7" Type="http://schemas.openxmlformats.org/officeDocument/2006/relationships/oleObject" Target="../embeddings/oleObject220.bin"/><Relationship Id="rId12" Type="http://schemas.openxmlformats.org/officeDocument/2006/relationships/image" Target="../media/image257.emf"/><Relationship Id="rId17" Type="http://schemas.openxmlformats.org/officeDocument/2006/relationships/oleObject" Target="../embeddings/oleObject225.bin"/><Relationship Id="rId25" Type="http://schemas.openxmlformats.org/officeDocument/2006/relationships/oleObject" Target="../embeddings/oleObject229.bin"/><Relationship Id="rId33" Type="http://schemas.openxmlformats.org/officeDocument/2006/relationships/oleObject" Target="../embeddings/oleObject233.bin"/><Relationship Id="rId2" Type="http://schemas.openxmlformats.org/officeDocument/2006/relationships/slideLayout" Target="../slideLayouts/slideLayout4.xml"/><Relationship Id="rId16" Type="http://schemas.openxmlformats.org/officeDocument/2006/relationships/image" Target="../media/image259.emf"/><Relationship Id="rId20" Type="http://schemas.openxmlformats.org/officeDocument/2006/relationships/image" Target="../media/image261.emf"/><Relationship Id="rId29" Type="http://schemas.openxmlformats.org/officeDocument/2006/relationships/oleObject" Target="../embeddings/oleObject231.bin"/><Relationship Id="rId1" Type="http://schemas.openxmlformats.org/officeDocument/2006/relationships/tags" Target="../tags/tag48.xml"/><Relationship Id="rId6" Type="http://schemas.openxmlformats.org/officeDocument/2006/relationships/image" Target="../media/image254.emf"/><Relationship Id="rId11" Type="http://schemas.openxmlformats.org/officeDocument/2006/relationships/oleObject" Target="../embeddings/oleObject222.bin"/><Relationship Id="rId24" Type="http://schemas.openxmlformats.org/officeDocument/2006/relationships/image" Target="../media/image263.emf"/><Relationship Id="rId32" Type="http://schemas.openxmlformats.org/officeDocument/2006/relationships/image" Target="../media/image267.emf"/><Relationship Id="rId5" Type="http://schemas.openxmlformats.org/officeDocument/2006/relationships/oleObject" Target="../embeddings/oleObject219.bin"/><Relationship Id="rId15" Type="http://schemas.openxmlformats.org/officeDocument/2006/relationships/oleObject" Target="../embeddings/oleObject224.bin"/><Relationship Id="rId23" Type="http://schemas.openxmlformats.org/officeDocument/2006/relationships/oleObject" Target="../embeddings/oleObject228.bin"/><Relationship Id="rId28" Type="http://schemas.openxmlformats.org/officeDocument/2006/relationships/image" Target="../media/image265.emf"/><Relationship Id="rId10" Type="http://schemas.openxmlformats.org/officeDocument/2006/relationships/image" Target="../media/image256.emf"/><Relationship Id="rId19" Type="http://schemas.openxmlformats.org/officeDocument/2006/relationships/oleObject" Target="../embeddings/oleObject226.bin"/><Relationship Id="rId31" Type="http://schemas.openxmlformats.org/officeDocument/2006/relationships/oleObject" Target="../embeddings/oleObject232.bin"/><Relationship Id="rId4" Type="http://schemas.openxmlformats.org/officeDocument/2006/relationships/image" Target="../media/image253.emf"/><Relationship Id="rId9" Type="http://schemas.openxmlformats.org/officeDocument/2006/relationships/oleObject" Target="../embeddings/oleObject221.bin"/><Relationship Id="rId14" Type="http://schemas.openxmlformats.org/officeDocument/2006/relationships/image" Target="../media/image258.emf"/><Relationship Id="rId22" Type="http://schemas.openxmlformats.org/officeDocument/2006/relationships/image" Target="../media/image262.emf"/><Relationship Id="rId27" Type="http://schemas.openxmlformats.org/officeDocument/2006/relationships/oleObject" Target="../embeddings/oleObject230.bin"/><Relationship Id="rId30" Type="http://schemas.openxmlformats.org/officeDocument/2006/relationships/image" Target="../media/image266.emf"/><Relationship Id="rId8" Type="http://schemas.openxmlformats.org/officeDocument/2006/relationships/image" Target="../media/image255.emf"/></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9.xml"/></Relationships>
</file>

<file path=ppt/slides/_rels/slide77.xml.rels><?xml version="1.0" encoding="UTF-8" standalone="yes"?>
<Relationships xmlns="http://schemas.openxmlformats.org/package/2006/relationships"><Relationship Id="rId8" Type="http://schemas.openxmlformats.org/officeDocument/2006/relationships/image" Target="../media/image271.emf"/><Relationship Id="rId3" Type="http://schemas.openxmlformats.org/officeDocument/2006/relationships/oleObject" Target="../embeddings/oleObject234.bin"/><Relationship Id="rId7" Type="http://schemas.openxmlformats.org/officeDocument/2006/relationships/oleObject" Target="../embeddings/oleObject236.bin"/><Relationship Id="rId12" Type="http://schemas.openxmlformats.org/officeDocument/2006/relationships/image" Target="../media/image273.emf"/><Relationship Id="rId2" Type="http://schemas.openxmlformats.org/officeDocument/2006/relationships/slideLayout" Target="../slideLayouts/slideLayout4.xml"/><Relationship Id="rId1" Type="http://schemas.openxmlformats.org/officeDocument/2006/relationships/tags" Target="../tags/tag50.xml"/><Relationship Id="rId6" Type="http://schemas.openxmlformats.org/officeDocument/2006/relationships/image" Target="../media/image270.png"/><Relationship Id="rId11" Type="http://schemas.openxmlformats.org/officeDocument/2006/relationships/oleObject" Target="../embeddings/oleObject238.bin"/><Relationship Id="rId5" Type="http://schemas.openxmlformats.org/officeDocument/2006/relationships/oleObject" Target="../embeddings/oleObject235.bin"/><Relationship Id="rId10" Type="http://schemas.openxmlformats.org/officeDocument/2006/relationships/image" Target="../media/image272.emf"/><Relationship Id="rId4" Type="http://schemas.openxmlformats.org/officeDocument/2006/relationships/image" Target="../media/image269.emf"/><Relationship Id="rId9" Type="http://schemas.openxmlformats.org/officeDocument/2006/relationships/oleObject" Target="../embeddings/oleObject237.bin"/></Relationships>
</file>

<file path=ppt/slides/_rels/slide78.xml.rels><?xml version="1.0" encoding="UTF-8" standalone="yes"?>
<Relationships xmlns="http://schemas.openxmlformats.org/package/2006/relationships"><Relationship Id="rId8" Type="http://schemas.openxmlformats.org/officeDocument/2006/relationships/image" Target="../media/image276.emf"/><Relationship Id="rId13" Type="http://schemas.openxmlformats.org/officeDocument/2006/relationships/oleObject" Target="../embeddings/oleObject243.bin"/><Relationship Id="rId18" Type="http://schemas.openxmlformats.org/officeDocument/2006/relationships/image" Target="../media/image281.emf"/><Relationship Id="rId3" Type="http://schemas.openxmlformats.org/officeDocument/2006/relationships/oleObject" Target="../embeddings/oleObject234.bin"/><Relationship Id="rId7" Type="http://schemas.openxmlformats.org/officeDocument/2006/relationships/oleObject" Target="../embeddings/oleObject240.bin"/><Relationship Id="rId12" Type="http://schemas.openxmlformats.org/officeDocument/2006/relationships/image" Target="../media/image278.emf"/><Relationship Id="rId17" Type="http://schemas.openxmlformats.org/officeDocument/2006/relationships/oleObject" Target="../embeddings/oleObject245.bin"/><Relationship Id="rId2" Type="http://schemas.openxmlformats.org/officeDocument/2006/relationships/slideLayout" Target="../slideLayouts/slideLayout4.xml"/><Relationship Id="rId16" Type="http://schemas.openxmlformats.org/officeDocument/2006/relationships/image" Target="../media/image280.emf"/><Relationship Id="rId20" Type="http://schemas.openxmlformats.org/officeDocument/2006/relationships/image" Target="../media/image282.emf"/><Relationship Id="rId1" Type="http://schemas.openxmlformats.org/officeDocument/2006/relationships/tags" Target="../tags/tag51.xml"/><Relationship Id="rId6" Type="http://schemas.openxmlformats.org/officeDocument/2006/relationships/image" Target="../media/image275.emf"/><Relationship Id="rId11" Type="http://schemas.openxmlformats.org/officeDocument/2006/relationships/oleObject" Target="../embeddings/oleObject242.bin"/><Relationship Id="rId5" Type="http://schemas.openxmlformats.org/officeDocument/2006/relationships/oleObject" Target="../embeddings/oleObject239.bin"/><Relationship Id="rId15" Type="http://schemas.openxmlformats.org/officeDocument/2006/relationships/oleObject" Target="../embeddings/oleObject244.bin"/><Relationship Id="rId10" Type="http://schemas.openxmlformats.org/officeDocument/2006/relationships/image" Target="../media/image277.emf"/><Relationship Id="rId19" Type="http://schemas.openxmlformats.org/officeDocument/2006/relationships/oleObject" Target="../embeddings/oleObject246.bin"/><Relationship Id="rId4" Type="http://schemas.openxmlformats.org/officeDocument/2006/relationships/image" Target="../media/image274.emf"/><Relationship Id="rId9" Type="http://schemas.openxmlformats.org/officeDocument/2006/relationships/oleObject" Target="../embeddings/oleObject241.bin"/><Relationship Id="rId14" Type="http://schemas.openxmlformats.org/officeDocument/2006/relationships/image" Target="../media/image279.emf"/></Relationships>
</file>

<file path=ppt/slides/_rels/slide79.xml.rels><?xml version="1.0" encoding="UTF-8" standalone="yes"?>
<Relationships xmlns="http://schemas.openxmlformats.org/package/2006/relationships"><Relationship Id="rId8" Type="http://schemas.openxmlformats.org/officeDocument/2006/relationships/image" Target="../media/image284.emf"/><Relationship Id="rId13" Type="http://schemas.openxmlformats.org/officeDocument/2006/relationships/oleObject" Target="../embeddings/oleObject248.bin"/><Relationship Id="rId3" Type="http://schemas.openxmlformats.org/officeDocument/2006/relationships/oleObject" Target="../embeddings/oleObject234.bin"/><Relationship Id="rId7" Type="http://schemas.openxmlformats.org/officeDocument/2006/relationships/oleObject" Target="../embeddings/oleObject236.bin"/><Relationship Id="rId12" Type="http://schemas.openxmlformats.org/officeDocument/2006/relationships/image" Target="../media/image286.png"/><Relationship Id="rId2" Type="http://schemas.openxmlformats.org/officeDocument/2006/relationships/slideLayout" Target="../slideLayouts/slideLayout4.xml"/><Relationship Id="rId1" Type="http://schemas.openxmlformats.org/officeDocument/2006/relationships/tags" Target="../tags/tag52.xml"/><Relationship Id="rId6" Type="http://schemas.openxmlformats.org/officeDocument/2006/relationships/image" Target="../media/image270.png"/><Relationship Id="rId11" Type="http://schemas.openxmlformats.org/officeDocument/2006/relationships/oleObject" Target="../embeddings/oleObject247.bin"/><Relationship Id="rId5" Type="http://schemas.openxmlformats.org/officeDocument/2006/relationships/oleObject" Target="../embeddings/oleObject235.bin"/><Relationship Id="rId10" Type="http://schemas.openxmlformats.org/officeDocument/2006/relationships/image" Target="../media/image285.emf"/><Relationship Id="rId4" Type="http://schemas.openxmlformats.org/officeDocument/2006/relationships/image" Target="../media/image283.emf"/><Relationship Id="rId9" Type="http://schemas.openxmlformats.org/officeDocument/2006/relationships/oleObject" Target="../embeddings/oleObject237.bin"/><Relationship Id="rId14" Type="http://schemas.openxmlformats.org/officeDocument/2006/relationships/image" Target="../media/image287.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3.xml"/></Relationships>
</file>

<file path=ppt/slides/_rels/slide81.xml.rels><?xml version="1.0" encoding="UTF-8" standalone="yes"?>
<Relationships xmlns="http://schemas.openxmlformats.org/package/2006/relationships"><Relationship Id="rId8" Type="http://schemas.openxmlformats.org/officeDocument/2006/relationships/image" Target="../media/image290.emf"/><Relationship Id="rId13" Type="http://schemas.openxmlformats.org/officeDocument/2006/relationships/oleObject" Target="../embeddings/oleObject254.bin"/><Relationship Id="rId18" Type="http://schemas.openxmlformats.org/officeDocument/2006/relationships/image" Target="../media/image295.emf"/><Relationship Id="rId3" Type="http://schemas.openxmlformats.org/officeDocument/2006/relationships/oleObject" Target="../embeddings/oleObject249.bin"/><Relationship Id="rId7" Type="http://schemas.openxmlformats.org/officeDocument/2006/relationships/oleObject" Target="../embeddings/oleObject251.bin"/><Relationship Id="rId12" Type="http://schemas.openxmlformats.org/officeDocument/2006/relationships/image" Target="../media/image292.wmf"/><Relationship Id="rId17" Type="http://schemas.openxmlformats.org/officeDocument/2006/relationships/oleObject" Target="../embeddings/oleObject256.bin"/><Relationship Id="rId2" Type="http://schemas.openxmlformats.org/officeDocument/2006/relationships/slideLayout" Target="../slideLayouts/slideLayout4.xml"/><Relationship Id="rId16" Type="http://schemas.openxmlformats.org/officeDocument/2006/relationships/image" Target="../media/image294.png"/><Relationship Id="rId1" Type="http://schemas.openxmlformats.org/officeDocument/2006/relationships/tags" Target="../tags/tag54.xml"/><Relationship Id="rId6" Type="http://schemas.openxmlformats.org/officeDocument/2006/relationships/image" Target="../media/image289.emf"/><Relationship Id="rId11" Type="http://schemas.openxmlformats.org/officeDocument/2006/relationships/oleObject" Target="../embeddings/oleObject253.bin"/><Relationship Id="rId5" Type="http://schemas.openxmlformats.org/officeDocument/2006/relationships/oleObject" Target="../embeddings/oleObject250.bin"/><Relationship Id="rId15" Type="http://schemas.openxmlformats.org/officeDocument/2006/relationships/oleObject" Target="../embeddings/oleObject255.bin"/><Relationship Id="rId10" Type="http://schemas.openxmlformats.org/officeDocument/2006/relationships/image" Target="../media/image291.emf"/><Relationship Id="rId4" Type="http://schemas.openxmlformats.org/officeDocument/2006/relationships/image" Target="../media/image288.png"/><Relationship Id="rId9" Type="http://schemas.openxmlformats.org/officeDocument/2006/relationships/oleObject" Target="../embeddings/oleObject252.bin"/><Relationship Id="rId14" Type="http://schemas.openxmlformats.org/officeDocument/2006/relationships/image" Target="../media/image293.wmf"/></Relationships>
</file>

<file path=ppt/slides/_rels/slide82.xml.rels><?xml version="1.0" encoding="UTF-8" standalone="yes"?>
<Relationships xmlns="http://schemas.openxmlformats.org/package/2006/relationships"><Relationship Id="rId8" Type="http://schemas.openxmlformats.org/officeDocument/2006/relationships/image" Target="../media/image298.emf"/><Relationship Id="rId13" Type="http://schemas.openxmlformats.org/officeDocument/2006/relationships/oleObject" Target="../embeddings/oleObject262.bin"/><Relationship Id="rId18" Type="http://schemas.openxmlformats.org/officeDocument/2006/relationships/image" Target="../media/image303.emf"/><Relationship Id="rId26" Type="http://schemas.openxmlformats.org/officeDocument/2006/relationships/image" Target="../media/image307.emf"/><Relationship Id="rId3" Type="http://schemas.openxmlformats.org/officeDocument/2006/relationships/oleObject" Target="../embeddings/oleObject257.bin"/><Relationship Id="rId21" Type="http://schemas.openxmlformats.org/officeDocument/2006/relationships/oleObject" Target="../embeddings/oleObject266.bin"/><Relationship Id="rId7" Type="http://schemas.openxmlformats.org/officeDocument/2006/relationships/oleObject" Target="../embeddings/oleObject259.bin"/><Relationship Id="rId12" Type="http://schemas.openxmlformats.org/officeDocument/2006/relationships/image" Target="../media/image300.emf"/><Relationship Id="rId17" Type="http://schemas.openxmlformats.org/officeDocument/2006/relationships/oleObject" Target="../embeddings/oleObject264.bin"/><Relationship Id="rId25" Type="http://schemas.openxmlformats.org/officeDocument/2006/relationships/oleObject" Target="../embeddings/oleObject268.bin"/><Relationship Id="rId2" Type="http://schemas.openxmlformats.org/officeDocument/2006/relationships/slideLayout" Target="../slideLayouts/slideLayout4.xml"/><Relationship Id="rId16" Type="http://schemas.openxmlformats.org/officeDocument/2006/relationships/image" Target="../media/image302.emf"/><Relationship Id="rId20" Type="http://schemas.openxmlformats.org/officeDocument/2006/relationships/image" Target="../media/image304.emf"/><Relationship Id="rId29" Type="http://schemas.openxmlformats.org/officeDocument/2006/relationships/oleObject" Target="../embeddings/oleObject270.bin"/><Relationship Id="rId1" Type="http://schemas.openxmlformats.org/officeDocument/2006/relationships/tags" Target="../tags/tag55.xml"/><Relationship Id="rId6" Type="http://schemas.openxmlformats.org/officeDocument/2006/relationships/image" Target="../media/image297.emf"/><Relationship Id="rId11" Type="http://schemas.openxmlformats.org/officeDocument/2006/relationships/oleObject" Target="../embeddings/oleObject261.bin"/><Relationship Id="rId24" Type="http://schemas.openxmlformats.org/officeDocument/2006/relationships/image" Target="../media/image306.wmf"/><Relationship Id="rId32" Type="http://schemas.openxmlformats.org/officeDocument/2006/relationships/image" Target="../media/image310.emf"/><Relationship Id="rId5" Type="http://schemas.openxmlformats.org/officeDocument/2006/relationships/oleObject" Target="../embeddings/oleObject258.bin"/><Relationship Id="rId15" Type="http://schemas.openxmlformats.org/officeDocument/2006/relationships/oleObject" Target="../embeddings/oleObject263.bin"/><Relationship Id="rId23" Type="http://schemas.openxmlformats.org/officeDocument/2006/relationships/oleObject" Target="../embeddings/oleObject267.bin"/><Relationship Id="rId28" Type="http://schemas.openxmlformats.org/officeDocument/2006/relationships/image" Target="../media/image308.emf"/><Relationship Id="rId10" Type="http://schemas.openxmlformats.org/officeDocument/2006/relationships/image" Target="../media/image299.emf"/><Relationship Id="rId19" Type="http://schemas.openxmlformats.org/officeDocument/2006/relationships/oleObject" Target="../embeddings/oleObject265.bin"/><Relationship Id="rId31" Type="http://schemas.openxmlformats.org/officeDocument/2006/relationships/oleObject" Target="../embeddings/oleObject271.bin"/><Relationship Id="rId4" Type="http://schemas.openxmlformats.org/officeDocument/2006/relationships/image" Target="../media/image296.emf"/><Relationship Id="rId9" Type="http://schemas.openxmlformats.org/officeDocument/2006/relationships/oleObject" Target="../embeddings/oleObject260.bin"/><Relationship Id="rId14" Type="http://schemas.openxmlformats.org/officeDocument/2006/relationships/image" Target="../media/image301.emf"/><Relationship Id="rId22" Type="http://schemas.openxmlformats.org/officeDocument/2006/relationships/image" Target="../media/image305.wmf"/><Relationship Id="rId27" Type="http://schemas.openxmlformats.org/officeDocument/2006/relationships/oleObject" Target="../embeddings/oleObject269.bin"/><Relationship Id="rId30" Type="http://schemas.openxmlformats.org/officeDocument/2006/relationships/image" Target="../media/image309.emf"/></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7.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211.bin"/><Relationship Id="rId2" Type="http://schemas.openxmlformats.org/officeDocument/2006/relationships/slideLayout" Target="../slideLayouts/slideLayout1.xml"/><Relationship Id="rId1" Type="http://schemas.openxmlformats.org/officeDocument/2006/relationships/tags" Target="../tags/tag58.xml"/><Relationship Id="rId6" Type="http://schemas.openxmlformats.org/officeDocument/2006/relationships/image" Target="../media/image247.wmf"/><Relationship Id="rId5" Type="http://schemas.openxmlformats.org/officeDocument/2006/relationships/oleObject" Target="../embeddings/oleObject212.bin"/><Relationship Id="rId4" Type="http://schemas.openxmlformats.org/officeDocument/2006/relationships/image" Target="../media/image246.wmf"/></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59.xml"/></Relationships>
</file>

<file path=ppt/slides/_rels/slide88.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311.png"/><Relationship Id="rId18" Type="http://schemas.openxmlformats.org/officeDocument/2006/relationships/image" Target="../media/image316.png"/><Relationship Id="rId3" Type="http://schemas.openxmlformats.org/officeDocument/2006/relationships/oleObject" Target="../embeddings/oleObject52.bin"/><Relationship Id="rId21" Type="http://schemas.openxmlformats.org/officeDocument/2006/relationships/image" Target="../media/image319.png"/><Relationship Id="rId7" Type="http://schemas.openxmlformats.org/officeDocument/2006/relationships/oleObject" Target="../embeddings/oleObject65.bin"/><Relationship Id="rId12" Type="http://schemas.openxmlformats.org/officeDocument/2006/relationships/image" Target="../media/image74.png"/><Relationship Id="rId17" Type="http://schemas.openxmlformats.org/officeDocument/2006/relationships/image" Target="../media/image315.png"/><Relationship Id="rId2" Type="http://schemas.openxmlformats.org/officeDocument/2006/relationships/slideLayout" Target="../slideLayouts/slideLayout4.xml"/><Relationship Id="rId16" Type="http://schemas.openxmlformats.org/officeDocument/2006/relationships/image" Target="../media/image314.png"/><Relationship Id="rId20" Type="http://schemas.openxmlformats.org/officeDocument/2006/relationships/image" Target="../media/image318.png"/><Relationship Id="rId1" Type="http://schemas.openxmlformats.org/officeDocument/2006/relationships/tags" Target="../tags/tag60.xml"/><Relationship Id="rId6" Type="http://schemas.openxmlformats.org/officeDocument/2006/relationships/image" Target="../media/image65.png"/><Relationship Id="rId11" Type="http://schemas.openxmlformats.org/officeDocument/2006/relationships/oleObject" Target="../embeddings/oleObject63.bin"/><Relationship Id="rId5" Type="http://schemas.openxmlformats.org/officeDocument/2006/relationships/oleObject" Target="../embeddings/oleObject54.bin"/><Relationship Id="rId15" Type="http://schemas.openxmlformats.org/officeDocument/2006/relationships/image" Target="../media/image313.png"/><Relationship Id="rId10" Type="http://schemas.openxmlformats.org/officeDocument/2006/relationships/image" Target="../media/image73.png"/><Relationship Id="rId19" Type="http://schemas.openxmlformats.org/officeDocument/2006/relationships/image" Target="../media/image317.png"/><Relationship Id="rId4" Type="http://schemas.openxmlformats.org/officeDocument/2006/relationships/image" Target="../media/image63.png"/><Relationship Id="rId9" Type="http://schemas.openxmlformats.org/officeDocument/2006/relationships/oleObject" Target="../embeddings/oleObject62.bin"/><Relationship Id="rId14" Type="http://schemas.openxmlformats.org/officeDocument/2006/relationships/image" Target="../media/image312.png"/></Relationships>
</file>

<file path=ppt/slides/_rels/slide89.xml.rels><?xml version="1.0" encoding="UTF-8" standalone="yes"?>
<Relationships xmlns="http://schemas.openxmlformats.org/package/2006/relationships"><Relationship Id="rId8" Type="http://schemas.openxmlformats.org/officeDocument/2006/relationships/image" Target="../media/image140.wmf"/><Relationship Id="rId3" Type="http://schemas.openxmlformats.org/officeDocument/2006/relationships/oleObject" Target="../embeddings/oleObject272.bin"/><Relationship Id="rId7" Type="http://schemas.openxmlformats.org/officeDocument/2006/relationships/oleObject" Target="../embeddings/oleObject122.bin"/><Relationship Id="rId12" Type="http://schemas.openxmlformats.org/officeDocument/2006/relationships/image" Target="../media/image322.wmf"/><Relationship Id="rId2" Type="http://schemas.openxmlformats.org/officeDocument/2006/relationships/slideLayout" Target="../slideLayouts/slideLayout1.xml"/><Relationship Id="rId1" Type="http://schemas.openxmlformats.org/officeDocument/2006/relationships/tags" Target="../tags/tag61.xml"/><Relationship Id="rId6" Type="http://schemas.openxmlformats.org/officeDocument/2006/relationships/image" Target="../media/image139.wmf"/><Relationship Id="rId11" Type="http://schemas.openxmlformats.org/officeDocument/2006/relationships/oleObject" Target="../embeddings/oleObject274.bin"/><Relationship Id="rId5" Type="http://schemas.openxmlformats.org/officeDocument/2006/relationships/oleObject" Target="../embeddings/oleObject121.bin"/><Relationship Id="rId10" Type="http://schemas.openxmlformats.org/officeDocument/2006/relationships/image" Target="../media/image321.wmf"/><Relationship Id="rId4" Type="http://schemas.openxmlformats.org/officeDocument/2006/relationships/image" Target="../media/image320.wmf"/><Relationship Id="rId9" Type="http://schemas.openxmlformats.org/officeDocument/2006/relationships/oleObject" Target="../embeddings/oleObject273.bin"/></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275.bin"/><Relationship Id="rId2" Type="http://schemas.openxmlformats.org/officeDocument/2006/relationships/slideLayout" Target="../slideLayouts/slideLayout4.xml"/><Relationship Id="rId1" Type="http://schemas.openxmlformats.org/officeDocument/2006/relationships/tags" Target="../tags/tag62.xml"/><Relationship Id="rId6" Type="http://schemas.openxmlformats.org/officeDocument/2006/relationships/image" Target="../media/image324.emf"/><Relationship Id="rId5" Type="http://schemas.openxmlformats.org/officeDocument/2006/relationships/oleObject" Target="../embeddings/oleObject276.bin"/><Relationship Id="rId4" Type="http://schemas.openxmlformats.org/officeDocument/2006/relationships/image" Target="../media/image323.emf"/></Relationships>
</file>

<file path=ppt/slides/_rels/slide91.xml.rels><?xml version="1.0" encoding="UTF-8" standalone="yes"?>
<Relationships xmlns="http://schemas.openxmlformats.org/package/2006/relationships"><Relationship Id="rId8" Type="http://schemas.openxmlformats.org/officeDocument/2006/relationships/image" Target="../media/image327.emf"/><Relationship Id="rId3" Type="http://schemas.openxmlformats.org/officeDocument/2006/relationships/oleObject" Target="../embeddings/oleObject277.bin"/><Relationship Id="rId7" Type="http://schemas.openxmlformats.org/officeDocument/2006/relationships/oleObject" Target="../embeddings/oleObject279.bin"/><Relationship Id="rId2" Type="http://schemas.openxmlformats.org/officeDocument/2006/relationships/slideLayout" Target="../slideLayouts/slideLayout4.xml"/><Relationship Id="rId1" Type="http://schemas.openxmlformats.org/officeDocument/2006/relationships/tags" Target="../tags/tag63.xml"/><Relationship Id="rId6" Type="http://schemas.openxmlformats.org/officeDocument/2006/relationships/image" Target="../media/image326.wmf"/><Relationship Id="rId5" Type="http://schemas.openxmlformats.org/officeDocument/2006/relationships/oleObject" Target="../embeddings/oleObject278.bin"/><Relationship Id="rId4" Type="http://schemas.openxmlformats.org/officeDocument/2006/relationships/image" Target="../media/image325.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4050" name="WordArt 2"/>
          <p:cNvSpPr>
            <a:spLocks noChangeArrowheads="1" noChangeShapeType="1" noTextEdit="1"/>
          </p:cNvSpPr>
          <p:nvPr/>
        </p:nvSpPr>
        <p:spPr bwMode="auto">
          <a:xfrm>
            <a:off x="1476375" y="1268413"/>
            <a:ext cx="4968875" cy="1079500"/>
          </a:xfrm>
          <a:prstGeom prst="rect">
            <a:avLst/>
          </a:prstGeom>
        </p:spPr>
        <p:txBody>
          <a:bodyPr wrap="none" fromWordArt="1">
            <a:prstTxWarp prst="textPlain">
              <a:avLst>
                <a:gd name="adj" fmla="val 50000"/>
              </a:avLst>
            </a:prstTxWarp>
          </a:bodyPr>
          <a:lstStyle/>
          <a:p>
            <a:pPr algn="ctr"/>
            <a:r>
              <a:rPr lang="zh-CN" altLang="en-US" sz="3600" kern="10">
                <a:ln w="12700">
                  <a:solidFill>
                    <a:srgbClr val="EAEAEA"/>
                  </a:solidFill>
                  <a:rou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rPr>
              <a:t>信号与系统</a:t>
            </a:r>
          </a:p>
        </p:txBody>
      </p:sp>
      <p:pic>
        <p:nvPicPr>
          <p:cNvPr id="13315" name="Picture 3" descr="head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4750" y="476250"/>
            <a:ext cx="1133475"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316" name="Object 2"/>
          <p:cNvGraphicFramePr>
            <a:graphicFrameLocks noChangeAspect="1"/>
          </p:cNvGraphicFramePr>
          <p:nvPr/>
        </p:nvGraphicFramePr>
        <p:xfrm>
          <a:off x="561975" y="5067300"/>
          <a:ext cx="1449388" cy="1281113"/>
        </p:xfrm>
        <a:graphic>
          <a:graphicData uri="http://schemas.openxmlformats.org/presentationml/2006/ole">
            <mc:AlternateContent xmlns:mc="http://schemas.openxmlformats.org/markup-compatibility/2006">
              <mc:Choice xmlns:v="urn:schemas-microsoft-com:vml" Requires="v">
                <p:oleObj name="剪辑" r:id="rId4" imgW="3954780" imgH="3497580" progId="MS_ClipArt_Gallery.2">
                  <p:embed/>
                </p:oleObj>
              </mc:Choice>
              <mc:Fallback>
                <p:oleObj name="剪辑" r:id="rId4" imgW="3954780" imgH="3497580" progId="MS_ClipArt_Gallery.2">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975" y="5067300"/>
                        <a:ext cx="1449388" cy="1281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317" name="Group 5"/>
          <p:cNvGrpSpPr/>
          <p:nvPr/>
        </p:nvGrpSpPr>
        <p:grpSpPr bwMode="auto">
          <a:xfrm>
            <a:off x="-253218" y="7180"/>
            <a:ext cx="9142413" cy="6856413"/>
            <a:chOff x="0" y="0"/>
            <a:chExt cx="5759" cy="4319"/>
          </a:xfrm>
        </p:grpSpPr>
        <p:sp>
          <p:nvSpPr>
            <p:cNvPr id="13321" name="Rectangle 6" descr="Narrow vertical"/>
            <p:cNvSpPr>
              <a:spLocks noChangeArrowheads="1"/>
            </p:cNvSpPr>
            <p:nvPr/>
          </p:nvSpPr>
          <p:spPr bwMode="auto">
            <a:xfrm>
              <a:off x="288" y="48"/>
              <a:ext cx="5184" cy="240"/>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endParaRPr kumimoji="1" lang="zh-CN" altLang="zh-CN">
                <a:ea typeface="宋体" panose="02010600030101010101" pitchFamily="2" charset="-122"/>
              </a:endParaRPr>
            </a:p>
          </p:txBody>
        </p:sp>
        <p:sp>
          <p:nvSpPr>
            <p:cNvPr id="13322" name="Rectangle 7" descr="Narrow horizontal"/>
            <p:cNvSpPr>
              <a:spLocks noChangeArrowheads="1"/>
            </p:cNvSpPr>
            <p:nvPr/>
          </p:nvSpPr>
          <p:spPr bwMode="auto">
            <a:xfrm>
              <a:off x="48" y="288"/>
              <a:ext cx="240" cy="3744"/>
            </a:xfrm>
            <a:prstGeom prst="rect">
              <a:avLst/>
            </a:prstGeom>
            <a:blipFill dpi="0" rotWithShape="0">
              <a:blip r:embed="rId7"/>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endParaRPr kumimoji="1" lang="zh-CN" altLang="zh-CN">
                <a:ea typeface="宋体" panose="02010600030101010101" pitchFamily="2" charset="-122"/>
              </a:endParaRPr>
            </a:p>
          </p:txBody>
        </p:sp>
        <p:sp>
          <p:nvSpPr>
            <p:cNvPr id="13323" name="Rectangle 8" descr="Narrow vertical"/>
            <p:cNvSpPr>
              <a:spLocks noChangeArrowheads="1"/>
            </p:cNvSpPr>
            <p:nvPr/>
          </p:nvSpPr>
          <p:spPr bwMode="auto">
            <a:xfrm>
              <a:off x="288" y="4032"/>
              <a:ext cx="5184" cy="240"/>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endParaRPr kumimoji="1" lang="zh-CN" altLang="zh-CN">
                <a:ea typeface="宋体" panose="02010600030101010101" pitchFamily="2" charset="-122"/>
              </a:endParaRPr>
            </a:p>
          </p:txBody>
        </p:sp>
        <p:sp>
          <p:nvSpPr>
            <p:cNvPr id="13324" name="Rectangle 9" descr="Narrow horizontal"/>
            <p:cNvSpPr>
              <a:spLocks noChangeArrowheads="1"/>
            </p:cNvSpPr>
            <p:nvPr/>
          </p:nvSpPr>
          <p:spPr bwMode="auto">
            <a:xfrm>
              <a:off x="5472" y="288"/>
              <a:ext cx="240" cy="3744"/>
            </a:xfrm>
            <a:prstGeom prst="rect">
              <a:avLst/>
            </a:prstGeom>
            <a:blipFill dpi="0" rotWithShape="0">
              <a:blip r:embed="rId7"/>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endParaRPr kumimoji="1" lang="zh-CN" altLang="zh-CN">
                <a:ea typeface="宋体" panose="02010600030101010101" pitchFamily="2" charset="-122"/>
              </a:endParaRPr>
            </a:p>
          </p:txBody>
        </p:sp>
        <p:sp>
          <p:nvSpPr>
            <p:cNvPr id="13325" name="Rectangle 10"/>
            <p:cNvSpPr>
              <a:spLocks noChangeArrowheads="1"/>
            </p:cNvSpPr>
            <p:nvPr/>
          </p:nvSpPr>
          <p:spPr bwMode="auto">
            <a:xfrm>
              <a:off x="288" y="288"/>
              <a:ext cx="5184" cy="3744"/>
            </a:xfrm>
            <a:prstGeom prst="rect">
              <a:avLst/>
            </a:prstGeom>
            <a:noFill/>
            <a:ln w="57150" cap="sq" cmpd="tri">
              <a:solidFill>
                <a:schemeClr val="bg2"/>
              </a:solidFill>
              <a:miter lim="800000"/>
            </a:ln>
            <a:extLst>
              <a:ext uri="{909E8E84-426E-40DD-AFC4-6F175D3DCCD1}">
                <a14:hiddenFill xmlns:a14="http://schemas.microsoft.com/office/drawing/2010/main">
                  <a:solidFill>
                    <a:srgbClr val="FFFFFF"/>
                  </a:solidFill>
                </a14:hiddenFill>
              </a:ext>
            </a:extLst>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endParaRPr kumimoji="1" lang="zh-CN" altLang="zh-CN">
                <a:ea typeface="宋体" panose="02010600030101010101" pitchFamily="2" charset="-122"/>
              </a:endParaRPr>
            </a:p>
          </p:txBody>
        </p:sp>
        <p:sp>
          <p:nvSpPr>
            <p:cNvPr id="13326" name="Rectangle 11"/>
            <p:cNvSpPr>
              <a:spLocks noChangeArrowheads="1"/>
            </p:cNvSpPr>
            <p:nvPr/>
          </p:nvSpPr>
          <p:spPr bwMode="auto">
            <a:xfrm>
              <a:off x="48" y="48"/>
              <a:ext cx="5664" cy="4224"/>
            </a:xfrm>
            <a:prstGeom prst="rect">
              <a:avLst/>
            </a:prstGeom>
            <a:noFill/>
            <a:ln w="12700" cap="sq">
              <a:solidFill>
                <a:schemeClr val="bg2"/>
              </a:solidFill>
              <a:miter lim="800000"/>
            </a:ln>
            <a:extLst>
              <a:ext uri="{909E8E84-426E-40DD-AFC4-6F175D3DCCD1}">
                <a14:hiddenFill xmlns:a14="http://schemas.microsoft.com/office/drawing/2010/main">
                  <a:solidFill>
                    <a:srgbClr val="FFFFFF"/>
                  </a:solidFill>
                </a14:hiddenFill>
              </a:ext>
            </a:extLst>
          </p:spPr>
          <p:txBody>
            <a:bodyPr wrap="none" lIns="92070" tIns="46036" rIns="92070" bIns="46036"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endParaRPr kumimoji="1" lang="zh-CN" altLang="zh-CN">
                <a:ea typeface="宋体" panose="02010600030101010101" pitchFamily="2" charset="-122"/>
              </a:endParaRPr>
            </a:p>
          </p:txBody>
        </p:sp>
        <p:grpSp>
          <p:nvGrpSpPr>
            <p:cNvPr id="13327" name="Group 12"/>
            <p:cNvGrpSpPr/>
            <p:nvPr/>
          </p:nvGrpSpPr>
          <p:grpSpPr bwMode="auto">
            <a:xfrm>
              <a:off x="0" y="0"/>
              <a:ext cx="384" cy="384"/>
              <a:chOff x="0" y="0"/>
              <a:chExt cx="384" cy="384"/>
            </a:xfrm>
          </p:grpSpPr>
          <p:sp>
            <p:nvSpPr>
              <p:cNvPr id="13337" name="Rectangle 13"/>
              <p:cNvSpPr>
                <a:spLocks noChangeArrowheads="1"/>
              </p:cNvSpPr>
              <p:nvPr/>
            </p:nvSpPr>
            <p:spPr bwMode="auto">
              <a:xfrm>
                <a:off x="0" y="0"/>
                <a:ext cx="384" cy="384"/>
              </a:xfrm>
              <a:prstGeom prst="rect">
                <a:avLst/>
              </a:prstGeom>
              <a:solidFill>
                <a:schemeClr val="bg1"/>
              </a:solidFill>
              <a:ln w="57150" cap="sq" cmpd="tri">
                <a:solidFill>
                  <a:schemeClr val="bg2"/>
                </a:solidFill>
                <a:miter lim="800000"/>
              </a:ln>
            </p:spPr>
            <p:txBody>
              <a:bodyPr lIns="91435" tIns="45718" rIns="91435" bIns="45718"/>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kumimoji="1" lang="zh-CN" altLang="zh-CN">
                  <a:ea typeface="宋体" panose="02010600030101010101" pitchFamily="2" charset="-122"/>
                </a:endParaRPr>
              </a:p>
            </p:txBody>
          </p:sp>
          <p:sp>
            <p:nvSpPr>
              <p:cNvPr id="514062" name="Oval 14"/>
              <p:cNvSpPr>
                <a:spLocks noChangeArrowheads="1"/>
              </p:cNvSpPr>
              <p:nvPr/>
            </p:nvSpPr>
            <p:spPr bwMode="auto">
              <a:xfrm>
                <a:off x="101" y="101"/>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algn="ctr" eaLnBrk="1" hangingPunct="1">
                  <a:lnSpc>
                    <a:spcPct val="85000"/>
                  </a:lnSpc>
                  <a:spcBef>
                    <a:spcPct val="20000"/>
                  </a:spcBef>
                  <a:buClr>
                    <a:schemeClr val="accent2"/>
                  </a:buClr>
                  <a:buFont typeface="Wingdings" panose="05000000000000000000" pitchFamily="2" charset="2"/>
                  <a:buNone/>
                  <a:defRPr/>
                </a:pPr>
                <a:endParaRPr kumimoji="1" lang="zh-CN" altLang="zh-CN">
                  <a:latin typeface="黑体" panose="02010609060101010101" pitchFamily="49" charset="-122"/>
                  <a:ea typeface="宋体" panose="02010600030101010101" pitchFamily="2" charset="-122"/>
                </a:endParaRPr>
              </a:p>
            </p:txBody>
          </p:sp>
        </p:grpSp>
        <p:grpSp>
          <p:nvGrpSpPr>
            <p:cNvPr id="13328" name="Group 15"/>
            <p:cNvGrpSpPr/>
            <p:nvPr/>
          </p:nvGrpSpPr>
          <p:grpSpPr bwMode="auto">
            <a:xfrm>
              <a:off x="0" y="3935"/>
              <a:ext cx="384" cy="384"/>
              <a:chOff x="0" y="3935"/>
              <a:chExt cx="384" cy="384"/>
            </a:xfrm>
          </p:grpSpPr>
          <p:sp>
            <p:nvSpPr>
              <p:cNvPr id="13335" name="Rectangle 16"/>
              <p:cNvSpPr>
                <a:spLocks noChangeArrowheads="1"/>
              </p:cNvSpPr>
              <p:nvPr/>
            </p:nvSpPr>
            <p:spPr bwMode="auto">
              <a:xfrm>
                <a:off x="0" y="3935"/>
                <a:ext cx="384" cy="384"/>
              </a:xfrm>
              <a:prstGeom prst="rect">
                <a:avLst/>
              </a:prstGeom>
              <a:solidFill>
                <a:schemeClr val="bg1"/>
              </a:solidFill>
              <a:ln w="57150" cap="sq" cmpd="tri">
                <a:solidFill>
                  <a:schemeClr val="bg2"/>
                </a:solidFill>
                <a:miter lim="800000"/>
              </a:ln>
            </p:spPr>
            <p:txBody>
              <a:bodyPr lIns="91435" tIns="45718" rIns="91435" bIns="45718"/>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kumimoji="1" lang="zh-CN" altLang="zh-CN">
                  <a:ea typeface="宋体" panose="02010600030101010101" pitchFamily="2" charset="-122"/>
                </a:endParaRPr>
              </a:p>
            </p:txBody>
          </p:sp>
          <p:sp>
            <p:nvSpPr>
              <p:cNvPr id="514065" name="Oval 17"/>
              <p:cNvSpPr>
                <a:spLocks noChangeArrowheads="1"/>
              </p:cNvSpPr>
              <p:nvPr/>
            </p:nvSpPr>
            <p:spPr bwMode="auto">
              <a:xfrm>
                <a:off x="101" y="4036"/>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algn="ctr" eaLnBrk="1" hangingPunct="1">
                  <a:lnSpc>
                    <a:spcPct val="85000"/>
                  </a:lnSpc>
                  <a:spcBef>
                    <a:spcPct val="20000"/>
                  </a:spcBef>
                  <a:buClr>
                    <a:schemeClr val="accent2"/>
                  </a:buClr>
                  <a:buFont typeface="Wingdings" panose="05000000000000000000" pitchFamily="2" charset="2"/>
                  <a:buNone/>
                  <a:defRPr/>
                </a:pPr>
                <a:endParaRPr kumimoji="1" lang="zh-CN" altLang="zh-CN">
                  <a:latin typeface="黑体" panose="02010609060101010101" pitchFamily="49" charset="-122"/>
                  <a:ea typeface="宋体" panose="02010600030101010101" pitchFamily="2" charset="-122"/>
                </a:endParaRPr>
              </a:p>
            </p:txBody>
          </p:sp>
        </p:grpSp>
        <p:grpSp>
          <p:nvGrpSpPr>
            <p:cNvPr id="13329" name="Group 18"/>
            <p:cNvGrpSpPr/>
            <p:nvPr/>
          </p:nvGrpSpPr>
          <p:grpSpPr bwMode="auto">
            <a:xfrm>
              <a:off x="5375" y="3935"/>
              <a:ext cx="384" cy="384"/>
              <a:chOff x="5375" y="3935"/>
              <a:chExt cx="384" cy="384"/>
            </a:xfrm>
          </p:grpSpPr>
          <p:sp>
            <p:nvSpPr>
              <p:cNvPr id="13333" name="Rectangle 19"/>
              <p:cNvSpPr>
                <a:spLocks noChangeArrowheads="1"/>
              </p:cNvSpPr>
              <p:nvPr/>
            </p:nvSpPr>
            <p:spPr bwMode="auto">
              <a:xfrm>
                <a:off x="5375" y="3935"/>
                <a:ext cx="384" cy="384"/>
              </a:xfrm>
              <a:prstGeom prst="rect">
                <a:avLst/>
              </a:prstGeom>
              <a:solidFill>
                <a:schemeClr val="bg1"/>
              </a:solidFill>
              <a:ln w="57150" cap="sq" cmpd="tri">
                <a:solidFill>
                  <a:schemeClr val="bg2"/>
                </a:solidFill>
                <a:miter lim="800000"/>
              </a:ln>
            </p:spPr>
            <p:txBody>
              <a:bodyPr lIns="91435" tIns="45718" rIns="91435" bIns="45718"/>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kumimoji="1" lang="zh-CN" altLang="zh-CN">
                  <a:ea typeface="宋体" panose="02010600030101010101" pitchFamily="2" charset="-122"/>
                </a:endParaRPr>
              </a:p>
            </p:txBody>
          </p:sp>
          <p:sp>
            <p:nvSpPr>
              <p:cNvPr id="514068" name="Oval 20"/>
              <p:cNvSpPr>
                <a:spLocks noChangeArrowheads="1"/>
              </p:cNvSpPr>
              <p:nvPr/>
            </p:nvSpPr>
            <p:spPr bwMode="auto">
              <a:xfrm>
                <a:off x="5476" y="4036"/>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algn="ctr" eaLnBrk="1" hangingPunct="1">
                  <a:lnSpc>
                    <a:spcPct val="85000"/>
                  </a:lnSpc>
                  <a:spcBef>
                    <a:spcPct val="20000"/>
                  </a:spcBef>
                  <a:buClr>
                    <a:schemeClr val="accent2"/>
                  </a:buClr>
                  <a:buFont typeface="Wingdings" panose="05000000000000000000" pitchFamily="2" charset="2"/>
                  <a:buNone/>
                  <a:defRPr/>
                </a:pPr>
                <a:endParaRPr kumimoji="1" lang="zh-CN" altLang="zh-CN">
                  <a:latin typeface="黑体" panose="02010609060101010101" pitchFamily="49" charset="-122"/>
                  <a:ea typeface="宋体" panose="02010600030101010101" pitchFamily="2" charset="-122"/>
                </a:endParaRPr>
              </a:p>
            </p:txBody>
          </p:sp>
        </p:grpSp>
        <p:grpSp>
          <p:nvGrpSpPr>
            <p:cNvPr id="13330" name="Group 21"/>
            <p:cNvGrpSpPr/>
            <p:nvPr/>
          </p:nvGrpSpPr>
          <p:grpSpPr bwMode="auto">
            <a:xfrm>
              <a:off x="5375" y="0"/>
              <a:ext cx="384" cy="384"/>
              <a:chOff x="5375" y="0"/>
              <a:chExt cx="384" cy="384"/>
            </a:xfrm>
          </p:grpSpPr>
          <p:sp>
            <p:nvSpPr>
              <p:cNvPr id="13331" name="Rectangle 22"/>
              <p:cNvSpPr>
                <a:spLocks noChangeArrowheads="1"/>
              </p:cNvSpPr>
              <p:nvPr/>
            </p:nvSpPr>
            <p:spPr bwMode="auto">
              <a:xfrm>
                <a:off x="5375" y="0"/>
                <a:ext cx="384" cy="384"/>
              </a:xfrm>
              <a:prstGeom prst="rect">
                <a:avLst/>
              </a:prstGeom>
              <a:solidFill>
                <a:schemeClr val="bg1"/>
              </a:solidFill>
              <a:ln w="57150" cap="sq" cmpd="tri">
                <a:solidFill>
                  <a:schemeClr val="bg2"/>
                </a:solidFill>
                <a:miter lim="800000"/>
              </a:ln>
            </p:spPr>
            <p:txBody>
              <a:bodyPr lIns="91435" tIns="45718" rIns="91435" bIns="45718"/>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kumimoji="1" lang="zh-CN" altLang="zh-CN">
                  <a:ea typeface="宋体" panose="02010600030101010101" pitchFamily="2" charset="-122"/>
                </a:endParaRPr>
              </a:p>
            </p:txBody>
          </p:sp>
          <p:sp>
            <p:nvSpPr>
              <p:cNvPr id="514071" name="Oval 23"/>
              <p:cNvSpPr>
                <a:spLocks noChangeArrowheads="1"/>
              </p:cNvSpPr>
              <p:nvPr/>
            </p:nvSpPr>
            <p:spPr bwMode="auto">
              <a:xfrm>
                <a:off x="5476" y="101"/>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algn="ctr" eaLnBrk="1" hangingPunct="1">
                  <a:lnSpc>
                    <a:spcPct val="85000"/>
                  </a:lnSpc>
                  <a:spcBef>
                    <a:spcPct val="20000"/>
                  </a:spcBef>
                  <a:buClr>
                    <a:schemeClr val="accent2"/>
                  </a:buClr>
                  <a:buFont typeface="Wingdings" panose="05000000000000000000" pitchFamily="2" charset="2"/>
                  <a:buNone/>
                  <a:defRPr/>
                </a:pPr>
                <a:endParaRPr kumimoji="1" lang="zh-CN" altLang="zh-CN">
                  <a:latin typeface="黑体" panose="02010609060101010101" pitchFamily="49" charset="-122"/>
                  <a:ea typeface="宋体" panose="02010600030101010101" pitchFamily="2" charset="-122"/>
                </a:endParaRPr>
              </a:p>
            </p:txBody>
          </p:sp>
        </p:grpSp>
      </p:grpSp>
      <p:pic>
        <p:nvPicPr>
          <p:cNvPr id="13318" name="Picture 24" descr="Exa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70725" y="4746625"/>
            <a:ext cx="1370013"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4073" name="Rectangle 25"/>
          <p:cNvSpPr>
            <a:spLocks noChangeArrowheads="1"/>
          </p:cNvSpPr>
          <p:nvPr/>
        </p:nvSpPr>
        <p:spPr bwMode="auto">
          <a:xfrm>
            <a:off x="2051050" y="3644900"/>
            <a:ext cx="5640388" cy="842963"/>
          </a:xfrm>
          <a:prstGeom prst="rect">
            <a:avLst/>
          </a:prstGeom>
          <a:noFill/>
          <a:ln w="9525">
            <a:noFill/>
            <a:miter lim="800000"/>
          </a:ln>
        </p:spPr>
        <p:txBody>
          <a:bodyPr lIns="130612" tIns="65306" rIns="130612" bIns="65306"/>
          <a:lstStyle/>
          <a:p>
            <a:pPr algn="ctr" eaLnBrk="1" hangingPunct="1">
              <a:lnSpc>
                <a:spcPct val="85000"/>
              </a:lnSpc>
              <a:spcBef>
                <a:spcPct val="20000"/>
              </a:spcBef>
              <a:buClr>
                <a:schemeClr val="accent2"/>
              </a:buClr>
              <a:buFont typeface="Wingdings" panose="05000000000000000000" pitchFamily="2" charset="2"/>
              <a:buNone/>
              <a:defRPr/>
            </a:pPr>
            <a:r>
              <a:rPr lang="zh-CN" altLang="en-US" i="1">
                <a:effectLst>
                  <a:outerShdw blurRad="38100" dist="38100" dir="2700000" algn="tl">
                    <a:srgbClr val="C0C0C0"/>
                  </a:outerShdw>
                </a:effectLst>
                <a:latin typeface="黑体" panose="02010609060101010101" pitchFamily="49" charset="-122"/>
                <a:ea typeface="黑体" panose="02010609060101010101" pitchFamily="49" charset="-122"/>
              </a:rPr>
              <a:t>第六章 </a:t>
            </a:r>
            <a:r>
              <a:rPr lang="en-US" altLang="zh-CN" i="1">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i="1">
                <a:effectLst>
                  <a:outerShdw blurRad="38100" dist="38100" dir="2700000" algn="tl">
                    <a:srgbClr val="C0C0C0"/>
                  </a:outerShdw>
                </a:effectLst>
                <a:latin typeface="黑体" panose="02010609060101010101" pitchFamily="49" charset="-122"/>
                <a:ea typeface="黑体" panose="02010609060101010101" pitchFamily="49" charset="-122"/>
              </a:rPr>
              <a:t>连续时间系统的系统函数</a:t>
            </a:r>
            <a:endParaRPr lang="zh-CN" altLang="en-US" i="1">
              <a:solidFill>
                <a:srgbClr val="0033CC"/>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
        <p:nvSpPr>
          <p:cNvPr id="26" name="日期占位符 25"/>
          <p:cNvSpPr>
            <a:spLocks noGrp="1"/>
          </p:cNvSpPr>
          <p:nvPr>
            <p:ph type="dt" sz="quarter" idx="10"/>
          </p:nvPr>
        </p:nvSpPr>
        <p:spPr/>
        <p:txBody>
          <a:bodyPr/>
          <a:lstStyle/>
          <a:p>
            <a:pPr>
              <a:defRPr/>
            </a:pPr>
            <a:fld id="{5617D678-0744-4569-A2D7-FDF9FA32DB12}" type="datetime1">
              <a:rPr lang="zh-CN" altLang="en-US"/>
              <a:t>2026/4/28</a:t>
            </a:fld>
            <a:endParaRPr lang="en-US" altLang="zh-CN"/>
          </a:p>
        </p:txBody>
      </p:sp>
    </p:spTree>
  </p:cSld>
  <p:clrMapOvr>
    <a:masterClrMapping/>
  </p:clrMapOvr>
  <p:transition advTm="1799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afterEffect">
                                  <p:stCondLst>
                                    <p:cond delay="0"/>
                                  </p:stCondLst>
                                  <p:childTnLst>
                                    <p:set>
                                      <p:cBhvr>
                                        <p:cTn id="6" dur="1" fill="hold">
                                          <p:stCondLst>
                                            <p:cond delay="0"/>
                                          </p:stCondLst>
                                        </p:cTn>
                                        <p:tgtEl>
                                          <p:spTgt spid="514050"/>
                                        </p:tgtEl>
                                        <p:attrNameLst>
                                          <p:attrName>style.visibility</p:attrName>
                                        </p:attrNameLst>
                                      </p:cBhvr>
                                      <p:to>
                                        <p:strVal val="visible"/>
                                      </p:to>
                                    </p:set>
                                    <p:anim calcmode="lin" valueType="num">
                                      <p:cBhvr>
                                        <p:cTn id="7" dur="5000" fill="hold"/>
                                        <p:tgtEl>
                                          <p:spTgt spid="514050"/>
                                        </p:tgtEl>
                                        <p:attrNameLst>
                                          <p:attrName>ppt_w</p:attrName>
                                        </p:attrNameLst>
                                      </p:cBhvr>
                                      <p:tavLst>
                                        <p:tav tm="0" fmla="#ppt_w*sin(2.5*pi*$)">
                                          <p:val>
                                            <p:fltVal val="0"/>
                                          </p:val>
                                        </p:tav>
                                        <p:tav tm="100000">
                                          <p:val>
                                            <p:fltVal val="1"/>
                                          </p:val>
                                        </p:tav>
                                      </p:tavLst>
                                    </p:anim>
                                    <p:anim calcmode="lin" valueType="num">
                                      <p:cBhvr>
                                        <p:cTn id="8" dur="5000" fill="hold"/>
                                        <p:tgtEl>
                                          <p:spTgt spid="5140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par>
                          <p:cTn id="9" fill="hold">
                            <p:stCondLst>
                              <p:cond delay="5000"/>
                            </p:stCondLst>
                            <p:childTnLst>
                              <p:par>
                                <p:cTn id="10" presetID="1" presetClass="entr" presetSubtype="0" fill="hold" grpId="0" nodeType="afterEffect">
                                  <p:stCondLst>
                                    <p:cond delay="0"/>
                                  </p:stCondLst>
                                  <p:childTnLst>
                                    <p:set>
                                      <p:cBhvr>
                                        <p:cTn id="11" dur="1" fill="hold">
                                          <p:stCondLst>
                                            <p:cond delay="499"/>
                                          </p:stCondLst>
                                        </p:cTn>
                                        <p:tgtEl>
                                          <p:spTgt spid="51407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73" grpId="0" build="p" autoUpdateAnimBg="0"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0225" y="369888"/>
            <a:ext cx="8229600" cy="709612"/>
          </a:xfrm>
        </p:spPr>
        <p:txBody>
          <a:bodyPr/>
          <a:lstStyle/>
          <a:p>
            <a:r>
              <a:rPr lang="zh-CN" altLang="en-US" sz="3600" b="1"/>
              <a:t>本章内容概要</a:t>
            </a:r>
          </a:p>
        </p:txBody>
      </p:sp>
      <p:sp>
        <p:nvSpPr>
          <p:cNvPr id="14339" name="Rectangle 3"/>
          <p:cNvSpPr>
            <a:spLocks noGrp="1" noChangeArrowheads="1"/>
          </p:cNvSpPr>
          <p:nvPr>
            <p:ph type="body" idx="1"/>
          </p:nvPr>
        </p:nvSpPr>
        <p:spPr>
          <a:xfrm>
            <a:off x="1258888" y="1341438"/>
            <a:ext cx="6985000" cy="4105275"/>
          </a:xfrm>
        </p:spPr>
        <p:txBody>
          <a:bodyPr/>
          <a:lstStyle/>
          <a:p>
            <a:pPr>
              <a:lnSpc>
                <a:spcPct val="90000"/>
              </a:lnSpc>
            </a:pPr>
            <a:r>
              <a:rPr lang="zh-CN" altLang="en-US" b="1" i="1">
                <a:solidFill>
                  <a:srgbClr val="FF0000"/>
                </a:solidFill>
              </a:rPr>
              <a:t>引言</a:t>
            </a:r>
          </a:p>
          <a:p>
            <a:pPr>
              <a:lnSpc>
                <a:spcPct val="90000"/>
              </a:lnSpc>
            </a:pPr>
            <a:r>
              <a:rPr lang="zh-CN" altLang="en-US" b="1"/>
              <a:t>系统函数的表示法</a:t>
            </a:r>
          </a:p>
          <a:p>
            <a:pPr>
              <a:lnSpc>
                <a:spcPct val="90000"/>
              </a:lnSpc>
            </a:pPr>
            <a:r>
              <a:rPr lang="zh-CN" altLang="en-US" b="1"/>
              <a:t>系统函数极点和零点的分布与系统时域特性的关系</a:t>
            </a:r>
          </a:p>
          <a:p>
            <a:pPr>
              <a:lnSpc>
                <a:spcPct val="90000"/>
              </a:lnSpc>
            </a:pPr>
            <a:r>
              <a:rPr lang="zh-CN" altLang="en-US" b="1"/>
              <a:t>系统函数的极点、零点与系统频率特性的关系</a:t>
            </a:r>
          </a:p>
          <a:p>
            <a:pPr>
              <a:lnSpc>
                <a:spcPct val="90000"/>
              </a:lnSpc>
            </a:pPr>
            <a:r>
              <a:rPr lang="zh-CN" altLang="en-US" b="1"/>
              <a:t>波特图</a:t>
            </a:r>
          </a:p>
          <a:p>
            <a:pPr>
              <a:lnSpc>
                <a:spcPct val="90000"/>
              </a:lnSpc>
            </a:pPr>
            <a:r>
              <a:rPr lang="zh-CN" altLang="en-US" b="1"/>
              <a:t>系统的稳定性</a:t>
            </a:r>
          </a:p>
        </p:txBody>
      </p:sp>
      <p:pic>
        <p:nvPicPr>
          <p:cNvPr id="14340" name="Picture 4" descr="MCj0345743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425" y="4216400"/>
            <a:ext cx="1944688"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日期占位符 4"/>
          <p:cNvSpPr>
            <a:spLocks noGrp="1"/>
          </p:cNvSpPr>
          <p:nvPr>
            <p:ph type="dt" sz="quarter" idx="10"/>
          </p:nvPr>
        </p:nvSpPr>
        <p:spPr>
          <a:xfrm>
            <a:off x="0" y="6538913"/>
            <a:ext cx="1517650" cy="319087"/>
          </a:xfrm>
        </p:spPr>
        <p:txBody>
          <a:bodyPr/>
          <a:lstStyle/>
          <a:p>
            <a:pPr>
              <a:defRPr/>
            </a:pPr>
            <a:fld id="{B5795BE2-2CCB-4444-9A0C-C72FA02DD5A3}" type="datetime1">
              <a:rPr lang="zh-CN" altLang="en-US"/>
              <a:t>2026/4/28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0125"/>
    </mc:Choice>
    <mc:Fallback xmlns="">
      <p:transition spd="slow" advTm="4012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title"/>
          </p:nvPr>
        </p:nvSpPr>
        <p:spPr>
          <a:xfrm>
            <a:off x="900113" y="188913"/>
            <a:ext cx="3384550" cy="549275"/>
          </a:xfrm>
          <a:solidFill>
            <a:schemeClr val="accent2"/>
          </a:solidFill>
          <a:effectLst>
            <a:outerShdw dist="35921" dir="2700000" algn="ctr" rotWithShape="0">
              <a:schemeClr val="bg2"/>
            </a:outerShdw>
          </a:effectLst>
        </p:spPr>
        <p:txBody>
          <a:bodyPr/>
          <a:lstStyle/>
          <a:p>
            <a:pPr>
              <a:defRPr/>
            </a:pPr>
            <a:r>
              <a:rPr lang="en-US" altLang="zh-CN" sz="2800">
                <a:solidFill>
                  <a:schemeClr val="bg1"/>
                </a:solidFill>
                <a:effectLst>
                  <a:outerShdw blurRad="38100" dist="38100" dir="2700000" algn="tl">
                    <a:srgbClr val="000000"/>
                  </a:outerShdw>
                </a:effectLst>
                <a:latin typeface="Times New Roman" panose="02020603050405020304" pitchFamily="18" charset="0"/>
              </a:rPr>
              <a:t>§6.1 </a:t>
            </a:r>
            <a:r>
              <a:rPr lang="zh-CN" altLang="en-US" sz="2800">
                <a:solidFill>
                  <a:schemeClr val="bg1"/>
                </a:solidFill>
                <a:effectLst>
                  <a:outerShdw blurRad="38100" dist="38100" dir="2700000" algn="tl">
                    <a:srgbClr val="000000"/>
                  </a:outerShdw>
                </a:effectLst>
                <a:latin typeface="Times New Roman" panose="02020603050405020304" pitchFamily="18" charset="0"/>
              </a:rPr>
              <a:t>引言</a:t>
            </a:r>
          </a:p>
        </p:txBody>
      </p:sp>
      <p:sp>
        <p:nvSpPr>
          <p:cNvPr id="15363" name="Rectangle 13"/>
          <p:cNvSpPr>
            <a:spLocks noChangeArrowheads="1"/>
          </p:cNvSpPr>
          <p:nvPr/>
        </p:nvSpPr>
        <p:spPr bwMode="auto">
          <a:xfrm>
            <a:off x="1331913" y="1412875"/>
            <a:ext cx="3960812"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en-US" altLang="zh-CN" sz="3200">
                <a:latin typeface="Times New Roman" panose="02020603050405020304" pitchFamily="18" charset="0"/>
                <a:ea typeface="楷体_GB2312" pitchFamily="49" charset="-122"/>
              </a:rPr>
              <a:t>1</a:t>
            </a:r>
            <a:r>
              <a:rPr kumimoji="1" lang="zh-CN" altLang="en-US" sz="3200">
                <a:latin typeface="Times New Roman" panose="02020603050405020304" pitchFamily="18" charset="0"/>
                <a:ea typeface="楷体_GB2312" pitchFamily="49" charset="-122"/>
              </a:rPr>
              <a:t>、系统函数的定义</a:t>
            </a:r>
          </a:p>
        </p:txBody>
      </p:sp>
      <p:graphicFrame>
        <p:nvGraphicFramePr>
          <p:cNvPr id="15364" name="Object 2"/>
          <p:cNvGraphicFramePr>
            <a:graphicFrameLocks noGrp="1" noChangeAspect="1"/>
          </p:cNvGraphicFramePr>
          <p:nvPr>
            <p:ph idx="1"/>
          </p:nvPr>
        </p:nvGraphicFramePr>
        <p:xfrm>
          <a:off x="3435862" y="2391890"/>
          <a:ext cx="2381767" cy="1228120"/>
        </p:xfrm>
        <a:graphic>
          <a:graphicData uri="http://schemas.openxmlformats.org/presentationml/2006/ole">
            <mc:AlternateContent xmlns:mc="http://schemas.openxmlformats.org/markup-compatibility/2006">
              <mc:Choice xmlns:v="urn:schemas-microsoft-com:vml" Requires="v">
                <p:oleObj name="公式" r:id="rId3" imgW="812165" imgH="419100" progId="Equation.3">
                  <p:embed/>
                </p:oleObj>
              </mc:Choice>
              <mc:Fallback>
                <p:oleObj name="公式" r:id="rId3" imgW="812165" imgH="419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5862" y="2391890"/>
                        <a:ext cx="2381767" cy="1228120"/>
                      </a:xfrm>
                      <a:prstGeom prst="rect">
                        <a:avLst/>
                      </a:prstGeom>
                      <a:noFill/>
                      <a:ln>
                        <a:noFill/>
                      </a:ln>
                      <a:effectLst/>
                    </p:spPr>
                  </p:pic>
                </p:oleObj>
              </mc:Fallback>
            </mc:AlternateContent>
          </a:graphicData>
        </a:graphic>
      </p:graphicFrame>
      <p:sp>
        <p:nvSpPr>
          <p:cNvPr id="306192" name="Line 16"/>
          <p:cNvSpPr>
            <a:spLocks noChangeShapeType="1"/>
          </p:cNvSpPr>
          <p:nvPr/>
        </p:nvSpPr>
        <p:spPr bwMode="auto">
          <a:xfrm>
            <a:off x="2472373" y="2974908"/>
            <a:ext cx="865187"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6193" name="Text Box 17"/>
          <p:cNvSpPr txBox="1">
            <a:spLocks noChangeArrowheads="1"/>
          </p:cNvSpPr>
          <p:nvPr/>
        </p:nvSpPr>
        <p:spPr bwMode="auto">
          <a:xfrm>
            <a:off x="644374" y="2771776"/>
            <a:ext cx="1868487"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r>
              <a:rPr lang="zh-CN" altLang="en-US" sz="2400" dirty="0">
                <a:solidFill>
                  <a:srgbClr val="9900FF"/>
                </a:solidFill>
                <a:latin typeface="Times New Roman" panose="02020603050405020304" pitchFamily="18" charset="0"/>
                <a:ea typeface="楷体_GB2312" pitchFamily="49" charset="-122"/>
              </a:rPr>
              <a:t>系统函数</a:t>
            </a:r>
          </a:p>
        </p:txBody>
      </p:sp>
      <p:sp>
        <p:nvSpPr>
          <p:cNvPr id="306194" name="Text Box 18"/>
          <p:cNvSpPr txBox="1">
            <a:spLocks noChangeArrowheads="1"/>
          </p:cNvSpPr>
          <p:nvPr/>
        </p:nvSpPr>
        <p:spPr bwMode="auto">
          <a:xfrm>
            <a:off x="5859626" y="1425183"/>
            <a:ext cx="3095625"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400" dirty="0">
                <a:solidFill>
                  <a:srgbClr val="FF0000"/>
                </a:solidFill>
                <a:latin typeface="Times New Roman" panose="02020603050405020304" pitchFamily="18" charset="0"/>
                <a:ea typeface="楷体_GB2312" pitchFamily="49" charset="-122"/>
              </a:rPr>
              <a:t>零状态响应</a:t>
            </a:r>
            <a:r>
              <a:rPr lang="zh-CN" altLang="en-US" sz="2400" dirty="0">
                <a:solidFill>
                  <a:srgbClr val="9900FF"/>
                </a:solidFill>
                <a:latin typeface="Times New Roman" panose="02020603050405020304" pitchFamily="18" charset="0"/>
                <a:ea typeface="楷体_GB2312" pitchFamily="49" charset="-122"/>
              </a:rPr>
              <a:t>的</a:t>
            </a:r>
            <a:r>
              <a:rPr lang="en-US" altLang="zh-CN" sz="2400" dirty="0">
                <a:solidFill>
                  <a:srgbClr val="9900FF"/>
                </a:solidFill>
                <a:latin typeface="Times New Roman" panose="02020603050405020304" pitchFamily="18" charset="0"/>
                <a:ea typeface="楷体_GB2312" pitchFamily="49" charset="-122"/>
              </a:rPr>
              <a:t>LT</a:t>
            </a:r>
          </a:p>
        </p:txBody>
      </p:sp>
      <p:sp>
        <p:nvSpPr>
          <p:cNvPr id="306195" name="Text Box 19"/>
          <p:cNvSpPr txBox="1">
            <a:spLocks noChangeArrowheads="1"/>
          </p:cNvSpPr>
          <p:nvPr/>
        </p:nvSpPr>
        <p:spPr bwMode="auto">
          <a:xfrm>
            <a:off x="6894181" y="3909238"/>
            <a:ext cx="2356146" cy="40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sz="2400" dirty="0">
                <a:solidFill>
                  <a:srgbClr val="9900FF"/>
                </a:solidFill>
                <a:latin typeface="Times New Roman" panose="02020603050405020304" pitchFamily="18" charset="0"/>
                <a:ea typeface="楷体_GB2312" pitchFamily="49" charset="-122"/>
              </a:rPr>
              <a:t>激励函数的</a:t>
            </a:r>
            <a:r>
              <a:rPr lang="en-US" altLang="zh-CN" sz="2400" dirty="0">
                <a:solidFill>
                  <a:srgbClr val="9900FF"/>
                </a:solidFill>
                <a:latin typeface="Times New Roman" panose="02020603050405020304" pitchFamily="18" charset="0"/>
                <a:ea typeface="楷体_GB2312" pitchFamily="49" charset="-122"/>
              </a:rPr>
              <a:t>LT</a:t>
            </a:r>
          </a:p>
        </p:txBody>
      </p:sp>
      <p:sp>
        <p:nvSpPr>
          <p:cNvPr id="306196" name="Line 20"/>
          <p:cNvSpPr>
            <a:spLocks noChangeShapeType="1"/>
          </p:cNvSpPr>
          <p:nvPr/>
        </p:nvSpPr>
        <p:spPr bwMode="auto">
          <a:xfrm flipH="1">
            <a:off x="5550576" y="1831448"/>
            <a:ext cx="1081087" cy="6254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6197" name="Line 21"/>
          <p:cNvSpPr>
            <a:spLocks noChangeShapeType="1"/>
          </p:cNvSpPr>
          <p:nvPr/>
        </p:nvSpPr>
        <p:spPr bwMode="auto">
          <a:xfrm flipH="1" flipV="1">
            <a:off x="5767130" y="3368461"/>
            <a:ext cx="1223963" cy="7064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日期占位符 11"/>
          <p:cNvSpPr>
            <a:spLocks noGrp="1"/>
          </p:cNvSpPr>
          <p:nvPr>
            <p:ph type="dt" sz="quarter" idx="10"/>
          </p:nvPr>
        </p:nvSpPr>
        <p:spPr/>
        <p:txBody>
          <a:bodyPr/>
          <a:lstStyle/>
          <a:p>
            <a:pPr>
              <a:defRPr/>
            </a:pPr>
            <a:fld id="{499547FA-0380-49B4-97EA-3D1AACA29C06}" type="datetime1">
              <a:rPr lang="zh-CN" altLang="en-US" smtClean="0">
                <a:latin typeface="Times New Roman" panose="02020603050405020304" pitchFamily="18" charset="0"/>
              </a:rPr>
              <a:t>2026/4/28</a:t>
            </a:fld>
            <a:endParaRPr lang="en-US" altLang="zh-CN">
              <a:latin typeface="Times New Roman" panose="02020603050405020304" pitchFamily="18" charset="0"/>
            </a:endParaRPr>
          </a:p>
        </p:txBody>
      </p:sp>
      <p:sp>
        <p:nvSpPr>
          <p:cNvPr id="2" name="墨迹 1"/>
          <p:cNvSpPr/>
          <p:nvPr/>
        </p:nvSpPr>
        <p:spPr bwMode="auto">
          <a:xfrm>
            <a:off x="3337560" y="1896480"/>
            <a:ext cx="3218040" cy="1825200"/>
          </a:xfrm>
        </p:spPr>
      </p:sp>
      <p:sp>
        <p:nvSpPr>
          <p:cNvPr id="13" name="Rectangle 3"/>
          <p:cNvSpPr txBox="1">
            <a:spLocks noChangeArrowheads="1"/>
          </p:cNvSpPr>
          <p:nvPr/>
        </p:nvSpPr>
        <p:spPr bwMode="blackWhite">
          <a:xfrm>
            <a:off x="832032" y="4505768"/>
            <a:ext cx="7462837" cy="1539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marL="609600" indent="-609600">
              <a:buFontTx/>
              <a:buNone/>
            </a:pPr>
            <a:r>
              <a:rPr lang="zh-CN" altLang="en-US" sz="2400" b="1" kern="0" dirty="0">
                <a:solidFill>
                  <a:srgbClr val="FF0000"/>
                </a:solidFill>
              </a:rPr>
              <a:t>系统函数</a:t>
            </a:r>
          </a:p>
          <a:p>
            <a:pPr marL="609600" indent="-609600">
              <a:buFontTx/>
              <a:buNone/>
            </a:pPr>
            <a:r>
              <a:rPr lang="zh-CN" altLang="en-US" sz="2400" b="1" kern="0" dirty="0"/>
              <a:t>    </a:t>
            </a:r>
            <a:r>
              <a:rPr lang="en-US" altLang="zh-CN" sz="2400" b="1" i="1" kern="0" dirty="0">
                <a:latin typeface="Times New Roman" panose="02020603050405020304" pitchFamily="18" charset="0"/>
              </a:rPr>
              <a:t>H</a:t>
            </a:r>
            <a:r>
              <a:rPr lang="en-US" altLang="zh-CN" sz="2400" b="1" kern="0" dirty="0"/>
              <a:t>(</a:t>
            </a:r>
            <a:r>
              <a:rPr lang="en-US" altLang="zh-CN" sz="2400" b="1" i="1" kern="0" dirty="0">
                <a:latin typeface="Times New Roman" panose="02020603050405020304" pitchFamily="18" charset="0"/>
              </a:rPr>
              <a:t>s</a:t>
            </a:r>
            <a:r>
              <a:rPr lang="en-US" altLang="zh-CN" sz="2400" b="1" kern="0" dirty="0"/>
              <a:t>)</a:t>
            </a:r>
            <a:r>
              <a:rPr lang="zh-CN" altLang="en-US" sz="2400" b="1" kern="0" dirty="0"/>
              <a:t>是系统特性在复频域中的表述形式； </a:t>
            </a:r>
          </a:p>
          <a:p>
            <a:pPr marL="609600" indent="-609600">
              <a:buFontTx/>
              <a:buNone/>
            </a:pPr>
            <a:r>
              <a:rPr lang="zh-CN" altLang="en-US" sz="2400" b="1" kern="0" dirty="0"/>
              <a:t>    </a:t>
            </a:r>
            <a:r>
              <a:rPr lang="en-US" altLang="zh-CN" sz="2400" b="1" i="1" kern="0" dirty="0">
                <a:latin typeface="Times New Roman" panose="02020603050405020304" pitchFamily="18" charset="0"/>
              </a:rPr>
              <a:t>H</a:t>
            </a:r>
            <a:r>
              <a:rPr lang="en-US" altLang="zh-CN" sz="2400" b="1" kern="0" dirty="0"/>
              <a:t>(</a:t>
            </a:r>
            <a:r>
              <a:rPr lang="en-US" altLang="zh-CN" sz="2400" b="1" i="1" kern="0" dirty="0">
                <a:latin typeface="Times New Roman" panose="02020603050405020304" pitchFamily="18" charset="0"/>
              </a:rPr>
              <a:t>j</a:t>
            </a:r>
            <a:r>
              <a:rPr lang="en-US" altLang="zh-CN" sz="2400" b="1" i="1" kern="0" dirty="0">
                <a:latin typeface="Times New Roman" panose="02020603050405020304" pitchFamily="18" charset="0"/>
                <a:sym typeface="Symbol" panose="05050102010706020507" pitchFamily="18" charset="2"/>
              </a:rPr>
              <a:t></a:t>
            </a:r>
            <a:r>
              <a:rPr lang="en-US" altLang="zh-CN" sz="2400" b="1" kern="0" dirty="0"/>
              <a:t>) </a:t>
            </a:r>
            <a:r>
              <a:rPr lang="zh-CN" altLang="en-US" sz="2400" b="1" kern="0" dirty="0"/>
              <a:t>系统特性在频域中的表述形式。</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5448"/>
    </mc:Choice>
    <mc:Fallback xmlns="">
      <p:transition spd="slow" advTm="254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306192"/>
                                        </p:tgtEl>
                                        <p:attrNameLst>
                                          <p:attrName>style.visibility</p:attrName>
                                        </p:attrNameLst>
                                      </p:cBhvr>
                                      <p:to>
                                        <p:strVal val="visible"/>
                                      </p:to>
                                    </p:set>
                                    <p:animEffect transition="in" filter="strips(downLeft)">
                                      <p:cBhvr>
                                        <p:cTn id="12" dur="500"/>
                                        <p:tgtEl>
                                          <p:spTgt spid="306192"/>
                                        </p:tgtEl>
                                      </p:cBhvr>
                                    </p:animEffect>
                                  </p:childTnLst>
                                </p:cTn>
                              </p:par>
                              <p:par>
                                <p:cTn id="13" presetID="18" presetClass="entr" presetSubtype="12" fill="hold" grpId="0" nodeType="withEffect">
                                  <p:stCondLst>
                                    <p:cond delay="0"/>
                                  </p:stCondLst>
                                  <p:childTnLst>
                                    <p:set>
                                      <p:cBhvr>
                                        <p:cTn id="14" dur="1" fill="hold">
                                          <p:stCondLst>
                                            <p:cond delay="0"/>
                                          </p:stCondLst>
                                        </p:cTn>
                                        <p:tgtEl>
                                          <p:spTgt spid="306193"/>
                                        </p:tgtEl>
                                        <p:attrNameLst>
                                          <p:attrName>style.visibility</p:attrName>
                                        </p:attrNameLst>
                                      </p:cBhvr>
                                      <p:to>
                                        <p:strVal val="visible"/>
                                      </p:to>
                                    </p:set>
                                    <p:animEffect transition="in" filter="strips(downLeft)">
                                      <p:cBhvr>
                                        <p:cTn id="15" dur="500"/>
                                        <p:tgtEl>
                                          <p:spTgt spid="306193"/>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nodeType="clickEffect">
                                  <p:stCondLst>
                                    <p:cond delay="0"/>
                                  </p:stCondLst>
                                  <p:childTnLst>
                                    <p:set>
                                      <p:cBhvr>
                                        <p:cTn id="19" dur="1" fill="hold">
                                          <p:stCondLst>
                                            <p:cond delay="0"/>
                                          </p:stCondLst>
                                        </p:cTn>
                                        <p:tgtEl>
                                          <p:spTgt spid="306196"/>
                                        </p:tgtEl>
                                        <p:attrNameLst>
                                          <p:attrName>style.visibility</p:attrName>
                                        </p:attrNameLst>
                                      </p:cBhvr>
                                      <p:to>
                                        <p:strVal val="visible"/>
                                      </p:to>
                                    </p:set>
                                    <p:animEffect transition="in" filter="strips(downLeft)">
                                      <p:cBhvr>
                                        <p:cTn id="20" dur="500"/>
                                        <p:tgtEl>
                                          <p:spTgt spid="306196"/>
                                        </p:tgtEl>
                                      </p:cBhvr>
                                    </p:animEffect>
                                  </p:childTnLst>
                                </p:cTn>
                              </p:par>
                              <p:par>
                                <p:cTn id="21" presetID="18" presetClass="entr" presetSubtype="12" fill="hold" grpId="0" nodeType="withEffect">
                                  <p:stCondLst>
                                    <p:cond delay="0"/>
                                  </p:stCondLst>
                                  <p:childTnLst>
                                    <p:set>
                                      <p:cBhvr>
                                        <p:cTn id="22" dur="1" fill="hold">
                                          <p:stCondLst>
                                            <p:cond delay="0"/>
                                          </p:stCondLst>
                                        </p:cTn>
                                        <p:tgtEl>
                                          <p:spTgt spid="306194"/>
                                        </p:tgtEl>
                                        <p:attrNameLst>
                                          <p:attrName>style.visibility</p:attrName>
                                        </p:attrNameLst>
                                      </p:cBhvr>
                                      <p:to>
                                        <p:strVal val="visible"/>
                                      </p:to>
                                    </p:set>
                                    <p:animEffect transition="in" filter="strips(downLeft)">
                                      <p:cBhvr>
                                        <p:cTn id="23" dur="500"/>
                                        <p:tgtEl>
                                          <p:spTgt spid="306194"/>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306197"/>
                                        </p:tgtEl>
                                        <p:attrNameLst>
                                          <p:attrName>style.visibility</p:attrName>
                                        </p:attrNameLst>
                                      </p:cBhvr>
                                      <p:to>
                                        <p:strVal val="visible"/>
                                      </p:to>
                                    </p:set>
                                    <p:animEffect transition="in" filter="strips(downLeft)">
                                      <p:cBhvr>
                                        <p:cTn id="28" dur="500"/>
                                        <p:tgtEl>
                                          <p:spTgt spid="306197"/>
                                        </p:tgtEl>
                                      </p:cBhvr>
                                    </p:animEffect>
                                  </p:childTnLst>
                                </p:cTn>
                              </p:par>
                              <p:par>
                                <p:cTn id="29" presetID="18" presetClass="entr" presetSubtype="12" fill="hold" grpId="0" nodeType="withEffect">
                                  <p:stCondLst>
                                    <p:cond delay="0"/>
                                  </p:stCondLst>
                                  <p:childTnLst>
                                    <p:set>
                                      <p:cBhvr>
                                        <p:cTn id="30" dur="1" fill="hold">
                                          <p:stCondLst>
                                            <p:cond delay="0"/>
                                          </p:stCondLst>
                                        </p:cTn>
                                        <p:tgtEl>
                                          <p:spTgt spid="306195"/>
                                        </p:tgtEl>
                                        <p:attrNameLst>
                                          <p:attrName>style.visibility</p:attrName>
                                        </p:attrNameLst>
                                      </p:cBhvr>
                                      <p:to>
                                        <p:strVal val="visible"/>
                                      </p:to>
                                    </p:set>
                                    <p:animEffect transition="in" filter="strips(downLeft)">
                                      <p:cBhvr>
                                        <p:cTn id="31" dur="500"/>
                                        <p:tgtEl>
                                          <p:spTgt spid="306195"/>
                                        </p:tgtEl>
                                      </p:cBhvr>
                                    </p:animEffect>
                                  </p:childTnLst>
                                </p:cTn>
                              </p:par>
                            </p:childTnLst>
                          </p:cTn>
                        </p:par>
                        <p:par>
                          <p:cTn id="32" fill="hold">
                            <p:stCondLst>
                              <p:cond delay="500"/>
                            </p:stCondLst>
                            <p:childTnLst>
                              <p:par>
                                <p:cTn id="33" presetID="16" presetClass="entr" presetSubtype="26"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barn(inHorizontal)">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93" grpId="0"/>
      <p:bldP spid="306194" grpId="0"/>
      <p:bldP spid="306195" grpId="0"/>
      <p:bldP spid="1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a:xfrm>
            <a:off x="755650" y="260350"/>
            <a:ext cx="3600450" cy="608013"/>
          </a:xfrm>
          <a:solidFill>
            <a:schemeClr val="accent2"/>
          </a:solidFill>
          <a:effectLst>
            <a:outerShdw dist="35921" dir="2700000" algn="ctr" rotWithShape="0">
              <a:schemeClr val="bg2"/>
            </a:outerShdw>
          </a:effectLst>
        </p:spPr>
        <p:txBody>
          <a:bodyPr/>
          <a:lstStyle/>
          <a:p>
            <a:pPr>
              <a:defRPr/>
            </a:pPr>
            <a:r>
              <a:rPr lang="en-US" altLang="zh-CN" sz="2800" b="1">
                <a:solidFill>
                  <a:srgbClr val="F8F8F8"/>
                </a:solidFill>
                <a:effectLst>
                  <a:outerShdw blurRad="38100" dist="38100" dir="2700000" algn="tl">
                    <a:srgbClr val="000000"/>
                  </a:outerShdw>
                </a:effectLst>
                <a:latin typeface="Times New Roman" panose="02020603050405020304" pitchFamily="18" charset="0"/>
              </a:rPr>
              <a:t>§6.1 </a:t>
            </a:r>
            <a:r>
              <a:rPr lang="zh-CN" altLang="en-US" sz="2800" b="1">
                <a:solidFill>
                  <a:srgbClr val="F8F8F8"/>
                </a:solidFill>
                <a:effectLst>
                  <a:outerShdw blurRad="38100" dist="38100" dir="2700000" algn="tl">
                    <a:srgbClr val="000000"/>
                  </a:outerShdw>
                </a:effectLst>
                <a:latin typeface="Times New Roman" panose="02020603050405020304" pitchFamily="18" charset="0"/>
              </a:rPr>
              <a:t>引言</a:t>
            </a:r>
          </a:p>
        </p:txBody>
      </p:sp>
      <p:sp>
        <p:nvSpPr>
          <p:cNvPr id="466958" name="Rectangle 14"/>
          <p:cNvSpPr>
            <a:spLocks noGrp="1" noChangeArrowheads="1"/>
          </p:cNvSpPr>
          <p:nvPr>
            <p:ph type="body" idx="1"/>
          </p:nvPr>
        </p:nvSpPr>
        <p:spPr>
          <a:xfrm>
            <a:off x="1187450" y="2205038"/>
            <a:ext cx="7777163" cy="3024187"/>
          </a:xfrm>
        </p:spPr>
        <p:txBody>
          <a:bodyPr/>
          <a:lstStyle/>
          <a:p>
            <a:pPr>
              <a:lnSpc>
                <a:spcPct val="120000"/>
              </a:lnSpc>
              <a:buSzPct val="150000"/>
              <a:buFont typeface="Monotype Sorts" charset="2"/>
              <a:buBlip>
                <a:blip r:embed="rId2"/>
              </a:buBlip>
            </a:pPr>
            <a:r>
              <a:rPr kumimoji="1" lang="en-US" altLang="zh-CN" sz="2800" b="1">
                <a:solidFill>
                  <a:srgbClr val="023E05"/>
                </a:solidFill>
                <a:latin typeface="Times New Roman" panose="02020603050405020304" pitchFamily="18" charset="0"/>
              </a:rPr>
              <a:t>h(t)</a:t>
            </a:r>
            <a:r>
              <a:rPr lang="en-US" altLang="zh-CN" sz="2800" b="1">
                <a:solidFill>
                  <a:srgbClr val="FF0000"/>
                </a:solidFill>
                <a:latin typeface="Times New Roman" panose="02020603050405020304" pitchFamily="18" charset="0"/>
              </a:rPr>
              <a:t> </a:t>
            </a:r>
            <a:r>
              <a:rPr lang="en-US" altLang="zh-CN" sz="2800" b="1">
                <a:solidFill>
                  <a:srgbClr val="FF0000"/>
                </a:solidFill>
                <a:latin typeface="Times New Roman" panose="02020603050405020304" pitchFamily="18" charset="0"/>
                <a:sym typeface="Symbol" panose="05050102010706020507" pitchFamily="18" charset="2"/>
              </a:rPr>
              <a:t> </a:t>
            </a:r>
            <a:r>
              <a:rPr lang="en-US" altLang="zh-CN" sz="2800" b="1">
                <a:solidFill>
                  <a:srgbClr val="1604FA"/>
                </a:solidFill>
                <a:latin typeface="Times New Roman" panose="02020603050405020304" pitchFamily="18" charset="0"/>
              </a:rPr>
              <a:t>H(s)</a:t>
            </a:r>
            <a:r>
              <a:rPr lang="en-US" altLang="zh-CN" sz="2800" b="1">
                <a:latin typeface="Times New Roman" panose="02020603050405020304" pitchFamily="18" charset="0"/>
              </a:rPr>
              <a:t> </a:t>
            </a:r>
          </a:p>
          <a:p>
            <a:pPr>
              <a:lnSpc>
                <a:spcPct val="120000"/>
              </a:lnSpc>
              <a:buSzPct val="150000"/>
              <a:buFont typeface="Monotype Sorts" charset="2"/>
              <a:buBlip>
                <a:blip r:embed="rId2"/>
              </a:buBlip>
            </a:pPr>
            <a:r>
              <a:rPr kumimoji="1" lang="en-US" altLang="zh-CN" sz="2800" b="1">
                <a:solidFill>
                  <a:srgbClr val="023E05"/>
                </a:solidFill>
                <a:latin typeface="Times New Roman" panose="02020603050405020304" pitchFamily="18" charset="0"/>
              </a:rPr>
              <a:t>H(s)</a:t>
            </a:r>
            <a:r>
              <a:rPr lang="en-US" altLang="zh-CN" sz="2800" b="1">
                <a:solidFill>
                  <a:srgbClr val="FF0000"/>
                </a:solidFill>
                <a:latin typeface="Times New Roman" panose="02020603050405020304" pitchFamily="18" charset="0"/>
              </a:rPr>
              <a:t> =</a:t>
            </a:r>
            <a:r>
              <a:rPr lang="en-US" altLang="zh-CN" sz="2800" b="1">
                <a:solidFill>
                  <a:srgbClr val="1604FA"/>
                </a:solidFill>
                <a:latin typeface="Times New Roman" panose="02020603050405020304" pitchFamily="18" charset="0"/>
              </a:rPr>
              <a:t>H(p)|</a:t>
            </a:r>
            <a:r>
              <a:rPr lang="en-US" altLang="zh-CN" sz="2800" b="1" baseline="-25000">
                <a:solidFill>
                  <a:srgbClr val="1604FA"/>
                </a:solidFill>
                <a:latin typeface="Times New Roman" panose="02020603050405020304" pitchFamily="18" charset="0"/>
              </a:rPr>
              <a:t>p=s</a:t>
            </a:r>
          </a:p>
          <a:p>
            <a:pPr>
              <a:lnSpc>
                <a:spcPct val="120000"/>
              </a:lnSpc>
              <a:buSzPct val="150000"/>
              <a:buFont typeface="Monotype Sorts" charset="2"/>
              <a:buBlip>
                <a:blip r:embed="rId2"/>
              </a:buBlip>
            </a:pPr>
            <a:r>
              <a:rPr kumimoji="1" lang="zh-CN" altLang="en-US" sz="2800" b="1">
                <a:solidFill>
                  <a:srgbClr val="023E05"/>
                </a:solidFill>
                <a:latin typeface="Times New Roman" panose="02020603050405020304" pitchFamily="18" charset="0"/>
              </a:rPr>
              <a:t>零状态下微分方程</a:t>
            </a:r>
            <a:r>
              <a:rPr kumimoji="1" lang="zh-CN" altLang="en-US" sz="2800" b="1">
                <a:solidFill>
                  <a:srgbClr val="FF0000"/>
                </a:solidFill>
                <a:latin typeface="Times New Roman" panose="02020603050405020304" pitchFamily="18" charset="0"/>
                <a:sym typeface="Symbol" panose="05050102010706020507" pitchFamily="18" charset="2"/>
              </a:rPr>
              <a:t> </a:t>
            </a:r>
            <a:r>
              <a:rPr kumimoji="1" lang="en-US" altLang="zh-CN" sz="2800" b="1">
                <a:solidFill>
                  <a:srgbClr val="1604FA"/>
                </a:solidFill>
                <a:latin typeface="Times New Roman" panose="02020603050405020304" pitchFamily="18" charset="0"/>
              </a:rPr>
              <a:t>H(s)</a:t>
            </a:r>
          </a:p>
          <a:p>
            <a:pPr>
              <a:lnSpc>
                <a:spcPct val="120000"/>
              </a:lnSpc>
              <a:buSzPct val="150000"/>
              <a:buFont typeface="Monotype Sorts" charset="2"/>
              <a:buBlip>
                <a:blip r:embed="rId2"/>
              </a:buBlip>
            </a:pPr>
            <a:r>
              <a:rPr kumimoji="1" lang="zh-CN" altLang="en-US" sz="2800" b="1">
                <a:solidFill>
                  <a:srgbClr val="023E05"/>
                </a:solidFill>
                <a:latin typeface="Times New Roman" panose="02020603050405020304" pitchFamily="18" charset="0"/>
              </a:rPr>
              <a:t>零状态下复频域电路模型</a:t>
            </a:r>
            <a:r>
              <a:rPr kumimoji="1" lang="zh-CN" altLang="en-US" sz="2800" b="1">
                <a:solidFill>
                  <a:srgbClr val="FF0000"/>
                </a:solidFill>
                <a:latin typeface="Times New Roman" panose="02020603050405020304" pitchFamily="18" charset="0"/>
                <a:sym typeface="Symbol" panose="05050102010706020507" pitchFamily="18" charset="2"/>
              </a:rPr>
              <a:t> </a:t>
            </a:r>
            <a:r>
              <a:rPr kumimoji="1" lang="en-US" altLang="zh-CN" sz="2800" b="1">
                <a:solidFill>
                  <a:srgbClr val="1604FA"/>
                </a:solidFill>
                <a:latin typeface="Times New Roman" panose="02020603050405020304" pitchFamily="18" charset="0"/>
              </a:rPr>
              <a:t>H(s)</a:t>
            </a:r>
          </a:p>
          <a:p>
            <a:pPr>
              <a:lnSpc>
                <a:spcPct val="120000"/>
              </a:lnSpc>
              <a:buSzPct val="150000"/>
              <a:buFont typeface="Monotype Sorts" charset="2"/>
              <a:buBlip>
                <a:blip r:embed="rId2"/>
              </a:buBlip>
            </a:pPr>
            <a:r>
              <a:rPr kumimoji="1" lang="zh-CN" altLang="en-US" sz="2800" b="1">
                <a:solidFill>
                  <a:srgbClr val="023E05"/>
                </a:solidFill>
                <a:latin typeface="Times New Roman" panose="02020603050405020304" pitchFamily="18" charset="0"/>
              </a:rPr>
              <a:t>系统模拟框图、信号流图</a:t>
            </a:r>
            <a:r>
              <a:rPr kumimoji="1" lang="zh-CN" altLang="en-US" sz="2800" b="1">
                <a:solidFill>
                  <a:srgbClr val="FF0000"/>
                </a:solidFill>
                <a:latin typeface="Times New Roman" panose="02020603050405020304" pitchFamily="18" charset="0"/>
                <a:sym typeface="Symbol" panose="05050102010706020507" pitchFamily="18" charset="2"/>
              </a:rPr>
              <a:t> </a:t>
            </a:r>
            <a:r>
              <a:rPr kumimoji="1" lang="en-US" altLang="zh-CN" sz="2800" b="1">
                <a:solidFill>
                  <a:srgbClr val="1604FA"/>
                </a:solidFill>
                <a:latin typeface="Times New Roman" panose="02020603050405020304" pitchFamily="18" charset="0"/>
              </a:rPr>
              <a:t>H(s) </a:t>
            </a:r>
            <a:r>
              <a:rPr kumimoji="1" lang="zh-CN" altLang="en-US" sz="2800" b="1">
                <a:solidFill>
                  <a:srgbClr val="9900FF"/>
                </a:solidFill>
                <a:latin typeface="Times New Roman" panose="02020603050405020304" pitchFamily="18" charset="0"/>
              </a:rPr>
              <a:t>（不要求）</a:t>
            </a:r>
            <a:endParaRPr lang="zh-CN" altLang="en-US" sz="2800" b="1">
              <a:latin typeface="Times New Roman" panose="02020603050405020304" pitchFamily="18" charset="0"/>
            </a:endParaRPr>
          </a:p>
        </p:txBody>
      </p:sp>
      <p:sp>
        <p:nvSpPr>
          <p:cNvPr id="18436" name="Rectangle 3"/>
          <p:cNvSpPr>
            <a:spLocks noChangeArrowheads="1"/>
          </p:cNvSpPr>
          <p:nvPr/>
        </p:nvSpPr>
        <p:spPr bwMode="auto">
          <a:xfrm>
            <a:off x="900113" y="1125538"/>
            <a:ext cx="3168650" cy="67627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120000"/>
              </a:lnSpc>
              <a:spcBef>
                <a:spcPct val="20000"/>
              </a:spcBef>
              <a:buClr>
                <a:schemeClr val="folHlink"/>
              </a:buClr>
              <a:buSzPct val="60000"/>
              <a:buFont typeface="Wingdings" panose="05000000000000000000" pitchFamily="2" charset="2"/>
              <a:buNone/>
            </a:pPr>
            <a:r>
              <a:rPr kumimoji="1" lang="zh-CN" altLang="en-US" sz="3200">
                <a:solidFill>
                  <a:srgbClr val="FF0000"/>
                </a:solidFill>
                <a:ea typeface="楷体_GB2312" pitchFamily="49" charset="-122"/>
              </a:rPr>
              <a:t>系统函数的求解</a:t>
            </a:r>
            <a:endParaRPr kumimoji="1" lang="zh-CN" altLang="en-US">
              <a:solidFill>
                <a:srgbClr val="FF0000"/>
              </a:solidFill>
              <a:latin typeface="华文中宋" panose="02010600040101010101" pitchFamily="2" charset="-122"/>
            </a:endParaRPr>
          </a:p>
        </p:txBody>
      </p:sp>
      <p:sp>
        <p:nvSpPr>
          <p:cNvPr id="6" name="日期占位符 5"/>
          <p:cNvSpPr>
            <a:spLocks noGrp="1"/>
          </p:cNvSpPr>
          <p:nvPr>
            <p:ph type="dt" sz="quarter" idx="10"/>
          </p:nvPr>
        </p:nvSpPr>
        <p:spPr/>
        <p:txBody>
          <a:bodyPr/>
          <a:lstStyle/>
          <a:p>
            <a:pPr>
              <a:defRPr/>
            </a:pPr>
            <a:fld id="{3BC74952-E2CB-41BF-B0BC-D7FD5FA58D1C}" type="datetime1">
              <a:rPr lang="zh-CN" altLang="en-US" smtClean="0">
                <a:latin typeface="Times New Roman" panose="02020603050405020304" pitchFamily="18" charset="0"/>
              </a:rPr>
              <a:t>2026/4/28</a:t>
            </a:fld>
            <a:endParaRPr lang="en-US" altLang="zh-CN">
              <a:latin typeface="Times New Roman" panose="02020603050405020304" pitchFamily="18" charset="0"/>
            </a:endParaRPr>
          </a:p>
        </p:txBody>
      </p:sp>
      <p:sp>
        <p:nvSpPr>
          <p:cNvPr id="4" name="墨迹 3"/>
          <p:cNvSpPr/>
          <p:nvPr/>
        </p:nvSpPr>
        <p:spPr bwMode="auto">
          <a:xfrm>
            <a:off x="1285560" y="1810800"/>
            <a:ext cx="5600160" cy="3416040"/>
          </a:xfrm>
        </p:spPr>
      </p:sp>
    </p:spTree>
  </p:cSld>
  <p:clrMapOvr>
    <a:masterClrMapping/>
  </p:clrMapOvr>
  <mc:AlternateContent xmlns:mc="http://schemas.openxmlformats.org/markup-compatibility/2006" xmlns:p14="http://schemas.microsoft.com/office/powerpoint/2010/main">
    <mc:Choice Requires="p14">
      <p:transition spd="slow" p14:dur="2000" advTm="138635"/>
    </mc:Choice>
    <mc:Fallback xmlns="">
      <p:transition spd="slow" advTm="1386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12" presetClass="entr" presetSubtype="8" fill="hold" nodeType="afterEffect">
                                  <p:stCondLst>
                                    <p:cond delay="0"/>
                                  </p:stCondLst>
                                  <p:childTnLst>
                                    <p:set>
                                      <p:cBhvr>
                                        <p:cTn id="10" dur="1" fill="hold">
                                          <p:stCondLst>
                                            <p:cond delay="0"/>
                                          </p:stCondLst>
                                        </p:cTn>
                                        <p:tgtEl>
                                          <p:spTgt spid="466958">
                                            <p:txEl>
                                              <p:pRg st="0" end="0"/>
                                            </p:txEl>
                                          </p:spTgt>
                                        </p:tgtEl>
                                        <p:attrNameLst>
                                          <p:attrName>style.visibility</p:attrName>
                                        </p:attrNameLst>
                                      </p:cBhvr>
                                      <p:to>
                                        <p:strVal val="visible"/>
                                      </p:to>
                                    </p:set>
                                    <p:animEffect transition="in" filter="slide(fromLeft)">
                                      <p:cBhvr>
                                        <p:cTn id="11" dur="500"/>
                                        <p:tgtEl>
                                          <p:spTgt spid="466958">
                                            <p:txEl>
                                              <p:pRg st="0" end="0"/>
                                            </p:txEl>
                                          </p:spTgt>
                                        </p:tgtEl>
                                      </p:cBhvr>
                                    </p:animEffect>
                                  </p:childTnLst>
                                </p:cTn>
                              </p:par>
                            </p:childTnLst>
                          </p:cTn>
                        </p:par>
                        <p:par>
                          <p:cTn id="12" fill="hold">
                            <p:stCondLst>
                              <p:cond delay="500"/>
                            </p:stCondLst>
                            <p:childTnLst>
                              <p:par>
                                <p:cTn id="13" presetID="12" presetClass="entr" presetSubtype="4" fill="hold" nodeType="afterEffect">
                                  <p:stCondLst>
                                    <p:cond delay="0"/>
                                  </p:stCondLst>
                                  <p:childTnLst>
                                    <p:set>
                                      <p:cBhvr>
                                        <p:cTn id="14" dur="1" fill="hold">
                                          <p:stCondLst>
                                            <p:cond delay="0"/>
                                          </p:stCondLst>
                                        </p:cTn>
                                        <p:tgtEl>
                                          <p:spTgt spid="466958">
                                            <p:txEl>
                                              <p:pRg st="1" end="1"/>
                                            </p:txEl>
                                          </p:spTgt>
                                        </p:tgtEl>
                                        <p:attrNameLst>
                                          <p:attrName>style.visibility</p:attrName>
                                        </p:attrNameLst>
                                      </p:cBhvr>
                                      <p:to>
                                        <p:strVal val="visible"/>
                                      </p:to>
                                    </p:set>
                                    <p:animEffect transition="in" filter="slide(fromBottom)">
                                      <p:cBhvr>
                                        <p:cTn id="15" dur="500"/>
                                        <p:tgtEl>
                                          <p:spTgt spid="466958">
                                            <p:txEl>
                                              <p:pRg st="1" end="1"/>
                                            </p:txEl>
                                          </p:spTgt>
                                        </p:tgtEl>
                                      </p:cBhvr>
                                    </p:animEffect>
                                  </p:childTnLst>
                                </p:cTn>
                              </p:par>
                            </p:childTnLst>
                          </p:cTn>
                        </p:par>
                        <p:par>
                          <p:cTn id="16" fill="hold">
                            <p:stCondLst>
                              <p:cond delay="1000"/>
                            </p:stCondLst>
                            <p:childTnLst>
                              <p:par>
                                <p:cTn id="17" presetID="12" presetClass="entr" presetSubtype="8" fill="hold" nodeType="afterEffect">
                                  <p:stCondLst>
                                    <p:cond delay="0"/>
                                  </p:stCondLst>
                                  <p:childTnLst>
                                    <p:set>
                                      <p:cBhvr>
                                        <p:cTn id="18" dur="1" fill="hold">
                                          <p:stCondLst>
                                            <p:cond delay="0"/>
                                          </p:stCondLst>
                                        </p:cTn>
                                        <p:tgtEl>
                                          <p:spTgt spid="466958">
                                            <p:txEl>
                                              <p:pRg st="2" end="2"/>
                                            </p:txEl>
                                          </p:spTgt>
                                        </p:tgtEl>
                                        <p:attrNameLst>
                                          <p:attrName>style.visibility</p:attrName>
                                        </p:attrNameLst>
                                      </p:cBhvr>
                                      <p:to>
                                        <p:strVal val="visible"/>
                                      </p:to>
                                    </p:set>
                                    <p:animEffect transition="in" filter="slide(fromLeft)">
                                      <p:cBhvr>
                                        <p:cTn id="19" dur="500"/>
                                        <p:tgtEl>
                                          <p:spTgt spid="466958">
                                            <p:txEl>
                                              <p:pRg st="2" end="2"/>
                                            </p:txEl>
                                          </p:spTgt>
                                        </p:tgtEl>
                                      </p:cBhvr>
                                    </p:animEffect>
                                  </p:childTnLst>
                                </p:cTn>
                              </p:par>
                            </p:childTnLst>
                          </p:cTn>
                        </p:par>
                        <p:par>
                          <p:cTn id="20" fill="hold">
                            <p:stCondLst>
                              <p:cond delay="1500"/>
                            </p:stCondLst>
                            <p:childTnLst>
                              <p:par>
                                <p:cTn id="21" presetID="12" presetClass="entr" presetSubtype="8" fill="hold" nodeType="afterEffect">
                                  <p:stCondLst>
                                    <p:cond delay="0"/>
                                  </p:stCondLst>
                                  <p:childTnLst>
                                    <p:set>
                                      <p:cBhvr>
                                        <p:cTn id="22" dur="1" fill="hold">
                                          <p:stCondLst>
                                            <p:cond delay="0"/>
                                          </p:stCondLst>
                                        </p:cTn>
                                        <p:tgtEl>
                                          <p:spTgt spid="466958">
                                            <p:txEl>
                                              <p:pRg st="3" end="3"/>
                                            </p:txEl>
                                          </p:spTgt>
                                        </p:tgtEl>
                                        <p:attrNameLst>
                                          <p:attrName>style.visibility</p:attrName>
                                        </p:attrNameLst>
                                      </p:cBhvr>
                                      <p:to>
                                        <p:strVal val="visible"/>
                                      </p:to>
                                    </p:set>
                                    <p:animEffect transition="in" filter="slide(fromLeft)">
                                      <p:cBhvr>
                                        <p:cTn id="23" dur="500"/>
                                        <p:tgtEl>
                                          <p:spTgt spid="466958">
                                            <p:txEl>
                                              <p:pRg st="3" end="3"/>
                                            </p:txEl>
                                          </p:spTgt>
                                        </p:tgtEl>
                                      </p:cBhvr>
                                    </p:animEffect>
                                  </p:childTnLst>
                                </p:cTn>
                              </p:par>
                            </p:childTnLst>
                          </p:cTn>
                        </p:par>
                        <p:par>
                          <p:cTn id="24" fill="hold">
                            <p:stCondLst>
                              <p:cond delay="2000"/>
                            </p:stCondLst>
                            <p:childTnLst>
                              <p:par>
                                <p:cTn id="25" presetID="12" presetClass="entr" presetSubtype="8" fill="hold" nodeType="afterEffect">
                                  <p:stCondLst>
                                    <p:cond delay="0"/>
                                  </p:stCondLst>
                                  <p:childTnLst>
                                    <p:set>
                                      <p:cBhvr>
                                        <p:cTn id="26" dur="1" fill="hold">
                                          <p:stCondLst>
                                            <p:cond delay="0"/>
                                          </p:stCondLst>
                                        </p:cTn>
                                        <p:tgtEl>
                                          <p:spTgt spid="466958">
                                            <p:txEl>
                                              <p:pRg st="4" end="4"/>
                                            </p:txEl>
                                          </p:spTgt>
                                        </p:tgtEl>
                                        <p:attrNameLst>
                                          <p:attrName>style.visibility</p:attrName>
                                        </p:attrNameLst>
                                      </p:cBhvr>
                                      <p:to>
                                        <p:strVal val="visible"/>
                                      </p:to>
                                    </p:set>
                                    <p:animEffect transition="in" filter="slide(fromLeft)">
                                      <p:cBhvr>
                                        <p:cTn id="27" dur="500"/>
                                        <p:tgtEl>
                                          <p:spTgt spid="4669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a:xfrm>
            <a:off x="827088" y="260350"/>
            <a:ext cx="3600450" cy="608013"/>
          </a:xfrm>
          <a:solidFill>
            <a:schemeClr val="accent2"/>
          </a:solidFill>
          <a:effectLst>
            <a:outerShdw dist="35921" dir="2700000" algn="ctr" rotWithShape="0">
              <a:schemeClr val="bg2"/>
            </a:outerShdw>
          </a:effectLst>
        </p:spPr>
        <p:txBody>
          <a:bodyPr/>
          <a:lstStyle/>
          <a:p>
            <a:pPr>
              <a:defRPr/>
            </a:pPr>
            <a:r>
              <a:rPr lang="en-US" altLang="zh-CN" sz="2800" b="1">
                <a:solidFill>
                  <a:srgbClr val="F8F8F8"/>
                </a:solidFill>
                <a:effectLst>
                  <a:outerShdw blurRad="38100" dist="38100" dir="2700000" algn="tl">
                    <a:srgbClr val="000000"/>
                  </a:outerShdw>
                </a:effectLst>
                <a:latin typeface="Times New Roman" panose="02020603050405020304" pitchFamily="18" charset="0"/>
              </a:rPr>
              <a:t>§6.1 </a:t>
            </a:r>
            <a:r>
              <a:rPr lang="zh-CN" altLang="en-US" sz="2800" b="1">
                <a:solidFill>
                  <a:srgbClr val="F8F8F8"/>
                </a:solidFill>
                <a:effectLst>
                  <a:outerShdw blurRad="38100" dist="38100" dir="2700000" algn="tl">
                    <a:srgbClr val="000000"/>
                  </a:outerShdw>
                </a:effectLst>
                <a:latin typeface="Times New Roman" panose="02020603050405020304" pitchFamily="18" charset="0"/>
              </a:rPr>
              <a:t>引言</a:t>
            </a:r>
          </a:p>
        </p:txBody>
      </p:sp>
      <p:graphicFrame>
        <p:nvGraphicFramePr>
          <p:cNvPr id="585733" name="Object 2"/>
          <p:cNvGraphicFramePr>
            <a:graphicFrameLocks noChangeAspect="1"/>
          </p:cNvGraphicFramePr>
          <p:nvPr/>
        </p:nvGraphicFramePr>
        <p:xfrm>
          <a:off x="1619250" y="1700213"/>
          <a:ext cx="5257800" cy="425450"/>
        </p:xfrm>
        <a:graphic>
          <a:graphicData uri="http://schemas.openxmlformats.org/presentationml/2006/ole">
            <mc:AlternateContent xmlns:mc="http://schemas.openxmlformats.org/markup-compatibility/2006">
              <mc:Choice xmlns:v="urn:schemas-microsoft-com:vml" Requires="v">
                <p:oleObj name="Equation" r:id="rId3" imgW="2794000" imgH="203200" progId="Equation.3">
                  <p:embed/>
                </p:oleObj>
              </mc:Choice>
              <mc:Fallback>
                <p:oleObj name="Equation" r:id="rId3" imgW="2794000" imgH="203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700213"/>
                        <a:ext cx="52578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5734" name="Object 3"/>
          <p:cNvGraphicFramePr>
            <a:graphicFrameLocks noChangeAspect="1"/>
          </p:cNvGraphicFramePr>
          <p:nvPr/>
        </p:nvGraphicFramePr>
        <p:xfrm>
          <a:off x="2195513" y="3716338"/>
          <a:ext cx="5937250" cy="666750"/>
        </p:xfrm>
        <a:graphic>
          <a:graphicData uri="http://schemas.openxmlformats.org/presentationml/2006/ole">
            <mc:AlternateContent xmlns:mc="http://schemas.openxmlformats.org/markup-compatibility/2006">
              <mc:Choice xmlns:v="urn:schemas-microsoft-com:vml" Requires="v">
                <p:oleObj name="Equation" r:id="rId5" imgW="2273300" imgH="228600" progId="Equation.3">
                  <p:embed/>
                </p:oleObj>
              </mc:Choice>
              <mc:Fallback>
                <p:oleObj name="Equation" r:id="rId5" imgW="227330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3716338"/>
                        <a:ext cx="593725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85735" name="Object 4"/>
          <p:cNvGraphicFramePr>
            <a:graphicFrameLocks noChangeAspect="1"/>
          </p:cNvGraphicFramePr>
          <p:nvPr/>
        </p:nvGraphicFramePr>
        <p:xfrm>
          <a:off x="2411413" y="4797425"/>
          <a:ext cx="2159000" cy="1023938"/>
        </p:xfrm>
        <a:graphic>
          <a:graphicData uri="http://schemas.openxmlformats.org/presentationml/2006/ole">
            <mc:AlternateContent xmlns:mc="http://schemas.openxmlformats.org/markup-compatibility/2006">
              <mc:Choice xmlns:v="urn:schemas-microsoft-com:vml" Requires="v">
                <p:oleObj name="公式" r:id="rId7" imgW="939800" imgH="419100" progId="Equation.3">
                  <p:embed/>
                </p:oleObj>
              </mc:Choice>
              <mc:Fallback>
                <p:oleObj name="公式" r:id="rId7" imgW="939800" imgH="4191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1413" y="4797425"/>
                        <a:ext cx="2159000" cy="102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5736" name="Text Box 8"/>
          <p:cNvSpPr txBox="1">
            <a:spLocks noChangeArrowheads="1"/>
          </p:cNvSpPr>
          <p:nvPr/>
        </p:nvSpPr>
        <p:spPr bwMode="auto">
          <a:xfrm>
            <a:off x="1042988" y="1052513"/>
            <a:ext cx="4516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latin typeface="Times New Roman" panose="02020603050405020304" pitchFamily="18" charset="0"/>
                <a:ea typeface="宋体" panose="02010600030101010101" pitchFamily="2" charset="-122"/>
              </a:rPr>
              <a:t>例</a:t>
            </a:r>
            <a:r>
              <a:rPr kumimoji="1" lang="en-US" altLang="zh-CN">
                <a:latin typeface="Times New Roman" panose="02020603050405020304" pitchFamily="18" charset="0"/>
                <a:ea typeface="宋体" panose="02010600030101010101" pitchFamily="2" charset="-122"/>
              </a:rPr>
              <a:t>1</a:t>
            </a:r>
            <a:r>
              <a:rPr kumimoji="1" lang="zh-CN" altLang="en-US">
                <a:latin typeface="Times New Roman" panose="02020603050405020304" pitchFamily="18" charset="0"/>
                <a:ea typeface="宋体" panose="02010600030101010101" pitchFamily="2" charset="-122"/>
              </a:rPr>
              <a:t>：系统微分方程为</a:t>
            </a:r>
            <a:r>
              <a:rPr kumimoji="1" lang="en-US" altLang="zh-CN">
                <a:latin typeface="Times New Roman" panose="02020603050405020304" pitchFamily="18" charset="0"/>
                <a:ea typeface="宋体" panose="02010600030101010101" pitchFamily="2" charset="-122"/>
              </a:rPr>
              <a:t>:</a:t>
            </a:r>
          </a:p>
        </p:txBody>
      </p:sp>
      <p:sp>
        <p:nvSpPr>
          <p:cNvPr id="585737" name="Text Box 9"/>
          <p:cNvSpPr txBox="1">
            <a:spLocks noChangeArrowheads="1"/>
          </p:cNvSpPr>
          <p:nvPr/>
        </p:nvSpPr>
        <p:spPr bwMode="auto">
          <a:xfrm>
            <a:off x="1331913" y="2276475"/>
            <a:ext cx="4289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990033"/>
                </a:solidFill>
                <a:latin typeface="Times New Roman" panose="02020603050405020304" pitchFamily="18" charset="0"/>
                <a:ea typeface="楷体_GB2312" pitchFamily="49" charset="-122"/>
              </a:rPr>
              <a:t>求</a:t>
            </a:r>
            <a:r>
              <a:rPr kumimoji="1" lang="zh-CN" altLang="en-US">
                <a:solidFill>
                  <a:srgbClr val="990033"/>
                </a:solidFill>
                <a:latin typeface="Times New Roman" panose="02020603050405020304" pitchFamily="18" charset="0"/>
                <a:ea typeface="宋体" panose="02010600030101010101" pitchFamily="2" charset="-122"/>
              </a:rPr>
              <a:t>系统函数</a:t>
            </a:r>
            <a:r>
              <a:rPr kumimoji="1" lang="en-US" altLang="zh-CN">
                <a:solidFill>
                  <a:srgbClr val="1604FA"/>
                </a:solidFill>
                <a:latin typeface="Times New Roman" panose="02020603050405020304" pitchFamily="18" charset="0"/>
                <a:ea typeface="宋体" panose="02010600030101010101" pitchFamily="2" charset="-122"/>
              </a:rPr>
              <a:t>H(s)</a:t>
            </a:r>
            <a:r>
              <a:rPr kumimoji="1" lang="zh-CN" altLang="en-US">
                <a:solidFill>
                  <a:srgbClr val="1604FA"/>
                </a:solidFill>
                <a:latin typeface="Times New Roman" panose="02020603050405020304" pitchFamily="18" charset="0"/>
                <a:ea typeface="宋体" panose="02010600030101010101" pitchFamily="2" charset="-122"/>
              </a:rPr>
              <a:t>。</a:t>
            </a:r>
          </a:p>
        </p:txBody>
      </p:sp>
      <p:sp>
        <p:nvSpPr>
          <p:cNvPr id="585738" name="Text Box 10"/>
          <p:cNvSpPr txBox="1">
            <a:spLocks noChangeArrowheads="1"/>
          </p:cNvSpPr>
          <p:nvPr/>
        </p:nvSpPr>
        <p:spPr bwMode="auto">
          <a:xfrm>
            <a:off x="1014413" y="2933700"/>
            <a:ext cx="5184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FF0000"/>
                </a:solidFill>
                <a:latin typeface="Times New Roman" panose="02020603050405020304" pitchFamily="18" charset="0"/>
                <a:ea typeface="宋体" panose="02010600030101010101" pitchFamily="2" charset="-122"/>
              </a:rPr>
              <a:t>解</a:t>
            </a:r>
            <a:r>
              <a:rPr kumimoji="1" lang="en-US" altLang="zh-CN">
                <a:solidFill>
                  <a:srgbClr val="FF0000"/>
                </a:solidFill>
                <a:latin typeface="Times New Roman" panose="02020603050405020304" pitchFamily="18" charset="0"/>
                <a:ea typeface="宋体" panose="02010600030101010101" pitchFamily="2" charset="-122"/>
              </a:rPr>
              <a:t>:</a:t>
            </a:r>
            <a:r>
              <a:rPr kumimoji="1" lang="zh-CN" altLang="en-US">
                <a:latin typeface="Times New Roman" panose="02020603050405020304" pitchFamily="18" charset="0"/>
                <a:ea typeface="宋体" panose="02010600030101010101" pitchFamily="2" charset="-122"/>
              </a:rPr>
              <a:t>对系统微分方程做</a:t>
            </a:r>
            <a:r>
              <a:rPr kumimoji="1" lang="en-US" altLang="zh-CN">
                <a:latin typeface="Times New Roman" panose="02020603050405020304" pitchFamily="18" charset="0"/>
                <a:ea typeface="宋体" panose="02010600030101010101" pitchFamily="2" charset="-122"/>
              </a:rPr>
              <a:t>L.S</a:t>
            </a:r>
            <a:r>
              <a:rPr kumimoji="1" lang="zh-CN" altLang="en-US">
                <a:latin typeface="Times New Roman" panose="02020603050405020304" pitchFamily="18" charset="0"/>
                <a:ea typeface="宋体" panose="02010600030101010101" pitchFamily="2" charset="-122"/>
              </a:rPr>
              <a:t>变换得</a:t>
            </a:r>
            <a:r>
              <a:rPr kumimoji="1" lang="en-US" altLang="zh-CN">
                <a:latin typeface="Times New Roman" panose="02020603050405020304" pitchFamily="18" charset="0"/>
                <a:ea typeface="宋体" panose="02010600030101010101" pitchFamily="2" charset="-122"/>
              </a:rPr>
              <a:t>:</a:t>
            </a:r>
          </a:p>
        </p:txBody>
      </p:sp>
      <p:graphicFrame>
        <p:nvGraphicFramePr>
          <p:cNvPr id="585743" name="Object 5"/>
          <p:cNvGraphicFramePr>
            <a:graphicFrameLocks noChangeAspect="1"/>
          </p:cNvGraphicFramePr>
          <p:nvPr/>
        </p:nvGraphicFramePr>
        <p:xfrm>
          <a:off x="4716463" y="4667250"/>
          <a:ext cx="1974850" cy="1174750"/>
        </p:xfrm>
        <a:graphic>
          <a:graphicData uri="http://schemas.openxmlformats.org/presentationml/2006/ole">
            <mc:AlternateContent xmlns:mc="http://schemas.openxmlformats.org/markup-compatibility/2006">
              <mc:Choice xmlns:v="urn:schemas-microsoft-com:vml" Requires="v">
                <p:oleObj name="公式" r:id="rId9" imgW="749300" imgH="419100" progId="Equation.3">
                  <p:embed/>
                </p:oleObj>
              </mc:Choice>
              <mc:Fallback>
                <p:oleObj name="公式" r:id="rId9" imgW="749300" imgH="4191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6463" y="4667250"/>
                        <a:ext cx="1974850" cy="117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日期占位符 10"/>
          <p:cNvSpPr>
            <a:spLocks noGrp="1"/>
          </p:cNvSpPr>
          <p:nvPr>
            <p:ph type="dt" sz="quarter" idx="10"/>
          </p:nvPr>
        </p:nvSpPr>
        <p:spPr/>
        <p:txBody>
          <a:bodyPr/>
          <a:lstStyle/>
          <a:p>
            <a:pPr>
              <a:defRPr/>
            </a:pPr>
            <a:fld id="{642CFF17-8697-4494-9750-01598A27E1DD}" type="datetime1">
              <a:rPr lang="zh-CN" altLang="en-US" smtClean="0">
                <a:latin typeface="Times New Roman" panose="02020603050405020304" pitchFamily="18" charset="0"/>
              </a:rPr>
              <a:t>2026/4/28</a:t>
            </a:fld>
            <a:endParaRPr lang="en-US" altLang="zh-CN">
              <a:latin typeface="Times New Roman" panose="02020603050405020304" pitchFamily="18" charset="0"/>
            </a:endParaRPr>
          </a:p>
        </p:txBody>
      </p:sp>
      <p:sp>
        <p:nvSpPr>
          <p:cNvPr id="2" name="墨迹 1"/>
          <p:cNvSpPr/>
          <p:nvPr/>
        </p:nvSpPr>
        <p:spPr bwMode="auto">
          <a:xfrm>
            <a:off x="2388240" y="2294640"/>
            <a:ext cx="4979880" cy="24710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7363"/>
    </mc:Choice>
    <mc:Fallback xmlns="">
      <p:transition spd="slow" advTm="873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par>
                                <p:cTn id="8" presetID="22" presetClass="entr" presetSubtype="8" fill="hold" grpId="0" nodeType="withEffect">
                                  <p:stCondLst>
                                    <p:cond delay="0"/>
                                  </p:stCondLst>
                                  <p:childTnLst>
                                    <p:set>
                                      <p:cBhvr>
                                        <p:cTn id="9" dur="1" fill="hold">
                                          <p:stCondLst>
                                            <p:cond delay="0"/>
                                          </p:stCondLst>
                                        </p:cTn>
                                        <p:tgtEl>
                                          <p:spTgt spid="585736">
                                            <p:txEl>
                                              <p:pRg st="0" end="0"/>
                                            </p:txEl>
                                          </p:spTgt>
                                        </p:tgtEl>
                                        <p:attrNameLst>
                                          <p:attrName>style.visibility</p:attrName>
                                        </p:attrNameLst>
                                      </p:cBhvr>
                                      <p:to>
                                        <p:strVal val="visible"/>
                                      </p:to>
                                    </p:set>
                                    <p:animEffect transition="in" filter="wipe(left)">
                                      <p:cBhvr>
                                        <p:cTn id="10" dur="500"/>
                                        <p:tgtEl>
                                          <p:spTgt spid="585736">
                                            <p:txEl>
                                              <p:pRg st="0" end="0"/>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585733"/>
                                        </p:tgtEl>
                                        <p:attrNameLst>
                                          <p:attrName>style.visibility</p:attrName>
                                        </p:attrNameLst>
                                      </p:cBhvr>
                                      <p:to>
                                        <p:strVal val="visible"/>
                                      </p:to>
                                    </p:set>
                                    <p:animEffect transition="in" filter="wipe(left)">
                                      <p:cBhvr>
                                        <p:cTn id="13" dur="500"/>
                                        <p:tgtEl>
                                          <p:spTgt spid="58573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85737">
                                            <p:txEl>
                                              <p:pRg st="0" end="0"/>
                                            </p:txEl>
                                          </p:spTgt>
                                        </p:tgtEl>
                                        <p:attrNameLst>
                                          <p:attrName>style.visibility</p:attrName>
                                        </p:attrNameLst>
                                      </p:cBhvr>
                                      <p:to>
                                        <p:strVal val="visible"/>
                                      </p:to>
                                    </p:set>
                                    <p:animEffect transition="in" filter="wipe(left)">
                                      <p:cBhvr>
                                        <p:cTn id="16" dur="500"/>
                                        <p:tgtEl>
                                          <p:spTgt spid="585737">
                                            <p:txEl>
                                              <p:pRg st="0" end="0"/>
                                            </p:txEl>
                                          </p:spTgt>
                                        </p:tgtEl>
                                      </p:cBhvr>
                                    </p:animEffect>
                                  </p:childTnLst>
                                </p:cTn>
                              </p:par>
                            </p:childTnLst>
                          </p:cTn>
                        </p:par>
                        <p:par>
                          <p:cTn id="17" fill="hold">
                            <p:stCondLst>
                              <p:cond delay="0"/>
                            </p:stCondLst>
                            <p:childTnLst>
                              <p:par>
                                <p:cTn id="18" presetID="22" presetClass="entr" presetSubtype="8" fill="hold" grpId="0" nodeType="afterEffect">
                                  <p:stCondLst>
                                    <p:cond delay="0"/>
                                  </p:stCondLst>
                                  <p:childTnLst>
                                    <p:set>
                                      <p:cBhvr>
                                        <p:cTn id="19" dur="1" fill="hold">
                                          <p:stCondLst>
                                            <p:cond delay="0"/>
                                          </p:stCondLst>
                                        </p:cTn>
                                        <p:tgtEl>
                                          <p:spTgt spid="585738">
                                            <p:txEl>
                                              <p:pRg st="0" end="0"/>
                                            </p:txEl>
                                          </p:spTgt>
                                        </p:tgtEl>
                                        <p:attrNameLst>
                                          <p:attrName>style.visibility</p:attrName>
                                        </p:attrNameLst>
                                      </p:cBhvr>
                                      <p:to>
                                        <p:strVal val="visible"/>
                                      </p:to>
                                    </p:set>
                                    <p:animEffect transition="in" filter="wipe(left)">
                                      <p:cBhvr>
                                        <p:cTn id="20" dur="500"/>
                                        <p:tgtEl>
                                          <p:spTgt spid="585738">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85734"/>
                                        </p:tgtEl>
                                        <p:attrNameLst>
                                          <p:attrName>style.visibility</p:attrName>
                                        </p:attrNameLst>
                                      </p:cBhvr>
                                      <p:to>
                                        <p:strVal val="visible"/>
                                      </p:to>
                                    </p:set>
                                    <p:animEffect transition="in" filter="wipe(left)">
                                      <p:cBhvr>
                                        <p:cTn id="25" dur="500"/>
                                        <p:tgtEl>
                                          <p:spTgt spid="58573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85735"/>
                                        </p:tgtEl>
                                        <p:attrNameLst>
                                          <p:attrName>style.visibility</p:attrName>
                                        </p:attrNameLst>
                                      </p:cBhvr>
                                      <p:to>
                                        <p:strVal val="visible"/>
                                      </p:to>
                                    </p:set>
                                    <p:animEffect transition="in" filter="wipe(left)">
                                      <p:cBhvr>
                                        <p:cTn id="30" dur="500"/>
                                        <p:tgtEl>
                                          <p:spTgt spid="58573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85743"/>
                                        </p:tgtEl>
                                        <p:attrNameLst>
                                          <p:attrName>style.visibility</p:attrName>
                                        </p:attrNameLst>
                                      </p:cBhvr>
                                      <p:to>
                                        <p:strVal val="visible"/>
                                      </p:to>
                                    </p:set>
                                    <p:animEffect transition="in" filter="wipe(left)">
                                      <p:cBhvr>
                                        <p:cTn id="35" dur="500"/>
                                        <p:tgtEl>
                                          <p:spTgt spid="5857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36" grpId="0" build="p" autoUpdateAnimBg="0"/>
      <p:bldP spid="585737" grpId="0" build="p" autoUpdateAnimBg="0"/>
      <p:bldP spid="585738"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344488" y="0"/>
            <a:ext cx="4584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140000"/>
              </a:lnSpc>
              <a:spcBef>
                <a:spcPct val="20000"/>
              </a:spcBef>
              <a:buClr>
                <a:schemeClr val="folHlink"/>
              </a:buClr>
              <a:buSzPct val="60000"/>
              <a:buFont typeface="Wingdings" panose="05000000000000000000" pitchFamily="2" charset="2"/>
              <a:buNone/>
            </a:pPr>
            <a:r>
              <a:rPr kumimoji="1" lang="zh-CN" altLang="en-US">
                <a:latin typeface="Tahoma" panose="020B0604030504040204" pitchFamily="34" charset="0"/>
                <a:ea typeface="宋体" panose="02010600030101010101" pitchFamily="2" charset="-122"/>
              </a:rPr>
              <a:t>例</a:t>
            </a:r>
            <a:r>
              <a:rPr kumimoji="1" lang="en-US" altLang="zh-CN">
                <a:latin typeface="Tahoma" panose="020B0604030504040204" pitchFamily="34" charset="0"/>
                <a:ea typeface="宋体" panose="02010600030101010101" pitchFamily="2" charset="-122"/>
              </a:rPr>
              <a:t>2:</a:t>
            </a:r>
            <a:r>
              <a:rPr kumimoji="1" lang="en-US" altLang="zh-CN">
                <a:solidFill>
                  <a:srgbClr val="0000FF"/>
                </a:solidFill>
                <a:latin typeface="Tahoma" panose="020B0604030504040204" pitchFamily="34" charset="0"/>
                <a:ea typeface="宋体" panose="02010600030101010101" pitchFamily="2" charset="-122"/>
              </a:rPr>
              <a:t> </a:t>
            </a:r>
            <a:r>
              <a:rPr kumimoji="1" lang="zh-CN" altLang="en-US">
                <a:solidFill>
                  <a:srgbClr val="800000"/>
                </a:solidFill>
                <a:latin typeface="Tahoma" panose="020B0604030504040204" pitchFamily="34" charset="0"/>
                <a:ea typeface="宋体" panose="02010600030101010101" pitchFamily="2" charset="-122"/>
                <a:sym typeface="Symbol" panose="05050102010706020507" pitchFamily="18" charset="2"/>
              </a:rPr>
              <a:t>求</a:t>
            </a:r>
            <a:r>
              <a:rPr kumimoji="1" lang="zh-CN" altLang="en-US">
                <a:solidFill>
                  <a:srgbClr val="800000"/>
                </a:solidFill>
                <a:latin typeface="Tahoma" panose="020B0604030504040204" pitchFamily="34" charset="0"/>
                <a:ea typeface="宋体" panose="02010600030101010101" pitchFamily="2" charset="-122"/>
              </a:rPr>
              <a:t>图示电路的</a:t>
            </a:r>
            <a:r>
              <a:rPr kumimoji="1" lang="zh-CN" altLang="en-US">
                <a:solidFill>
                  <a:srgbClr val="800000"/>
                </a:solidFill>
                <a:latin typeface="Tahoma" panose="020B0604030504040204" pitchFamily="34" charset="0"/>
                <a:ea typeface="宋体" panose="02010600030101010101" pitchFamily="2" charset="-122"/>
                <a:sym typeface="Symbol" panose="05050102010706020507" pitchFamily="18" charset="2"/>
              </a:rPr>
              <a:t>系统函数</a:t>
            </a:r>
          </a:p>
        </p:txBody>
      </p:sp>
      <p:graphicFrame>
        <p:nvGraphicFramePr>
          <p:cNvPr id="20483" name="Object 2"/>
          <p:cNvGraphicFramePr>
            <a:graphicFrameLocks noChangeAspect="1"/>
          </p:cNvGraphicFramePr>
          <p:nvPr/>
        </p:nvGraphicFramePr>
        <p:xfrm>
          <a:off x="611188" y="908050"/>
          <a:ext cx="4103687" cy="2335213"/>
        </p:xfrm>
        <a:graphic>
          <a:graphicData uri="http://schemas.openxmlformats.org/presentationml/2006/ole">
            <mc:AlternateContent xmlns:mc="http://schemas.openxmlformats.org/markup-compatibility/2006">
              <mc:Choice xmlns:v="urn:schemas-microsoft-com:vml" Requires="v">
                <p:oleObj name="BMP 图象" r:id="rId3" imgW="5467350" imgH="2752725" progId="Paint.Picture">
                  <p:embed/>
                </p:oleObj>
              </mc:Choice>
              <mc:Fallback>
                <p:oleObj name="BMP 图象" r:id="rId3" imgW="5467350" imgH="2752725"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908050"/>
                        <a:ext cx="4103687" cy="2335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7668" name="Object 3"/>
          <p:cNvGraphicFramePr>
            <a:graphicFrameLocks noChangeAspect="1"/>
          </p:cNvGraphicFramePr>
          <p:nvPr/>
        </p:nvGraphicFramePr>
        <p:xfrm>
          <a:off x="4800600" y="836613"/>
          <a:ext cx="4343400" cy="2514600"/>
        </p:xfrm>
        <a:graphic>
          <a:graphicData uri="http://schemas.openxmlformats.org/presentationml/2006/ole">
            <mc:AlternateContent xmlns:mc="http://schemas.openxmlformats.org/markup-compatibility/2006">
              <mc:Choice xmlns:v="urn:schemas-microsoft-com:vml" Requires="v">
                <p:oleObj name="BMP 图象" r:id="rId5" imgW="5314950" imgH="2800350" progId="Paint.Picture">
                  <p:embed/>
                </p:oleObj>
              </mc:Choice>
              <mc:Fallback>
                <p:oleObj name="BMP 图象" r:id="rId5" imgW="5314950" imgH="2800350" progId="Paint.Picture">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836613"/>
                        <a:ext cx="43434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7669" name="Object 4"/>
          <p:cNvGraphicFramePr>
            <a:graphicFrameLocks noChangeAspect="1"/>
          </p:cNvGraphicFramePr>
          <p:nvPr/>
        </p:nvGraphicFramePr>
        <p:xfrm>
          <a:off x="971550" y="3716338"/>
          <a:ext cx="788988" cy="406400"/>
        </p:xfrm>
        <a:graphic>
          <a:graphicData uri="http://schemas.openxmlformats.org/presentationml/2006/ole">
            <mc:AlternateContent xmlns:mc="http://schemas.openxmlformats.org/markup-compatibility/2006">
              <mc:Choice xmlns:v="urn:schemas-microsoft-com:vml" Requires="v">
                <p:oleObj name="公式" r:id="rId7" imgW="419100" imgH="203200" progId="Equation.3">
                  <p:embed/>
                </p:oleObj>
              </mc:Choice>
              <mc:Fallback>
                <p:oleObj name="公式" r:id="rId7" imgW="419100" imgH="203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50" y="3716338"/>
                        <a:ext cx="788988"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7670" name="Object 5"/>
          <p:cNvGraphicFramePr>
            <a:graphicFrameLocks noChangeAspect="1"/>
          </p:cNvGraphicFramePr>
          <p:nvPr/>
        </p:nvGraphicFramePr>
        <p:xfrm>
          <a:off x="5292725" y="3716338"/>
          <a:ext cx="1355725" cy="534987"/>
        </p:xfrm>
        <a:graphic>
          <a:graphicData uri="http://schemas.openxmlformats.org/presentationml/2006/ole">
            <mc:AlternateContent xmlns:mc="http://schemas.openxmlformats.org/markup-compatibility/2006">
              <mc:Choice xmlns:v="urn:schemas-microsoft-com:vml" Requires="v">
                <p:oleObj name="公式" r:id="rId9" imgW="533400" imgH="228600" progId="Equation.3">
                  <p:embed/>
                </p:oleObj>
              </mc:Choice>
              <mc:Fallback>
                <p:oleObj name="公式" r:id="rId9" imgW="533400" imgH="2286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92725" y="3716338"/>
                        <a:ext cx="1355725" cy="5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7" name="Object 6"/>
          <p:cNvGraphicFramePr>
            <a:graphicFrameLocks noChangeAspect="1"/>
          </p:cNvGraphicFramePr>
          <p:nvPr/>
        </p:nvGraphicFramePr>
        <p:xfrm>
          <a:off x="5006975" y="0"/>
          <a:ext cx="1625600" cy="838200"/>
        </p:xfrm>
        <a:graphic>
          <a:graphicData uri="http://schemas.openxmlformats.org/presentationml/2006/ole">
            <mc:AlternateContent xmlns:mc="http://schemas.openxmlformats.org/markup-compatibility/2006">
              <mc:Choice xmlns:v="urn:schemas-microsoft-com:vml" Requires="v">
                <p:oleObj name="Equation" r:id="rId11" imgW="862965" imgH="419100" progId="Equation.3">
                  <p:embed/>
                </p:oleObj>
              </mc:Choice>
              <mc:Fallback>
                <p:oleObj name="Equation" r:id="rId11" imgW="862965" imgH="4191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06975" y="0"/>
                        <a:ext cx="1625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88" name="Object 7"/>
          <p:cNvGraphicFramePr>
            <a:graphicFrameLocks noChangeAspect="1"/>
          </p:cNvGraphicFramePr>
          <p:nvPr/>
        </p:nvGraphicFramePr>
        <p:xfrm>
          <a:off x="6894513" y="0"/>
          <a:ext cx="1792287" cy="838200"/>
        </p:xfrm>
        <a:graphic>
          <a:graphicData uri="http://schemas.openxmlformats.org/presentationml/2006/ole">
            <mc:AlternateContent xmlns:mc="http://schemas.openxmlformats.org/markup-compatibility/2006">
              <mc:Choice xmlns:v="urn:schemas-microsoft-com:vml" Requires="v">
                <p:oleObj name="Equation" r:id="rId13" imgW="951865" imgH="419100" progId="Equation.3">
                  <p:embed/>
                </p:oleObj>
              </mc:Choice>
              <mc:Fallback>
                <p:oleObj name="Equation" r:id="rId13" imgW="951865" imgH="4191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94513" y="0"/>
                        <a:ext cx="179228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7673" name="Object 8"/>
          <p:cNvGraphicFramePr>
            <a:graphicFrameLocks noChangeAspect="1"/>
          </p:cNvGraphicFramePr>
          <p:nvPr/>
        </p:nvGraphicFramePr>
        <p:xfrm>
          <a:off x="985838" y="5268913"/>
          <a:ext cx="3082925" cy="838200"/>
        </p:xfrm>
        <a:graphic>
          <a:graphicData uri="http://schemas.openxmlformats.org/presentationml/2006/ole">
            <mc:AlternateContent xmlns:mc="http://schemas.openxmlformats.org/markup-compatibility/2006">
              <mc:Choice xmlns:v="urn:schemas-microsoft-com:vml" Requires="v">
                <p:oleObj name="Equation" r:id="rId15" imgW="1638300" imgH="419100" progId="Equation.3">
                  <p:embed/>
                </p:oleObj>
              </mc:Choice>
              <mc:Fallback>
                <p:oleObj name="Equation" r:id="rId15" imgW="1638300" imgH="4191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85838" y="5268913"/>
                        <a:ext cx="308292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7674" name="Object 9"/>
          <p:cNvGraphicFramePr>
            <a:graphicFrameLocks noChangeAspect="1"/>
          </p:cNvGraphicFramePr>
          <p:nvPr/>
        </p:nvGraphicFramePr>
        <p:xfrm>
          <a:off x="5118100" y="5441950"/>
          <a:ext cx="3251200" cy="838200"/>
        </p:xfrm>
        <a:graphic>
          <a:graphicData uri="http://schemas.openxmlformats.org/presentationml/2006/ole">
            <mc:AlternateContent xmlns:mc="http://schemas.openxmlformats.org/markup-compatibility/2006">
              <mc:Choice xmlns:v="urn:schemas-microsoft-com:vml" Requires="v">
                <p:oleObj name="Equation" r:id="rId17" imgW="1727200" imgH="419100" progId="Equation.3">
                  <p:embed/>
                </p:oleObj>
              </mc:Choice>
              <mc:Fallback>
                <p:oleObj name="Equation" r:id="rId17" imgW="1727200" imgH="4191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18100" y="5441950"/>
                        <a:ext cx="3251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7676" name="Object 10"/>
          <p:cNvGraphicFramePr>
            <a:graphicFrameLocks noChangeAspect="1"/>
          </p:cNvGraphicFramePr>
          <p:nvPr/>
        </p:nvGraphicFramePr>
        <p:xfrm>
          <a:off x="1908175" y="3500438"/>
          <a:ext cx="2555875" cy="1168400"/>
        </p:xfrm>
        <a:graphic>
          <a:graphicData uri="http://schemas.openxmlformats.org/presentationml/2006/ole">
            <mc:AlternateContent xmlns:mc="http://schemas.openxmlformats.org/markup-compatibility/2006">
              <mc:Choice xmlns:v="urn:schemas-microsoft-com:vml" Requires="v">
                <p:oleObj name="公式" r:id="rId19" imgW="1358265" imgH="584200" progId="Equation.3">
                  <p:embed/>
                </p:oleObj>
              </mc:Choice>
              <mc:Fallback>
                <p:oleObj name="公式" r:id="rId19" imgW="1358265" imgH="58420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08175" y="3500438"/>
                        <a:ext cx="2555875"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7677" name="Object 11"/>
          <p:cNvGraphicFramePr>
            <a:graphicFrameLocks noChangeAspect="1"/>
          </p:cNvGraphicFramePr>
          <p:nvPr/>
        </p:nvGraphicFramePr>
        <p:xfrm>
          <a:off x="6732588" y="3500438"/>
          <a:ext cx="1033462" cy="922337"/>
        </p:xfrm>
        <a:graphic>
          <a:graphicData uri="http://schemas.openxmlformats.org/presentationml/2006/ole">
            <mc:AlternateContent xmlns:mc="http://schemas.openxmlformats.org/markup-compatibility/2006">
              <mc:Choice xmlns:v="urn:schemas-microsoft-com:vml" Requires="v">
                <p:oleObj name="公式" r:id="rId21" imgW="405765" imgH="393065" progId="Equation.3">
                  <p:embed/>
                </p:oleObj>
              </mc:Choice>
              <mc:Fallback>
                <p:oleObj name="公式" r:id="rId21" imgW="405765" imgH="393065"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732588" y="3500438"/>
                        <a:ext cx="1033462" cy="922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7678" name="Object 12"/>
          <p:cNvGraphicFramePr>
            <a:graphicFrameLocks noChangeAspect="1"/>
          </p:cNvGraphicFramePr>
          <p:nvPr/>
        </p:nvGraphicFramePr>
        <p:xfrm>
          <a:off x="6372225" y="4437063"/>
          <a:ext cx="1657350" cy="881062"/>
        </p:xfrm>
        <a:graphic>
          <a:graphicData uri="http://schemas.openxmlformats.org/presentationml/2006/ole">
            <mc:AlternateContent xmlns:mc="http://schemas.openxmlformats.org/markup-compatibility/2006">
              <mc:Choice xmlns:v="urn:schemas-microsoft-com:vml" Requires="v">
                <p:oleObj name="公式" r:id="rId23" imgW="786765" imgH="393700" progId="Equation.3">
                  <p:embed/>
                </p:oleObj>
              </mc:Choice>
              <mc:Fallback>
                <p:oleObj name="公式" r:id="rId23" imgW="786765" imgH="3937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372225" y="4437063"/>
                        <a:ext cx="1657350" cy="88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日期占位符 13"/>
          <p:cNvSpPr>
            <a:spLocks noGrp="1"/>
          </p:cNvSpPr>
          <p:nvPr>
            <p:ph type="dt" sz="quarter" idx="10"/>
          </p:nvPr>
        </p:nvSpPr>
        <p:spPr/>
        <p:txBody>
          <a:bodyPr/>
          <a:lstStyle/>
          <a:p>
            <a:pPr>
              <a:defRPr/>
            </a:pPr>
            <a:fld id="{10A0BB46-FC35-4435-87FD-ECD358E4D5D5}" type="datetime1">
              <a:rPr lang="zh-CN" altLang="en-US"/>
              <a:t>2026/4/28</a:t>
            </a:fld>
            <a:endParaRPr lang="zh-CN" altLang="en-US"/>
          </a:p>
        </p:txBody>
      </p:sp>
      <p:sp>
        <p:nvSpPr>
          <p:cNvPr id="2" name="墨迹 1"/>
          <p:cNvSpPr/>
          <p:nvPr/>
        </p:nvSpPr>
        <p:spPr bwMode="auto">
          <a:xfrm>
            <a:off x="5398200" y="905760"/>
            <a:ext cx="2665440" cy="33627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8052"/>
    </mc:Choice>
    <mc:Fallback xmlns="">
      <p:transition spd="slow" advTm="1080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497668"/>
                                        </p:tgtEl>
                                        <p:attrNameLst>
                                          <p:attrName>style.visibility</p:attrName>
                                        </p:attrNameLst>
                                      </p:cBhvr>
                                      <p:to>
                                        <p:strVal val="visible"/>
                                      </p:to>
                                    </p:set>
                                    <p:anim calcmode="lin" valueType="num">
                                      <p:cBhvr>
                                        <p:cTn id="12" dur="1000" fill="hold"/>
                                        <p:tgtEl>
                                          <p:spTgt spid="497668"/>
                                        </p:tgtEl>
                                        <p:attrNameLst>
                                          <p:attrName>ppt_w</p:attrName>
                                        </p:attrNameLst>
                                      </p:cBhvr>
                                      <p:tavLst>
                                        <p:tav tm="0">
                                          <p:val>
                                            <p:strVal val="#ppt_w*0.70"/>
                                          </p:val>
                                        </p:tav>
                                        <p:tav tm="100000">
                                          <p:val>
                                            <p:strVal val="#ppt_w"/>
                                          </p:val>
                                        </p:tav>
                                      </p:tavLst>
                                    </p:anim>
                                    <p:anim calcmode="lin" valueType="num">
                                      <p:cBhvr>
                                        <p:cTn id="13" dur="1000" fill="hold"/>
                                        <p:tgtEl>
                                          <p:spTgt spid="497668"/>
                                        </p:tgtEl>
                                        <p:attrNameLst>
                                          <p:attrName>ppt_h</p:attrName>
                                        </p:attrNameLst>
                                      </p:cBhvr>
                                      <p:tavLst>
                                        <p:tav tm="0">
                                          <p:val>
                                            <p:strVal val="#ppt_h"/>
                                          </p:val>
                                        </p:tav>
                                        <p:tav tm="100000">
                                          <p:val>
                                            <p:strVal val="#ppt_h"/>
                                          </p:val>
                                        </p:tav>
                                      </p:tavLst>
                                    </p:anim>
                                    <p:animEffect transition="in" filter="fade">
                                      <p:cBhvr>
                                        <p:cTn id="14" dur="1000"/>
                                        <p:tgtEl>
                                          <p:spTgt spid="497668"/>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497669"/>
                                        </p:tgtEl>
                                        <p:attrNameLst>
                                          <p:attrName>style.visibility</p:attrName>
                                        </p:attrNameLst>
                                      </p:cBhvr>
                                      <p:to>
                                        <p:strVal val="visible"/>
                                      </p:to>
                                    </p:set>
                                    <p:animEffect transition="in" filter="wipe(left)">
                                      <p:cBhvr>
                                        <p:cTn id="18" dur="500"/>
                                        <p:tgtEl>
                                          <p:spTgt spid="497669"/>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497670"/>
                                        </p:tgtEl>
                                        <p:attrNameLst>
                                          <p:attrName>style.visibility</p:attrName>
                                        </p:attrNameLst>
                                      </p:cBhvr>
                                      <p:to>
                                        <p:strVal val="visible"/>
                                      </p:to>
                                    </p:set>
                                    <p:animEffect transition="in" filter="wipe(left)">
                                      <p:cBhvr>
                                        <p:cTn id="22" dur="500"/>
                                        <p:tgtEl>
                                          <p:spTgt spid="4976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7676"/>
                                        </p:tgtEl>
                                        <p:attrNameLst>
                                          <p:attrName>style.visibility</p:attrName>
                                        </p:attrNameLst>
                                      </p:cBhvr>
                                      <p:to>
                                        <p:strVal val="visible"/>
                                      </p:to>
                                    </p:set>
                                    <p:animEffect transition="in" filter="wipe(left)">
                                      <p:cBhvr>
                                        <p:cTn id="27" dur="500"/>
                                        <p:tgtEl>
                                          <p:spTgt spid="49767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97677"/>
                                        </p:tgtEl>
                                        <p:attrNameLst>
                                          <p:attrName>style.visibility</p:attrName>
                                        </p:attrNameLst>
                                      </p:cBhvr>
                                      <p:to>
                                        <p:strVal val="visible"/>
                                      </p:to>
                                    </p:set>
                                    <p:animEffect transition="in" filter="wipe(left)">
                                      <p:cBhvr>
                                        <p:cTn id="32" dur="500"/>
                                        <p:tgtEl>
                                          <p:spTgt spid="497677"/>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497678"/>
                                        </p:tgtEl>
                                        <p:attrNameLst>
                                          <p:attrName>style.visibility</p:attrName>
                                        </p:attrNameLst>
                                      </p:cBhvr>
                                      <p:to>
                                        <p:strVal val="visible"/>
                                      </p:to>
                                    </p:set>
                                    <p:animEffect transition="in" filter="wipe(left)">
                                      <p:cBhvr>
                                        <p:cTn id="36" dur="500"/>
                                        <p:tgtEl>
                                          <p:spTgt spid="49767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97673"/>
                                        </p:tgtEl>
                                        <p:attrNameLst>
                                          <p:attrName>style.visibility</p:attrName>
                                        </p:attrNameLst>
                                      </p:cBhvr>
                                      <p:to>
                                        <p:strVal val="visible"/>
                                      </p:to>
                                    </p:set>
                                    <p:animEffect transition="in" filter="wipe(left)">
                                      <p:cBhvr>
                                        <p:cTn id="41" dur="500"/>
                                        <p:tgtEl>
                                          <p:spTgt spid="49767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497674"/>
                                        </p:tgtEl>
                                        <p:attrNameLst>
                                          <p:attrName>style.visibility</p:attrName>
                                        </p:attrNameLst>
                                      </p:cBhvr>
                                      <p:to>
                                        <p:strVal val="visible"/>
                                      </p:to>
                                    </p:set>
                                    <p:animEffect transition="in" filter="wipe(left)">
                                      <p:cBhvr>
                                        <p:cTn id="46" dur="500"/>
                                        <p:tgtEl>
                                          <p:spTgt spid="497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a:xfrm>
            <a:off x="512763" y="0"/>
            <a:ext cx="3097212" cy="692150"/>
          </a:xfrm>
          <a:solidFill>
            <a:schemeClr val="accent2"/>
          </a:solidFill>
          <a:effectLst>
            <a:outerShdw dist="35921" dir="2700000" algn="ctr" rotWithShape="0">
              <a:schemeClr val="bg2"/>
            </a:outerShdw>
          </a:effectLst>
        </p:spPr>
        <p:txBody>
          <a:bodyPr/>
          <a:lstStyle/>
          <a:p>
            <a:pPr>
              <a:defRPr/>
            </a:pPr>
            <a:r>
              <a:rPr lang="en-US" altLang="zh-CN" sz="2800" b="1">
                <a:solidFill>
                  <a:schemeClr val="bg1"/>
                </a:solidFill>
                <a:effectLst>
                  <a:outerShdw blurRad="38100" dist="38100" dir="2700000" algn="tl">
                    <a:srgbClr val="000000"/>
                  </a:outerShdw>
                </a:effectLst>
              </a:rPr>
              <a:t>§6.1 </a:t>
            </a:r>
            <a:r>
              <a:rPr lang="zh-CN" altLang="en-US" sz="2800" b="1">
                <a:solidFill>
                  <a:schemeClr val="bg1"/>
                </a:solidFill>
                <a:effectLst>
                  <a:outerShdw blurRad="38100" dist="38100" dir="2700000" algn="tl">
                    <a:srgbClr val="000000"/>
                  </a:outerShdw>
                </a:effectLst>
              </a:rPr>
              <a:t>引言</a:t>
            </a:r>
          </a:p>
        </p:txBody>
      </p:sp>
      <p:graphicFrame>
        <p:nvGraphicFramePr>
          <p:cNvPr id="21507" name="Object 2"/>
          <p:cNvGraphicFramePr>
            <a:graphicFrameLocks noGrp="1" noChangeAspect="1"/>
          </p:cNvGraphicFramePr>
          <p:nvPr>
            <p:ph idx="1"/>
          </p:nvPr>
        </p:nvGraphicFramePr>
        <p:xfrm>
          <a:off x="2124075" y="1384300"/>
          <a:ext cx="4514850" cy="2198688"/>
        </p:xfrm>
        <a:graphic>
          <a:graphicData uri="http://schemas.openxmlformats.org/presentationml/2006/ole">
            <mc:AlternateContent xmlns:mc="http://schemas.openxmlformats.org/markup-compatibility/2006">
              <mc:Choice xmlns:v="urn:schemas-microsoft-com:vml" Requires="v">
                <p:oleObj name="公式" r:id="rId3" imgW="1459865" imgH="711200" progId="Equation.3">
                  <p:embed/>
                </p:oleObj>
              </mc:Choice>
              <mc:Fallback>
                <p:oleObj name="公式" r:id="rId3" imgW="1459865" imgH="711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384300"/>
                        <a:ext cx="4514850" cy="219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5931" name="Text Box 11"/>
          <p:cNvSpPr txBox="1">
            <a:spLocks noChangeArrowheads="1"/>
          </p:cNvSpPr>
          <p:nvPr/>
        </p:nvSpPr>
        <p:spPr bwMode="auto">
          <a:xfrm>
            <a:off x="900113" y="5876925"/>
            <a:ext cx="77787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7505" indent="-3575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Char char="Ø"/>
            </a:pPr>
            <a:r>
              <a:rPr lang="en-US" altLang="zh-CN">
                <a:solidFill>
                  <a:srgbClr val="9900FF"/>
                </a:solidFill>
                <a:latin typeface="华文新魏" panose="02010800040101010101" pitchFamily="2" charset="-122"/>
                <a:ea typeface="华文新魏" panose="02010800040101010101" pitchFamily="2" charset="-122"/>
              </a:rPr>
              <a:t>H(s)</a:t>
            </a:r>
            <a:r>
              <a:rPr lang="zh-CN" altLang="en-US">
                <a:solidFill>
                  <a:srgbClr val="9900FF"/>
                </a:solidFill>
                <a:latin typeface="华文新魏" panose="02010800040101010101" pitchFamily="2" charset="-122"/>
                <a:ea typeface="华文新魏" panose="02010800040101010101" pitchFamily="2" charset="-122"/>
              </a:rPr>
              <a:t>是系统分析与系统综合的桥梁。</a:t>
            </a:r>
          </a:p>
        </p:txBody>
      </p:sp>
      <p:sp>
        <p:nvSpPr>
          <p:cNvPr id="465932" name="Rectangle 12"/>
          <p:cNvSpPr>
            <a:spLocks noChangeArrowheads="1"/>
          </p:cNvSpPr>
          <p:nvPr/>
        </p:nvSpPr>
        <p:spPr bwMode="auto">
          <a:xfrm>
            <a:off x="755650" y="3644900"/>
            <a:ext cx="811847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2755" indent="-45275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Char char="Ø"/>
            </a:pPr>
            <a:r>
              <a:rPr lang="en-US" altLang="zh-CN">
                <a:solidFill>
                  <a:srgbClr val="9900FF"/>
                </a:solidFill>
                <a:latin typeface="华文新魏" panose="02010800040101010101" pitchFamily="2" charset="-122"/>
                <a:ea typeface="华文新魏" panose="02010800040101010101" pitchFamily="2" charset="-122"/>
              </a:rPr>
              <a:t>H(s)</a:t>
            </a:r>
            <a:r>
              <a:rPr lang="zh-CN" altLang="en-US">
                <a:solidFill>
                  <a:srgbClr val="9900FF"/>
                </a:solidFill>
                <a:latin typeface="华文新魏" panose="02010800040101010101" pitchFamily="2" charset="-122"/>
                <a:ea typeface="华文新魏" panose="02010800040101010101" pitchFamily="2" charset="-122"/>
              </a:rPr>
              <a:t>代表了系统的特征，是连接输入与输出关系的桥梁</a:t>
            </a:r>
          </a:p>
        </p:txBody>
      </p:sp>
      <p:sp>
        <p:nvSpPr>
          <p:cNvPr id="465933" name="Rectangle 13"/>
          <p:cNvSpPr>
            <a:spLocks noChangeArrowheads="1"/>
          </p:cNvSpPr>
          <p:nvPr/>
        </p:nvSpPr>
        <p:spPr bwMode="auto">
          <a:xfrm>
            <a:off x="827088" y="4797425"/>
            <a:ext cx="7993062"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7505" indent="-3575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Char char="Ø"/>
            </a:pPr>
            <a:r>
              <a:rPr lang="en-US" altLang="zh-CN">
                <a:solidFill>
                  <a:srgbClr val="9900FF"/>
                </a:solidFill>
                <a:latin typeface="华文新魏" panose="02010800040101010101" pitchFamily="2" charset="-122"/>
                <a:ea typeface="华文新魏" panose="02010800040101010101" pitchFamily="2" charset="-122"/>
              </a:rPr>
              <a:t>H(s)</a:t>
            </a:r>
            <a:r>
              <a:rPr lang="zh-CN" altLang="en-US">
                <a:solidFill>
                  <a:srgbClr val="9900FF"/>
                </a:solidFill>
                <a:latin typeface="华文新魏" panose="02010800040101010101" pitchFamily="2" charset="-122"/>
                <a:ea typeface="华文新魏" panose="02010800040101010101" pitchFamily="2" charset="-122"/>
              </a:rPr>
              <a:t>是系统时域特性与频域、复频域特性间联系的桥梁。</a:t>
            </a:r>
          </a:p>
        </p:txBody>
      </p:sp>
      <p:sp>
        <p:nvSpPr>
          <p:cNvPr id="21511" name="Rectangle 15"/>
          <p:cNvSpPr>
            <a:spLocks noChangeArrowheads="1"/>
          </p:cNvSpPr>
          <p:nvPr/>
        </p:nvSpPr>
        <p:spPr bwMode="auto">
          <a:xfrm>
            <a:off x="812800" y="774700"/>
            <a:ext cx="3168650" cy="67627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zh-CN" altLang="en-US" sz="3200">
                <a:solidFill>
                  <a:srgbClr val="FF0000"/>
                </a:solidFill>
                <a:ea typeface="楷体_GB2312" pitchFamily="49" charset="-122"/>
              </a:rPr>
              <a:t>系统函数的地位</a:t>
            </a:r>
            <a:endParaRPr kumimoji="1" lang="zh-CN" altLang="en-US">
              <a:solidFill>
                <a:srgbClr val="FF0000"/>
              </a:solidFill>
              <a:latin typeface="华文中宋" panose="02010600040101010101" pitchFamily="2" charset="-122"/>
            </a:endParaRPr>
          </a:p>
        </p:txBody>
      </p:sp>
      <p:sp>
        <p:nvSpPr>
          <p:cNvPr id="9" name="日期占位符 8"/>
          <p:cNvSpPr>
            <a:spLocks noGrp="1"/>
          </p:cNvSpPr>
          <p:nvPr>
            <p:ph type="dt" sz="quarter" idx="10"/>
          </p:nvPr>
        </p:nvSpPr>
        <p:spPr/>
        <p:txBody>
          <a:bodyPr/>
          <a:lstStyle/>
          <a:p>
            <a:pPr>
              <a:defRPr/>
            </a:pPr>
            <a:fld id="{80506244-67BD-49E6-9638-975F52AA5447}" type="datetime1">
              <a:rPr lang="zh-CN" altLang="en-US"/>
              <a:t>2026/4/28</a:t>
            </a:fld>
            <a:endParaRPr lang="zh-CN" altLang="en-US"/>
          </a:p>
        </p:txBody>
      </p:sp>
      <p:sp>
        <p:nvSpPr>
          <p:cNvPr id="2" name="Text Box 11"/>
          <p:cNvSpPr txBox="1">
            <a:spLocks noChangeArrowheads="1"/>
          </p:cNvSpPr>
          <p:nvPr/>
        </p:nvSpPr>
        <p:spPr bwMode="auto">
          <a:xfrm>
            <a:off x="900113" y="5876925"/>
            <a:ext cx="77787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7505" indent="-3575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Char char="Ø"/>
            </a:pPr>
            <a:r>
              <a:rPr lang="en-US" altLang="zh-CN">
                <a:solidFill>
                  <a:srgbClr val="9900FF"/>
                </a:solidFill>
                <a:latin typeface="华文新魏" panose="02010800040101010101" pitchFamily="2" charset="-122"/>
                <a:ea typeface="华文新魏" panose="02010800040101010101" pitchFamily="2" charset="-122"/>
              </a:rPr>
              <a:t>H(s)</a:t>
            </a:r>
            <a:r>
              <a:rPr lang="zh-CN" altLang="en-US">
                <a:solidFill>
                  <a:srgbClr val="9900FF"/>
                </a:solidFill>
                <a:latin typeface="华文新魏" panose="02010800040101010101" pitchFamily="2" charset="-122"/>
                <a:ea typeface="华文新魏" panose="02010800040101010101" pitchFamily="2" charset="-122"/>
              </a:rPr>
              <a:t>是系统分析与系统综合的桥梁。</a:t>
            </a:r>
          </a:p>
        </p:txBody>
      </p:sp>
      <p:sp>
        <p:nvSpPr>
          <p:cNvPr id="3" name="Rectangle 13"/>
          <p:cNvSpPr>
            <a:spLocks noChangeArrowheads="1"/>
          </p:cNvSpPr>
          <p:nvPr/>
        </p:nvSpPr>
        <p:spPr bwMode="auto">
          <a:xfrm>
            <a:off x="827088" y="4797425"/>
            <a:ext cx="7993062"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7505" indent="-35750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Char char="Ø"/>
            </a:pPr>
            <a:r>
              <a:rPr lang="en-US" altLang="zh-CN">
                <a:solidFill>
                  <a:srgbClr val="9900FF"/>
                </a:solidFill>
                <a:latin typeface="华文新魏" panose="02010800040101010101" pitchFamily="2" charset="-122"/>
                <a:ea typeface="华文新魏" panose="02010800040101010101" pitchFamily="2" charset="-122"/>
              </a:rPr>
              <a:t>H(s)</a:t>
            </a:r>
            <a:r>
              <a:rPr lang="zh-CN" altLang="en-US">
                <a:solidFill>
                  <a:srgbClr val="9900FF"/>
                </a:solidFill>
                <a:latin typeface="华文新魏" panose="02010800040101010101" pitchFamily="2" charset="-122"/>
                <a:ea typeface="华文新魏" panose="02010800040101010101" pitchFamily="2" charset="-122"/>
              </a:rPr>
              <a:t>是系统时域特性与频域、复频域特性间联系的桥梁。</a:t>
            </a:r>
          </a:p>
        </p:txBody>
      </p:sp>
      <p:sp>
        <p:nvSpPr>
          <p:cNvPr id="4" name="墨迹 3"/>
          <p:cNvSpPr/>
          <p:nvPr/>
        </p:nvSpPr>
        <p:spPr bwMode="auto">
          <a:xfrm>
            <a:off x="2526480" y="147600"/>
            <a:ext cx="6526080" cy="62316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4661"/>
    </mc:Choice>
    <mc:Fallback xmlns="">
      <p:transition spd="slow" advTm="1746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20" presetClass="emph" presetSubtype="0" fill="hold" grpId="0" nodeType="afterEffect">
                                  <p:stCondLst>
                                    <p:cond delay="0"/>
                                  </p:stCondLst>
                                  <p:iterate type="lt">
                                    <p:tmPct val="10000"/>
                                  </p:iterate>
                                  <p:childTnLst>
                                    <p:set>
                                      <p:cBhvr override="childStyle">
                                        <p:cTn id="10" dur="500" autoRev="1" fill="hold"/>
                                        <p:tgtEl>
                                          <p:spTgt spid="465932"/>
                                        </p:tgtEl>
                                        <p:attrNameLst>
                                          <p:attrName>style.color</p:attrName>
                                        </p:attrNameLst>
                                      </p:cBhvr>
                                      <p:to>
                                        <p:clrVal>
                                          <a:srgbClr val="008000"/>
                                        </p:clrVal>
                                      </p:to>
                                    </p:set>
                                    <p:set>
                                      <p:cBhvr>
                                        <p:cTn id="11" dur="500" autoRev="1" fill="hold"/>
                                        <p:tgtEl>
                                          <p:spTgt spid="465932"/>
                                        </p:tgtEl>
                                        <p:attrNameLst>
                                          <p:attrName>fillcolor</p:attrName>
                                        </p:attrNameLst>
                                      </p:cBhvr>
                                      <p:to>
                                        <p:clrVal>
                                          <a:srgbClr val="008000"/>
                                        </p:clrVal>
                                      </p:to>
                                    </p:set>
                                    <p:set>
                                      <p:cBhvr>
                                        <p:cTn id="12" dur="500" autoRev="1" fill="hold"/>
                                        <p:tgtEl>
                                          <p:spTgt spid="465932"/>
                                        </p:tgtEl>
                                        <p:attrNameLst>
                                          <p:attrName>fill.type</p:attrName>
                                        </p:attrNameLst>
                                      </p:cBhvr>
                                      <p:to>
                                        <p:strVal val="solid"/>
                                      </p:to>
                                    </p:set>
                                  </p:childTnLst>
                                </p:cTn>
                              </p:par>
                            </p:childTnLst>
                          </p:cTn>
                        </p:par>
                        <p:par>
                          <p:cTn id="13" fill="hold">
                            <p:stCondLst>
                              <p:cond delay="3500"/>
                            </p:stCondLst>
                            <p:childTnLst>
                              <p:par>
                                <p:cTn id="14" presetID="20" presetClass="emph" presetSubtype="0" fill="hold" grpId="0" nodeType="afterEffect">
                                  <p:stCondLst>
                                    <p:cond delay="0"/>
                                  </p:stCondLst>
                                  <p:iterate type="lt">
                                    <p:tmPct val="10000"/>
                                  </p:iterate>
                                  <p:childTnLst>
                                    <p:set>
                                      <p:cBhvr override="childStyle">
                                        <p:cTn id="15" dur="500" autoRev="1" fill="hold"/>
                                        <p:tgtEl>
                                          <p:spTgt spid="465933"/>
                                        </p:tgtEl>
                                        <p:attrNameLst>
                                          <p:attrName>style.color</p:attrName>
                                        </p:attrNameLst>
                                      </p:cBhvr>
                                      <p:to>
                                        <p:clrVal>
                                          <a:srgbClr val="008000"/>
                                        </p:clrVal>
                                      </p:to>
                                    </p:set>
                                    <p:set>
                                      <p:cBhvr>
                                        <p:cTn id="16" dur="500" autoRev="1" fill="hold"/>
                                        <p:tgtEl>
                                          <p:spTgt spid="465933"/>
                                        </p:tgtEl>
                                        <p:attrNameLst>
                                          <p:attrName>fillcolor</p:attrName>
                                        </p:attrNameLst>
                                      </p:cBhvr>
                                      <p:to>
                                        <p:clrVal>
                                          <a:srgbClr val="008000"/>
                                        </p:clrVal>
                                      </p:to>
                                    </p:set>
                                    <p:set>
                                      <p:cBhvr>
                                        <p:cTn id="17" dur="500" autoRev="1" fill="hold"/>
                                        <p:tgtEl>
                                          <p:spTgt spid="465933"/>
                                        </p:tgtEl>
                                        <p:attrNameLst>
                                          <p:attrName>fill.type</p:attrName>
                                        </p:attrNameLst>
                                      </p:cBhvr>
                                      <p:to>
                                        <p:strVal val="solid"/>
                                      </p:to>
                                    </p:set>
                                  </p:childTnLst>
                                </p:cTn>
                              </p:par>
                            </p:childTnLst>
                          </p:cTn>
                        </p:par>
                        <p:par>
                          <p:cTn id="18" fill="hold">
                            <p:stCondLst>
                              <p:cond delay="7099"/>
                            </p:stCondLst>
                            <p:childTnLst>
                              <p:par>
                                <p:cTn id="19" presetID="20" presetClass="emph" presetSubtype="0" fill="hold" grpId="0" nodeType="afterEffect">
                                  <p:stCondLst>
                                    <p:cond delay="0"/>
                                  </p:stCondLst>
                                  <p:iterate type="lt">
                                    <p:tmPct val="10000"/>
                                  </p:iterate>
                                  <p:childTnLst>
                                    <p:set>
                                      <p:cBhvr override="childStyle">
                                        <p:cTn id="20" dur="500" autoRev="1" fill="hold"/>
                                        <p:tgtEl>
                                          <p:spTgt spid="465931"/>
                                        </p:tgtEl>
                                        <p:attrNameLst>
                                          <p:attrName>style.color</p:attrName>
                                        </p:attrNameLst>
                                      </p:cBhvr>
                                      <p:to>
                                        <p:clrVal>
                                          <a:srgbClr val="008000"/>
                                        </p:clrVal>
                                      </p:to>
                                    </p:set>
                                    <p:set>
                                      <p:cBhvr>
                                        <p:cTn id="21" dur="500" autoRev="1" fill="hold"/>
                                        <p:tgtEl>
                                          <p:spTgt spid="465931"/>
                                        </p:tgtEl>
                                        <p:attrNameLst>
                                          <p:attrName>fillcolor</p:attrName>
                                        </p:attrNameLst>
                                      </p:cBhvr>
                                      <p:to>
                                        <p:clrVal>
                                          <a:srgbClr val="008000"/>
                                        </p:clrVal>
                                      </p:to>
                                    </p:set>
                                    <p:set>
                                      <p:cBhvr>
                                        <p:cTn id="22" dur="500" autoRev="1" fill="hold"/>
                                        <p:tgtEl>
                                          <p:spTgt spid="465931"/>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grpId="1" nodeType="clickEffect">
                                  <p:stCondLst>
                                    <p:cond delay="0"/>
                                  </p:stCondLst>
                                  <p:iterate type="lt">
                                    <p:tmPct val="0"/>
                                  </p:iterate>
                                  <p:childTnLst>
                                    <p:animClr clrSpc="rgb" dir="cw">
                                      <p:cBhvr override="childStyle">
                                        <p:cTn id="26" dur="2000" fill="hold"/>
                                        <p:tgtEl>
                                          <p:spTgt spid="465932"/>
                                        </p:tgtEl>
                                        <p:attrNameLst>
                                          <p:attrName>style.color</p:attrName>
                                        </p:attrNameLst>
                                      </p:cBhvr>
                                      <p:to>
                                        <a:schemeClr val="accent2"/>
                                      </p:to>
                                    </p:animClr>
                                  </p:childTnLst>
                                </p:cTn>
                              </p:par>
                            </p:childTnLst>
                          </p:cTn>
                        </p:par>
                      </p:childTnLst>
                    </p:cTn>
                  </p:par>
                  <p:par>
                    <p:cTn id="27" fill="hold">
                      <p:stCondLst>
                        <p:cond delay="indefinite"/>
                      </p:stCondLst>
                      <p:childTnLst>
                        <p:par>
                          <p:cTn id="28" fill="hold">
                            <p:stCondLst>
                              <p:cond delay="0"/>
                            </p:stCondLst>
                            <p:childTnLst>
                              <p:par>
                                <p:cTn id="29" presetID="3" presetClass="emph" presetSubtype="2" fill="hold" grpId="0" nodeType="clickEffect">
                                  <p:stCondLst>
                                    <p:cond delay="0"/>
                                  </p:stCondLst>
                                  <p:childTnLst>
                                    <p:animClr clrSpc="rgb" dir="cw">
                                      <p:cBhvr override="childStyle">
                                        <p:cTn id="30" dur="2000" fill="hold"/>
                                        <p:tgtEl>
                                          <p:spTgt spid="3"/>
                                        </p:tgtEl>
                                        <p:attrNameLst>
                                          <p:attrName>style.color</p:attrName>
                                        </p:attrNameLst>
                                      </p:cBhvr>
                                      <p:to>
                                        <a:schemeClr val="accent2"/>
                                      </p:to>
                                    </p:animClr>
                                  </p:childTnLst>
                                </p:cTn>
                              </p:par>
                            </p:childTnLst>
                          </p:cTn>
                        </p:par>
                      </p:childTnLst>
                    </p:cTn>
                  </p:par>
                  <p:par>
                    <p:cTn id="31" fill="hold">
                      <p:stCondLst>
                        <p:cond delay="indefinite"/>
                      </p:stCondLst>
                      <p:childTnLst>
                        <p:par>
                          <p:cTn id="32" fill="hold">
                            <p:stCondLst>
                              <p:cond delay="0"/>
                            </p:stCondLst>
                            <p:childTnLst>
                              <p:par>
                                <p:cTn id="33" presetID="3" presetClass="emph" presetSubtype="2" fill="hold" nodeType="clickEffect">
                                  <p:stCondLst>
                                    <p:cond delay="0"/>
                                  </p:stCondLst>
                                  <p:childTnLst>
                                    <p:animClr clrSpc="rgb" dir="cw">
                                      <p:cBhvr override="childStyle">
                                        <p:cTn id="34" dur="2000" fill="hold"/>
                                        <p:tgtEl>
                                          <p:spTgt spid="2">
                                            <p:txEl>
                                              <p:pRg st="0" end="0"/>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31" grpId="0"/>
      <p:bldP spid="465932" grpId="0"/>
      <p:bldP spid="465932" grpId="1"/>
      <p:bldP spid="465933"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a:xfrm>
            <a:off x="503238" y="0"/>
            <a:ext cx="4608512" cy="693738"/>
          </a:xfrm>
          <a:solidFill>
            <a:schemeClr val="accent2"/>
          </a:solidFill>
          <a:effectLst>
            <a:outerShdw dist="35921" dir="2700000" algn="ctr" rotWithShape="0">
              <a:schemeClr val="bg2"/>
            </a:outerShdw>
          </a:effectLst>
        </p:spPr>
        <p:txBody>
          <a:bodyPr/>
          <a:lstStyle/>
          <a:p>
            <a:pPr>
              <a:defRPr/>
            </a:pPr>
            <a:r>
              <a:rPr lang="en-US" altLang="zh-CN" sz="2800" b="1">
                <a:solidFill>
                  <a:schemeClr val="bg1"/>
                </a:solidFill>
                <a:effectLst>
                  <a:outerShdw blurRad="38100" dist="38100" dir="2700000" algn="tl">
                    <a:srgbClr val="000000"/>
                  </a:outerShdw>
                </a:effectLst>
              </a:rPr>
              <a:t>§6.2 </a:t>
            </a:r>
            <a:r>
              <a:rPr lang="zh-CN" altLang="en-US" sz="2800" b="1">
                <a:solidFill>
                  <a:schemeClr val="bg1"/>
                </a:solidFill>
                <a:effectLst>
                  <a:outerShdw blurRad="38100" dist="38100" dir="2700000" algn="tl">
                    <a:srgbClr val="000000"/>
                  </a:outerShdw>
                </a:effectLst>
              </a:rPr>
              <a:t>系统函数的表示法</a:t>
            </a:r>
          </a:p>
        </p:txBody>
      </p:sp>
      <p:sp>
        <p:nvSpPr>
          <p:cNvPr id="467971" name="Rectangle 3"/>
          <p:cNvSpPr>
            <a:spLocks noChangeArrowheads="1"/>
          </p:cNvSpPr>
          <p:nvPr/>
        </p:nvSpPr>
        <p:spPr bwMode="auto">
          <a:xfrm>
            <a:off x="755650" y="1196975"/>
            <a:ext cx="817403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en-US" altLang="zh-CN">
                <a:ea typeface="楷体_GB2312" pitchFamily="49" charset="-122"/>
              </a:rPr>
              <a:t>    </a:t>
            </a:r>
            <a:r>
              <a:rPr kumimoji="1" lang="zh-CN" altLang="en-US">
                <a:ea typeface="楷体_GB2312" pitchFamily="49" charset="-122"/>
              </a:rPr>
              <a:t>系统函数的一般形式是一个分式，其分子分母都是复变量</a:t>
            </a:r>
            <a:r>
              <a:rPr kumimoji="1" lang="en-US" altLang="zh-CN">
                <a:ea typeface="楷体_GB2312" pitchFamily="49" charset="-122"/>
              </a:rPr>
              <a:t>s</a:t>
            </a:r>
            <a:r>
              <a:rPr kumimoji="1" lang="zh-CN" altLang="en-US">
                <a:ea typeface="楷体_GB2312" pitchFamily="49" charset="-122"/>
              </a:rPr>
              <a:t>的多项式，即：</a:t>
            </a:r>
            <a:endParaRPr kumimoji="1" lang="zh-CN" altLang="en-US">
              <a:solidFill>
                <a:srgbClr val="9900FF"/>
              </a:solidFill>
              <a:latin typeface="华文中宋" panose="02010600040101010101" pitchFamily="2" charset="-122"/>
            </a:endParaRPr>
          </a:p>
        </p:txBody>
      </p:sp>
      <p:graphicFrame>
        <p:nvGraphicFramePr>
          <p:cNvPr id="467976" name="Object 2"/>
          <p:cNvGraphicFramePr>
            <a:graphicFrameLocks noGrp="1" noChangeAspect="1"/>
          </p:cNvGraphicFramePr>
          <p:nvPr>
            <p:ph idx="1"/>
          </p:nvPr>
        </p:nvGraphicFramePr>
        <p:xfrm>
          <a:off x="900113" y="2492375"/>
          <a:ext cx="7681912" cy="1285875"/>
        </p:xfrm>
        <a:graphic>
          <a:graphicData uri="http://schemas.openxmlformats.org/presentationml/2006/ole">
            <mc:AlternateContent xmlns:mc="http://schemas.openxmlformats.org/markup-compatibility/2006">
              <mc:Choice xmlns:v="urn:schemas-microsoft-com:vml" Requires="v">
                <p:oleObj name="公式" r:id="rId3" imgW="2730500" imgH="457200" progId="Equation.3">
                  <p:embed/>
                </p:oleObj>
              </mc:Choice>
              <mc:Fallback>
                <p:oleObj name="公式" r:id="rId3" imgW="27305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492375"/>
                        <a:ext cx="7681912" cy="1285875"/>
                      </a:xfrm>
                      <a:prstGeom prst="rect">
                        <a:avLst/>
                      </a:prstGeom>
                      <a:noFill/>
                      <a:ln w="28575" cmpd="sng">
                        <a:solidFill>
                          <a:srgbClr val="66006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7978" name="Text Box 10"/>
          <p:cNvSpPr txBox="1">
            <a:spLocks noChangeArrowheads="1"/>
          </p:cNvSpPr>
          <p:nvPr/>
        </p:nvSpPr>
        <p:spPr bwMode="auto">
          <a:xfrm>
            <a:off x="1182688" y="5099050"/>
            <a:ext cx="2449512"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ea typeface="楷体_GB2312" pitchFamily="49" charset="-122"/>
              </a:rPr>
              <a:t>频率特性曲线</a:t>
            </a:r>
          </a:p>
        </p:txBody>
      </p:sp>
      <p:sp>
        <p:nvSpPr>
          <p:cNvPr id="467979" name="Text Box 11"/>
          <p:cNvSpPr txBox="1">
            <a:spLocks noChangeArrowheads="1"/>
          </p:cNvSpPr>
          <p:nvPr/>
        </p:nvSpPr>
        <p:spPr bwMode="auto">
          <a:xfrm>
            <a:off x="1187450" y="5499100"/>
            <a:ext cx="15113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ea typeface="楷体_GB2312" pitchFamily="49" charset="-122"/>
              </a:rPr>
              <a:t>复轨迹</a:t>
            </a:r>
          </a:p>
        </p:txBody>
      </p:sp>
      <p:sp>
        <p:nvSpPr>
          <p:cNvPr id="467980" name="Text Box 12"/>
          <p:cNvSpPr txBox="1">
            <a:spLocks noChangeArrowheads="1"/>
          </p:cNvSpPr>
          <p:nvPr/>
        </p:nvSpPr>
        <p:spPr bwMode="auto">
          <a:xfrm>
            <a:off x="1244600" y="5938838"/>
            <a:ext cx="1439863"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ea typeface="楷体_GB2312" pitchFamily="49" charset="-122"/>
              </a:rPr>
              <a:t>极零图</a:t>
            </a:r>
          </a:p>
        </p:txBody>
      </p:sp>
      <p:sp>
        <p:nvSpPr>
          <p:cNvPr id="467982" name="Rectangle 14"/>
          <p:cNvSpPr>
            <a:spLocks noChangeArrowheads="1"/>
          </p:cNvSpPr>
          <p:nvPr/>
        </p:nvSpPr>
        <p:spPr bwMode="auto">
          <a:xfrm>
            <a:off x="755650" y="3933825"/>
            <a:ext cx="770413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en-US" altLang="zh-CN">
                <a:ea typeface="楷体_GB2312" pitchFamily="49" charset="-122"/>
              </a:rPr>
              <a:t>   </a:t>
            </a:r>
            <a:r>
              <a:rPr kumimoji="1" lang="zh-CN" altLang="en-US">
                <a:ea typeface="楷体_GB2312" pitchFamily="49" charset="-122"/>
              </a:rPr>
              <a:t>这种形式，很难看出系统的特性，所以常用图示法来表示，常用的图示法有：</a:t>
            </a:r>
            <a:endParaRPr kumimoji="1" lang="zh-CN" altLang="en-US">
              <a:solidFill>
                <a:srgbClr val="9900FF"/>
              </a:solidFill>
              <a:latin typeface="华文中宋" panose="02010600040101010101" pitchFamily="2" charset="-122"/>
            </a:endParaRPr>
          </a:p>
        </p:txBody>
      </p:sp>
      <p:sp>
        <p:nvSpPr>
          <p:cNvPr id="10" name="日期占位符 9"/>
          <p:cNvSpPr>
            <a:spLocks noGrp="1"/>
          </p:cNvSpPr>
          <p:nvPr>
            <p:ph type="dt" sz="quarter" idx="10"/>
          </p:nvPr>
        </p:nvSpPr>
        <p:spPr/>
        <p:txBody>
          <a:bodyPr/>
          <a:lstStyle/>
          <a:p>
            <a:pPr>
              <a:defRPr/>
            </a:pPr>
            <a:fld id="{94B5C09A-0A02-433F-A023-5B1A16A7737D}" type="datetime1">
              <a:rPr lang="zh-CN" altLang="en-US"/>
              <a:t>2026/4/28</a:t>
            </a:fld>
            <a:endParaRPr lang="zh-CN" altLang="en-US"/>
          </a:p>
        </p:txBody>
      </p:sp>
      <p:sp>
        <p:nvSpPr>
          <p:cNvPr id="2" name="墨迹 1"/>
          <p:cNvSpPr/>
          <p:nvPr/>
        </p:nvSpPr>
        <p:spPr bwMode="auto">
          <a:xfrm>
            <a:off x="914760" y="1790640"/>
            <a:ext cx="8129160" cy="45810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5702"/>
    </mc:Choice>
    <mc:Fallback xmlns="">
      <p:transition spd="slow" advTm="1557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467971"/>
                                        </p:tgtEl>
                                        <p:attrNameLst>
                                          <p:attrName>style.visibility</p:attrName>
                                        </p:attrNameLst>
                                      </p:cBhvr>
                                      <p:to>
                                        <p:strVal val="visible"/>
                                      </p:to>
                                    </p:set>
                                    <p:anim calcmode="lin" valueType="num">
                                      <p:cBhvr>
                                        <p:cTn id="11" dur="1000" fill="hold"/>
                                        <p:tgtEl>
                                          <p:spTgt spid="467971"/>
                                        </p:tgtEl>
                                        <p:attrNameLst>
                                          <p:attrName>ppt_w</p:attrName>
                                        </p:attrNameLst>
                                      </p:cBhvr>
                                      <p:tavLst>
                                        <p:tav tm="0">
                                          <p:val>
                                            <p:strVal val="#ppt_w*0.70"/>
                                          </p:val>
                                        </p:tav>
                                        <p:tav tm="100000">
                                          <p:val>
                                            <p:strVal val="#ppt_w"/>
                                          </p:val>
                                        </p:tav>
                                      </p:tavLst>
                                    </p:anim>
                                    <p:anim calcmode="lin" valueType="num">
                                      <p:cBhvr>
                                        <p:cTn id="12" dur="1000" fill="hold"/>
                                        <p:tgtEl>
                                          <p:spTgt spid="467971"/>
                                        </p:tgtEl>
                                        <p:attrNameLst>
                                          <p:attrName>ppt_h</p:attrName>
                                        </p:attrNameLst>
                                      </p:cBhvr>
                                      <p:tavLst>
                                        <p:tav tm="0">
                                          <p:val>
                                            <p:strVal val="#ppt_h"/>
                                          </p:val>
                                        </p:tav>
                                        <p:tav tm="100000">
                                          <p:val>
                                            <p:strVal val="#ppt_h"/>
                                          </p:val>
                                        </p:tav>
                                      </p:tavLst>
                                    </p:anim>
                                    <p:animEffect transition="in" filter="fade">
                                      <p:cBhvr>
                                        <p:cTn id="13" dur="1000"/>
                                        <p:tgtEl>
                                          <p:spTgt spid="467971"/>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467976"/>
                                        </p:tgtEl>
                                        <p:attrNameLst>
                                          <p:attrName>style.visibility</p:attrName>
                                        </p:attrNameLst>
                                      </p:cBhvr>
                                      <p:to>
                                        <p:strVal val="visible"/>
                                      </p:to>
                                    </p:set>
                                    <p:anim calcmode="lin" valueType="num">
                                      <p:cBhvr>
                                        <p:cTn id="17" dur="1000" fill="hold"/>
                                        <p:tgtEl>
                                          <p:spTgt spid="467976"/>
                                        </p:tgtEl>
                                        <p:attrNameLst>
                                          <p:attrName>ppt_w</p:attrName>
                                        </p:attrNameLst>
                                      </p:cBhvr>
                                      <p:tavLst>
                                        <p:tav tm="0">
                                          <p:val>
                                            <p:strVal val="#ppt_w*0.70"/>
                                          </p:val>
                                        </p:tav>
                                        <p:tav tm="100000">
                                          <p:val>
                                            <p:strVal val="#ppt_w"/>
                                          </p:val>
                                        </p:tav>
                                      </p:tavLst>
                                    </p:anim>
                                    <p:anim calcmode="lin" valueType="num">
                                      <p:cBhvr>
                                        <p:cTn id="18" dur="1000" fill="hold"/>
                                        <p:tgtEl>
                                          <p:spTgt spid="467976"/>
                                        </p:tgtEl>
                                        <p:attrNameLst>
                                          <p:attrName>ppt_h</p:attrName>
                                        </p:attrNameLst>
                                      </p:cBhvr>
                                      <p:tavLst>
                                        <p:tav tm="0">
                                          <p:val>
                                            <p:strVal val="#ppt_h"/>
                                          </p:val>
                                        </p:tav>
                                        <p:tav tm="100000">
                                          <p:val>
                                            <p:strVal val="#ppt_h"/>
                                          </p:val>
                                        </p:tav>
                                      </p:tavLst>
                                    </p:anim>
                                    <p:animEffect transition="in" filter="fade">
                                      <p:cBhvr>
                                        <p:cTn id="19" dur="1000"/>
                                        <p:tgtEl>
                                          <p:spTgt spid="467976"/>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467982"/>
                                        </p:tgtEl>
                                        <p:attrNameLst>
                                          <p:attrName>style.visibility</p:attrName>
                                        </p:attrNameLst>
                                      </p:cBhvr>
                                      <p:to>
                                        <p:strVal val="visible"/>
                                      </p:to>
                                    </p:set>
                                    <p:anim calcmode="lin" valueType="num">
                                      <p:cBhvr>
                                        <p:cTn id="24" dur="1000" fill="hold"/>
                                        <p:tgtEl>
                                          <p:spTgt spid="467982"/>
                                        </p:tgtEl>
                                        <p:attrNameLst>
                                          <p:attrName>ppt_w</p:attrName>
                                        </p:attrNameLst>
                                      </p:cBhvr>
                                      <p:tavLst>
                                        <p:tav tm="0">
                                          <p:val>
                                            <p:strVal val="#ppt_w*0.70"/>
                                          </p:val>
                                        </p:tav>
                                        <p:tav tm="100000">
                                          <p:val>
                                            <p:strVal val="#ppt_w"/>
                                          </p:val>
                                        </p:tav>
                                      </p:tavLst>
                                    </p:anim>
                                    <p:anim calcmode="lin" valueType="num">
                                      <p:cBhvr>
                                        <p:cTn id="25" dur="1000" fill="hold"/>
                                        <p:tgtEl>
                                          <p:spTgt spid="467982"/>
                                        </p:tgtEl>
                                        <p:attrNameLst>
                                          <p:attrName>ppt_h</p:attrName>
                                        </p:attrNameLst>
                                      </p:cBhvr>
                                      <p:tavLst>
                                        <p:tav tm="0">
                                          <p:val>
                                            <p:strVal val="#ppt_h"/>
                                          </p:val>
                                        </p:tav>
                                        <p:tav tm="100000">
                                          <p:val>
                                            <p:strVal val="#ppt_h"/>
                                          </p:val>
                                        </p:tav>
                                      </p:tavLst>
                                    </p:anim>
                                    <p:animEffect transition="in" filter="fade">
                                      <p:cBhvr>
                                        <p:cTn id="26" dur="1000"/>
                                        <p:tgtEl>
                                          <p:spTgt spid="467982"/>
                                        </p:tgtEl>
                                      </p:cBhvr>
                                    </p:animEffect>
                                  </p:childTnLst>
                                </p:cTn>
                              </p:par>
                              <p:par>
                                <p:cTn id="27" presetID="55" presetClass="entr" presetSubtype="0" fill="hold" grpId="1" nodeType="withEffect">
                                  <p:stCondLst>
                                    <p:cond delay="0"/>
                                  </p:stCondLst>
                                  <p:iterate type="lt">
                                    <p:tmPct val="0"/>
                                  </p:iterate>
                                  <p:childTnLst>
                                    <p:set>
                                      <p:cBhvr>
                                        <p:cTn id="28" dur="1" fill="hold">
                                          <p:stCondLst>
                                            <p:cond delay="0"/>
                                          </p:stCondLst>
                                        </p:cTn>
                                        <p:tgtEl>
                                          <p:spTgt spid="467978"/>
                                        </p:tgtEl>
                                        <p:attrNameLst>
                                          <p:attrName>style.visibility</p:attrName>
                                        </p:attrNameLst>
                                      </p:cBhvr>
                                      <p:to>
                                        <p:strVal val="visible"/>
                                      </p:to>
                                    </p:set>
                                    <p:anim calcmode="lin" valueType="num">
                                      <p:cBhvr>
                                        <p:cTn id="29" dur="1000" fill="hold"/>
                                        <p:tgtEl>
                                          <p:spTgt spid="467978"/>
                                        </p:tgtEl>
                                        <p:attrNameLst>
                                          <p:attrName>ppt_w</p:attrName>
                                        </p:attrNameLst>
                                      </p:cBhvr>
                                      <p:tavLst>
                                        <p:tav tm="0">
                                          <p:val>
                                            <p:strVal val="#ppt_w*0.70"/>
                                          </p:val>
                                        </p:tav>
                                        <p:tav tm="100000">
                                          <p:val>
                                            <p:strVal val="#ppt_w"/>
                                          </p:val>
                                        </p:tav>
                                      </p:tavLst>
                                    </p:anim>
                                    <p:anim calcmode="lin" valueType="num">
                                      <p:cBhvr>
                                        <p:cTn id="30" dur="1000" fill="hold"/>
                                        <p:tgtEl>
                                          <p:spTgt spid="467978"/>
                                        </p:tgtEl>
                                        <p:attrNameLst>
                                          <p:attrName>ppt_h</p:attrName>
                                        </p:attrNameLst>
                                      </p:cBhvr>
                                      <p:tavLst>
                                        <p:tav tm="0">
                                          <p:val>
                                            <p:strVal val="#ppt_h"/>
                                          </p:val>
                                        </p:tav>
                                        <p:tav tm="100000">
                                          <p:val>
                                            <p:strVal val="#ppt_h"/>
                                          </p:val>
                                        </p:tav>
                                      </p:tavLst>
                                    </p:anim>
                                    <p:animEffect transition="in" filter="fade">
                                      <p:cBhvr>
                                        <p:cTn id="31" dur="1000"/>
                                        <p:tgtEl>
                                          <p:spTgt spid="467978"/>
                                        </p:tgtEl>
                                      </p:cBhvr>
                                    </p:animEffect>
                                  </p:childTnLst>
                                </p:cTn>
                              </p:par>
                              <p:par>
                                <p:cTn id="32" presetID="55" presetClass="entr" presetSubtype="0" fill="hold" grpId="1" nodeType="withEffect">
                                  <p:stCondLst>
                                    <p:cond delay="0"/>
                                  </p:stCondLst>
                                  <p:iterate type="lt">
                                    <p:tmPct val="0"/>
                                  </p:iterate>
                                  <p:childTnLst>
                                    <p:set>
                                      <p:cBhvr>
                                        <p:cTn id="33" dur="1" fill="hold">
                                          <p:stCondLst>
                                            <p:cond delay="0"/>
                                          </p:stCondLst>
                                        </p:cTn>
                                        <p:tgtEl>
                                          <p:spTgt spid="467979"/>
                                        </p:tgtEl>
                                        <p:attrNameLst>
                                          <p:attrName>style.visibility</p:attrName>
                                        </p:attrNameLst>
                                      </p:cBhvr>
                                      <p:to>
                                        <p:strVal val="visible"/>
                                      </p:to>
                                    </p:set>
                                    <p:anim calcmode="lin" valueType="num">
                                      <p:cBhvr>
                                        <p:cTn id="34" dur="1000" fill="hold"/>
                                        <p:tgtEl>
                                          <p:spTgt spid="467979"/>
                                        </p:tgtEl>
                                        <p:attrNameLst>
                                          <p:attrName>ppt_w</p:attrName>
                                        </p:attrNameLst>
                                      </p:cBhvr>
                                      <p:tavLst>
                                        <p:tav tm="0">
                                          <p:val>
                                            <p:strVal val="#ppt_w*0.70"/>
                                          </p:val>
                                        </p:tav>
                                        <p:tav tm="100000">
                                          <p:val>
                                            <p:strVal val="#ppt_w"/>
                                          </p:val>
                                        </p:tav>
                                      </p:tavLst>
                                    </p:anim>
                                    <p:anim calcmode="lin" valueType="num">
                                      <p:cBhvr>
                                        <p:cTn id="35" dur="1000" fill="hold"/>
                                        <p:tgtEl>
                                          <p:spTgt spid="467979"/>
                                        </p:tgtEl>
                                        <p:attrNameLst>
                                          <p:attrName>ppt_h</p:attrName>
                                        </p:attrNameLst>
                                      </p:cBhvr>
                                      <p:tavLst>
                                        <p:tav tm="0">
                                          <p:val>
                                            <p:strVal val="#ppt_h"/>
                                          </p:val>
                                        </p:tav>
                                        <p:tav tm="100000">
                                          <p:val>
                                            <p:strVal val="#ppt_h"/>
                                          </p:val>
                                        </p:tav>
                                      </p:tavLst>
                                    </p:anim>
                                    <p:animEffect transition="in" filter="fade">
                                      <p:cBhvr>
                                        <p:cTn id="36" dur="1000"/>
                                        <p:tgtEl>
                                          <p:spTgt spid="467979"/>
                                        </p:tgtEl>
                                      </p:cBhvr>
                                    </p:animEffect>
                                  </p:childTnLst>
                                </p:cTn>
                              </p:par>
                              <p:par>
                                <p:cTn id="37" presetID="55" presetClass="entr" presetSubtype="0" fill="hold" grpId="1" nodeType="withEffect">
                                  <p:stCondLst>
                                    <p:cond delay="0"/>
                                  </p:stCondLst>
                                  <p:iterate type="lt">
                                    <p:tmPct val="0"/>
                                  </p:iterate>
                                  <p:childTnLst>
                                    <p:set>
                                      <p:cBhvr>
                                        <p:cTn id="38" dur="1" fill="hold">
                                          <p:stCondLst>
                                            <p:cond delay="0"/>
                                          </p:stCondLst>
                                        </p:cTn>
                                        <p:tgtEl>
                                          <p:spTgt spid="467980"/>
                                        </p:tgtEl>
                                        <p:attrNameLst>
                                          <p:attrName>style.visibility</p:attrName>
                                        </p:attrNameLst>
                                      </p:cBhvr>
                                      <p:to>
                                        <p:strVal val="visible"/>
                                      </p:to>
                                    </p:set>
                                    <p:anim calcmode="lin" valueType="num">
                                      <p:cBhvr>
                                        <p:cTn id="39" dur="1000" fill="hold"/>
                                        <p:tgtEl>
                                          <p:spTgt spid="467980"/>
                                        </p:tgtEl>
                                        <p:attrNameLst>
                                          <p:attrName>ppt_w</p:attrName>
                                        </p:attrNameLst>
                                      </p:cBhvr>
                                      <p:tavLst>
                                        <p:tav tm="0">
                                          <p:val>
                                            <p:strVal val="#ppt_w*0.70"/>
                                          </p:val>
                                        </p:tav>
                                        <p:tav tm="100000">
                                          <p:val>
                                            <p:strVal val="#ppt_w"/>
                                          </p:val>
                                        </p:tav>
                                      </p:tavLst>
                                    </p:anim>
                                    <p:anim calcmode="lin" valueType="num">
                                      <p:cBhvr>
                                        <p:cTn id="40" dur="1000" fill="hold"/>
                                        <p:tgtEl>
                                          <p:spTgt spid="467980"/>
                                        </p:tgtEl>
                                        <p:attrNameLst>
                                          <p:attrName>ppt_h</p:attrName>
                                        </p:attrNameLst>
                                      </p:cBhvr>
                                      <p:tavLst>
                                        <p:tav tm="0">
                                          <p:val>
                                            <p:strVal val="#ppt_h"/>
                                          </p:val>
                                        </p:tav>
                                        <p:tav tm="100000">
                                          <p:val>
                                            <p:strVal val="#ppt_h"/>
                                          </p:val>
                                        </p:tav>
                                      </p:tavLst>
                                    </p:anim>
                                    <p:animEffect transition="in" filter="fade">
                                      <p:cBhvr>
                                        <p:cTn id="41" dur="1000"/>
                                        <p:tgtEl>
                                          <p:spTgt spid="467980"/>
                                        </p:tgtEl>
                                      </p:cBhvr>
                                    </p:animEffect>
                                  </p:childTnLst>
                                </p:cTn>
                              </p:par>
                            </p:childTnLst>
                          </p:cTn>
                        </p:par>
                        <p:par>
                          <p:cTn id="42" fill="hold">
                            <p:stCondLst>
                              <p:cond delay="1000"/>
                            </p:stCondLst>
                            <p:childTnLst>
                              <p:par>
                                <p:cTn id="43" presetID="20" presetClass="emph" presetSubtype="0" fill="hold" grpId="0" nodeType="afterEffect">
                                  <p:stCondLst>
                                    <p:cond delay="0"/>
                                  </p:stCondLst>
                                  <p:iterate type="lt">
                                    <p:tmPct val="10000"/>
                                  </p:iterate>
                                  <p:childTnLst>
                                    <p:set>
                                      <p:cBhvr override="childStyle">
                                        <p:cTn id="44" dur="500" autoRev="1" fill="hold"/>
                                        <p:tgtEl>
                                          <p:spTgt spid="467978"/>
                                        </p:tgtEl>
                                        <p:attrNameLst>
                                          <p:attrName>style.color</p:attrName>
                                        </p:attrNameLst>
                                      </p:cBhvr>
                                      <p:to>
                                        <p:clrVal>
                                          <a:srgbClr val="FF0000"/>
                                        </p:clrVal>
                                      </p:to>
                                    </p:set>
                                    <p:set>
                                      <p:cBhvr>
                                        <p:cTn id="45" dur="500" autoRev="1" fill="hold"/>
                                        <p:tgtEl>
                                          <p:spTgt spid="467978"/>
                                        </p:tgtEl>
                                        <p:attrNameLst>
                                          <p:attrName>fillcolor</p:attrName>
                                        </p:attrNameLst>
                                      </p:cBhvr>
                                      <p:to>
                                        <p:clrVal>
                                          <a:srgbClr val="FF0000"/>
                                        </p:clrVal>
                                      </p:to>
                                    </p:set>
                                    <p:set>
                                      <p:cBhvr>
                                        <p:cTn id="46" dur="500" autoRev="1" fill="hold"/>
                                        <p:tgtEl>
                                          <p:spTgt spid="467978"/>
                                        </p:tgtEl>
                                        <p:attrNameLst>
                                          <p:attrName>fill.type</p:attrName>
                                        </p:attrNameLst>
                                      </p:cBhvr>
                                      <p:to>
                                        <p:strVal val="solid"/>
                                      </p:to>
                                    </p:set>
                                  </p:childTnLst>
                                </p:cTn>
                              </p:par>
                            </p:childTnLst>
                          </p:cTn>
                        </p:par>
                        <p:par>
                          <p:cTn id="47" fill="hold">
                            <p:stCondLst>
                              <p:cond delay="2500"/>
                            </p:stCondLst>
                            <p:childTnLst>
                              <p:par>
                                <p:cTn id="48" presetID="20" presetClass="emph" presetSubtype="0" fill="hold" grpId="0" nodeType="afterEffect">
                                  <p:stCondLst>
                                    <p:cond delay="0"/>
                                  </p:stCondLst>
                                  <p:iterate type="lt">
                                    <p:tmPct val="10000"/>
                                  </p:iterate>
                                  <p:childTnLst>
                                    <p:set>
                                      <p:cBhvr override="childStyle">
                                        <p:cTn id="49" dur="500" autoRev="1" fill="hold"/>
                                        <p:tgtEl>
                                          <p:spTgt spid="467979"/>
                                        </p:tgtEl>
                                        <p:attrNameLst>
                                          <p:attrName>style.color</p:attrName>
                                        </p:attrNameLst>
                                      </p:cBhvr>
                                      <p:to>
                                        <p:clrVal>
                                          <a:srgbClr val="FF0000"/>
                                        </p:clrVal>
                                      </p:to>
                                    </p:set>
                                    <p:set>
                                      <p:cBhvr>
                                        <p:cTn id="50" dur="500" autoRev="1" fill="hold"/>
                                        <p:tgtEl>
                                          <p:spTgt spid="467979"/>
                                        </p:tgtEl>
                                        <p:attrNameLst>
                                          <p:attrName>fillcolor</p:attrName>
                                        </p:attrNameLst>
                                      </p:cBhvr>
                                      <p:to>
                                        <p:clrVal>
                                          <a:srgbClr val="FF0000"/>
                                        </p:clrVal>
                                      </p:to>
                                    </p:set>
                                    <p:set>
                                      <p:cBhvr>
                                        <p:cTn id="51" dur="500" autoRev="1" fill="hold"/>
                                        <p:tgtEl>
                                          <p:spTgt spid="467979"/>
                                        </p:tgtEl>
                                        <p:attrNameLst>
                                          <p:attrName>fill.type</p:attrName>
                                        </p:attrNameLst>
                                      </p:cBhvr>
                                      <p:to>
                                        <p:strVal val="solid"/>
                                      </p:to>
                                    </p:set>
                                  </p:childTnLst>
                                </p:cTn>
                              </p:par>
                            </p:childTnLst>
                          </p:cTn>
                        </p:par>
                        <p:par>
                          <p:cTn id="52" fill="hold">
                            <p:stCondLst>
                              <p:cond delay="3700"/>
                            </p:stCondLst>
                            <p:childTnLst>
                              <p:par>
                                <p:cTn id="53" presetID="20" presetClass="emph" presetSubtype="0" fill="hold" grpId="0" nodeType="afterEffect">
                                  <p:stCondLst>
                                    <p:cond delay="0"/>
                                  </p:stCondLst>
                                  <p:iterate type="lt">
                                    <p:tmPct val="10000"/>
                                  </p:iterate>
                                  <p:childTnLst>
                                    <p:set>
                                      <p:cBhvr override="childStyle">
                                        <p:cTn id="54" dur="500" autoRev="1" fill="hold"/>
                                        <p:tgtEl>
                                          <p:spTgt spid="467980"/>
                                        </p:tgtEl>
                                        <p:attrNameLst>
                                          <p:attrName>style.color</p:attrName>
                                        </p:attrNameLst>
                                      </p:cBhvr>
                                      <p:to>
                                        <p:clrVal>
                                          <a:srgbClr val="FF0000"/>
                                        </p:clrVal>
                                      </p:to>
                                    </p:set>
                                    <p:set>
                                      <p:cBhvr>
                                        <p:cTn id="55" dur="500" autoRev="1" fill="hold"/>
                                        <p:tgtEl>
                                          <p:spTgt spid="467980"/>
                                        </p:tgtEl>
                                        <p:attrNameLst>
                                          <p:attrName>fillcolor</p:attrName>
                                        </p:attrNameLst>
                                      </p:cBhvr>
                                      <p:to>
                                        <p:clrVal>
                                          <a:srgbClr val="FF0000"/>
                                        </p:clrVal>
                                      </p:to>
                                    </p:set>
                                    <p:set>
                                      <p:cBhvr>
                                        <p:cTn id="56" dur="500" autoRev="1" fill="hold"/>
                                        <p:tgtEl>
                                          <p:spTgt spid="46798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1" grpId="0"/>
      <p:bldP spid="467978" grpId="0"/>
      <p:bldP spid="467978" grpId="1"/>
      <p:bldP spid="467979" grpId="0"/>
      <p:bldP spid="467979" grpId="1"/>
      <p:bldP spid="467980" grpId="0"/>
      <p:bldP spid="467980" grpId="1"/>
      <p:bldP spid="46798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5" name="Rectangle 3"/>
          <p:cNvSpPr>
            <a:spLocks noChangeArrowheads="1"/>
          </p:cNvSpPr>
          <p:nvPr/>
        </p:nvSpPr>
        <p:spPr bwMode="auto">
          <a:xfrm>
            <a:off x="827088" y="1196975"/>
            <a:ext cx="7993062" cy="238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en-US" altLang="zh-CN" sz="3200">
                <a:solidFill>
                  <a:srgbClr val="FF3300"/>
                </a:solidFill>
                <a:latin typeface="Times New Roman" panose="02020603050405020304" pitchFamily="18" charset="0"/>
                <a:ea typeface="楷体_GB2312" pitchFamily="49" charset="-122"/>
              </a:rPr>
              <a:t>1</a:t>
            </a:r>
            <a:r>
              <a:rPr kumimoji="1" lang="zh-CN" altLang="en-US" sz="3200">
                <a:solidFill>
                  <a:srgbClr val="FF3300"/>
                </a:solidFill>
                <a:latin typeface="Times New Roman" panose="02020603050405020304" pitchFamily="18" charset="0"/>
                <a:ea typeface="楷体_GB2312" pitchFamily="49" charset="-122"/>
              </a:rPr>
              <a:t>、频率特性</a:t>
            </a:r>
          </a:p>
          <a:p>
            <a:pPr eaLnBrk="1" hangingPunct="1">
              <a:lnSpc>
                <a:spcPct val="120000"/>
              </a:lnSpc>
              <a:spcBef>
                <a:spcPct val="20000"/>
              </a:spcBef>
              <a:buClr>
                <a:schemeClr val="folHlink"/>
              </a:buClr>
              <a:buSzPct val="60000"/>
              <a:buFont typeface="Wingdings" panose="05000000000000000000" pitchFamily="2" charset="2"/>
              <a:buNone/>
            </a:pPr>
            <a:r>
              <a:rPr kumimoji="1" lang="zh-CN" altLang="en-US" sz="3200">
                <a:latin typeface="Times New Roman" panose="02020603050405020304" pitchFamily="18" charset="0"/>
                <a:ea typeface="楷体_GB2312" pitchFamily="49" charset="-122"/>
              </a:rPr>
              <a:t>      </a:t>
            </a:r>
            <a:r>
              <a:rPr kumimoji="1" lang="zh-CN" altLang="en-US">
                <a:latin typeface="Times New Roman" panose="02020603050405020304" pitchFamily="18" charset="0"/>
                <a:ea typeface="楷体_GB2312" pitchFamily="49" charset="-122"/>
              </a:rPr>
              <a:t>在</a:t>
            </a:r>
            <a:r>
              <a:rPr kumimoji="1" lang="en-US" altLang="zh-CN">
                <a:latin typeface="Times New Roman" panose="02020603050405020304" pitchFamily="18" charset="0"/>
                <a:ea typeface="楷体_GB2312" pitchFamily="49" charset="-122"/>
              </a:rPr>
              <a:t>H(s)</a:t>
            </a:r>
            <a:r>
              <a:rPr kumimoji="1" lang="zh-CN" altLang="en-US">
                <a:latin typeface="Times New Roman" panose="02020603050405020304" pitchFamily="18" charset="0"/>
                <a:ea typeface="楷体_GB2312" pitchFamily="49" charset="-122"/>
              </a:rPr>
              <a:t>中，令</a:t>
            </a:r>
            <a:r>
              <a:rPr kumimoji="1" lang="el-GR" altLang="zh-CN">
                <a:latin typeface="Times New Roman" panose="02020603050405020304" pitchFamily="18" charset="0"/>
                <a:ea typeface="楷体_GB2312" pitchFamily="49" charset="-122"/>
              </a:rPr>
              <a:t>σ</a:t>
            </a:r>
            <a:r>
              <a:rPr kumimoji="1" lang="en-US" altLang="zh-CN">
                <a:latin typeface="Times New Roman" panose="02020603050405020304" pitchFamily="18" charset="0"/>
                <a:ea typeface="楷体_GB2312" pitchFamily="49" charset="-122"/>
              </a:rPr>
              <a:t>=0</a:t>
            </a:r>
            <a:r>
              <a:rPr kumimoji="1" lang="zh-CN" altLang="en-US">
                <a:latin typeface="Times New Roman" panose="02020603050405020304" pitchFamily="18" charset="0"/>
                <a:ea typeface="楷体_GB2312" pitchFamily="49" charset="-122"/>
              </a:rPr>
              <a:t>可得</a:t>
            </a:r>
            <a:r>
              <a:rPr kumimoji="1" lang="en-US" altLang="zh-CN">
                <a:latin typeface="Times New Roman" panose="02020603050405020304" pitchFamily="18" charset="0"/>
                <a:ea typeface="楷体_GB2312" pitchFamily="49" charset="-122"/>
              </a:rPr>
              <a:t>H(j</a:t>
            </a:r>
            <a:r>
              <a:rPr kumimoji="1" lang="el-GR" altLang="zh-CN">
                <a:latin typeface="Times New Roman" panose="02020603050405020304" pitchFamily="18" charset="0"/>
                <a:ea typeface="楷体_GB2312" pitchFamily="49" charset="-122"/>
              </a:rPr>
              <a:t>ω</a:t>
            </a:r>
            <a:r>
              <a:rPr kumimoji="1" lang="en-US" altLang="zh-CN">
                <a:latin typeface="Times New Roman" panose="02020603050405020304" pitchFamily="18" charset="0"/>
                <a:ea typeface="楷体_GB2312" pitchFamily="49" charset="-122"/>
              </a:rPr>
              <a:t>)</a:t>
            </a:r>
            <a:r>
              <a:rPr kumimoji="1" lang="zh-CN" altLang="en-US">
                <a:latin typeface="Times New Roman" panose="02020603050405020304" pitchFamily="18" charset="0"/>
                <a:ea typeface="楷体_GB2312" pitchFamily="49" charset="-122"/>
              </a:rPr>
              <a:t>。它随着 </a:t>
            </a:r>
            <a:r>
              <a:rPr kumimoji="1" lang="el-GR" altLang="zh-CN">
                <a:latin typeface="Times New Roman" panose="02020603050405020304" pitchFamily="18" charset="0"/>
                <a:ea typeface="宋体" panose="02010600030101010101" pitchFamily="2" charset="-122"/>
              </a:rPr>
              <a:t>ω</a:t>
            </a:r>
            <a:r>
              <a:rPr kumimoji="1" lang="zh-CN" altLang="el-GR">
                <a:latin typeface="Times New Roman" panose="02020603050405020304" pitchFamily="18" charset="0"/>
                <a:ea typeface="宋体" panose="02010600030101010101" pitchFamily="2" charset="-122"/>
              </a:rPr>
              <a:t>（</a:t>
            </a:r>
            <a:r>
              <a:rPr kumimoji="1" lang="zh-CN" altLang="el-GR">
                <a:solidFill>
                  <a:srgbClr val="FF0000"/>
                </a:solidFill>
                <a:latin typeface="Times New Roman" panose="02020603050405020304" pitchFamily="18" charset="0"/>
                <a:ea typeface="宋体" panose="02010600030101010101" pitchFamily="2" charset="-122"/>
              </a:rPr>
              <a:t>频率</a:t>
            </a:r>
            <a:r>
              <a:rPr kumimoji="1" lang="zh-CN" altLang="el-GR">
                <a:latin typeface="Times New Roman" panose="02020603050405020304" pitchFamily="18" charset="0"/>
                <a:ea typeface="宋体" panose="02010600030101010101" pitchFamily="2" charset="-122"/>
              </a:rPr>
              <a:t>）变化的特性称为</a:t>
            </a:r>
            <a:r>
              <a:rPr kumimoji="1" lang="zh-CN" altLang="el-GR">
                <a:solidFill>
                  <a:srgbClr val="FF0000"/>
                </a:solidFill>
                <a:latin typeface="Times New Roman" panose="02020603050405020304" pitchFamily="18" charset="0"/>
                <a:ea typeface="宋体" panose="02010600030101010101" pitchFamily="2" charset="-122"/>
              </a:rPr>
              <a:t>频率特性</a:t>
            </a:r>
            <a:r>
              <a:rPr kumimoji="1" lang="zh-CN" altLang="el-GR">
                <a:latin typeface="Times New Roman" panose="02020603050405020304" pitchFamily="18" charset="0"/>
                <a:ea typeface="宋体" panose="02010600030101010101" pitchFamily="2" charset="-122"/>
              </a:rPr>
              <a:t>。 </a:t>
            </a:r>
            <a:r>
              <a:rPr kumimoji="1" lang="en-US" altLang="zh-CN">
                <a:latin typeface="Times New Roman" panose="02020603050405020304" pitchFamily="18" charset="0"/>
                <a:ea typeface="宋体" panose="02010600030101010101" pitchFamily="2" charset="-122"/>
              </a:rPr>
              <a:t>H(j</a:t>
            </a:r>
            <a:r>
              <a:rPr kumimoji="1" lang="el-GR" altLang="zh-CN">
                <a:latin typeface="Times New Roman" panose="02020603050405020304" pitchFamily="18" charset="0"/>
                <a:ea typeface="宋体" panose="02010600030101010101" pitchFamily="2" charset="-122"/>
              </a:rPr>
              <a:t>ω</a:t>
            </a:r>
            <a:r>
              <a:rPr kumimoji="1" lang="en-US" altLang="zh-CN">
                <a:latin typeface="Times New Roman" panose="02020603050405020304" pitchFamily="18" charset="0"/>
                <a:ea typeface="宋体" panose="02010600030101010101" pitchFamily="2" charset="-122"/>
              </a:rPr>
              <a:t>)</a:t>
            </a:r>
            <a:r>
              <a:rPr kumimoji="1" lang="zh-CN" altLang="en-US">
                <a:latin typeface="Times New Roman" panose="02020603050405020304" pitchFamily="18" charset="0"/>
                <a:ea typeface="宋体" panose="02010600030101010101" pitchFamily="2" charset="-122"/>
              </a:rPr>
              <a:t>仍然是复变函数，可以将其写成</a:t>
            </a:r>
            <a:r>
              <a:rPr kumimoji="1" lang="zh-CN" altLang="en-US">
                <a:latin typeface="Times New Roman" panose="02020603050405020304" pitchFamily="18" charset="0"/>
                <a:ea typeface="楷体_GB2312" pitchFamily="49" charset="-122"/>
              </a:rPr>
              <a:t>：       </a:t>
            </a:r>
            <a:endParaRPr kumimoji="1" lang="el-GR" altLang="zh-CN">
              <a:solidFill>
                <a:srgbClr val="9900FF"/>
              </a:solidFill>
              <a:latin typeface="Times New Roman" panose="02020603050405020304" pitchFamily="18" charset="0"/>
              <a:ea typeface="宋体" panose="02010600030101010101" pitchFamily="2" charset="-122"/>
            </a:endParaRPr>
          </a:p>
        </p:txBody>
      </p:sp>
      <p:graphicFrame>
        <p:nvGraphicFramePr>
          <p:cNvPr id="468996" name="Object 2"/>
          <p:cNvGraphicFramePr>
            <a:graphicFrameLocks noGrp="1" noChangeAspect="1"/>
          </p:cNvGraphicFramePr>
          <p:nvPr>
            <p:ph idx="1"/>
          </p:nvPr>
        </p:nvGraphicFramePr>
        <p:xfrm>
          <a:off x="971550" y="3860800"/>
          <a:ext cx="7681913" cy="817563"/>
        </p:xfrm>
        <a:graphic>
          <a:graphicData uri="http://schemas.openxmlformats.org/presentationml/2006/ole">
            <mc:AlternateContent xmlns:mc="http://schemas.openxmlformats.org/markup-compatibility/2006">
              <mc:Choice xmlns:v="urn:schemas-microsoft-com:vml" Requires="v">
                <p:oleObj name="公式" r:id="rId3" imgW="2387600" imgH="254000" progId="Equation.3">
                  <p:embed/>
                </p:oleObj>
              </mc:Choice>
              <mc:Fallback>
                <p:oleObj name="公式" r:id="rId3" imgW="2387600" imgH="254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860800"/>
                        <a:ext cx="7681913" cy="817563"/>
                      </a:xfrm>
                      <a:prstGeom prst="rect">
                        <a:avLst/>
                      </a:prstGeom>
                      <a:noFill/>
                      <a:ln w="28575" cmpd="sng">
                        <a:solidFill>
                          <a:srgbClr val="66006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9000" name="Rectangle 8"/>
          <p:cNvSpPr>
            <a:spLocks noChangeArrowheads="1"/>
          </p:cNvSpPr>
          <p:nvPr/>
        </p:nvSpPr>
        <p:spPr bwMode="auto">
          <a:xfrm>
            <a:off x="900113" y="5157788"/>
            <a:ext cx="7775575" cy="1117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en-US" altLang="zh-CN">
                <a:latin typeface="Times New Roman" panose="02020603050405020304" pitchFamily="18" charset="0"/>
              </a:rPr>
              <a:t>      </a:t>
            </a:r>
            <a:r>
              <a:rPr kumimoji="1" lang="zh-CN" altLang="en-US">
                <a:latin typeface="Times New Roman" panose="02020603050405020304" pitchFamily="18" charset="0"/>
              </a:rPr>
              <a:t>频率特性常用</a:t>
            </a:r>
            <a:r>
              <a:rPr kumimoji="1" lang="en-US" altLang="zh-CN">
                <a:latin typeface="Times New Roman" panose="02020603050405020304" pitchFamily="18" charset="0"/>
              </a:rPr>
              <a:t>|H(j</a:t>
            </a:r>
            <a:r>
              <a:rPr kumimoji="1" lang="el-GR" altLang="zh-CN">
                <a:latin typeface="Times New Roman" panose="02020603050405020304" pitchFamily="18" charset="0"/>
              </a:rPr>
              <a:t>ω</a:t>
            </a:r>
            <a:r>
              <a:rPr kumimoji="1" lang="en-US" altLang="zh-CN">
                <a:latin typeface="Times New Roman" panose="02020603050405020304" pitchFamily="18" charset="0"/>
              </a:rPr>
              <a:t>)|</a:t>
            </a:r>
            <a:r>
              <a:rPr kumimoji="1" lang="zh-CN" altLang="en-US">
                <a:latin typeface="Times New Roman" panose="02020603050405020304" pitchFamily="18" charset="0"/>
              </a:rPr>
              <a:t>、</a:t>
            </a:r>
            <a:r>
              <a:rPr kumimoji="1" lang="el-GR" altLang="zh-CN">
                <a:latin typeface="Times New Roman" panose="02020603050405020304" pitchFamily="18" charset="0"/>
              </a:rPr>
              <a:t>ψ</a:t>
            </a:r>
            <a:r>
              <a:rPr kumimoji="1" lang="en-US" altLang="zh-CN">
                <a:latin typeface="Times New Roman" panose="02020603050405020304" pitchFamily="18" charset="0"/>
              </a:rPr>
              <a:t>(</a:t>
            </a:r>
            <a:r>
              <a:rPr kumimoji="1" lang="el-GR" altLang="zh-CN">
                <a:latin typeface="Times New Roman" panose="02020603050405020304" pitchFamily="18" charset="0"/>
              </a:rPr>
              <a:t>ω</a:t>
            </a:r>
            <a:r>
              <a:rPr kumimoji="1" lang="en-US" altLang="zh-CN">
                <a:latin typeface="Times New Roman" panose="02020603050405020304" pitchFamily="18" charset="0"/>
              </a:rPr>
              <a:t>)</a:t>
            </a:r>
            <a:r>
              <a:rPr kumimoji="1" lang="zh-CN" altLang="en-US">
                <a:latin typeface="Times New Roman" panose="02020603050405020304" pitchFamily="18" charset="0"/>
              </a:rPr>
              <a:t>相对于自变量</a:t>
            </a:r>
            <a:r>
              <a:rPr kumimoji="1" lang="el-GR" altLang="zh-CN">
                <a:latin typeface="Times New Roman" panose="02020603050405020304" pitchFamily="18" charset="0"/>
              </a:rPr>
              <a:t>ω</a:t>
            </a:r>
            <a:r>
              <a:rPr kumimoji="1" lang="zh-CN" altLang="el-GR">
                <a:latin typeface="Times New Roman" panose="02020603050405020304" pitchFamily="18" charset="0"/>
              </a:rPr>
              <a:t>的变化曲线来表示。</a:t>
            </a:r>
            <a:endParaRPr kumimoji="1" lang="el-GR" altLang="zh-CN">
              <a:latin typeface="Times New Roman" panose="02020603050405020304" pitchFamily="18" charset="0"/>
            </a:endParaRPr>
          </a:p>
        </p:txBody>
      </p:sp>
      <p:sp>
        <p:nvSpPr>
          <p:cNvPr id="469002" name="Rectangle 10"/>
          <p:cNvSpPr>
            <a:spLocks noChangeArrowheads="1"/>
          </p:cNvSpPr>
          <p:nvPr/>
        </p:nvSpPr>
        <p:spPr bwMode="auto">
          <a:xfrm>
            <a:off x="755650" y="260350"/>
            <a:ext cx="4608513" cy="693738"/>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chemeClr val="bg1"/>
                </a:solidFill>
                <a:effectLst>
                  <a:outerShdw blurRad="38100" dist="38100" dir="2700000" algn="tl">
                    <a:srgbClr val="000000"/>
                  </a:outerShdw>
                </a:effectLst>
                <a:latin typeface="Times New Roman" panose="02020603050405020304" pitchFamily="18" charset="0"/>
                <a:ea typeface="楷体_GB2312" pitchFamily="49" charset="-122"/>
              </a:rPr>
              <a:t>§6.2 </a:t>
            </a:r>
            <a:r>
              <a:rPr lang="zh-CN" altLang="en-US">
                <a:solidFill>
                  <a:schemeClr val="bg1"/>
                </a:solidFill>
                <a:effectLst>
                  <a:outerShdw blurRad="38100" dist="38100" dir="2700000" algn="tl">
                    <a:srgbClr val="000000"/>
                  </a:outerShdw>
                </a:effectLst>
                <a:latin typeface="Times New Roman" panose="02020603050405020304" pitchFamily="18" charset="0"/>
                <a:ea typeface="楷体_GB2312" pitchFamily="49" charset="-122"/>
              </a:rPr>
              <a:t>系统函数的表示法</a:t>
            </a:r>
          </a:p>
        </p:txBody>
      </p:sp>
      <p:sp>
        <p:nvSpPr>
          <p:cNvPr id="7" name="日期占位符 6"/>
          <p:cNvSpPr>
            <a:spLocks noGrp="1"/>
          </p:cNvSpPr>
          <p:nvPr>
            <p:ph type="dt" sz="quarter" idx="10"/>
          </p:nvPr>
        </p:nvSpPr>
        <p:spPr/>
        <p:txBody>
          <a:bodyPr/>
          <a:lstStyle/>
          <a:p>
            <a:pPr>
              <a:defRPr/>
            </a:pPr>
            <a:fld id="{A153C625-EC3F-4064-BE91-038F39A54B12}" type="datetime1">
              <a:rPr lang="zh-CN" altLang="en-US" smtClean="0">
                <a:latin typeface="Times New Roman" panose="02020603050405020304" pitchFamily="18" charset="0"/>
              </a:rPr>
              <a:t>2026/4/28</a:t>
            </a:fld>
            <a:endParaRPr lang="en-US" altLang="zh-CN">
              <a:latin typeface="Times New Roman" panose="02020603050405020304" pitchFamily="18" charset="0"/>
            </a:endParaRPr>
          </a:p>
        </p:txBody>
      </p:sp>
      <p:sp>
        <p:nvSpPr>
          <p:cNvPr id="2" name="墨迹 1"/>
          <p:cNvSpPr/>
          <p:nvPr/>
        </p:nvSpPr>
        <p:spPr bwMode="auto">
          <a:xfrm>
            <a:off x="1549080" y="1101960"/>
            <a:ext cx="7016040" cy="51278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6116"/>
    </mc:Choice>
    <mc:Fallback xmlns="">
      <p:transition spd="slow" advTm="1161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468995"/>
                                        </p:tgtEl>
                                        <p:attrNameLst>
                                          <p:attrName>style.visibility</p:attrName>
                                        </p:attrNameLst>
                                      </p:cBhvr>
                                      <p:to>
                                        <p:strVal val="visible"/>
                                      </p:to>
                                    </p:set>
                                    <p:anim calcmode="lin" valueType="num">
                                      <p:cBhvr>
                                        <p:cTn id="11" dur="1000" fill="hold"/>
                                        <p:tgtEl>
                                          <p:spTgt spid="468995"/>
                                        </p:tgtEl>
                                        <p:attrNameLst>
                                          <p:attrName>ppt_w</p:attrName>
                                        </p:attrNameLst>
                                      </p:cBhvr>
                                      <p:tavLst>
                                        <p:tav tm="0">
                                          <p:val>
                                            <p:strVal val="#ppt_w*0.70"/>
                                          </p:val>
                                        </p:tav>
                                        <p:tav tm="100000">
                                          <p:val>
                                            <p:strVal val="#ppt_w"/>
                                          </p:val>
                                        </p:tav>
                                      </p:tavLst>
                                    </p:anim>
                                    <p:anim calcmode="lin" valueType="num">
                                      <p:cBhvr>
                                        <p:cTn id="12" dur="1000" fill="hold"/>
                                        <p:tgtEl>
                                          <p:spTgt spid="468995"/>
                                        </p:tgtEl>
                                        <p:attrNameLst>
                                          <p:attrName>ppt_h</p:attrName>
                                        </p:attrNameLst>
                                      </p:cBhvr>
                                      <p:tavLst>
                                        <p:tav tm="0">
                                          <p:val>
                                            <p:strVal val="#ppt_h"/>
                                          </p:val>
                                        </p:tav>
                                        <p:tav tm="100000">
                                          <p:val>
                                            <p:strVal val="#ppt_h"/>
                                          </p:val>
                                        </p:tav>
                                      </p:tavLst>
                                    </p:anim>
                                    <p:animEffect transition="in" filter="fade">
                                      <p:cBhvr>
                                        <p:cTn id="13" dur="1000"/>
                                        <p:tgtEl>
                                          <p:spTgt spid="468995"/>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468996"/>
                                        </p:tgtEl>
                                        <p:attrNameLst>
                                          <p:attrName>style.visibility</p:attrName>
                                        </p:attrNameLst>
                                      </p:cBhvr>
                                      <p:to>
                                        <p:strVal val="visible"/>
                                      </p:to>
                                    </p:set>
                                    <p:anim calcmode="lin" valueType="num">
                                      <p:cBhvr>
                                        <p:cTn id="17" dur="1000" fill="hold"/>
                                        <p:tgtEl>
                                          <p:spTgt spid="468996"/>
                                        </p:tgtEl>
                                        <p:attrNameLst>
                                          <p:attrName>ppt_w</p:attrName>
                                        </p:attrNameLst>
                                      </p:cBhvr>
                                      <p:tavLst>
                                        <p:tav tm="0">
                                          <p:val>
                                            <p:strVal val="#ppt_w*0.70"/>
                                          </p:val>
                                        </p:tav>
                                        <p:tav tm="100000">
                                          <p:val>
                                            <p:strVal val="#ppt_w"/>
                                          </p:val>
                                        </p:tav>
                                      </p:tavLst>
                                    </p:anim>
                                    <p:anim calcmode="lin" valueType="num">
                                      <p:cBhvr>
                                        <p:cTn id="18" dur="1000" fill="hold"/>
                                        <p:tgtEl>
                                          <p:spTgt spid="468996"/>
                                        </p:tgtEl>
                                        <p:attrNameLst>
                                          <p:attrName>ppt_h</p:attrName>
                                        </p:attrNameLst>
                                      </p:cBhvr>
                                      <p:tavLst>
                                        <p:tav tm="0">
                                          <p:val>
                                            <p:strVal val="#ppt_h"/>
                                          </p:val>
                                        </p:tav>
                                        <p:tav tm="100000">
                                          <p:val>
                                            <p:strVal val="#ppt_h"/>
                                          </p:val>
                                        </p:tav>
                                      </p:tavLst>
                                    </p:anim>
                                    <p:animEffect transition="in" filter="fade">
                                      <p:cBhvr>
                                        <p:cTn id="19" dur="1000"/>
                                        <p:tgtEl>
                                          <p:spTgt spid="468996"/>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469000"/>
                                        </p:tgtEl>
                                        <p:attrNameLst>
                                          <p:attrName>style.visibility</p:attrName>
                                        </p:attrNameLst>
                                      </p:cBhvr>
                                      <p:to>
                                        <p:strVal val="visible"/>
                                      </p:to>
                                    </p:set>
                                    <p:anim calcmode="lin" valueType="num">
                                      <p:cBhvr>
                                        <p:cTn id="24" dur="1000" fill="hold"/>
                                        <p:tgtEl>
                                          <p:spTgt spid="469000"/>
                                        </p:tgtEl>
                                        <p:attrNameLst>
                                          <p:attrName>ppt_w</p:attrName>
                                        </p:attrNameLst>
                                      </p:cBhvr>
                                      <p:tavLst>
                                        <p:tav tm="0">
                                          <p:val>
                                            <p:strVal val="#ppt_w*0.70"/>
                                          </p:val>
                                        </p:tav>
                                        <p:tav tm="100000">
                                          <p:val>
                                            <p:strVal val="#ppt_w"/>
                                          </p:val>
                                        </p:tav>
                                      </p:tavLst>
                                    </p:anim>
                                    <p:anim calcmode="lin" valueType="num">
                                      <p:cBhvr>
                                        <p:cTn id="25" dur="1000" fill="hold"/>
                                        <p:tgtEl>
                                          <p:spTgt spid="469000"/>
                                        </p:tgtEl>
                                        <p:attrNameLst>
                                          <p:attrName>ppt_h</p:attrName>
                                        </p:attrNameLst>
                                      </p:cBhvr>
                                      <p:tavLst>
                                        <p:tav tm="0">
                                          <p:val>
                                            <p:strVal val="#ppt_h"/>
                                          </p:val>
                                        </p:tav>
                                        <p:tav tm="100000">
                                          <p:val>
                                            <p:strVal val="#ppt_h"/>
                                          </p:val>
                                        </p:tav>
                                      </p:tavLst>
                                    </p:anim>
                                    <p:animEffect transition="in" filter="fade">
                                      <p:cBhvr>
                                        <p:cTn id="26" dur="1000"/>
                                        <p:tgtEl>
                                          <p:spTgt spid="469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5" grpId="0"/>
      <p:bldP spid="46900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ChangeArrowheads="1"/>
          </p:cNvSpPr>
          <p:nvPr/>
        </p:nvSpPr>
        <p:spPr bwMode="auto">
          <a:xfrm>
            <a:off x="900113" y="1125538"/>
            <a:ext cx="6999287"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120000"/>
              </a:lnSpc>
              <a:spcBef>
                <a:spcPct val="20000"/>
              </a:spcBef>
              <a:buClr>
                <a:schemeClr val="folHlink"/>
              </a:buClr>
              <a:buSzPct val="60000"/>
              <a:buFont typeface="Wingdings" panose="05000000000000000000" pitchFamily="2" charset="2"/>
              <a:buNone/>
            </a:pPr>
            <a:r>
              <a:rPr kumimoji="1" lang="en-US" altLang="zh-CN">
                <a:latin typeface="华文中宋" panose="02010600040101010101" pitchFamily="2" charset="-122"/>
              </a:rPr>
              <a:t>   </a:t>
            </a:r>
            <a:r>
              <a:rPr kumimoji="1" lang="zh-CN" altLang="en-US">
                <a:latin typeface="华文中宋" panose="02010600040101010101" pitchFamily="2" charset="-122"/>
              </a:rPr>
              <a:t>如下图所示电路：</a:t>
            </a:r>
            <a:r>
              <a:rPr kumimoji="1" lang="en-US" altLang="zh-CN">
                <a:latin typeface="华文中宋" panose="02010600040101010101" pitchFamily="2" charset="-122"/>
              </a:rPr>
              <a:t>i</a:t>
            </a:r>
            <a:r>
              <a:rPr kumimoji="1" lang="zh-CN" altLang="en-US">
                <a:latin typeface="华文中宋" panose="02010600040101010101" pitchFamily="2" charset="-122"/>
              </a:rPr>
              <a:t>为输入，</a:t>
            </a:r>
            <a:r>
              <a:rPr kumimoji="1" lang="en-US" altLang="zh-CN">
                <a:latin typeface="华文中宋" panose="02010600040101010101" pitchFamily="2" charset="-122"/>
              </a:rPr>
              <a:t>U</a:t>
            </a:r>
            <a:r>
              <a:rPr kumimoji="1" lang="en-US" altLang="zh-CN" baseline="-25000">
                <a:latin typeface="华文中宋" panose="02010600040101010101" pitchFamily="2" charset="-122"/>
              </a:rPr>
              <a:t>0</a:t>
            </a:r>
            <a:r>
              <a:rPr kumimoji="1" lang="zh-CN" altLang="en-US">
                <a:latin typeface="华文中宋" panose="02010600040101010101" pitchFamily="2" charset="-122"/>
              </a:rPr>
              <a:t>为输出。        </a:t>
            </a:r>
            <a:endParaRPr kumimoji="1" lang="el-GR" altLang="zh-CN">
              <a:latin typeface="华文中宋" panose="02010600040101010101" pitchFamily="2" charset="-122"/>
            </a:endParaRPr>
          </a:p>
        </p:txBody>
      </p:sp>
      <p:pic>
        <p:nvPicPr>
          <p:cNvPr id="24579" name="Picture 8" descr="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1916113"/>
            <a:ext cx="3959225"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71052" name="Object 2"/>
          <p:cNvGraphicFramePr>
            <a:graphicFrameLocks noGrp="1" noChangeAspect="1"/>
          </p:cNvGraphicFramePr>
          <p:nvPr>
            <p:ph idx="1"/>
          </p:nvPr>
        </p:nvGraphicFramePr>
        <p:xfrm>
          <a:off x="1331913" y="5229225"/>
          <a:ext cx="1081087" cy="504825"/>
        </p:xfrm>
        <a:graphic>
          <a:graphicData uri="http://schemas.openxmlformats.org/presentationml/2006/ole">
            <mc:AlternateContent xmlns:mc="http://schemas.openxmlformats.org/markup-compatibility/2006">
              <mc:Choice xmlns:v="urn:schemas-microsoft-com:vml" Requires="v">
                <p:oleObj name="公式" r:id="rId4" imgW="469900" imgH="203200" progId="Equation.3">
                  <p:embed/>
                </p:oleObj>
              </mc:Choice>
              <mc:Fallback>
                <p:oleObj name="公式" r:id="rId4" imgW="469900" imgH="2032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5229225"/>
                        <a:ext cx="1081087"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56" name="Rectangle 16"/>
          <p:cNvSpPr>
            <a:spLocks noChangeArrowheads="1"/>
          </p:cNvSpPr>
          <p:nvPr/>
        </p:nvSpPr>
        <p:spPr bwMode="auto">
          <a:xfrm>
            <a:off x="755650" y="260350"/>
            <a:ext cx="4608513" cy="693738"/>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chemeClr val="bg1"/>
                </a:solidFill>
                <a:effectLst>
                  <a:outerShdw blurRad="38100" dist="38100" dir="2700000" algn="tl">
                    <a:srgbClr val="000000"/>
                  </a:outerShdw>
                </a:effectLst>
                <a:latin typeface="楷体_GB2312" pitchFamily="49" charset="-122"/>
                <a:ea typeface="楷体_GB2312" pitchFamily="49" charset="-122"/>
              </a:rPr>
              <a:t>§6.2 </a:t>
            </a:r>
            <a:r>
              <a:rPr lang="zh-CN" altLang="en-US">
                <a:solidFill>
                  <a:schemeClr val="bg1"/>
                </a:solidFill>
                <a:effectLst>
                  <a:outerShdw blurRad="38100" dist="38100" dir="2700000" algn="tl">
                    <a:srgbClr val="000000"/>
                  </a:outerShdw>
                </a:effectLst>
                <a:latin typeface="楷体_GB2312" pitchFamily="49" charset="-122"/>
                <a:ea typeface="楷体_GB2312" pitchFamily="49" charset="-122"/>
              </a:rPr>
              <a:t>系统函数的表示法</a:t>
            </a:r>
          </a:p>
        </p:txBody>
      </p:sp>
      <p:graphicFrame>
        <p:nvGraphicFramePr>
          <p:cNvPr id="471057" name="Object 3"/>
          <p:cNvGraphicFramePr>
            <a:graphicFrameLocks noChangeAspect="1"/>
          </p:cNvGraphicFramePr>
          <p:nvPr/>
        </p:nvGraphicFramePr>
        <p:xfrm>
          <a:off x="2422684" y="5051108"/>
          <a:ext cx="2411095" cy="1219835"/>
        </p:xfrm>
        <a:graphic>
          <a:graphicData uri="http://schemas.openxmlformats.org/presentationml/2006/ole">
            <mc:AlternateContent xmlns:mc="http://schemas.openxmlformats.org/markup-compatibility/2006">
              <mc:Choice xmlns:v="urn:schemas-microsoft-com:vml" Requires="v">
                <p:oleObj name="公式" r:id="rId6" imgW="977900" imgH="495300" progId="Equation.3">
                  <p:embed/>
                </p:oleObj>
              </mc:Choice>
              <mc:Fallback>
                <p:oleObj name="公式" r:id="rId6" imgW="977900" imgH="495300" progId="Equation.3">
                  <p:embed/>
                  <p:pic>
                    <p:nvPicPr>
                      <p:cNvPr id="0" name="Object 3"/>
                      <p:cNvPicPr>
                        <a:picLocks noChangeAspect="1" noChangeArrowheads="1"/>
                      </p:cNvPicPr>
                      <p:nvPr/>
                    </p:nvPicPr>
                    <p:blipFill>
                      <a:blip r:embed="rId7"/>
                      <a:srcRect/>
                      <a:stretch>
                        <a:fillRect/>
                      </a:stretch>
                    </p:blipFill>
                    <p:spPr bwMode="auto">
                      <a:xfrm>
                        <a:off x="2422684" y="5051108"/>
                        <a:ext cx="2411095" cy="12198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58" name="Object 4"/>
          <p:cNvGraphicFramePr>
            <a:graphicFrameLocks noChangeAspect="1"/>
          </p:cNvGraphicFramePr>
          <p:nvPr/>
        </p:nvGraphicFramePr>
        <p:xfrm>
          <a:off x="4999673" y="5051108"/>
          <a:ext cx="3408680" cy="1219835"/>
        </p:xfrm>
        <a:graphic>
          <a:graphicData uri="http://schemas.openxmlformats.org/presentationml/2006/ole">
            <mc:AlternateContent xmlns:mc="http://schemas.openxmlformats.org/markup-compatibility/2006">
              <mc:Choice xmlns:v="urn:schemas-microsoft-com:vml" Requires="v">
                <p:oleObj name="公式" r:id="rId8" imgW="1384300" imgH="495300" progId="Equation.3">
                  <p:embed/>
                </p:oleObj>
              </mc:Choice>
              <mc:Fallback>
                <p:oleObj name="公式" r:id="rId8" imgW="1384300" imgH="495300" progId="Equation.3">
                  <p:embed/>
                  <p:pic>
                    <p:nvPicPr>
                      <p:cNvPr id="0" name="Object 4"/>
                      <p:cNvPicPr>
                        <a:picLocks noChangeAspect="1" noChangeArrowheads="1"/>
                      </p:cNvPicPr>
                      <p:nvPr/>
                    </p:nvPicPr>
                    <p:blipFill>
                      <a:blip r:embed="rId9"/>
                      <a:srcRect/>
                      <a:stretch>
                        <a:fillRect/>
                      </a:stretch>
                    </p:blipFill>
                    <p:spPr bwMode="auto">
                      <a:xfrm>
                        <a:off x="4999673" y="5051108"/>
                        <a:ext cx="3408680" cy="12198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59" name="Object 5"/>
          <p:cNvGraphicFramePr>
            <a:graphicFrameLocks noChangeAspect="1"/>
          </p:cNvGraphicFramePr>
          <p:nvPr/>
        </p:nvGraphicFramePr>
        <p:xfrm>
          <a:off x="3519488" y="4148138"/>
          <a:ext cx="2447925" cy="754062"/>
        </p:xfrm>
        <a:graphic>
          <a:graphicData uri="http://schemas.openxmlformats.org/presentationml/2006/ole">
            <mc:AlternateContent xmlns:mc="http://schemas.openxmlformats.org/markup-compatibility/2006">
              <mc:Choice xmlns:v="urn:schemas-microsoft-com:vml" Requires="v">
                <p:oleObj name="公式" r:id="rId10" imgW="1256665" imgH="393700" progId="Equation.3">
                  <p:embed/>
                </p:oleObj>
              </mc:Choice>
              <mc:Fallback>
                <p:oleObj name="公式" r:id="rId10" imgW="1256665" imgH="3937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19488" y="4148138"/>
                        <a:ext cx="2447925" cy="754062"/>
                      </a:xfrm>
                      <a:prstGeom prst="rect">
                        <a:avLst/>
                      </a:prstGeom>
                      <a:solidFill>
                        <a:srgbClr val="FFFF66"/>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日期占位符 9"/>
          <p:cNvSpPr>
            <a:spLocks noGrp="1"/>
          </p:cNvSpPr>
          <p:nvPr>
            <p:ph type="dt" sz="quarter" idx="10"/>
          </p:nvPr>
        </p:nvSpPr>
        <p:spPr/>
        <p:txBody>
          <a:bodyPr/>
          <a:lstStyle/>
          <a:p>
            <a:pPr>
              <a:defRPr/>
            </a:pPr>
            <a:fld id="{877E64DE-81E0-4AFE-82A3-DC7F9A659525}" type="datetime1">
              <a:rPr lang="zh-CN" altLang="en-US"/>
              <a:t>2026/4/28</a:t>
            </a:fld>
            <a:endParaRPr lang="zh-CN" altLang="en-US"/>
          </a:p>
        </p:txBody>
      </p:sp>
      <p:sp>
        <p:nvSpPr>
          <p:cNvPr id="2" name="墨迹 1"/>
          <p:cNvSpPr/>
          <p:nvPr/>
        </p:nvSpPr>
        <p:spPr bwMode="auto">
          <a:xfrm>
            <a:off x="5949000" y="6094080"/>
            <a:ext cx="248760" cy="280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6788"/>
    </mc:Choice>
    <mc:Fallback xmlns="">
      <p:transition spd="slow" advTm="667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471052"/>
                                        </p:tgtEl>
                                        <p:attrNameLst>
                                          <p:attrName>style.visibility</p:attrName>
                                        </p:attrNameLst>
                                      </p:cBhvr>
                                      <p:to>
                                        <p:strVal val="visible"/>
                                      </p:to>
                                    </p:set>
                                    <p:anim calcmode="lin" valueType="num">
                                      <p:cBhvr>
                                        <p:cTn id="11" dur="1000" fill="hold"/>
                                        <p:tgtEl>
                                          <p:spTgt spid="471052"/>
                                        </p:tgtEl>
                                        <p:attrNameLst>
                                          <p:attrName>ppt_w</p:attrName>
                                        </p:attrNameLst>
                                      </p:cBhvr>
                                      <p:tavLst>
                                        <p:tav tm="0">
                                          <p:val>
                                            <p:strVal val="#ppt_w*0.70"/>
                                          </p:val>
                                        </p:tav>
                                        <p:tav tm="100000">
                                          <p:val>
                                            <p:strVal val="#ppt_w"/>
                                          </p:val>
                                        </p:tav>
                                      </p:tavLst>
                                    </p:anim>
                                    <p:anim calcmode="lin" valueType="num">
                                      <p:cBhvr>
                                        <p:cTn id="12" dur="1000" fill="hold"/>
                                        <p:tgtEl>
                                          <p:spTgt spid="471052"/>
                                        </p:tgtEl>
                                        <p:attrNameLst>
                                          <p:attrName>ppt_h</p:attrName>
                                        </p:attrNameLst>
                                      </p:cBhvr>
                                      <p:tavLst>
                                        <p:tav tm="0">
                                          <p:val>
                                            <p:strVal val="#ppt_h"/>
                                          </p:val>
                                        </p:tav>
                                        <p:tav tm="100000">
                                          <p:val>
                                            <p:strVal val="#ppt_h"/>
                                          </p:val>
                                        </p:tav>
                                      </p:tavLst>
                                    </p:anim>
                                    <p:animEffect transition="in" filter="fade">
                                      <p:cBhvr>
                                        <p:cTn id="13" dur="1000"/>
                                        <p:tgtEl>
                                          <p:spTgt spid="471052"/>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471057"/>
                                        </p:tgtEl>
                                        <p:attrNameLst>
                                          <p:attrName>style.visibility</p:attrName>
                                        </p:attrNameLst>
                                      </p:cBhvr>
                                      <p:to>
                                        <p:strVal val="visible"/>
                                      </p:to>
                                    </p:set>
                                    <p:anim calcmode="lin" valueType="num">
                                      <p:cBhvr>
                                        <p:cTn id="18" dur="1000" fill="hold"/>
                                        <p:tgtEl>
                                          <p:spTgt spid="471057"/>
                                        </p:tgtEl>
                                        <p:attrNameLst>
                                          <p:attrName>ppt_w</p:attrName>
                                        </p:attrNameLst>
                                      </p:cBhvr>
                                      <p:tavLst>
                                        <p:tav tm="0">
                                          <p:val>
                                            <p:strVal val="#ppt_w*0.70"/>
                                          </p:val>
                                        </p:tav>
                                        <p:tav tm="100000">
                                          <p:val>
                                            <p:strVal val="#ppt_w"/>
                                          </p:val>
                                        </p:tav>
                                      </p:tavLst>
                                    </p:anim>
                                    <p:anim calcmode="lin" valueType="num">
                                      <p:cBhvr>
                                        <p:cTn id="19" dur="1000" fill="hold"/>
                                        <p:tgtEl>
                                          <p:spTgt spid="471057"/>
                                        </p:tgtEl>
                                        <p:attrNameLst>
                                          <p:attrName>ppt_h</p:attrName>
                                        </p:attrNameLst>
                                      </p:cBhvr>
                                      <p:tavLst>
                                        <p:tav tm="0">
                                          <p:val>
                                            <p:strVal val="#ppt_h"/>
                                          </p:val>
                                        </p:tav>
                                        <p:tav tm="100000">
                                          <p:val>
                                            <p:strVal val="#ppt_h"/>
                                          </p:val>
                                        </p:tav>
                                      </p:tavLst>
                                    </p:anim>
                                    <p:animEffect transition="in" filter="fade">
                                      <p:cBhvr>
                                        <p:cTn id="20" dur="1000"/>
                                        <p:tgtEl>
                                          <p:spTgt spid="471057"/>
                                        </p:tgtEl>
                                      </p:cBhvr>
                                    </p:animEffect>
                                  </p:childTnLst>
                                </p:cTn>
                              </p:par>
                            </p:childTnLst>
                          </p:cTn>
                        </p:par>
                        <p:par>
                          <p:cTn id="21" fill="hold">
                            <p:stCondLst>
                              <p:cond delay="1000"/>
                            </p:stCondLst>
                            <p:childTnLst>
                              <p:par>
                                <p:cTn id="22" presetID="55" presetClass="entr" presetSubtype="0" fill="hold" nodeType="afterEffect">
                                  <p:stCondLst>
                                    <p:cond delay="0"/>
                                  </p:stCondLst>
                                  <p:childTnLst>
                                    <p:set>
                                      <p:cBhvr>
                                        <p:cTn id="23" dur="1" fill="hold">
                                          <p:stCondLst>
                                            <p:cond delay="0"/>
                                          </p:stCondLst>
                                        </p:cTn>
                                        <p:tgtEl>
                                          <p:spTgt spid="471059"/>
                                        </p:tgtEl>
                                        <p:attrNameLst>
                                          <p:attrName>style.visibility</p:attrName>
                                        </p:attrNameLst>
                                      </p:cBhvr>
                                      <p:to>
                                        <p:strVal val="visible"/>
                                      </p:to>
                                    </p:set>
                                    <p:anim calcmode="lin" valueType="num">
                                      <p:cBhvr>
                                        <p:cTn id="24" dur="1000" fill="hold"/>
                                        <p:tgtEl>
                                          <p:spTgt spid="471059"/>
                                        </p:tgtEl>
                                        <p:attrNameLst>
                                          <p:attrName>ppt_w</p:attrName>
                                        </p:attrNameLst>
                                      </p:cBhvr>
                                      <p:tavLst>
                                        <p:tav tm="0">
                                          <p:val>
                                            <p:strVal val="#ppt_w*0.70"/>
                                          </p:val>
                                        </p:tav>
                                        <p:tav tm="100000">
                                          <p:val>
                                            <p:strVal val="#ppt_w"/>
                                          </p:val>
                                        </p:tav>
                                      </p:tavLst>
                                    </p:anim>
                                    <p:anim calcmode="lin" valueType="num">
                                      <p:cBhvr>
                                        <p:cTn id="25" dur="1000" fill="hold"/>
                                        <p:tgtEl>
                                          <p:spTgt spid="471059"/>
                                        </p:tgtEl>
                                        <p:attrNameLst>
                                          <p:attrName>ppt_h</p:attrName>
                                        </p:attrNameLst>
                                      </p:cBhvr>
                                      <p:tavLst>
                                        <p:tav tm="0">
                                          <p:val>
                                            <p:strVal val="#ppt_h"/>
                                          </p:val>
                                        </p:tav>
                                        <p:tav tm="100000">
                                          <p:val>
                                            <p:strVal val="#ppt_h"/>
                                          </p:val>
                                        </p:tav>
                                      </p:tavLst>
                                    </p:anim>
                                    <p:animEffect transition="in" filter="fade">
                                      <p:cBhvr>
                                        <p:cTn id="26" dur="1000"/>
                                        <p:tgtEl>
                                          <p:spTgt spid="471059"/>
                                        </p:tgtEl>
                                      </p:cBhvr>
                                    </p:animEffect>
                                  </p:childTnLst>
                                </p:cTn>
                              </p:par>
                            </p:childTnLst>
                          </p:cTn>
                        </p:par>
                        <p:par>
                          <p:cTn id="27" fill="hold">
                            <p:stCondLst>
                              <p:cond delay="2000"/>
                            </p:stCondLst>
                            <p:childTnLst>
                              <p:par>
                                <p:cTn id="28" presetID="55" presetClass="entr" presetSubtype="0" fill="hold" nodeType="afterEffect">
                                  <p:stCondLst>
                                    <p:cond delay="0"/>
                                  </p:stCondLst>
                                  <p:childTnLst>
                                    <p:set>
                                      <p:cBhvr>
                                        <p:cTn id="29" dur="1" fill="hold">
                                          <p:stCondLst>
                                            <p:cond delay="0"/>
                                          </p:stCondLst>
                                        </p:cTn>
                                        <p:tgtEl>
                                          <p:spTgt spid="471058"/>
                                        </p:tgtEl>
                                        <p:attrNameLst>
                                          <p:attrName>style.visibility</p:attrName>
                                        </p:attrNameLst>
                                      </p:cBhvr>
                                      <p:to>
                                        <p:strVal val="visible"/>
                                      </p:to>
                                    </p:set>
                                    <p:anim calcmode="lin" valueType="num">
                                      <p:cBhvr>
                                        <p:cTn id="30" dur="1000" fill="hold"/>
                                        <p:tgtEl>
                                          <p:spTgt spid="471058"/>
                                        </p:tgtEl>
                                        <p:attrNameLst>
                                          <p:attrName>ppt_w</p:attrName>
                                        </p:attrNameLst>
                                      </p:cBhvr>
                                      <p:tavLst>
                                        <p:tav tm="0">
                                          <p:val>
                                            <p:strVal val="#ppt_w*0.70"/>
                                          </p:val>
                                        </p:tav>
                                        <p:tav tm="100000">
                                          <p:val>
                                            <p:strVal val="#ppt_w"/>
                                          </p:val>
                                        </p:tav>
                                      </p:tavLst>
                                    </p:anim>
                                    <p:anim calcmode="lin" valueType="num">
                                      <p:cBhvr>
                                        <p:cTn id="31" dur="1000" fill="hold"/>
                                        <p:tgtEl>
                                          <p:spTgt spid="471058"/>
                                        </p:tgtEl>
                                        <p:attrNameLst>
                                          <p:attrName>ppt_h</p:attrName>
                                        </p:attrNameLst>
                                      </p:cBhvr>
                                      <p:tavLst>
                                        <p:tav tm="0">
                                          <p:val>
                                            <p:strVal val="#ppt_h"/>
                                          </p:val>
                                        </p:tav>
                                        <p:tav tm="100000">
                                          <p:val>
                                            <p:strVal val="#ppt_h"/>
                                          </p:val>
                                        </p:tav>
                                      </p:tavLst>
                                    </p:anim>
                                    <p:animEffect transition="in" filter="fade">
                                      <p:cBhvr>
                                        <p:cTn id="32" dur="1000"/>
                                        <p:tgtEl>
                                          <p:spTgt spid="471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p:cNvGraphicFramePr>
            <a:graphicFrameLocks noGrp="1" noChangeAspect="1"/>
          </p:cNvGraphicFramePr>
          <p:nvPr>
            <p:ph sz="quarter" idx="1"/>
          </p:nvPr>
        </p:nvGraphicFramePr>
        <p:xfrm>
          <a:off x="810578" y="1056799"/>
          <a:ext cx="4859020" cy="850265"/>
        </p:xfrm>
        <a:graphic>
          <a:graphicData uri="http://schemas.openxmlformats.org/presentationml/2006/ole">
            <mc:AlternateContent xmlns:mc="http://schemas.openxmlformats.org/markup-compatibility/2006">
              <mc:Choice xmlns:v="urn:schemas-microsoft-com:vml" Requires="v">
                <p:oleObj name="公式" r:id="rId3" imgW="2831465" imgH="495300" progId="Equation.3">
                  <p:embed/>
                </p:oleObj>
              </mc:Choice>
              <mc:Fallback>
                <p:oleObj name="公式" r:id="rId3" imgW="2831465" imgH="495300" progId="Equation.3">
                  <p:embed/>
                  <p:pic>
                    <p:nvPicPr>
                      <p:cNvPr id="0" name="Object 2"/>
                      <p:cNvPicPr>
                        <a:picLocks noChangeAspect="1" noChangeArrowheads="1"/>
                      </p:cNvPicPr>
                      <p:nvPr/>
                    </p:nvPicPr>
                    <p:blipFill>
                      <a:blip r:embed="rId4"/>
                      <a:srcRect/>
                      <a:stretch>
                        <a:fillRect/>
                      </a:stretch>
                    </p:blipFill>
                    <p:spPr bwMode="auto">
                      <a:xfrm>
                        <a:off x="810578" y="1056799"/>
                        <a:ext cx="4859020" cy="850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2074" name="Object 3"/>
          <p:cNvGraphicFramePr>
            <a:graphicFrameLocks noGrp="1" noChangeAspect="1"/>
          </p:cNvGraphicFramePr>
          <p:nvPr>
            <p:ph sz="quarter" idx="2"/>
          </p:nvPr>
        </p:nvGraphicFramePr>
        <p:xfrm>
          <a:off x="423863" y="5112386"/>
          <a:ext cx="6076950" cy="1186180"/>
        </p:xfrm>
        <a:graphic>
          <a:graphicData uri="http://schemas.openxmlformats.org/presentationml/2006/ole">
            <mc:AlternateContent xmlns:mc="http://schemas.openxmlformats.org/markup-compatibility/2006">
              <mc:Choice xmlns:v="urn:schemas-microsoft-com:vml" Requires="v">
                <p:oleObj name="公式" r:id="rId5" imgW="2997200" imgH="584200" progId="Equation.3">
                  <p:embed/>
                </p:oleObj>
              </mc:Choice>
              <mc:Fallback>
                <p:oleObj name="公式" r:id="rId5" imgW="2997200" imgH="584200" progId="Equation.3">
                  <p:embed/>
                  <p:pic>
                    <p:nvPicPr>
                      <p:cNvPr id="0" name="Object 3"/>
                      <p:cNvPicPr>
                        <a:picLocks noChangeAspect="1" noChangeArrowheads="1"/>
                      </p:cNvPicPr>
                      <p:nvPr/>
                    </p:nvPicPr>
                    <p:blipFill>
                      <a:blip r:embed="rId6"/>
                      <a:srcRect/>
                      <a:stretch>
                        <a:fillRect/>
                      </a:stretch>
                    </p:blipFill>
                    <p:spPr bwMode="auto">
                      <a:xfrm>
                        <a:off x="423863" y="5112386"/>
                        <a:ext cx="6076950" cy="1186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2077" name="Object 4"/>
          <p:cNvGraphicFramePr>
            <a:graphicFrameLocks noGrp="1" noChangeAspect="1"/>
          </p:cNvGraphicFramePr>
          <p:nvPr>
            <p:ph sz="quarter" idx="3"/>
          </p:nvPr>
        </p:nvGraphicFramePr>
        <p:xfrm>
          <a:off x="1075849" y="3960972"/>
          <a:ext cx="3320415" cy="906145"/>
        </p:xfrm>
        <a:graphic>
          <a:graphicData uri="http://schemas.openxmlformats.org/presentationml/2006/ole">
            <mc:AlternateContent xmlns:mc="http://schemas.openxmlformats.org/markup-compatibility/2006">
              <mc:Choice xmlns:v="urn:schemas-microsoft-com:vml" Requires="v">
                <p:oleObj name="公式" r:id="rId7" imgW="2095500" imgH="571500" progId="Equation.3">
                  <p:embed/>
                </p:oleObj>
              </mc:Choice>
              <mc:Fallback>
                <p:oleObj name="公式" r:id="rId7" imgW="2095500" imgH="571500" progId="Equation.3">
                  <p:embed/>
                  <p:pic>
                    <p:nvPicPr>
                      <p:cNvPr id="0" name="Object 4"/>
                      <p:cNvPicPr>
                        <a:picLocks noChangeAspect="1" noChangeArrowheads="1"/>
                      </p:cNvPicPr>
                      <p:nvPr/>
                    </p:nvPicPr>
                    <p:blipFill>
                      <a:blip r:embed="rId8"/>
                      <a:srcRect/>
                      <a:stretch>
                        <a:fillRect/>
                      </a:stretch>
                    </p:blipFill>
                    <p:spPr bwMode="auto">
                      <a:xfrm>
                        <a:off x="1075849" y="3960972"/>
                        <a:ext cx="3320415" cy="906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2072" name="Rectangle 8"/>
          <p:cNvSpPr>
            <a:spLocks noChangeArrowheads="1"/>
          </p:cNvSpPr>
          <p:nvPr/>
        </p:nvSpPr>
        <p:spPr bwMode="auto">
          <a:xfrm>
            <a:off x="684213" y="188913"/>
            <a:ext cx="4608512" cy="504825"/>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chemeClr val="bg1"/>
                </a:solidFill>
                <a:effectLst>
                  <a:outerShdw blurRad="38100" dist="38100" dir="2700000" algn="tl">
                    <a:srgbClr val="000000"/>
                  </a:outerShdw>
                </a:effectLst>
                <a:latin typeface="楷体_GB2312" pitchFamily="49" charset="-122"/>
                <a:ea typeface="楷体_GB2312" pitchFamily="49" charset="-122"/>
              </a:rPr>
              <a:t>§6.2 </a:t>
            </a:r>
            <a:r>
              <a:rPr lang="zh-CN" altLang="en-US">
                <a:solidFill>
                  <a:schemeClr val="bg1"/>
                </a:solidFill>
                <a:effectLst>
                  <a:outerShdw blurRad="38100" dist="38100" dir="2700000" algn="tl">
                    <a:srgbClr val="000000"/>
                  </a:outerShdw>
                </a:effectLst>
                <a:latin typeface="楷体_GB2312" pitchFamily="49" charset="-122"/>
                <a:ea typeface="楷体_GB2312" pitchFamily="49" charset="-122"/>
              </a:rPr>
              <a:t>系统函数的表示法</a:t>
            </a:r>
          </a:p>
        </p:txBody>
      </p:sp>
      <p:graphicFrame>
        <p:nvGraphicFramePr>
          <p:cNvPr id="472084" name="Object 5"/>
          <p:cNvGraphicFramePr>
            <a:graphicFrameLocks noChangeAspect="1"/>
          </p:cNvGraphicFramePr>
          <p:nvPr/>
        </p:nvGraphicFramePr>
        <p:xfrm>
          <a:off x="321310" y="2432050"/>
          <a:ext cx="5694680" cy="971550"/>
        </p:xfrm>
        <a:graphic>
          <a:graphicData uri="http://schemas.openxmlformats.org/presentationml/2006/ole">
            <mc:AlternateContent xmlns:mc="http://schemas.openxmlformats.org/markup-compatibility/2006">
              <mc:Choice xmlns:v="urn:schemas-microsoft-com:vml" Requires="v">
                <p:oleObj name="公式" r:id="rId9" imgW="3187700" imgH="520700" progId="Equation.3">
                  <p:embed/>
                </p:oleObj>
              </mc:Choice>
              <mc:Fallback>
                <p:oleObj name="公式" r:id="rId9" imgW="3187700" imgH="520700" progId="Equation.3">
                  <p:embed/>
                  <p:pic>
                    <p:nvPicPr>
                      <p:cNvPr id="0" name="Object 5"/>
                      <p:cNvPicPr>
                        <a:picLocks noChangeAspect="1" noChangeArrowheads="1"/>
                      </p:cNvPicPr>
                      <p:nvPr/>
                    </p:nvPicPr>
                    <p:blipFill>
                      <a:blip r:embed="rId10"/>
                      <a:srcRect/>
                      <a:stretch>
                        <a:fillRect/>
                      </a:stretch>
                    </p:blipFill>
                    <p:spPr bwMode="auto">
                      <a:xfrm>
                        <a:off x="321310" y="2432050"/>
                        <a:ext cx="569468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29"/>
          <p:cNvGrpSpPr/>
          <p:nvPr/>
        </p:nvGrpSpPr>
        <p:grpSpPr bwMode="auto">
          <a:xfrm>
            <a:off x="5567363" y="188913"/>
            <a:ext cx="3576637" cy="2400300"/>
            <a:chOff x="3606" y="119"/>
            <a:chExt cx="2042" cy="1512"/>
          </a:xfrm>
        </p:grpSpPr>
        <p:pic>
          <p:nvPicPr>
            <p:cNvPr id="25612" name="Picture 22" descr="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06" y="119"/>
              <a:ext cx="2042"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3" name="Rectangle 23"/>
            <p:cNvSpPr>
              <a:spLocks noChangeArrowheads="1"/>
            </p:cNvSpPr>
            <p:nvPr/>
          </p:nvSpPr>
          <p:spPr bwMode="auto">
            <a:xfrm>
              <a:off x="4150" y="1344"/>
              <a:ext cx="1453"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kumimoji="1" lang="zh-CN" altLang="en-US" sz="2400">
                  <a:latin typeface="华文中宋" panose="02010600040101010101" pitchFamily="2" charset="-122"/>
                </a:rPr>
                <a:t>频率特性图</a:t>
              </a:r>
              <a:r>
                <a:rPr kumimoji="1" lang="zh-CN" altLang="en-US">
                  <a:latin typeface="华文中宋" panose="02010600040101010101" pitchFamily="2" charset="-122"/>
                </a:rPr>
                <a:t>      </a:t>
              </a:r>
              <a:endParaRPr kumimoji="1" lang="el-GR" altLang="zh-CN">
                <a:latin typeface="华文中宋" panose="02010600040101010101" pitchFamily="2" charset="-122"/>
              </a:endParaRPr>
            </a:p>
          </p:txBody>
        </p:sp>
      </p:grpSp>
      <p:graphicFrame>
        <p:nvGraphicFramePr>
          <p:cNvPr id="472088" name="Object 6"/>
          <p:cNvGraphicFramePr>
            <a:graphicFrameLocks noGrp="1" noChangeAspect="1"/>
          </p:cNvGraphicFramePr>
          <p:nvPr>
            <p:ph sz="quarter" idx="4"/>
          </p:nvPr>
        </p:nvGraphicFramePr>
        <p:xfrm>
          <a:off x="6443663" y="2924175"/>
          <a:ext cx="720725" cy="498475"/>
        </p:xfrm>
        <a:graphic>
          <a:graphicData uri="http://schemas.openxmlformats.org/presentationml/2006/ole">
            <mc:AlternateContent xmlns:mc="http://schemas.openxmlformats.org/markup-compatibility/2006">
              <mc:Choice xmlns:v="urn:schemas-microsoft-com:vml" Requires="v">
                <p:oleObj name="公式" r:id="rId12" imgW="330200" imgH="228600" progId="Equation.3">
                  <p:embed/>
                </p:oleObj>
              </mc:Choice>
              <mc:Fallback>
                <p:oleObj name="公式" r:id="rId12" imgW="330200" imgH="228600"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43663" y="2924175"/>
                        <a:ext cx="720725" cy="498475"/>
                      </a:xfrm>
                      <a:prstGeom prst="rect">
                        <a:avLst/>
                      </a:prstGeom>
                      <a:solidFill>
                        <a:schemeClr val="bg1"/>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2091" name="Object 7"/>
          <p:cNvGraphicFramePr>
            <a:graphicFrameLocks noChangeAspect="1"/>
          </p:cNvGraphicFramePr>
          <p:nvPr/>
        </p:nvGraphicFramePr>
        <p:xfrm>
          <a:off x="7524750" y="2636838"/>
          <a:ext cx="838200" cy="890587"/>
        </p:xfrm>
        <a:graphic>
          <a:graphicData uri="http://schemas.openxmlformats.org/presentationml/2006/ole">
            <mc:AlternateContent xmlns:mc="http://schemas.openxmlformats.org/markup-compatibility/2006">
              <mc:Choice xmlns:v="urn:schemas-microsoft-com:vml" Requires="v">
                <p:oleObj name="公式" r:id="rId14" imgW="393700" imgH="419100" progId="Equation.3">
                  <p:embed/>
                </p:oleObj>
              </mc:Choice>
              <mc:Fallback>
                <p:oleObj name="公式" r:id="rId14" imgW="393700" imgH="419100"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24750" y="2636838"/>
                        <a:ext cx="838200" cy="890587"/>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472092" name="Rectangle 28"/>
          <p:cNvSpPr>
            <a:spLocks noChangeArrowheads="1"/>
          </p:cNvSpPr>
          <p:nvPr/>
        </p:nvSpPr>
        <p:spPr bwMode="auto">
          <a:xfrm>
            <a:off x="5559425" y="3778250"/>
            <a:ext cx="3584575" cy="1555750"/>
          </a:xfrm>
          <a:prstGeom prst="rect">
            <a:avLst/>
          </a:prstGeom>
          <a:solidFill>
            <a:schemeClr val="bg1"/>
          </a:solidFill>
          <a:ln w="9525">
            <a:solidFill>
              <a:schemeClr val="accent2"/>
            </a:solidFill>
            <a:miter lim="800000"/>
          </a:ln>
          <a:effectLst>
            <a:outerShdw dist="35921" dir="2700000" algn="ctr" rotWithShape="0">
              <a:schemeClr val="bg2"/>
            </a:outerShdw>
          </a:effec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en-US" altLang="zh-CN">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rPr>
              <a:t>有时为了作图简便常取上式对数，即</a:t>
            </a:r>
            <a:r>
              <a:rPr kumimoji="1" lang="en-US" altLang="zh-CN">
                <a:latin typeface="Times New Roman" panose="02020603050405020304" pitchFamily="18" charset="0"/>
              </a:rPr>
              <a:t>:G(ω)=20lg|H(jω)|</a:t>
            </a:r>
            <a:r>
              <a:rPr kumimoji="1" lang="zh-CN" altLang="en-US">
                <a:latin typeface="Times New Roman" panose="02020603050405020304" pitchFamily="18" charset="0"/>
              </a:rPr>
              <a:t>得到</a:t>
            </a:r>
            <a:r>
              <a:rPr kumimoji="1" lang="zh-CN" altLang="en-US">
                <a:solidFill>
                  <a:srgbClr val="FF0000"/>
                </a:solidFill>
                <a:latin typeface="Times New Roman" panose="02020603050405020304" pitchFamily="18" charset="0"/>
              </a:rPr>
              <a:t>波特图</a:t>
            </a:r>
            <a:r>
              <a:rPr kumimoji="1" lang="zh-CN" altLang="en-US">
                <a:latin typeface="Times New Roman" panose="02020603050405020304" pitchFamily="18" charset="0"/>
              </a:rPr>
              <a:t>。</a:t>
            </a:r>
            <a:endParaRPr kumimoji="1" lang="el-GR" altLang="zh-CN">
              <a:latin typeface="Times New Roman" panose="02020603050405020304" pitchFamily="18" charset="0"/>
            </a:endParaRPr>
          </a:p>
        </p:txBody>
      </p:sp>
      <p:sp>
        <p:nvSpPr>
          <p:cNvPr id="14" name="日期占位符 13"/>
          <p:cNvSpPr>
            <a:spLocks noGrp="1"/>
          </p:cNvSpPr>
          <p:nvPr>
            <p:ph type="dt" sz="quarter" idx="10"/>
          </p:nvPr>
        </p:nvSpPr>
        <p:spPr/>
        <p:txBody>
          <a:bodyPr/>
          <a:lstStyle/>
          <a:p>
            <a:pPr>
              <a:defRPr/>
            </a:pPr>
            <a:fld id="{5508233F-ECE6-47E0-A6BC-6937923AC0F1}" type="datetime1">
              <a:rPr lang="zh-CN" altLang="en-US"/>
              <a:t>2026/4/28</a:t>
            </a:fld>
            <a:endParaRPr lang="en-US" altLang="zh-CN" dirty="0"/>
          </a:p>
        </p:txBody>
      </p:sp>
      <p:sp>
        <p:nvSpPr>
          <p:cNvPr id="3" name="墨迹 2"/>
          <p:cNvSpPr/>
          <p:nvPr/>
        </p:nvSpPr>
        <p:spPr bwMode="auto">
          <a:xfrm>
            <a:off x="752760" y="790560"/>
            <a:ext cx="8090640" cy="50446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3560"/>
    </mc:Choice>
    <mc:Fallback xmlns="">
      <p:transition spd="slow" advTm="193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472084"/>
                                        </p:tgtEl>
                                        <p:attrNameLst>
                                          <p:attrName>style.visibility</p:attrName>
                                        </p:attrNameLst>
                                      </p:cBhvr>
                                      <p:to>
                                        <p:strVal val="visible"/>
                                      </p:to>
                                    </p:set>
                                    <p:anim calcmode="lin" valueType="num">
                                      <p:cBhvr>
                                        <p:cTn id="11" dur="1000" fill="hold"/>
                                        <p:tgtEl>
                                          <p:spTgt spid="472084"/>
                                        </p:tgtEl>
                                        <p:attrNameLst>
                                          <p:attrName>ppt_w</p:attrName>
                                        </p:attrNameLst>
                                      </p:cBhvr>
                                      <p:tavLst>
                                        <p:tav tm="0">
                                          <p:val>
                                            <p:strVal val="#ppt_w*0.70"/>
                                          </p:val>
                                        </p:tav>
                                        <p:tav tm="100000">
                                          <p:val>
                                            <p:strVal val="#ppt_w"/>
                                          </p:val>
                                        </p:tav>
                                      </p:tavLst>
                                    </p:anim>
                                    <p:anim calcmode="lin" valueType="num">
                                      <p:cBhvr>
                                        <p:cTn id="12" dur="1000" fill="hold"/>
                                        <p:tgtEl>
                                          <p:spTgt spid="472084"/>
                                        </p:tgtEl>
                                        <p:attrNameLst>
                                          <p:attrName>ppt_h</p:attrName>
                                        </p:attrNameLst>
                                      </p:cBhvr>
                                      <p:tavLst>
                                        <p:tav tm="0">
                                          <p:val>
                                            <p:strVal val="#ppt_h"/>
                                          </p:val>
                                        </p:tav>
                                        <p:tav tm="100000">
                                          <p:val>
                                            <p:strVal val="#ppt_h"/>
                                          </p:val>
                                        </p:tav>
                                      </p:tavLst>
                                    </p:anim>
                                    <p:animEffect transition="in" filter="fade">
                                      <p:cBhvr>
                                        <p:cTn id="13" dur="1000"/>
                                        <p:tgtEl>
                                          <p:spTgt spid="472084"/>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472077"/>
                                        </p:tgtEl>
                                        <p:attrNameLst>
                                          <p:attrName>style.visibility</p:attrName>
                                        </p:attrNameLst>
                                      </p:cBhvr>
                                      <p:to>
                                        <p:strVal val="visible"/>
                                      </p:to>
                                    </p:set>
                                    <p:anim calcmode="lin" valueType="num">
                                      <p:cBhvr>
                                        <p:cTn id="18" dur="1000" fill="hold"/>
                                        <p:tgtEl>
                                          <p:spTgt spid="472077"/>
                                        </p:tgtEl>
                                        <p:attrNameLst>
                                          <p:attrName>ppt_w</p:attrName>
                                        </p:attrNameLst>
                                      </p:cBhvr>
                                      <p:tavLst>
                                        <p:tav tm="0">
                                          <p:val>
                                            <p:strVal val="#ppt_w*0.70"/>
                                          </p:val>
                                        </p:tav>
                                        <p:tav tm="100000">
                                          <p:val>
                                            <p:strVal val="#ppt_w"/>
                                          </p:val>
                                        </p:tav>
                                      </p:tavLst>
                                    </p:anim>
                                    <p:anim calcmode="lin" valueType="num">
                                      <p:cBhvr>
                                        <p:cTn id="19" dur="1000" fill="hold"/>
                                        <p:tgtEl>
                                          <p:spTgt spid="472077"/>
                                        </p:tgtEl>
                                        <p:attrNameLst>
                                          <p:attrName>ppt_h</p:attrName>
                                        </p:attrNameLst>
                                      </p:cBhvr>
                                      <p:tavLst>
                                        <p:tav tm="0">
                                          <p:val>
                                            <p:strVal val="#ppt_h"/>
                                          </p:val>
                                        </p:tav>
                                        <p:tav tm="100000">
                                          <p:val>
                                            <p:strVal val="#ppt_h"/>
                                          </p:val>
                                        </p:tav>
                                      </p:tavLst>
                                    </p:anim>
                                    <p:animEffect transition="in" filter="fade">
                                      <p:cBhvr>
                                        <p:cTn id="20" dur="1000"/>
                                        <p:tgtEl>
                                          <p:spTgt spid="472077"/>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472074"/>
                                        </p:tgtEl>
                                        <p:attrNameLst>
                                          <p:attrName>style.visibility</p:attrName>
                                        </p:attrNameLst>
                                      </p:cBhvr>
                                      <p:to>
                                        <p:strVal val="visible"/>
                                      </p:to>
                                    </p:set>
                                    <p:anim calcmode="lin" valueType="num">
                                      <p:cBhvr>
                                        <p:cTn id="25" dur="1000" fill="hold"/>
                                        <p:tgtEl>
                                          <p:spTgt spid="472074"/>
                                        </p:tgtEl>
                                        <p:attrNameLst>
                                          <p:attrName>ppt_w</p:attrName>
                                        </p:attrNameLst>
                                      </p:cBhvr>
                                      <p:tavLst>
                                        <p:tav tm="0">
                                          <p:val>
                                            <p:strVal val="#ppt_w*0.70"/>
                                          </p:val>
                                        </p:tav>
                                        <p:tav tm="100000">
                                          <p:val>
                                            <p:strVal val="#ppt_w"/>
                                          </p:val>
                                        </p:tav>
                                      </p:tavLst>
                                    </p:anim>
                                    <p:anim calcmode="lin" valueType="num">
                                      <p:cBhvr>
                                        <p:cTn id="26" dur="1000" fill="hold"/>
                                        <p:tgtEl>
                                          <p:spTgt spid="472074"/>
                                        </p:tgtEl>
                                        <p:attrNameLst>
                                          <p:attrName>ppt_h</p:attrName>
                                        </p:attrNameLst>
                                      </p:cBhvr>
                                      <p:tavLst>
                                        <p:tav tm="0">
                                          <p:val>
                                            <p:strVal val="#ppt_h"/>
                                          </p:val>
                                        </p:tav>
                                        <p:tav tm="100000">
                                          <p:val>
                                            <p:strVal val="#ppt_h"/>
                                          </p:val>
                                        </p:tav>
                                      </p:tavLst>
                                    </p:anim>
                                    <p:animEffect transition="in" filter="fade">
                                      <p:cBhvr>
                                        <p:cTn id="27" dur="1000"/>
                                        <p:tgtEl>
                                          <p:spTgt spid="472074"/>
                                        </p:tgtEl>
                                      </p:cBhvr>
                                    </p:animEffect>
                                  </p:childTnLst>
                                </p:cTn>
                              </p:par>
                            </p:childTnLst>
                          </p:cTn>
                        </p:par>
                        <p:par>
                          <p:cTn id="28" fill="hold">
                            <p:stCondLst>
                              <p:cond delay="1000"/>
                            </p:stCondLst>
                            <p:childTnLst>
                              <p:par>
                                <p:cTn id="29" presetID="55" presetClass="entr" presetSubtype="0"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1000" fill="hold"/>
                                        <p:tgtEl>
                                          <p:spTgt spid="2"/>
                                        </p:tgtEl>
                                        <p:attrNameLst>
                                          <p:attrName>ppt_w</p:attrName>
                                        </p:attrNameLst>
                                      </p:cBhvr>
                                      <p:tavLst>
                                        <p:tav tm="0">
                                          <p:val>
                                            <p:strVal val="#ppt_w*0.70"/>
                                          </p:val>
                                        </p:tav>
                                        <p:tav tm="100000">
                                          <p:val>
                                            <p:strVal val="#ppt_w"/>
                                          </p:val>
                                        </p:tav>
                                      </p:tavLst>
                                    </p:anim>
                                    <p:anim calcmode="lin" valueType="num">
                                      <p:cBhvr>
                                        <p:cTn id="32" dur="1000" fill="hold"/>
                                        <p:tgtEl>
                                          <p:spTgt spid="2"/>
                                        </p:tgtEl>
                                        <p:attrNameLst>
                                          <p:attrName>ppt_h</p:attrName>
                                        </p:attrNameLst>
                                      </p:cBhvr>
                                      <p:tavLst>
                                        <p:tav tm="0">
                                          <p:val>
                                            <p:strVal val="#ppt_h"/>
                                          </p:val>
                                        </p:tav>
                                        <p:tav tm="100000">
                                          <p:val>
                                            <p:strVal val="#ppt_h"/>
                                          </p:val>
                                        </p:tav>
                                      </p:tavLst>
                                    </p:anim>
                                    <p:animEffect transition="in" filter="fade">
                                      <p:cBhvr>
                                        <p:cTn id="33" dur="1000"/>
                                        <p:tgtEl>
                                          <p:spTgt spid="2"/>
                                        </p:tgtEl>
                                      </p:cBhvr>
                                    </p:animEffect>
                                  </p:childTnLst>
                                </p:cTn>
                              </p:par>
                            </p:childTnLst>
                          </p:cTn>
                        </p:par>
                        <p:par>
                          <p:cTn id="34" fill="hold">
                            <p:stCondLst>
                              <p:cond delay="2000"/>
                            </p:stCondLst>
                            <p:childTnLst>
                              <p:par>
                                <p:cTn id="35" presetID="55" presetClass="entr" presetSubtype="0" fill="hold" nodeType="afterEffect">
                                  <p:stCondLst>
                                    <p:cond delay="0"/>
                                  </p:stCondLst>
                                  <p:childTnLst>
                                    <p:set>
                                      <p:cBhvr>
                                        <p:cTn id="36" dur="1" fill="hold">
                                          <p:stCondLst>
                                            <p:cond delay="0"/>
                                          </p:stCondLst>
                                        </p:cTn>
                                        <p:tgtEl>
                                          <p:spTgt spid="472088"/>
                                        </p:tgtEl>
                                        <p:attrNameLst>
                                          <p:attrName>style.visibility</p:attrName>
                                        </p:attrNameLst>
                                      </p:cBhvr>
                                      <p:to>
                                        <p:strVal val="visible"/>
                                      </p:to>
                                    </p:set>
                                    <p:anim calcmode="lin" valueType="num">
                                      <p:cBhvr>
                                        <p:cTn id="37" dur="1000" fill="hold"/>
                                        <p:tgtEl>
                                          <p:spTgt spid="472088"/>
                                        </p:tgtEl>
                                        <p:attrNameLst>
                                          <p:attrName>ppt_w</p:attrName>
                                        </p:attrNameLst>
                                      </p:cBhvr>
                                      <p:tavLst>
                                        <p:tav tm="0">
                                          <p:val>
                                            <p:strVal val="#ppt_w*0.70"/>
                                          </p:val>
                                        </p:tav>
                                        <p:tav tm="100000">
                                          <p:val>
                                            <p:strVal val="#ppt_w"/>
                                          </p:val>
                                        </p:tav>
                                      </p:tavLst>
                                    </p:anim>
                                    <p:anim calcmode="lin" valueType="num">
                                      <p:cBhvr>
                                        <p:cTn id="38" dur="1000" fill="hold"/>
                                        <p:tgtEl>
                                          <p:spTgt spid="472088"/>
                                        </p:tgtEl>
                                        <p:attrNameLst>
                                          <p:attrName>ppt_h</p:attrName>
                                        </p:attrNameLst>
                                      </p:cBhvr>
                                      <p:tavLst>
                                        <p:tav tm="0">
                                          <p:val>
                                            <p:strVal val="#ppt_h"/>
                                          </p:val>
                                        </p:tav>
                                        <p:tav tm="100000">
                                          <p:val>
                                            <p:strVal val="#ppt_h"/>
                                          </p:val>
                                        </p:tav>
                                      </p:tavLst>
                                    </p:anim>
                                    <p:animEffect transition="in" filter="fade">
                                      <p:cBhvr>
                                        <p:cTn id="39" dur="1000"/>
                                        <p:tgtEl>
                                          <p:spTgt spid="472088"/>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472091"/>
                                        </p:tgtEl>
                                        <p:attrNameLst>
                                          <p:attrName>style.visibility</p:attrName>
                                        </p:attrNameLst>
                                      </p:cBhvr>
                                      <p:to>
                                        <p:strVal val="visible"/>
                                      </p:to>
                                    </p:set>
                                    <p:anim calcmode="lin" valueType="num">
                                      <p:cBhvr>
                                        <p:cTn id="44" dur="1000" fill="hold"/>
                                        <p:tgtEl>
                                          <p:spTgt spid="472091"/>
                                        </p:tgtEl>
                                        <p:attrNameLst>
                                          <p:attrName>ppt_w</p:attrName>
                                        </p:attrNameLst>
                                      </p:cBhvr>
                                      <p:tavLst>
                                        <p:tav tm="0">
                                          <p:val>
                                            <p:strVal val="#ppt_w*0.70"/>
                                          </p:val>
                                        </p:tav>
                                        <p:tav tm="100000">
                                          <p:val>
                                            <p:strVal val="#ppt_w"/>
                                          </p:val>
                                        </p:tav>
                                      </p:tavLst>
                                    </p:anim>
                                    <p:anim calcmode="lin" valueType="num">
                                      <p:cBhvr>
                                        <p:cTn id="45" dur="1000" fill="hold"/>
                                        <p:tgtEl>
                                          <p:spTgt spid="472091"/>
                                        </p:tgtEl>
                                        <p:attrNameLst>
                                          <p:attrName>ppt_h</p:attrName>
                                        </p:attrNameLst>
                                      </p:cBhvr>
                                      <p:tavLst>
                                        <p:tav tm="0">
                                          <p:val>
                                            <p:strVal val="#ppt_h"/>
                                          </p:val>
                                        </p:tav>
                                        <p:tav tm="100000">
                                          <p:val>
                                            <p:strVal val="#ppt_h"/>
                                          </p:val>
                                        </p:tav>
                                      </p:tavLst>
                                    </p:anim>
                                    <p:animEffect transition="in" filter="fade">
                                      <p:cBhvr>
                                        <p:cTn id="46" dur="1000"/>
                                        <p:tgtEl>
                                          <p:spTgt spid="472091"/>
                                        </p:tgtEl>
                                      </p:cBhvr>
                                    </p:animEffect>
                                  </p:childTnLst>
                                </p:cTn>
                              </p:par>
                            </p:childTnLst>
                          </p:cTn>
                        </p:par>
                        <p:par>
                          <p:cTn id="47" fill="hold">
                            <p:stCondLst>
                              <p:cond delay="1000"/>
                            </p:stCondLst>
                            <p:childTnLst>
                              <p:par>
                                <p:cTn id="48" presetID="55" presetClass="entr" presetSubtype="0" fill="hold" grpId="0" nodeType="afterEffect">
                                  <p:stCondLst>
                                    <p:cond delay="0"/>
                                  </p:stCondLst>
                                  <p:childTnLst>
                                    <p:set>
                                      <p:cBhvr>
                                        <p:cTn id="49" dur="1" fill="hold">
                                          <p:stCondLst>
                                            <p:cond delay="0"/>
                                          </p:stCondLst>
                                        </p:cTn>
                                        <p:tgtEl>
                                          <p:spTgt spid="472092"/>
                                        </p:tgtEl>
                                        <p:attrNameLst>
                                          <p:attrName>style.visibility</p:attrName>
                                        </p:attrNameLst>
                                      </p:cBhvr>
                                      <p:to>
                                        <p:strVal val="visible"/>
                                      </p:to>
                                    </p:set>
                                    <p:anim calcmode="lin" valueType="num">
                                      <p:cBhvr>
                                        <p:cTn id="50" dur="1000" fill="hold"/>
                                        <p:tgtEl>
                                          <p:spTgt spid="472092"/>
                                        </p:tgtEl>
                                        <p:attrNameLst>
                                          <p:attrName>ppt_w</p:attrName>
                                        </p:attrNameLst>
                                      </p:cBhvr>
                                      <p:tavLst>
                                        <p:tav tm="0">
                                          <p:val>
                                            <p:strVal val="#ppt_w*0.70"/>
                                          </p:val>
                                        </p:tav>
                                        <p:tav tm="100000">
                                          <p:val>
                                            <p:strVal val="#ppt_w"/>
                                          </p:val>
                                        </p:tav>
                                      </p:tavLst>
                                    </p:anim>
                                    <p:anim calcmode="lin" valueType="num">
                                      <p:cBhvr>
                                        <p:cTn id="51" dur="1000" fill="hold"/>
                                        <p:tgtEl>
                                          <p:spTgt spid="472092"/>
                                        </p:tgtEl>
                                        <p:attrNameLst>
                                          <p:attrName>ppt_h</p:attrName>
                                        </p:attrNameLst>
                                      </p:cBhvr>
                                      <p:tavLst>
                                        <p:tav tm="0">
                                          <p:val>
                                            <p:strVal val="#ppt_h"/>
                                          </p:val>
                                        </p:tav>
                                        <p:tav tm="100000">
                                          <p:val>
                                            <p:strVal val="#ppt_h"/>
                                          </p:val>
                                        </p:tav>
                                      </p:tavLst>
                                    </p:anim>
                                    <p:animEffect transition="in" filter="fade">
                                      <p:cBhvr>
                                        <p:cTn id="52" dur="1000"/>
                                        <p:tgtEl>
                                          <p:spTgt spid="472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9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5" name="Rectangle 3"/>
          <p:cNvSpPr>
            <a:spLocks noChangeArrowheads="1"/>
          </p:cNvSpPr>
          <p:nvPr/>
        </p:nvSpPr>
        <p:spPr bwMode="auto">
          <a:xfrm>
            <a:off x="608013" y="836613"/>
            <a:ext cx="8208962" cy="445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en-US" altLang="zh-CN">
                <a:solidFill>
                  <a:srgbClr val="FF0000"/>
                </a:solidFill>
                <a:latin typeface="Times New Roman" panose="02020603050405020304" pitchFamily="18" charset="0"/>
              </a:rPr>
              <a:t>2</a:t>
            </a:r>
            <a:r>
              <a:rPr kumimoji="1" lang="zh-CN" altLang="en-US">
                <a:solidFill>
                  <a:srgbClr val="FF0000"/>
                </a:solidFill>
                <a:latin typeface="Times New Roman" panose="02020603050405020304" pitchFamily="18" charset="0"/>
              </a:rPr>
              <a:t>、复轨迹</a:t>
            </a:r>
          </a:p>
          <a:p>
            <a:pPr eaLnBrk="1" hangingPunct="1">
              <a:lnSpc>
                <a:spcPct val="120000"/>
              </a:lnSpc>
              <a:spcBef>
                <a:spcPct val="20000"/>
              </a:spcBef>
              <a:buClr>
                <a:schemeClr val="accent2"/>
              </a:buClr>
              <a:buFont typeface="Wingdings" panose="05000000000000000000" pitchFamily="2" charset="2"/>
              <a:buNone/>
            </a:pPr>
            <a:r>
              <a:rPr kumimoji="1" lang="zh-CN" altLang="en-US">
                <a:latin typeface="Times New Roman" panose="02020603050405020304" pitchFamily="18" charset="0"/>
              </a:rPr>
              <a:t>      复变量</a:t>
            </a:r>
            <a:r>
              <a:rPr kumimoji="1" lang="en-US" altLang="zh-CN">
                <a:latin typeface="Times New Roman" panose="02020603050405020304" pitchFamily="18" charset="0"/>
              </a:rPr>
              <a:t>s</a:t>
            </a:r>
            <a:r>
              <a:rPr kumimoji="1" lang="zh-CN" altLang="en-US">
                <a:latin typeface="Times New Roman" panose="02020603050405020304" pitchFamily="18" charset="0"/>
              </a:rPr>
              <a:t>在复平面上沿虚轴</a:t>
            </a:r>
            <a:r>
              <a:rPr kumimoji="1" lang="en-US" altLang="zh-CN">
                <a:latin typeface="Times New Roman" panose="02020603050405020304" pitchFamily="18" charset="0"/>
              </a:rPr>
              <a:t>jω</a:t>
            </a:r>
            <a:r>
              <a:rPr kumimoji="1" lang="zh-CN" altLang="en-US">
                <a:latin typeface="Times New Roman" panose="02020603050405020304" pitchFamily="18" charset="0"/>
              </a:rPr>
              <a:t>变化。对应的系统函数</a:t>
            </a:r>
            <a:r>
              <a:rPr kumimoji="1" lang="en-US" altLang="zh-CN">
                <a:latin typeface="Times New Roman" panose="02020603050405020304" pitchFamily="18" charset="0"/>
              </a:rPr>
              <a:t>H(jω)</a:t>
            </a:r>
            <a:r>
              <a:rPr kumimoji="1" lang="zh-CN" altLang="en-US">
                <a:latin typeface="Times New Roman" panose="02020603050405020304" pitchFamily="18" charset="0"/>
              </a:rPr>
              <a:t>的变化构成一条曲线，称为</a:t>
            </a:r>
            <a:r>
              <a:rPr kumimoji="1" lang="zh-CN" altLang="en-US">
                <a:solidFill>
                  <a:srgbClr val="FF0000"/>
                </a:solidFill>
                <a:latin typeface="Times New Roman" panose="02020603050405020304" pitchFamily="18" charset="0"/>
              </a:rPr>
              <a:t>系统的复轨迹</a:t>
            </a:r>
            <a:r>
              <a:rPr kumimoji="1" lang="zh-CN" altLang="en-US">
                <a:latin typeface="Times New Roman" panose="02020603050405020304" pitchFamily="18" charset="0"/>
              </a:rPr>
              <a:t>。</a:t>
            </a:r>
          </a:p>
          <a:p>
            <a:pPr eaLnBrk="1" hangingPunct="1">
              <a:lnSpc>
                <a:spcPct val="120000"/>
              </a:lnSpc>
              <a:spcBef>
                <a:spcPct val="20000"/>
              </a:spcBef>
              <a:buClr>
                <a:schemeClr val="accent2"/>
              </a:buClr>
              <a:buFont typeface="Wingdings" panose="05000000000000000000" pitchFamily="2" charset="2"/>
              <a:buNone/>
            </a:pPr>
            <a:r>
              <a:rPr kumimoji="1" lang="zh-CN" altLang="en-US">
                <a:latin typeface="Times New Roman" panose="02020603050405020304" pitchFamily="18" charset="0"/>
              </a:rPr>
              <a:t>      </a:t>
            </a:r>
            <a:r>
              <a:rPr kumimoji="1" lang="zh-CN" altLang="en-US">
                <a:solidFill>
                  <a:srgbClr val="0000FF"/>
                </a:solidFill>
                <a:latin typeface="Times New Roman" panose="02020603050405020304" pitchFamily="18" charset="0"/>
              </a:rPr>
              <a:t>即：一般复轨迹指</a:t>
            </a:r>
            <a:r>
              <a:rPr kumimoji="1" lang="en-US" altLang="zh-CN">
                <a:solidFill>
                  <a:srgbClr val="0000FF"/>
                </a:solidFill>
                <a:latin typeface="Times New Roman" panose="02020603050405020304" pitchFamily="18" charset="0"/>
              </a:rPr>
              <a:t>σ=0</a:t>
            </a:r>
            <a:r>
              <a:rPr kumimoji="1" lang="zh-CN" altLang="en-US">
                <a:solidFill>
                  <a:srgbClr val="0000FF"/>
                </a:solidFill>
                <a:latin typeface="Times New Roman" panose="02020603050405020304" pitchFamily="18" charset="0"/>
              </a:rPr>
              <a:t>时</a:t>
            </a:r>
            <a:r>
              <a:rPr kumimoji="1" lang="en-US" altLang="zh-CN">
                <a:solidFill>
                  <a:srgbClr val="0000FF"/>
                </a:solidFill>
                <a:latin typeface="Times New Roman" panose="02020603050405020304" pitchFamily="18" charset="0"/>
              </a:rPr>
              <a:t>H(s)</a:t>
            </a:r>
            <a:r>
              <a:rPr kumimoji="1" lang="zh-CN" altLang="en-US">
                <a:solidFill>
                  <a:srgbClr val="0000FF"/>
                </a:solidFill>
                <a:latin typeface="Times New Roman" panose="02020603050405020304" pitchFamily="18" charset="0"/>
              </a:rPr>
              <a:t>形成的轨迹。当</a:t>
            </a:r>
            <a:r>
              <a:rPr kumimoji="1" lang="en-US" altLang="zh-CN">
                <a:solidFill>
                  <a:srgbClr val="0000FF"/>
                </a:solidFill>
                <a:latin typeface="Times New Roman" panose="02020603050405020304" pitchFamily="18" charset="0"/>
              </a:rPr>
              <a:t>σ≠0</a:t>
            </a:r>
            <a:r>
              <a:rPr kumimoji="1" lang="zh-CN" altLang="en-US">
                <a:solidFill>
                  <a:srgbClr val="0000FF"/>
                </a:solidFill>
                <a:latin typeface="Times New Roman" panose="02020603050405020304" pitchFamily="18" charset="0"/>
              </a:rPr>
              <a:t>，</a:t>
            </a:r>
            <a:r>
              <a:rPr kumimoji="1" lang="en-US" altLang="zh-CN">
                <a:solidFill>
                  <a:srgbClr val="0000FF"/>
                </a:solidFill>
                <a:latin typeface="Times New Roman" panose="02020603050405020304" pitchFamily="18" charset="0"/>
              </a:rPr>
              <a:t>σ</a:t>
            </a:r>
            <a:r>
              <a:rPr kumimoji="1" lang="zh-CN" altLang="en-US">
                <a:solidFill>
                  <a:srgbClr val="0000FF"/>
                </a:solidFill>
                <a:latin typeface="Times New Roman" panose="02020603050405020304" pitchFamily="18" charset="0"/>
              </a:rPr>
              <a:t>＝</a:t>
            </a:r>
            <a:r>
              <a:rPr kumimoji="1" lang="en-US" altLang="zh-CN">
                <a:solidFill>
                  <a:srgbClr val="0000FF"/>
                </a:solidFill>
                <a:latin typeface="Times New Roman" panose="02020603050405020304" pitchFamily="18" charset="0"/>
              </a:rPr>
              <a:t>σ</a:t>
            </a:r>
            <a:r>
              <a:rPr kumimoji="1" lang="en-US" altLang="zh-CN" baseline="-25000">
                <a:solidFill>
                  <a:srgbClr val="0000FF"/>
                </a:solidFill>
                <a:latin typeface="Times New Roman" panose="02020603050405020304" pitchFamily="18" charset="0"/>
              </a:rPr>
              <a:t>0</a:t>
            </a:r>
            <a:r>
              <a:rPr kumimoji="1" lang="zh-CN" altLang="en-US">
                <a:solidFill>
                  <a:srgbClr val="0000FF"/>
                </a:solidFill>
                <a:latin typeface="Times New Roman" panose="02020603050405020304" pitchFamily="18" charset="0"/>
              </a:rPr>
              <a:t>时，</a:t>
            </a:r>
            <a:r>
              <a:rPr kumimoji="1" lang="en-US" altLang="zh-CN">
                <a:solidFill>
                  <a:srgbClr val="0000FF"/>
                </a:solidFill>
                <a:latin typeface="Times New Roman" panose="02020603050405020304" pitchFamily="18" charset="0"/>
              </a:rPr>
              <a:t>ω</a:t>
            </a:r>
            <a:r>
              <a:rPr kumimoji="1" lang="zh-CN" altLang="en-US">
                <a:solidFill>
                  <a:srgbClr val="0000FF"/>
                </a:solidFill>
                <a:latin typeface="Times New Roman" panose="02020603050405020304" pitchFamily="18" charset="0"/>
              </a:rPr>
              <a:t>变化，</a:t>
            </a:r>
            <a:r>
              <a:rPr kumimoji="1" lang="en-US" altLang="zh-CN">
                <a:solidFill>
                  <a:srgbClr val="0000FF"/>
                </a:solidFill>
                <a:latin typeface="Times New Roman" panose="02020603050405020304" pitchFamily="18" charset="0"/>
              </a:rPr>
              <a:t>H(s)</a:t>
            </a:r>
            <a:r>
              <a:rPr kumimoji="1" lang="zh-CN" altLang="en-US">
                <a:solidFill>
                  <a:srgbClr val="0000FF"/>
                </a:solidFill>
                <a:latin typeface="Times New Roman" panose="02020603050405020304" pitchFamily="18" charset="0"/>
              </a:rPr>
              <a:t>亦形成一轨迹。当</a:t>
            </a:r>
            <a:r>
              <a:rPr kumimoji="1" lang="en-US" altLang="zh-CN">
                <a:solidFill>
                  <a:srgbClr val="0000FF"/>
                </a:solidFill>
                <a:latin typeface="Times New Roman" panose="02020603050405020304" pitchFamily="18" charset="0"/>
              </a:rPr>
              <a:t>σ</a:t>
            </a:r>
            <a:r>
              <a:rPr kumimoji="1" lang="zh-CN" altLang="en-US">
                <a:solidFill>
                  <a:srgbClr val="0000FF"/>
                </a:solidFill>
                <a:latin typeface="Times New Roman" panose="02020603050405020304" pitchFamily="18" charset="0"/>
              </a:rPr>
              <a:t>变化时，复轨迹形成一曲线族。</a:t>
            </a:r>
          </a:p>
          <a:p>
            <a:pPr eaLnBrk="1" hangingPunct="1">
              <a:lnSpc>
                <a:spcPct val="120000"/>
              </a:lnSpc>
              <a:spcBef>
                <a:spcPct val="20000"/>
              </a:spcBef>
              <a:buClr>
                <a:schemeClr val="accent2"/>
              </a:buClr>
              <a:buFont typeface="Wingdings" panose="05000000000000000000" pitchFamily="2" charset="2"/>
              <a:buNone/>
            </a:pPr>
            <a:r>
              <a:rPr kumimoji="1" lang="zh-CN" altLang="en-US">
                <a:latin typeface="Times New Roman" panose="02020603050405020304" pitchFamily="18" charset="0"/>
              </a:rPr>
              <a:t>      上例中：       </a:t>
            </a:r>
            <a:endParaRPr kumimoji="1" lang="el-GR" altLang="zh-CN">
              <a:latin typeface="Times New Roman" panose="02020603050405020304" pitchFamily="18" charset="0"/>
            </a:endParaRPr>
          </a:p>
        </p:txBody>
      </p:sp>
      <p:graphicFrame>
        <p:nvGraphicFramePr>
          <p:cNvPr id="474119" name="Object 2"/>
          <p:cNvGraphicFramePr>
            <a:graphicFrameLocks noGrp="1" noChangeAspect="1"/>
          </p:cNvGraphicFramePr>
          <p:nvPr>
            <p:ph idx="1"/>
          </p:nvPr>
        </p:nvGraphicFramePr>
        <p:xfrm>
          <a:off x="1694657" y="4889818"/>
          <a:ext cx="6473825" cy="1304290"/>
        </p:xfrm>
        <a:graphic>
          <a:graphicData uri="http://schemas.openxmlformats.org/presentationml/2006/ole">
            <mc:AlternateContent xmlns:mc="http://schemas.openxmlformats.org/markup-compatibility/2006">
              <mc:Choice xmlns:v="urn:schemas-microsoft-com:vml" Requires="v">
                <p:oleObj name="公式" r:id="rId2" imgW="3467100" imgH="698500" progId="Equation.3">
                  <p:embed/>
                </p:oleObj>
              </mc:Choice>
              <mc:Fallback>
                <p:oleObj name="公式" r:id="rId2" imgW="3467100" imgH="698500" progId="Equation.3">
                  <p:embed/>
                  <p:pic>
                    <p:nvPicPr>
                      <p:cNvPr id="0" name="Object 2"/>
                      <p:cNvPicPr>
                        <a:picLocks noChangeAspect="1" noChangeArrowheads="1"/>
                      </p:cNvPicPr>
                      <p:nvPr/>
                    </p:nvPicPr>
                    <p:blipFill>
                      <a:blip r:embed="rId3"/>
                      <a:srcRect/>
                      <a:stretch>
                        <a:fillRect/>
                      </a:stretch>
                    </p:blipFill>
                    <p:spPr bwMode="auto">
                      <a:xfrm>
                        <a:off x="1694657" y="4889818"/>
                        <a:ext cx="6473825" cy="1304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4121" name="Rectangle 9"/>
          <p:cNvSpPr>
            <a:spLocks noChangeArrowheads="1"/>
          </p:cNvSpPr>
          <p:nvPr/>
        </p:nvSpPr>
        <p:spPr bwMode="auto">
          <a:xfrm>
            <a:off x="688975" y="100013"/>
            <a:ext cx="4608513" cy="693737"/>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chemeClr val="bg1"/>
                </a:solidFill>
                <a:effectLst>
                  <a:outerShdw blurRad="38100" dist="38100" dir="2700000" algn="tl">
                    <a:srgbClr val="000000"/>
                  </a:outerShdw>
                </a:effectLst>
                <a:latin typeface="楷体_GB2312" pitchFamily="49" charset="-122"/>
                <a:ea typeface="楷体_GB2312" pitchFamily="49" charset="-122"/>
              </a:rPr>
              <a:t>§6.2 </a:t>
            </a:r>
            <a:r>
              <a:rPr lang="zh-CN" altLang="en-US">
                <a:solidFill>
                  <a:schemeClr val="bg1"/>
                </a:solidFill>
                <a:effectLst>
                  <a:outerShdw blurRad="38100" dist="38100" dir="2700000" algn="tl">
                    <a:srgbClr val="000000"/>
                  </a:outerShdw>
                </a:effectLst>
                <a:latin typeface="楷体_GB2312" pitchFamily="49" charset="-122"/>
                <a:ea typeface="楷体_GB2312" pitchFamily="49" charset="-122"/>
              </a:rPr>
              <a:t>系统函数的表示法</a:t>
            </a:r>
          </a:p>
        </p:txBody>
      </p:sp>
      <p:sp>
        <p:nvSpPr>
          <p:cNvPr id="6" name="日期占位符 5"/>
          <p:cNvSpPr>
            <a:spLocks noGrp="1"/>
          </p:cNvSpPr>
          <p:nvPr>
            <p:ph type="dt" sz="quarter" idx="10"/>
          </p:nvPr>
        </p:nvSpPr>
        <p:spPr/>
        <p:txBody>
          <a:bodyPr/>
          <a:lstStyle/>
          <a:p>
            <a:pPr>
              <a:defRPr/>
            </a:pPr>
            <a:fld id="{47C5667B-6C8B-4C7D-817C-F89C9A4CB52F}" type="datetime1">
              <a:rPr lang="zh-CN" altLang="en-US"/>
              <a:t>2026/4/28</a:t>
            </a:fld>
            <a:endParaRPr lang="zh-CN" altLang="en-US"/>
          </a:p>
        </p:txBody>
      </p:sp>
      <p:sp>
        <p:nvSpPr>
          <p:cNvPr id="2" name="墨迹 1"/>
          <p:cNvSpPr/>
          <p:nvPr/>
        </p:nvSpPr>
        <p:spPr bwMode="auto">
          <a:xfrm>
            <a:off x="608400" y="2446200"/>
            <a:ext cx="7677000" cy="2179440"/>
          </a:xfrm>
        </p:spPr>
      </p:sp>
    </p:spTree>
  </p:cSld>
  <p:clrMapOvr>
    <a:masterClrMapping/>
  </p:clrMapOvr>
  <mc:AlternateContent xmlns:mc="http://schemas.openxmlformats.org/markup-compatibility/2006" xmlns:p14="http://schemas.microsoft.com/office/powerpoint/2010/main">
    <mc:Choice Requires="p14">
      <p:transition spd="slow" p14:dur="2000" advTm="134064"/>
    </mc:Choice>
    <mc:Fallback xmlns="">
      <p:transition spd="slow" advTm="1340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474115">
                                            <p:txEl>
                                              <p:pRg st="1" end="1"/>
                                            </p:txEl>
                                          </p:spTgt>
                                        </p:tgtEl>
                                        <p:attrNameLst>
                                          <p:attrName>style.visibility</p:attrName>
                                        </p:attrNameLst>
                                      </p:cBhvr>
                                      <p:to>
                                        <p:strVal val="visible"/>
                                      </p:to>
                                    </p:set>
                                    <p:anim calcmode="lin" valueType="num">
                                      <p:cBhvr>
                                        <p:cTn id="11" dur="1000" fill="hold"/>
                                        <p:tgtEl>
                                          <p:spTgt spid="474115">
                                            <p:txEl>
                                              <p:pRg st="1" end="1"/>
                                            </p:txEl>
                                          </p:spTgt>
                                        </p:tgtEl>
                                        <p:attrNameLst>
                                          <p:attrName>ppt_w</p:attrName>
                                        </p:attrNameLst>
                                      </p:cBhvr>
                                      <p:tavLst>
                                        <p:tav tm="0">
                                          <p:val>
                                            <p:strVal val="#ppt_w*0.70"/>
                                          </p:val>
                                        </p:tav>
                                        <p:tav tm="100000">
                                          <p:val>
                                            <p:strVal val="#ppt_w"/>
                                          </p:val>
                                        </p:tav>
                                      </p:tavLst>
                                    </p:anim>
                                    <p:anim calcmode="lin" valueType="num">
                                      <p:cBhvr>
                                        <p:cTn id="12" dur="1000" fill="hold"/>
                                        <p:tgtEl>
                                          <p:spTgt spid="474115">
                                            <p:txEl>
                                              <p:pRg st="1" end="1"/>
                                            </p:txEl>
                                          </p:spTgt>
                                        </p:tgtEl>
                                        <p:attrNameLst>
                                          <p:attrName>ppt_h</p:attrName>
                                        </p:attrNameLst>
                                      </p:cBhvr>
                                      <p:tavLst>
                                        <p:tav tm="0">
                                          <p:val>
                                            <p:strVal val="#ppt_h"/>
                                          </p:val>
                                        </p:tav>
                                        <p:tav tm="100000">
                                          <p:val>
                                            <p:strVal val="#ppt_h"/>
                                          </p:val>
                                        </p:tav>
                                      </p:tavLst>
                                    </p:anim>
                                    <p:animEffect transition="in" filter="fade">
                                      <p:cBhvr>
                                        <p:cTn id="13" dur="1000"/>
                                        <p:tgtEl>
                                          <p:spTgt spid="474115">
                                            <p:txEl>
                                              <p:pRg st="1" end="1"/>
                                            </p:txEl>
                                          </p:spTgt>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474115">
                                            <p:txEl>
                                              <p:pRg st="2" end="2"/>
                                            </p:txEl>
                                          </p:spTgt>
                                        </p:tgtEl>
                                        <p:attrNameLst>
                                          <p:attrName>style.visibility</p:attrName>
                                        </p:attrNameLst>
                                      </p:cBhvr>
                                      <p:to>
                                        <p:strVal val="visible"/>
                                      </p:to>
                                    </p:set>
                                    <p:anim calcmode="lin" valueType="num">
                                      <p:cBhvr>
                                        <p:cTn id="17" dur="1000" fill="hold"/>
                                        <p:tgtEl>
                                          <p:spTgt spid="474115">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474115">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474115">
                                            <p:txEl>
                                              <p:pRg st="2" end="2"/>
                                            </p:txEl>
                                          </p:spTgt>
                                        </p:tgtEl>
                                      </p:cBhvr>
                                    </p:animEffect>
                                  </p:childTnLst>
                                </p:cTn>
                              </p:par>
                            </p:childTnLst>
                          </p:cTn>
                        </p:par>
                        <p:par>
                          <p:cTn id="20" fill="hold">
                            <p:stCondLst>
                              <p:cond delay="2000"/>
                            </p:stCondLst>
                            <p:childTnLst>
                              <p:par>
                                <p:cTn id="21" presetID="55" presetClass="entr" presetSubtype="0" fill="hold" nodeType="afterEffect">
                                  <p:stCondLst>
                                    <p:cond delay="0"/>
                                  </p:stCondLst>
                                  <p:childTnLst>
                                    <p:set>
                                      <p:cBhvr>
                                        <p:cTn id="22" dur="1" fill="hold">
                                          <p:stCondLst>
                                            <p:cond delay="0"/>
                                          </p:stCondLst>
                                        </p:cTn>
                                        <p:tgtEl>
                                          <p:spTgt spid="474115">
                                            <p:txEl>
                                              <p:pRg st="3" end="3"/>
                                            </p:txEl>
                                          </p:spTgt>
                                        </p:tgtEl>
                                        <p:attrNameLst>
                                          <p:attrName>style.visibility</p:attrName>
                                        </p:attrNameLst>
                                      </p:cBhvr>
                                      <p:to>
                                        <p:strVal val="visible"/>
                                      </p:to>
                                    </p:set>
                                    <p:anim calcmode="lin" valueType="num">
                                      <p:cBhvr>
                                        <p:cTn id="23" dur="1000" fill="hold"/>
                                        <p:tgtEl>
                                          <p:spTgt spid="474115">
                                            <p:txEl>
                                              <p:pRg st="3" end="3"/>
                                            </p:txEl>
                                          </p:spTgt>
                                        </p:tgtEl>
                                        <p:attrNameLst>
                                          <p:attrName>ppt_w</p:attrName>
                                        </p:attrNameLst>
                                      </p:cBhvr>
                                      <p:tavLst>
                                        <p:tav tm="0">
                                          <p:val>
                                            <p:strVal val="#ppt_w*0.70"/>
                                          </p:val>
                                        </p:tav>
                                        <p:tav tm="100000">
                                          <p:val>
                                            <p:strVal val="#ppt_w"/>
                                          </p:val>
                                        </p:tav>
                                      </p:tavLst>
                                    </p:anim>
                                    <p:anim calcmode="lin" valueType="num">
                                      <p:cBhvr>
                                        <p:cTn id="24" dur="1000" fill="hold"/>
                                        <p:tgtEl>
                                          <p:spTgt spid="474115">
                                            <p:txEl>
                                              <p:pRg st="3" end="3"/>
                                            </p:txEl>
                                          </p:spTgt>
                                        </p:tgtEl>
                                        <p:attrNameLst>
                                          <p:attrName>ppt_h</p:attrName>
                                        </p:attrNameLst>
                                      </p:cBhvr>
                                      <p:tavLst>
                                        <p:tav tm="0">
                                          <p:val>
                                            <p:strVal val="#ppt_h"/>
                                          </p:val>
                                        </p:tav>
                                        <p:tav tm="100000">
                                          <p:val>
                                            <p:strVal val="#ppt_h"/>
                                          </p:val>
                                        </p:tav>
                                      </p:tavLst>
                                    </p:anim>
                                    <p:animEffect transition="in" filter="fade">
                                      <p:cBhvr>
                                        <p:cTn id="25" dur="1000"/>
                                        <p:tgtEl>
                                          <p:spTgt spid="474115">
                                            <p:txEl>
                                              <p:pRg st="3" end="3"/>
                                            </p:txEl>
                                          </p:spTgt>
                                        </p:tgtEl>
                                      </p:cBhvr>
                                    </p:animEffect>
                                  </p:childTnLst>
                                </p:cTn>
                              </p:par>
                            </p:childTnLst>
                          </p:cTn>
                        </p:par>
                        <p:par>
                          <p:cTn id="26" fill="hold">
                            <p:stCondLst>
                              <p:cond delay="3000"/>
                            </p:stCondLst>
                            <p:childTnLst>
                              <p:par>
                                <p:cTn id="27" presetID="55" presetClass="entr" presetSubtype="0" fill="hold" nodeType="afterEffect">
                                  <p:stCondLst>
                                    <p:cond delay="0"/>
                                  </p:stCondLst>
                                  <p:childTnLst>
                                    <p:set>
                                      <p:cBhvr>
                                        <p:cTn id="28" dur="1" fill="hold">
                                          <p:stCondLst>
                                            <p:cond delay="0"/>
                                          </p:stCondLst>
                                        </p:cTn>
                                        <p:tgtEl>
                                          <p:spTgt spid="474119"/>
                                        </p:tgtEl>
                                        <p:attrNameLst>
                                          <p:attrName>style.visibility</p:attrName>
                                        </p:attrNameLst>
                                      </p:cBhvr>
                                      <p:to>
                                        <p:strVal val="visible"/>
                                      </p:to>
                                    </p:set>
                                    <p:anim calcmode="lin" valueType="num">
                                      <p:cBhvr>
                                        <p:cTn id="29" dur="1000" fill="hold"/>
                                        <p:tgtEl>
                                          <p:spTgt spid="474119"/>
                                        </p:tgtEl>
                                        <p:attrNameLst>
                                          <p:attrName>ppt_w</p:attrName>
                                        </p:attrNameLst>
                                      </p:cBhvr>
                                      <p:tavLst>
                                        <p:tav tm="0">
                                          <p:val>
                                            <p:strVal val="#ppt_w*0.70"/>
                                          </p:val>
                                        </p:tav>
                                        <p:tav tm="100000">
                                          <p:val>
                                            <p:strVal val="#ppt_w"/>
                                          </p:val>
                                        </p:tav>
                                      </p:tavLst>
                                    </p:anim>
                                    <p:anim calcmode="lin" valueType="num">
                                      <p:cBhvr>
                                        <p:cTn id="30" dur="1000" fill="hold"/>
                                        <p:tgtEl>
                                          <p:spTgt spid="474119"/>
                                        </p:tgtEl>
                                        <p:attrNameLst>
                                          <p:attrName>ppt_h</p:attrName>
                                        </p:attrNameLst>
                                      </p:cBhvr>
                                      <p:tavLst>
                                        <p:tav tm="0">
                                          <p:val>
                                            <p:strVal val="#ppt_h"/>
                                          </p:val>
                                        </p:tav>
                                        <p:tav tm="100000">
                                          <p:val>
                                            <p:strVal val="#ppt_h"/>
                                          </p:val>
                                        </p:tav>
                                      </p:tavLst>
                                    </p:anim>
                                    <p:animEffect transition="in" filter="fade">
                                      <p:cBhvr>
                                        <p:cTn id="31" dur="1000"/>
                                        <p:tgtEl>
                                          <p:spTgt spid="474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5139" name="Object 2"/>
          <p:cNvGraphicFramePr>
            <a:graphicFrameLocks noGrp="1" noChangeAspect="1"/>
          </p:cNvGraphicFramePr>
          <p:nvPr>
            <p:ph sz="half" idx="1"/>
          </p:nvPr>
        </p:nvGraphicFramePr>
        <p:xfrm>
          <a:off x="2108994" y="2835911"/>
          <a:ext cx="4092575" cy="2948305"/>
        </p:xfrm>
        <a:graphic>
          <a:graphicData uri="http://schemas.openxmlformats.org/presentationml/2006/ole">
            <mc:AlternateContent xmlns:mc="http://schemas.openxmlformats.org/markup-compatibility/2006">
              <mc:Choice xmlns:v="urn:schemas-microsoft-com:vml" Requires="v">
                <p:oleObj name="公式" r:id="rId2" imgW="1981200" imgH="1574800" progId="Equation.3">
                  <p:embed/>
                </p:oleObj>
              </mc:Choice>
              <mc:Fallback>
                <p:oleObj name="公式" r:id="rId2" imgW="1981200" imgH="1574800" progId="Equation.3">
                  <p:embed/>
                  <p:pic>
                    <p:nvPicPr>
                      <p:cNvPr id="0" name="Object 2"/>
                      <p:cNvPicPr>
                        <a:picLocks noChangeAspect="1" noChangeArrowheads="1"/>
                      </p:cNvPicPr>
                      <p:nvPr/>
                    </p:nvPicPr>
                    <p:blipFill>
                      <a:blip r:embed="rId3"/>
                      <a:srcRect/>
                      <a:stretch>
                        <a:fillRect/>
                      </a:stretch>
                    </p:blipFill>
                    <p:spPr bwMode="auto">
                      <a:xfrm>
                        <a:off x="2108994" y="2835911"/>
                        <a:ext cx="4092575" cy="294830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475142" name="Rectangle 6"/>
          <p:cNvSpPr>
            <a:spLocks noChangeArrowheads="1"/>
          </p:cNvSpPr>
          <p:nvPr/>
        </p:nvSpPr>
        <p:spPr bwMode="auto">
          <a:xfrm>
            <a:off x="755650" y="115888"/>
            <a:ext cx="4608513" cy="693737"/>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chemeClr val="bg1"/>
                </a:solidFill>
                <a:effectLst>
                  <a:outerShdw blurRad="38100" dist="38100" dir="2700000" algn="tl">
                    <a:srgbClr val="000000"/>
                  </a:outerShdw>
                </a:effectLst>
                <a:latin typeface="楷体_GB2312" pitchFamily="49" charset="-122"/>
                <a:ea typeface="楷体_GB2312" pitchFamily="49" charset="-122"/>
              </a:rPr>
              <a:t>§6.2 </a:t>
            </a:r>
            <a:r>
              <a:rPr lang="zh-CN" altLang="en-US">
                <a:solidFill>
                  <a:schemeClr val="bg1"/>
                </a:solidFill>
                <a:effectLst>
                  <a:outerShdw blurRad="38100" dist="38100" dir="2700000" algn="tl">
                    <a:srgbClr val="000000"/>
                  </a:outerShdw>
                </a:effectLst>
                <a:latin typeface="楷体_GB2312" pitchFamily="49" charset="-122"/>
                <a:ea typeface="楷体_GB2312" pitchFamily="49" charset="-122"/>
              </a:rPr>
              <a:t>系统函数的表示法</a:t>
            </a:r>
          </a:p>
        </p:txBody>
      </p:sp>
      <p:sp>
        <p:nvSpPr>
          <p:cNvPr id="6" name="日期占位符 5"/>
          <p:cNvSpPr>
            <a:spLocks noGrp="1"/>
          </p:cNvSpPr>
          <p:nvPr>
            <p:ph type="dt" sz="quarter" idx="10"/>
          </p:nvPr>
        </p:nvSpPr>
        <p:spPr/>
        <p:txBody>
          <a:bodyPr/>
          <a:lstStyle/>
          <a:p>
            <a:pPr>
              <a:defRPr/>
            </a:pPr>
            <a:fld id="{97222256-97A3-4276-B9EC-29524065443B}" type="datetime1">
              <a:rPr lang="zh-CN" altLang="en-US"/>
              <a:t>2026/4/28</a:t>
            </a:fld>
            <a:endParaRPr lang="en-US" altLang="zh-CN"/>
          </a:p>
        </p:txBody>
      </p:sp>
      <p:graphicFrame>
        <p:nvGraphicFramePr>
          <p:cNvPr id="474119" name="Object 2"/>
          <p:cNvGraphicFramePr>
            <a:graphicFrameLocks noGrp="1" noChangeAspect="1"/>
          </p:cNvGraphicFramePr>
          <p:nvPr/>
        </p:nvGraphicFramePr>
        <p:xfrm>
          <a:off x="1029177" y="980758"/>
          <a:ext cx="6473825" cy="1304290"/>
        </p:xfrm>
        <a:graphic>
          <a:graphicData uri="http://schemas.openxmlformats.org/presentationml/2006/ole">
            <mc:AlternateContent xmlns:mc="http://schemas.openxmlformats.org/markup-compatibility/2006">
              <mc:Choice xmlns:v="urn:schemas-microsoft-com:vml" Requires="v">
                <p:oleObj name="公式" r:id="rId4" imgW="3467100" imgH="698500" progId="Equation.3">
                  <p:embed/>
                </p:oleObj>
              </mc:Choice>
              <mc:Fallback>
                <p:oleObj name="公式" r:id="rId4" imgW="3467100" imgH="698500" progId="Equation.3">
                  <p:embed/>
                  <p:pic>
                    <p:nvPicPr>
                      <p:cNvPr id="0" name="Object 2"/>
                      <p:cNvPicPr>
                        <a:picLocks noChangeAspect="1" noChangeArrowheads="1"/>
                      </p:cNvPicPr>
                      <p:nvPr/>
                    </p:nvPicPr>
                    <p:blipFill>
                      <a:blip r:embed="rId5"/>
                      <a:srcRect/>
                      <a:stretch>
                        <a:fillRect/>
                      </a:stretch>
                    </p:blipFill>
                    <p:spPr bwMode="auto">
                      <a:xfrm>
                        <a:off x="1029177" y="980758"/>
                        <a:ext cx="6473825" cy="1304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15594"/>
    </mc:Choice>
    <mc:Fallback xmlns="">
      <p:transition spd="slow" advTm="155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75139"/>
                                        </p:tgtEl>
                                        <p:attrNameLst>
                                          <p:attrName>style.visibility</p:attrName>
                                        </p:attrNameLst>
                                      </p:cBhvr>
                                      <p:to>
                                        <p:strVal val="visible"/>
                                      </p:to>
                                    </p:set>
                                    <p:anim calcmode="lin" valueType="num">
                                      <p:cBhvr>
                                        <p:cTn id="7" dur="1000" fill="hold"/>
                                        <p:tgtEl>
                                          <p:spTgt spid="475139"/>
                                        </p:tgtEl>
                                        <p:attrNameLst>
                                          <p:attrName>ppt_w</p:attrName>
                                        </p:attrNameLst>
                                      </p:cBhvr>
                                      <p:tavLst>
                                        <p:tav tm="0">
                                          <p:val>
                                            <p:strVal val="#ppt_w*0.70"/>
                                          </p:val>
                                        </p:tav>
                                        <p:tav tm="100000">
                                          <p:val>
                                            <p:strVal val="#ppt_w"/>
                                          </p:val>
                                        </p:tav>
                                      </p:tavLst>
                                    </p:anim>
                                    <p:anim calcmode="lin" valueType="num">
                                      <p:cBhvr>
                                        <p:cTn id="8" dur="1000" fill="hold"/>
                                        <p:tgtEl>
                                          <p:spTgt spid="475139"/>
                                        </p:tgtEl>
                                        <p:attrNameLst>
                                          <p:attrName>ppt_h</p:attrName>
                                        </p:attrNameLst>
                                      </p:cBhvr>
                                      <p:tavLst>
                                        <p:tav tm="0">
                                          <p:val>
                                            <p:strVal val="#ppt_h"/>
                                          </p:val>
                                        </p:tav>
                                        <p:tav tm="100000">
                                          <p:val>
                                            <p:strVal val="#ppt_h"/>
                                          </p:val>
                                        </p:tav>
                                      </p:tavLst>
                                    </p:anim>
                                    <p:animEffect transition="in" filter="fade">
                                      <p:cBhvr>
                                        <p:cTn id="9" dur="1000"/>
                                        <p:tgtEl>
                                          <p:spTgt spid="475139"/>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474119"/>
                                        </p:tgtEl>
                                        <p:attrNameLst>
                                          <p:attrName>style.visibility</p:attrName>
                                        </p:attrNameLst>
                                      </p:cBhvr>
                                      <p:to>
                                        <p:strVal val="visible"/>
                                      </p:to>
                                    </p:set>
                                    <p:anim calcmode="lin" valueType="num">
                                      <p:cBhvr>
                                        <p:cTn id="13" dur="1000" fill="hold"/>
                                        <p:tgtEl>
                                          <p:spTgt spid="474119"/>
                                        </p:tgtEl>
                                        <p:attrNameLst>
                                          <p:attrName>ppt_w</p:attrName>
                                        </p:attrNameLst>
                                      </p:cBhvr>
                                      <p:tavLst>
                                        <p:tav tm="0">
                                          <p:val>
                                            <p:strVal val="#ppt_w*0.70"/>
                                          </p:val>
                                        </p:tav>
                                        <p:tav tm="100000">
                                          <p:val>
                                            <p:strVal val="#ppt_w"/>
                                          </p:val>
                                        </p:tav>
                                      </p:tavLst>
                                    </p:anim>
                                    <p:anim calcmode="lin" valueType="num">
                                      <p:cBhvr>
                                        <p:cTn id="14" dur="1000" fill="hold"/>
                                        <p:tgtEl>
                                          <p:spTgt spid="474119"/>
                                        </p:tgtEl>
                                        <p:attrNameLst>
                                          <p:attrName>ppt_h</p:attrName>
                                        </p:attrNameLst>
                                      </p:cBhvr>
                                      <p:tavLst>
                                        <p:tav tm="0">
                                          <p:val>
                                            <p:strVal val="#ppt_h"/>
                                          </p:val>
                                        </p:tav>
                                        <p:tav tm="100000">
                                          <p:val>
                                            <p:strVal val="#ppt_h"/>
                                          </p:val>
                                        </p:tav>
                                      </p:tavLst>
                                    </p:anim>
                                    <p:animEffect transition="in" filter="fade">
                                      <p:cBhvr>
                                        <p:cTn id="15" dur="1000"/>
                                        <p:tgtEl>
                                          <p:spTgt spid="474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6163" name="Object 2"/>
          <p:cNvGraphicFramePr>
            <a:graphicFrameLocks noGrp="1" noChangeAspect="1"/>
          </p:cNvGraphicFramePr>
          <p:nvPr>
            <p:ph sz="half" idx="1"/>
          </p:nvPr>
        </p:nvGraphicFramePr>
        <p:xfrm>
          <a:off x="874713" y="1661002"/>
          <a:ext cx="5124450" cy="2085975"/>
        </p:xfrm>
        <a:graphic>
          <a:graphicData uri="http://schemas.openxmlformats.org/presentationml/2006/ole">
            <mc:AlternateContent xmlns:mc="http://schemas.openxmlformats.org/markup-compatibility/2006">
              <mc:Choice xmlns:v="urn:schemas-microsoft-com:vml" Requires="v">
                <p:oleObj name="公式" r:id="rId3" imgW="2933700" imgH="1193800" progId="Equation.3">
                  <p:embed/>
                </p:oleObj>
              </mc:Choice>
              <mc:Fallback>
                <p:oleObj name="公式" r:id="rId3" imgW="2933700" imgH="1193800" progId="Equation.3">
                  <p:embed/>
                  <p:pic>
                    <p:nvPicPr>
                      <p:cNvPr id="0" name="Object 2"/>
                      <p:cNvPicPr>
                        <a:picLocks noChangeAspect="1" noChangeArrowheads="1"/>
                      </p:cNvPicPr>
                      <p:nvPr/>
                    </p:nvPicPr>
                    <p:blipFill>
                      <a:blip r:embed="rId4"/>
                      <a:srcRect/>
                      <a:stretch>
                        <a:fillRect/>
                      </a:stretch>
                    </p:blipFill>
                    <p:spPr bwMode="auto">
                      <a:xfrm>
                        <a:off x="874713" y="1661002"/>
                        <a:ext cx="5124450" cy="208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6174" name="Object 4"/>
          <p:cNvGraphicFramePr>
            <a:graphicFrameLocks noChangeAspect="1"/>
          </p:cNvGraphicFramePr>
          <p:nvPr/>
        </p:nvGraphicFramePr>
        <p:xfrm>
          <a:off x="873760" y="4289108"/>
          <a:ext cx="7539355" cy="1484630"/>
        </p:xfrm>
        <a:graphic>
          <a:graphicData uri="http://schemas.openxmlformats.org/presentationml/2006/ole">
            <mc:AlternateContent xmlns:mc="http://schemas.openxmlformats.org/markup-compatibility/2006">
              <mc:Choice xmlns:v="urn:schemas-microsoft-com:vml" Requires="v">
                <p:oleObj name="公式" r:id="rId5" imgW="4254500" imgH="838200" progId="Equation.3">
                  <p:embed/>
                </p:oleObj>
              </mc:Choice>
              <mc:Fallback>
                <p:oleObj name="公式" r:id="rId5" imgW="4254500" imgH="838200" progId="Equation.3">
                  <p:embed/>
                  <p:pic>
                    <p:nvPicPr>
                      <p:cNvPr id="0" name="Object 4"/>
                      <p:cNvPicPr>
                        <a:picLocks noChangeAspect="1" noChangeArrowheads="1"/>
                      </p:cNvPicPr>
                      <p:nvPr/>
                    </p:nvPicPr>
                    <p:blipFill>
                      <a:blip r:embed="rId6"/>
                      <a:srcRect/>
                      <a:stretch>
                        <a:fillRect/>
                      </a:stretch>
                    </p:blipFill>
                    <p:spPr bwMode="auto">
                      <a:xfrm>
                        <a:off x="873760" y="4289108"/>
                        <a:ext cx="7539355" cy="14846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日期占位符 5"/>
          <p:cNvSpPr>
            <a:spLocks noGrp="1"/>
          </p:cNvSpPr>
          <p:nvPr>
            <p:ph type="dt" sz="quarter" idx="10"/>
          </p:nvPr>
        </p:nvSpPr>
        <p:spPr/>
        <p:txBody>
          <a:bodyPr/>
          <a:lstStyle/>
          <a:p>
            <a:pPr>
              <a:defRPr/>
            </a:pPr>
            <a:fld id="{A330E0E0-2665-4489-863E-B8203EAF96A4}" type="datetime1">
              <a:rPr lang="zh-CN" altLang="en-US"/>
              <a:t>2026/4/28</a:t>
            </a:fld>
            <a:endParaRPr lang="en-US" altLang="zh-CN"/>
          </a:p>
        </p:txBody>
      </p:sp>
      <p:sp>
        <p:nvSpPr>
          <p:cNvPr id="2" name="墨迹 1"/>
          <p:cNvSpPr/>
          <p:nvPr/>
        </p:nvSpPr>
        <p:spPr bwMode="auto">
          <a:xfrm>
            <a:off x="1250280" y="1547640"/>
            <a:ext cx="7482960" cy="3274200"/>
          </a:xfrm>
        </p:spPr>
      </p:sp>
      <p:graphicFrame>
        <p:nvGraphicFramePr>
          <p:cNvPr id="475139" name="Object 2"/>
          <p:cNvGraphicFramePr>
            <a:graphicFrameLocks noGrp="1" noChangeAspect="1"/>
          </p:cNvGraphicFramePr>
          <p:nvPr/>
        </p:nvGraphicFramePr>
        <p:xfrm>
          <a:off x="874713" y="148908"/>
          <a:ext cx="6993890" cy="1311910"/>
        </p:xfrm>
        <a:graphic>
          <a:graphicData uri="http://schemas.openxmlformats.org/presentationml/2006/ole">
            <mc:AlternateContent xmlns:mc="http://schemas.openxmlformats.org/markup-compatibility/2006">
              <mc:Choice xmlns:v="urn:schemas-microsoft-com:vml" Requires="v">
                <p:oleObj name="公式" r:id="rId7" imgW="4419600" imgH="914400" progId="Equation.3">
                  <p:embed/>
                </p:oleObj>
              </mc:Choice>
              <mc:Fallback>
                <p:oleObj name="公式" r:id="rId7" imgW="4419600" imgH="914400" progId="Equation.3">
                  <p:embed/>
                  <p:pic>
                    <p:nvPicPr>
                      <p:cNvPr id="0" name="Object 2"/>
                      <p:cNvPicPr>
                        <a:picLocks noChangeAspect="1" noChangeArrowheads="1"/>
                      </p:cNvPicPr>
                      <p:nvPr/>
                    </p:nvPicPr>
                    <p:blipFill>
                      <a:blip r:embed="rId8"/>
                      <a:srcRect/>
                      <a:stretch>
                        <a:fillRect/>
                      </a:stretch>
                    </p:blipFill>
                    <p:spPr bwMode="auto">
                      <a:xfrm>
                        <a:off x="874713" y="148908"/>
                        <a:ext cx="6993890" cy="1311910"/>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1393"/>
    </mc:Choice>
    <mc:Fallback xmlns="">
      <p:transition spd="slow" advTm="913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par>
                                <p:cTn id="8" presetID="55" presetClass="entr" presetSubtype="0" fill="hold" nodeType="withEffect">
                                  <p:stCondLst>
                                    <p:cond delay="0"/>
                                  </p:stCondLst>
                                  <p:childTnLst>
                                    <p:set>
                                      <p:cBhvr>
                                        <p:cTn id="9" dur="1" fill="hold">
                                          <p:stCondLst>
                                            <p:cond delay="0"/>
                                          </p:stCondLst>
                                        </p:cTn>
                                        <p:tgtEl>
                                          <p:spTgt spid="475139"/>
                                        </p:tgtEl>
                                        <p:attrNameLst>
                                          <p:attrName>style.visibility</p:attrName>
                                        </p:attrNameLst>
                                      </p:cBhvr>
                                      <p:to>
                                        <p:strVal val="visible"/>
                                      </p:to>
                                    </p:set>
                                    <p:anim calcmode="lin" valueType="num">
                                      <p:cBhvr>
                                        <p:cTn id="10" dur="1000" fill="hold"/>
                                        <p:tgtEl>
                                          <p:spTgt spid="475139"/>
                                        </p:tgtEl>
                                        <p:attrNameLst>
                                          <p:attrName>ppt_w</p:attrName>
                                        </p:attrNameLst>
                                      </p:cBhvr>
                                      <p:tavLst>
                                        <p:tav tm="0">
                                          <p:val>
                                            <p:strVal val="#ppt_w*0.70"/>
                                          </p:val>
                                        </p:tav>
                                        <p:tav tm="100000">
                                          <p:val>
                                            <p:strVal val="#ppt_w"/>
                                          </p:val>
                                        </p:tav>
                                      </p:tavLst>
                                    </p:anim>
                                    <p:anim calcmode="lin" valueType="num">
                                      <p:cBhvr>
                                        <p:cTn id="11" dur="1000" fill="hold"/>
                                        <p:tgtEl>
                                          <p:spTgt spid="475139"/>
                                        </p:tgtEl>
                                        <p:attrNameLst>
                                          <p:attrName>ppt_h</p:attrName>
                                        </p:attrNameLst>
                                      </p:cBhvr>
                                      <p:tavLst>
                                        <p:tav tm="0">
                                          <p:val>
                                            <p:strVal val="#ppt_h"/>
                                          </p:val>
                                        </p:tav>
                                        <p:tav tm="100000">
                                          <p:val>
                                            <p:strVal val="#ppt_h"/>
                                          </p:val>
                                        </p:tav>
                                      </p:tavLst>
                                    </p:anim>
                                    <p:animEffect transition="in" filter="fade">
                                      <p:cBhvr>
                                        <p:cTn id="12" dur="1000"/>
                                        <p:tgtEl>
                                          <p:spTgt spid="475139"/>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476163"/>
                                        </p:tgtEl>
                                        <p:attrNameLst>
                                          <p:attrName>style.visibility</p:attrName>
                                        </p:attrNameLst>
                                      </p:cBhvr>
                                      <p:to>
                                        <p:strVal val="visible"/>
                                      </p:to>
                                    </p:set>
                                    <p:anim calcmode="lin" valueType="num">
                                      <p:cBhvr>
                                        <p:cTn id="17" dur="1000" fill="hold"/>
                                        <p:tgtEl>
                                          <p:spTgt spid="476163"/>
                                        </p:tgtEl>
                                        <p:attrNameLst>
                                          <p:attrName>ppt_w</p:attrName>
                                        </p:attrNameLst>
                                      </p:cBhvr>
                                      <p:tavLst>
                                        <p:tav tm="0">
                                          <p:val>
                                            <p:strVal val="#ppt_w*0.70"/>
                                          </p:val>
                                        </p:tav>
                                        <p:tav tm="100000">
                                          <p:val>
                                            <p:strVal val="#ppt_w"/>
                                          </p:val>
                                        </p:tav>
                                      </p:tavLst>
                                    </p:anim>
                                    <p:anim calcmode="lin" valueType="num">
                                      <p:cBhvr>
                                        <p:cTn id="18" dur="1000" fill="hold"/>
                                        <p:tgtEl>
                                          <p:spTgt spid="476163"/>
                                        </p:tgtEl>
                                        <p:attrNameLst>
                                          <p:attrName>ppt_h</p:attrName>
                                        </p:attrNameLst>
                                      </p:cBhvr>
                                      <p:tavLst>
                                        <p:tav tm="0">
                                          <p:val>
                                            <p:strVal val="#ppt_h"/>
                                          </p:val>
                                        </p:tav>
                                        <p:tav tm="100000">
                                          <p:val>
                                            <p:strVal val="#ppt_h"/>
                                          </p:val>
                                        </p:tav>
                                      </p:tavLst>
                                    </p:anim>
                                    <p:animEffect transition="in" filter="fade">
                                      <p:cBhvr>
                                        <p:cTn id="19" dur="1000"/>
                                        <p:tgtEl>
                                          <p:spTgt spid="476163"/>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476174"/>
                                        </p:tgtEl>
                                        <p:attrNameLst>
                                          <p:attrName>style.visibility</p:attrName>
                                        </p:attrNameLst>
                                      </p:cBhvr>
                                      <p:to>
                                        <p:strVal val="visible"/>
                                      </p:to>
                                    </p:set>
                                    <p:anim calcmode="lin" valueType="num">
                                      <p:cBhvr>
                                        <p:cTn id="24" dur="1000" fill="hold"/>
                                        <p:tgtEl>
                                          <p:spTgt spid="476174"/>
                                        </p:tgtEl>
                                        <p:attrNameLst>
                                          <p:attrName>ppt_w</p:attrName>
                                        </p:attrNameLst>
                                      </p:cBhvr>
                                      <p:tavLst>
                                        <p:tav tm="0">
                                          <p:val>
                                            <p:strVal val="#ppt_w*0.70"/>
                                          </p:val>
                                        </p:tav>
                                        <p:tav tm="100000">
                                          <p:val>
                                            <p:strVal val="#ppt_w"/>
                                          </p:val>
                                        </p:tav>
                                      </p:tavLst>
                                    </p:anim>
                                    <p:anim calcmode="lin" valueType="num">
                                      <p:cBhvr>
                                        <p:cTn id="25" dur="1000" fill="hold"/>
                                        <p:tgtEl>
                                          <p:spTgt spid="476174"/>
                                        </p:tgtEl>
                                        <p:attrNameLst>
                                          <p:attrName>ppt_h</p:attrName>
                                        </p:attrNameLst>
                                      </p:cBhvr>
                                      <p:tavLst>
                                        <p:tav tm="0">
                                          <p:val>
                                            <p:strVal val="#ppt_h"/>
                                          </p:val>
                                        </p:tav>
                                        <p:tav tm="100000">
                                          <p:val>
                                            <p:strVal val="#ppt_h"/>
                                          </p:val>
                                        </p:tav>
                                      </p:tavLst>
                                    </p:anim>
                                    <p:animEffect transition="in" filter="fade">
                                      <p:cBhvr>
                                        <p:cTn id="26" dur="1000"/>
                                        <p:tgtEl>
                                          <p:spTgt spid="476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Rectangle 3"/>
          <p:cNvSpPr>
            <a:spLocks noChangeArrowheads="1"/>
          </p:cNvSpPr>
          <p:nvPr/>
        </p:nvSpPr>
        <p:spPr bwMode="auto">
          <a:xfrm>
            <a:off x="827088" y="1052513"/>
            <a:ext cx="8316912" cy="2649537"/>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5000"/>
              </a:lnSpc>
              <a:spcBef>
                <a:spcPct val="25000"/>
              </a:spcBef>
              <a:buClr>
                <a:schemeClr val="folHlink"/>
              </a:buClr>
              <a:buSzPct val="60000"/>
              <a:buFont typeface="Wingdings" panose="05000000000000000000" pitchFamily="2" charset="2"/>
              <a:buNone/>
            </a:pPr>
            <a:r>
              <a:rPr kumimoji="1" lang="en-US" altLang="zh-CN" sz="3200">
                <a:solidFill>
                  <a:srgbClr val="FF0000"/>
                </a:solidFill>
                <a:latin typeface="华文中宋" panose="02010600040101010101" pitchFamily="2" charset="-122"/>
              </a:rPr>
              <a:t>3</a:t>
            </a:r>
            <a:r>
              <a:rPr kumimoji="1" lang="zh-CN" altLang="en-US" sz="3200">
                <a:solidFill>
                  <a:srgbClr val="FF0000"/>
                </a:solidFill>
                <a:latin typeface="华文中宋" panose="02010600040101010101" pitchFamily="2" charset="-122"/>
              </a:rPr>
              <a:t>、极零图</a:t>
            </a:r>
          </a:p>
          <a:p>
            <a:pPr eaLnBrk="1" hangingPunct="1">
              <a:lnSpc>
                <a:spcPct val="125000"/>
              </a:lnSpc>
              <a:spcBef>
                <a:spcPct val="25000"/>
              </a:spcBef>
              <a:buClr>
                <a:schemeClr val="accent2"/>
              </a:buClr>
              <a:buFont typeface="Wingdings" panose="05000000000000000000" pitchFamily="2" charset="2"/>
              <a:buChar char="Ø"/>
            </a:pPr>
            <a:r>
              <a:rPr kumimoji="1" lang="zh-CN" altLang="en-US"/>
              <a:t>系统函数为实有理函数，且为有理分式形式；</a:t>
            </a:r>
          </a:p>
          <a:p>
            <a:pPr eaLnBrk="1" hangingPunct="1">
              <a:lnSpc>
                <a:spcPct val="125000"/>
              </a:lnSpc>
              <a:spcBef>
                <a:spcPct val="25000"/>
              </a:spcBef>
              <a:buClr>
                <a:schemeClr val="accent2"/>
              </a:buClr>
              <a:buFont typeface="Wingdings" panose="05000000000000000000" pitchFamily="2" charset="2"/>
              <a:buChar char="Ø"/>
            </a:pPr>
            <a:r>
              <a:rPr kumimoji="1" lang="zh-CN" altLang="en-US"/>
              <a:t>有理多项式等于零的根，一定是实根和共轭复根 。</a:t>
            </a:r>
          </a:p>
          <a:p>
            <a:pPr eaLnBrk="1" hangingPunct="1">
              <a:lnSpc>
                <a:spcPct val="125000"/>
              </a:lnSpc>
              <a:spcBef>
                <a:spcPct val="25000"/>
              </a:spcBef>
              <a:buClr>
                <a:schemeClr val="accent2"/>
              </a:buClr>
              <a:buFont typeface="Wingdings" panose="05000000000000000000" pitchFamily="2" charset="2"/>
              <a:buNone/>
            </a:pPr>
            <a:r>
              <a:rPr kumimoji="1" lang="zh-CN" altLang="en-US"/>
              <a:t>   于是</a:t>
            </a:r>
            <a:r>
              <a:rPr kumimoji="1" lang="en-US" altLang="zh-CN"/>
              <a:t>H(S)</a:t>
            </a:r>
            <a:r>
              <a:rPr kumimoji="1" lang="zh-CN" altLang="en-US"/>
              <a:t>可写成下面形式：</a:t>
            </a:r>
            <a:r>
              <a:rPr kumimoji="1" lang="zh-CN" altLang="en-US">
                <a:latin typeface="华文中宋" panose="02010600040101010101" pitchFamily="2" charset="-122"/>
              </a:rPr>
              <a:t>          </a:t>
            </a:r>
            <a:r>
              <a:rPr kumimoji="1" lang="zh-CN" altLang="en-US"/>
              <a:t> </a:t>
            </a:r>
            <a:r>
              <a:rPr kumimoji="1" lang="zh-CN" altLang="en-US">
                <a:latin typeface="华文中宋" panose="02010600040101010101" pitchFamily="2" charset="-122"/>
              </a:rPr>
              <a:t>                </a:t>
            </a:r>
            <a:endParaRPr kumimoji="1" lang="zh-CN" altLang="en-US"/>
          </a:p>
        </p:txBody>
      </p:sp>
      <p:graphicFrame>
        <p:nvGraphicFramePr>
          <p:cNvPr id="478212" name="Object 2"/>
          <p:cNvGraphicFramePr>
            <a:graphicFrameLocks noGrp="1" noChangeAspect="1"/>
          </p:cNvGraphicFramePr>
          <p:nvPr>
            <p:ph idx="1"/>
          </p:nvPr>
        </p:nvGraphicFramePr>
        <p:xfrm>
          <a:off x="1836738" y="4270375"/>
          <a:ext cx="5761037" cy="2278063"/>
        </p:xfrm>
        <a:graphic>
          <a:graphicData uri="http://schemas.openxmlformats.org/presentationml/2006/ole">
            <mc:AlternateContent xmlns:mc="http://schemas.openxmlformats.org/markup-compatibility/2006">
              <mc:Choice xmlns:v="urn:schemas-microsoft-com:vml" Requires="v">
                <p:oleObj name="公式" r:id="rId2" imgW="2247900" imgH="889000" progId="Equation.3">
                  <p:embed/>
                </p:oleObj>
              </mc:Choice>
              <mc:Fallback>
                <p:oleObj name="公式" r:id="rId2" imgW="2247900" imgH="8890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6738" y="4270375"/>
                        <a:ext cx="5761037" cy="2278063"/>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8215" name="Rectangle 7"/>
          <p:cNvSpPr>
            <a:spLocks noChangeArrowheads="1"/>
          </p:cNvSpPr>
          <p:nvPr/>
        </p:nvSpPr>
        <p:spPr bwMode="auto">
          <a:xfrm>
            <a:off x="755650" y="188913"/>
            <a:ext cx="4608513" cy="693737"/>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chemeClr val="bg1"/>
                </a:solidFill>
                <a:effectLst>
                  <a:outerShdw blurRad="38100" dist="38100" dir="2700000" algn="tl">
                    <a:srgbClr val="000000"/>
                  </a:outerShdw>
                </a:effectLst>
                <a:latin typeface="楷体_GB2312" pitchFamily="49" charset="-122"/>
                <a:ea typeface="楷体_GB2312" pitchFamily="49" charset="-122"/>
              </a:rPr>
              <a:t>§6.2 </a:t>
            </a:r>
            <a:r>
              <a:rPr lang="zh-CN" altLang="en-US">
                <a:solidFill>
                  <a:schemeClr val="bg1"/>
                </a:solidFill>
                <a:effectLst>
                  <a:outerShdw blurRad="38100" dist="38100" dir="2700000" algn="tl">
                    <a:srgbClr val="000000"/>
                  </a:outerShdw>
                </a:effectLst>
                <a:latin typeface="楷体_GB2312" pitchFamily="49" charset="-122"/>
                <a:ea typeface="楷体_GB2312" pitchFamily="49" charset="-122"/>
              </a:rPr>
              <a:t>系统函数的表示法</a:t>
            </a:r>
          </a:p>
        </p:txBody>
      </p:sp>
      <p:sp>
        <p:nvSpPr>
          <p:cNvPr id="6" name="日期占位符 5"/>
          <p:cNvSpPr>
            <a:spLocks noGrp="1"/>
          </p:cNvSpPr>
          <p:nvPr>
            <p:ph type="dt" sz="quarter" idx="10"/>
          </p:nvPr>
        </p:nvSpPr>
        <p:spPr/>
        <p:txBody>
          <a:bodyPr/>
          <a:lstStyle/>
          <a:p>
            <a:pPr>
              <a:defRPr/>
            </a:pPr>
            <a:fld id="{2AC94AAD-020C-49FD-BDD2-CA7D62208229}" type="datetime1">
              <a:rPr lang="zh-CN" altLang="en-US"/>
              <a:t>2026/4/28</a:t>
            </a:fld>
            <a:fld id="{2AC94AAD-020C-49FD-BDD2-CA7D62208229}" type="datetime1">
              <a:rPr lang="en-US" altLang="zh-CN"/>
              <a:t>4/28/2026</a:t>
            </a:fld>
            <a:r>
              <a:rPr lang="en-US" altLang="zh-CN"/>
              <a:t>*</a:t>
            </a:r>
          </a:p>
        </p:txBody>
      </p:sp>
      <p:sp>
        <p:nvSpPr>
          <p:cNvPr id="2" name="墨迹 1"/>
          <p:cNvSpPr/>
          <p:nvPr/>
        </p:nvSpPr>
        <p:spPr bwMode="auto">
          <a:xfrm>
            <a:off x="1325160" y="281160"/>
            <a:ext cx="7566480" cy="5497200"/>
          </a:xfrm>
        </p:spPr>
      </p:sp>
    </p:spTree>
  </p:cSld>
  <p:clrMapOvr>
    <a:masterClrMapping/>
  </p:clrMapOvr>
  <mc:AlternateContent xmlns:mc="http://schemas.openxmlformats.org/markup-compatibility/2006" xmlns:p14="http://schemas.microsoft.com/office/powerpoint/2010/main">
    <mc:Choice Requires="p14">
      <p:transition spd="slow" p14:dur="2000" advTm="201512"/>
    </mc:Choice>
    <mc:Fallback xmlns="">
      <p:transition spd="slow" advTm="2015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478211">
                                            <p:txEl>
                                              <p:pRg st="1" end="1"/>
                                            </p:txEl>
                                          </p:spTgt>
                                        </p:tgtEl>
                                        <p:attrNameLst>
                                          <p:attrName>style.visibility</p:attrName>
                                        </p:attrNameLst>
                                      </p:cBhvr>
                                      <p:to>
                                        <p:strVal val="visible"/>
                                      </p:to>
                                    </p:set>
                                    <p:anim calcmode="lin" valueType="num">
                                      <p:cBhvr>
                                        <p:cTn id="11" dur="1000" fill="hold"/>
                                        <p:tgtEl>
                                          <p:spTgt spid="478211">
                                            <p:txEl>
                                              <p:pRg st="1" end="1"/>
                                            </p:txEl>
                                          </p:spTgt>
                                        </p:tgtEl>
                                        <p:attrNameLst>
                                          <p:attrName>ppt_w</p:attrName>
                                        </p:attrNameLst>
                                      </p:cBhvr>
                                      <p:tavLst>
                                        <p:tav tm="0">
                                          <p:val>
                                            <p:strVal val="#ppt_w*0.70"/>
                                          </p:val>
                                        </p:tav>
                                        <p:tav tm="100000">
                                          <p:val>
                                            <p:strVal val="#ppt_w"/>
                                          </p:val>
                                        </p:tav>
                                      </p:tavLst>
                                    </p:anim>
                                    <p:anim calcmode="lin" valueType="num">
                                      <p:cBhvr>
                                        <p:cTn id="12" dur="1000" fill="hold"/>
                                        <p:tgtEl>
                                          <p:spTgt spid="478211">
                                            <p:txEl>
                                              <p:pRg st="1" end="1"/>
                                            </p:txEl>
                                          </p:spTgt>
                                        </p:tgtEl>
                                        <p:attrNameLst>
                                          <p:attrName>ppt_h</p:attrName>
                                        </p:attrNameLst>
                                      </p:cBhvr>
                                      <p:tavLst>
                                        <p:tav tm="0">
                                          <p:val>
                                            <p:strVal val="#ppt_h"/>
                                          </p:val>
                                        </p:tav>
                                        <p:tav tm="100000">
                                          <p:val>
                                            <p:strVal val="#ppt_h"/>
                                          </p:val>
                                        </p:tav>
                                      </p:tavLst>
                                    </p:anim>
                                    <p:animEffect transition="in" filter="fade">
                                      <p:cBhvr>
                                        <p:cTn id="13" dur="1000"/>
                                        <p:tgtEl>
                                          <p:spTgt spid="478211">
                                            <p:txEl>
                                              <p:pRg st="1" end="1"/>
                                            </p:txEl>
                                          </p:spTgt>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478211">
                                            <p:txEl>
                                              <p:pRg st="2" end="2"/>
                                            </p:txEl>
                                          </p:spTgt>
                                        </p:tgtEl>
                                        <p:attrNameLst>
                                          <p:attrName>style.visibility</p:attrName>
                                        </p:attrNameLst>
                                      </p:cBhvr>
                                      <p:to>
                                        <p:strVal val="visible"/>
                                      </p:to>
                                    </p:set>
                                    <p:anim calcmode="lin" valueType="num">
                                      <p:cBhvr>
                                        <p:cTn id="17" dur="1000" fill="hold"/>
                                        <p:tgtEl>
                                          <p:spTgt spid="478211">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478211">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478211">
                                            <p:txEl>
                                              <p:pRg st="2" end="2"/>
                                            </p:txEl>
                                          </p:spTgt>
                                        </p:tgtEl>
                                      </p:cBhvr>
                                    </p:animEffect>
                                  </p:childTnLst>
                                </p:cTn>
                              </p:par>
                            </p:childTnLst>
                          </p:cTn>
                        </p:par>
                        <p:par>
                          <p:cTn id="20" fill="hold">
                            <p:stCondLst>
                              <p:cond delay="2000"/>
                            </p:stCondLst>
                            <p:childTnLst>
                              <p:par>
                                <p:cTn id="21" presetID="55" presetClass="entr" presetSubtype="0" fill="hold" nodeType="afterEffect">
                                  <p:stCondLst>
                                    <p:cond delay="0"/>
                                  </p:stCondLst>
                                  <p:childTnLst>
                                    <p:set>
                                      <p:cBhvr>
                                        <p:cTn id="22" dur="1" fill="hold">
                                          <p:stCondLst>
                                            <p:cond delay="0"/>
                                          </p:stCondLst>
                                        </p:cTn>
                                        <p:tgtEl>
                                          <p:spTgt spid="478211">
                                            <p:txEl>
                                              <p:pRg st="3" end="3"/>
                                            </p:txEl>
                                          </p:spTgt>
                                        </p:tgtEl>
                                        <p:attrNameLst>
                                          <p:attrName>style.visibility</p:attrName>
                                        </p:attrNameLst>
                                      </p:cBhvr>
                                      <p:to>
                                        <p:strVal val="visible"/>
                                      </p:to>
                                    </p:set>
                                    <p:anim calcmode="lin" valueType="num">
                                      <p:cBhvr>
                                        <p:cTn id="23" dur="1000" fill="hold"/>
                                        <p:tgtEl>
                                          <p:spTgt spid="478211">
                                            <p:txEl>
                                              <p:pRg st="3" end="3"/>
                                            </p:txEl>
                                          </p:spTgt>
                                        </p:tgtEl>
                                        <p:attrNameLst>
                                          <p:attrName>ppt_w</p:attrName>
                                        </p:attrNameLst>
                                      </p:cBhvr>
                                      <p:tavLst>
                                        <p:tav tm="0">
                                          <p:val>
                                            <p:strVal val="#ppt_w*0.70"/>
                                          </p:val>
                                        </p:tav>
                                        <p:tav tm="100000">
                                          <p:val>
                                            <p:strVal val="#ppt_w"/>
                                          </p:val>
                                        </p:tav>
                                      </p:tavLst>
                                    </p:anim>
                                    <p:anim calcmode="lin" valueType="num">
                                      <p:cBhvr>
                                        <p:cTn id="24" dur="1000" fill="hold"/>
                                        <p:tgtEl>
                                          <p:spTgt spid="478211">
                                            <p:txEl>
                                              <p:pRg st="3" end="3"/>
                                            </p:txEl>
                                          </p:spTgt>
                                        </p:tgtEl>
                                        <p:attrNameLst>
                                          <p:attrName>ppt_h</p:attrName>
                                        </p:attrNameLst>
                                      </p:cBhvr>
                                      <p:tavLst>
                                        <p:tav tm="0">
                                          <p:val>
                                            <p:strVal val="#ppt_h"/>
                                          </p:val>
                                        </p:tav>
                                        <p:tav tm="100000">
                                          <p:val>
                                            <p:strVal val="#ppt_h"/>
                                          </p:val>
                                        </p:tav>
                                      </p:tavLst>
                                    </p:anim>
                                    <p:animEffect transition="in" filter="fade">
                                      <p:cBhvr>
                                        <p:cTn id="25" dur="1000"/>
                                        <p:tgtEl>
                                          <p:spTgt spid="478211">
                                            <p:txEl>
                                              <p:pRg st="3" end="3"/>
                                            </p:txEl>
                                          </p:spTgt>
                                        </p:tgtEl>
                                      </p:cBhvr>
                                    </p:animEffect>
                                  </p:childTnLst>
                                </p:cTn>
                              </p:par>
                            </p:childTnLst>
                          </p:cTn>
                        </p:par>
                        <p:par>
                          <p:cTn id="26" fill="hold">
                            <p:stCondLst>
                              <p:cond delay="3000"/>
                            </p:stCondLst>
                            <p:childTnLst>
                              <p:par>
                                <p:cTn id="27" presetID="55" presetClass="entr" presetSubtype="0" fill="hold" nodeType="afterEffect">
                                  <p:stCondLst>
                                    <p:cond delay="0"/>
                                  </p:stCondLst>
                                  <p:childTnLst>
                                    <p:set>
                                      <p:cBhvr>
                                        <p:cTn id="28" dur="1" fill="hold">
                                          <p:stCondLst>
                                            <p:cond delay="0"/>
                                          </p:stCondLst>
                                        </p:cTn>
                                        <p:tgtEl>
                                          <p:spTgt spid="478212"/>
                                        </p:tgtEl>
                                        <p:attrNameLst>
                                          <p:attrName>style.visibility</p:attrName>
                                        </p:attrNameLst>
                                      </p:cBhvr>
                                      <p:to>
                                        <p:strVal val="visible"/>
                                      </p:to>
                                    </p:set>
                                    <p:anim calcmode="lin" valueType="num">
                                      <p:cBhvr>
                                        <p:cTn id="29" dur="1000" fill="hold"/>
                                        <p:tgtEl>
                                          <p:spTgt spid="478212"/>
                                        </p:tgtEl>
                                        <p:attrNameLst>
                                          <p:attrName>ppt_w</p:attrName>
                                        </p:attrNameLst>
                                      </p:cBhvr>
                                      <p:tavLst>
                                        <p:tav tm="0">
                                          <p:val>
                                            <p:strVal val="#ppt_w*0.70"/>
                                          </p:val>
                                        </p:tav>
                                        <p:tav tm="100000">
                                          <p:val>
                                            <p:strVal val="#ppt_w"/>
                                          </p:val>
                                        </p:tav>
                                      </p:tavLst>
                                    </p:anim>
                                    <p:anim calcmode="lin" valueType="num">
                                      <p:cBhvr>
                                        <p:cTn id="30" dur="1000" fill="hold"/>
                                        <p:tgtEl>
                                          <p:spTgt spid="478212"/>
                                        </p:tgtEl>
                                        <p:attrNameLst>
                                          <p:attrName>ppt_h</p:attrName>
                                        </p:attrNameLst>
                                      </p:cBhvr>
                                      <p:tavLst>
                                        <p:tav tm="0">
                                          <p:val>
                                            <p:strVal val="#ppt_h"/>
                                          </p:val>
                                        </p:tav>
                                        <p:tav tm="100000">
                                          <p:val>
                                            <p:strVal val="#ppt_h"/>
                                          </p:val>
                                        </p:tav>
                                      </p:tavLst>
                                    </p:anim>
                                    <p:animEffect transition="in" filter="fade">
                                      <p:cBhvr>
                                        <p:cTn id="31" dur="1000"/>
                                        <p:tgtEl>
                                          <p:spTgt spid="478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8" name="Rectangle 6"/>
          <p:cNvSpPr>
            <a:spLocks noChangeArrowheads="1"/>
          </p:cNvSpPr>
          <p:nvPr/>
        </p:nvSpPr>
        <p:spPr bwMode="auto">
          <a:xfrm>
            <a:off x="1011238" y="3181350"/>
            <a:ext cx="7632700" cy="3600450"/>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marL="363855" indent="-36385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5000"/>
              </a:lnSpc>
              <a:spcBef>
                <a:spcPct val="35000"/>
              </a:spcBef>
              <a:buClr>
                <a:srgbClr val="FF0000"/>
              </a:buClr>
              <a:buFont typeface="Wingdings" panose="05000000000000000000" pitchFamily="2" charset="2"/>
              <a:buChar char="l"/>
            </a:pPr>
            <a:r>
              <a:rPr kumimoji="1" lang="zh-CN" altLang="en-US">
                <a:latin typeface="华文中宋" panose="02010600040101010101" pitchFamily="2" charset="-122"/>
              </a:rPr>
              <a:t>分母多项式为零时方程的根</a:t>
            </a:r>
            <a:r>
              <a:rPr kumimoji="1" lang="en-US" altLang="zh-CN">
                <a:latin typeface="华文中宋" panose="02010600040101010101" pitchFamily="2" charset="-122"/>
              </a:rPr>
              <a:t>P</a:t>
            </a:r>
            <a:r>
              <a:rPr kumimoji="1" lang="en-US" altLang="zh-CN" baseline="-25000">
                <a:latin typeface="华文中宋" panose="02010600040101010101" pitchFamily="2" charset="-122"/>
              </a:rPr>
              <a:t>1</a:t>
            </a:r>
            <a:r>
              <a:rPr kumimoji="1" lang="zh-CN" altLang="en-US">
                <a:latin typeface="华文中宋" panose="02010600040101010101" pitchFamily="2" charset="-122"/>
              </a:rPr>
              <a:t>、</a:t>
            </a:r>
            <a:r>
              <a:rPr kumimoji="1" lang="en-US" altLang="zh-CN">
                <a:latin typeface="华文中宋" panose="02010600040101010101" pitchFamily="2" charset="-122"/>
              </a:rPr>
              <a:t>P</a:t>
            </a:r>
            <a:r>
              <a:rPr kumimoji="1" lang="en-US" altLang="zh-CN" baseline="-25000">
                <a:latin typeface="华文中宋" panose="02010600040101010101" pitchFamily="2" charset="-122"/>
              </a:rPr>
              <a:t>2</a:t>
            </a:r>
            <a:r>
              <a:rPr kumimoji="1" lang="zh-CN" altLang="en-US">
                <a:latin typeface="华文中宋" panose="02010600040101010101" pitchFamily="2" charset="-122"/>
              </a:rPr>
              <a:t>、</a:t>
            </a:r>
            <a:r>
              <a:rPr kumimoji="1" lang="en-US" altLang="zh-CN">
                <a:latin typeface="华文中宋" panose="02010600040101010101" pitchFamily="2" charset="-122"/>
              </a:rPr>
              <a:t>…</a:t>
            </a:r>
            <a:r>
              <a:rPr kumimoji="1" lang="zh-CN" altLang="en-US">
                <a:latin typeface="华文中宋" panose="02010600040101010101" pitchFamily="2" charset="-122"/>
              </a:rPr>
              <a:t>、</a:t>
            </a:r>
            <a:r>
              <a:rPr kumimoji="1" lang="en-US" altLang="zh-CN">
                <a:latin typeface="华文中宋" panose="02010600040101010101" pitchFamily="2" charset="-122"/>
              </a:rPr>
              <a:t>P</a:t>
            </a:r>
            <a:r>
              <a:rPr kumimoji="1" lang="en-US" altLang="zh-CN" baseline="-25000">
                <a:latin typeface="华文中宋" panose="02010600040101010101" pitchFamily="2" charset="-122"/>
              </a:rPr>
              <a:t>n</a:t>
            </a:r>
            <a:r>
              <a:rPr kumimoji="1" lang="zh-CN" altLang="en-US">
                <a:latin typeface="华文中宋" panose="02010600040101010101" pitchFamily="2" charset="-122"/>
              </a:rPr>
              <a:t>为</a:t>
            </a:r>
            <a:r>
              <a:rPr kumimoji="1" lang="en-US" altLang="zh-CN">
                <a:latin typeface="华文中宋" panose="02010600040101010101" pitchFamily="2" charset="-122"/>
              </a:rPr>
              <a:t>H(s)</a:t>
            </a:r>
            <a:r>
              <a:rPr kumimoji="1" lang="zh-CN" altLang="en-US">
                <a:latin typeface="华文中宋" panose="02010600040101010101" pitchFamily="2" charset="-122"/>
              </a:rPr>
              <a:t>的</a:t>
            </a:r>
            <a:r>
              <a:rPr kumimoji="1" lang="zh-CN" altLang="en-US">
                <a:solidFill>
                  <a:srgbClr val="FF0000"/>
                </a:solidFill>
                <a:latin typeface="华文中宋" panose="02010600040101010101" pitchFamily="2" charset="-122"/>
              </a:rPr>
              <a:t>极点</a:t>
            </a:r>
            <a:r>
              <a:rPr kumimoji="1" lang="zh-CN" altLang="en-US">
                <a:latin typeface="华文中宋" panose="02010600040101010101" pitchFamily="2" charset="-122"/>
              </a:rPr>
              <a:t>。</a:t>
            </a:r>
          </a:p>
          <a:p>
            <a:pPr eaLnBrk="1" hangingPunct="1">
              <a:lnSpc>
                <a:spcPct val="125000"/>
              </a:lnSpc>
              <a:spcBef>
                <a:spcPct val="35000"/>
              </a:spcBef>
              <a:buClr>
                <a:srgbClr val="FF0000"/>
              </a:buClr>
              <a:buFont typeface="Wingdings" panose="05000000000000000000" pitchFamily="2" charset="2"/>
              <a:buChar char="l"/>
            </a:pPr>
            <a:r>
              <a:rPr kumimoji="1" lang="zh-CN" altLang="en-US"/>
              <a:t>分子多项式为零时方程的根</a:t>
            </a:r>
            <a:r>
              <a:rPr kumimoji="1" lang="en-US" altLang="zh-CN"/>
              <a:t>Z1</a:t>
            </a:r>
            <a:r>
              <a:rPr kumimoji="1" lang="zh-CN" altLang="en-US"/>
              <a:t>、</a:t>
            </a:r>
            <a:r>
              <a:rPr kumimoji="1" lang="en-US" altLang="zh-CN"/>
              <a:t>Z2</a:t>
            </a:r>
            <a:r>
              <a:rPr kumimoji="1" lang="zh-CN" altLang="en-US"/>
              <a:t>、</a:t>
            </a:r>
            <a:r>
              <a:rPr kumimoji="1" lang="en-US" altLang="zh-CN">
                <a:latin typeface="华文中宋" panose="02010600040101010101" pitchFamily="2" charset="-122"/>
              </a:rPr>
              <a:t>…</a:t>
            </a:r>
            <a:r>
              <a:rPr kumimoji="1" lang="zh-CN" altLang="en-US"/>
              <a:t>、</a:t>
            </a:r>
            <a:r>
              <a:rPr kumimoji="1" lang="en-US" altLang="zh-CN"/>
              <a:t>Zn</a:t>
            </a:r>
            <a:r>
              <a:rPr kumimoji="1" lang="zh-CN" altLang="en-US"/>
              <a:t>为</a:t>
            </a:r>
            <a:r>
              <a:rPr kumimoji="1" lang="en-US" altLang="zh-CN"/>
              <a:t>H(s)</a:t>
            </a:r>
            <a:r>
              <a:rPr kumimoji="1" lang="zh-CN" altLang="en-US"/>
              <a:t>的</a:t>
            </a:r>
            <a:r>
              <a:rPr kumimoji="1" lang="zh-CN" altLang="en-US">
                <a:solidFill>
                  <a:srgbClr val="FF0000"/>
                </a:solidFill>
              </a:rPr>
              <a:t>零点</a:t>
            </a:r>
            <a:r>
              <a:rPr kumimoji="1" lang="zh-CN" altLang="en-US"/>
              <a:t>。</a:t>
            </a:r>
          </a:p>
          <a:p>
            <a:pPr eaLnBrk="1" hangingPunct="1">
              <a:lnSpc>
                <a:spcPct val="125000"/>
              </a:lnSpc>
              <a:spcBef>
                <a:spcPct val="35000"/>
              </a:spcBef>
              <a:buClr>
                <a:srgbClr val="FF0000"/>
              </a:buClr>
              <a:buFont typeface="Wingdings" panose="05000000000000000000" pitchFamily="2" charset="2"/>
              <a:buChar char="l"/>
            </a:pPr>
            <a:r>
              <a:rPr kumimoji="1" lang="zh-CN" altLang="en-US"/>
              <a:t>将</a:t>
            </a:r>
            <a:r>
              <a:rPr kumimoji="1" lang="en-US" altLang="zh-CN"/>
              <a:t>H(s)</a:t>
            </a:r>
            <a:r>
              <a:rPr kumimoji="1" lang="zh-CN" altLang="en-US"/>
              <a:t>的极、零点绘在</a:t>
            </a:r>
            <a:r>
              <a:rPr kumimoji="1" lang="en-US" altLang="zh-CN"/>
              <a:t>s</a:t>
            </a:r>
            <a:r>
              <a:rPr kumimoji="1" lang="zh-CN" altLang="en-US"/>
              <a:t>平面上就得到系统函数的</a:t>
            </a:r>
            <a:r>
              <a:rPr kumimoji="1" lang="zh-CN" altLang="en-US">
                <a:solidFill>
                  <a:srgbClr val="FF0000"/>
                </a:solidFill>
              </a:rPr>
              <a:t>极零图</a:t>
            </a:r>
            <a:r>
              <a:rPr kumimoji="1" lang="zh-CN" altLang="en-US"/>
              <a:t>。一般用</a:t>
            </a:r>
            <a:r>
              <a:rPr kumimoji="1" lang="en-US" altLang="zh-CN">
                <a:solidFill>
                  <a:srgbClr val="FF0000"/>
                </a:solidFill>
              </a:rPr>
              <a:t>X</a:t>
            </a:r>
            <a:r>
              <a:rPr kumimoji="1" lang="zh-CN" altLang="en-US">
                <a:solidFill>
                  <a:srgbClr val="FF0000"/>
                </a:solidFill>
              </a:rPr>
              <a:t>表示极点</a:t>
            </a:r>
            <a:r>
              <a:rPr kumimoji="1" lang="zh-CN" altLang="en-US"/>
              <a:t>，</a:t>
            </a:r>
            <a:r>
              <a:rPr kumimoji="1" lang="en-US" altLang="zh-CN">
                <a:solidFill>
                  <a:srgbClr val="FF0000"/>
                </a:solidFill>
              </a:rPr>
              <a:t>O</a:t>
            </a:r>
            <a:r>
              <a:rPr kumimoji="1" lang="zh-CN" altLang="en-US">
                <a:solidFill>
                  <a:srgbClr val="FF0000"/>
                </a:solidFill>
              </a:rPr>
              <a:t>表示零点</a:t>
            </a:r>
            <a:r>
              <a:rPr kumimoji="1" lang="zh-CN" altLang="en-US"/>
              <a:t>。</a:t>
            </a:r>
          </a:p>
        </p:txBody>
      </p:sp>
      <p:sp>
        <p:nvSpPr>
          <p:cNvPr id="479244" name="Rectangle 12"/>
          <p:cNvSpPr>
            <a:spLocks noChangeArrowheads="1"/>
          </p:cNvSpPr>
          <p:nvPr/>
        </p:nvSpPr>
        <p:spPr bwMode="auto">
          <a:xfrm>
            <a:off x="755650" y="260350"/>
            <a:ext cx="4608513" cy="693738"/>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chemeClr val="bg1"/>
                </a:solidFill>
                <a:effectLst>
                  <a:outerShdw blurRad="38100" dist="38100" dir="2700000" algn="tl">
                    <a:srgbClr val="000000"/>
                  </a:outerShdw>
                </a:effectLst>
                <a:latin typeface="楷体_GB2312" pitchFamily="49" charset="-122"/>
                <a:ea typeface="楷体_GB2312" pitchFamily="49" charset="-122"/>
              </a:rPr>
              <a:t>§6.2 </a:t>
            </a:r>
            <a:r>
              <a:rPr lang="zh-CN" altLang="en-US">
                <a:solidFill>
                  <a:schemeClr val="bg1"/>
                </a:solidFill>
                <a:effectLst>
                  <a:outerShdw blurRad="38100" dist="38100" dir="2700000" algn="tl">
                    <a:srgbClr val="000000"/>
                  </a:outerShdw>
                </a:effectLst>
                <a:latin typeface="楷体_GB2312" pitchFamily="49" charset="-122"/>
                <a:ea typeface="楷体_GB2312" pitchFamily="49" charset="-122"/>
              </a:rPr>
              <a:t>系统函数的表示法</a:t>
            </a:r>
          </a:p>
        </p:txBody>
      </p:sp>
      <p:graphicFrame>
        <p:nvGraphicFramePr>
          <p:cNvPr id="479245" name="Object 2"/>
          <p:cNvGraphicFramePr>
            <a:graphicFrameLocks noGrp="1" noChangeAspect="1"/>
          </p:cNvGraphicFramePr>
          <p:nvPr>
            <p:ph idx="1"/>
          </p:nvPr>
        </p:nvGraphicFramePr>
        <p:xfrm>
          <a:off x="1835150" y="1122363"/>
          <a:ext cx="5210175" cy="1963737"/>
        </p:xfrm>
        <a:graphic>
          <a:graphicData uri="http://schemas.openxmlformats.org/presentationml/2006/ole">
            <mc:AlternateContent xmlns:mc="http://schemas.openxmlformats.org/markup-compatibility/2006">
              <mc:Choice xmlns:v="urn:schemas-microsoft-com:vml" Requires="v">
                <p:oleObj name="公式" r:id="rId3" imgW="2247900" imgH="889000" progId="Equation.3">
                  <p:embed/>
                </p:oleObj>
              </mc:Choice>
              <mc:Fallback>
                <p:oleObj name="公式" r:id="rId3" imgW="2247900" imgH="889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122363"/>
                        <a:ext cx="5210175" cy="1963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日期占位符 5"/>
          <p:cNvSpPr>
            <a:spLocks noGrp="1"/>
          </p:cNvSpPr>
          <p:nvPr>
            <p:ph type="dt" sz="quarter" idx="10"/>
          </p:nvPr>
        </p:nvSpPr>
        <p:spPr/>
        <p:txBody>
          <a:bodyPr/>
          <a:lstStyle/>
          <a:p>
            <a:pPr>
              <a:defRPr/>
            </a:pPr>
            <a:fld id="{E5F3D920-CA8D-4BB3-990F-F6A7F3E95B57}" type="datetime1">
              <a:rPr lang="zh-CN" altLang="en-US"/>
              <a:t>2026/4/28</a:t>
            </a:fld>
            <a:endParaRPr lang="zh-CN" altLang="en-US"/>
          </a:p>
        </p:txBody>
      </p:sp>
      <p:sp>
        <p:nvSpPr>
          <p:cNvPr id="2" name="墨迹 1"/>
          <p:cNvSpPr/>
          <p:nvPr/>
        </p:nvSpPr>
        <p:spPr bwMode="auto">
          <a:xfrm>
            <a:off x="6224400" y="267480"/>
            <a:ext cx="2805480" cy="23940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5183"/>
    </mc:Choice>
    <mc:Fallback xmlns="">
      <p:transition spd="slow" advTm="751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479245"/>
                                        </p:tgtEl>
                                        <p:attrNameLst>
                                          <p:attrName>style.visibility</p:attrName>
                                        </p:attrNameLst>
                                      </p:cBhvr>
                                      <p:to>
                                        <p:strVal val="visible"/>
                                      </p:to>
                                    </p:set>
                                    <p:anim calcmode="lin" valueType="num">
                                      <p:cBhvr>
                                        <p:cTn id="11" dur="1000" fill="hold"/>
                                        <p:tgtEl>
                                          <p:spTgt spid="479245"/>
                                        </p:tgtEl>
                                        <p:attrNameLst>
                                          <p:attrName>ppt_w</p:attrName>
                                        </p:attrNameLst>
                                      </p:cBhvr>
                                      <p:tavLst>
                                        <p:tav tm="0">
                                          <p:val>
                                            <p:strVal val="#ppt_w*0.70"/>
                                          </p:val>
                                        </p:tav>
                                        <p:tav tm="100000">
                                          <p:val>
                                            <p:strVal val="#ppt_w"/>
                                          </p:val>
                                        </p:tav>
                                      </p:tavLst>
                                    </p:anim>
                                    <p:anim calcmode="lin" valueType="num">
                                      <p:cBhvr>
                                        <p:cTn id="12" dur="1000" fill="hold"/>
                                        <p:tgtEl>
                                          <p:spTgt spid="479245"/>
                                        </p:tgtEl>
                                        <p:attrNameLst>
                                          <p:attrName>ppt_h</p:attrName>
                                        </p:attrNameLst>
                                      </p:cBhvr>
                                      <p:tavLst>
                                        <p:tav tm="0">
                                          <p:val>
                                            <p:strVal val="#ppt_h"/>
                                          </p:val>
                                        </p:tav>
                                        <p:tav tm="100000">
                                          <p:val>
                                            <p:strVal val="#ppt_h"/>
                                          </p:val>
                                        </p:tav>
                                      </p:tavLst>
                                    </p:anim>
                                    <p:animEffect transition="in" filter="fade">
                                      <p:cBhvr>
                                        <p:cTn id="13" dur="1000"/>
                                        <p:tgtEl>
                                          <p:spTgt spid="479245"/>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479238">
                                            <p:txEl>
                                              <p:pRg st="0" end="0"/>
                                            </p:txEl>
                                          </p:spTgt>
                                        </p:tgtEl>
                                        <p:attrNameLst>
                                          <p:attrName>style.visibility</p:attrName>
                                        </p:attrNameLst>
                                      </p:cBhvr>
                                      <p:to>
                                        <p:strVal val="visible"/>
                                      </p:to>
                                    </p:set>
                                    <p:anim calcmode="lin" valueType="num">
                                      <p:cBhvr>
                                        <p:cTn id="18" dur="1000" fill="hold"/>
                                        <p:tgtEl>
                                          <p:spTgt spid="479238">
                                            <p:txEl>
                                              <p:pRg st="0" end="0"/>
                                            </p:txEl>
                                          </p:spTgt>
                                        </p:tgtEl>
                                        <p:attrNameLst>
                                          <p:attrName>ppt_w</p:attrName>
                                        </p:attrNameLst>
                                      </p:cBhvr>
                                      <p:tavLst>
                                        <p:tav tm="0">
                                          <p:val>
                                            <p:strVal val="#ppt_w*0.70"/>
                                          </p:val>
                                        </p:tav>
                                        <p:tav tm="100000">
                                          <p:val>
                                            <p:strVal val="#ppt_w"/>
                                          </p:val>
                                        </p:tav>
                                      </p:tavLst>
                                    </p:anim>
                                    <p:anim calcmode="lin" valueType="num">
                                      <p:cBhvr>
                                        <p:cTn id="19" dur="1000" fill="hold"/>
                                        <p:tgtEl>
                                          <p:spTgt spid="479238">
                                            <p:txEl>
                                              <p:pRg st="0" end="0"/>
                                            </p:txEl>
                                          </p:spTgt>
                                        </p:tgtEl>
                                        <p:attrNameLst>
                                          <p:attrName>ppt_h</p:attrName>
                                        </p:attrNameLst>
                                      </p:cBhvr>
                                      <p:tavLst>
                                        <p:tav tm="0">
                                          <p:val>
                                            <p:strVal val="#ppt_h"/>
                                          </p:val>
                                        </p:tav>
                                        <p:tav tm="100000">
                                          <p:val>
                                            <p:strVal val="#ppt_h"/>
                                          </p:val>
                                        </p:tav>
                                      </p:tavLst>
                                    </p:anim>
                                    <p:animEffect transition="in" filter="fade">
                                      <p:cBhvr>
                                        <p:cTn id="20" dur="1000"/>
                                        <p:tgtEl>
                                          <p:spTgt spid="479238">
                                            <p:txEl>
                                              <p:pRg st="0" end="0"/>
                                            </p:txEl>
                                          </p:spTgt>
                                        </p:tgtEl>
                                      </p:cBhvr>
                                    </p:animEffect>
                                  </p:childTnLst>
                                </p:cTn>
                              </p:par>
                            </p:childTnLst>
                          </p:cTn>
                        </p:par>
                        <p:par>
                          <p:cTn id="21" fill="hold">
                            <p:stCondLst>
                              <p:cond delay="1000"/>
                            </p:stCondLst>
                            <p:childTnLst>
                              <p:par>
                                <p:cTn id="22" presetID="55" presetClass="entr" presetSubtype="0" fill="hold" nodeType="afterEffect">
                                  <p:stCondLst>
                                    <p:cond delay="0"/>
                                  </p:stCondLst>
                                  <p:childTnLst>
                                    <p:set>
                                      <p:cBhvr>
                                        <p:cTn id="23" dur="1" fill="hold">
                                          <p:stCondLst>
                                            <p:cond delay="0"/>
                                          </p:stCondLst>
                                        </p:cTn>
                                        <p:tgtEl>
                                          <p:spTgt spid="479238">
                                            <p:txEl>
                                              <p:pRg st="1" end="1"/>
                                            </p:txEl>
                                          </p:spTgt>
                                        </p:tgtEl>
                                        <p:attrNameLst>
                                          <p:attrName>style.visibility</p:attrName>
                                        </p:attrNameLst>
                                      </p:cBhvr>
                                      <p:to>
                                        <p:strVal val="visible"/>
                                      </p:to>
                                    </p:set>
                                    <p:anim calcmode="lin" valueType="num">
                                      <p:cBhvr>
                                        <p:cTn id="24" dur="1000" fill="hold"/>
                                        <p:tgtEl>
                                          <p:spTgt spid="479238">
                                            <p:txEl>
                                              <p:pRg st="1" end="1"/>
                                            </p:txEl>
                                          </p:spTgt>
                                        </p:tgtEl>
                                        <p:attrNameLst>
                                          <p:attrName>ppt_w</p:attrName>
                                        </p:attrNameLst>
                                      </p:cBhvr>
                                      <p:tavLst>
                                        <p:tav tm="0">
                                          <p:val>
                                            <p:strVal val="#ppt_w*0.70"/>
                                          </p:val>
                                        </p:tav>
                                        <p:tav tm="100000">
                                          <p:val>
                                            <p:strVal val="#ppt_w"/>
                                          </p:val>
                                        </p:tav>
                                      </p:tavLst>
                                    </p:anim>
                                    <p:anim calcmode="lin" valueType="num">
                                      <p:cBhvr>
                                        <p:cTn id="25" dur="1000" fill="hold"/>
                                        <p:tgtEl>
                                          <p:spTgt spid="479238">
                                            <p:txEl>
                                              <p:pRg st="1" end="1"/>
                                            </p:txEl>
                                          </p:spTgt>
                                        </p:tgtEl>
                                        <p:attrNameLst>
                                          <p:attrName>ppt_h</p:attrName>
                                        </p:attrNameLst>
                                      </p:cBhvr>
                                      <p:tavLst>
                                        <p:tav tm="0">
                                          <p:val>
                                            <p:strVal val="#ppt_h"/>
                                          </p:val>
                                        </p:tav>
                                        <p:tav tm="100000">
                                          <p:val>
                                            <p:strVal val="#ppt_h"/>
                                          </p:val>
                                        </p:tav>
                                      </p:tavLst>
                                    </p:anim>
                                    <p:animEffect transition="in" filter="fade">
                                      <p:cBhvr>
                                        <p:cTn id="26" dur="1000"/>
                                        <p:tgtEl>
                                          <p:spTgt spid="479238">
                                            <p:txEl>
                                              <p:pRg st="1" end="1"/>
                                            </p:txEl>
                                          </p:spTgt>
                                        </p:tgtEl>
                                      </p:cBhvr>
                                    </p:animEffect>
                                  </p:childTnLst>
                                </p:cTn>
                              </p:par>
                            </p:childTnLst>
                          </p:cTn>
                        </p:par>
                        <p:par>
                          <p:cTn id="27" fill="hold">
                            <p:stCondLst>
                              <p:cond delay="2000"/>
                            </p:stCondLst>
                            <p:childTnLst>
                              <p:par>
                                <p:cTn id="28" presetID="55" presetClass="entr" presetSubtype="0" fill="hold" nodeType="afterEffect">
                                  <p:stCondLst>
                                    <p:cond delay="0"/>
                                  </p:stCondLst>
                                  <p:childTnLst>
                                    <p:set>
                                      <p:cBhvr>
                                        <p:cTn id="29" dur="1" fill="hold">
                                          <p:stCondLst>
                                            <p:cond delay="0"/>
                                          </p:stCondLst>
                                        </p:cTn>
                                        <p:tgtEl>
                                          <p:spTgt spid="479238">
                                            <p:txEl>
                                              <p:pRg st="2" end="2"/>
                                            </p:txEl>
                                          </p:spTgt>
                                        </p:tgtEl>
                                        <p:attrNameLst>
                                          <p:attrName>style.visibility</p:attrName>
                                        </p:attrNameLst>
                                      </p:cBhvr>
                                      <p:to>
                                        <p:strVal val="visible"/>
                                      </p:to>
                                    </p:set>
                                    <p:anim calcmode="lin" valueType="num">
                                      <p:cBhvr>
                                        <p:cTn id="30" dur="1000" fill="hold"/>
                                        <p:tgtEl>
                                          <p:spTgt spid="479238">
                                            <p:txEl>
                                              <p:pRg st="2" end="2"/>
                                            </p:txEl>
                                          </p:spTgt>
                                        </p:tgtEl>
                                        <p:attrNameLst>
                                          <p:attrName>ppt_w</p:attrName>
                                        </p:attrNameLst>
                                      </p:cBhvr>
                                      <p:tavLst>
                                        <p:tav tm="0">
                                          <p:val>
                                            <p:strVal val="#ppt_w*0.70"/>
                                          </p:val>
                                        </p:tav>
                                        <p:tav tm="100000">
                                          <p:val>
                                            <p:strVal val="#ppt_w"/>
                                          </p:val>
                                        </p:tav>
                                      </p:tavLst>
                                    </p:anim>
                                    <p:anim calcmode="lin" valueType="num">
                                      <p:cBhvr>
                                        <p:cTn id="31" dur="1000" fill="hold"/>
                                        <p:tgtEl>
                                          <p:spTgt spid="479238">
                                            <p:txEl>
                                              <p:pRg st="2" end="2"/>
                                            </p:txEl>
                                          </p:spTgt>
                                        </p:tgtEl>
                                        <p:attrNameLst>
                                          <p:attrName>ppt_h</p:attrName>
                                        </p:attrNameLst>
                                      </p:cBhvr>
                                      <p:tavLst>
                                        <p:tav tm="0">
                                          <p:val>
                                            <p:strVal val="#ppt_h"/>
                                          </p:val>
                                        </p:tav>
                                        <p:tav tm="100000">
                                          <p:val>
                                            <p:strVal val="#ppt_h"/>
                                          </p:val>
                                        </p:tav>
                                      </p:tavLst>
                                    </p:anim>
                                    <p:animEffect transition="in" filter="fade">
                                      <p:cBhvr>
                                        <p:cTn id="32" dur="1000"/>
                                        <p:tgtEl>
                                          <p:spTgt spid="4792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WordArt 2"/>
          <p:cNvSpPr>
            <a:spLocks noChangeArrowheads="1" noChangeShapeType="1" noTextEdit="1"/>
          </p:cNvSpPr>
          <p:nvPr/>
        </p:nvSpPr>
        <p:spPr bwMode="auto">
          <a:xfrm>
            <a:off x="4427538" y="2781300"/>
            <a:ext cx="3457575" cy="1871663"/>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Wave1">
              <a:avLst>
                <a:gd name="adj1" fmla="val 13005"/>
                <a:gd name="adj2" fmla="val 0"/>
              </a:avLst>
            </a:prstTxWarp>
          </a:bodyPr>
          <a:lstStyle/>
          <a:p>
            <a:pPr algn="ctr"/>
            <a:r>
              <a:rPr lang="zh-CN" altLang="en-US" sz="3600" kern="10">
                <a:gradFill rotWithShape="1">
                  <a:gsLst>
                    <a:gs pos="0">
                      <a:schemeClr val="accent2"/>
                    </a:gs>
                    <a:gs pos="100000">
                      <a:srgbClr val="FF0000"/>
                    </a:gs>
                  </a:gsLst>
                  <a:lin ang="5400000" scaled="1"/>
                </a:gradFill>
                <a:effectLst>
                  <a:outerShdw dist="53882" dir="2700000" algn="ctr" rotWithShape="0">
                    <a:srgbClr val="C0C0C0">
                      <a:alpha val="79999"/>
                    </a:srgbClr>
                  </a:outerShdw>
                </a:effectLst>
                <a:latin typeface="宋体" panose="02010600030101010101" pitchFamily="2" charset="-122"/>
                <a:ea typeface="宋体" panose="02010600030101010101" pitchFamily="2" charset="-122"/>
              </a:rPr>
              <a:t>进入下一节</a:t>
            </a:r>
          </a:p>
        </p:txBody>
      </p:sp>
      <p:pic>
        <p:nvPicPr>
          <p:cNvPr id="32771" name="Picture 3" descr="b2649"/>
          <p:cNvPicPr>
            <a:picLocks noChangeAspect="1" noChangeArrowheads="1" noCrop="1"/>
          </p:cNvPicPr>
          <p:nvPr/>
        </p:nvPicPr>
        <p:blipFill>
          <a:blip r:embed="rId2"/>
          <a:srcRect/>
          <a:stretch>
            <a:fillRect/>
          </a:stretch>
        </p:blipFill>
        <p:spPr bwMode="auto">
          <a:xfrm>
            <a:off x="1116013" y="2492375"/>
            <a:ext cx="27908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Rectangle 4"/>
          <p:cNvSpPr>
            <a:spLocks noGrp="1" noChangeArrowheads="1"/>
          </p:cNvSpPr>
          <p:nvPr>
            <p:ph type="body" idx="1"/>
          </p:nvPr>
        </p:nvSpPr>
        <p:spPr>
          <a:xfrm>
            <a:off x="1331913" y="4797425"/>
            <a:ext cx="6985000" cy="1079500"/>
          </a:xfrm>
          <a:noFill/>
        </p:spPr>
        <p:txBody>
          <a:bodyPr/>
          <a:lstStyle/>
          <a:p>
            <a:pPr marL="0" indent="714375">
              <a:buFont typeface="Wingdings" panose="05000000000000000000" pitchFamily="2" charset="2"/>
              <a:buNone/>
            </a:pPr>
            <a:r>
              <a:rPr lang="zh-CN" altLang="en-US"/>
              <a:t>系统函数极点和零点的分布与系统时域特性的关系</a:t>
            </a:r>
          </a:p>
        </p:txBody>
      </p:sp>
      <p:sp>
        <p:nvSpPr>
          <p:cNvPr id="5" name="日期占位符 4"/>
          <p:cNvSpPr>
            <a:spLocks noGrp="1"/>
          </p:cNvSpPr>
          <p:nvPr>
            <p:ph type="dt" sz="quarter" idx="10"/>
          </p:nvPr>
        </p:nvSpPr>
        <p:spPr/>
        <p:txBody>
          <a:bodyPr/>
          <a:lstStyle/>
          <a:p>
            <a:pPr>
              <a:defRPr/>
            </a:pPr>
            <a:fld id="{E3D3663F-AAD8-449E-8CAC-C9A27CC1A5AB}" type="datetime1">
              <a:rPr lang="zh-CN" altLang="en-US"/>
              <a:t>2026/4/28</a:t>
            </a:fld>
            <a:endParaRPr lang="zh-CN" altLang="en-US"/>
          </a:p>
        </p:txBody>
      </p:sp>
      <p:sp>
        <p:nvSpPr>
          <p:cNvPr id="2" name="墨迹 1"/>
          <p:cNvSpPr/>
          <p:nvPr/>
        </p:nvSpPr>
        <p:spPr bwMode="auto">
          <a:xfrm>
            <a:off x="1660680" y="396360"/>
            <a:ext cx="4124520" cy="1608840"/>
          </a:xfrm>
        </p:spPr>
      </p:sp>
    </p:spTree>
  </p:cSld>
  <p:clrMapOvr>
    <a:masterClrMapping/>
  </p:clrMapOvr>
  <mc:AlternateContent xmlns:mc="http://schemas.openxmlformats.org/markup-compatibility/2006" xmlns:p14="http://schemas.microsoft.com/office/powerpoint/2010/main">
    <mc:Choice Requires="p14">
      <p:transition spd="slow" p14:dur="2000" advTm="63216"/>
    </mc:Choice>
    <mc:Fallback xmlns="">
      <p:transition spd="slow" advTm="632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a:xfrm>
            <a:off x="466725" y="0"/>
            <a:ext cx="7345363" cy="488950"/>
          </a:xfrm>
          <a:solidFill>
            <a:schemeClr val="accent2"/>
          </a:solidFill>
        </p:spPr>
        <p:txBody>
          <a:bodyPr/>
          <a:lstStyle/>
          <a:p>
            <a:pPr>
              <a:defRPr/>
            </a:pPr>
            <a:r>
              <a:rPr lang="en-US" altLang="zh-CN" sz="2400" b="1">
                <a:solidFill>
                  <a:schemeClr val="bg1"/>
                </a:solidFill>
                <a:effectLst>
                  <a:outerShdw blurRad="38100" dist="38100" dir="2700000" algn="tl">
                    <a:srgbClr val="000000"/>
                  </a:outerShdw>
                </a:effectLst>
              </a:rPr>
              <a:t>§6.3 </a:t>
            </a:r>
            <a:r>
              <a:rPr lang="zh-CN" altLang="en-US" sz="2400" b="1">
                <a:solidFill>
                  <a:schemeClr val="bg1"/>
                </a:solidFill>
                <a:effectLst>
                  <a:outerShdw blurRad="38100" dist="38100" dir="2700000" algn="tl">
                    <a:srgbClr val="000000"/>
                  </a:outerShdw>
                </a:effectLst>
              </a:rPr>
              <a:t>系统函数的极零点分布与系统时域特性的关系</a:t>
            </a:r>
          </a:p>
        </p:txBody>
      </p:sp>
      <p:sp>
        <p:nvSpPr>
          <p:cNvPr id="501780" name="Text Box 20"/>
          <p:cNvSpPr txBox="1">
            <a:spLocks noChangeArrowheads="1"/>
          </p:cNvSpPr>
          <p:nvPr/>
        </p:nvSpPr>
        <p:spPr bwMode="auto">
          <a:xfrm>
            <a:off x="1042988" y="1368425"/>
            <a:ext cx="6191250" cy="4119563"/>
          </a:xfrm>
          <a:prstGeom prst="rect">
            <a:avLst/>
          </a:prstGeom>
          <a:solidFill>
            <a:schemeClr val="bg1"/>
          </a:solidFill>
          <a:ln w="38100" cap="sq">
            <a:solidFill>
              <a:schemeClr val="tx1"/>
            </a:solidFill>
            <a:miter lim="800000"/>
            <a:headEnd type="none" w="sm" len="sm"/>
            <a:tailEnd type="none" w="sm" len="sm"/>
          </a:ln>
          <a:effectLst>
            <a:prstShdw prst="shdw12">
              <a:schemeClr val="bg2">
                <a:alpha val="50000"/>
              </a:schemeClr>
            </a:prstShdw>
          </a:effec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35000"/>
              </a:lnSpc>
              <a:spcBef>
                <a:spcPct val="25000"/>
              </a:spcBef>
              <a:buClr>
                <a:schemeClr val="accent2"/>
              </a:buClr>
              <a:buFont typeface="Wingdings" panose="05000000000000000000" pitchFamily="2" charset="2"/>
              <a:buNone/>
            </a:pPr>
            <a:r>
              <a:rPr kumimoji="1" lang="zh-CN" altLang="en-US">
                <a:solidFill>
                  <a:srgbClr val="0000FF"/>
                </a:solidFill>
                <a:ea typeface="宋体" panose="02010600030101010101" pitchFamily="2" charset="-122"/>
              </a:rPr>
              <a:t>一、研究系统零极点 意义：</a:t>
            </a:r>
          </a:p>
          <a:p>
            <a:pPr eaLnBrk="1" hangingPunct="1">
              <a:lnSpc>
                <a:spcPct val="135000"/>
              </a:lnSpc>
              <a:spcBef>
                <a:spcPct val="25000"/>
              </a:spcBef>
              <a:buClr>
                <a:schemeClr val="accent2"/>
              </a:buClr>
              <a:buFont typeface="Wingdings" panose="05000000000000000000" pitchFamily="2" charset="2"/>
              <a:buNone/>
            </a:pPr>
            <a:r>
              <a:rPr kumimoji="1" lang="zh-CN" altLang="en-US">
                <a:solidFill>
                  <a:srgbClr val="003300"/>
                </a:solidFill>
                <a:ea typeface="宋体" panose="02010600030101010101" pitchFamily="2" charset="-122"/>
              </a:rPr>
              <a:t>  </a:t>
            </a:r>
            <a:r>
              <a:rPr kumimoji="1" lang="en-US" altLang="zh-CN">
                <a:solidFill>
                  <a:srgbClr val="003300"/>
                </a:solidFill>
                <a:ea typeface="楷体_GB2312" pitchFamily="49" charset="-122"/>
              </a:rPr>
              <a:t>1.</a:t>
            </a:r>
            <a:r>
              <a:rPr kumimoji="1" lang="zh-CN" altLang="en-US">
                <a:solidFill>
                  <a:srgbClr val="003300"/>
                </a:solidFill>
                <a:ea typeface="楷体_GB2312" pitchFamily="49" charset="-122"/>
              </a:rPr>
              <a:t>可预测系统的</a:t>
            </a:r>
            <a:r>
              <a:rPr kumimoji="1" lang="zh-CN" altLang="en-US" u="sng">
                <a:solidFill>
                  <a:srgbClr val="FF3300"/>
                </a:solidFill>
                <a:ea typeface="楷体_GB2312" pitchFamily="49" charset="-122"/>
              </a:rPr>
              <a:t>时域特性</a:t>
            </a:r>
            <a:r>
              <a:rPr kumimoji="1" lang="zh-CN" altLang="en-US">
                <a:solidFill>
                  <a:srgbClr val="003300"/>
                </a:solidFill>
                <a:ea typeface="楷体_GB2312" pitchFamily="49" charset="-122"/>
              </a:rPr>
              <a:t>；</a:t>
            </a:r>
          </a:p>
          <a:p>
            <a:pPr eaLnBrk="1" hangingPunct="1">
              <a:lnSpc>
                <a:spcPct val="135000"/>
              </a:lnSpc>
              <a:spcBef>
                <a:spcPct val="25000"/>
              </a:spcBef>
              <a:buClr>
                <a:schemeClr val="accent2"/>
              </a:buClr>
              <a:buFont typeface="Wingdings" panose="05000000000000000000" pitchFamily="2" charset="2"/>
              <a:buNone/>
            </a:pPr>
            <a:r>
              <a:rPr kumimoji="1" lang="zh-CN" altLang="en-US">
                <a:solidFill>
                  <a:srgbClr val="003300"/>
                </a:solidFill>
                <a:ea typeface="楷体_GB2312" pitchFamily="49" charset="-122"/>
              </a:rPr>
              <a:t>  </a:t>
            </a:r>
            <a:r>
              <a:rPr kumimoji="1" lang="en-US" altLang="zh-CN">
                <a:solidFill>
                  <a:srgbClr val="003300"/>
                </a:solidFill>
                <a:ea typeface="楷体_GB2312" pitchFamily="49" charset="-122"/>
              </a:rPr>
              <a:t>2.</a:t>
            </a:r>
            <a:r>
              <a:rPr kumimoji="1" lang="zh-CN" altLang="en-US">
                <a:solidFill>
                  <a:srgbClr val="003300"/>
                </a:solidFill>
                <a:ea typeface="楷体_GB2312" pitchFamily="49" charset="-122"/>
              </a:rPr>
              <a:t>确定系统函数</a:t>
            </a:r>
            <a:r>
              <a:rPr kumimoji="1" lang="en-US" altLang="zh-CN" u="sng">
                <a:solidFill>
                  <a:srgbClr val="FF3300"/>
                </a:solidFill>
                <a:ea typeface="楷体_GB2312" pitchFamily="49" charset="-122"/>
              </a:rPr>
              <a:t>H(s)</a:t>
            </a:r>
            <a:r>
              <a:rPr kumimoji="1" lang="en-US" altLang="zh-CN">
                <a:solidFill>
                  <a:srgbClr val="FF3300"/>
                </a:solidFill>
                <a:ea typeface="楷体_GB2312" pitchFamily="49" charset="-122"/>
              </a:rPr>
              <a:t>;</a:t>
            </a:r>
          </a:p>
          <a:p>
            <a:pPr eaLnBrk="1" hangingPunct="1">
              <a:lnSpc>
                <a:spcPct val="135000"/>
              </a:lnSpc>
              <a:spcBef>
                <a:spcPct val="25000"/>
              </a:spcBef>
              <a:buClr>
                <a:schemeClr val="accent2"/>
              </a:buClr>
              <a:buFont typeface="Wingdings" panose="05000000000000000000" pitchFamily="2" charset="2"/>
              <a:buNone/>
            </a:pPr>
            <a:r>
              <a:rPr kumimoji="1" lang="en-US" altLang="zh-CN">
                <a:solidFill>
                  <a:srgbClr val="003300"/>
                </a:solidFill>
                <a:ea typeface="楷体_GB2312" pitchFamily="49" charset="-122"/>
              </a:rPr>
              <a:t>  3.</a:t>
            </a:r>
            <a:r>
              <a:rPr kumimoji="1" lang="zh-CN" altLang="en-US">
                <a:solidFill>
                  <a:srgbClr val="003300"/>
                </a:solidFill>
                <a:ea typeface="楷体_GB2312" pitchFamily="49" charset="-122"/>
              </a:rPr>
              <a:t>描述系统的</a:t>
            </a:r>
            <a:r>
              <a:rPr kumimoji="1" lang="zh-CN" altLang="en-US" u="sng">
                <a:solidFill>
                  <a:srgbClr val="FF3300"/>
                </a:solidFill>
                <a:ea typeface="楷体_GB2312" pitchFamily="49" charset="-122"/>
              </a:rPr>
              <a:t>频响特性</a:t>
            </a:r>
            <a:r>
              <a:rPr kumimoji="1" lang="zh-CN" altLang="en-US" u="sng">
                <a:solidFill>
                  <a:srgbClr val="003300"/>
                </a:solidFill>
                <a:ea typeface="楷体_GB2312" pitchFamily="49" charset="-122"/>
              </a:rPr>
              <a:t>；</a:t>
            </a:r>
            <a:r>
              <a:rPr kumimoji="1" lang="zh-CN" altLang="en-US">
                <a:solidFill>
                  <a:srgbClr val="003300"/>
                </a:solidFill>
                <a:ea typeface="楷体_GB2312" pitchFamily="49" charset="-122"/>
              </a:rPr>
              <a:t> </a:t>
            </a:r>
          </a:p>
          <a:p>
            <a:pPr eaLnBrk="1" hangingPunct="1">
              <a:lnSpc>
                <a:spcPct val="135000"/>
              </a:lnSpc>
              <a:spcBef>
                <a:spcPct val="25000"/>
              </a:spcBef>
              <a:buClr>
                <a:schemeClr val="accent2"/>
              </a:buClr>
              <a:buFont typeface="Wingdings" panose="05000000000000000000" pitchFamily="2" charset="2"/>
              <a:buNone/>
            </a:pPr>
            <a:r>
              <a:rPr kumimoji="1" lang="zh-CN" altLang="en-US">
                <a:solidFill>
                  <a:srgbClr val="003300"/>
                </a:solidFill>
                <a:ea typeface="楷体_GB2312" pitchFamily="49" charset="-122"/>
              </a:rPr>
              <a:t>  </a:t>
            </a:r>
            <a:r>
              <a:rPr kumimoji="1" lang="en-US" altLang="zh-CN">
                <a:solidFill>
                  <a:srgbClr val="003300"/>
                </a:solidFill>
                <a:ea typeface="楷体_GB2312" pitchFamily="49" charset="-122"/>
              </a:rPr>
              <a:t>4. </a:t>
            </a:r>
            <a:r>
              <a:rPr kumimoji="1" lang="zh-CN" altLang="en-US">
                <a:solidFill>
                  <a:srgbClr val="003300"/>
                </a:solidFill>
                <a:ea typeface="楷体_GB2312" pitchFamily="49" charset="-122"/>
              </a:rPr>
              <a:t>说明系统</a:t>
            </a:r>
            <a:r>
              <a:rPr kumimoji="1" lang="zh-CN" altLang="en-US" u="sng">
                <a:solidFill>
                  <a:srgbClr val="FF3300"/>
                </a:solidFill>
                <a:ea typeface="楷体_GB2312" pitchFamily="49" charset="-122"/>
              </a:rPr>
              <a:t>正弦稳态特性</a:t>
            </a:r>
            <a:r>
              <a:rPr kumimoji="1" lang="zh-CN" altLang="en-US">
                <a:solidFill>
                  <a:srgbClr val="003300"/>
                </a:solidFill>
                <a:ea typeface="楷体_GB2312" pitchFamily="49" charset="-122"/>
              </a:rPr>
              <a:t>；</a:t>
            </a:r>
          </a:p>
          <a:p>
            <a:pPr eaLnBrk="1" hangingPunct="1">
              <a:lnSpc>
                <a:spcPct val="135000"/>
              </a:lnSpc>
              <a:spcBef>
                <a:spcPct val="25000"/>
              </a:spcBef>
              <a:buClr>
                <a:schemeClr val="accent2"/>
              </a:buClr>
              <a:buFont typeface="Wingdings" panose="05000000000000000000" pitchFamily="2" charset="2"/>
              <a:buNone/>
            </a:pPr>
            <a:r>
              <a:rPr kumimoji="1" lang="zh-CN" altLang="en-US">
                <a:solidFill>
                  <a:srgbClr val="003300"/>
                </a:solidFill>
                <a:ea typeface="楷体_GB2312" pitchFamily="49" charset="-122"/>
              </a:rPr>
              <a:t>  </a:t>
            </a:r>
            <a:r>
              <a:rPr kumimoji="1" lang="en-US" altLang="zh-CN">
                <a:solidFill>
                  <a:srgbClr val="003300"/>
                </a:solidFill>
                <a:ea typeface="楷体_GB2312" pitchFamily="49" charset="-122"/>
              </a:rPr>
              <a:t>5.</a:t>
            </a:r>
            <a:r>
              <a:rPr kumimoji="1" lang="zh-CN" altLang="en-US">
                <a:solidFill>
                  <a:srgbClr val="003300"/>
                </a:solidFill>
                <a:ea typeface="楷体_GB2312" pitchFamily="49" charset="-122"/>
              </a:rPr>
              <a:t>研究系统的</a:t>
            </a:r>
            <a:r>
              <a:rPr kumimoji="1" lang="zh-CN" altLang="en-US" u="sng">
                <a:solidFill>
                  <a:srgbClr val="FF3300"/>
                </a:solidFill>
                <a:ea typeface="楷体_GB2312" pitchFamily="49" charset="-122"/>
              </a:rPr>
              <a:t>稳定性</a:t>
            </a:r>
            <a:r>
              <a:rPr kumimoji="1" lang="zh-CN" altLang="en-US">
                <a:solidFill>
                  <a:srgbClr val="003300"/>
                </a:solidFill>
                <a:ea typeface="楷体_GB2312" pitchFamily="49" charset="-122"/>
              </a:rPr>
              <a:t>。</a:t>
            </a:r>
          </a:p>
        </p:txBody>
      </p:sp>
      <p:sp>
        <p:nvSpPr>
          <p:cNvPr id="5" name="日期占位符 4"/>
          <p:cNvSpPr>
            <a:spLocks noGrp="1"/>
          </p:cNvSpPr>
          <p:nvPr>
            <p:ph type="dt" sz="quarter" idx="10"/>
          </p:nvPr>
        </p:nvSpPr>
        <p:spPr>
          <a:xfrm>
            <a:off x="0" y="6278563"/>
            <a:ext cx="1139825" cy="319087"/>
          </a:xfrm>
        </p:spPr>
        <p:txBody>
          <a:bodyPr/>
          <a:lstStyle/>
          <a:p>
            <a:pPr>
              <a:defRPr/>
            </a:pPr>
            <a:fld id="{DDA24633-037D-4BA4-8583-C33FC190B76B}" type="datetime1">
              <a:rPr lang="zh-CN" altLang="en-US"/>
              <a:t>2026/4/28</a:t>
            </a:fld>
            <a:endParaRPr lang="zh-CN" altLang="en-US"/>
          </a:p>
        </p:txBody>
      </p:sp>
      <p:sp>
        <p:nvSpPr>
          <p:cNvPr id="2" name="墨迹 1"/>
          <p:cNvSpPr/>
          <p:nvPr/>
        </p:nvSpPr>
        <p:spPr bwMode="auto">
          <a:xfrm>
            <a:off x="3577680" y="424800"/>
            <a:ext cx="3065040" cy="4377240"/>
          </a:xfrm>
        </p:spPr>
      </p:sp>
    </p:spTree>
  </p:cSld>
  <p:clrMapOvr>
    <a:masterClrMapping/>
  </p:clrMapOvr>
  <mc:AlternateContent xmlns:mc="http://schemas.openxmlformats.org/markup-compatibility/2006" xmlns:p14="http://schemas.microsoft.com/office/powerpoint/2010/main">
    <mc:Choice Requires="p14">
      <p:transition spd="slow" p14:dur="2000" advTm="54028"/>
    </mc:Choice>
    <mc:Fallback xmlns="">
      <p:transition spd="slow" advTm="540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22" presetClass="entr" presetSubtype="8" fill="hold" grpId="0" nodeType="afterEffect">
                                  <p:stCondLst>
                                    <p:cond delay="0"/>
                                  </p:stCondLst>
                                  <p:childTnLst>
                                    <p:set>
                                      <p:cBhvr>
                                        <p:cTn id="10" dur="1" fill="hold">
                                          <p:stCondLst>
                                            <p:cond delay="0"/>
                                          </p:stCondLst>
                                        </p:cTn>
                                        <p:tgtEl>
                                          <p:spTgt spid="501780">
                                            <p:txEl>
                                              <p:pRg st="0" end="0"/>
                                            </p:txEl>
                                          </p:spTgt>
                                        </p:tgtEl>
                                        <p:attrNameLst>
                                          <p:attrName>style.visibility</p:attrName>
                                        </p:attrNameLst>
                                      </p:cBhvr>
                                      <p:to>
                                        <p:strVal val="visible"/>
                                      </p:to>
                                    </p:set>
                                    <p:animEffect transition="in" filter="wipe(left)">
                                      <p:cBhvr>
                                        <p:cTn id="11" dur="500"/>
                                        <p:tgtEl>
                                          <p:spTgt spid="501780">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501780">
                                            <p:txEl>
                                              <p:pRg st="1" end="1"/>
                                            </p:txEl>
                                          </p:spTgt>
                                        </p:tgtEl>
                                        <p:attrNameLst>
                                          <p:attrName>style.visibility</p:attrName>
                                        </p:attrNameLst>
                                      </p:cBhvr>
                                      <p:to>
                                        <p:strVal val="visible"/>
                                      </p:to>
                                    </p:set>
                                    <p:animEffect transition="in" filter="wipe(left)">
                                      <p:cBhvr>
                                        <p:cTn id="15" dur="500"/>
                                        <p:tgtEl>
                                          <p:spTgt spid="501780">
                                            <p:txEl>
                                              <p:pRg st="1" end="1"/>
                                            </p:txEl>
                                          </p:spTgt>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501780">
                                            <p:txEl>
                                              <p:pRg st="2" end="2"/>
                                            </p:txEl>
                                          </p:spTgt>
                                        </p:tgtEl>
                                        <p:attrNameLst>
                                          <p:attrName>style.visibility</p:attrName>
                                        </p:attrNameLst>
                                      </p:cBhvr>
                                      <p:to>
                                        <p:strVal val="visible"/>
                                      </p:to>
                                    </p:set>
                                    <p:animEffect transition="in" filter="wipe(left)">
                                      <p:cBhvr>
                                        <p:cTn id="19" dur="500"/>
                                        <p:tgtEl>
                                          <p:spTgt spid="501780">
                                            <p:txEl>
                                              <p:pRg st="2" end="2"/>
                                            </p:txEl>
                                          </p:spTgt>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501780">
                                            <p:txEl>
                                              <p:pRg st="3" end="3"/>
                                            </p:txEl>
                                          </p:spTgt>
                                        </p:tgtEl>
                                        <p:attrNameLst>
                                          <p:attrName>style.visibility</p:attrName>
                                        </p:attrNameLst>
                                      </p:cBhvr>
                                      <p:to>
                                        <p:strVal val="visible"/>
                                      </p:to>
                                    </p:set>
                                    <p:animEffect transition="in" filter="wipe(left)">
                                      <p:cBhvr>
                                        <p:cTn id="23" dur="500"/>
                                        <p:tgtEl>
                                          <p:spTgt spid="501780">
                                            <p:txEl>
                                              <p:pRg st="3" end="3"/>
                                            </p:txEl>
                                          </p:spTgt>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501780">
                                            <p:txEl>
                                              <p:pRg st="4" end="4"/>
                                            </p:txEl>
                                          </p:spTgt>
                                        </p:tgtEl>
                                        <p:attrNameLst>
                                          <p:attrName>style.visibility</p:attrName>
                                        </p:attrNameLst>
                                      </p:cBhvr>
                                      <p:to>
                                        <p:strVal val="visible"/>
                                      </p:to>
                                    </p:set>
                                    <p:animEffect transition="in" filter="wipe(left)">
                                      <p:cBhvr>
                                        <p:cTn id="27" dur="500"/>
                                        <p:tgtEl>
                                          <p:spTgt spid="501780">
                                            <p:txEl>
                                              <p:pRg st="4" end="4"/>
                                            </p:txEl>
                                          </p:spTgt>
                                        </p:tgtEl>
                                      </p:cBhvr>
                                    </p:animEffect>
                                  </p:childTnLst>
                                </p:cTn>
                              </p:par>
                            </p:childTnLst>
                          </p:cTn>
                        </p:par>
                        <p:par>
                          <p:cTn id="28" fill="hold">
                            <p:stCondLst>
                              <p:cond delay="2500"/>
                            </p:stCondLst>
                            <p:childTnLst>
                              <p:par>
                                <p:cTn id="29" presetID="22" presetClass="entr" presetSubtype="8" fill="hold" grpId="0" nodeType="afterEffect">
                                  <p:stCondLst>
                                    <p:cond delay="0"/>
                                  </p:stCondLst>
                                  <p:childTnLst>
                                    <p:set>
                                      <p:cBhvr>
                                        <p:cTn id="30" dur="1" fill="hold">
                                          <p:stCondLst>
                                            <p:cond delay="0"/>
                                          </p:stCondLst>
                                        </p:cTn>
                                        <p:tgtEl>
                                          <p:spTgt spid="501780">
                                            <p:txEl>
                                              <p:pRg st="5" end="5"/>
                                            </p:txEl>
                                          </p:spTgt>
                                        </p:tgtEl>
                                        <p:attrNameLst>
                                          <p:attrName>style.visibility</p:attrName>
                                        </p:attrNameLst>
                                      </p:cBhvr>
                                      <p:to>
                                        <p:strVal val="visible"/>
                                      </p:to>
                                    </p:set>
                                    <p:animEffect transition="in" filter="wipe(left)">
                                      <p:cBhvr>
                                        <p:cTn id="31" dur="500"/>
                                        <p:tgtEl>
                                          <p:spTgt spid="50178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0"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5"/>
          <p:cNvSpPr txBox="1">
            <a:spLocks noChangeArrowheads="1"/>
          </p:cNvSpPr>
          <p:nvPr/>
        </p:nvSpPr>
        <p:spPr bwMode="auto">
          <a:xfrm>
            <a:off x="900113" y="549275"/>
            <a:ext cx="1243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ea typeface="宋体" panose="02010600030101010101" pitchFamily="2" charset="-122"/>
              </a:rPr>
              <a:t>例</a:t>
            </a:r>
            <a:r>
              <a:rPr kumimoji="1" lang="en-US" altLang="zh-CN">
                <a:ea typeface="宋体" panose="02010600030101010101" pitchFamily="2" charset="-122"/>
              </a:rPr>
              <a:t>1</a:t>
            </a:r>
            <a:r>
              <a:rPr kumimoji="1" lang="zh-CN" altLang="en-US">
                <a:ea typeface="宋体" panose="02010600030101010101" pitchFamily="2" charset="-122"/>
              </a:rPr>
              <a:t>：</a:t>
            </a:r>
          </a:p>
        </p:txBody>
      </p:sp>
      <p:graphicFrame>
        <p:nvGraphicFramePr>
          <p:cNvPr id="34819" name="Object 2"/>
          <p:cNvGraphicFramePr>
            <a:graphicFrameLocks noChangeAspect="1"/>
          </p:cNvGraphicFramePr>
          <p:nvPr/>
        </p:nvGraphicFramePr>
        <p:xfrm>
          <a:off x="2051050" y="404813"/>
          <a:ext cx="4267200" cy="914400"/>
        </p:xfrm>
        <a:graphic>
          <a:graphicData uri="http://schemas.openxmlformats.org/presentationml/2006/ole">
            <mc:AlternateContent xmlns:mc="http://schemas.openxmlformats.org/markup-compatibility/2006">
              <mc:Choice xmlns:v="urn:schemas-microsoft-com:vml" Requires="v">
                <p:oleObj name="Equation" r:id="rId3" imgW="1905000" imgH="419100" progId="Equation.3">
                  <p:embed/>
                </p:oleObj>
              </mc:Choice>
              <mc:Fallback>
                <p:oleObj name="Equation" r:id="rId3" imgW="1905000" imgH="419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404813"/>
                        <a:ext cx="4267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0743" name="Text Box 7"/>
          <p:cNvSpPr txBox="1">
            <a:spLocks noChangeArrowheads="1"/>
          </p:cNvSpPr>
          <p:nvPr/>
        </p:nvSpPr>
        <p:spPr bwMode="auto">
          <a:xfrm>
            <a:off x="1116013" y="3429000"/>
            <a:ext cx="2212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solidFill>
                  <a:srgbClr val="003300"/>
                </a:solidFill>
                <a:ea typeface="宋体" panose="02010600030101010101" pitchFamily="2" charset="-122"/>
              </a:rPr>
              <a:t>极点 ：</a:t>
            </a:r>
          </a:p>
        </p:txBody>
      </p:sp>
      <p:graphicFrame>
        <p:nvGraphicFramePr>
          <p:cNvPr id="500744" name="Object 3"/>
          <p:cNvGraphicFramePr>
            <a:graphicFrameLocks noChangeAspect="1"/>
          </p:cNvGraphicFramePr>
          <p:nvPr/>
        </p:nvGraphicFramePr>
        <p:xfrm>
          <a:off x="1835150" y="3860800"/>
          <a:ext cx="4152900" cy="533400"/>
        </p:xfrm>
        <a:graphic>
          <a:graphicData uri="http://schemas.openxmlformats.org/presentationml/2006/ole">
            <mc:AlternateContent xmlns:mc="http://schemas.openxmlformats.org/markup-compatibility/2006">
              <mc:Choice xmlns:v="urn:schemas-microsoft-com:vml" Requires="v">
                <p:oleObj name="Equation" r:id="rId5" imgW="2387600" imgH="228600" progId="Equation.3">
                  <p:embed/>
                </p:oleObj>
              </mc:Choice>
              <mc:Fallback>
                <p:oleObj name="Equation" r:id="rId5" imgW="238760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3860800"/>
                        <a:ext cx="41529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0745" name="Text Box 9"/>
          <p:cNvSpPr txBox="1">
            <a:spLocks noChangeArrowheads="1"/>
          </p:cNvSpPr>
          <p:nvPr/>
        </p:nvSpPr>
        <p:spPr bwMode="auto">
          <a:xfrm>
            <a:off x="1116013" y="1773238"/>
            <a:ext cx="1995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solidFill>
                  <a:srgbClr val="800000"/>
                </a:solidFill>
                <a:ea typeface="宋体" panose="02010600030101010101" pitchFamily="2" charset="-122"/>
              </a:rPr>
              <a:t>零点 ：</a:t>
            </a:r>
          </a:p>
        </p:txBody>
      </p:sp>
      <p:graphicFrame>
        <p:nvGraphicFramePr>
          <p:cNvPr id="500746" name="Object 4"/>
          <p:cNvGraphicFramePr>
            <a:graphicFrameLocks noChangeAspect="1"/>
          </p:cNvGraphicFramePr>
          <p:nvPr/>
        </p:nvGraphicFramePr>
        <p:xfrm>
          <a:off x="1763713" y="2492375"/>
          <a:ext cx="3584575" cy="533400"/>
        </p:xfrm>
        <a:graphic>
          <a:graphicData uri="http://schemas.openxmlformats.org/presentationml/2006/ole">
            <mc:AlternateContent xmlns:mc="http://schemas.openxmlformats.org/markup-compatibility/2006">
              <mc:Choice xmlns:v="urn:schemas-microsoft-com:vml" Requires="v">
                <p:oleObj name="Equation" r:id="rId7" imgW="2044700" imgH="228600" progId="Equation.3">
                  <p:embed/>
                </p:oleObj>
              </mc:Choice>
              <mc:Fallback>
                <p:oleObj name="Equation" r:id="rId7" imgW="20447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2492375"/>
                        <a:ext cx="358457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0747" name="Text Box 11"/>
          <p:cNvSpPr txBox="1">
            <a:spLocks noChangeArrowheads="1"/>
          </p:cNvSpPr>
          <p:nvPr/>
        </p:nvSpPr>
        <p:spPr bwMode="auto">
          <a:xfrm>
            <a:off x="1403350" y="4797425"/>
            <a:ext cx="640873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0000FF"/>
                </a:solidFill>
                <a:ea typeface="楷体_GB2312" pitchFamily="49" charset="-122"/>
              </a:rPr>
              <a:t>极点决定系统的固有频率或自然频率。</a:t>
            </a:r>
          </a:p>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0000FF"/>
                </a:solidFill>
                <a:ea typeface="楷体_GB2312" pitchFamily="49" charset="-122"/>
              </a:rPr>
              <a:t>零、极点决定系统时域特性。</a:t>
            </a:r>
          </a:p>
        </p:txBody>
      </p:sp>
      <p:grpSp>
        <p:nvGrpSpPr>
          <p:cNvPr id="2" name="Group 12"/>
          <p:cNvGrpSpPr/>
          <p:nvPr/>
        </p:nvGrpSpPr>
        <p:grpSpPr bwMode="auto">
          <a:xfrm>
            <a:off x="5626100" y="1135698"/>
            <a:ext cx="3298825" cy="2592387"/>
            <a:chOff x="3552" y="0"/>
            <a:chExt cx="1954" cy="2222"/>
          </a:xfrm>
        </p:grpSpPr>
        <p:graphicFrame>
          <p:nvGraphicFramePr>
            <p:cNvPr id="34827" name="Object 5"/>
            <p:cNvGraphicFramePr>
              <a:graphicFrameLocks noChangeAspect="1"/>
            </p:cNvGraphicFramePr>
            <p:nvPr/>
          </p:nvGraphicFramePr>
          <p:xfrm>
            <a:off x="3648" y="0"/>
            <a:ext cx="1858" cy="2222"/>
          </p:xfrm>
          <a:graphic>
            <a:graphicData uri="http://schemas.openxmlformats.org/presentationml/2006/ole">
              <mc:AlternateContent xmlns:mc="http://schemas.openxmlformats.org/markup-compatibility/2006">
                <mc:Choice xmlns:v="urn:schemas-microsoft-com:vml" Requires="v">
                  <p:oleObj name="Visio" r:id="rId9" imgW="1996440" imgH="2381250" progId="Visio.Drawing.6">
                    <p:embed/>
                  </p:oleObj>
                </mc:Choice>
                <mc:Fallback>
                  <p:oleObj name="Visio" r:id="rId9" imgW="1996440" imgH="2381250" progId="Visio.Drawing.6">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8" y="0"/>
                          <a:ext cx="1858" cy="2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8" name="Object 6"/>
            <p:cNvGraphicFramePr>
              <a:graphicFrameLocks noChangeAspect="1"/>
            </p:cNvGraphicFramePr>
            <p:nvPr/>
          </p:nvGraphicFramePr>
          <p:xfrm>
            <a:off x="4140" y="1056"/>
            <a:ext cx="372" cy="432"/>
          </p:xfrm>
          <a:graphic>
            <a:graphicData uri="http://schemas.openxmlformats.org/presentationml/2006/ole">
              <mc:AlternateContent xmlns:mc="http://schemas.openxmlformats.org/markup-compatibility/2006">
                <mc:Choice xmlns:v="urn:schemas-microsoft-com:vml" Requires="v">
                  <p:oleObj name="Visio" r:id="rId11" imgW="280035" imgH="380365" progId="Visio.Drawing.6">
                    <p:embed/>
                  </p:oleObj>
                </mc:Choice>
                <mc:Fallback>
                  <p:oleObj name="Visio" r:id="rId11" imgW="280035" imgH="380365" progId="Visio.Drawing.6">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40" y="1056"/>
                          <a:ext cx="372"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9" name="Object 7"/>
            <p:cNvGraphicFramePr>
              <a:graphicFrameLocks noChangeAspect="1"/>
            </p:cNvGraphicFramePr>
            <p:nvPr/>
          </p:nvGraphicFramePr>
          <p:xfrm>
            <a:off x="4752" y="720"/>
            <a:ext cx="577" cy="236"/>
          </p:xfrm>
          <a:graphic>
            <a:graphicData uri="http://schemas.openxmlformats.org/presentationml/2006/ole">
              <mc:AlternateContent xmlns:mc="http://schemas.openxmlformats.org/markup-compatibility/2006">
                <mc:Choice xmlns:v="urn:schemas-microsoft-com:vml" Requires="v">
                  <p:oleObj name="VISIO" r:id="rId13" imgW="610870" imgH="250190" progId="Visio.Drawing.5">
                    <p:embed/>
                  </p:oleObj>
                </mc:Choice>
                <mc:Fallback>
                  <p:oleObj name="VISIO" r:id="rId13" imgW="610870" imgH="250190" progId="Visio.Drawing.5">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52" y="720"/>
                          <a:ext cx="577"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30" name="Object 8"/>
            <p:cNvGraphicFramePr>
              <a:graphicFrameLocks noChangeAspect="1"/>
            </p:cNvGraphicFramePr>
            <p:nvPr/>
          </p:nvGraphicFramePr>
          <p:xfrm>
            <a:off x="4752" y="1248"/>
            <a:ext cx="577" cy="237"/>
          </p:xfrm>
          <a:graphic>
            <a:graphicData uri="http://schemas.openxmlformats.org/presentationml/2006/ole">
              <mc:AlternateContent xmlns:mc="http://schemas.openxmlformats.org/markup-compatibility/2006">
                <mc:Choice xmlns:v="urn:schemas-microsoft-com:vml" Requires="v">
                  <p:oleObj name="Visio" r:id="rId15" imgW="638810" imgH="278765" progId="Visio.Drawing.6">
                    <p:embed/>
                  </p:oleObj>
                </mc:Choice>
                <mc:Fallback>
                  <p:oleObj name="Visio" r:id="rId15" imgW="638810" imgH="278765" progId="Visio.Drawing.6">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52" y="1248"/>
                          <a:ext cx="577"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31" name="Object 9"/>
            <p:cNvGraphicFramePr>
              <a:graphicFrameLocks noChangeAspect="1"/>
            </p:cNvGraphicFramePr>
            <p:nvPr/>
          </p:nvGraphicFramePr>
          <p:xfrm>
            <a:off x="4320" y="1728"/>
            <a:ext cx="611" cy="237"/>
          </p:xfrm>
          <a:graphic>
            <a:graphicData uri="http://schemas.openxmlformats.org/presentationml/2006/ole">
              <mc:AlternateContent xmlns:mc="http://schemas.openxmlformats.org/markup-compatibility/2006">
                <mc:Choice xmlns:v="urn:schemas-microsoft-com:vml" Requires="v">
                  <p:oleObj name="Visio" r:id="rId17" imgW="674370" imgH="278765" progId="Visio.Drawing.6">
                    <p:embed/>
                  </p:oleObj>
                </mc:Choice>
                <mc:Fallback>
                  <p:oleObj name="Visio" r:id="rId17" imgW="674370" imgH="278765" progId="Visio.Drawing.6">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20" y="1728"/>
                          <a:ext cx="611"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32" name="Object 10"/>
            <p:cNvGraphicFramePr>
              <a:graphicFrameLocks noChangeAspect="1"/>
            </p:cNvGraphicFramePr>
            <p:nvPr/>
          </p:nvGraphicFramePr>
          <p:xfrm>
            <a:off x="4320" y="336"/>
            <a:ext cx="407" cy="236"/>
          </p:xfrm>
          <a:graphic>
            <a:graphicData uri="http://schemas.openxmlformats.org/presentationml/2006/ole">
              <mc:AlternateContent xmlns:mc="http://schemas.openxmlformats.org/markup-compatibility/2006">
                <mc:Choice xmlns:v="urn:schemas-microsoft-com:vml" Requires="v">
                  <p:oleObj name="VISIO" r:id="rId19" imgW="431165" imgH="250190" progId="Visio.Drawing.5">
                    <p:embed/>
                  </p:oleObj>
                </mc:Choice>
                <mc:Fallback>
                  <p:oleObj name="VISIO" r:id="rId19" imgW="431165" imgH="250190" progId="Visio.Drawing.5">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20" y="336"/>
                          <a:ext cx="407"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33" name="Object 11"/>
            <p:cNvGraphicFramePr>
              <a:graphicFrameLocks noChangeAspect="1"/>
            </p:cNvGraphicFramePr>
            <p:nvPr/>
          </p:nvGraphicFramePr>
          <p:xfrm>
            <a:off x="3744" y="1056"/>
            <a:ext cx="272" cy="361"/>
          </p:xfrm>
          <a:graphic>
            <a:graphicData uri="http://schemas.openxmlformats.org/presentationml/2006/ole">
              <mc:AlternateContent xmlns:mc="http://schemas.openxmlformats.org/markup-compatibility/2006">
                <mc:Choice xmlns:v="urn:schemas-microsoft-com:vml" Requires="v">
                  <p:oleObj name="VISIO" r:id="rId21" imgW="288290" imgH="382270" progId="Visio.Drawing.5">
                    <p:embed/>
                  </p:oleObj>
                </mc:Choice>
                <mc:Fallback>
                  <p:oleObj name="VISIO" r:id="rId21" imgW="288290" imgH="382270" progId="Visio.Drawing.5">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744" y="1056"/>
                          <a:ext cx="272"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34" name="Text Box 20"/>
            <p:cNvSpPr txBox="1">
              <a:spLocks noChangeArrowheads="1"/>
            </p:cNvSpPr>
            <p:nvPr/>
          </p:nvSpPr>
          <p:spPr bwMode="auto">
            <a:xfrm>
              <a:off x="3552" y="816"/>
              <a:ext cx="720"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003300"/>
                  </a:solidFill>
                  <a:ea typeface="宋体" panose="02010600030101010101" pitchFamily="2" charset="-122"/>
                </a:rPr>
                <a:t>（</a:t>
              </a:r>
              <a:r>
                <a:rPr kumimoji="1" lang="en-US" altLang="zh-CN">
                  <a:solidFill>
                    <a:srgbClr val="003300"/>
                  </a:solidFill>
                  <a:ea typeface="宋体" panose="02010600030101010101" pitchFamily="2" charset="-122"/>
                </a:rPr>
                <a:t>2</a:t>
              </a:r>
              <a:r>
                <a:rPr kumimoji="1" lang="zh-CN" altLang="en-US">
                  <a:solidFill>
                    <a:srgbClr val="003300"/>
                  </a:solidFill>
                  <a:ea typeface="宋体" panose="02010600030101010101" pitchFamily="2" charset="-122"/>
                </a:rPr>
                <a:t>）</a:t>
              </a:r>
            </a:p>
          </p:txBody>
        </p:sp>
        <p:sp>
          <p:nvSpPr>
            <p:cNvPr id="34835" name="Text Box 21"/>
            <p:cNvSpPr txBox="1">
              <a:spLocks noChangeArrowheads="1"/>
            </p:cNvSpPr>
            <p:nvPr/>
          </p:nvSpPr>
          <p:spPr bwMode="auto">
            <a:xfrm>
              <a:off x="4800" y="288"/>
              <a:ext cx="62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sz="2400">
                  <a:solidFill>
                    <a:srgbClr val="FF0000"/>
                  </a:solidFill>
                  <a:latin typeface="Tahoma" panose="020B0604030504040204" pitchFamily="34" charset="0"/>
                  <a:ea typeface="宋体" panose="02010600030101010101" pitchFamily="2" charset="-122"/>
                </a:rPr>
                <a:t>H</a:t>
              </a:r>
              <a:r>
                <a:rPr kumimoji="1" lang="en-US" altLang="zh-CN" sz="2400" baseline="-25000">
                  <a:solidFill>
                    <a:srgbClr val="FF0000"/>
                  </a:solidFill>
                  <a:latin typeface="Tahoma" panose="020B0604030504040204" pitchFamily="34" charset="0"/>
                  <a:ea typeface="宋体" panose="02010600030101010101" pitchFamily="2" charset="-122"/>
                </a:rPr>
                <a:t>0</a:t>
              </a:r>
              <a:r>
                <a:rPr kumimoji="1" lang="en-US" altLang="zh-CN" sz="2400">
                  <a:solidFill>
                    <a:srgbClr val="FF0000"/>
                  </a:solidFill>
                  <a:latin typeface="Tahoma" panose="020B0604030504040204" pitchFamily="34" charset="0"/>
                  <a:ea typeface="宋体" panose="02010600030101010101" pitchFamily="2" charset="-122"/>
                </a:rPr>
                <a:t>=5</a:t>
              </a:r>
            </a:p>
          </p:txBody>
        </p:sp>
      </p:grpSp>
      <p:sp>
        <p:nvSpPr>
          <p:cNvPr id="20" name="日期占位符 19"/>
          <p:cNvSpPr>
            <a:spLocks noGrp="1"/>
          </p:cNvSpPr>
          <p:nvPr>
            <p:ph type="dt" sz="quarter" idx="10"/>
          </p:nvPr>
        </p:nvSpPr>
        <p:spPr/>
        <p:txBody>
          <a:bodyPr/>
          <a:lstStyle/>
          <a:p>
            <a:pPr>
              <a:defRPr/>
            </a:pPr>
            <a:fld id="{53CE7238-BF95-4C1F-8563-99B6A08F7B3E}" type="datetime1">
              <a:rPr lang="zh-CN" altLang="en-US"/>
              <a:t>2026/4/28</a:t>
            </a:fld>
            <a:endParaRPr lang="zh-CN" altLang="en-US"/>
          </a:p>
        </p:txBody>
      </p:sp>
      <p:sp>
        <p:nvSpPr>
          <p:cNvPr id="3" name="墨迹 2"/>
          <p:cNvSpPr/>
          <p:nvPr/>
        </p:nvSpPr>
        <p:spPr bwMode="auto">
          <a:xfrm>
            <a:off x="1900440" y="2002320"/>
            <a:ext cx="6299280" cy="42627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4364"/>
    </mc:Choice>
    <mc:Fallback xmlns="">
      <p:transition spd="slow" advTm="1343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22" presetClass="entr" presetSubtype="8" fill="hold" grpId="0" nodeType="afterEffect">
                                  <p:stCondLst>
                                    <p:cond delay="0"/>
                                  </p:stCondLst>
                                  <p:childTnLst>
                                    <p:set>
                                      <p:cBhvr>
                                        <p:cTn id="10" dur="1" fill="hold">
                                          <p:stCondLst>
                                            <p:cond delay="0"/>
                                          </p:stCondLst>
                                        </p:cTn>
                                        <p:tgtEl>
                                          <p:spTgt spid="500745">
                                            <p:txEl>
                                              <p:pRg st="0" end="0"/>
                                            </p:txEl>
                                          </p:spTgt>
                                        </p:tgtEl>
                                        <p:attrNameLst>
                                          <p:attrName>style.visibility</p:attrName>
                                        </p:attrNameLst>
                                      </p:cBhvr>
                                      <p:to>
                                        <p:strVal val="visible"/>
                                      </p:to>
                                    </p:set>
                                    <p:animEffect transition="in" filter="wipe(left)">
                                      <p:cBhvr>
                                        <p:cTn id="11" dur="500"/>
                                        <p:tgtEl>
                                          <p:spTgt spid="500745">
                                            <p:txEl>
                                              <p:pRg st="0" end="0"/>
                                            </p:txEl>
                                          </p:spTgt>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500743">
                                            <p:txEl>
                                              <p:pRg st="0" end="0"/>
                                            </p:txEl>
                                          </p:spTgt>
                                        </p:tgtEl>
                                        <p:attrNameLst>
                                          <p:attrName>style.visibility</p:attrName>
                                        </p:attrNameLst>
                                      </p:cBhvr>
                                      <p:to>
                                        <p:strVal val="visible"/>
                                      </p:to>
                                    </p:set>
                                    <p:animEffect transition="in" filter="wipe(left)">
                                      <p:cBhvr>
                                        <p:cTn id="15" dur="500"/>
                                        <p:tgtEl>
                                          <p:spTgt spid="50074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00746"/>
                                        </p:tgtEl>
                                        <p:attrNameLst>
                                          <p:attrName>style.visibility</p:attrName>
                                        </p:attrNameLst>
                                      </p:cBhvr>
                                      <p:to>
                                        <p:strVal val="visible"/>
                                      </p:to>
                                    </p:set>
                                    <p:animEffect transition="in" filter="wipe(left)">
                                      <p:cBhvr>
                                        <p:cTn id="20" dur="500"/>
                                        <p:tgtEl>
                                          <p:spTgt spid="50074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00744"/>
                                        </p:tgtEl>
                                        <p:attrNameLst>
                                          <p:attrName>style.visibility</p:attrName>
                                        </p:attrNameLst>
                                      </p:cBhvr>
                                      <p:to>
                                        <p:strVal val="visible"/>
                                      </p:to>
                                    </p:set>
                                    <p:animEffect transition="in" filter="wipe(left)">
                                      <p:cBhvr>
                                        <p:cTn id="25" dur="500"/>
                                        <p:tgtEl>
                                          <p:spTgt spid="500744"/>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00747">
                                            <p:txEl>
                                              <p:pRg st="0" end="0"/>
                                            </p:txEl>
                                          </p:spTgt>
                                        </p:tgtEl>
                                        <p:attrNameLst>
                                          <p:attrName>style.visibility</p:attrName>
                                        </p:attrNameLst>
                                      </p:cBhvr>
                                      <p:to>
                                        <p:strVal val="visible"/>
                                      </p:to>
                                    </p:set>
                                    <p:animEffect transition="in" filter="wipe(left)">
                                      <p:cBhvr>
                                        <p:cTn id="34" dur="500"/>
                                        <p:tgtEl>
                                          <p:spTgt spid="500747">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00747">
                                            <p:txEl>
                                              <p:pRg st="1" end="1"/>
                                            </p:txEl>
                                          </p:spTgt>
                                        </p:tgtEl>
                                        <p:attrNameLst>
                                          <p:attrName>style.visibility</p:attrName>
                                        </p:attrNameLst>
                                      </p:cBhvr>
                                      <p:to>
                                        <p:strVal val="visible"/>
                                      </p:to>
                                    </p:set>
                                    <p:animEffect transition="in" filter="wipe(left)">
                                      <p:cBhvr>
                                        <p:cTn id="39" dur="500"/>
                                        <p:tgtEl>
                                          <p:spTgt spid="5007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43" grpId="0" build="p" autoUpdateAnimBg="0"/>
      <p:bldP spid="500745" grpId="0" build="p" autoUpdateAnimBg="0"/>
      <p:bldP spid="50074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95" name="Text Box 19"/>
          <p:cNvSpPr txBox="1">
            <a:spLocks noChangeArrowheads="1"/>
          </p:cNvSpPr>
          <p:nvPr/>
        </p:nvSpPr>
        <p:spPr bwMode="auto">
          <a:xfrm>
            <a:off x="900113" y="476250"/>
            <a:ext cx="7704137"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87425" indent="-98742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latin typeface="宋体" panose="02010600030101010101" pitchFamily="2" charset="-122"/>
                <a:ea typeface="宋体" panose="02010600030101010101" pitchFamily="2" charset="-122"/>
              </a:rPr>
              <a:t>练习：</a:t>
            </a:r>
            <a:r>
              <a:rPr kumimoji="1" lang="en-US" altLang="zh-CN">
                <a:latin typeface="楷体_GB2312" pitchFamily="49" charset="-122"/>
                <a:ea typeface="楷体_GB2312" pitchFamily="49" charset="-122"/>
              </a:rPr>
              <a:t>H(s)</a:t>
            </a:r>
            <a:r>
              <a:rPr kumimoji="1" lang="zh-CN" altLang="en-US">
                <a:latin typeface="楷体_GB2312" pitchFamily="49" charset="-122"/>
                <a:ea typeface="楷体_GB2312" pitchFamily="49" charset="-122"/>
              </a:rPr>
              <a:t>的零极点分布如图示，且</a:t>
            </a:r>
            <a:r>
              <a:rPr kumimoji="1" lang="en-US" altLang="zh-CN">
                <a:latin typeface="楷体_GB2312" pitchFamily="49" charset="-122"/>
                <a:ea typeface="楷体_GB2312" pitchFamily="49" charset="-122"/>
              </a:rPr>
              <a:t>H(0)=4</a:t>
            </a:r>
            <a:r>
              <a:rPr kumimoji="1" lang="zh-CN" altLang="en-US">
                <a:latin typeface="楷体_GB2312" pitchFamily="49" charset="-122"/>
                <a:ea typeface="楷体_GB2312" pitchFamily="49" charset="-122"/>
              </a:rPr>
              <a:t>，求</a:t>
            </a:r>
            <a:r>
              <a:rPr kumimoji="1" lang="en-US" altLang="zh-CN">
                <a:latin typeface="楷体_GB2312" pitchFamily="49" charset="-122"/>
                <a:ea typeface="楷体_GB2312" pitchFamily="49" charset="-122"/>
              </a:rPr>
              <a:t>H(s)</a:t>
            </a:r>
            <a:r>
              <a:rPr kumimoji="1" lang="zh-CN" altLang="en-US">
                <a:latin typeface="楷体_GB2312" pitchFamily="49" charset="-122"/>
                <a:ea typeface="楷体_GB2312" pitchFamily="49" charset="-122"/>
              </a:rPr>
              <a:t>。</a:t>
            </a:r>
          </a:p>
        </p:txBody>
      </p:sp>
      <p:graphicFrame>
        <p:nvGraphicFramePr>
          <p:cNvPr id="587796" name="Object 2"/>
          <p:cNvGraphicFramePr>
            <a:graphicFrameLocks noChangeAspect="1"/>
          </p:cNvGraphicFramePr>
          <p:nvPr/>
        </p:nvGraphicFramePr>
        <p:xfrm>
          <a:off x="3059113" y="4724400"/>
          <a:ext cx="3525837" cy="1112838"/>
        </p:xfrm>
        <a:graphic>
          <a:graphicData uri="http://schemas.openxmlformats.org/presentationml/2006/ole">
            <mc:AlternateContent xmlns:mc="http://schemas.openxmlformats.org/markup-compatibility/2006">
              <mc:Choice xmlns:v="urn:schemas-microsoft-com:vml" Requires="v">
                <p:oleObj name="公式" r:id="rId3" imgW="1140460" imgH="256540" progId="Equation.3">
                  <p:embed/>
                </p:oleObj>
              </mc:Choice>
              <mc:Fallback>
                <p:oleObj name="公式" r:id="rId3" imgW="1140460" imgH="2565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4724400"/>
                        <a:ext cx="3525837" cy="111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日期占位符 5"/>
          <p:cNvSpPr>
            <a:spLocks noGrp="1"/>
          </p:cNvSpPr>
          <p:nvPr>
            <p:ph type="dt" sz="quarter" idx="10"/>
          </p:nvPr>
        </p:nvSpPr>
        <p:spPr/>
        <p:txBody>
          <a:bodyPr/>
          <a:lstStyle/>
          <a:p>
            <a:pPr>
              <a:defRPr/>
            </a:pPr>
            <a:fld id="{6DC5340D-C4EE-408E-9AEC-8E19D4555212}" type="datetime1">
              <a:rPr lang="zh-CN" altLang="en-US"/>
              <a:t>2026/4/28</a:t>
            </a:fld>
            <a:endParaRPr lang="zh-CN" altLang="en-US"/>
          </a:p>
        </p:txBody>
      </p:sp>
      <p:grpSp>
        <p:nvGrpSpPr>
          <p:cNvPr id="35845" name="Group 8"/>
          <p:cNvGrpSpPr/>
          <p:nvPr/>
        </p:nvGrpSpPr>
        <p:grpSpPr bwMode="auto">
          <a:xfrm>
            <a:off x="2268538" y="1412875"/>
            <a:ext cx="3959225" cy="2698750"/>
            <a:chOff x="1429" y="890"/>
            <a:chExt cx="2494" cy="1700"/>
          </a:xfrm>
        </p:grpSpPr>
        <p:pic>
          <p:nvPicPr>
            <p:cNvPr id="35846" name="Picture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9" y="890"/>
              <a:ext cx="2494" cy="1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Text Box 7"/>
            <p:cNvSpPr txBox="1">
              <a:spLocks noChangeArrowheads="1"/>
            </p:cNvSpPr>
            <p:nvPr/>
          </p:nvSpPr>
          <p:spPr bwMode="auto">
            <a:xfrm>
              <a:off x="2304" y="2303"/>
              <a:ext cx="283" cy="287"/>
            </a:xfrm>
            <a:prstGeom prst="rect">
              <a:avLst/>
            </a:prstGeom>
            <a:solidFill>
              <a:schemeClr val="bg1"/>
            </a:solidFill>
            <a:ln>
              <a:noFill/>
            </a:ln>
            <a:effectLst>
              <a:prstShdw prst="shdw12">
                <a:schemeClr val="bg2">
                  <a:alpha val="50000"/>
                </a:schemeClr>
              </a:prstShdw>
            </a:effectLst>
            <a:extLst>
              <a:ext uri="{91240B29-F687-4F45-9708-019B960494DF}">
                <a14:hiddenLine xmlns:a14="http://schemas.microsoft.com/office/drawing/2010/main" w="19050">
                  <a:solidFill>
                    <a:srgbClr val="000000"/>
                  </a:solidFill>
                  <a:miter lim="800000"/>
                  <a:headEnd/>
                  <a:tailEnd type="none" w="sm" len="sm"/>
                </a14:hiddenLine>
              </a:ext>
            </a:extLst>
          </p:spPr>
          <p:txBody>
            <a:bodyPr>
              <a:spAutoFit/>
            </a:bodyPr>
            <a:lstStyle>
              <a:lvl1pPr marL="367030" indent="-18732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endParaRPr lang="zh-CN" altLang="en-US"/>
            </a:p>
          </p:txBody>
        </p:sp>
      </p:grpSp>
      <p:sp>
        <p:nvSpPr>
          <p:cNvPr id="2" name="墨迹 1"/>
          <p:cNvSpPr/>
          <p:nvPr/>
        </p:nvSpPr>
        <p:spPr bwMode="auto">
          <a:xfrm>
            <a:off x="2553120" y="861840"/>
            <a:ext cx="6588360" cy="39790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6171"/>
    </mc:Choice>
    <mc:Fallback xmlns="">
      <p:transition spd="slow" advTm="961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22" presetClass="entr" presetSubtype="8" fill="hold" grpId="0" nodeType="afterEffect">
                                  <p:stCondLst>
                                    <p:cond delay="0"/>
                                  </p:stCondLst>
                                  <p:childTnLst>
                                    <p:set>
                                      <p:cBhvr>
                                        <p:cTn id="10" dur="1" fill="hold">
                                          <p:stCondLst>
                                            <p:cond delay="0"/>
                                          </p:stCondLst>
                                        </p:cTn>
                                        <p:tgtEl>
                                          <p:spTgt spid="587795">
                                            <p:txEl>
                                              <p:pRg st="0" end="0"/>
                                            </p:txEl>
                                          </p:spTgt>
                                        </p:tgtEl>
                                        <p:attrNameLst>
                                          <p:attrName>style.visibility</p:attrName>
                                        </p:attrNameLst>
                                      </p:cBhvr>
                                      <p:to>
                                        <p:strVal val="visible"/>
                                      </p:to>
                                    </p:set>
                                    <p:animEffect transition="in" filter="wipe(left)">
                                      <p:cBhvr>
                                        <p:cTn id="11" dur="500"/>
                                        <p:tgtEl>
                                          <p:spTgt spid="58779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87796"/>
                                        </p:tgtEl>
                                        <p:attrNameLst>
                                          <p:attrName>style.visibility</p:attrName>
                                        </p:attrNameLst>
                                      </p:cBhvr>
                                      <p:to>
                                        <p:strVal val="visible"/>
                                      </p:to>
                                    </p:set>
                                    <p:animEffect transition="in" filter="wipe(left)">
                                      <p:cBhvr>
                                        <p:cTn id="16" dur="500"/>
                                        <p:tgtEl>
                                          <p:spTgt spid="587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95"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ChangeArrowheads="1"/>
          </p:cNvSpPr>
          <p:nvPr/>
        </p:nvSpPr>
        <p:spPr bwMode="auto">
          <a:xfrm>
            <a:off x="395288" y="3213100"/>
            <a:ext cx="856932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kumimoji="1" lang="en-US" altLang="zh-CN"/>
              <a:t>        </a:t>
            </a:r>
          </a:p>
        </p:txBody>
      </p:sp>
      <p:sp>
        <p:nvSpPr>
          <p:cNvPr id="36867" name="Rectangle 9"/>
          <p:cNvSpPr>
            <a:spLocks noChangeArrowheads="1"/>
          </p:cNvSpPr>
          <p:nvPr/>
        </p:nvSpPr>
        <p:spPr bwMode="auto">
          <a:xfrm>
            <a:off x="900113" y="2813050"/>
            <a:ext cx="67691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solidFill>
                  <a:srgbClr val="000000"/>
                </a:solidFill>
                <a:latin typeface="华文中宋" panose="02010600040101010101" pitchFamily="2" charset="-122"/>
              </a:rPr>
              <a:t> </a:t>
            </a:r>
            <a:r>
              <a:rPr lang="zh-CN" altLang="en-US">
                <a:solidFill>
                  <a:srgbClr val="000000"/>
                </a:solidFill>
                <a:latin typeface="华文中宋" panose="02010600040101010101" pitchFamily="2" charset="-122"/>
              </a:rPr>
              <a:t>它有</a:t>
            </a:r>
            <a:r>
              <a:rPr lang="en-US" altLang="zh-CN">
                <a:solidFill>
                  <a:srgbClr val="000000"/>
                </a:solidFill>
                <a:latin typeface="华文中宋" panose="02010600040101010101" pitchFamily="2" charset="-122"/>
              </a:rPr>
              <a:t>m</a:t>
            </a:r>
            <a:r>
              <a:rPr lang="zh-CN" altLang="en-US">
                <a:solidFill>
                  <a:srgbClr val="000000"/>
                </a:solidFill>
                <a:latin typeface="华文中宋" panose="02010600040101010101" pitchFamily="2" charset="-122"/>
              </a:rPr>
              <a:t>个有限值零点，</a:t>
            </a:r>
            <a:r>
              <a:rPr lang="en-US" altLang="zh-CN">
                <a:solidFill>
                  <a:srgbClr val="000000"/>
                </a:solidFill>
                <a:latin typeface="华文中宋" panose="02010600040101010101" pitchFamily="2" charset="-122"/>
              </a:rPr>
              <a:t>n</a:t>
            </a:r>
            <a:r>
              <a:rPr lang="zh-CN" altLang="en-US">
                <a:solidFill>
                  <a:srgbClr val="000000"/>
                </a:solidFill>
                <a:latin typeface="华文中宋" panose="02010600040101010101" pitchFamily="2" charset="-122"/>
              </a:rPr>
              <a:t>个有限值极点。</a:t>
            </a:r>
          </a:p>
        </p:txBody>
      </p:sp>
      <p:graphicFrame>
        <p:nvGraphicFramePr>
          <p:cNvPr id="36868" name="Object 2"/>
          <p:cNvGraphicFramePr>
            <a:graphicFrameLocks noGrp="1" noChangeAspect="1"/>
          </p:cNvGraphicFramePr>
          <p:nvPr>
            <p:ph idx="1"/>
          </p:nvPr>
        </p:nvGraphicFramePr>
        <p:xfrm>
          <a:off x="1187450" y="981075"/>
          <a:ext cx="6337300" cy="1592263"/>
        </p:xfrm>
        <a:graphic>
          <a:graphicData uri="http://schemas.openxmlformats.org/presentationml/2006/ole">
            <mc:AlternateContent xmlns:mc="http://schemas.openxmlformats.org/markup-compatibility/2006">
              <mc:Choice xmlns:v="urn:schemas-microsoft-com:vml" Requires="v">
                <p:oleObj name="公式" r:id="rId3" imgW="2730500" imgH="685800" progId="Equation.3">
                  <p:embed/>
                </p:oleObj>
              </mc:Choice>
              <mc:Fallback>
                <p:oleObj name="公式" r:id="rId3" imgW="2730500" imgH="685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981075"/>
                        <a:ext cx="6337300" cy="159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0277" name="Rectangle 21"/>
          <p:cNvSpPr>
            <a:spLocks noChangeArrowheads="1"/>
          </p:cNvSpPr>
          <p:nvPr/>
        </p:nvSpPr>
        <p:spPr bwMode="auto">
          <a:xfrm>
            <a:off x="627063" y="5667375"/>
            <a:ext cx="8516937" cy="465138"/>
          </a:xfrm>
          <a:prstGeom prst="rect">
            <a:avLst/>
          </a:prstGeom>
          <a:solidFill>
            <a:schemeClr val="bg1"/>
          </a:solidFill>
          <a:ln w="9525">
            <a:solidFill>
              <a:srgbClr val="666699"/>
            </a:solidFill>
            <a:miter lim="800000"/>
          </a:ln>
          <a:effectLst>
            <a:outerShdw dist="35921" dir="2700000" algn="ctr" rotWithShape="0">
              <a:schemeClr val="bg2"/>
            </a:outerShdw>
          </a:effec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a:t>从广义上讲，</a:t>
            </a:r>
            <a:r>
              <a:rPr lang="zh-CN" altLang="en-US">
                <a:solidFill>
                  <a:srgbClr val="FF0000"/>
                </a:solidFill>
              </a:rPr>
              <a:t>系统函数的极零点数目是相同的。 </a:t>
            </a:r>
          </a:p>
        </p:txBody>
      </p:sp>
      <p:sp>
        <p:nvSpPr>
          <p:cNvPr id="480281" name="Rectangle 25"/>
          <p:cNvSpPr>
            <a:spLocks noChangeArrowheads="1"/>
          </p:cNvSpPr>
          <p:nvPr/>
        </p:nvSpPr>
        <p:spPr bwMode="auto">
          <a:xfrm>
            <a:off x="471805" y="0"/>
            <a:ext cx="8669020" cy="720725"/>
          </a:xfrm>
          <a:prstGeom prst="rect">
            <a:avLst/>
          </a:prstGeom>
          <a:solidFill>
            <a:schemeClr val="accent2"/>
          </a:solidFill>
          <a:ln w="9525">
            <a:noFill/>
            <a:miter lim="800000"/>
          </a:ln>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chemeClr val="bg1"/>
                </a:solidFill>
                <a:effectLst>
                  <a:outerShdw blurRad="38100" dist="38100" dir="2700000" algn="tl">
                    <a:srgbClr val="000000"/>
                  </a:outerShdw>
                </a:effectLst>
                <a:latin typeface="楷体_GB2312" pitchFamily="49" charset="-122"/>
                <a:ea typeface="楷体_GB2312" pitchFamily="49" charset="-122"/>
              </a:rPr>
              <a:t>§6.3 </a:t>
            </a:r>
            <a:r>
              <a:rPr lang="zh-CN" altLang="en-US">
                <a:solidFill>
                  <a:schemeClr val="bg1"/>
                </a:solidFill>
                <a:effectLst>
                  <a:outerShdw blurRad="38100" dist="38100" dir="2700000" algn="tl">
                    <a:srgbClr val="000000"/>
                  </a:outerShdw>
                </a:effectLst>
                <a:latin typeface="楷体_GB2312" pitchFamily="49" charset="-122"/>
                <a:ea typeface="楷体_GB2312" pitchFamily="49" charset="-122"/>
              </a:rPr>
              <a:t>系统函数的极零点分布与系统时域特性的关系</a:t>
            </a:r>
          </a:p>
        </p:txBody>
      </p:sp>
      <p:graphicFrame>
        <p:nvGraphicFramePr>
          <p:cNvPr id="480309" name="Object 3"/>
          <p:cNvGraphicFramePr>
            <a:graphicFrameLocks noChangeAspect="1"/>
          </p:cNvGraphicFramePr>
          <p:nvPr/>
        </p:nvGraphicFramePr>
        <p:xfrm>
          <a:off x="827088" y="3716338"/>
          <a:ext cx="3887787" cy="1235075"/>
        </p:xfrm>
        <a:graphic>
          <a:graphicData uri="http://schemas.openxmlformats.org/presentationml/2006/ole">
            <mc:AlternateContent xmlns:mc="http://schemas.openxmlformats.org/markup-compatibility/2006">
              <mc:Choice xmlns:v="urn:schemas-microsoft-com:vml" Requires="v">
                <p:oleObj name="公式" r:id="rId5" imgW="2235200" imgH="685800" progId="Equation.3">
                  <p:embed/>
                </p:oleObj>
              </mc:Choice>
              <mc:Fallback>
                <p:oleObj name="公式" r:id="rId5" imgW="2235200" imgH="685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3716338"/>
                        <a:ext cx="3887787" cy="123507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480310" name="Object 4"/>
          <p:cNvGraphicFramePr>
            <a:graphicFrameLocks noChangeAspect="1"/>
          </p:cNvGraphicFramePr>
          <p:nvPr/>
        </p:nvGraphicFramePr>
        <p:xfrm>
          <a:off x="4932363" y="3644900"/>
          <a:ext cx="3924300" cy="1279525"/>
        </p:xfrm>
        <a:graphic>
          <a:graphicData uri="http://schemas.openxmlformats.org/presentationml/2006/ole">
            <mc:AlternateContent xmlns:mc="http://schemas.openxmlformats.org/markup-compatibility/2006">
              <mc:Choice xmlns:v="urn:schemas-microsoft-com:vml" Requires="v">
                <p:oleObj name="公式" r:id="rId7" imgW="2273300" imgH="685800" progId="Equation.3">
                  <p:embed/>
                </p:oleObj>
              </mc:Choice>
              <mc:Fallback>
                <p:oleObj name="公式" r:id="rId7" imgW="2273300" imgH="6858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2363" y="3644900"/>
                        <a:ext cx="3924300" cy="127952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11" name="日期占位符 10"/>
          <p:cNvSpPr>
            <a:spLocks noGrp="1"/>
          </p:cNvSpPr>
          <p:nvPr>
            <p:ph type="dt" sz="quarter" idx="10"/>
          </p:nvPr>
        </p:nvSpPr>
        <p:spPr/>
        <p:txBody>
          <a:bodyPr/>
          <a:lstStyle/>
          <a:p>
            <a:pPr>
              <a:defRPr/>
            </a:pPr>
            <a:fld id="{6110B11C-E7C3-4A1B-BDDA-CF322C5EC677}" type="datetime1">
              <a:rPr lang="zh-CN" altLang="en-US"/>
              <a:t>2026/4/28</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4003"/>
    </mc:Choice>
    <mc:Fallback xmlns="">
      <p:transition spd="slow" advTm="2740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80309"/>
                                        </p:tgtEl>
                                        <p:attrNameLst>
                                          <p:attrName>style.visibility</p:attrName>
                                        </p:attrNameLst>
                                      </p:cBhvr>
                                      <p:to>
                                        <p:strVal val="visible"/>
                                      </p:to>
                                    </p:set>
                                    <p:anim calcmode="lin" valueType="num">
                                      <p:cBhvr>
                                        <p:cTn id="7" dur="1000" fill="hold"/>
                                        <p:tgtEl>
                                          <p:spTgt spid="480309"/>
                                        </p:tgtEl>
                                        <p:attrNameLst>
                                          <p:attrName>ppt_w</p:attrName>
                                        </p:attrNameLst>
                                      </p:cBhvr>
                                      <p:tavLst>
                                        <p:tav tm="0">
                                          <p:val>
                                            <p:strVal val="#ppt_w*0.70"/>
                                          </p:val>
                                        </p:tav>
                                        <p:tav tm="100000">
                                          <p:val>
                                            <p:strVal val="#ppt_w"/>
                                          </p:val>
                                        </p:tav>
                                      </p:tavLst>
                                    </p:anim>
                                    <p:anim calcmode="lin" valueType="num">
                                      <p:cBhvr>
                                        <p:cTn id="8" dur="1000" fill="hold"/>
                                        <p:tgtEl>
                                          <p:spTgt spid="480309"/>
                                        </p:tgtEl>
                                        <p:attrNameLst>
                                          <p:attrName>ppt_h</p:attrName>
                                        </p:attrNameLst>
                                      </p:cBhvr>
                                      <p:tavLst>
                                        <p:tav tm="0">
                                          <p:val>
                                            <p:strVal val="#ppt_h"/>
                                          </p:val>
                                        </p:tav>
                                        <p:tav tm="100000">
                                          <p:val>
                                            <p:strVal val="#ppt_h"/>
                                          </p:val>
                                        </p:tav>
                                      </p:tavLst>
                                    </p:anim>
                                    <p:animEffect transition="in" filter="fade">
                                      <p:cBhvr>
                                        <p:cTn id="9" dur="1000"/>
                                        <p:tgtEl>
                                          <p:spTgt spid="480309"/>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480310"/>
                                        </p:tgtEl>
                                        <p:attrNameLst>
                                          <p:attrName>style.visibility</p:attrName>
                                        </p:attrNameLst>
                                      </p:cBhvr>
                                      <p:to>
                                        <p:strVal val="visible"/>
                                      </p:to>
                                    </p:set>
                                    <p:anim calcmode="lin" valueType="num">
                                      <p:cBhvr>
                                        <p:cTn id="14" dur="1000" fill="hold"/>
                                        <p:tgtEl>
                                          <p:spTgt spid="480310"/>
                                        </p:tgtEl>
                                        <p:attrNameLst>
                                          <p:attrName>ppt_w</p:attrName>
                                        </p:attrNameLst>
                                      </p:cBhvr>
                                      <p:tavLst>
                                        <p:tav tm="0">
                                          <p:val>
                                            <p:strVal val="#ppt_w*0.70"/>
                                          </p:val>
                                        </p:tav>
                                        <p:tav tm="100000">
                                          <p:val>
                                            <p:strVal val="#ppt_w"/>
                                          </p:val>
                                        </p:tav>
                                      </p:tavLst>
                                    </p:anim>
                                    <p:anim calcmode="lin" valueType="num">
                                      <p:cBhvr>
                                        <p:cTn id="15" dur="1000" fill="hold"/>
                                        <p:tgtEl>
                                          <p:spTgt spid="480310"/>
                                        </p:tgtEl>
                                        <p:attrNameLst>
                                          <p:attrName>ppt_h</p:attrName>
                                        </p:attrNameLst>
                                      </p:cBhvr>
                                      <p:tavLst>
                                        <p:tav tm="0">
                                          <p:val>
                                            <p:strVal val="#ppt_h"/>
                                          </p:val>
                                        </p:tav>
                                        <p:tav tm="100000">
                                          <p:val>
                                            <p:strVal val="#ppt_h"/>
                                          </p:val>
                                        </p:tav>
                                      </p:tavLst>
                                    </p:anim>
                                    <p:animEffect transition="in" filter="fade">
                                      <p:cBhvr>
                                        <p:cTn id="16" dur="1000"/>
                                        <p:tgtEl>
                                          <p:spTgt spid="480310"/>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80277"/>
                                        </p:tgtEl>
                                        <p:attrNameLst>
                                          <p:attrName>style.visibility</p:attrName>
                                        </p:attrNameLst>
                                      </p:cBhvr>
                                      <p:to>
                                        <p:strVal val="visible"/>
                                      </p:to>
                                    </p:set>
                                    <p:anim calcmode="lin" valueType="num">
                                      <p:cBhvr>
                                        <p:cTn id="21" dur="1000" fill="hold"/>
                                        <p:tgtEl>
                                          <p:spTgt spid="480277"/>
                                        </p:tgtEl>
                                        <p:attrNameLst>
                                          <p:attrName>ppt_w</p:attrName>
                                        </p:attrNameLst>
                                      </p:cBhvr>
                                      <p:tavLst>
                                        <p:tav tm="0">
                                          <p:val>
                                            <p:strVal val="#ppt_w*0.70"/>
                                          </p:val>
                                        </p:tav>
                                        <p:tav tm="100000">
                                          <p:val>
                                            <p:strVal val="#ppt_w"/>
                                          </p:val>
                                        </p:tav>
                                      </p:tavLst>
                                    </p:anim>
                                    <p:anim calcmode="lin" valueType="num">
                                      <p:cBhvr>
                                        <p:cTn id="22" dur="1000" fill="hold"/>
                                        <p:tgtEl>
                                          <p:spTgt spid="480277"/>
                                        </p:tgtEl>
                                        <p:attrNameLst>
                                          <p:attrName>ppt_h</p:attrName>
                                        </p:attrNameLst>
                                      </p:cBhvr>
                                      <p:tavLst>
                                        <p:tav tm="0">
                                          <p:val>
                                            <p:strVal val="#ppt_h"/>
                                          </p:val>
                                        </p:tav>
                                        <p:tav tm="100000">
                                          <p:val>
                                            <p:strVal val="#ppt_h"/>
                                          </p:val>
                                        </p:tav>
                                      </p:tavLst>
                                    </p:anim>
                                    <p:animEffect transition="in" filter="fade">
                                      <p:cBhvr>
                                        <p:cTn id="23" dur="1000"/>
                                        <p:tgtEl>
                                          <p:spTgt spid="480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7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3" name="Rectangle 3"/>
          <p:cNvSpPr>
            <a:spLocks noChangeArrowheads="1"/>
          </p:cNvSpPr>
          <p:nvPr/>
        </p:nvSpPr>
        <p:spPr bwMode="auto">
          <a:xfrm>
            <a:off x="971550" y="3336925"/>
            <a:ext cx="5400675" cy="60483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lang="zh-CN" altLang="en-US">
                <a:latin typeface="华文中宋" panose="02010600040101010101" pitchFamily="2" charset="-122"/>
              </a:rPr>
              <a:t>无独立源的系统一定是稳定的。</a:t>
            </a:r>
            <a:endParaRPr kumimoji="1" lang="zh-CN" altLang="en-US">
              <a:latin typeface="华文中宋" panose="02010600040101010101" pitchFamily="2" charset="-122"/>
            </a:endParaRPr>
          </a:p>
        </p:txBody>
      </p:sp>
      <p:sp>
        <p:nvSpPr>
          <p:cNvPr id="481284" name="Rectangle 4"/>
          <p:cNvSpPr>
            <a:spLocks noChangeArrowheads="1"/>
          </p:cNvSpPr>
          <p:nvPr/>
        </p:nvSpPr>
        <p:spPr bwMode="auto">
          <a:xfrm>
            <a:off x="793750" y="1268413"/>
            <a:ext cx="8350250" cy="1630362"/>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r>
              <a:rPr lang="zh-CN" altLang="en-US">
                <a:solidFill>
                  <a:srgbClr val="FF0000"/>
                </a:solidFill>
                <a:latin typeface="华文中宋" panose="02010600040101010101" pitchFamily="2" charset="-122"/>
              </a:rPr>
              <a:t>系统的稳定性</a:t>
            </a:r>
            <a:r>
              <a:rPr lang="zh-CN" altLang="en-US">
                <a:latin typeface="华文中宋" panose="02010600040101010101" pitchFamily="2" charset="-122"/>
              </a:rPr>
              <a:t>是指当系统的激励是有限的，系统的响应也是有限的，而不随时间无限增长的系统特性。 </a:t>
            </a:r>
          </a:p>
        </p:txBody>
      </p:sp>
      <p:sp>
        <p:nvSpPr>
          <p:cNvPr id="481293" name="Rectangle 13"/>
          <p:cNvSpPr>
            <a:spLocks noChangeArrowheads="1"/>
          </p:cNvSpPr>
          <p:nvPr/>
        </p:nvSpPr>
        <p:spPr bwMode="auto">
          <a:xfrm>
            <a:off x="827088" y="4645025"/>
            <a:ext cx="789622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r>
              <a:rPr lang="zh-CN" altLang="en-US">
                <a:latin typeface="华文中宋" panose="02010600040101010101" pitchFamily="2" charset="-122"/>
              </a:rPr>
              <a:t>如前述章所述，</a:t>
            </a:r>
            <a:r>
              <a:rPr lang="zh-CN" altLang="en-US">
                <a:solidFill>
                  <a:srgbClr val="FF0000"/>
                </a:solidFill>
                <a:latin typeface="华文中宋" panose="02010600040101010101" pitchFamily="2" charset="-122"/>
              </a:rPr>
              <a:t>系统函数的极点对应系统的自然响应模式。</a:t>
            </a:r>
          </a:p>
        </p:txBody>
      </p:sp>
      <p:sp>
        <p:nvSpPr>
          <p:cNvPr id="481297" name="Rectangle 17"/>
          <p:cNvSpPr>
            <a:spLocks noChangeArrowheads="1"/>
          </p:cNvSpPr>
          <p:nvPr/>
        </p:nvSpPr>
        <p:spPr bwMode="auto">
          <a:xfrm>
            <a:off x="411163" y="0"/>
            <a:ext cx="8459787" cy="720725"/>
          </a:xfrm>
          <a:prstGeom prst="rect">
            <a:avLst/>
          </a:prstGeom>
          <a:solidFill>
            <a:schemeClr val="accent2"/>
          </a:solidFill>
          <a:ln w="9525">
            <a:noFill/>
            <a:miter lim="800000"/>
          </a:ln>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chemeClr val="bg1"/>
                </a:solidFill>
                <a:effectLst>
                  <a:outerShdw blurRad="38100" dist="38100" dir="2700000" algn="tl">
                    <a:srgbClr val="000000"/>
                  </a:outerShdw>
                </a:effectLst>
                <a:latin typeface="楷体_GB2312" pitchFamily="49" charset="-122"/>
                <a:ea typeface="楷体_GB2312" pitchFamily="49" charset="-122"/>
              </a:rPr>
              <a:t>§6.3 </a:t>
            </a:r>
            <a:r>
              <a:rPr lang="zh-CN" altLang="en-US">
                <a:solidFill>
                  <a:schemeClr val="bg1"/>
                </a:solidFill>
                <a:effectLst>
                  <a:outerShdw blurRad="38100" dist="38100" dir="2700000" algn="tl">
                    <a:srgbClr val="000000"/>
                  </a:outerShdw>
                </a:effectLst>
                <a:latin typeface="楷体_GB2312" pitchFamily="49" charset="-122"/>
                <a:ea typeface="楷体_GB2312" pitchFamily="49" charset="-122"/>
              </a:rPr>
              <a:t>系统函数的极零点分布与系统时域特性的关系</a:t>
            </a:r>
          </a:p>
        </p:txBody>
      </p:sp>
      <p:sp>
        <p:nvSpPr>
          <p:cNvPr id="8" name="日期占位符 7"/>
          <p:cNvSpPr>
            <a:spLocks noGrp="1"/>
          </p:cNvSpPr>
          <p:nvPr>
            <p:ph type="dt" sz="quarter" idx="10"/>
          </p:nvPr>
        </p:nvSpPr>
        <p:spPr/>
        <p:txBody>
          <a:bodyPr/>
          <a:lstStyle/>
          <a:p>
            <a:pPr>
              <a:defRPr/>
            </a:pPr>
            <a:fld id="{E97616BB-A49F-429C-BF5C-106E2E7B8C61}" type="datetime1">
              <a:rPr lang="zh-CN" altLang="en-US"/>
              <a:t>2026/4/28</a:t>
            </a:fld>
            <a:endParaRPr lang="zh-CN" altLang="en-US"/>
          </a:p>
        </p:txBody>
      </p:sp>
      <p:sp>
        <p:nvSpPr>
          <p:cNvPr id="2" name="墨迹 1"/>
          <p:cNvSpPr/>
          <p:nvPr/>
        </p:nvSpPr>
        <p:spPr bwMode="auto">
          <a:xfrm>
            <a:off x="2771640" y="1738440"/>
            <a:ext cx="5013360" cy="6793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2405"/>
    </mc:Choice>
    <mc:Fallback xmlns="">
      <p:transition spd="slow" advTm="824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481284"/>
                                        </p:tgtEl>
                                        <p:attrNameLst>
                                          <p:attrName>style.visibility</p:attrName>
                                        </p:attrNameLst>
                                      </p:cBhvr>
                                      <p:to>
                                        <p:strVal val="visible"/>
                                      </p:to>
                                    </p:set>
                                    <p:anim calcmode="lin" valueType="num">
                                      <p:cBhvr>
                                        <p:cTn id="11" dur="1000" fill="hold"/>
                                        <p:tgtEl>
                                          <p:spTgt spid="481284"/>
                                        </p:tgtEl>
                                        <p:attrNameLst>
                                          <p:attrName>ppt_w</p:attrName>
                                        </p:attrNameLst>
                                      </p:cBhvr>
                                      <p:tavLst>
                                        <p:tav tm="0">
                                          <p:val>
                                            <p:strVal val="#ppt_w*0.70"/>
                                          </p:val>
                                        </p:tav>
                                        <p:tav tm="100000">
                                          <p:val>
                                            <p:strVal val="#ppt_w"/>
                                          </p:val>
                                        </p:tav>
                                      </p:tavLst>
                                    </p:anim>
                                    <p:anim calcmode="lin" valueType="num">
                                      <p:cBhvr>
                                        <p:cTn id="12" dur="1000" fill="hold"/>
                                        <p:tgtEl>
                                          <p:spTgt spid="481284"/>
                                        </p:tgtEl>
                                        <p:attrNameLst>
                                          <p:attrName>ppt_h</p:attrName>
                                        </p:attrNameLst>
                                      </p:cBhvr>
                                      <p:tavLst>
                                        <p:tav tm="0">
                                          <p:val>
                                            <p:strVal val="#ppt_h"/>
                                          </p:val>
                                        </p:tav>
                                        <p:tav tm="100000">
                                          <p:val>
                                            <p:strVal val="#ppt_h"/>
                                          </p:val>
                                        </p:tav>
                                      </p:tavLst>
                                    </p:anim>
                                    <p:animEffect transition="in" filter="fade">
                                      <p:cBhvr>
                                        <p:cTn id="13" dur="1000"/>
                                        <p:tgtEl>
                                          <p:spTgt spid="481284"/>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481283"/>
                                        </p:tgtEl>
                                        <p:attrNameLst>
                                          <p:attrName>style.visibility</p:attrName>
                                        </p:attrNameLst>
                                      </p:cBhvr>
                                      <p:to>
                                        <p:strVal val="visible"/>
                                      </p:to>
                                    </p:set>
                                    <p:anim calcmode="lin" valueType="num">
                                      <p:cBhvr>
                                        <p:cTn id="18" dur="1000" fill="hold"/>
                                        <p:tgtEl>
                                          <p:spTgt spid="481283"/>
                                        </p:tgtEl>
                                        <p:attrNameLst>
                                          <p:attrName>ppt_w</p:attrName>
                                        </p:attrNameLst>
                                      </p:cBhvr>
                                      <p:tavLst>
                                        <p:tav tm="0">
                                          <p:val>
                                            <p:strVal val="#ppt_w*0.70"/>
                                          </p:val>
                                        </p:tav>
                                        <p:tav tm="100000">
                                          <p:val>
                                            <p:strVal val="#ppt_w"/>
                                          </p:val>
                                        </p:tav>
                                      </p:tavLst>
                                    </p:anim>
                                    <p:anim calcmode="lin" valueType="num">
                                      <p:cBhvr>
                                        <p:cTn id="19" dur="1000" fill="hold"/>
                                        <p:tgtEl>
                                          <p:spTgt spid="481283"/>
                                        </p:tgtEl>
                                        <p:attrNameLst>
                                          <p:attrName>ppt_h</p:attrName>
                                        </p:attrNameLst>
                                      </p:cBhvr>
                                      <p:tavLst>
                                        <p:tav tm="0">
                                          <p:val>
                                            <p:strVal val="#ppt_h"/>
                                          </p:val>
                                        </p:tav>
                                        <p:tav tm="100000">
                                          <p:val>
                                            <p:strVal val="#ppt_h"/>
                                          </p:val>
                                        </p:tav>
                                      </p:tavLst>
                                    </p:anim>
                                    <p:animEffect transition="in" filter="fade">
                                      <p:cBhvr>
                                        <p:cTn id="20" dur="1000"/>
                                        <p:tgtEl>
                                          <p:spTgt spid="481283"/>
                                        </p:tgtEl>
                                      </p:cBhvr>
                                    </p:animEffect>
                                  </p:childTnLst>
                                </p:cTn>
                              </p:par>
                            </p:childTnLst>
                          </p:cTn>
                        </p:par>
                        <p:par>
                          <p:cTn id="21" fill="hold">
                            <p:stCondLst>
                              <p:cond delay="1000"/>
                            </p:stCondLst>
                            <p:childTnLst>
                              <p:par>
                                <p:cTn id="22" presetID="55" presetClass="entr" presetSubtype="0" fill="hold" grpId="0" nodeType="afterEffect">
                                  <p:stCondLst>
                                    <p:cond delay="0"/>
                                  </p:stCondLst>
                                  <p:childTnLst>
                                    <p:set>
                                      <p:cBhvr>
                                        <p:cTn id="23" dur="1" fill="hold">
                                          <p:stCondLst>
                                            <p:cond delay="0"/>
                                          </p:stCondLst>
                                        </p:cTn>
                                        <p:tgtEl>
                                          <p:spTgt spid="481293"/>
                                        </p:tgtEl>
                                        <p:attrNameLst>
                                          <p:attrName>style.visibility</p:attrName>
                                        </p:attrNameLst>
                                      </p:cBhvr>
                                      <p:to>
                                        <p:strVal val="visible"/>
                                      </p:to>
                                    </p:set>
                                    <p:anim calcmode="lin" valueType="num">
                                      <p:cBhvr>
                                        <p:cTn id="24" dur="1000" fill="hold"/>
                                        <p:tgtEl>
                                          <p:spTgt spid="481293"/>
                                        </p:tgtEl>
                                        <p:attrNameLst>
                                          <p:attrName>ppt_w</p:attrName>
                                        </p:attrNameLst>
                                      </p:cBhvr>
                                      <p:tavLst>
                                        <p:tav tm="0">
                                          <p:val>
                                            <p:strVal val="#ppt_w*0.70"/>
                                          </p:val>
                                        </p:tav>
                                        <p:tav tm="100000">
                                          <p:val>
                                            <p:strVal val="#ppt_w"/>
                                          </p:val>
                                        </p:tav>
                                      </p:tavLst>
                                    </p:anim>
                                    <p:anim calcmode="lin" valueType="num">
                                      <p:cBhvr>
                                        <p:cTn id="25" dur="1000" fill="hold"/>
                                        <p:tgtEl>
                                          <p:spTgt spid="481293"/>
                                        </p:tgtEl>
                                        <p:attrNameLst>
                                          <p:attrName>ppt_h</p:attrName>
                                        </p:attrNameLst>
                                      </p:cBhvr>
                                      <p:tavLst>
                                        <p:tav tm="0">
                                          <p:val>
                                            <p:strVal val="#ppt_h"/>
                                          </p:val>
                                        </p:tav>
                                        <p:tav tm="100000">
                                          <p:val>
                                            <p:strVal val="#ppt_h"/>
                                          </p:val>
                                        </p:tav>
                                      </p:tavLst>
                                    </p:anim>
                                    <p:animEffect transition="in" filter="fade">
                                      <p:cBhvr>
                                        <p:cTn id="26" dur="1000"/>
                                        <p:tgtEl>
                                          <p:spTgt spid="481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3" grpId="0" animBg="1"/>
      <p:bldP spid="481284" grpId="0" animBg="1"/>
      <p:bldP spid="481293"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03810" name="Object 2"/>
          <p:cNvGraphicFramePr>
            <a:graphicFrameLocks noChangeAspect="1"/>
          </p:cNvGraphicFramePr>
          <p:nvPr/>
        </p:nvGraphicFramePr>
        <p:xfrm>
          <a:off x="4572000" y="838200"/>
          <a:ext cx="4572000" cy="5143500"/>
        </p:xfrm>
        <a:graphic>
          <a:graphicData uri="http://schemas.openxmlformats.org/presentationml/2006/ole">
            <mc:AlternateContent xmlns:mc="http://schemas.openxmlformats.org/markup-compatibility/2006">
              <mc:Choice xmlns:v="urn:schemas-microsoft-com:vml" Requires="v">
                <p:oleObj name="BMP 图象" r:id="rId3" imgW="5429250" imgH="5143500" progId="Paint.Picture">
                  <p:embed/>
                </p:oleObj>
              </mc:Choice>
              <mc:Fallback>
                <p:oleObj name="BMP 图象" r:id="rId3" imgW="5429250" imgH="5143500"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838200"/>
                        <a:ext cx="457200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15" name="Rectangle 3"/>
          <p:cNvSpPr>
            <a:spLocks noGrp="1" noChangeArrowheads="1"/>
          </p:cNvSpPr>
          <p:nvPr>
            <p:ph type="title" idx="4294967295"/>
          </p:nvPr>
        </p:nvSpPr>
        <p:spPr>
          <a:xfrm>
            <a:off x="468313" y="115888"/>
            <a:ext cx="8207375" cy="457200"/>
          </a:xfrm>
        </p:spPr>
        <p:txBody>
          <a:bodyPr/>
          <a:lstStyle/>
          <a:p>
            <a:r>
              <a:rPr lang="zh-CN" altLang="en-US" sz="2400" b="1" dirty="0">
                <a:solidFill>
                  <a:srgbClr val="0000FF"/>
                </a:solidFill>
                <a:latin typeface="Times New Roman" panose="02020603050405020304" pitchFamily="18" charset="0"/>
              </a:rPr>
              <a:t>二、零点 与极点 分布与系统的时域特性</a:t>
            </a:r>
            <a:r>
              <a:rPr lang="en-US" altLang="zh-CN" sz="2400" b="1" dirty="0">
                <a:solidFill>
                  <a:srgbClr val="0000FF"/>
                </a:solidFill>
                <a:latin typeface="Times New Roman" panose="02020603050405020304" pitchFamily="18" charset="0"/>
              </a:rPr>
              <a:t>(</a:t>
            </a:r>
            <a:r>
              <a:rPr lang="zh-CN" altLang="en-US" sz="2400" b="1" dirty="0">
                <a:solidFill>
                  <a:srgbClr val="FF0000"/>
                </a:solidFill>
                <a:latin typeface="Times New Roman" panose="02020603050405020304" pitchFamily="18" charset="0"/>
              </a:rPr>
              <a:t>对应的冲激响应</a:t>
            </a:r>
            <a:r>
              <a:rPr lang="en-US" altLang="zh-CN" sz="2400" b="1" dirty="0">
                <a:solidFill>
                  <a:srgbClr val="0000FF"/>
                </a:solidFill>
                <a:latin typeface="Times New Roman" panose="02020603050405020304" pitchFamily="18" charset="0"/>
              </a:rPr>
              <a:t>)</a:t>
            </a:r>
          </a:p>
        </p:txBody>
      </p:sp>
      <p:graphicFrame>
        <p:nvGraphicFramePr>
          <p:cNvPr id="503812" name="Object 3"/>
          <p:cNvGraphicFramePr>
            <a:graphicFrameLocks noChangeAspect="1"/>
          </p:cNvGraphicFramePr>
          <p:nvPr/>
        </p:nvGraphicFramePr>
        <p:xfrm>
          <a:off x="3389313" y="1211263"/>
          <a:ext cx="1676400" cy="609600"/>
        </p:xfrm>
        <a:graphic>
          <a:graphicData uri="http://schemas.openxmlformats.org/presentationml/2006/ole">
            <mc:AlternateContent xmlns:mc="http://schemas.openxmlformats.org/markup-compatibility/2006">
              <mc:Choice xmlns:v="urn:schemas-microsoft-com:vml" Requires="v">
                <p:oleObj name="Equation" r:id="rId5" imgW="393700" imgH="127000" progId="Equation.3">
                  <p:embed/>
                </p:oleObj>
              </mc:Choice>
              <mc:Fallback>
                <p:oleObj name="Equation" r:id="rId5" imgW="393700" imgH="127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9313" y="1211263"/>
                        <a:ext cx="1676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3813" name="Object 4"/>
          <p:cNvGraphicFramePr>
            <a:graphicFrameLocks noChangeAspect="1"/>
          </p:cNvGraphicFramePr>
          <p:nvPr/>
        </p:nvGraphicFramePr>
        <p:xfrm>
          <a:off x="5008563" y="3733800"/>
          <a:ext cx="1487487" cy="1752600"/>
        </p:xfrm>
        <a:graphic>
          <a:graphicData uri="http://schemas.openxmlformats.org/presentationml/2006/ole">
            <mc:AlternateContent xmlns:mc="http://schemas.openxmlformats.org/markup-compatibility/2006">
              <mc:Choice xmlns:v="urn:schemas-microsoft-com:vml" Requires="v">
                <p:oleObj name="BMP 图象" r:id="rId7" imgW="1819275" imgH="2047875" progId="Paint.Picture">
                  <p:embed/>
                </p:oleObj>
              </mc:Choice>
              <mc:Fallback>
                <p:oleObj name="BMP 图象" r:id="rId7" imgW="1819275" imgH="2047875" progId="Paint.Picture">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8563" y="3733800"/>
                        <a:ext cx="1487487" cy="17526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3814" name="Text Box 6"/>
          <p:cNvSpPr txBox="1">
            <a:spLocks noChangeArrowheads="1"/>
          </p:cNvSpPr>
          <p:nvPr/>
        </p:nvSpPr>
        <p:spPr bwMode="auto">
          <a:xfrm>
            <a:off x="495300" y="692150"/>
            <a:ext cx="5667375" cy="455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FF3300"/>
                </a:solidFill>
                <a:latin typeface="Times New Roman" panose="02020603050405020304" pitchFamily="18" charset="0"/>
                <a:ea typeface="宋体" panose="02010600030101010101" pitchFamily="2" charset="-122"/>
              </a:rPr>
              <a:t>1</a:t>
            </a:r>
            <a:r>
              <a:rPr kumimoji="1" lang="zh-CN" altLang="en-US">
                <a:solidFill>
                  <a:srgbClr val="FF3300"/>
                </a:solidFill>
                <a:latin typeface="Times New Roman" panose="02020603050405020304" pitchFamily="18" charset="0"/>
                <a:ea typeface="宋体" panose="02010600030101010101" pitchFamily="2" charset="-122"/>
              </a:rPr>
              <a:t>、</a:t>
            </a:r>
            <a:r>
              <a:rPr kumimoji="1" lang="en-US" altLang="zh-CN">
                <a:solidFill>
                  <a:srgbClr val="FF3300"/>
                </a:solidFill>
                <a:latin typeface="Times New Roman" panose="02020603050405020304" pitchFamily="18" charset="0"/>
                <a:ea typeface="宋体" panose="02010600030101010101" pitchFamily="2" charset="-122"/>
              </a:rPr>
              <a:t>H(s)</a:t>
            </a:r>
            <a:r>
              <a:rPr kumimoji="1" lang="zh-CN" altLang="en-US">
                <a:solidFill>
                  <a:srgbClr val="FF3300"/>
                </a:solidFill>
                <a:latin typeface="Times New Roman" panose="02020603050405020304" pitchFamily="18" charset="0"/>
                <a:ea typeface="宋体" panose="02010600030101010101" pitchFamily="2" charset="-122"/>
              </a:rPr>
              <a:t>极点  在</a:t>
            </a:r>
            <a:r>
              <a:rPr kumimoji="1" lang="en-US" altLang="zh-CN">
                <a:solidFill>
                  <a:srgbClr val="FF3300"/>
                </a:solidFill>
                <a:latin typeface="Times New Roman" panose="02020603050405020304" pitchFamily="18" charset="0"/>
                <a:ea typeface="宋体" panose="02010600030101010101" pitchFamily="2" charset="-122"/>
              </a:rPr>
              <a:t>s</a:t>
            </a:r>
            <a:r>
              <a:rPr kumimoji="1" lang="zh-CN" altLang="en-US">
                <a:solidFill>
                  <a:srgbClr val="FF3300"/>
                </a:solidFill>
                <a:latin typeface="Times New Roman" panose="02020603050405020304" pitchFamily="18" charset="0"/>
                <a:ea typeface="宋体" panose="02010600030101010101" pitchFamily="2" charset="-122"/>
              </a:rPr>
              <a:t>左半平面</a:t>
            </a:r>
          </a:p>
        </p:txBody>
      </p:sp>
      <p:sp>
        <p:nvSpPr>
          <p:cNvPr id="503815" name="Text Box 7"/>
          <p:cNvSpPr txBox="1">
            <a:spLocks noChangeArrowheads="1"/>
          </p:cNvSpPr>
          <p:nvPr/>
        </p:nvSpPr>
        <p:spPr bwMode="auto">
          <a:xfrm>
            <a:off x="395288" y="1257300"/>
            <a:ext cx="2316162"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imes New Roman" panose="02020603050405020304" pitchFamily="18" charset="0"/>
                <a:ea typeface="宋体" panose="02010600030101010101" pitchFamily="2" charset="-122"/>
              </a:rPr>
              <a:t>单实极点  ：</a:t>
            </a:r>
          </a:p>
        </p:txBody>
      </p:sp>
      <p:sp>
        <p:nvSpPr>
          <p:cNvPr id="503816" name="Text Box 8"/>
          <p:cNvSpPr txBox="1">
            <a:spLocks noChangeArrowheads="1"/>
          </p:cNvSpPr>
          <p:nvPr/>
        </p:nvSpPr>
        <p:spPr bwMode="auto">
          <a:xfrm>
            <a:off x="395288" y="2060575"/>
            <a:ext cx="2532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imes New Roman" panose="02020603050405020304" pitchFamily="18" charset="0"/>
                <a:ea typeface="宋体" panose="02010600030101010101" pitchFamily="2" charset="-122"/>
              </a:rPr>
              <a:t>共轭极点  ：</a:t>
            </a:r>
          </a:p>
        </p:txBody>
      </p:sp>
      <p:graphicFrame>
        <p:nvGraphicFramePr>
          <p:cNvPr id="503817" name="Object 5"/>
          <p:cNvGraphicFramePr>
            <a:graphicFrameLocks noChangeAspect="1"/>
          </p:cNvGraphicFramePr>
          <p:nvPr/>
        </p:nvGraphicFramePr>
        <p:xfrm>
          <a:off x="2238375" y="2000250"/>
          <a:ext cx="2286000" cy="609600"/>
        </p:xfrm>
        <a:graphic>
          <a:graphicData uri="http://schemas.openxmlformats.org/presentationml/2006/ole">
            <mc:AlternateContent xmlns:mc="http://schemas.openxmlformats.org/markup-compatibility/2006">
              <mc:Choice xmlns:v="urn:schemas-microsoft-com:vml" Requires="v">
                <p:oleObj name="Equation" r:id="rId9" imgW="1028065" imgH="241300" progId="Equation.3">
                  <p:embed/>
                </p:oleObj>
              </mc:Choice>
              <mc:Fallback>
                <p:oleObj name="Equation" r:id="rId9" imgW="1028065" imgH="2413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38375" y="2000250"/>
                        <a:ext cx="2286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3818" name="Object 6"/>
          <p:cNvGraphicFramePr>
            <a:graphicFrameLocks noChangeAspect="1"/>
          </p:cNvGraphicFramePr>
          <p:nvPr/>
        </p:nvGraphicFramePr>
        <p:xfrm>
          <a:off x="609600" y="2590800"/>
          <a:ext cx="3700463" cy="609600"/>
        </p:xfrm>
        <a:graphic>
          <a:graphicData uri="http://schemas.openxmlformats.org/presentationml/2006/ole">
            <mc:AlternateContent xmlns:mc="http://schemas.openxmlformats.org/markup-compatibility/2006">
              <mc:Choice xmlns:v="urn:schemas-microsoft-com:vml" Requires="v">
                <p:oleObj name="Equation" r:id="rId11" imgW="969010" imgH="127000" progId="Equation.3">
                  <p:embed/>
                </p:oleObj>
              </mc:Choice>
              <mc:Fallback>
                <p:oleObj name="Equation" r:id="rId11" imgW="969010" imgH="1270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 y="2590800"/>
                        <a:ext cx="3700463"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3819" name="Text Box 11"/>
          <p:cNvSpPr txBox="1">
            <a:spLocks noChangeArrowheads="1"/>
          </p:cNvSpPr>
          <p:nvPr/>
        </p:nvSpPr>
        <p:spPr bwMode="auto">
          <a:xfrm>
            <a:off x="395288" y="3284538"/>
            <a:ext cx="2720975"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imes New Roman" panose="02020603050405020304" pitchFamily="18" charset="0"/>
                <a:ea typeface="宋体" panose="02010600030101010101" pitchFamily="2" charset="-122"/>
              </a:rPr>
              <a:t>重实极点  ：</a:t>
            </a:r>
          </a:p>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imes New Roman" panose="02020603050405020304" pitchFamily="18" charset="0"/>
                <a:ea typeface="宋体" panose="02010600030101010101" pitchFamily="2" charset="-122"/>
              </a:rPr>
              <a:t>（</a:t>
            </a:r>
            <a:r>
              <a:rPr kumimoji="1" lang="zh-CN" altLang="en-US">
                <a:solidFill>
                  <a:srgbClr val="FF0066"/>
                </a:solidFill>
                <a:latin typeface="Times New Roman" panose="02020603050405020304" pitchFamily="18" charset="0"/>
                <a:ea typeface="宋体" panose="02010600030101010101" pitchFamily="2" charset="-122"/>
              </a:rPr>
              <a:t>二重</a:t>
            </a:r>
            <a:r>
              <a:rPr kumimoji="1" lang="zh-CN" altLang="en-US">
                <a:solidFill>
                  <a:srgbClr val="800000"/>
                </a:solidFill>
                <a:latin typeface="Times New Roman" panose="02020603050405020304" pitchFamily="18" charset="0"/>
                <a:ea typeface="宋体" panose="02010600030101010101" pitchFamily="2" charset="-122"/>
              </a:rPr>
              <a:t>）</a:t>
            </a:r>
          </a:p>
        </p:txBody>
      </p:sp>
      <p:sp>
        <p:nvSpPr>
          <p:cNvPr id="503820" name="Text Box 12"/>
          <p:cNvSpPr txBox="1">
            <a:spLocks noChangeArrowheads="1"/>
          </p:cNvSpPr>
          <p:nvPr/>
        </p:nvSpPr>
        <p:spPr bwMode="auto">
          <a:xfrm>
            <a:off x="395288" y="4581525"/>
            <a:ext cx="29845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imes New Roman" panose="02020603050405020304" pitchFamily="18" charset="0"/>
                <a:ea typeface="宋体" panose="02010600030101010101" pitchFamily="2" charset="-122"/>
              </a:rPr>
              <a:t>重共轭极点  ：</a:t>
            </a:r>
          </a:p>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imes New Roman" panose="02020603050405020304" pitchFamily="18" charset="0"/>
                <a:ea typeface="宋体" panose="02010600030101010101" pitchFamily="2" charset="-122"/>
              </a:rPr>
              <a:t>（</a:t>
            </a:r>
            <a:r>
              <a:rPr kumimoji="1" lang="zh-CN" altLang="en-US">
                <a:solidFill>
                  <a:srgbClr val="FF0066"/>
                </a:solidFill>
                <a:latin typeface="Times New Roman" panose="02020603050405020304" pitchFamily="18" charset="0"/>
                <a:ea typeface="宋体" panose="02010600030101010101" pitchFamily="2" charset="-122"/>
              </a:rPr>
              <a:t>二重</a:t>
            </a:r>
            <a:r>
              <a:rPr kumimoji="1" lang="zh-CN" altLang="en-US">
                <a:solidFill>
                  <a:srgbClr val="800000"/>
                </a:solidFill>
                <a:latin typeface="Times New Roman" panose="02020603050405020304" pitchFamily="18" charset="0"/>
                <a:ea typeface="宋体" panose="02010600030101010101" pitchFamily="2" charset="-122"/>
              </a:rPr>
              <a:t>）</a:t>
            </a:r>
          </a:p>
        </p:txBody>
      </p:sp>
      <p:graphicFrame>
        <p:nvGraphicFramePr>
          <p:cNvPr id="503821" name="Object 7"/>
          <p:cNvGraphicFramePr>
            <a:graphicFrameLocks noChangeAspect="1"/>
          </p:cNvGraphicFramePr>
          <p:nvPr/>
        </p:nvGraphicFramePr>
        <p:xfrm>
          <a:off x="2139950" y="3190875"/>
          <a:ext cx="2133600" cy="609600"/>
        </p:xfrm>
        <a:graphic>
          <a:graphicData uri="http://schemas.openxmlformats.org/presentationml/2006/ole">
            <mc:AlternateContent xmlns:mc="http://schemas.openxmlformats.org/markup-compatibility/2006">
              <mc:Choice xmlns:v="urn:schemas-microsoft-com:vml" Requires="v">
                <p:oleObj name="Equation" r:id="rId13" imgW="927100" imgH="228600" progId="Equation.3">
                  <p:embed/>
                </p:oleObj>
              </mc:Choice>
              <mc:Fallback>
                <p:oleObj name="Equation" r:id="rId13" imgW="927100" imgH="2286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39950" y="3190875"/>
                        <a:ext cx="2133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3822" name="Object 8"/>
          <p:cNvGraphicFramePr>
            <a:graphicFrameLocks noChangeAspect="1"/>
          </p:cNvGraphicFramePr>
          <p:nvPr/>
        </p:nvGraphicFramePr>
        <p:xfrm>
          <a:off x="2576513" y="4384675"/>
          <a:ext cx="2209800" cy="685800"/>
        </p:xfrm>
        <a:graphic>
          <a:graphicData uri="http://schemas.openxmlformats.org/presentationml/2006/ole">
            <mc:AlternateContent xmlns:mc="http://schemas.openxmlformats.org/markup-compatibility/2006">
              <mc:Choice xmlns:v="urn:schemas-microsoft-com:vml" Requires="v">
                <p:oleObj name="Equation" r:id="rId15" imgW="1028065" imgH="241300" progId="Equation.3">
                  <p:embed/>
                </p:oleObj>
              </mc:Choice>
              <mc:Fallback>
                <p:oleObj name="Equation" r:id="rId15" imgW="1028065" imgH="2413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76513" y="4384675"/>
                        <a:ext cx="2209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3823" name="Object 9"/>
          <p:cNvGraphicFramePr>
            <a:graphicFrameLocks noChangeAspect="1"/>
          </p:cNvGraphicFramePr>
          <p:nvPr/>
        </p:nvGraphicFramePr>
        <p:xfrm>
          <a:off x="2155825" y="5073650"/>
          <a:ext cx="2430463" cy="609600"/>
        </p:xfrm>
        <a:graphic>
          <a:graphicData uri="http://schemas.openxmlformats.org/presentationml/2006/ole">
            <mc:AlternateContent xmlns:mc="http://schemas.openxmlformats.org/markup-compatibility/2006">
              <mc:Choice xmlns:v="urn:schemas-microsoft-com:vml" Requires="v">
                <p:oleObj name="Equation" r:id="rId17" imgW="1155700" imgH="241300" progId="Equation.3">
                  <p:embed/>
                </p:oleObj>
              </mc:Choice>
              <mc:Fallback>
                <p:oleObj name="Equation" r:id="rId17" imgW="1155700" imgH="2413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155825" y="5073650"/>
                        <a:ext cx="2430463"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3824" name="Object 10"/>
          <p:cNvGraphicFramePr>
            <a:graphicFrameLocks noChangeAspect="1"/>
          </p:cNvGraphicFramePr>
          <p:nvPr/>
        </p:nvGraphicFramePr>
        <p:xfrm>
          <a:off x="1757363" y="3778250"/>
          <a:ext cx="3033712" cy="609600"/>
        </p:xfrm>
        <a:graphic>
          <a:graphicData uri="http://schemas.openxmlformats.org/presentationml/2006/ole">
            <mc:AlternateContent xmlns:mc="http://schemas.openxmlformats.org/markup-compatibility/2006">
              <mc:Choice xmlns:v="urn:schemas-microsoft-com:vml" Requires="v">
                <p:oleObj name="Equation" r:id="rId19" imgW="784225" imgH="127000" progId="Equation.3">
                  <p:embed/>
                </p:oleObj>
              </mc:Choice>
              <mc:Fallback>
                <p:oleObj name="Equation" r:id="rId19" imgW="784225" imgH="12700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57363" y="3778250"/>
                        <a:ext cx="3033712"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3825" name="Object 11"/>
          <p:cNvGraphicFramePr>
            <a:graphicFrameLocks noChangeAspect="1"/>
          </p:cNvGraphicFramePr>
          <p:nvPr/>
        </p:nvGraphicFramePr>
        <p:xfrm>
          <a:off x="684213" y="5876925"/>
          <a:ext cx="7700962" cy="533400"/>
        </p:xfrm>
        <a:graphic>
          <a:graphicData uri="http://schemas.openxmlformats.org/presentationml/2006/ole">
            <mc:AlternateContent xmlns:mc="http://schemas.openxmlformats.org/markup-compatibility/2006">
              <mc:Choice xmlns:v="urn:schemas-microsoft-com:vml" Requires="v">
                <p:oleObj name="Equation" r:id="rId21" imgW="2065020" imgH="127000" progId="Equation.3">
                  <p:embed/>
                </p:oleObj>
              </mc:Choice>
              <mc:Fallback>
                <p:oleObj name="Equation" r:id="rId21" imgW="2065020" imgH="12700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84213" y="5876925"/>
                        <a:ext cx="770096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3827" name="Text Box 19"/>
          <p:cNvSpPr txBox="1">
            <a:spLocks noChangeArrowheads="1"/>
          </p:cNvSpPr>
          <p:nvPr/>
        </p:nvSpPr>
        <p:spPr bwMode="auto">
          <a:xfrm>
            <a:off x="7086600" y="31242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009900"/>
                </a:solidFill>
                <a:latin typeface="Times New Roman" panose="02020603050405020304" pitchFamily="18" charset="0"/>
                <a:ea typeface="宋体" panose="02010600030101010101" pitchFamily="2" charset="-122"/>
              </a:rPr>
              <a:t>x</a:t>
            </a:r>
          </a:p>
        </p:txBody>
      </p:sp>
      <p:sp>
        <p:nvSpPr>
          <p:cNvPr id="503828" name="Text Box 20"/>
          <p:cNvSpPr txBox="1">
            <a:spLocks noChangeArrowheads="1"/>
          </p:cNvSpPr>
          <p:nvPr/>
        </p:nvSpPr>
        <p:spPr bwMode="auto">
          <a:xfrm>
            <a:off x="5911850" y="3244850"/>
            <a:ext cx="839788"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50000"/>
              </a:lnSpc>
              <a:spcBef>
                <a:spcPct val="50000"/>
              </a:spcBef>
              <a:buClr>
                <a:schemeClr val="accent2"/>
              </a:buClr>
              <a:buFont typeface="Wingdings" panose="05000000000000000000" pitchFamily="2" charset="2"/>
              <a:buNone/>
            </a:pPr>
            <a:r>
              <a:rPr kumimoji="1" lang="en-US" altLang="zh-CN">
                <a:solidFill>
                  <a:srgbClr val="000066"/>
                </a:solidFill>
                <a:latin typeface="Times New Roman" panose="02020603050405020304" pitchFamily="18" charset="0"/>
                <a:ea typeface="方正舒体" panose="02010601030101010101" pitchFamily="2" charset="-122"/>
              </a:rPr>
              <a:t>x </a:t>
            </a:r>
          </a:p>
          <a:p>
            <a:pPr eaLnBrk="1" hangingPunct="1">
              <a:lnSpc>
                <a:spcPct val="50000"/>
              </a:lnSpc>
              <a:spcBef>
                <a:spcPct val="50000"/>
              </a:spcBef>
              <a:buClr>
                <a:schemeClr val="accent2"/>
              </a:buClr>
              <a:buFont typeface="Wingdings" panose="05000000000000000000" pitchFamily="2" charset="2"/>
              <a:buNone/>
            </a:pPr>
            <a:r>
              <a:rPr kumimoji="1" lang="en-US" altLang="zh-CN" sz="1400">
                <a:solidFill>
                  <a:srgbClr val="000066"/>
                </a:solidFill>
                <a:latin typeface="Times New Roman" panose="02020603050405020304" pitchFamily="18" charset="0"/>
                <a:ea typeface="宋体" panose="02010600030101010101" pitchFamily="2" charset="-122"/>
              </a:rPr>
              <a:t>(2)</a:t>
            </a:r>
            <a:endParaRPr kumimoji="1" lang="en-US" altLang="zh-CN">
              <a:solidFill>
                <a:srgbClr val="000066"/>
              </a:solidFill>
              <a:latin typeface="Times New Roman" panose="02020603050405020304" pitchFamily="18" charset="0"/>
              <a:ea typeface="方正舒体" panose="02010601030101010101" pitchFamily="2" charset="-122"/>
            </a:endParaRPr>
          </a:p>
          <a:p>
            <a:pPr eaLnBrk="1" hangingPunct="1">
              <a:lnSpc>
                <a:spcPct val="50000"/>
              </a:lnSpc>
              <a:spcBef>
                <a:spcPct val="50000"/>
              </a:spcBef>
              <a:buClr>
                <a:schemeClr val="accent2"/>
              </a:buClr>
              <a:buFont typeface="Wingdings" panose="05000000000000000000" pitchFamily="2" charset="2"/>
              <a:buNone/>
            </a:pPr>
            <a:endParaRPr kumimoji="1" lang="en-US" altLang="zh-CN" sz="1400">
              <a:solidFill>
                <a:srgbClr val="000066"/>
              </a:solidFill>
              <a:latin typeface="Times New Roman" panose="02020603050405020304" pitchFamily="18" charset="0"/>
              <a:ea typeface="宋体" panose="02010600030101010101" pitchFamily="2" charset="-122"/>
            </a:endParaRPr>
          </a:p>
        </p:txBody>
      </p:sp>
      <p:graphicFrame>
        <p:nvGraphicFramePr>
          <p:cNvPr id="503829" name="Object 13"/>
          <p:cNvGraphicFramePr>
            <a:graphicFrameLocks noChangeAspect="1"/>
          </p:cNvGraphicFramePr>
          <p:nvPr/>
        </p:nvGraphicFramePr>
        <p:xfrm>
          <a:off x="4978400" y="2133600"/>
          <a:ext cx="1466850" cy="1019175"/>
        </p:xfrm>
        <a:graphic>
          <a:graphicData uri="http://schemas.openxmlformats.org/presentationml/2006/ole">
            <mc:AlternateContent xmlns:mc="http://schemas.openxmlformats.org/markup-compatibility/2006">
              <mc:Choice xmlns:v="urn:schemas-microsoft-com:vml" Requires="v">
                <p:oleObj name="BMP 图象" r:id="rId23" imgW="1466850" imgH="1019175" progId="Paint.Picture">
                  <p:embed/>
                </p:oleObj>
              </mc:Choice>
              <mc:Fallback>
                <p:oleObj name="BMP 图象" r:id="rId23" imgW="1466850" imgH="1019175" progId="Paint.Picture">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78400" y="2133600"/>
                        <a:ext cx="1466850" cy="10191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3830" name="Text Box 22"/>
          <p:cNvSpPr txBox="1">
            <a:spLocks noChangeArrowheads="1"/>
          </p:cNvSpPr>
          <p:nvPr/>
        </p:nvSpPr>
        <p:spPr bwMode="auto">
          <a:xfrm>
            <a:off x="5267325" y="1125538"/>
            <a:ext cx="457200"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A50021"/>
                </a:solidFill>
                <a:latin typeface="Times New Roman" panose="02020603050405020304" pitchFamily="18" charset="0"/>
                <a:ea typeface="方正舒体" panose="02010601030101010101" pitchFamily="2" charset="-122"/>
              </a:rPr>
              <a:t>x</a:t>
            </a: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A50021"/>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A50021"/>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A50021"/>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A50021"/>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A50021"/>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A50021"/>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A50021"/>
                </a:solidFill>
                <a:latin typeface="Times New Roman" panose="02020603050405020304" pitchFamily="18" charset="0"/>
                <a:ea typeface="方正舒体" panose="02010601030101010101" pitchFamily="2" charset="-122"/>
              </a:rPr>
              <a:t>x</a:t>
            </a:r>
          </a:p>
        </p:txBody>
      </p:sp>
      <p:graphicFrame>
        <p:nvGraphicFramePr>
          <p:cNvPr id="503831" name="Object 14"/>
          <p:cNvGraphicFramePr>
            <a:graphicFrameLocks noChangeAspect="1"/>
          </p:cNvGraphicFramePr>
          <p:nvPr/>
        </p:nvGraphicFramePr>
        <p:xfrm>
          <a:off x="6781800" y="3962400"/>
          <a:ext cx="1114425" cy="1257300"/>
        </p:xfrm>
        <a:graphic>
          <a:graphicData uri="http://schemas.openxmlformats.org/presentationml/2006/ole">
            <mc:AlternateContent xmlns:mc="http://schemas.openxmlformats.org/markup-compatibility/2006">
              <mc:Choice xmlns:v="urn:schemas-microsoft-com:vml" Requires="v">
                <p:oleObj name="BMP 图象" r:id="rId25" imgW="1114425" imgH="1257300" progId="Paint.Picture">
                  <p:embed/>
                </p:oleObj>
              </mc:Choice>
              <mc:Fallback>
                <p:oleObj name="BMP 图象" r:id="rId25" imgW="1114425" imgH="1257300" progId="Paint.Picture">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781800" y="3962400"/>
                        <a:ext cx="1114425" cy="1257300"/>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3832" name="Text Box 24"/>
          <p:cNvSpPr txBox="1">
            <a:spLocks noChangeArrowheads="1"/>
          </p:cNvSpPr>
          <p:nvPr/>
        </p:nvSpPr>
        <p:spPr bwMode="auto">
          <a:xfrm>
            <a:off x="7108825" y="692150"/>
            <a:ext cx="838200" cy="507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FF0000"/>
                </a:solidFill>
                <a:latin typeface="Times New Roman" panose="02020603050405020304" pitchFamily="18" charset="0"/>
                <a:ea typeface="方正舒体" panose="02010601030101010101" pitchFamily="2" charset="-122"/>
              </a:rPr>
              <a:t>x</a:t>
            </a:r>
            <a:r>
              <a:rPr kumimoji="1" lang="en-US" altLang="zh-CN" sz="1400">
                <a:solidFill>
                  <a:srgbClr val="FF0000"/>
                </a:solidFill>
                <a:latin typeface="Times New Roman" panose="02020603050405020304" pitchFamily="18" charset="0"/>
                <a:ea typeface="宋体" panose="02010600030101010101" pitchFamily="2" charset="-122"/>
              </a:rPr>
              <a:t>(2)</a:t>
            </a:r>
            <a:endParaRPr kumimoji="1" lang="en-US" altLang="zh-CN" sz="1400">
              <a:solidFill>
                <a:srgbClr val="FFFF00"/>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sz="1400">
              <a:solidFill>
                <a:srgbClr val="FFFF00"/>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sz="1400">
              <a:solidFill>
                <a:srgbClr val="FFFF00"/>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Times New Roman" panose="02020603050405020304" pitchFamily="18"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FFFF00"/>
                </a:solidFill>
                <a:latin typeface="Times New Roman" panose="02020603050405020304" pitchFamily="18" charset="0"/>
                <a:ea typeface="方正舒体" panose="02010601030101010101" pitchFamily="2" charset="-122"/>
              </a:rPr>
              <a:t>x</a:t>
            </a:r>
            <a:r>
              <a:rPr kumimoji="1" lang="en-US" altLang="zh-CN" sz="1400">
                <a:solidFill>
                  <a:srgbClr val="FFFF00"/>
                </a:solidFill>
                <a:latin typeface="Times New Roman" panose="02020603050405020304" pitchFamily="18" charset="0"/>
                <a:ea typeface="宋体" panose="02010600030101010101" pitchFamily="2" charset="-122"/>
              </a:rPr>
              <a:t>(2)</a:t>
            </a:r>
          </a:p>
        </p:txBody>
      </p:sp>
      <p:graphicFrame>
        <p:nvGraphicFramePr>
          <p:cNvPr id="503833" name="Object 15"/>
          <p:cNvGraphicFramePr>
            <a:graphicFrameLocks noChangeAspect="1"/>
          </p:cNvGraphicFramePr>
          <p:nvPr/>
        </p:nvGraphicFramePr>
        <p:xfrm>
          <a:off x="2211388" y="1181100"/>
          <a:ext cx="1219200" cy="533400"/>
        </p:xfrm>
        <a:graphic>
          <a:graphicData uri="http://schemas.openxmlformats.org/presentationml/2006/ole">
            <mc:AlternateContent xmlns:mc="http://schemas.openxmlformats.org/markup-compatibility/2006">
              <mc:Choice xmlns:v="urn:schemas-microsoft-com:vml" Requires="v">
                <p:oleObj name="Equation" r:id="rId27" imgW="546100" imgH="228600" progId="Equation.3">
                  <p:embed/>
                </p:oleObj>
              </mc:Choice>
              <mc:Fallback>
                <p:oleObj name="Equation" r:id="rId27" imgW="546100" imgH="228600" progId="Equation.3">
                  <p:embed/>
                  <p:pic>
                    <p:nvPicPr>
                      <p:cNvPr id="0" name="Object 1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11388" y="1181100"/>
                        <a:ext cx="1219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 name="日期占位符 25"/>
          <p:cNvSpPr>
            <a:spLocks noGrp="1"/>
          </p:cNvSpPr>
          <p:nvPr>
            <p:ph type="dt" sz="quarter" idx="10"/>
          </p:nvPr>
        </p:nvSpPr>
        <p:spPr/>
        <p:txBody>
          <a:bodyPr/>
          <a:lstStyle/>
          <a:p>
            <a:pPr>
              <a:defRPr/>
            </a:pPr>
            <a:fld id="{F18B43B7-98EB-4077-97AD-8A93E4E6988F}" type="datetime1">
              <a:rPr lang="zh-CN" altLang="en-US" smtClean="0">
                <a:latin typeface="Times New Roman" panose="02020603050405020304" pitchFamily="18" charset="0"/>
              </a:rPr>
              <a:t>2026/4/28</a:t>
            </a:fld>
            <a:endParaRPr lang="en-US" altLang="zh-CN">
              <a:latin typeface="Times New Roman" panose="02020603050405020304" pitchFamily="18" charset="0"/>
            </a:endParaRPr>
          </a:p>
        </p:txBody>
      </p:sp>
      <p:graphicFrame>
        <p:nvGraphicFramePr>
          <p:cNvPr id="503826" name="Object 12"/>
          <p:cNvGraphicFramePr>
            <a:graphicFrameLocks noChangeAspect="1"/>
          </p:cNvGraphicFramePr>
          <p:nvPr/>
        </p:nvGraphicFramePr>
        <p:xfrm>
          <a:off x="6705600" y="1997075"/>
          <a:ext cx="1438275" cy="1249363"/>
        </p:xfrm>
        <a:graphic>
          <a:graphicData uri="http://schemas.openxmlformats.org/presentationml/2006/ole">
            <mc:AlternateContent xmlns:mc="http://schemas.openxmlformats.org/markup-compatibility/2006">
              <mc:Choice xmlns:v="urn:schemas-microsoft-com:vml" Requires="v">
                <p:oleObj name="BMP 图象" r:id="rId29" imgW="1590675" imgH="1381125" progId="Paint.Picture">
                  <p:embed/>
                </p:oleObj>
              </mc:Choice>
              <mc:Fallback>
                <p:oleObj name="BMP 图象" r:id="rId29" imgW="1590675" imgH="1381125" progId="Paint.Picture">
                  <p:embed/>
                  <p:pic>
                    <p:nvPicPr>
                      <p:cNvPr id="0" name="Object 12"/>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705600" y="1997075"/>
                        <a:ext cx="1438275" cy="1249363"/>
                      </a:xfrm>
                      <a:prstGeom prst="rect">
                        <a:avLst/>
                      </a:prstGeom>
                      <a:solidFill>
                        <a:srgbClr val="33CC33"/>
                      </a:solidFill>
                      <a:ln w="9525">
                        <a:solidFill>
                          <a:srgbClr val="33CC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墨迹 3"/>
          <p:cNvSpPr/>
          <p:nvPr/>
        </p:nvSpPr>
        <p:spPr bwMode="auto">
          <a:xfrm>
            <a:off x="1214640" y="479160"/>
            <a:ext cx="6012000" cy="5971680"/>
          </a:xfrm>
        </p:spPr>
      </p:sp>
    </p:spTree>
    <p:custDataLst>
      <p:tags r:id="rId1"/>
    </p:custDataLst>
  </p:cSld>
  <p:clrMapOvr>
    <a:masterClrMapping/>
  </p:clrMapOvr>
  <p:transition spd="med" advTm="179344">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22" presetClass="entr" presetSubtype="8" fill="hold" grpId="0" nodeType="afterEffect">
                                  <p:stCondLst>
                                    <p:cond delay="0"/>
                                  </p:stCondLst>
                                  <p:childTnLst>
                                    <p:set>
                                      <p:cBhvr>
                                        <p:cTn id="10" dur="1" fill="hold">
                                          <p:stCondLst>
                                            <p:cond delay="0"/>
                                          </p:stCondLst>
                                        </p:cTn>
                                        <p:tgtEl>
                                          <p:spTgt spid="503814"/>
                                        </p:tgtEl>
                                        <p:attrNameLst>
                                          <p:attrName>style.visibility</p:attrName>
                                        </p:attrNameLst>
                                      </p:cBhvr>
                                      <p:to>
                                        <p:strVal val="visible"/>
                                      </p:to>
                                    </p:set>
                                    <p:animEffect transition="in" filter="wipe(left)">
                                      <p:cBhvr>
                                        <p:cTn id="11" dur="500"/>
                                        <p:tgtEl>
                                          <p:spTgt spid="503814"/>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503810"/>
                                        </p:tgtEl>
                                        <p:attrNameLst>
                                          <p:attrName>style.visibility</p:attrName>
                                        </p:attrNameLst>
                                      </p:cBhvr>
                                      <p:to>
                                        <p:strVal val="visible"/>
                                      </p:to>
                                    </p:set>
                                    <p:animEffect transition="in" filter="wipe(left)">
                                      <p:cBhvr>
                                        <p:cTn id="15" dur="500"/>
                                        <p:tgtEl>
                                          <p:spTgt spid="503810"/>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503815"/>
                                        </p:tgtEl>
                                        <p:attrNameLst>
                                          <p:attrName>style.visibility</p:attrName>
                                        </p:attrNameLst>
                                      </p:cBhvr>
                                      <p:to>
                                        <p:strVal val="visible"/>
                                      </p:to>
                                    </p:set>
                                    <p:animEffect transition="in" filter="wipe(left)">
                                      <p:cBhvr>
                                        <p:cTn id="19" dur="500"/>
                                        <p:tgtEl>
                                          <p:spTgt spid="503815"/>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503827">
                                            <p:txEl>
                                              <p:pRg st="0" end="0"/>
                                            </p:txEl>
                                          </p:spTgt>
                                        </p:tgtEl>
                                        <p:attrNameLst>
                                          <p:attrName>style.visibility</p:attrName>
                                        </p:attrNameLst>
                                      </p:cBhvr>
                                      <p:to>
                                        <p:strVal val="visible"/>
                                      </p:to>
                                    </p:set>
                                    <p:animEffect transition="in" filter="wipe(left)">
                                      <p:cBhvr>
                                        <p:cTn id="23" dur="500"/>
                                        <p:tgtEl>
                                          <p:spTgt spid="503827">
                                            <p:txEl>
                                              <p:pRg st="0" end="0"/>
                                            </p:txEl>
                                          </p:spTgt>
                                        </p:tgtEl>
                                      </p:cBhvr>
                                    </p:animEffect>
                                  </p:childTnLst>
                                </p:cTn>
                              </p:par>
                            </p:childTnLst>
                          </p:cTn>
                        </p:par>
                        <p:par>
                          <p:cTn id="24" fill="hold">
                            <p:stCondLst>
                              <p:cond delay="2000"/>
                            </p:stCondLst>
                            <p:childTnLst>
                              <p:par>
                                <p:cTn id="25" presetID="22" presetClass="entr" presetSubtype="8" fill="hold" nodeType="afterEffect">
                                  <p:stCondLst>
                                    <p:cond delay="0"/>
                                  </p:stCondLst>
                                  <p:childTnLst>
                                    <p:set>
                                      <p:cBhvr>
                                        <p:cTn id="26" dur="1" fill="hold">
                                          <p:stCondLst>
                                            <p:cond delay="0"/>
                                          </p:stCondLst>
                                        </p:cTn>
                                        <p:tgtEl>
                                          <p:spTgt spid="503833"/>
                                        </p:tgtEl>
                                        <p:attrNameLst>
                                          <p:attrName>style.visibility</p:attrName>
                                        </p:attrNameLst>
                                      </p:cBhvr>
                                      <p:to>
                                        <p:strVal val="visible"/>
                                      </p:to>
                                    </p:set>
                                    <p:animEffect transition="in" filter="wipe(left)">
                                      <p:cBhvr>
                                        <p:cTn id="27" dur="500"/>
                                        <p:tgtEl>
                                          <p:spTgt spid="5038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03812"/>
                                        </p:tgtEl>
                                        <p:attrNameLst>
                                          <p:attrName>style.visibility</p:attrName>
                                        </p:attrNameLst>
                                      </p:cBhvr>
                                      <p:to>
                                        <p:strVal val="visible"/>
                                      </p:to>
                                    </p:set>
                                    <p:animEffect transition="in" filter="wipe(left)">
                                      <p:cBhvr>
                                        <p:cTn id="32" dur="500"/>
                                        <p:tgtEl>
                                          <p:spTgt spid="503812"/>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503826"/>
                                        </p:tgtEl>
                                        <p:attrNameLst>
                                          <p:attrName>style.visibility</p:attrName>
                                        </p:attrNameLst>
                                      </p:cBhvr>
                                      <p:to>
                                        <p:strVal val="visible"/>
                                      </p:to>
                                    </p:set>
                                    <p:animEffect transition="in" filter="wipe(left)">
                                      <p:cBhvr>
                                        <p:cTn id="36" dur="500"/>
                                        <p:tgtEl>
                                          <p:spTgt spid="50382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03816">
                                            <p:txEl>
                                              <p:pRg st="0" end="0"/>
                                            </p:txEl>
                                          </p:spTgt>
                                        </p:tgtEl>
                                        <p:attrNameLst>
                                          <p:attrName>style.visibility</p:attrName>
                                        </p:attrNameLst>
                                      </p:cBhvr>
                                      <p:to>
                                        <p:strVal val="visible"/>
                                      </p:to>
                                    </p:set>
                                    <p:animEffect transition="in" filter="wipe(left)">
                                      <p:cBhvr>
                                        <p:cTn id="41" dur="500"/>
                                        <p:tgtEl>
                                          <p:spTgt spid="503816">
                                            <p:txEl>
                                              <p:pRg st="0" end="0"/>
                                            </p:txEl>
                                          </p:spTgt>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503830">
                                            <p:txEl>
                                              <p:pRg st="0" end="0"/>
                                            </p:txEl>
                                          </p:spTgt>
                                        </p:tgtEl>
                                        <p:attrNameLst>
                                          <p:attrName>style.visibility</p:attrName>
                                        </p:attrNameLst>
                                      </p:cBhvr>
                                      <p:to>
                                        <p:strVal val="visible"/>
                                      </p:to>
                                    </p:set>
                                    <p:animEffect transition="in" filter="wipe(left)">
                                      <p:cBhvr>
                                        <p:cTn id="45" dur="500"/>
                                        <p:tgtEl>
                                          <p:spTgt spid="503830">
                                            <p:txEl>
                                              <p:pRg st="0" end="0"/>
                                            </p:txEl>
                                          </p:spTgt>
                                        </p:tgtEl>
                                      </p:cBhvr>
                                    </p:animEffect>
                                  </p:childTnLst>
                                </p:cTn>
                              </p:par>
                            </p:childTnLst>
                          </p:cTn>
                        </p:par>
                        <p:par>
                          <p:cTn id="46" fill="hold">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503830">
                                            <p:txEl>
                                              <p:pRg st="7" end="7"/>
                                            </p:txEl>
                                          </p:spTgt>
                                        </p:tgtEl>
                                        <p:attrNameLst>
                                          <p:attrName>style.visibility</p:attrName>
                                        </p:attrNameLst>
                                      </p:cBhvr>
                                      <p:to>
                                        <p:strVal val="visible"/>
                                      </p:to>
                                    </p:set>
                                    <p:animEffect transition="in" filter="wipe(left)">
                                      <p:cBhvr>
                                        <p:cTn id="49" dur="500"/>
                                        <p:tgtEl>
                                          <p:spTgt spid="503830">
                                            <p:txEl>
                                              <p:pRg st="7" end="7"/>
                                            </p:txEl>
                                          </p:spTgt>
                                        </p:tgtEl>
                                      </p:cBhvr>
                                    </p:animEffect>
                                  </p:childTnLst>
                                </p:cTn>
                              </p:par>
                            </p:childTnLst>
                          </p:cTn>
                        </p:par>
                        <p:par>
                          <p:cTn id="50" fill="hold">
                            <p:stCondLst>
                              <p:cond delay="1500"/>
                            </p:stCondLst>
                            <p:childTnLst>
                              <p:par>
                                <p:cTn id="51" presetID="22" presetClass="entr" presetSubtype="8" fill="hold" nodeType="afterEffect">
                                  <p:stCondLst>
                                    <p:cond delay="0"/>
                                  </p:stCondLst>
                                  <p:childTnLst>
                                    <p:set>
                                      <p:cBhvr>
                                        <p:cTn id="52" dur="1" fill="hold">
                                          <p:stCondLst>
                                            <p:cond delay="0"/>
                                          </p:stCondLst>
                                        </p:cTn>
                                        <p:tgtEl>
                                          <p:spTgt spid="503817"/>
                                        </p:tgtEl>
                                        <p:attrNameLst>
                                          <p:attrName>style.visibility</p:attrName>
                                        </p:attrNameLst>
                                      </p:cBhvr>
                                      <p:to>
                                        <p:strVal val="visible"/>
                                      </p:to>
                                    </p:set>
                                    <p:animEffect transition="in" filter="wipe(left)">
                                      <p:cBhvr>
                                        <p:cTn id="53" dur="500"/>
                                        <p:tgtEl>
                                          <p:spTgt spid="5038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03818"/>
                                        </p:tgtEl>
                                        <p:attrNameLst>
                                          <p:attrName>style.visibility</p:attrName>
                                        </p:attrNameLst>
                                      </p:cBhvr>
                                      <p:to>
                                        <p:strVal val="visible"/>
                                      </p:to>
                                    </p:set>
                                    <p:animEffect transition="in" filter="wipe(left)">
                                      <p:cBhvr>
                                        <p:cTn id="58" dur="500"/>
                                        <p:tgtEl>
                                          <p:spTgt spid="50381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503813"/>
                                        </p:tgtEl>
                                        <p:attrNameLst>
                                          <p:attrName>style.visibility</p:attrName>
                                        </p:attrNameLst>
                                      </p:cBhvr>
                                      <p:to>
                                        <p:strVal val="visible"/>
                                      </p:to>
                                    </p:set>
                                    <p:animEffect transition="in" filter="wipe(left)">
                                      <p:cBhvr>
                                        <p:cTn id="63" dur="500"/>
                                        <p:tgtEl>
                                          <p:spTgt spid="50381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503819">
                                            <p:txEl>
                                              <p:pRg st="0" end="0"/>
                                            </p:txEl>
                                          </p:spTgt>
                                        </p:tgtEl>
                                        <p:attrNameLst>
                                          <p:attrName>style.visibility</p:attrName>
                                        </p:attrNameLst>
                                      </p:cBhvr>
                                      <p:to>
                                        <p:strVal val="visible"/>
                                      </p:to>
                                    </p:set>
                                    <p:animEffect transition="in" filter="wipe(left)">
                                      <p:cBhvr>
                                        <p:cTn id="68" dur="500"/>
                                        <p:tgtEl>
                                          <p:spTgt spid="503819">
                                            <p:txEl>
                                              <p:pRg st="0" end="0"/>
                                            </p:txEl>
                                          </p:spTgt>
                                        </p:tgtEl>
                                      </p:cBhvr>
                                    </p:animEffect>
                                  </p:childTnLst>
                                </p:cTn>
                              </p:par>
                            </p:childTnLst>
                          </p:cTn>
                        </p:par>
                        <p:par>
                          <p:cTn id="69" fill="hold">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503819">
                                            <p:txEl>
                                              <p:pRg st="1" end="1"/>
                                            </p:txEl>
                                          </p:spTgt>
                                        </p:tgtEl>
                                        <p:attrNameLst>
                                          <p:attrName>style.visibility</p:attrName>
                                        </p:attrNameLst>
                                      </p:cBhvr>
                                      <p:to>
                                        <p:strVal val="visible"/>
                                      </p:to>
                                    </p:set>
                                    <p:animEffect transition="in" filter="wipe(left)">
                                      <p:cBhvr>
                                        <p:cTn id="72" dur="500"/>
                                        <p:tgtEl>
                                          <p:spTgt spid="503819">
                                            <p:txEl>
                                              <p:pRg st="1" end="1"/>
                                            </p:txEl>
                                          </p:spTgt>
                                        </p:tgtEl>
                                      </p:cBhvr>
                                    </p:animEffect>
                                  </p:childTnLst>
                                </p:cTn>
                              </p:par>
                            </p:childTnLst>
                          </p:cTn>
                        </p:par>
                        <p:par>
                          <p:cTn id="73" fill="hold">
                            <p:stCondLst>
                              <p:cond delay="1000"/>
                            </p:stCondLst>
                            <p:childTnLst>
                              <p:par>
                                <p:cTn id="74" presetID="22" presetClass="entr" presetSubtype="8" fill="hold" nodeType="afterEffect">
                                  <p:stCondLst>
                                    <p:cond delay="0"/>
                                  </p:stCondLst>
                                  <p:childTnLst>
                                    <p:set>
                                      <p:cBhvr>
                                        <p:cTn id="75" dur="1" fill="hold">
                                          <p:stCondLst>
                                            <p:cond delay="0"/>
                                          </p:stCondLst>
                                        </p:cTn>
                                        <p:tgtEl>
                                          <p:spTgt spid="503821"/>
                                        </p:tgtEl>
                                        <p:attrNameLst>
                                          <p:attrName>style.visibility</p:attrName>
                                        </p:attrNameLst>
                                      </p:cBhvr>
                                      <p:to>
                                        <p:strVal val="visible"/>
                                      </p:to>
                                    </p:set>
                                    <p:animEffect transition="in" filter="wipe(left)">
                                      <p:cBhvr>
                                        <p:cTn id="76" dur="500"/>
                                        <p:tgtEl>
                                          <p:spTgt spid="503821"/>
                                        </p:tgtEl>
                                      </p:cBhvr>
                                    </p:animEffect>
                                  </p:childTnLst>
                                </p:cTn>
                              </p:par>
                            </p:childTnLst>
                          </p:cTn>
                        </p:par>
                        <p:par>
                          <p:cTn id="77" fill="hold">
                            <p:stCondLst>
                              <p:cond delay="1500"/>
                            </p:stCondLst>
                            <p:childTnLst>
                              <p:par>
                                <p:cTn id="78" presetID="22" presetClass="entr" presetSubtype="8" fill="hold" grpId="0" nodeType="afterEffect">
                                  <p:stCondLst>
                                    <p:cond delay="0"/>
                                  </p:stCondLst>
                                  <p:childTnLst>
                                    <p:set>
                                      <p:cBhvr>
                                        <p:cTn id="79" dur="1" fill="hold">
                                          <p:stCondLst>
                                            <p:cond delay="0"/>
                                          </p:stCondLst>
                                        </p:cTn>
                                        <p:tgtEl>
                                          <p:spTgt spid="503828">
                                            <p:txEl>
                                              <p:pRg st="0" end="0"/>
                                            </p:txEl>
                                          </p:spTgt>
                                        </p:tgtEl>
                                        <p:attrNameLst>
                                          <p:attrName>style.visibility</p:attrName>
                                        </p:attrNameLst>
                                      </p:cBhvr>
                                      <p:to>
                                        <p:strVal val="visible"/>
                                      </p:to>
                                    </p:set>
                                    <p:animEffect transition="in" filter="wipe(left)">
                                      <p:cBhvr>
                                        <p:cTn id="80" dur="500"/>
                                        <p:tgtEl>
                                          <p:spTgt spid="503828">
                                            <p:txEl>
                                              <p:pRg st="0" end="0"/>
                                            </p:txEl>
                                          </p:spTgt>
                                        </p:tgtEl>
                                      </p:cBhvr>
                                    </p:animEffect>
                                  </p:childTnLst>
                                </p:cTn>
                              </p:par>
                            </p:childTnLst>
                          </p:cTn>
                        </p:par>
                        <p:par>
                          <p:cTn id="81" fill="hold">
                            <p:stCondLst>
                              <p:cond delay="2000"/>
                            </p:stCondLst>
                            <p:childTnLst>
                              <p:par>
                                <p:cTn id="82" presetID="22" presetClass="entr" presetSubtype="8" fill="hold" grpId="0" nodeType="afterEffect">
                                  <p:stCondLst>
                                    <p:cond delay="0"/>
                                  </p:stCondLst>
                                  <p:childTnLst>
                                    <p:set>
                                      <p:cBhvr>
                                        <p:cTn id="83" dur="1" fill="hold">
                                          <p:stCondLst>
                                            <p:cond delay="0"/>
                                          </p:stCondLst>
                                        </p:cTn>
                                        <p:tgtEl>
                                          <p:spTgt spid="503828">
                                            <p:txEl>
                                              <p:pRg st="1" end="1"/>
                                            </p:txEl>
                                          </p:spTgt>
                                        </p:tgtEl>
                                        <p:attrNameLst>
                                          <p:attrName>style.visibility</p:attrName>
                                        </p:attrNameLst>
                                      </p:cBhvr>
                                      <p:to>
                                        <p:strVal val="visible"/>
                                      </p:to>
                                    </p:set>
                                    <p:animEffect transition="in" filter="wipe(left)">
                                      <p:cBhvr>
                                        <p:cTn id="84" dur="500"/>
                                        <p:tgtEl>
                                          <p:spTgt spid="503828">
                                            <p:txEl>
                                              <p:pRg st="1" end="1"/>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503824"/>
                                        </p:tgtEl>
                                        <p:attrNameLst>
                                          <p:attrName>style.visibility</p:attrName>
                                        </p:attrNameLst>
                                      </p:cBhvr>
                                      <p:to>
                                        <p:strVal val="visible"/>
                                      </p:to>
                                    </p:set>
                                    <p:animEffect transition="in" filter="wipe(left)">
                                      <p:cBhvr>
                                        <p:cTn id="89" dur="500"/>
                                        <p:tgtEl>
                                          <p:spTgt spid="503824"/>
                                        </p:tgtEl>
                                      </p:cBhvr>
                                    </p:animEffect>
                                  </p:childTnLst>
                                </p:cTn>
                              </p:par>
                            </p:childTnLst>
                          </p:cTn>
                        </p:par>
                        <p:par>
                          <p:cTn id="90" fill="hold">
                            <p:stCondLst>
                              <p:cond delay="500"/>
                            </p:stCondLst>
                            <p:childTnLst>
                              <p:par>
                                <p:cTn id="91" presetID="22" presetClass="entr" presetSubtype="8" fill="hold" nodeType="afterEffect">
                                  <p:stCondLst>
                                    <p:cond delay="0"/>
                                  </p:stCondLst>
                                  <p:childTnLst>
                                    <p:set>
                                      <p:cBhvr>
                                        <p:cTn id="92" dur="1" fill="hold">
                                          <p:stCondLst>
                                            <p:cond delay="0"/>
                                          </p:stCondLst>
                                        </p:cTn>
                                        <p:tgtEl>
                                          <p:spTgt spid="503829"/>
                                        </p:tgtEl>
                                        <p:attrNameLst>
                                          <p:attrName>style.visibility</p:attrName>
                                        </p:attrNameLst>
                                      </p:cBhvr>
                                      <p:to>
                                        <p:strVal val="visible"/>
                                      </p:to>
                                    </p:set>
                                    <p:animEffect transition="in" filter="wipe(left)">
                                      <p:cBhvr>
                                        <p:cTn id="93" dur="500"/>
                                        <p:tgtEl>
                                          <p:spTgt spid="503829"/>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503820">
                                            <p:txEl>
                                              <p:pRg st="0" end="0"/>
                                            </p:txEl>
                                          </p:spTgt>
                                        </p:tgtEl>
                                        <p:attrNameLst>
                                          <p:attrName>style.visibility</p:attrName>
                                        </p:attrNameLst>
                                      </p:cBhvr>
                                      <p:to>
                                        <p:strVal val="visible"/>
                                      </p:to>
                                    </p:set>
                                    <p:animEffect transition="in" filter="wipe(left)">
                                      <p:cBhvr>
                                        <p:cTn id="98" dur="500"/>
                                        <p:tgtEl>
                                          <p:spTgt spid="503820">
                                            <p:txEl>
                                              <p:pRg st="0" end="0"/>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503820">
                                            <p:txEl>
                                              <p:pRg st="1" end="1"/>
                                            </p:txEl>
                                          </p:spTgt>
                                        </p:tgtEl>
                                        <p:attrNameLst>
                                          <p:attrName>style.visibility</p:attrName>
                                        </p:attrNameLst>
                                      </p:cBhvr>
                                      <p:to>
                                        <p:strVal val="visible"/>
                                      </p:to>
                                    </p:set>
                                    <p:animEffect transition="in" filter="wipe(left)">
                                      <p:cBhvr>
                                        <p:cTn id="103" dur="500"/>
                                        <p:tgtEl>
                                          <p:spTgt spid="503820">
                                            <p:txEl>
                                              <p:pRg st="1" end="1"/>
                                            </p:txEl>
                                          </p:spTgt>
                                        </p:tgtEl>
                                      </p:cBhvr>
                                    </p:animEffect>
                                  </p:childTnLst>
                                </p:cTn>
                              </p:par>
                            </p:childTnLst>
                          </p:cTn>
                        </p:par>
                        <p:par>
                          <p:cTn id="104" fill="hold">
                            <p:stCondLst>
                              <p:cond delay="500"/>
                            </p:stCondLst>
                            <p:childTnLst>
                              <p:par>
                                <p:cTn id="105" presetID="22" presetClass="entr" presetSubtype="8" fill="hold" nodeType="afterEffect">
                                  <p:stCondLst>
                                    <p:cond delay="0"/>
                                  </p:stCondLst>
                                  <p:childTnLst>
                                    <p:set>
                                      <p:cBhvr>
                                        <p:cTn id="106" dur="1" fill="hold">
                                          <p:stCondLst>
                                            <p:cond delay="0"/>
                                          </p:stCondLst>
                                        </p:cTn>
                                        <p:tgtEl>
                                          <p:spTgt spid="503822"/>
                                        </p:tgtEl>
                                        <p:attrNameLst>
                                          <p:attrName>style.visibility</p:attrName>
                                        </p:attrNameLst>
                                      </p:cBhvr>
                                      <p:to>
                                        <p:strVal val="visible"/>
                                      </p:to>
                                    </p:set>
                                    <p:animEffect transition="in" filter="wipe(left)">
                                      <p:cBhvr>
                                        <p:cTn id="107" dur="500"/>
                                        <p:tgtEl>
                                          <p:spTgt spid="503822"/>
                                        </p:tgtEl>
                                      </p:cBhvr>
                                    </p:animEffect>
                                  </p:childTnLst>
                                </p:cTn>
                              </p:par>
                            </p:childTnLst>
                          </p:cTn>
                        </p:par>
                        <p:par>
                          <p:cTn id="108" fill="hold">
                            <p:stCondLst>
                              <p:cond delay="1000"/>
                            </p:stCondLst>
                            <p:childTnLst>
                              <p:par>
                                <p:cTn id="109" presetID="22" presetClass="entr" presetSubtype="8" fill="hold" nodeType="afterEffect">
                                  <p:stCondLst>
                                    <p:cond delay="0"/>
                                  </p:stCondLst>
                                  <p:childTnLst>
                                    <p:set>
                                      <p:cBhvr>
                                        <p:cTn id="110" dur="1" fill="hold">
                                          <p:stCondLst>
                                            <p:cond delay="0"/>
                                          </p:stCondLst>
                                        </p:cTn>
                                        <p:tgtEl>
                                          <p:spTgt spid="503823"/>
                                        </p:tgtEl>
                                        <p:attrNameLst>
                                          <p:attrName>style.visibility</p:attrName>
                                        </p:attrNameLst>
                                      </p:cBhvr>
                                      <p:to>
                                        <p:strVal val="visible"/>
                                      </p:to>
                                    </p:set>
                                    <p:animEffect transition="in" filter="wipe(left)">
                                      <p:cBhvr>
                                        <p:cTn id="111" dur="500"/>
                                        <p:tgtEl>
                                          <p:spTgt spid="503823"/>
                                        </p:tgtEl>
                                      </p:cBhvr>
                                    </p:animEffect>
                                  </p:childTnLst>
                                </p:cTn>
                              </p:par>
                            </p:childTnLst>
                          </p:cTn>
                        </p:par>
                        <p:par>
                          <p:cTn id="112" fill="hold">
                            <p:stCondLst>
                              <p:cond delay="1500"/>
                            </p:stCondLst>
                            <p:childTnLst>
                              <p:par>
                                <p:cTn id="113" presetID="22" presetClass="entr" presetSubtype="8" fill="hold" grpId="0" nodeType="afterEffect">
                                  <p:stCondLst>
                                    <p:cond delay="0"/>
                                  </p:stCondLst>
                                  <p:childTnLst>
                                    <p:set>
                                      <p:cBhvr>
                                        <p:cTn id="114" dur="1" fill="hold">
                                          <p:stCondLst>
                                            <p:cond delay="0"/>
                                          </p:stCondLst>
                                        </p:cTn>
                                        <p:tgtEl>
                                          <p:spTgt spid="503832">
                                            <p:txEl>
                                              <p:pRg st="0" end="0"/>
                                            </p:txEl>
                                          </p:spTgt>
                                        </p:tgtEl>
                                        <p:attrNameLst>
                                          <p:attrName>style.visibility</p:attrName>
                                        </p:attrNameLst>
                                      </p:cBhvr>
                                      <p:to>
                                        <p:strVal val="visible"/>
                                      </p:to>
                                    </p:set>
                                    <p:animEffect transition="in" filter="wipe(left)">
                                      <p:cBhvr>
                                        <p:cTn id="115" dur="500"/>
                                        <p:tgtEl>
                                          <p:spTgt spid="503832">
                                            <p:txEl>
                                              <p:pRg st="0" end="0"/>
                                            </p:txEl>
                                          </p:spTgt>
                                        </p:tgtEl>
                                      </p:cBhvr>
                                    </p:animEffect>
                                  </p:childTnLst>
                                </p:cTn>
                              </p:par>
                            </p:childTnLst>
                          </p:cTn>
                        </p:par>
                        <p:par>
                          <p:cTn id="116" fill="hold">
                            <p:stCondLst>
                              <p:cond delay="2000"/>
                            </p:stCondLst>
                            <p:childTnLst>
                              <p:par>
                                <p:cTn id="117" presetID="22" presetClass="entr" presetSubtype="8" fill="hold" grpId="0" nodeType="afterEffect">
                                  <p:stCondLst>
                                    <p:cond delay="0"/>
                                  </p:stCondLst>
                                  <p:childTnLst>
                                    <p:set>
                                      <p:cBhvr>
                                        <p:cTn id="118" dur="1" fill="hold">
                                          <p:stCondLst>
                                            <p:cond delay="0"/>
                                          </p:stCondLst>
                                        </p:cTn>
                                        <p:tgtEl>
                                          <p:spTgt spid="503832">
                                            <p:txEl>
                                              <p:pRg st="9" end="9"/>
                                            </p:txEl>
                                          </p:spTgt>
                                        </p:tgtEl>
                                        <p:attrNameLst>
                                          <p:attrName>style.visibility</p:attrName>
                                        </p:attrNameLst>
                                      </p:cBhvr>
                                      <p:to>
                                        <p:strVal val="visible"/>
                                      </p:to>
                                    </p:set>
                                    <p:animEffect transition="in" filter="wipe(left)">
                                      <p:cBhvr>
                                        <p:cTn id="119" dur="500"/>
                                        <p:tgtEl>
                                          <p:spTgt spid="503832">
                                            <p:txEl>
                                              <p:pRg st="9" end="9"/>
                                            </p:txEl>
                                          </p:spTgt>
                                        </p:tgtEl>
                                      </p:cBhvr>
                                    </p:animEffect>
                                  </p:childTnLst>
                                </p:cTn>
                              </p:par>
                            </p:childTnLst>
                          </p:cTn>
                        </p:par>
                        <p:par>
                          <p:cTn id="120" fill="hold">
                            <p:stCondLst>
                              <p:cond delay="2500"/>
                            </p:stCondLst>
                            <p:childTnLst>
                              <p:par>
                                <p:cTn id="121" presetID="22" presetClass="entr" presetSubtype="8" fill="hold" nodeType="afterEffect">
                                  <p:stCondLst>
                                    <p:cond delay="0"/>
                                  </p:stCondLst>
                                  <p:childTnLst>
                                    <p:set>
                                      <p:cBhvr>
                                        <p:cTn id="122" dur="1" fill="hold">
                                          <p:stCondLst>
                                            <p:cond delay="0"/>
                                          </p:stCondLst>
                                        </p:cTn>
                                        <p:tgtEl>
                                          <p:spTgt spid="503825"/>
                                        </p:tgtEl>
                                        <p:attrNameLst>
                                          <p:attrName>style.visibility</p:attrName>
                                        </p:attrNameLst>
                                      </p:cBhvr>
                                      <p:to>
                                        <p:strVal val="visible"/>
                                      </p:to>
                                    </p:set>
                                    <p:animEffect transition="in" filter="wipe(left)">
                                      <p:cBhvr>
                                        <p:cTn id="123" dur="500"/>
                                        <p:tgtEl>
                                          <p:spTgt spid="503825"/>
                                        </p:tgtEl>
                                      </p:cBhvr>
                                    </p:animEffect>
                                  </p:childTnLst>
                                </p:cTn>
                              </p:par>
                            </p:childTnLst>
                          </p:cTn>
                        </p:par>
                        <p:par>
                          <p:cTn id="124" fill="hold">
                            <p:stCondLst>
                              <p:cond delay="3000"/>
                            </p:stCondLst>
                            <p:childTnLst>
                              <p:par>
                                <p:cTn id="125" presetID="22" presetClass="entr" presetSubtype="8" fill="hold" nodeType="afterEffect">
                                  <p:stCondLst>
                                    <p:cond delay="0"/>
                                  </p:stCondLst>
                                  <p:childTnLst>
                                    <p:set>
                                      <p:cBhvr>
                                        <p:cTn id="126" dur="1" fill="hold">
                                          <p:stCondLst>
                                            <p:cond delay="0"/>
                                          </p:stCondLst>
                                        </p:cTn>
                                        <p:tgtEl>
                                          <p:spTgt spid="503831"/>
                                        </p:tgtEl>
                                        <p:attrNameLst>
                                          <p:attrName>style.visibility</p:attrName>
                                        </p:attrNameLst>
                                      </p:cBhvr>
                                      <p:to>
                                        <p:strVal val="visible"/>
                                      </p:to>
                                    </p:set>
                                    <p:animEffect transition="in" filter="wipe(left)">
                                      <p:cBhvr>
                                        <p:cTn id="127" dur="500"/>
                                        <p:tgtEl>
                                          <p:spTgt spid="503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4" grpId="0" animBg="1" autoUpdateAnimBg="0"/>
      <p:bldP spid="503815" grpId="0" animBg="1" autoUpdateAnimBg="0"/>
      <p:bldP spid="503816" grpId="0" build="p" autoUpdateAnimBg="0"/>
      <p:bldP spid="503819" grpId="0" build="p" autoUpdateAnimBg="0"/>
      <p:bldP spid="503820" grpId="0" build="p" autoUpdateAnimBg="0"/>
      <p:bldP spid="503827" grpId="0" build="p" autoUpdateAnimBg="0"/>
      <p:bldP spid="503828" grpId="0" build="p" autoUpdateAnimBg="0"/>
      <p:bldP spid="503830" grpId="0" build="p" autoUpdateAnimBg="0"/>
      <p:bldP spid="503832"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04834" name="Object 2"/>
          <p:cNvGraphicFramePr>
            <a:graphicFrameLocks noChangeAspect="1"/>
          </p:cNvGraphicFramePr>
          <p:nvPr/>
        </p:nvGraphicFramePr>
        <p:xfrm>
          <a:off x="5105400" y="288925"/>
          <a:ext cx="3962400" cy="4953000"/>
        </p:xfrm>
        <a:graphic>
          <a:graphicData uri="http://schemas.openxmlformats.org/presentationml/2006/ole">
            <mc:AlternateContent xmlns:mc="http://schemas.openxmlformats.org/markup-compatibility/2006">
              <mc:Choice xmlns:v="urn:schemas-microsoft-com:vml" Requires="v">
                <p:oleObj name="BMP 图象" r:id="rId3" imgW="5429250" imgH="5219700" progId="Paint.Picture">
                  <p:embed/>
                </p:oleObj>
              </mc:Choice>
              <mc:Fallback>
                <p:oleObj name="BMP 图象" r:id="rId3" imgW="5429250" imgH="5219700"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288925"/>
                        <a:ext cx="3962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4835" name="Rectangle 3"/>
          <p:cNvSpPr>
            <a:spLocks noGrp="1" noChangeArrowheads="1"/>
          </p:cNvSpPr>
          <p:nvPr>
            <p:ph type="title" idx="4294967295"/>
          </p:nvPr>
        </p:nvSpPr>
        <p:spPr>
          <a:xfrm>
            <a:off x="425450" y="0"/>
            <a:ext cx="4205288" cy="457200"/>
          </a:xfrm>
          <a:ln>
            <a:solidFill>
              <a:srgbClr val="0000FF"/>
            </a:solidFill>
            <a:miter lim="800000"/>
          </a:ln>
        </p:spPr>
        <p:txBody>
          <a:bodyPr/>
          <a:lstStyle/>
          <a:p>
            <a:r>
              <a:rPr lang="en-US" altLang="zh-CN" sz="2400" b="1">
                <a:solidFill>
                  <a:srgbClr val="FF3300"/>
                </a:solidFill>
              </a:rPr>
              <a:t>2</a:t>
            </a:r>
            <a:r>
              <a:rPr lang="zh-CN" altLang="en-US" sz="2400" b="1">
                <a:solidFill>
                  <a:srgbClr val="FF3300"/>
                </a:solidFill>
              </a:rPr>
              <a:t>、</a:t>
            </a:r>
            <a:r>
              <a:rPr lang="en-US" altLang="zh-CN" sz="2400" b="1">
                <a:solidFill>
                  <a:srgbClr val="FF3300"/>
                </a:solidFill>
              </a:rPr>
              <a:t>H(s)</a:t>
            </a:r>
            <a:r>
              <a:rPr lang="zh-CN" altLang="en-US" sz="2400" b="1">
                <a:solidFill>
                  <a:srgbClr val="FF3300"/>
                </a:solidFill>
              </a:rPr>
              <a:t>极点在</a:t>
            </a:r>
            <a:r>
              <a:rPr lang="en-US" altLang="zh-CN" sz="2400" b="1">
                <a:solidFill>
                  <a:srgbClr val="FF3300"/>
                </a:solidFill>
              </a:rPr>
              <a:t>s</a:t>
            </a:r>
            <a:r>
              <a:rPr lang="zh-CN" altLang="en-US" sz="2400" b="1">
                <a:solidFill>
                  <a:srgbClr val="FF3300"/>
                </a:solidFill>
              </a:rPr>
              <a:t>右半平面</a:t>
            </a:r>
          </a:p>
        </p:txBody>
      </p:sp>
      <p:graphicFrame>
        <p:nvGraphicFramePr>
          <p:cNvPr id="504836" name="Object 3"/>
          <p:cNvGraphicFramePr>
            <a:graphicFrameLocks noChangeAspect="1"/>
          </p:cNvGraphicFramePr>
          <p:nvPr/>
        </p:nvGraphicFramePr>
        <p:xfrm>
          <a:off x="2578100" y="765175"/>
          <a:ext cx="893763" cy="457200"/>
        </p:xfrm>
        <a:graphic>
          <a:graphicData uri="http://schemas.openxmlformats.org/presentationml/2006/ole">
            <mc:AlternateContent xmlns:mc="http://schemas.openxmlformats.org/markup-compatibility/2006">
              <mc:Choice xmlns:v="urn:schemas-microsoft-com:vml" Requires="v">
                <p:oleObj name="Equation" r:id="rId5" imgW="457200" imgH="228600" progId="Equation.3">
                  <p:embed/>
                </p:oleObj>
              </mc:Choice>
              <mc:Fallback>
                <p:oleObj name="Equation" r:id="rId5" imgW="45720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8100" y="765175"/>
                        <a:ext cx="89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4837" name="Object 4"/>
          <p:cNvGraphicFramePr>
            <a:graphicFrameLocks noChangeAspect="1"/>
          </p:cNvGraphicFramePr>
          <p:nvPr/>
        </p:nvGraphicFramePr>
        <p:xfrm>
          <a:off x="3586163" y="765175"/>
          <a:ext cx="1466850" cy="533400"/>
        </p:xfrm>
        <a:graphic>
          <a:graphicData uri="http://schemas.openxmlformats.org/presentationml/2006/ole">
            <mc:AlternateContent xmlns:mc="http://schemas.openxmlformats.org/markup-compatibility/2006">
              <mc:Choice xmlns:v="urn:schemas-microsoft-com:vml" Requires="v">
                <p:oleObj name="Equation" r:id="rId7" imgW="359410" imgH="127000" progId="Equation.3">
                  <p:embed/>
                </p:oleObj>
              </mc:Choice>
              <mc:Fallback>
                <p:oleObj name="Equation" r:id="rId7" imgW="359410" imgH="127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6163" y="765175"/>
                        <a:ext cx="14668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4838" name="Object 5"/>
          <p:cNvGraphicFramePr>
            <a:graphicFrameLocks noChangeAspect="1"/>
          </p:cNvGraphicFramePr>
          <p:nvPr/>
        </p:nvGraphicFramePr>
        <p:xfrm>
          <a:off x="6096000" y="1600200"/>
          <a:ext cx="1295400" cy="849313"/>
        </p:xfrm>
        <a:graphic>
          <a:graphicData uri="http://schemas.openxmlformats.org/presentationml/2006/ole">
            <mc:AlternateContent xmlns:mc="http://schemas.openxmlformats.org/markup-compatibility/2006">
              <mc:Choice xmlns:v="urn:schemas-microsoft-com:vml" Requires="v">
                <p:oleObj name="位图图像" r:id="rId9" imgW="1962150" imgH="962025" progId="Paint.Picture">
                  <p:embed/>
                </p:oleObj>
              </mc:Choice>
              <mc:Fallback>
                <p:oleObj name="位图图像" r:id="rId9" imgW="1962150" imgH="962025" progId="Paint.Picture">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0" y="1600200"/>
                        <a:ext cx="1295400" cy="849313"/>
                      </a:xfrm>
                      <a:prstGeom prst="rect">
                        <a:avLst/>
                      </a:prstGeom>
                      <a:noFill/>
                      <a:ln w="9525">
                        <a:solidFill>
                          <a:srgbClr val="33CC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4839" name="Object 6"/>
          <p:cNvGraphicFramePr>
            <a:graphicFrameLocks noChangeAspect="1"/>
          </p:cNvGraphicFramePr>
          <p:nvPr/>
        </p:nvGraphicFramePr>
        <p:xfrm>
          <a:off x="8077200" y="180975"/>
          <a:ext cx="1066800" cy="1524000"/>
        </p:xfrm>
        <a:graphic>
          <a:graphicData uri="http://schemas.openxmlformats.org/presentationml/2006/ole">
            <mc:AlternateContent xmlns:mc="http://schemas.openxmlformats.org/markup-compatibility/2006">
              <mc:Choice xmlns:v="urn:schemas-microsoft-com:vml" Requires="v">
                <p:oleObj name="BMP 图象" r:id="rId11" imgW="1924050" imgH="1447800" progId="Paint.Picture">
                  <p:embed/>
                </p:oleObj>
              </mc:Choice>
              <mc:Fallback>
                <p:oleObj name="BMP 图象" r:id="rId11" imgW="1924050" imgH="1447800" progId="Paint.Picture">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77200" y="180975"/>
                        <a:ext cx="1066800" cy="1524000"/>
                      </a:xfrm>
                      <a:prstGeom prst="rect">
                        <a:avLst/>
                      </a:prstGeom>
                      <a:noFill/>
                      <a:ln w="9525">
                        <a:solidFill>
                          <a:srgbClr val="33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4840" name="Text Box 8"/>
          <p:cNvSpPr txBox="1">
            <a:spLocks noChangeArrowheads="1"/>
          </p:cNvSpPr>
          <p:nvPr/>
        </p:nvSpPr>
        <p:spPr bwMode="auto">
          <a:xfrm>
            <a:off x="384175" y="735013"/>
            <a:ext cx="23844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宋体" panose="02010600030101010101" pitchFamily="2" charset="-122"/>
              </a:rPr>
              <a:t>单实极点  ：</a:t>
            </a:r>
          </a:p>
        </p:txBody>
      </p:sp>
      <p:sp>
        <p:nvSpPr>
          <p:cNvPr id="504841" name="Text Box 9"/>
          <p:cNvSpPr txBox="1">
            <a:spLocks noChangeArrowheads="1"/>
          </p:cNvSpPr>
          <p:nvPr/>
        </p:nvSpPr>
        <p:spPr bwMode="auto">
          <a:xfrm>
            <a:off x="352425" y="1422400"/>
            <a:ext cx="27559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宋体" panose="02010600030101010101" pitchFamily="2" charset="-122"/>
              </a:rPr>
              <a:t>共轭极点  ：</a:t>
            </a:r>
          </a:p>
        </p:txBody>
      </p:sp>
      <p:graphicFrame>
        <p:nvGraphicFramePr>
          <p:cNvPr id="504842" name="Object 7"/>
          <p:cNvGraphicFramePr>
            <a:graphicFrameLocks noChangeAspect="1"/>
          </p:cNvGraphicFramePr>
          <p:nvPr/>
        </p:nvGraphicFramePr>
        <p:xfrm>
          <a:off x="2268538" y="1341438"/>
          <a:ext cx="1981200" cy="609600"/>
        </p:xfrm>
        <a:graphic>
          <a:graphicData uri="http://schemas.openxmlformats.org/presentationml/2006/ole">
            <mc:AlternateContent xmlns:mc="http://schemas.openxmlformats.org/markup-compatibility/2006">
              <mc:Choice xmlns:v="urn:schemas-microsoft-com:vml" Requires="v">
                <p:oleObj name="Equation" r:id="rId13" imgW="951865" imgH="241300" progId="Equation.3">
                  <p:embed/>
                </p:oleObj>
              </mc:Choice>
              <mc:Fallback>
                <p:oleObj name="Equation" r:id="rId13" imgW="951865" imgH="2413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68538" y="1341438"/>
                        <a:ext cx="1981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4843" name="Object 8"/>
          <p:cNvGraphicFramePr>
            <a:graphicFrameLocks noChangeAspect="1"/>
          </p:cNvGraphicFramePr>
          <p:nvPr/>
        </p:nvGraphicFramePr>
        <p:xfrm>
          <a:off x="1258888" y="1989138"/>
          <a:ext cx="3686175" cy="685800"/>
        </p:xfrm>
        <a:graphic>
          <a:graphicData uri="http://schemas.openxmlformats.org/presentationml/2006/ole">
            <mc:AlternateContent xmlns:mc="http://schemas.openxmlformats.org/markup-compatibility/2006">
              <mc:Choice xmlns:v="urn:schemas-microsoft-com:vml" Requires="v">
                <p:oleObj name="Equation" r:id="rId15" imgW="921385" imgH="127000" progId="Equation.3">
                  <p:embed/>
                </p:oleObj>
              </mc:Choice>
              <mc:Fallback>
                <p:oleObj name="Equation" r:id="rId15" imgW="921385" imgH="1270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58888" y="1989138"/>
                        <a:ext cx="36861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4844" name="Text Box 12"/>
          <p:cNvSpPr txBox="1">
            <a:spLocks noChangeArrowheads="1"/>
          </p:cNvSpPr>
          <p:nvPr/>
        </p:nvSpPr>
        <p:spPr bwMode="auto">
          <a:xfrm>
            <a:off x="395288" y="2760663"/>
            <a:ext cx="2505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宋体" panose="02010600030101010101" pitchFamily="2" charset="-122"/>
              </a:rPr>
              <a:t>重实极点  ：</a:t>
            </a:r>
          </a:p>
        </p:txBody>
      </p:sp>
      <p:sp>
        <p:nvSpPr>
          <p:cNvPr id="504845" name="Text Box 13"/>
          <p:cNvSpPr txBox="1">
            <a:spLocks noChangeArrowheads="1"/>
          </p:cNvSpPr>
          <p:nvPr/>
        </p:nvSpPr>
        <p:spPr bwMode="auto">
          <a:xfrm>
            <a:off x="395288" y="3933825"/>
            <a:ext cx="2886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宋体" panose="02010600030101010101" pitchFamily="2" charset="-122"/>
              </a:rPr>
              <a:t>重共轭极点  ：</a:t>
            </a:r>
          </a:p>
        </p:txBody>
      </p:sp>
      <p:graphicFrame>
        <p:nvGraphicFramePr>
          <p:cNvPr id="504846" name="Object 9"/>
          <p:cNvGraphicFramePr>
            <a:graphicFrameLocks noChangeAspect="1"/>
          </p:cNvGraphicFramePr>
          <p:nvPr/>
        </p:nvGraphicFramePr>
        <p:xfrm>
          <a:off x="2484438" y="2781300"/>
          <a:ext cx="1828800" cy="533400"/>
        </p:xfrm>
        <a:graphic>
          <a:graphicData uri="http://schemas.openxmlformats.org/presentationml/2006/ole">
            <mc:AlternateContent xmlns:mc="http://schemas.openxmlformats.org/markup-compatibility/2006">
              <mc:Choice xmlns:v="urn:schemas-microsoft-com:vml" Requires="v">
                <p:oleObj name="Equation" r:id="rId17" imgW="838200" imgH="228600" progId="Equation.3">
                  <p:embed/>
                </p:oleObj>
              </mc:Choice>
              <mc:Fallback>
                <p:oleObj name="Equation" r:id="rId17" imgW="838200" imgH="2286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84438" y="2781300"/>
                        <a:ext cx="1828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4847" name="Object 10"/>
          <p:cNvGraphicFramePr>
            <a:graphicFrameLocks noChangeAspect="1"/>
          </p:cNvGraphicFramePr>
          <p:nvPr/>
        </p:nvGraphicFramePr>
        <p:xfrm>
          <a:off x="2484438" y="4437063"/>
          <a:ext cx="1981200" cy="558800"/>
        </p:xfrm>
        <a:graphic>
          <a:graphicData uri="http://schemas.openxmlformats.org/presentationml/2006/ole">
            <mc:AlternateContent xmlns:mc="http://schemas.openxmlformats.org/markup-compatibility/2006">
              <mc:Choice xmlns:v="urn:schemas-microsoft-com:vml" Requires="v">
                <p:oleObj name="Equation" r:id="rId19" imgW="951865" imgH="241300" progId="Equation.3">
                  <p:embed/>
                </p:oleObj>
              </mc:Choice>
              <mc:Fallback>
                <p:oleObj name="Equation" r:id="rId19" imgW="951865" imgH="24130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84438" y="4437063"/>
                        <a:ext cx="198120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4848" name="Object 11"/>
          <p:cNvGraphicFramePr>
            <a:graphicFrameLocks noChangeAspect="1"/>
          </p:cNvGraphicFramePr>
          <p:nvPr/>
        </p:nvGraphicFramePr>
        <p:xfrm>
          <a:off x="2484438" y="5013325"/>
          <a:ext cx="1981200" cy="609600"/>
        </p:xfrm>
        <a:graphic>
          <a:graphicData uri="http://schemas.openxmlformats.org/presentationml/2006/ole">
            <mc:AlternateContent xmlns:mc="http://schemas.openxmlformats.org/markup-compatibility/2006">
              <mc:Choice xmlns:v="urn:schemas-microsoft-com:vml" Requires="v">
                <p:oleObj name="Equation" r:id="rId21" imgW="939165" imgH="241300" progId="Equation.3">
                  <p:embed/>
                </p:oleObj>
              </mc:Choice>
              <mc:Fallback>
                <p:oleObj name="Equation" r:id="rId21" imgW="939165" imgH="24130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84438" y="5013325"/>
                        <a:ext cx="1981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4849" name="Object 12"/>
          <p:cNvGraphicFramePr>
            <a:graphicFrameLocks noChangeAspect="1"/>
          </p:cNvGraphicFramePr>
          <p:nvPr/>
        </p:nvGraphicFramePr>
        <p:xfrm>
          <a:off x="2268538" y="3357563"/>
          <a:ext cx="3095625" cy="609600"/>
        </p:xfrm>
        <a:graphic>
          <a:graphicData uri="http://schemas.openxmlformats.org/presentationml/2006/ole">
            <mc:AlternateContent xmlns:mc="http://schemas.openxmlformats.org/markup-compatibility/2006">
              <mc:Choice xmlns:v="urn:schemas-microsoft-com:vml" Requires="v">
                <p:oleObj name="Equation" r:id="rId23" imgW="742950" imgH="127000" progId="Equation.3">
                  <p:embed/>
                </p:oleObj>
              </mc:Choice>
              <mc:Fallback>
                <p:oleObj name="Equation" r:id="rId23" imgW="742950" imgH="1270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68538" y="3357563"/>
                        <a:ext cx="309562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4850" name="Object 13"/>
          <p:cNvGraphicFramePr>
            <a:graphicFrameLocks noChangeAspect="1"/>
          </p:cNvGraphicFramePr>
          <p:nvPr/>
        </p:nvGraphicFramePr>
        <p:xfrm>
          <a:off x="1187450" y="5734050"/>
          <a:ext cx="7400925" cy="609600"/>
        </p:xfrm>
        <a:graphic>
          <a:graphicData uri="http://schemas.openxmlformats.org/presentationml/2006/ole">
            <mc:AlternateContent xmlns:mc="http://schemas.openxmlformats.org/markup-compatibility/2006">
              <mc:Choice xmlns:v="urn:schemas-microsoft-com:vml" Requires="v">
                <p:oleObj name="Equation" r:id="rId25" imgW="1983105" imgH="127000" progId="Equation.3">
                  <p:embed/>
                </p:oleObj>
              </mc:Choice>
              <mc:Fallback>
                <p:oleObj name="Equation" r:id="rId25" imgW="1983105" imgH="127000" progId="Equation.3">
                  <p:embed/>
                  <p:pic>
                    <p:nvPicPr>
                      <p:cNvPr id="0"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187450" y="5734050"/>
                        <a:ext cx="740092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4851" name="Text Box 19"/>
          <p:cNvSpPr txBox="1">
            <a:spLocks noChangeArrowheads="1"/>
          </p:cNvSpPr>
          <p:nvPr/>
        </p:nvSpPr>
        <p:spPr bwMode="auto">
          <a:xfrm>
            <a:off x="6781800" y="24384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006600"/>
                </a:solidFill>
                <a:latin typeface="Tahoma" panose="020B0604030504040204" pitchFamily="34" charset="0"/>
                <a:ea typeface="宋体" panose="02010600030101010101" pitchFamily="2" charset="-122"/>
              </a:rPr>
              <a:t>X</a:t>
            </a:r>
          </a:p>
        </p:txBody>
      </p:sp>
      <p:sp>
        <p:nvSpPr>
          <p:cNvPr id="504852" name="Text Box 20"/>
          <p:cNvSpPr txBox="1">
            <a:spLocks noChangeArrowheads="1"/>
          </p:cNvSpPr>
          <p:nvPr/>
        </p:nvSpPr>
        <p:spPr bwMode="auto">
          <a:xfrm>
            <a:off x="8382000" y="1600200"/>
            <a:ext cx="228600"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663300"/>
                </a:solidFill>
                <a:latin typeface="Tahoma" panose="020B0604030504040204" pitchFamily="34" charset="0"/>
                <a:ea typeface="宋体" panose="02010600030101010101" pitchFamily="2" charset="-122"/>
              </a:rPr>
              <a:t>X</a:t>
            </a: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663300"/>
              </a:solidFill>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663300"/>
              </a:solidFill>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663300"/>
                </a:solidFill>
                <a:latin typeface="Tahoma" panose="020B0604030504040204" pitchFamily="34" charset="0"/>
                <a:ea typeface="宋体" panose="02010600030101010101" pitchFamily="2" charset="-122"/>
              </a:rPr>
              <a:t>X</a:t>
            </a:r>
          </a:p>
        </p:txBody>
      </p:sp>
      <p:sp>
        <p:nvSpPr>
          <p:cNvPr id="504853" name="Text Box 21"/>
          <p:cNvSpPr txBox="1">
            <a:spLocks noChangeArrowheads="1"/>
          </p:cNvSpPr>
          <p:nvPr/>
        </p:nvSpPr>
        <p:spPr bwMode="auto">
          <a:xfrm>
            <a:off x="8027988" y="2463800"/>
            <a:ext cx="892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000066"/>
                </a:solidFill>
                <a:latin typeface="Tahoma" panose="020B0604030504040204" pitchFamily="34" charset="0"/>
                <a:ea typeface="宋体" panose="02010600030101010101" pitchFamily="2" charset="-122"/>
              </a:rPr>
              <a:t>X</a:t>
            </a:r>
            <a:r>
              <a:rPr kumimoji="1" lang="en-US" altLang="zh-CN" sz="1400">
                <a:solidFill>
                  <a:srgbClr val="000066"/>
                </a:solidFill>
                <a:latin typeface="Tahoma" panose="020B0604030504040204" pitchFamily="34" charset="0"/>
                <a:ea typeface="宋体" panose="02010600030101010101" pitchFamily="2" charset="-122"/>
              </a:rPr>
              <a:t>(2)</a:t>
            </a:r>
          </a:p>
        </p:txBody>
      </p:sp>
      <p:sp>
        <p:nvSpPr>
          <p:cNvPr id="504854" name="Text Box 22"/>
          <p:cNvSpPr txBox="1">
            <a:spLocks noChangeArrowheads="1"/>
          </p:cNvSpPr>
          <p:nvPr/>
        </p:nvSpPr>
        <p:spPr bwMode="auto">
          <a:xfrm>
            <a:off x="7019925" y="0"/>
            <a:ext cx="762000"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FF0000"/>
                </a:solidFill>
                <a:latin typeface="Tahoma" panose="020B0604030504040204" pitchFamily="34" charset="0"/>
                <a:ea typeface="宋体" panose="02010600030101010101" pitchFamily="2" charset="-122"/>
              </a:rPr>
              <a:t>X</a:t>
            </a:r>
            <a:r>
              <a:rPr kumimoji="1" lang="en-US" altLang="zh-CN" sz="1400">
                <a:solidFill>
                  <a:srgbClr val="FF0000"/>
                </a:solidFill>
                <a:latin typeface="Tahoma" panose="020B0604030504040204" pitchFamily="34" charset="0"/>
                <a:ea typeface="宋体" panose="02010600030101010101" pitchFamily="2" charset="-122"/>
              </a:rPr>
              <a:t>(2)</a:t>
            </a:r>
          </a:p>
          <a:p>
            <a:pPr eaLnBrk="1" hangingPunct="1">
              <a:lnSpc>
                <a:spcPct val="85000"/>
              </a:lnSpc>
              <a:spcBef>
                <a:spcPct val="50000"/>
              </a:spcBef>
              <a:buClr>
                <a:schemeClr val="accent2"/>
              </a:buClr>
              <a:buFont typeface="Wingdings" panose="05000000000000000000" pitchFamily="2" charset="2"/>
              <a:buNone/>
            </a:pPr>
            <a:endParaRPr kumimoji="1" lang="en-US" altLang="zh-CN" sz="1400">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sz="1400">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sz="1400">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sz="1400">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FF0000"/>
                </a:solidFill>
                <a:latin typeface="Tahoma" panose="020B0604030504040204" pitchFamily="34" charset="0"/>
                <a:ea typeface="宋体" panose="02010600030101010101" pitchFamily="2" charset="-122"/>
              </a:rPr>
              <a:t>X</a:t>
            </a:r>
            <a:r>
              <a:rPr kumimoji="1" lang="en-US" altLang="zh-CN" sz="1400">
                <a:solidFill>
                  <a:srgbClr val="FF0000"/>
                </a:solidFill>
                <a:latin typeface="Tahoma" panose="020B0604030504040204" pitchFamily="34" charset="0"/>
                <a:ea typeface="宋体" panose="02010600030101010101" pitchFamily="2" charset="-122"/>
              </a:rPr>
              <a:t>(2)</a:t>
            </a:r>
          </a:p>
        </p:txBody>
      </p:sp>
      <p:graphicFrame>
        <p:nvGraphicFramePr>
          <p:cNvPr id="504855" name="Object 14"/>
          <p:cNvGraphicFramePr>
            <a:graphicFrameLocks noChangeAspect="1"/>
          </p:cNvGraphicFramePr>
          <p:nvPr/>
        </p:nvGraphicFramePr>
        <p:xfrm>
          <a:off x="7273925" y="2820988"/>
          <a:ext cx="1028700" cy="911225"/>
        </p:xfrm>
        <a:graphic>
          <a:graphicData uri="http://schemas.openxmlformats.org/presentationml/2006/ole">
            <mc:AlternateContent xmlns:mc="http://schemas.openxmlformats.org/markup-compatibility/2006">
              <mc:Choice xmlns:v="urn:schemas-microsoft-com:vml" Requires="v">
                <p:oleObj name="BMP 图象" r:id="rId27" imgW="1333500" imgH="1181100" progId="Paint.Picture">
                  <p:embed/>
                </p:oleObj>
              </mc:Choice>
              <mc:Fallback>
                <p:oleObj name="BMP 图象" r:id="rId27" imgW="1333500" imgH="1181100" progId="Paint.Picture">
                  <p:embed/>
                  <p:pic>
                    <p:nvPicPr>
                      <p:cNvPr id="0"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273925" y="2820988"/>
                        <a:ext cx="1028700" cy="9112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4856" name="Object 15"/>
          <p:cNvGraphicFramePr>
            <a:graphicFrameLocks noChangeAspect="1"/>
          </p:cNvGraphicFramePr>
          <p:nvPr/>
        </p:nvGraphicFramePr>
        <p:xfrm>
          <a:off x="6096000" y="3886200"/>
          <a:ext cx="971550" cy="1447800"/>
        </p:xfrm>
        <a:graphic>
          <a:graphicData uri="http://schemas.openxmlformats.org/presentationml/2006/ole">
            <mc:AlternateContent xmlns:mc="http://schemas.openxmlformats.org/markup-compatibility/2006">
              <mc:Choice xmlns:v="urn:schemas-microsoft-com:vml" Requires="v">
                <p:oleObj name="BMP 图象" r:id="rId29" imgW="971550" imgH="1447800" progId="Paint.Picture">
                  <p:embed/>
                </p:oleObj>
              </mc:Choice>
              <mc:Fallback>
                <p:oleObj name="BMP 图象" r:id="rId29" imgW="971550" imgH="1447800" progId="Paint.Picture">
                  <p:embed/>
                  <p:pic>
                    <p:nvPicPr>
                      <p:cNvPr id="0" name="Object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096000" y="3886200"/>
                        <a:ext cx="971550" cy="1447800"/>
                      </a:xfrm>
                      <a:prstGeom prst="rect">
                        <a:avLst/>
                      </a:prstGeom>
                      <a:solidFill>
                        <a:srgbClr val="FFFF00"/>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 name="日期占位符 24"/>
          <p:cNvSpPr>
            <a:spLocks noGrp="1"/>
          </p:cNvSpPr>
          <p:nvPr>
            <p:ph type="dt" sz="quarter" idx="10"/>
          </p:nvPr>
        </p:nvSpPr>
        <p:spPr/>
        <p:txBody>
          <a:bodyPr/>
          <a:lstStyle/>
          <a:p>
            <a:pPr>
              <a:defRPr/>
            </a:pPr>
            <a:fld id="{10CA421E-2186-4F18-9734-6D9201CE70CD}" type="datetime1">
              <a:rPr lang="zh-CN" altLang="en-US"/>
              <a:t>2026/4/28</a:t>
            </a:fld>
            <a:endParaRPr lang="en-US" altLang="zh-CN" dirty="0"/>
          </a:p>
        </p:txBody>
      </p:sp>
      <p:sp>
        <p:nvSpPr>
          <p:cNvPr id="2" name="墨迹 1"/>
          <p:cNvSpPr/>
          <p:nvPr/>
        </p:nvSpPr>
        <p:spPr bwMode="auto">
          <a:xfrm>
            <a:off x="2953800" y="255240"/>
            <a:ext cx="2732040" cy="836640"/>
          </a:xfrm>
        </p:spPr>
      </p:sp>
    </p:spTree>
    <p:custDataLst>
      <p:tags r:id="rId1"/>
    </p:custDataLst>
  </p:cSld>
  <p:clrMapOvr>
    <a:masterClrMapping/>
  </p:clrMapOvr>
  <p:transition spd="med" advTm="53204">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22" presetClass="entr" presetSubtype="8" fill="hold" grpId="0" nodeType="afterEffect">
                                  <p:stCondLst>
                                    <p:cond delay="0"/>
                                  </p:stCondLst>
                                  <p:childTnLst>
                                    <p:set>
                                      <p:cBhvr>
                                        <p:cTn id="10" dur="1" fill="hold">
                                          <p:stCondLst>
                                            <p:cond delay="0"/>
                                          </p:stCondLst>
                                        </p:cTn>
                                        <p:tgtEl>
                                          <p:spTgt spid="504835">
                                            <p:txEl>
                                              <p:pRg st="0" end="0"/>
                                            </p:txEl>
                                          </p:spTgt>
                                        </p:tgtEl>
                                        <p:attrNameLst>
                                          <p:attrName>style.visibility</p:attrName>
                                        </p:attrNameLst>
                                      </p:cBhvr>
                                      <p:to>
                                        <p:strVal val="visible"/>
                                      </p:to>
                                    </p:set>
                                    <p:animEffect transition="in" filter="wipe(left)">
                                      <p:cBhvr>
                                        <p:cTn id="11" dur="500"/>
                                        <p:tgtEl>
                                          <p:spTgt spid="504835">
                                            <p:txEl>
                                              <p:pRg st="0" end="0"/>
                                            </p:txEl>
                                          </p:spTgt>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504834"/>
                                        </p:tgtEl>
                                        <p:attrNameLst>
                                          <p:attrName>style.visibility</p:attrName>
                                        </p:attrNameLst>
                                      </p:cBhvr>
                                      <p:to>
                                        <p:strVal val="visible"/>
                                      </p:to>
                                    </p:set>
                                    <p:animEffect transition="in" filter="wipe(left)">
                                      <p:cBhvr>
                                        <p:cTn id="15" dur="500"/>
                                        <p:tgtEl>
                                          <p:spTgt spid="504834"/>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504840"/>
                                        </p:tgtEl>
                                        <p:attrNameLst>
                                          <p:attrName>style.visibility</p:attrName>
                                        </p:attrNameLst>
                                      </p:cBhvr>
                                      <p:to>
                                        <p:strVal val="visible"/>
                                      </p:to>
                                    </p:set>
                                    <p:animEffect transition="in" filter="wipe(left)">
                                      <p:cBhvr>
                                        <p:cTn id="19" dur="500"/>
                                        <p:tgtEl>
                                          <p:spTgt spid="504840"/>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504836"/>
                                        </p:tgtEl>
                                        <p:attrNameLst>
                                          <p:attrName>style.visibility</p:attrName>
                                        </p:attrNameLst>
                                      </p:cBhvr>
                                      <p:to>
                                        <p:strVal val="visible"/>
                                      </p:to>
                                    </p:set>
                                    <p:animEffect transition="in" filter="wipe(left)">
                                      <p:cBhvr>
                                        <p:cTn id="23" dur="500"/>
                                        <p:tgtEl>
                                          <p:spTgt spid="504836"/>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504851">
                                            <p:txEl>
                                              <p:pRg st="0" end="0"/>
                                            </p:txEl>
                                          </p:spTgt>
                                        </p:tgtEl>
                                        <p:attrNameLst>
                                          <p:attrName>style.visibility</p:attrName>
                                        </p:attrNameLst>
                                      </p:cBhvr>
                                      <p:to>
                                        <p:strVal val="visible"/>
                                      </p:to>
                                    </p:set>
                                    <p:animEffect transition="in" filter="wipe(left)">
                                      <p:cBhvr>
                                        <p:cTn id="27" dur="500"/>
                                        <p:tgtEl>
                                          <p:spTgt spid="50485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04837"/>
                                        </p:tgtEl>
                                        <p:attrNameLst>
                                          <p:attrName>style.visibility</p:attrName>
                                        </p:attrNameLst>
                                      </p:cBhvr>
                                      <p:to>
                                        <p:strVal val="visible"/>
                                      </p:to>
                                    </p:set>
                                    <p:animEffect transition="in" filter="wipe(left)">
                                      <p:cBhvr>
                                        <p:cTn id="32" dur="500"/>
                                        <p:tgtEl>
                                          <p:spTgt spid="504837"/>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504838"/>
                                        </p:tgtEl>
                                        <p:attrNameLst>
                                          <p:attrName>style.visibility</p:attrName>
                                        </p:attrNameLst>
                                      </p:cBhvr>
                                      <p:to>
                                        <p:strVal val="visible"/>
                                      </p:to>
                                    </p:set>
                                    <p:animEffect transition="in" filter="wipe(left)">
                                      <p:cBhvr>
                                        <p:cTn id="36" dur="500"/>
                                        <p:tgtEl>
                                          <p:spTgt spid="504838"/>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504841">
                                            <p:txEl>
                                              <p:pRg st="0" end="0"/>
                                            </p:txEl>
                                          </p:spTgt>
                                        </p:tgtEl>
                                        <p:attrNameLst>
                                          <p:attrName>style.visibility</p:attrName>
                                        </p:attrNameLst>
                                      </p:cBhvr>
                                      <p:to>
                                        <p:strVal val="visible"/>
                                      </p:to>
                                    </p:set>
                                    <p:animEffect transition="in" filter="wipe(left)">
                                      <p:cBhvr>
                                        <p:cTn id="40" dur="500"/>
                                        <p:tgtEl>
                                          <p:spTgt spid="504841">
                                            <p:txEl>
                                              <p:pRg st="0" end="0"/>
                                            </p:txEl>
                                          </p:spTgt>
                                        </p:tgtEl>
                                      </p:cBhvr>
                                    </p:animEffect>
                                  </p:childTnLst>
                                </p:cTn>
                              </p:par>
                            </p:childTnLst>
                          </p:cTn>
                        </p:par>
                        <p:par>
                          <p:cTn id="41" fill="hold">
                            <p:stCondLst>
                              <p:cond delay="1500"/>
                            </p:stCondLst>
                            <p:childTnLst>
                              <p:par>
                                <p:cTn id="42" presetID="22" presetClass="entr" presetSubtype="8" fill="hold" nodeType="afterEffect">
                                  <p:stCondLst>
                                    <p:cond delay="0"/>
                                  </p:stCondLst>
                                  <p:childTnLst>
                                    <p:set>
                                      <p:cBhvr>
                                        <p:cTn id="43" dur="1" fill="hold">
                                          <p:stCondLst>
                                            <p:cond delay="0"/>
                                          </p:stCondLst>
                                        </p:cTn>
                                        <p:tgtEl>
                                          <p:spTgt spid="504842"/>
                                        </p:tgtEl>
                                        <p:attrNameLst>
                                          <p:attrName>style.visibility</p:attrName>
                                        </p:attrNameLst>
                                      </p:cBhvr>
                                      <p:to>
                                        <p:strVal val="visible"/>
                                      </p:to>
                                    </p:set>
                                    <p:animEffect transition="in" filter="wipe(left)">
                                      <p:cBhvr>
                                        <p:cTn id="44" dur="500"/>
                                        <p:tgtEl>
                                          <p:spTgt spid="504842"/>
                                        </p:tgtEl>
                                      </p:cBhvr>
                                    </p:animEffect>
                                  </p:childTnLst>
                                </p:cTn>
                              </p:par>
                            </p:childTnLst>
                          </p:cTn>
                        </p:par>
                        <p:par>
                          <p:cTn id="45" fill="hold">
                            <p:stCondLst>
                              <p:cond delay="2000"/>
                            </p:stCondLst>
                            <p:childTnLst>
                              <p:par>
                                <p:cTn id="46" presetID="22" presetClass="entr" presetSubtype="8" fill="hold" grpId="0" nodeType="afterEffect">
                                  <p:stCondLst>
                                    <p:cond delay="0"/>
                                  </p:stCondLst>
                                  <p:childTnLst>
                                    <p:set>
                                      <p:cBhvr>
                                        <p:cTn id="47" dur="1" fill="hold">
                                          <p:stCondLst>
                                            <p:cond delay="0"/>
                                          </p:stCondLst>
                                        </p:cTn>
                                        <p:tgtEl>
                                          <p:spTgt spid="504852">
                                            <p:txEl>
                                              <p:pRg st="0" end="0"/>
                                            </p:txEl>
                                          </p:spTgt>
                                        </p:tgtEl>
                                        <p:attrNameLst>
                                          <p:attrName>style.visibility</p:attrName>
                                        </p:attrNameLst>
                                      </p:cBhvr>
                                      <p:to>
                                        <p:strVal val="visible"/>
                                      </p:to>
                                    </p:set>
                                    <p:animEffect transition="in" filter="wipe(left)">
                                      <p:cBhvr>
                                        <p:cTn id="48" dur="500"/>
                                        <p:tgtEl>
                                          <p:spTgt spid="504852">
                                            <p:txEl>
                                              <p:pRg st="0" end="0"/>
                                            </p:txEl>
                                          </p:spTgt>
                                        </p:tgtEl>
                                      </p:cBhvr>
                                    </p:animEffect>
                                  </p:childTnLst>
                                </p:cTn>
                              </p:par>
                            </p:childTnLst>
                          </p:cTn>
                        </p:par>
                        <p:par>
                          <p:cTn id="49" fill="hold">
                            <p:stCondLst>
                              <p:cond delay="2500"/>
                            </p:stCondLst>
                            <p:childTnLst>
                              <p:par>
                                <p:cTn id="50" presetID="22" presetClass="entr" presetSubtype="8" fill="hold" grpId="0" nodeType="afterEffect">
                                  <p:stCondLst>
                                    <p:cond delay="0"/>
                                  </p:stCondLst>
                                  <p:childTnLst>
                                    <p:set>
                                      <p:cBhvr>
                                        <p:cTn id="51" dur="1" fill="hold">
                                          <p:stCondLst>
                                            <p:cond delay="0"/>
                                          </p:stCondLst>
                                        </p:cTn>
                                        <p:tgtEl>
                                          <p:spTgt spid="504852">
                                            <p:txEl>
                                              <p:pRg st="3" end="3"/>
                                            </p:txEl>
                                          </p:spTgt>
                                        </p:tgtEl>
                                        <p:attrNameLst>
                                          <p:attrName>style.visibility</p:attrName>
                                        </p:attrNameLst>
                                      </p:cBhvr>
                                      <p:to>
                                        <p:strVal val="visible"/>
                                      </p:to>
                                    </p:set>
                                    <p:animEffect transition="in" filter="wipe(left)">
                                      <p:cBhvr>
                                        <p:cTn id="52" dur="500"/>
                                        <p:tgtEl>
                                          <p:spTgt spid="504852">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04843"/>
                                        </p:tgtEl>
                                        <p:attrNameLst>
                                          <p:attrName>style.visibility</p:attrName>
                                        </p:attrNameLst>
                                      </p:cBhvr>
                                      <p:to>
                                        <p:strVal val="visible"/>
                                      </p:to>
                                    </p:set>
                                    <p:animEffect transition="in" filter="wipe(left)">
                                      <p:cBhvr>
                                        <p:cTn id="57" dur="500"/>
                                        <p:tgtEl>
                                          <p:spTgt spid="504843"/>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504839"/>
                                        </p:tgtEl>
                                        <p:attrNameLst>
                                          <p:attrName>style.visibility</p:attrName>
                                        </p:attrNameLst>
                                      </p:cBhvr>
                                      <p:to>
                                        <p:strVal val="visible"/>
                                      </p:to>
                                    </p:set>
                                    <p:animEffect transition="in" filter="wipe(left)">
                                      <p:cBhvr>
                                        <p:cTn id="61" dur="500"/>
                                        <p:tgtEl>
                                          <p:spTgt spid="504839"/>
                                        </p:tgtEl>
                                      </p:cBhvr>
                                    </p:animEffect>
                                  </p:childTnLst>
                                </p:cTn>
                              </p:par>
                            </p:childTnLst>
                          </p:cTn>
                        </p:par>
                        <p:par>
                          <p:cTn id="62" fill="hold">
                            <p:stCondLst>
                              <p:cond delay="1000"/>
                            </p:stCondLst>
                            <p:childTnLst>
                              <p:par>
                                <p:cTn id="63" presetID="22" presetClass="entr" presetSubtype="8" fill="hold" grpId="0" nodeType="afterEffect">
                                  <p:stCondLst>
                                    <p:cond delay="0"/>
                                  </p:stCondLst>
                                  <p:childTnLst>
                                    <p:set>
                                      <p:cBhvr>
                                        <p:cTn id="64" dur="1" fill="hold">
                                          <p:stCondLst>
                                            <p:cond delay="0"/>
                                          </p:stCondLst>
                                        </p:cTn>
                                        <p:tgtEl>
                                          <p:spTgt spid="504844">
                                            <p:txEl>
                                              <p:pRg st="0" end="0"/>
                                            </p:txEl>
                                          </p:spTgt>
                                        </p:tgtEl>
                                        <p:attrNameLst>
                                          <p:attrName>style.visibility</p:attrName>
                                        </p:attrNameLst>
                                      </p:cBhvr>
                                      <p:to>
                                        <p:strVal val="visible"/>
                                      </p:to>
                                    </p:set>
                                    <p:animEffect transition="in" filter="wipe(left)">
                                      <p:cBhvr>
                                        <p:cTn id="65" dur="500"/>
                                        <p:tgtEl>
                                          <p:spTgt spid="504844">
                                            <p:txEl>
                                              <p:pRg st="0" end="0"/>
                                            </p:txEl>
                                          </p:spTgt>
                                        </p:tgtEl>
                                      </p:cBhvr>
                                    </p:animEffect>
                                  </p:childTnLst>
                                </p:cTn>
                              </p:par>
                            </p:childTnLst>
                          </p:cTn>
                        </p:par>
                        <p:par>
                          <p:cTn id="66" fill="hold">
                            <p:stCondLst>
                              <p:cond delay="1500"/>
                            </p:stCondLst>
                            <p:childTnLst>
                              <p:par>
                                <p:cTn id="67" presetID="22" presetClass="entr" presetSubtype="8" fill="hold" nodeType="afterEffect">
                                  <p:stCondLst>
                                    <p:cond delay="0"/>
                                  </p:stCondLst>
                                  <p:childTnLst>
                                    <p:set>
                                      <p:cBhvr>
                                        <p:cTn id="68" dur="1" fill="hold">
                                          <p:stCondLst>
                                            <p:cond delay="0"/>
                                          </p:stCondLst>
                                        </p:cTn>
                                        <p:tgtEl>
                                          <p:spTgt spid="504846"/>
                                        </p:tgtEl>
                                        <p:attrNameLst>
                                          <p:attrName>style.visibility</p:attrName>
                                        </p:attrNameLst>
                                      </p:cBhvr>
                                      <p:to>
                                        <p:strVal val="visible"/>
                                      </p:to>
                                    </p:set>
                                    <p:animEffect transition="in" filter="wipe(left)">
                                      <p:cBhvr>
                                        <p:cTn id="69" dur="500"/>
                                        <p:tgtEl>
                                          <p:spTgt spid="504846"/>
                                        </p:tgtEl>
                                      </p:cBhvr>
                                    </p:animEffect>
                                  </p:childTnLst>
                                </p:cTn>
                              </p:par>
                            </p:childTnLst>
                          </p:cTn>
                        </p:par>
                        <p:par>
                          <p:cTn id="70" fill="hold">
                            <p:stCondLst>
                              <p:cond delay="2000"/>
                            </p:stCondLst>
                            <p:childTnLst>
                              <p:par>
                                <p:cTn id="71" presetID="22" presetClass="entr" presetSubtype="8" fill="hold" grpId="0" nodeType="afterEffect">
                                  <p:stCondLst>
                                    <p:cond delay="0"/>
                                  </p:stCondLst>
                                  <p:childTnLst>
                                    <p:set>
                                      <p:cBhvr>
                                        <p:cTn id="72" dur="1" fill="hold">
                                          <p:stCondLst>
                                            <p:cond delay="0"/>
                                          </p:stCondLst>
                                        </p:cTn>
                                        <p:tgtEl>
                                          <p:spTgt spid="504853">
                                            <p:txEl>
                                              <p:pRg st="0" end="0"/>
                                            </p:txEl>
                                          </p:spTgt>
                                        </p:tgtEl>
                                        <p:attrNameLst>
                                          <p:attrName>style.visibility</p:attrName>
                                        </p:attrNameLst>
                                      </p:cBhvr>
                                      <p:to>
                                        <p:strVal val="visible"/>
                                      </p:to>
                                    </p:set>
                                    <p:animEffect transition="in" filter="wipe(left)">
                                      <p:cBhvr>
                                        <p:cTn id="73" dur="500"/>
                                        <p:tgtEl>
                                          <p:spTgt spid="504853">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504849"/>
                                        </p:tgtEl>
                                        <p:attrNameLst>
                                          <p:attrName>style.visibility</p:attrName>
                                        </p:attrNameLst>
                                      </p:cBhvr>
                                      <p:to>
                                        <p:strVal val="visible"/>
                                      </p:to>
                                    </p:set>
                                    <p:animEffect transition="in" filter="wipe(left)">
                                      <p:cBhvr>
                                        <p:cTn id="78" dur="500"/>
                                        <p:tgtEl>
                                          <p:spTgt spid="504849"/>
                                        </p:tgtEl>
                                      </p:cBhvr>
                                    </p:animEffect>
                                  </p:childTnLst>
                                </p:cTn>
                              </p:par>
                            </p:childTnLst>
                          </p:cTn>
                        </p:par>
                        <p:par>
                          <p:cTn id="79" fill="hold">
                            <p:stCondLst>
                              <p:cond delay="500"/>
                            </p:stCondLst>
                            <p:childTnLst>
                              <p:par>
                                <p:cTn id="80" presetID="22" presetClass="entr" presetSubtype="8" fill="hold" nodeType="afterEffect">
                                  <p:stCondLst>
                                    <p:cond delay="0"/>
                                  </p:stCondLst>
                                  <p:childTnLst>
                                    <p:set>
                                      <p:cBhvr>
                                        <p:cTn id="81" dur="1" fill="hold">
                                          <p:stCondLst>
                                            <p:cond delay="0"/>
                                          </p:stCondLst>
                                        </p:cTn>
                                        <p:tgtEl>
                                          <p:spTgt spid="504855"/>
                                        </p:tgtEl>
                                        <p:attrNameLst>
                                          <p:attrName>style.visibility</p:attrName>
                                        </p:attrNameLst>
                                      </p:cBhvr>
                                      <p:to>
                                        <p:strVal val="visible"/>
                                      </p:to>
                                    </p:set>
                                    <p:animEffect transition="in" filter="wipe(left)">
                                      <p:cBhvr>
                                        <p:cTn id="82" dur="500"/>
                                        <p:tgtEl>
                                          <p:spTgt spid="50485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504845">
                                            <p:txEl>
                                              <p:pRg st="0" end="0"/>
                                            </p:txEl>
                                          </p:spTgt>
                                        </p:tgtEl>
                                        <p:attrNameLst>
                                          <p:attrName>style.visibility</p:attrName>
                                        </p:attrNameLst>
                                      </p:cBhvr>
                                      <p:to>
                                        <p:strVal val="visible"/>
                                      </p:to>
                                    </p:set>
                                    <p:animEffect transition="in" filter="wipe(left)">
                                      <p:cBhvr>
                                        <p:cTn id="87" dur="500"/>
                                        <p:tgtEl>
                                          <p:spTgt spid="504845">
                                            <p:txEl>
                                              <p:pRg st="0" end="0"/>
                                            </p:txEl>
                                          </p:spTgt>
                                        </p:tgtEl>
                                      </p:cBhvr>
                                    </p:animEffect>
                                  </p:childTnLst>
                                </p:cTn>
                              </p:par>
                            </p:childTnLst>
                          </p:cTn>
                        </p:par>
                        <p:par>
                          <p:cTn id="88" fill="hold">
                            <p:stCondLst>
                              <p:cond delay="500"/>
                            </p:stCondLst>
                            <p:childTnLst>
                              <p:par>
                                <p:cTn id="89" presetID="22" presetClass="entr" presetSubtype="8" fill="hold" nodeType="afterEffect">
                                  <p:stCondLst>
                                    <p:cond delay="0"/>
                                  </p:stCondLst>
                                  <p:childTnLst>
                                    <p:set>
                                      <p:cBhvr>
                                        <p:cTn id="90" dur="1" fill="hold">
                                          <p:stCondLst>
                                            <p:cond delay="0"/>
                                          </p:stCondLst>
                                        </p:cTn>
                                        <p:tgtEl>
                                          <p:spTgt spid="504847"/>
                                        </p:tgtEl>
                                        <p:attrNameLst>
                                          <p:attrName>style.visibility</p:attrName>
                                        </p:attrNameLst>
                                      </p:cBhvr>
                                      <p:to>
                                        <p:strVal val="visible"/>
                                      </p:to>
                                    </p:set>
                                    <p:animEffect transition="in" filter="wipe(left)">
                                      <p:cBhvr>
                                        <p:cTn id="91" dur="500"/>
                                        <p:tgtEl>
                                          <p:spTgt spid="504847"/>
                                        </p:tgtEl>
                                      </p:cBhvr>
                                    </p:animEffect>
                                  </p:childTnLst>
                                </p:cTn>
                              </p:par>
                            </p:childTnLst>
                          </p:cTn>
                        </p:par>
                        <p:par>
                          <p:cTn id="92" fill="hold">
                            <p:stCondLst>
                              <p:cond delay="1000"/>
                            </p:stCondLst>
                            <p:childTnLst>
                              <p:par>
                                <p:cTn id="93" presetID="22" presetClass="entr" presetSubtype="8" fill="hold" nodeType="afterEffect">
                                  <p:stCondLst>
                                    <p:cond delay="0"/>
                                  </p:stCondLst>
                                  <p:childTnLst>
                                    <p:set>
                                      <p:cBhvr>
                                        <p:cTn id="94" dur="1" fill="hold">
                                          <p:stCondLst>
                                            <p:cond delay="0"/>
                                          </p:stCondLst>
                                        </p:cTn>
                                        <p:tgtEl>
                                          <p:spTgt spid="504848"/>
                                        </p:tgtEl>
                                        <p:attrNameLst>
                                          <p:attrName>style.visibility</p:attrName>
                                        </p:attrNameLst>
                                      </p:cBhvr>
                                      <p:to>
                                        <p:strVal val="visible"/>
                                      </p:to>
                                    </p:set>
                                    <p:animEffect transition="in" filter="wipe(left)">
                                      <p:cBhvr>
                                        <p:cTn id="95" dur="500"/>
                                        <p:tgtEl>
                                          <p:spTgt spid="504848"/>
                                        </p:tgtEl>
                                      </p:cBhvr>
                                    </p:animEffect>
                                  </p:childTnLst>
                                </p:cTn>
                              </p:par>
                            </p:childTnLst>
                          </p:cTn>
                        </p:par>
                        <p:par>
                          <p:cTn id="96" fill="hold">
                            <p:stCondLst>
                              <p:cond delay="1500"/>
                            </p:stCondLst>
                            <p:childTnLst>
                              <p:par>
                                <p:cTn id="97" presetID="22" presetClass="entr" presetSubtype="8" fill="hold" grpId="0" nodeType="afterEffect">
                                  <p:stCondLst>
                                    <p:cond delay="0"/>
                                  </p:stCondLst>
                                  <p:childTnLst>
                                    <p:set>
                                      <p:cBhvr>
                                        <p:cTn id="98" dur="1" fill="hold">
                                          <p:stCondLst>
                                            <p:cond delay="0"/>
                                          </p:stCondLst>
                                        </p:cTn>
                                        <p:tgtEl>
                                          <p:spTgt spid="504854">
                                            <p:txEl>
                                              <p:pRg st="0" end="0"/>
                                            </p:txEl>
                                          </p:spTgt>
                                        </p:tgtEl>
                                        <p:attrNameLst>
                                          <p:attrName>style.visibility</p:attrName>
                                        </p:attrNameLst>
                                      </p:cBhvr>
                                      <p:to>
                                        <p:strVal val="visible"/>
                                      </p:to>
                                    </p:set>
                                    <p:animEffect transition="in" filter="wipe(left)">
                                      <p:cBhvr>
                                        <p:cTn id="99" dur="500"/>
                                        <p:tgtEl>
                                          <p:spTgt spid="504854">
                                            <p:txEl>
                                              <p:pRg st="0" end="0"/>
                                            </p:txEl>
                                          </p:spTgt>
                                        </p:tgtEl>
                                      </p:cBhvr>
                                    </p:animEffect>
                                  </p:childTnLst>
                                </p:cTn>
                              </p:par>
                            </p:childTnLst>
                          </p:cTn>
                        </p:par>
                        <p:par>
                          <p:cTn id="100" fill="hold">
                            <p:stCondLst>
                              <p:cond delay="2000"/>
                            </p:stCondLst>
                            <p:childTnLst>
                              <p:par>
                                <p:cTn id="101" presetID="22" presetClass="entr" presetSubtype="8" fill="hold" grpId="0" nodeType="afterEffect">
                                  <p:stCondLst>
                                    <p:cond delay="0"/>
                                  </p:stCondLst>
                                  <p:childTnLst>
                                    <p:set>
                                      <p:cBhvr>
                                        <p:cTn id="102" dur="1" fill="hold">
                                          <p:stCondLst>
                                            <p:cond delay="0"/>
                                          </p:stCondLst>
                                        </p:cTn>
                                        <p:tgtEl>
                                          <p:spTgt spid="504854">
                                            <p:txEl>
                                              <p:pRg st="10" end="10"/>
                                            </p:txEl>
                                          </p:spTgt>
                                        </p:tgtEl>
                                        <p:attrNameLst>
                                          <p:attrName>style.visibility</p:attrName>
                                        </p:attrNameLst>
                                      </p:cBhvr>
                                      <p:to>
                                        <p:strVal val="visible"/>
                                      </p:to>
                                    </p:set>
                                    <p:animEffect transition="in" filter="wipe(left)">
                                      <p:cBhvr>
                                        <p:cTn id="103" dur="500"/>
                                        <p:tgtEl>
                                          <p:spTgt spid="504854">
                                            <p:txEl>
                                              <p:pRg st="10" end="10"/>
                                            </p:txEl>
                                          </p:spTgt>
                                        </p:tgtEl>
                                      </p:cBhvr>
                                    </p:animEffect>
                                  </p:childTnLst>
                                </p:cTn>
                              </p:par>
                            </p:childTnLst>
                          </p:cTn>
                        </p:par>
                        <p:par>
                          <p:cTn id="104" fill="hold">
                            <p:stCondLst>
                              <p:cond delay="2500"/>
                            </p:stCondLst>
                            <p:childTnLst>
                              <p:par>
                                <p:cTn id="105" presetID="22" presetClass="entr" presetSubtype="8" fill="hold" nodeType="afterEffect">
                                  <p:stCondLst>
                                    <p:cond delay="0"/>
                                  </p:stCondLst>
                                  <p:childTnLst>
                                    <p:set>
                                      <p:cBhvr>
                                        <p:cTn id="106" dur="1" fill="hold">
                                          <p:stCondLst>
                                            <p:cond delay="0"/>
                                          </p:stCondLst>
                                        </p:cTn>
                                        <p:tgtEl>
                                          <p:spTgt spid="504850"/>
                                        </p:tgtEl>
                                        <p:attrNameLst>
                                          <p:attrName>style.visibility</p:attrName>
                                        </p:attrNameLst>
                                      </p:cBhvr>
                                      <p:to>
                                        <p:strVal val="visible"/>
                                      </p:to>
                                    </p:set>
                                    <p:animEffect transition="in" filter="wipe(left)">
                                      <p:cBhvr>
                                        <p:cTn id="107" dur="500"/>
                                        <p:tgtEl>
                                          <p:spTgt spid="504850"/>
                                        </p:tgtEl>
                                      </p:cBhvr>
                                    </p:animEffect>
                                  </p:childTnLst>
                                </p:cTn>
                              </p:par>
                            </p:childTnLst>
                          </p:cTn>
                        </p:par>
                        <p:par>
                          <p:cTn id="108" fill="hold">
                            <p:stCondLst>
                              <p:cond delay="3000"/>
                            </p:stCondLst>
                            <p:childTnLst>
                              <p:par>
                                <p:cTn id="109" presetID="22" presetClass="entr" presetSubtype="8" fill="hold" nodeType="afterEffect">
                                  <p:stCondLst>
                                    <p:cond delay="0"/>
                                  </p:stCondLst>
                                  <p:childTnLst>
                                    <p:set>
                                      <p:cBhvr>
                                        <p:cTn id="110" dur="1" fill="hold">
                                          <p:stCondLst>
                                            <p:cond delay="0"/>
                                          </p:stCondLst>
                                        </p:cTn>
                                        <p:tgtEl>
                                          <p:spTgt spid="504856"/>
                                        </p:tgtEl>
                                        <p:attrNameLst>
                                          <p:attrName>style.visibility</p:attrName>
                                        </p:attrNameLst>
                                      </p:cBhvr>
                                      <p:to>
                                        <p:strVal val="visible"/>
                                      </p:to>
                                    </p:set>
                                    <p:animEffect transition="in" filter="wipe(left)">
                                      <p:cBhvr>
                                        <p:cTn id="111" dur="500"/>
                                        <p:tgtEl>
                                          <p:spTgt spid="504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5" grpId="0" build="p" autoUpdateAnimBg="0"/>
      <p:bldP spid="504840" grpId="0"/>
      <p:bldP spid="504841" grpId="0" build="p" autoUpdateAnimBg="0"/>
      <p:bldP spid="504844" grpId="0" build="p" autoUpdateAnimBg="0"/>
      <p:bldP spid="504845" grpId="0" build="p" autoUpdateAnimBg="0"/>
      <p:bldP spid="504851" grpId="0" build="p" autoUpdateAnimBg="0"/>
      <p:bldP spid="504852" grpId="0" build="p" autoUpdateAnimBg="0"/>
      <p:bldP spid="504853" grpId="0" build="p" autoUpdateAnimBg="0"/>
      <p:bldP spid="504854"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05858" name="Object 2"/>
          <p:cNvGraphicFramePr>
            <a:graphicFrameLocks noChangeAspect="1"/>
          </p:cNvGraphicFramePr>
          <p:nvPr/>
        </p:nvGraphicFramePr>
        <p:xfrm>
          <a:off x="4267200" y="76200"/>
          <a:ext cx="4495800" cy="5057775"/>
        </p:xfrm>
        <a:graphic>
          <a:graphicData uri="http://schemas.openxmlformats.org/presentationml/2006/ole">
            <mc:AlternateContent xmlns:mc="http://schemas.openxmlformats.org/markup-compatibility/2006">
              <mc:Choice xmlns:v="urn:schemas-microsoft-com:vml" Requires="v">
                <p:oleObj name="BMP 图象" r:id="rId3" imgW="7000875" imgH="5219700" progId="Paint.Picture">
                  <p:embed/>
                </p:oleObj>
              </mc:Choice>
              <mc:Fallback>
                <p:oleObj name="BMP 图象" r:id="rId3" imgW="7000875" imgH="5219700"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76200"/>
                        <a:ext cx="4495800" cy="505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5859" name="Rectangle 3"/>
          <p:cNvSpPr>
            <a:spLocks noGrp="1" noChangeArrowheads="1"/>
          </p:cNvSpPr>
          <p:nvPr>
            <p:ph type="title" idx="4294967295"/>
          </p:nvPr>
        </p:nvSpPr>
        <p:spPr>
          <a:xfrm>
            <a:off x="587375" y="0"/>
            <a:ext cx="3657600" cy="457200"/>
          </a:xfrm>
        </p:spPr>
        <p:txBody>
          <a:bodyPr/>
          <a:lstStyle/>
          <a:p>
            <a:r>
              <a:rPr lang="en-US" altLang="zh-CN" sz="2400" b="1">
                <a:solidFill>
                  <a:srgbClr val="FF3300"/>
                </a:solidFill>
              </a:rPr>
              <a:t>3</a:t>
            </a:r>
            <a:r>
              <a:rPr lang="zh-CN" altLang="en-US" sz="2400" b="1">
                <a:solidFill>
                  <a:srgbClr val="FF3300"/>
                </a:solidFill>
              </a:rPr>
              <a:t>、</a:t>
            </a:r>
            <a:r>
              <a:rPr lang="en-US" altLang="zh-CN" sz="2400" b="1">
                <a:solidFill>
                  <a:srgbClr val="FF3300"/>
                </a:solidFill>
              </a:rPr>
              <a:t>H(s)</a:t>
            </a:r>
            <a:r>
              <a:rPr lang="zh-CN" altLang="en-US" sz="2400" b="1">
                <a:solidFill>
                  <a:srgbClr val="FF3300"/>
                </a:solidFill>
              </a:rPr>
              <a:t>极点在</a:t>
            </a:r>
            <a:r>
              <a:rPr lang="en-US" altLang="zh-CN" sz="2400" b="1">
                <a:solidFill>
                  <a:srgbClr val="FF3300"/>
                </a:solidFill>
              </a:rPr>
              <a:t>j</a:t>
            </a:r>
            <a:r>
              <a:rPr lang="en-US" altLang="zh-CN" sz="2400" b="1">
                <a:solidFill>
                  <a:srgbClr val="FF3300"/>
                </a:solidFill>
                <a:sym typeface="Symbol" panose="05050102010706020507" pitchFamily="18" charset="2"/>
              </a:rPr>
              <a:t></a:t>
            </a:r>
            <a:r>
              <a:rPr lang="zh-CN" altLang="en-US" sz="2400" b="1">
                <a:solidFill>
                  <a:srgbClr val="FF3300"/>
                </a:solidFill>
                <a:sym typeface="Symbol" panose="05050102010706020507" pitchFamily="18" charset="2"/>
              </a:rPr>
              <a:t>轴</a:t>
            </a:r>
          </a:p>
        </p:txBody>
      </p:sp>
      <p:graphicFrame>
        <p:nvGraphicFramePr>
          <p:cNvPr id="505860" name="Object 3"/>
          <p:cNvGraphicFramePr>
            <a:graphicFrameLocks noChangeAspect="1"/>
          </p:cNvGraphicFramePr>
          <p:nvPr/>
        </p:nvGraphicFramePr>
        <p:xfrm>
          <a:off x="2339975" y="692150"/>
          <a:ext cx="1435100" cy="533400"/>
        </p:xfrm>
        <a:graphic>
          <a:graphicData uri="http://schemas.openxmlformats.org/presentationml/2006/ole">
            <mc:AlternateContent xmlns:mc="http://schemas.openxmlformats.org/markup-compatibility/2006">
              <mc:Choice xmlns:v="urn:schemas-microsoft-com:vml" Requires="v">
                <p:oleObj name="Equation" r:id="rId5" imgW="419100" imgH="228600" progId="Equation.3">
                  <p:embed/>
                </p:oleObj>
              </mc:Choice>
              <mc:Fallback>
                <p:oleObj name="Equation" r:id="rId5" imgW="41910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692150"/>
                        <a:ext cx="14351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5861" name="Object 4"/>
          <p:cNvGraphicFramePr>
            <a:graphicFrameLocks noChangeAspect="1"/>
          </p:cNvGraphicFramePr>
          <p:nvPr/>
        </p:nvGraphicFramePr>
        <p:xfrm>
          <a:off x="3708400" y="692150"/>
          <a:ext cx="1439863" cy="533400"/>
        </p:xfrm>
        <a:graphic>
          <a:graphicData uri="http://schemas.openxmlformats.org/presentationml/2006/ole">
            <mc:AlternateContent xmlns:mc="http://schemas.openxmlformats.org/markup-compatibility/2006">
              <mc:Choice xmlns:v="urn:schemas-microsoft-com:vml" Requires="v">
                <p:oleObj name="公式" r:id="rId7" imgW="366395" imgH="120015" progId="Equation.3">
                  <p:embed/>
                </p:oleObj>
              </mc:Choice>
              <mc:Fallback>
                <p:oleObj name="公式" r:id="rId7" imgW="366395" imgH="120015"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692150"/>
                        <a:ext cx="14398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5862" name="Object 5"/>
          <p:cNvGraphicFramePr>
            <a:graphicFrameLocks noChangeAspect="1"/>
          </p:cNvGraphicFramePr>
          <p:nvPr/>
        </p:nvGraphicFramePr>
        <p:xfrm>
          <a:off x="6400800" y="1447800"/>
          <a:ext cx="1038225" cy="914400"/>
        </p:xfrm>
        <a:graphic>
          <a:graphicData uri="http://schemas.openxmlformats.org/presentationml/2006/ole">
            <mc:AlternateContent xmlns:mc="http://schemas.openxmlformats.org/markup-compatibility/2006">
              <mc:Choice xmlns:v="urn:schemas-microsoft-com:vml" Requires="v">
                <p:oleObj name="BMP 图象" r:id="rId9" imgW="1038225" imgH="914400" progId="Paint.Picture">
                  <p:embed/>
                </p:oleObj>
              </mc:Choice>
              <mc:Fallback>
                <p:oleObj name="BMP 图象" r:id="rId9" imgW="1038225" imgH="914400" progId="Paint.Picture">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00800" y="1447800"/>
                        <a:ext cx="1038225" cy="9144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5863" name="Object 6"/>
          <p:cNvGraphicFramePr>
            <a:graphicFrameLocks noChangeAspect="1"/>
          </p:cNvGraphicFramePr>
          <p:nvPr/>
        </p:nvGraphicFramePr>
        <p:xfrm>
          <a:off x="4800600" y="1200150"/>
          <a:ext cx="1219200" cy="1162050"/>
        </p:xfrm>
        <a:graphic>
          <a:graphicData uri="http://schemas.openxmlformats.org/presentationml/2006/ole">
            <mc:AlternateContent xmlns:mc="http://schemas.openxmlformats.org/markup-compatibility/2006">
              <mc:Choice xmlns:v="urn:schemas-microsoft-com:vml" Requires="v">
                <p:oleObj name="BMP 图象" r:id="rId11" imgW="1571625" imgH="1162050" progId="Paint.Picture">
                  <p:embed/>
                </p:oleObj>
              </mc:Choice>
              <mc:Fallback>
                <p:oleObj name="BMP 图象" r:id="rId11" imgW="1571625" imgH="1162050" progId="Paint.Picture">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00600" y="1200150"/>
                        <a:ext cx="1219200" cy="1162050"/>
                      </a:xfrm>
                      <a:prstGeom prst="rect">
                        <a:avLst/>
                      </a:prstGeom>
                      <a:noFill/>
                      <a:ln w="9525">
                        <a:solidFill>
                          <a:srgbClr val="33CC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5864" name="Object 7"/>
          <p:cNvGraphicFramePr>
            <a:graphicFrameLocks noChangeAspect="1"/>
          </p:cNvGraphicFramePr>
          <p:nvPr/>
        </p:nvGraphicFramePr>
        <p:xfrm>
          <a:off x="6629400" y="3581400"/>
          <a:ext cx="1581150" cy="1152525"/>
        </p:xfrm>
        <a:graphic>
          <a:graphicData uri="http://schemas.openxmlformats.org/presentationml/2006/ole">
            <mc:AlternateContent xmlns:mc="http://schemas.openxmlformats.org/markup-compatibility/2006">
              <mc:Choice xmlns:v="urn:schemas-microsoft-com:vml" Requires="v">
                <p:oleObj name="BMP 图象" r:id="rId13" imgW="2190750" imgH="1152525" progId="Paint.Picture">
                  <p:embed/>
                </p:oleObj>
              </mc:Choice>
              <mc:Fallback>
                <p:oleObj name="BMP 图象" r:id="rId13" imgW="2190750" imgH="1152525" progId="Paint.Picture">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29400" y="3581400"/>
                        <a:ext cx="1581150" cy="1152525"/>
                      </a:xfrm>
                      <a:prstGeom prst="rect">
                        <a:avLst/>
                      </a:prstGeom>
                      <a:noFill/>
                      <a:ln w="9525">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5865" name="Text Box 9"/>
          <p:cNvSpPr txBox="1">
            <a:spLocks noChangeArrowheads="1"/>
          </p:cNvSpPr>
          <p:nvPr/>
        </p:nvSpPr>
        <p:spPr bwMode="auto">
          <a:xfrm>
            <a:off x="369888" y="650875"/>
            <a:ext cx="2947987"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宋体" panose="02010600030101010101" pitchFamily="2" charset="-122"/>
              </a:rPr>
              <a:t>单实极点  ：</a:t>
            </a:r>
          </a:p>
        </p:txBody>
      </p:sp>
      <p:sp>
        <p:nvSpPr>
          <p:cNvPr id="505866" name="Text Box 10"/>
          <p:cNvSpPr txBox="1">
            <a:spLocks noChangeArrowheads="1"/>
          </p:cNvSpPr>
          <p:nvPr/>
        </p:nvSpPr>
        <p:spPr bwMode="auto">
          <a:xfrm>
            <a:off x="434975" y="1341438"/>
            <a:ext cx="2813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宋体" panose="02010600030101010101" pitchFamily="2" charset="-122"/>
              </a:rPr>
              <a:t>共轭极点  ：</a:t>
            </a:r>
          </a:p>
        </p:txBody>
      </p:sp>
      <p:graphicFrame>
        <p:nvGraphicFramePr>
          <p:cNvPr id="505867" name="Object 8"/>
          <p:cNvGraphicFramePr>
            <a:graphicFrameLocks noChangeAspect="1"/>
          </p:cNvGraphicFramePr>
          <p:nvPr/>
        </p:nvGraphicFramePr>
        <p:xfrm>
          <a:off x="2339975" y="1196975"/>
          <a:ext cx="1643063" cy="635000"/>
        </p:xfrm>
        <a:graphic>
          <a:graphicData uri="http://schemas.openxmlformats.org/presentationml/2006/ole">
            <mc:AlternateContent xmlns:mc="http://schemas.openxmlformats.org/markup-compatibility/2006">
              <mc:Choice xmlns:v="urn:schemas-microsoft-com:vml" Requires="v">
                <p:oleObj name="Equation" r:id="rId15" imgW="761365" imgH="241300" progId="Equation.3">
                  <p:embed/>
                </p:oleObj>
              </mc:Choice>
              <mc:Fallback>
                <p:oleObj name="Equation" r:id="rId15" imgW="761365" imgH="2413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39975" y="1196975"/>
                        <a:ext cx="1643063"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5868" name="Object 9"/>
          <p:cNvGraphicFramePr>
            <a:graphicFrameLocks noChangeAspect="1"/>
          </p:cNvGraphicFramePr>
          <p:nvPr/>
        </p:nvGraphicFramePr>
        <p:xfrm>
          <a:off x="1042988" y="1916113"/>
          <a:ext cx="3186112" cy="633412"/>
        </p:xfrm>
        <a:graphic>
          <a:graphicData uri="http://schemas.openxmlformats.org/presentationml/2006/ole">
            <mc:AlternateContent xmlns:mc="http://schemas.openxmlformats.org/markup-compatibility/2006">
              <mc:Choice xmlns:v="urn:schemas-microsoft-com:vml" Requires="v">
                <p:oleObj name="Equation" r:id="rId17" imgW="784225" imgH="120015" progId="Equation.3">
                  <p:embed/>
                </p:oleObj>
              </mc:Choice>
              <mc:Fallback>
                <p:oleObj name="Equation" r:id="rId17" imgW="784225" imgH="120015"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42988" y="1916113"/>
                        <a:ext cx="3186112" cy="63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5869" name="Text Box 13"/>
          <p:cNvSpPr txBox="1">
            <a:spLocks noChangeArrowheads="1"/>
          </p:cNvSpPr>
          <p:nvPr/>
        </p:nvSpPr>
        <p:spPr bwMode="auto">
          <a:xfrm>
            <a:off x="319088" y="2576513"/>
            <a:ext cx="2557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宋体" panose="02010600030101010101" pitchFamily="2" charset="-122"/>
              </a:rPr>
              <a:t>重实极点 ：</a:t>
            </a:r>
          </a:p>
        </p:txBody>
      </p:sp>
      <p:sp>
        <p:nvSpPr>
          <p:cNvPr id="505870" name="Text Box 14"/>
          <p:cNvSpPr txBox="1">
            <a:spLocks noChangeArrowheads="1"/>
          </p:cNvSpPr>
          <p:nvPr/>
        </p:nvSpPr>
        <p:spPr bwMode="auto">
          <a:xfrm>
            <a:off x="331788" y="3944938"/>
            <a:ext cx="3094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宋体" panose="02010600030101010101" pitchFamily="2" charset="-122"/>
              </a:rPr>
              <a:t>重共轭极点  ：</a:t>
            </a:r>
          </a:p>
        </p:txBody>
      </p:sp>
      <p:graphicFrame>
        <p:nvGraphicFramePr>
          <p:cNvPr id="505871" name="Object 10"/>
          <p:cNvGraphicFramePr>
            <a:graphicFrameLocks noChangeAspect="1"/>
          </p:cNvGraphicFramePr>
          <p:nvPr/>
        </p:nvGraphicFramePr>
        <p:xfrm>
          <a:off x="2195513" y="2492375"/>
          <a:ext cx="1662112" cy="609600"/>
        </p:xfrm>
        <a:graphic>
          <a:graphicData uri="http://schemas.openxmlformats.org/presentationml/2006/ole">
            <mc:AlternateContent xmlns:mc="http://schemas.openxmlformats.org/markup-compatibility/2006">
              <mc:Choice xmlns:v="urn:schemas-microsoft-com:vml" Requires="v">
                <p:oleObj name="Equation" r:id="rId19" imgW="787400" imgH="228600" progId="Equation.3">
                  <p:embed/>
                </p:oleObj>
              </mc:Choice>
              <mc:Fallback>
                <p:oleObj name="Equation" r:id="rId19" imgW="787400" imgH="22860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95513" y="2492375"/>
                        <a:ext cx="1662112"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5872" name="Object 11"/>
          <p:cNvGraphicFramePr>
            <a:graphicFrameLocks noChangeAspect="1"/>
          </p:cNvGraphicFramePr>
          <p:nvPr/>
        </p:nvGraphicFramePr>
        <p:xfrm>
          <a:off x="2555875" y="3860800"/>
          <a:ext cx="1600200" cy="609600"/>
        </p:xfrm>
        <a:graphic>
          <a:graphicData uri="http://schemas.openxmlformats.org/presentationml/2006/ole">
            <mc:AlternateContent xmlns:mc="http://schemas.openxmlformats.org/markup-compatibility/2006">
              <mc:Choice xmlns:v="urn:schemas-microsoft-com:vml" Requires="v">
                <p:oleObj name="Equation" r:id="rId21" imgW="673100" imgH="241300" progId="Equation.3">
                  <p:embed/>
                </p:oleObj>
              </mc:Choice>
              <mc:Fallback>
                <p:oleObj name="Equation" r:id="rId21" imgW="673100" imgH="24130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555875" y="3860800"/>
                        <a:ext cx="1600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5873" name="Object 12"/>
          <p:cNvGraphicFramePr>
            <a:graphicFrameLocks noChangeAspect="1"/>
          </p:cNvGraphicFramePr>
          <p:nvPr/>
        </p:nvGraphicFramePr>
        <p:xfrm>
          <a:off x="2484438" y="4508500"/>
          <a:ext cx="1792287" cy="685800"/>
        </p:xfrm>
        <a:graphic>
          <a:graphicData uri="http://schemas.openxmlformats.org/presentationml/2006/ole">
            <mc:AlternateContent xmlns:mc="http://schemas.openxmlformats.org/markup-compatibility/2006">
              <mc:Choice xmlns:v="urn:schemas-microsoft-com:vml" Requires="v">
                <p:oleObj name="Equation" r:id="rId23" imgW="761365" imgH="241300" progId="Equation.3">
                  <p:embed/>
                </p:oleObj>
              </mc:Choice>
              <mc:Fallback>
                <p:oleObj name="Equation" r:id="rId23" imgW="761365" imgH="2413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484438" y="4508500"/>
                        <a:ext cx="1792287"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5874" name="Object 13"/>
          <p:cNvGraphicFramePr>
            <a:graphicFrameLocks noChangeAspect="1"/>
          </p:cNvGraphicFramePr>
          <p:nvPr/>
        </p:nvGraphicFramePr>
        <p:xfrm>
          <a:off x="1116013" y="3284538"/>
          <a:ext cx="3130550" cy="581025"/>
        </p:xfrm>
        <a:graphic>
          <a:graphicData uri="http://schemas.openxmlformats.org/presentationml/2006/ole">
            <mc:AlternateContent xmlns:mc="http://schemas.openxmlformats.org/markup-compatibility/2006">
              <mc:Choice xmlns:v="urn:schemas-microsoft-com:vml" Requires="v">
                <p:oleObj name="公式" r:id="rId25" imgW="784225" imgH="120015" progId="Equation.3">
                  <p:embed/>
                </p:oleObj>
              </mc:Choice>
              <mc:Fallback>
                <p:oleObj name="公式" r:id="rId25" imgW="784225" imgH="120015" progId="Equation.3">
                  <p:embed/>
                  <p:pic>
                    <p:nvPicPr>
                      <p:cNvPr id="0"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116013" y="3284538"/>
                        <a:ext cx="3130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5875" name="Object 14"/>
          <p:cNvGraphicFramePr>
            <a:graphicFrameLocks noChangeAspect="1"/>
          </p:cNvGraphicFramePr>
          <p:nvPr/>
        </p:nvGraphicFramePr>
        <p:xfrm>
          <a:off x="1331913" y="5373688"/>
          <a:ext cx="6400800" cy="657225"/>
        </p:xfrm>
        <a:graphic>
          <a:graphicData uri="http://schemas.openxmlformats.org/presentationml/2006/ole">
            <mc:AlternateContent xmlns:mc="http://schemas.openxmlformats.org/markup-compatibility/2006">
              <mc:Choice xmlns:v="urn:schemas-microsoft-com:vml" Requires="v">
                <p:oleObj name="Equation" r:id="rId27" imgW="1708785" imgH="120015" progId="Equation.3">
                  <p:embed/>
                </p:oleObj>
              </mc:Choice>
              <mc:Fallback>
                <p:oleObj name="Equation" r:id="rId27" imgW="1708785" imgH="120015" progId="Equation.3">
                  <p:embed/>
                  <p:pic>
                    <p:nvPicPr>
                      <p:cNvPr id="0"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331913" y="5373688"/>
                        <a:ext cx="64008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5876" name="Text Box 20"/>
          <p:cNvSpPr txBox="1">
            <a:spLocks noChangeArrowheads="1"/>
          </p:cNvSpPr>
          <p:nvPr/>
        </p:nvSpPr>
        <p:spPr bwMode="auto">
          <a:xfrm>
            <a:off x="6019800" y="685800"/>
            <a:ext cx="990600" cy="392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FFFF00"/>
                </a:solidFill>
                <a:latin typeface="方正舒体" panose="02010601030101010101" pitchFamily="2" charset="-122"/>
                <a:ea typeface="方正舒体" panose="02010601030101010101" pitchFamily="2" charset="-122"/>
              </a:rPr>
              <a:t>X</a:t>
            </a:r>
            <a:r>
              <a:rPr kumimoji="1" lang="en-US" altLang="zh-CN" sz="1400">
                <a:solidFill>
                  <a:srgbClr val="FFFF00"/>
                </a:solidFill>
                <a:latin typeface="方正舒体" panose="02010601030101010101" pitchFamily="2" charset="-122"/>
                <a:ea typeface="方正舒体" panose="02010601030101010101" pitchFamily="2" charset="-122"/>
              </a:rPr>
              <a:t>(2)</a:t>
            </a: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方正舒体" panose="02010601030101010101" pitchFamily="2" charset="-122"/>
              <a:ea typeface="方正舒体" panose="02010601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方正舒体" panose="02010601030101010101" pitchFamily="2" charset="-122"/>
              <a:ea typeface="方正舒体" panose="02010601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方正舒体" panose="02010601030101010101" pitchFamily="2" charset="-122"/>
              <a:ea typeface="方正舒体" panose="02010601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方正舒体" panose="02010601030101010101" pitchFamily="2" charset="-122"/>
              <a:ea typeface="方正舒体" panose="02010601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FFFF00"/>
              </a:solidFill>
              <a:latin typeface="方正舒体" panose="02010601030101010101" pitchFamily="2" charset="-122"/>
              <a:ea typeface="方正舒体" panose="02010601030101010101" pitchFamily="2" charset="-122"/>
            </a:endParaRPr>
          </a:p>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FFFF00"/>
                </a:solidFill>
                <a:latin typeface="方正舒体" panose="02010601030101010101" pitchFamily="2" charset="-122"/>
                <a:ea typeface="方正舒体" panose="02010601030101010101" pitchFamily="2" charset="-122"/>
              </a:rPr>
              <a:t>X</a:t>
            </a:r>
            <a:r>
              <a:rPr kumimoji="1" lang="en-US" altLang="zh-CN" sz="1400">
                <a:solidFill>
                  <a:srgbClr val="FFFF00"/>
                </a:solidFill>
                <a:latin typeface="方正舒体" panose="02010601030101010101" pitchFamily="2" charset="-122"/>
                <a:ea typeface="方正舒体" panose="02010601030101010101" pitchFamily="2" charset="-122"/>
              </a:rPr>
              <a:t>(2)</a:t>
            </a:r>
          </a:p>
        </p:txBody>
      </p:sp>
      <p:sp>
        <p:nvSpPr>
          <p:cNvPr id="505877" name="Text Box 21"/>
          <p:cNvSpPr txBox="1">
            <a:spLocks noChangeArrowheads="1"/>
          </p:cNvSpPr>
          <p:nvPr/>
        </p:nvSpPr>
        <p:spPr bwMode="auto">
          <a:xfrm>
            <a:off x="6019800" y="1447800"/>
            <a:ext cx="457200"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006600"/>
                </a:solidFill>
                <a:latin typeface="方正舒体" panose="02010601030101010101" pitchFamily="2" charset="-122"/>
                <a:ea typeface="方正舒体" panose="02010601030101010101" pitchFamily="2" charset="-122"/>
              </a:rPr>
              <a:t>X</a:t>
            </a: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006600"/>
              </a:solidFill>
              <a:latin typeface="方正舒体" panose="02010601030101010101" pitchFamily="2" charset="-122"/>
              <a:ea typeface="方正舒体" panose="02010601030101010101" pitchFamily="2" charset="-122"/>
            </a:endParaRPr>
          </a:p>
          <a:p>
            <a:pPr eaLnBrk="1" hangingPunct="1">
              <a:lnSpc>
                <a:spcPct val="85000"/>
              </a:lnSpc>
              <a:spcBef>
                <a:spcPct val="50000"/>
              </a:spcBef>
              <a:buClr>
                <a:schemeClr val="accent2"/>
              </a:buClr>
              <a:buFont typeface="Wingdings" panose="05000000000000000000" pitchFamily="2" charset="2"/>
              <a:buNone/>
            </a:pPr>
            <a:endParaRPr kumimoji="1" lang="en-US" altLang="zh-CN">
              <a:solidFill>
                <a:srgbClr val="006600"/>
              </a:solidFill>
              <a:latin typeface="方正舒体" panose="02010601030101010101" pitchFamily="2" charset="-122"/>
              <a:ea typeface="方正舒体" panose="02010601030101010101" pitchFamily="2" charset="-122"/>
            </a:endParaRPr>
          </a:p>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006600"/>
                </a:solidFill>
                <a:latin typeface="方正舒体" panose="02010601030101010101" pitchFamily="2" charset="-122"/>
                <a:ea typeface="方正舒体" panose="02010601030101010101" pitchFamily="2" charset="-122"/>
              </a:rPr>
              <a:t>X</a:t>
            </a:r>
          </a:p>
        </p:txBody>
      </p:sp>
      <p:sp>
        <p:nvSpPr>
          <p:cNvPr id="505878" name="Text Box 22"/>
          <p:cNvSpPr txBox="1">
            <a:spLocks noChangeArrowheads="1"/>
          </p:cNvSpPr>
          <p:nvPr/>
        </p:nvSpPr>
        <p:spPr bwMode="auto">
          <a:xfrm>
            <a:off x="6019800" y="2286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FF0000"/>
                </a:solidFill>
                <a:latin typeface="方正舒体" panose="02010601030101010101" pitchFamily="2" charset="-122"/>
                <a:ea typeface="方正舒体" panose="02010601030101010101" pitchFamily="2" charset="-122"/>
              </a:rPr>
              <a:t>X</a:t>
            </a:r>
          </a:p>
        </p:txBody>
      </p:sp>
      <p:graphicFrame>
        <p:nvGraphicFramePr>
          <p:cNvPr id="505879" name="Object 15"/>
          <p:cNvGraphicFramePr>
            <a:graphicFrameLocks noChangeAspect="1"/>
          </p:cNvGraphicFramePr>
          <p:nvPr/>
        </p:nvGraphicFramePr>
        <p:xfrm>
          <a:off x="4648200" y="3200400"/>
          <a:ext cx="1066800" cy="995363"/>
        </p:xfrm>
        <a:graphic>
          <a:graphicData uri="http://schemas.openxmlformats.org/presentationml/2006/ole">
            <mc:AlternateContent xmlns:mc="http://schemas.openxmlformats.org/markup-compatibility/2006">
              <mc:Choice xmlns:v="urn:schemas-microsoft-com:vml" Requires="v">
                <p:oleObj name="BMP 图象" r:id="rId29" imgW="1828800" imgH="1704975" progId="Paint.Picture">
                  <p:embed/>
                </p:oleObj>
              </mc:Choice>
              <mc:Fallback>
                <p:oleObj name="BMP 图象" r:id="rId29" imgW="1828800" imgH="1704975" progId="Paint.Picture">
                  <p:embed/>
                  <p:pic>
                    <p:nvPicPr>
                      <p:cNvPr id="0" name="Object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648200" y="3200400"/>
                        <a:ext cx="1066800" cy="99536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5880" name="Text Box 24"/>
          <p:cNvSpPr txBox="1">
            <a:spLocks noChangeArrowheads="1"/>
          </p:cNvSpPr>
          <p:nvPr/>
        </p:nvSpPr>
        <p:spPr bwMode="auto">
          <a:xfrm>
            <a:off x="5791200" y="2514600"/>
            <a:ext cx="1066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sz="1400">
                <a:solidFill>
                  <a:srgbClr val="800000"/>
                </a:solidFill>
                <a:latin typeface="Tahoma" panose="020B0604030504040204" pitchFamily="34" charset="0"/>
                <a:ea typeface="宋体" panose="02010600030101010101" pitchFamily="2" charset="-122"/>
              </a:rPr>
              <a:t>(2)</a:t>
            </a:r>
          </a:p>
        </p:txBody>
      </p:sp>
      <p:sp>
        <p:nvSpPr>
          <p:cNvPr id="505881" name="Line 25"/>
          <p:cNvSpPr>
            <a:spLocks noChangeShapeType="1"/>
          </p:cNvSpPr>
          <p:nvPr/>
        </p:nvSpPr>
        <p:spPr bwMode="auto">
          <a:xfrm flipV="1">
            <a:off x="5486400" y="2743200"/>
            <a:ext cx="609600" cy="457200"/>
          </a:xfrm>
          <a:prstGeom prst="line">
            <a:avLst/>
          </a:prstGeom>
          <a:noFill/>
          <a:ln w="28575">
            <a:solidFill>
              <a:srgbClr val="FF0000"/>
            </a:solidFill>
            <a:miter lim="800000"/>
            <a:tailEnd type="stealth" w="med" len="lg"/>
          </a:ln>
          <a:extLst>
            <a:ext uri="{909E8E84-426E-40DD-AFC4-6F175D3DCCD1}">
              <a14:hiddenFill xmlns:a14="http://schemas.microsoft.com/office/drawing/2010/main">
                <a:noFill/>
              </a14:hiddenFill>
            </a:ext>
          </a:extLst>
        </p:spPr>
        <p:txBody>
          <a:bodyPr wrap="none"/>
          <a:lstStyle/>
          <a:p>
            <a:endParaRPr lang="zh-CN" altLang="en-US"/>
          </a:p>
        </p:txBody>
      </p:sp>
      <p:sp>
        <p:nvSpPr>
          <p:cNvPr id="26" name="日期占位符 25"/>
          <p:cNvSpPr>
            <a:spLocks noGrp="1"/>
          </p:cNvSpPr>
          <p:nvPr>
            <p:ph type="dt" sz="quarter" idx="10"/>
          </p:nvPr>
        </p:nvSpPr>
        <p:spPr/>
        <p:txBody>
          <a:bodyPr/>
          <a:lstStyle/>
          <a:p>
            <a:pPr>
              <a:defRPr/>
            </a:pPr>
            <a:fld id="{C1B620DD-71B2-4CEE-97D7-296C87F7AB3B}" type="datetime1">
              <a:rPr lang="zh-CN" altLang="en-US"/>
              <a:t>2026/4/28</a:t>
            </a:fld>
            <a:endParaRPr lang="en-US" altLang="zh-CN" dirty="0"/>
          </a:p>
        </p:txBody>
      </p:sp>
    </p:spTree>
    <p:custDataLst>
      <p:tags r:id="rId1"/>
    </p:custDataLst>
  </p:cSld>
  <p:clrMapOvr>
    <a:masterClrMapping/>
  </p:clrMapOvr>
  <p:transition spd="med" advTm="278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5859">
                                            <p:txEl>
                                              <p:pRg st="0" end="0"/>
                                            </p:txEl>
                                          </p:spTgt>
                                        </p:tgtEl>
                                        <p:attrNameLst>
                                          <p:attrName>style.visibility</p:attrName>
                                        </p:attrNameLst>
                                      </p:cBhvr>
                                      <p:to>
                                        <p:strVal val="visible"/>
                                      </p:to>
                                    </p:set>
                                    <p:animEffect transition="in" filter="wipe(left)">
                                      <p:cBhvr>
                                        <p:cTn id="7" dur="500"/>
                                        <p:tgtEl>
                                          <p:spTgt spid="505859">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05858"/>
                                        </p:tgtEl>
                                        <p:attrNameLst>
                                          <p:attrName>style.visibility</p:attrName>
                                        </p:attrNameLst>
                                      </p:cBhvr>
                                      <p:to>
                                        <p:strVal val="visible"/>
                                      </p:to>
                                    </p:set>
                                    <p:animEffect transition="in" filter="wipe(left)">
                                      <p:cBhvr>
                                        <p:cTn id="11" dur="500"/>
                                        <p:tgtEl>
                                          <p:spTgt spid="50585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05865"/>
                                        </p:tgtEl>
                                        <p:attrNameLst>
                                          <p:attrName>style.visibility</p:attrName>
                                        </p:attrNameLst>
                                      </p:cBhvr>
                                      <p:to>
                                        <p:strVal val="visible"/>
                                      </p:to>
                                    </p:set>
                                    <p:animEffect transition="in" filter="wipe(left)">
                                      <p:cBhvr>
                                        <p:cTn id="15" dur="500"/>
                                        <p:tgtEl>
                                          <p:spTgt spid="50586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05860"/>
                                        </p:tgtEl>
                                        <p:attrNameLst>
                                          <p:attrName>style.visibility</p:attrName>
                                        </p:attrNameLst>
                                      </p:cBhvr>
                                      <p:to>
                                        <p:strVal val="visible"/>
                                      </p:to>
                                    </p:set>
                                    <p:animEffect transition="in" filter="wipe(left)">
                                      <p:cBhvr>
                                        <p:cTn id="19" dur="500"/>
                                        <p:tgtEl>
                                          <p:spTgt spid="505860"/>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05878">
                                            <p:txEl>
                                              <p:pRg st="0" end="0"/>
                                            </p:txEl>
                                          </p:spTgt>
                                        </p:tgtEl>
                                        <p:attrNameLst>
                                          <p:attrName>style.visibility</p:attrName>
                                        </p:attrNameLst>
                                      </p:cBhvr>
                                      <p:to>
                                        <p:strVal val="visible"/>
                                      </p:to>
                                    </p:set>
                                    <p:animEffect transition="in" filter="wipe(left)">
                                      <p:cBhvr>
                                        <p:cTn id="23" dur="500"/>
                                        <p:tgtEl>
                                          <p:spTgt spid="50587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05861"/>
                                        </p:tgtEl>
                                        <p:attrNameLst>
                                          <p:attrName>style.visibility</p:attrName>
                                        </p:attrNameLst>
                                      </p:cBhvr>
                                      <p:to>
                                        <p:strVal val="visible"/>
                                      </p:to>
                                    </p:set>
                                    <p:animEffect transition="in" filter="wipe(left)">
                                      <p:cBhvr>
                                        <p:cTn id="28" dur="500"/>
                                        <p:tgtEl>
                                          <p:spTgt spid="505861"/>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505862"/>
                                        </p:tgtEl>
                                        <p:attrNameLst>
                                          <p:attrName>style.visibility</p:attrName>
                                        </p:attrNameLst>
                                      </p:cBhvr>
                                      <p:to>
                                        <p:strVal val="visible"/>
                                      </p:to>
                                    </p:set>
                                    <p:animEffect transition="in" filter="wipe(left)">
                                      <p:cBhvr>
                                        <p:cTn id="32" dur="500"/>
                                        <p:tgtEl>
                                          <p:spTgt spid="50586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05866">
                                            <p:txEl>
                                              <p:pRg st="0" end="0"/>
                                            </p:txEl>
                                          </p:spTgt>
                                        </p:tgtEl>
                                        <p:attrNameLst>
                                          <p:attrName>style.visibility</p:attrName>
                                        </p:attrNameLst>
                                      </p:cBhvr>
                                      <p:to>
                                        <p:strVal val="visible"/>
                                      </p:to>
                                    </p:set>
                                    <p:animEffect transition="in" filter="wipe(left)">
                                      <p:cBhvr>
                                        <p:cTn id="37" dur="500"/>
                                        <p:tgtEl>
                                          <p:spTgt spid="505866">
                                            <p:txEl>
                                              <p:pRg st="0" end="0"/>
                                            </p:txEl>
                                          </p:spTgt>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505867"/>
                                        </p:tgtEl>
                                        <p:attrNameLst>
                                          <p:attrName>style.visibility</p:attrName>
                                        </p:attrNameLst>
                                      </p:cBhvr>
                                      <p:to>
                                        <p:strVal val="visible"/>
                                      </p:to>
                                    </p:set>
                                    <p:animEffect transition="in" filter="wipe(left)">
                                      <p:cBhvr>
                                        <p:cTn id="41" dur="500"/>
                                        <p:tgtEl>
                                          <p:spTgt spid="505867"/>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505877">
                                            <p:txEl>
                                              <p:pRg st="0" end="0"/>
                                            </p:txEl>
                                          </p:spTgt>
                                        </p:tgtEl>
                                        <p:attrNameLst>
                                          <p:attrName>style.visibility</p:attrName>
                                        </p:attrNameLst>
                                      </p:cBhvr>
                                      <p:to>
                                        <p:strVal val="visible"/>
                                      </p:to>
                                    </p:set>
                                    <p:animEffect transition="in" filter="wipe(left)">
                                      <p:cBhvr>
                                        <p:cTn id="45" dur="500"/>
                                        <p:tgtEl>
                                          <p:spTgt spid="505877">
                                            <p:txEl>
                                              <p:pRg st="0" end="0"/>
                                            </p:txEl>
                                          </p:spTgt>
                                        </p:tgtEl>
                                      </p:cBhvr>
                                    </p:animEffect>
                                  </p:childTnLst>
                                </p:cTn>
                              </p:par>
                            </p:childTnLst>
                          </p:cTn>
                        </p:par>
                        <p:par>
                          <p:cTn id="46" fill="hold">
                            <p:stCondLst>
                              <p:cond delay="1500"/>
                            </p:stCondLst>
                            <p:childTnLst>
                              <p:par>
                                <p:cTn id="47" presetID="22" presetClass="entr" presetSubtype="8" fill="hold" grpId="0" nodeType="afterEffect">
                                  <p:stCondLst>
                                    <p:cond delay="0"/>
                                  </p:stCondLst>
                                  <p:childTnLst>
                                    <p:set>
                                      <p:cBhvr>
                                        <p:cTn id="48" dur="1" fill="hold">
                                          <p:stCondLst>
                                            <p:cond delay="0"/>
                                          </p:stCondLst>
                                        </p:cTn>
                                        <p:tgtEl>
                                          <p:spTgt spid="505877">
                                            <p:txEl>
                                              <p:pRg st="3" end="3"/>
                                            </p:txEl>
                                          </p:spTgt>
                                        </p:tgtEl>
                                        <p:attrNameLst>
                                          <p:attrName>style.visibility</p:attrName>
                                        </p:attrNameLst>
                                      </p:cBhvr>
                                      <p:to>
                                        <p:strVal val="visible"/>
                                      </p:to>
                                    </p:set>
                                    <p:animEffect transition="in" filter="wipe(left)">
                                      <p:cBhvr>
                                        <p:cTn id="49" dur="500"/>
                                        <p:tgtEl>
                                          <p:spTgt spid="505877">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505868"/>
                                        </p:tgtEl>
                                        <p:attrNameLst>
                                          <p:attrName>style.visibility</p:attrName>
                                        </p:attrNameLst>
                                      </p:cBhvr>
                                      <p:to>
                                        <p:strVal val="visible"/>
                                      </p:to>
                                    </p:set>
                                    <p:animEffect transition="in" filter="wipe(left)">
                                      <p:cBhvr>
                                        <p:cTn id="54" dur="500"/>
                                        <p:tgtEl>
                                          <p:spTgt spid="505868"/>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505863"/>
                                        </p:tgtEl>
                                        <p:attrNameLst>
                                          <p:attrName>style.visibility</p:attrName>
                                        </p:attrNameLst>
                                      </p:cBhvr>
                                      <p:to>
                                        <p:strVal val="visible"/>
                                      </p:to>
                                    </p:set>
                                    <p:animEffect transition="in" filter="wipe(left)">
                                      <p:cBhvr>
                                        <p:cTn id="58" dur="500"/>
                                        <p:tgtEl>
                                          <p:spTgt spid="50586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505869">
                                            <p:txEl>
                                              <p:pRg st="0" end="0"/>
                                            </p:txEl>
                                          </p:spTgt>
                                        </p:tgtEl>
                                        <p:attrNameLst>
                                          <p:attrName>style.visibility</p:attrName>
                                        </p:attrNameLst>
                                      </p:cBhvr>
                                      <p:to>
                                        <p:strVal val="visible"/>
                                      </p:to>
                                    </p:set>
                                    <p:animEffect transition="in" filter="wipe(left)">
                                      <p:cBhvr>
                                        <p:cTn id="63" dur="500"/>
                                        <p:tgtEl>
                                          <p:spTgt spid="505869">
                                            <p:txEl>
                                              <p:pRg st="0" end="0"/>
                                            </p:txEl>
                                          </p:spTgt>
                                        </p:tgtEl>
                                      </p:cBhvr>
                                    </p:animEffec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505871"/>
                                        </p:tgtEl>
                                        <p:attrNameLst>
                                          <p:attrName>style.visibility</p:attrName>
                                        </p:attrNameLst>
                                      </p:cBhvr>
                                      <p:to>
                                        <p:strVal val="visible"/>
                                      </p:to>
                                    </p:set>
                                    <p:animEffect transition="in" filter="wipe(left)">
                                      <p:cBhvr>
                                        <p:cTn id="67" dur="500"/>
                                        <p:tgtEl>
                                          <p:spTgt spid="505871"/>
                                        </p:tgtEl>
                                      </p:cBhvr>
                                    </p:animEffect>
                                  </p:childTnLst>
                                </p:cTn>
                              </p:par>
                            </p:childTnLst>
                          </p:cTn>
                        </p:par>
                        <p:par>
                          <p:cTn id="68" fill="hold">
                            <p:stCondLst>
                              <p:cond delay="1000"/>
                            </p:stCondLst>
                            <p:childTnLst>
                              <p:par>
                                <p:cTn id="69" presetID="22" presetClass="entr" presetSubtype="8" fill="hold" grpId="0" nodeType="afterEffect">
                                  <p:stCondLst>
                                    <p:cond delay="0"/>
                                  </p:stCondLst>
                                  <p:childTnLst>
                                    <p:set>
                                      <p:cBhvr>
                                        <p:cTn id="70" dur="1" fill="hold">
                                          <p:stCondLst>
                                            <p:cond delay="0"/>
                                          </p:stCondLst>
                                        </p:cTn>
                                        <p:tgtEl>
                                          <p:spTgt spid="505880">
                                            <p:txEl>
                                              <p:pRg st="0" end="0"/>
                                            </p:txEl>
                                          </p:spTgt>
                                        </p:tgtEl>
                                        <p:attrNameLst>
                                          <p:attrName>style.visibility</p:attrName>
                                        </p:attrNameLst>
                                      </p:cBhvr>
                                      <p:to>
                                        <p:strVal val="visible"/>
                                      </p:to>
                                    </p:set>
                                    <p:animEffect transition="in" filter="wipe(left)">
                                      <p:cBhvr>
                                        <p:cTn id="71" dur="500"/>
                                        <p:tgtEl>
                                          <p:spTgt spid="505880">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505874"/>
                                        </p:tgtEl>
                                        <p:attrNameLst>
                                          <p:attrName>style.visibility</p:attrName>
                                        </p:attrNameLst>
                                      </p:cBhvr>
                                      <p:to>
                                        <p:strVal val="visible"/>
                                      </p:to>
                                    </p:set>
                                    <p:animEffect transition="in" filter="wipe(left)">
                                      <p:cBhvr>
                                        <p:cTn id="76" dur="500"/>
                                        <p:tgtEl>
                                          <p:spTgt spid="505874"/>
                                        </p:tgtEl>
                                      </p:cBhvr>
                                    </p:animEffec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505879"/>
                                        </p:tgtEl>
                                        <p:attrNameLst>
                                          <p:attrName>style.visibility</p:attrName>
                                        </p:attrNameLst>
                                      </p:cBhvr>
                                      <p:to>
                                        <p:strVal val="visible"/>
                                      </p:to>
                                    </p:set>
                                    <p:animEffect transition="in" filter="wipe(left)">
                                      <p:cBhvr>
                                        <p:cTn id="80" dur="500"/>
                                        <p:tgtEl>
                                          <p:spTgt spid="505879"/>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505881"/>
                                        </p:tgtEl>
                                        <p:attrNameLst>
                                          <p:attrName>style.visibility</p:attrName>
                                        </p:attrNameLst>
                                      </p:cBhvr>
                                      <p:to>
                                        <p:strVal val="visible"/>
                                      </p:to>
                                    </p:set>
                                    <p:animEffect transition="in" filter="wipe(left)">
                                      <p:cBhvr>
                                        <p:cTn id="84" dur="500"/>
                                        <p:tgtEl>
                                          <p:spTgt spid="50588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505870">
                                            <p:txEl>
                                              <p:pRg st="0" end="0"/>
                                            </p:txEl>
                                          </p:spTgt>
                                        </p:tgtEl>
                                        <p:attrNameLst>
                                          <p:attrName>style.visibility</p:attrName>
                                        </p:attrNameLst>
                                      </p:cBhvr>
                                      <p:to>
                                        <p:strVal val="visible"/>
                                      </p:to>
                                    </p:set>
                                    <p:animEffect transition="in" filter="wipe(left)">
                                      <p:cBhvr>
                                        <p:cTn id="89" dur="500"/>
                                        <p:tgtEl>
                                          <p:spTgt spid="505870">
                                            <p:txEl>
                                              <p:pRg st="0" end="0"/>
                                            </p:txEl>
                                          </p:spTgt>
                                        </p:tgtEl>
                                      </p:cBhvr>
                                    </p:animEffect>
                                  </p:childTnLst>
                                </p:cTn>
                              </p:par>
                            </p:childTnLst>
                          </p:cTn>
                        </p:par>
                        <p:par>
                          <p:cTn id="90" fill="hold">
                            <p:stCondLst>
                              <p:cond delay="500"/>
                            </p:stCondLst>
                            <p:childTnLst>
                              <p:par>
                                <p:cTn id="91" presetID="22" presetClass="entr" presetSubtype="8" fill="hold" nodeType="afterEffect">
                                  <p:stCondLst>
                                    <p:cond delay="0"/>
                                  </p:stCondLst>
                                  <p:childTnLst>
                                    <p:set>
                                      <p:cBhvr>
                                        <p:cTn id="92" dur="1" fill="hold">
                                          <p:stCondLst>
                                            <p:cond delay="0"/>
                                          </p:stCondLst>
                                        </p:cTn>
                                        <p:tgtEl>
                                          <p:spTgt spid="505872"/>
                                        </p:tgtEl>
                                        <p:attrNameLst>
                                          <p:attrName>style.visibility</p:attrName>
                                        </p:attrNameLst>
                                      </p:cBhvr>
                                      <p:to>
                                        <p:strVal val="visible"/>
                                      </p:to>
                                    </p:set>
                                    <p:animEffect transition="in" filter="wipe(left)">
                                      <p:cBhvr>
                                        <p:cTn id="93" dur="500"/>
                                        <p:tgtEl>
                                          <p:spTgt spid="505872"/>
                                        </p:tgtEl>
                                      </p:cBhvr>
                                    </p:animEffect>
                                  </p:childTnLst>
                                </p:cTn>
                              </p:par>
                            </p:childTnLst>
                          </p:cTn>
                        </p:par>
                        <p:par>
                          <p:cTn id="94" fill="hold">
                            <p:stCondLst>
                              <p:cond delay="1000"/>
                            </p:stCondLst>
                            <p:childTnLst>
                              <p:par>
                                <p:cTn id="95" presetID="22" presetClass="entr" presetSubtype="8" fill="hold" nodeType="afterEffect">
                                  <p:stCondLst>
                                    <p:cond delay="0"/>
                                  </p:stCondLst>
                                  <p:childTnLst>
                                    <p:set>
                                      <p:cBhvr>
                                        <p:cTn id="96" dur="1" fill="hold">
                                          <p:stCondLst>
                                            <p:cond delay="0"/>
                                          </p:stCondLst>
                                        </p:cTn>
                                        <p:tgtEl>
                                          <p:spTgt spid="505873"/>
                                        </p:tgtEl>
                                        <p:attrNameLst>
                                          <p:attrName>style.visibility</p:attrName>
                                        </p:attrNameLst>
                                      </p:cBhvr>
                                      <p:to>
                                        <p:strVal val="visible"/>
                                      </p:to>
                                    </p:set>
                                    <p:animEffect transition="in" filter="wipe(left)">
                                      <p:cBhvr>
                                        <p:cTn id="97" dur="500"/>
                                        <p:tgtEl>
                                          <p:spTgt spid="505873"/>
                                        </p:tgtEl>
                                      </p:cBhvr>
                                    </p:animEffect>
                                  </p:childTnLst>
                                </p:cTn>
                              </p:par>
                            </p:childTnLst>
                          </p:cTn>
                        </p:par>
                        <p:par>
                          <p:cTn id="98" fill="hold">
                            <p:stCondLst>
                              <p:cond delay="1500"/>
                            </p:stCondLst>
                            <p:childTnLst>
                              <p:par>
                                <p:cTn id="99" presetID="22" presetClass="entr" presetSubtype="8" fill="hold" grpId="0" nodeType="afterEffect">
                                  <p:stCondLst>
                                    <p:cond delay="0"/>
                                  </p:stCondLst>
                                  <p:childTnLst>
                                    <p:set>
                                      <p:cBhvr>
                                        <p:cTn id="100" dur="1" fill="hold">
                                          <p:stCondLst>
                                            <p:cond delay="0"/>
                                          </p:stCondLst>
                                        </p:cTn>
                                        <p:tgtEl>
                                          <p:spTgt spid="505876">
                                            <p:txEl>
                                              <p:pRg st="0" end="0"/>
                                            </p:txEl>
                                          </p:spTgt>
                                        </p:tgtEl>
                                        <p:attrNameLst>
                                          <p:attrName>style.visibility</p:attrName>
                                        </p:attrNameLst>
                                      </p:cBhvr>
                                      <p:to>
                                        <p:strVal val="visible"/>
                                      </p:to>
                                    </p:set>
                                    <p:animEffect transition="in" filter="wipe(left)">
                                      <p:cBhvr>
                                        <p:cTn id="101" dur="500"/>
                                        <p:tgtEl>
                                          <p:spTgt spid="505876">
                                            <p:txEl>
                                              <p:pRg st="0" end="0"/>
                                            </p:txEl>
                                          </p:spTgt>
                                        </p:tgtEl>
                                      </p:cBhvr>
                                    </p:animEffect>
                                  </p:childTnLst>
                                </p:cTn>
                              </p:par>
                            </p:childTnLst>
                          </p:cTn>
                        </p:par>
                        <p:par>
                          <p:cTn id="102" fill="hold">
                            <p:stCondLst>
                              <p:cond delay="2000"/>
                            </p:stCondLst>
                            <p:childTnLst>
                              <p:par>
                                <p:cTn id="103" presetID="22" presetClass="entr" presetSubtype="8" fill="hold" grpId="0" nodeType="afterEffect">
                                  <p:stCondLst>
                                    <p:cond delay="0"/>
                                  </p:stCondLst>
                                  <p:childTnLst>
                                    <p:set>
                                      <p:cBhvr>
                                        <p:cTn id="104" dur="1" fill="hold">
                                          <p:stCondLst>
                                            <p:cond delay="0"/>
                                          </p:stCondLst>
                                        </p:cTn>
                                        <p:tgtEl>
                                          <p:spTgt spid="505876">
                                            <p:txEl>
                                              <p:pRg st="6" end="6"/>
                                            </p:txEl>
                                          </p:spTgt>
                                        </p:tgtEl>
                                        <p:attrNameLst>
                                          <p:attrName>style.visibility</p:attrName>
                                        </p:attrNameLst>
                                      </p:cBhvr>
                                      <p:to>
                                        <p:strVal val="visible"/>
                                      </p:to>
                                    </p:set>
                                    <p:animEffect transition="in" filter="wipe(left)">
                                      <p:cBhvr>
                                        <p:cTn id="105" dur="500"/>
                                        <p:tgtEl>
                                          <p:spTgt spid="505876">
                                            <p:txEl>
                                              <p:pRg st="6" end="6"/>
                                            </p:txEl>
                                          </p:spTgt>
                                        </p:tgtEl>
                                      </p:cBhvr>
                                    </p:animEffect>
                                  </p:childTnLst>
                                </p:cTn>
                              </p:par>
                            </p:childTnLst>
                          </p:cTn>
                        </p:par>
                        <p:par>
                          <p:cTn id="106" fill="hold">
                            <p:stCondLst>
                              <p:cond delay="2500"/>
                            </p:stCondLst>
                            <p:childTnLst>
                              <p:par>
                                <p:cTn id="107" presetID="22" presetClass="entr" presetSubtype="8" fill="hold" nodeType="afterEffect">
                                  <p:stCondLst>
                                    <p:cond delay="0"/>
                                  </p:stCondLst>
                                  <p:childTnLst>
                                    <p:set>
                                      <p:cBhvr>
                                        <p:cTn id="108" dur="1" fill="hold">
                                          <p:stCondLst>
                                            <p:cond delay="0"/>
                                          </p:stCondLst>
                                        </p:cTn>
                                        <p:tgtEl>
                                          <p:spTgt spid="505875"/>
                                        </p:tgtEl>
                                        <p:attrNameLst>
                                          <p:attrName>style.visibility</p:attrName>
                                        </p:attrNameLst>
                                      </p:cBhvr>
                                      <p:to>
                                        <p:strVal val="visible"/>
                                      </p:to>
                                    </p:set>
                                    <p:animEffect transition="in" filter="wipe(left)">
                                      <p:cBhvr>
                                        <p:cTn id="109" dur="500"/>
                                        <p:tgtEl>
                                          <p:spTgt spid="505875"/>
                                        </p:tgtEl>
                                      </p:cBhvr>
                                    </p:animEffect>
                                  </p:childTnLst>
                                </p:cTn>
                              </p:par>
                            </p:childTnLst>
                          </p:cTn>
                        </p:par>
                        <p:par>
                          <p:cTn id="110" fill="hold">
                            <p:stCondLst>
                              <p:cond delay="3000"/>
                            </p:stCondLst>
                            <p:childTnLst>
                              <p:par>
                                <p:cTn id="111" presetID="22" presetClass="entr" presetSubtype="8" fill="hold" nodeType="afterEffect">
                                  <p:stCondLst>
                                    <p:cond delay="0"/>
                                  </p:stCondLst>
                                  <p:childTnLst>
                                    <p:set>
                                      <p:cBhvr>
                                        <p:cTn id="112" dur="1" fill="hold">
                                          <p:stCondLst>
                                            <p:cond delay="0"/>
                                          </p:stCondLst>
                                        </p:cTn>
                                        <p:tgtEl>
                                          <p:spTgt spid="505864"/>
                                        </p:tgtEl>
                                        <p:attrNameLst>
                                          <p:attrName>style.visibility</p:attrName>
                                        </p:attrNameLst>
                                      </p:cBhvr>
                                      <p:to>
                                        <p:strVal val="visible"/>
                                      </p:to>
                                    </p:set>
                                    <p:animEffect transition="in" filter="wipe(left)">
                                      <p:cBhvr>
                                        <p:cTn id="113" dur="500"/>
                                        <p:tgtEl>
                                          <p:spTgt spid="5058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859" grpId="0" build="p" autoUpdateAnimBg="0"/>
      <p:bldP spid="505865" grpId="0"/>
      <p:bldP spid="505866" grpId="0" build="p" autoUpdateAnimBg="0"/>
      <p:bldP spid="505869" grpId="0" build="p" autoUpdateAnimBg="0"/>
      <p:bldP spid="505870" grpId="0" build="p" autoUpdateAnimBg="0"/>
      <p:bldP spid="505876" grpId="0" build="p" autoUpdateAnimBg="0"/>
      <p:bldP spid="505877" grpId="0" build="p" autoUpdateAnimBg="0"/>
      <p:bldP spid="505878" grpId="0" build="p" autoUpdateAnimBg="0"/>
      <p:bldP spid="505880"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6883" name="Text Box 3"/>
          <p:cNvSpPr txBox="1">
            <a:spLocks noChangeArrowheads="1"/>
          </p:cNvSpPr>
          <p:nvPr/>
        </p:nvSpPr>
        <p:spPr bwMode="auto">
          <a:xfrm>
            <a:off x="539750" y="260350"/>
            <a:ext cx="7993063" cy="455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a:solidFill>
                  <a:srgbClr val="800000"/>
                </a:solidFill>
                <a:latin typeface="Tahoma" panose="020B0604030504040204" pitchFamily="34" charset="0"/>
                <a:ea typeface="宋体" panose="02010600030101010101" pitchFamily="2" charset="-122"/>
              </a:rPr>
              <a:t>1) h(t)</a:t>
            </a:r>
            <a:r>
              <a:rPr kumimoji="1" lang="zh-CN" altLang="en-US">
                <a:solidFill>
                  <a:srgbClr val="800000"/>
                </a:solidFill>
                <a:latin typeface="Tahoma" panose="020B0604030504040204" pitchFamily="34" charset="0"/>
                <a:ea typeface="宋体" panose="02010600030101010101" pitchFamily="2" charset="-122"/>
              </a:rPr>
              <a:t>随时间变化的规律取决于</a:t>
            </a:r>
            <a:r>
              <a:rPr kumimoji="1" lang="en-US" altLang="zh-CN">
                <a:solidFill>
                  <a:srgbClr val="800000"/>
                </a:solidFill>
                <a:latin typeface="Tahoma" panose="020B0604030504040204" pitchFamily="34" charset="0"/>
                <a:ea typeface="宋体" panose="02010600030101010101" pitchFamily="2" charset="-122"/>
              </a:rPr>
              <a:t>H(s)</a:t>
            </a:r>
            <a:r>
              <a:rPr kumimoji="1" lang="zh-CN" altLang="en-US">
                <a:solidFill>
                  <a:srgbClr val="800000"/>
                </a:solidFill>
                <a:latin typeface="Tahoma" panose="020B0604030504040204" pitchFamily="34" charset="0"/>
                <a:ea typeface="宋体" panose="02010600030101010101" pitchFamily="2" charset="-122"/>
              </a:rPr>
              <a:t>的极点 分布</a:t>
            </a:r>
            <a:endParaRPr kumimoji="1" lang="zh-CN" altLang="en-US">
              <a:latin typeface="Tahoma" panose="020B0604030504040204" pitchFamily="34" charset="0"/>
              <a:ea typeface="宋体" panose="02010600030101010101" pitchFamily="2" charset="-122"/>
            </a:endParaRPr>
          </a:p>
        </p:txBody>
      </p:sp>
      <p:sp>
        <p:nvSpPr>
          <p:cNvPr id="506884" name="Text Box 4"/>
          <p:cNvSpPr txBox="1">
            <a:spLocks noChangeArrowheads="1"/>
          </p:cNvSpPr>
          <p:nvPr/>
        </p:nvSpPr>
        <p:spPr bwMode="auto">
          <a:xfrm>
            <a:off x="827088" y="4224338"/>
            <a:ext cx="77168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en-US" altLang="zh-CN">
                <a:solidFill>
                  <a:srgbClr val="FF0000"/>
                </a:solidFill>
                <a:latin typeface="Tahoma" panose="020B0604030504040204" pitchFamily="34" charset="0"/>
                <a:ea typeface="宋体" panose="02010600030101010101" pitchFamily="2" charset="-122"/>
              </a:rPr>
              <a:t>1</a:t>
            </a:r>
            <a:r>
              <a:rPr kumimoji="1" lang="zh-CN" altLang="en-US">
                <a:solidFill>
                  <a:srgbClr val="FF0000"/>
                </a:solidFill>
                <a:latin typeface="Tahoma" panose="020B0604030504040204" pitchFamily="34" charset="0"/>
                <a:ea typeface="宋体" panose="02010600030101010101" pitchFamily="2" charset="-122"/>
              </a:rPr>
              <a:t>、</a:t>
            </a:r>
            <a:r>
              <a:rPr kumimoji="1" lang="en-US" altLang="zh-CN">
                <a:solidFill>
                  <a:srgbClr val="FF0000"/>
                </a:solidFill>
                <a:latin typeface="Tahoma" panose="020B0604030504040204" pitchFamily="34" charset="0"/>
                <a:ea typeface="宋体" panose="02010600030101010101" pitchFamily="2" charset="-122"/>
              </a:rPr>
              <a:t>H(s)</a:t>
            </a:r>
            <a:r>
              <a:rPr kumimoji="1" lang="zh-CN" altLang="en-US">
                <a:solidFill>
                  <a:srgbClr val="FF0000"/>
                </a:solidFill>
                <a:latin typeface="Tahoma" panose="020B0604030504040204" pitchFamily="34" charset="0"/>
                <a:ea typeface="宋体" panose="02010600030101010101" pitchFamily="2" charset="-122"/>
              </a:rPr>
              <a:t>极点 全部位于 </a:t>
            </a:r>
            <a:r>
              <a:rPr kumimoji="1" lang="en-US" altLang="zh-CN">
                <a:solidFill>
                  <a:srgbClr val="FF0000"/>
                </a:solidFill>
                <a:latin typeface="Tahoma" panose="020B0604030504040204" pitchFamily="34" charset="0"/>
                <a:ea typeface="宋体" panose="02010600030101010101" pitchFamily="2" charset="-122"/>
              </a:rPr>
              <a:t>s</a:t>
            </a:r>
            <a:r>
              <a:rPr kumimoji="1" lang="zh-CN" altLang="en-US">
                <a:solidFill>
                  <a:srgbClr val="FF0000"/>
                </a:solidFill>
                <a:latin typeface="Tahoma" panose="020B0604030504040204" pitchFamily="34" charset="0"/>
                <a:ea typeface="宋体" panose="02010600030101010101" pitchFamily="2" charset="-122"/>
              </a:rPr>
              <a:t>左半平面，系统稳定；</a:t>
            </a:r>
          </a:p>
        </p:txBody>
      </p:sp>
      <p:sp>
        <p:nvSpPr>
          <p:cNvPr id="506885" name="Text Box 5"/>
          <p:cNvSpPr txBox="1">
            <a:spLocks noChangeArrowheads="1"/>
          </p:cNvSpPr>
          <p:nvPr/>
        </p:nvSpPr>
        <p:spPr bwMode="auto">
          <a:xfrm>
            <a:off x="539750" y="836613"/>
            <a:ext cx="8001000" cy="4556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a:solidFill>
                  <a:srgbClr val="800000"/>
                </a:solidFill>
                <a:latin typeface="Tahoma" panose="020B0604030504040204" pitchFamily="34" charset="0"/>
                <a:ea typeface="宋体" panose="02010600030101010101" pitchFamily="2" charset="-122"/>
              </a:rPr>
              <a:t>       </a:t>
            </a:r>
            <a:r>
              <a:rPr kumimoji="1" lang="zh-CN" altLang="en-US">
                <a:solidFill>
                  <a:srgbClr val="003300"/>
                </a:solidFill>
                <a:latin typeface="Tahoma" panose="020B0604030504040204" pitchFamily="34" charset="0"/>
                <a:ea typeface="宋体" panose="02010600030101010101" pitchFamily="2" charset="-122"/>
              </a:rPr>
              <a:t>位于左半平面极点 对应：  </a:t>
            </a:r>
            <a:r>
              <a:rPr kumimoji="1" lang="zh-CN" altLang="en-US">
                <a:solidFill>
                  <a:srgbClr val="0000FF"/>
                </a:solidFill>
                <a:latin typeface="Tahoma" panose="020B0604030504040204" pitchFamily="34" charset="0"/>
                <a:ea typeface="宋体" panose="02010600030101010101" pitchFamily="2" charset="-122"/>
              </a:rPr>
              <a:t>暂态分量</a:t>
            </a:r>
          </a:p>
        </p:txBody>
      </p:sp>
      <p:sp>
        <p:nvSpPr>
          <p:cNvPr id="506886" name="Text Box 6"/>
          <p:cNvSpPr txBox="1">
            <a:spLocks noChangeArrowheads="1"/>
          </p:cNvSpPr>
          <p:nvPr/>
        </p:nvSpPr>
        <p:spPr bwMode="auto">
          <a:xfrm>
            <a:off x="539750" y="1412875"/>
            <a:ext cx="7086600" cy="455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a:solidFill>
                  <a:srgbClr val="003300"/>
                </a:solidFill>
                <a:latin typeface="Tahoma" panose="020B0604030504040204" pitchFamily="34" charset="0"/>
                <a:ea typeface="宋体" panose="02010600030101010101" pitchFamily="2" charset="-122"/>
              </a:rPr>
              <a:t>       </a:t>
            </a:r>
            <a:r>
              <a:rPr kumimoji="1" lang="zh-CN" altLang="en-US">
                <a:solidFill>
                  <a:srgbClr val="003300"/>
                </a:solidFill>
                <a:latin typeface="Tahoma" panose="020B0604030504040204" pitchFamily="34" charset="0"/>
                <a:ea typeface="宋体" panose="02010600030101010101" pitchFamily="2" charset="-122"/>
              </a:rPr>
              <a:t>位于右半平面极点 对应：  </a:t>
            </a:r>
            <a:r>
              <a:rPr kumimoji="1" lang="zh-CN" altLang="en-US">
                <a:solidFill>
                  <a:srgbClr val="0000FF"/>
                </a:solidFill>
                <a:latin typeface="Tahoma" panose="020B0604030504040204" pitchFamily="34" charset="0"/>
                <a:ea typeface="宋体" panose="02010600030101010101" pitchFamily="2" charset="-122"/>
              </a:rPr>
              <a:t>不稳定分量</a:t>
            </a:r>
          </a:p>
        </p:txBody>
      </p:sp>
      <p:sp>
        <p:nvSpPr>
          <p:cNvPr id="506887" name="Text Box 7"/>
          <p:cNvSpPr txBox="1">
            <a:spLocks noChangeArrowheads="1"/>
          </p:cNvSpPr>
          <p:nvPr/>
        </p:nvSpPr>
        <p:spPr bwMode="auto">
          <a:xfrm>
            <a:off x="539750" y="1844675"/>
            <a:ext cx="7620000" cy="455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a:solidFill>
                  <a:srgbClr val="003300"/>
                </a:solidFill>
                <a:latin typeface="Tahoma" panose="020B0604030504040204" pitchFamily="34" charset="0"/>
                <a:ea typeface="宋体" panose="02010600030101010101" pitchFamily="2" charset="-122"/>
              </a:rPr>
              <a:t>       </a:t>
            </a:r>
            <a:r>
              <a:rPr kumimoji="1" lang="zh-CN" altLang="en-US">
                <a:solidFill>
                  <a:srgbClr val="003300"/>
                </a:solidFill>
                <a:latin typeface="Tahoma" panose="020B0604030504040204" pitchFamily="34" charset="0"/>
                <a:ea typeface="宋体" panose="02010600030101010101" pitchFamily="2" charset="-122"/>
              </a:rPr>
              <a:t>位于</a:t>
            </a:r>
            <a:r>
              <a:rPr kumimoji="1" lang="en-US" altLang="zh-CN">
                <a:solidFill>
                  <a:srgbClr val="003300"/>
                </a:solidFill>
                <a:latin typeface="Tahoma" panose="020B0604030504040204" pitchFamily="34" charset="0"/>
                <a:ea typeface="宋体" panose="02010600030101010101" pitchFamily="2" charset="-122"/>
              </a:rPr>
              <a:t>j</a:t>
            </a:r>
            <a:r>
              <a:rPr kumimoji="1" lang="en-US" altLang="zh-CN">
                <a:solidFill>
                  <a:srgbClr val="003300"/>
                </a:solidFill>
                <a:latin typeface="Tahoma" panose="020B0604030504040204" pitchFamily="34" charset="0"/>
                <a:ea typeface="宋体" panose="02010600030101010101" pitchFamily="2" charset="-122"/>
                <a:sym typeface="Symbol" panose="05050102010706020507" pitchFamily="18" charset="2"/>
              </a:rPr>
              <a:t></a:t>
            </a:r>
            <a:r>
              <a:rPr kumimoji="1" lang="zh-CN" altLang="en-US">
                <a:solidFill>
                  <a:srgbClr val="003300"/>
                </a:solidFill>
                <a:latin typeface="Tahoma" panose="020B0604030504040204" pitchFamily="34" charset="0"/>
                <a:ea typeface="宋体" panose="02010600030101010101" pitchFamily="2" charset="-122"/>
              </a:rPr>
              <a:t>轴单极点 对应：      </a:t>
            </a:r>
            <a:r>
              <a:rPr kumimoji="1" lang="zh-CN" altLang="en-US">
                <a:solidFill>
                  <a:srgbClr val="0000FF"/>
                </a:solidFill>
                <a:latin typeface="Tahoma" panose="020B0604030504040204" pitchFamily="34" charset="0"/>
                <a:ea typeface="宋体" panose="02010600030101010101" pitchFamily="2" charset="-122"/>
              </a:rPr>
              <a:t>有界稳态分量</a:t>
            </a:r>
          </a:p>
        </p:txBody>
      </p:sp>
      <p:sp>
        <p:nvSpPr>
          <p:cNvPr id="506888" name="Text Box 8"/>
          <p:cNvSpPr txBox="1">
            <a:spLocks noChangeArrowheads="1"/>
          </p:cNvSpPr>
          <p:nvPr/>
        </p:nvSpPr>
        <p:spPr bwMode="auto">
          <a:xfrm>
            <a:off x="539750" y="2420938"/>
            <a:ext cx="7620000" cy="4556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a:solidFill>
                  <a:srgbClr val="003300"/>
                </a:solidFill>
                <a:latin typeface="Tahoma" panose="020B0604030504040204" pitchFamily="34" charset="0"/>
                <a:ea typeface="宋体" panose="02010600030101010101" pitchFamily="2" charset="-122"/>
              </a:rPr>
              <a:t>       </a:t>
            </a:r>
            <a:r>
              <a:rPr kumimoji="1" lang="zh-CN" altLang="en-US">
                <a:solidFill>
                  <a:srgbClr val="003300"/>
                </a:solidFill>
                <a:latin typeface="Tahoma" panose="020B0604030504040204" pitchFamily="34" charset="0"/>
                <a:ea typeface="宋体" panose="02010600030101010101" pitchFamily="2" charset="-122"/>
              </a:rPr>
              <a:t>位于</a:t>
            </a:r>
            <a:r>
              <a:rPr kumimoji="1" lang="en-US" altLang="zh-CN">
                <a:solidFill>
                  <a:srgbClr val="003300"/>
                </a:solidFill>
                <a:latin typeface="Tahoma" panose="020B0604030504040204" pitchFamily="34" charset="0"/>
                <a:ea typeface="宋体" panose="02010600030101010101" pitchFamily="2" charset="-122"/>
              </a:rPr>
              <a:t>j</a:t>
            </a:r>
            <a:r>
              <a:rPr kumimoji="1" lang="en-US" altLang="zh-CN">
                <a:solidFill>
                  <a:srgbClr val="003300"/>
                </a:solidFill>
                <a:latin typeface="Tahoma" panose="020B0604030504040204" pitchFamily="34" charset="0"/>
                <a:ea typeface="宋体" panose="02010600030101010101" pitchFamily="2" charset="-122"/>
                <a:sym typeface="Symbol" panose="05050102010706020507" pitchFamily="18" charset="2"/>
              </a:rPr>
              <a:t></a:t>
            </a:r>
            <a:r>
              <a:rPr kumimoji="1" lang="zh-CN" altLang="en-US">
                <a:solidFill>
                  <a:srgbClr val="003300"/>
                </a:solidFill>
                <a:latin typeface="Tahoma" panose="020B0604030504040204" pitchFamily="34" charset="0"/>
                <a:ea typeface="宋体" panose="02010600030101010101" pitchFamily="2" charset="-122"/>
              </a:rPr>
              <a:t>轴重极点 对应：      </a:t>
            </a:r>
            <a:r>
              <a:rPr kumimoji="1" lang="zh-CN" altLang="en-US">
                <a:solidFill>
                  <a:srgbClr val="0000FF"/>
                </a:solidFill>
                <a:latin typeface="Tahoma" panose="020B0604030504040204" pitchFamily="34" charset="0"/>
                <a:ea typeface="宋体" panose="02010600030101010101" pitchFamily="2" charset="-122"/>
              </a:rPr>
              <a:t>不稳定分量</a:t>
            </a:r>
          </a:p>
        </p:txBody>
      </p:sp>
      <p:sp>
        <p:nvSpPr>
          <p:cNvPr id="506889" name="Text Box 9"/>
          <p:cNvSpPr txBox="1">
            <a:spLocks noChangeArrowheads="1"/>
          </p:cNvSpPr>
          <p:nvPr/>
        </p:nvSpPr>
        <p:spPr bwMode="auto">
          <a:xfrm>
            <a:off x="539750" y="2997200"/>
            <a:ext cx="7777163" cy="4587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a:solidFill>
                  <a:srgbClr val="800000"/>
                </a:solidFill>
                <a:latin typeface="Tahoma" panose="020B0604030504040204" pitchFamily="34" charset="0"/>
                <a:ea typeface="宋体" panose="02010600030101010101" pitchFamily="2" charset="-122"/>
              </a:rPr>
              <a:t>2) h(t)</a:t>
            </a:r>
            <a:r>
              <a:rPr kumimoji="1" lang="zh-CN" altLang="en-US">
                <a:solidFill>
                  <a:srgbClr val="800000"/>
                </a:solidFill>
                <a:latin typeface="Tahoma" panose="020B0604030504040204" pitchFamily="34" charset="0"/>
                <a:ea typeface="宋体" panose="02010600030101010101" pitchFamily="2" charset="-122"/>
              </a:rPr>
              <a:t>幅值、相位等取决于</a:t>
            </a:r>
            <a:r>
              <a:rPr kumimoji="1" lang="en-US" altLang="zh-CN">
                <a:solidFill>
                  <a:srgbClr val="800000"/>
                </a:solidFill>
                <a:latin typeface="Tahoma" panose="020B0604030504040204" pitchFamily="34" charset="0"/>
                <a:ea typeface="宋体" panose="02010600030101010101" pitchFamily="2" charset="-122"/>
              </a:rPr>
              <a:t>H(s)</a:t>
            </a:r>
            <a:r>
              <a:rPr kumimoji="1" lang="zh-CN" altLang="en-US">
                <a:solidFill>
                  <a:srgbClr val="800000"/>
                </a:solidFill>
                <a:latin typeface="Tahoma" panose="020B0604030504040204" pitchFamily="34" charset="0"/>
                <a:ea typeface="宋体" panose="02010600030101010101" pitchFamily="2" charset="-122"/>
              </a:rPr>
              <a:t>的零点、极点</a:t>
            </a:r>
          </a:p>
        </p:txBody>
      </p:sp>
      <p:sp>
        <p:nvSpPr>
          <p:cNvPr id="506890" name="Text Box 10"/>
          <p:cNvSpPr txBox="1">
            <a:spLocks noChangeArrowheads="1"/>
          </p:cNvSpPr>
          <p:nvPr/>
        </p:nvSpPr>
        <p:spPr bwMode="auto">
          <a:xfrm>
            <a:off x="827088" y="4729163"/>
            <a:ext cx="7837487"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sysDot"/>
                <a:miter lim="800000"/>
                <a:headEnd/>
                <a:tailEnd/>
              </a14:hiddenLine>
            </a:ext>
          </a:extLst>
        </p:spPr>
        <p:txBody>
          <a:bodyPr>
            <a:spAutoFit/>
          </a:bodyPr>
          <a:lstStyle>
            <a:lvl1pPr marL="539750" indent="-53975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FF0000"/>
                </a:solidFill>
                <a:latin typeface="Tahoma" panose="020B0604030504040204" pitchFamily="34" charset="0"/>
                <a:ea typeface="宋体" panose="02010600030101010101" pitchFamily="2" charset="-122"/>
              </a:rPr>
              <a:t>2</a:t>
            </a:r>
            <a:r>
              <a:rPr kumimoji="1" lang="zh-CN" altLang="en-US">
                <a:solidFill>
                  <a:srgbClr val="FF0000"/>
                </a:solidFill>
                <a:latin typeface="Tahoma" panose="020B0604030504040204" pitchFamily="34" charset="0"/>
                <a:ea typeface="宋体" panose="02010600030101010101" pitchFamily="2" charset="-122"/>
              </a:rPr>
              <a:t>、</a:t>
            </a:r>
            <a:r>
              <a:rPr kumimoji="1" lang="en-US" altLang="zh-CN">
                <a:solidFill>
                  <a:srgbClr val="FF0000"/>
                </a:solidFill>
                <a:latin typeface="Tahoma" panose="020B0604030504040204" pitchFamily="34" charset="0"/>
                <a:ea typeface="宋体" panose="02010600030101010101" pitchFamily="2" charset="-122"/>
              </a:rPr>
              <a:t>H(S)</a:t>
            </a:r>
            <a:r>
              <a:rPr kumimoji="1" lang="zh-CN" altLang="en-US">
                <a:solidFill>
                  <a:srgbClr val="FF0000"/>
                </a:solidFill>
                <a:latin typeface="Tahoma" panose="020B0604030504040204" pitchFamily="34" charset="0"/>
                <a:ea typeface="宋体" panose="02010600030101010101" pitchFamily="2" charset="-122"/>
              </a:rPr>
              <a:t>在</a:t>
            </a:r>
            <a:r>
              <a:rPr kumimoji="1" lang="en-US" altLang="zh-CN">
                <a:solidFill>
                  <a:srgbClr val="FF0000"/>
                </a:solidFill>
                <a:latin typeface="Tahoma" panose="020B0604030504040204" pitchFamily="34" charset="0"/>
                <a:ea typeface="宋体" panose="02010600030101010101" pitchFamily="2" charset="-122"/>
              </a:rPr>
              <a:t>j</a:t>
            </a:r>
            <a:r>
              <a:rPr kumimoji="1" lang="en-US" altLang="zh-CN">
                <a:solidFill>
                  <a:srgbClr val="FF0000"/>
                </a:solidFill>
                <a:latin typeface="Tahoma" panose="020B0604030504040204" pitchFamily="34" charset="0"/>
                <a:ea typeface="宋体" panose="02010600030101010101" pitchFamily="2" charset="-122"/>
                <a:sym typeface="Symbol" panose="05050102010706020507" pitchFamily="18" charset="2"/>
              </a:rPr>
              <a:t></a:t>
            </a:r>
            <a:r>
              <a:rPr kumimoji="1" lang="zh-CN" altLang="en-US">
                <a:solidFill>
                  <a:srgbClr val="FF0000"/>
                </a:solidFill>
                <a:latin typeface="Tahoma" panose="020B0604030504040204" pitchFamily="34" charset="0"/>
                <a:ea typeface="宋体" panose="02010600030101010101" pitchFamily="2" charset="-122"/>
                <a:sym typeface="Symbol" panose="05050102010706020507" pitchFamily="18" charset="2"/>
              </a:rPr>
              <a:t>轴上有单极点 ，在</a:t>
            </a:r>
            <a:r>
              <a:rPr kumimoji="1" lang="en-US" altLang="zh-CN">
                <a:solidFill>
                  <a:srgbClr val="FF0000"/>
                </a:solidFill>
                <a:latin typeface="Tahoma" panose="020B0604030504040204" pitchFamily="34" charset="0"/>
                <a:ea typeface="宋体" panose="02010600030101010101" pitchFamily="2" charset="-122"/>
                <a:sym typeface="Symbol" panose="05050102010706020507" pitchFamily="18" charset="2"/>
              </a:rPr>
              <a:t>s</a:t>
            </a:r>
            <a:r>
              <a:rPr kumimoji="1" lang="zh-CN" altLang="en-US">
                <a:solidFill>
                  <a:srgbClr val="FF0000"/>
                </a:solidFill>
                <a:latin typeface="Tahoma" panose="020B0604030504040204" pitchFamily="34" charset="0"/>
                <a:ea typeface="宋体" panose="02010600030101010101" pitchFamily="2" charset="-122"/>
                <a:sym typeface="Symbol" panose="05050102010706020507" pitchFamily="18" charset="2"/>
              </a:rPr>
              <a:t>右半平面没有极点 ，系统临界稳定；</a:t>
            </a:r>
          </a:p>
        </p:txBody>
      </p:sp>
      <p:sp>
        <p:nvSpPr>
          <p:cNvPr id="506891" name="Text Box 11"/>
          <p:cNvSpPr txBox="1">
            <a:spLocks noChangeArrowheads="1"/>
          </p:cNvSpPr>
          <p:nvPr/>
        </p:nvSpPr>
        <p:spPr bwMode="auto">
          <a:xfrm>
            <a:off x="812800" y="5627688"/>
            <a:ext cx="78486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sysDot"/>
                <a:miter lim="800000"/>
                <a:headEnd/>
                <a:tailEnd/>
              </a14:hiddenLine>
            </a:ext>
          </a:extLst>
        </p:spPr>
        <p:txBody>
          <a:bodyPr>
            <a:spAutoFit/>
          </a:bodyPr>
          <a:lstStyle>
            <a:lvl1pPr marL="539750" indent="-53975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FF0000"/>
                </a:solidFill>
                <a:latin typeface="Tahoma" panose="020B0604030504040204" pitchFamily="34" charset="0"/>
                <a:ea typeface="宋体" panose="02010600030101010101" pitchFamily="2" charset="-122"/>
              </a:rPr>
              <a:t>3</a:t>
            </a:r>
            <a:r>
              <a:rPr kumimoji="1" lang="zh-CN" altLang="en-US">
                <a:solidFill>
                  <a:srgbClr val="FF0000"/>
                </a:solidFill>
                <a:latin typeface="Tahoma" panose="020B0604030504040204" pitchFamily="34" charset="0"/>
                <a:ea typeface="宋体" panose="02010600030101010101" pitchFamily="2" charset="-122"/>
              </a:rPr>
              <a:t>、</a:t>
            </a:r>
            <a:r>
              <a:rPr kumimoji="1" lang="en-US" altLang="zh-CN">
                <a:solidFill>
                  <a:srgbClr val="FF0000"/>
                </a:solidFill>
                <a:latin typeface="Tahoma" panose="020B0604030504040204" pitchFamily="34" charset="0"/>
                <a:ea typeface="宋体" panose="02010600030101010101" pitchFamily="2" charset="-122"/>
              </a:rPr>
              <a:t>H(S)</a:t>
            </a:r>
            <a:r>
              <a:rPr kumimoji="1" lang="zh-CN" altLang="en-US">
                <a:solidFill>
                  <a:srgbClr val="FF0000"/>
                </a:solidFill>
                <a:latin typeface="Tahoma" panose="020B0604030504040204" pitchFamily="34" charset="0"/>
                <a:ea typeface="宋体" panose="02010600030101010101" pitchFamily="2" charset="-122"/>
              </a:rPr>
              <a:t>在</a:t>
            </a:r>
            <a:r>
              <a:rPr kumimoji="1" lang="en-US" altLang="zh-CN">
                <a:solidFill>
                  <a:srgbClr val="FF0000"/>
                </a:solidFill>
                <a:latin typeface="Tahoma" panose="020B0604030504040204" pitchFamily="34" charset="0"/>
                <a:ea typeface="宋体" panose="02010600030101010101" pitchFamily="2" charset="-122"/>
              </a:rPr>
              <a:t>S</a:t>
            </a:r>
            <a:r>
              <a:rPr kumimoji="1" lang="zh-CN" altLang="en-US">
                <a:solidFill>
                  <a:srgbClr val="FF0000"/>
                </a:solidFill>
                <a:latin typeface="Tahoma" panose="020B0604030504040204" pitchFamily="34" charset="0"/>
                <a:ea typeface="宋体" panose="02010600030101010101" pitchFamily="2" charset="-122"/>
              </a:rPr>
              <a:t>右半平面存在极点 ，或在</a:t>
            </a:r>
            <a:r>
              <a:rPr kumimoji="1" lang="en-US" altLang="zh-CN">
                <a:solidFill>
                  <a:srgbClr val="FF0000"/>
                </a:solidFill>
                <a:latin typeface="Tahoma" panose="020B0604030504040204" pitchFamily="34" charset="0"/>
                <a:ea typeface="宋体" panose="02010600030101010101" pitchFamily="2" charset="-122"/>
              </a:rPr>
              <a:t>j</a:t>
            </a:r>
            <a:r>
              <a:rPr kumimoji="1" lang="en-US" altLang="zh-CN">
                <a:solidFill>
                  <a:srgbClr val="FF0000"/>
                </a:solidFill>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a:t>
            </a:r>
            <a:r>
              <a:rPr kumimoji="1" lang="zh-CN" altLang="en-US">
                <a:solidFill>
                  <a:srgbClr val="FF0000"/>
                </a:solidFill>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轴上有重极点 ，</a:t>
            </a:r>
            <a:r>
              <a:rPr kumimoji="1" lang="zh-CN" altLang="en-US">
                <a:solidFill>
                  <a:srgbClr val="FF0000"/>
                </a:solidFill>
                <a:latin typeface="Tahoma" panose="020B0604030504040204" pitchFamily="34" charset="0"/>
                <a:ea typeface="宋体" panose="02010600030101010101" pitchFamily="2" charset="-122"/>
              </a:rPr>
              <a:t>系统不稳定。</a:t>
            </a:r>
          </a:p>
        </p:txBody>
      </p:sp>
      <p:sp>
        <p:nvSpPr>
          <p:cNvPr id="506894" name="Text Box 14"/>
          <p:cNvSpPr txBox="1">
            <a:spLocks noChangeArrowheads="1"/>
          </p:cNvSpPr>
          <p:nvPr/>
        </p:nvSpPr>
        <p:spPr bwMode="auto">
          <a:xfrm>
            <a:off x="755650" y="3644900"/>
            <a:ext cx="1368425" cy="4587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solidFill>
                  <a:srgbClr val="FF0000"/>
                </a:solidFill>
                <a:ea typeface="华文新魏" panose="02010800040101010101" pitchFamily="2" charset="-122"/>
              </a:rPr>
              <a:t>结论：</a:t>
            </a:r>
          </a:p>
        </p:txBody>
      </p:sp>
      <p:sp>
        <p:nvSpPr>
          <p:cNvPr id="12" name="日期占位符 11"/>
          <p:cNvSpPr>
            <a:spLocks noGrp="1"/>
          </p:cNvSpPr>
          <p:nvPr>
            <p:ph type="dt" sz="quarter" idx="10"/>
          </p:nvPr>
        </p:nvSpPr>
        <p:spPr>
          <a:xfrm>
            <a:off x="0" y="6538913"/>
            <a:ext cx="1339850" cy="319087"/>
          </a:xfrm>
        </p:spPr>
        <p:txBody>
          <a:bodyPr/>
          <a:lstStyle/>
          <a:p>
            <a:pPr>
              <a:defRPr/>
            </a:pPr>
            <a:fld id="{A55F00D1-3751-4D43-A21D-A39E54E82C19}" type="datetime1">
              <a:rPr lang="zh-CN" altLang="en-US" smtClean="0"/>
              <a:t>2026/4/28</a:t>
            </a:fld>
            <a:r>
              <a:rPr lang="en-US" altLang="zh-CN" dirty="0"/>
              <a:t>**</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60"/>
    </mc:Choice>
    <mc:Fallback xmlns="">
      <p:transition spd="slow" advTm="32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6883"/>
                                        </p:tgtEl>
                                        <p:attrNameLst>
                                          <p:attrName>style.visibility</p:attrName>
                                        </p:attrNameLst>
                                      </p:cBhvr>
                                      <p:to>
                                        <p:strVal val="visible"/>
                                      </p:to>
                                    </p:set>
                                    <p:animEffect transition="in" filter="wipe(left)">
                                      <p:cBhvr>
                                        <p:cTn id="7" dur="500"/>
                                        <p:tgtEl>
                                          <p:spTgt spid="5068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6885"/>
                                        </p:tgtEl>
                                        <p:attrNameLst>
                                          <p:attrName>style.visibility</p:attrName>
                                        </p:attrNameLst>
                                      </p:cBhvr>
                                      <p:to>
                                        <p:strVal val="visible"/>
                                      </p:to>
                                    </p:set>
                                    <p:animEffect transition="in" filter="wipe(left)">
                                      <p:cBhvr>
                                        <p:cTn id="12" dur="500"/>
                                        <p:tgtEl>
                                          <p:spTgt spid="5068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6886"/>
                                        </p:tgtEl>
                                        <p:attrNameLst>
                                          <p:attrName>style.visibility</p:attrName>
                                        </p:attrNameLst>
                                      </p:cBhvr>
                                      <p:to>
                                        <p:strVal val="visible"/>
                                      </p:to>
                                    </p:set>
                                    <p:animEffect transition="in" filter="wipe(left)">
                                      <p:cBhvr>
                                        <p:cTn id="17" dur="500"/>
                                        <p:tgtEl>
                                          <p:spTgt spid="5068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6887"/>
                                        </p:tgtEl>
                                        <p:attrNameLst>
                                          <p:attrName>style.visibility</p:attrName>
                                        </p:attrNameLst>
                                      </p:cBhvr>
                                      <p:to>
                                        <p:strVal val="visible"/>
                                      </p:to>
                                    </p:set>
                                    <p:animEffect transition="in" filter="wipe(left)">
                                      <p:cBhvr>
                                        <p:cTn id="22" dur="500"/>
                                        <p:tgtEl>
                                          <p:spTgt spid="5068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6888"/>
                                        </p:tgtEl>
                                        <p:attrNameLst>
                                          <p:attrName>style.visibility</p:attrName>
                                        </p:attrNameLst>
                                      </p:cBhvr>
                                      <p:to>
                                        <p:strVal val="visible"/>
                                      </p:to>
                                    </p:set>
                                    <p:animEffect transition="in" filter="wipe(left)">
                                      <p:cBhvr>
                                        <p:cTn id="27" dur="500"/>
                                        <p:tgtEl>
                                          <p:spTgt spid="5068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06889"/>
                                        </p:tgtEl>
                                        <p:attrNameLst>
                                          <p:attrName>style.visibility</p:attrName>
                                        </p:attrNameLst>
                                      </p:cBhvr>
                                      <p:to>
                                        <p:strVal val="visible"/>
                                      </p:to>
                                    </p:set>
                                    <p:animEffect transition="in" filter="wipe(left)">
                                      <p:cBhvr>
                                        <p:cTn id="32" dur="500"/>
                                        <p:tgtEl>
                                          <p:spTgt spid="50688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06894"/>
                                        </p:tgtEl>
                                        <p:attrNameLst>
                                          <p:attrName>style.visibility</p:attrName>
                                        </p:attrNameLst>
                                      </p:cBhvr>
                                      <p:to>
                                        <p:strVal val="visible"/>
                                      </p:to>
                                    </p:set>
                                    <p:animEffect transition="in" filter="dissolve">
                                      <p:cBhvr>
                                        <p:cTn id="37" dur="500"/>
                                        <p:tgtEl>
                                          <p:spTgt spid="50689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06884">
                                            <p:txEl>
                                              <p:pRg st="0" end="0"/>
                                            </p:txEl>
                                          </p:spTgt>
                                        </p:tgtEl>
                                        <p:attrNameLst>
                                          <p:attrName>style.visibility</p:attrName>
                                        </p:attrNameLst>
                                      </p:cBhvr>
                                      <p:to>
                                        <p:strVal val="visible"/>
                                      </p:to>
                                    </p:set>
                                    <p:animEffect transition="in" filter="wipe(left)">
                                      <p:cBhvr>
                                        <p:cTn id="42" dur="500"/>
                                        <p:tgtEl>
                                          <p:spTgt spid="50688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06890"/>
                                        </p:tgtEl>
                                        <p:attrNameLst>
                                          <p:attrName>style.visibility</p:attrName>
                                        </p:attrNameLst>
                                      </p:cBhvr>
                                      <p:to>
                                        <p:strVal val="visible"/>
                                      </p:to>
                                    </p:set>
                                    <p:animEffect transition="in" filter="wipe(left)">
                                      <p:cBhvr>
                                        <p:cTn id="47" dur="500"/>
                                        <p:tgtEl>
                                          <p:spTgt spid="50689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06891"/>
                                        </p:tgtEl>
                                        <p:attrNameLst>
                                          <p:attrName>style.visibility</p:attrName>
                                        </p:attrNameLst>
                                      </p:cBhvr>
                                      <p:to>
                                        <p:strVal val="visible"/>
                                      </p:to>
                                    </p:set>
                                    <p:animEffect transition="in" filter="wipe(left)">
                                      <p:cBhvr>
                                        <p:cTn id="52" dur="500"/>
                                        <p:tgtEl>
                                          <p:spTgt spid="506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3" grpId="0" animBg="1" autoUpdateAnimBg="0"/>
      <p:bldP spid="506884" grpId="0" build="p" autoUpdateAnimBg="0"/>
      <p:bldP spid="506885" grpId="0" animBg="1" autoUpdateAnimBg="0"/>
      <p:bldP spid="506886" grpId="0" animBg="1" autoUpdateAnimBg="0"/>
      <p:bldP spid="506887" grpId="0" animBg="1" autoUpdateAnimBg="0"/>
      <p:bldP spid="506888" grpId="0" animBg="1" autoUpdateAnimBg="0"/>
      <p:bldP spid="506889" grpId="0" animBg="1" autoUpdateAnimBg="0"/>
      <p:bldP spid="506890" grpId="0"/>
      <p:bldP spid="506891" grpId="0"/>
      <p:bldP spid="506894"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09954" name="Object 2"/>
          <p:cNvGraphicFramePr>
            <a:graphicFrameLocks noChangeAspect="1"/>
          </p:cNvGraphicFramePr>
          <p:nvPr/>
        </p:nvGraphicFramePr>
        <p:xfrm>
          <a:off x="5364163" y="1776413"/>
          <a:ext cx="3495675" cy="4324350"/>
        </p:xfrm>
        <a:graphic>
          <a:graphicData uri="http://schemas.openxmlformats.org/presentationml/2006/ole">
            <mc:AlternateContent xmlns:mc="http://schemas.openxmlformats.org/markup-compatibility/2006">
              <mc:Choice xmlns:v="urn:schemas-microsoft-com:vml" Requires="v">
                <p:oleObj name="BMP 图象" r:id="rId3" imgW="3495675" imgH="3495675" progId="Paint.Picture">
                  <p:embed/>
                </p:oleObj>
              </mc:Choice>
              <mc:Fallback>
                <p:oleObj name="BMP 图象" r:id="rId3" imgW="3495675" imgH="3495675"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163" y="1776413"/>
                        <a:ext cx="3495675" cy="432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9955" name="Rectangle 3"/>
          <p:cNvSpPr>
            <a:spLocks noGrp="1" noChangeArrowheads="1"/>
          </p:cNvSpPr>
          <p:nvPr>
            <p:ph type="title" idx="4294967295"/>
          </p:nvPr>
        </p:nvSpPr>
        <p:spPr>
          <a:xfrm>
            <a:off x="460375" y="0"/>
            <a:ext cx="7058025" cy="863600"/>
          </a:xfrm>
          <a:solidFill>
            <a:schemeClr val="accent2"/>
          </a:solidFill>
          <a:effectLst>
            <a:outerShdw dist="35921" dir="2700000" algn="ctr" rotWithShape="0">
              <a:schemeClr val="bg2"/>
            </a:outerShdw>
          </a:effectLst>
        </p:spPr>
        <p:txBody>
          <a:bodyPr/>
          <a:lstStyle/>
          <a:p>
            <a:pPr>
              <a:defRPr/>
            </a:pPr>
            <a:r>
              <a:rPr lang="zh-CN" altLang="en-US" sz="2800" b="1" dirty="0">
                <a:solidFill>
                  <a:srgbClr val="F8F8F8"/>
                </a:solidFill>
                <a:effectLst>
                  <a:outerShdw blurRad="38100" dist="38100" dir="2700000" algn="tl">
                    <a:srgbClr val="000000"/>
                  </a:outerShdw>
                </a:effectLst>
              </a:rPr>
              <a:t>三、</a:t>
            </a:r>
            <a:r>
              <a:rPr lang="en-US" altLang="zh-CN" sz="2800" b="1" dirty="0">
                <a:solidFill>
                  <a:srgbClr val="F8F8F8"/>
                </a:solidFill>
                <a:effectLst>
                  <a:outerShdw blurRad="38100" dist="38100" dir="2700000" algn="tl">
                    <a:srgbClr val="000000"/>
                  </a:outerShdw>
                </a:effectLst>
              </a:rPr>
              <a:t>H(s)</a:t>
            </a:r>
            <a:r>
              <a:rPr lang="zh-CN" altLang="en-US" sz="2800" b="1" dirty="0">
                <a:solidFill>
                  <a:srgbClr val="F8F8F8"/>
                </a:solidFill>
                <a:effectLst>
                  <a:outerShdw blurRad="38100" dist="38100" dir="2700000" algn="tl">
                    <a:srgbClr val="000000"/>
                  </a:outerShdw>
                </a:effectLst>
              </a:rPr>
              <a:t>零、极点 分布与系统的频率特性</a:t>
            </a:r>
            <a:br>
              <a:rPr lang="zh-CN" altLang="en-US" sz="2800" b="1" dirty="0">
                <a:solidFill>
                  <a:srgbClr val="F8F8F8"/>
                </a:solidFill>
                <a:effectLst>
                  <a:outerShdw blurRad="38100" dist="38100" dir="2700000" algn="tl">
                    <a:srgbClr val="000000"/>
                  </a:outerShdw>
                </a:effectLst>
              </a:rPr>
            </a:br>
            <a:r>
              <a:rPr lang="zh-CN" altLang="en-US" sz="2800" b="1" dirty="0">
                <a:solidFill>
                  <a:srgbClr val="F8F8F8"/>
                </a:solidFill>
                <a:effectLst>
                  <a:outerShdw blurRad="38100" dist="38100" dir="2700000" algn="tl">
                    <a:srgbClr val="000000"/>
                  </a:outerShdw>
                </a:effectLst>
              </a:rPr>
              <a:t>         （几何法分析</a:t>
            </a:r>
            <a:r>
              <a:rPr lang="zh-CN" altLang="en-US" sz="2800" b="1">
                <a:solidFill>
                  <a:srgbClr val="F8F8F8"/>
                </a:solidFill>
                <a:effectLst>
                  <a:outerShdw blurRad="38100" dist="38100" dir="2700000" algn="tl">
                    <a:srgbClr val="000000"/>
                  </a:outerShdw>
                </a:effectLst>
              </a:rPr>
              <a:t>频率特性）</a:t>
            </a:r>
            <a:endParaRPr lang="zh-CN" altLang="en-US" sz="2800" b="1" dirty="0">
              <a:solidFill>
                <a:srgbClr val="F8F8F8"/>
              </a:solidFill>
              <a:effectLst>
                <a:outerShdw blurRad="38100" dist="38100" dir="2700000" algn="tl">
                  <a:srgbClr val="000000"/>
                </a:outerShdw>
              </a:effectLst>
            </a:endParaRPr>
          </a:p>
        </p:txBody>
      </p:sp>
      <p:graphicFrame>
        <p:nvGraphicFramePr>
          <p:cNvPr id="509956" name="Object 3"/>
          <p:cNvGraphicFramePr>
            <a:graphicFrameLocks noChangeAspect="1"/>
          </p:cNvGraphicFramePr>
          <p:nvPr/>
        </p:nvGraphicFramePr>
        <p:xfrm>
          <a:off x="735013" y="908050"/>
          <a:ext cx="6985000" cy="1770063"/>
        </p:xfrm>
        <a:graphic>
          <a:graphicData uri="http://schemas.openxmlformats.org/presentationml/2006/ole">
            <mc:AlternateContent xmlns:mc="http://schemas.openxmlformats.org/markup-compatibility/2006">
              <mc:Choice xmlns:v="urn:schemas-microsoft-com:vml" Requires="v">
                <p:oleObj name="Equation" r:id="rId5" imgW="3644900" imgH="863600" progId="Equation.3">
                  <p:embed/>
                </p:oleObj>
              </mc:Choice>
              <mc:Fallback>
                <p:oleObj name="Equation" r:id="rId5" imgW="3644900" imgH="863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5013" y="908050"/>
                        <a:ext cx="6985000" cy="177006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57" name="Object 4"/>
          <p:cNvGraphicFramePr>
            <a:graphicFrameLocks noChangeAspect="1"/>
          </p:cNvGraphicFramePr>
          <p:nvPr/>
        </p:nvGraphicFramePr>
        <p:xfrm>
          <a:off x="593725" y="2860675"/>
          <a:ext cx="8226425" cy="422275"/>
        </p:xfrm>
        <a:graphic>
          <a:graphicData uri="http://schemas.openxmlformats.org/presentationml/2006/ole">
            <mc:AlternateContent xmlns:mc="http://schemas.openxmlformats.org/markup-compatibility/2006">
              <mc:Choice xmlns:v="urn:schemas-microsoft-com:vml" Requires="v">
                <p:oleObj name="文档" r:id="rId7" imgW="5486400" imgH="280670" progId="Word.Document.8">
                  <p:embed/>
                </p:oleObj>
              </mc:Choice>
              <mc:Fallback>
                <p:oleObj name="文档" r:id="rId7" imgW="5486400" imgH="280670" progId="Word.Document.8">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3725" y="2860675"/>
                        <a:ext cx="8226425"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58" name="Object 5"/>
          <p:cNvGraphicFramePr>
            <a:graphicFrameLocks noChangeAspect="1"/>
          </p:cNvGraphicFramePr>
          <p:nvPr/>
        </p:nvGraphicFramePr>
        <p:xfrm>
          <a:off x="700088" y="3336925"/>
          <a:ext cx="2230437" cy="498475"/>
        </p:xfrm>
        <a:graphic>
          <a:graphicData uri="http://schemas.openxmlformats.org/presentationml/2006/ole">
            <mc:AlternateContent xmlns:mc="http://schemas.openxmlformats.org/markup-compatibility/2006">
              <mc:Choice xmlns:v="urn:schemas-microsoft-com:vml" Requires="v">
                <p:oleObj name="Equation" r:id="rId9" imgW="832485" imgH="127000" progId="Equation.DSMT4">
                  <p:embed/>
                </p:oleObj>
              </mc:Choice>
              <mc:Fallback>
                <p:oleObj name="Equation" r:id="rId9" imgW="832485" imgH="1270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0088" y="3336925"/>
                        <a:ext cx="223043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9959" name="Object 6"/>
          <p:cNvGraphicFramePr>
            <a:graphicFrameLocks noChangeAspect="1"/>
          </p:cNvGraphicFramePr>
          <p:nvPr/>
        </p:nvGraphicFramePr>
        <p:xfrm>
          <a:off x="3327400" y="3267075"/>
          <a:ext cx="2003425" cy="533400"/>
        </p:xfrm>
        <a:graphic>
          <a:graphicData uri="http://schemas.openxmlformats.org/presentationml/2006/ole">
            <mc:AlternateContent xmlns:mc="http://schemas.openxmlformats.org/markup-compatibility/2006">
              <mc:Choice xmlns:v="urn:schemas-microsoft-com:vml" Requires="v">
                <p:oleObj name="Equation" r:id="rId11" imgW="661035" imgH="127000" progId="Equation.DSMT4">
                  <p:embed/>
                </p:oleObj>
              </mc:Choice>
              <mc:Fallback>
                <p:oleObj name="Equation" r:id="rId11" imgW="661035" imgH="1270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27400" y="3267075"/>
                        <a:ext cx="20034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9960" name="Line 8"/>
          <p:cNvSpPr>
            <a:spLocks noChangeShapeType="1"/>
          </p:cNvSpPr>
          <p:nvPr/>
        </p:nvSpPr>
        <p:spPr bwMode="auto">
          <a:xfrm flipV="1">
            <a:off x="5943600" y="3276600"/>
            <a:ext cx="1905000" cy="1828800"/>
          </a:xfrm>
          <a:prstGeom prst="line">
            <a:avLst/>
          </a:prstGeom>
          <a:noFill/>
          <a:ln w="31750">
            <a:solidFill>
              <a:srgbClr val="660066"/>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9961" name="Line 9"/>
          <p:cNvSpPr>
            <a:spLocks noChangeShapeType="1"/>
          </p:cNvSpPr>
          <p:nvPr/>
        </p:nvSpPr>
        <p:spPr bwMode="auto">
          <a:xfrm flipV="1">
            <a:off x="5891213" y="3265488"/>
            <a:ext cx="1957387" cy="2657475"/>
          </a:xfrm>
          <a:prstGeom prst="line">
            <a:avLst/>
          </a:prstGeom>
          <a:noFill/>
          <a:ln w="31750">
            <a:solidFill>
              <a:srgbClr val="660066"/>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9962" name="Line 10"/>
          <p:cNvSpPr>
            <a:spLocks noChangeShapeType="1"/>
          </p:cNvSpPr>
          <p:nvPr/>
        </p:nvSpPr>
        <p:spPr bwMode="auto">
          <a:xfrm flipV="1">
            <a:off x="6858000" y="3290888"/>
            <a:ext cx="990600" cy="2271712"/>
          </a:xfrm>
          <a:prstGeom prst="line">
            <a:avLst/>
          </a:prstGeom>
          <a:noFill/>
          <a:ln w="31750">
            <a:solidFill>
              <a:srgbClr val="0000FF"/>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9963" name="Line 11"/>
          <p:cNvSpPr>
            <a:spLocks noChangeShapeType="1"/>
          </p:cNvSpPr>
          <p:nvPr/>
        </p:nvSpPr>
        <p:spPr bwMode="auto">
          <a:xfrm flipH="1" flipV="1">
            <a:off x="7858125" y="3322638"/>
            <a:ext cx="327025" cy="2252662"/>
          </a:xfrm>
          <a:prstGeom prst="line">
            <a:avLst/>
          </a:prstGeom>
          <a:noFill/>
          <a:ln w="31750">
            <a:solidFill>
              <a:srgbClr val="0000FF"/>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09964" name="Line 12"/>
          <p:cNvSpPr>
            <a:spLocks noChangeShapeType="1"/>
          </p:cNvSpPr>
          <p:nvPr/>
        </p:nvSpPr>
        <p:spPr bwMode="auto">
          <a:xfrm>
            <a:off x="5943600" y="5105400"/>
            <a:ext cx="1905000" cy="0"/>
          </a:xfrm>
          <a:prstGeom prst="line">
            <a:avLst/>
          </a:prstGeom>
          <a:noFill/>
          <a:ln w="25400">
            <a:solidFill>
              <a:srgbClr val="003300"/>
            </a:solidFill>
            <a:prstDash val="dash"/>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509965" name="Line 13"/>
          <p:cNvSpPr>
            <a:spLocks noChangeShapeType="1"/>
          </p:cNvSpPr>
          <p:nvPr/>
        </p:nvSpPr>
        <p:spPr bwMode="auto">
          <a:xfrm>
            <a:off x="5867400" y="5943600"/>
            <a:ext cx="1981200" cy="0"/>
          </a:xfrm>
          <a:prstGeom prst="line">
            <a:avLst/>
          </a:prstGeom>
          <a:noFill/>
          <a:ln w="25400">
            <a:solidFill>
              <a:srgbClr val="003300"/>
            </a:solidFill>
            <a:prstDash val="dash"/>
            <a:miter lim="800000"/>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509966" name="Object 7"/>
          <p:cNvGraphicFramePr>
            <a:graphicFrameLocks noChangeAspect="1"/>
          </p:cNvGraphicFramePr>
          <p:nvPr/>
        </p:nvGraphicFramePr>
        <p:xfrm>
          <a:off x="7010400" y="5106988"/>
          <a:ext cx="307975" cy="423862"/>
        </p:xfrm>
        <a:graphic>
          <a:graphicData uri="http://schemas.openxmlformats.org/presentationml/2006/ole">
            <mc:AlternateContent xmlns:mc="http://schemas.openxmlformats.org/markup-compatibility/2006">
              <mc:Choice xmlns:v="urn:schemas-microsoft-com:vml" Requires="v">
                <p:oleObj name="Equation" r:id="rId13" imgW="165100" imgH="228600" progId="Equation.DSMT4">
                  <p:embed/>
                </p:oleObj>
              </mc:Choice>
              <mc:Fallback>
                <p:oleObj name="Equation" r:id="rId13" imgW="165100" imgH="22860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10400" y="5106988"/>
                        <a:ext cx="307975"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7" name="Object 8"/>
          <p:cNvGraphicFramePr>
            <a:graphicFrameLocks noChangeAspect="1"/>
          </p:cNvGraphicFramePr>
          <p:nvPr/>
        </p:nvGraphicFramePr>
        <p:xfrm>
          <a:off x="6238875" y="4732338"/>
          <a:ext cx="355600" cy="423862"/>
        </p:xfrm>
        <a:graphic>
          <a:graphicData uri="http://schemas.openxmlformats.org/presentationml/2006/ole">
            <mc:AlternateContent xmlns:mc="http://schemas.openxmlformats.org/markup-compatibility/2006">
              <mc:Choice xmlns:v="urn:schemas-microsoft-com:vml" Requires="v">
                <p:oleObj name="Equation" r:id="rId15" imgW="190500" imgH="228600" progId="Equation.DSMT4">
                  <p:embed/>
                </p:oleObj>
              </mc:Choice>
              <mc:Fallback>
                <p:oleObj name="Equation" r:id="rId15" imgW="190500" imgH="228600" progId="Equation.DSMT4">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38875" y="4732338"/>
                        <a:ext cx="355600"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8" name="Object 9"/>
          <p:cNvGraphicFramePr>
            <a:graphicFrameLocks noChangeAspect="1"/>
          </p:cNvGraphicFramePr>
          <p:nvPr/>
        </p:nvGraphicFramePr>
        <p:xfrm>
          <a:off x="6072188" y="5551488"/>
          <a:ext cx="331787" cy="423862"/>
        </p:xfrm>
        <a:graphic>
          <a:graphicData uri="http://schemas.openxmlformats.org/presentationml/2006/ole">
            <mc:AlternateContent xmlns:mc="http://schemas.openxmlformats.org/markup-compatibility/2006">
              <mc:Choice xmlns:v="urn:schemas-microsoft-com:vml" Requires="v">
                <p:oleObj name="Equation" r:id="rId17" imgW="177800" imgH="228600" progId="Equation.DSMT4">
                  <p:embed/>
                </p:oleObj>
              </mc:Choice>
              <mc:Fallback>
                <p:oleObj name="Equation" r:id="rId17" imgW="177800" imgH="228600" progId="Equation.DSMT4">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72188" y="5551488"/>
                        <a:ext cx="331787"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69" name="Object 10"/>
          <p:cNvGraphicFramePr>
            <a:graphicFrameLocks noChangeAspect="1"/>
          </p:cNvGraphicFramePr>
          <p:nvPr/>
        </p:nvGraphicFramePr>
        <p:xfrm>
          <a:off x="8124825" y="5045076"/>
          <a:ext cx="355600" cy="423862"/>
        </p:xfrm>
        <a:graphic>
          <a:graphicData uri="http://schemas.openxmlformats.org/presentationml/2006/ole">
            <mc:AlternateContent xmlns:mc="http://schemas.openxmlformats.org/markup-compatibility/2006">
              <mc:Choice xmlns:v="urn:schemas-microsoft-com:vml" Requires="v">
                <p:oleObj name="Equation" r:id="rId19" imgW="190500" imgH="228600" progId="Equation.DSMT4">
                  <p:embed/>
                </p:oleObj>
              </mc:Choice>
              <mc:Fallback>
                <p:oleObj name="Equation" r:id="rId19" imgW="190500" imgH="228600" progId="Equation.DSMT4">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24825" y="5045076"/>
                        <a:ext cx="355600"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9972" name="Object 13"/>
          <p:cNvGraphicFramePr>
            <a:graphicFrameLocks noChangeAspect="1"/>
          </p:cNvGraphicFramePr>
          <p:nvPr/>
        </p:nvGraphicFramePr>
        <p:xfrm>
          <a:off x="7194132" y="4498181"/>
          <a:ext cx="330200" cy="457200"/>
        </p:xfrm>
        <a:graphic>
          <a:graphicData uri="http://schemas.openxmlformats.org/presentationml/2006/ole">
            <mc:AlternateContent xmlns:mc="http://schemas.openxmlformats.org/markup-compatibility/2006">
              <mc:Choice xmlns:v="urn:schemas-microsoft-com:vml" Requires="v">
                <p:oleObj name="Equation" r:id="rId21" imgW="71755" imgH="120015" progId="Equation.DSMT4">
                  <p:embed/>
                </p:oleObj>
              </mc:Choice>
              <mc:Fallback>
                <p:oleObj name="Equation" r:id="rId21" imgW="71755" imgH="120015" progId="Equation.DSMT4">
                  <p:embed/>
                  <p:pic>
                    <p:nvPicPr>
                      <p:cNvPr id="0" name="Object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194132" y="4498181"/>
                        <a:ext cx="330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9973" name="Object 14"/>
          <p:cNvGraphicFramePr>
            <a:graphicFrameLocks noChangeAspect="1"/>
          </p:cNvGraphicFramePr>
          <p:nvPr/>
        </p:nvGraphicFramePr>
        <p:xfrm>
          <a:off x="7994650" y="4373533"/>
          <a:ext cx="381000" cy="481013"/>
        </p:xfrm>
        <a:graphic>
          <a:graphicData uri="http://schemas.openxmlformats.org/presentationml/2006/ole">
            <mc:AlternateContent xmlns:mc="http://schemas.openxmlformats.org/markup-compatibility/2006">
              <mc:Choice xmlns:v="urn:schemas-microsoft-com:vml" Requires="v">
                <p:oleObj name="Equation" r:id="rId23" imgW="92710" imgH="120015" progId="Equation.DSMT4">
                  <p:embed/>
                </p:oleObj>
              </mc:Choice>
              <mc:Fallback>
                <p:oleObj name="Equation" r:id="rId23" imgW="92710" imgH="120015" progId="Equation.DSMT4">
                  <p:embed/>
                  <p:pic>
                    <p:nvPicPr>
                      <p:cNvPr id="0" name="Object 1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994650" y="4373533"/>
                        <a:ext cx="381000" cy="481013"/>
                      </a:xfrm>
                      <a:prstGeom prst="rect">
                        <a:avLst/>
                      </a:prstGeom>
                      <a:noFill/>
                      <a:ln>
                        <a:noFill/>
                      </a:ln>
                      <a:effectLst/>
                    </p:spPr>
                  </p:pic>
                </p:oleObj>
              </mc:Fallback>
            </mc:AlternateContent>
          </a:graphicData>
        </a:graphic>
      </p:graphicFrame>
      <p:graphicFrame>
        <p:nvGraphicFramePr>
          <p:cNvPr id="509974" name="Object 15"/>
          <p:cNvGraphicFramePr>
            <a:graphicFrameLocks noChangeAspect="1"/>
          </p:cNvGraphicFramePr>
          <p:nvPr/>
        </p:nvGraphicFramePr>
        <p:xfrm>
          <a:off x="6490493" y="4426744"/>
          <a:ext cx="312738" cy="433387"/>
        </p:xfrm>
        <a:graphic>
          <a:graphicData uri="http://schemas.openxmlformats.org/presentationml/2006/ole">
            <mc:AlternateContent xmlns:mc="http://schemas.openxmlformats.org/markup-compatibility/2006">
              <mc:Choice xmlns:v="urn:schemas-microsoft-com:vml" Requires="v">
                <p:oleObj name="Equation" r:id="rId25" imgW="71755" imgH="120015" progId="Equation.DSMT4">
                  <p:embed/>
                </p:oleObj>
              </mc:Choice>
              <mc:Fallback>
                <p:oleObj name="Equation" r:id="rId25" imgW="71755" imgH="120015" progId="Equation.DSMT4">
                  <p:embed/>
                  <p:pic>
                    <p:nvPicPr>
                      <p:cNvPr id="0" name="Object 1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490493" y="4426744"/>
                        <a:ext cx="312738"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9975" name="Object 16"/>
          <p:cNvGraphicFramePr>
            <a:graphicFrameLocks noChangeAspect="1"/>
          </p:cNvGraphicFramePr>
          <p:nvPr/>
        </p:nvGraphicFramePr>
        <p:xfrm>
          <a:off x="6191250" y="3992563"/>
          <a:ext cx="361950" cy="434975"/>
        </p:xfrm>
        <a:graphic>
          <a:graphicData uri="http://schemas.openxmlformats.org/presentationml/2006/ole">
            <mc:AlternateContent xmlns:mc="http://schemas.openxmlformats.org/markup-compatibility/2006">
              <mc:Choice xmlns:v="urn:schemas-microsoft-com:vml" Requires="v">
                <p:oleObj name="Equation" r:id="rId27" imgW="92710" imgH="120015" progId="Equation.DSMT4">
                  <p:embed/>
                </p:oleObj>
              </mc:Choice>
              <mc:Fallback>
                <p:oleObj name="Equation" r:id="rId27" imgW="92710" imgH="120015" progId="Equation.DSMT4">
                  <p:embed/>
                  <p:pic>
                    <p:nvPicPr>
                      <p:cNvPr id="0" name="Object 1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191250" y="3992563"/>
                        <a:ext cx="361950"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日期占位符 23"/>
          <p:cNvSpPr>
            <a:spLocks noGrp="1"/>
          </p:cNvSpPr>
          <p:nvPr>
            <p:ph type="dt" sz="quarter" idx="10"/>
          </p:nvPr>
        </p:nvSpPr>
        <p:spPr/>
        <p:txBody>
          <a:bodyPr/>
          <a:lstStyle/>
          <a:p>
            <a:pPr>
              <a:defRPr/>
            </a:pPr>
            <a:fld id="{4A7D819C-774D-43E1-A155-0AC985404B63}" type="datetime1">
              <a:rPr lang="zh-CN" altLang="en-US"/>
              <a:t>2026/4/28</a:t>
            </a:fld>
            <a:endParaRPr lang="en-US" altLang="zh-CN" dirty="0"/>
          </a:p>
        </p:txBody>
      </p:sp>
      <p:sp>
        <p:nvSpPr>
          <p:cNvPr id="3" name="文本框 2"/>
          <p:cNvSpPr txBox="1">
            <a:spLocks noRot="1" noChangeAspect="1" noMove="1" noResize="1" noEditPoints="1" noAdjustHandles="1" noChangeArrowheads="1" noChangeShapeType="1" noTextEdit="1"/>
          </p:cNvSpPr>
          <p:nvPr/>
        </p:nvSpPr>
        <p:spPr>
          <a:xfrm>
            <a:off x="634267" y="5104300"/>
            <a:ext cx="4283563" cy="684162"/>
          </a:xfrm>
          <a:prstGeom prst="rect">
            <a:avLst/>
          </a:prstGeom>
          <a:blipFill>
            <a:blip r:embed="rId29"/>
            <a:stretch>
              <a:fillRect t="-4425" b="-5310"/>
            </a:stretch>
          </a:blipFill>
        </p:spPr>
        <p:txBody>
          <a:bodyPr/>
          <a:lstStyle/>
          <a:p>
            <a:pPr>
              <a:defRPr/>
            </a:pPr>
            <a:r>
              <a:rPr lang="zh-CN" altLang="en-US">
                <a:noFill/>
                <a:latin typeface="黑体" panose="02010609060101010101" pitchFamily="49" charset="-122"/>
                <a:ea typeface="黑体" panose="02010609060101010101" pitchFamily="49" charset="-122"/>
              </a:rPr>
              <a:t> </a:t>
            </a:r>
          </a:p>
        </p:txBody>
      </p:sp>
      <p:graphicFrame>
        <p:nvGraphicFramePr>
          <p:cNvPr id="28" name="Object 4"/>
          <p:cNvGraphicFramePr>
            <a:graphicFrameLocks noChangeAspect="1"/>
          </p:cNvGraphicFramePr>
          <p:nvPr/>
        </p:nvGraphicFramePr>
        <p:xfrm>
          <a:off x="552450" y="4029075"/>
          <a:ext cx="8181975" cy="420688"/>
        </p:xfrm>
        <a:graphic>
          <a:graphicData uri="http://schemas.openxmlformats.org/presentationml/2006/ole">
            <mc:AlternateContent xmlns:mc="http://schemas.openxmlformats.org/markup-compatibility/2006">
              <mc:Choice xmlns:v="urn:schemas-microsoft-com:vml" Requires="v">
                <p:oleObj name="Document" r:id="rId30" imgW="5469890" imgH="282575" progId="Word.Document.8">
                  <p:embed/>
                </p:oleObj>
              </mc:Choice>
              <mc:Fallback>
                <p:oleObj name="Document" r:id="rId30" imgW="5469890" imgH="282575" progId="Word.Document.8">
                  <p:embed/>
                  <p:pic>
                    <p:nvPicPr>
                      <p:cNvPr id="0" name="Object 4"/>
                      <p:cNvPicPr>
                        <a:picLocks noChangeAspect="1" noChangeArrowheads="1"/>
                      </p:cNvPicPr>
                      <p:nvPr/>
                    </p:nvPicPr>
                    <p:blipFill>
                      <a:blip r:embed="rId31"/>
                      <a:srcRect/>
                      <a:stretch>
                        <a:fillRect/>
                      </a:stretch>
                    </p:blipFill>
                    <p:spPr bwMode="auto">
                      <a:xfrm>
                        <a:off x="552450" y="4029075"/>
                        <a:ext cx="8181975"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1"/>
    </p:custDataLst>
  </p:cSld>
  <p:clrMapOvr>
    <a:masterClrMapping/>
  </p:clrMapOvr>
  <p:transition spd="med" advTm="6199">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9956"/>
                                        </p:tgtEl>
                                        <p:attrNameLst>
                                          <p:attrName>style.visibility</p:attrName>
                                        </p:attrNameLst>
                                      </p:cBhvr>
                                      <p:to>
                                        <p:strVal val="visible"/>
                                      </p:to>
                                    </p:set>
                                    <p:animEffect transition="in" filter="wipe(left)">
                                      <p:cBhvr>
                                        <p:cTn id="7" dur="500"/>
                                        <p:tgtEl>
                                          <p:spTgt spid="5099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9957"/>
                                        </p:tgtEl>
                                        <p:attrNameLst>
                                          <p:attrName>style.visibility</p:attrName>
                                        </p:attrNameLst>
                                      </p:cBhvr>
                                      <p:to>
                                        <p:strVal val="visible"/>
                                      </p:to>
                                    </p:set>
                                    <p:animEffect transition="in" filter="wipe(left)">
                                      <p:cBhvr>
                                        <p:cTn id="12" dur="500"/>
                                        <p:tgtEl>
                                          <p:spTgt spid="5099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09958"/>
                                        </p:tgtEl>
                                        <p:attrNameLst>
                                          <p:attrName>style.visibility</p:attrName>
                                        </p:attrNameLst>
                                      </p:cBhvr>
                                      <p:to>
                                        <p:strVal val="visible"/>
                                      </p:to>
                                    </p:set>
                                    <p:animEffect transition="in" filter="wipe(left)">
                                      <p:cBhvr>
                                        <p:cTn id="17" dur="500"/>
                                        <p:tgtEl>
                                          <p:spTgt spid="5099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09959"/>
                                        </p:tgtEl>
                                        <p:attrNameLst>
                                          <p:attrName>style.visibility</p:attrName>
                                        </p:attrNameLst>
                                      </p:cBhvr>
                                      <p:to>
                                        <p:strVal val="visible"/>
                                      </p:to>
                                    </p:set>
                                    <p:animEffect transition="in" filter="wipe(left)">
                                      <p:cBhvr>
                                        <p:cTn id="22" dur="500"/>
                                        <p:tgtEl>
                                          <p:spTgt spid="5099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09954"/>
                                        </p:tgtEl>
                                        <p:attrNameLst>
                                          <p:attrName>style.visibility</p:attrName>
                                        </p:attrNameLst>
                                      </p:cBhvr>
                                      <p:to>
                                        <p:strVal val="visible"/>
                                      </p:to>
                                    </p:set>
                                    <p:animEffect transition="in" filter="wipe(left)">
                                      <p:cBhvr>
                                        <p:cTn id="27" dur="500"/>
                                        <p:tgtEl>
                                          <p:spTgt spid="50995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09962"/>
                                        </p:tgtEl>
                                        <p:attrNameLst>
                                          <p:attrName>style.visibility</p:attrName>
                                        </p:attrNameLst>
                                      </p:cBhvr>
                                      <p:to>
                                        <p:strVal val="visible"/>
                                      </p:to>
                                    </p:set>
                                    <p:animEffect transition="in" filter="wipe(left)">
                                      <p:cBhvr>
                                        <p:cTn id="32" dur="500"/>
                                        <p:tgtEl>
                                          <p:spTgt spid="50996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509972"/>
                                        </p:tgtEl>
                                        <p:attrNameLst>
                                          <p:attrName>style.visibility</p:attrName>
                                        </p:attrNameLst>
                                      </p:cBhvr>
                                      <p:to>
                                        <p:strVal val="visible"/>
                                      </p:to>
                                    </p:set>
                                    <p:animEffect transition="in" filter="dissolve">
                                      <p:cBhvr>
                                        <p:cTn id="37" dur="500"/>
                                        <p:tgtEl>
                                          <p:spTgt spid="50997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09966"/>
                                        </p:tgtEl>
                                        <p:attrNameLst>
                                          <p:attrName>style.visibility</p:attrName>
                                        </p:attrNameLst>
                                      </p:cBhvr>
                                      <p:to>
                                        <p:strVal val="visible"/>
                                      </p:to>
                                    </p:set>
                                    <p:animEffect transition="in" filter="wipe(left)">
                                      <p:cBhvr>
                                        <p:cTn id="42" dur="500"/>
                                        <p:tgtEl>
                                          <p:spTgt spid="50996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509963"/>
                                        </p:tgtEl>
                                        <p:attrNameLst>
                                          <p:attrName>style.visibility</p:attrName>
                                        </p:attrNameLst>
                                      </p:cBhvr>
                                      <p:to>
                                        <p:strVal val="visible"/>
                                      </p:to>
                                    </p:set>
                                    <p:animEffect transition="in" filter="wipe(down)">
                                      <p:cBhvr>
                                        <p:cTn id="47" dur="500"/>
                                        <p:tgtEl>
                                          <p:spTgt spid="50996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09973"/>
                                        </p:tgtEl>
                                        <p:attrNameLst>
                                          <p:attrName>style.visibility</p:attrName>
                                        </p:attrNameLst>
                                      </p:cBhvr>
                                      <p:to>
                                        <p:strVal val="visible"/>
                                      </p:to>
                                    </p:set>
                                    <p:animEffect transition="in" filter="dissolve">
                                      <p:cBhvr>
                                        <p:cTn id="52" dur="500"/>
                                        <p:tgtEl>
                                          <p:spTgt spid="50997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09967"/>
                                        </p:tgtEl>
                                        <p:attrNameLst>
                                          <p:attrName>style.visibility</p:attrName>
                                        </p:attrNameLst>
                                      </p:cBhvr>
                                      <p:to>
                                        <p:strVal val="visible"/>
                                      </p:to>
                                    </p:set>
                                    <p:animEffect transition="in" filter="wipe(left)">
                                      <p:cBhvr>
                                        <p:cTn id="57" dur="500"/>
                                        <p:tgtEl>
                                          <p:spTgt spid="50996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09960"/>
                                        </p:tgtEl>
                                        <p:attrNameLst>
                                          <p:attrName>style.visibility</p:attrName>
                                        </p:attrNameLst>
                                      </p:cBhvr>
                                      <p:to>
                                        <p:strVal val="visible"/>
                                      </p:to>
                                    </p:set>
                                    <p:animEffect transition="in" filter="wipe(left)">
                                      <p:cBhvr>
                                        <p:cTn id="62" dur="500"/>
                                        <p:tgtEl>
                                          <p:spTgt spid="509960"/>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509975"/>
                                        </p:tgtEl>
                                        <p:attrNameLst>
                                          <p:attrName>style.visibility</p:attrName>
                                        </p:attrNameLst>
                                      </p:cBhvr>
                                      <p:to>
                                        <p:strVal val="visible"/>
                                      </p:to>
                                    </p:set>
                                    <p:animEffect transition="in" filter="dissolve">
                                      <p:cBhvr>
                                        <p:cTn id="67" dur="500"/>
                                        <p:tgtEl>
                                          <p:spTgt spid="50997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509964"/>
                                        </p:tgtEl>
                                        <p:attrNameLst>
                                          <p:attrName>style.visibility</p:attrName>
                                        </p:attrNameLst>
                                      </p:cBhvr>
                                      <p:to>
                                        <p:strVal val="visible"/>
                                      </p:to>
                                    </p:set>
                                    <p:animEffect transition="in" filter="wipe(left)">
                                      <p:cBhvr>
                                        <p:cTn id="72" dur="500"/>
                                        <p:tgtEl>
                                          <p:spTgt spid="50996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509969"/>
                                        </p:tgtEl>
                                        <p:attrNameLst>
                                          <p:attrName>style.visibility</p:attrName>
                                        </p:attrNameLst>
                                      </p:cBhvr>
                                      <p:to>
                                        <p:strVal val="visible"/>
                                      </p:to>
                                    </p:set>
                                    <p:animEffect transition="in" filter="wipe(left)">
                                      <p:cBhvr>
                                        <p:cTn id="77" dur="500"/>
                                        <p:tgtEl>
                                          <p:spTgt spid="50996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509961"/>
                                        </p:tgtEl>
                                        <p:attrNameLst>
                                          <p:attrName>style.visibility</p:attrName>
                                        </p:attrNameLst>
                                      </p:cBhvr>
                                      <p:to>
                                        <p:strVal val="visible"/>
                                      </p:to>
                                    </p:set>
                                    <p:animEffect transition="in" filter="wipe(left)">
                                      <p:cBhvr>
                                        <p:cTn id="82" dur="500"/>
                                        <p:tgtEl>
                                          <p:spTgt spid="509961"/>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509974"/>
                                        </p:tgtEl>
                                        <p:attrNameLst>
                                          <p:attrName>style.visibility</p:attrName>
                                        </p:attrNameLst>
                                      </p:cBhvr>
                                      <p:to>
                                        <p:strVal val="visible"/>
                                      </p:to>
                                    </p:set>
                                    <p:animEffect transition="in" filter="dissolve">
                                      <p:cBhvr>
                                        <p:cTn id="87" dur="500"/>
                                        <p:tgtEl>
                                          <p:spTgt spid="50997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509965"/>
                                        </p:tgtEl>
                                        <p:attrNameLst>
                                          <p:attrName>style.visibility</p:attrName>
                                        </p:attrNameLst>
                                      </p:cBhvr>
                                      <p:to>
                                        <p:strVal val="visible"/>
                                      </p:to>
                                    </p:set>
                                    <p:animEffect transition="in" filter="wipe(left)">
                                      <p:cBhvr>
                                        <p:cTn id="92" dur="500"/>
                                        <p:tgtEl>
                                          <p:spTgt spid="50996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509968"/>
                                        </p:tgtEl>
                                        <p:attrNameLst>
                                          <p:attrName>style.visibility</p:attrName>
                                        </p:attrNameLst>
                                      </p:cBhvr>
                                      <p:to>
                                        <p:strVal val="visible"/>
                                      </p:to>
                                    </p:set>
                                    <p:animEffect transition="in" filter="wipe(left)">
                                      <p:cBhvr>
                                        <p:cTn id="97" dur="500"/>
                                        <p:tgtEl>
                                          <p:spTgt spid="50996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8"/>
                                        </p:tgtEl>
                                        <p:attrNameLst>
                                          <p:attrName>style.visibility</p:attrName>
                                        </p:attrNameLst>
                                      </p:cBhvr>
                                      <p:to>
                                        <p:strVal val="visible"/>
                                      </p:to>
                                    </p:set>
                                    <p:animEffect transition="in" filter="wipe(left)">
                                      <p:cBhvr>
                                        <p:cTn id="102" dur="500"/>
                                        <p:tgtEl>
                                          <p:spTgt spid="28"/>
                                        </p:tgtEl>
                                      </p:cBhvr>
                                    </p:animEffect>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3"/>
                                        </p:tgtEl>
                                        <p:attrNameLst>
                                          <p:attrName>style.visibility</p:attrName>
                                        </p:attrNameLst>
                                      </p:cBhvr>
                                      <p:to>
                                        <p:strVal val="visible"/>
                                      </p:to>
                                    </p:set>
                                    <p:anim calcmode="lin" valueType="num">
                                      <p:cBhvr additive="base">
                                        <p:cTn id="107" dur="500" fill="hold"/>
                                        <p:tgtEl>
                                          <p:spTgt spid="3"/>
                                        </p:tgtEl>
                                        <p:attrNameLst>
                                          <p:attrName>ppt_x</p:attrName>
                                        </p:attrNameLst>
                                      </p:cBhvr>
                                      <p:tavLst>
                                        <p:tav tm="0">
                                          <p:val>
                                            <p:strVal val="#ppt_x"/>
                                          </p:val>
                                        </p:tav>
                                        <p:tav tm="100000">
                                          <p:val>
                                            <p:strVal val="#ppt_x"/>
                                          </p:val>
                                        </p:tav>
                                      </p:tavLst>
                                    </p:anim>
                                    <p:anim calcmode="lin" valueType="num">
                                      <p:cBhvr additive="base">
                                        <p:cTn id="10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0978" name="Rectangle 2"/>
          <p:cNvSpPr>
            <a:spLocks noGrp="1" noChangeArrowheads="1"/>
          </p:cNvSpPr>
          <p:nvPr>
            <p:ph type="title" idx="4294967295"/>
          </p:nvPr>
        </p:nvSpPr>
        <p:spPr>
          <a:xfrm>
            <a:off x="755650" y="115888"/>
            <a:ext cx="3352800" cy="533400"/>
          </a:xfrm>
          <a:solidFill>
            <a:srgbClr val="CCFFCC"/>
          </a:solidFill>
          <a:effectLst>
            <a:outerShdw dist="35921" dir="2700000" algn="ctr" rotWithShape="0">
              <a:schemeClr val="bg2"/>
            </a:outerShdw>
          </a:effectLst>
        </p:spPr>
        <p:txBody>
          <a:bodyPr/>
          <a:lstStyle/>
          <a:p>
            <a:pPr>
              <a:defRPr/>
            </a:pPr>
            <a:r>
              <a:rPr lang="zh-CN" altLang="en-US" sz="2800" b="1">
                <a:solidFill>
                  <a:srgbClr val="FF0000"/>
                </a:solidFill>
                <a:effectLst>
                  <a:outerShdw blurRad="38100" dist="38100" dir="2700000" algn="tl">
                    <a:srgbClr val="000000"/>
                  </a:outerShdw>
                </a:effectLst>
              </a:rPr>
              <a:t>矢量随频率的变化</a:t>
            </a:r>
            <a:endParaRPr lang="zh-CN" altLang="en-US" sz="2800" b="1">
              <a:effectLst>
                <a:outerShdw blurRad="38100" dist="38100" dir="2700000" algn="tl">
                  <a:srgbClr val="000000"/>
                </a:outerShdw>
              </a:effectLst>
            </a:endParaRPr>
          </a:p>
        </p:txBody>
      </p:sp>
      <p:graphicFrame>
        <p:nvGraphicFramePr>
          <p:cNvPr id="510979" name="Object 2"/>
          <p:cNvGraphicFramePr>
            <a:graphicFrameLocks noChangeAspect="1"/>
          </p:cNvGraphicFramePr>
          <p:nvPr/>
        </p:nvGraphicFramePr>
        <p:xfrm>
          <a:off x="5181600" y="153988"/>
          <a:ext cx="3797300" cy="3579812"/>
        </p:xfrm>
        <a:graphic>
          <a:graphicData uri="http://schemas.openxmlformats.org/presentationml/2006/ole">
            <mc:AlternateContent xmlns:mc="http://schemas.openxmlformats.org/markup-compatibility/2006">
              <mc:Choice xmlns:v="urn:schemas-microsoft-com:vml" Requires="v">
                <p:oleObj name="Visio" r:id="rId3" imgW="2559050" imgH="2412365" progId="Visio.Drawing.6">
                  <p:embed/>
                </p:oleObj>
              </mc:Choice>
              <mc:Fallback>
                <p:oleObj name="Visio" r:id="rId3" imgW="2559050" imgH="2412365" progId="Visio.Drawing.6">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153988"/>
                        <a:ext cx="3797300"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0980" name="Object 3"/>
          <p:cNvGraphicFramePr>
            <a:graphicFrameLocks noChangeAspect="1"/>
          </p:cNvGraphicFramePr>
          <p:nvPr/>
        </p:nvGraphicFramePr>
        <p:xfrm>
          <a:off x="5168900" y="153988"/>
          <a:ext cx="3797300" cy="3579812"/>
        </p:xfrm>
        <a:graphic>
          <a:graphicData uri="http://schemas.openxmlformats.org/presentationml/2006/ole">
            <mc:AlternateContent xmlns:mc="http://schemas.openxmlformats.org/markup-compatibility/2006">
              <mc:Choice xmlns:v="urn:schemas-microsoft-com:vml" Requires="v">
                <p:oleObj name="Visio" r:id="rId5" imgW="2559050" imgH="2412365" progId="Visio.Drawing.6">
                  <p:embed/>
                </p:oleObj>
              </mc:Choice>
              <mc:Fallback>
                <p:oleObj name="Visio" r:id="rId5" imgW="2559050" imgH="2412365" progId="Visio.Drawing.6">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8900" y="153988"/>
                        <a:ext cx="3797300"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0981" name="Object 4"/>
          <p:cNvGraphicFramePr>
            <a:graphicFrameLocks noChangeAspect="1"/>
          </p:cNvGraphicFramePr>
          <p:nvPr/>
        </p:nvGraphicFramePr>
        <p:xfrm>
          <a:off x="5168900" y="153988"/>
          <a:ext cx="3797300" cy="3579812"/>
        </p:xfrm>
        <a:graphic>
          <a:graphicData uri="http://schemas.openxmlformats.org/presentationml/2006/ole">
            <mc:AlternateContent xmlns:mc="http://schemas.openxmlformats.org/markup-compatibility/2006">
              <mc:Choice xmlns:v="urn:schemas-microsoft-com:vml" Requires="v">
                <p:oleObj name="Visio" r:id="rId7" imgW="2559050" imgH="2412365" progId="Visio.Drawing.6">
                  <p:embed/>
                </p:oleObj>
              </mc:Choice>
              <mc:Fallback>
                <p:oleObj name="Visio" r:id="rId7" imgW="2559050" imgH="2412365" progId="Visio.Drawing.6">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68900" y="153988"/>
                        <a:ext cx="3797300"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0982" name="Object 5"/>
          <p:cNvGraphicFramePr>
            <a:graphicFrameLocks noChangeAspect="1"/>
          </p:cNvGraphicFramePr>
          <p:nvPr/>
        </p:nvGraphicFramePr>
        <p:xfrm>
          <a:off x="5168900" y="153988"/>
          <a:ext cx="3797300" cy="3579812"/>
        </p:xfrm>
        <a:graphic>
          <a:graphicData uri="http://schemas.openxmlformats.org/presentationml/2006/ole">
            <mc:AlternateContent xmlns:mc="http://schemas.openxmlformats.org/markup-compatibility/2006">
              <mc:Choice xmlns:v="urn:schemas-microsoft-com:vml" Requires="v">
                <p:oleObj name="Visio" r:id="rId9" imgW="2559050" imgH="2412365" progId="Visio.Drawing.6">
                  <p:embed/>
                </p:oleObj>
              </mc:Choice>
              <mc:Fallback>
                <p:oleObj name="Visio" r:id="rId9" imgW="2559050" imgH="2412365" progId="Visio.Drawing.6">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68900" y="153988"/>
                        <a:ext cx="3797300"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0983" name="Object 6"/>
          <p:cNvGraphicFramePr>
            <a:graphicFrameLocks noChangeAspect="1"/>
          </p:cNvGraphicFramePr>
          <p:nvPr/>
        </p:nvGraphicFramePr>
        <p:xfrm>
          <a:off x="5168900" y="153988"/>
          <a:ext cx="3797300" cy="3579812"/>
        </p:xfrm>
        <a:graphic>
          <a:graphicData uri="http://schemas.openxmlformats.org/presentationml/2006/ole">
            <mc:AlternateContent xmlns:mc="http://schemas.openxmlformats.org/markup-compatibility/2006">
              <mc:Choice xmlns:v="urn:schemas-microsoft-com:vml" Requires="v">
                <p:oleObj name="Visio" r:id="rId11" imgW="2559050" imgH="2412365" progId="Visio.Drawing.6">
                  <p:embed/>
                </p:oleObj>
              </mc:Choice>
              <mc:Fallback>
                <p:oleObj name="Visio" r:id="rId11" imgW="2559050" imgH="2412365" progId="Visio.Drawing.6">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68900" y="153988"/>
                        <a:ext cx="3797300"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0984" name="Object 7"/>
          <p:cNvGraphicFramePr>
            <a:graphicFrameLocks noChangeAspect="1"/>
          </p:cNvGraphicFramePr>
          <p:nvPr/>
        </p:nvGraphicFramePr>
        <p:xfrm>
          <a:off x="5168900" y="153988"/>
          <a:ext cx="3797300" cy="3579812"/>
        </p:xfrm>
        <a:graphic>
          <a:graphicData uri="http://schemas.openxmlformats.org/presentationml/2006/ole">
            <mc:AlternateContent xmlns:mc="http://schemas.openxmlformats.org/markup-compatibility/2006">
              <mc:Choice xmlns:v="urn:schemas-microsoft-com:vml" Requires="v">
                <p:oleObj name="Visio" r:id="rId13" imgW="2559050" imgH="2412365" progId="Visio.Drawing.6">
                  <p:embed/>
                </p:oleObj>
              </mc:Choice>
              <mc:Fallback>
                <p:oleObj name="Visio" r:id="rId13" imgW="2559050" imgH="2412365" progId="Visio.Drawing.6">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68900" y="153988"/>
                        <a:ext cx="3797300"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0985" name="Object 8"/>
          <p:cNvGraphicFramePr>
            <a:graphicFrameLocks noChangeAspect="1"/>
          </p:cNvGraphicFramePr>
          <p:nvPr/>
        </p:nvGraphicFramePr>
        <p:xfrm>
          <a:off x="5168900" y="153988"/>
          <a:ext cx="3797300" cy="3579812"/>
        </p:xfrm>
        <a:graphic>
          <a:graphicData uri="http://schemas.openxmlformats.org/presentationml/2006/ole">
            <mc:AlternateContent xmlns:mc="http://schemas.openxmlformats.org/markup-compatibility/2006">
              <mc:Choice xmlns:v="urn:schemas-microsoft-com:vml" Requires="v">
                <p:oleObj name="Visio" r:id="rId15" imgW="2559050" imgH="2412365" progId="Visio.Drawing.6">
                  <p:embed/>
                </p:oleObj>
              </mc:Choice>
              <mc:Fallback>
                <p:oleObj name="Visio" r:id="rId15" imgW="2559050" imgH="2412365" progId="Visio.Drawing.6">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68900" y="153988"/>
                        <a:ext cx="3797300"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0986" name="Object 9"/>
          <p:cNvGraphicFramePr>
            <a:graphicFrameLocks noChangeAspect="1"/>
          </p:cNvGraphicFramePr>
          <p:nvPr/>
        </p:nvGraphicFramePr>
        <p:xfrm>
          <a:off x="5168900" y="153988"/>
          <a:ext cx="3797300" cy="3579812"/>
        </p:xfrm>
        <a:graphic>
          <a:graphicData uri="http://schemas.openxmlformats.org/presentationml/2006/ole">
            <mc:AlternateContent xmlns:mc="http://schemas.openxmlformats.org/markup-compatibility/2006">
              <mc:Choice xmlns:v="urn:schemas-microsoft-com:vml" Requires="v">
                <p:oleObj name="Visio" r:id="rId17" imgW="2559050" imgH="2412365" progId="Visio.Drawing.6">
                  <p:embed/>
                </p:oleObj>
              </mc:Choice>
              <mc:Fallback>
                <p:oleObj name="Visio" r:id="rId17" imgW="2559050" imgH="2412365" progId="Visio.Drawing.6">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68900" y="153988"/>
                        <a:ext cx="3797300"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0987" name="Object 10"/>
          <p:cNvGraphicFramePr>
            <a:graphicFrameLocks noChangeAspect="1"/>
          </p:cNvGraphicFramePr>
          <p:nvPr/>
        </p:nvGraphicFramePr>
        <p:xfrm>
          <a:off x="5168900" y="153988"/>
          <a:ext cx="3797300" cy="3579812"/>
        </p:xfrm>
        <a:graphic>
          <a:graphicData uri="http://schemas.openxmlformats.org/presentationml/2006/ole">
            <mc:AlternateContent xmlns:mc="http://schemas.openxmlformats.org/markup-compatibility/2006">
              <mc:Choice xmlns:v="urn:schemas-microsoft-com:vml" Requires="v">
                <p:oleObj name="Visio" r:id="rId19" imgW="2559050" imgH="2412365" progId="Visio.Drawing.6">
                  <p:embed/>
                </p:oleObj>
              </mc:Choice>
              <mc:Fallback>
                <p:oleObj name="Visio" r:id="rId19" imgW="2559050" imgH="2412365" progId="Visio.Drawing.6">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68900" y="153988"/>
                        <a:ext cx="3797300"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0988" name="Object 11"/>
          <p:cNvGraphicFramePr>
            <a:graphicFrameLocks noChangeAspect="1"/>
          </p:cNvGraphicFramePr>
          <p:nvPr/>
        </p:nvGraphicFramePr>
        <p:xfrm>
          <a:off x="5168900" y="153988"/>
          <a:ext cx="3797300" cy="3579812"/>
        </p:xfrm>
        <a:graphic>
          <a:graphicData uri="http://schemas.openxmlformats.org/presentationml/2006/ole">
            <mc:AlternateContent xmlns:mc="http://schemas.openxmlformats.org/markup-compatibility/2006">
              <mc:Choice xmlns:v="urn:schemas-microsoft-com:vml" Requires="v">
                <p:oleObj name="Visio" r:id="rId21" imgW="2559050" imgH="2412365" progId="Visio.Drawing.6">
                  <p:embed/>
                </p:oleObj>
              </mc:Choice>
              <mc:Fallback>
                <p:oleObj name="Visio" r:id="rId21" imgW="2559050" imgH="2412365" progId="Visio.Drawing.6">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68900" y="153988"/>
                        <a:ext cx="3797300"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0994" name="Object 16"/>
          <p:cNvGraphicFramePr>
            <a:graphicFrameLocks noChangeAspect="1"/>
          </p:cNvGraphicFramePr>
          <p:nvPr/>
        </p:nvGraphicFramePr>
        <p:xfrm>
          <a:off x="5105400" y="4038600"/>
          <a:ext cx="2209800" cy="533400"/>
        </p:xfrm>
        <a:graphic>
          <a:graphicData uri="http://schemas.openxmlformats.org/presentationml/2006/ole">
            <mc:AlternateContent xmlns:mc="http://schemas.openxmlformats.org/markup-compatibility/2006">
              <mc:Choice xmlns:v="urn:schemas-microsoft-com:vml" Requires="v">
                <p:oleObj name="Equation" r:id="rId23" imgW="800100" imgH="228600" progId="Equation.3">
                  <p:embed/>
                </p:oleObj>
              </mc:Choice>
              <mc:Fallback>
                <p:oleObj name="Equation" r:id="rId23" imgW="800100" imgH="228600" progId="Equation.3">
                  <p:embed/>
                  <p:pic>
                    <p:nvPicPr>
                      <p:cNvPr id="0" name="Object 1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105400" y="4038600"/>
                        <a:ext cx="2209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0995" name="Text Box 19"/>
          <p:cNvSpPr txBox="1">
            <a:spLocks noChangeArrowheads="1"/>
          </p:cNvSpPr>
          <p:nvPr/>
        </p:nvSpPr>
        <p:spPr bwMode="auto">
          <a:xfrm>
            <a:off x="985838" y="5961063"/>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FF0000"/>
                </a:solidFill>
                <a:latin typeface="Tahoma" panose="020B0604030504040204" pitchFamily="34" charset="0"/>
                <a:ea typeface="宋体" panose="02010600030101010101" pitchFamily="2" charset="-122"/>
              </a:rPr>
              <a:t>振幅</a:t>
            </a:r>
          </a:p>
        </p:txBody>
      </p:sp>
      <p:sp>
        <p:nvSpPr>
          <p:cNvPr id="510996" name="Text Box 20"/>
          <p:cNvSpPr txBox="1">
            <a:spLocks noChangeArrowheads="1"/>
          </p:cNvSpPr>
          <p:nvPr/>
        </p:nvSpPr>
        <p:spPr bwMode="auto">
          <a:xfrm>
            <a:off x="5456238" y="5992813"/>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dirty="0">
                <a:solidFill>
                  <a:srgbClr val="006600"/>
                </a:solidFill>
                <a:latin typeface="Tahoma" panose="020B0604030504040204" pitchFamily="34" charset="0"/>
                <a:ea typeface="宋体" panose="02010600030101010101" pitchFamily="2" charset="-122"/>
              </a:rPr>
              <a:t>相位</a:t>
            </a:r>
          </a:p>
        </p:txBody>
      </p:sp>
      <p:graphicFrame>
        <p:nvGraphicFramePr>
          <p:cNvPr id="510999" name="Object 19"/>
          <p:cNvGraphicFramePr>
            <a:graphicFrameLocks noChangeAspect="1"/>
          </p:cNvGraphicFramePr>
          <p:nvPr/>
        </p:nvGraphicFramePr>
        <p:xfrm>
          <a:off x="533400" y="762000"/>
          <a:ext cx="4038600" cy="533400"/>
        </p:xfrm>
        <a:graphic>
          <a:graphicData uri="http://schemas.openxmlformats.org/presentationml/2006/ole">
            <mc:AlternateContent xmlns:mc="http://schemas.openxmlformats.org/markup-compatibility/2006">
              <mc:Choice xmlns:v="urn:schemas-microsoft-com:vml" Requires="v">
                <p:oleObj name="Equation" r:id="rId25" imgW="1333500" imgH="215900" progId="Equation.3">
                  <p:embed/>
                </p:oleObj>
              </mc:Choice>
              <mc:Fallback>
                <p:oleObj name="Equation" r:id="rId25" imgW="1333500" imgH="215900" progId="Equation.3">
                  <p:embed/>
                  <p:pic>
                    <p:nvPicPr>
                      <p:cNvPr id="0" name="Object 1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3400" y="762000"/>
                        <a:ext cx="4038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1000" name="Text Box 24"/>
          <p:cNvSpPr txBox="1">
            <a:spLocks noChangeArrowheads="1"/>
          </p:cNvSpPr>
          <p:nvPr/>
        </p:nvSpPr>
        <p:spPr bwMode="auto">
          <a:xfrm>
            <a:off x="3048000" y="1371600"/>
            <a:ext cx="13716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latin typeface="Tahoma" panose="020B0604030504040204" pitchFamily="34" charset="0"/>
                <a:ea typeface="宋体" panose="02010600030101010101" pitchFamily="2" charset="-122"/>
              </a:rPr>
              <a:t>也变化</a:t>
            </a:r>
          </a:p>
        </p:txBody>
      </p:sp>
      <p:sp>
        <p:nvSpPr>
          <p:cNvPr id="511001" name="Text Box 25"/>
          <p:cNvSpPr txBox="1">
            <a:spLocks noChangeArrowheads="1"/>
          </p:cNvSpPr>
          <p:nvPr/>
        </p:nvSpPr>
        <p:spPr bwMode="auto">
          <a:xfrm>
            <a:off x="533400" y="2057400"/>
            <a:ext cx="3030538"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latin typeface="Tahoma" panose="020B0604030504040204" pitchFamily="34" charset="0"/>
                <a:ea typeface="宋体" panose="02010600030101010101" pitchFamily="2" charset="-122"/>
              </a:rPr>
              <a:t>对任意频率有：</a:t>
            </a:r>
          </a:p>
        </p:txBody>
      </p:sp>
      <p:grpSp>
        <p:nvGrpSpPr>
          <p:cNvPr id="2" name="Group 61"/>
          <p:cNvGrpSpPr/>
          <p:nvPr/>
        </p:nvGrpSpPr>
        <p:grpSpPr bwMode="auto">
          <a:xfrm>
            <a:off x="5180013" y="155575"/>
            <a:ext cx="3797300" cy="3579813"/>
            <a:chOff x="3264" y="97"/>
            <a:chExt cx="2392" cy="2255"/>
          </a:xfrm>
        </p:grpSpPr>
        <p:sp>
          <p:nvSpPr>
            <p:cNvPr id="45083" name="AutoShape 26"/>
            <p:cNvSpPr>
              <a:spLocks noChangeAspect="1" noChangeArrowheads="1" noTextEdit="1"/>
            </p:cNvSpPr>
            <p:nvPr/>
          </p:nvSpPr>
          <p:spPr bwMode="auto">
            <a:xfrm>
              <a:off x="3264" y="97"/>
              <a:ext cx="2392" cy="2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5084" name="Line 28"/>
            <p:cNvSpPr>
              <a:spLocks noChangeShapeType="1"/>
            </p:cNvSpPr>
            <p:nvPr/>
          </p:nvSpPr>
          <p:spPr bwMode="auto">
            <a:xfrm>
              <a:off x="3450" y="2023"/>
              <a:ext cx="1935" cy="1"/>
            </a:xfrm>
            <a:prstGeom prst="line">
              <a:avLst/>
            </a:prstGeom>
            <a:noFill/>
            <a:ln w="2381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5" name="Freeform 29"/>
            <p:cNvSpPr/>
            <p:nvPr/>
          </p:nvSpPr>
          <p:spPr bwMode="auto">
            <a:xfrm>
              <a:off x="5341" y="1979"/>
              <a:ext cx="44" cy="88"/>
            </a:xfrm>
            <a:custGeom>
              <a:avLst/>
              <a:gdLst>
                <a:gd name="T0" fmla="*/ 0 w 44"/>
                <a:gd name="T1" fmla="*/ 88 h 88"/>
                <a:gd name="T2" fmla="*/ 44 w 44"/>
                <a:gd name="T3" fmla="*/ 44 h 88"/>
                <a:gd name="T4" fmla="*/ 0 w 44"/>
                <a:gd name="T5" fmla="*/ 0 h 88"/>
                <a:gd name="T6" fmla="*/ 0 60000 65536"/>
                <a:gd name="T7" fmla="*/ 0 60000 65536"/>
                <a:gd name="T8" fmla="*/ 0 60000 65536"/>
                <a:gd name="T9" fmla="*/ 0 w 44"/>
                <a:gd name="T10" fmla="*/ 0 h 88"/>
                <a:gd name="T11" fmla="*/ 44 w 44"/>
                <a:gd name="T12" fmla="*/ 88 h 88"/>
              </a:gdLst>
              <a:ahLst/>
              <a:cxnLst>
                <a:cxn ang="T6">
                  <a:pos x="T0" y="T1"/>
                </a:cxn>
                <a:cxn ang="T7">
                  <a:pos x="T2" y="T3"/>
                </a:cxn>
                <a:cxn ang="T8">
                  <a:pos x="T4" y="T5"/>
                </a:cxn>
              </a:cxnLst>
              <a:rect l="T9" t="T10" r="T11" b="T12"/>
              <a:pathLst>
                <a:path w="44" h="88">
                  <a:moveTo>
                    <a:pt x="0" y="88"/>
                  </a:moveTo>
                  <a:lnTo>
                    <a:pt x="44" y="44"/>
                  </a:lnTo>
                  <a:lnTo>
                    <a:pt x="0" y="0"/>
                  </a:lnTo>
                </a:path>
              </a:pathLst>
            </a:custGeom>
            <a:noFill/>
            <a:ln w="23813">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086" name="Line 30"/>
            <p:cNvSpPr>
              <a:spLocks noChangeShapeType="1"/>
            </p:cNvSpPr>
            <p:nvPr/>
          </p:nvSpPr>
          <p:spPr bwMode="auto">
            <a:xfrm flipV="1">
              <a:off x="4964" y="173"/>
              <a:ext cx="1" cy="2102"/>
            </a:xfrm>
            <a:prstGeom prst="line">
              <a:avLst/>
            </a:prstGeom>
            <a:noFill/>
            <a:ln w="2381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87" name="Freeform 31"/>
            <p:cNvSpPr/>
            <p:nvPr/>
          </p:nvSpPr>
          <p:spPr bwMode="auto">
            <a:xfrm>
              <a:off x="4920" y="173"/>
              <a:ext cx="88" cy="44"/>
            </a:xfrm>
            <a:custGeom>
              <a:avLst/>
              <a:gdLst>
                <a:gd name="T0" fmla="*/ 88 w 88"/>
                <a:gd name="T1" fmla="*/ 44 h 44"/>
                <a:gd name="T2" fmla="*/ 44 w 88"/>
                <a:gd name="T3" fmla="*/ 0 h 44"/>
                <a:gd name="T4" fmla="*/ 0 w 88"/>
                <a:gd name="T5" fmla="*/ 44 h 44"/>
                <a:gd name="T6" fmla="*/ 0 60000 65536"/>
                <a:gd name="T7" fmla="*/ 0 60000 65536"/>
                <a:gd name="T8" fmla="*/ 0 60000 65536"/>
                <a:gd name="T9" fmla="*/ 0 w 88"/>
                <a:gd name="T10" fmla="*/ 0 h 44"/>
                <a:gd name="T11" fmla="*/ 88 w 88"/>
                <a:gd name="T12" fmla="*/ 44 h 44"/>
              </a:gdLst>
              <a:ahLst/>
              <a:cxnLst>
                <a:cxn ang="T6">
                  <a:pos x="T0" y="T1"/>
                </a:cxn>
                <a:cxn ang="T7">
                  <a:pos x="T2" y="T3"/>
                </a:cxn>
                <a:cxn ang="T8">
                  <a:pos x="T4" y="T5"/>
                </a:cxn>
              </a:cxnLst>
              <a:rect l="T9" t="T10" r="T11" b="T12"/>
              <a:pathLst>
                <a:path w="88" h="44">
                  <a:moveTo>
                    <a:pt x="88" y="44"/>
                  </a:moveTo>
                  <a:lnTo>
                    <a:pt x="44" y="0"/>
                  </a:lnTo>
                  <a:lnTo>
                    <a:pt x="0" y="44"/>
                  </a:lnTo>
                </a:path>
              </a:pathLst>
            </a:custGeom>
            <a:noFill/>
            <a:ln w="23813">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088" name="Rectangle 32"/>
            <p:cNvSpPr>
              <a:spLocks noChangeArrowheads="1"/>
            </p:cNvSpPr>
            <p:nvPr/>
          </p:nvSpPr>
          <p:spPr bwMode="auto">
            <a:xfrm>
              <a:off x="5466" y="1870"/>
              <a:ext cx="111"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2300" i="1">
                  <a:solidFill>
                    <a:srgbClr val="000000"/>
                  </a:solidFill>
                  <a:latin typeface="Symbol" panose="05050102010706020507" pitchFamily="18" charset="2"/>
                </a:rPr>
                <a:t>s</a:t>
              </a:r>
              <a:endParaRPr lang="en-US" altLang="zh-CN"/>
            </a:p>
          </p:txBody>
        </p:sp>
        <p:sp>
          <p:nvSpPr>
            <p:cNvPr id="45089" name="Rectangle 33"/>
            <p:cNvSpPr>
              <a:spLocks noChangeArrowheads="1"/>
            </p:cNvSpPr>
            <p:nvPr/>
          </p:nvSpPr>
          <p:spPr bwMode="auto">
            <a:xfrm>
              <a:off x="5123" y="138"/>
              <a:ext cx="154"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i="1">
                  <a:solidFill>
                    <a:srgbClr val="000000"/>
                  </a:solidFill>
                  <a:latin typeface="Symbol" panose="05050102010706020507" pitchFamily="18" charset="2"/>
                </a:rPr>
                <a:t>w</a:t>
              </a:r>
              <a:endParaRPr lang="en-US" altLang="zh-CN"/>
            </a:p>
          </p:txBody>
        </p:sp>
        <p:sp>
          <p:nvSpPr>
            <p:cNvPr id="45090" name="Rectangle 34"/>
            <p:cNvSpPr>
              <a:spLocks noChangeArrowheads="1"/>
            </p:cNvSpPr>
            <p:nvPr/>
          </p:nvSpPr>
          <p:spPr bwMode="auto">
            <a:xfrm>
              <a:off x="5069" y="158"/>
              <a:ext cx="11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i="1">
                  <a:solidFill>
                    <a:srgbClr val="000000"/>
                  </a:solidFill>
                </a:rPr>
                <a:t>j</a:t>
              </a:r>
              <a:endParaRPr lang="en-US" altLang="zh-CN"/>
            </a:p>
          </p:txBody>
        </p:sp>
        <p:sp>
          <p:nvSpPr>
            <p:cNvPr id="45091" name="Line 35"/>
            <p:cNvSpPr>
              <a:spLocks noChangeShapeType="1"/>
            </p:cNvSpPr>
            <p:nvPr/>
          </p:nvSpPr>
          <p:spPr bwMode="auto">
            <a:xfrm flipH="1">
              <a:off x="3753" y="980"/>
              <a:ext cx="67" cy="67"/>
            </a:xfrm>
            <a:prstGeom prst="line">
              <a:avLst/>
            </a:prstGeom>
            <a:noFill/>
            <a:ln w="2381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2" name="Line 36"/>
            <p:cNvSpPr>
              <a:spLocks noChangeShapeType="1"/>
            </p:cNvSpPr>
            <p:nvPr/>
          </p:nvSpPr>
          <p:spPr bwMode="auto">
            <a:xfrm>
              <a:off x="3753" y="980"/>
              <a:ext cx="67" cy="67"/>
            </a:xfrm>
            <a:prstGeom prst="line">
              <a:avLst/>
            </a:prstGeom>
            <a:noFill/>
            <a:ln w="2381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093" name="Freeform 37"/>
            <p:cNvSpPr/>
            <p:nvPr/>
          </p:nvSpPr>
          <p:spPr bwMode="auto">
            <a:xfrm>
              <a:off x="3589" y="1657"/>
              <a:ext cx="59" cy="59"/>
            </a:xfrm>
            <a:custGeom>
              <a:avLst/>
              <a:gdLst>
                <a:gd name="T0" fmla="*/ 0 w 59"/>
                <a:gd name="T1" fmla="*/ 30 h 59"/>
                <a:gd name="T2" fmla="*/ 0 w 59"/>
                <a:gd name="T3" fmla="*/ 26 h 59"/>
                <a:gd name="T4" fmla="*/ 0 w 59"/>
                <a:gd name="T5" fmla="*/ 23 h 59"/>
                <a:gd name="T6" fmla="*/ 1 w 59"/>
                <a:gd name="T7" fmla="*/ 21 h 59"/>
                <a:gd name="T8" fmla="*/ 2 w 59"/>
                <a:gd name="T9" fmla="*/ 18 h 59"/>
                <a:gd name="T10" fmla="*/ 5 w 59"/>
                <a:gd name="T11" fmla="*/ 13 h 59"/>
                <a:gd name="T12" fmla="*/ 8 w 59"/>
                <a:gd name="T13" fmla="*/ 9 h 59"/>
                <a:gd name="T14" fmla="*/ 13 w 59"/>
                <a:gd name="T15" fmla="*/ 5 h 59"/>
                <a:gd name="T16" fmla="*/ 18 w 59"/>
                <a:gd name="T17" fmla="*/ 2 h 59"/>
                <a:gd name="T18" fmla="*/ 21 w 59"/>
                <a:gd name="T19" fmla="*/ 1 h 59"/>
                <a:gd name="T20" fmla="*/ 23 w 59"/>
                <a:gd name="T21" fmla="*/ 1 h 59"/>
                <a:gd name="T22" fmla="*/ 26 w 59"/>
                <a:gd name="T23" fmla="*/ 0 h 59"/>
                <a:gd name="T24" fmla="*/ 29 w 59"/>
                <a:gd name="T25" fmla="*/ 0 h 59"/>
                <a:gd name="T26" fmla="*/ 32 w 59"/>
                <a:gd name="T27" fmla="*/ 0 h 59"/>
                <a:gd name="T28" fmla="*/ 35 w 59"/>
                <a:gd name="T29" fmla="*/ 1 h 59"/>
                <a:gd name="T30" fmla="*/ 38 w 59"/>
                <a:gd name="T31" fmla="*/ 1 h 59"/>
                <a:gd name="T32" fmla="*/ 41 w 59"/>
                <a:gd name="T33" fmla="*/ 2 h 59"/>
                <a:gd name="T34" fmla="*/ 45 w 59"/>
                <a:gd name="T35" fmla="*/ 5 h 59"/>
                <a:gd name="T36" fmla="*/ 50 w 59"/>
                <a:gd name="T37" fmla="*/ 9 h 59"/>
                <a:gd name="T38" fmla="*/ 54 w 59"/>
                <a:gd name="T39" fmla="*/ 13 h 59"/>
                <a:gd name="T40" fmla="*/ 57 w 59"/>
                <a:gd name="T41" fmla="*/ 18 h 59"/>
                <a:gd name="T42" fmla="*/ 58 w 59"/>
                <a:gd name="T43" fmla="*/ 21 h 59"/>
                <a:gd name="T44" fmla="*/ 58 w 59"/>
                <a:gd name="T45" fmla="*/ 23 h 59"/>
                <a:gd name="T46" fmla="*/ 59 w 59"/>
                <a:gd name="T47" fmla="*/ 26 h 59"/>
                <a:gd name="T48" fmla="*/ 59 w 59"/>
                <a:gd name="T49" fmla="*/ 30 h 59"/>
                <a:gd name="T50" fmla="*/ 59 w 59"/>
                <a:gd name="T51" fmla="*/ 30 h 59"/>
                <a:gd name="T52" fmla="*/ 59 w 59"/>
                <a:gd name="T53" fmla="*/ 33 h 59"/>
                <a:gd name="T54" fmla="*/ 58 w 59"/>
                <a:gd name="T55" fmla="*/ 36 h 59"/>
                <a:gd name="T56" fmla="*/ 58 w 59"/>
                <a:gd name="T57" fmla="*/ 38 h 59"/>
                <a:gd name="T58" fmla="*/ 57 w 59"/>
                <a:gd name="T59" fmla="*/ 41 h 59"/>
                <a:gd name="T60" fmla="*/ 54 w 59"/>
                <a:gd name="T61" fmla="*/ 46 h 59"/>
                <a:gd name="T62" fmla="*/ 50 w 59"/>
                <a:gd name="T63" fmla="*/ 51 h 59"/>
                <a:gd name="T64" fmla="*/ 45 w 59"/>
                <a:gd name="T65" fmla="*/ 54 h 59"/>
                <a:gd name="T66" fmla="*/ 41 w 59"/>
                <a:gd name="T67" fmla="*/ 57 h 59"/>
                <a:gd name="T68" fmla="*/ 38 w 59"/>
                <a:gd name="T69" fmla="*/ 58 h 59"/>
                <a:gd name="T70" fmla="*/ 35 w 59"/>
                <a:gd name="T71" fmla="*/ 59 h 59"/>
                <a:gd name="T72" fmla="*/ 32 w 59"/>
                <a:gd name="T73" fmla="*/ 59 h 59"/>
                <a:gd name="T74" fmla="*/ 29 w 59"/>
                <a:gd name="T75" fmla="*/ 59 h 59"/>
                <a:gd name="T76" fmla="*/ 26 w 59"/>
                <a:gd name="T77" fmla="*/ 59 h 59"/>
                <a:gd name="T78" fmla="*/ 23 w 59"/>
                <a:gd name="T79" fmla="*/ 59 h 59"/>
                <a:gd name="T80" fmla="*/ 21 w 59"/>
                <a:gd name="T81" fmla="*/ 58 h 59"/>
                <a:gd name="T82" fmla="*/ 18 w 59"/>
                <a:gd name="T83" fmla="*/ 57 h 59"/>
                <a:gd name="T84" fmla="*/ 13 w 59"/>
                <a:gd name="T85" fmla="*/ 54 h 59"/>
                <a:gd name="T86" fmla="*/ 8 w 59"/>
                <a:gd name="T87" fmla="*/ 51 h 59"/>
                <a:gd name="T88" fmla="*/ 5 w 59"/>
                <a:gd name="T89" fmla="*/ 46 h 59"/>
                <a:gd name="T90" fmla="*/ 2 w 59"/>
                <a:gd name="T91" fmla="*/ 41 h 59"/>
                <a:gd name="T92" fmla="*/ 1 w 59"/>
                <a:gd name="T93" fmla="*/ 38 h 59"/>
                <a:gd name="T94" fmla="*/ 0 w 59"/>
                <a:gd name="T95" fmla="*/ 36 h 59"/>
                <a:gd name="T96" fmla="*/ 0 w 59"/>
                <a:gd name="T97" fmla="*/ 33 h 59"/>
                <a:gd name="T98" fmla="*/ 0 w 59"/>
                <a:gd name="T99" fmla="*/ 30 h 5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9"/>
                <a:gd name="T151" fmla="*/ 0 h 59"/>
                <a:gd name="T152" fmla="*/ 59 w 59"/>
                <a:gd name="T153" fmla="*/ 59 h 5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9" h="59">
                  <a:moveTo>
                    <a:pt x="0" y="30"/>
                  </a:moveTo>
                  <a:lnTo>
                    <a:pt x="0" y="26"/>
                  </a:lnTo>
                  <a:lnTo>
                    <a:pt x="0" y="23"/>
                  </a:lnTo>
                  <a:lnTo>
                    <a:pt x="1" y="21"/>
                  </a:lnTo>
                  <a:lnTo>
                    <a:pt x="2" y="18"/>
                  </a:lnTo>
                  <a:lnTo>
                    <a:pt x="5" y="13"/>
                  </a:lnTo>
                  <a:lnTo>
                    <a:pt x="8" y="9"/>
                  </a:lnTo>
                  <a:lnTo>
                    <a:pt x="13" y="5"/>
                  </a:lnTo>
                  <a:lnTo>
                    <a:pt x="18" y="2"/>
                  </a:lnTo>
                  <a:lnTo>
                    <a:pt x="21" y="1"/>
                  </a:lnTo>
                  <a:lnTo>
                    <a:pt x="23" y="1"/>
                  </a:lnTo>
                  <a:lnTo>
                    <a:pt x="26" y="0"/>
                  </a:lnTo>
                  <a:lnTo>
                    <a:pt x="29" y="0"/>
                  </a:lnTo>
                  <a:lnTo>
                    <a:pt x="32" y="0"/>
                  </a:lnTo>
                  <a:lnTo>
                    <a:pt x="35" y="1"/>
                  </a:lnTo>
                  <a:lnTo>
                    <a:pt x="38" y="1"/>
                  </a:lnTo>
                  <a:lnTo>
                    <a:pt x="41" y="2"/>
                  </a:lnTo>
                  <a:lnTo>
                    <a:pt x="45" y="5"/>
                  </a:lnTo>
                  <a:lnTo>
                    <a:pt x="50" y="9"/>
                  </a:lnTo>
                  <a:lnTo>
                    <a:pt x="54" y="13"/>
                  </a:lnTo>
                  <a:lnTo>
                    <a:pt x="57" y="18"/>
                  </a:lnTo>
                  <a:lnTo>
                    <a:pt x="58" y="21"/>
                  </a:lnTo>
                  <a:lnTo>
                    <a:pt x="58" y="23"/>
                  </a:lnTo>
                  <a:lnTo>
                    <a:pt x="59" y="26"/>
                  </a:lnTo>
                  <a:lnTo>
                    <a:pt x="59" y="30"/>
                  </a:lnTo>
                  <a:lnTo>
                    <a:pt x="59" y="33"/>
                  </a:lnTo>
                  <a:lnTo>
                    <a:pt x="58" y="36"/>
                  </a:lnTo>
                  <a:lnTo>
                    <a:pt x="58" y="38"/>
                  </a:lnTo>
                  <a:lnTo>
                    <a:pt x="57" y="41"/>
                  </a:lnTo>
                  <a:lnTo>
                    <a:pt x="54" y="46"/>
                  </a:lnTo>
                  <a:lnTo>
                    <a:pt x="50" y="51"/>
                  </a:lnTo>
                  <a:lnTo>
                    <a:pt x="45" y="54"/>
                  </a:lnTo>
                  <a:lnTo>
                    <a:pt x="41" y="57"/>
                  </a:lnTo>
                  <a:lnTo>
                    <a:pt x="38" y="58"/>
                  </a:lnTo>
                  <a:lnTo>
                    <a:pt x="35" y="59"/>
                  </a:lnTo>
                  <a:lnTo>
                    <a:pt x="32" y="59"/>
                  </a:lnTo>
                  <a:lnTo>
                    <a:pt x="29" y="59"/>
                  </a:lnTo>
                  <a:lnTo>
                    <a:pt x="26" y="59"/>
                  </a:lnTo>
                  <a:lnTo>
                    <a:pt x="23" y="59"/>
                  </a:lnTo>
                  <a:lnTo>
                    <a:pt x="21" y="58"/>
                  </a:lnTo>
                  <a:lnTo>
                    <a:pt x="18" y="57"/>
                  </a:lnTo>
                  <a:lnTo>
                    <a:pt x="13" y="54"/>
                  </a:lnTo>
                  <a:lnTo>
                    <a:pt x="8" y="51"/>
                  </a:lnTo>
                  <a:lnTo>
                    <a:pt x="5" y="46"/>
                  </a:lnTo>
                  <a:lnTo>
                    <a:pt x="2" y="41"/>
                  </a:lnTo>
                  <a:lnTo>
                    <a:pt x="1" y="38"/>
                  </a:lnTo>
                  <a:lnTo>
                    <a:pt x="0" y="36"/>
                  </a:lnTo>
                  <a:lnTo>
                    <a:pt x="0" y="33"/>
                  </a:lnTo>
                  <a:lnTo>
                    <a:pt x="0" y="3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094" name="Freeform 38"/>
            <p:cNvSpPr/>
            <p:nvPr/>
          </p:nvSpPr>
          <p:spPr bwMode="auto">
            <a:xfrm>
              <a:off x="3589" y="1657"/>
              <a:ext cx="59" cy="59"/>
            </a:xfrm>
            <a:custGeom>
              <a:avLst/>
              <a:gdLst>
                <a:gd name="T0" fmla="*/ 0 w 59"/>
                <a:gd name="T1" fmla="*/ 30 h 59"/>
                <a:gd name="T2" fmla="*/ 0 w 59"/>
                <a:gd name="T3" fmla="*/ 26 h 59"/>
                <a:gd name="T4" fmla="*/ 0 w 59"/>
                <a:gd name="T5" fmla="*/ 23 h 59"/>
                <a:gd name="T6" fmla="*/ 1 w 59"/>
                <a:gd name="T7" fmla="*/ 21 h 59"/>
                <a:gd name="T8" fmla="*/ 2 w 59"/>
                <a:gd name="T9" fmla="*/ 18 h 59"/>
                <a:gd name="T10" fmla="*/ 5 w 59"/>
                <a:gd name="T11" fmla="*/ 13 h 59"/>
                <a:gd name="T12" fmla="*/ 8 w 59"/>
                <a:gd name="T13" fmla="*/ 9 h 59"/>
                <a:gd name="T14" fmla="*/ 13 w 59"/>
                <a:gd name="T15" fmla="*/ 5 h 59"/>
                <a:gd name="T16" fmla="*/ 18 w 59"/>
                <a:gd name="T17" fmla="*/ 2 h 59"/>
                <a:gd name="T18" fmla="*/ 21 w 59"/>
                <a:gd name="T19" fmla="*/ 1 h 59"/>
                <a:gd name="T20" fmla="*/ 23 w 59"/>
                <a:gd name="T21" fmla="*/ 1 h 59"/>
                <a:gd name="T22" fmla="*/ 26 w 59"/>
                <a:gd name="T23" fmla="*/ 0 h 59"/>
                <a:gd name="T24" fmla="*/ 29 w 59"/>
                <a:gd name="T25" fmla="*/ 0 h 59"/>
                <a:gd name="T26" fmla="*/ 32 w 59"/>
                <a:gd name="T27" fmla="*/ 0 h 59"/>
                <a:gd name="T28" fmla="*/ 35 w 59"/>
                <a:gd name="T29" fmla="*/ 1 h 59"/>
                <a:gd name="T30" fmla="*/ 38 w 59"/>
                <a:gd name="T31" fmla="*/ 1 h 59"/>
                <a:gd name="T32" fmla="*/ 41 w 59"/>
                <a:gd name="T33" fmla="*/ 2 h 59"/>
                <a:gd name="T34" fmla="*/ 45 w 59"/>
                <a:gd name="T35" fmla="*/ 5 h 59"/>
                <a:gd name="T36" fmla="*/ 50 w 59"/>
                <a:gd name="T37" fmla="*/ 9 h 59"/>
                <a:gd name="T38" fmla="*/ 54 w 59"/>
                <a:gd name="T39" fmla="*/ 13 h 59"/>
                <a:gd name="T40" fmla="*/ 57 w 59"/>
                <a:gd name="T41" fmla="*/ 18 h 59"/>
                <a:gd name="T42" fmla="*/ 58 w 59"/>
                <a:gd name="T43" fmla="*/ 21 h 59"/>
                <a:gd name="T44" fmla="*/ 58 w 59"/>
                <a:gd name="T45" fmla="*/ 23 h 59"/>
                <a:gd name="T46" fmla="*/ 59 w 59"/>
                <a:gd name="T47" fmla="*/ 26 h 59"/>
                <a:gd name="T48" fmla="*/ 59 w 59"/>
                <a:gd name="T49" fmla="*/ 30 h 59"/>
                <a:gd name="T50" fmla="*/ 59 w 59"/>
                <a:gd name="T51" fmla="*/ 30 h 59"/>
                <a:gd name="T52" fmla="*/ 59 w 59"/>
                <a:gd name="T53" fmla="*/ 33 h 59"/>
                <a:gd name="T54" fmla="*/ 58 w 59"/>
                <a:gd name="T55" fmla="*/ 36 h 59"/>
                <a:gd name="T56" fmla="*/ 58 w 59"/>
                <a:gd name="T57" fmla="*/ 38 h 59"/>
                <a:gd name="T58" fmla="*/ 57 w 59"/>
                <a:gd name="T59" fmla="*/ 41 h 59"/>
                <a:gd name="T60" fmla="*/ 54 w 59"/>
                <a:gd name="T61" fmla="*/ 46 h 59"/>
                <a:gd name="T62" fmla="*/ 50 w 59"/>
                <a:gd name="T63" fmla="*/ 51 h 59"/>
                <a:gd name="T64" fmla="*/ 45 w 59"/>
                <a:gd name="T65" fmla="*/ 54 h 59"/>
                <a:gd name="T66" fmla="*/ 41 w 59"/>
                <a:gd name="T67" fmla="*/ 57 h 59"/>
                <a:gd name="T68" fmla="*/ 38 w 59"/>
                <a:gd name="T69" fmla="*/ 58 h 59"/>
                <a:gd name="T70" fmla="*/ 35 w 59"/>
                <a:gd name="T71" fmla="*/ 59 h 59"/>
                <a:gd name="T72" fmla="*/ 32 w 59"/>
                <a:gd name="T73" fmla="*/ 59 h 59"/>
                <a:gd name="T74" fmla="*/ 29 w 59"/>
                <a:gd name="T75" fmla="*/ 59 h 59"/>
                <a:gd name="T76" fmla="*/ 26 w 59"/>
                <a:gd name="T77" fmla="*/ 59 h 59"/>
                <a:gd name="T78" fmla="*/ 23 w 59"/>
                <a:gd name="T79" fmla="*/ 59 h 59"/>
                <a:gd name="T80" fmla="*/ 21 w 59"/>
                <a:gd name="T81" fmla="*/ 58 h 59"/>
                <a:gd name="T82" fmla="*/ 18 w 59"/>
                <a:gd name="T83" fmla="*/ 57 h 59"/>
                <a:gd name="T84" fmla="*/ 13 w 59"/>
                <a:gd name="T85" fmla="*/ 54 h 59"/>
                <a:gd name="T86" fmla="*/ 8 w 59"/>
                <a:gd name="T87" fmla="*/ 51 h 59"/>
                <a:gd name="T88" fmla="*/ 5 w 59"/>
                <a:gd name="T89" fmla="*/ 46 h 59"/>
                <a:gd name="T90" fmla="*/ 2 w 59"/>
                <a:gd name="T91" fmla="*/ 41 h 59"/>
                <a:gd name="T92" fmla="*/ 1 w 59"/>
                <a:gd name="T93" fmla="*/ 38 h 59"/>
                <a:gd name="T94" fmla="*/ 0 w 59"/>
                <a:gd name="T95" fmla="*/ 36 h 59"/>
                <a:gd name="T96" fmla="*/ 0 w 59"/>
                <a:gd name="T97" fmla="*/ 33 h 59"/>
                <a:gd name="T98" fmla="*/ 0 w 59"/>
                <a:gd name="T99" fmla="*/ 30 h 5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9"/>
                <a:gd name="T151" fmla="*/ 0 h 59"/>
                <a:gd name="T152" fmla="*/ 59 w 59"/>
                <a:gd name="T153" fmla="*/ 59 h 5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9" h="59">
                  <a:moveTo>
                    <a:pt x="0" y="30"/>
                  </a:moveTo>
                  <a:lnTo>
                    <a:pt x="0" y="26"/>
                  </a:lnTo>
                  <a:lnTo>
                    <a:pt x="0" y="23"/>
                  </a:lnTo>
                  <a:lnTo>
                    <a:pt x="1" y="21"/>
                  </a:lnTo>
                  <a:lnTo>
                    <a:pt x="2" y="18"/>
                  </a:lnTo>
                  <a:lnTo>
                    <a:pt x="5" y="13"/>
                  </a:lnTo>
                  <a:lnTo>
                    <a:pt x="8" y="9"/>
                  </a:lnTo>
                  <a:lnTo>
                    <a:pt x="13" y="5"/>
                  </a:lnTo>
                  <a:lnTo>
                    <a:pt x="18" y="2"/>
                  </a:lnTo>
                  <a:lnTo>
                    <a:pt x="21" y="1"/>
                  </a:lnTo>
                  <a:lnTo>
                    <a:pt x="23" y="1"/>
                  </a:lnTo>
                  <a:lnTo>
                    <a:pt x="26" y="0"/>
                  </a:lnTo>
                  <a:lnTo>
                    <a:pt x="29" y="0"/>
                  </a:lnTo>
                  <a:lnTo>
                    <a:pt x="32" y="0"/>
                  </a:lnTo>
                  <a:lnTo>
                    <a:pt x="35" y="1"/>
                  </a:lnTo>
                  <a:lnTo>
                    <a:pt x="38" y="1"/>
                  </a:lnTo>
                  <a:lnTo>
                    <a:pt x="41" y="2"/>
                  </a:lnTo>
                  <a:lnTo>
                    <a:pt x="45" y="5"/>
                  </a:lnTo>
                  <a:lnTo>
                    <a:pt x="50" y="9"/>
                  </a:lnTo>
                  <a:lnTo>
                    <a:pt x="54" y="13"/>
                  </a:lnTo>
                  <a:lnTo>
                    <a:pt x="57" y="18"/>
                  </a:lnTo>
                  <a:lnTo>
                    <a:pt x="58" y="21"/>
                  </a:lnTo>
                  <a:lnTo>
                    <a:pt x="58" y="23"/>
                  </a:lnTo>
                  <a:lnTo>
                    <a:pt x="59" y="26"/>
                  </a:lnTo>
                  <a:lnTo>
                    <a:pt x="59" y="30"/>
                  </a:lnTo>
                  <a:lnTo>
                    <a:pt x="59" y="33"/>
                  </a:lnTo>
                  <a:lnTo>
                    <a:pt x="58" y="36"/>
                  </a:lnTo>
                  <a:lnTo>
                    <a:pt x="58" y="38"/>
                  </a:lnTo>
                  <a:lnTo>
                    <a:pt x="57" y="41"/>
                  </a:lnTo>
                  <a:lnTo>
                    <a:pt x="54" y="46"/>
                  </a:lnTo>
                  <a:lnTo>
                    <a:pt x="50" y="51"/>
                  </a:lnTo>
                  <a:lnTo>
                    <a:pt x="45" y="54"/>
                  </a:lnTo>
                  <a:lnTo>
                    <a:pt x="41" y="57"/>
                  </a:lnTo>
                  <a:lnTo>
                    <a:pt x="38" y="58"/>
                  </a:lnTo>
                  <a:lnTo>
                    <a:pt x="35" y="59"/>
                  </a:lnTo>
                  <a:lnTo>
                    <a:pt x="32" y="59"/>
                  </a:lnTo>
                  <a:lnTo>
                    <a:pt x="29" y="59"/>
                  </a:lnTo>
                  <a:lnTo>
                    <a:pt x="26" y="59"/>
                  </a:lnTo>
                  <a:lnTo>
                    <a:pt x="23" y="59"/>
                  </a:lnTo>
                  <a:lnTo>
                    <a:pt x="21" y="58"/>
                  </a:lnTo>
                  <a:lnTo>
                    <a:pt x="18" y="57"/>
                  </a:lnTo>
                  <a:lnTo>
                    <a:pt x="13" y="54"/>
                  </a:lnTo>
                  <a:lnTo>
                    <a:pt x="8" y="51"/>
                  </a:lnTo>
                  <a:lnTo>
                    <a:pt x="5" y="46"/>
                  </a:lnTo>
                  <a:lnTo>
                    <a:pt x="2" y="41"/>
                  </a:lnTo>
                  <a:lnTo>
                    <a:pt x="1" y="38"/>
                  </a:lnTo>
                  <a:lnTo>
                    <a:pt x="0" y="36"/>
                  </a:lnTo>
                  <a:lnTo>
                    <a:pt x="0" y="33"/>
                  </a:lnTo>
                  <a:lnTo>
                    <a:pt x="0" y="30"/>
                  </a:lnTo>
                </a:path>
              </a:pathLst>
            </a:custGeom>
            <a:noFill/>
            <a:ln w="23813">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095" name="Rectangle 39"/>
            <p:cNvSpPr>
              <a:spLocks noChangeArrowheads="1"/>
            </p:cNvSpPr>
            <p:nvPr/>
          </p:nvSpPr>
          <p:spPr bwMode="auto">
            <a:xfrm>
              <a:off x="4369" y="545"/>
              <a:ext cx="5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1300" i="1">
                  <a:solidFill>
                    <a:srgbClr val="000000"/>
                  </a:solidFill>
                </a:rPr>
                <a:t>i</a:t>
              </a:r>
              <a:endParaRPr lang="en-US" altLang="zh-CN"/>
            </a:p>
          </p:txBody>
        </p:sp>
        <p:sp>
          <p:nvSpPr>
            <p:cNvPr id="45096" name="Rectangle 40"/>
            <p:cNvSpPr>
              <a:spLocks noChangeArrowheads="1"/>
            </p:cNvSpPr>
            <p:nvPr/>
          </p:nvSpPr>
          <p:spPr bwMode="auto">
            <a:xfrm>
              <a:off x="4184" y="424"/>
              <a:ext cx="11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i="1">
                  <a:solidFill>
                    <a:srgbClr val="000000"/>
                  </a:solidFill>
                </a:rPr>
                <a:t>M</a:t>
              </a:r>
              <a:endParaRPr lang="en-US" altLang="zh-CN"/>
            </a:p>
          </p:txBody>
        </p:sp>
        <p:sp>
          <p:nvSpPr>
            <p:cNvPr id="45097" name="Rectangle 41"/>
            <p:cNvSpPr>
              <a:spLocks noChangeArrowheads="1"/>
            </p:cNvSpPr>
            <p:nvPr/>
          </p:nvSpPr>
          <p:spPr bwMode="auto">
            <a:xfrm>
              <a:off x="3644" y="1049"/>
              <a:ext cx="5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1300" i="1">
                  <a:solidFill>
                    <a:srgbClr val="000000"/>
                  </a:solidFill>
                </a:rPr>
                <a:t>i</a:t>
              </a:r>
              <a:endParaRPr lang="en-US" altLang="zh-CN"/>
            </a:p>
          </p:txBody>
        </p:sp>
        <p:sp>
          <p:nvSpPr>
            <p:cNvPr id="45098" name="Rectangle 42"/>
            <p:cNvSpPr>
              <a:spLocks noChangeArrowheads="1"/>
            </p:cNvSpPr>
            <p:nvPr/>
          </p:nvSpPr>
          <p:spPr bwMode="auto">
            <a:xfrm>
              <a:off x="3549" y="929"/>
              <a:ext cx="11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i="1">
                  <a:solidFill>
                    <a:srgbClr val="000000"/>
                  </a:solidFill>
                </a:rPr>
                <a:t>p</a:t>
              </a:r>
              <a:endParaRPr lang="en-US" altLang="zh-CN"/>
            </a:p>
          </p:txBody>
        </p:sp>
        <p:sp>
          <p:nvSpPr>
            <p:cNvPr id="45099" name="Rectangle 43"/>
            <p:cNvSpPr>
              <a:spLocks noChangeArrowheads="1"/>
            </p:cNvSpPr>
            <p:nvPr/>
          </p:nvSpPr>
          <p:spPr bwMode="auto">
            <a:xfrm>
              <a:off x="3491" y="1678"/>
              <a:ext cx="5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1300" i="1">
                  <a:solidFill>
                    <a:srgbClr val="000000"/>
                  </a:solidFill>
                </a:rPr>
                <a:t>j</a:t>
              </a:r>
              <a:endParaRPr lang="en-US" altLang="zh-CN"/>
            </a:p>
          </p:txBody>
        </p:sp>
        <p:sp>
          <p:nvSpPr>
            <p:cNvPr id="45100" name="Rectangle 44"/>
            <p:cNvSpPr>
              <a:spLocks noChangeArrowheads="1"/>
            </p:cNvSpPr>
            <p:nvPr/>
          </p:nvSpPr>
          <p:spPr bwMode="auto">
            <a:xfrm>
              <a:off x="3392" y="1559"/>
              <a:ext cx="11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i="1">
                  <a:solidFill>
                    <a:srgbClr val="000000"/>
                  </a:solidFill>
                </a:rPr>
                <a:t>z</a:t>
              </a:r>
              <a:endParaRPr lang="en-US" altLang="zh-CN"/>
            </a:p>
          </p:txBody>
        </p:sp>
        <p:sp>
          <p:nvSpPr>
            <p:cNvPr id="45101" name="Freeform 45"/>
            <p:cNvSpPr>
              <a:spLocks noEditPoints="1"/>
            </p:cNvSpPr>
            <p:nvPr/>
          </p:nvSpPr>
          <p:spPr bwMode="auto">
            <a:xfrm>
              <a:off x="3779" y="1006"/>
              <a:ext cx="1182" cy="15"/>
            </a:xfrm>
            <a:custGeom>
              <a:avLst/>
              <a:gdLst>
                <a:gd name="T0" fmla="*/ 23 w 1182"/>
                <a:gd name="T1" fmla="*/ 15 h 15"/>
                <a:gd name="T2" fmla="*/ 5 w 1182"/>
                <a:gd name="T3" fmla="*/ 1 h 15"/>
                <a:gd name="T4" fmla="*/ 70 w 1182"/>
                <a:gd name="T5" fmla="*/ 13 h 15"/>
                <a:gd name="T6" fmla="*/ 45 w 1182"/>
                <a:gd name="T7" fmla="*/ 2 h 15"/>
                <a:gd name="T8" fmla="*/ 114 w 1182"/>
                <a:gd name="T9" fmla="*/ 10 h 15"/>
                <a:gd name="T10" fmla="*/ 85 w 1182"/>
                <a:gd name="T11" fmla="*/ 7 h 15"/>
                <a:gd name="T12" fmla="*/ 157 w 1182"/>
                <a:gd name="T13" fmla="*/ 7 h 15"/>
                <a:gd name="T14" fmla="*/ 128 w 1182"/>
                <a:gd name="T15" fmla="*/ 10 h 15"/>
                <a:gd name="T16" fmla="*/ 198 w 1182"/>
                <a:gd name="T17" fmla="*/ 2 h 15"/>
                <a:gd name="T18" fmla="*/ 174 w 1182"/>
                <a:gd name="T19" fmla="*/ 13 h 15"/>
                <a:gd name="T20" fmla="*/ 237 w 1182"/>
                <a:gd name="T21" fmla="*/ 1 h 15"/>
                <a:gd name="T22" fmla="*/ 220 w 1182"/>
                <a:gd name="T23" fmla="*/ 15 h 15"/>
                <a:gd name="T24" fmla="*/ 264 w 1182"/>
                <a:gd name="T25" fmla="*/ 0 h 15"/>
                <a:gd name="T26" fmla="*/ 278 w 1182"/>
                <a:gd name="T27" fmla="*/ 15 h 15"/>
                <a:gd name="T28" fmla="*/ 264 w 1182"/>
                <a:gd name="T29" fmla="*/ 0 h 15"/>
                <a:gd name="T30" fmla="*/ 323 w 1182"/>
                <a:gd name="T31" fmla="*/ 14 h 15"/>
                <a:gd name="T32" fmla="*/ 304 w 1182"/>
                <a:gd name="T33" fmla="*/ 1 h 15"/>
                <a:gd name="T34" fmla="*/ 370 w 1182"/>
                <a:gd name="T35" fmla="*/ 11 h 15"/>
                <a:gd name="T36" fmla="*/ 343 w 1182"/>
                <a:gd name="T37" fmla="*/ 6 h 15"/>
                <a:gd name="T38" fmla="*/ 413 w 1182"/>
                <a:gd name="T39" fmla="*/ 8 h 15"/>
                <a:gd name="T40" fmla="*/ 385 w 1182"/>
                <a:gd name="T41" fmla="*/ 8 h 15"/>
                <a:gd name="T42" fmla="*/ 455 w 1182"/>
                <a:gd name="T43" fmla="*/ 6 h 15"/>
                <a:gd name="T44" fmla="*/ 428 w 1182"/>
                <a:gd name="T45" fmla="*/ 11 h 15"/>
                <a:gd name="T46" fmla="*/ 494 w 1182"/>
                <a:gd name="T47" fmla="*/ 1 h 15"/>
                <a:gd name="T48" fmla="*/ 474 w 1182"/>
                <a:gd name="T49" fmla="*/ 14 h 15"/>
                <a:gd name="T50" fmla="*/ 534 w 1182"/>
                <a:gd name="T51" fmla="*/ 0 h 15"/>
                <a:gd name="T52" fmla="*/ 521 w 1182"/>
                <a:gd name="T53" fmla="*/ 15 h 15"/>
                <a:gd name="T54" fmla="*/ 521 w 1182"/>
                <a:gd name="T55" fmla="*/ 0 h 15"/>
                <a:gd name="T56" fmla="*/ 578 w 1182"/>
                <a:gd name="T57" fmla="*/ 15 h 15"/>
                <a:gd name="T58" fmla="*/ 562 w 1182"/>
                <a:gd name="T59" fmla="*/ 1 h 15"/>
                <a:gd name="T60" fmla="*/ 625 w 1182"/>
                <a:gd name="T61" fmla="*/ 13 h 15"/>
                <a:gd name="T62" fmla="*/ 601 w 1182"/>
                <a:gd name="T63" fmla="*/ 2 h 15"/>
                <a:gd name="T64" fmla="*/ 670 w 1182"/>
                <a:gd name="T65" fmla="*/ 10 h 15"/>
                <a:gd name="T66" fmla="*/ 642 w 1182"/>
                <a:gd name="T67" fmla="*/ 7 h 15"/>
                <a:gd name="T68" fmla="*/ 712 w 1182"/>
                <a:gd name="T69" fmla="*/ 7 h 15"/>
                <a:gd name="T70" fmla="*/ 684 w 1182"/>
                <a:gd name="T71" fmla="*/ 10 h 15"/>
                <a:gd name="T72" fmla="*/ 753 w 1182"/>
                <a:gd name="T73" fmla="*/ 2 h 15"/>
                <a:gd name="T74" fmla="*/ 729 w 1182"/>
                <a:gd name="T75" fmla="*/ 13 h 15"/>
                <a:gd name="T76" fmla="*/ 792 w 1182"/>
                <a:gd name="T77" fmla="*/ 1 h 15"/>
                <a:gd name="T78" fmla="*/ 775 w 1182"/>
                <a:gd name="T79" fmla="*/ 15 h 15"/>
                <a:gd name="T80" fmla="*/ 819 w 1182"/>
                <a:gd name="T81" fmla="*/ 0 h 15"/>
                <a:gd name="T82" fmla="*/ 834 w 1182"/>
                <a:gd name="T83" fmla="*/ 15 h 15"/>
                <a:gd name="T84" fmla="*/ 819 w 1182"/>
                <a:gd name="T85" fmla="*/ 0 h 15"/>
                <a:gd name="T86" fmla="*/ 879 w 1182"/>
                <a:gd name="T87" fmla="*/ 14 h 15"/>
                <a:gd name="T88" fmla="*/ 859 w 1182"/>
                <a:gd name="T89" fmla="*/ 1 h 15"/>
                <a:gd name="T90" fmla="*/ 925 w 1182"/>
                <a:gd name="T91" fmla="*/ 11 h 15"/>
                <a:gd name="T92" fmla="*/ 898 w 1182"/>
                <a:gd name="T93" fmla="*/ 6 h 15"/>
                <a:gd name="T94" fmla="*/ 969 w 1182"/>
                <a:gd name="T95" fmla="*/ 8 h 15"/>
                <a:gd name="T96" fmla="*/ 940 w 1182"/>
                <a:gd name="T97" fmla="*/ 8 h 15"/>
                <a:gd name="T98" fmla="*/ 1011 w 1182"/>
                <a:gd name="T99" fmla="*/ 6 h 15"/>
                <a:gd name="T100" fmla="*/ 983 w 1182"/>
                <a:gd name="T101" fmla="*/ 11 h 15"/>
                <a:gd name="T102" fmla="*/ 1050 w 1182"/>
                <a:gd name="T103" fmla="*/ 1 h 15"/>
                <a:gd name="T104" fmla="*/ 1031 w 1182"/>
                <a:gd name="T105" fmla="*/ 14 h 15"/>
                <a:gd name="T106" fmla="*/ 1089 w 1182"/>
                <a:gd name="T107" fmla="*/ 0 h 15"/>
                <a:gd name="T108" fmla="*/ 1076 w 1182"/>
                <a:gd name="T109" fmla="*/ 15 h 15"/>
                <a:gd name="T110" fmla="*/ 1076 w 1182"/>
                <a:gd name="T111" fmla="*/ 0 h 15"/>
                <a:gd name="T112" fmla="*/ 1134 w 1182"/>
                <a:gd name="T113" fmla="*/ 15 h 15"/>
                <a:gd name="T114" fmla="*/ 1117 w 1182"/>
                <a:gd name="T115" fmla="*/ 1 h 15"/>
                <a:gd name="T116" fmla="*/ 1180 w 1182"/>
                <a:gd name="T117" fmla="*/ 13 h 15"/>
                <a:gd name="T118" fmla="*/ 1156 w 1182"/>
                <a:gd name="T119" fmla="*/ 2 h 1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182"/>
                <a:gd name="T181" fmla="*/ 0 h 15"/>
                <a:gd name="T182" fmla="*/ 1182 w 1182"/>
                <a:gd name="T183" fmla="*/ 15 h 15"/>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182" h="15">
                  <a:moveTo>
                    <a:pt x="8" y="0"/>
                  </a:moveTo>
                  <a:lnTo>
                    <a:pt x="21" y="0"/>
                  </a:lnTo>
                  <a:lnTo>
                    <a:pt x="23" y="1"/>
                  </a:lnTo>
                  <a:lnTo>
                    <a:pt x="24" y="1"/>
                  </a:lnTo>
                  <a:lnTo>
                    <a:pt x="26" y="2"/>
                  </a:lnTo>
                  <a:lnTo>
                    <a:pt x="29" y="6"/>
                  </a:lnTo>
                  <a:lnTo>
                    <a:pt x="29" y="7"/>
                  </a:lnTo>
                  <a:lnTo>
                    <a:pt x="29" y="8"/>
                  </a:lnTo>
                  <a:lnTo>
                    <a:pt x="29" y="10"/>
                  </a:lnTo>
                  <a:lnTo>
                    <a:pt x="29" y="11"/>
                  </a:lnTo>
                  <a:lnTo>
                    <a:pt x="26" y="13"/>
                  </a:lnTo>
                  <a:lnTo>
                    <a:pt x="24" y="14"/>
                  </a:lnTo>
                  <a:lnTo>
                    <a:pt x="23" y="15"/>
                  </a:lnTo>
                  <a:lnTo>
                    <a:pt x="21" y="15"/>
                  </a:lnTo>
                  <a:lnTo>
                    <a:pt x="8" y="15"/>
                  </a:lnTo>
                  <a:lnTo>
                    <a:pt x="5" y="15"/>
                  </a:lnTo>
                  <a:lnTo>
                    <a:pt x="4" y="14"/>
                  </a:lnTo>
                  <a:lnTo>
                    <a:pt x="2" y="13"/>
                  </a:lnTo>
                  <a:lnTo>
                    <a:pt x="1" y="11"/>
                  </a:lnTo>
                  <a:lnTo>
                    <a:pt x="0" y="10"/>
                  </a:lnTo>
                  <a:lnTo>
                    <a:pt x="0" y="8"/>
                  </a:lnTo>
                  <a:lnTo>
                    <a:pt x="0" y="7"/>
                  </a:lnTo>
                  <a:lnTo>
                    <a:pt x="1" y="6"/>
                  </a:lnTo>
                  <a:lnTo>
                    <a:pt x="2" y="2"/>
                  </a:lnTo>
                  <a:lnTo>
                    <a:pt x="4" y="1"/>
                  </a:lnTo>
                  <a:lnTo>
                    <a:pt x="5" y="1"/>
                  </a:lnTo>
                  <a:lnTo>
                    <a:pt x="8" y="0"/>
                  </a:lnTo>
                  <a:close/>
                  <a:moveTo>
                    <a:pt x="50" y="0"/>
                  </a:moveTo>
                  <a:lnTo>
                    <a:pt x="64" y="0"/>
                  </a:lnTo>
                  <a:lnTo>
                    <a:pt x="65" y="1"/>
                  </a:lnTo>
                  <a:lnTo>
                    <a:pt x="67" y="1"/>
                  </a:lnTo>
                  <a:lnTo>
                    <a:pt x="70" y="2"/>
                  </a:lnTo>
                  <a:lnTo>
                    <a:pt x="71" y="6"/>
                  </a:lnTo>
                  <a:lnTo>
                    <a:pt x="72" y="7"/>
                  </a:lnTo>
                  <a:lnTo>
                    <a:pt x="72" y="8"/>
                  </a:lnTo>
                  <a:lnTo>
                    <a:pt x="72" y="10"/>
                  </a:lnTo>
                  <a:lnTo>
                    <a:pt x="71" y="11"/>
                  </a:lnTo>
                  <a:lnTo>
                    <a:pt x="70" y="13"/>
                  </a:lnTo>
                  <a:lnTo>
                    <a:pt x="67" y="14"/>
                  </a:lnTo>
                  <a:lnTo>
                    <a:pt x="65" y="15"/>
                  </a:lnTo>
                  <a:lnTo>
                    <a:pt x="64" y="15"/>
                  </a:lnTo>
                  <a:lnTo>
                    <a:pt x="50" y="15"/>
                  </a:lnTo>
                  <a:lnTo>
                    <a:pt x="49" y="15"/>
                  </a:lnTo>
                  <a:lnTo>
                    <a:pt x="48" y="14"/>
                  </a:lnTo>
                  <a:lnTo>
                    <a:pt x="45" y="13"/>
                  </a:lnTo>
                  <a:lnTo>
                    <a:pt x="43" y="11"/>
                  </a:lnTo>
                  <a:lnTo>
                    <a:pt x="43" y="10"/>
                  </a:lnTo>
                  <a:lnTo>
                    <a:pt x="43" y="8"/>
                  </a:lnTo>
                  <a:lnTo>
                    <a:pt x="43" y="7"/>
                  </a:lnTo>
                  <a:lnTo>
                    <a:pt x="43" y="6"/>
                  </a:lnTo>
                  <a:lnTo>
                    <a:pt x="45" y="2"/>
                  </a:lnTo>
                  <a:lnTo>
                    <a:pt x="48" y="1"/>
                  </a:lnTo>
                  <a:lnTo>
                    <a:pt x="49" y="1"/>
                  </a:lnTo>
                  <a:lnTo>
                    <a:pt x="50" y="0"/>
                  </a:lnTo>
                  <a:close/>
                  <a:moveTo>
                    <a:pt x="93" y="0"/>
                  </a:moveTo>
                  <a:lnTo>
                    <a:pt x="107" y="0"/>
                  </a:lnTo>
                  <a:lnTo>
                    <a:pt x="108" y="1"/>
                  </a:lnTo>
                  <a:lnTo>
                    <a:pt x="110" y="1"/>
                  </a:lnTo>
                  <a:lnTo>
                    <a:pt x="112" y="2"/>
                  </a:lnTo>
                  <a:lnTo>
                    <a:pt x="114" y="6"/>
                  </a:lnTo>
                  <a:lnTo>
                    <a:pt x="114" y="7"/>
                  </a:lnTo>
                  <a:lnTo>
                    <a:pt x="114" y="8"/>
                  </a:lnTo>
                  <a:lnTo>
                    <a:pt x="114" y="10"/>
                  </a:lnTo>
                  <a:lnTo>
                    <a:pt x="114" y="11"/>
                  </a:lnTo>
                  <a:lnTo>
                    <a:pt x="112" y="13"/>
                  </a:lnTo>
                  <a:lnTo>
                    <a:pt x="110" y="14"/>
                  </a:lnTo>
                  <a:lnTo>
                    <a:pt x="108" y="15"/>
                  </a:lnTo>
                  <a:lnTo>
                    <a:pt x="107" y="15"/>
                  </a:lnTo>
                  <a:lnTo>
                    <a:pt x="93" y="15"/>
                  </a:lnTo>
                  <a:lnTo>
                    <a:pt x="92" y="15"/>
                  </a:lnTo>
                  <a:lnTo>
                    <a:pt x="90" y="14"/>
                  </a:lnTo>
                  <a:lnTo>
                    <a:pt x="87" y="13"/>
                  </a:lnTo>
                  <a:lnTo>
                    <a:pt x="86" y="11"/>
                  </a:lnTo>
                  <a:lnTo>
                    <a:pt x="85" y="10"/>
                  </a:lnTo>
                  <a:lnTo>
                    <a:pt x="85" y="8"/>
                  </a:lnTo>
                  <a:lnTo>
                    <a:pt x="85" y="7"/>
                  </a:lnTo>
                  <a:lnTo>
                    <a:pt x="86" y="6"/>
                  </a:lnTo>
                  <a:lnTo>
                    <a:pt x="87" y="2"/>
                  </a:lnTo>
                  <a:lnTo>
                    <a:pt x="90" y="1"/>
                  </a:lnTo>
                  <a:lnTo>
                    <a:pt x="92" y="1"/>
                  </a:lnTo>
                  <a:lnTo>
                    <a:pt x="93" y="0"/>
                  </a:lnTo>
                  <a:close/>
                  <a:moveTo>
                    <a:pt x="136" y="0"/>
                  </a:moveTo>
                  <a:lnTo>
                    <a:pt x="150" y="0"/>
                  </a:lnTo>
                  <a:lnTo>
                    <a:pt x="152" y="1"/>
                  </a:lnTo>
                  <a:lnTo>
                    <a:pt x="153" y="1"/>
                  </a:lnTo>
                  <a:lnTo>
                    <a:pt x="155" y="2"/>
                  </a:lnTo>
                  <a:lnTo>
                    <a:pt x="157" y="6"/>
                  </a:lnTo>
                  <a:lnTo>
                    <a:pt x="157" y="7"/>
                  </a:lnTo>
                  <a:lnTo>
                    <a:pt x="157" y="8"/>
                  </a:lnTo>
                  <a:lnTo>
                    <a:pt x="157" y="10"/>
                  </a:lnTo>
                  <a:lnTo>
                    <a:pt x="157" y="11"/>
                  </a:lnTo>
                  <a:lnTo>
                    <a:pt x="155" y="13"/>
                  </a:lnTo>
                  <a:lnTo>
                    <a:pt x="153" y="14"/>
                  </a:lnTo>
                  <a:lnTo>
                    <a:pt x="152" y="15"/>
                  </a:lnTo>
                  <a:lnTo>
                    <a:pt x="150" y="15"/>
                  </a:lnTo>
                  <a:lnTo>
                    <a:pt x="136" y="15"/>
                  </a:lnTo>
                  <a:lnTo>
                    <a:pt x="134" y="15"/>
                  </a:lnTo>
                  <a:lnTo>
                    <a:pt x="133" y="14"/>
                  </a:lnTo>
                  <a:lnTo>
                    <a:pt x="131" y="13"/>
                  </a:lnTo>
                  <a:lnTo>
                    <a:pt x="130" y="11"/>
                  </a:lnTo>
                  <a:lnTo>
                    <a:pt x="128" y="10"/>
                  </a:lnTo>
                  <a:lnTo>
                    <a:pt x="128" y="8"/>
                  </a:lnTo>
                  <a:lnTo>
                    <a:pt x="128" y="7"/>
                  </a:lnTo>
                  <a:lnTo>
                    <a:pt x="130" y="6"/>
                  </a:lnTo>
                  <a:lnTo>
                    <a:pt x="131" y="2"/>
                  </a:lnTo>
                  <a:lnTo>
                    <a:pt x="133" y="1"/>
                  </a:lnTo>
                  <a:lnTo>
                    <a:pt x="134" y="1"/>
                  </a:lnTo>
                  <a:lnTo>
                    <a:pt x="136" y="0"/>
                  </a:lnTo>
                  <a:close/>
                  <a:moveTo>
                    <a:pt x="178" y="0"/>
                  </a:moveTo>
                  <a:lnTo>
                    <a:pt x="193" y="0"/>
                  </a:lnTo>
                  <a:lnTo>
                    <a:pt x="194" y="1"/>
                  </a:lnTo>
                  <a:lnTo>
                    <a:pt x="196" y="1"/>
                  </a:lnTo>
                  <a:lnTo>
                    <a:pt x="198" y="2"/>
                  </a:lnTo>
                  <a:lnTo>
                    <a:pt x="199" y="6"/>
                  </a:lnTo>
                  <a:lnTo>
                    <a:pt x="200" y="7"/>
                  </a:lnTo>
                  <a:lnTo>
                    <a:pt x="200" y="8"/>
                  </a:lnTo>
                  <a:lnTo>
                    <a:pt x="200" y="10"/>
                  </a:lnTo>
                  <a:lnTo>
                    <a:pt x="199" y="11"/>
                  </a:lnTo>
                  <a:lnTo>
                    <a:pt x="198" y="13"/>
                  </a:lnTo>
                  <a:lnTo>
                    <a:pt x="196" y="14"/>
                  </a:lnTo>
                  <a:lnTo>
                    <a:pt x="194" y="15"/>
                  </a:lnTo>
                  <a:lnTo>
                    <a:pt x="193" y="15"/>
                  </a:lnTo>
                  <a:lnTo>
                    <a:pt x="178" y="15"/>
                  </a:lnTo>
                  <a:lnTo>
                    <a:pt x="177" y="15"/>
                  </a:lnTo>
                  <a:lnTo>
                    <a:pt x="176" y="14"/>
                  </a:lnTo>
                  <a:lnTo>
                    <a:pt x="174" y="13"/>
                  </a:lnTo>
                  <a:lnTo>
                    <a:pt x="172" y="11"/>
                  </a:lnTo>
                  <a:lnTo>
                    <a:pt x="172" y="10"/>
                  </a:lnTo>
                  <a:lnTo>
                    <a:pt x="172" y="8"/>
                  </a:lnTo>
                  <a:lnTo>
                    <a:pt x="172" y="7"/>
                  </a:lnTo>
                  <a:lnTo>
                    <a:pt x="172" y="6"/>
                  </a:lnTo>
                  <a:lnTo>
                    <a:pt x="174" y="2"/>
                  </a:lnTo>
                  <a:lnTo>
                    <a:pt x="176" y="1"/>
                  </a:lnTo>
                  <a:lnTo>
                    <a:pt x="177" y="1"/>
                  </a:lnTo>
                  <a:lnTo>
                    <a:pt x="178" y="0"/>
                  </a:lnTo>
                  <a:close/>
                  <a:moveTo>
                    <a:pt x="221" y="0"/>
                  </a:moveTo>
                  <a:lnTo>
                    <a:pt x="236" y="0"/>
                  </a:lnTo>
                  <a:lnTo>
                    <a:pt x="237" y="1"/>
                  </a:lnTo>
                  <a:lnTo>
                    <a:pt x="238" y="1"/>
                  </a:lnTo>
                  <a:lnTo>
                    <a:pt x="240" y="2"/>
                  </a:lnTo>
                  <a:lnTo>
                    <a:pt x="242" y="6"/>
                  </a:lnTo>
                  <a:lnTo>
                    <a:pt x="242" y="7"/>
                  </a:lnTo>
                  <a:lnTo>
                    <a:pt x="242" y="8"/>
                  </a:lnTo>
                  <a:lnTo>
                    <a:pt x="242" y="10"/>
                  </a:lnTo>
                  <a:lnTo>
                    <a:pt x="242" y="11"/>
                  </a:lnTo>
                  <a:lnTo>
                    <a:pt x="240" y="13"/>
                  </a:lnTo>
                  <a:lnTo>
                    <a:pt x="238" y="14"/>
                  </a:lnTo>
                  <a:lnTo>
                    <a:pt x="237" y="15"/>
                  </a:lnTo>
                  <a:lnTo>
                    <a:pt x="236" y="15"/>
                  </a:lnTo>
                  <a:lnTo>
                    <a:pt x="221" y="15"/>
                  </a:lnTo>
                  <a:lnTo>
                    <a:pt x="220" y="15"/>
                  </a:lnTo>
                  <a:lnTo>
                    <a:pt x="218" y="14"/>
                  </a:lnTo>
                  <a:lnTo>
                    <a:pt x="216" y="13"/>
                  </a:lnTo>
                  <a:lnTo>
                    <a:pt x="215" y="11"/>
                  </a:lnTo>
                  <a:lnTo>
                    <a:pt x="214" y="10"/>
                  </a:lnTo>
                  <a:lnTo>
                    <a:pt x="214" y="8"/>
                  </a:lnTo>
                  <a:lnTo>
                    <a:pt x="214" y="7"/>
                  </a:lnTo>
                  <a:lnTo>
                    <a:pt x="215" y="6"/>
                  </a:lnTo>
                  <a:lnTo>
                    <a:pt x="216" y="2"/>
                  </a:lnTo>
                  <a:lnTo>
                    <a:pt x="218" y="1"/>
                  </a:lnTo>
                  <a:lnTo>
                    <a:pt x="220" y="1"/>
                  </a:lnTo>
                  <a:lnTo>
                    <a:pt x="221" y="0"/>
                  </a:lnTo>
                  <a:close/>
                  <a:moveTo>
                    <a:pt x="264" y="0"/>
                  </a:moveTo>
                  <a:lnTo>
                    <a:pt x="278" y="0"/>
                  </a:lnTo>
                  <a:lnTo>
                    <a:pt x="280" y="1"/>
                  </a:lnTo>
                  <a:lnTo>
                    <a:pt x="281" y="1"/>
                  </a:lnTo>
                  <a:lnTo>
                    <a:pt x="283" y="2"/>
                  </a:lnTo>
                  <a:lnTo>
                    <a:pt x="284" y="6"/>
                  </a:lnTo>
                  <a:lnTo>
                    <a:pt x="285" y="7"/>
                  </a:lnTo>
                  <a:lnTo>
                    <a:pt x="285" y="8"/>
                  </a:lnTo>
                  <a:lnTo>
                    <a:pt x="285" y="10"/>
                  </a:lnTo>
                  <a:lnTo>
                    <a:pt x="284" y="11"/>
                  </a:lnTo>
                  <a:lnTo>
                    <a:pt x="283" y="13"/>
                  </a:lnTo>
                  <a:lnTo>
                    <a:pt x="281" y="14"/>
                  </a:lnTo>
                  <a:lnTo>
                    <a:pt x="280" y="15"/>
                  </a:lnTo>
                  <a:lnTo>
                    <a:pt x="278" y="15"/>
                  </a:lnTo>
                  <a:lnTo>
                    <a:pt x="264" y="15"/>
                  </a:lnTo>
                  <a:lnTo>
                    <a:pt x="262" y="15"/>
                  </a:lnTo>
                  <a:lnTo>
                    <a:pt x="261" y="14"/>
                  </a:lnTo>
                  <a:lnTo>
                    <a:pt x="259" y="13"/>
                  </a:lnTo>
                  <a:lnTo>
                    <a:pt x="257" y="11"/>
                  </a:lnTo>
                  <a:lnTo>
                    <a:pt x="257" y="10"/>
                  </a:lnTo>
                  <a:lnTo>
                    <a:pt x="257" y="8"/>
                  </a:lnTo>
                  <a:lnTo>
                    <a:pt x="257" y="7"/>
                  </a:lnTo>
                  <a:lnTo>
                    <a:pt x="257" y="6"/>
                  </a:lnTo>
                  <a:lnTo>
                    <a:pt x="259" y="2"/>
                  </a:lnTo>
                  <a:lnTo>
                    <a:pt x="261" y="1"/>
                  </a:lnTo>
                  <a:lnTo>
                    <a:pt x="262" y="1"/>
                  </a:lnTo>
                  <a:lnTo>
                    <a:pt x="264" y="0"/>
                  </a:lnTo>
                  <a:close/>
                  <a:moveTo>
                    <a:pt x="306" y="0"/>
                  </a:moveTo>
                  <a:lnTo>
                    <a:pt x="321" y="0"/>
                  </a:lnTo>
                  <a:lnTo>
                    <a:pt x="322" y="1"/>
                  </a:lnTo>
                  <a:lnTo>
                    <a:pt x="323" y="1"/>
                  </a:lnTo>
                  <a:lnTo>
                    <a:pt x="326" y="2"/>
                  </a:lnTo>
                  <a:lnTo>
                    <a:pt x="327" y="6"/>
                  </a:lnTo>
                  <a:lnTo>
                    <a:pt x="327" y="7"/>
                  </a:lnTo>
                  <a:lnTo>
                    <a:pt x="328" y="8"/>
                  </a:lnTo>
                  <a:lnTo>
                    <a:pt x="327" y="10"/>
                  </a:lnTo>
                  <a:lnTo>
                    <a:pt x="327" y="11"/>
                  </a:lnTo>
                  <a:lnTo>
                    <a:pt x="326" y="13"/>
                  </a:lnTo>
                  <a:lnTo>
                    <a:pt x="323" y="14"/>
                  </a:lnTo>
                  <a:lnTo>
                    <a:pt x="322" y="15"/>
                  </a:lnTo>
                  <a:lnTo>
                    <a:pt x="321" y="15"/>
                  </a:lnTo>
                  <a:lnTo>
                    <a:pt x="306" y="15"/>
                  </a:lnTo>
                  <a:lnTo>
                    <a:pt x="305" y="15"/>
                  </a:lnTo>
                  <a:lnTo>
                    <a:pt x="304" y="14"/>
                  </a:lnTo>
                  <a:lnTo>
                    <a:pt x="302" y="13"/>
                  </a:lnTo>
                  <a:lnTo>
                    <a:pt x="300" y="11"/>
                  </a:lnTo>
                  <a:lnTo>
                    <a:pt x="300" y="10"/>
                  </a:lnTo>
                  <a:lnTo>
                    <a:pt x="300" y="8"/>
                  </a:lnTo>
                  <a:lnTo>
                    <a:pt x="300" y="7"/>
                  </a:lnTo>
                  <a:lnTo>
                    <a:pt x="300" y="6"/>
                  </a:lnTo>
                  <a:lnTo>
                    <a:pt x="302" y="2"/>
                  </a:lnTo>
                  <a:lnTo>
                    <a:pt x="304" y="1"/>
                  </a:lnTo>
                  <a:lnTo>
                    <a:pt x="305" y="1"/>
                  </a:lnTo>
                  <a:lnTo>
                    <a:pt x="306" y="0"/>
                  </a:lnTo>
                  <a:close/>
                  <a:moveTo>
                    <a:pt x="349" y="0"/>
                  </a:moveTo>
                  <a:lnTo>
                    <a:pt x="363" y="0"/>
                  </a:lnTo>
                  <a:lnTo>
                    <a:pt x="365" y="1"/>
                  </a:lnTo>
                  <a:lnTo>
                    <a:pt x="366" y="1"/>
                  </a:lnTo>
                  <a:lnTo>
                    <a:pt x="368" y="2"/>
                  </a:lnTo>
                  <a:lnTo>
                    <a:pt x="370" y="6"/>
                  </a:lnTo>
                  <a:lnTo>
                    <a:pt x="370" y="7"/>
                  </a:lnTo>
                  <a:lnTo>
                    <a:pt x="370" y="8"/>
                  </a:lnTo>
                  <a:lnTo>
                    <a:pt x="370" y="10"/>
                  </a:lnTo>
                  <a:lnTo>
                    <a:pt x="370" y="11"/>
                  </a:lnTo>
                  <a:lnTo>
                    <a:pt x="368" y="13"/>
                  </a:lnTo>
                  <a:lnTo>
                    <a:pt x="366" y="14"/>
                  </a:lnTo>
                  <a:lnTo>
                    <a:pt x="365" y="15"/>
                  </a:lnTo>
                  <a:lnTo>
                    <a:pt x="363" y="15"/>
                  </a:lnTo>
                  <a:lnTo>
                    <a:pt x="349" y="15"/>
                  </a:lnTo>
                  <a:lnTo>
                    <a:pt x="348" y="15"/>
                  </a:lnTo>
                  <a:lnTo>
                    <a:pt x="346" y="14"/>
                  </a:lnTo>
                  <a:lnTo>
                    <a:pt x="344" y="13"/>
                  </a:lnTo>
                  <a:lnTo>
                    <a:pt x="343" y="11"/>
                  </a:lnTo>
                  <a:lnTo>
                    <a:pt x="342" y="10"/>
                  </a:lnTo>
                  <a:lnTo>
                    <a:pt x="342" y="8"/>
                  </a:lnTo>
                  <a:lnTo>
                    <a:pt x="342" y="7"/>
                  </a:lnTo>
                  <a:lnTo>
                    <a:pt x="343" y="6"/>
                  </a:lnTo>
                  <a:lnTo>
                    <a:pt x="344" y="2"/>
                  </a:lnTo>
                  <a:lnTo>
                    <a:pt x="346" y="1"/>
                  </a:lnTo>
                  <a:lnTo>
                    <a:pt x="348" y="1"/>
                  </a:lnTo>
                  <a:lnTo>
                    <a:pt x="349" y="0"/>
                  </a:lnTo>
                  <a:close/>
                  <a:moveTo>
                    <a:pt x="392" y="0"/>
                  </a:moveTo>
                  <a:lnTo>
                    <a:pt x="406" y="0"/>
                  </a:lnTo>
                  <a:lnTo>
                    <a:pt x="408" y="1"/>
                  </a:lnTo>
                  <a:lnTo>
                    <a:pt x="409" y="1"/>
                  </a:lnTo>
                  <a:lnTo>
                    <a:pt x="411" y="2"/>
                  </a:lnTo>
                  <a:lnTo>
                    <a:pt x="412" y="6"/>
                  </a:lnTo>
                  <a:lnTo>
                    <a:pt x="413" y="7"/>
                  </a:lnTo>
                  <a:lnTo>
                    <a:pt x="413" y="8"/>
                  </a:lnTo>
                  <a:lnTo>
                    <a:pt x="413" y="10"/>
                  </a:lnTo>
                  <a:lnTo>
                    <a:pt x="412" y="11"/>
                  </a:lnTo>
                  <a:lnTo>
                    <a:pt x="411" y="13"/>
                  </a:lnTo>
                  <a:lnTo>
                    <a:pt x="409" y="14"/>
                  </a:lnTo>
                  <a:lnTo>
                    <a:pt x="408" y="15"/>
                  </a:lnTo>
                  <a:lnTo>
                    <a:pt x="406" y="15"/>
                  </a:lnTo>
                  <a:lnTo>
                    <a:pt x="392" y="15"/>
                  </a:lnTo>
                  <a:lnTo>
                    <a:pt x="390" y="15"/>
                  </a:lnTo>
                  <a:lnTo>
                    <a:pt x="389" y="14"/>
                  </a:lnTo>
                  <a:lnTo>
                    <a:pt x="387" y="13"/>
                  </a:lnTo>
                  <a:lnTo>
                    <a:pt x="385" y="11"/>
                  </a:lnTo>
                  <a:lnTo>
                    <a:pt x="385" y="10"/>
                  </a:lnTo>
                  <a:lnTo>
                    <a:pt x="385" y="8"/>
                  </a:lnTo>
                  <a:lnTo>
                    <a:pt x="385" y="7"/>
                  </a:lnTo>
                  <a:lnTo>
                    <a:pt x="385" y="6"/>
                  </a:lnTo>
                  <a:lnTo>
                    <a:pt x="387" y="2"/>
                  </a:lnTo>
                  <a:lnTo>
                    <a:pt x="389" y="1"/>
                  </a:lnTo>
                  <a:lnTo>
                    <a:pt x="390" y="1"/>
                  </a:lnTo>
                  <a:lnTo>
                    <a:pt x="392" y="0"/>
                  </a:lnTo>
                  <a:close/>
                  <a:moveTo>
                    <a:pt x="434" y="0"/>
                  </a:moveTo>
                  <a:lnTo>
                    <a:pt x="449" y="0"/>
                  </a:lnTo>
                  <a:lnTo>
                    <a:pt x="450" y="1"/>
                  </a:lnTo>
                  <a:lnTo>
                    <a:pt x="451" y="1"/>
                  </a:lnTo>
                  <a:lnTo>
                    <a:pt x="454" y="2"/>
                  </a:lnTo>
                  <a:lnTo>
                    <a:pt x="455" y="6"/>
                  </a:lnTo>
                  <a:lnTo>
                    <a:pt x="455" y="7"/>
                  </a:lnTo>
                  <a:lnTo>
                    <a:pt x="457" y="8"/>
                  </a:lnTo>
                  <a:lnTo>
                    <a:pt x="455" y="10"/>
                  </a:lnTo>
                  <a:lnTo>
                    <a:pt x="455" y="11"/>
                  </a:lnTo>
                  <a:lnTo>
                    <a:pt x="454" y="13"/>
                  </a:lnTo>
                  <a:lnTo>
                    <a:pt x="451" y="14"/>
                  </a:lnTo>
                  <a:lnTo>
                    <a:pt x="450" y="15"/>
                  </a:lnTo>
                  <a:lnTo>
                    <a:pt x="449" y="15"/>
                  </a:lnTo>
                  <a:lnTo>
                    <a:pt x="434" y="15"/>
                  </a:lnTo>
                  <a:lnTo>
                    <a:pt x="433" y="15"/>
                  </a:lnTo>
                  <a:lnTo>
                    <a:pt x="432" y="14"/>
                  </a:lnTo>
                  <a:lnTo>
                    <a:pt x="429" y="13"/>
                  </a:lnTo>
                  <a:lnTo>
                    <a:pt x="428" y="11"/>
                  </a:lnTo>
                  <a:lnTo>
                    <a:pt x="428" y="10"/>
                  </a:lnTo>
                  <a:lnTo>
                    <a:pt x="427" y="8"/>
                  </a:lnTo>
                  <a:lnTo>
                    <a:pt x="428" y="7"/>
                  </a:lnTo>
                  <a:lnTo>
                    <a:pt x="428" y="6"/>
                  </a:lnTo>
                  <a:lnTo>
                    <a:pt x="429" y="2"/>
                  </a:lnTo>
                  <a:lnTo>
                    <a:pt x="432" y="1"/>
                  </a:lnTo>
                  <a:lnTo>
                    <a:pt x="433" y="1"/>
                  </a:lnTo>
                  <a:lnTo>
                    <a:pt x="434" y="0"/>
                  </a:lnTo>
                  <a:close/>
                  <a:moveTo>
                    <a:pt x="478" y="0"/>
                  </a:moveTo>
                  <a:lnTo>
                    <a:pt x="491" y="0"/>
                  </a:lnTo>
                  <a:lnTo>
                    <a:pt x="493" y="1"/>
                  </a:lnTo>
                  <a:lnTo>
                    <a:pt x="494" y="1"/>
                  </a:lnTo>
                  <a:lnTo>
                    <a:pt x="496" y="2"/>
                  </a:lnTo>
                  <a:lnTo>
                    <a:pt x="499" y="6"/>
                  </a:lnTo>
                  <a:lnTo>
                    <a:pt x="499" y="7"/>
                  </a:lnTo>
                  <a:lnTo>
                    <a:pt x="499" y="8"/>
                  </a:lnTo>
                  <a:lnTo>
                    <a:pt x="499" y="10"/>
                  </a:lnTo>
                  <a:lnTo>
                    <a:pt x="499" y="11"/>
                  </a:lnTo>
                  <a:lnTo>
                    <a:pt x="496" y="13"/>
                  </a:lnTo>
                  <a:lnTo>
                    <a:pt x="494" y="14"/>
                  </a:lnTo>
                  <a:lnTo>
                    <a:pt x="493" y="15"/>
                  </a:lnTo>
                  <a:lnTo>
                    <a:pt x="491" y="15"/>
                  </a:lnTo>
                  <a:lnTo>
                    <a:pt x="478" y="15"/>
                  </a:lnTo>
                  <a:lnTo>
                    <a:pt x="475" y="15"/>
                  </a:lnTo>
                  <a:lnTo>
                    <a:pt x="474" y="14"/>
                  </a:lnTo>
                  <a:lnTo>
                    <a:pt x="472" y="13"/>
                  </a:lnTo>
                  <a:lnTo>
                    <a:pt x="471" y="11"/>
                  </a:lnTo>
                  <a:lnTo>
                    <a:pt x="470" y="10"/>
                  </a:lnTo>
                  <a:lnTo>
                    <a:pt x="470" y="8"/>
                  </a:lnTo>
                  <a:lnTo>
                    <a:pt x="470" y="7"/>
                  </a:lnTo>
                  <a:lnTo>
                    <a:pt x="471" y="6"/>
                  </a:lnTo>
                  <a:lnTo>
                    <a:pt x="472" y="2"/>
                  </a:lnTo>
                  <a:lnTo>
                    <a:pt x="474" y="1"/>
                  </a:lnTo>
                  <a:lnTo>
                    <a:pt x="475" y="1"/>
                  </a:lnTo>
                  <a:lnTo>
                    <a:pt x="478" y="0"/>
                  </a:lnTo>
                  <a:close/>
                  <a:moveTo>
                    <a:pt x="521" y="0"/>
                  </a:moveTo>
                  <a:lnTo>
                    <a:pt x="534" y="0"/>
                  </a:lnTo>
                  <a:lnTo>
                    <a:pt x="535" y="1"/>
                  </a:lnTo>
                  <a:lnTo>
                    <a:pt x="537" y="1"/>
                  </a:lnTo>
                  <a:lnTo>
                    <a:pt x="540" y="2"/>
                  </a:lnTo>
                  <a:lnTo>
                    <a:pt x="541" y="6"/>
                  </a:lnTo>
                  <a:lnTo>
                    <a:pt x="542" y="7"/>
                  </a:lnTo>
                  <a:lnTo>
                    <a:pt x="542" y="8"/>
                  </a:lnTo>
                  <a:lnTo>
                    <a:pt x="542" y="10"/>
                  </a:lnTo>
                  <a:lnTo>
                    <a:pt x="541" y="11"/>
                  </a:lnTo>
                  <a:lnTo>
                    <a:pt x="540" y="13"/>
                  </a:lnTo>
                  <a:lnTo>
                    <a:pt x="537" y="14"/>
                  </a:lnTo>
                  <a:lnTo>
                    <a:pt x="535" y="15"/>
                  </a:lnTo>
                  <a:lnTo>
                    <a:pt x="534" y="15"/>
                  </a:lnTo>
                  <a:lnTo>
                    <a:pt x="521" y="15"/>
                  </a:lnTo>
                  <a:lnTo>
                    <a:pt x="519" y="15"/>
                  </a:lnTo>
                  <a:lnTo>
                    <a:pt x="518" y="14"/>
                  </a:lnTo>
                  <a:lnTo>
                    <a:pt x="515" y="13"/>
                  </a:lnTo>
                  <a:lnTo>
                    <a:pt x="513" y="11"/>
                  </a:lnTo>
                  <a:lnTo>
                    <a:pt x="513" y="10"/>
                  </a:lnTo>
                  <a:lnTo>
                    <a:pt x="513" y="8"/>
                  </a:lnTo>
                  <a:lnTo>
                    <a:pt x="513" y="7"/>
                  </a:lnTo>
                  <a:lnTo>
                    <a:pt x="513" y="6"/>
                  </a:lnTo>
                  <a:lnTo>
                    <a:pt x="515" y="2"/>
                  </a:lnTo>
                  <a:lnTo>
                    <a:pt x="518" y="1"/>
                  </a:lnTo>
                  <a:lnTo>
                    <a:pt x="519" y="1"/>
                  </a:lnTo>
                  <a:lnTo>
                    <a:pt x="521" y="0"/>
                  </a:lnTo>
                  <a:close/>
                  <a:moveTo>
                    <a:pt x="563" y="0"/>
                  </a:moveTo>
                  <a:lnTo>
                    <a:pt x="577" y="0"/>
                  </a:lnTo>
                  <a:lnTo>
                    <a:pt x="578" y="1"/>
                  </a:lnTo>
                  <a:lnTo>
                    <a:pt x="580" y="1"/>
                  </a:lnTo>
                  <a:lnTo>
                    <a:pt x="582" y="2"/>
                  </a:lnTo>
                  <a:lnTo>
                    <a:pt x="584" y="6"/>
                  </a:lnTo>
                  <a:lnTo>
                    <a:pt x="584" y="7"/>
                  </a:lnTo>
                  <a:lnTo>
                    <a:pt x="584" y="8"/>
                  </a:lnTo>
                  <a:lnTo>
                    <a:pt x="584" y="10"/>
                  </a:lnTo>
                  <a:lnTo>
                    <a:pt x="584" y="11"/>
                  </a:lnTo>
                  <a:lnTo>
                    <a:pt x="582" y="13"/>
                  </a:lnTo>
                  <a:lnTo>
                    <a:pt x="580" y="14"/>
                  </a:lnTo>
                  <a:lnTo>
                    <a:pt x="578" y="15"/>
                  </a:lnTo>
                  <a:lnTo>
                    <a:pt x="577" y="15"/>
                  </a:lnTo>
                  <a:lnTo>
                    <a:pt x="563" y="15"/>
                  </a:lnTo>
                  <a:lnTo>
                    <a:pt x="562" y="15"/>
                  </a:lnTo>
                  <a:lnTo>
                    <a:pt x="561" y="14"/>
                  </a:lnTo>
                  <a:lnTo>
                    <a:pt x="557" y="13"/>
                  </a:lnTo>
                  <a:lnTo>
                    <a:pt x="556" y="11"/>
                  </a:lnTo>
                  <a:lnTo>
                    <a:pt x="555" y="10"/>
                  </a:lnTo>
                  <a:lnTo>
                    <a:pt x="555" y="8"/>
                  </a:lnTo>
                  <a:lnTo>
                    <a:pt x="555" y="7"/>
                  </a:lnTo>
                  <a:lnTo>
                    <a:pt x="556" y="6"/>
                  </a:lnTo>
                  <a:lnTo>
                    <a:pt x="557" y="2"/>
                  </a:lnTo>
                  <a:lnTo>
                    <a:pt x="561" y="1"/>
                  </a:lnTo>
                  <a:lnTo>
                    <a:pt x="562" y="1"/>
                  </a:lnTo>
                  <a:lnTo>
                    <a:pt x="563" y="0"/>
                  </a:lnTo>
                  <a:close/>
                  <a:moveTo>
                    <a:pt x="606" y="0"/>
                  </a:moveTo>
                  <a:lnTo>
                    <a:pt x="619" y="0"/>
                  </a:lnTo>
                  <a:lnTo>
                    <a:pt x="622" y="1"/>
                  </a:lnTo>
                  <a:lnTo>
                    <a:pt x="623" y="1"/>
                  </a:lnTo>
                  <a:lnTo>
                    <a:pt x="625" y="2"/>
                  </a:lnTo>
                  <a:lnTo>
                    <a:pt x="627" y="6"/>
                  </a:lnTo>
                  <a:lnTo>
                    <a:pt x="627" y="7"/>
                  </a:lnTo>
                  <a:lnTo>
                    <a:pt x="627" y="8"/>
                  </a:lnTo>
                  <a:lnTo>
                    <a:pt x="627" y="10"/>
                  </a:lnTo>
                  <a:lnTo>
                    <a:pt x="627" y="11"/>
                  </a:lnTo>
                  <a:lnTo>
                    <a:pt x="625" y="13"/>
                  </a:lnTo>
                  <a:lnTo>
                    <a:pt x="623" y="14"/>
                  </a:lnTo>
                  <a:lnTo>
                    <a:pt x="622" y="15"/>
                  </a:lnTo>
                  <a:lnTo>
                    <a:pt x="619" y="15"/>
                  </a:lnTo>
                  <a:lnTo>
                    <a:pt x="606" y="15"/>
                  </a:lnTo>
                  <a:lnTo>
                    <a:pt x="604" y="15"/>
                  </a:lnTo>
                  <a:lnTo>
                    <a:pt x="603" y="14"/>
                  </a:lnTo>
                  <a:lnTo>
                    <a:pt x="601" y="13"/>
                  </a:lnTo>
                  <a:lnTo>
                    <a:pt x="600" y="11"/>
                  </a:lnTo>
                  <a:lnTo>
                    <a:pt x="598" y="10"/>
                  </a:lnTo>
                  <a:lnTo>
                    <a:pt x="598" y="8"/>
                  </a:lnTo>
                  <a:lnTo>
                    <a:pt x="598" y="7"/>
                  </a:lnTo>
                  <a:lnTo>
                    <a:pt x="600" y="6"/>
                  </a:lnTo>
                  <a:lnTo>
                    <a:pt x="601" y="2"/>
                  </a:lnTo>
                  <a:lnTo>
                    <a:pt x="603" y="1"/>
                  </a:lnTo>
                  <a:lnTo>
                    <a:pt x="604" y="1"/>
                  </a:lnTo>
                  <a:lnTo>
                    <a:pt x="606" y="0"/>
                  </a:lnTo>
                  <a:close/>
                  <a:moveTo>
                    <a:pt x="648" y="0"/>
                  </a:moveTo>
                  <a:lnTo>
                    <a:pt x="663" y="0"/>
                  </a:lnTo>
                  <a:lnTo>
                    <a:pt x="664" y="1"/>
                  </a:lnTo>
                  <a:lnTo>
                    <a:pt x="666" y="1"/>
                  </a:lnTo>
                  <a:lnTo>
                    <a:pt x="668" y="2"/>
                  </a:lnTo>
                  <a:lnTo>
                    <a:pt x="669" y="6"/>
                  </a:lnTo>
                  <a:lnTo>
                    <a:pt x="670" y="7"/>
                  </a:lnTo>
                  <a:lnTo>
                    <a:pt x="670" y="8"/>
                  </a:lnTo>
                  <a:lnTo>
                    <a:pt x="670" y="10"/>
                  </a:lnTo>
                  <a:lnTo>
                    <a:pt x="669" y="11"/>
                  </a:lnTo>
                  <a:lnTo>
                    <a:pt x="668" y="13"/>
                  </a:lnTo>
                  <a:lnTo>
                    <a:pt x="666" y="14"/>
                  </a:lnTo>
                  <a:lnTo>
                    <a:pt x="664" y="15"/>
                  </a:lnTo>
                  <a:lnTo>
                    <a:pt x="663" y="15"/>
                  </a:lnTo>
                  <a:lnTo>
                    <a:pt x="648" y="15"/>
                  </a:lnTo>
                  <a:lnTo>
                    <a:pt x="647" y="15"/>
                  </a:lnTo>
                  <a:lnTo>
                    <a:pt x="646" y="14"/>
                  </a:lnTo>
                  <a:lnTo>
                    <a:pt x="644" y="13"/>
                  </a:lnTo>
                  <a:lnTo>
                    <a:pt x="642" y="11"/>
                  </a:lnTo>
                  <a:lnTo>
                    <a:pt x="642" y="10"/>
                  </a:lnTo>
                  <a:lnTo>
                    <a:pt x="642" y="8"/>
                  </a:lnTo>
                  <a:lnTo>
                    <a:pt x="642" y="7"/>
                  </a:lnTo>
                  <a:lnTo>
                    <a:pt x="642" y="6"/>
                  </a:lnTo>
                  <a:lnTo>
                    <a:pt x="644" y="2"/>
                  </a:lnTo>
                  <a:lnTo>
                    <a:pt x="646" y="1"/>
                  </a:lnTo>
                  <a:lnTo>
                    <a:pt x="647" y="1"/>
                  </a:lnTo>
                  <a:lnTo>
                    <a:pt x="648" y="0"/>
                  </a:lnTo>
                  <a:close/>
                  <a:moveTo>
                    <a:pt x="691" y="0"/>
                  </a:moveTo>
                  <a:lnTo>
                    <a:pt x="706" y="0"/>
                  </a:lnTo>
                  <a:lnTo>
                    <a:pt x="707" y="1"/>
                  </a:lnTo>
                  <a:lnTo>
                    <a:pt x="708" y="1"/>
                  </a:lnTo>
                  <a:lnTo>
                    <a:pt x="710" y="2"/>
                  </a:lnTo>
                  <a:lnTo>
                    <a:pt x="712" y="6"/>
                  </a:lnTo>
                  <a:lnTo>
                    <a:pt x="712" y="7"/>
                  </a:lnTo>
                  <a:lnTo>
                    <a:pt x="712" y="8"/>
                  </a:lnTo>
                  <a:lnTo>
                    <a:pt x="712" y="10"/>
                  </a:lnTo>
                  <a:lnTo>
                    <a:pt x="712" y="11"/>
                  </a:lnTo>
                  <a:lnTo>
                    <a:pt x="710" y="13"/>
                  </a:lnTo>
                  <a:lnTo>
                    <a:pt x="708" y="14"/>
                  </a:lnTo>
                  <a:lnTo>
                    <a:pt x="707" y="15"/>
                  </a:lnTo>
                  <a:lnTo>
                    <a:pt x="706" y="15"/>
                  </a:lnTo>
                  <a:lnTo>
                    <a:pt x="691" y="15"/>
                  </a:lnTo>
                  <a:lnTo>
                    <a:pt x="690" y="15"/>
                  </a:lnTo>
                  <a:lnTo>
                    <a:pt x="688" y="14"/>
                  </a:lnTo>
                  <a:lnTo>
                    <a:pt x="686" y="13"/>
                  </a:lnTo>
                  <a:lnTo>
                    <a:pt x="685" y="11"/>
                  </a:lnTo>
                  <a:lnTo>
                    <a:pt x="684" y="10"/>
                  </a:lnTo>
                  <a:lnTo>
                    <a:pt x="684" y="8"/>
                  </a:lnTo>
                  <a:lnTo>
                    <a:pt x="684" y="7"/>
                  </a:lnTo>
                  <a:lnTo>
                    <a:pt x="685" y="6"/>
                  </a:lnTo>
                  <a:lnTo>
                    <a:pt x="686" y="2"/>
                  </a:lnTo>
                  <a:lnTo>
                    <a:pt x="688" y="1"/>
                  </a:lnTo>
                  <a:lnTo>
                    <a:pt x="690" y="1"/>
                  </a:lnTo>
                  <a:lnTo>
                    <a:pt x="691" y="0"/>
                  </a:lnTo>
                  <a:close/>
                  <a:moveTo>
                    <a:pt x="734" y="0"/>
                  </a:moveTo>
                  <a:lnTo>
                    <a:pt x="748" y="0"/>
                  </a:lnTo>
                  <a:lnTo>
                    <a:pt x="750" y="1"/>
                  </a:lnTo>
                  <a:lnTo>
                    <a:pt x="751" y="1"/>
                  </a:lnTo>
                  <a:lnTo>
                    <a:pt x="753" y="2"/>
                  </a:lnTo>
                  <a:lnTo>
                    <a:pt x="754" y="6"/>
                  </a:lnTo>
                  <a:lnTo>
                    <a:pt x="755" y="7"/>
                  </a:lnTo>
                  <a:lnTo>
                    <a:pt x="755" y="8"/>
                  </a:lnTo>
                  <a:lnTo>
                    <a:pt x="755" y="10"/>
                  </a:lnTo>
                  <a:lnTo>
                    <a:pt x="754" y="11"/>
                  </a:lnTo>
                  <a:lnTo>
                    <a:pt x="753" y="13"/>
                  </a:lnTo>
                  <a:lnTo>
                    <a:pt x="751" y="14"/>
                  </a:lnTo>
                  <a:lnTo>
                    <a:pt x="750" y="15"/>
                  </a:lnTo>
                  <a:lnTo>
                    <a:pt x="748" y="15"/>
                  </a:lnTo>
                  <a:lnTo>
                    <a:pt x="734" y="15"/>
                  </a:lnTo>
                  <a:lnTo>
                    <a:pt x="732" y="15"/>
                  </a:lnTo>
                  <a:lnTo>
                    <a:pt x="731" y="14"/>
                  </a:lnTo>
                  <a:lnTo>
                    <a:pt x="729" y="13"/>
                  </a:lnTo>
                  <a:lnTo>
                    <a:pt x="727" y="11"/>
                  </a:lnTo>
                  <a:lnTo>
                    <a:pt x="727" y="10"/>
                  </a:lnTo>
                  <a:lnTo>
                    <a:pt x="727" y="8"/>
                  </a:lnTo>
                  <a:lnTo>
                    <a:pt x="727" y="7"/>
                  </a:lnTo>
                  <a:lnTo>
                    <a:pt x="727" y="6"/>
                  </a:lnTo>
                  <a:lnTo>
                    <a:pt x="729" y="2"/>
                  </a:lnTo>
                  <a:lnTo>
                    <a:pt x="731" y="1"/>
                  </a:lnTo>
                  <a:lnTo>
                    <a:pt x="732" y="1"/>
                  </a:lnTo>
                  <a:lnTo>
                    <a:pt x="734" y="0"/>
                  </a:lnTo>
                  <a:close/>
                  <a:moveTo>
                    <a:pt x="776" y="0"/>
                  </a:moveTo>
                  <a:lnTo>
                    <a:pt x="791" y="0"/>
                  </a:lnTo>
                  <a:lnTo>
                    <a:pt x="792" y="1"/>
                  </a:lnTo>
                  <a:lnTo>
                    <a:pt x="794" y="1"/>
                  </a:lnTo>
                  <a:lnTo>
                    <a:pt x="796" y="2"/>
                  </a:lnTo>
                  <a:lnTo>
                    <a:pt x="797" y="6"/>
                  </a:lnTo>
                  <a:lnTo>
                    <a:pt x="798" y="7"/>
                  </a:lnTo>
                  <a:lnTo>
                    <a:pt x="798" y="8"/>
                  </a:lnTo>
                  <a:lnTo>
                    <a:pt x="798" y="10"/>
                  </a:lnTo>
                  <a:lnTo>
                    <a:pt x="797" y="11"/>
                  </a:lnTo>
                  <a:lnTo>
                    <a:pt x="796" y="13"/>
                  </a:lnTo>
                  <a:lnTo>
                    <a:pt x="794" y="14"/>
                  </a:lnTo>
                  <a:lnTo>
                    <a:pt x="792" y="15"/>
                  </a:lnTo>
                  <a:lnTo>
                    <a:pt x="791" y="15"/>
                  </a:lnTo>
                  <a:lnTo>
                    <a:pt x="776" y="15"/>
                  </a:lnTo>
                  <a:lnTo>
                    <a:pt x="775" y="15"/>
                  </a:lnTo>
                  <a:lnTo>
                    <a:pt x="774" y="14"/>
                  </a:lnTo>
                  <a:lnTo>
                    <a:pt x="772" y="13"/>
                  </a:lnTo>
                  <a:lnTo>
                    <a:pt x="770" y="11"/>
                  </a:lnTo>
                  <a:lnTo>
                    <a:pt x="770" y="10"/>
                  </a:lnTo>
                  <a:lnTo>
                    <a:pt x="770" y="8"/>
                  </a:lnTo>
                  <a:lnTo>
                    <a:pt x="770" y="7"/>
                  </a:lnTo>
                  <a:lnTo>
                    <a:pt x="770" y="6"/>
                  </a:lnTo>
                  <a:lnTo>
                    <a:pt x="772" y="2"/>
                  </a:lnTo>
                  <a:lnTo>
                    <a:pt x="774" y="1"/>
                  </a:lnTo>
                  <a:lnTo>
                    <a:pt x="775" y="1"/>
                  </a:lnTo>
                  <a:lnTo>
                    <a:pt x="776" y="0"/>
                  </a:lnTo>
                  <a:close/>
                  <a:moveTo>
                    <a:pt x="819" y="0"/>
                  </a:moveTo>
                  <a:lnTo>
                    <a:pt x="834" y="0"/>
                  </a:lnTo>
                  <a:lnTo>
                    <a:pt x="835" y="1"/>
                  </a:lnTo>
                  <a:lnTo>
                    <a:pt x="836" y="1"/>
                  </a:lnTo>
                  <a:lnTo>
                    <a:pt x="838" y="2"/>
                  </a:lnTo>
                  <a:lnTo>
                    <a:pt x="840" y="6"/>
                  </a:lnTo>
                  <a:lnTo>
                    <a:pt x="840" y="7"/>
                  </a:lnTo>
                  <a:lnTo>
                    <a:pt x="840" y="8"/>
                  </a:lnTo>
                  <a:lnTo>
                    <a:pt x="840" y="10"/>
                  </a:lnTo>
                  <a:lnTo>
                    <a:pt x="840" y="11"/>
                  </a:lnTo>
                  <a:lnTo>
                    <a:pt x="838" y="13"/>
                  </a:lnTo>
                  <a:lnTo>
                    <a:pt x="836" y="14"/>
                  </a:lnTo>
                  <a:lnTo>
                    <a:pt x="835" y="15"/>
                  </a:lnTo>
                  <a:lnTo>
                    <a:pt x="834" y="15"/>
                  </a:lnTo>
                  <a:lnTo>
                    <a:pt x="819" y="15"/>
                  </a:lnTo>
                  <a:lnTo>
                    <a:pt x="818" y="15"/>
                  </a:lnTo>
                  <a:lnTo>
                    <a:pt x="816" y="14"/>
                  </a:lnTo>
                  <a:lnTo>
                    <a:pt x="814" y="13"/>
                  </a:lnTo>
                  <a:lnTo>
                    <a:pt x="813" y="11"/>
                  </a:lnTo>
                  <a:lnTo>
                    <a:pt x="812" y="10"/>
                  </a:lnTo>
                  <a:lnTo>
                    <a:pt x="812" y="8"/>
                  </a:lnTo>
                  <a:lnTo>
                    <a:pt x="812" y="7"/>
                  </a:lnTo>
                  <a:lnTo>
                    <a:pt x="813" y="6"/>
                  </a:lnTo>
                  <a:lnTo>
                    <a:pt x="814" y="2"/>
                  </a:lnTo>
                  <a:lnTo>
                    <a:pt x="816" y="1"/>
                  </a:lnTo>
                  <a:lnTo>
                    <a:pt x="818" y="1"/>
                  </a:lnTo>
                  <a:lnTo>
                    <a:pt x="819" y="0"/>
                  </a:lnTo>
                  <a:close/>
                  <a:moveTo>
                    <a:pt x="862" y="0"/>
                  </a:moveTo>
                  <a:lnTo>
                    <a:pt x="876" y="0"/>
                  </a:lnTo>
                  <a:lnTo>
                    <a:pt x="878" y="1"/>
                  </a:lnTo>
                  <a:lnTo>
                    <a:pt x="879" y="1"/>
                  </a:lnTo>
                  <a:lnTo>
                    <a:pt x="881" y="2"/>
                  </a:lnTo>
                  <a:lnTo>
                    <a:pt x="882" y="6"/>
                  </a:lnTo>
                  <a:lnTo>
                    <a:pt x="883" y="7"/>
                  </a:lnTo>
                  <a:lnTo>
                    <a:pt x="883" y="8"/>
                  </a:lnTo>
                  <a:lnTo>
                    <a:pt x="883" y="10"/>
                  </a:lnTo>
                  <a:lnTo>
                    <a:pt x="882" y="11"/>
                  </a:lnTo>
                  <a:lnTo>
                    <a:pt x="881" y="13"/>
                  </a:lnTo>
                  <a:lnTo>
                    <a:pt x="879" y="14"/>
                  </a:lnTo>
                  <a:lnTo>
                    <a:pt x="878" y="15"/>
                  </a:lnTo>
                  <a:lnTo>
                    <a:pt x="876" y="15"/>
                  </a:lnTo>
                  <a:lnTo>
                    <a:pt x="862" y="15"/>
                  </a:lnTo>
                  <a:lnTo>
                    <a:pt x="860" y="15"/>
                  </a:lnTo>
                  <a:lnTo>
                    <a:pt x="859" y="14"/>
                  </a:lnTo>
                  <a:lnTo>
                    <a:pt x="857" y="13"/>
                  </a:lnTo>
                  <a:lnTo>
                    <a:pt x="855" y="11"/>
                  </a:lnTo>
                  <a:lnTo>
                    <a:pt x="855" y="10"/>
                  </a:lnTo>
                  <a:lnTo>
                    <a:pt x="855" y="8"/>
                  </a:lnTo>
                  <a:lnTo>
                    <a:pt x="855" y="7"/>
                  </a:lnTo>
                  <a:lnTo>
                    <a:pt x="855" y="6"/>
                  </a:lnTo>
                  <a:lnTo>
                    <a:pt x="857" y="2"/>
                  </a:lnTo>
                  <a:lnTo>
                    <a:pt x="859" y="1"/>
                  </a:lnTo>
                  <a:lnTo>
                    <a:pt x="860" y="1"/>
                  </a:lnTo>
                  <a:lnTo>
                    <a:pt x="862" y="0"/>
                  </a:lnTo>
                  <a:close/>
                  <a:moveTo>
                    <a:pt x="904" y="0"/>
                  </a:moveTo>
                  <a:lnTo>
                    <a:pt x="919" y="0"/>
                  </a:lnTo>
                  <a:lnTo>
                    <a:pt x="920" y="1"/>
                  </a:lnTo>
                  <a:lnTo>
                    <a:pt x="921" y="1"/>
                  </a:lnTo>
                  <a:lnTo>
                    <a:pt x="924" y="2"/>
                  </a:lnTo>
                  <a:lnTo>
                    <a:pt x="925" y="6"/>
                  </a:lnTo>
                  <a:lnTo>
                    <a:pt x="925" y="7"/>
                  </a:lnTo>
                  <a:lnTo>
                    <a:pt x="927" y="8"/>
                  </a:lnTo>
                  <a:lnTo>
                    <a:pt x="925" y="10"/>
                  </a:lnTo>
                  <a:lnTo>
                    <a:pt x="925" y="11"/>
                  </a:lnTo>
                  <a:lnTo>
                    <a:pt x="924" y="13"/>
                  </a:lnTo>
                  <a:lnTo>
                    <a:pt x="921" y="14"/>
                  </a:lnTo>
                  <a:lnTo>
                    <a:pt x="920" y="15"/>
                  </a:lnTo>
                  <a:lnTo>
                    <a:pt x="919" y="15"/>
                  </a:lnTo>
                  <a:lnTo>
                    <a:pt x="904" y="15"/>
                  </a:lnTo>
                  <a:lnTo>
                    <a:pt x="903" y="15"/>
                  </a:lnTo>
                  <a:lnTo>
                    <a:pt x="902" y="14"/>
                  </a:lnTo>
                  <a:lnTo>
                    <a:pt x="899" y="13"/>
                  </a:lnTo>
                  <a:lnTo>
                    <a:pt x="898" y="11"/>
                  </a:lnTo>
                  <a:lnTo>
                    <a:pt x="898" y="10"/>
                  </a:lnTo>
                  <a:lnTo>
                    <a:pt x="897" y="8"/>
                  </a:lnTo>
                  <a:lnTo>
                    <a:pt x="898" y="7"/>
                  </a:lnTo>
                  <a:lnTo>
                    <a:pt x="898" y="6"/>
                  </a:lnTo>
                  <a:lnTo>
                    <a:pt x="899" y="2"/>
                  </a:lnTo>
                  <a:lnTo>
                    <a:pt x="902" y="1"/>
                  </a:lnTo>
                  <a:lnTo>
                    <a:pt x="903" y="1"/>
                  </a:lnTo>
                  <a:lnTo>
                    <a:pt x="904" y="0"/>
                  </a:lnTo>
                  <a:close/>
                  <a:moveTo>
                    <a:pt x="948" y="0"/>
                  </a:moveTo>
                  <a:lnTo>
                    <a:pt x="961" y="0"/>
                  </a:lnTo>
                  <a:lnTo>
                    <a:pt x="963" y="1"/>
                  </a:lnTo>
                  <a:lnTo>
                    <a:pt x="964" y="1"/>
                  </a:lnTo>
                  <a:lnTo>
                    <a:pt x="966" y="2"/>
                  </a:lnTo>
                  <a:lnTo>
                    <a:pt x="969" y="6"/>
                  </a:lnTo>
                  <a:lnTo>
                    <a:pt x="969" y="7"/>
                  </a:lnTo>
                  <a:lnTo>
                    <a:pt x="969" y="8"/>
                  </a:lnTo>
                  <a:lnTo>
                    <a:pt x="969" y="10"/>
                  </a:lnTo>
                  <a:lnTo>
                    <a:pt x="969" y="11"/>
                  </a:lnTo>
                  <a:lnTo>
                    <a:pt x="966" y="13"/>
                  </a:lnTo>
                  <a:lnTo>
                    <a:pt x="964" y="14"/>
                  </a:lnTo>
                  <a:lnTo>
                    <a:pt x="963" y="15"/>
                  </a:lnTo>
                  <a:lnTo>
                    <a:pt x="961" y="15"/>
                  </a:lnTo>
                  <a:lnTo>
                    <a:pt x="948" y="15"/>
                  </a:lnTo>
                  <a:lnTo>
                    <a:pt x="946" y="15"/>
                  </a:lnTo>
                  <a:lnTo>
                    <a:pt x="944" y="14"/>
                  </a:lnTo>
                  <a:lnTo>
                    <a:pt x="942" y="13"/>
                  </a:lnTo>
                  <a:lnTo>
                    <a:pt x="941" y="11"/>
                  </a:lnTo>
                  <a:lnTo>
                    <a:pt x="940" y="10"/>
                  </a:lnTo>
                  <a:lnTo>
                    <a:pt x="940" y="8"/>
                  </a:lnTo>
                  <a:lnTo>
                    <a:pt x="940" y="7"/>
                  </a:lnTo>
                  <a:lnTo>
                    <a:pt x="941" y="6"/>
                  </a:lnTo>
                  <a:lnTo>
                    <a:pt x="942" y="2"/>
                  </a:lnTo>
                  <a:lnTo>
                    <a:pt x="944" y="1"/>
                  </a:lnTo>
                  <a:lnTo>
                    <a:pt x="946" y="1"/>
                  </a:lnTo>
                  <a:lnTo>
                    <a:pt x="948" y="0"/>
                  </a:lnTo>
                  <a:close/>
                  <a:moveTo>
                    <a:pt x="991" y="0"/>
                  </a:moveTo>
                  <a:lnTo>
                    <a:pt x="1004" y="0"/>
                  </a:lnTo>
                  <a:lnTo>
                    <a:pt x="1005" y="1"/>
                  </a:lnTo>
                  <a:lnTo>
                    <a:pt x="1007" y="1"/>
                  </a:lnTo>
                  <a:lnTo>
                    <a:pt x="1010" y="2"/>
                  </a:lnTo>
                  <a:lnTo>
                    <a:pt x="1011" y="6"/>
                  </a:lnTo>
                  <a:lnTo>
                    <a:pt x="1012" y="7"/>
                  </a:lnTo>
                  <a:lnTo>
                    <a:pt x="1012" y="8"/>
                  </a:lnTo>
                  <a:lnTo>
                    <a:pt x="1012" y="10"/>
                  </a:lnTo>
                  <a:lnTo>
                    <a:pt x="1011" y="11"/>
                  </a:lnTo>
                  <a:lnTo>
                    <a:pt x="1010" y="13"/>
                  </a:lnTo>
                  <a:lnTo>
                    <a:pt x="1007" y="14"/>
                  </a:lnTo>
                  <a:lnTo>
                    <a:pt x="1005" y="15"/>
                  </a:lnTo>
                  <a:lnTo>
                    <a:pt x="1004" y="15"/>
                  </a:lnTo>
                  <a:lnTo>
                    <a:pt x="991" y="15"/>
                  </a:lnTo>
                  <a:lnTo>
                    <a:pt x="989" y="15"/>
                  </a:lnTo>
                  <a:lnTo>
                    <a:pt x="987" y="14"/>
                  </a:lnTo>
                  <a:lnTo>
                    <a:pt x="985" y="13"/>
                  </a:lnTo>
                  <a:lnTo>
                    <a:pt x="983" y="11"/>
                  </a:lnTo>
                  <a:lnTo>
                    <a:pt x="983" y="10"/>
                  </a:lnTo>
                  <a:lnTo>
                    <a:pt x="983" y="8"/>
                  </a:lnTo>
                  <a:lnTo>
                    <a:pt x="983" y="7"/>
                  </a:lnTo>
                  <a:lnTo>
                    <a:pt x="983" y="6"/>
                  </a:lnTo>
                  <a:lnTo>
                    <a:pt x="985" y="2"/>
                  </a:lnTo>
                  <a:lnTo>
                    <a:pt x="987" y="1"/>
                  </a:lnTo>
                  <a:lnTo>
                    <a:pt x="989" y="1"/>
                  </a:lnTo>
                  <a:lnTo>
                    <a:pt x="991" y="0"/>
                  </a:lnTo>
                  <a:close/>
                  <a:moveTo>
                    <a:pt x="1033" y="0"/>
                  </a:moveTo>
                  <a:lnTo>
                    <a:pt x="1047" y="0"/>
                  </a:lnTo>
                  <a:lnTo>
                    <a:pt x="1048" y="1"/>
                  </a:lnTo>
                  <a:lnTo>
                    <a:pt x="1050" y="1"/>
                  </a:lnTo>
                  <a:lnTo>
                    <a:pt x="1053" y="2"/>
                  </a:lnTo>
                  <a:lnTo>
                    <a:pt x="1054" y="6"/>
                  </a:lnTo>
                  <a:lnTo>
                    <a:pt x="1054" y="7"/>
                  </a:lnTo>
                  <a:lnTo>
                    <a:pt x="1055" y="8"/>
                  </a:lnTo>
                  <a:lnTo>
                    <a:pt x="1054" y="10"/>
                  </a:lnTo>
                  <a:lnTo>
                    <a:pt x="1054" y="11"/>
                  </a:lnTo>
                  <a:lnTo>
                    <a:pt x="1053" y="13"/>
                  </a:lnTo>
                  <a:lnTo>
                    <a:pt x="1050" y="14"/>
                  </a:lnTo>
                  <a:lnTo>
                    <a:pt x="1048" y="15"/>
                  </a:lnTo>
                  <a:lnTo>
                    <a:pt x="1047" y="15"/>
                  </a:lnTo>
                  <a:lnTo>
                    <a:pt x="1033" y="15"/>
                  </a:lnTo>
                  <a:lnTo>
                    <a:pt x="1032" y="15"/>
                  </a:lnTo>
                  <a:lnTo>
                    <a:pt x="1031" y="14"/>
                  </a:lnTo>
                  <a:lnTo>
                    <a:pt x="1027" y="13"/>
                  </a:lnTo>
                  <a:lnTo>
                    <a:pt x="1026" y="11"/>
                  </a:lnTo>
                  <a:lnTo>
                    <a:pt x="1026" y="10"/>
                  </a:lnTo>
                  <a:lnTo>
                    <a:pt x="1025" y="8"/>
                  </a:lnTo>
                  <a:lnTo>
                    <a:pt x="1026" y="7"/>
                  </a:lnTo>
                  <a:lnTo>
                    <a:pt x="1026" y="6"/>
                  </a:lnTo>
                  <a:lnTo>
                    <a:pt x="1027" y="2"/>
                  </a:lnTo>
                  <a:lnTo>
                    <a:pt x="1031" y="1"/>
                  </a:lnTo>
                  <a:lnTo>
                    <a:pt x="1032" y="1"/>
                  </a:lnTo>
                  <a:lnTo>
                    <a:pt x="1033" y="0"/>
                  </a:lnTo>
                  <a:close/>
                  <a:moveTo>
                    <a:pt x="1076" y="0"/>
                  </a:moveTo>
                  <a:lnTo>
                    <a:pt x="1089" y="0"/>
                  </a:lnTo>
                  <a:lnTo>
                    <a:pt x="1092" y="1"/>
                  </a:lnTo>
                  <a:lnTo>
                    <a:pt x="1093" y="1"/>
                  </a:lnTo>
                  <a:lnTo>
                    <a:pt x="1095" y="2"/>
                  </a:lnTo>
                  <a:lnTo>
                    <a:pt x="1097" y="6"/>
                  </a:lnTo>
                  <a:lnTo>
                    <a:pt x="1097" y="7"/>
                  </a:lnTo>
                  <a:lnTo>
                    <a:pt x="1097" y="8"/>
                  </a:lnTo>
                  <a:lnTo>
                    <a:pt x="1097" y="10"/>
                  </a:lnTo>
                  <a:lnTo>
                    <a:pt x="1097" y="11"/>
                  </a:lnTo>
                  <a:lnTo>
                    <a:pt x="1095" y="13"/>
                  </a:lnTo>
                  <a:lnTo>
                    <a:pt x="1093" y="14"/>
                  </a:lnTo>
                  <a:lnTo>
                    <a:pt x="1092" y="15"/>
                  </a:lnTo>
                  <a:lnTo>
                    <a:pt x="1089" y="15"/>
                  </a:lnTo>
                  <a:lnTo>
                    <a:pt x="1076" y="15"/>
                  </a:lnTo>
                  <a:lnTo>
                    <a:pt x="1074" y="15"/>
                  </a:lnTo>
                  <a:lnTo>
                    <a:pt x="1073" y="14"/>
                  </a:lnTo>
                  <a:lnTo>
                    <a:pt x="1071" y="13"/>
                  </a:lnTo>
                  <a:lnTo>
                    <a:pt x="1070" y="11"/>
                  </a:lnTo>
                  <a:lnTo>
                    <a:pt x="1068" y="10"/>
                  </a:lnTo>
                  <a:lnTo>
                    <a:pt x="1068" y="8"/>
                  </a:lnTo>
                  <a:lnTo>
                    <a:pt x="1068" y="7"/>
                  </a:lnTo>
                  <a:lnTo>
                    <a:pt x="1070" y="6"/>
                  </a:lnTo>
                  <a:lnTo>
                    <a:pt x="1071" y="2"/>
                  </a:lnTo>
                  <a:lnTo>
                    <a:pt x="1073" y="1"/>
                  </a:lnTo>
                  <a:lnTo>
                    <a:pt x="1074" y="1"/>
                  </a:lnTo>
                  <a:lnTo>
                    <a:pt x="1076" y="0"/>
                  </a:lnTo>
                  <a:close/>
                  <a:moveTo>
                    <a:pt x="1118" y="0"/>
                  </a:moveTo>
                  <a:lnTo>
                    <a:pt x="1133" y="0"/>
                  </a:lnTo>
                  <a:lnTo>
                    <a:pt x="1134" y="1"/>
                  </a:lnTo>
                  <a:lnTo>
                    <a:pt x="1136" y="1"/>
                  </a:lnTo>
                  <a:lnTo>
                    <a:pt x="1138" y="2"/>
                  </a:lnTo>
                  <a:lnTo>
                    <a:pt x="1139" y="6"/>
                  </a:lnTo>
                  <a:lnTo>
                    <a:pt x="1140" y="7"/>
                  </a:lnTo>
                  <a:lnTo>
                    <a:pt x="1140" y="8"/>
                  </a:lnTo>
                  <a:lnTo>
                    <a:pt x="1140" y="10"/>
                  </a:lnTo>
                  <a:lnTo>
                    <a:pt x="1139" y="11"/>
                  </a:lnTo>
                  <a:lnTo>
                    <a:pt x="1138" y="13"/>
                  </a:lnTo>
                  <a:lnTo>
                    <a:pt x="1136" y="14"/>
                  </a:lnTo>
                  <a:lnTo>
                    <a:pt x="1134" y="15"/>
                  </a:lnTo>
                  <a:lnTo>
                    <a:pt x="1133" y="15"/>
                  </a:lnTo>
                  <a:lnTo>
                    <a:pt x="1118" y="15"/>
                  </a:lnTo>
                  <a:lnTo>
                    <a:pt x="1117" y="15"/>
                  </a:lnTo>
                  <a:lnTo>
                    <a:pt x="1116" y="14"/>
                  </a:lnTo>
                  <a:lnTo>
                    <a:pt x="1114" y="13"/>
                  </a:lnTo>
                  <a:lnTo>
                    <a:pt x="1112" y="11"/>
                  </a:lnTo>
                  <a:lnTo>
                    <a:pt x="1112" y="10"/>
                  </a:lnTo>
                  <a:lnTo>
                    <a:pt x="1112" y="8"/>
                  </a:lnTo>
                  <a:lnTo>
                    <a:pt x="1112" y="7"/>
                  </a:lnTo>
                  <a:lnTo>
                    <a:pt x="1112" y="6"/>
                  </a:lnTo>
                  <a:lnTo>
                    <a:pt x="1114" y="2"/>
                  </a:lnTo>
                  <a:lnTo>
                    <a:pt x="1116" y="1"/>
                  </a:lnTo>
                  <a:lnTo>
                    <a:pt x="1117" y="1"/>
                  </a:lnTo>
                  <a:lnTo>
                    <a:pt x="1118" y="0"/>
                  </a:lnTo>
                  <a:close/>
                  <a:moveTo>
                    <a:pt x="1161" y="0"/>
                  </a:moveTo>
                  <a:lnTo>
                    <a:pt x="1176" y="0"/>
                  </a:lnTo>
                  <a:lnTo>
                    <a:pt x="1177" y="1"/>
                  </a:lnTo>
                  <a:lnTo>
                    <a:pt x="1178" y="1"/>
                  </a:lnTo>
                  <a:lnTo>
                    <a:pt x="1180" y="2"/>
                  </a:lnTo>
                  <a:lnTo>
                    <a:pt x="1182" y="6"/>
                  </a:lnTo>
                  <a:lnTo>
                    <a:pt x="1182" y="7"/>
                  </a:lnTo>
                  <a:lnTo>
                    <a:pt x="1182" y="8"/>
                  </a:lnTo>
                  <a:lnTo>
                    <a:pt x="1182" y="10"/>
                  </a:lnTo>
                  <a:lnTo>
                    <a:pt x="1182" y="11"/>
                  </a:lnTo>
                  <a:lnTo>
                    <a:pt x="1180" y="13"/>
                  </a:lnTo>
                  <a:lnTo>
                    <a:pt x="1178" y="14"/>
                  </a:lnTo>
                  <a:lnTo>
                    <a:pt x="1177" y="15"/>
                  </a:lnTo>
                  <a:lnTo>
                    <a:pt x="1176" y="15"/>
                  </a:lnTo>
                  <a:lnTo>
                    <a:pt x="1161" y="15"/>
                  </a:lnTo>
                  <a:lnTo>
                    <a:pt x="1160" y="15"/>
                  </a:lnTo>
                  <a:lnTo>
                    <a:pt x="1158" y="14"/>
                  </a:lnTo>
                  <a:lnTo>
                    <a:pt x="1156" y="13"/>
                  </a:lnTo>
                  <a:lnTo>
                    <a:pt x="1155" y="11"/>
                  </a:lnTo>
                  <a:lnTo>
                    <a:pt x="1154" y="10"/>
                  </a:lnTo>
                  <a:lnTo>
                    <a:pt x="1154" y="8"/>
                  </a:lnTo>
                  <a:lnTo>
                    <a:pt x="1154" y="7"/>
                  </a:lnTo>
                  <a:lnTo>
                    <a:pt x="1155" y="6"/>
                  </a:lnTo>
                  <a:lnTo>
                    <a:pt x="1156" y="2"/>
                  </a:lnTo>
                  <a:lnTo>
                    <a:pt x="1158" y="1"/>
                  </a:lnTo>
                  <a:lnTo>
                    <a:pt x="1160" y="1"/>
                  </a:lnTo>
                  <a:lnTo>
                    <a:pt x="1161" y="0"/>
                  </a:lnTo>
                  <a:close/>
                </a:path>
              </a:pathLst>
            </a:custGeom>
            <a:solidFill>
              <a:srgbClr val="000000"/>
            </a:solidFill>
            <a:ln w="1588">
              <a:solidFill>
                <a:srgbClr val="000000"/>
              </a:solidFill>
              <a:round/>
            </a:ln>
          </p:spPr>
          <p:txBody>
            <a:bodyPr/>
            <a:lstStyle/>
            <a:p>
              <a:endParaRPr lang="zh-CN" altLang="en-US"/>
            </a:p>
          </p:txBody>
        </p:sp>
        <p:sp>
          <p:nvSpPr>
            <p:cNvPr id="45102" name="Freeform 46"/>
            <p:cNvSpPr>
              <a:spLocks noEditPoints="1"/>
            </p:cNvSpPr>
            <p:nvPr/>
          </p:nvSpPr>
          <p:spPr bwMode="auto">
            <a:xfrm>
              <a:off x="3611" y="1679"/>
              <a:ext cx="1353" cy="15"/>
            </a:xfrm>
            <a:custGeom>
              <a:avLst/>
              <a:gdLst>
                <a:gd name="T0" fmla="*/ 7 w 1353"/>
                <a:gd name="T1" fmla="*/ 15 h 15"/>
                <a:gd name="T2" fmla="*/ 64 w 1353"/>
                <a:gd name="T3" fmla="*/ 0 h 15"/>
                <a:gd name="T4" fmla="*/ 47 w 1353"/>
                <a:gd name="T5" fmla="*/ 14 h 15"/>
                <a:gd name="T6" fmla="*/ 109 w 1353"/>
                <a:gd name="T7" fmla="*/ 1 h 15"/>
                <a:gd name="T8" fmla="*/ 86 w 1353"/>
                <a:gd name="T9" fmla="*/ 11 h 15"/>
                <a:gd name="T10" fmla="*/ 157 w 1353"/>
                <a:gd name="T11" fmla="*/ 5 h 15"/>
                <a:gd name="T12" fmla="*/ 128 w 1353"/>
                <a:gd name="T13" fmla="*/ 8 h 15"/>
                <a:gd name="T14" fmla="*/ 200 w 1353"/>
                <a:gd name="T15" fmla="*/ 8 h 15"/>
                <a:gd name="T16" fmla="*/ 171 w 1353"/>
                <a:gd name="T17" fmla="*/ 5 h 15"/>
                <a:gd name="T18" fmla="*/ 242 w 1353"/>
                <a:gd name="T19" fmla="*/ 11 h 15"/>
                <a:gd name="T20" fmla="*/ 218 w 1353"/>
                <a:gd name="T21" fmla="*/ 1 h 15"/>
                <a:gd name="T22" fmla="*/ 281 w 1353"/>
                <a:gd name="T23" fmla="*/ 14 h 15"/>
                <a:gd name="T24" fmla="*/ 264 w 1353"/>
                <a:gd name="T25" fmla="*/ 0 h 15"/>
                <a:gd name="T26" fmla="*/ 321 w 1353"/>
                <a:gd name="T27" fmla="*/ 15 h 15"/>
                <a:gd name="T28" fmla="*/ 349 w 1353"/>
                <a:gd name="T29" fmla="*/ 0 h 15"/>
                <a:gd name="T30" fmla="*/ 348 w 1353"/>
                <a:gd name="T31" fmla="*/ 15 h 15"/>
                <a:gd name="T32" fmla="*/ 408 w 1353"/>
                <a:gd name="T33" fmla="*/ 1 h 15"/>
                <a:gd name="T34" fmla="*/ 387 w 1353"/>
                <a:gd name="T35" fmla="*/ 13 h 15"/>
                <a:gd name="T36" fmla="*/ 454 w 1353"/>
                <a:gd name="T37" fmla="*/ 2 h 15"/>
                <a:gd name="T38" fmla="*/ 428 w 1353"/>
                <a:gd name="T39" fmla="*/ 10 h 15"/>
                <a:gd name="T40" fmla="*/ 498 w 1353"/>
                <a:gd name="T41" fmla="*/ 6 h 15"/>
                <a:gd name="T42" fmla="*/ 470 w 1353"/>
                <a:gd name="T43" fmla="*/ 6 h 15"/>
                <a:gd name="T44" fmla="*/ 541 w 1353"/>
                <a:gd name="T45" fmla="*/ 10 h 15"/>
                <a:gd name="T46" fmla="*/ 515 w 1353"/>
                <a:gd name="T47" fmla="*/ 2 h 15"/>
                <a:gd name="T48" fmla="*/ 581 w 1353"/>
                <a:gd name="T49" fmla="*/ 13 h 15"/>
                <a:gd name="T50" fmla="*/ 561 w 1353"/>
                <a:gd name="T51" fmla="*/ 1 h 15"/>
                <a:gd name="T52" fmla="*/ 621 w 1353"/>
                <a:gd name="T53" fmla="*/ 15 h 15"/>
                <a:gd name="T54" fmla="*/ 606 w 1353"/>
                <a:gd name="T55" fmla="*/ 0 h 15"/>
                <a:gd name="T56" fmla="*/ 648 w 1353"/>
                <a:gd name="T57" fmla="*/ 15 h 15"/>
                <a:gd name="T58" fmla="*/ 705 w 1353"/>
                <a:gd name="T59" fmla="*/ 0 h 15"/>
                <a:gd name="T60" fmla="*/ 688 w 1353"/>
                <a:gd name="T61" fmla="*/ 14 h 15"/>
                <a:gd name="T62" fmla="*/ 751 w 1353"/>
                <a:gd name="T63" fmla="*/ 1 h 15"/>
                <a:gd name="T64" fmla="*/ 727 w 1353"/>
                <a:gd name="T65" fmla="*/ 11 h 15"/>
                <a:gd name="T66" fmla="*/ 797 w 1353"/>
                <a:gd name="T67" fmla="*/ 5 h 15"/>
                <a:gd name="T68" fmla="*/ 770 w 1353"/>
                <a:gd name="T69" fmla="*/ 8 h 15"/>
                <a:gd name="T70" fmla="*/ 840 w 1353"/>
                <a:gd name="T71" fmla="*/ 8 h 15"/>
                <a:gd name="T72" fmla="*/ 813 w 1353"/>
                <a:gd name="T73" fmla="*/ 5 h 15"/>
                <a:gd name="T74" fmla="*/ 882 w 1353"/>
                <a:gd name="T75" fmla="*/ 11 h 15"/>
                <a:gd name="T76" fmla="*/ 859 w 1353"/>
                <a:gd name="T77" fmla="*/ 1 h 15"/>
                <a:gd name="T78" fmla="*/ 921 w 1353"/>
                <a:gd name="T79" fmla="*/ 14 h 15"/>
                <a:gd name="T80" fmla="*/ 904 w 1353"/>
                <a:gd name="T81" fmla="*/ 0 h 15"/>
                <a:gd name="T82" fmla="*/ 961 w 1353"/>
                <a:gd name="T83" fmla="*/ 15 h 15"/>
                <a:gd name="T84" fmla="*/ 990 w 1353"/>
                <a:gd name="T85" fmla="*/ 0 h 15"/>
                <a:gd name="T86" fmla="*/ 988 w 1353"/>
                <a:gd name="T87" fmla="*/ 15 h 15"/>
                <a:gd name="T88" fmla="*/ 1048 w 1353"/>
                <a:gd name="T89" fmla="*/ 1 h 15"/>
                <a:gd name="T90" fmla="*/ 1027 w 1353"/>
                <a:gd name="T91" fmla="*/ 13 h 15"/>
                <a:gd name="T92" fmla="*/ 1095 w 1353"/>
                <a:gd name="T93" fmla="*/ 2 h 15"/>
                <a:gd name="T94" fmla="*/ 1068 w 1353"/>
                <a:gd name="T95" fmla="*/ 10 h 15"/>
                <a:gd name="T96" fmla="*/ 1140 w 1353"/>
                <a:gd name="T97" fmla="*/ 6 h 15"/>
                <a:gd name="T98" fmla="*/ 1111 w 1353"/>
                <a:gd name="T99" fmla="*/ 6 h 15"/>
                <a:gd name="T100" fmla="*/ 1182 w 1353"/>
                <a:gd name="T101" fmla="*/ 10 h 15"/>
                <a:gd name="T102" fmla="*/ 1155 w 1353"/>
                <a:gd name="T103" fmla="*/ 2 h 15"/>
                <a:gd name="T104" fmla="*/ 1223 w 1353"/>
                <a:gd name="T105" fmla="*/ 13 h 15"/>
                <a:gd name="T106" fmla="*/ 1202 w 1353"/>
                <a:gd name="T107" fmla="*/ 1 h 15"/>
                <a:gd name="T108" fmla="*/ 1262 w 1353"/>
                <a:gd name="T109" fmla="*/ 15 h 15"/>
                <a:gd name="T110" fmla="*/ 1246 w 1353"/>
                <a:gd name="T111" fmla="*/ 0 h 15"/>
                <a:gd name="T112" fmla="*/ 1289 w 1353"/>
                <a:gd name="T113" fmla="*/ 15 h 15"/>
                <a:gd name="T114" fmla="*/ 1346 w 1353"/>
                <a:gd name="T115" fmla="*/ 0 h 15"/>
                <a:gd name="T116" fmla="*/ 1329 w 1353"/>
                <a:gd name="T117" fmla="*/ 14 h 1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3"/>
                <a:gd name="T178" fmla="*/ 0 h 15"/>
                <a:gd name="T179" fmla="*/ 1353 w 1353"/>
                <a:gd name="T180" fmla="*/ 15 h 15"/>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3" h="15">
                  <a:moveTo>
                    <a:pt x="7" y="0"/>
                  </a:moveTo>
                  <a:lnTo>
                    <a:pt x="21" y="0"/>
                  </a:lnTo>
                  <a:lnTo>
                    <a:pt x="23" y="1"/>
                  </a:lnTo>
                  <a:lnTo>
                    <a:pt x="24" y="1"/>
                  </a:lnTo>
                  <a:lnTo>
                    <a:pt x="26" y="2"/>
                  </a:lnTo>
                  <a:lnTo>
                    <a:pt x="28" y="5"/>
                  </a:lnTo>
                  <a:lnTo>
                    <a:pt x="28" y="6"/>
                  </a:lnTo>
                  <a:lnTo>
                    <a:pt x="28" y="8"/>
                  </a:lnTo>
                  <a:lnTo>
                    <a:pt x="28" y="10"/>
                  </a:lnTo>
                  <a:lnTo>
                    <a:pt x="28" y="11"/>
                  </a:lnTo>
                  <a:lnTo>
                    <a:pt x="26" y="13"/>
                  </a:lnTo>
                  <a:lnTo>
                    <a:pt x="24" y="14"/>
                  </a:lnTo>
                  <a:lnTo>
                    <a:pt x="23" y="15"/>
                  </a:lnTo>
                  <a:lnTo>
                    <a:pt x="21" y="15"/>
                  </a:lnTo>
                  <a:lnTo>
                    <a:pt x="7" y="15"/>
                  </a:lnTo>
                  <a:lnTo>
                    <a:pt x="5" y="15"/>
                  </a:lnTo>
                  <a:lnTo>
                    <a:pt x="4" y="14"/>
                  </a:lnTo>
                  <a:lnTo>
                    <a:pt x="2" y="13"/>
                  </a:lnTo>
                  <a:lnTo>
                    <a:pt x="1" y="11"/>
                  </a:lnTo>
                  <a:lnTo>
                    <a:pt x="0" y="10"/>
                  </a:lnTo>
                  <a:lnTo>
                    <a:pt x="0" y="8"/>
                  </a:lnTo>
                  <a:lnTo>
                    <a:pt x="0" y="6"/>
                  </a:lnTo>
                  <a:lnTo>
                    <a:pt x="1" y="5"/>
                  </a:lnTo>
                  <a:lnTo>
                    <a:pt x="2" y="2"/>
                  </a:lnTo>
                  <a:lnTo>
                    <a:pt x="4" y="1"/>
                  </a:lnTo>
                  <a:lnTo>
                    <a:pt x="5" y="1"/>
                  </a:lnTo>
                  <a:lnTo>
                    <a:pt x="7" y="0"/>
                  </a:lnTo>
                  <a:close/>
                  <a:moveTo>
                    <a:pt x="49" y="0"/>
                  </a:moveTo>
                  <a:lnTo>
                    <a:pt x="64" y="0"/>
                  </a:lnTo>
                  <a:lnTo>
                    <a:pt x="65" y="1"/>
                  </a:lnTo>
                  <a:lnTo>
                    <a:pt x="67" y="1"/>
                  </a:lnTo>
                  <a:lnTo>
                    <a:pt x="69" y="2"/>
                  </a:lnTo>
                  <a:lnTo>
                    <a:pt x="70" y="5"/>
                  </a:lnTo>
                  <a:lnTo>
                    <a:pt x="71" y="6"/>
                  </a:lnTo>
                  <a:lnTo>
                    <a:pt x="71" y="8"/>
                  </a:lnTo>
                  <a:lnTo>
                    <a:pt x="71" y="10"/>
                  </a:lnTo>
                  <a:lnTo>
                    <a:pt x="70" y="11"/>
                  </a:lnTo>
                  <a:lnTo>
                    <a:pt x="69" y="13"/>
                  </a:lnTo>
                  <a:lnTo>
                    <a:pt x="67" y="14"/>
                  </a:lnTo>
                  <a:lnTo>
                    <a:pt x="65" y="15"/>
                  </a:lnTo>
                  <a:lnTo>
                    <a:pt x="64" y="15"/>
                  </a:lnTo>
                  <a:lnTo>
                    <a:pt x="49" y="15"/>
                  </a:lnTo>
                  <a:lnTo>
                    <a:pt x="48" y="15"/>
                  </a:lnTo>
                  <a:lnTo>
                    <a:pt x="47" y="14"/>
                  </a:lnTo>
                  <a:lnTo>
                    <a:pt x="45" y="13"/>
                  </a:lnTo>
                  <a:lnTo>
                    <a:pt x="43" y="11"/>
                  </a:lnTo>
                  <a:lnTo>
                    <a:pt x="43" y="10"/>
                  </a:lnTo>
                  <a:lnTo>
                    <a:pt x="43" y="8"/>
                  </a:lnTo>
                  <a:lnTo>
                    <a:pt x="43" y="6"/>
                  </a:lnTo>
                  <a:lnTo>
                    <a:pt x="43" y="5"/>
                  </a:lnTo>
                  <a:lnTo>
                    <a:pt x="45" y="2"/>
                  </a:lnTo>
                  <a:lnTo>
                    <a:pt x="47" y="1"/>
                  </a:lnTo>
                  <a:lnTo>
                    <a:pt x="48" y="1"/>
                  </a:lnTo>
                  <a:lnTo>
                    <a:pt x="49" y="0"/>
                  </a:lnTo>
                  <a:close/>
                  <a:moveTo>
                    <a:pt x="92" y="0"/>
                  </a:moveTo>
                  <a:lnTo>
                    <a:pt x="107" y="0"/>
                  </a:lnTo>
                  <a:lnTo>
                    <a:pt x="108" y="1"/>
                  </a:lnTo>
                  <a:lnTo>
                    <a:pt x="109" y="1"/>
                  </a:lnTo>
                  <a:lnTo>
                    <a:pt x="111" y="2"/>
                  </a:lnTo>
                  <a:lnTo>
                    <a:pt x="114" y="5"/>
                  </a:lnTo>
                  <a:lnTo>
                    <a:pt x="114" y="6"/>
                  </a:lnTo>
                  <a:lnTo>
                    <a:pt x="114" y="8"/>
                  </a:lnTo>
                  <a:lnTo>
                    <a:pt x="114" y="10"/>
                  </a:lnTo>
                  <a:lnTo>
                    <a:pt x="114" y="11"/>
                  </a:lnTo>
                  <a:lnTo>
                    <a:pt x="111" y="13"/>
                  </a:lnTo>
                  <a:lnTo>
                    <a:pt x="109" y="14"/>
                  </a:lnTo>
                  <a:lnTo>
                    <a:pt x="108" y="15"/>
                  </a:lnTo>
                  <a:lnTo>
                    <a:pt x="107" y="15"/>
                  </a:lnTo>
                  <a:lnTo>
                    <a:pt x="92" y="15"/>
                  </a:lnTo>
                  <a:lnTo>
                    <a:pt x="91" y="15"/>
                  </a:lnTo>
                  <a:lnTo>
                    <a:pt x="89" y="14"/>
                  </a:lnTo>
                  <a:lnTo>
                    <a:pt x="87" y="13"/>
                  </a:lnTo>
                  <a:lnTo>
                    <a:pt x="86" y="11"/>
                  </a:lnTo>
                  <a:lnTo>
                    <a:pt x="85" y="10"/>
                  </a:lnTo>
                  <a:lnTo>
                    <a:pt x="85" y="8"/>
                  </a:lnTo>
                  <a:lnTo>
                    <a:pt x="85" y="6"/>
                  </a:lnTo>
                  <a:lnTo>
                    <a:pt x="86" y="5"/>
                  </a:lnTo>
                  <a:lnTo>
                    <a:pt x="87" y="2"/>
                  </a:lnTo>
                  <a:lnTo>
                    <a:pt x="89" y="1"/>
                  </a:lnTo>
                  <a:lnTo>
                    <a:pt x="91" y="1"/>
                  </a:lnTo>
                  <a:lnTo>
                    <a:pt x="92" y="0"/>
                  </a:lnTo>
                  <a:close/>
                  <a:moveTo>
                    <a:pt x="136" y="0"/>
                  </a:moveTo>
                  <a:lnTo>
                    <a:pt x="149" y="0"/>
                  </a:lnTo>
                  <a:lnTo>
                    <a:pt x="151" y="1"/>
                  </a:lnTo>
                  <a:lnTo>
                    <a:pt x="152" y="1"/>
                  </a:lnTo>
                  <a:lnTo>
                    <a:pt x="155" y="2"/>
                  </a:lnTo>
                  <a:lnTo>
                    <a:pt x="157" y="5"/>
                  </a:lnTo>
                  <a:lnTo>
                    <a:pt x="157" y="6"/>
                  </a:lnTo>
                  <a:lnTo>
                    <a:pt x="157" y="8"/>
                  </a:lnTo>
                  <a:lnTo>
                    <a:pt x="157" y="10"/>
                  </a:lnTo>
                  <a:lnTo>
                    <a:pt x="157" y="11"/>
                  </a:lnTo>
                  <a:lnTo>
                    <a:pt x="155" y="13"/>
                  </a:lnTo>
                  <a:lnTo>
                    <a:pt x="152" y="14"/>
                  </a:lnTo>
                  <a:lnTo>
                    <a:pt x="151" y="15"/>
                  </a:lnTo>
                  <a:lnTo>
                    <a:pt x="149" y="15"/>
                  </a:lnTo>
                  <a:lnTo>
                    <a:pt x="136" y="15"/>
                  </a:lnTo>
                  <a:lnTo>
                    <a:pt x="134" y="15"/>
                  </a:lnTo>
                  <a:lnTo>
                    <a:pt x="132" y="14"/>
                  </a:lnTo>
                  <a:lnTo>
                    <a:pt x="130" y="13"/>
                  </a:lnTo>
                  <a:lnTo>
                    <a:pt x="129" y="11"/>
                  </a:lnTo>
                  <a:lnTo>
                    <a:pt x="128" y="10"/>
                  </a:lnTo>
                  <a:lnTo>
                    <a:pt x="128" y="8"/>
                  </a:lnTo>
                  <a:lnTo>
                    <a:pt x="128" y="6"/>
                  </a:lnTo>
                  <a:lnTo>
                    <a:pt x="129" y="5"/>
                  </a:lnTo>
                  <a:lnTo>
                    <a:pt x="130" y="2"/>
                  </a:lnTo>
                  <a:lnTo>
                    <a:pt x="132" y="1"/>
                  </a:lnTo>
                  <a:lnTo>
                    <a:pt x="134" y="1"/>
                  </a:lnTo>
                  <a:lnTo>
                    <a:pt x="136" y="0"/>
                  </a:lnTo>
                  <a:close/>
                  <a:moveTo>
                    <a:pt x="178" y="0"/>
                  </a:moveTo>
                  <a:lnTo>
                    <a:pt x="192" y="0"/>
                  </a:lnTo>
                  <a:lnTo>
                    <a:pt x="193" y="1"/>
                  </a:lnTo>
                  <a:lnTo>
                    <a:pt x="196" y="1"/>
                  </a:lnTo>
                  <a:lnTo>
                    <a:pt x="198" y="2"/>
                  </a:lnTo>
                  <a:lnTo>
                    <a:pt x="199" y="5"/>
                  </a:lnTo>
                  <a:lnTo>
                    <a:pt x="200" y="6"/>
                  </a:lnTo>
                  <a:lnTo>
                    <a:pt x="200" y="8"/>
                  </a:lnTo>
                  <a:lnTo>
                    <a:pt x="200" y="10"/>
                  </a:lnTo>
                  <a:lnTo>
                    <a:pt x="199" y="11"/>
                  </a:lnTo>
                  <a:lnTo>
                    <a:pt x="198" y="13"/>
                  </a:lnTo>
                  <a:lnTo>
                    <a:pt x="196" y="14"/>
                  </a:lnTo>
                  <a:lnTo>
                    <a:pt x="193" y="15"/>
                  </a:lnTo>
                  <a:lnTo>
                    <a:pt x="192" y="15"/>
                  </a:lnTo>
                  <a:lnTo>
                    <a:pt x="178" y="15"/>
                  </a:lnTo>
                  <a:lnTo>
                    <a:pt x="177" y="15"/>
                  </a:lnTo>
                  <a:lnTo>
                    <a:pt x="176" y="14"/>
                  </a:lnTo>
                  <a:lnTo>
                    <a:pt x="173" y="13"/>
                  </a:lnTo>
                  <a:lnTo>
                    <a:pt x="171" y="11"/>
                  </a:lnTo>
                  <a:lnTo>
                    <a:pt x="171" y="10"/>
                  </a:lnTo>
                  <a:lnTo>
                    <a:pt x="171" y="8"/>
                  </a:lnTo>
                  <a:lnTo>
                    <a:pt x="171" y="6"/>
                  </a:lnTo>
                  <a:lnTo>
                    <a:pt x="171" y="5"/>
                  </a:lnTo>
                  <a:lnTo>
                    <a:pt x="173" y="2"/>
                  </a:lnTo>
                  <a:lnTo>
                    <a:pt x="176" y="1"/>
                  </a:lnTo>
                  <a:lnTo>
                    <a:pt x="177" y="1"/>
                  </a:lnTo>
                  <a:lnTo>
                    <a:pt x="178" y="0"/>
                  </a:lnTo>
                  <a:close/>
                  <a:moveTo>
                    <a:pt x="221" y="0"/>
                  </a:moveTo>
                  <a:lnTo>
                    <a:pt x="235" y="0"/>
                  </a:lnTo>
                  <a:lnTo>
                    <a:pt x="237" y="1"/>
                  </a:lnTo>
                  <a:lnTo>
                    <a:pt x="238" y="1"/>
                  </a:lnTo>
                  <a:lnTo>
                    <a:pt x="240" y="2"/>
                  </a:lnTo>
                  <a:lnTo>
                    <a:pt x="242" y="5"/>
                  </a:lnTo>
                  <a:lnTo>
                    <a:pt x="242" y="6"/>
                  </a:lnTo>
                  <a:lnTo>
                    <a:pt x="242" y="8"/>
                  </a:lnTo>
                  <a:lnTo>
                    <a:pt x="242" y="10"/>
                  </a:lnTo>
                  <a:lnTo>
                    <a:pt x="242" y="11"/>
                  </a:lnTo>
                  <a:lnTo>
                    <a:pt x="240" y="13"/>
                  </a:lnTo>
                  <a:lnTo>
                    <a:pt x="238" y="14"/>
                  </a:lnTo>
                  <a:lnTo>
                    <a:pt x="237" y="15"/>
                  </a:lnTo>
                  <a:lnTo>
                    <a:pt x="235" y="15"/>
                  </a:lnTo>
                  <a:lnTo>
                    <a:pt x="221" y="15"/>
                  </a:lnTo>
                  <a:lnTo>
                    <a:pt x="220" y="15"/>
                  </a:lnTo>
                  <a:lnTo>
                    <a:pt x="218" y="14"/>
                  </a:lnTo>
                  <a:lnTo>
                    <a:pt x="216" y="13"/>
                  </a:lnTo>
                  <a:lnTo>
                    <a:pt x="214" y="11"/>
                  </a:lnTo>
                  <a:lnTo>
                    <a:pt x="213" y="10"/>
                  </a:lnTo>
                  <a:lnTo>
                    <a:pt x="213" y="8"/>
                  </a:lnTo>
                  <a:lnTo>
                    <a:pt x="213" y="6"/>
                  </a:lnTo>
                  <a:lnTo>
                    <a:pt x="214" y="5"/>
                  </a:lnTo>
                  <a:lnTo>
                    <a:pt x="216" y="2"/>
                  </a:lnTo>
                  <a:lnTo>
                    <a:pt x="218" y="1"/>
                  </a:lnTo>
                  <a:lnTo>
                    <a:pt x="220" y="1"/>
                  </a:lnTo>
                  <a:lnTo>
                    <a:pt x="221" y="0"/>
                  </a:lnTo>
                  <a:close/>
                  <a:moveTo>
                    <a:pt x="264" y="0"/>
                  </a:moveTo>
                  <a:lnTo>
                    <a:pt x="278" y="0"/>
                  </a:lnTo>
                  <a:lnTo>
                    <a:pt x="280" y="1"/>
                  </a:lnTo>
                  <a:lnTo>
                    <a:pt x="281" y="1"/>
                  </a:lnTo>
                  <a:lnTo>
                    <a:pt x="283" y="2"/>
                  </a:lnTo>
                  <a:lnTo>
                    <a:pt x="284" y="5"/>
                  </a:lnTo>
                  <a:lnTo>
                    <a:pt x="285" y="6"/>
                  </a:lnTo>
                  <a:lnTo>
                    <a:pt x="285" y="8"/>
                  </a:lnTo>
                  <a:lnTo>
                    <a:pt x="285" y="10"/>
                  </a:lnTo>
                  <a:lnTo>
                    <a:pt x="284" y="11"/>
                  </a:lnTo>
                  <a:lnTo>
                    <a:pt x="283" y="13"/>
                  </a:lnTo>
                  <a:lnTo>
                    <a:pt x="281" y="14"/>
                  </a:lnTo>
                  <a:lnTo>
                    <a:pt x="280" y="15"/>
                  </a:lnTo>
                  <a:lnTo>
                    <a:pt x="278" y="15"/>
                  </a:lnTo>
                  <a:lnTo>
                    <a:pt x="264" y="15"/>
                  </a:lnTo>
                  <a:lnTo>
                    <a:pt x="262" y="15"/>
                  </a:lnTo>
                  <a:lnTo>
                    <a:pt x="261" y="14"/>
                  </a:lnTo>
                  <a:lnTo>
                    <a:pt x="259" y="13"/>
                  </a:lnTo>
                  <a:lnTo>
                    <a:pt x="257" y="11"/>
                  </a:lnTo>
                  <a:lnTo>
                    <a:pt x="257" y="10"/>
                  </a:lnTo>
                  <a:lnTo>
                    <a:pt x="257" y="8"/>
                  </a:lnTo>
                  <a:lnTo>
                    <a:pt x="257" y="6"/>
                  </a:lnTo>
                  <a:lnTo>
                    <a:pt x="257" y="5"/>
                  </a:lnTo>
                  <a:lnTo>
                    <a:pt x="259" y="2"/>
                  </a:lnTo>
                  <a:lnTo>
                    <a:pt x="261" y="1"/>
                  </a:lnTo>
                  <a:lnTo>
                    <a:pt x="262" y="1"/>
                  </a:lnTo>
                  <a:lnTo>
                    <a:pt x="264" y="0"/>
                  </a:lnTo>
                  <a:close/>
                  <a:moveTo>
                    <a:pt x="306" y="0"/>
                  </a:moveTo>
                  <a:lnTo>
                    <a:pt x="321" y="0"/>
                  </a:lnTo>
                  <a:lnTo>
                    <a:pt x="322" y="1"/>
                  </a:lnTo>
                  <a:lnTo>
                    <a:pt x="323" y="1"/>
                  </a:lnTo>
                  <a:lnTo>
                    <a:pt x="326" y="2"/>
                  </a:lnTo>
                  <a:lnTo>
                    <a:pt x="327" y="5"/>
                  </a:lnTo>
                  <a:lnTo>
                    <a:pt x="327" y="6"/>
                  </a:lnTo>
                  <a:lnTo>
                    <a:pt x="328" y="8"/>
                  </a:lnTo>
                  <a:lnTo>
                    <a:pt x="327" y="10"/>
                  </a:lnTo>
                  <a:lnTo>
                    <a:pt x="327" y="11"/>
                  </a:lnTo>
                  <a:lnTo>
                    <a:pt x="326" y="13"/>
                  </a:lnTo>
                  <a:lnTo>
                    <a:pt x="323" y="14"/>
                  </a:lnTo>
                  <a:lnTo>
                    <a:pt x="322" y="15"/>
                  </a:lnTo>
                  <a:lnTo>
                    <a:pt x="321" y="15"/>
                  </a:lnTo>
                  <a:lnTo>
                    <a:pt x="306" y="15"/>
                  </a:lnTo>
                  <a:lnTo>
                    <a:pt x="305" y="15"/>
                  </a:lnTo>
                  <a:lnTo>
                    <a:pt x="304" y="14"/>
                  </a:lnTo>
                  <a:lnTo>
                    <a:pt x="302" y="13"/>
                  </a:lnTo>
                  <a:lnTo>
                    <a:pt x="300" y="11"/>
                  </a:lnTo>
                  <a:lnTo>
                    <a:pt x="300" y="10"/>
                  </a:lnTo>
                  <a:lnTo>
                    <a:pt x="300" y="8"/>
                  </a:lnTo>
                  <a:lnTo>
                    <a:pt x="300" y="6"/>
                  </a:lnTo>
                  <a:lnTo>
                    <a:pt x="300" y="5"/>
                  </a:lnTo>
                  <a:lnTo>
                    <a:pt x="302" y="2"/>
                  </a:lnTo>
                  <a:lnTo>
                    <a:pt x="304" y="1"/>
                  </a:lnTo>
                  <a:lnTo>
                    <a:pt x="305" y="1"/>
                  </a:lnTo>
                  <a:lnTo>
                    <a:pt x="306" y="0"/>
                  </a:lnTo>
                  <a:close/>
                  <a:moveTo>
                    <a:pt x="349" y="0"/>
                  </a:moveTo>
                  <a:lnTo>
                    <a:pt x="363" y="0"/>
                  </a:lnTo>
                  <a:lnTo>
                    <a:pt x="365" y="1"/>
                  </a:lnTo>
                  <a:lnTo>
                    <a:pt x="366" y="1"/>
                  </a:lnTo>
                  <a:lnTo>
                    <a:pt x="368" y="2"/>
                  </a:lnTo>
                  <a:lnTo>
                    <a:pt x="370" y="5"/>
                  </a:lnTo>
                  <a:lnTo>
                    <a:pt x="370" y="6"/>
                  </a:lnTo>
                  <a:lnTo>
                    <a:pt x="370" y="8"/>
                  </a:lnTo>
                  <a:lnTo>
                    <a:pt x="370" y="10"/>
                  </a:lnTo>
                  <a:lnTo>
                    <a:pt x="370" y="11"/>
                  </a:lnTo>
                  <a:lnTo>
                    <a:pt x="368" y="13"/>
                  </a:lnTo>
                  <a:lnTo>
                    <a:pt x="366" y="14"/>
                  </a:lnTo>
                  <a:lnTo>
                    <a:pt x="365" y="15"/>
                  </a:lnTo>
                  <a:lnTo>
                    <a:pt x="363" y="15"/>
                  </a:lnTo>
                  <a:lnTo>
                    <a:pt x="349" y="15"/>
                  </a:lnTo>
                  <a:lnTo>
                    <a:pt x="348" y="15"/>
                  </a:lnTo>
                  <a:lnTo>
                    <a:pt x="346" y="14"/>
                  </a:lnTo>
                  <a:lnTo>
                    <a:pt x="344" y="13"/>
                  </a:lnTo>
                  <a:lnTo>
                    <a:pt x="343" y="11"/>
                  </a:lnTo>
                  <a:lnTo>
                    <a:pt x="342" y="10"/>
                  </a:lnTo>
                  <a:lnTo>
                    <a:pt x="342" y="8"/>
                  </a:lnTo>
                  <a:lnTo>
                    <a:pt x="342" y="6"/>
                  </a:lnTo>
                  <a:lnTo>
                    <a:pt x="343" y="5"/>
                  </a:lnTo>
                  <a:lnTo>
                    <a:pt x="344" y="2"/>
                  </a:lnTo>
                  <a:lnTo>
                    <a:pt x="346" y="1"/>
                  </a:lnTo>
                  <a:lnTo>
                    <a:pt x="348" y="1"/>
                  </a:lnTo>
                  <a:lnTo>
                    <a:pt x="349" y="0"/>
                  </a:lnTo>
                  <a:close/>
                  <a:moveTo>
                    <a:pt x="392" y="0"/>
                  </a:moveTo>
                  <a:lnTo>
                    <a:pt x="406" y="0"/>
                  </a:lnTo>
                  <a:lnTo>
                    <a:pt x="408" y="1"/>
                  </a:lnTo>
                  <a:lnTo>
                    <a:pt x="409" y="1"/>
                  </a:lnTo>
                  <a:lnTo>
                    <a:pt x="411" y="2"/>
                  </a:lnTo>
                  <a:lnTo>
                    <a:pt x="412" y="5"/>
                  </a:lnTo>
                  <a:lnTo>
                    <a:pt x="413" y="6"/>
                  </a:lnTo>
                  <a:lnTo>
                    <a:pt x="413" y="8"/>
                  </a:lnTo>
                  <a:lnTo>
                    <a:pt x="413" y="10"/>
                  </a:lnTo>
                  <a:lnTo>
                    <a:pt x="412" y="11"/>
                  </a:lnTo>
                  <a:lnTo>
                    <a:pt x="411" y="13"/>
                  </a:lnTo>
                  <a:lnTo>
                    <a:pt x="409" y="14"/>
                  </a:lnTo>
                  <a:lnTo>
                    <a:pt x="408" y="15"/>
                  </a:lnTo>
                  <a:lnTo>
                    <a:pt x="406" y="15"/>
                  </a:lnTo>
                  <a:lnTo>
                    <a:pt x="392" y="15"/>
                  </a:lnTo>
                  <a:lnTo>
                    <a:pt x="390" y="15"/>
                  </a:lnTo>
                  <a:lnTo>
                    <a:pt x="389" y="14"/>
                  </a:lnTo>
                  <a:lnTo>
                    <a:pt x="387" y="13"/>
                  </a:lnTo>
                  <a:lnTo>
                    <a:pt x="385" y="11"/>
                  </a:lnTo>
                  <a:lnTo>
                    <a:pt x="385" y="10"/>
                  </a:lnTo>
                  <a:lnTo>
                    <a:pt x="385" y="8"/>
                  </a:lnTo>
                  <a:lnTo>
                    <a:pt x="385" y="6"/>
                  </a:lnTo>
                  <a:lnTo>
                    <a:pt x="385" y="5"/>
                  </a:lnTo>
                  <a:lnTo>
                    <a:pt x="387" y="2"/>
                  </a:lnTo>
                  <a:lnTo>
                    <a:pt x="389" y="1"/>
                  </a:lnTo>
                  <a:lnTo>
                    <a:pt x="390" y="1"/>
                  </a:lnTo>
                  <a:lnTo>
                    <a:pt x="392" y="0"/>
                  </a:lnTo>
                  <a:close/>
                  <a:moveTo>
                    <a:pt x="434" y="0"/>
                  </a:moveTo>
                  <a:lnTo>
                    <a:pt x="449" y="0"/>
                  </a:lnTo>
                  <a:lnTo>
                    <a:pt x="450" y="1"/>
                  </a:lnTo>
                  <a:lnTo>
                    <a:pt x="451" y="1"/>
                  </a:lnTo>
                  <a:lnTo>
                    <a:pt x="454" y="2"/>
                  </a:lnTo>
                  <a:lnTo>
                    <a:pt x="455" y="5"/>
                  </a:lnTo>
                  <a:lnTo>
                    <a:pt x="455" y="6"/>
                  </a:lnTo>
                  <a:lnTo>
                    <a:pt x="456" y="8"/>
                  </a:lnTo>
                  <a:lnTo>
                    <a:pt x="455" y="10"/>
                  </a:lnTo>
                  <a:lnTo>
                    <a:pt x="455" y="11"/>
                  </a:lnTo>
                  <a:lnTo>
                    <a:pt x="454" y="13"/>
                  </a:lnTo>
                  <a:lnTo>
                    <a:pt x="451" y="14"/>
                  </a:lnTo>
                  <a:lnTo>
                    <a:pt x="450" y="15"/>
                  </a:lnTo>
                  <a:lnTo>
                    <a:pt x="449" y="15"/>
                  </a:lnTo>
                  <a:lnTo>
                    <a:pt x="434" y="15"/>
                  </a:lnTo>
                  <a:lnTo>
                    <a:pt x="433" y="15"/>
                  </a:lnTo>
                  <a:lnTo>
                    <a:pt x="432" y="14"/>
                  </a:lnTo>
                  <a:lnTo>
                    <a:pt x="429" y="13"/>
                  </a:lnTo>
                  <a:lnTo>
                    <a:pt x="428" y="11"/>
                  </a:lnTo>
                  <a:lnTo>
                    <a:pt x="428" y="10"/>
                  </a:lnTo>
                  <a:lnTo>
                    <a:pt x="427" y="8"/>
                  </a:lnTo>
                  <a:lnTo>
                    <a:pt x="428" y="6"/>
                  </a:lnTo>
                  <a:lnTo>
                    <a:pt x="428" y="5"/>
                  </a:lnTo>
                  <a:lnTo>
                    <a:pt x="429" y="2"/>
                  </a:lnTo>
                  <a:lnTo>
                    <a:pt x="432" y="1"/>
                  </a:lnTo>
                  <a:lnTo>
                    <a:pt x="433" y="1"/>
                  </a:lnTo>
                  <a:lnTo>
                    <a:pt x="434" y="0"/>
                  </a:lnTo>
                  <a:close/>
                  <a:moveTo>
                    <a:pt x="477" y="0"/>
                  </a:moveTo>
                  <a:lnTo>
                    <a:pt x="491" y="0"/>
                  </a:lnTo>
                  <a:lnTo>
                    <a:pt x="493" y="1"/>
                  </a:lnTo>
                  <a:lnTo>
                    <a:pt x="494" y="1"/>
                  </a:lnTo>
                  <a:lnTo>
                    <a:pt x="496" y="2"/>
                  </a:lnTo>
                  <a:lnTo>
                    <a:pt x="498" y="5"/>
                  </a:lnTo>
                  <a:lnTo>
                    <a:pt x="498" y="6"/>
                  </a:lnTo>
                  <a:lnTo>
                    <a:pt x="498" y="8"/>
                  </a:lnTo>
                  <a:lnTo>
                    <a:pt x="498" y="10"/>
                  </a:lnTo>
                  <a:lnTo>
                    <a:pt x="498" y="11"/>
                  </a:lnTo>
                  <a:lnTo>
                    <a:pt x="496" y="13"/>
                  </a:lnTo>
                  <a:lnTo>
                    <a:pt x="494" y="14"/>
                  </a:lnTo>
                  <a:lnTo>
                    <a:pt x="493" y="15"/>
                  </a:lnTo>
                  <a:lnTo>
                    <a:pt x="491" y="15"/>
                  </a:lnTo>
                  <a:lnTo>
                    <a:pt x="477" y="15"/>
                  </a:lnTo>
                  <a:lnTo>
                    <a:pt x="475" y="15"/>
                  </a:lnTo>
                  <a:lnTo>
                    <a:pt x="474" y="14"/>
                  </a:lnTo>
                  <a:lnTo>
                    <a:pt x="472" y="13"/>
                  </a:lnTo>
                  <a:lnTo>
                    <a:pt x="471" y="11"/>
                  </a:lnTo>
                  <a:lnTo>
                    <a:pt x="470" y="10"/>
                  </a:lnTo>
                  <a:lnTo>
                    <a:pt x="470" y="8"/>
                  </a:lnTo>
                  <a:lnTo>
                    <a:pt x="470" y="6"/>
                  </a:lnTo>
                  <a:lnTo>
                    <a:pt x="471" y="5"/>
                  </a:lnTo>
                  <a:lnTo>
                    <a:pt x="472" y="2"/>
                  </a:lnTo>
                  <a:lnTo>
                    <a:pt x="474" y="1"/>
                  </a:lnTo>
                  <a:lnTo>
                    <a:pt x="475" y="1"/>
                  </a:lnTo>
                  <a:lnTo>
                    <a:pt x="477" y="0"/>
                  </a:lnTo>
                  <a:close/>
                  <a:moveTo>
                    <a:pt x="520" y="0"/>
                  </a:moveTo>
                  <a:lnTo>
                    <a:pt x="534" y="0"/>
                  </a:lnTo>
                  <a:lnTo>
                    <a:pt x="535" y="1"/>
                  </a:lnTo>
                  <a:lnTo>
                    <a:pt x="537" y="1"/>
                  </a:lnTo>
                  <a:lnTo>
                    <a:pt x="539" y="2"/>
                  </a:lnTo>
                  <a:lnTo>
                    <a:pt x="540" y="5"/>
                  </a:lnTo>
                  <a:lnTo>
                    <a:pt x="541" y="6"/>
                  </a:lnTo>
                  <a:lnTo>
                    <a:pt x="541" y="8"/>
                  </a:lnTo>
                  <a:lnTo>
                    <a:pt x="541" y="10"/>
                  </a:lnTo>
                  <a:lnTo>
                    <a:pt x="540" y="11"/>
                  </a:lnTo>
                  <a:lnTo>
                    <a:pt x="539" y="13"/>
                  </a:lnTo>
                  <a:lnTo>
                    <a:pt x="537" y="14"/>
                  </a:lnTo>
                  <a:lnTo>
                    <a:pt x="535" y="15"/>
                  </a:lnTo>
                  <a:lnTo>
                    <a:pt x="534" y="15"/>
                  </a:lnTo>
                  <a:lnTo>
                    <a:pt x="520" y="15"/>
                  </a:lnTo>
                  <a:lnTo>
                    <a:pt x="518" y="15"/>
                  </a:lnTo>
                  <a:lnTo>
                    <a:pt x="517" y="14"/>
                  </a:lnTo>
                  <a:lnTo>
                    <a:pt x="515" y="13"/>
                  </a:lnTo>
                  <a:lnTo>
                    <a:pt x="513" y="11"/>
                  </a:lnTo>
                  <a:lnTo>
                    <a:pt x="513" y="10"/>
                  </a:lnTo>
                  <a:lnTo>
                    <a:pt x="513" y="8"/>
                  </a:lnTo>
                  <a:lnTo>
                    <a:pt x="513" y="6"/>
                  </a:lnTo>
                  <a:lnTo>
                    <a:pt x="513" y="5"/>
                  </a:lnTo>
                  <a:lnTo>
                    <a:pt x="515" y="2"/>
                  </a:lnTo>
                  <a:lnTo>
                    <a:pt x="517" y="1"/>
                  </a:lnTo>
                  <a:lnTo>
                    <a:pt x="518" y="1"/>
                  </a:lnTo>
                  <a:lnTo>
                    <a:pt x="520" y="0"/>
                  </a:lnTo>
                  <a:close/>
                  <a:moveTo>
                    <a:pt x="562" y="0"/>
                  </a:moveTo>
                  <a:lnTo>
                    <a:pt x="577" y="0"/>
                  </a:lnTo>
                  <a:lnTo>
                    <a:pt x="578" y="1"/>
                  </a:lnTo>
                  <a:lnTo>
                    <a:pt x="579" y="1"/>
                  </a:lnTo>
                  <a:lnTo>
                    <a:pt x="581" y="2"/>
                  </a:lnTo>
                  <a:lnTo>
                    <a:pt x="584" y="5"/>
                  </a:lnTo>
                  <a:lnTo>
                    <a:pt x="584" y="6"/>
                  </a:lnTo>
                  <a:lnTo>
                    <a:pt x="584" y="8"/>
                  </a:lnTo>
                  <a:lnTo>
                    <a:pt x="584" y="10"/>
                  </a:lnTo>
                  <a:lnTo>
                    <a:pt x="584" y="11"/>
                  </a:lnTo>
                  <a:lnTo>
                    <a:pt x="581" y="13"/>
                  </a:lnTo>
                  <a:lnTo>
                    <a:pt x="579" y="14"/>
                  </a:lnTo>
                  <a:lnTo>
                    <a:pt x="578" y="15"/>
                  </a:lnTo>
                  <a:lnTo>
                    <a:pt x="577" y="15"/>
                  </a:lnTo>
                  <a:lnTo>
                    <a:pt x="562" y="15"/>
                  </a:lnTo>
                  <a:lnTo>
                    <a:pt x="561" y="15"/>
                  </a:lnTo>
                  <a:lnTo>
                    <a:pt x="560" y="14"/>
                  </a:lnTo>
                  <a:lnTo>
                    <a:pt x="557" y="13"/>
                  </a:lnTo>
                  <a:lnTo>
                    <a:pt x="556" y="11"/>
                  </a:lnTo>
                  <a:lnTo>
                    <a:pt x="555" y="10"/>
                  </a:lnTo>
                  <a:lnTo>
                    <a:pt x="555" y="8"/>
                  </a:lnTo>
                  <a:lnTo>
                    <a:pt x="555" y="6"/>
                  </a:lnTo>
                  <a:lnTo>
                    <a:pt x="556" y="5"/>
                  </a:lnTo>
                  <a:lnTo>
                    <a:pt x="557" y="2"/>
                  </a:lnTo>
                  <a:lnTo>
                    <a:pt x="560" y="1"/>
                  </a:lnTo>
                  <a:lnTo>
                    <a:pt x="561" y="1"/>
                  </a:lnTo>
                  <a:lnTo>
                    <a:pt x="562" y="0"/>
                  </a:lnTo>
                  <a:close/>
                  <a:moveTo>
                    <a:pt x="606" y="0"/>
                  </a:moveTo>
                  <a:lnTo>
                    <a:pt x="619" y="0"/>
                  </a:lnTo>
                  <a:lnTo>
                    <a:pt x="621" y="1"/>
                  </a:lnTo>
                  <a:lnTo>
                    <a:pt x="622" y="1"/>
                  </a:lnTo>
                  <a:lnTo>
                    <a:pt x="625" y="2"/>
                  </a:lnTo>
                  <a:lnTo>
                    <a:pt x="627" y="5"/>
                  </a:lnTo>
                  <a:lnTo>
                    <a:pt x="627" y="6"/>
                  </a:lnTo>
                  <a:lnTo>
                    <a:pt x="627" y="8"/>
                  </a:lnTo>
                  <a:lnTo>
                    <a:pt x="627" y="10"/>
                  </a:lnTo>
                  <a:lnTo>
                    <a:pt x="627" y="11"/>
                  </a:lnTo>
                  <a:lnTo>
                    <a:pt x="625" y="13"/>
                  </a:lnTo>
                  <a:lnTo>
                    <a:pt x="622" y="14"/>
                  </a:lnTo>
                  <a:lnTo>
                    <a:pt x="621" y="15"/>
                  </a:lnTo>
                  <a:lnTo>
                    <a:pt x="619" y="15"/>
                  </a:lnTo>
                  <a:lnTo>
                    <a:pt x="606" y="15"/>
                  </a:lnTo>
                  <a:lnTo>
                    <a:pt x="603" y="15"/>
                  </a:lnTo>
                  <a:lnTo>
                    <a:pt x="602" y="14"/>
                  </a:lnTo>
                  <a:lnTo>
                    <a:pt x="600" y="13"/>
                  </a:lnTo>
                  <a:lnTo>
                    <a:pt x="599" y="11"/>
                  </a:lnTo>
                  <a:lnTo>
                    <a:pt x="598" y="10"/>
                  </a:lnTo>
                  <a:lnTo>
                    <a:pt x="598" y="8"/>
                  </a:lnTo>
                  <a:lnTo>
                    <a:pt x="598" y="6"/>
                  </a:lnTo>
                  <a:lnTo>
                    <a:pt x="599" y="5"/>
                  </a:lnTo>
                  <a:lnTo>
                    <a:pt x="600" y="2"/>
                  </a:lnTo>
                  <a:lnTo>
                    <a:pt x="602" y="1"/>
                  </a:lnTo>
                  <a:lnTo>
                    <a:pt x="603" y="1"/>
                  </a:lnTo>
                  <a:lnTo>
                    <a:pt x="606" y="0"/>
                  </a:lnTo>
                  <a:close/>
                  <a:moveTo>
                    <a:pt x="648" y="0"/>
                  </a:moveTo>
                  <a:lnTo>
                    <a:pt x="662" y="0"/>
                  </a:lnTo>
                  <a:lnTo>
                    <a:pt x="663" y="1"/>
                  </a:lnTo>
                  <a:lnTo>
                    <a:pt x="666" y="1"/>
                  </a:lnTo>
                  <a:lnTo>
                    <a:pt x="668" y="2"/>
                  </a:lnTo>
                  <a:lnTo>
                    <a:pt x="669" y="5"/>
                  </a:lnTo>
                  <a:lnTo>
                    <a:pt x="670" y="6"/>
                  </a:lnTo>
                  <a:lnTo>
                    <a:pt x="670" y="8"/>
                  </a:lnTo>
                  <a:lnTo>
                    <a:pt x="670" y="10"/>
                  </a:lnTo>
                  <a:lnTo>
                    <a:pt x="669" y="11"/>
                  </a:lnTo>
                  <a:lnTo>
                    <a:pt x="668" y="13"/>
                  </a:lnTo>
                  <a:lnTo>
                    <a:pt x="666" y="14"/>
                  </a:lnTo>
                  <a:lnTo>
                    <a:pt x="663" y="15"/>
                  </a:lnTo>
                  <a:lnTo>
                    <a:pt x="662" y="15"/>
                  </a:lnTo>
                  <a:lnTo>
                    <a:pt x="648" y="15"/>
                  </a:lnTo>
                  <a:lnTo>
                    <a:pt x="647" y="15"/>
                  </a:lnTo>
                  <a:lnTo>
                    <a:pt x="646" y="14"/>
                  </a:lnTo>
                  <a:lnTo>
                    <a:pt x="643" y="13"/>
                  </a:lnTo>
                  <a:lnTo>
                    <a:pt x="641" y="11"/>
                  </a:lnTo>
                  <a:lnTo>
                    <a:pt x="641" y="10"/>
                  </a:lnTo>
                  <a:lnTo>
                    <a:pt x="641" y="8"/>
                  </a:lnTo>
                  <a:lnTo>
                    <a:pt x="641" y="6"/>
                  </a:lnTo>
                  <a:lnTo>
                    <a:pt x="641" y="5"/>
                  </a:lnTo>
                  <a:lnTo>
                    <a:pt x="643" y="2"/>
                  </a:lnTo>
                  <a:lnTo>
                    <a:pt x="646" y="1"/>
                  </a:lnTo>
                  <a:lnTo>
                    <a:pt x="647" y="1"/>
                  </a:lnTo>
                  <a:lnTo>
                    <a:pt x="648" y="0"/>
                  </a:lnTo>
                  <a:close/>
                  <a:moveTo>
                    <a:pt x="691" y="0"/>
                  </a:moveTo>
                  <a:lnTo>
                    <a:pt x="705" y="0"/>
                  </a:lnTo>
                  <a:lnTo>
                    <a:pt x="707" y="1"/>
                  </a:lnTo>
                  <a:lnTo>
                    <a:pt x="708" y="1"/>
                  </a:lnTo>
                  <a:lnTo>
                    <a:pt x="710" y="2"/>
                  </a:lnTo>
                  <a:lnTo>
                    <a:pt x="712" y="5"/>
                  </a:lnTo>
                  <a:lnTo>
                    <a:pt x="712" y="6"/>
                  </a:lnTo>
                  <a:lnTo>
                    <a:pt x="712" y="8"/>
                  </a:lnTo>
                  <a:lnTo>
                    <a:pt x="712" y="10"/>
                  </a:lnTo>
                  <a:lnTo>
                    <a:pt x="712" y="11"/>
                  </a:lnTo>
                  <a:lnTo>
                    <a:pt x="710" y="13"/>
                  </a:lnTo>
                  <a:lnTo>
                    <a:pt x="708" y="14"/>
                  </a:lnTo>
                  <a:lnTo>
                    <a:pt x="707" y="15"/>
                  </a:lnTo>
                  <a:lnTo>
                    <a:pt x="705" y="15"/>
                  </a:lnTo>
                  <a:lnTo>
                    <a:pt x="691" y="15"/>
                  </a:lnTo>
                  <a:lnTo>
                    <a:pt x="690" y="15"/>
                  </a:lnTo>
                  <a:lnTo>
                    <a:pt x="688" y="14"/>
                  </a:lnTo>
                  <a:lnTo>
                    <a:pt x="686" y="13"/>
                  </a:lnTo>
                  <a:lnTo>
                    <a:pt x="684" y="11"/>
                  </a:lnTo>
                  <a:lnTo>
                    <a:pt x="683" y="10"/>
                  </a:lnTo>
                  <a:lnTo>
                    <a:pt x="683" y="8"/>
                  </a:lnTo>
                  <a:lnTo>
                    <a:pt x="683" y="6"/>
                  </a:lnTo>
                  <a:lnTo>
                    <a:pt x="684" y="5"/>
                  </a:lnTo>
                  <a:lnTo>
                    <a:pt x="686" y="2"/>
                  </a:lnTo>
                  <a:lnTo>
                    <a:pt x="688" y="1"/>
                  </a:lnTo>
                  <a:lnTo>
                    <a:pt x="690" y="1"/>
                  </a:lnTo>
                  <a:lnTo>
                    <a:pt x="691" y="0"/>
                  </a:lnTo>
                  <a:close/>
                  <a:moveTo>
                    <a:pt x="734" y="0"/>
                  </a:moveTo>
                  <a:lnTo>
                    <a:pt x="748" y="0"/>
                  </a:lnTo>
                  <a:lnTo>
                    <a:pt x="750" y="1"/>
                  </a:lnTo>
                  <a:lnTo>
                    <a:pt x="751" y="1"/>
                  </a:lnTo>
                  <a:lnTo>
                    <a:pt x="753" y="2"/>
                  </a:lnTo>
                  <a:lnTo>
                    <a:pt x="754" y="5"/>
                  </a:lnTo>
                  <a:lnTo>
                    <a:pt x="755" y="6"/>
                  </a:lnTo>
                  <a:lnTo>
                    <a:pt x="755" y="8"/>
                  </a:lnTo>
                  <a:lnTo>
                    <a:pt x="755" y="10"/>
                  </a:lnTo>
                  <a:lnTo>
                    <a:pt x="754" y="11"/>
                  </a:lnTo>
                  <a:lnTo>
                    <a:pt x="753" y="13"/>
                  </a:lnTo>
                  <a:lnTo>
                    <a:pt x="751" y="14"/>
                  </a:lnTo>
                  <a:lnTo>
                    <a:pt x="750" y="15"/>
                  </a:lnTo>
                  <a:lnTo>
                    <a:pt x="748" y="15"/>
                  </a:lnTo>
                  <a:lnTo>
                    <a:pt x="734" y="15"/>
                  </a:lnTo>
                  <a:lnTo>
                    <a:pt x="732" y="15"/>
                  </a:lnTo>
                  <a:lnTo>
                    <a:pt x="731" y="14"/>
                  </a:lnTo>
                  <a:lnTo>
                    <a:pt x="729" y="13"/>
                  </a:lnTo>
                  <a:lnTo>
                    <a:pt x="727" y="11"/>
                  </a:lnTo>
                  <a:lnTo>
                    <a:pt x="727" y="10"/>
                  </a:lnTo>
                  <a:lnTo>
                    <a:pt x="727" y="8"/>
                  </a:lnTo>
                  <a:lnTo>
                    <a:pt x="727" y="6"/>
                  </a:lnTo>
                  <a:lnTo>
                    <a:pt x="727" y="5"/>
                  </a:lnTo>
                  <a:lnTo>
                    <a:pt x="729" y="2"/>
                  </a:lnTo>
                  <a:lnTo>
                    <a:pt x="731" y="1"/>
                  </a:lnTo>
                  <a:lnTo>
                    <a:pt x="732" y="1"/>
                  </a:lnTo>
                  <a:lnTo>
                    <a:pt x="734" y="0"/>
                  </a:lnTo>
                  <a:close/>
                  <a:moveTo>
                    <a:pt x="776" y="0"/>
                  </a:moveTo>
                  <a:lnTo>
                    <a:pt x="791" y="0"/>
                  </a:lnTo>
                  <a:lnTo>
                    <a:pt x="792" y="1"/>
                  </a:lnTo>
                  <a:lnTo>
                    <a:pt x="794" y="1"/>
                  </a:lnTo>
                  <a:lnTo>
                    <a:pt x="796" y="2"/>
                  </a:lnTo>
                  <a:lnTo>
                    <a:pt x="797" y="5"/>
                  </a:lnTo>
                  <a:lnTo>
                    <a:pt x="798" y="6"/>
                  </a:lnTo>
                  <a:lnTo>
                    <a:pt x="798" y="8"/>
                  </a:lnTo>
                  <a:lnTo>
                    <a:pt x="798" y="10"/>
                  </a:lnTo>
                  <a:lnTo>
                    <a:pt x="797" y="11"/>
                  </a:lnTo>
                  <a:lnTo>
                    <a:pt x="796" y="13"/>
                  </a:lnTo>
                  <a:lnTo>
                    <a:pt x="794" y="14"/>
                  </a:lnTo>
                  <a:lnTo>
                    <a:pt x="792" y="15"/>
                  </a:lnTo>
                  <a:lnTo>
                    <a:pt x="791" y="15"/>
                  </a:lnTo>
                  <a:lnTo>
                    <a:pt x="776" y="15"/>
                  </a:lnTo>
                  <a:lnTo>
                    <a:pt x="775" y="15"/>
                  </a:lnTo>
                  <a:lnTo>
                    <a:pt x="774" y="14"/>
                  </a:lnTo>
                  <a:lnTo>
                    <a:pt x="772" y="13"/>
                  </a:lnTo>
                  <a:lnTo>
                    <a:pt x="770" y="11"/>
                  </a:lnTo>
                  <a:lnTo>
                    <a:pt x="770" y="10"/>
                  </a:lnTo>
                  <a:lnTo>
                    <a:pt x="770" y="8"/>
                  </a:lnTo>
                  <a:lnTo>
                    <a:pt x="770" y="6"/>
                  </a:lnTo>
                  <a:lnTo>
                    <a:pt x="770" y="5"/>
                  </a:lnTo>
                  <a:lnTo>
                    <a:pt x="772" y="2"/>
                  </a:lnTo>
                  <a:lnTo>
                    <a:pt x="774" y="1"/>
                  </a:lnTo>
                  <a:lnTo>
                    <a:pt x="775" y="1"/>
                  </a:lnTo>
                  <a:lnTo>
                    <a:pt x="776" y="0"/>
                  </a:lnTo>
                  <a:close/>
                  <a:moveTo>
                    <a:pt x="819" y="0"/>
                  </a:moveTo>
                  <a:lnTo>
                    <a:pt x="834" y="0"/>
                  </a:lnTo>
                  <a:lnTo>
                    <a:pt x="835" y="1"/>
                  </a:lnTo>
                  <a:lnTo>
                    <a:pt x="836" y="1"/>
                  </a:lnTo>
                  <a:lnTo>
                    <a:pt x="838" y="2"/>
                  </a:lnTo>
                  <a:lnTo>
                    <a:pt x="840" y="5"/>
                  </a:lnTo>
                  <a:lnTo>
                    <a:pt x="840" y="6"/>
                  </a:lnTo>
                  <a:lnTo>
                    <a:pt x="840" y="8"/>
                  </a:lnTo>
                  <a:lnTo>
                    <a:pt x="840" y="10"/>
                  </a:lnTo>
                  <a:lnTo>
                    <a:pt x="840" y="11"/>
                  </a:lnTo>
                  <a:lnTo>
                    <a:pt x="838" y="13"/>
                  </a:lnTo>
                  <a:lnTo>
                    <a:pt x="836" y="14"/>
                  </a:lnTo>
                  <a:lnTo>
                    <a:pt x="835" y="15"/>
                  </a:lnTo>
                  <a:lnTo>
                    <a:pt x="834" y="15"/>
                  </a:lnTo>
                  <a:lnTo>
                    <a:pt x="819" y="15"/>
                  </a:lnTo>
                  <a:lnTo>
                    <a:pt x="818" y="15"/>
                  </a:lnTo>
                  <a:lnTo>
                    <a:pt x="816" y="14"/>
                  </a:lnTo>
                  <a:lnTo>
                    <a:pt x="814" y="13"/>
                  </a:lnTo>
                  <a:lnTo>
                    <a:pt x="813" y="11"/>
                  </a:lnTo>
                  <a:lnTo>
                    <a:pt x="812" y="10"/>
                  </a:lnTo>
                  <a:lnTo>
                    <a:pt x="812" y="8"/>
                  </a:lnTo>
                  <a:lnTo>
                    <a:pt x="812" y="6"/>
                  </a:lnTo>
                  <a:lnTo>
                    <a:pt x="813" y="5"/>
                  </a:lnTo>
                  <a:lnTo>
                    <a:pt x="814" y="2"/>
                  </a:lnTo>
                  <a:lnTo>
                    <a:pt x="816" y="1"/>
                  </a:lnTo>
                  <a:lnTo>
                    <a:pt x="818" y="1"/>
                  </a:lnTo>
                  <a:lnTo>
                    <a:pt x="819" y="0"/>
                  </a:lnTo>
                  <a:close/>
                  <a:moveTo>
                    <a:pt x="862" y="0"/>
                  </a:moveTo>
                  <a:lnTo>
                    <a:pt x="876" y="0"/>
                  </a:lnTo>
                  <a:lnTo>
                    <a:pt x="878" y="1"/>
                  </a:lnTo>
                  <a:lnTo>
                    <a:pt x="879" y="1"/>
                  </a:lnTo>
                  <a:lnTo>
                    <a:pt x="881" y="2"/>
                  </a:lnTo>
                  <a:lnTo>
                    <a:pt x="882" y="5"/>
                  </a:lnTo>
                  <a:lnTo>
                    <a:pt x="883" y="6"/>
                  </a:lnTo>
                  <a:lnTo>
                    <a:pt x="883" y="8"/>
                  </a:lnTo>
                  <a:lnTo>
                    <a:pt x="883" y="10"/>
                  </a:lnTo>
                  <a:lnTo>
                    <a:pt x="882" y="11"/>
                  </a:lnTo>
                  <a:lnTo>
                    <a:pt x="881" y="13"/>
                  </a:lnTo>
                  <a:lnTo>
                    <a:pt x="879" y="14"/>
                  </a:lnTo>
                  <a:lnTo>
                    <a:pt x="878" y="15"/>
                  </a:lnTo>
                  <a:lnTo>
                    <a:pt x="876" y="15"/>
                  </a:lnTo>
                  <a:lnTo>
                    <a:pt x="862" y="15"/>
                  </a:lnTo>
                  <a:lnTo>
                    <a:pt x="860" y="15"/>
                  </a:lnTo>
                  <a:lnTo>
                    <a:pt x="859" y="14"/>
                  </a:lnTo>
                  <a:lnTo>
                    <a:pt x="857" y="13"/>
                  </a:lnTo>
                  <a:lnTo>
                    <a:pt x="855" y="11"/>
                  </a:lnTo>
                  <a:lnTo>
                    <a:pt x="855" y="10"/>
                  </a:lnTo>
                  <a:lnTo>
                    <a:pt x="855" y="8"/>
                  </a:lnTo>
                  <a:lnTo>
                    <a:pt x="855" y="6"/>
                  </a:lnTo>
                  <a:lnTo>
                    <a:pt x="855" y="5"/>
                  </a:lnTo>
                  <a:lnTo>
                    <a:pt x="857" y="2"/>
                  </a:lnTo>
                  <a:lnTo>
                    <a:pt x="859" y="1"/>
                  </a:lnTo>
                  <a:lnTo>
                    <a:pt x="860" y="1"/>
                  </a:lnTo>
                  <a:lnTo>
                    <a:pt x="862" y="0"/>
                  </a:lnTo>
                  <a:close/>
                  <a:moveTo>
                    <a:pt x="904" y="0"/>
                  </a:moveTo>
                  <a:lnTo>
                    <a:pt x="919" y="0"/>
                  </a:lnTo>
                  <a:lnTo>
                    <a:pt x="920" y="1"/>
                  </a:lnTo>
                  <a:lnTo>
                    <a:pt x="921" y="1"/>
                  </a:lnTo>
                  <a:lnTo>
                    <a:pt x="924" y="2"/>
                  </a:lnTo>
                  <a:lnTo>
                    <a:pt x="925" y="5"/>
                  </a:lnTo>
                  <a:lnTo>
                    <a:pt x="925" y="6"/>
                  </a:lnTo>
                  <a:lnTo>
                    <a:pt x="926" y="8"/>
                  </a:lnTo>
                  <a:lnTo>
                    <a:pt x="925" y="10"/>
                  </a:lnTo>
                  <a:lnTo>
                    <a:pt x="925" y="11"/>
                  </a:lnTo>
                  <a:lnTo>
                    <a:pt x="924" y="13"/>
                  </a:lnTo>
                  <a:lnTo>
                    <a:pt x="921" y="14"/>
                  </a:lnTo>
                  <a:lnTo>
                    <a:pt x="920" y="15"/>
                  </a:lnTo>
                  <a:lnTo>
                    <a:pt x="919" y="15"/>
                  </a:lnTo>
                  <a:lnTo>
                    <a:pt x="904" y="15"/>
                  </a:lnTo>
                  <a:lnTo>
                    <a:pt x="903" y="15"/>
                  </a:lnTo>
                  <a:lnTo>
                    <a:pt x="902" y="14"/>
                  </a:lnTo>
                  <a:lnTo>
                    <a:pt x="899" y="13"/>
                  </a:lnTo>
                  <a:lnTo>
                    <a:pt x="898" y="11"/>
                  </a:lnTo>
                  <a:lnTo>
                    <a:pt x="898" y="10"/>
                  </a:lnTo>
                  <a:lnTo>
                    <a:pt x="897" y="8"/>
                  </a:lnTo>
                  <a:lnTo>
                    <a:pt x="898" y="6"/>
                  </a:lnTo>
                  <a:lnTo>
                    <a:pt x="898" y="5"/>
                  </a:lnTo>
                  <a:lnTo>
                    <a:pt x="899" y="2"/>
                  </a:lnTo>
                  <a:lnTo>
                    <a:pt x="902" y="1"/>
                  </a:lnTo>
                  <a:lnTo>
                    <a:pt x="903" y="1"/>
                  </a:lnTo>
                  <a:lnTo>
                    <a:pt x="904" y="0"/>
                  </a:lnTo>
                  <a:close/>
                  <a:moveTo>
                    <a:pt x="947" y="0"/>
                  </a:moveTo>
                  <a:lnTo>
                    <a:pt x="961" y="0"/>
                  </a:lnTo>
                  <a:lnTo>
                    <a:pt x="963" y="1"/>
                  </a:lnTo>
                  <a:lnTo>
                    <a:pt x="964" y="1"/>
                  </a:lnTo>
                  <a:lnTo>
                    <a:pt x="966" y="2"/>
                  </a:lnTo>
                  <a:lnTo>
                    <a:pt x="968" y="5"/>
                  </a:lnTo>
                  <a:lnTo>
                    <a:pt x="968" y="6"/>
                  </a:lnTo>
                  <a:lnTo>
                    <a:pt x="968" y="8"/>
                  </a:lnTo>
                  <a:lnTo>
                    <a:pt x="968" y="10"/>
                  </a:lnTo>
                  <a:lnTo>
                    <a:pt x="968" y="11"/>
                  </a:lnTo>
                  <a:lnTo>
                    <a:pt x="966" y="13"/>
                  </a:lnTo>
                  <a:lnTo>
                    <a:pt x="964" y="14"/>
                  </a:lnTo>
                  <a:lnTo>
                    <a:pt x="963" y="15"/>
                  </a:lnTo>
                  <a:lnTo>
                    <a:pt x="961" y="15"/>
                  </a:lnTo>
                  <a:lnTo>
                    <a:pt x="947" y="15"/>
                  </a:lnTo>
                  <a:lnTo>
                    <a:pt x="946" y="15"/>
                  </a:lnTo>
                  <a:lnTo>
                    <a:pt x="944" y="14"/>
                  </a:lnTo>
                  <a:lnTo>
                    <a:pt x="942" y="13"/>
                  </a:lnTo>
                  <a:lnTo>
                    <a:pt x="941" y="11"/>
                  </a:lnTo>
                  <a:lnTo>
                    <a:pt x="940" y="10"/>
                  </a:lnTo>
                  <a:lnTo>
                    <a:pt x="940" y="8"/>
                  </a:lnTo>
                  <a:lnTo>
                    <a:pt x="940" y="6"/>
                  </a:lnTo>
                  <a:lnTo>
                    <a:pt x="941" y="5"/>
                  </a:lnTo>
                  <a:lnTo>
                    <a:pt x="942" y="2"/>
                  </a:lnTo>
                  <a:lnTo>
                    <a:pt x="944" y="1"/>
                  </a:lnTo>
                  <a:lnTo>
                    <a:pt x="946" y="1"/>
                  </a:lnTo>
                  <a:lnTo>
                    <a:pt x="947" y="0"/>
                  </a:lnTo>
                  <a:close/>
                  <a:moveTo>
                    <a:pt x="990" y="0"/>
                  </a:moveTo>
                  <a:lnTo>
                    <a:pt x="1004" y="0"/>
                  </a:lnTo>
                  <a:lnTo>
                    <a:pt x="1005" y="1"/>
                  </a:lnTo>
                  <a:lnTo>
                    <a:pt x="1007" y="1"/>
                  </a:lnTo>
                  <a:lnTo>
                    <a:pt x="1009" y="2"/>
                  </a:lnTo>
                  <a:lnTo>
                    <a:pt x="1010" y="5"/>
                  </a:lnTo>
                  <a:lnTo>
                    <a:pt x="1011" y="6"/>
                  </a:lnTo>
                  <a:lnTo>
                    <a:pt x="1011" y="8"/>
                  </a:lnTo>
                  <a:lnTo>
                    <a:pt x="1011" y="10"/>
                  </a:lnTo>
                  <a:lnTo>
                    <a:pt x="1010" y="11"/>
                  </a:lnTo>
                  <a:lnTo>
                    <a:pt x="1009" y="13"/>
                  </a:lnTo>
                  <a:lnTo>
                    <a:pt x="1007" y="14"/>
                  </a:lnTo>
                  <a:lnTo>
                    <a:pt x="1005" y="15"/>
                  </a:lnTo>
                  <a:lnTo>
                    <a:pt x="1004" y="15"/>
                  </a:lnTo>
                  <a:lnTo>
                    <a:pt x="990" y="15"/>
                  </a:lnTo>
                  <a:lnTo>
                    <a:pt x="988" y="15"/>
                  </a:lnTo>
                  <a:lnTo>
                    <a:pt x="987" y="14"/>
                  </a:lnTo>
                  <a:lnTo>
                    <a:pt x="985" y="13"/>
                  </a:lnTo>
                  <a:lnTo>
                    <a:pt x="983" y="11"/>
                  </a:lnTo>
                  <a:lnTo>
                    <a:pt x="983" y="10"/>
                  </a:lnTo>
                  <a:lnTo>
                    <a:pt x="983" y="8"/>
                  </a:lnTo>
                  <a:lnTo>
                    <a:pt x="983" y="6"/>
                  </a:lnTo>
                  <a:lnTo>
                    <a:pt x="983" y="5"/>
                  </a:lnTo>
                  <a:lnTo>
                    <a:pt x="985" y="2"/>
                  </a:lnTo>
                  <a:lnTo>
                    <a:pt x="987" y="1"/>
                  </a:lnTo>
                  <a:lnTo>
                    <a:pt x="988" y="1"/>
                  </a:lnTo>
                  <a:lnTo>
                    <a:pt x="990" y="0"/>
                  </a:lnTo>
                  <a:close/>
                  <a:moveTo>
                    <a:pt x="1032" y="0"/>
                  </a:moveTo>
                  <a:lnTo>
                    <a:pt x="1047" y="0"/>
                  </a:lnTo>
                  <a:lnTo>
                    <a:pt x="1048" y="1"/>
                  </a:lnTo>
                  <a:lnTo>
                    <a:pt x="1049" y="1"/>
                  </a:lnTo>
                  <a:lnTo>
                    <a:pt x="1052" y="2"/>
                  </a:lnTo>
                  <a:lnTo>
                    <a:pt x="1054" y="5"/>
                  </a:lnTo>
                  <a:lnTo>
                    <a:pt x="1054" y="6"/>
                  </a:lnTo>
                  <a:lnTo>
                    <a:pt x="1055" y="8"/>
                  </a:lnTo>
                  <a:lnTo>
                    <a:pt x="1054" y="10"/>
                  </a:lnTo>
                  <a:lnTo>
                    <a:pt x="1054" y="11"/>
                  </a:lnTo>
                  <a:lnTo>
                    <a:pt x="1052" y="13"/>
                  </a:lnTo>
                  <a:lnTo>
                    <a:pt x="1049" y="14"/>
                  </a:lnTo>
                  <a:lnTo>
                    <a:pt x="1048" y="15"/>
                  </a:lnTo>
                  <a:lnTo>
                    <a:pt x="1047" y="15"/>
                  </a:lnTo>
                  <a:lnTo>
                    <a:pt x="1032" y="15"/>
                  </a:lnTo>
                  <a:lnTo>
                    <a:pt x="1031" y="15"/>
                  </a:lnTo>
                  <a:lnTo>
                    <a:pt x="1030" y="14"/>
                  </a:lnTo>
                  <a:lnTo>
                    <a:pt x="1027" y="13"/>
                  </a:lnTo>
                  <a:lnTo>
                    <a:pt x="1026" y="11"/>
                  </a:lnTo>
                  <a:lnTo>
                    <a:pt x="1026" y="10"/>
                  </a:lnTo>
                  <a:lnTo>
                    <a:pt x="1025" y="8"/>
                  </a:lnTo>
                  <a:lnTo>
                    <a:pt x="1026" y="6"/>
                  </a:lnTo>
                  <a:lnTo>
                    <a:pt x="1026" y="5"/>
                  </a:lnTo>
                  <a:lnTo>
                    <a:pt x="1027" y="2"/>
                  </a:lnTo>
                  <a:lnTo>
                    <a:pt x="1030" y="1"/>
                  </a:lnTo>
                  <a:lnTo>
                    <a:pt x="1031" y="1"/>
                  </a:lnTo>
                  <a:lnTo>
                    <a:pt x="1032" y="0"/>
                  </a:lnTo>
                  <a:close/>
                  <a:moveTo>
                    <a:pt x="1076" y="0"/>
                  </a:moveTo>
                  <a:lnTo>
                    <a:pt x="1089" y="0"/>
                  </a:lnTo>
                  <a:lnTo>
                    <a:pt x="1091" y="1"/>
                  </a:lnTo>
                  <a:lnTo>
                    <a:pt x="1092" y="1"/>
                  </a:lnTo>
                  <a:lnTo>
                    <a:pt x="1095" y="2"/>
                  </a:lnTo>
                  <a:lnTo>
                    <a:pt x="1097" y="5"/>
                  </a:lnTo>
                  <a:lnTo>
                    <a:pt x="1097" y="6"/>
                  </a:lnTo>
                  <a:lnTo>
                    <a:pt x="1097" y="8"/>
                  </a:lnTo>
                  <a:lnTo>
                    <a:pt x="1097" y="10"/>
                  </a:lnTo>
                  <a:lnTo>
                    <a:pt x="1097" y="11"/>
                  </a:lnTo>
                  <a:lnTo>
                    <a:pt x="1095" y="13"/>
                  </a:lnTo>
                  <a:lnTo>
                    <a:pt x="1092" y="14"/>
                  </a:lnTo>
                  <a:lnTo>
                    <a:pt x="1091" y="15"/>
                  </a:lnTo>
                  <a:lnTo>
                    <a:pt x="1089" y="15"/>
                  </a:lnTo>
                  <a:lnTo>
                    <a:pt x="1076" y="15"/>
                  </a:lnTo>
                  <a:lnTo>
                    <a:pt x="1073" y="15"/>
                  </a:lnTo>
                  <a:lnTo>
                    <a:pt x="1072" y="14"/>
                  </a:lnTo>
                  <a:lnTo>
                    <a:pt x="1070" y="13"/>
                  </a:lnTo>
                  <a:lnTo>
                    <a:pt x="1069" y="11"/>
                  </a:lnTo>
                  <a:lnTo>
                    <a:pt x="1068" y="10"/>
                  </a:lnTo>
                  <a:lnTo>
                    <a:pt x="1068" y="8"/>
                  </a:lnTo>
                  <a:lnTo>
                    <a:pt x="1068" y="6"/>
                  </a:lnTo>
                  <a:lnTo>
                    <a:pt x="1069" y="5"/>
                  </a:lnTo>
                  <a:lnTo>
                    <a:pt x="1070" y="2"/>
                  </a:lnTo>
                  <a:lnTo>
                    <a:pt x="1072" y="1"/>
                  </a:lnTo>
                  <a:lnTo>
                    <a:pt x="1073" y="1"/>
                  </a:lnTo>
                  <a:lnTo>
                    <a:pt x="1076" y="0"/>
                  </a:lnTo>
                  <a:close/>
                  <a:moveTo>
                    <a:pt x="1118" y="0"/>
                  </a:moveTo>
                  <a:lnTo>
                    <a:pt x="1132" y="0"/>
                  </a:lnTo>
                  <a:lnTo>
                    <a:pt x="1133" y="1"/>
                  </a:lnTo>
                  <a:lnTo>
                    <a:pt x="1136" y="1"/>
                  </a:lnTo>
                  <a:lnTo>
                    <a:pt x="1138" y="2"/>
                  </a:lnTo>
                  <a:lnTo>
                    <a:pt x="1139" y="5"/>
                  </a:lnTo>
                  <a:lnTo>
                    <a:pt x="1140" y="6"/>
                  </a:lnTo>
                  <a:lnTo>
                    <a:pt x="1140" y="8"/>
                  </a:lnTo>
                  <a:lnTo>
                    <a:pt x="1140" y="10"/>
                  </a:lnTo>
                  <a:lnTo>
                    <a:pt x="1139" y="11"/>
                  </a:lnTo>
                  <a:lnTo>
                    <a:pt x="1138" y="13"/>
                  </a:lnTo>
                  <a:lnTo>
                    <a:pt x="1136" y="14"/>
                  </a:lnTo>
                  <a:lnTo>
                    <a:pt x="1133" y="15"/>
                  </a:lnTo>
                  <a:lnTo>
                    <a:pt x="1132" y="15"/>
                  </a:lnTo>
                  <a:lnTo>
                    <a:pt x="1118" y="15"/>
                  </a:lnTo>
                  <a:lnTo>
                    <a:pt x="1117" y="15"/>
                  </a:lnTo>
                  <a:lnTo>
                    <a:pt x="1116" y="14"/>
                  </a:lnTo>
                  <a:lnTo>
                    <a:pt x="1113" y="13"/>
                  </a:lnTo>
                  <a:lnTo>
                    <a:pt x="1111" y="11"/>
                  </a:lnTo>
                  <a:lnTo>
                    <a:pt x="1111" y="10"/>
                  </a:lnTo>
                  <a:lnTo>
                    <a:pt x="1111" y="8"/>
                  </a:lnTo>
                  <a:lnTo>
                    <a:pt x="1111" y="6"/>
                  </a:lnTo>
                  <a:lnTo>
                    <a:pt x="1111" y="5"/>
                  </a:lnTo>
                  <a:lnTo>
                    <a:pt x="1113" y="2"/>
                  </a:lnTo>
                  <a:lnTo>
                    <a:pt x="1116" y="1"/>
                  </a:lnTo>
                  <a:lnTo>
                    <a:pt x="1117" y="1"/>
                  </a:lnTo>
                  <a:lnTo>
                    <a:pt x="1118" y="0"/>
                  </a:lnTo>
                  <a:close/>
                  <a:moveTo>
                    <a:pt x="1161" y="0"/>
                  </a:moveTo>
                  <a:lnTo>
                    <a:pt x="1175" y="0"/>
                  </a:lnTo>
                  <a:lnTo>
                    <a:pt x="1177" y="1"/>
                  </a:lnTo>
                  <a:lnTo>
                    <a:pt x="1178" y="1"/>
                  </a:lnTo>
                  <a:lnTo>
                    <a:pt x="1180" y="2"/>
                  </a:lnTo>
                  <a:lnTo>
                    <a:pt x="1182" y="5"/>
                  </a:lnTo>
                  <a:lnTo>
                    <a:pt x="1182" y="6"/>
                  </a:lnTo>
                  <a:lnTo>
                    <a:pt x="1182" y="8"/>
                  </a:lnTo>
                  <a:lnTo>
                    <a:pt x="1182" y="10"/>
                  </a:lnTo>
                  <a:lnTo>
                    <a:pt x="1182" y="11"/>
                  </a:lnTo>
                  <a:lnTo>
                    <a:pt x="1180" y="13"/>
                  </a:lnTo>
                  <a:lnTo>
                    <a:pt x="1178" y="14"/>
                  </a:lnTo>
                  <a:lnTo>
                    <a:pt x="1177" y="15"/>
                  </a:lnTo>
                  <a:lnTo>
                    <a:pt x="1175" y="15"/>
                  </a:lnTo>
                  <a:lnTo>
                    <a:pt x="1161" y="15"/>
                  </a:lnTo>
                  <a:lnTo>
                    <a:pt x="1160" y="15"/>
                  </a:lnTo>
                  <a:lnTo>
                    <a:pt x="1158" y="14"/>
                  </a:lnTo>
                  <a:lnTo>
                    <a:pt x="1155" y="13"/>
                  </a:lnTo>
                  <a:lnTo>
                    <a:pt x="1154" y="11"/>
                  </a:lnTo>
                  <a:lnTo>
                    <a:pt x="1153" y="10"/>
                  </a:lnTo>
                  <a:lnTo>
                    <a:pt x="1153" y="8"/>
                  </a:lnTo>
                  <a:lnTo>
                    <a:pt x="1153" y="6"/>
                  </a:lnTo>
                  <a:lnTo>
                    <a:pt x="1154" y="5"/>
                  </a:lnTo>
                  <a:lnTo>
                    <a:pt x="1155" y="2"/>
                  </a:lnTo>
                  <a:lnTo>
                    <a:pt x="1158" y="1"/>
                  </a:lnTo>
                  <a:lnTo>
                    <a:pt x="1160" y="1"/>
                  </a:lnTo>
                  <a:lnTo>
                    <a:pt x="1161" y="0"/>
                  </a:lnTo>
                  <a:close/>
                  <a:moveTo>
                    <a:pt x="1204" y="0"/>
                  </a:moveTo>
                  <a:lnTo>
                    <a:pt x="1218" y="0"/>
                  </a:lnTo>
                  <a:lnTo>
                    <a:pt x="1220" y="1"/>
                  </a:lnTo>
                  <a:lnTo>
                    <a:pt x="1221" y="1"/>
                  </a:lnTo>
                  <a:lnTo>
                    <a:pt x="1223" y="2"/>
                  </a:lnTo>
                  <a:lnTo>
                    <a:pt x="1225" y="5"/>
                  </a:lnTo>
                  <a:lnTo>
                    <a:pt x="1225" y="6"/>
                  </a:lnTo>
                  <a:lnTo>
                    <a:pt x="1225" y="8"/>
                  </a:lnTo>
                  <a:lnTo>
                    <a:pt x="1225" y="10"/>
                  </a:lnTo>
                  <a:lnTo>
                    <a:pt x="1225" y="11"/>
                  </a:lnTo>
                  <a:lnTo>
                    <a:pt x="1223" y="13"/>
                  </a:lnTo>
                  <a:lnTo>
                    <a:pt x="1221" y="14"/>
                  </a:lnTo>
                  <a:lnTo>
                    <a:pt x="1220" y="15"/>
                  </a:lnTo>
                  <a:lnTo>
                    <a:pt x="1218" y="15"/>
                  </a:lnTo>
                  <a:lnTo>
                    <a:pt x="1204" y="15"/>
                  </a:lnTo>
                  <a:lnTo>
                    <a:pt x="1202" y="15"/>
                  </a:lnTo>
                  <a:lnTo>
                    <a:pt x="1201" y="14"/>
                  </a:lnTo>
                  <a:lnTo>
                    <a:pt x="1199" y="13"/>
                  </a:lnTo>
                  <a:lnTo>
                    <a:pt x="1198" y="11"/>
                  </a:lnTo>
                  <a:lnTo>
                    <a:pt x="1196" y="10"/>
                  </a:lnTo>
                  <a:lnTo>
                    <a:pt x="1196" y="8"/>
                  </a:lnTo>
                  <a:lnTo>
                    <a:pt x="1196" y="6"/>
                  </a:lnTo>
                  <a:lnTo>
                    <a:pt x="1198" y="5"/>
                  </a:lnTo>
                  <a:lnTo>
                    <a:pt x="1199" y="2"/>
                  </a:lnTo>
                  <a:lnTo>
                    <a:pt x="1201" y="1"/>
                  </a:lnTo>
                  <a:lnTo>
                    <a:pt x="1202" y="1"/>
                  </a:lnTo>
                  <a:lnTo>
                    <a:pt x="1204" y="0"/>
                  </a:lnTo>
                  <a:close/>
                  <a:moveTo>
                    <a:pt x="1246" y="0"/>
                  </a:moveTo>
                  <a:lnTo>
                    <a:pt x="1261" y="0"/>
                  </a:lnTo>
                  <a:lnTo>
                    <a:pt x="1262" y="1"/>
                  </a:lnTo>
                  <a:lnTo>
                    <a:pt x="1264" y="1"/>
                  </a:lnTo>
                  <a:lnTo>
                    <a:pt x="1266" y="2"/>
                  </a:lnTo>
                  <a:lnTo>
                    <a:pt x="1267" y="5"/>
                  </a:lnTo>
                  <a:lnTo>
                    <a:pt x="1268" y="6"/>
                  </a:lnTo>
                  <a:lnTo>
                    <a:pt x="1268" y="8"/>
                  </a:lnTo>
                  <a:lnTo>
                    <a:pt x="1268" y="10"/>
                  </a:lnTo>
                  <a:lnTo>
                    <a:pt x="1267" y="11"/>
                  </a:lnTo>
                  <a:lnTo>
                    <a:pt x="1266" y="13"/>
                  </a:lnTo>
                  <a:lnTo>
                    <a:pt x="1264" y="14"/>
                  </a:lnTo>
                  <a:lnTo>
                    <a:pt x="1262" y="15"/>
                  </a:lnTo>
                  <a:lnTo>
                    <a:pt x="1261" y="15"/>
                  </a:lnTo>
                  <a:lnTo>
                    <a:pt x="1246" y="15"/>
                  </a:lnTo>
                  <a:lnTo>
                    <a:pt x="1245" y="15"/>
                  </a:lnTo>
                  <a:lnTo>
                    <a:pt x="1244" y="14"/>
                  </a:lnTo>
                  <a:lnTo>
                    <a:pt x="1242" y="13"/>
                  </a:lnTo>
                  <a:lnTo>
                    <a:pt x="1240" y="11"/>
                  </a:lnTo>
                  <a:lnTo>
                    <a:pt x="1240" y="10"/>
                  </a:lnTo>
                  <a:lnTo>
                    <a:pt x="1240" y="8"/>
                  </a:lnTo>
                  <a:lnTo>
                    <a:pt x="1240" y="6"/>
                  </a:lnTo>
                  <a:lnTo>
                    <a:pt x="1240" y="5"/>
                  </a:lnTo>
                  <a:lnTo>
                    <a:pt x="1242" y="2"/>
                  </a:lnTo>
                  <a:lnTo>
                    <a:pt x="1244" y="1"/>
                  </a:lnTo>
                  <a:lnTo>
                    <a:pt x="1245" y="1"/>
                  </a:lnTo>
                  <a:lnTo>
                    <a:pt x="1246" y="0"/>
                  </a:lnTo>
                  <a:close/>
                  <a:moveTo>
                    <a:pt x="1289" y="0"/>
                  </a:moveTo>
                  <a:lnTo>
                    <a:pt x="1304" y="0"/>
                  </a:lnTo>
                  <a:lnTo>
                    <a:pt x="1305" y="1"/>
                  </a:lnTo>
                  <a:lnTo>
                    <a:pt x="1306" y="1"/>
                  </a:lnTo>
                  <a:lnTo>
                    <a:pt x="1308" y="2"/>
                  </a:lnTo>
                  <a:lnTo>
                    <a:pt x="1310" y="5"/>
                  </a:lnTo>
                  <a:lnTo>
                    <a:pt x="1310" y="6"/>
                  </a:lnTo>
                  <a:lnTo>
                    <a:pt x="1310" y="8"/>
                  </a:lnTo>
                  <a:lnTo>
                    <a:pt x="1310" y="10"/>
                  </a:lnTo>
                  <a:lnTo>
                    <a:pt x="1310" y="11"/>
                  </a:lnTo>
                  <a:lnTo>
                    <a:pt x="1308" y="13"/>
                  </a:lnTo>
                  <a:lnTo>
                    <a:pt x="1306" y="14"/>
                  </a:lnTo>
                  <a:lnTo>
                    <a:pt x="1305" y="15"/>
                  </a:lnTo>
                  <a:lnTo>
                    <a:pt x="1304" y="15"/>
                  </a:lnTo>
                  <a:lnTo>
                    <a:pt x="1289" y="15"/>
                  </a:lnTo>
                  <a:lnTo>
                    <a:pt x="1288" y="15"/>
                  </a:lnTo>
                  <a:lnTo>
                    <a:pt x="1286" y="14"/>
                  </a:lnTo>
                  <a:lnTo>
                    <a:pt x="1284" y="13"/>
                  </a:lnTo>
                  <a:lnTo>
                    <a:pt x="1283" y="11"/>
                  </a:lnTo>
                  <a:lnTo>
                    <a:pt x="1282" y="10"/>
                  </a:lnTo>
                  <a:lnTo>
                    <a:pt x="1282" y="8"/>
                  </a:lnTo>
                  <a:lnTo>
                    <a:pt x="1282" y="6"/>
                  </a:lnTo>
                  <a:lnTo>
                    <a:pt x="1283" y="5"/>
                  </a:lnTo>
                  <a:lnTo>
                    <a:pt x="1284" y="2"/>
                  </a:lnTo>
                  <a:lnTo>
                    <a:pt x="1286" y="1"/>
                  </a:lnTo>
                  <a:lnTo>
                    <a:pt x="1288" y="1"/>
                  </a:lnTo>
                  <a:lnTo>
                    <a:pt x="1289" y="0"/>
                  </a:lnTo>
                  <a:close/>
                  <a:moveTo>
                    <a:pt x="1332" y="0"/>
                  </a:moveTo>
                  <a:lnTo>
                    <a:pt x="1346" y="0"/>
                  </a:lnTo>
                  <a:lnTo>
                    <a:pt x="1348" y="1"/>
                  </a:lnTo>
                  <a:lnTo>
                    <a:pt x="1349" y="1"/>
                  </a:lnTo>
                  <a:lnTo>
                    <a:pt x="1351" y="2"/>
                  </a:lnTo>
                  <a:lnTo>
                    <a:pt x="1352" y="5"/>
                  </a:lnTo>
                  <a:lnTo>
                    <a:pt x="1353" y="6"/>
                  </a:lnTo>
                  <a:lnTo>
                    <a:pt x="1353" y="8"/>
                  </a:lnTo>
                  <a:lnTo>
                    <a:pt x="1353" y="10"/>
                  </a:lnTo>
                  <a:lnTo>
                    <a:pt x="1352" y="11"/>
                  </a:lnTo>
                  <a:lnTo>
                    <a:pt x="1351" y="13"/>
                  </a:lnTo>
                  <a:lnTo>
                    <a:pt x="1349" y="14"/>
                  </a:lnTo>
                  <a:lnTo>
                    <a:pt x="1348" y="15"/>
                  </a:lnTo>
                  <a:lnTo>
                    <a:pt x="1346" y="15"/>
                  </a:lnTo>
                  <a:lnTo>
                    <a:pt x="1332" y="15"/>
                  </a:lnTo>
                  <a:lnTo>
                    <a:pt x="1330" y="15"/>
                  </a:lnTo>
                  <a:lnTo>
                    <a:pt x="1329" y="14"/>
                  </a:lnTo>
                  <a:lnTo>
                    <a:pt x="1327" y="13"/>
                  </a:lnTo>
                  <a:lnTo>
                    <a:pt x="1325" y="11"/>
                  </a:lnTo>
                  <a:lnTo>
                    <a:pt x="1325" y="10"/>
                  </a:lnTo>
                  <a:lnTo>
                    <a:pt x="1325" y="8"/>
                  </a:lnTo>
                  <a:lnTo>
                    <a:pt x="1325" y="6"/>
                  </a:lnTo>
                  <a:lnTo>
                    <a:pt x="1325" y="5"/>
                  </a:lnTo>
                  <a:lnTo>
                    <a:pt x="1327" y="2"/>
                  </a:lnTo>
                  <a:lnTo>
                    <a:pt x="1329" y="1"/>
                  </a:lnTo>
                  <a:lnTo>
                    <a:pt x="1330" y="1"/>
                  </a:lnTo>
                  <a:lnTo>
                    <a:pt x="1332" y="0"/>
                  </a:lnTo>
                  <a:close/>
                </a:path>
              </a:pathLst>
            </a:custGeom>
            <a:solidFill>
              <a:srgbClr val="000000"/>
            </a:solidFill>
            <a:ln w="1588">
              <a:solidFill>
                <a:srgbClr val="000000"/>
              </a:solidFill>
              <a:round/>
            </a:ln>
          </p:spPr>
          <p:txBody>
            <a:bodyPr/>
            <a:lstStyle/>
            <a:p>
              <a:endParaRPr lang="zh-CN" altLang="en-US"/>
            </a:p>
          </p:txBody>
        </p:sp>
        <p:sp>
          <p:nvSpPr>
            <p:cNvPr id="45103" name="Rectangle 47"/>
            <p:cNvSpPr>
              <a:spLocks noChangeArrowheads="1"/>
            </p:cNvSpPr>
            <p:nvPr/>
          </p:nvSpPr>
          <p:spPr bwMode="auto">
            <a:xfrm>
              <a:off x="3993" y="1206"/>
              <a:ext cx="5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1300" i="1">
                  <a:solidFill>
                    <a:srgbClr val="000000"/>
                  </a:solidFill>
                </a:rPr>
                <a:t>j</a:t>
              </a:r>
              <a:endParaRPr lang="en-US" altLang="zh-CN"/>
            </a:p>
          </p:txBody>
        </p:sp>
        <p:sp>
          <p:nvSpPr>
            <p:cNvPr id="45104" name="Rectangle 48"/>
            <p:cNvSpPr>
              <a:spLocks noChangeArrowheads="1"/>
            </p:cNvSpPr>
            <p:nvPr/>
          </p:nvSpPr>
          <p:spPr bwMode="auto">
            <a:xfrm>
              <a:off x="3819" y="1086"/>
              <a:ext cx="11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i="1">
                  <a:solidFill>
                    <a:srgbClr val="000000"/>
                  </a:solidFill>
                </a:rPr>
                <a:t>N</a:t>
              </a:r>
              <a:endParaRPr lang="en-US" altLang="zh-CN"/>
            </a:p>
          </p:txBody>
        </p:sp>
        <p:sp>
          <p:nvSpPr>
            <p:cNvPr id="45105" name="Rectangle 49"/>
            <p:cNvSpPr>
              <a:spLocks noChangeArrowheads="1"/>
            </p:cNvSpPr>
            <p:nvPr/>
          </p:nvSpPr>
          <p:spPr bwMode="auto">
            <a:xfrm>
              <a:off x="4003" y="1542"/>
              <a:ext cx="5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1300" i="1">
                  <a:solidFill>
                    <a:srgbClr val="000000"/>
                  </a:solidFill>
                </a:rPr>
                <a:t>j</a:t>
              </a:r>
              <a:endParaRPr lang="en-US" altLang="zh-CN"/>
            </a:p>
          </p:txBody>
        </p:sp>
        <p:sp>
          <p:nvSpPr>
            <p:cNvPr id="45106" name="Rectangle 50"/>
            <p:cNvSpPr>
              <a:spLocks noChangeArrowheads="1"/>
            </p:cNvSpPr>
            <p:nvPr/>
          </p:nvSpPr>
          <p:spPr bwMode="auto">
            <a:xfrm>
              <a:off x="3855" y="1402"/>
              <a:ext cx="135"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i="1">
                  <a:solidFill>
                    <a:srgbClr val="000000"/>
                  </a:solidFill>
                  <a:latin typeface="Symbol" panose="05050102010706020507" pitchFamily="18" charset="2"/>
                </a:rPr>
                <a:t>j</a:t>
              </a:r>
              <a:endParaRPr lang="en-US" altLang="zh-CN"/>
            </a:p>
          </p:txBody>
        </p:sp>
        <p:sp>
          <p:nvSpPr>
            <p:cNvPr id="45107" name="Freeform 51"/>
            <p:cNvSpPr/>
            <p:nvPr/>
          </p:nvSpPr>
          <p:spPr bwMode="auto">
            <a:xfrm>
              <a:off x="3736" y="1602"/>
              <a:ext cx="51" cy="85"/>
            </a:xfrm>
            <a:custGeom>
              <a:avLst/>
              <a:gdLst>
                <a:gd name="T0" fmla="*/ 51 w 51"/>
                <a:gd name="T1" fmla="*/ 85 h 85"/>
                <a:gd name="T2" fmla="*/ 51 w 51"/>
                <a:gd name="T3" fmla="*/ 76 h 85"/>
                <a:gd name="T4" fmla="*/ 50 w 51"/>
                <a:gd name="T5" fmla="*/ 68 h 85"/>
                <a:gd name="T6" fmla="*/ 48 w 51"/>
                <a:gd name="T7" fmla="*/ 59 h 85"/>
                <a:gd name="T8" fmla="*/ 46 w 51"/>
                <a:gd name="T9" fmla="*/ 52 h 85"/>
                <a:gd name="T10" fmla="*/ 44 w 51"/>
                <a:gd name="T11" fmla="*/ 45 h 85"/>
                <a:gd name="T12" fmla="*/ 42 w 51"/>
                <a:gd name="T13" fmla="*/ 37 h 85"/>
                <a:gd name="T14" fmla="*/ 39 w 51"/>
                <a:gd name="T15" fmla="*/ 31 h 85"/>
                <a:gd name="T16" fmla="*/ 36 w 51"/>
                <a:gd name="T17" fmla="*/ 26 h 85"/>
                <a:gd name="T18" fmla="*/ 32 w 51"/>
                <a:gd name="T19" fmla="*/ 19 h 85"/>
                <a:gd name="T20" fmla="*/ 28 w 51"/>
                <a:gd name="T21" fmla="*/ 15 h 85"/>
                <a:gd name="T22" fmla="*/ 24 w 51"/>
                <a:gd name="T23" fmla="*/ 11 h 85"/>
                <a:gd name="T24" fmla="*/ 20 w 51"/>
                <a:gd name="T25" fmla="*/ 7 h 85"/>
                <a:gd name="T26" fmla="*/ 15 w 51"/>
                <a:gd name="T27" fmla="*/ 5 h 85"/>
                <a:gd name="T28" fmla="*/ 11 w 51"/>
                <a:gd name="T29" fmla="*/ 3 h 85"/>
                <a:gd name="T30" fmla="*/ 5 w 51"/>
                <a:gd name="T31" fmla="*/ 1 h 85"/>
                <a:gd name="T32" fmla="*/ 0 w 51"/>
                <a:gd name="T33" fmla="*/ 0 h 85"/>
                <a:gd name="T34" fmla="*/ 0 w 51"/>
                <a:gd name="T35" fmla="*/ 0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1"/>
                <a:gd name="T55" fmla="*/ 0 h 85"/>
                <a:gd name="T56" fmla="*/ 51 w 51"/>
                <a:gd name="T57" fmla="*/ 85 h 8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1" h="85">
                  <a:moveTo>
                    <a:pt x="51" y="85"/>
                  </a:moveTo>
                  <a:lnTo>
                    <a:pt x="51" y="76"/>
                  </a:lnTo>
                  <a:lnTo>
                    <a:pt x="50" y="68"/>
                  </a:lnTo>
                  <a:lnTo>
                    <a:pt x="48" y="59"/>
                  </a:lnTo>
                  <a:lnTo>
                    <a:pt x="46" y="52"/>
                  </a:lnTo>
                  <a:lnTo>
                    <a:pt x="44" y="45"/>
                  </a:lnTo>
                  <a:lnTo>
                    <a:pt x="42" y="37"/>
                  </a:lnTo>
                  <a:lnTo>
                    <a:pt x="39" y="31"/>
                  </a:lnTo>
                  <a:lnTo>
                    <a:pt x="36" y="26"/>
                  </a:lnTo>
                  <a:lnTo>
                    <a:pt x="32" y="19"/>
                  </a:lnTo>
                  <a:lnTo>
                    <a:pt x="28" y="15"/>
                  </a:lnTo>
                  <a:lnTo>
                    <a:pt x="24" y="11"/>
                  </a:lnTo>
                  <a:lnTo>
                    <a:pt x="20" y="7"/>
                  </a:lnTo>
                  <a:lnTo>
                    <a:pt x="15" y="5"/>
                  </a:lnTo>
                  <a:lnTo>
                    <a:pt x="11" y="3"/>
                  </a:lnTo>
                  <a:lnTo>
                    <a:pt x="5" y="1"/>
                  </a:lnTo>
                  <a:lnTo>
                    <a:pt x="0"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108" name="Freeform 52"/>
            <p:cNvSpPr/>
            <p:nvPr/>
          </p:nvSpPr>
          <p:spPr bwMode="auto">
            <a:xfrm>
              <a:off x="3921" y="963"/>
              <a:ext cx="34" cy="51"/>
            </a:xfrm>
            <a:custGeom>
              <a:avLst/>
              <a:gdLst>
                <a:gd name="T0" fmla="*/ 34 w 34"/>
                <a:gd name="T1" fmla="*/ 51 h 51"/>
                <a:gd name="T2" fmla="*/ 34 w 34"/>
                <a:gd name="T3" fmla="*/ 45 h 51"/>
                <a:gd name="T4" fmla="*/ 33 w 34"/>
                <a:gd name="T5" fmla="*/ 40 h 51"/>
                <a:gd name="T6" fmla="*/ 33 w 34"/>
                <a:gd name="T7" fmla="*/ 36 h 51"/>
                <a:gd name="T8" fmla="*/ 32 w 34"/>
                <a:gd name="T9" fmla="*/ 31 h 51"/>
                <a:gd name="T10" fmla="*/ 30 w 34"/>
                <a:gd name="T11" fmla="*/ 27 h 51"/>
                <a:gd name="T12" fmla="*/ 29 w 34"/>
                <a:gd name="T13" fmla="*/ 22 h 51"/>
                <a:gd name="T14" fmla="*/ 26 w 34"/>
                <a:gd name="T15" fmla="*/ 18 h 51"/>
                <a:gd name="T16" fmla="*/ 24 w 34"/>
                <a:gd name="T17" fmla="*/ 15 h 51"/>
                <a:gd name="T18" fmla="*/ 22 w 34"/>
                <a:gd name="T19" fmla="*/ 12 h 51"/>
                <a:gd name="T20" fmla="*/ 20 w 34"/>
                <a:gd name="T21" fmla="*/ 9 h 51"/>
                <a:gd name="T22" fmla="*/ 18 w 34"/>
                <a:gd name="T23" fmla="*/ 7 h 51"/>
                <a:gd name="T24" fmla="*/ 15 w 34"/>
                <a:gd name="T25" fmla="*/ 4 h 51"/>
                <a:gd name="T26" fmla="*/ 12 w 34"/>
                <a:gd name="T27" fmla="*/ 2 h 51"/>
                <a:gd name="T28" fmla="*/ 10 w 34"/>
                <a:gd name="T29" fmla="*/ 1 h 51"/>
                <a:gd name="T30" fmla="*/ 6 w 34"/>
                <a:gd name="T31" fmla="*/ 0 h 51"/>
                <a:gd name="T32" fmla="*/ 3 w 34"/>
                <a:gd name="T33" fmla="*/ 0 h 51"/>
                <a:gd name="T34" fmla="*/ 0 w 34"/>
                <a:gd name="T35" fmla="*/ 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4"/>
                <a:gd name="T55" fmla="*/ 0 h 51"/>
                <a:gd name="T56" fmla="*/ 34 w 34"/>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4" h="51">
                  <a:moveTo>
                    <a:pt x="34" y="51"/>
                  </a:moveTo>
                  <a:lnTo>
                    <a:pt x="34" y="45"/>
                  </a:lnTo>
                  <a:lnTo>
                    <a:pt x="33" y="40"/>
                  </a:lnTo>
                  <a:lnTo>
                    <a:pt x="33" y="36"/>
                  </a:lnTo>
                  <a:lnTo>
                    <a:pt x="32" y="31"/>
                  </a:lnTo>
                  <a:lnTo>
                    <a:pt x="30" y="27"/>
                  </a:lnTo>
                  <a:lnTo>
                    <a:pt x="29" y="22"/>
                  </a:lnTo>
                  <a:lnTo>
                    <a:pt x="26" y="18"/>
                  </a:lnTo>
                  <a:lnTo>
                    <a:pt x="24" y="15"/>
                  </a:lnTo>
                  <a:lnTo>
                    <a:pt x="22" y="12"/>
                  </a:lnTo>
                  <a:lnTo>
                    <a:pt x="20" y="9"/>
                  </a:lnTo>
                  <a:lnTo>
                    <a:pt x="18" y="7"/>
                  </a:lnTo>
                  <a:lnTo>
                    <a:pt x="15" y="4"/>
                  </a:lnTo>
                  <a:lnTo>
                    <a:pt x="12" y="2"/>
                  </a:lnTo>
                  <a:lnTo>
                    <a:pt x="10" y="1"/>
                  </a:lnTo>
                  <a:lnTo>
                    <a:pt x="6" y="0"/>
                  </a:lnTo>
                  <a:lnTo>
                    <a:pt x="3" y="0"/>
                  </a:lnTo>
                  <a:lnTo>
                    <a:pt x="0" y="0"/>
                  </a:lnTo>
                </a:path>
              </a:pathLst>
            </a:custGeom>
            <a:noFill/>
            <a:ln w="127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109" name="Rectangle 53"/>
            <p:cNvSpPr>
              <a:spLocks noChangeArrowheads="1"/>
            </p:cNvSpPr>
            <p:nvPr/>
          </p:nvSpPr>
          <p:spPr bwMode="auto">
            <a:xfrm>
              <a:off x="3401" y="713"/>
              <a:ext cx="5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1300" i="1">
                  <a:solidFill>
                    <a:srgbClr val="000000"/>
                  </a:solidFill>
                </a:rPr>
                <a:t>i</a:t>
              </a:r>
              <a:endParaRPr lang="en-US" altLang="zh-CN"/>
            </a:p>
          </p:txBody>
        </p:sp>
        <p:sp>
          <p:nvSpPr>
            <p:cNvPr id="45110" name="Rectangle 54"/>
            <p:cNvSpPr>
              <a:spLocks noChangeArrowheads="1"/>
            </p:cNvSpPr>
            <p:nvPr/>
          </p:nvSpPr>
          <p:spPr bwMode="auto">
            <a:xfrm>
              <a:off x="3282" y="572"/>
              <a:ext cx="11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i="1">
                  <a:solidFill>
                    <a:srgbClr val="000000"/>
                  </a:solidFill>
                  <a:latin typeface="Symbol" panose="05050102010706020507" pitchFamily="18" charset="2"/>
                </a:rPr>
                <a:t>q</a:t>
              </a:r>
              <a:endParaRPr lang="en-US" altLang="zh-CN"/>
            </a:p>
          </p:txBody>
        </p:sp>
        <p:sp>
          <p:nvSpPr>
            <p:cNvPr id="45111" name="Line 55"/>
            <p:cNvSpPr>
              <a:spLocks noChangeShapeType="1"/>
            </p:cNvSpPr>
            <p:nvPr/>
          </p:nvSpPr>
          <p:spPr bwMode="auto">
            <a:xfrm flipH="1" flipV="1">
              <a:off x="3450" y="745"/>
              <a:ext cx="488" cy="23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12" name="Rectangle 56"/>
            <p:cNvSpPr>
              <a:spLocks noChangeArrowheads="1"/>
            </p:cNvSpPr>
            <p:nvPr/>
          </p:nvSpPr>
          <p:spPr bwMode="auto">
            <a:xfrm>
              <a:off x="4814" y="2078"/>
              <a:ext cx="11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solidFill>
                    <a:srgbClr val="000000"/>
                  </a:solidFill>
                </a:rPr>
                <a:t>0</a:t>
              </a:r>
              <a:endParaRPr lang="en-US" altLang="zh-CN"/>
            </a:p>
          </p:txBody>
        </p:sp>
        <p:sp>
          <p:nvSpPr>
            <p:cNvPr id="45113" name="Line 57"/>
            <p:cNvSpPr>
              <a:spLocks noChangeShapeType="1"/>
            </p:cNvSpPr>
            <p:nvPr/>
          </p:nvSpPr>
          <p:spPr bwMode="auto">
            <a:xfrm flipV="1">
              <a:off x="3787" y="401"/>
              <a:ext cx="1072" cy="613"/>
            </a:xfrm>
            <a:prstGeom prst="line">
              <a:avLst/>
            </a:prstGeom>
            <a:noFill/>
            <a:ln w="23813">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14" name="Freeform 58"/>
            <p:cNvSpPr/>
            <p:nvPr/>
          </p:nvSpPr>
          <p:spPr bwMode="auto">
            <a:xfrm>
              <a:off x="4827" y="341"/>
              <a:ext cx="137" cy="104"/>
            </a:xfrm>
            <a:custGeom>
              <a:avLst/>
              <a:gdLst>
                <a:gd name="T0" fmla="*/ 0 w 137"/>
                <a:gd name="T1" fmla="*/ 27 h 104"/>
                <a:gd name="T2" fmla="*/ 137 w 137"/>
                <a:gd name="T3" fmla="*/ 0 h 104"/>
                <a:gd name="T4" fmla="*/ 44 w 137"/>
                <a:gd name="T5" fmla="*/ 104 h 104"/>
                <a:gd name="T6" fmla="*/ 0 w 137"/>
                <a:gd name="T7" fmla="*/ 27 h 104"/>
                <a:gd name="T8" fmla="*/ 0 60000 65536"/>
                <a:gd name="T9" fmla="*/ 0 60000 65536"/>
                <a:gd name="T10" fmla="*/ 0 60000 65536"/>
                <a:gd name="T11" fmla="*/ 0 60000 65536"/>
                <a:gd name="T12" fmla="*/ 0 w 137"/>
                <a:gd name="T13" fmla="*/ 0 h 104"/>
                <a:gd name="T14" fmla="*/ 137 w 137"/>
                <a:gd name="T15" fmla="*/ 104 h 104"/>
              </a:gdLst>
              <a:ahLst/>
              <a:cxnLst>
                <a:cxn ang="T8">
                  <a:pos x="T0" y="T1"/>
                </a:cxn>
                <a:cxn ang="T9">
                  <a:pos x="T2" y="T3"/>
                </a:cxn>
                <a:cxn ang="T10">
                  <a:pos x="T4" y="T5"/>
                </a:cxn>
                <a:cxn ang="T11">
                  <a:pos x="T6" y="T7"/>
                </a:cxn>
              </a:cxnLst>
              <a:rect l="T12" t="T13" r="T14" b="T15"/>
              <a:pathLst>
                <a:path w="137" h="104">
                  <a:moveTo>
                    <a:pt x="0" y="27"/>
                  </a:moveTo>
                  <a:lnTo>
                    <a:pt x="137" y="0"/>
                  </a:lnTo>
                  <a:lnTo>
                    <a:pt x="44" y="104"/>
                  </a:lnTo>
                  <a:lnTo>
                    <a:pt x="0" y="27"/>
                  </a:lnTo>
                  <a:close/>
                </a:path>
              </a:pathLst>
            </a:custGeom>
            <a:solidFill>
              <a:srgbClr val="000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5115" name="Line 59"/>
            <p:cNvSpPr>
              <a:spLocks noChangeShapeType="1"/>
            </p:cNvSpPr>
            <p:nvPr/>
          </p:nvSpPr>
          <p:spPr bwMode="auto">
            <a:xfrm flipV="1">
              <a:off x="3618" y="427"/>
              <a:ext cx="1260" cy="1260"/>
            </a:xfrm>
            <a:prstGeom prst="line">
              <a:avLst/>
            </a:prstGeom>
            <a:noFill/>
            <a:ln w="23813">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116" name="Freeform 60"/>
            <p:cNvSpPr/>
            <p:nvPr/>
          </p:nvSpPr>
          <p:spPr bwMode="auto">
            <a:xfrm>
              <a:off x="4839" y="341"/>
              <a:ext cx="125" cy="125"/>
            </a:xfrm>
            <a:custGeom>
              <a:avLst/>
              <a:gdLst>
                <a:gd name="T0" fmla="*/ 0 w 125"/>
                <a:gd name="T1" fmla="*/ 63 h 125"/>
                <a:gd name="T2" fmla="*/ 125 w 125"/>
                <a:gd name="T3" fmla="*/ 0 h 125"/>
                <a:gd name="T4" fmla="*/ 62 w 125"/>
                <a:gd name="T5" fmla="*/ 125 h 125"/>
                <a:gd name="T6" fmla="*/ 0 w 125"/>
                <a:gd name="T7" fmla="*/ 63 h 125"/>
                <a:gd name="T8" fmla="*/ 0 60000 65536"/>
                <a:gd name="T9" fmla="*/ 0 60000 65536"/>
                <a:gd name="T10" fmla="*/ 0 60000 65536"/>
                <a:gd name="T11" fmla="*/ 0 60000 65536"/>
                <a:gd name="T12" fmla="*/ 0 w 125"/>
                <a:gd name="T13" fmla="*/ 0 h 125"/>
                <a:gd name="T14" fmla="*/ 125 w 125"/>
                <a:gd name="T15" fmla="*/ 125 h 125"/>
              </a:gdLst>
              <a:ahLst/>
              <a:cxnLst>
                <a:cxn ang="T8">
                  <a:pos x="T0" y="T1"/>
                </a:cxn>
                <a:cxn ang="T9">
                  <a:pos x="T2" y="T3"/>
                </a:cxn>
                <a:cxn ang="T10">
                  <a:pos x="T4" y="T5"/>
                </a:cxn>
                <a:cxn ang="T11">
                  <a:pos x="T6" y="T7"/>
                </a:cxn>
              </a:cxnLst>
              <a:rect l="T12" t="T13" r="T14" b="T15"/>
              <a:pathLst>
                <a:path w="125" h="125">
                  <a:moveTo>
                    <a:pt x="0" y="63"/>
                  </a:moveTo>
                  <a:lnTo>
                    <a:pt x="125" y="0"/>
                  </a:lnTo>
                  <a:lnTo>
                    <a:pt x="62" y="125"/>
                  </a:lnTo>
                  <a:lnTo>
                    <a:pt x="0" y="6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0" name="日期占位符 59"/>
          <p:cNvSpPr>
            <a:spLocks noGrp="1"/>
          </p:cNvSpPr>
          <p:nvPr>
            <p:ph type="dt" sz="quarter" idx="10"/>
          </p:nvPr>
        </p:nvSpPr>
        <p:spPr/>
        <p:txBody>
          <a:bodyPr/>
          <a:lstStyle/>
          <a:p>
            <a:pPr>
              <a:defRPr/>
            </a:pPr>
            <a:fld id="{15527514-2EC1-45FD-B0DB-49DAA55971B7}" type="datetime1">
              <a:rPr lang="zh-CN" altLang="en-US"/>
              <a:t>2026/4/28</a:t>
            </a:fld>
            <a:endParaRPr lang="en-US" altLang="zh-CN" dirty="0"/>
          </a:p>
        </p:txBody>
      </p:sp>
      <p:sp>
        <p:nvSpPr>
          <p:cNvPr id="3" name="矩形 2"/>
          <p:cNvSpPr>
            <a:spLocks noRot="1" noChangeAspect="1" noMove="1" noResize="1" noEditPoints="1" noAdjustHandles="1" noChangeArrowheads="1" noChangeShapeType="1" noTextEdit="1"/>
          </p:cNvSpPr>
          <p:nvPr/>
        </p:nvSpPr>
        <p:spPr>
          <a:xfrm>
            <a:off x="485826" y="1308204"/>
            <a:ext cx="1238993" cy="606833"/>
          </a:xfrm>
          <a:prstGeom prst="rect">
            <a:avLst/>
          </a:prstGeom>
          <a:blipFill>
            <a:blip r:embed="rId27"/>
            <a:stretch>
              <a:fillRect/>
            </a:stretch>
          </a:blipFill>
        </p:spPr>
        <p:txBody>
          <a:bodyPr/>
          <a:lstStyle/>
          <a:p>
            <a:pPr>
              <a:defRPr/>
            </a:pPr>
            <a:r>
              <a:rPr lang="zh-CN" altLang="en-US">
                <a:noFill/>
                <a:latin typeface="黑体" panose="02010609060101010101" pitchFamily="49" charset="-122"/>
                <a:ea typeface="黑体" panose="02010609060101010101" pitchFamily="49" charset="-122"/>
              </a:rPr>
              <a:t> </a:t>
            </a:r>
          </a:p>
        </p:txBody>
      </p:sp>
      <p:sp>
        <p:nvSpPr>
          <p:cNvPr id="4" name="矩形 3"/>
          <p:cNvSpPr>
            <a:spLocks noRot="1" noChangeAspect="1" noMove="1" noResize="1" noEditPoints="1" noAdjustHandles="1" noChangeArrowheads="1" noChangeShapeType="1" noTextEdit="1"/>
          </p:cNvSpPr>
          <p:nvPr/>
        </p:nvSpPr>
        <p:spPr>
          <a:xfrm>
            <a:off x="1436608" y="1317245"/>
            <a:ext cx="1597489" cy="537135"/>
          </a:xfrm>
          <a:prstGeom prst="rect">
            <a:avLst/>
          </a:prstGeom>
          <a:blipFill>
            <a:blip r:embed="rId28"/>
            <a:stretch>
              <a:fillRect/>
            </a:stretch>
          </a:blipFill>
        </p:spPr>
        <p:txBody>
          <a:bodyPr/>
          <a:lstStyle/>
          <a:p>
            <a:pPr>
              <a:defRPr/>
            </a:pPr>
            <a:r>
              <a:rPr lang="zh-CN" altLang="en-US">
                <a:noFill/>
                <a:latin typeface="黑体" panose="02010609060101010101" pitchFamily="49" charset="-122"/>
                <a:ea typeface="黑体" panose="02010609060101010101" pitchFamily="49" charset="-122"/>
              </a:rPr>
              <a:t> </a:t>
            </a:r>
          </a:p>
        </p:txBody>
      </p:sp>
      <p:sp>
        <p:nvSpPr>
          <p:cNvPr id="63" name="文本框 62"/>
          <p:cNvSpPr txBox="1">
            <a:spLocks noRot="1" noChangeAspect="1" noMove="1" noResize="1" noEditPoints="1" noAdjustHandles="1" noChangeArrowheads="1" noChangeShapeType="1" noTextEdit="1"/>
          </p:cNvSpPr>
          <p:nvPr/>
        </p:nvSpPr>
        <p:spPr>
          <a:xfrm>
            <a:off x="411532" y="2560360"/>
            <a:ext cx="4939447" cy="751681"/>
          </a:xfrm>
          <a:prstGeom prst="rect">
            <a:avLst/>
          </a:prstGeom>
          <a:blipFill>
            <a:blip r:embed="rId29"/>
            <a:stretch>
              <a:fillRect b="-5691"/>
            </a:stretch>
          </a:blipFill>
        </p:spPr>
        <p:txBody>
          <a:bodyPr/>
          <a:lstStyle/>
          <a:p>
            <a:pPr>
              <a:defRPr/>
            </a:pPr>
            <a:r>
              <a:rPr lang="zh-CN" altLang="en-US">
                <a:noFill/>
                <a:latin typeface="黑体" panose="02010609060101010101" pitchFamily="49" charset="-122"/>
                <a:ea typeface="黑体" panose="02010609060101010101" pitchFamily="49" charset="-122"/>
              </a:rPr>
              <a:t> </a:t>
            </a:r>
          </a:p>
        </p:txBody>
      </p:sp>
      <p:sp>
        <p:nvSpPr>
          <p:cNvPr id="5" name="矩形 4"/>
          <p:cNvSpPr>
            <a:spLocks noRot="1" noChangeAspect="1" noMove="1" noResize="1" noEditPoints="1" noAdjustHandles="1" noChangeArrowheads="1" noChangeShapeType="1" noTextEdit="1"/>
          </p:cNvSpPr>
          <p:nvPr/>
        </p:nvSpPr>
        <p:spPr>
          <a:xfrm>
            <a:off x="1076082" y="3840113"/>
            <a:ext cx="4572000" cy="1297278"/>
          </a:xfrm>
          <a:prstGeom prst="rect">
            <a:avLst/>
          </a:prstGeom>
          <a:blipFill>
            <a:blip r:embed="rId30"/>
            <a:stretch>
              <a:fillRect/>
            </a:stretch>
          </a:blipFill>
        </p:spPr>
        <p:txBody>
          <a:bodyPr/>
          <a:lstStyle/>
          <a:p>
            <a:pPr>
              <a:defRPr/>
            </a:pPr>
            <a:r>
              <a:rPr lang="zh-CN" altLang="en-US">
                <a:noFill/>
                <a:latin typeface="黑体" panose="02010609060101010101" pitchFamily="49" charset="-122"/>
                <a:ea typeface="黑体" panose="02010609060101010101" pitchFamily="49" charset="-122"/>
              </a:rPr>
              <a:t> </a:t>
            </a:r>
          </a:p>
        </p:txBody>
      </p:sp>
      <p:sp>
        <p:nvSpPr>
          <p:cNvPr id="66" name="矩形 65"/>
          <p:cNvSpPr>
            <a:spLocks noRot="1" noChangeAspect="1" noMove="1" noResize="1" noEditPoints="1" noAdjustHandles="1" noChangeArrowheads="1" noChangeShapeType="1" noTextEdit="1"/>
          </p:cNvSpPr>
          <p:nvPr/>
        </p:nvSpPr>
        <p:spPr>
          <a:xfrm>
            <a:off x="425416" y="5018257"/>
            <a:ext cx="2915770" cy="759119"/>
          </a:xfrm>
          <a:prstGeom prst="rect">
            <a:avLst/>
          </a:prstGeom>
          <a:blipFill>
            <a:blip r:embed="rId31"/>
            <a:stretch>
              <a:fillRect/>
            </a:stretch>
          </a:blipFill>
        </p:spPr>
        <p:txBody>
          <a:bodyPr/>
          <a:lstStyle/>
          <a:p>
            <a:pPr>
              <a:defRPr/>
            </a:pPr>
            <a:r>
              <a:rPr lang="zh-CN" altLang="en-US">
                <a:noFill/>
                <a:latin typeface="黑体" panose="02010609060101010101" pitchFamily="49" charset="-122"/>
                <a:ea typeface="黑体" panose="02010609060101010101" pitchFamily="49" charset="-122"/>
              </a:rPr>
              <a:t> </a:t>
            </a:r>
          </a:p>
        </p:txBody>
      </p:sp>
      <p:sp>
        <p:nvSpPr>
          <p:cNvPr id="7" name="文本框 6"/>
          <p:cNvSpPr txBox="1">
            <a:spLocks noRot="1" noChangeAspect="1" noMove="1" noResize="1" noEditPoints="1" noAdjustHandles="1" noChangeArrowheads="1" noChangeShapeType="1" noTextEdit="1"/>
          </p:cNvSpPr>
          <p:nvPr/>
        </p:nvSpPr>
        <p:spPr>
          <a:xfrm>
            <a:off x="3820925" y="5029152"/>
            <a:ext cx="4813369" cy="861774"/>
          </a:xfrm>
          <a:prstGeom prst="rect">
            <a:avLst/>
          </a:prstGeom>
          <a:blipFill>
            <a:blip r:embed="rId32"/>
            <a:stretch>
              <a:fillRect t="-14894"/>
            </a:stretch>
          </a:blipFill>
        </p:spPr>
        <p:txBody>
          <a:bodyPr/>
          <a:lstStyle/>
          <a:p>
            <a:pPr>
              <a:defRPr/>
            </a:pPr>
            <a:r>
              <a:rPr lang="zh-CN" altLang="en-US">
                <a:noFill/>
                <a:latin typeface="黑体" panose="02010609060101010101" pitchFamily="49" charset="-122"/>
                <a:ea typeface="黑体" panose="02010609060101010101" pitchFamily="49" charset="-122"/>
              </a:rPr>
              <a:t> </a:t>
            </a:r>
          </a:p>
        </p:txBody>
      </p:sp>
      <p:sp>
        <p:nvSpPr>
          <p:cNvPr id="6" name="墨迹 5"/>
          <p:cNvSpPr/>
          <p:nvPr/>
        </p:nvSpPr>
        <p:spPr bwMode="auto">
          <a:xfrm>
            <a:off x="451800" y="1828800"/>
            <a:ext cx="6863760" cy="3914280"/>
          </a:xfrm>
        </p:spPr>
      </p:sp>
    </p:spTree>
    <p:custDataLst>
      <p:tags r:id="rId1"/>
    </p:custDataLst>
  </p:cSld>
  <p:clrMapOvr>
    <a:masterClrMapping/>
  </p:clrMapOvr>
  <p:transition spd="med" advTm="87864">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par>
                          <p:cTn id="8" fill="hold">
                            <p:stCondLst>
                              <p:cond delay="0"/>
                            </p:stCondLst>
                            <p:childTnLst>
                              <p:par>
                                <p:cTn id="9" presetID="22" presetClass="entr" presetSubtype="8" fill="hold" grpId="0" nodeType="afterEffect">
                                  <p:stCondLst>
                                    <p:cond delay="0"/>
                                  </p:stCondLst>
                                  <p:childTnLst>
                                    <p:set>
                                      <p:cBhvr>
                                        <p:cTn id="10" dur="1" fill="hold">
                                          <p:stCondLst>
                                            <p:cond delay="0"/>
                                          </p:stCondLst>
                                        </p:cTn>
                                        <p:tgtEl>
                                          <p:spTgt spid="510978">
                                            <p:txEl>
                                              <p:pRg st="0" end="0"/>
                                            </p:txEl>
                                          </p:spTgt>
                                        </p:tgtEl>
                                        <p:attrNameLst>
                                          <p:attrName>style.visibility</p:attrName>
                                        </p:attrNameLst>
                                      </p:cBhvr>
                                      <p:to>
                                        <p:strVal val="visible"/>
                                      </p:to>
                                    </p:set>
                                    <p:animEffect transition="in" filter="wipe(left)">
                                      <p:cBhvr>
                                        <p:cTn id="11" dur="500"/>
                                        <p:tgtEl>
                                          <p:spTgt spid="510978">
                                            <p:txEl>
                                              <p:pRg st="0" end="0"/>
                                            </p:txEl>
                                          </p:spTgt>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510999"/>
                                        </p:tgtEl>
                                        <p:attrNameLst>
                                          <p:attrName>style.visibility</p:attrName>
                                        </p:attrNameLst>
                                      </p:cBhvr>
                                      <p:to>
                                        <p:strVal val="visible"/>
                                      </p:to>
                                    </p:set>
                                    <p:animEffect transition="in" filter="wipe(left)">
                                      <p:cBhvr>
                                        <p:cTn id="15" dur="500"/>
                                        <p:tgtEl>
                                          <p:spTgt spid="510999"/>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511000">
                                            <p:txEl>
                                              <p:pRg st="0" end="0"/>
                                            </p:txEl>
                                          </p:spTgt>
                                        </p:tgtEl>
                                        <p:attrNameLst>
                                          <p:attrName>style.visibility</p:attrName>
                                        </p:attrNameLst>
                                      </p:cBhvr>
                                      <p:to>
                                        <p:strVal val="visible"/>
                                      </p:to>
                                    </p:set>
                                    <p:animEffect transition="in" filter="wipe(left)">
                                      <p:cBhvr>
                                        <p:cTn id="19" dur="500"/>
                                        <p:tgtEl>
                                          <p:spTgt spid="511000">
                                            <p:txEl>
                                              <p:pRg st="0" end="0"/>
                                            </p:txEl>
                                          </p:spTgt>
                                        </p:tgtEl>
                                      </p:cBhvr>
                                    </p:animEffect>
                                  </p:childTnLst>
                                </p:cTn>
                              </p:par>
                            </p:childTnLst>
                          </p:cTn>
                        </p:par>
                        <p:par>
                          <p:cTn id="20" fill="hold">
                            <p:stCondLst>
                              <p:cond delay="1500"/>
                            </p:stCondLst>
                            <p:childTnLst>
                              <p:par>
                                <p:cTn id="21" presetID="22" presetClass="exit" presetSubtype="4" fill="hold" nodeType="afterEffect">
                                  <p:stCondLst>
                                    <p:cond delay="0"/>
                                  </p:stCondLst>
                                  <p:childTnLst>
                                    <p:animEffect transition="out" filter="wipe(down)">
                                      <p:cBhvr>
                                        <p:cTn id="22" dur="500"/>
                                        <p:tgtEl>
                                          <p:spTgt spid="2"/>
                                        </p:tgtEl>
                                      </p:cBhvr>
                                    </p:animEffect>
                                    <p:set>
                                      <p:cBhvr>
                                        <p:cTn id="23" dur="1" fill="hold">
                                          <p:stCondLst>
                                            <p:cond delay="499"/>
                                          </p:stCondLst>
                                        </p:cTn>
                                        <p:tgtEl>
                                          <p:spTgt spid="2"/>
                                        </p:tgtEl>
                                        <p:attrNameLst>
                                          <p:attrName>style.visibility</p:attrName>
                                        </p:attrNameLst>
                                      </p:cBhvr>
                                      <p:to>
                                        <p:strVal val="hidden"/>
                                      </p:to>
                                    </p:set>
                                  </p:childTnLst>
                                </p:cTn>
                              </p:par>
                            </p:childTnLst>
                          </p:cTn>
                        </p:par>
                        <p:par>
                          <p:cTn id="24" fill="hold">
                            <p:stCondLst>
                              <p:cond delay="2000"/>
                            </p:stCondLst>
                            <p:childTnLst>
                              <p:par>
                                <p:cTn id="25" presetID="1" presetClass="entr" presetSubtype="0" fill="hold" nodeType="afterEffect">
                                  <p:stCondLst>
                                    <p:cond delay="0"/>
                                  </p:stCondLst>
                                  <p:childTnLst>
                                    <p:set>
                                      <p:cBhvr>
                                        <p:cTn id="26" dur="1" fill="hold">
                                          <p:stCondLst>
                                            <p:cond delay="499"/>
                                          </p:stCondLst>
                                        </p:cTn>
                                        <p:tgtEl>
                                          <p:spTgt spid="510979"/>
                                        </p:tgtEl>
                                        <p:attrNameLst>
                                          <p:attrName>style.visibility</p:attrName>
                                        </p:attrNameLst>
                                      </p:cBhvr>
                                      <p:to>
                                        <p:strVal val="visible"/>
                                      </p:to>
                                    </p:set>
                                  </p:childTnLst>
                                  <p:subTnLst>
                                    <p:set>
                                      <p:cBhvr override="childStyle">
                                        <p:cTn dur="1" fill="hold" display="0" masterRel="nextClick" afterEffect="1"/>
                                        <p:tgtEl>
                                          <p:spTgt spid="510979"/>
                                        </p:tgtEl>
                                        <p:attrNameLst>
                                          <p:attrName>style.visibility</p:attrName>
                                        </p:attrNameLst>
                                      </p:cBhvr>
                                      <p:to>
                                        <p:strVal val="hidden"/>
                                      </p:to>
                                    </p:set>
                                  </p:subTnLst>
                                </p:cTn>
                              </p:par>
                            </p:childTnLst>
                          </p:cTn>
                        </p:par>
                        <p:par>
                          <p:cTn id="27" fill="hold">
                            <p:stCondLst>
                              <p:cond delay="2500"/>
                            </p:stCondLst>
                            <p:childTnLst>
                              <p:par>
                                <p:cTn id="28" presetID="1" presetClass="entr" presetSubtype="0" fill="hold" nodeType="afterEffect">
                                  <p:stCondLst>
                                    <p:cond delay="1000"/>
                                  </p:stCondLst>
                                  <p:childTnLst>
                                    <p:set>
                                      <p:cBhvr>
                                        <p:cTn id="29" dur="1" fill="hold">
                                          <p:stCondLst>
                                            <p:cond delay="499"/>
                                          </p:stCondLst>
                                        </p:cTn>
                                        <p:tgtEl>
                                          <p:spTgt spid="510980"/>
                                        </p:tgtEl>
                                        <p:attrNameLst>
                                          <p:attrName>style.visibility</p:attrName>
                                        </p:attrNameLst>
                                      </p:cBhvr>
                                      <p:to>
                                        <p:strVal val="visible"/>
                                      </p:to>
                                    </p:set>
                                  </p:childTnLst>
                                  <p:subTnLst>
                                    <p:set>
                                      <p:cBhvr override="childStyle">
                                        <p:cTn dur="1" fill="hold" display="0" masterRel="nextClick" afterEffect="1"/>
                                        <p:tgtEl>
                                          <p:spTgt spid="510980"/>
                                        </p:tgtEl>
                                        <p:attrNameLst>
                                          <p:attrName>style.visibility</p:attrName>
                                        </p:attrNameLst>
                                      </p:cBhvr>
                                      <p:to>
                                        <p:strVal val="hidden"/>
                                      </p:to>
                                    </p:set>
                                  </p:subTnLst>
                                </p:cTn>
                              </p:par>
                            </p:childTnLst>
                          </p:cTn>
                        </p:par>
                        <p:par>
                          <p:cTn id="30" fill="hold">
                            <p:stCondLst>
                              <p:cond delay="4000"/>
                            </p:stCondLst>
                            <p:childTnLst>
                              <p:par>
                                <p:cTn id="31" presetID="1" presetClass="entr" presetSubtype="0" fill="hold" nodeType="afterEffect">
                                  <p:stCondLst>
                                    <p:cond delay="1000"/>
                                  </p:stCondLst>
                                  <p:childTnLst>
                                    <p:set>
                                      <p:cBhvr>
                                        <p:cTn id="32" dur="1" fill="hold">
                                          <p:stCondLst>
                                            <p:cond delay="499"/>
                                          </p:stCondLst>
                                        </p:cTn>
                                        <p:tgtEl>
                                          <p:spTgt spid="510981"/>
                                        </p:tgtEl>
                                        <p:attrNameLst>
                                          <p:attrName>style.visibility</p:attrName>
                                        </p:attrNameLst>
                                      </p:cBhvr>
                                      <p:to>
                                        <p:strVal val="visible"/>
                                      </p:to>
                                    </p:set>
                                  </p:childTnLst>
                                  <p:subTnLst>
                                    <p:set>
                                      <p:cBhvr override="childStyle">
                                        <p:cTn dur="1" fill="hold" display="0" masterRel="nextClick" afterEffect="1"/>
                                        <p:tgtEl>
                                          <p:spTgt spid="510981"/>
                                        </p:tgtEl>
                                        <p:attrNameLst>
                                          <p:attrName>style.visibility</p:attrName>
                                        </p:attrNameLst>
                                      </p:cBhvr>
                                      <p:to>
                                        <p:strVal val="hidden"/>
                                      </p:to>
                                    </p:set>
                                  </p:subTnLst>
                                </p:cTn>
                              </p:par>
                            </p:childTnLst>
                          </p:cTn>
                        </p:par>
                        <p:par>
                          <p:cTn id="33" fill="hold">
                            <p:stCondLst>
                              <p:cond delay="5500"/>
                            </p:stCondLst>
                            <p:childTnLst>
                              <p:par>
                                <p:cTn id="34" presetID="1" presetClass="entr" presetSubtype="0" fill="hold" nodeType="afterEffect">
                                  <p:stCondLst>
                                    <p:cond delay="1000"/>
                                  </p:stCondLst>
                                  <p:childTnLst>
                                    <p:set>
                                      <p:cBhvr>
                                        <p:cTn id="35" dur="1" fill="hold">
                                          <p:stCondLst>
                                            <p:cond delay="499"/>
                                          </p:stCondLst>
                                        </p:cTn>
                                        <p:tgtEl>
                                          <p:spTgt spid="510982"/>
                                        </p:tgtEl>
                                        <p:attrNameLst>
                                          <p:attrName>style.visibility</p:attrName>
                                        </p:attrNameLst>
                                      </p:cBhvr>
                                      <p:to>
                                        <p:strVal val="visible"/>
                                      </p:to>
                                    </p:set>
                                  </p:childTnLst>
                                  <p:subTnLst>
                                    <p:set>
                                      <p:cBhvr override="childStyle">
                                        <p:cTn dur="1" fill="hold" display="0" masterRel="nextClick" afterEffect="1"/>
                                        <p:tgtEl>
                                          <p:spTgt spid="510982"/>
                                        </p:tgtEl>
                                        <p:attrNameLst>
                                          <p:attrName>style.visibility</p:attrName>
                                        </p:attrNameLst>
                                      </p:cBhvr>
                                      <p:to>
                                        <p:strVal val="hidden"/>
                                      </p:to>
                                    </p:set>
                                  </p:subTnLst>
                                </p:cTn>
                              </p:par>
                            </p:childTnLst>
                          </p:cTn>
                        </p:par>
                        <p:par>
                          <p:cTn id="36" fill="hold">
                            <p:stCondLst>
                              <p:cond delay="7000"/>
                            </p:stCondLst>
                            <p:childTnLst>
                              <p:par>
                                <p:cTn id="37" presetID="1" presetClass="entr" presetSubtype="0" fill="hold" nodeType="afterEffect">
                                  <p:stCondLst>
                                    <p:cond delay="1000"/>
                                  </p:stCondLst>
                                  <p:childTnLst>
                                    <p:set>
                                      <p:cBhvr>
                                        <p:cTn id="38" dur="1" fill="hold">
                                          <p:stCondLst>
                                            <p:cond delay="499"/>
                                          </p:stCondLst>
                                        </p:cTn>
                                        <p:tgtEl>
                                          <p:spTgt spid="510983"/>
                                        </p:tgtEl>
                                        <p:attrNameLst>
                                          <p:attrName>style.visibility</p:attrName>
                                        </p:attrNameLst>
                                      </p:cBhvr>
                                      <p:to>
                                        <p:strVal val="visible"/>
                                      </p:to>
                                    </p:set>
                                  </p:childTnLst>
                                  <p:subTnLst>
                                    <p:set>
                                      <p:cBhvr override="childStyle">
                                        <p:cTn dur="1" fill="hold" display="0" masterRel="nextClick" afterEffect="1"/>
                                        <p:tgtEl>
                                          <p:spTgt spid="510983"/>
                                        </p:tgtEl>
                                        <p:attrNameLst>
                                          <p:attrName>style.visibility</p:attrName>
                                        </p:attrNameLst>
                                      </p:cBhvr>
                                      <p:to>
                                        <p:strVal val="hidden"/>
                                      </p:to>
                                    </p:set>
                                  </p:subTnLst>
                                </p:cTn>
                              </p:par>
                            </p:childTnLst>
                          </p:cTn>
                        </p:par>
                        <p:par>
                          <p:cTn id="39" fill="hold">
                            <p:stCondLst>
                              <p:cond delay="8500"/>
                            </p:stCondLst>
                            <p:childTnLst>
                              <p:par>
                                <p:cTn id="40" presetID="1" presetClass="entr" presetSubtype="0" fill="hold" nodeType="afterEffect">
                                  <p:stCondLst>
                                    <p:cond delay="1000"/>
                                  </p:stCondLst>
                                  <p:childTnLst>
                                    <p:set>
                                      <p:cBhvr>
                                        <p:cTn id="41" dur="1" fill="hold">
                                          <p:stCondLst>
                                            <p:cond delay="499"/>
                                          </p:stCondLst>
                                        </p:cTn>
                                        <p:tgtEl>
                                          <p:spTgt spid="510984"/>
                                        </p:tgtEl>
                                        <p:attrNameLst>
                                          <p:attrName>style.visibility</p:attrName>
                                        </p:attrNameLst>
                                      </p:cBhvr>
                                      <p:to>
                                        <p:strVal val="visible"/>
                                      </p:to>
                                    </p:set>
                                  </p:childTnLst>
                                  <p:subTnLst>
                                    <p:set>
                                      <p:cBhvr override="childStyle">
                                        <p:cTn dur="1" fill="hold" display="0" masterRel="nextClick" afterEffect="1"/>
                                        <p:tgtEl>
                                          <p:spTgt spid="510984"/>
                                        </p:tgtEl>
                                        <p:attrNameLst>
                                          <p:attrName>style.visibility</p:attrName>
                                        </p:attrNameLst>
                                      </p:cBhvr>
                                      <p:to>
                                        <p:strVal val="hidden"/>
                                      </p:to>
                                    </p:set>
                                  </p:subTnLst>
                                </p:cTn>
                              </p:par>
                            </p:childTnLst>
                          </p:cTn>
                        </p:par>
                        <p:par>
                          <p:cTn id="42" fill="hold">
                            <p:stCondLst>
                              <p:cond delay="10000"/>
                            </p:stCondLst>
                            <p:childTnLst>
                              <p:par>
                                <p:cTn id="43" presetID="1" presetClass="entr" presetSubtype="0" fill="hold" nodeType="afterEffect">
                                  <p:stCondLst>
                                    <p:cond delay="1000"/>
                                  </p:stCondLst>
                                  <p:childTnLst>
                                    <p:set>
                                      <p:cBhvr>
                                        <p:cTn id="44" dur="1" fill="hold">
                                          <p:stCondLst>
                                            <p:cond delay="499"/>
                                          </p:stCondLst>
                                        </p:cTn>
                                        <p:tgtEl>
                                          <p:spTgt spid="510985"/>
                                        </p:tgtEl>
                                        <p:attrNameLst>
                                          <p:attrName>style.visibility</p:attrName>
                                        </p:attrNameLst>
                                      </p:cBhvr>
                                      <p:to>
                                        <p:strVal val="visible"/>
                                      </p:to>
                                    </p:set>
                                  </p:childTnLst>
                                  <p:subTnLst>
                                    <p:set>
                                      <p:cBhvr override="childStyle">
                                        <p:cTn dur="1" fill="hold" display="0" masterRel="nextClick" afterEffect="1"/>
                                        <p:tgtEl>
                                          <p:spTgt spid="510985"/>
                                        </p:tgtEl>
                                        <p:attrNameLst>
                                          <p:attrName>style.visibility</p:attrName>
                                        </p:attrNameLst>
                                      </p:cBhvr>
                                      <p:to>
                                        <p:strVal val="hidden"/>
                                      </p:to>
                                    </p:set>
                                  </p:subTnLst>
                                </p:cTn>
                              </p:par>
                            </p:childTnLst>
                          </p:cTn>
                        </p:par>
                        <p:par>
                          <p:cTn id="45" fill="hold">
                            <p:stCondLst>
                              <p:cond delay="11500"/>
                            </p:stCondLst>
                            <p:childTnLst>
                              <p:par>
                                <p:cTn id="46" presetID="1" presetClass="entr" presetSubtype="0" fill="hold" nodeType="afterEffect">
                                  <p:stCondLst>
                                    <p:cond delay="500"/>
                                  </p:stCondLst>
                                  <p:childTnLst>
                                    <p:set>
                                      <p:cBhvr>
                                        <p:cTn id="47" dur="1" fill="hold">
                                          <p:stCondLst>
                                            <p:cond delay="499"/>
                                          </p:stCondLst>
                                        </p:cTn>
                                        <p:tgtEl>
                                          <p:spTgt spid="510986"/>
                                        </p:tgtEl>
                                        <p:attrNameLst>
                                          <p:attrName>style.visibility</p:attrName>
                                        </p:attrNameLst>
                                      </p:cBhvr>
                                      <p:to>
                                        <p:strVal val="visible"/>
                                      </p:to>
                                    </p:set>
                                  </p:childTnLst>
                                  <p:subTnLst>
                                    <p:set>
                                      <p:cBhvr override="childStyle">
                                        <p:cTn dur="1" fill="hold" display="0" masterRel="nextClick" afterEffect="1"/>
                                        <p:tgtEl>
                                          <p:spTgt spid="510986"/>
                                        </p:tgtEl>
                                        <p:attrNameLst>
                                          <p:attrName>style.visibility</p:attrName>
                                        </p:attrNameLst>
                                      </p:cBhvr>
                                      <p:to>
                                        <p:strVal val="hidden"/>
                                      </p:to>
                                    </p:set>
                                  </p:subTnLst>
                                </p:cTn>
                              </p:par>
                            </p:childTnLst>
                          </p:cTn>
                        </p:par>
                        <p:par>
                          <p:cTn id="48" fill="hold">
                            <p:stCondLst>
                              <p:cond delay="12500"/>
                            </p:stCondLst>
                            <p:childTnLst>
                              <p:par>
                                <p:cTn id="49" presetID="1" presetClass="entr" presetSubtype="0" fill="hold" nodeType="afterEffect">
                                  <p:stCondLst>
                                    <p:cond delay="500"/>
                                  </p:stCondLst>
                                  <p:childTnLst>
                                    <p:set>
                                      <p:cBhvr>
                                        <p:cTn id="50" dur="1" fill="hold">
                                          <p:stCondLst>
                                            <p:cond delay="499"/>
                                          </p:stCondLst>
                                        </p:cTn>
                                        <p:tgtEl>
                                          <p:spTgt spid="510987"/>
                                        </p:tgtEl>
                                        <p:attrNameLst>
                                          <p:attrName>style.visibility</p:attrName>
                                        </p:attrNameLst>
                                      </p:cBhvr>
                                      <p:to>
                                        <p:strVal val="visible"/>
                                      </p:to>
                                    </p:set>
                                  </p:childTnLst>
                                  <p:subTnLst>
                                    <p:set>
                                      <p:cBhvr override="childStyle">
                                        <p:cTn dur="1" fill="hold" display="0" masterRel="nextClick" afterEffect="1"/>
                                        <p:tgtEl>
                                          <p:spTgt spid="510987"/>
                                        </p:tgtEl>
                                        <p:attrNameLst>
                                          <p:attrName>style.visibility</p:attrName>
                                        </p:attrNameLst>
                                      </p:cBhvr>
                                      <p:to>
                                        <p:strVal val="hidden"/>
                                      </p:to>
                                    </p:set>
                                  </p:subTnLst>
                                </p:cTn>
                              </p:par>
                            </p:childTnLst>
                          </p:cTn>
                        </p:par>
                        <p:par>
                          <p:cTn id="51" fill="hold">
                            <p:stCondLst>
                              <p:cond delay="13500"/>
                            </p:stCondLst>
                            <p:childTnLst>
                              <p:par>
                                <p:cTn id="52" presetID="1" presetClass="entr" presetSubtype="0" fill="hold" nodeType="afterEffect">
                                  <p:stCondLst>
                                    <p:cond delay="500"/>
                                  </p:stCondLst>
                                  <p:childTnLst>
                                    <p:set>
                                      <p:cBhvr>
                                        <p:cTn id="53" dur="1" fill="hold">
                                          <p:stCondLst>
                                            <p:cond delay="499"/>
                                          </p:stCondLst>
                                        </p:cTn>
                                        <p:tgtEl>
                                          <p:spTgt spid="510988"/>
                                        </p:tgtEl>
                                        <p:attrNameLst>
                                          <p:attrName>style.visibility</p:attrName>
                                        </p:attrNameLst>
                                      </p:cBhvr>
                                      <p:to>
                                        <p:strVal val="visible"/>
                                      </p:to>
                                    </p:set>
                                  </p:childTnLst>
                                  <p:subTnLst>
                                    <p:set>
                                      <p:cBhvr override="childStyle">
                                        <p:cTn dur="1" fill="hold" display="0" masterRel="nextClick" afterEffect="1"/>
                                        <p:tgtEl>
                                          <p:spTgt spid="510988"/>
                                        </p:tgtEl>
                                        <p:attrNameLst>
                                          <p:attrName>style.visibility</p:attrName>
                                        </p:attrNameLst>
                                      </p:cBhvr>
                                      <p:to>
                                        <p:strVal val="hidden"/>
                                      </p:to>
                                    </p:set>
                                  </p:sub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blinds(horizontal)">
                                      <p:cBhvr>
                                        <p:cTn id="58" dur="500"/>
                                        <p:tgtEl>
                                          <p:spTgt spid="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511001">
                                            <p:txEl>
                                              <p:pRg st="0" end="0"/>
                                            </p:txEl>
                                          </p:spTgt>
                                        </p:tgtEl>
                                        <p:attrNameLst>
                                          <p:attrName>style.visibility</p:attrName>
                                        </p:attrNameLst>
                                      </p:cBhvr>
                                      <p:to>
                                        <p:strVal val="visible"/>
                                      </p:to>
                                    </p:set>
                                    <p:animEffect transition="in" filter="wipe(left)">
                                      <p:cBhvr>
                                        <p:cTn id="63" dur="500"/>
                                        <p:tgtEl>
                                          <p:spTgt spid="511001">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510994"/>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63"/>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66"/>
                                        </p:tgtEl>
                                        <p:attrNameLst>
                                          <p:attrName>style.visibility</p:attrName>
                                        </p:attrNameLst>
                                      </p:cBhvr>
                                      <p:to>
                                        <p:strVal val="visible"/>
                                      </p:to>
                                    </p:set>
                                    <p:anim calcmode="lin" valueType="num">
                                      <p:cBhvr additive="base">
                                        <p:cTn id="76" dur="500" fill="hold"/>
                                        <p:tgtEl>
                                          <p:spTgt spid="66"/>
                                        </p:tgtEl>
                                        <p:attrNameLst>
                                          <p:attrName>ppt_x</p:attrName>
                                        </p:attrNameLst>
                                      </p:cBhvr>
                                      <p:tavLst>
                                        <p:tav tm="0">
                                          <p:val>
                                            <p:strVal val="#ppt_x"/>
                                          </p:val>
                                        </p:tav>
                                        <p:tav tm="100000">
                                          <p:val>
                                            <p:strVal val="#ppt_x"/>
                                          </p:val>
                                        </p:tav>
                                      </p:tavLst>
                                    </p:anim>
                                    <p:anim calcmode="lin" valueType="num">
                                      <p:cBhvr additive="base">
                                        <p:cTn id="77" dur="500" fill="hold"/>
                                        <p:tgtEl>
                                          <p:spTgt spid="66"/>
                                        </p:tgtEl>
                                        <p:attrNameLst>
                                          <p:attrName>ppt_y</p:attrName>
                                        </p:attrNameLst>
                                      </p:cBhvr>
                                      <p:tavLst>
                                        <p:tav tm="0">
                                          <p:val>
                                            <p:strVal val="1+#ppt_h/2"/>
                                          </p:val>
                                        </p:tav>
                                        <p:tav tm="100000">
                                          <p:val>
                                            <p:strVal val="#ppt_y"/>
                                          </p:val>
                                        </p:tav>
                                      </p:tavLst>
                                    </p:anim>
                                  </p:childTnLst>
                                </p:cTn>
                              </p:par>
                            </p:childTnLst>
                          </p:cTn>
                        </p:par>
                        <p:par>
                          <p:cTn id="78" fill="hold">
                            <p:stCondLst>
                              <p:cond delay="500"/>
                            </p:stCondLst>
                            <p:childTnLst>
                              <p:par>
                                <p:cTn id="79" presetID="22" presetClass="entr" presetSubtype="8" fill="hold" grpId="0" nodeType="afterEffect">
                                  <p:stCondLst>
                                    <p:cond delay="0"/>
                                  </p:stCondLst>
                                  <p:childTnLst>
                                    <p:set>
                                      <p:cBhvr>
                                        <p:cTn id="80" dur="1" fill="hold">
                                          <p:stCondLst>
                                            <p:cond delay="0"/>
                                          </p:stCondLst>
                                        </p:cTn>
                                        <p:tgtEl>
                                          <p:spTgt spid="510995">
                                            <p:txEl>
                                              <p:pRg st="0" end="0"/>
                                            </p:txEl>
                                          </p:spTgt>
                                        </p:tgtEl>
                                        <p:attrNameLst>
                                          <p:attrName>style.visibility</p:attrName>
                                        </p:attrNameLst>
                                      </p:cBhvr>
                                      <p:to>
                                        <p:strVal val="visible"/>
                                      </p:to>
                                    </p:set>
                                    <p:animEffect transition="in" filter="wipe(left)">
                                      <p:cBhvr>
                                        <p:cTn id="81" dur="500"/>
                                        <p:tgtEl>
                                          <p:spTgt spid="510995">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7"/>
                                        </p:tgtEl>
                                        <p:attrNameLst>
                                          <p:attrName>style.visibility</p:attrName>
                                        </p:attrNameLst>
                                      </p:cBhvr>
                                      <p:to>
                                        <p:strVal val="visible"/>
                                      </p:to>
                                    </p:set>
                                    <p:anim calcmode="lin" valueType="num">
                                      <p:cBhvr additive="base">
                                        <p:cTn id="86" dur="500" fill="hold"/>
                                        <p:tgtEl>
                                          <p:spTgt spid="7"/>
                                        </p:tgtEl>
                                        <p:attrNameLst>
                                          <p:attrName>ppt_x</p:attrName>
                                        </p:attrNameLst>
                                      </p:cBhvr>
                                      <p:tavLst>
                                        <p:tav tm="0">
                                          <p:val>
                                            <p:strVal val="#ppt_x"/>
                                          </p:val>
                                        </p:tav>
                                        <p:tav tm="100000">
                                          <p:val>
                                            <p:strVal val="#ppt_x"/>
                                          </p:val>
                                        </p:tav>
                                      </p:tavLst>
                                    </p:anim>
                                    <p:anim calcmode="lin" valueType="num">
                                      <p:cBhvr additive="base">
                                        <p:cTn id="87" dur="500" fill="hold"/>
                                        <p:tgtEl>
                                          <p:spTgt spid="7"/>
                                        </p:tgtEl>
                                        <p:attrNameLst>
                                          <p:attrName>ppt_y</p:attrName>
                                        </p:attrNameLst>
                                      </p:cBhvr>
                                      <p:tavLst>
                                        <p:tav tm="0">
                                          <p:val>
                                            <p:strVal val="1+#ppt_h/2"/>
                                          </p:val>
                                        </p:tav>
                                        <p:tav tm="100000">
                                          <p:val>
                                            <p:strVal val="#ppt_y"/>
                                          </p:val>
                                        </p:tav>
                                      </p:tavLst>
                                    </p:anim>
                                  </p:childTnLst>
                                </p:cTn>
                              </p:par>
                            </p:childTnLst>
                          </p:cTn>
                        </p:par>
                        <p:par>
                          <p:cTn id="88" fill="hold">
                            <p:stCondLst>
                              <p:cond delay="500"/>
                            </p:stCondLst>
                            <p:childTnLst>
                              <p:par>
                                <p:cTn id="89" presetID="22" presetClass="entr" presetSubtype="8" fill="hold" grpId="0" nodeType="afterEffect">
                                  <p:stCondLst>
                                    <p:cond delay="0"/>
                                  </p:stCondLst>
                                  <p:childTnLst>
                                    <p:set>
                                      <p:cBhvr>
                                        <p:cTn id="90" dur="1" fill="hold">
                                          <p:stCondLst>
                                            <p:cond delay="0"/>
                                          </p:stCondLst>
                                        </p:cTn>
                                        <p:tgtEl>
                                          <p:spTgt spid="510996">
                                            <p:txEl>
                                              <p:pRg st="0" end="0"/>
                                            </p:txEl>
                                          </p:spTgt>
                                        </p:tgtEl>
                                        <p:attrNameLst>
                                          <p:attrName>style.visibility</p:attrName>
                                        </p:attrNameLst>
                                      </p:cBhvr>
                                      <p:to>
                                        <p:strVal val="visible"/>
                                      </p:to>
                                    </p:set>
                                    <p:animEffect transition="in" filter="wipe(left)">
                                      <p:cBhvr>
                                        <p:cTn id="91" dur="500"/>
                                        <p:tgtEl>
                                          <p:spTgt spid="5109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8" grpId="0" build="p" autoUpdateAnimBg="0"/>
      <p:bldP spid="510995" grpId="0" build="p" autoUpdateAnimBg="0"/>
      <p:bldP spid="510996" grpId="0" build="p" autoUpdateAnimBg="0"/>
      <p:bldP spid="511000" grpId="0" build="p" autoUpdateAnimBg="0"/>
      <p:bldP spid="511001" grpId="0" build="p" autoUpdateAnimBg="0"/>
      <p:bldP spid="63" grpId="0" animBg="1"/>
      <p:bldP spid="5" grpId="0" animBg="1"/>
      <p:bldP spid="66"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5" name="Rectangle 3"/>
          <p:cNvSpPr>
            <a:spLocks noChangeArrowheads="1"/>
          </p:cNvSpPr>
          <p:nvPr/>
        </p:nvSpPr>
        <p:spPr bwMode="auto">
          <a:xfrm>
            <a:off x="827088" y="5300663"/>
            <a:ext cx="7991475" cy="1077912"/>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r>
              <a:rPr lang="zh-CN" altLang="en-US">
                <a:latin typeface="华文中宋" panose="02010600040101010101" pitchFamily="2" charset="-122"/>
              </a:rPr>
              <a:t>对于响应中</a:t>
            </a:r>
            <a:r>
              <a:rPr lang="zh-CN" altLang="en-US">
                <a:solidFill>
                  <a:srgbClr val="FF0000"/>
                </a:solidFill>
                <a:latin typeface="华文中宋" panose="02010600040101010101" pitchFamily="2" charset="-122"/>
              </a:rPr>
              <a:t>各个频率分量的幅度和相位</a:t>
            </a:r>
            <a:r>
              <a:rPr lang="zh-CN" altLang="en-US">
                <a:latin typeface="华文中宋" panose="02010600040101010101" pitchFamily="2" charset="-122"/>
              </a:rPr>
              <a:t>，极零点的作用是同等重要的。</a:t>
            </a:r>
            <a:endParaRPr lang="zh-CN" altLang="en-US">
              <a:solidFill>
                <a:srgbClr val="000000"/>
              </a:solidFill>
              <a:latin typeface="华文中宋" panose="02010600040101010101" pitchFamily="2" charset="-122"/>
            </a:endParaRPr>
          </a:p>
        </p:txBody>
      </p:sp>
      <p:graphicFrame>
        <p:nvGraphicFramePr>
          <p:cNvPr id="484356" name="Object 2"/>
          <p:cNvGraphicFramePr>
            <a:graphicFrameLocks noGrp="1" noChangeAspect="1"/>
          </p:cNvGraphicFramePr>
          <p:nvPr>
            <p:ph idx="1"/>
          </p:nvPr>
        </p:nvGraphicFramePr>
        <p:xfrm>
          <a:off x="827088" y="244475"/>
          <a:ext cx="6192837" cy="2151063"/>
        </p:xfrm>
        <a:graphic>
          <a:graphicData uri="http://schemas.openxmlformats.org/presentationml/2006/ole">
            <mc:AlternateContent xmlns:mc="http://schemas.openxmlformats.org/markup-compatibility/2006">
              <mc:Choice xmlns:v="urn:schemas-microsoft-com:vml" Requires="v">
                <p:oleObj name="公式" r:id="rId4" imgW="3365500" imgH="1168400" progId="Equation.3">
                  <p:embed/>
                </p:oleObj>
              </mc:Choice>
              <mc:Fallback>
                <p:oleObj name="公式" r:id="rId4" imgW="3365500" imgH="11684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244475"/>
                        <a:ext cx="6192837" cy="215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084" name="Rectangle 8"/>
          <p:cNvSpPr>
            <a:spLocks noChangeArrowheads="1"/>
          </p:cNvSpPr>
          <p:nvPr/>
        </p:nvSpPr>
        <p:spPr bwMode="auto">
          <a:xfrm>
            <a:off x="3143250" y="3724275"/>
            <a:ext cx="6286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100"/>
          </a:p>
          <a:p>
            <a:pPr>
              <a:lnSpc>
                <a:spcPct val="85000"/>
              </a:lnSpc>
              <a:spcBef>
                <a:spcPct val="20000"/>
              </a:spcBef>
              <a:buClr>
                <a:schemeClr val="accent2"/>
              </a:buClr>
              <a:buFont typeface="Wingdings" panose="05000000000000000000" pitchFamily="2" charset="2"/>
              <a:buNone/>
            </a:pP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graphicFrame>
        <p:nvGraphicFramePr>
          <p:cNvPr id="484362" name="Object 3"/>
          <p:cNvGraphicFramePr>
            <a:graphicFrameLocks noChangeAspect="1"/>
          </p:cNvGraphicFramePr>
          <p:nvPr/>
        </p:nvGraphicFramePr>
        <p:xfrm>
          <a:off x="1116013" y="2981325"/>
          <a:ext cx="1239837" cy="465138"/>
        </p:xfrm>
        <a:graphic>
          <a:graphicData uri="http://schemas.openxmlformats.org/presentationml/2006/ole">
            <mc:AlternateContent xmlns:mc="http://schemas.openxmlformats.org/markup-compatibility/2006">
              <mc:Choice xmlns:v="urn:schemas-microsoft-com:vml" Requires="v">
                <p:oleObj name="公式" r:id="rId6" imgW="660400" imgH="203200" progId="Equation.3">
                  <p:embed/>
                </p:oleObj>
              </mc:Choice>
              <mc:Fallback>
                <p:oleObj name="公式" r:id="rId6" imgW="660400" imgH="2032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2981325"/>
                        <a:ext cx="1239837" cy="465138"/>
                      </a:xfrm>
                      <a:prstGeom prst="rect">
                        <a:avLst/>
                      </a:prstGeom>
                      <a:solidFill>
                        <a:schemeClr val="bg1"/>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4363" name="Object 4"/>
          <p:cNvGraphicFramePr>
            <a:graphicFrameLocks noChangeAspect="1"/>
          </p:cNvGraphicFramePr>
          <p:nvPr/>
        </p:nvGraphicFramePr>
        <p:xfrm>
          <a:off x="1331913" y="4205288"/>
          <a:ext cx="974725" cy="525462"/>
        </p:xfrm>
        <a:graphic>
          <a:graphicData uri="http://schemas.openxmlformats.org/presentationml/2006/ole">
            <mc:AlternateContent xmlns:mc="http://schemas.openxmlformats.org/markup-compatibility/2006">
              <mc:Choice xmlns:v="urn:schemas-microsoft-com:vml" Requires="v">
                <p:oleObj name="公式" r:id="rId8" imgW="457200" imgH="203200" progId="Equation.3">
                  <p:embed/>
                </p:oleObj>
              </mc:Choice>
              <mc:Fallback>
                <p:oleObj name="公式" r:id="rId8" imgW="457200" imgH="2032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4205288"/>
                        <a:ext cx="97472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6699"/>
                            </a:solidFill>
                            <a:miter lim="800000"/>
                            <a:headEnd/>
                            <a:tailEnd/>
                          </a14:hiddenLine>
                        </a:ext>
                      </a:extLst>
                    </p:spPr>
                  </p:pic>
                </p:oleObj>
              </mc:Fallback>
            </mc:AlternateContent>
          </a:graphicData>
        </a:graphic>
      </p:graphicFrame>
      <p:pic>
        <p:nvPicPr>
          <p:cNvPr id="484366"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31075" y="1628775"/>
            <a:ext cx="180975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4367" name="Picture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43513" y="1700213"/>
            <a:ext cx="193357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日期占位符 11"/>
          <p:cNvSpPr>
            <a:spLocks noGrp="1"/>
          </p:cNvSpPr>
          <p:nvPr>
            <p:ph type="dt" sz="quarter" idx="10"/>
          </p:nvPr>
        </p:nvSpPr>
        <p:spPr>
          <a:xfrm>
            <a:off x="0" y="6653213"/>
            <a:ext cx="1139825" cy="319087"/>
          </a:xfrm>
        </p:spPr>
        <p:txBody>
          <a:bodyPr/>
          <a:lstStyle/>
          <a:p>
            <a:pPr>
              <a:defRPr/>
            </a:pPr>
            <a:fld id="{7CA6B505-3FCD-4340-AE91-6DCD3349D42A}" type="datetime1">
              <a:rPr lang="zh-CN" altLang="en-US"/>
              <a:t>2026/4/28</a:t>
            </a:fld>
            <a:endParaRPr lang="zh-CN" altLang="en-US" dirty="0"/>
          </a:p>
        </p:txBody>
      </p:sp>
      <p:sp>
        <p:nvSpPr>
          <p:cNvPr id="13" name="矩形 12"/>
          <p:cNvSpPr>
            <a:spLocks noRot="1" noChangeAspect="1" noMove="1" noResize="1" noEditPoints="1" noAdjustHandles="1" noChangeArrowheads="1" noChangeShapeType="1" noTextEdit="1"/>
          </p:cNvSpPr>
          <p:nvPr/>
        </p:nvSpPr>
        <p:spPr>
          <a:xfrm>
            <a:off x="2355850" y="2828168"/>
            <a:ext cx="2915770" cy="759119"/>
          </a:xfrm>
          <a:prstGeom prst="rect">
            <a:avLst/>
          </a:prstGeom>
          <a:blipFill>
            <a:blip r:embed="rId12"/>
            <a:stretch>
              <a:fillRect t="-806"/>
            </a:stretch>
          </a:blipFill>
        </p:spPr>
        <p:txBody>
          <a:bodyPr/>
          <a:lstStyle/>
          <a:p>
            <a:pPr>
              <a:defRPr/>
            </a:pPr>
            <a:r>
              <a:rPr lang="zh-CN" altLang="en-US">
                <a:noFill/>
                <a:latin typeface="黑体" panose="02010609060101010101" pitchFamily="49" charset="-122"/>
                <a:ea typeface="黑体" panose="02010609060101010101" pitchFamily="49" charset="-122"/>
              </a:rPr>
              <a:t> </a:t>
            </a:r>
          </a:p>
        </p:txBody>
      </p:sp>
      <p:sp>
        <p:nvSpPr>
          <p:cNvPr id="14" name="文本框 13"/>
          <p:cNvSpPr txBox="1">
            <a:spLocks noRot="1" noChangeAspect="1" noMove="1" noResize="1" noEditPoints="1" noAdjustHandles="1" noChangeArrowheads="1" noChangeShapeType="1" noTextEdit="1"/>
          </p:cNvSpPr>
          <p:nvPr/>
        </p:nvSpPr>
        <p:spPr>
          <a:xfrm>
            <a:off x="2287180" y="4242467"/>
            <a:ext cx="6464091" cy="430887"/>
          </a:xfrm>
          <a:prstGeom prst="rect">
            <a:avLst/>
          </a:prstGeom>
          <a:blipFill>
            <a:blip r:embed="rId13"/>
            <a:stretch>
              <a:fillRect/>
            </a:stretch>
          </a:blipFill>
        </p:spPr>
        <p:txBody>
          <a:bodyPr/>
          <a:lstStyle/>
          <a:p>
            <a:pPr>
              <a:defRPr/>
            </a:pPr>
            <a:r>
              <a:rPr lang="zh-CN" altLang="en-US">
                <a:noFill/>
                <a:latin typeface="黑体" panose="02010609060101010101" pitchFamily="49" charset="-122"/>
                <a:ea typeface="黑体" panose="02010609060101010101" pitchFamily="49" charset="-122"/>
              </a:rPr>
              <a:t> </a:t>
            </a:r>
          </a:p>
        </p:txBody>
      </p:sp>
      <p:sp>
        <p:nvSpPr>
          <p:cNvPr id="46092" name="矩形: 圆角 1"/>
          <p:cNvSpPr>
            <a:spLocks noChangeArrowheads="1"/>
          </p:cNvSpPr>
          <p:nvPr/>
        </p:nvSpPr>
        <p:spPr bwMode="auto">
          <a:xfrm>
            <a:off x="903288" y="1454150"/>
            <a:ext cx="3762375" cy="900113"/>
          </a:xfrm>
          <a:prstGeom prst="roundRect">
            <a:avLst>
              <a:gd name="adj" fmla="val 16667"/>
            </a:avLst>
          </a:prstGeom>
          <a:solidFill>
            <a:schemeClr val="bg1"/>
          </a:solidFill>
          <a:ln>
            <a:noFill/>
          </a:ln>
          <a:extLst>
            <a:ext uri="{91240B29-F687-4F45-9708-019B960494DF}">
              <a14:hiddenLine xmlns:a14="http://schemas.microsoft.com/office/drawing/2010/main" w="19050">
                <a:solidFill>
                  <a:srgbClr val="000000"/>
                </a:solidFill>
                <a:round/>
                <a:tailEnd type="triangle" w="sm" len="sm"/>
              </a14:hiddenLine>
            </a:ext>
          </a:extLst>
        </p:spPr>
        <p:txBody>
          <a:bodyPr>
            <a:spAutoFit/>
          </a:bodyPr>
          <a:lstStyle>
            <a:lvl1pPr marL="367030" indent="-18732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graphicFrame>
        <p:nvGraphicFramePr>
          <p:cNvPr id="16" name="Object 5"/>
          <p:cNvGraphicFramePr>
            <a:graphicFrameLocks noChangeAspect="1"/>
          </p:cNvGraphicFramePr>
          <p:nvPr/>
        </p:nvGraphicFramePr>
        <p:xfrm>
          <a:off x="457200" y="1636713"/>
          <a:ext cx="2230438" cy="498475"/>
        </p:xfrm>
        <a:graphic>
          <a:graphicData uri="http://schemas.openxmlformats.org/presentationml/2006/ole">
            <mc:AlternateContent xmlns:mc="http://schemas.openxmlformats.org/markup-compatibility/2006">
              <mc:Choice xmlns:v="urn:schemas-microsoft-com:vml" Requires="v">
                <p:oleObj name="Equation" r:id="rId14" imgW="832485" imgH="127000" progId="Equation.DSMT4">
                  <p:embed/>
                </p:oleObj>
              </mc:Choice>
              <mc:Fallback>
                <p:oleObj name="Equation" r:id="rId14" imgW="832485" imgH="127000" progId="Equation.DSMT4">
                  <p:embed/>
                  <p:pic>
                    <p:nvPicPr>
                      <p:cNvPr id="0"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7200" y="1636713"/>
                        <a:ext cx="223043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6"/>
          <p:cNvGraphicFramePr>
            <a:graphicFrameLocks noChangeAspect="1"/>
          </p:cNvGraphicFramePr>
          <p:nvPr/>
        </p:nvGraphicFramePr>
        <p:xfrm>
          <a:off x="3084513" y="1566863"/>
          <a:ext cx="2003425" cy="533400"/>
        </p:xfrm>
        <a:graphic>
          <a:graphicData uri="http://schemas.openxmlformats.org/presentationml/2006/ole">
            <mc:AlternateContent xmlns:mc="http://schemas.openxmlformats.org/markup-compatibility/2006">
              <mc:Choice xmlns:v="urn:schemas-microsoft-com:vml" Requires="v">
                <p:oleObj name="Equation" r:id="rId16" imgW="661035" imgH="127000" progId="Equation.DSMT4">
                  <p:embed/>
                </p:oleObj>
              </mc:Choice>
              <mc:Fallback>
                <p:oleObj name="Equation" r:id="rId16" imgW="661035" imgH="127000" progId="Equation.DSMT4">
                  <p:embed/>
                  <p:pic>
                    <p:nvPicPr>
                      <p:cNvPr id="0" name="Object 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84513" y="1566863"/>
                        <a:ext cx="20034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3297"/>
    </mc:Choice>
    <mc:Fallback xmlns="">
      <p:transition spd="slow" advTm="1132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484356"/>
                                        </p:tgtEl>
                                        <p:attrNameLst>
                                          <p:attrName>style.visibility</p:attrName>
                                        </p:attrNameLst>
                                      </p:cBhvr>
                                      <p:to>
                                        <p:strVal val="visible"/>
                                      </p:to>
                                    </p:set>
                                    <p:anim calcmode="lin" valueType="num">
                                      <p:cBhvr>
                                        <p:cTn id="7" dur="1000" fill="hold"/>
                                        <p:tgtEl>
                                          <p:spTgt spid="484356"/>
                                        </p:tgtEl>
                                        <p:attrNameLst>
                                          <p:attrName>ppt_w</p:attrName>
                                        </p:attrNameLst>
                                      </p:cBhvr>
                                      <p:tavLst>
                                        <p:tav tm="0">
                                          <p:val>
                                            <p:strVal val="#ppt_w*0.70"/>
                                          </p:val>
                                        </p:tav>
                                        <p:tav tm="100000">
                                          <p:val>
                                            <p:strVal val="#ppt_w"/>
                                          </p:val>
                                        </p:tav>
                                      </p:tavLst>
                                    </p:anim>
                                    <p:anim calcmode="lin" valueType="num">
                                      <p:cBhvr>
                                        <p:cTn id="8" dur="1000" fill="hold"/>
                                        <p:tgtEl>
                                          <p:spTgt spid="484356"/>
                                        </p:tgtEl>
                                        <p:attrNameLst>
                                          <p:attrName>ppt_h</p:attrName>
                                        </p:attrNameLst>
                                      </p:cBhvr>
                                      <p:tavLst>
                                        <p:tav tm="0">
                                          <p:val>
                                            <p:strVal val="#ppt_h"/>
                                          </p:val>
                                        </p:tav>
                                        <p:tav tm="100000">
                                          <p:val>
                                            <p:strVal val="#ppt_h"/>
                                          </p:val>
                                        </p:tav>
                                      </p:tavLst>
                                    </p:anim>
                                    <p:animEffect transition="in" filter="fade">
                                      <p:cBhvr>
                                        <p:cTn id="9" dur="1000"/>
                                        <p:tgtEl>
                                          <p:spTgt spid="484356"/>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left)">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484367"/>
                                        </p:tgtEl>
                                        <p:attrNameLst>
                                          <p:attrName>style.visibility</p:attrName>
                                        </p:attrNameLst>
                                      </p:cBhvr>
                                      <p:to>
                                        <p:strVal val="visible"/>
                                      </p:to>
                                    </p:set>
                                    <p:anim calcmode="lin" valueType="num">
                                      <p:cBhvr>
                                        <p:cTn id="19" dur="1000" fill="hold"/>
                                        <p:tgtEl>
                                          <p:spTgt spid="484367"/>
                                        </p:tgtEl>
                                        <p:attrNameLst>
                                          <p:attrName>ppt_w</p:attrName>
                                        </p:attrNameLst>
                                      </p:cBhvr>
                                      <p:tavLst>
                                        <p:tav tm="0">
                                          <p:val>
                                            <p:strVal val="#ppt_w*0.70"/>
                                          </p:val>
                                        </p:tav>
                                        <p:tav tm="100000">
                                          <p:val>
                                            <p:strVal val="#ppt_w"/>
                                          </p:val>
                                        </p:tav>
                                      </p:tavLst>
                                    </p:anim>
                                    <p:anim calcmode="lin" valueType="num">
                                      <p:cBhvr>
                                        <p:cTn id="20" dur="1000" fill="hold"/>
                                        <p:tgtEl>
                                          <p:spTgt spid="484367"/>
                                        </p:tgtEl>
                                        <p:attrNameLst>
                                          <p:attrName>ppt_h</p:attrName>
                                        </p:attrNameLst>
                                      </p:cBhvr>
                                      <p:tavLst>
                                        <p:tav tm="0">
                                          <p:val>
                                            <p:strVal val="#ppt_h"/>
                                          </p:val>
                                        </p:tav>
                                        <p:tav tm="100000">
                                          <p:val>
                                            <p:strVal val="#ppt_h"/>
                                          </p:val>
                                        </p:tav>
                                      </p:tavLst>
                                    </p:anim>
                                    <p:animEffect transition="in" filter="fade">
                                      <p:cBhvr>
                                        <p:cTn id="21" dur="1000"/>
                                        <p:tgtEl>
                                          <p:spTgt spid="48436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484366"/>
                                        </p:tgtEl>
                                        <p:attrNameLst>
                                          <p:attrName>style.visibility</p:attrName>
                                        </p:attrNameLst>
                                      </p:cBhvr>
                                      <p:to>
                                        <p:strVal val="visible"/>
                                      </p:to>
                                    </p:set>
                                    <p:anim calcmode="lin" valueType="num">
                                      <p:cBhvr>
                                        <p:cTn id="31" dur="1000" fill="hold"/>
                                        <p:tgtEl>
                                          <p:spTgt spid="484366"/>
                                        </p:tgtEl>
                                        <p:attrNameLst>
                                          <p:attrName>ppt_w</p:attrName>
                                        </p:attrNameLst>
                                      </p:cBhvr>
                                      <p:tavLst>
                                        <p:tav tm="0">
                                          <p:val>
                                            <p:strVal val="#ppt_w*0.70"/>
                                          </p:val>
                                        </p:tav>
                                        <p:tav tm="100000">
                                          <p:val>
                                            <p:strVal val="#ppt_w"/>
                                          </p:val>
                                        </p:tav>
                                      </p:tavLst>
                                    </p:anim>
                                    <p:anim calcmode="lin" valueType="num">
                                      <p:cBhvr>
                                        <p:cTn id="32" dur="1000" fill="hold"/>
                                        <p:tgtEl>
                                          <p:spTgt spid="484366"/>
                                        </p:tgtEl>
                                        <p:attrNameLst>
                                          <p:attrName>ppt_h</p:attrName>
                                        </p:attrNameLst>
                                      </p:cBhvr>
                                      <p:tavLst>
                                        <p:tav tm="0">
                                          <p:val>
                                            <p:strVal val="#ppt_h"/>
                                          </p:val>
                                        </p:tav>
                                        <p:tav tm="100000">
                                          <p:val>
                                            <p:strVal val="#ppt_h"/>
                                          </p:val>
                                        </p:tav>
                                      </p:tavLst>
                                    </p:anim>
                                    <p:animEffect transition="in" filter="fade">
                                      <p:cBhvr>
                                        <p:cTn id="33" dur="1000"/>
                                        <p:tgtEl>
                                          <p:spTgt spid="48436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84362"/>
                                        </p:tgtEl>
                                        <p:attrNameLst>
                                          <p:attrName>style.visibility</p:attrName>
                                        </p:attrNameLst>
                                      </p:cBhvr>
                                      <p:to>
                                        <p:strVal val="visible"/>
                                      </p:to>
                                    </p:set>
                                    <p:animEffect transition="in" filter="wipe(left)">
                                      <p:cBhvr>
                                        <p:cTn id="38" dur="500"/>
                                        <p:tgtEl>
                                          <p:spTgt spid="48436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484363"/>
                                        </p:tgtEl>
                                        <p:attrNameLst>
                                          <p:attrName>style.visibility</p:attrName>
                                        </p:attrNameLst>
                                      </p:cBhvr>
                                      <p:to>
                                        <p:strVal val="visible"/>
                                      </p:to>
                                    </p:set>
                                    <p:animEffect transition="in" filter="wipe(left)">
                                      <p:cBhvr>
                                        <p:cTn id="43" dur="500"/>
                                        <p:tgtEl>
                                          <p:spTgt spid="484363"/>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grpId="0" nodeType="clickEffect">
                                  <p:stCondLst>
                                    <p:cond delay="0"/>
                                  </p:stCondLst>
                                  <p:childTnLst>
                                    <p:set>
                                      <p:cBhvr>
                                        <p:cTn id="47" dur="1" fill="hold">
                                          <p:stCondLst>
                                            <p:cond delay="0"/>
                                          </p:stCondLst>
                                        </p:cTn>
                                        <p:tgtEl>
                                          <p:spTgt spid="484355"/>
                                        </p:tgtEl>
                                        <p:attrNameLst>
                                          <p:attrName>style.visibility</p:attrName>
                                        </p:attrNameLst>
                                      </p:cBhvr>
                                      <p:to>
                                        <p:strVal val="visible"/>
                                      </p:to>
                                    </p:set>
                                    <p:anim calcmode="lin" valueType="num">
                                      <p:cBhvr>
                                        <p:cTn id="48" dur="1000" fill="hold"/>
                                        <p:tgtEl>
                                          <p:spTgt spid="484355"/>
                                        </p:tgtEl>
                                        <p:attrNameLst>
                                          <p:attrName>ppt_w</p:attrName>
                                        </p:attrNameLst>
                                      </p:cBhvr>
                                      <p:tavLst>
                                        <p:tav tm="0">
                                          <p:val>
                                            <p:strVal val="#ppt_w*0.70"/>
                                          </p:val>
                                        </p:tav>
                                        <p:tav tm="100000">
                                          <p:val>
                                            <p:strVal val="#ppt_w"/>
                                          </p:val>
                                        </p:tav>
                                      </p:tavLst>
                                    </p:anim>
                                    <p:anim calcmode="lin" valueType="num">
                                      <p:cBhvr>
                                        <p:cTn id="49" dur="1000" fill="hold"/>
                                        <p:tgtEl>
                                          <p:spTgt spid="484355"/>
                                        </p:tgtEl>
                                        <p:attrNameLst>
                                          <p:attrName>ppt_h</p:attrName>
                                        </p:attrNameLst>
                                      </p:cBhvr>
                                      <p:tavLst>
                                        <p:tav tm="0">
                                          <p:val>
                                            <p:strVal val="#ppt_h"/>
                                          </p:val>
                                        </p:tav>
                                        <p:tav tm="100000">
                                          <p:val>
                                            <p:strVal val="#ppt_h"/>
                                          </p:val>
                                        </p:tav>
                                      </p:tavLst>
                                    </p:anim>
                                    <p:animEffect transition="in" filter="fade">
                                      <p:cBhvr>
                                        <p:cTn id="50" dur="1000"/>
                                        <p:tgtEl>
                                          <p:spTgt spid="484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a:xfrm>
            <a:off x="503238" y="0"/>
            <a:ext cx="4608512" cy="693738"/>
          </a:xfrm>
          <a:solidFill>
            <a:schemeClr val="bg1"/>
          </a:solidFill>
          <a:effectLst>
            <a:outerShdw dist="35921" dir="2700000" algn="ctr" rotWithShape="0">
              <a:schemeClr val="bg2"/>
            </a:outerShdw>
          </a:effectLst>
        </p:spPr>
        <p:txBody>
          <a:bodyPr/>
          <a:lstStyle/>
          <a:p>
            <a:pPr>
              <a:defRPr/>
            </a:pPr>
            <a:r>
              <a:rPr lang="zh-CN" altLang="en-US" sz="2800" b="1" dirty="0">
                <a:solidFill>
                  <a:srgbClr val="FF0000"/>
                </a:solidFill>
              </a:rPr>
              <a:t>回顾 </a:t>
            </a:r>
            <a:r>
              <a:rPr lang="zh-CN" altLang="en-US" sz="2800" b="1" dirty="0">
                <a:solidFill>
                  <a:schemeClr val="bg1"/>
                </a:solidFill>
                <a:effectLst>
                  <a:outerShdw blurRad="38100" dist="38100" dir="2700000" algn="tl">
                    <a:srgbClr val="000000"/>
                  </a:outerShdw>
                </a:effectLst>
              </a:rPr>
              <a:t> </a:t>
            </a:r>
            <a:r>
              <a:rPr lang="zh-CN" altLang="en-US" sz="2800" b="1" dirty="0">
                <a:solidFill>
                  <a:schemeClr val="tx1"/>
                </a:solidFill>
                <a:effectLst>
                  <a:outerShdw blurRad="38100" dist="38100" dir="2700000" algn="tl">
                    <a:srgbClr val="000000"/>
                  </a:outerShdw>
                </a:effectLst>
              </a:rPr>
              <a:t>系统函数的表示法</a:t>
            </a:r>
          </a:p>
        </p:txBody>
      </p:sp>
      <p:sp>
        <p:nvSpPr>
          <p:cNvPr id="467971" name="Rectangle 3"/>
          <p:cNvSpPr>
            <a:spLocks noChangeArrowheads="1"/>
          </p:cNvSpPr>
          <p:nvPr/>
        </p:nvSpPr>
        <p:spPr bwMode="auto">
          <a:xfrm>
            <a:off x="755650" y="1196975"/>
            <a:ext cx="817403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en-US" altLang="zh-CN">
                <a:ea typeface="楷体_GB2312" pitchFamily="49" charset="-122"/>
              </a:rPr>
              <a:t>    </a:t>
            </a:r>
            <a:r>
              <a:rPr kumimoji="1" lang="zh-CN" altLang="en-US">
                <a:ea typeface="楷体_GB2312" pitchFamily="49" charset="-122"/>
              </a:rPr>
              <a:t>系统函数的一般形式是一个分式，其分子分母都是复变量</a:t>
            </a:r>
            <a:r>
              <a:rPr kumimoji="1" lang="en-US" altLang="zh-CN">
                <a:ea typeface="楷体_GB2312" pitchFamily="49" charset="-122"/>
              </a:rPr>
              <a:t>s</a:t>
            </a:r>
            <a:r>
              <a:rPr kumimoji="1" lang="zh-CN" altLang="en-US">
                <a:ea typeface="楷体_GB2312" pitchFamily="49" charset="-122"/>
              </a:rPr>
              <a:t>的多项式，即：</a:t>
            </a:r>
            <a:endParaRPr kumimoji="1" lang="zh-CN" altLang="en-US">
              <a:solidFill>
                <a:srgbClr val="9900FF"/>
              </a:solidFill>
              <a:latin typeface="华文中宋" panose="02010600040101010101" pitchFamily="2" charset="-122"/>
            </a:endParaRPr>
          </a:p>
        </p:txBody>
      </p:sp>
      <p:graphicFrame>
        <p:nvGraphicFramePr>
          <p:cNvPr id="467976" name="Object 2"/>
          <p:cNvGraphicFramePr>
            <a:graphicFrameLocks noGrp="1" noChangeAspect="1"/>
          </p:cNvGraphicFramePr>
          <p:nvPr>
            <p:ph idx="1"/>
          </p:nvPr>
        </p:nvGraphicFramePr>
        <p:xfrm>
          <a:off x="900113" y="2492375"/>
          <a:ext cx="7681912" cy="1285875"/>
        </p:xfrm>
        <a:graphic>
          <a:graphicData uri="http://schemas.openxmlformats.org/presentationml/2006/ole">
            <mc:AlternateContent xmlns:mc="http://schemas.openxmlformats.org/markup-compatibility/2006">
              <mc:Choice xmlns:v="urn:schemas-microsoft-com:vml" Requires="v">
                <p:oleObj name="公式" r:id="rId3" imgW="2730500" imgH="457200" progId="Equation.3">
                  <p:embed/>
                </p:oleObj>
              </mc:Choice>
              <mc:Fallback>
                <p:oleObj name="公式" r:id="rId3" imgW="2730500" imgH="457200" progId="Equation.3">
                  <p:embed/>
                  <p:pic>
                    <p:nvPicPr>
                      <p:cNvPr id="0" name="图片 1167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492375"/>
                        <a:ext cx="7681912" cy="1285875"/>
                      </a:xfrm>
                      <a:prstGeom prst="rect">
                        <a:avLst/>
                      </a:prstGeom>
                      <a:noFill/>
                      <a:ln w="28575" cmpd="sng">
                        <a:solidFill>
                          <a:srgbClr val="660066"/>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7978" name="Text Box 10"/>
          <p:cNvSpPr txBox="1">
            <a:spLocks noChangeArrowheads="1"/>
          </p:cNvSpPr>
          <p:nvPr/>
        </p:nvSpPr>
        <p:spPr bwMode="auto">
          <a:xfrm>
            <a:off x="1182688" y="5099050"/>
            <a:ext cx="2449512"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ea typeface="楷体_GB2312" pitchFamily="49" charset="-122"/>
              </a:rPr>
              <a:t>频率特性曲线</a:t>
            </a:r>
          </a:p>
        </p:txBody>
      </p:sp>
      <p:sp>
        <p:nvSpPr>
          <p:cNvPr id="467979" name="Text Box 11"/>
          <p:cNvSpPr txBox="1">
            <a:spLocks noChangeArrowheads="1"/>
          </p:cNvSpPr>
          <p:nvPr/>
        </p:nvSpPr>
        <p:spPr bwMode="auto">
          <a:xfrm>
            <a:off x="1187450" y="5499100"/>
            <a:ext cx="15113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ea typeface="楷体_GB2312" pitchFamily="49" charset="-122"/>
              </a:rPr>
              <a:t>复轨迹</a:t>
            </a:r>
          </a:p>
        </p:txBody>
      </p:sp>
      <p:sp>
        <p:nvSpPr>
          <p:cNvPr id="467980" name="Text Box 12"/>
          <p:cNvSpPr txBox="1">
            <a:spLocks noChangeArrowheads="1"/>
          </p:cNvSpPr>
          <p:nvPr/>
        </p:nvSpPr>
        <p:spPr bwMode="auto">
          <a:xfrm>
            <a:off x="1244600" y="5938838"/>
            <a:ext cx="1439863"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zh-CN" altLang="en-US">
                <a:ea typeface="楷体_GB2312" pitchFamily="49" charset="-122"/>
              </a:rPr>
              <a:t>极零图</a:t>
            </a:r>
          </a:p>
        </p:txBody>
      </p:sp>
      <p:sp>
        <p:nvSpPr>
          <p:cNvPr id="467982" name="Rectangle 14"/>
          <p:cNvSpPr>
            <a:spLocks noChangeArrowheads="1"/>
          </p:cNvSpPr>
          <p:nvPr/>
        </p:nvSpPr>
        <p:spPr bwMode="auto">
          <a:xfrm>
            <a:off x="755650" y="3933825"/>
            <a:ext cx="770413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en-US" altLang="zh-CN">
                <a:ea typeface="楷体_GB2312" pitchFamily="49" charset="-122"/>
              </a:rPr>
              <a:t>   </a:t>
            </a:r>
            <a:r>
              <a:rPr kumimoji="1" lang="zh-CN" altLang="en-US">
                <a:ea typeface="楷体_GB2312" pitchFamily="49" charset="-122"/>
              </a:rPr>
              <a:t>这种形式，很难看出系统的特性，所以常用图示法来表示，常用的图示法有：</a:t>
            </a:r>
            <a:endParaRPr kumimoji="1" lang="zh-CN" altLang="en-US">
              <a:solidFill>
                <a:srgbClr val="9900FF"/>
              </a:solidFill>
              <a:latin typeface="华文中宋" panose="02010600040101010101" pitchFamily="2" charset="-122"/>
            </a:endParaRPr>
          </a:p>
        </p:txBody>
      </p:sp>
      <p:sp>
        <p:nvSpPr>
          <p:cNvPr id="10" name="日期占位符 9"/>
          <p:cNvSpPr>
            <a:spLocks noGrp="1"/>
          </p:cNvSpPr>
          <p:nvPr>
            <p:ph type="dt" sz="quarter" idx="10"/>
          </p:nvPr>
        </p:nvSpPr>
        <p:spPr/>
        <p:txBody>
          <a:bodyPr/>
          <a:lstStyle/>
          <a:p>
            <a:pPr>
              <a:defRPr/>
            </a:pPr>
            <a:fld id="{94B5C09A-0A02-433F-A023-5B1A16A7737D}" type="datetime1">
              <a:rPr lang="zh-CN" altLang="en-US"/>
              <a:t>2026/4/28</a:t>
            </a:fld>
            <a:endParaRPr lang="zh-CN" altLang="en-US"/>
          </a:p>
        </p:txBody>
      </p:sp>
      <p:sp>
        <p:nvSpPr>
          <p:cNvPr id="2" name="墨迹 1"/>
          <p:cNvSpPr/>
          <p:nvPr/>
        </p:nvSpPr>
        <p:spPr bwMode="auto">
          <a:xfrm>
            <a:off x="914760" y="1790640"/>
            <a:ext cx="8129160" cy="45810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5702"/>
    </mc:Choice>
    <mc:Fallback xmlns="">
      <p:transition spd="slow" advTm="1557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467971"/>
                                        </p:tgtEl>
                                        <p:attrNameLst>
                                          <p:attrName>style.visibility</p:attrName>
                                        </p:attrNameLst>
                                      </p:cBhvr>
                                      <p:to>
                                        <p:strVal val="visible"/>
                                      </p:to>
                                    </p:set>
                                    <p:anim calcmode="lin" valueType="num">
                                      <p:cBhvr>
                                        <p:cTn id="11" dur="1000" fill="hold"/>
                                        <p:tgtEl>
                                          <p:spTgt spid="467971"/>
                                        </p:tgtEl>
                                        <p:attrNameLst>
                                          <p:attrName>ppt_w</p:attrName>
                                        </p:attrNameLst>
                                      </p:cBhvr>
                                      <p:tavLst>
                                        <p:tav tm="0">
                                          <p:val>
                                            <p:strVal val="#ppt_w*0.70"/>
                                          </p:val>
                                        </p:tav>
                                        <p:tav tm="100000">
                                          <p:val>
                                            <p:strVal val="#ppt_w"/>
                                          </p:val>
                                        </p:tav>
                                      </p:tavLst>
                                    </p:anim>
                                    <p:anim calcmode="lin" valueType="num">
                                      <p:cBhvr>
                                        <p:cTn id="12" dur="1000" fill="hold"/>
                                        <p:tgtEl>
                                          <p:spTgt spid="467971"/>
                                        </p:tgtEl>
                                        <p:attrNameLst>
                                          <p:attrName>ppt_h</p:attrName>
                                        </p:attrNameLst>
                                      </p:cBhvr>
                                      <p:tavLst>
                                        <p:tav tm="0">
                                          <p:val>
                                            <p:strVal val="#ppt_h"/>
                                          </p:val>
                                        </p:tav>
                                        <p:tav tm="100000">
                                          <p:val>
                                            <p:strVal val="#ppt_h"/>
                                          </p:val>
                                        </p:tav>
                                      </p:tavLst>
                                    </p:anim>
                                    <p:animEffect transition="in" filter="fade">
                                      <p:cBhvr>
                                        <p:cTn id="13" dur="1000"/>
                                        <p:tgtEl>
                                          <p:spTgt spid="467971"/>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467976"/>
                                        </p:tgtEl>
                                        <p:attrNameLst>
                                          <p:attrName>style.visibility</p:attrName>
                                        </p:attrNameLst>
                                      </p:cBhvr>
                                      <p:to>
                                        <p:strVal val="visible"/>
                                      </p:to>
                                    </p:set>
                                    <p:anim calcmode="lin" valueType="num">
                                      <p:cBhvr>
                                        <p:cTn id="17" dur="1000" fill="hold"/>
                                        <p:tgtEl>
                                          <p:spTgt spid="467976"/>
                                        </p:tgtEl>
                                        <p:attrNameLst>
                                          <p:attrName>ppt_w</p:attrName>
                                        </p:attrNameLst>
                                      </p:cBhvr>
                                      <p:tavLst>
                                        <p:tav tm="0">
                                          <p:val>
                                            <p:strVal val="#ppt_w*0.70"/>
                                          </p:val>
                                        </p:tav>
                                        <p:tav tm="100000">
                                          <p:val>
                                            <p:strVal val="#ppt_w"/>
                                          </p:val>
                                        </p:tav>
                                      </p:tavLst>
                                    </p:anim>
                                    <p:anim calcmode="lin" valueType="num">
                                      <p:cBhvr>
                                        <p:cTn id="18" dur="1000" fill="hold"/>
                                        <p:tgtEl>
                                          <p:spTgt spid="467976"/>
                                        </p:tgtEl>
                                        <p:attrNameLst>
                                          <p:attrName>ppt_h</p:attrName>
                                        </p:attrNameLst>
                                      </p:cBhvr>
                                      <p:tavLst>
                                        <p:tav tm="0">
                                          <p:val>
                                            <p:strVal val="#ppt_h"/>
                                          </p:val>
                                        </p:tav>
                                        <p:tav tm="100000">
                                          <p:val>
                                            <p:strVal val="#ppt_h"/>
                                          </p:val>
                                        </p:tav>
                                      </p:tavLst>
                                    </p:anim>
                                    <p:animEffect transition="in" filter="fade">
                                      <p:cBhvr>
                                        <p:cTn id="19" dur="1000"/>
                                        <p:tgtEl>
                                          <p:spTgt spid="467976"/>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467982"/>
                                        </p:tgtEl>
                                        <p:attrNameLst>
                                          <p:attrName>style.visibility</p:attrName>
                                        </p:attrNameLst>
                                      </p:cBhvr>
                                      <p:to>
                                        <p:strVal val="visible"/>
                                      </p:to>
                                    </p:set>
                                    <p:anim calcmode="lin" valueType="num">
                                      <p:cBhvr>
                                        <p:cTn id="24" dur="1000" fill="hold"/>
                                        <p:tgtEl>
                                          <p:spTgt spid="467982"/>
                                        </p:tgtEl>
                                        <p:attrNameLst>
                                          <p:attrName>ppt_w</p:attrName>
                                        </p:attrNameLst>
                                      </p:cBhvr>
                                      <p:tavLst>
                                        <p:tav tm="0">
                                          <p:val>
                                            <p:strVal val="#ppt_w*0.70"/>
                                          </p:val>
                                        </p:tav>
                                        <p:tav tm="100000">
                                          <p:val>
                                            <p:strVal val="#ppt_w"/>
                                          </p:val>
                                        </p:tav>
                                      </p:tavLst>
                                    </p:anim>
                                    <p:anim calcmode="lin" valueType="num">
                                      <p:cBhvr>
                                        <p:cTn id="25" dur="1000" fill="hold"/>
                                        <p:tgtEl>
                                          <p:spTgt spid="467982"/>
                                        </p:tgtEl>
                                        <p:attrNameLst>
                                          <p:attrName>ppt_h</p:attrName>
                                        </p:attrNameLst>
                                      </p:cBhvr>
                                      <p:tavLst>
                                        <p:tav tm="0">
                                          <p:val>
                                            <p:strVal val="#ppt_h"/>
                                          </p:val>
                                        </p:tav>
                                        <p:tav tm="100000">
                                          <p:val>
                                            <p:strVal val="#ppt_h"/>
                                          </p:val>
                                        </p:tav>
                                      </p:tavLst>
                                    </p:anim>
                                    <p:animEffect transition="in" filter="fade">
                                      <p:cBhvr>
                                        <p:cTn id="26" dur="1000"/>
                                        <p:tgtEl>
                                          <p:spTgt spid="467982"/>
                                        </p:tgtEl>
                                      </p:cBhvr>
                                    </p:animEffect>
                                  </p:childTnLst>
                                </p:cTn>
                              </p:par>
                              <p:par>
                                <p:cTn id="27" presetID="55" presetClass="entr" presetSubtype="0" fill="hold" grpId="1" nodeType="withEffect">
                                  <p:stCondLst>
                                    <p:cond delay="0"/>
                                  </p:stCondLst>
                                  <p:iterate type="lt">
                                    <p:tmPct val="0"/>
                                  </p:iterate>
                                  <p:childTnLst>
                                    <p:set>
                                      <p:cBhvr>
                                        <p:cTn id="28" dur="1" fill="hold">
                                          <p:stCondLst>
                                            <p:cond delay="0"/>
                                          </p:stCondLst>
                                        </p:cTn>
                                        <p:tgtEl>
                                          <p:spTgt spid="467978"/>
                                        </p:tgtEl>
                                        <p:attrNameLst>
                                          <p:attrName>style.visibility</p:attrName>
                                        </p:attrNameLst>
                                      </p:cBhvr>
                                      <p:to>
                                        <p:strVal val="visible"/>
                                      </p:to>
                                    </p:set>
                                    <p:anim calcmode="lin" valueType="num">
                                      <p:cBhvr>
                                        <p:cTn id="29" dur="1000" fill="hold"/>
                                        <p:tgtEl>
                                          <p:spTgt spid="467978"/>
                                        </p:tgtEl>
                                        <p:attrNameLst>
                                          <p:attrName>ppt_w</p:attrName>
                                        </p:attrNameLst>
                                      </p:cBhvr>
                                      <p:tavLst>
                                        <p:tav tm="0">
                                          <p:val>
                                            <p:strVal val="#ppt_w*0.70"/>
                                          </p:val>
                                        </p:tav>
                                        <p:tav tm="100000">
                                          <p:val>
                                            <p:strVal val="#ppt_w"/>
                                          </p:val>
                                        </p:tav>
                                      </p:tavLst>
                                    </p:anim>
                                    <p:anim calcmode="lin" valueType="num">
                                      <p:cBhvr>
                                        <p:cTn id="30" dur="1000" fill="hold"/>
                                        <p:tgtEl>
                                          <p:spTgt spid="467978"/>
                                        </p:tgtEl>
                                        <p:attrNameLst>
                                          <p:attrName>ppt_h</p:attrName>
                                        </p:attrNameLst>
                                      </p:cBhvr>
                                      <p:tavLst>
                                        <p:tav tm="0">
                                          <p:val>
                                            <p:strVal val="#ppt_h"/>
                                          </p:val>
                                        </p:tav>
                                        <p:tav tm="100000">
                                          <p:val>
                                            <p:strVal val="#ppt_h"/>
                                          </p:val>
                                        </p:tav>
                                      </p:tavLst>
                                    </p:anim>
                                    <p:animEffect transition="in" filter="fade">
                                      <p:cBhvr>
                                        <p:cTn id="31" dur="1000"/>
                                        <p:tgtEl>
                                          <p:spTgt spid="467978"/>
                                        </p:tgtEl>
                                      </p:cBhvr>
                                    </p:animEffect>
                                  </p:childTnLst>
                                </p:cTn>
                              </p:par>
                              <p:par>
                                <p:cTn id="32" presetID="55" presetClass="entr" presetSubtype="0" fill="hold" grpId="1" nodeType="withEffect">
                                  <p:stCondLst>
                                    <p:cond delay="0"/>
                                  </p:stCondLst>
                                  <p:iterate type="lt">
                                    <p:tmPct val="0"/>
                                  </p:iterate>
                                  <p:childTnLst>
                                    <p:set>
                                      <p:cBhvr>
                                        <p:cTn id="33" dur="1" fill="hold">
                                          <p:stCondLst>
                                            <p:cond delay="0"/>
                                          </p:stCondLst>
                                        </p:cTn>
                                        <p:tgtEl>
                                          <p:spTgt spid="467979"/>
                                        </p:tgtEl>
                                        <p:attrNameLst>
                                          <p:attrName>style.visibility</p:attrName>
                                        </p:attrNameLst>
                                      </p:cBhvr>
                                      <p:to>
                                        <p:strVal val="visible"/>
                                      </p:to>
                                    </p:set>
                                    <p:anim calcmode="lin" valueType="num">
                                      <p:cBhvr>
                                        <p:cTn id="34" dur="1000" fill="hold"/>
                                        <p:tgtEl>
                                          <p:spTgt spid="467979"/>
                                        </p:tgtEl>
                                        <p:attrNameLst>
                                          <p:attrName>ppt_w</p:attrName>
                                        </p:attrNameLst>
                                      </p:cBhvr>
                                      <p:tavLst>
                                        <p:tav tm="0">
                                          <p:val>
                                            <p:strVal val="#ppt_w*0.70"/>
                                          </p:val>
                                        </p:tav>
                                        <p:tav tm="100000">
                                          <p:val>
                                            <p:strVal val="#ppt_w"/>
                                          </p:val>
                                        </p:tav>
                                      </p:tavLst>
                                    </p:anim>
                                    <p:anim calcmode="lin" valueType="num">
                                      <p:cBhvr>
                                        <p:cTn id="35" dur="1000" fill="hold"/>
                                        <p:tgtEl>
                                          <p:spTgt spid="467979"/>
                                        </p:tgtEl>
                                        <p:attrNameLst>
                                          <p:attrName>ppt_h</p:attrName>
                                        </p:attrNameLst>
                                      </p:cBhvr>
                                      <p:tavLst>
                                        <p:tav tm="0">
                                          <p:val>
                                            <p:strVal val="#ppt_h"/>
                                          </p:val>
                                        </p:tav>
                                        <p:tav tm="100000">
                                          <p:val>
                                            <p:strVal val="#ppt_h"/>
                                          </p:val>
                                        </p:tav>
                                      </p:tavLst>
                                    </p:anim>
                                    <p:animEffect transition="in" filter="fade">
                                      <p:cBhvr>
                                        <p:cTn id="36" dur="1000"/>
                                        <p:tgtEl>
                                          <p:spTgt spid="467979"/>
                                        </p:tgtEl>
                                      </p:cBhvr>
                                    </p:animEffect>
                                  </p:childTnLst>
                                </p:cTn>
                              </p:par>
                              <p:par>
                                <p:cTn id="37" presetID="55" presetClass="entr" presetSubtype="0" fill="hold" grpId="1" nodeType="withEffect">
                                  <p:stCondLst>
                                    <p:cond delay="0"/>
                                  </p:stCondLst>
                                  <p:iterate type="lt">
                                    <p:tmPct val="0"/>
                                  </p:iterate>
                                  <p:childTnLst>
                                    <p:set>
                                      <p:cBhvr>
                                        <p:cTn id="38" dur="1" fill="hold">
                                          <p:stCondLst>
                                            <p:cond delay="0"/>
                                          </p:stCondLst>
                                        </p:cTn>
                                        <p:tgtEl>
                                          <p:spTgt spid="467980"/>
                                        </p:tgtEl>
                                        <p:attrNameLst>
                                          <p:attrName>style.visibility</p:attrName>
                                        </p:attrNameLst>
                                      </p:cBhvr>
                                      <p:to>
                                        <p:strVal val="visible"/>
                                      </p:to>
                                    </p:set>
                                    <p:anim calcmode="lin" valueType="num">
                                      <p:cBhvr>
                                        <p:cTn id="39" dur="1000" fill="hold"/>
                                        <p:tgtEl>
                                          <p:spTgt spid="467980"/>
                                        </p:tgtEl>
                                        <p:attrNameLst>
                                          <p:attrName>ppt_w</p:attrName>
                                        </p:attrNameLst>
                                      </p:cBhvr>
                                      <p:tavLst>
                                        <p:tav tm="0">
                                          <p:val>
                                            <p:strVal val="#ppt_w*0.70"/>
                                          </p:val>
                                        </p:tav>
                                        <p:tav tm="100000">
                                          <p:val>
                                            <p:strVal val="#ppt_w"/>
                                          </p:val>
                                        </p:tav>
                                      </p:tavLst>
                                    </p:anim>
                                    <p:anim calcmode="lin" valueType="num">
                                      <p:cBhvr>
                                        <p:cTn id="40" dur="1000" fill="hold"/>
                                        <p:tgtEl>
                                          <p:spTgt spid="467980"/>
                                        </p:tgtEl>
                                        <p:attrNameLst>
                                          <p:attrName>ppt_h</p:attrName>
                                        </p:attrNameLst>
                                      </p:cBhvr>
                                      <p:tavLst>
                                        <p:tav tm="0">
                                          <p:val>
                                            <p:strVal val="#ppt_h"/>
                                          </p:val>
                                        </p:tav>
                                        <p:tav tm="100000">
                                          <p:val>
                                            <p:strVal val="#ppt_h"/>
                                          </p:val>
                                        </p:tav>
                                      </p:tavLst>
                                    </p:anim>
                                    <p:animEffect transition="in" filter="fade">
                                      <p:cBhvr>
                                        <p:cTn id="41" dur="1000"/>
                                        <p:tgtEl>
                                          <p:spTgt spid="467980"/>
                                        </p:tgtEl>
                                      </p:cBhvr>
                                    </p:animEffect>
                                  </p:childTnLst>
                                </p:cTn>
                              </p:par>
                            </p:childTnLst>
                          </p:cTn>
                        </p:par>
                        <p:par>
                          <p:cTn id="42" fill="hold">
                            <p:stCondLst>
                              <p:cond delay="1000"/>
                            </p:stCondLst>
                            <p:childTnLst>
                              <p:par>
                                <p:cTn id="43" presetID="20" presetClass="emph" presetSubtype="0" fill="hold" grpId="0" nodeType="afterEffect">
                                  <p:stCondLst>
                                    <p:cond delay="0"/>
                                  </p:stCondLst>
                                  <p:iterate type="lt">
                                    <p:tmPct val="10000"/>
                                  </p:iterate>
                                  <p:childTnLst>
                                    <p:set>
                                      <p:cBhvr override="childStyle">
                                        <p:cTn id="44" dur="500" autoRev="1" fill="hold"/>
                                        <p:tgtEl>
                                          <p:spTgt spid="467978"/>
                                        </p:tgtEl>
                                        <p:attrNameLst>
                                          <p:attrName>style.color</p:attrName>
                                        </p:attrNameLst>
                                      </p:cBhvr>
                                      <p:to>
                                        <p:clrVal>
                                          <a:srgbClr val="FF0000"/>
                                        </p:clrVal>
                                      </p:to>
                                    </p:set>
                                    <p:set>
                                      <p:cBhvr>
                                        <p:cTn id="45" dur="500" autoRev="1" fill="hold"/>
                                        <p:tgtEl>
                                          <p:spTgt spid="467978"/>
                                        </p:tgtEl>
                                        <p:attrNameLst>
                                          <p:attrName>fillcolor</p:attrName>
                                        </p:attrNameLst>
                                      </p:cBhvr>
                                      <p:to>
                                        <p:clrVal>
                                          <a:srgbClr val="FF0000"/>
                                        </p:clrVal>
                                      </p:to>
                                    </p:set>
                                    <p:set>
                                      <p:cBhvr>
                                        <p:cTn id="46" dur="500" autoRev="1" fill="hold"/>
                                        <p:tgtEl>
                                          <p:spTgt spid="467978"/>
                                        </p:tgtEl>
                                        <p:attrNameLst>
                                          <p:attrName>fill.type</p:attrName>
                                        </p:attrNameLst>
                                      </p:cBhvr>
                                      <p:to>
                                        <p:strVal val="solid"/>
                                      </p:to>
                                    </p:set>
                                  </p:childTnLst>
                                </p:cTn>
                              </p:par>
                            </p:childTnLst>
                          </p:cTn>
                        </p:par>
                        <p:par>
                          <p:cTn id="47" fill="hold">
                            <p:stCondLst>
                              <p:cond delay="2500"/>
                            </p:stCondLst>
                            <p:childTnLst>
                              <p:par>
                                <p:cTn id="48" presetID="20" presetClass="emph" presetSubtype="0" fill="hold" grpId="0" nodeType="afterEffect">
                                  <p:stCondLst>
                                    <p:cond delay="0"/>
                                  </p:stCondLst>
                                  <p:iterate type="lt">
                                    <p:tmPct val="10000"/>
                                  </p:iterate>
                                  <p:childTnLst>
                                    <p:set>
                                      <p:cBhvr override="childStyle">
                                        <p:cTn id="49" dur="500" autoRev="1" fill="hold"/>
                                        <p:tgtEl>
                                          <p:spTgt spid="467979"/>
                                        </p:tgtEl>
                                        <p:attrNameLst>
                                          <p:attrName>style.color</p:attrName>
                                        </p:attrNameLst>
                                      </p:cBhvr>
                                      <p:to>
                                        <p:clrVal>
                                          <a:srgbClr val="FF0000"/>
                                        </p:clrVal>
                                      </p:to>
                                    </p:set>
                                    <p:set>
                                      <p:cBhvr>
                                        <p:cTn id="50" dur="500" autoRev="1" fill="hold"/>
                                        <p:tgtEl>
                                          <p:spTgt spid="467979"/>
                                        </p:tgtEl>
                                        <p:attrNameLst>
                                          <p:attrName>fillcolor</p:attrName>
                                        </p:attrNameLst>
                                      </p:cBhvr>
                                      <p:to>
                                        <p:clrVal>
                                          <a:srgbClr val="FF0000"/>
                                        </p:clrVal>
                                      </p:to>
                                    </p:set>
                                    <p:set>
                                      <p:cBhvr>
                                        <p:cTn id="51" dur="500" autoRev="1" fill="hold"/>
                                        <p:tgtEl>
                                          <p:spTgt spid="467979"/>
                                        </p:tgtEl>
                                        <p:attrNameLst>
                                          <p:attrName>fill.type</p:attrName>
                                        </p:attrNameLst>
                                      </p:cBhvr>
                                      <p:to>
                                        <p:strVal val="solid"/>
                                      </p:to>
                                    </p:set>
                                  </p:childTnLst>
                                </p:cTn>
                              </p:par>
                            </p:childTnLst>
                          </p:cTn>
                        </p:par>
                        <p:par>
                          <p:cTn id="52" fill="hold">
                            <p:stCondLst>
                              <p:cond delay="3700"/>
                            </p:stCondLst>
                            <p:childTnLst>
                              <p:par>
                                <p:cTn id="53" presetID="20" presetClass="emph" presetSubtype="0" fill="hold" grpId="0" nodeType="afterEffect">
                                  <p:stCondLst>
                                    <p:cond delay="0"/>
                                  </p:stCondLst>
                                  <p:iterate type="lt">
                                    <p:tmPct val="10000"/>
                                  </p:iterate>
                                  <p:childTnLst>
                                    <p:set>
                                      <p:cBhvr override="childStyle">
                                        <p:cTn id="54" dur="500" autoRev="1" fill="hold"/>
                                        <p:tgtEl>
                                          <p:spTgt spid="467980"/>
                                        </p:tgtEl>
                                        <p:attrNameLst>
                                          <p:attrName>style.color</p:attrName>
                                        </p:attrNameLst>
                                      </p:cBhvr>
                                      <p:to>
                                        <p:clrVal>
                                          <a:srgbClr val="FF0000"/>
                                        </p:clrVal>
                                      </p:to>
                                    </p:set>
                                    <p:set>
                                      <p:cBhvr>
                                        <p:cTn id="55" dur="500" autoRev="1" fill="hold"/>
                                        <p:tgtEl>
                                          <p:spTgt spid="467980"/>
                                        </p:tgtEl>
                                        <p:attrNameLst>
                                          <p:attrName>fillcolor</p:attrName>
                                        </p:attrNameLst>
                                      </p:cBhvr>
                                      <p:to>
                                        <p:clrVal>
                                          <a:srgbClr val="FF0000"/>
                                        </p:clrVal>
                                      </p:to>
                                    </p:set>
                                    <p:set>
                                      <p:cBhvr>
                                        <p:cTn id="56" dur="500" autoRev="1" fill="hold"/>
                                        <p:tgtEl>
                                          <p:spTgt spid="46798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1" grpId="0"/>
      <p:bldP spid="467978" grpId="0"/>
      <p:bldP spid="467978" grpId="1"/>
      <p:bldP spid="467979" grpId="0"/>
      <p:bldP spid="467979" grpId="1"/>
      <p:bldP spid="467980" grpId="0"/>
      <p:bldP spid="467980" grpId="1"/>
      <p:bldP spid="46798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373063" y="0"/>
            <a:ext cx="8770937" cy="719138"/>
          </a:xfrm>
          <a:solidFill>
            <a:srgbClr val="FF3300"/>
          </a:solidFill>
          <a:effectLst>
            <a:outerShdw dist="35921" dir="2700000" algn="ctr" rotWithShape="0">
              <a:schemeClr val="bg2"/>
            </a:outerShdw>
          </a:effectLst>
        </p:spPr>
        <p:txBody>
          <a:bodyPr/>
          <a:lstStyle/>
          <a:p>
            <a:r>
              <a:rPr lang="en-US" altLang="zh-CN" sz="2800" b="1">
                <a:solidFill>
                  <a:schemeClr val="bg1"/>
                </a:solidFill>
              </a:rPr>
              <a:t>§6.4 </a:t>
            </a:r>
            <a:r>
              <a:rPr lang="zh-CN" altLang="en-US" sz="2800" b="1">
                <a:solidFill>
                  <a:schemeClr val="bg1"/>
                </a:solidFill>
              </a:rPr>
              <a:t>系统函数的极零点 分布与系统频率特性的关系</a:t>
            </a:r>
          </a:p>
        </p:txBody>
      </p:sp>
      <p:graphicFrame>
        <p:nvGraphicFramePr>
          <p:cNvPr id="47107" name="Object 2"/>
          <p:cNvGraphicFramePr>
            <a:graphicFrameLocks noGrp="1" noChangeAspect="1"/>
          </p:cNvGraphicFramePr>
          <p:nvPr>
            <p:ph sz="half" idx="1"/>
          </p:nvPr>
        </p:nvGraphicFramePr>
        <p:xfrm>
          <a:off x="3884295" y="876300"/>
          <a:ext cx="4674235" cy="4674235"/>
        </p:xfrm>
        <a:graphic>
          <a:graphicData uri="http://schemas.openxmlformats.org/presentationml/2006/ole">
            <mc:AlternateContent xmlns:mc="http://schemas.openxmlformats.org/markup-compatibility/2006">
              <mc:Choice xmlns:v="urn:schemas-microsoft-com:vml" Requires="v">
                <p:oleObj name="公式" r:id="rId2" imgW="2844800" imgH="2831465" progId="Equation.3">
                  <p:embed/>
                </p:oleObj>
              </mc:Choice>
              <mc:Fallback>
                <p:oleObj name="公式" r:id="rId2" imgW="2844800" imgH="2831465" progId="Equation.3">
                  <p:embed/>
                  <p:pic>
                    <p:nvPicPr>
                      <p:cNvPr id="0" name="Object 2"/>
                      <p:cNvPicPr>
                        <a:picLocks noChangeAspect="1" noChangeArrowheads="1"/>
                      </p:cNvPicPr>
                      <p:nvPr/>
                    </p:nvPicPr>
                    <p:blipFill>
                      <a:blip r:embed="rId3"/>
                      <a:srcRect/>
                      <a:stretch>
                        <a:fillRect/>
                      </a:stretch>
                    </p:blipFill>
                    <p:spPr bwMode="auto">
                      <a:xfrm>
                        <a:off x="3884295" y="876300"/>
                        <a:ext cx="4674235" cy="4674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08" name="Rectangle 4"/>
          <p:cNvSpPr>
            <a:spLocks noChangeArrowheads="1"/>
          </p:cNvSpPr>
          <p:nvPr/>
        </p:nvSpPr>
        <p:spPr bwMode="auto">
          <a:xfrm>
            <a:off x="3143250" y="3724275"/>
            <a:ext cx="6286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100"/>
          </a:p>
          <a:p>
            <a:pPr>
              <a:lnSpc>
                <a:spcPct val="85000"/>
              </a:lnSpc>
              <a:spcBef>
                <a:spcPct val="20000"/>
              </a:spcBef>
              <a:buClr>
                <a:schemeClr val="accent2"/>
              </a:buClr>
              <a:buFont typeface="Wingdings" panose="05000000000000000000" pitchFamily="2" charset="2"/>
              <a:buNone/>
            </a:pP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pic>
        <p:nvPicPr>
          <p:cNvPr id="47109" name="Picture 6" descr="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981075"/>
            <a:ext cx="3240088"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日期占位符 6"/>
          <p:cNvSpPr>
            <a:spLocks noGrp="1"/>
          </p:cNvSpPr>
          <p:nvPr>
            <p:ph type="dt" sz="quarter" idx="10"/>
          </p:nvPr>
        </p:nvSpPr>
        <p:spPr/>
        <p:txBody>
          <a:bodyPr/>
          <a:lstStyle/>
          <a:p>
            <a:pPr>
              <a:defRPr/>
            </a:pPr>
            <a:fld id="{03B17F49-7460-4151-96B2-0D3BA769D75E}" type="datetime1">
              <a:rPr lang="zh-CN" altLang="en-US"/>
              <a:t>2026/4/28</a:t>
            </a:fld>
            <a:endParaRPr lang="en-US" altLang="zh-CN"/>
          </a:p>
        </p:txBody>
      </p:sp>
      <p:sp>
        <p:nvSpPr>
          <p:cNvPr id="2" name="墨迹 1"/>
          <p:cNvSpPr/>
          <p:nvPr/>
        </p:nvSpPr>
        <p:spPr bwMode="auto">
          <a:xfrm>
            <a:off x="3884040" y="3368160"/>
            <a:ext cx="4829760" cy="2045160"/>
          </a:xfrm>
        </p:spPr>
      </p:sp>
    </p:spTree>
  </p:cSld>
  <p:clrMapOvr>
    <a:masterClrMapping/>
  </p:clrMapOvr>
  <mc:AlternateContent xmlns:mc="http://schemas.openxmlformats.org/markup-compatibility/2006" xmlns:p14="http://schemas.microsoft.com/office/powerpoint/2010/main">
    <mc:Choice Requires="p14">
      <p:transition spd="slow" p14:dur="2000" advTm="42014"/>
    </mc:Choice>
    <mc:Fallback xmlns="">
      <p:transition spd="slow" advTm="420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11"/>
          <p:cNvSpPr>
            <a:spLocks noGrp="1"/>
          </p:cNvSpPr>
          <p:nvPr>
            <p:ph type="dt" sz="quarter" idx="10"/>
          </p:nvPr>
        </p:nvSpPr>
        <p:spPr/>
        <p:txBody>
          <a:bodyPr/>
          <a:lstStyle/>
          <a:p>
            <a:pPr>
              <a:defRPr/>
            </a:pPr>
            <a:fld id="{71F45ADB-38AF-47C9-8957-B972F0123C4B}" type="datetime1">
              <a:rPr lang="zh-CN" altLang="en-US"/>
              <a:t>2026/4/28</a:t>
            </a:fld>
            <a:endParaRPr lang="en-US" altLang="zh-CN"/>
          </a:p>
        </p:txBody>
      </p:sp>
      <p:sp>
        <p:nvSpPr>
          <p:cNvPr id="489477" name="Rectangle 5"/>
          <p:cNvSpPr>
            <a:spLocks noChangeArrowheads="1"/>
          </p:cNvSpPr>
          <p:nvPr/>
        </p:nvSpPr>
        <p:spPr bwMode="auto">
          <a:xfrm>
            <a:off x="617420" y="2789238"/>
            <a:ext cx="5327650" cy="18034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dirty="0">
                <a:latin typeface="华文中宋" panose="02010600040101010101" pitchFamily="2" charset="-122"/>
              </a:rPr>
              <a:t>①</a:t>
            </a:r>
            <a:r>
              <a:rPr lang="zh-CN" altLang="en-US" dirty="0">
                <a:latin typeface="华文中宋" panose="02010600040101010101" pitchFamily="2" charset="-122"/>
              </a:rPr>
              <a:t>、</a:t>
            </a:r>
            <a:r>
              <a:rPr lang="el-GR" altLang="zh-CN" dirty="0">
                <a:latin typeface="华文中宋" panose="02010600040101010101" pitchFamily="2" charset="-122"/>
              </a:rPr>
              <a:t>ω</a:t>
            </a:r>
            <a:r>
              <a:rPr lang="en-US" altLang="zh-CN" dirty="0">
                <a:latin typeface="华文中宋" panose="02010600040101010101" pitchFamily="2" charset="-122"/>
              </a:rPr>
              <a:t>=0</a:t>
            </a:r>
            <a:r>
              <a:rPr lang="zh-CN" altLang="en-US" dirty="0">
                <a:latin typeface="华文中宋" panose="02010600040101010101" pitchFamily="2" charset="-122"/>
              </a:rPr>
              <a:t>时：</a:t>
            </a:r>
          </a:p>
          <a:p>
            <a:pPr eaLnBrk="1" hangingPunct="1">
              <a:lnSpc>
                <a:spcPct val="85000"/>
              </a:lnSpc>
              <a:spcBef>
                <a:spcPct val="20000"/>
              </a:spcBef>
              <a:buClr>
                <a:schemeClr val="accent2"/>
              </a:buClr>
              <a:buFont typeface="Wingdings" panose="05000000000000000000" pitchFamily="2" charset="2"/>
              <a:buNone/>
            </a:pPr>
            <a:r>
              <a:rPr lang="zh-CN" altLang="en-US" dirty="0">
                <a:latin typeface="华文中宋" panose="02010600040101010101" pitchFamily="2" charset="-122"/>
              </a:rPr>
              <a:t>         ∵ </a:t>
            </a:r>
            <a:r>
              <a:rPr lang="en-US" altLang="zh-CN" dirty="0">
                <a:latin typeface="华文中宋" panose="02010600040101010101" pitchFamily="2" charset="-122"/>
              </a:rPr>
              <a:t>A</a:t>
            </a:r>
            <a:r>
              <a:rPr lang="en-US" altLang="zh-CN" baseline="-25000" dirty="0">
                <a:latin typeface="华文中宋" panose="02010600040101010101" pitchFamily="2" charset="-122"/>
              </a:rPr>
              <a:t>1</a:t>
            </a:r>
            <a:r>
              <a:rPr lang="en-US" altLang="zh-CN" dirty="0">
                <a:latin typeface="华文中宋" panose="02010600040101010101" pitchFamily="2" charset="-122"/>
              </a:rPr>
              <a:t>=0</a:t>
            </a:r>
            <a:r>
              <a:rPr lang="zh-CN" altLang="en-US" dirty="0">
                <a:latin typeface="华文中宋" panose="02010600040101010101" pitchFamily="2" charset="-122"/>
              </a:rPr>
              <a:t>，</a:t>
            </a:r>
            <a:r>
              <a:rPr lang="en-US" altLang="zh-CN" dirty="0">
                <a:latin typeface="华文中宋" panose="02010600040101010101" pitchFamily="2" charset="-122"/>
              </a:rPr>
              <a:t>β</a:t>
            </a:r>
            <a:r>
              <a:rPr lang="zh-CN" altLang="en-US" dirty="0">
                <a:latin typeface="华文中宋" panose="02010600040101010101" pitchFamily="2" charset="-122"/>
              </a:rPr>
              <a:t>＝</a:t>
            </a:r>
            <a:r>
              <a:rPr lang="en-US" altLang="zh-CN" dirty="0">
                <a:latin typeface="华文中宋" panose="02010600040101010101" pitchFamily="2" charset="-122"/>
              </a:rPr>
              <a:t>90</a:t>
            </a:r>
            <a:r>
              <a:rPr lang="zh-CN" altLang="zh-CN" dirty="0">
                <a:latin typeface="华文中宋" panose="02010600040101010101" pitchFamily="2" charset="-122"/>
              </a:rPr>
              <a:t>°</a:t>
            </a:r>
            <a:endParaRPr lang="en-US" altLang="zh-CN" dirty="0">
              <a:latin typeface="华文中宋" panose="02010600040101010101" pitchFamily="2" charset="-122"/>
            </a:endParaRPr>
          </a:p>
          <a:p>
            <a:pPr eaLnBrk="1" hangingPunct="1">
              <a:lnSpc>
                <a:spcPct val="85000"/>
              </a:lnSpc>
              <a:spcBef>
                <a:spcPct val="20000"/>
              </a:spcBef>
              <a:buClr>
                <a:schemeClr val="accent2"/>
              </a:buClr>
              <a:buFont typeface="Wingdings" panose="05000000000000000000" pitchFamily="2" charset="2"/>
              <a:buNone/>
            </a:pPr>
            <a:r>
              <a:rPr lang="en-US" altLang="zh-CN" dirty="0">
                <a:latin typeface="华文中宋" panose="02010600040101010101" pitchFamily="2" charset="-122"/>
              </a:rPr>
              <a:t>         ∴ H(j0)=0</a:t>
            </a:r>
            <a:r>
              <a:rPr lang="zh-CN" altLang="en-US" dirty="0">
                <a:latin typeface="华文中宋" panose="02010600040101010101" pitchFamily="2" charset="-122"/>
              </a:rPr>
              <a:t>，</a:t>
            </a:r>
            <a:r>
              <a:rPr lang="en-US" altLang="zh-CN" dirty="0">
                <a:latin typeface="华文中宋" panose="02010600040101010101" pitchFamily="2" charset="-122"/>
              </a:rPr>
              <a:t>α</a:t>
            </a:r>
            <a:r>
              <a:rPr lang="en-US" altLang="zh-CN" baseline="-25000" dirty="0">
                <a:latin typeface="华文中宋" panose="02010600040101010101" pitchFamily="2" charset="-122"/>
              </a:rPr>
              <a:t>1</a:t>
            </a:r>
            <a:r>
              <a:rPr lang="en-US" altLang="zh-CN" dirty="0">
                <a:latin typeface="华文中宋" panose="02010600040101010101" pitchFamily="2" charset="-122"/>
              </a:rPr>
              <a:t>+α</a:t>
            </a:r>
            <a:r>
              <a:rPr lang="en-US" altLang="zh-CN" baseline="-25000" dirty="0">
                <a:latin typeface="华文中宋" panose="02010600040101010101" pitchFamily="2" charset="-122"/>
              </a:rPr>
              <a:t>2</a:t>
            </a:r>
            <a:r>
              <a:rPr lang="en-US" altLang="zh-CN" dirty="0">
                <a:latin typeface="华文中宋" panose="02010600040101010101" pitchFamily="2" charset="-122"/>
              </a:rPr>
              <a:t>=0</a:t>
            </a:r>
          </a:p>
          <a:p>
            <a:pPr eaLnBrk="1" hangingPunct="1">
              <a:lnSpc>
                <a:spcPct val="85000"/>
              </a:lnSpc>
              <a:spcBef>
                <a:spcPct val="20000"/>
              </a:spcBef>
              <a:buClr>
                <a:schemeClr val="accent2"/>
              </a:buClr>
              <a:buFont typeface="Wingdings" panose="05000000000000000000" pitchFamily="2" charset="2"/>
              <a:buNone/>
            </a:pPr>
            <a:r>
              <a:rPr lang="en-US" altLang="zh-CN" dirty="0">
                <a:latin typeface="华文中宋" panose="02010600040101010101" pitchFamily="2" charset="-122"/>
              </a:rPr>
              <a:t>         ∴ φ(ω)=90</a:t>
            </a:r>
            <a:r>
              <a:rPr lang="zh-CN" altLang="zh-CN" dirty="0">
                <a:latin typeface="华文中宋" panose="02010600040101010101" pitchFamily="2" charset="-122"/>
              </a:rPr>
              <a:t>°  </a:t>
            </a:r>
          </a:p>
        </p:txBody>
      </p:sp>
      <p:graphicFrame>
        <p:nvGraphicFramePr>
          <p:cNvPr id="48133" name="Object 3"/>
          <p:cNvGraphicFramePr>
            <a:graphicFrameLocks noGrp="1" noChangeAspect="1"/>
          </p:cNvGraphicFramePr>
          <p:nvPr>
            <p:ph sz="quarter" idx="3"/>
          </p:nvPr>
        </p:nvGraphicFramePr>
        <p:xfrm>
          <a:off x="734060" y="128270"/>
          <a:ext cx="3554095" cy="2266315"/>
        </p:xfrm>
        <a:graphic>
          <a:graphicData uri="http://schemas.openxmlformats.org/presentationml/2006/ole">
            <mc:AlternateContent xmlns:mc="http://schemas.openxmlformats.org/markup-compatibility/2006">
              <mc:Choice xmlns:v="urn:schemas-microsoft-com:vml" Requires="v">
                <p:oleObj name="公式" r:id="rId3" imgW="2565400" imgH="1625600" progId="Equation.3">
                  <p:embed/>
                </p:oleObj>
              </mc:Choice>
              <mc:Fallback>
                <p:oleObj name="公式" r:id="rId3" imgW="2565400" imgH="1625600" progId="Equation.3">
                  <p:embed/>
                  <p:pic>
                    <p:nvPicPr>
                      <p:cNvPr id="0" name="Object 3"/>
                      <p:cNvPicPr>
                        <a:picLocks noChangeAspect="1" noChangeArrowheads="1"/>
                      </p:cNvPicPr>
                      <p:nvPr/>
                    </p:nvPicPr>
                    <p:blipFill>
                      <a:blip r:embed="rId4"/>
                      <a:srcRect/>
                      <a:stretch>
                        <a:fillRect/>
                      </a:stretch>
                    </p:blipFill>
                    <p:spPr bwMode="auto">
                      <a:xfrm>
                        <a:off x="734060" y="128270"/>
                        <a:ext cx="3554095" cy="2266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134" name="Object 4"/>
          <p:cNvGraphicFramePr>
            <a:graphicFrameLocks noChangeAspect="1"/>
          </p:cNvGraphicFramePr>
          <p:nvPr/>
        </p:nvGraphicFramePr>
        <p:xfrm>
          <a:off x="5053013" y="127993"/>
          <a:ext cx="4006850" cy="989012"/>
        </p:xfrm>
        <a:graphic>
          <a:graphicData uri="http://schemas.openxmlformats.org/presentationml/2006/ole">
            <mc:AlternateContent xmlns:mc="http://schemas.openxmlformats.org/markup-compatibility/2006">
              <mc:Choice xmlns:v="urn:schemas-microsoft-com:vml" Requires="v">
                <p:oleObj name="公式" r:id="rId5" imgW="51816000" imgH="12801600" progId="Equation.3">
                  <p:embed/>
                </p:oleObj>
              </mc:Choice>
              <mc:Fallback>
                <p:oleObj name="公式" r:id="rId5" imgW="51816000" imgH="12801600" progId="Equation.3">
                  <p:embed/>
                  <p:pic>
                    <p:nvPicPr>
                      <p:cNvPr id="0" name="Object 4"/>
                      <p:cNvPicPr>
                        <a:picLocks noChangeAspect="1" noChangeArrowheads="1"/>
                      </p:cNvPicPr>
                      <p:nvPr/>
                    </p:nvPicPr>
                    <p:blipFill>
                      <a:blip r:embed="rId6"/>
                      <a:srcRect/>
                      <a:stretch>
                        <a:fillRect/>
                      </a:stretch>
                    </p:blipFill>
                    <p:spPr bwMode="auto">
                      <a:xfrm>
                        <a:off x="5053013" y="127993"/>
                        <a:ext cx="4006850" cy="989012"/>
                      </a:xfrm>
                      <a:prstGeom prst="rect">
                        <a:avLst/>
                      </a:prstGeom>
                      <a:noFill/>
                      <a:ln w="28575">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8135" name="直接箭头连接符 12"/>
          <p:cNvCxnSpPr>
            <a:cxnSpLocks noChangeShapeType="1"/>
          </p:cNvCxnSpPr>
          <p:nvPr/>
        </p:nvCxnSpPr>
        <p:spPr bwMode="auto">
          <a:xfrm>
            <a:off x="6765925" y="3200400"/>
            <a:ext cx="2179638" cy="1588"/>
          </a:xfrm>
          <a:prstGeom prst="straightConnector1">
            <a:avLst/>
          </a:prstGeom>
          <a:noFill/>
          <a:ln w="19050"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48136" name="直接箭头连接符 16"/>
          <p:cNvCxnSpPr>
            <a:cxnSpLocks noChangeShapeType="1"/>
          </p:cNvCxnSpPr>
          <p:nvPr/>
        </p:nvCxnSpPr>
        <p:spPr bwMode="auto">
          <a:xfrm rot="16200000" flipV="1">
            <a:off x="6538119" y="3032919"/>
            <a:ext cx="2682875" cy="30163"/>
          </a:xfrm>
          <a:prstGeom prst="straightConnector1">
            <a:avLst/>
          </a:prstGeom>
          <a:noFill/>
          <a:ln w="19050" algn="ctr">
            <a:solidFill>
              <a:schemeClr val="tx1"/>
            </a:solidFill>
            <a:round/>
            <a:tailEnd type="arrow" w="med" len="med"/>
          </a:ln>
          <a:extLst>
            <a:ext uri="{909E8E84-426E-40DD-AFC4-6F175D3DCCD1}">
              <a14:hiddenFill xmlns:a14="http://schemas.microsoft.com/office/drawing/2010/main">
                <a:noFill/>
              </a14:hiddenFill>
            </a:ext>
          </a:extLst>
        </p:spPr>
      </p:cxnSp>
      <p:sp>
        <p:nvSpPr>
          <p:cNvPr id="48137" name="TextBox 17"/>
          <p:cNvSpPr txBox="1">
            <a:spLocks noChangeArrowheads="1"/>
          </p:cNvSpPr>
          <p:nvPr/>
        </p:nvSpPr>
        <p:spPr bwMode="auto">
          <a:xfrm>
            <a:off x="7666038" y="1508125"/>
            <a:ext cx="7762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400"/>
              <a:t>j</a:t>
            </a:r>
            <a:r>
              <a:rPr lang="el-GR" altLang="zh-CN" sz="1400"/>
              <a:t>ω</a:t>
            </a:r>
            <a:endParaRPr lang="zh-CN" altLang="en-US" sz="1400"/>
          </a:p>
        </p:txBody>
      </p:sp>
      <p:sp>
        <p:nvSpPr>
          <p:cNvPr id="48138" name="TextBox 19"/>
          <p:cNvSpPr txBox="1">
            <a:spLocks noChangeArrowheads="1"/>
          </p:cNvSpPr>
          <p:nvPr/>
        </p:nvSpPr>
        <p:spPr bwMode="auto">
          <a:xfrm>
            <a:off x="8816975" y="3094038"/>
            <a:ext cx="441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l-GR" altLang="zh-CN" sz="1400"/>
              <a:t>σ</a:t>
            </a:r>
            <a:endParaRPr lang="zh-CN" altLang="en-US" sz="1400"/>
          </a:p>
        </p:txBody>
      </p:sp>
      <p:sp>
        <p:nvSpPr>
          <p:cNvPr id="48139" name="椭圆 20"/>
          <p:cNvSpPr>
            <a:spLocks noChangeArrowheads="1"/>
          </p:cNvSpPr>
          <p:nvPr/>
        </p:nvSpPr>
        <p:spPr bwMode="auto">
          <a:xfrm>
            <a:off x="7832725" y="3154363"/>
            <a:ext cx="92075" cy="92075"/>
          </a:xfrm>
          <a:prstGeom prst="ellipse">
            <a:avLst/>
          </a:prstGeom>
          <a:solidFill>
            <a:schemeClr val="accent1"/>
          </a:solidFill>
          <a:ln w="19050" algn="ctr">
            <a:solidFill>
              <a:schemeClr val="tx1"/>
            </a:solidFill>
            <a:round/>
            <a:tailEnd type="triangle" w="sm" len="sm"/>
          </a:ln>
        </p:spPr>
        <p:txBody>
          <a:bodyPr>
            <a:spAutoFit/>
          </a:bodyPr>
          <a:lstStyle>
            <a:lvl1pPr marL="367030" indent="-18732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cxnSp>
        <p:nvCxnSpPr>
          <p:cNvPr id="48140" name="直接箭头连接符 22"/>
          <p:cNvCxnSpPr>
            <a:cxnSpLocks noChangeShapeType="1"/>
            <a:stCxn id="48139" idx="0"/>
          </p:cNvCxnSpPr>
          <p:nvPr/>
        </p:nvCxnSpPr>
        <p:spPr bwMode="auto">
          <a:xfrm rot="5400000" flipH="1" flipV="1">
            <a:off x="7467601" y="2743200"/>
            <a:ext cx="823912" cy="1587"/>
          </a:xfrm>
          <a:prstGeom prst="straightConnector1">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sp>
        <p:nvSpPr>
          <p:cNvPr id="48141" name="TextBox 23"/>
          <p:cNvSpPr txBox="1">
            <a:spLocks noChangeArrowheads="1"/>
          </p:cNvSpPr>
          <p:nvPr/>
        </p:nvSpPr>
        <p:spPr bwMode="auto">
          <a:xfrm>
            <a:off x="7742238" y="2239963"/>
            <a:ext cx="7762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400"/>
              <a:t>j</a:t>
            </a:r>
            <a:r>
              <a:rPr lang="el-GR" altLang="zh-CN" sz="1400"/>
              <a:t>ω</a:t>
            </a:r>
            <a:endParaRPr lang="zh-CN" altLang="en-US" sz="1400"/>
          </a:p>
        </p:txBody>
      </p:sp>
      <p:sp>
        <p:nvSpPr>
          <p:cNvPr id="48142" name="TextBox 24"/>
          <p:cNvSpPr txBox="1">
            <a:spLocks noChangeArrowheads="1"/>
          </p:cNvSpPr>
          <p:nvPr/>
        </p:nvSpPr>
        <p:spPr bwMode="auto">
          <a:xfrm>
            <a:off x="6659563" y="2743200"/>
            <a:ext cx="914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400"/>
              <a:t>|j</a:t>
            </a:r>
            <a:r>
              <a:rPr lang="el-GR" altLang="zh-CN" sz="1400"/>
              <a:t>ω</a:t>
            </a:r>
            <a:r>
              <a:rPr lang="en-US" altLang="zh-CN" sz="1400"/>
              <a:t>-p1|</a:t>
            </a:r>
            <a:endParaRPr lang="zh-CN" altLang="en-US" sz="1400"/>
          </a:p>
        </p:txBody>
      </p:sp>
      <p:grpSp>
        <p:nvGrpSpPr>
          <p:cNvPr id="48143" name="组合 38"/>
          <p:cNvGrpSpPr/>
          <p:nvPr/>
        </p:nvGrpSpPr>
        <p:grpSpPr bwMode="auto">
          <a:xfrm>
            <a:off x="6994525" y="2270125"/>
            <a:ext cx="152400" cy="198438"/>
            <a:chOff x="6995160" y="3581400"/>
            <a:chExt cx="152400" cy="198120"/>
          </a:xfrm>
        </p:grpSpPr>
        <p:cxnSp>
          <p:nvCxnSpPr>
            <p:cNvPr id="48165" name="直接连接符 31"/>
            <p:cNvCxnSpPr>
              <a:cxnSpLocks noChangeShapeType="1"/>
            </p:cNvCxnSpPr>
            <p:nvPr/>
          </p:nvCxnSpPr>
          <p:spPr bwMode="auto">
            <a:xfrm rot="16200000" flipH="1">
              <a:off x="6979920" y="3596640"/>
              <a:ext cx="182880" cy="152400"/>
            </a:xfrm>
            <a:prstGeom prst="line">
              <a:avLst/>
            </a:prstGeom>
            <a:noFill/>
            <a:ln w="19050" algn="ctr">
              <a:solidFill>
                <a:schemeClr val="tx1"/>
              </a:solidFill>
              <a:round/>
              <a:tailEnd type="none" w="sm" len="sm"/>
            </a:ln>
            <a:extLst>
              <a:ext uri="{909E8E84-426E-40DD-AFC4-6F175D3DCCD1}">
                <a14:hiddenFill xmlns:a14="http://schemas.microsoft.com/office/drawing/2010/main">
                  <a:noFill/>
                </a14:hiddenFill>
              </a:ext>
            </a:extLst>
          </p:spPr>
        </p:cxnSp>
        <p:cxnSp>
          <p:nvCxnSpPr>
            <p:cNvPr id="48166" name="直接连接符 32"/>
            <p:cNvCxnSpPr>
              <a:cxnSpLocks noChangeShapeType="1"/>
            </p:cNvCxnSpPr>
            <p:nvPr/>
          </p:nvCxnSpPr>
          <p:spPr bwMode="auto">
            <a:xfrm rot="5400000">
              <a:off x="6964680" y="3611880"/>
              <a:ext cx="198120" cy="137160"/>
            </a:xfrm>
            <a:prstGeom prst="line">
              <a:avLst/>
            </a:prstGeom>
            <a:noFill/>
            <a:ln w="19050" algn="ctr">
              <a:solidFill>
                <a:schemeClr val="tx1"/>
              </a:solidFill>
              <a:round/>
              <a:tailEnd type="none" w="sm" len="sm"/>
            </a:ln>
            <a:extLst>
              <a:ext uri="{909E8E84-426E-40DD-AFC4-6F175D3DCCD1}">
                <a14:hiddenFill xmlns:a14="http://schemas.microsoft.com/office/drawing/2010/main">
                  <a:noFill/>
                </a14:hiddenFill>
              </a:ext>
            </a:extLst>
          </p:spPr>
        </p:cxnSp>
      </p:grpSp>
      <p:grpSp>
        <p:nvGrpSpPr>
          <p:cNvPr id="48144" name="组合 39"/>
          <p:cNvGrpSpPr/>
          <p:nvPr/>
        </p:nvGrpSpPr>
        <p:grpSpPr bwMode="auto">
          <a:xfrm>
            <a:off x="6980238" y="3992563"/>
            <a:ext cx="152400" cy="198437"/>
            <a:chOff x="6995160" y="3581400"/>
            <a:chExt cx="152400" cy="198120"/>
          </a:xfrm>
        </p:grpSpPr>
        <p:cxnSp>
          <p:nvCxnSpPr>
            <p:cNvPr id="48163" name="直接连接符 40"/>
            <p:cNvCxnSpPr>
              <a:cxnSpLocks noChangeShapeType="1"/>
            </p:cNvCxnSpPr>
            <p:nvPr/>
          </p:nvCxnSpPr>
          <p:spPr bwMode="auto">
            <a:xfrm rot="16200000" flipH="1">
              <a:off x="6979920" y="3596640"/>
              <a:ext cx="182880" cy="152400"/>
            </a:xfrm>
            <a:prstGeom prst="line">
              <a:avLst/>
            </a:prstGeom>
            <a:noFill/>
            <a:ln w="19050" algn="ctr">
              <a:solidFill>
                <a:schemeClr val="tx1"/>
              </a:solidFill>
              <a:round/>
              <a:tailEnd type="none" w="sm" len="sm"/>
            </a:ln>
            <a:extLst>
              <a:ext uri="{909E8E84-426E-40DD-AFC4-6F175D3DCCD1}">
                <a14:hiddenFill xmlns:a14="http://schemas.microsoft.com/office/drawing/2010/main">
                  <a:noFill/>
                </a14:hiddenFill>
              </a:ext>
            </a:extLst>
          </p:spPr>
        </p:cxnSp>
        <p:cxnSp>
          <p:nvCxnSpPr>
            <p:cNvPr id="48164" name="直接连接符 41"/>
            <p:cNvCxnSpPr>
              <a:cxnSpLocks noChangeShapeType="1"/>
            </p:cNvCxnSpPr>
            <p:nvPr/>
          </p:nvCxnSpPr>
          <p:spPr bwMode="auto">
            <a:xfrm rot="5400000">
              <a:off x="6964680" y="3611880"/>
              <a:ext cx="198120" cy="137160"/>
            </a:xfrm>
            <a:prstGeom prst="line">
              <a:avLst/>
            </a:prstGeom>
            <a:noFill/>
            <a:ln w="19050" algn="ctr">
              <a:solidFill>
                <a:schemeClr val="tx1"/>
              </a:solidFill>
              <a:round/>
              <a:tailEnd type="none" w="sm" len="sm"/>
            </a:ln>
            <a:extLst>
              <a:ext uri="{909E8E84-426E-40DD-AFC4-6F175D3DCCD1}">
                <a14:hiddenFill xmlns:a14="http://schemas.microsoft.com/office/drawing/2010/main">
                  <a:noFill/>
                </a14:hiddenFill>
              </a:ext>
            </a:extLst>
          </p:spPr>
        </p:cxnSp>
      </p:grpSp>
      <p:cxnSp>
        <p:nvCxnSpPr>
          <p:cNvPr id="48145" name="直接箭头连接符 45"/>
          <p:cNvCxnSpPr>
            <a:cxnSpLocks noChangeShapeType="1"/>
            <a:endCxn id="48139" idx="2"/>
          </p:cNvCxnSpPr>
          <p:nvPr/>
        </p:nvCxnSpPr>
        <p:spPr bwMode="auto">
          <a:xfrm rot="16200000" flipH="1">
            <a:off x="7056437" y="2424113"/>
            <a:ext cx="822325" cy="730250"/>
          </a:xfrm>
          <a:prstGeom prst="straightConnector1">
            <a:avLst/>
          </a:prstGeom>
          <a:noFill/>
          <a:ln w="19050" algn="ctr">
            <a:solidFill>
              <a:srgbClr val="0000FF"/>
            </a:solidFill>
            <a:round/>
            <a:tailEnd type="arrow" w="med" len="med"/>
          </a:ln>
          <a:extLst>
            <a:ext uri="{909E8E84-426E-40DD-AFC4-6F175D3DCCD1}">
              <a14:hiddenFill xmlns:a14="http://schemas.microsoft.com/office/drawing/2010/main">
                <a:noFill/>
              </a14:hiddenFill>
            </a:ext>
          </a:extLst>
        </p:spPr>
      </p:cxnSp>
      <p:cxnSp>
        <p:nvCxnSpPr>
          <p:cNvPr id="48146" name="直接箭头连接符 47"/>
          <p:cNvCxnSpPr>
            <a:cxnSpLocks noChangeShapeType="1"/>
            <a:endCxn id="48139" idx="3"/>
          </p:cNvCxnSpPr>
          <p:nvPr/>
        </p:nvCxnSpPr>
        <p:spPr bwMode="auto">
          <a:xfrm rot="5400000" flipH="1" flipV="1">
            <a:off x="7033419" y="3255169"/>
            <a:ext cx="836613" cy="790575"/>
          </a:xfrm>
          <a:prstGeom prst="straightConnector1">
            <a:avLst/>
          </a:prstGeom>
          <a:noFill/>
          <a:ln w="19050" algn="ctr">
            <a:solidFill>
              <a:srgbClr val="0000FF"/>
            </a:solidFill>
            <a:round/>
            <a:tailEnd type="arrow" w="med" len="med"/>
          </a:ln>
          <a:extLst>
            <a:ext uri="{909E8E84-426E-40DD-AFC4-6F175D3DCCD1}">
              <a14:hiddenFill xmlns:a14="http://schemas.microsoft.com/office/drawing/2010/main">
                <a:noFill/>
              </a14:hiddenFill>
            </a:ext>
          </a:extLst>
        </p:spPr>
      </p:cxnSp>
      <p:cxnSp>
        <p:nvCxnSpPr>
          <p:cNvPr id="48147" name="肘形连接符 50"/>
          <p:cNvCxnSpPr>
            <a:cxnSpLocks noChangeShapeType="1"/>
          </p:cNvCxnSpPr>
          <p:nvPr/>
        </p:nvCxnSpPr>
        <p:spPr bwMode="auto">
          <a:xfrm>
            <a:off x="7864475" y="3048000"/>
            <a:ext cx="212725" cy="152400"/>
          </a:xfrm>
          <a:prstGeom prst="bentConnector3">
            <a:avLst>
              <a:gd name="adj1" fmla="val 50000"/>
            </a:avLst>
          </a:prstGeom>
          <a:noFill/>
          <a:ln w="19050" algn="ctr">
            <a:solidFill>
              <a:schemeClr val="tx1"/>
            </a:solidFill>
            <a:round/>
          </a:ln>
          <a:extLst>
            <a:ext uri="{909E8E84-426E-40DD-AFC4-6F175D3DCCD1}">
              <a14:hiddenFill xmlns:a14="http://schemas.microsoft.com/office/drawing/2010/main">
                <a:noFill/>
              </a14:hiddenFill>
            </a:ext>
          </a:extLst>
        </p:spPr>
      </p:cxnSp>
      <p:sp>
        <p:nvSpPr>
          <p:cNvPr id="48148" name="矩形 51"/>
          <p:cNvSpPr>
            <a:spLocks noChangeArrowheads="1"/>
          </p:cNvSpPr>
          <p:nvPr/>
        </p:nvSpPr>
        <p:spPr bwMode="auto">
          <a:xfrm>
            <a:off x="8058150" y="2895600"/>
            <a:ext cx="8794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400">
                <a:latin typeface="华文中宋" panose="02010600040101010101" pitchFamily="2" charset="-122"/>
              </a:rPr>
              <a:t>β</a:t>
            </a:r>
            <a:r>
              <a:rPr lang="zh-CN" altLang="en-US" sz="1400">
                <a:latin typeface="华文中宋" panose="02010600040101010101" pitchFamily="2" charset="-122"/>
              </a:rPr>
              <a:t>＝</a:t>
            </a:r>
            <a:r>
              <a:rPr lang="en-US" altLang="zh-CN" sz="1400">
                <a:latin typeface="华文中宋" panose="02010600040101010101" pitchFamily="2" charset="-122"/>
              </a:rPr>
              <a:t>90</a:t>
            </a:r>
            <a:r>
              <a:rPr lang="zh-CN" altLang="zh-CN" sz="1400">
                <a:latin typeface="华文中宋" panose="02010600040101010101" pitchFamily="2" charset="-122"/>
              </a:rPr>
              <a:t>°</a:t>
            </a:r>
            <a:endParaRPr lang="zh-CN" altLang="en-US" sz="1400"/>
          </a:p>
        </p:txBody>
      </p:sp>
      <p:cxnSp>
        <p:nvCxnSpPr>
          <p:cNvPr id="48149" name="直接连接符 53"/>
          <p:cNvCxnSpPr>
            <a:cxnSpLocks noChangeShapeType="1"/>
          </p:cNvCxnSpPr>
          <p:nvPr/>
        </p:nvCxnSpPr>
        <p:spPr bwMode="auto">
          <a:xfrm flipV="1">
            <a:off x="7070725" y="2301875"/>
            <a:ext cx="793750" cy="30163"/>
          </a:xfrm>
          <a:prstGeom prst="line">
            <a:avLst/>
          </a:prstGeom>
          <a:noFill/>
          <a:ln w="19050" algn="ctr">
            <a:solidFill>
              <a:schemeClr val="tx1"/>
            </a:solidFill>
            <a:prstDash val="dash"/>
            <a:round/>
          </a:ln>
          <a:extLst>
            <a:ext uri="{909E8E84-426E-40DD-AFC4-6F175D3DCCD1}">
              <a14:hiddenFill xmlns:a14="http://schemas.microsoft.com/office/drawing/2010/main">
                <a:noFill/>
              </a14:hiddenFill>
            </a:ext>
          </a:extLst>
        </p:spPr>
      </p:cxnSp>
      <p:cxnSp>
        <p:nvCxnSpPr>
          <p:cNvPr id="48150" name="直接连接符 54"/>
          <p:cNvCxnSpPr>
            <a:cxnSpLocks noChangeShapeType="1"/>
          </p:cNvCxnSpPr>
          <p:nvPr/>
        </p:nvCxnSpPr>
        <p:spPr bwMode="auto">
          <a:xfrm flipV="1">
            <a:off x="7056438" y="4068763"/>
            <a:ext cx="792162" cy="30162"/>
          </a:xfrm>
          <a:prstGeom prst="line">
            <a:avLst/>
          </a:prstGeom>
          <a:noFill/>
          <a:ln w="19050" algn="ctr">
            <a:solidFill>
              <a:schemeClr val="tx1"/>
            </a:solidFill>
            <a:prstDash val="dash"/>
            <a:round/>
          </a:ln>
          <a:extLst>
            <a:ext uri="{909E8E84-426E-40DD-AFC4-6F175D3DCCD1}">
              <a14:hiddenFill xmlns:a14="http://schemas.microsoft.com/office/drawing/2010/main">
                <a:noFill/>
              </a14:hiddenFill>
            </a:ext>
          </a:extLst>
        </p:spPr>
      </p:cxnSp>
      <p:sp>
        <p:nvSpPr>
          <p:cNvPr id="56" name="弧形 55"/>
          <p:cNvSpPr/>
          <p:nvPr/>
        </p:nvSpPr>
        <p:spPr bwMode="auto">
          <a:xfrm rot="1549938" flipV="1">
            <a:off x="6777038" y="3471863"/>
            <a:ext cx="627062" cy="1244600"/>
          </a:xfrm>
          <a:prstGeom prst="arc">
            <a:avLst>
              <a:gd name="adj1" fmla="val 1722421"/>
              <a:gd name="adj2" fmla="val 4655088"/>
            </a:avLst>
          </a:prstGeom>
          <a:solidFill>
            <a:schemeClr val="accent1"/>
          </a:solidFill>
          <a:ln w="19050" cap="flat" cmpd="sng" algn="ctr">
            <a:solidFill>
              <a:schemeClr val="tx1"/>
            </a:solidFill>
            <a:prstDash val="solid"/>
            <a:round/>
            <a:headEnd type="none" w="med" len="med"/>
            <a:tailEnd type="triangle" w="med" len="med"/>
          </a:ln>
          <a:effectLst/>
        </p:spPr>
        <p:txBody>
          <a:bodyPr>
            <a:spAutoFit/>
          </a:bodyPr>
          <a:lstStyle/>
          <a:p>
            <a:pPr marL="367030" indent="-187325" algn="ctr" eaLnBrk="1" hangingPunct="1">
              <a:lnSpc>
                <a:spcPct val="85000"/>
              </a:lnSpc>
              <a:spcBef>
                <a:spcPct val="20000"/>
              </a:spcBef>
              <a:buClr>
                <a:schemeClr val="accent2"/>
              </a:buClr>
              <a:buFont typeface="Wingdings" panose="05000000000000000000" pitchFamily="2" charset="2"/>
              <a:buNone/>
              <a:defRPr/>
            </a:pPr>
            <a:endParaRPr lang="zh-CN" altLang="en-US">
              <a:latin typeface="黑体" panose="02010609060101010101" pitchFamily="49" charset="-122"/>
              <a:ea typeface="黑体" panose="02010609060101010101" pitchFamily="49" charset="-122"/>
            </a:endParaRPr>
          </a:p>
        </p:txBody>
      </p:sp>
      <p:graphicFrame>
        <p:nvGraphicFramePr>
          <p:cNvPr id="2" name="Object 11"/>
          <p:cNvGraphicFramePr>
            <a:graphicFrameLocks noChangeAspect="1"/>
          </p:cNvGraphicFramePr>
          <p:nvPr/>
        </p:nvGraphicFramePr>
        <p:xfrm>
          <a:off x="6107113" y="1782763"/>
          <a:ext cx="1431925" cy="468312"/>
        </p:xfrm>
        <a:graphic>
          <a:graphicData uri="http://schemas.openxmlformats.org/presentationml/2006/ole">
            <mc:AlternateContent xmlns:mc="http://schemas.openxmlformats.org/markup-compatibility/2006">
              <mc:Choice xmlns:v="urn:schemas-microsoft-com:vml" Requires="v">
                <p:oleObj name="Equation" r:id="rId7" imgW="698500" imgH="228600" progId="Equation.DSMT4">
                  <p:embed/>
                </p:oleObj>
              </mc:Choice>
              <mc:Fallback>
                <p:oleObj name="Equation" r:id="rId7" imgW="698500" imgH="2286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07113" y="1782763"/>
                        <a:ext cx="1431925" cy="468312"/>
                      </a:xfrm>
                      <a:prstGeom prst="rect">
                        <a:avLst/>
                      </a:prstGeom>
                      <a:solidFill>
                        <a:srgbClr val="CCFFFF"/>
                      </a:solidFill>
                      <a:ln w="28575">
                        <a:solidFill>
                          <a:srgbClr val="666699"/>
                        </a:solidFill>
                        <a:miter lim="800000"/>
                        <a:headEnd/>
                        <a:tailEnd/>
                      </a:ln>
                    </p:spPr>
                  </p:pic>
                </p:oleObj>
              </mc:Fallback>
            </mc:AlternateContent>
          </a:graphicData>
        </a:graphic>
      </p:graphicFrame>
      <p:graphicFrame>
        <p:nvGraphicFramePr>
          <p:cNvPr id="57" name="Object 12"/>
          <p:cNvGraphicFramePr>
            <a:graphicFrameLocks noChangeAspect="1"/>
          </p:cNvGraphicFramePr>
          <p:nvPr/>
        </p:nvGraphicFramePr>
        <p:xfrm>
          <a:off x="6121400" y="4203700"/>
          <a:ext cx="1433513" cy="469900"/>
        </p:xfrm>
        <a:graphic>
          <a:graphicData uri="http://schemas.openxmlformats.org/presentationml/2006/ole">
            <mc:AlternateContent xmlns:mc="http://schemas.openxmlformats.org/markup-compatibility/2006">
              <mc:Choice xmlns:v="urn:schemas-microsoft-com:vml" Requires="v">
                <p:oleObj name="Equation" r:id="rId9" imgW="698500" imgH="228600" progId="Equation.DSMT4">
                  <p:embed/>
                </p:oleObj>
              </mc:Choice>
              <mc:Fallback>
                <p:oleObj name="Equation" r:id="rId9" imgW="698500" imgH="2286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21400" y="4203700"/>
                        <a:ext cx="1433513" cy="469900"/>
                      </a:xfrm>
                      <a:prstGeom prst="rect">
                        <a:avLst/>
                      </a:prstGeom>
                      <a:solidFill>
                        <a:srgbClr val="CCFFFF"/>
                      </a:solidFill>
                      <a:ln w="28575">
                        <a:solidFill>
                          <a:srgbClr val="666699"/>
                        </a:solidFill>
                        <a:miter lim="800000"/>
                        <a:headEnd/>
                        <a:tailEnd/>
                      </a:ln>
                    </p:spPr>
                  </p:pic>
                </p:oleObj>
              </mc:Fallback>
            </mc:AlternateContent>
          </a:graphicData>
        </a:graphic>
      </p:graphicFrame>
      <p:sp>
        <p:nvSpPr>
          <p:cNvPr id="58" name="弧形 57"/>
          <p:cNvSpPr/>
          <p:nvPr/>
        </p:nvSpPr>
        <p:spPr bwMode="auto">
          <a:xfrm rot="20050062">
            <a:off x="6761163" y="1689100"/>
            <a:ext cx="627062" cy="1243013"/>
          </a:xfrm>
          <a:prstGeom prst="arc">
            <a:avLst>
              <a:gd name="adj1" fmla="val 1722421"/>
              <a:gd name="adj2" fmla="val 4655088"/>
            </a:avLst>
          </a:prstGeom>
          <a:solidFill>
            <a:schemeClr val="accent1"/>
          </a:solidFill>
          <a:ln w="19050" cap="flat" cmpd="sng" algn="ctr">
            <a:solidFill>
              <a:schemeClr val="tx1"/>
            </a:solidFill>
            <a:prstDash val="solid"/>
            <a:round/>
            <a:headEnd type="none" w="med" len="med"/>
            <a:tailEnd type="triangle" w="med" len="med"/>
          </a:ln>
          <a:effectLst/>
        </p:spPr>
        <p:txBody>
          <a:bodyPr>
            <a:spAutoFit/>
          </a:bodyPr>
          <a:lstStyle/>
          <a:p>
            <a:pPr marL="367030" indent="-187325" algn="ctr" eaLnBrk="1" hangingPunct="1">
              <a:lnSpc>
                <a:spcPct val="85000"/>
              </a:lnSpc>
              <a:spcBef>
                <a:spcPct val="20000"/>
              </a:spcBef>
              <a:buClr>
                <a:schemeClr val="accent2"/>
              </a:buClr>
              <a:buFont typeface="Wingdings" panose="05000000000000000000" pitchFamily="2" charset="2"/>
              <a:buNone/>
              <a:defRPr/>
            </a:pPr>
            <a:endParaRPr lang="zh-CN" altLang="en-US">
              <a:latin typeface="黑体" panose="02010609060101010101" pitchFamily="49" charset="-122"/>
              <a:ea typeface="黑体" panose="02010609060101010101" pitchFamily="49" charset="-122"/>
            </a:endParaRPr>
          </a:p>
        </p:txBody>
      </p:sp>
      <p:sp>
        <p:nvSpPr>
          <p:cNvPr id="48155" name="TextBox 59"/>
          <p:cNvSpPr txBox="1">
            <a:spLocks noChangeArrowheads="1"/>
          </p:cNvSpPr>
          <p:nvPr/>
        </p:nvSpPr>
        <p:spPr bwMode="auto">
          <a:xfrm>
            <a:off x="7483475" y="2392363"/>
            <a:ext cx="5016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l-GR" altLang="zh-CN" sz="1400"/>
              <a:t>α</a:t>
            </a:r>
            <a:r>
              <a:rPr lang="en-US" altLang="zh-CN" sz="1400"/>
              <a:t>1</a:t>
            </a:r>
            <a:endParaRPr lang="zh-CN" altLang="en-US" sz="1400"/>
          </a:p>
        </p:txBody>
      </p:sp>
      <p:sp>
        <p:nvSpPr>
          <p:cNvPr id="48156" name="TextBox 60"/>
          <p:cNvSpPr txBox="1">
            <a:spLocks noChangeArrowheads="1"/>
          </p:cNvSpPr>
          <p:nvPr/>
        </p:nvSpPr>
        <p:spPr bwMode="auto">
          <a:xfrm>
            <a:off x="7375525" y="3673475"/>
            <a:ext cx="503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l-GR" altLang="zh-CN" sz="1400"/>
              <a:t>α</a:t>
            </a:r>
            <a:r>
              <a:rPr lang="en-US" altLang="zh-CN" sz="1400"/>
              <a:t>2</a:t>
            </a:r>
            <a:endParaRPr lang="zh-CN" altLang="en-US" sz="1400"/>
          </a:p>
        </p:txBody>
      </p:sp>
      <p:sp>
        <p:nvSpPr>
          <p:cNvPr id="48157" name="TextBox 63"/>
          <p:cNvSpPr txBox="1">
            <a:spLocks noChangeArrowheads="1"/>
          </p:cNvSpPr>
          <p:nvPr/>
        </p:nvSpPr>
        <p:spPr bwMode="auto">
          <a:xfrm>
            <a:off x="7742238" y="2620963"/>
            <a:ext cx="9445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400"/>
              <a:t>|j</a:t>
            </a:r>
            <a:r>
              <a:rPr lang="el-GR" altLang="zh-CN" sz="1400"/>
              <a:t>ω</a:t>
            </a:r>
            <a:r>
              <a:rPr lang="en-US" altLang="zh-CN" sz="1400"/>
              <a:t>-z|</a:t>
            </a:r>
            <a:endParaRPr lang="zh-CN" altLang="en-US" sz="1400"/>
          </a:p>
        </p:txBody>
      </p:sp>
      <p:sp>
        <p:nvSpPr>
          <p:cNvPr id="48158" name="TextBox 64"/>
          <p:cNvSpPr txBox="1">
            <a:spLocks noChangeArrowheads="1"/>
          </p:cNvSpPr>
          <p:nvPr/>
        </p:nvSpPr>
        <p:spPr bwMode="auto">
          <a:xfrm>
            <a:off x="6492875" y="3489325"/>
            <a:ext cx="974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400"/>
              <a:t>|j</a:t>
            </a:r>
            <a:r>
              <a:rPr lang="el-GR" altLang="zh-CN" sz="1400"/>
              <a:t>ω</a:t>
            </a:r>
            <a:r>
              <a:rPr lang="en-US" altLang="zh-CN" sz="1400"/>
              <a:t>-p2|</a:t>
            </a:r>
            <a:endParaRPr lang="zh-CN" altLang="en-US" sz="1400"/>
          </a:p>
        </p:txBody>
      </p:sp>
      <p:sp>
        <p:nvSpPr>
          <p:cNvPr id="3" name="墨迹 2"/>
          <p:cNvSpPr/>
          <p:nvPr/>
        </p:nvSpPr>
        <p:spPr bwMode="auto">
          <a:xfrm>
            <a:off x="2413800" y="276120"/>
            <a:ext cx="6190920" cy="6548760"/>
          </a:xfrm>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3140"/>
    </mc:Choice>
    <mc:Fallback xmlns="">
      <p:transition spd="slow" advTm="103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57"/>
                                        </p:tgtEl>
                                        <p:attrNameLst>
                                          <p:attrName>style.visibility</p:attrName>
                                        </p:attrNameLst>
                                      </p:cBhvr>
                                      <p:to>
                                        <p:strVal val="visible"/>
                                      </p:to>
                                    </p:set>
                                    <p:anim calcmode="lin" valueType="num">
                                      <p:cBhvr>
                                        <p:cTn id="19" dur="1000" fill="hold"/>
                                        <p:tgtEl>
                                          <p:spTgt spid="57"/>
                                        </p:tgtEl>
                                        <p:attrNameLst>
                                          <p:attrName>ppt_w</p:attrName>
                                        </p:attrNameLst>
                                      </p:cBhvr>
                                      <p:tavLst>
                                        <p:tav tm="0">
                                          <p:val>
                                            <p:strVal val="#ppt_w*0.70"/>
                                          </p:val>
                                        </p:tav>
                                        <p:tav tm="100000">
                                          <p:val>
                                            <p:strVal val="#ppt_w"/>
                                          </p:val>
                                        </p:tav>
                                      </p:tavLst>
                                    </p:anim>
                                    <p:anim calcmode="lin" valueType="num">
                                      <p:cBhvr>
                                        <p:cTn id="20" dur="1000" fill="hold"/>
                                        <p:tgtEl>
                                          <p:spTgt spid="57"/>
                                        </p:tgtEl>
                                        <p:attrNameLst>
                                          <p:attrName>ppt_h</p:attrName>
                                        </p:attrNameLst>
                                      </p:cBhvr>
                                      <p:tavLst>
                                        <p:tav tm="0">
                                          <p:val>
                                            <p:strVal val="#ppt_h"/>
                                          </p:val>
                                        </p:tav>
                                        <p:tav tm="100000">
                                          <p:val>
                                            <p:strVal val="#ppt_h"/>
                                          </p:val>
                                        </p:tav>
                                      </p:tavLst>
                                    </p:anim>
                                    <p:animEffect transition="in" filter="fade">
                                      <p:cBhvr>
                                        <p:cTn id="21" dur="1000"/>
                                        <p:tgtEl>
                                          <p:spTgt spid="57"/>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489477"/>
                                        </p:tgtEl>
                                        <p:attrNameLst>
                                          <p:attrName>style.visibility</p:attrName>
                                        </p:attrNameLst>
                                      </p:cBhvr>
                                      <p:to>
                                        <p:strVal val="visible"/>
                                      </p:to>
                                    </p:set>
                                    <p:anim calcmode="lin" valueType="num">
                                      <p:cBhvr>
                                        <p:cTn id="26" dur="1000" fill="hold"/>
                                        <p:tgtEl>
                                          <p:spTgt spid="489477"/>
                                        </p:tgtEl>
                                        <p:attrNameLst>
                                          <p:attrName>ppt_w</p:attrName>
                                        </p:attrNameLst>
                                      </p:cBhvr>
                                      <p:tavLst>
                                        <p:tav tm="0">
                                          <p:val>
                                            <p:strVal val="#ppt_w*0.70"/>
                                          </p:val>
                                        </p:tav>
                                        <p:tav tm="100000">
                                          <p:val>
                                            <p:strVal val="#ppt_w"/>
                                          </p:val>
                                        </p:tav>
                                      </p:tavLst>
                                    </p:anim>
                                    <p:anim calcmode="lin" valueType="num">
                                      <p:cBhvr>
                                        <p:cTn id="27" dur="1000" fill="hold"/>
                                        <p:tgtEl>
                                          <p:spTgt spid="489477"/>
                                        </p:tgtEl>
                                        <p:attrNameLst>
                                          <p:attrName>ppt_h</p:attrName>
                                        </p:attrNameLst>
                                      </p:cBhvr>
                                      <p:tavLst>
                                        <p:tav tm="0">
                                          <p:val>
                                            <p:strVal val="#ppt_h"/>
                                          </p:val>
                                        </p:tav>
                                        <p:tav tm="100000">
                                          <p:val>
                                            <p:strVal val="#ppt_h"/>
                                          </p:val>
                                        </p:tav>
                                      </p:tavLst>
                                    </p:anim>
                                    <p:animEffect transition="in" filter="fade">
                                      <p:cBhvr>
                                        <p:cTn id="28" dur="1000"/>
                                        <p:tgtEl>
                                          <p:spTgt spid="489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7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6350" ty="0" sx="100000" sy="100000" flip="none" algn="tl"/>
        </a:blip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93700" y="0"/>
            <a:ext cx="8567738" cy="647700"/>
          </a:xfrm>
          <a:solidFill>
            <a:srgbClr val="FF3300"/>
          </a:solidFill>
          <a:effectLst>
            <a:outerShdw dist="35921" dir="2700000" algn="ctr" rotWithShape="0">
              <a:schemeClr val="bg2"/>
            </a:outerShdw>
          </a:effectLst>
        </p:spPr>
        <p:txBody>
          <a:bodyPr/>
          <a:lstStyle/>
          <a:p>
            <a:r>
              <a:rPr lang="en-US" altLang="zh-CN" sz="2800" b="1">
                <a:solidFill>
                  <a:schemeClr val="bg1"/>
                </a:solidFill>
                <a:latin typeface="黑体" panose="02010609060101010101" pitchFamily="49" charset="-122"/>
                <a:ea typeface="黑体" panose="02010609060101010101" pitchFamily="49" charset="-122"/>
              </a:rPr>
              <a:t>§6.4 </a:t>
            </a:r>
            <a:r>
              <a:rPr lang="zh-CN" altLang="en-US" sz="2800" b="1">
                <a:solidFill>
                  <a:schemeClr val="bg1"/>
                </a:solidFill>
                <a:latin typeface="黑体" panose="02010609060101010101" pitchFamily="49" charset="-122"/>
                <a:ea typeface="黑体" panose="02010609060101010101" pitchFamily="49" charset="-122"/>
              </a:rPr>
              <a:t>系统函数的极零点分布与系统频率特性的关系</a:t>
            </a:r>
          </a:p>
        </p:txBody>
      </p:sp>
      <p:sp>
        <p:nvSpPr>
          <p:cNvPr id="490504" name="Rectangle 8"/>
          <p:cNvSpPr>
            <a:spLocks noGrp="1" noChangeArrowheads="1"/>
          </p:cNvSpPr>
          <p:nvPr>
            <p:ph sz="half" idx="1"/>
          </p:nvPr>
        </p:nvSpPr>
        <p:spPr>
          <a:xfrm>
            <a:off x="517142" y="1007269"/>
            <a:ext cx="6168725" cy="2376488"/>
          </a:xfrm>
          <a:solidFill>
            <a:srgbClr val="FFFF66"/>
          </a:solidFill>
        </p:spPr>
        <p:txBody>
          <a:bodyPr/>
          <a:lstStyle/>
          <a:p>
            <a:pPr>
              <a:buFontTx/>
              <a:buNone/>
            </a:pPr>
            <a:r>
              <a:rPr lang="en-US" altLang="zh-CN" b="1" dirty="0">
                <a:latin typeface="Times New Roman" panose="02020603050405020304" pitchFamily="18" charset="0"/>
              </a:rPr>
              <a:t> ②</a:t>
            </a:r>
            <a:r>
              <a:rPr lang="zh-CN" altLang="en-US" b="1" dirty="0">
                <a:latin typeface="Times New Roman" panose="02020603050405020304" pitchFamily="18" charset="0"/>
              </a:rPr>
              <a:t>、</a:t>
            </a:r>
            <a:r>
              <a:rPr lang="en-US" altLang="zh-CN" b="1" dirty="0">
                <a:latin typeface="Times New Roman" panose="02020603050405020304" pitchFamily="18" charset="0"/>
              </a:rPr>
              <a:t>0&lt;ω&lt;ω</a:t>
            </a:r>
            <a:r>
              <a:rPr lang="en-US" altLang="zh-CN" b="1" baseline="-25000" dirty="0">
                <a:latin typeface="Times New Roman" panose="02020603050405020304" pitchFamily="18" charset="0"/>
              </a:rPr>
              <a:t>0</a:t>
            </a:r>
            <a:r>
              <a:rPr lang="en-US" altLang="zh-CN" b="1" dirty="0">
                <a:latin typeface="Times New Roman" panose="02020603050405020304" pitchFamily="18" charset="0"/>
              </a:rPr>
              <a:t> </a:t>
            </a:r>
            <a:r>
              <a:rPr lang="zh-CN" altLang="en-US" b="1" dirty="0">
                <a:latin typeface="Times New Roman" panose="02020603050405020304" pitchFamily="18" charset="0"/>
              </a:rPr>
              <a:t>逐步增大时：</a:t>
            </a:r>
          </a:p>
          <a:p>
            <a:pPr>
              <a:buFontTx/>
              <a:buNone/>
            </a:pPr>
            <a:r>
              <a:rPr lang="zh-CN" altLang="en-US" b="1" dirty="0">
                <a:latin typeface="Times New Roman" panose="02020603050405020304" pitchFamily="18" charset="0"/>
              </a:rPr>
              <a:t>   </a:t>
            </a:r>
            <a:r>
              <a:rPr lang="en-US" altLang="zh-CN" b="1" dirty="0">
                <a:latin typeface="Times New Roman" panose="02020603050405020304" pitchFamily="18" charset="0"/>
              </a:rPr>
              <a:t>A</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=ω</a:t>
            </a:r>
            <a:r>
              <a:rPr lang="zh-CN" altLang="en-US" b="1" dirty="0">
                <a:latin typeface="Times New Roman" panose="02020603050405020304" pitchFamily="18" charset="0"/>
              </a:rPr>
              <a:t>增大，</a:t>
            </a:r>
            <a:r>
              <a:rPr lang="en-US" altLang="zh-CN" b="1" dirty="0">
                <a:latin typeface="Times New Roman" panose="02020603050405020304" pitchFamily="18" charset="0"/>
              </a:rPr>
              <a:t>β</a:t>
            </a:r>
            <a:r>
              <a:rPr lang="zh-CN" altLang="en-US" b="1" dirty="0">
                <a:latin typeface="Times New Roman" panose="02020603050405020304" pitchFamily="18" charset="0"/>
              </a:rPr>
              <a:t>＝</a:t>
            </a:r>
            <a:r>
              <a:rPr lang="en-US" altLang="zh-CN" b="1" dirty="0">
                <a:latin typeface="Times New Roman" panose="02020603050405020304" pitchFamily="18" charset="0"/>
              </a:rPr>
              <a:t>90</a:t>
            </a:r>
            <a:r>
              <a:rPr lang="zh-CN" altLang="zh-CN" b="1" dirty="0">
                <a:latin typeface="Times New Roman" panose="02020603050405020304" pitchFamily="18" charset="0"/>
              </a:rPr>
              <a:t>°，α</a:t>
            </a:r>
            <a:r>
              <a:rPr lang="zh-CN" altLang="zh-CN" b="1" baseline="-25000" dirty="0">
                <a:latin typeface="Times New Roman" panose="02020603050405020304" pitchFamily="18" charset="0"/>
              </a:rPr>
              <a:t>1</a:t>
            </a:r>
            <a:r>
              <a:rPr lang="zh-CN" altLang="zh-CN" b="1" dirty="0">
                <a:latin typeface="Times New Roman" panose="02020603050405020304" pitchFamily="18" charset="0"/>
              </a:rPr>
              <a:t>+α</a:t>
            </a:r>
            <a:r>
              <a:rPr lang="zh-CN" altLang="zh-CN" b="1" baseline="-25000" dirty="0">
                <a:latin typeface="Times New Roman" panose="02020603050405020304" pitchFamily="18" charset="0"/>
              </a:rPr>
              <a:t>2</a:t>
            </a:r>
            <a:r>
              <a:rPr lang="zh-CN" altLang="zh-CN" b="1" dirty="0">
                <a:latin typeface="Times New Roman" panose="02020603050405020304" pitchFamily="18" charset="0"/>
              </a:rPr>
              <a:t>增大，</a:t>
            </a:r>
            <a:r>
              <a:rPr lang="en-US" altLang="zh-CN" b="1" dirty="0">
                <a:latin typeface="Times New Roman" panose="02020603050405020304" pitchFamily="18" charset="0"/>
              </a:rPr>
              <a:t>B</a:t>
            </a:r>
            <a:r>
              <a:rPr lang="zh-CN" altLang="zh-CN" b="1" baseline="-25000" dirty="0">
                <a:latin typeface="Times New Roman" panose="02020603050405020304" pitchFamily="18" charset="0"/>
              </a:rPr>
              <a:t>2</a:t>
            </a:r>
            <a:r>
              <a:rPr lang="zh-CN" altLang="zh-CN" b="1" dirty="0">
                <a:latin typeface="Times New Roman" panose="02020603050405020304" pitchFamily="18" charset="0"/>
              </a:rPr>
              <a:t>增大，</a:t>
            </a:r>
            <a:r>
              <a:rPr lang="en-US" altLang="zh-CN" b="1" dirty="0">
                <a:latin typeface="Times New Roman" panose="02020603050405020304" pitchFamily="18" charset="0"/>
              </a:rPr>
              <a:t>B</a:t>
            </a:r>
            <a:r>
              <a:rPr lang="zh-CN" altLang="zh-CN" b="1" baseline="-25000" dirty="0">
                <a:latin typeface="Times New Roman" panose="02020603050405020304" pitchFamily="18" charset="0"/>
              </a:rPr>
              <a:t>1</a:t>
            </a:r>
            <a:r>
              <a:rPr lang="zh-CN" altLang="zh-CN" b="1" dirty="0">
                <a:latin typeface="Times New Roman" panose="02020603050405020304" pitchFamily="18" charset="0"/>
              </a:rPr>
              <a:t>减小。</a:t>
            </a:r>
          </a:p>
          <a:p>
            <a:pPr>
              <a:buFontTx/>
              <a:buNone/>
            </a:pPr>
            <a:r>
              <a:rPr lang="zh-CN" altLang="zh-CN" b="1" dirty="0">
                <a:solidFill>
                  <a:srgbClr val="9900FF"/>
                </a:solidFill>
                <a:latin typeface="Times New Roman" panose="02020603050405020304" pitchFamily="18" charset="0"/>
              </a:rPr>
              <a:t>   总效果是|H(jω)|增大，φ(</a:t>
            </a:r>
            <a:r>
              <a:rPr lang="en-US" altLang="zh-CN" b="1" dirty="0">
                <a:solidFill>
                  <a:srgbClr val="9900FF"/>
                </a:solidFill>
                <a:latin typeface="Times New Roman" panose="02020603050405020304" pitchFamily="18" charset="0"/>
              </a:rPr>
              <a:t>ω)</a:t>
            </a:r>
            <a:r>
              <a:rPr lang="zh-CN" altLang="en-US" b="1" dirty="0">
                <a:solidFill>
                  <a:srgbClr val="9900FF"/>
                </a:solidFill>
                <a:latin typeface="Times New Roman" panose="02020603050405020304" pitchFamily="18" charset="0"/>
              </a:rPr>
              <a:t>减小</a:t>
            </a:r>
            <a:endParaRPr lang="zh-CN" altLang="en-US" b="1" dirty="0">
              <a:latin typeface="Times New Roman" panose="02020603050405020304" pitchFamily="18" charset="0"/>
            </a:endParaRPr>
          </a:p>
        </p:txBody>
      </p:sp>
      <p:grpSp>
        <p:nvGrpSpPr>
          <p:cNvPr id="49156" name="Group 13"/>
          <p:cNvGrpSpPr/>
          <p:nvPr/>
        </p:nvGrpSpPr>
        <p:grpSpPr bwMode="auto">
          <a:xfrm>
            <a:off x="6067958" y="3566934"/>
            <a:ext cx="3132137" cy="3284537"/>
            <a:chOff x="3729" y="2017"/>
            <a:chExt cx="2031" cy="2303"/>
          </a:xfrm>
        </p:grpSpPr>
        <p:pic>
          <p:nvPicPr>
            <p:cNvPr id="49161" name="Picture 10" descr="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9" y="2017"/>
              <a:ext cx="2031" cy="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2" name="Oval 12"/>
            <p:cNvSpPr>
              <a:spLocks noChangeArrowheads="1"/>
            </p:cNvSpPr>
            <p:nvPr/>
          </p:nvSpPr>
          <p:spPr bwMode="auto">
            <a:xfrm>
              <a:off x="4634" y="3430"/>
              <a:ext cx="91" cy="91"/>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endParaRPr lang="zh-CN" altLang="en-US"/>
            </a:p>
          </p:txBody>
        </p:sp>
      </p:grpSp>
      <p:sp>
        <p:nvSpPr>
          <p:cNvPr id="490510" name="Rectangle 14"/>
          <p:cNvSpPr>
            <a:spLocks noChangeArrowheads="1"/>
          </p:cNvSpPr>
          <p:nvPr/>
        </p:nvSpPr>
        <p:spPr bwMode="auto">
          <a:xfrm>
            <a:off x="542925" y="3806825"/>
            <a:ext cx="5472113" cy="253047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dirty="0">
                <a:latin typeface="华文中宋" panose="02010600040101010101" pitchFamily="2" charset="-122"/>
              </a:rPr>
              <a:t>③</a:t>
            </a:r>
            <a:r>
              <a:rPr lang="zh-CN" altLang="en-US" dirty="0">
                <a:latin typeface="华文中宋" panose="02010600040101010101" pitchFamily="2" charset="-122"/>
              </a:rPr>
              <a:t>、</a:t>
            </a:r>
            <a:r>
              <a:rPr lang="en-US" altLang="zh-CN" dirty="0">
                <a:latin typeface="华文中宋" panose="02010600040101010101" pitchFamily="2" charset="-122"/>
              </a:rPr>
              <a:t>ω=ω</a:t>
            </a:r>
            <a:r>
              <a:rPr lang="en-US" altLang="zh-CN" baseline="-25000" dirty="0">
                <a:latin typeface="华文中宋" panose="02010600040101010101" pitchFamily="2" charset="-122"/>
              </a:rPr>
              <a:t>0</a:t>
            </a:r>
            <a:r>
              <a:rPr lang="en-US" altLang="zh-CN" dirty="0">
                <a:latin typeface="华文中宋" panose="02010600040101010101" pitchFamily="2" charset="-122"/>
              </a:rPr>
              <a:t> </a:t>
            </a:r>
            <a:r>
              <a:rPr lang="zh-CN" altLang="en-US" dirty="0">
                <a:latin typeface="华文中宋" panose="02010600040101010101" pitchFamily="2" charset="-122"/>
              </a:rPr>
              <a:t>时：</a:t>
            </a:r>
          </a:p>
          <a:p>
            <a:pPr eaLnBrk="1" hangingPunct="1">
              <a:lnSpc>
                <a:spcPct val="85000"/>
              </a:lnSpc>
              <a:spcBef>
                <a:spcPct val="20000"/>
              </a:spcBef>
              <a:buClr>
                <a:schemeClr val="accent2"/>
              </a:buClr>
              <a:buFont typeface="Wingdings" panose="05000000000000000000" pitchFamily="2" charset="2"/>
              <a:buNone/>
            </a:pPr>
            <a:r>
              <a:rPr lang="zh-CN" altLang="en-US" dirty="0">
                <a:latin typeface="华文中宋" panose="02010600040101010101" pitchFamily="2" charset="-122"/>
              </a:rPr>
              <a:t>     </a:t>
            </a:r>
            <a:r>
              <a:rPr lang="en-US" altLang="zh-CN" dirty="0">
                <a:solidFill>
                  <a:srgbClr val="0000FF"/>
                </a:solidFill>
                <a:latin typeface="华文中宋" panose="02010600040101010101" pitchFamily="2" charset="-122"/>
              </a:rPr>
              <a:t>A</a:t>
            </a:r>
            <a:r>
              <a:rPr lang="en-US" altLang="zh-CN" baseline="-25000" dirty="0">
                <a:solidFill>
                  <a:srgbClr val="0000FF"/>
                </a:solidFill>
                <a:latin typeface="华文中宋" panose="02010600040101010101" pitchFamily="2" charset="-122"/>
              </a:rPr>
              <a:t>1</a:t>
            </a:r>
            <a:r>
              <a:rPr lang="en-US" altLang="zh-CN" dirty="0">
                <a:solidFill>
                  <a:srgbClr val="0000FF"/>
                </a:solidFill>
                <a:latin typeface="华文中宋" panose="02010600040101010101" pitchFamily="2" charset="-122"/>
              </a:rPr>
              <a:t>=ω</a:t>
            </a:r>
            <a:r>
              <a:rPr lang="en-US" altLang="zh-CN" baseline="-25000" dirty="0">
                <a:solidFill>
                  <a:srgbClr val="0000FF"/>
                </a:solidFill>
                <a:latin typeface="华文中宋" panose="02010600040101010101" pitchFamily="2" charset="-122"/>
              </a:rPr>
              <a:t>0</a:t>
            </a:r>
            <a:r>
              <a:rPr lang="zh-CN" altLang="en-US" dirty="0">
                <a:solidFill>
                  <a:srgbClr val="0000FF"/>
                </a:solidFill>
                <a:latin typeface="华文中宋" panose="02010600040101010101" pitchFamily="2" charset="-122"/>
              </a:rPr>
              <a:t>，</a:t>
            </a:r>
            <a:r>
              <a:rPr lang="en-US" altLang="zh-CN" dirty="0">
                <a:solidFill>
                  <a:srgbClr val="0000FF"/>
                </a:solidFill>
                <a:latin typeface="华文中宋" panose="02010600040101010101" pitchFamily="2" charset="-122"/>
              </a:rPr>
              <a:t>B</a:t>
            </a:r>
            <a:r>
              <a:rPr lang="en-US" altLang="zh-CN" baseline="-25000" dirty="0">
                <a:solidFill>
                  <a:srgbClr val="0000FF"/>
                </a:solidFill>
                <a:latin typeface="华文中宋" panose="02010600040101010101" pitchFamily="2" charset="-122"/>
              </a:rPr>
              <a:t>1</a:t>
            </a:r>
            <a:r>
              <a:rPr lang="zh-CN" altLang="en-US" dirty="0">
                <a:solidFill>
                  <a:srgbClr val="0000FF"/>
                </a:solidFill>
                <a:latin typeface="华文中宋" panose="02010600040101010101" pitchFamily="2" charset="-122"/>
              </a:rPr>
              <a:t>为</a:t>
            </a:r>
            <a:r>
              <a:rPr lang="en-US" altLang="zh-CN" dirty="0">
                <a:solidFill>
                  <a:srgbClr val="0000FF"/>
                </a:solidFill>
                <a:latin typeface="华文中宋" panose="02010600040101010101" pitchFamily="2" charset="-122"/>
              </a:rPr>
              <a:t>Re[P</a:t>
            </a:r>
            <a:r>
              <a:rPr lang="en-US" altLang="zh-CN" baseline="-25000" dirty="0">
                <a:solidFill>
                  <a:srgbClr val="0000FF"/>
                </a:solidFill>
                <a:latin typeface="华文中宋" panose="02010600040101010101" pitchFamily="2" charset="-122"/>
              </a:rPr>
              <a:t>1</a:t>
            </a:r>
            <a:r>
              <a:rPr lang="en-US" altLang="zh-CN" dirty="0">
                <a:solidFill>
                  <a:srgbClr val="0000FF"/>
                </a:solidFill>
                <a:latin typeface="华文中宋" panose="02010600040101010101" pitchFamily="2" charset="-122"/>
              </a:rPr>
              <a:t>]</a:t>
            </a:r>
            <a:r>
              <a:rPr lang="zh-CN" altLang="en-US" dirty="0">
                <a:solidFill>
                  <a:srgbClr val="0000FF"/>
                </a:solidFill>
                <a:latin typeface="华文中宋" panose="02010600040101010101" pitchFamily="2" charset="-122"/>
              </a:rPr>
              <a:t>，最小，</a:t>
            </a:r>
            <a:r>
              <a:rPr lang="en-US" altLang="zh-CN" dirty="0">
                <a:solidFill>
                  <a:srgbClr val="0000FF"/>
                </a:solidFill>
                <a:latin typeface="华文中宋" panose="02010600040101010101" pitchFamily="2" charset="-122"/>
              </a:rPr>
              <a:t>α</a:t>
            </a:r>
            <a:r>
              <a:rPr lang="en-US" altLang="zh-CN" baseline="-25000" dirty="0">
                <a:solidFill>
                  <a:srgbClr val="0000FF"/>
                </a:solidFill>
                <a:latin typeface="华文中宋" panose="02010600040101010101" pitchFamily="2" charset="-122"/>
              </a:rPr>
              <a:t>1</a:t>
            </a:r>
            <a:r>
              <a:rPr lang="en-US" altLang="zh-CN" dirty="0">
                <a:solidFill>
                  <a:srgbClr val="0000FF"/>
                </a:solidFill>
                <a:latin typeface="华文中宋" panose="02010600040101010101" pitchFamily="2" charset="-122"/>
              </a:rPr>
              <a:t>=0</a:t>
            </a:r>
            <a:r>
              <a:rPr lang="zh-CN" altLang="en-US" dirty="0">
                <a:solidFill>
                  <a:srgbClr val="0000FF"/>
                </a:solidFill>
                <a:latin typeface="华文中宋" panose="02010600040101010101" pitchFamily="2" charset="-122"/>
              </a:rPr>
              <a:t>。</a:t>
            </a:r>
          </a:p>
          <a:p>
            <a:pPr eaLnBrk="1" hangingPunct="1">
              <a:lnSpc>
                <a:spcPct val="85000"/>
              </a:lnSpc>
              <a:spcBef>
                <a:spcPct val="20000"/>
              </a:spcBef>
              <a:buClr>
                <a:schemeClr val="accent2"/>
              </a:buClr>
              <a:buFont typeface="Wingdings" panose="05000000000000000000" pitchFamily="2" charset="2"/>
              <a:buNone/>
            </a:pPr>
            <a:r>
              <a:rPr lang="zh-CN" altLang="en-US" dirty="0">
                <a:latin typeface="华文中宋" panose="02010600040101010101" pitchFamily="2" charset="-122"/>
              </a:rPr>
              <a:t>    若极点很接近虚轴，则</a:t>
            </a:r>
            <a:r>
              <a:rPr lang="zh-CN" altLang="en-US" dirty="0">
                <a:solidFill>
                  <a:srgbClr val="0000FF"/>
                </a:solidFill>
                <a:latin typeface="华文中宋" panose="02010600040101010101" pitchFamily="2" charset="-122"/>
              </a:rPr>
              <a:t>此时</a:t>
            </a:r>
            <a:r>
              <a:rPr lang="en-US" altLang="zh-CN" dirty="0">
                <a:solidFill>
                  <a:srgbClr val="0000FF"/>
                </a:solidFill>
                <a:latin typeface="华文中宋" panose="02010600040101010101" pitchFamily="2" charset="-122"/>
              </a:rPr>
              <a:t>A</a:t>
            </a:r>
            <a:r>
              <a:rPr lang="en-US" altLang="zh-CN" baseline="-25000" dirty="0">
                <a:solidFill>
                  <a:srgbClr val="0000FF"/>
                </a:solidFill>
                <a:latin typeface="华文中宋" panose="02010600040101010101" pitchFamily="2" charset="-122"/>
              </a:rPr>
              <a:t>1</a:t>
            </a:r>
            <a:r>
              <a:rPr lang="zh-CN" altLang="en-US" dirty="0">
                <a:solidFill>
                  <a:srgbClr val="0000FF"/>
                </a:solidFill>
                <a:latin typeface="华文中宋" panose="02010600040101010101" pitchFamily="2" charset="-122"/>
              </a:rPr>
              <a:t>很小，</a:t>
            </a:r>
            <a:r>
              <a:rPr lang="en-US" altLang="zh-CN" dirty="0">
                <a:solidFill>
                  <a:srgbClr val="0000FF"/>
                </a:solidFill>
                <a:latin typeface="华文中宋" panose="02010600040101010101" pitchFamily="2" charset="-122"/>
              </a:rPr>
              <a:t>|H(</a:t>
            </a:r>
            <a:r>
              <a:rPr lang="en-US" altLang="zh-CN" dirty="0" err="1">
                <a:solidFill>
                  <a:srgbClr val="0000FF"/>
                </a:solidFill>
                <a:latin typeface="华文中宋" panose="02010600040101010101" pitchFamily="2" charset="-122"/>
              </a:rPr>
              <a:t>jω</a:t>
            </a:r>
            <a:r>
              <a:rPr lang="en-US" altLang="zh-CN" dirty="0">
                <a:solidFill>
                  <a:srgbClr val="0000FF"/>
                </a:solidFill>
                <a:latin typeface="华文中宋" panose="02010600040101010101" pitchFamily="2" charset="-122"/>
              </a:rPr>
              <a:t>)|</a:t>
            </a:r>
            <a:r>
              <a:rPr lang="zh-CN" altLang="en-US" dirty="0">
                <a:solidFill>
                  <a:srgbClr val="0000FF"/>
                </a:solidFill>
                <a:latin typeface="华文中宋" panose="02010600040101010101" pitchFamily="2" charset="-122"/>
              </a:rPr>
              <a:t>出现一峰值</a:t>
            </a:r>
            <a:r>
              <a:rPr lang="zh-CN" altLang="en-US" dirty="0">
                <a:latin typeface="华文中宋" panose="02010600040101010101" pitchFamily="2" charset="-122"/>
              </a:rPr>
              <a:t>。</a:t>
            </a:r>
          </a:p>
          <a:p>
            <a:pPr eaLnBrk="1" hangingPunct="1">
              <a:lnSpc>
                <a:spcPct val="85000"/>
              </a:lnSpc>
              <a:spcBef>
                <a:spcPct val="20000"/>
              </a:spcBef>
              <a:buClr>
                <a:schemeClr val="accent2"/>
              </a:buClr>
              <a:buFont typeface="Wingdings" panose="05000000000000000000" pitchFamily="2" charset="2"/>
              <a:buNone/>
            </a:pPr>
            <a:r>
              <a:rPr lang="zh-CN" altLang="en-US" dirty="0">
                <a:latin typeface="华文中宋" panose="02010600040101010101" pitchFamily="2" charset="-122"/>
              </a:rPr>
              <a:t>         </a:t>
            </a:r>
            <a:r>
              <a:rPr lang="en-US" altLang="zh-CN" dirty="0">
                <a:latin typeface="华文中宋" panose="02010600040101010101" pitchFamily="2" charset="-122"/>
              </a:rPr>
              <a:t>ω&gt;ω</a:t>
            </a:r>
            <a:r>
              <a:rPr lang="en-US" altLang="zh-CN" baseline="-25000" dirty="0">
                <a:latin typeface="华文中宋" panose="02010600040101010101" pitchFamily="2" charset="-122"/>
              </a:rPr>
              <a:t>0</a:t>
            </a:r>
            <a:r>
              <a:rPr lang="zh-CN" altLang="en-US" dirty="0">
                <a:latin typeface="华文中宋" panose="02010600040101010101" pitchFamily="2" charset="-122"/>
              </a:rPr>
              <a:t>，</a:t>
            </a:r>
            <a:r>
              <a:rPr lang="en-US" altLang="zh-CN" dirty="0">
                <a:latin typeface="华文中宋" panose="02010600040101010101" pitchFamily="2" charset="-122"/>
              </a:rPr>
              <a:t>α</a:t>
            </a:r>
            <a:r>
              <a:rPr lang="en-US" altLang="zh-CN" baseline="-25000" dirty="0">
                <a:latin typeface="华文中宋" panose="02010600040101010101" pitchFamily="2" charset="-122"/>
              </a:rPr>
              <a:t>1</a:t>
            </a:r>
            <a:r>
              <a:rPr lang="zh-CN" altLang="en-US" dirty="0">
                <a:latin typeface="华文中宋" panose="02010600040101010101" pitchFamily="2" charset="-122"/>
              </a:rPr>
              <a:t>变为正角。</a:t>
            </a:r>
          </a:p>
        </p:txBody>
      </p:sp>
      <p:graphicFrame>
        <p:nvGraphicFramePr>
          <p:cNvPr id="49158" name="Object 2"/>
          <p:cNvGraphicFramePr>
            <a:graphicFrameLocks noChangeAspect="1"/>
          </p:cNvGraphicFramePr>
          <p:nvPr/>
        </p:nvGraphicFramePr>
        <p:xfrm>
          <a:off x="6634163" y="1154113"/>
          <a:ext cx="2281237" cy="1062037"/>
        </p:xfrm>
        <a:graphic>
          <a:graphicData uri="http://schemas.openxmlformats.org/presentationml/2006/ole">
            <mc:AlternateContent xmlns:mc="http://schemas.openxmlformats.org/markup-compatibility/2006">
              <mc:Choice xmlns:v="urn:schemas-microsoft-com:vml" Requires="v">
                <p:oleObj name="公式" r:id="rId5" imgW="35356800" imgH="16459200" progId="Equation.3">
                  <p:embed/>
                </p:oleObj>
              </mc:Choice>
              <mc:Fallback>
                <p:oleObj name="公式" r:id="rId5" imgW="35356800" imgH="16459200" progId="Equation.3">
                  <p:embed/>
                  <p:pic>
                    <p:nvPicPr>
                      <p:cNvPr id="0" name="Object 2"/>
                      <p:cNvPicPr>
                        <a:picLocks noChangeAspect="1" noChangeArrowheads="1"/>
                      </p:cNvPicPr>
                      <p:nvPr/>
                    </p:nvPicPr>
                    <p:blipFill>
                      <a:blip r:embed="rId6"/>
                      <a:srcRect/>
                      <a:stretch>
                        <a:fillRect/>
                      </a:stretch>
                    </p:blipFill>
                    <p:spPr bwMode="auto">
                      <a:xfrm>
                        <a:off x="6634163" y="1154113"/>
                        <a:ext cx="2281237" cy="1062037"/>
                      </a:xfrm>
                      <a:prstGeom prst="rect">
                        <a:avLst/>
                      </a:prstGeom>
                      <a:noFill/>
                      <a:ln w="19050">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59" name="Object 3"/>
          <p:cNvGraphicFramePr>
            <a:graphicFrameLocks noChangeAspect="1"/>
          </p:cNvGraphicFramePr>
          <p:nvPr/>
        </p:nvGraphicFramePr>
        <p:xfrm>
          <a:off x="6804025" y="2708275"/>
          <a:ext cx="1493838" cy="373063"/>
        </p:xfrm>
        <a:graphic>
          <a:graphicData uri="http://schemas.openxmlformats.org/presentationml/2006/ole">
            <mc:AlternateContent xmlns:mc="http://schemas.openxmlformats.org/markup-compatibility/2006">
              <mc:Choice xmlns:v="urn:schemas-microsoft-com:vml" Requires="v">
                <p:oleObj name="公式" r:id="rId7" imgW="965200" imgH="241300" progId="Equation.3">
                  <p:embed/>
                </p:oleObj>
              </mc:Choice>
              <mc:Fallback>
                <p:oleObj name="公式" r:id="rId7" imgW="965200" imgH="2413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04025" y="2708275"/>
                        <a:ext cx="1493838" cy="373063"/>
                      </a:xfrm>
                      <a:prstGeom prst="rect">
                        <a:avLst/>
                      </a:prstGeom>
                      <a:noFill/>
                      <a:ln w="19050">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日期占位符 10"/>
          <p:cNvSpPr>
            <a:spLocks noGrp="1"/>
          </p:cNvSpPr>
          <p:nvPr>
            <p:ph type="dt" sz="quarter" idx="10"/>
          </p:nvPr>
        </p:nvSpPr>
        <p:spPr/>
        <p:txBody>
          <a:bodyPr/>
          <a:lstStyle/>
          <a:p>
            <a:pPr>
              <a:defRPr/>
            </a:pPr>
            <a:fld id="{F97E6BDC-6528-4F47-8E71-E4A3AA4F97A8}" type="datetime1">
              <a:rPr lang="zh-CN" altLang="en-US"/>
              <a:t>2026/4/28</a:t>
            </a:fld>
            <a:endParaRPr lang="en-US" altLang="zh-CN"/>
          </a:p>
        </p:txBody>
      </p:sp>
      <p:sp>
        <p:nvSpPr>
          <p:cNvPr id="2" name="墨迹 1"/>
          <p:cNvSpPr/>
          <p:nvPr/>
        </p:nvSpPr>
        <p:spPr bwMode="auto">
          <a:xfrm>
            <a:off x="753840" y="1551600"/>
            <a:ext cx="7025760" cy="5037120"/>
          </a:xfrm>
        </p:spPr>
      </p:sp>
      <p:sp>
        <p:nvSpPr>
          <p:cNvPr id="3" name="文本框 2"/>
          <p:cNvSpPr txBox="1"/>
          <p:nvPr/>
        </p:nvSpPr>
        <p:spPr>
          <a:xfrm>
            <a:off x="6566182" y="5215731"/>
            <a:ext cx="609599" cy="523220"/>
          </a:xfrm>
          <a:prstGeom prst="rect">
            <a:avLst/>
          </a:prstGeom>
          <a:solidFill>
            <a:schemeClr val="bg1"/>
          </a:solidFill>
        </p:spPr>
        <p:txBody>
          <a:bodyPr wrap="square" rtlCol="0">
            <a:spAutoFit/>
          </a:bodyPr>
          <a:lstStyle/>
          <a:p>
            <a:r>
              <a:rPr lang="en-US" altLang="zh-CN" dirty="0"/>
              <a:t>B</a:t>
            </a:r>
            <a:r>
              <a:rPr lang="en-US" altLang="zh-CN" baseline="-25000" dirty="0"/>
              <a:t>2</a:t>
            </a:r>
            <a:endParaRPr lang="zh-CN" altLang="en-US" baseline="-25000" dirty="0"/>
          </a:p>
        </p:txBody>
      </p:sp>
      <p:sp>
        <p:nvSpPr>
          <p:cNvPr id="13" name="文本框 12"/>
          <p:cNvSpPr txBox="1"/>
          <p:nvPr/>
        </p:nvSpPr>
        <p:spPr>
          <a:xfrm>
            <a:off x="6566182" y="4639887"/>
            <a:ext cx="489939" cy="523220"/>
          </a:xfrm>
          <a:prstGeom prst="rect">
            <a:avLst/>
          </a:prstGeom>
          <a:solidFill>
            <a:schemeClr val="bg1"/>
          </a:solidFill>
        </p:spPr>
        <p:txBody>
          <a:bodyPr wrap="square" rtlCol="0">
            <a:spAutoFit/>
          </a:bodyPr>
          <a:lstStyle/>
          <a:p>
            <a:r>
              <a:rPr lang="en-US" altLang="zh-CN" dirty="0"/>
              <a:t>B</a:t>
            </a:r>
            <a:r>
              <a:rPr lang="en-US" altLang="zh-CN" baseline="-25000" dirty="0"/>
              <a:t>1</a:t>
            </a:r>
            <a:endParaRPr lang="zh-CN" altLang="en-US" baseline="-250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1784"/>
    </mc:Choice>
    <mc:Fallback xmlns="">
      <p:transition spd="slow" advTm="1717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490504"/>
                                        </p:tgtEl>
                                        <p:attrNameLst>
                                          <p:attrName>style.visibility</p:attrName>
                                        </p:attrNameLst>
                                      </p:cBhvr>
                                      <p:to>
                                        <p:strVal val="visible"/>
                                      </p:to>
                                    </p:set>
                                    <p:anim calcmode="lin" valueType="num">
                                      <p:cBhvr>
                                        <p:cTn id="11" dur="1000" fill="hold"/>
                                        <p:tgtEl>
                                          <p:spTgt spid="490504"/>
                                        </p:tgtEl>
                                        <p:attrNameLst>
                                          <p:attrName>ppt_w</p:attrName>
                                        </p:attrNameLst>
                                      </p:cBhvr>
                                      <p:tavLst>
                                        <p:tav tm="0">
                                          <p:val>
                                            <p:strVal val="#ppt_w*0.70"/>
                                          </p:val>
                                        </p:tav>
                                        <p:tav tm="100000">
                                          <p:val>
                                            <p:strVal val="#ppt_w"/>
                                          </p:val>
                                        </p:tav>
                                      </p:tavLst>
                                    </p:anim>
                                    <p:anim calcmode="lin" valueType="num">
                                      <p:cBhvr>
                                        <p:cTn id="12" dur="1000" fill="hold"/>
                                        <p:tgtEl>
                                          <p:spTgt spid="490504"/>
                                        </p:tgtEl>
                                        <p:attrNameLst>
                                          <p:attrName>ppt_h</p:attrName>
                                        </p:attrNameLst>
                                      </p:cBhvr>
                                      <p:tavLst>
                                        <p:tav tm="0">
                                          <p:val>
                                            <p:strVal val="#ppt_h"/>
                                          </p:val>
                                        </p:tav>
                                        <p:tav tm="100000">
                                          <p:val>
                                            <p:strVal val="#ppt_h"/>
                                          </p:val>
                                        </p:tav>
                                      </p:tavLst>
                                    </p:anim>
                                    <p:animEffect transition="in" filter="fade">
                                      <p:cBhvr>
                                        <p:cTn id="13" dur="1000"/>
                                        <p:tgtEl>
                                          <p:spTgt spid="49050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90510"/>
                                        </p:tgtEl>
                                        <p:attrNameLst>
                                          <p:attrName>style.visibility</p:attrName>
                                        </p:attrNameLst>
                                      </p:cBhvr>
                                      <p:to>
                                        <p:strVal val="visible"/>
                                      </p:to>
                                    </p:set>
                                    <p:animEffect transition="in" filter="dissolve">
                                      <p:cBhvr>
                                        <p:cTn id="18" dur="500"/>
                                        <p:tgtEl>
                                          <p:spTgt spid="490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504" grpId="0" animBg="1"/>
      <p:bldP spid="4905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a:xfrm>
            <a:off x="428625" y="0"/>
            <a:ext cx="8520113" cy="520700"/>
          </a:xfrm>
          <a:solidFill>
            <a:srgbClr val="FF0000"/>
          </a:solidFill>
          <a:effectLst>
            <a:outerShdw dist="35921" dir="2700000" algn="ctr" rotWithShape="0">
              <a:schemeClr val="bg2"/>
            </a:outerShdw>
          </a:effectLst>
        </p:spPr>
        <p:txBody>
          <a:bodyPr/>
          <a:lstStyle/>
          <a:p>
            <a:pPr>
              <a:defRPr/>
            </a:pPr>
            <a:r>
              <a:rPr lang="en-US" altLang="zh-CN" sz="28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rPr>
              <a:t>§6.4 </a:t>
            </a:r>
            <a:r>
              <a:rPr lang="zh-CN" altLang="en-US" sz="2800" b="1">
                <a:solidFill>
                  <a:schemeClr val="bg1"/>
                </a:solidFill>
                <a:effectLst>
                  <a:outerShdw blurRad="38100" dist="38100" dir="2700000" algn="tl">
                    <a:srgbClr val="000000"/>
                  </a:outerShdw>
                </a:effectLst>
                <a:latin typeface="黑体" panose="02010609060101010101" pitchFamily="49" charset="-122"/>
                <a:ea typeface="黑体" panose="02010609060101010101" pitchFamily="49" charset="-122"/>
              </a:rPr>
              <a:t>系统函数的极零点分布与系统频率特性的关系</a:t>
            </a:r>
          </a:p>
        </p:txBody>
      </p:sp>
      <p:sp>
        <p:nvSpPr>
          <p:cNvPr id="50179" name="Rectangle 3"/>
          <p:cNvSpPr>
            <a:spLocks noGrp="1" noChangeArrowheads="1"/>
          </p:cNvSpPr>
          <p:nvPr>
            <p:ph sz="half" idx="1"/>
          </p:nvPr>
        </p:nvSpPr>
        <p:spPr>
          <a:xfrm>
            <a:off x="931910" y="4463558"/>
            <a:ext cx="8393861" cy="1525810"/>
          </a:xfrm>
          <a:solidFill>
            <a:srgbClr val="FFFF66"/>
          </a:solidFill>
        </p:spPr>
        <p:txBody>
          <a:bodyPr/>
          <a:lstStyle/>
          <a:p>
            <a:pPr>
              <a:buFontTx/>
              <a:buNone/>
            </a:pPr>
            <a:r>
              <a:rPr lang="en-US" altLang="zh-CN" b="1" dirty="0"/>
              <a:t> ④</a:t>
            </a:r>
            <a:r>
              <a:rPr lang="zh-CN" altLang="en-US" b="1" dirty="0"/>
              <a:t>、</a:t>
            </a:r>
            <a:r>
              <a:rPr lang="en-US" altLang="zh-CN" b="1" dirty="0"/>
              <a:t>ω》ω</a:t>
            </a:r>
            <a:r>
              <a:rPr lang="en-US" altLang="zh-CN" b="1" baseline="-25000" dirty="0"/>
              <a:t>0</a:t>
            </a:r>
            <a:r>
              <a:rPr lang="zh-CN" altLang="en-US" b="1" dirty="0"/>
              <a:t>时：</a:t>
            </a:r>
          </a:p>
          <a:p>
            <a:pPr>
              <a:buFontTx/>
              <a:buNone/>
            </a:pPr>
            <a:r>
              <a:rPr lang="zh-CN" altLang="en-US" b="1" dirty="0"/>
              <a:t>         </a:t>
            </a:r>
            <a:r>
              <a:rPr lang="en-US" altLang="zh-CN" sz="2400" b="1" dirty="0"/>
              <a:t>A</a:t>
            </a:r>
            <a:r>
              <a:rPr lang="en-US" altLang="zh-CN" sz="2400" b="1" baseline="-25000" dirty="0"/>
              <a:t>1</a:t>
            </a:r>
            <a:r>
              <a:rPr lang="zh-CN" altLang="en-US" sz="2400" b="1" dirty="0"/>
              <a:t>、</a:t>
            </a:r>
            <a:r>
              <a:rPr lang="en-US" altLang="zh-CN" sz="2400" b="1" dirty="0"/>
              <a:t>B</a:t>
            </a:r>
            <a:r>
              <a:rPr lang="en-US" altLang="zh-CN" sz="2400" b="1" baseline="-25000" dirty="0"/>
              <a:t>1</a:t>
            </a:r>
            <a:r>
              <a:rPr lang="zh-CN" altLang="en-US" sz="2400" b="1" dirty="0"/>
              <a:t>、</a:t>
            </a:r>
            <a:r>
              <a:rPr lang="en-US" altLang="zh-CN" sz="2400" b="1" dirty="0"/>
              <a:t> B</a:t>
            </a:r>
            <a:r>
              <a:rPr lang="en-US" altLang="zh-CN" sz="2400" b="1" baseline="-25000" dirty="0"/>
              <a:t>2</a:t>
            </a:r>
            <a:r>
              <a:rPr lang="zh-CN" altLang="en-US" sz="2400" b="1" dirty="0"/>
              <a:t>三者相近，</a:t>
            </a:r>
            <a:r>
              <a:rPr lang="en-US" altLang="zh-CN" sz="2400" b="1" dirty="0"/>
              <a:t>|H(</a:t>
            </a:r>
            <a:r>
              <a:rPr lang="en-US" altLang="zh-CN" sz="2400" b="1" dirty="0" err="1"/>
              <a:t>jω</a:t>
            </a:r>
            <a:r>
              <a:rPr lang="en-US" altLang="zh-CN" sz="2400" b="1" dirty="0"/>
              <a:t>)|</a:t>
            </a:r>
            <a:r>
              <a:rPr lang="zh-CN" altLang="en-US" sz="2400" b="1" dirty="0"/>
              <a:t>减小，最后趋于零。同时</a:t>
            </a:r>
            <a:r>
              <a:rPr lang="en-US" altLang="zh-CN" sz="2400" b="1" dirty="0"/>
              <a:t>α</a:t>
            </a:r>
            <a:r>
              <a:rPr lang="en-US" altLang="zh-CN" sz="2400" b="1" baseline="-25000" dirty="0"/>
              <a:t>1</a:t>
            </a:r>
            <a:r>
              <a:rPr lang="zh-CN" altLang="en-US" sz="2400" b="1" dirty="0"/>
              <a:t>、</a:t>
            </a:r>
            <a:r>
              <a:rPr lang="en-US" altLang="zh-CN" sz="2400" b="1" dirty="0"/>
              <a:t>α</a:t>
            </a:r>
            <a:r>
              <a:rPr lang="en-US" altLang="zh-CN" sz="2400" b="1" baseline="-25000" dirty="0"/>
              <a:t>2</a:t>
            </a:r>
            <a:r>
              <a:rPr lang="zh-CN" altLang="en-US" sz="2400" b="1" dirty="0"/>
              <a:t>渐趋</a:t>
            </a:r>
            <a:r>
              <a:rPr lang="en-US" altLang="zh-CN" sz="2400" b="1" dirty="0"/>
              <a:t>90</a:t>
            </a:r>
            <a:r>
              <a:rPr lang="zh-CN" altLang="zh-CN" sz="2400" b="1" dirty="0"/>
              <a:t>°，φ(</a:t>
            </a:r>
            <a:r>
              <a:rPr lang="en-US" altLang="zh-CN" sz="2400" b="1" dirty="0"/>
              <a:t>ω)</a:t>
            </a:r>
            <a:r>
              <a:rPr lang="zh-CN" altLang="en-US" sz="2400" b="1" dirty="0"/>
              <a:t>趋于</a:t>
            </a:r>
            <a:r>
              <a:rPr lang="en-US" altLang="zh-CN" sz="2400" b="1" dirty="0"/>
              <a:t>-90</a:t>
            </a:r>
            <a:r>
              <a:rPr lang="zh-CN" altLang="zh-CN" sz="2400" b="1" dirty="0"/>
              <a:t>°。</a:t>
            </a:r>
            <a:endParaRPr lang="zh-CN" altLang="en-US" b="1" dirty="0"/>
          </a:p>
        </p:txBody>
      </p:sp>
      <p:grpSp>
        <p:nvGrpSpPr>
          <p:cNvPr id="50180" name="Group 12"/>
          <p:cNvGrpSpPr/>
          <p:nvPr/>
        </p:nvGrpSpPr>
        <p:grpSpPr bwMode="auto">
          <a:xfrm>
            <a:off x="4936808" y="467678"/>
            <a:ext cx="3224212" cy="3656012"/>
            <a:chOff x="3729" y="2017"/>
            <a:chExt cx="2031" cy="2303"/>
          </a:xfrm>
        </p:grpSpPr>
        <p:pic>
          <p:nvPicPr>
            <p:cNvPr id="50185" name="Picture 9" descr="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9" y="2017"/>
              <a:ext cx="2031" cy="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6" name="Oval 11"/>
            <p:cNvSpPr>
              <a:spLocks noChangeArrowheads="1"/>
            </p:cNvSpPr>
            <p:nvPr/>
          </p:nvSpPr>
          <p:spPr bwMode="auto">
            <a:xfrm>
              <a:off x="4594" y="3430"/>
              <a:ext cx="90" cy="91"/>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endParaRPr lang="zh-CN" altLang="en-US"/>
            </a:p>
          </p:txBody>
        </p:sp>
      </p:grpSp>
      <p:graphicFrame>
        <p:nvGraphicFramePr>
          <p:cNvPr id="50181" name="Object 2"/>
          <p:cNvGraphicFramePr>
            <a:graphicFrameLocks noChangeAspect="1"/>
          </p:cNvGraphicFramePr>
          <p:nvPr/>
        </p:nvGraphicFramePr>
        <p:xfrm>
          <a:off x="543560" y="1667352"/>
          <a:ext cx="3969385" cy="668655"/>
        </p:xfrm>
        <a:graphic>
          <a:graphicData uri="http://schemas.openxmlformats.org/presentationml/2006/ole">
            <mc:AlternateContent xmlns:mc="http://schemas.openxmlformats.org/markup-compatibility/2006">
              <mc:Choice xmlns:v="urn:schemas-microsoft-com:vml" Requires="v">
                <p:oleObj name="公式" r:id="rId3" imgW="2565400" imgH="431800" progId="Equation.3">
                  <p:embed/>
                </p:oleObj>
              </mc:Choice>
              <mc:Fallback>
                <p:oleObj name="公式" r:id="rId3" imgW="2565400" imgH="431800" progId="Equation.3">
                  <p:embed/>
                  <p:pic>
                    <p:nvPicPr>
                      <p:cNvPr id="0" name="Object 2"/>
                      <p:cNvPicPr>
                        <a:picLocks noChangeAspect="1" noChangeArrowheads="1"/>
                      </p:cNvPicPr>
                      <p:nvPr/>
                    </p:nvPicPr>
                    <p:blipFill>
                      <a:blip r:embed="rId4"/>
                      <a:srcRect/>
                      <a:stretch>
                        <a:fillRect/>
                      </a:stretch>
                    </p:blipFill>
                    <p:spPr bwMode="auto">
                      <a:xfrm>
                        <a:off x="543560" y="1667352"/>
                        <a:ext cx="3969385" cy="668655"/>
                      </a:xfrm>
                      <a:prstGeom prst="rect">
                        <a:avLst/>
                      </a:prstGeom>
                      <a:noFill/>
                      <a:ln w="19050">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182" name="Object 3"/>
          <p:cNvGraphicFramePr>
            <a:graphicFrameLocks noChangeAspect="1"/>
          </p:cNvGraphicFramePr>
          <p:nvPr/>
        </p:nvGraphicFramePr>
        <p:xfrm>
          <a:off x="7611428" y="860108"/>
          <a:ext cx="1493837" cy="373062"/>
        </p:xfrm>
        <a:graphic>
          <a:graphicData uri="http://schemas.openxmlformats.org/presentationml/2006/ole">
            <mc:AlternateContent xmlns:mc="http://schemas.openxmlformats.org/markup-compatibility/2006">
              <mc:Choice xmlns:v="urn:schemas-microsoft-com:vml" Requires="v">
                <p:oleObj name="公式" r:id="rId5" imgW="965200" imgH="241300" progId="Equation.3">
                  <p:embed/>
                </p:oleObj>
              </mc:Choice>
              <mc:Fallback>
                <p:oleObj name="公式" r:id="rId5" imgW="965200" imgH="24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1428" y="860108"/>
                        <a:ext cx="1493837" cy="373062"/>
                      </a:xfrm>
                      <a:prstGeom prst="rect">
                        <a:avLst/>
                      </a:prstGeom>
                      <a:noFill/>
                      <a:ln w="19050">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183" name="Object 4"/>
          <p:cNvGraphicFramePr>
            <a:graphicFrameLocks noChangeAspect="1"/>
          </p:cNvGraphicFramePr>
          <p:nvPr/>
        </p:nvGraphicFramePr>
        <p:xfrm>
          <a:off x="4643438" y="4868863"/>
          <a:ext cx="293687" cy="354012"/>
        </p:xfrm>
        <a:graphic>
          <a:graphicData uri="http://schemas.openxmlformats.org/presentationml/2006/ole">
            <mc:AlternateContent xmlns:mc="http://schemas.openxmlformats.org/markup-compatibility/2006">
              <mc:Choice xmlns:v="urn:schemas-microsoft-com:vml" Requires="v">
                <p:oleObj name="公式" r:id="rId7" imgW="190500" imgH="228600" progId="Equation.3">
                  <p:embed/>
                </p:oleObj>
              </mc:Choice>
              <mc:Fallback>
                <p:oleObj name="公式" r:id="rId7" imgW="1905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3438" y="4868863"/>
                        <a:ext cx="293687"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日期占位符 10"/>
          <p:cNvSpPr>
            <a:spLocks noGrp="1"/>
          </p:cNvSpPr>
          <p:nvPr>
            <p:ph type="dt" sz="quarter" idx="10"/>
          </p:nvPr>
        </p:nvSpPr>
        <p:spPr/>
        <p:txBody>
          <a:bodyPr/>
          <a:lstStyle/>
          <a:p>
            <a:pPr>
              <a:defRPr/>
            </a:pPr>
            <a:fld id="{639C8DF4-35EA-479B-BF17-0232960610F1}" type="datetime1">
              <a:rPr lang="zh-CN" altLang="en-US"/>
              <a:t>2026/4/28</a:t>
            </a:fld>
            <a:endParaRPr lang="en-US" altLang="zh-CN"/>
          </a:p>
        </p:txBody>
      </p:sp>
      <p:sp>
        <p:nvSpPr>
          <p:cNvPr id="2" name="墨迹 1"/>
          <p:cNvSpPr/>
          <p:nvPr/>
        </p:nvSpPr>
        <p:spPr bwMode="auto">
          <a:xfrm>
            <a:off x="1936080" y="572400"/>
            <a:ext cx="6990120" cy="5531760"/>
          </a:xfrm>
        </p:spPr>
      </p:sp>
    </p:spTree>
  </p:cSld>
  <p:clrMapOvr>
    <a:masterClrMapping/>
  </p:clrMapOvr>
  <mc:AlternateContent xmlns:mc="http://schemas.openxmlformats.org/markup-compatibility/2006" xmlns:p14="http://schemas.microsoft.com/office/powerpoint/2010/main">
    <mc:Choice Requires="p14">
      <p:transition spd="slow" p14:dur="2000" advTm="78335"/>
    </mc:Choice>
    <mc:Fallback xmlns="">
      <p:transition spd="slow" advTm="7833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0182"/>
                                        </p:tgtEl>
                                        <p:attrNameLst>
                                          <p:attrName>style.visibility</p:attrName>
                                        </p:attrNameLst>
                                      </p:cBhvr>
                                      <p:to>
                                        <p:strVal val="visible"/>
                                      </p:to>
                                    </p:set>
                                    <p:anim calcmode="lin" valueType="num">
                                      <p:cBhvr additive="base">
                                        <p:cTn id="11" dur="500" fill="hold"/>
                                        <p:tgtEl>
                                          <p:spTgt spid="50182"/>
                                        </p:tgtEl>
                                        <p:attrNameLst>
                                          <p:attrName>ppt_x</p:attrName>
                                        </p:attrNameLst>
                                      </p:cBhvr>
                                      <p:tavLst>
                                        <p:tav tm="0">
                                          <p:val>
                                            <p:strVal val="#ppt_x"/>
                                          </p:val>
                                        </p:tav>
                                        <p:tav tm="100000">
                                          <p:val>
                                            <p:strVal val="#ppt_x"/>
                                          </p:val>
                                        </p:tav>
                                      </p:tavLst>
                                    </p:anim>
                                    <p:anim calcmode="lin" valueType="num">
                                      <p:cBhvr additive="base">
                                        <p:cTn id="12" dur="500" fill="hold"/>
                                        <p:tgtEl>
                                          <p:spTgt spid="5018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180"/>
                                        </p:tgtEl>
                                        <p:attrNameLst>
                                          <p:attrName>style.visibility</p:attrName>
                                        </p:attrNameLst>
                                      </p:cBhvr>
                                      <p:to>
                                        <p:strVal val="visible"/>
                                      </p:to>
                                    </p:set>
                                    <p:anim calcmode="lin" valueType="num">
                                      <p:cBhvr additive="base">
                                        <p:cTn id="15" dur="500" fill="hold"/>
                                        <p:tgtEl>
                                          <p:spTgt spid="50180"/>
                                        </p:tgtEl>
                                        <p:attrNameLst>
                                          <p:attrName>ppt_x</p:attrName>
                                        </p:attrNameLst>
                                      </p:cBhvr>
                                      <p:tavLst>
                                        <p:tav tm="0">
                                          <p:val>
                                            <p:strVal val="#ppt_x"/>
                                          </p:val>
                                        </p:tav>
                                        <p:tav tm="100000">
                                          <p:val>
                                            <p:strVal val="#ppt_x"/>
                                          </p:val>
                                        </p:tav>
                                      </p:tavLst>
                                    </p:anim>
                                    <p:anim calcmode="lin" valueType="num">
                                      <p:cBhvr additive="base">
                                        <p:cTn id="16" dur="500" fill="hold"/>
                                        <p:tgtEl>
                                          <p:spTgt spid="50180"/>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50179">
                                            <p:bg/>
                                          </p:spTgt>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5017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1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sz="half" idx="1"/>
          </p:nvPr>
        </p:nvSpPr>
        <p:spPr>
          <a:xfrm>
            <a:off x="755650" y="1052513"/>
            <a:ext cx="4824413" cy="576262"/>
          </a:xfrm>
        </p:spPr>
        <p:txBody>
          <a:bodyPr/>
          <a:lstStyle/>
          <a:p>
            <a:pPr>
              <a:buFontTx/>
              <a:buNone/>
            </a:pPr>
            <a:r>
              <a:rPr lang="zh-CN" altLang="en-US" sz="2800" b="1"/>
              <a:t>于是有频率特性曲线：         </a:t>
            </a:r>
          </a:p>
        </p:txBody>
      </p:sp>
      <p:pic>
        <p:nvPicPr>
          <p:cNvPr id="51203" name="Picture 8" descr="2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1772920" y="1557655"/>
            <a:ext cx="6706235" cy="4915535"/>
          </a:xfrm>
          <a:solidFill>
            <a:srgbClr val="008000"/>
          </a:solidFill>
          <a:ln w="28575">
            <a:solidFill>
              <a:srgbClr val="008000"/>
            </a:solidFill>
            <a:miter lim="800000"/>
            <a:headEnd/>
            <a:tailEnd/>
          </a:ln>
        </p:spPr>
      </p:pic>
      <p:sp>
        <p:nvSpPr>
          <p:cNvPr id="492560" name="Rectangle 16"/>
          <p:cNvSpPr>
            <a:spLocks noChangeArrowheads="1"/>
          </p:cNvSpPr>
          <p:nvPr/>
        </p:nvSpPr>
        <p:spPr bwMode="auto">
          <a:xfrm>
            <a:off x="465138" y="0"/>
            <a:ext cx="8424862" cy="6080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§6.4 </a:t>
            </a:r>
            <a:r>
              <a:rPr lang="zh-CN" altLang="en-US">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系统函数的极零点分布与系统频率特性的关系</a:t>
            </a:r>
          </a:p>
        </p:txBody>
      </p:sp>
      <p:sp>
        <p:nvSpPr>
          <p:cNvPr id="10" name="日期占位符 9"/>
          <p:cNvSpPr>
            <a:spLocks noGrp="1"/>
          </p:cNvSpPr>
          <p:nvPr>
            <p:ph type="dt" sz="quarter" idx="10"/>
          </p:nvPr>
        </p:nvSpPr>
        <p:spPr/>
        <p:txBody>
          <a:bodyPr/>
          <a:lstStyle/>
          <a:p>
            <a:pPr>
              <a:defRPr/>
            </a:pPr>
            <a:fld id="{B30D580A-2516-4657-A80B-AEB2FEB0DDF6}" type="datetime1">
              <a:rPr lang="zh-CN" altLang="en-US"/>
              <a:t>2026/4/28</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508"/>
    </mc:Choice>
    <mc:Fallback xmlns="">
      <p:transition spd="slow" advTm="508"/>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p:cNvSpPr>
            <a:spLocks noGrp="1" noChangeArrowheads="1"/>
          </p:cNvSpPr>
          <p:nvPr>
            <p:ph type="title"/>
          </p:nvPr>
        </p:nvSpPr>
        <p:spPr>
          <a:xfrm>
            <a:off x="436563" y="0"/>
            <a:ext cx="8424862" cy="608013"/>
          </a:xfrm>
          <a:solidFill>
            <a:schemeClr val="accent2"/>
          </a:solidFill>
          <a:effectLst>
            <a:outerShdw dist="35921" dir="2700000" algn="ctr" rotWithShape="0">
              <a:schemeClr val="bg2"/>
            </a:outerShdw>
          </a:effectLst>
        </p:spPr>
        <p:txBody>
          <a:bodyPr/>
          <a:lstStyle/>
          <a:p>
            <a:pPr>
              <a:defRPr/>
            </a:pPr>
            <a:r>
              <a:rPr lang="en-US" altLang="zh-CN" sz="2800" b="1">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§6.4 </a:t>
            </a:r>
            <a:r>
              <a:rPr lang="zh-CN" altLang="en-US" sz="2800" b="1">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系统函数的极零点分布与系统频率特性的关系</a:t>
            </a:r>
          </a:p>
        </p:txBody>
      </p:sp>
      <p:sp>
        <p:nvSpPr>
          <p:cNvPr id="52227" name="Rectangle 3"/>
          <p:cNvSpPr>
            <a:spLocks noGrp="1" noChangeArrowheads="1"/>
          </p:cNvSpPr>
          <p:nvPr>
            <p:ph sz="half" idx="1"/>
          </p:nvPr>
        </p:nvSpPr>
        <p:spPr>
          <a:xfrm>
            <a:off x="404813" y="670375"/>
            <a:ext cx="8739187" cy="2532900"/>
          </a:xfrm>
        </p:spPr>
        <p:txBody>
          <a:bodyPr/>
          <a:lstStyle/>
          <a:p>
            <a:pPr marL="0" indent="0">
              <a:lnSpc>
                <a:spcPct val="130000"/>
              </a:lnSpc>
              <a:buFontTx/>
              <a:buNone/>
            </a:pPr>
            <a:r>
              <a:rPr lang="zh-CN" altLang="en-US" sz="2400" b="1" dirty="0">
                <a:solidFill>
                  <a:srgbClr val="FF0000"/>
                </a:solidFill>
              </a:rPr>
              <a:t>结论：</a:t>
            </a:r>
            <a:r>
              <a:rPr lang="zh-CN" altLang="en-US" sz="2400" b="1" dirty="0">
                <a:solidFill>
                  <a:srgbClr val="0000FF"/>
                </a:solidFill>
              </a:rPr>
              <a:t>当一极点非常接近于虚轴</a:t>
            </a:r>
            <a:r>
              <a:rPr lang="zh-CN" altLang="en-US" sz="2400" b="1" dirty="0"/>
              <a:t>时（</a:t>
            </a:r>
            <a:r>
              <a:rPr lang="en-US" altLang="zh-CN" sz="2400" b="1" dirty="0"/>
              <a:t>s=σ</a:t>
            </a:r>
            <a:r>
              <a:rPr lang="en-US" altLang="zh-CN" sz="2400" b="1" baseline="-25000" dirty="0"/>
              <a:t>0</a:t>
            </a:r>
            <a:r>
              <a:rPr lang="en-US" altLang="zh-CN" sz="2400" b="1" dirty="0"/>
              <a:t>+jω</a:t>
            </a:r>
            <a:r>
              <a:rPr lang="en-US" altLang="zh-CN" sz="2400" b="1" baseline="-25000" dirty="0"/>
              <a:t>0</a:t>
            </a:r>
            <a:r>
              <a:rPr lang="zh-CN" altLang="en-US" sz="2400" b="1" dirty="0"/>
              <a:t>，</a:t>
            </a:r>
            <a:r>
              <a:rPr lang="en-US" altLang="zh-CN" sz="2400" b="1" dirty="0"/>
              <a:t>|σ</a:t>
            </a:r>
            <a:r>
              <a:rPr lang="en-US" altLang="zh-CN" sz="2400" b="1" baseline="-25000" dirty="0"/>
              <a:t>0</a:t>
            </a:r>
            <a:r>
              <a:rPr lang="en-US" altLang="zh-CN" sz="2400" b="1" dirty="0"/>
              <a:t>| </a:t>
            </a:r>
            <a:r>
              <a:rPr lang="zh-CN" altLang="en-US" sz="2400" b="1" dirty="0"/>
              <a:t>很小），而频率为极点之虚部系数时，</a:t>
            </a:r>
            <a:r>
              <a:rPr lang="zh-CN" altLang="en-US" sz="2400" b="1" dirty="0">
                <a:solidFill>
                  <a:srgbClr val="0000FF"/>
                </a:solidFill>
              </a:rPr>
              <a:t>模量有一极值（峰值），相位很快减小</a:t>
            </a:r>
            <a:r>
              <a:rPr lang="zh-CN" altLang="en-US" sz="2400" b="1" dirty="0"/>
              <a:t>；</a:t>
            </a:r>
            <a:endParaRPr lang="en-US" altLang="zh-CN" sz="2400" b="1" dirty="0"/>
          </a:p>
          <a:p>
            <a:pPr marL="0" indent="0">
              <a:lnSpc>
                <a:spcPct val="130000"/>
              </a:lnSpc>
              <a:buFontTx/>
              <a:buNone/>
            </a:pPr>
            <a:r>
              <a:rPr lang="en-US" altLang="zh-CN" sz="2400" b="1" dirty="0">
                <a:solidFill>
                  <a:srgbClr val="0000FF"/>
                </a:solidFill>
              </a:rPr>
              <a:t>    </a:t>
            </a:r>
            <a:r>
              <a:rPr lang="zh-CN" altLang="en-US" sz="2400" b="1" dirty="0">
                <a:solidFill>
                  <a:srgbClr val="0000FF"/>
                </a:solidFill>
              </a:rPr>
              <a:t>当一零点十分接近虚轴</a:t>
            </a:r>
            <a:r>
              <a:rPr lang="zh-CN" altLang="en-US" sz="2400" b="1" dirty="0"/>
              <a:t>时，频率为零点虚部系数时，</a:t>
            </a:r>
            <a:r>
              <a:rPr lang="zh-CN" altLang="en-US" sz="2400" b="1" dirty="0">
                <a:solidFill>
                  <a:srgbClr val="0000FF"/>
                </a:solidFill>
              </a:rPr>
              <a:t>模量有一谷值，相位很快增大</a:t>
            </a:r>
            <a:r>
              <a:rPr lang="zh-CN" altLang="en-US" sz="2400" b="1" dirty="0"/>
              <a:t>。    </a:t>
            </a:r>
          </a:p>
        </p:txBody>
      </p:sp>
      <p:pic>
        <p:nvPicPr>
          <p:cNvPr id="52228" name="Picture 7" descr="55"/>
          <p:cNvPicPr>
            <a:picLocks noChangeAspect="1" noChangeArrowheads="1"/>
          </p:cNvPicPr>
          <p:nvPr/>
        </p:nvPicPr>
        <p:blipFill rotWithShape="1">
          <a:blip r:embed="rId2">
            <a:extLst>
              <a:ext uri="{28A0092B-C50C-407E-A947-70E740481C1C}">
                <a14:useLocalDpi xmlns:a14="http://schemas.microsoft.com/office/drawing/2010/main" val="0"/>
              </a:ext>
            </a:extLst>
          </a:blip>
          <a:srcRect r="56744"/>
          <a:stretch>
            <a:fillRect/>
          </a:stretch>
        </p:blipFill>
        <p:spPr bwMode="auto">
          <a:xfrm>
            <a:off x="468313" y="3429000"/>
            <a:ext cx="3597604"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日期占位符 4"/>
          <p:cNvSpPr>
            <a:spLocks noGrp="1"/>
          </p:cNvSpPr>
          <p:nvPr>
            <p:ph type="dt" sz="quarter" idx="10"/>
          </p:nvPr>
        </p:nvSpPr>
        <p:spPr>
          <a:xfrm>
            <a:off x="0" y="6578600"/>
            <a:ext cx="1654175" cy="279400"/>
          </a:xfrm>
        </p:spPr>
        <p:txBody>
          <a:bodyPr/>
          <a:lstStyle/>
          <a:p>
            <a:pPr>
              <a:defRPr/>
            </a:pPr>
            <a:fld id="{38DDBF1F-43FA-4176-AB97-300788325074}" type="datetime1">
              <a:rPr lang="zh-CN" altLang="en-US" smtClean="0"/>
              <a:t>2026/4/28</a:t>
            </a:fld>
            <a:endParaRPr lang="en-US" altLang="zh-CN" dirty="0"/>
          </a:p>
        </p:txBody>
      </p:sp>
      <p:pic>
        <p:nvPicPr>
          <p:cNvPr id="8" name="Picture 7" descr="55"/>
          <p:cNvPicPr>
            <a:picLocks noChangeAspect="1" noChangeArrowheads="1"/>
          </p:cNvPicPr>
          <p:nvPr/>
        </p:nvPicPr>
        <p:blipFill rotWithShape="1">
          <a:blip r:embed="rId2">
            <a:extLst>
              <a:ext uri="{28A0092B-C50C-407E-A947-70E740481C1C}">
                <a14:useLocalDpi xmlns:a14="http://schemas.microsoft.com/office/drawing/2010/main" val="0"/>
              </a:ext>
            </a:extLst>
          </a:blip>
          <a:srcRect l="55426"/>
          <a:stretch>
            <a:fillRect/>
          </a:stretch>
        </p:blipFill>
        <p:spPr bwMode="auto">
          <a:xfrm>
            <a:off x="5078085" y="3429000"/>
            <a:ext cx="3707140"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28980"/>
    </mc:Choice>
    <mc:Fallback xmlns="">
      <p:transition spd="slow" advTm="289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2228"/>
                                        </p:tgtEl>
                                        <p:attrNameLst>
                                          <p:attrName>style.visibility</p:attrName>
                                        </p:attrNameLst>
                                      </p:cBhvr>
                                      <p:to>
                                        <p:strVal val="visible"/>
                                      </p:to>
                                    </p:set>
                                    <p:anim calcmode="lin" valueType="num">
                                      <p:cBhvr additive="base">
                                        <p:cTn id="11" dur="500" fill="hold"/>
                                        <p:tgtEl>
                                          <p:spTgt spid="52228"/>
                                        </p:tgtEl>
                                        <p:attrNameLst>
                                          <p:attrName>ppt_x</p:attrName>
                                        </p:attrNameLst>
                                      </p:cBhvr>
                                      <p:tavLst>
                                        <p:tav tm="0">
                                          <p:val>
                                            <p:strVal val="#ppt_x"/>
                                          </p:val>
                                        </p:tav>
                                        <p:tav tm="100000">
                                          <p:val>
                                            <p:strVal val="#ppt_x"/>
                                          </p:val>
                                        </p:tav>
                                      </p:tavLst>
                                    </p:anim>
                                    <p:anim calcmode="lin" valueType="num">
                                      <p:cBhvr additive="base">
                                        <p:cTn id="12" dur="500" fill="hold"/>
                                        <p:tgtEl>
                                          <p:spTgt spid="5222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sz="half" idx="1"/>
          </p:nvPr>
        </p:nvSpPr>
        <p:spPr>
          <a:xfrm>
            <a:off x="644525" y="846138"/>
            <a:ext cx="5832475" cy="720725"/>
          </a:xfrm>
        </p:spPr>
        <p:txBody>
          <a:bodyPr/>
          <a:lstStyle/>
          <a:p>
            <a:pPr marL="0" indent="0">
              <a:buFontTx/>
              <a:buNone/>
            </a:pPr>
            <a:r>
              <a:rPr lang="en-US" altLang="zh-CN" b="1"/>
              <a:t>  </a:t>
            </a:r>
            <a:r>
              <a:rPr lang="zh-CN" altLang="en-US" b="1"/>
              <a:t>网络理论中常见的两种转移函数： </a:t>
            </a:r>
          </a:p>
        </p:txBody>
      </p:sp>
      <p:sp>
        <p:nvSpPr>
          <p:cNvPr id="53251" name="Rectangle 5"/>
          <p:cNvSpPr>
            <a:spLocks noChangeArrowheads="1"/>
          </p:cNvSpPr>
          <p:nvPr/>
        </p:nvSpPr>
        <p:spPr bwMode="auto">
          <a:xfrm>
            <a:off x="323850" y="1404938"/>
            <a:ext cx="835342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spcBef>
                <a:spcPct val="20000"/>
              </a:spcBef>
              <a:buClr>
                <a:schemeClr val="accent2"/>
              </a:buClr>
              <a:buFont typeface="Wingdings" panose="05000000000000000000" pitchFamily="2" charset="2"/>
              <a:buNone/>
            </a:pPr>
            <a:r>
              <a:rPr lang="en-US" altLang="zh-CN">
                <a:latin typeface="华文中宋" panose="02010600040101010101" pitchFamily="2" charset="-122"/>
              </a:rPr>
              <a:t>  1</a:t>
            </a:r>
            <a:r>
              <a:rPr lang="zh-CN" altLang="en-US">
                <a:latin typeface="华文中宋" panose="02010600040101010101" pitchFamily="2" charset="-122"/>
              </a:rPr>
              <a:t>、“全通函数”：</a:t>
            </a:r>
          </a:p>
          <a:p>
            <a:pPr eaLnBrk="1" hangingPunct="1">
              <a:spcBef>
                <a:spcPct val="20000"/>
              </a:spcBef>
              <a:buClr>
                <a:schemeClr val="accent2"/>
              </a:buClr>
              <a:buFont typeface="Wingdings" panose="05000000000000000000" pitchFamily="2" charset="2"/>
              <a:buNone/>
            </a:pPr>
            <a:r>
              <a:rPr lang="zh-CN" altLang="en-US">
                <a:latin typeface="华文中宋" panose="02010600040101010101" pitchFamily="2" charset="-122"/>
              </a:rPr>
              <a:t>        稳定系统极点在左半平面，若其零点在</a:t>
            </a:r>
            <a:r>
              <a:rPr lang="en-US" altLang="zh-CN">
                <a:latin typeface="华文中宋" panose="02010600040101010101" pitchFamily="2" charset="-122"/>
              </a:rPr>
              <a:t>s</a:t>
            </a:r>
            <a:r>
              <a:rPr lang="zh-CN" altLang="en-US">
                <a:latin typeface="华文中宋" panose="02010600040101010101" pitchFamily="2" charset="-122"/>
              </a:rPr>
              <a:t>平面上以虚轴为对称轴与极点成镜象对称，则这种网络函数叫</a:t>
            </a:r>
            <a:r>
              <a:rPr lang="zh-CN" altLang="en-US">
                <a:solidFill>
                  <a:srgbClr val="FF0000"/>
                </a:solidFill>
                <a:latin typeface="华文中宋" panose="02010600040101010101" pitchFamily="2" charset="-122"/>
              </a:rPr>
              <a:t>全通函数</a:t>
            </a:r>
            <a:r>
              <a:rPr lang="zh-CN" altLang="en-US">
                <a:latin typeface="华文中宋" panose="02010600040101010101" pitchFamily="2" charset="-122"/>
              </a:rPr>
              <a:t>。</a:t>
            </a:r>
            <a:endParaRPr lang="zh-CN" altLang="en-US">
              <a:solidFill>
                <a:srgbClr val="9900FF"/>
              </a:solidFill>
              <a:latin typeface="华文中宋" panose="02010600040101010101" pitchFamily="2" charset="-122"/>
            </a:endParaRPr>
          </a:p>
        </p:txBody>
      </p:sp>
      <p:graphicFrame>
        <p:nvGraphicFramePr>
          <p:cNvPr id="494598" name="Object 2"/>
          <p:cNvGraphicFramePr>
            <a:graphicFrameLocks noGrp="1" noChangeAspect="1"/>
          </p:cNvGraphicFramePr>
          <p:nvPr>
            <p:ph sz="half" idx="2"/>
          </p:nvPr>
        </p:nvGraphicFramePr>
        <p:xfrm>
          <a:off x="874713" y="5456238"/>
          <a:ext cx="5761037" cy="855662"/>
        </p:xfrm>
        <a:graphic>
          <a:graphicData uri="http://schemas.openxmlformats.org/presentationml/2006/ole">
            <mc:AlternateContent xmlns:mc="http://schemas.openxmlformats.org/markup-compatibility/2006">
              <mc:Choice xmlns:v="urn:schemas-microsoft-com:vml" Requires="v">
                <p:oleObj name="公式" r:id="rId3" imgW="2908300" imgH="431800" progId="Equation.3">
                  <p:embed/>
                </p:oleObj>
              </mc:Choice>
              <mc:Fallback>
                <p:oleObj name="公式" r:id="rId3" imgW="2908300" imgH="431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713" y="5456238"/>
                        <a:ext cx="5761037" cy="855662"/>
                      </a:xfrm>
                      <a:prstGeom prst="rect">
                        <a:avLst/>
                      </a:prstGeom>
                      <a:noFill/>
                      <a:ln w="19050">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4600" name="Rectangle 8"/>
          <p:cNvSpPr>
            <a:spLocks noChangeArrowheads="1"/>
          </p:cNvSpPr>
          <p:nvPr/>
        </p:nvSpPr>
        <p:spPr bwMode="auto">
          <a:xfrm>
            <a:off x="4471988" y="3614738"/>
            <a:ext cx="40703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r>
              <a:rPr lang="zh-CN" altLang="en-US">
                <a:solidFill>
                  <a:srgbClr val="9900FF"/>
                </a:solidFill>
                <a:latin typeface="华文中宋" panose="02010600040101010101" pitchFamily="2" charset="-122"/>
              </a:rPr>
              <a:t>该网络不产生幅值失真，只进行相位校正。</a:t>
            </a:r>
          </a:p>
        </p:txBody>
      </p:sp>
      <p:grpSp>
        <p:nvGrpSpPr>
          <p:cNvPr id="2" name="Group 19"/>
          <p:cNvGrpSpPr/>
          <p:nvPr/>
        </p:nvGrpSpPr>
        <p:grpSpPr bwMode="auto">
          <a:xfrm>
            <a:off x="1703388" y="3327400"/>
            <a:ext cx="2087562" cy="2087563"/>
            <a:chOff x="4740" y="2614"/>
            <a:chExt cx="862" cy="1043"/>
          </a:xfrm>
        </p:grpSpPr>
        <p:sp>
          <p:nvSpPr>
            <p:cNvPr id="53257" name="Line 9"/>
            <p:cNvSpPr>
              <a:spLocks noChangeShapeType="1"/>
            </p:cNvSpPr>
            <p:nvPr/>
          </p:nvSpPr>
          <p:spPr bwMode="auto">
            <a:xfrm>
              <a:off x="4740" y="3203"/>
              <a:ext cx="862"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58" name="Line 10"/>
            <p:cNvSpPr>
              <a:spLocks noChangeShapeType="1"/>
            </p:cNvSpPr>
            <p:nvPr/>
          </p:nvSpPr>
          <p:spPr bwMode="auto">
            <a:xfrm flipV="1">
              <a:off x="5193" y="2614"/>
              <a:ext cx="0" cy="1043"/>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3259" name="Group 13"/>
            <p:cNvGrpSpPr/>
            <p:nvPr/>
          </p:nvGrpSpPr>
          <p:grpSpPr bwMode="auto">
            <a:xfrm>
              <a:off x="4876" y="2840"/>
              <a:ext cx="91" cy="91"/>
              <a:chOff x="4876" y="2840"/>
              <a:chExt cx="91" cy="91"/>
            </a:xfrm>
          </p:grpSpPr>
          <p:sp>
            <p:nvSpPr>
              <p:cNvPr id="53265" name="Line 11"/>
              <p:cNvSpPr>
                <a:spLocks noChangeShapeType="1"/>
              </p:cNvSpPr>
              <p:nvPr/>
            </p:nvSpPr>
            <p:spPr bwMode="auto">
              <a:xfrm>
                <a:off x="4876" y="2840"/>
                <a:ext cx="91" cy="9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266" name="Line 12"/>
              <p:cNvSpPr>
                <a:spLocks noChangeShapeType="1"/>
              </p:cNvSpPr>
              <p:nvPr/>
            </p:nvSpPr>
            <p:spPr bwMode="auto">
              <a:xfrm flipH="1">
                <a:off x="4876" y="2840"/>
                <a:ext cx="91" cy="9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3260" name="Group 14"/>
            <p:cNvGrpSpPr/>
            <p:nvPr/>
          </p:nvGrpSpPr>
          <p:grpSpPr bwMode="auto">
            <a:xfrm>
              <a:off x="4876" y="3339"/>
              <a:ext cx="91" cy="91"/>
              <a:chOff x="4876" y="2840"/>
              <a:chExt cx="91" cy="91"/>
            </a:xfrm>
          </p:grpSpPr>
          <p:sp>
            <p:nvSpPr>
              <p:cNvPr id="53263" name="Line 15"/>
              <p:cNvSpPr>
                <a:spLocks noChangeShapeType="1"/>
              </p:cNvSpPr>
              <p:nvPr/>
            </p:nvSpPr>
            <p:spPr bwMode="auto">
              <a:xfrm>
                <a:off x="4876" y="2840"/>
                <a:ext cx="91" cy="9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3264" name="Line 16"/>
              <p:cNvSpPr>
                <a:spLocks noChangeShapeType="1"/>
              </p:cNvSpPr>
              <p:nvPr/>
            </p:nvSpPr>
            <p:spPr bwMode="auto">
              <a:xfrm flipH="1">
                <a:off x="4876" y="2840"/>
                <a:ext cx="91" cy="9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261" name="Oval 17"/>
            <p:cNvSpPr>
              <a:spLocks noChangeArrowheads="1"/>
            </p:cNvSpPr>
            <p:nvPr/>
          </p:nvSpPr>
          <p:spPr bwMode="auto">
            <a:xfrm>
              <a:off x="5420" y="2840"/>
              <a:ext cx="45" cy="4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53262" name="Oval 18"/>
            <p:cNvSpPr>
              <a:spLocks noChangeArrowheads="1"/>
            </p:cNvSpPr>
            <p:nvPr/>
          </p:nvSpPr>
          <p:spPr bwMode="auto">
            <a:xfrm>
              <a:off x="5420" y="3385"/>
              <a:ext cx="45" cy="46"/>
            </a:xfrm>
            <a:prstGeom prst="ellipse">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endParaRPr lang="zh-CN" altLang="en-US"/>
            </a:p>
          </p:txBody>
        </p:sp>
      </p:grpSp>
      <p:sp>
        <p:nvSpPr>
          <p:cNvPr id="494612" name="Rectangle 20"/>
          <p:cNvSpPr>
            <a:spLocks noChangeArrowheads="1"/>
          </p:cNvSpPr>
          <p:nvPr/>
        </p:nvSpPr>
        <p:spPr bwMode="auto">
          <a:xfrm>
            <a:off x="363538" y="0"/>
            <a:ext cx="8424862" cy="6080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§6.4 </a:t>
            </a:r>
            <a:r>
              <a:rPr lang="zh-CN" altLang="en-US">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系统函数的极零点分布与系统频率特性的关系</a:t>
            </a:r>
          </a:p>
        </p:txBody>
      </p:sp>
      <p:sp>
        <p:nvSpPr>
          <p:cNvPr id="18" name="日期占位符 17"/>
          <p:cNvSpPr>
            <a:spLocks noGrp="1"/>
          </p:cNvSpPr>
          <p:nvPr>
            <p:ph type="dt" sz="quarter" idx="10"/>
          </p:nvPr>
        </p:nvSpPr>
        <p:spPr/>
        <p:txBody>
          <a:bodyPr/>
          <a:lstStyle/>
          <a:p>
            <a:pPr>
              <a:defRPr/>
            </a:pPr>
            <a:fld id="{A65763BB-A5F1-45B7-B620-53EC4215D239}" type="datetime1">
              <a:rPr lang="zh-CN" altLang="en-US"/>
              <a:t>2026/4/28</a:t>
            </a:fld>
            <a:endParaRPr lang="en-US" altLang="zh-CN"/>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39"/>
    </mc:Choice>
    <mc:Fallback xmlns="">
      <p:transition spd="slow" advTm="8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494598"/>
                                        </p:tgtEl>
                                        <p:attrNameLst>
                                          <p:attrName>style.visibility</p:attrName>
                                        </p:attrNameLst>
                                      </p:cBhvr>
                                      <p:to>
                                        <p:strVal val="visible"/>
                                      </p:to>
                                    </p:set>
                                    <p:anim calcmode="lin" valueType="num">
                                      <p:cBhvr>
                                        <p:cTn id="13" dur="1000" fill="hold"/>
                                        <p:tgtEl>
                                          <p:spTgt spid="494598"/>
                                        </p:tgtEl>
                                        <p:attrNameLst>
                                          <p:attrName>ppt_w</p:attrName>
                                        </p:attrNameLst>
                                      </p:cBhvr>
                                      <p:tavLst>
                                        <p:tav tm="0">
                                          <p:val>
                                            <p:strVal val="#ppt_w*0.70"/>
                                          </p:val>
                                        </p:tav>
                                        <p:tav tm="100000">
                                          <p:val>
                                            <p:strVal val="#ppt_w"/>
                                          </p:val>
                                        </p:tav>
                                      </p:tavLst>
                                    </p:anim>
                                    <p:anim calcmode="lin" valueType="num">
                                      <p:cBhvr>
                                        <p:cTn id="14" dur="1000" fill="hold"/>
                                        <p:tgtEl>
                                          <p:spTgt spid="494598"/>
                                        </p:tgtEl>
                                        <p:attrNameLst>
                                          <p:attrName>ppt_h</p:attrName>
                                        </p:attrNameLst>
                                      </p:cBhvr>
                                      <p:tavLst>
                                        <p:tav tm="0">
                                          <p:val>
                                            <p:strVal val="#ppt_h"/>
                                          </p:val>
                                        </p:tav>
                                        <p:tav tm="100000">
                                          <p:val>
                                            <p:strVal val="#ppt_h"/>
                                          </p:val>
                                        </p:tav>
                                      </p:tavLst>
                                    </p:anim>
                                    <p:animEffect transition="in" filter="fade">
                                      <p:cBhvr>
                                        <p:cTn id="15" dur="1000"/>
                                        <p:tgtEl>
                                          <p:spTgt spid="494598"/>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494600"/>
                                        </p:tgtEl>
                                        <p:attrNameLst>
                                          <p:attrName>style.visibility</p:attrName>
                                        </p:attrNameLst>
                                      </p:cBhvr>
                                      <p:to>
                                        <p:strVal val="visible"/>
                                      </p:to>
                                    </p:set>
                                    <p:anim calcmode="lin" valueType="num">
                                      <p:cBhvr>
                                        <p:cTn id="20" dur="1000" fill="hold"/>
                                        <p:tgtEl>
                                          <p:spTgt spid="494600"/>
                                        </p:tgtEl>
                                        <p:attrNameLst>
                                          <p:attrName>ppt_w</p:attrName>
                                        </p:attrNameLst>
                                      </p:cBhvr>
                                      <p:tavLst>
                                        <p:tav tm="0">
                                          <p:val>
                                            <p:strVal val="#ppt_w*0.70"/>
                                          </p:val>
                                        </p:tav>
                                        <p:tav tm="100000">
                                          <p:val>
                                            <p:strVal val="#ppt_w"/>
                                          </p:val>
                                        </p:tav>
                                      </p:tavLst>
                                    </p:anim>
                                    <p:anim calcmode="lin" valueType="num">
                                      <p:cBhvr>
                                        <p:cTn id="21" dur="1000" fill="hold"/>
                                        <p:tgtEl>
                                          <p:spTgt spid="494600"/>
                                        </p:tgtEl>
                                        <p:attrNameLst>
                                          <p:attrName>ppt_h</p:attrName>
                                        </p:attrNameLst>
                                      </p:cBhvr>
                                      <p:tavLst>
                                        <p:tav tm="0">
                                          <p:val>
                                            <p:strVal val="#ppt_h"/>
                                          </p:val>
                                        </p:tav>
                                        <p:tav tm="100000">
                                          <p:val>
                                            <p:strVal val="#ppt_h"/>
                                          </p:val>
                                        </p:tav>
                                      </p:tavLst>
                                    </p:anim>
                                    <p:animEffect transition="in" filter="fade">
                                      <p:cBhvr>
                                        <p:cTn id="22" dur="1000"/>
                                        <p:tgtEl>
                                          <p:spTgt spid="494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60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20" name="Rectangle 4"/>
          <p:cNvSpPr>
            <a:spLocks noChangeArrowheads="1"/>
          </p:cNvSpPr>
          <p:nvPr/>
        </p:nvSpPr>
        <p:spPr bwMode="auto">
          <a:xfrm>
            <a:off x="703263" y="908050"/>
            <a:ext cx="8104187"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solidFill>
                  <a:srgbClr val="FF0000"/>
                </a:solidFill>
                <a:latin typeface="华文中宋" panose="02010600040101010101" pitchFamily="2" charset="-122"/>
              </a:rPr>
              <a:t>  2</a:t>
            </a:r>
            <a:r>
              <a:rPr lang="zh-CN" altLang="en-US">
                <a:solidFill>
                  <a:srgbClr val="FF0000"/>
                </a:solidFill>
                <a:latin typeface="华文中宋" panose="02010600040101010101" pitchFamily="2" charset="-122"/>
              </a:rPr>
              <a:t>、“最小相移函数”：</a:t>
            </a:r>
          </a:p>
          <a:p>
            <a:pPr eaLnBrk="1" hangingPunct="1">
              <a:lnSpc>
                <a:spcPct val="85000"/>
              </a:lnSpc>
              <a:spcBef>
                <a:spcPct val="20000"/>
              </a:spcBef>
              <a:buClr>
                <a:schemeClr val="accent2"/>
              </a:buClr>
              <a:buFont typeface="Wingdings" panose="05000000000000000000" pitchFamily="2" charset="2"/>
              <a:buNone/>
            </a:pPr>
            <a:r>
              <a:rPr lang="zh-CN" altLang="en-US">
                <a:latin typeface="华文中宋" panose="02010600040101010101" pitchFamily="2" charset="-122"/>
              </a:rPr>
              <a:t>      这种函数除全部</a:t>
            </a:r>
            <a:r>
              <a:rPr lang="zh-CN" altLang="en-US">
                <a:solidFill>
                  <a:srgbClr val="9900FF"/>
                </a:solidFill>
                <a:latin typeface="华文中宋" panose="02010600040101010101" pitchFamily="2" charset="-122"/>
              </a:rPr>
              <a:t>极点</a:t>
            </a:r>
            <a:r>
              <a:rPr lang="zh-CN" altLang="en-US">
                <a:latin typeface="华文中宋" panose="02010600040101010101" pitchFamily="2" charset="-122"/>
              </a:rPr>
              <a:t>在</a:t>
            </a:r>
            <a:r>
              <a:rPr lang="en-US" altLang="zh-CN">
                <a:latin typeface="华文中宋" panose="02010600040101010101" pitchFamily="2" charset="-122"/>
              </a:rPr>
              <a:t>S</a:t>
            </a:r>
            <a:r>
              <a:rPr lang="zh-CN" altLang="en-US">
                <a:latin typeface="华文中宋" panose="02010600040101010101" pitchFamily="2" charset="-122"/>
              </a:rPr>
              <a:t>域</a:t>
            </a:r>
            <a:r>
              <a:rPr lang="zh-CN" altLang="en-US">
                <a:solidFill>
                  <a:srgbClr val="9900FF"/>
                </a:solidFill>
                <a:latin typeface="华文中宋" panose="02010600040101010101" pitchFamily="2" charset="-122"/>
              </a:rPr>
              <a:t>左半平面</a:t>
            </a:r>
            <a:r>
              <a:rPr lang="zh-CN" altLang="en-US">
                <a:latin typeface="华文中宋" panose="02010600040101010101" pitchFamily="2" charset="-122"/>
              </a:rPr>
              <a:t>外，全部</a:t>
            </a:r>
            <a:r>
              <a:rPr lang="zh-CN" altLang="en-US">
                <a:solidFill>
                  <a:srgbClr val="9900FF"/>
                </a:solidFill>
                <a:latin typeface="华文中宋" panose="02010600040101010101" pitchFamily="2" charset="-122"/>
              </a:rPr>
              <a:t>零点</a:t>
            </a:r>
            <a:r>
              <a:rPr lang="zh-CN" altLang="en-US">
                <a:latin typeface="华文中宋" panose="02010600040101010101" pitchFamily="2" charset="-122"/>
              </a:rPr>
              <a:t>也落在</a:t>
            </a:r>
            <a:r>
              <a:rPr lang="zh-CN" altLang="en-US">
                <a:solidFill>
                  <a:srgbClr val="9900FF"/>
                </a:solidFill>
                <a:latin typeface="华文中宋" panose="02010600040101010101" pitchFamily="2" charset="-122"/>
              </a:rPr>
              <a:t>左半平面</a:t>
            </a:r>
            <a:r>
              <a:rPr lang="zh-CN" altLang="en-US">
                <a:latin typeface="华文中宋" panose="02010600040101010101" pitchFamily="2" charset="-122"/>
              </a:rPr>
              <a:t>内</a:t>
            </a:r>
            <a:r>
              <a:rPr lang="en-US" altLang="zh-CN">
                <a:latin typeface="华文中宋" panose="02010600040101010101" pitchFamily="2" charset="-122"/>
              </a:rPr>
              <a:t>,</a:t>
            </a:r>
            <a:r>
              <a:rPr lang="zh-CN" altLang="en-US">
                <a:latin typeface="华文中宋" panose="02010600040101010101" pitchFamily="2" charset="-122"/>
              </a:rPr>
              <a:t>包括可以在</a:t>
            </a:r>
            <a:r>
              <a:rPr lang="en-US" altLang="zh-CN">
                <a:latin typeface="华文中宋" panose="02010600040101010101" pitchFamily="2" charset="-122"/>
              </a:rPr>
              <a:t>j</a:t>
            </a:r>
            <a:r>
              <a:rPr lang="en-US" altLang="zh-CN"/>
              <a:t>ω </a:t>
            </a:r>
            <a:r>
              <a:rPr lang="zh-CN" altLang="en-US"/>
              <a:t>轴上</a:t>
            </a:r>
            <a:r>
              <a:rPr lang="zh-CN" altLang="en-US">
                <a:latin typeface="华文中宋" panose="02010600040101010101" pitchFamily="2" charset="-122"/>
              </a:rPr>
              <a:t>。</a:t>
            </a:r>
          </a:p>
          <a:p>
            <a:pPr eaLnBrk="1" hangingPunct="1">
              <a:lnSpc>
                <a:spcPct val="85000"/>
              </a:lnSpc>
              <a:spcBef>
                <a:spcPct val="20000"/>
              </a:spcBef>
              <a:buClr>
                <a:schemeClr val="accent2"/>
              </a:buClr>
              <a:buFont typeface="Wingdings" panose="05000000000000000000" pitchFamily="2" charset="2"/>
              <a:buNone/>
            </a:pPr>
            <a:r>
              <a:rPr lang="zh-CN" altLang="en-US">
                <a:latin typeface="华文中宋" panose="02010600040101010101" pitchFamily="2" charset="-122"/>
              </a:rPr>
              <a:t>      反之，如果至少有一个零点在右半面内，则此函数称为非最小相移函数。</a:t>
            </a:r>
          </a:p>
        </p:txBody>
      </p:sp>
      <p:grpSp>
        <p:nvGrpSpPr>
          <p:cNvPr id="2" name="Group 43"/>
          <p:cNvGrpSpPr/>
          <p:nvPr/>
        </p:nvGrpSpPr>
        <p:grpSpPr bwMode="auto">
          <a:xfrm>
            <a:off x="5292725" y="3068638"/>
            <a:ext cx="2447925" cy="1944687"/>
            <a:chOff x="2880" y="2704"/>
            <a:chExt cx="1542" cy="1225"/>
          </a:xfrm>
        </p:grpSpPr>
        <p:graphicFrame>
          <p:nvGraphicFramePr>
            <p:cNvPr id="54299" name="Object 8"/>
            <p:cNvGraphicFramePr>
              <a:graphicFrameLocks noChangeAspect="1"/>
            </p:cNvGraphicFramePr>
            <p:nvPr/>
          </p:nvGraphicFramePr>
          <p:xfrm>
            <a:off x="4105" y="3339"/>
            <a:ext cx="96" cy="128"/>
          </p:xfrm>
          <a:graphic>
            <a:graphicData uri="http://schemas.openxmlformats.org/presentationml/2006/ole">
              <mc:AlternateContent xmlns:mc="http://schemas.openxmlformats.org/markup-compatibility/2006">
                <mc:Choice xmlns:v="urn:schemas-microsoft-com:vml" Requires="v">
                  <p:oleObj name="公式" r:id="rId3" imgW="152400" imgH="203200" progId="Equation.3">
                    <p:embed/>
                  </p:oleObj>
                </mc:Choice>
                <mc:Fallback>
                  <p:oleObj name="公式" r:id="rId3" imgW="152400" imgH="2032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5" y="3339"/>
                          <a:ext cx="96"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300" name="Object 9"/>
            <p:cNvGraphicFramePr>
              <a:graphicFrameLocks noChangeAspect="1"/>
            </p:cNvGraphicFramePr>
            <p:nvPr/>
          </p:nvGraphicFramePr>
          <p:xfrm>
            <a:off x="3560" y="3385"/>
            <a:ext cx="112" cy="136"/>
          </p:xfrm>
          <a:graphic>
            <a:graphicData uri="http://schemas.openxmlformats.org/presentationml/2006/ole">
              <mc:AlternateContent xmlns:mc="http://schemas.openxmlformats.org/markup-compatibility/2006">
                <mc:Choice xmlns:v="urn:schemas-microsoft-com:vml" Requires="v">
                  <p:oleObj name="公式" r:id="rId5" imgW="177800" imgH="215900" progId="Equation.3">
                    <p:embed/>
                  </p:oleObj>
                </mc:Choice>
                <mc:Fallback>
                  <p:oleObj name="公式" r:id="rId5" imgW="177800" imgH="2159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0" y="3385"/>
                          <a:ext cx="11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301" name="Line 6"/>
            <p:cNvSpPr>
              <a:spLocks noChangeShapeType="1"/>
            </p:cNvSpPr>
            <p:nvPr/>
          </p:nvSpPr>
          <p:spPr bwMode="auto">
            <a:xfrm>
              <a:off x="2880" y="3521"/>
              <a:ext cx="154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02" name="Line 7"/>
            <p:cNvSpPr>
              <a:spLocks noChangeShapeType="1"/>
            </p:cNvSpPr>
            <p:nvPr/>
          </p:nvSpPr>
          <p:spPr bwMode="auto">
            <a:xfrm flipV="1">
              <a:off x="3878" y="2704"/>
              <a:ext cx="0" cy="12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03" name="Oval 8"/>
            <p:cNvSpPr>
              <a:spLocks noChangeArrowheads="1"/>
            </p:cNvSpPr>
            <p:nvPr/>
          </p:nvSpPr>
          <p:spPr bwMode="auto">
            <a:xfrm>
              <a:off x="4071" y="3502"/>
              <a:ext cx="46" cy="4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54304" name="Rectangle 10"/>
            <p:cNvSpPr>
              <a:spLocks noChangeArrowheads="1"/>
            </p:cNvSpPr>
            <p:nvPr/>
          </p:nvSpPr>
          <p:spPr bwMode="auto">
            <a:xfrm>
              <a:off x="3923" y="2750"/>
              <a:ext cx="3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a:t>ω</a:t>
              </a:r>
              <a:r>
                <a:rPr lang="en-US" altLang="zh-CN" baseline="-25000"/>
                <a:t>1</a:t>
              </a:r>
              <a:endParaRPr lang="en-US" altLang="zh-CN"/>
            </a:p>
          </p:txBody>
        </p:sp>
        <p:sp>
          <p:nvSpPr>
            <p:cNvPr id="54305" name="Line 11"/>
            <p:cNvSpPr>
              <a:spLocks noChangeShapeType="1"/>
            </p:cNvSpPr>
            <p:nvPr/>
          </p:nvSpPr>
          <p:spPr bwMode="auto">
            <a:xfrm flipH="1" flipV="1">
              <a:off x="3867" y="2886"/>
              <a:ext cx="238" cy="63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4306" name="Group 14"/>
            <p:cNvGrpSpPr/>
            <p:nvPr/>
          </p:nvGrpSpPr>
          <p:grpSpPr bwMode="auto">
            <a:xfrm>
              <a:off x="3469" y="3475"/>
              <a:ext cx="46" cy="91"/>
              <a:chOff x="1292" y="3475"/>
              <a:chExt cx="46" cy="91"/>
            </a:xfrm>
          </p:grpSpPr>
          <p:sp>
            <p:nvSpPr>
              <p:cNvPr id="54313" name="Line 12"/>
              <p:cNvSpPr>
                <a:spLocks noChangeShapeType="1"/>
              </p:cNvSpPr>
              <p:nvPr/>
            </p:nvSpPr>
            <p:spPr bwMode="auto">
              <a:xfrm>
                <a:off x="1292" y="3475"/>
                <a:ext cx="46" cy="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314" name="Line 13"/>
              <p:cNvSpPr>
                <a:spLocks noChangeShapeType="1"/>
              </p:cNvSpPr>
              <p:nvPr/>
            </p:nvSpPr>
            <p:spPr bwMode="auto">
              <a:xfrm flipH="1">
                <a:off x="1292" y="3475"/>
                <a:ext cx="46" cy="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4307" name="Group 15"/>
            <p:cNvGrpSpPr/>
            <p:nvPr/>
          </p:nvGrpSpPr>
          <p:grpSpPr bwMode="auto">
            <a:xfrm>
              <a:off x="3243" y="3475"/>
              <a:ext cx="46" cy="91"/>
              <a:chOff x="1292" y="3475"/>
              <a:chExt cx="46" cy="91"/>
            </a:xfrm>
          </p:grpSpPr>
          <p:sp>
            <p:nvSpPr>
              <p:cNvPr id="54311" name="Line 16"/>
              <p:cNvSpPr>
                <a:spLocks noChangeShapeType="1"/>
              </p:cNvSpPr>
              <p:nvPr/>
            </p:nvSpPr>
            <p:spPr bwMode="auto">
              <a:xfrm>
                <a:off x="1292" y="3475"/>
                <a:ext cx="46" cy="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312" name="Line 17"/>
              <p:cNvSpPr>
                <a:spLocks noChangeShapeType="1"/>
              </p:cNvSpPr>
              <p:nvPr/>
            </p:nvSpPr>
            <p:spPr bwMode="auto">
              <a:xfrm flipH="1">
                <a:off x="1292" y="3475"/>
                <a:ext cx="46" cy="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4308" name="Line 18"/>
            <p:cNvSpPr>
              <a:spLocks noChangeShapeType="1"/>
            </p:cNvSpPr>
            <p:nvPr/>
          </p:nvSpPr>
          <p:spPr bwMode="auto">
            <a:xfrm flipV="1">
              <a:off x="3469" y="2915"/>
              <a:ext cx="405" cy="60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09" name="Line 19"/>
            <p:cNvSpPr>
              <a:spLocks noChangeShapeType="1"/>
            </p:cNvSpPr>
            <p:nvPr/>
          </p:nvSpPr>
          <p:spPr bwMode="auto">
            <a:xfrm flipV="1">
              <a:off x="3288" y="2894"/>
              <a:ext cx="589" cy="62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4310" name="Object 10"/>
            <p:cNvGraphicFramePr>
              <a:graphicFrameLocks noChangeAspect="1"/>
            </p:cNvGraphicFramePr>
            <p:nvPr/>
          </p:nvGraphicFramePr>
          <p:xfrm>
            <a:off x="3333" y="3385"/>
            <a:ext cx="120" cy="136"/>
          </p:xfrm>
          <a:graphic>
            <a:graphicData uri="http://schemas.openxmlformats.org/presentationml/2006/ole">
              <mc:AlternateContent xmlns:mc="http://schemas.openxmlformats.org/markup-compatibility/2006">
                <mc:Choice xmlns:v="urn:schemas-microsoft-com:vml" Requires="v">
                  <p:oleObj name="公式" r:id="rId7" imgW="190500" imgH="215900" progId="Equation.3">
                    <p:embed/>
                  </p:oleObj>
                </mc:Choice>
                <mc:Fallback>
                  <p:oleObj name="公式" r:id="rId7" imgW="190500" imgH="2159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33" y="3385"/>
                          <a:ext cx="120"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42"/>
          <p:cNvGrpSpPr/>
          <p:nvPr/>
        </p:nvGrpSpPr>
        <p:grpSpPr bwMode="auto">
          <a:xfrm>
            <a:off x="1403350" y="3068638"/>
            <a:ext cx="2447925" cy="1944687"/>
            <a:chOff x="748" y="2614"/>
            <a:chExt cx="1542" cy="1225"/>
          </a:xfrm>
        </p:grpSpPr>
        <p:graphicFrame>
          <p:nvGraphicFramePr>
            <p:cNvPr id="54283" name="Object 5"/>
            <p:cNvGraphicFramePr>
              <a:graphicFrameLocks noChangeAspect="1"/>
            </p:cNvGraphicFramePr>
            <p:nvPr/>
          </p:nvGraphicFramePr>
          <p:xfrm>
            <a:off x="1610" y="3295"/>
            <a:ext cx="96" cy="128"/>
          </p:xfrm>
          <a:graphic>
            <a:graphicData uri="http://schemas.openxmlformats.org/presentationml/2006/ole">
              <mc:AlternateContent xmlns:mc="http://schemas.openxmlformats.org/markup-compatibility/2006">
                <mc:Choice xmlns:v="urn:schemas-microsoft-com:vml" Requires="v">
                  <p:oleObj name="公式" r:id="rId3" imgW="152400" imgH="203200" progId="Equation.3">
                    <p:embed/>
                  </p:oleObj>
                </mc:Choice>
                <mc:Fallback>
                  <p:oleObj name="公式" r:id="rId3" imgW="152400" imgH="203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0" y="3295"/>
                          <a:ext cx="96" cy="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4" name="Object 6"/>
            <p:cNvGraphicFramePr>
              <a:graphicFrameLocks noChangeAspect="1"/>
            </p:cNvGraphicFramePr>
            <p:nvPr/>
          </p:nvGraphicFramePr>
          <p:xfrm>
            <a:off x="1428" y="3295"/>
            <a:ext cx="112" cy="136"/>
          </p:xfrm>
          <a:graphic>
            <a:graphicData uri="http://schemas.openxmlformats.org/presentationml/2006/ole">
              <mc:AlternateContent xmlns:mc="http://schemas.openxmlformats.org/markup-compatibility/2006">
                <mc:Choice xmlns:v="urn:schemas-microsoft-com:vml" Requires="v">
                  <p:oleObj name="公式" r:id="rId5" imgW="177800" imgH="215900" progId="Equation.3">
                    <p:embed/>
                  </p:oleObj>
                </mc:Choice>
                <mc:Fallback>
                  <p:oleObj name="公式" r:id="rId5" imgW="177800" imgH="2159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8" y="3295"/>
                          <a:ext cx="112"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285" name="Line 28"/>
            <p:cNvSpPr>
              <a:spLocks noChangeShapeType="1"/>
            </p:cNvSpPr>
            <p:nvPr/>
          </p:nvSpPr>
          <p:spPr bwMode="auto">
            <a:xfrm>
              <a:off x="748" y="3431"/>
              <a:ext cx="154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86" name="Line 29"/>
            <p:cNvSpPr>
              <a:spLocks noChangeShapeType="1"/>
            </p:cNvSpPr>
            <p:nvPr/>
          </p:nvSpPr>
          <p:spPr bwMode="auto">
            <a:xfrm flipV="1">
              <a:off x="1746" y="2614"/>
              <a:ext cx="0" cy="12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87" name="Oval 30"/>
            <p:cNvSpPr>
              <a:spLocks noChangeArrowheads="1"/>
            </p:cNvSpPr>
            <p:nvPr/>
          </p:nvSpPr>
          <p:spPr bwMode="auto">
            <a:xfrm>
              <a:off x="1564" y="3412"/>
              <a:ext cx="46" cy="4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54288" name="Rectangle 31"/>
            <p:cNvSpPr>
              <a:spLocks noChangeArrowheads="1"/>
            </p:cNvSpPr>
            <p:nvPr/>
          </p:nvSpPr>
          <p:spPr bwMode="auto">
            <a:xfrm>
              <a:off x="1791" y="2660"/>
              <a:ext cx="3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a:t>ω</a:t>
              </a:r>
              <a:r>
                <a:rPr lang="en-US" altLang="zh-CN" baseline="-25000"/>
                <a:t>1</a:t>
              </a:r>
              <a:endParaRPr lang="en-US" altLang="zh-CN"/>
            </a:p>
          </p:txBody>
        </p:sp>
        <p:sp>
          <p:nvSpPr>
            <p:cNvPr id="54289" name="Line 32"/>
            <p:cNvSpPr>
              <a:spLocks noChangeShapeType="1"/>
            </p:cNvSpPr>
            <p:nvPr/>
          </p:nvSpPr>
          <p:spPr bwMode="auto">
            <a:xfrm flipV="1">
              <a:off x="1564" y="2796"/>
              <a:ext cx="171" cy="63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54290" name="Group 33"/>
            <p:cNvGrpSpPr/>
            <p:nvPr/>
          </p:nvGrpSpPr>
          <p:grpSpPr bwMode="auto">
            <a:xfrm>
              <a:off x="1337" y="3385"/>
              <a:ext cx="46" cy="91"/>
              <a:chOff x="1292" y="3475"/>
              <a:chExt cx="46" cy="91"/>
            </a:xfrm>
          </p:grpSpPr>
          <p:sp>
            <p:nvSpPr>
              <p:cNvPr id="54297" name="Line 34"/>
              <p:cNvSpPr>
                <a:spLocks noChangeShapeType="1"/>
              </p:cNvSpPr>
              <p:nvPr/>
            </p:nvSpPr>
            <p:spPr bwMode="auto">
              <a:xfrm>
                <a:off x="1292" y="3475"/>
                <a:ext cx="46" cy="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298" name="Line 35"/>
              <p:cNvSpPr>
                <a:spLocks noChangeShapeType="1"/>
              </p:cNvSpPr>
              <p:nvPr/>
            </p:nvSpPr>
            <p:spPr bwMode="auto">
              <a:xfrm flipH="1">
                <a:off x="1292" y="3475"/>
                <a:ext cx="46" cy="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4291" name="Group 36"/>
            <p:cNvGrpSpPr/>
            <p:nvPr/>
          </p:nvGrpSpPr>
          <p:grpSpPr bwMode="auto">
            <a:xfrm>
              <a:off x="1111" y="3385"/>
              <a:ext cx="46" cy="91"/>
              <a:chOff x="1292" y="3475"/>
              <a:chExt cx="46" cy="91"/>
            </a:xfrm>
          </p:grpSpPr>
          <p:sp>
            <p:nvSpPr>
              <p:cNvPr id="54295" name="Line 37"/>
              <p:cNvSpPr>
                <a:spLocks noChangeShapeType="1"/>
              </p:cNvSpPr>
              <p:nvPr/>
            </p:nvSpPr>
            <p:spPr bwMode="auto">
              <a:xfrm>
                <a:off x="1292" y="3475"/>
                <a:ext cx="46" cy="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4296" name="Line 38"/>
              <p:cNvSpPr>
                <a:spLocks noChangeShapeType="1"/>
              </p:cNvSpPr>
              <p:nvPr/>
            </p:nvSpPr>
            <p:spPr bwMode="auto">
              <a:xfrm flipH="1">
                <a:off x="1292" y="3475"/>
                <a:ext cx="46" cy="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4292" name="Line 39"/>
            <p:cNvSpPr>
              <a:spLocks noChangeShapeType="1"/>
            </p:cNvSpPr>
            <p:nvPr/>
          </p:nvSpPr>
          <p:spPr bwMode="auto">
            <a:xfrm flipV="1">
              <a:off x="1337" y="2825"/>
              <a:ext cx="405" cy="60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3" name="Line 40"/>
            <p:cNvSpPr>
              <a:spLocks noChangeShapeType="1"/>
            </p:cNvSpPr>
            <p:nvPr/>
          </p:nvSpPr>
          <p:spPr bwMode="auto">
            <a:xfrm flipV="1">
              <a:off x="1156" y="2804"/>
              <a:ext cx="589" cy="62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4294" name="Object 7"/>
            <p:cNvGraphicFramePr>
              <a:graphicFrameLocks noChangeAspect="1"/>
            </p:cNvGraphicFramePr>
            <p:nvPr/>
          </p:nvGraphicFramePr>
          <p:xfrm>
            <a:off x="1201" y="3295"/>
            <a:ext cx="120" cy="136"/>
          </p:xfrm>
          <a:graphic>
            <a:graphicData uri="http://schemas.openxmlformats.org/presentationml/2006/ole">
              <mc:AlternateContent xmlns:mc="http://schemas.openxmlformats.org/markup-compatibility/2006">
                <mc:Choice xmlns:v="urn:schemas-microsoft-com:vml" Requires="v">
                  <p:oleObj name="公式" r:id="rId7" imgW="190500" imgH="215900" progId="Equation.3">
                    <p:embed/>
                  </p:oleObj>
                </mc:Choice>
                <mc:Fallback>
                  <p:oleObj name="公式" r:id="rId7" imgW="190500" imgH="2159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1" y="3295"/>
                          <a:ext cx="120"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495660" name="Object 2"/>
          <p:cNvGraphicFramePr>
            <a:graphicFrameLocks noChangeAspect="1"/>
          </p:cNvGraphicFramePr>
          <p:nvPr/>
        </p:nvGraphicFramePr>
        <p:xfrm>
          <a:off x="3559175" y="3152775"/>
          <a:ext cx="2736850" cy="465138"/>
        </p:xfrm>
        <a:graphic>
          <a:graphicData uri="http://schemas.openxmlformats.org/presentationml/2006/ole">
            <mc:AlternateContent xmlns:mc="http://schemas.openxmlformats.org/markup-compatibility/2006">
              <mc:Choice xmlns:v="urn:schemas-microsoft-com:vml" Requires="v">
                <p:oleObj name="公式" r:id="rId9" imgW="1269365" imgH="215900" progId="Equation.3">
                  <p:embed/>
                </p:oleObj>
              </mc:Choice>
              <mc:Fallback>
                <p:oleObj name="公式" r:id="rId9" imgW="1269365" imgH="215900" progId="Equation.3">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59175" y="3152775"/>
                        <a:ext cx="273685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5661" name="Object 3"/>
          <p:cNvGraphicFramePr>
            <a:graphicFrameLocks noChangeAspect="1"/>
          </p:cNvGraphicFramePr>
          <p:nvPr/>
        </p:nvGraphicFramePr>
        <p:xfrm>
          <a:off x="684213" y="4797425"/>
          <a:ext cx="4075112" cy="465138"/>
        </p:xfrm>
        <a:graphic>
          <a:graphicData uri="http://schemas.openxmlformats.org/presentationml/2006/ole">
            <mc:AlternateContent xmlns:mc="http://schemas.openxmlformats.org/markup-compatibility/2006">
              <mc:Choice xmlns:v="urn:schemas-microsoft-com:vml" Requires="v">
                <p:oleObj name="公式" r:id="rId11" imgW="1892300" imgH="215900" progId="Equation.3">
                  <p:embed/>
                </p:oleObj>
              </mc:Choice>
              <mc:Fallback>
                <p:oleObj name="公式" r:id="rId11" imgW="1892300" imgH="215900" progId="Equation.3">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213" y="4797425"/>
                        <a:ext cx="4075112" cy="465138"/>
                      </a:xfrm>
                      <a:prstGeom prst="rect">
                        <a:avLst/>
                      </a:prstGeom>
                      <a:noFill/>
                      <a:ln w="9525">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5662" name="Object 4"/>
          <p:cNvGraphicFramePr>
            <a:graphicFrameLocks noChangeAspect="1"/>
          </p:cNvGraphicFramePr>
          <p:nvPr/>
        </p:nvGraphicFramePr>
        <p:xfrm>
          <a:off x="5006975" y="4797425"/>
          <a:ext cx="3881438" cy="433388"/>
        </p:xfrm>
        <a:graphic>
          <a:graphicData uri="http://schemas.openxmlformats.org/presentationml/2006/ole">
            <mc:AlternateContent xmlns:mc="http://schemas.openxmlformats.org/markup-compatibility/2006">
              <mc:Choice xmlns:v="urn:schemas-microsoft-com:vml" Requires="v">
                <p:oleObj name="Equation" r:id="rId13" imgW="1955165" imgH="215900" progId="Equation.DSMT4">
                  <p:embed/>
                </p:oleObj>
              </mc:Choice>
              <mc:Fallback>
                <p:oleObj name="Equation" r:id="rId13" imgW="1955165" imgH="215900" progId="Equation.DSMT4">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06975" y="4797425"/>
                        <a:ext cx="3881438" cy="433388"/>
                      </a:xfrm>
                      <a:prstGeom prst="rect">
                        <a:avLst/>
                      </a:prstGeom>
                      <a:noFill/>
                      <a:ln w="9525">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5663" name="Rectangle 47"/>
          <p:cNvSpPr>
            <a:spLocks noChangeArrowheads="1"/>
          </p:cNvSpPr>
          <p:nvPr/>
        </p:nvSpPr>
        <p:spPr bwMode="auto">
          <a:xfrm>
            <a:off x="893763" y="5489575"/>
            <a:ext cx="7742237" cy="11176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r>
              <a:rPr lang="zh-CN" altLang="en-US">
                <a:solidFill>
                  <a:srgbClr val="9900FF"/>
                </a:solidFill>
                <a:latin typeface="华文中宋" panose="02010600040101010101" pitchFamily="2" charset="-122"/>
              </a:rPr>
              <a:t>在频率变化过程中，最小相移网络的相移比幅频响应相同的各种非相移网络的相移都要小。</a:t>
            </a:r>
          </a:p>
        </p:txBody>
      </p:sp>
      <p:sp>
        <p:nvSpPr>
          <p:cNvPr id="495665" name="Rectangle 49"/>
          <p:cNvSpPr>
            <a:spLocks noChangeArrowheads="1"/>
          </p:cNvSpPr>
          <p:nvPr/>
        </p:nvSpPr>
        <p:spPr bwMode="auto">
          <a:xfrm>
            <a:off x="446088" y="0"/>
            <a:ext cx="8424862" cy="6080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§6.4 </a:t>
            </a:r>
            <a:r>
              <a:rPr lang="zh-CN" altLang="en-US">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系统函数的极零点分布与系统频率特性的关系</a:t>
            </a:r>
          </a:p>
        </p:txBody>
      </p:sp>
      <p:sp>
        <p:nvSpPr>
          <p:cNvPr id="43" name="日期占位符 42"/>
          <p:cNvSpPr>
            <a:spLocks noGrp="1"/>
          </p:cNvSpPr>
          <p:nvPr>
            <p:ph type="dt" sz="quarter" idx="10"/>
          </p:nvPr>
        </p:nvSpPr>
        <p:spPr/>
        <p:txBody>
          <a:bodyPr/>
          <a:lstStyle/>
          <a:p>
            <a:pPr>
              <a:defRPr/>
            </a:pPr>
            <a:fld id="{EBBB68DD-2B1A-412C-A904-4C251D89CA49}" type="datetime1">
              <a:rPr lang="zh-CN" altLang="en-US"/>
              <a:t>2026/4/28</a:t>
            </a:fld>
            <a:endParaRPr lang="en-US" altLang="zh-CN"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718"/>
    </mc:Choice>
    <mc:Fallback xmlns="">
      <p:transition spd="slow" advTm="17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495620"/>
                                        </p:tgtEl>
                                        <p:attrNameLst>
                                          <p:attrName>style.visibility</p:attrName>
                                        </p:attrNameLst>
                                      </p:cBhvr>
                                      <p:to>
                                        <p:strVal val="visible"/>
                                      </p:to>
                                    </p:set>
                                    <p:anim calcmode="lin" valueType="num">
                                      <p:cBhvr>
                                        <p:cTn id="7" dur="1000" fill="hold"/>
                                        <p:tgtEl>
                                          <p:spTgt spid="495620"/>
                                        </p:tgtEl>
                                        <p:attrNameLst>
                                          <p:attrName>ppt_w</p:attrName>
                                        </p:attrNameLst>
                                      </p:cBhvr>
                                      <p:tavLst>
                                        <p:tav tm="0">
                                          <p:val>
                                            <p:strVal val="#ppt_w*0.70"/>
                                          </p:val>
                                        </p:tav>
                                        <p:tav tm="100000">
                                          <p:val>
                                            <p:strVal val="#ppt_w"/>
                                          </p:val>
                                        </p:tav>
                                      </p:tavLst>
                                    </p:anim>
                                    <p:anim calcmode="lin" valueType="num">
                                      <p:cBhvr>
                                        <p:cTn id="8" dur="1000" fill="hold"/>
                                        <p:tgtEl>
                                          <p:spTgt spid="495620"/>
                                        </p:tgtEl>
                                        <p:attrNameLst>
                                          <p:attrName>ppt_h</p:attrName>
                                        </p:attrNameLst>
                                      </p:cBhvr>
                                      <p:tavLst>
                                        <p:tav tm="0">
                                          <p:val>
                                            <p:strVal val="#ppt_h"/>
                                          </p:val>
                                        </p:tav>
                                        <p:tav tm="100000">
                                          <p:val>
                                            <p:strVal val="#ppt_h"/>
                                          </p:val>
                                        </p:tav>
                                      </p:tavLst>
                                    </p:anim>
                                    <p:animEffect transition="in" filter="fade">
                                      <p:cBhvr>
                                        <p:cTn id="9" dur="1000"/>
                                        <p:tgtEl>
                                          <p:spTgt spid="49562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strVal val="#ppt_w*0.70"/>
                                          </p:val>
                                        </p:tav>
                                        <p:tav tm="100000">
                                          <p:val>
                                            <p:strVal val="#ppt_w"/>
                                          </p:val>
                                        </p:tav>
                                      </p:tavLst>
                                    </p:anim>
                                    <p:anim calcmode="lin" valueType="num">
                                      <p:cBhvr>
                                        <p:cTn id="15" dur="1000" fill="hold"/>
                                        <p:tgtEl>
                                          <p:spTgt spid="5"/>
                                        </p:tgtEl>
                                        <p:attrNameLst>
                                          <p:attrName>ppt_h</p:attrName>
                                        </p:attrNameLst>
                                      </p:cBhvr>
                                      <p:tavLst>
                                        <p:tav tm="0">
                                          <p:val>
                                            <p:strVal val="#ppt_h"/>
                                          </p:val>
                                        </p:tav>
                                        <p:tav tm="100000">
                                          <p:val>
                                            <p:strVal val="#ppt_h"/>
                                          </p:val>
                                        </p:tav>
                                      </p:tavLst>
                                    </p:anim>
                                    <p:animEffect transition="in" filter="fade">
                                      <p:cBhvr>
                                        <p:cTn id="16" dur="1000"/>
                                        <p:tgtEl>
                                          <p:spTgt spid="5"/>
                                        </p:tgtEl>
                                      </p:cBhvr>
                                    </p:animEffect>
                                  </p:childTnLst>
                                </p:cTn>
                              </p:par>
                              <p:par>
                                <p:cTn id="17" presetID="55"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1000" fill="hold"/>
                                        <p:tgtEl>
                                          <p:spTgt spid="2"/>
                                        </p:tgtEl>
                                        <p:attrNameLst>
                                          <p:attrName>ppt_w</p:attrName>
                                        </p:attrNameLst>
                                      </p:cBhvr>
                                      <p:tavLst>
                                        <p:tav tm="0">
                                          <p:val>
                                            <p:strVal val="#ppt_w*0.70"/>
                                          </p:val>
                                        </p:tav>
                                        <p:tav tm="100000">
                                          <p:val>
                                            <p:strVal val="#ppt_w"/>
                                          </p:val>
                                        </p:tav>
                                      </p:tavLst>
                                    </p:anim>
                                    <p:anim calcmode="lin" valueType="num">
                                      <p:cBhvr>
                                        <p:cTn id="20" dur="1000" fill="hold"/>
                                        <p:tgtEl>
                                          <p:spTgt spid="2"/>
                                        </p:tgtEl>
                                        <p:attrNameLst>
                                          <p:attrName>ppt_h</p:attrName>
                                        </p:attrNameLst>
                                      </p:cBhvr>
                                      <p:tavLst>
                                        <p:tav tm="0">
                                          <p:val>
                                            <p:strVal val="#ppt_h"/>
                                          </p:val>
                                        </p:tav>
                                        <p:tav tm="100000">
                                          <p:val>
                                            <p:strVal val="#ppt_h"/>
                                          </p:val>
                                        </p:tav>
                                      </p:tavLst>
                                    </p:anim>
                                    <p:animEffect transition="in" filter="fade">
                                      <p:cBhvr>
                                        <p:cTn id="21" dur="1000"/>
                                        <p:tgtEl>
                                          <p:spTgt spid="2"/>
                                        </p:tgtEl>
                                      </p:cBhvr>
                                    </p:animEffect>
                                  </p:childTnLst>
                                </p:cTn>
                              </p:par>
                            </p:childTnLst>
                          </p:cTn>
                        </p:par>
                        <p:par>
                          <p:cTn id="22" fill="hold">
                            <p:stCondLst>
                              <p:cond delay="1000"/>
                            </p:stCondLst>
                            <p:childTnLst>
                              <p:par>
                                <p:cTn id="23" presetID="55" presetClass="entr" presetSubtype="0" fill="hold" nodeType="afterEffect">
                                  <p:stCondLst>
                                    <p:cond delay="0"/>
                                  </p:stCondLst>
                                  <p:childTnLst>
                                    <p:set>
                                      <p:cBhvr>
                                        <p:cTn id="24" dur="1" fill="hold">
                                          <p:stCondLst>
                                            <p:cond delay="0"/>
                                          </p:stCondLst>
                                        </p:cTn>
                                        <p:tgtEl>
                                          <p:spTgt spid="495660"/>
                                        </p:tgtEl>
                                        <p:attrNameLst>
                                          <p:attrName>style.visibility</p:attrName>
                                        </p:attrNameLst>
                                      </p:cBhvr>
                                      <p:to>
                                        <p:strVal val="visible"/>
                                      </p:to>
                                    </p:set>
                                    <p:anim calcmode="lin" valueType="num">
                                      <p:cBhvr>
                                        <p:cTn id="25" dur="1000" fill="hold"/>
                                        <p:tgtEl>
                                          <p:spTgt spid="495660"/>
                                        </p:tgtEl>
                                        <p:attrNameLst>
                                          <p:attrName>ppt_w</p:attrName>
                                        </p:attrNameLst>
                                      </p:cBhvr>
                                      <p:tavLst>
                                        <p:tav tm="0">
                                          <p:val>
                                            <p:strVal val="#ppt_w*0.70"/>
                                          </p:val>
                                        </p:tav>
                                        <p:tav tm="100000">
                                          <p:val>
                                            <p:strVal val="#ppt_w"/>
                                          </p:val>
                                        </p:tav>
                                      </p:tavLst>
                                    </p:anim>
                                    <p:anim calcmode="lin" valueType="num">
                                      <p:cBhvr>
                                        <p:cTn id="26" dur="1000" fill="hold"/>
                                        <p:tgtEl>
                                          <p:spTgt spid="495660"/>
                                        </p:tgtEl>
                                        <p:attrNameLst>
                                          <p:attrName>ppt_h</p:attrName>
                                        </p:attrNameLst>
                                      </p:cBhvr>
                                      <p:tavLst>
                                        <p:tav tm="0">
                                          <p:val>
                                            <p:strVal val="#ppt_h"/>
                                          </p:val>
                                        </p:tav>
                                        <p:tav tm="100000">
                                          <p:val>
                                            <p:strVal val="#ppt_h"/>
                                          </p:val>
                                        </p:tav>
                                      </p:tavLst>
                                    </p:anim>
                                    <p:animEffect transition="in" filter="fade">
                                      <p:cBhvr>
                                        <p:cTn id="27" dur="1000"/>
                                        <p:tgtEl>
                                          <p:spTgt spid="495660"/>
                                        </p:tgtEl>
                                      </p:cBhvr>
                                    </p:animEffect>
                                  </p:childTnLst>
                                </p:cTn>
                              </p:par>
                            </p:childTnLst>
                          </p:cTn>
                        </p:par>
                        <p:par>
                          <p:cTn id="28" fill="hold">
                            <p:stCondLst>
                              <p:cond delay="2000"/>
                            </p:stCondLst>
                            <p:childTnLst>
                              <p:par>
                                <p:cTn id="29" presetID="55" presetClass="entr" presetSubtype="0" fill="hold" nodeType="afterEffect">
                                  <p:stCondLst>
                                    <p:cond delay="0"/>
                                  </p:stCondLst>
                                  <p:childTnLst>
                                    <p:set>
                                      <p:cBhvr>
                                        <p:cTn id="30" dur="1" fill="hold">
                                          <p:stCondLst>
                                            <p:cond delay="0"/>
                                          </p:stCondLst>
                                        </p:cTn>
                                        <p:tgtEl>
                                          <p:spTgt spid="495661"/>
                                        </p:tgtEl>
                                        <p:attrNameLst>
                                          <p:attrName>style.visibility</p:attrName>
                                        </p:attrNameLst>
                                      </p:cBhvr>
                                      <p:to>
                                        <p:strVal val="visible"/>
                                      </p:to>
                                    </p:set>
                                    <p:anim calcmode="lin" valueType="num">
                                      <p:cBhvr>
                                        <p:cTn id="31" dur="1000" fill="hold"/>
                                        <p:tgtEl>
                                          <p:spTgt spid="495661"/>
                                        </p:tgtEl>
                                        <p:attrNameLst>
                                          <p:attrName>ppt_w</p:attrName>
                                        </p:attrNameLst>
                                      </p:cBhvr>
                                      <p:tavLst>
                                        <p:tav tm="0">
                                          <p:val>
                                            <p:strVal val="#ppt_w*0.70"/>
                                          </p:val>
                                        </p:tav>
                                        <p:tav tm="100000">
                                          <p:val>
                                            <p:strVal val="#ppt_w"/>
                                          </p:val>
                                        </p:tav>
                                      </p:tavLst>
                                    </p:anim>
                                    <p:anim calcmode="lin" valueType="num">
                                      <p:cBhvr>
                                        <p:cTn id="32" dur="1000" fill="hold"/>
                                        <p:tgtEl>
                                          <p:spTgt spid="495661"/>
                                        </p:tgtEl>
                                        <p:attrNameLst>
                                          <p:attrName>ppt_h</p:attrName>
                                        </p:attrNameLst>
                                      </p:cBhvr>
                                      <p:tavLst>
                                        <p:tav tm="0">
                                          <p:val>
                                            <p:strVal val="#ppt_h"/>
                                          </p:val>
                                        </p:tav>
                                        <p:tav tm="100000">
                                          <p:val>
                                            <p:strVal val="#ppt_h"/>
                                          </p:val>
                                        </p:tav>
                                      </p:tavLst>
                                    </p:anim>
                                    <p:animEffect transition="in" filter="fade">
                                      <p:cBhvr>
                                        <p:cTn id="33" dur="1000"/>
                                        <p:tgtEl>
                                          <p:spTgt spid="495661"/>
                                        </p:tgtEl>
                                      </p:cBhvr>
                                    </p:animEffect>
                                  </p:childTnLst>
                                </p:cTn>
                              </p:par>
                            </p:childTnLst>
                          </p:cTn>
                        </p:par>
                        <p:par>
                          <p:cTn id="34" fill="hold">
                            <p:stCondLst>
                              <p:cond delay="3000"/>
                            </p:stCondLst>
                            <p:childTnLst>
                              <p:par>
                                <p:cTn id="35" presetID="55" presetClass="entr" presetSubtype="0" fill="hold" nodeType="afterEffect">
                                  <p:stCondLst>
                                    <p:cond delay="0"/>
                                  </p:stCondLst>
                                  <p:childTnLst>
                                    <p:set>
                                      <p:cBhvr>
                                        <p:cTn id="36" dur="1" fill="hold">
                                          <p:stCondLst>
                                            <p:cond delay="0"/>
                                          </p:stCondLst>
                                        </p:cTn>
                                        <p:tgtEl>
                                          <p:spTgt spid="495662"/>
                                        </p:tgtEl>
                                        <p:attrNameLst>
                                          <p:attrName>style.visibility</p:attrName>
                                        </p:attrNameLst>
                                      </p:cBhvr>
                                      <p:to>
                                        <p:strVal val="visible"/>
                                      </p:to>
                                    </p:set>
                                    <p:anim calcmode="lin" valueType="num">
                                      <p:cBhvr>
                                        <p:cTn id="37" dur="1000" fill="hold"/>
                                        <p:tgtEl>
                                          <p:spTgt spid="495662"/>
                                        </p:tgtEl>
                                        <p:attrNameLst>
                                          <p:attrName>ppt_w</p:attrName>
                                        </p:attrNameLst>
                                      </p:cBhvr>
                                      <p:tavLst>
                                        <p:tav tm="0">
                                          <p:val>
                                            <p:strVal val="#ppt_w*0.70"/>
                                          </p:val>
                                        </p:tav>
                                        <p:tav tm="100000">
                                          <p:val>
                                            <p:strVal val="#ppt_w"/>
                                          </p:val>
                                        </p:tav>
                                      </p:tavLst>
                                    </p:anim>
                                    <p:anim calcmode="lin" valueType="num">
                                      <p:cBhvr>
                                        <p:cTn id="38" dur="1000" fill="hold"/>
                                        <p:tgtEl>
                                          <p:spTgt spid="495662"/>
                                        </p:tgtEl>
                                        <p:attrNameLst>
                                          <p:attrName>ppt_h</p:attrName>
                                        </p:attrNameLst>
                                      </p:cBhvr>
                                      <p:tavLst>
                                        <p:tav tm="0">
                                          <p:val>
                                            <p:strVal val="#ppt_h"/>
                                          </p:val>
                                        </p:tav>
                                        <p:tav tm="100000">
                                          <p:val>
                                            <p:strVal val="#ppt_h"/>
                                          </p:val>
                                        </p:tav>
                                      </p:tavLst>
                                    </p:anim>
                                    <p:animEffect transition="in" filter="fade">
                                      <p:cBhvr>
                                        <p:cTn id="39" dur="1000"/>
                                        <p:tgtEl>
                                          <p:spTgt spid="495662"/>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grpId="0" nodeType="clickEffect">
                                  <p:stCondLst>
                                    <p:cond delay="0"/>
                                  </p:stCondLst>
                                  <p:childTnLst>
                                    <p:set>
                                      <p:cBhvr>
                                        <p:cTn id="43" dur="1" fill="hold">
                                          <p:stCondLst>
                                            <p:cond delay="0"/>
                                          </p:stCondLst>
                                        </p:cTn>
                                        <p:tgtEl>
                                          <p:spTgt spid="495663"/>
                                        </p:tgtEl>
                                        <p:attrNameLst>
                                          <p:attrName>style.visibility</p:attrName>
                                        </p:attrNameLst>
                                      </p:cBhvr>
                                      <p:to>
                                        <p:strVal val="visible"/>
                                      </p:to>
                                    </p:set>
                                    <p:anim calcmode="lin" valueType="num">
                                      <p:cBhvr>
                                        <p:cTn id="44" dur="1000" fill="hold"/>
                                        <p:tgtEl>
                                          <p:spTgt spid="495663"/>
                                        </p:tgtEl>
                                        <p:attrNameLst>
                                          <p:attrName>ppt_w</p:attrName>
                                        </p:attrNameLst>
                                      </p:cBhvr>
                                      <p:tavLst>
                                        <p:tav tm="0">
                                          <p:val>
                                            <p:strVal val="#ppt_w*0.70"/>
                                          </p:val>
                                        </p:tav>
                                        <p:tav tm="100000">
                                          <p:val>
                                            <p:strVal val="#ppt_w"/>
                                          </p:val>
                                        </p:tav>
                                      </p:tavLst>
                                    </p:anim>
                                    <p:anim calcmode="lin" valueType="num">
                                      <p:cBhvr>
                                        <p:cTn id="45" dur="1000" fill="hold"/>
                                        <p:tgtEl>
                                          <p:spTgt spid="495663"/>
                                        </p:tgtEl>
                                        <p:attrNameLst>
                                          <p:attrName>ppt_h</p:attrName>
                                        </p:attrNameLst>
                                      </p:cBhvr>
                                      <p:tavLst>
                                        <p:tav tm="0">
                                          <p:val>
                                            <p:strVal val="#ppt_h"/>
                                          </p:val>
                                        </p:tav>
                                        <p:tav tm="100000">
                                          <p:val>
                                            <p:strVal val="#ppt_h"/>
                                          </p:val>
                                        </p:tav>
                                      </p:tavLst>
                                    </p:anim>
                                    <p:animEffect transition="in" filter="fade">
                                      <p:cBhvr>
                                        <p:cTn id="46" dur="1000"/>
                                        <p:tgtEl>
                                          <p:spTgt spid="495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20" grpId="0"/>
      <p:bldP spid="49566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p:cNvSpPr>
            <a:spLocks noGrp="1" noChangeArrowheads="1"/>
          </p:cNvSpPr>
          <p:nvPr>
            <p:ph type="title"/>
          </p:nvPr>
        </p:nvSpPr>
        <p:spPr>
          <a:xfrm>
            <a:off x="436562" y="0"/>
            <a:ext cx="8707437" cy="608013"/>
          </a:xfrm>
          <a:solidFill>
            <a:schemeClr val="accent2"/>
          </a:solidFill>
          <a:effectLst>
            <a:outerShdw dist="35921" dir="2700000" algn="ctr" rotWithShape="0">
              <a:schemeClr val="bg2"/>
            </a:outerShdw>
          </a:effectLst>
        </p:spPr>
        <p:txBody>
          <a:bodyPr/>
          <a:lstStyle/>
          <a:p>
            <a:pPr>
              <a:defRPr/>
            </a:pPr>
            <a:r>
              <a:rPr lang="zh-CN" altLang="en-US" sz="2800" b="1" dirty="0">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回顾</a:t>
            </a:r>
            <a:r>
              <a:rPr lang="en-US" altLang="zh-CN" sz="2800" b="1" dirty="0">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   </a:t>
            </a:r>
            <a:r>
              <a:rPr lang="zh-CN" altLang="en-US" sz="2800" b="1" dirty="0">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系统函数的极零点分布与系统频率特性的关系</a:t>
            </a:r>
          </a:p>
        </p:txBody>
      </p:sp>
      <p:sp>
        <p:nvSpPr>
          <p:cNvPr id="52227" name="Rectangle 3"/>
          <p:cNvSpPr>
            <a:spLocks noGrp="1" noChangeArrowheads="1"/>
          </p:cNvSpPr>
          <p:nvPr>
            <p:ph sz="half" idx="1"/>
          </p:nvPr>
        </p:nvSpPr>
        <p:spPr>
          <a:xfrm>
            <a:off x="404813" y="670375"/>
            <a:ext cx="8739187" cy="2532900"/>
          </a:xfrm>
        </p:spPr>
        <p:txBody>
          <a:bodyPr/>
          <a:lstStyle/>
          <a:p>
            <a:pPr marL="0" indent="0">
              <a:lnSpc>
                <a:spcPct val="130000"/>
              </a:lnSpc>
              <a:buFontTx/>
              <a:buNone/>
            </a:pPr>
            <a:r>
              <a:rPr lang="zh-CN" altLang="en-US" sz="2400" b="1" dirty="0">
                <a:solidFill>
                  <a:srgbClr val="FF0000"/>
                </a:solidFill>
              </a:rPr>
              <a:t>结论：</a:t>
            </a:r>
            <a:r>
              <a:rPr lang="zh-CN" altLang="en-US" sz="2400" b="1" dirty="0">
                <a:solidFill>
                  <a:srgbClr val="0000FF"/>
                </a:solidFill>
              </a:rPr>
              <a:t>当一极点非常接近于虚轴</a:t>
            </a:r>
            <a:r>
              <a:rPr lang="zh-CN" altLang="en-US" sz="2400" b="1" dirty="0"/>
              <a:t>时（</a:t>
            </a:r>
            <a:r>
              <a:rPr lang="en-US" altLang="zh-CN" sz="2400" b="1" dirty="0"/>
              <a:t>s=σ</a:t>
            </a:r>
            <a:r>
              <a:rPr lang="en-US" altLang="zh-CN" sz="2400" b="1" baseline="-25000" dirty="0"/>
              <a:t>0</a:t>
            </a:r>
            <a:r>
              <a:rPr lang="en-US" altLang="zh-CN" sz="2400" b="1" dirty="0"/>
              <a:t>+jω</a:t>
            </a:r>
            <a:r>
              <a:rPr lang="en-US" altLang="zh-CN" sz="2400" b="1" baseline="-25000" dirty="0"/>
              <a:t>0</a:t>
            </a:r>
            <a:r>
              <a:rPr lang="zh-CN" altLang="en-US" sz="2400" b="1" dirty="0"/>
              <a:t>，</a:t>
            </a:r>
            <a:r>
              <a:rPr lang="en-US" altLang="zh-CN" sz="2400" b="1" dirty="0"/>
              <a:t>|σ</a:t>
            </a:r>
            <a:r>
              <a:rPr lang="en-US" altLang="zh-CN" sz="2400" b="1" baseline="-25000" dirty="0"/>
              <a:t>0</a:t>
            </a:r>
            <a:r>
              <a:rPr lang="en-US" altLang="zh-CN" sz="2400" b="1" dirty="0"/>
              <a:t>| </a:t>
            </a:r>
            <a:r>
              <a:rPr lang="zh-CN" altLang="en-US" sz="2400" b="1" dirty="0"/>
              <a:t>很小），而频率为极点之虚部系数时，</a:t>
            </a:r>
            <a:r>
              <a:rPr lang="zh-CN" altLang="en-US" sz="2400" b="1" dirty="0">
                <a:solidFill>
                  <a:srgbClr val="0000FF"/>
                </a:solidFill>
              </a:rPr>
              <a:t>模量有一极值（峰值），相位很快减小</a:t>
            </a:r>
            <a:r>
              <a:rPr lang="zh-CN" altLang="en-US" sz="2400" b="1" dirty="0"/>
              <a:t>；</a:t>
            </a:r>
            <a:endParaRPr lang="en-US" altLang="zh-CN" sz="2400" b="1" dirty="0"/>
          </a:p>
          <a:p>
            <a:pPr marL="0" indent="0">
              <a:lnSpc>
                <a:spcPct val="130000"/>
              </a:lnSpc>
              <a:buFontTx/>
              <a:buNone/>
            </a:pPr>
            <a:r>
              <a:rPr lang="en-US" altLang="zh-CN" sz="2400" b="1" dirty="0">
                <a:solidFill>
                  <a:srgbClr val="0000FF"/>
                </a:solidFill>
              </a:rPr>
              <a:t>    </a:t>
            </a:r>
            <a:r>
              <a:rPr lang="zh-CN" altLang="en-US" sz="2400" b="1" dirty="0">
                <a:solidFill>
                  <a:srgbClr val="0000FF"/>
                </a:solidFill>
              </a:rPr>
              <a:t>当一零点十分接近虚轴</a:t>
            </a:r>
            <a:r>
              <a:rPr lang="zh-CN" altLang="en-US" sz="2400" b="1" dirty="0"/>
              <a:t>时，频率为零点虚部系数时，</a:t>
            </a:r>
            <a:r>
              <a:rPr lang="zh-CN" altLang="en-US" sz="2400" b="1" dirty="0">
                <a:solidFill>
                  <a:srgbClr val="0000FF"/>
                </a:solidFill>
              </a:rPr>
              <a:t>模量有一谷值，相位很快增大</a:t>
            </a:r>
            <a:r>
              <a:rPr lang="zh-CN" altLang="en-US" sz="2400" b="1" dirty="0"/>
              <a:t>。    </a:t>
            </a:r>
          </a:p>
        </p:txBody>
      </p:sp>
      <p:pic>
        <p:nvPicPr>
          <p:cNvPr id="52228" name="Picture 7" descr="55"/>
          <p:cNvPicPr>
            <a:picLocks noChangeAspect="1" noChangeArrowheads="1"/>
          </p:cNvPicPr>
          <p:nvPr/>
        </p:nvPicPr>
        <p:blipFill rotWithShape="1">
          <a:blip r:embed="rId2">
            <a:extLst>
              <a:ext uri="{28A0092B-C50C-407E-A947-70E740481C1C}">
                <a14:useLocalDpi xmlns:a14="http://schemas.microsoft.com/office/drawing/2010/main" val="0"/>
              </a:ext>
            </a:extLst>
          </a:blip>
          <a:srcRect r="56744"/>
          <a:stretch>
            <a:fillRect/>
          </a:stretch>
        </p:blipFill>
        <p:spPr bwMode="auto">
          <a:xfrm>
            <a:off x="468313" y="3429000"/>
            <a:ext cx="3597604"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日期占位符 4"/>
          <p:cNvSpPr>
            <a:spLocks noGrp="1"/>
          </p:cNvSpPr>
          <p:nvPr>
            <p:ph type="dt" sz="quarter" idx="10"/>
          </p:nvPr>
        </p:nvSpPr>
        <p:spPr>
          <a:xfrm>
            <a:off x="0" y="6578600"/>
            <a:ext cx="1654175" cy="279400"/>
          </a:xfrm>
        </p:spPr>
        <p:txBody>
          <a:bodyPr/>
          <a:lstStyle/>
          <a:p>
            <a:pPr>
              <a:defRPr/>
            </a:pPr>
            <a:fld id="{38DDBF1F-43FA-4176-AB97-300788325074}" type="datetime1">
              <a:rPr lang="zh-CN" altLang="en-US" smtClean="0"/>
              <a:t>2026/4/28</a:t>
            </a:fld>
            <a:endParaRPr lang="en-US" altLang="zh-CN" dirty="0"/>
          </a:p>
        </p:txBody>
      </p:sp>
      <p:pic>
        <p:nvPicPr>
          <p:cNvPr id="8" name="Picture 7" descr="55"/>
          <p:cNvPicPr>
            <a:picLocks noChangeAspect="1" noChangeArrowheads="1"/>
          </p:cNvPicPr>
          <p:nvPr/>
        </p:nvPicPr>
        <p:blipFill rotWithShape="1">
          <a:blip r:embed="rId2">
            <a:extLst>
              <a:ext uri="{28A0092B-C50C-407E-A947-70E740481C1C}">
                <a14:useLocalDpi xmlns:a14="http://schemas.microsoft.com/office/drawing/2010/main" val="0"/>
              </a:ext>
            </a:extLst>
          </a:blip>
          <a:srcRect l="55426"/>
          <a:stretch>
            <a:fillRect/>
          </a:stretch>
        </p:blipFill>
        <p:spPr bwMode="auto">
          <a:xfrm>
            <a:off x="5809605" y="3428999"/>
            <a:ext cx="3707140"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28980"/>
    </mc:Choice>
    <mc:Fallback xmlns="">
      <p:transition spd="slow" advTm="289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2228"/>
                                        </p:tgtEl>
                                        <p:attrNameLst>
                                          <p:attrName>style.visibility</p:attrName>
                                        </p:attrNameLst>
                                      </p:cBhvr>
                                      <p:to>
                                        <p:strVal val="visible"/>
                                      </p:to>
                                    </p:set>
                                    <p:anim calcmode="lin" valueType="num">
                                      <p:cBhvr additive="base">
                                        <p:cTn id="11" dur="500" fill="hold"/>
                                        <p:tgtEl>
                                          <p:spTgt spid="52228"/>
                                        </p:tgtEl>
                                        <p:attrNameLst>
                                          <p:attrName>ppt_x</p:attrName>
                                        </p:attrNameLst>
                                      </p:cBhvr>
                                      <p:tavLst>
                                        <p:tav tm="0">
                                          <p:val>
                                            <p:strVal val="#ppt_x"/>
                                          </p:val>
                                        </p:tav>
                                        <p:tav tm="100000">
                                          <p:val>
                                            <p:strVal val="#ppt_x"/>
                                          </p:val>
                                        </p:tav>
                                      </p:tavLst>
                                    </p:anim>
                                    <p:anim calcmode="lin" valueType="num">
                                      <p:cBhvr additive="base">
                                        <p:cTn id="12" dur="500" fill="hold"/>
                                        <p:tgtEl>
                                          <p:spTgt spid="5222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p:cNvSpPr>
            <a:spLocks noGrp="1" noChangeArrowheads="1"/>
          </p:cNvSpPr>
          <p:nvPr>
            <p:ph type="title"/>
          </p:nvPr>
        </p:nvSpPr>
        <p:spPr>
          <a:xfrm>
            <a:off x="495300" y="0"/>
            <a:ext cx="2592388" cy="504825"/>
          </a:xfrm>
          <a:solidFill>
            <a:schemeClr val="accent2"/>
          </a:solidFill>
          <a:effectLst>
            <a:outerShdw dist="35921" dir="2700000" algn="ctr" rotWithShape="0">
              <a:schemeClr val="bg2"/>
            </a:outerShdw>
          </a:effectLst>
        </p:spPr>
        <p:txBody>
          <a:bodyPr/>
          <a:lstStyle/>
          <a:p>
            <a:pPr>
              <a:defRPr/>
            </a:pPr>
            <a:r>
              <a:rPr lang="en-US" altLang="zh-CN" sz="2800" b="1" dirty="0">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6.5 </a:t>
            </a:r>
            <a:r>
              <a:rPr lang="zh-CN" altLang="en-US" sz="2800" b="1" dirty="0">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波特图</a:t>
            </a:r>
          </a:p>
        </p:txBody>
      </p:sp>
      <p:sp>
        <p:nvSpPr>
          <p:cNvPr id="541699" name="Rectangle 3"/>
          <p:cNvSpPr>
            <a:spLocks noGrp="1" noChangeArrowheads="1"/>
          </p:cNvSpPr>
          <p:nvPr>
            <p:ph type="body" idx="1"/>
          </p:nvPr>
        </p:nvSpPr>
        <p:spPr>
          <a:xfrm>
            <a:off x="809625" y="1163638"/>
            <a:ext cx="7343775" cy="4535487"/>
          </a:xfrm>
          <a:solidFill>
            <a:schemeClr val="bg1"/>
          </a:solidFill>
          <a:ln w="28575">
            <a:solidFill>
              <a:srgbClr val="008000"/>
            </a:solidFill>
            <a:miter lim="800000"/>
          </a:ln>
          <a:effectLst>
            <a:outerShdw dist="35921" dir="2700000" algn="ctr" rotWithShape="0">
              <a:schemeClr val="bg2"/>
            </a:outerShdw>
          </a:effectLst>
        </p:spPr>
        <p:txBody>
          <a:bodyPr/>
          <a:lstStyle/>
          <a:p>
            <a:pPr>
              <a:lnSpc>
                <a:spcPct val="120000"/>
              </a:lnSpc>
              <a:buFont typeface="Wingdings" panose="05000000000000000000" pitchFamily="2" charset="2"/>
              <a:buChar char="l"/>
            </a:pPr>
            <a:r>
              <a:rPr lang="zh-CN" altLang="en-US" sz="2400" b="1"/>
              <a:t>尽管</a:t>
            </a:r>
            <a:r>
              <a:rPr lang="zh-CN" altLang="en-US" sz="2400" b="1">
                <a:solidFill>
                  <a:srgbClr val="FF0000"/>
                </a:solidFill>
              </a:rPr>
              <a:t>频率特性</a:t>
            </a:r>
            <a:r>
              <a:rPr lang="zh-CN" altLang="en-US" sz="2400" b="1"/>
              <a:t>曲线是应用最广的描述系统特性的方法，但其绘制却非常不便，甚至</a:t>
            </a:r>
            <a:r>
              <a:rPr lang="zh-CN" altLang="en-US" sz="2400" b="1">
                <a:solidFill>
                  <a:srgbClr val="FF0000"/>
                </a:solidFill>
              </a:rPr>
              <a:t>烦琐</a:t>
            </a:r>
            <a:r>
              <a:rPr lang="zh-CN" altLang="en-US" sz="2400" b="1"/>
              <a:t>。</a:t>
            </a:r>
          </a:p>
          <a:p>
            <a:pPr>
              <a:lnSpc>
                <a:spcPct val="120000"/>
              </a:lnSpc>
              <a:buFont typeface="Wingdings" panose="05000000000000000000" pitchFamily="2" charset="2"/>
              <a:buChar char="l"/>
            </a:pPr>
            <a:r>
              <a:rPr lang="zh-CN" altLang="en-US" sz="2400" b="1"/>
              <a:t>由</a:t>
            </a:r>
            <a:r>
              <a:rPr lang="zh-CN" altLang="en-US" sz="2400" b="1">
                <a:solidFill>
                  <a:srgbClr val="FF0000"/>
                </a:solidFill>
              </a:rPr>
              <a:t>极零图绘制频特图</a:t>
            </a:r>
            <a:r>
              <a:rPr lang="zh-CN" altLang="en-US" sz="2400" b="1"/>
              <a:t>时，因为各个极、零点对特性的影响是</a:t>
            </a:r>
            <a:r>
              <a:rPr lang="zh-CN" altLang="en-US" sz="2400" b="1">
                <a:solidFill>
                  <a:srgbClr val="FF0000"/>
                </a:solidFill>
              </a:rPr>
              <a:t>相乘</a:t>
            </a:r>
            <a:r>
              <a:rPr lang="zh-CN" altLang="en-US" sz="2400" b="1"/>
              <a:t>的，所以很难画。但若把这种影响化为</a:t>
            </a:r>
            <a:r>
              <a:rPr lang="zh-CN" altLang="en-US" sz="2400" b="1">
                <a:solidFill>
                  <a:srgbClr val="FF0000"/>
                </a:solidFill>
              </a:rPr>
              <a:t>相加</a:t>
            </a:r>
            <a:r>
              <a:rPr lang="zh-CN" altLang="en-US" sz="2400" b="1"/>
              <a:t>，则极直观且方便作图。亦即我们须采用对数频率特性。       </a:t>
            </a:r>
          </a:p>
          <a:p>
            <a:pPr>
              <a:lnSpc>
                <a:spcPct val="120000"/>
              </a:lnSpc>
              <a:buFont typeface="Wingdings" panose="05000000000000000000" pitchFamily="2" charset="2"/>
              <a:buChar char="l"/>
            </a:pPr>
            <a:r>
              <a:rPr lang="zh-CN" altLang="en-US" sz="2400" b="1"/>
              <a:t> 本节介绍一种作频率特性曲线的简化方法。这种方法主要采用</a:t>
            </a:r>
            <a:r>
              <a:rPr lang="zh-CN" altLang="en-US" sz="2400" b="1">
                <a:solidFill>
                  <a:srgbClr val="FF0000"/>
                </a:solidFill>
              </a:rPr>
              <a:t>对数坐标</a:t>
            </a:r>
            <a:r>
              <a:rPr lang="zh-CN" altLang="en-US" sz="2400" b="1"/>
              <a:t>，以方便地用</a:t>
            </a:r>
            <a:r>
              <a:rPr lang="zh-CN" altLang="en-US" sz="2400" b="1">
                <a:solidFill>
                  <a:srgbClr val="FF0000"/>
                </a:solidFill>
              </a:rPr>
              <a:t>折线</a:t>
            </a:r>
            <a:r>
              <a:rPr lang="zh-CN" altLang="en-US" sz="2400" b="1"/>
              <a:t>来近似</a:t>
            </a:r>
            <a:r>
              <a:rPr lang="zh-CN" altLang="en-US" sz="2400" b="1">
                <a:solidFill>
                  <a:srgbClr val="FF0000"/>
                </a:solidFill>
              </a:rPr>
              <a:t>曲线</a:t>
            </a:r>
            <a:r>
              <a:rPr lang="zh-CN" altLang="en-US" sz="2400" b="1"/>
              <a:t>，所以可</a:t>
            </a:r>
            <a:r>
              <a:rPr lang="zh-CN" altLang="en-US" sz="2400" b="1">
                <a:solidFill>
                  <a:srgbClr val="FF0000"/>
                </a:solidFill>
              </a:rPr>
              <a:t>简化作图</a:t>
            </a:r>
            <a:r>
              <a:rPr lang="zh-CN" altLang="en-US" sz="2400" b="1"/>
              <a:t>。         </a:t>
            </a:r>
          </a:p>
        </p:txBody>
      </p:sp>
      <p:sp>
        <p:nvSpPr>
          <p:cNvPr id="4" name="日期占位符 3"/>
          <p:cNvSpPr>
            <a:spLocks noGrp="1"/>
          </p:cNvSpPr>
          <p:nvPr>
            <p:ph type="dt" sz="quarter" idx="10"/>
          </p:nvPr>
        </p:nvSpPr>
        <p:spPr>
          <a:xfrm>
            <a:off x="0" y="6538913"/>
            <a:ext cx="1397479" cy="319087"/>
          </a:xfrm>
        </p:spPr>
        <p:txBody>
          <a:bodyPr/>
          <a:lstStyle/>
          <a:p>
            <a:pPr>
              <a:defRPr/>
            </a:pPr>
            <a:fld id="{47F849B7-5E32-4B16-B600-C23844F8F896}" type="datetime1">
              <a:rPr lang="zh-CN" altLang="en-US"/>
              <a:t>2026/4/28</a:t>
            </a:fld>
            <a:endParaRPr lang="zh-CN" altLang="en-US" dirty="0"/>
          </a:p>
        </p:txBody>
      </p:sp>
      <p:sp>
        <p:nvSpPr>
          <p:cNvPr id="2" name="墨迹 1"/>
          <p:cNvSpPr/>
          <p:nvPr/>
        </p:nvSpPr>
        <p:spPr bwMode="auto">
          <a:xfrm>
            <a:off x="2759040" y="4834080"/>
            <a:ext cx="1815480" cy="38160"/>
          </a:xfrm>
        </p:spPr>
      </p:sp>
    </p:spTree>
  </p:cSld>
  <p:clrMapOvr>
    <a:masterClrMapping/>
  </p:clrMapOvr>
  <mc:AlternateContent xmlns:mc="http://schemas.openxmlformats.org/markup-compatibility/2006" xmlns:p14="http://schemas.microsoft.com/office/powerpoint/2010/main">
    <mc:Choice Requires="p14">
      <p:transition spd="slow" p14:dur="2000" advTm="298804"/>
    </mc:Choice>
    <mc:Fallback xmlns="">
      <p:transition spd="slow" advTm="2988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541699">
                                            <p:bg/>
                                          </p:spTgt>
                                        </p:tgtEl>
                                        <p:attrNameLst>
                                          <p:attrName>style.visibility</p:attrName>
                                        </p:attrNameLst>
                                      </p:cBhvr>
                                      <p:to>
                                        <p:strVal val="visible"/>
                                      </p:to>
                                    </p:set>
                                    <p:anim calcmode="lin" valueType="num">
                                      <p:cBhvr>
                                        <p:cTn id="11" dur="1000" fill="hold"/>
                                        <p:tgtEl>
                                          <p:spTgt spid="541699">
                                            <p:bg/>
                                          </p:spTgt>
                                        </p:tgtEl>
                                        <p:attrNameLst>
                                          <p:attrName>ppt_w</p:attrName>
                                        </p:attrNameLst>
                                      </p:cBhvr>
                                      <p:tavLst>
                                        <p:tav tm="0">
                                          <p:val>
                                            <p:strVal val="#ppt_w*0.70"/>
                                          </p:val>
                                        </p:tav>
                                        <p:tav tm="100000">
                                          <p:val>
                                            <p:strVal val="#ppt_w"/>
                                          </p:val>
                                        </p:tav>
                                      </p:tavLst>
                                    </p:anim>
                                    <p:anim calcmode="lin" valueType="num">
                                      <p:cBhvr>
                                        <p:cTn id="12" dur="1000" fill="hold"/>
                                        <p:tgtEl>
                                          <p:spTgt spid="541699">
                                            <p:bg/>
                                          </p:spTgt>
                                        </p:tgtEl>
                                        <p:attrNameLst>
                                          <p:attrName>ppt_h</p:attrName>
                                        </p:attrNameLst>
                                      </p:cBhvr>
                                      <p:tavLst>
                                        <p:tav tm="0">
                                          <p:val>
                                            <p:strVal val="#ppt_h"/>
                                          </p:val>
                                        </p:tav>
                                        <p:tav tm="100000">
                                          <p:val>
                                            <p:strVal val="#ppt_h"/>
                                          </p:val>
                                        </p:tav>
                                      </p:tavLst>
                                    </p:anim>
                                    <p:animEffect transition="in" filter="fade">
                                      <p:cBhvr>
                                        <p:cTn id="13" dur="1000"/>
                                        <p:tgtEl>
                                          <p:spTgt spid="541699">
                                            <p:bg/>
                                          </p:spTgt>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541699">
                                            <p:txEl>
                                              <p:pRg st="0" end="0"/>
                                            </p:txEl>
                                          </p:spTgt>
                                        </p:tgtEl>
                                        <p:attrNameLst>
                                          <p:attrName>style.visibility</p:attrName>
                                        </p:attrNameLst>
                                      </p:cBhvr>
                                      <p:to>
                                        <p:strVal val="visible"/>
                                      </p:to>
                                    </p:set>
                                    <p:anim calcmode="lin" valueType="num">
                                      <p:cBhvr>
                                        <p:cTn id="17" dur="1000" fill="hold"/>
                                        <p:tgtEl>
                                          <p:spTgt spid="541699">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41699">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4169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541699">
                                            <p:txEl>
                                              <p:pRg st="1" end="1"/>
                                            </p:txEl>
                                          </p:spTgt>
                                        </p:tgtEl>
                                        <p:attrNameLst>
                                          <p:attrName>style.visibility</p:attrName>
                                        </p:attrNameLst>
                                      </p:cBhvr>
                                      <p:to>
                                        <p:strVal val="visible"/>
                                      </p:to>
                                    </p:set>
                                    <p:anim calcmode="lin" valueType="num">
                                      <p:cBhvr>
                                        <p:cTn id="24" dur="1000" fill="hold"/>
                                        <p:tgtEl>
                                          <p:spTgt spid="541699">
                                            <p:txEl>
                                              <p:pRg st="1" end="1"/>
                                            </p:txEl>
                                          </p:spTgt>
                                        </p:tgtEl>
                                        <p:attrNameLst>
                                          <p:attrName>ppt_w</p:attrName>
                                        </p:attrNameLst>
                                      </p:cBhvr>
                                      <p:tavLst>
                                        <p:tav tm="0">
                                          <p:val>
                                            <p:strVal val="#ppt_w*0.70"/>
                                          </p:val>
                                        </p:tav>
                                        <p:tav tm="100000">
                                          <p:val>
                                            <p:strVal val="#ppt_w"/>
                                          </p:val>
                                        </p:tav>
                                      </p:tavLst>
                                    </p:anim>
                                    <p:anim calcmode="lin" valueType="num">
                                      <p:cBhvr>
                                        <p:cTn id="25" dur="1000" fill="hold"/>
                                        <p:tgtEl>
                                          <p:spTgt spid="541699">
                                            <p:txEl>
                                              <p:pRg st="1" end="1"/>
                                            </p:txEl>
                                          </p:spTgt>
                                        </p:tgtEl>
                                        <p:attrNameLst>
                                          <p:attrName>ppt_h</p:attrName>
                                        </p:attrNameLst>
                                      </p:cBhvr>
                                      <p:tavLst>
                                        <p:tav tm="0">
                                          <p:val>
                                            <p:strVal val="#ppt_h"/>
                                          </p:val>
                                        </p:tav>
                                        <p:tav tm="100000">
                                          <p:val>
                                            <p:strVal val="#ppt_h"/>
                                          </p:val>
                                        </p:tav>
                                      </p:tavLst>
                                    </p:anim>
                                    <p:animEffect transition="in" filter="fade">
                                      <p:cBhvr>
                                        <p:cTn id="26" dur="1000"/>
                                        <p:tgtEl>
                                          <p:spTgt spid="541699">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541699">
                                            <p:txEl>
                                              <p:pRg st="2" end="2"/>
                                            </p:txEl>
                                          </p:spTgt>
                                        </p:tgtEl>
                                        <p:attrNameLst>
                                          <p:attrName>style.visibility</p:attrName>
                                        </p:attrNameLst>
                                      </p:cBhvr>
                                      <p:to>
                                        <p:strVal val="visible"/>
                                      </p:to>
                                    </p:set>
                                    <p:anim calcmode="lin" valueType="num">
                                      <p:cBhvr>
                                        <p:cTn id="31" dur="1000" fill="hold"/>
                                        <p:tgtEl>
                                          <p:spTgt spid="541699">
                                            <p:txEl>
                                              <p:pRg st="2" end="2"/>
                                            </p:txEl>
                                          </p:spTgt>
                                        </p:tgtEl>
                                        <p:attrNameLst>
                                          <p:attrName>ppt_w</p:attrName>
                                        </p:attrNameLst>
                                      </p:cBhvr>
                                      <p:tavLst>
                                        <p:tav tm="0">
                                          <p:val>
                                            <p:strVal val="#ppt_w*0.70"/>
                                          </p:val>
                                        </p:tav>
                                        <p:tav tm="100000">
                                          <p:val>
                                            <p:strVal val="#ppt_w"/>
                                          </p:val>
                                        </p:tav>
                                      </p:tavLst>
                                    </p:anim>
                                    <p:anim calcmode="lin" valueType="num">
                                      <p:cBhvr>
                                        <p:cTn id="32" dur="1000" fill="hold"/>
                                        <p:tgtEl>
                                          <p:spTgt spid="541699">
                                            <p:txEl>
                                              <p:pRg st="2" end="2"/>
                                            </p:txEl>
                                          </p:spTgt>
                                        </p:tgtEl>
                                        <p:attrNameLst>
                                          <p:attrName>ppt_h</p:attrName>
                                        </p:attrNameLst>
                                      </p:cBhvr>
                                      <p:tavLst>
                                        <p:tav tm="0">
                                          <p:val>
                                            <p:strVal val="#ppt_h"/>
                                          </p:val>
                                        </p:tav>
                                        <p:tav tm="100000">
                                          <p:val>
                                            <p:strVal val="#ppt_h"/>
                                          </p:val>
                                        </p:tav>
                                      </p:tavLst>
                                    </p:anim>
                                    <p:animEffect transition="in" filter="fade">
                                      <p:cBhvr>
                                        <p:cTn id="33" dur="1000"/>
                                        <p:tgtEl>
                                          <p:spTgt spid="5416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699" grpId="0" build="p"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6"/>
          <p:cNvSpPr>
            <a:spLocks noGrp="1"/>
          </p:cNvSpPr>
          <p:nvPr>
            <p:ph type="dt" sz="quarter" idx="10"/>
          </p:nvPr>
        </p:nvSpPr>
        <p:spPr/>
        <p:txBody>
          <a:bodyPr/>
          <a:lstStyle/>
          <a:p>
            <a:pPr>
              <a:defRPr/>
            </a:pPr>
            <a:fld id="{83CA40D9-1721-4C68-AF0B-9C3C4B86E2B8}" type="datetime1">
              <a:rPr lang="zh-CN" altLang="en-US"/>
              <a:t>2026/4/28</a:t>
            </a:fld>
            <a:endParaRPr lang="zh-CN" altLang="en-US" dirty="0"/>
          </a:p>
        </p:txBody>
      </p:sp>
      <p:sp>
        <p:nvSpPr>
          <p:cNvPr id="543746" name="Rectangle 2"/>
          <p:cNvSpPr>
            <a:spLocks noGrp="1" noChangeArrowheads="1"/>
          </p:cNvSpPr>
          <p:nvPr>
            <p:ph type="title"/>
          </p:nvPr>
        </p:nvSpPr>
        <p:spPr>
          <a:xfrm>
            <a:off x="389890" y="635"/>
            <a:ext cx="3168650" cy="489585"/>
          </a:xfrm>
          <a:solidFill>
            <a:schemeClr val="accent2"/>
          </a:solidFill>
          <a:effectLst>
            <a:outerShdw dist="35921" dir="2700000" algn="ctr" rotWithShape="0">
              <a:schemeClr val="bg2"/>
            </a:outerShdw>
          </a:effectLst>
        </p:spPr>
        <p:txBody>
          <a:bodyPr/>
          <a:lstStyle/>
          <a:p>
            <a:pPr>
              <a:defRPr/>
            </a:pPr>
            <a:r>
              <a:rPr lang="zh-CN" altLang="en-US" sz="2800" b="1" dirty="0">
                <a:solidFill>
                  <a:schemeClr val="bg1"/>
                </a:solidFill>
                <a:effectLst>
                  <a:outerShdw blurRad="38100" dist="38100" dir="2700000" algn="tl">
                    <a:srgbClr val="000000"/>
                  </a:outerShdw>
                </a:effectLst>
              </a:rPr>
              <a:t>一、对数频率特性</a:t>
            </a:r>
          </a:p>
        </p:txBody>
      </p:sp>
      <p:sp>
        <p:nvSpPr>
          <p:cNvPr id="543747" name="Rectangle 3"/>
          <p:cNvSpPr>
            <a:spLocks noGrp="1" noChangeArrowheads="1"/>
          </p:cNvSpPr>
          <p:nvPr>
            <p:ph type="body" sz="half" idx="1"/>
          </p:nvPr>
        </p:nvSpPr>
        <p:spPr>
          <a:xfrm>
            <a:off x="526415" y="4704715"/>
            <a:ext cx="8617585" cy="2096770"/>
          </a:xfrm>
          <a:solidFill>
            <a:schemeClr val="bg1"/>
          </a:solidFill>
          <a:ln w="28575">
            <a:solidFill>
              <a:srgbClr val="008000"/>
            </a:solidFill>
            <a:miter lim="800000"/>
          </a:ln>
          <a:effectLst>
            <a:outerShdw dist="35921" dir="2700000" algn="ctr" rotWithShape="0">
              <a:schemeClr val="bg2"/>
            </a:outerShdw>
          </a:effectLst>
        </p:spPr>
        <p:txBody>
          <a:bodyPr/>
          <a:lstStyle/>
          <a:p>
            <a:pPr marL="0" indent="0" latinLnBrk="0">
              <a:lnSpc>
                <a:spcPct val="100000"/>
              </a:lnSpc>
              <a:spcBef>
                <a:spcPts val="0"/>
              </a:spcBef>
              <a:buFontTx/>
              <a:buNone/>
            </a:pPr>
            <a:r>
              <a:rPr lang="en-US" altLang="zh-CN" sz="2400" b="1" dirty="0">
                <a:latin typeface="Times New Roman" panose="02020603050405020304" pitchFamily="18" charset="0"/>
              </a:rPr>
              <a:t>         G(ω)</a:t>
            </a:r>
            <a:r>
              <a:rPr lang="zh-CN" altLang="en-US" sz="2400" b="1" dirty="0">
                <a:latin typeface="Times New Roman" panose="02020603050405020304" pitchFamily="18" charset="0"/>
              </a:rPr>
              <a:t>是系统的放大倍数或称增益、对数增益。它有两个单位：</a:t>
            </a:r>
            <a:r>
              <a:rPr lang="zh-CN" altLang="en-US" sz="2400" b="1" dirty="0">
                <a:solidFill>
                  <a:srgbClr val="0000CC"/>
                </a:solidFill>
                <a:latin typeface="Times New Roman" panose="02020603050405020304" pitchFamily="18" charset="0"/>
              </a:rPr>
              <a:t>奈培</a:t>
            </a:r>
            <a:r>
              <a:rPr lang="zh-CN" altLang="en-US" sz="2400" b="1" dirty="0">
                <a:latin typeface="Times New Roman" panose="02020603050405020304" pitchFamily="18" charset="0"/>
              </a:rPr>
              <a:t>（</a:t>
            </a:r>
            <a:r>
              <a:rPr lang="en-US" altLang="zh-CN" sz="2400" b="1" dirty="0" err="1">
                <a:latin typeface="Times New Roman" panose="02020603050405020304" pitchFamily="18" charset="0"/>
              </a:rPr>
              <a:t>Neper</a:t>
            </a:r>
            <a:r>
              <a:rPr lang="zh-CN" altLang="en-US" sz="2400" b="1" dirty="0">
                <a:latin typeface="Times New Roman" panose="02020603050405020304" pitchFamily="18" charset="0"/>
              </a:rPr>
              <a:t>）和</a:t>
            </a:r>
            <a:r>
              <a:rPr lang="zh-CN" altLang="en-US" sz="2400" b="1" dirty="0">
                <a:solidFill>
                  <a:srgbClr val="0000CC"/>
                </a:solidFill>
                <a:latin typeface="Times New Roman" panose="02020603050405020304" pitchFamily="18" charset="0"/>
              </a:rPr>
              <a:t>分贝</a:t>
            </a:r>
            <a:r>
              <a:rPr lang="zh-CN" altLang="en-US" sz="2400" b="1" dirty="0">
                <a:latin typeface="Times New Roman" panose="02020603050405020304" pitchFamily="18" charset="0"/>
              </a:rPr>
              <a:t>（</a:t>
            </a:r>
            <a:r>
              <a:rPr lang="en-US" altLang="zh-CN" sz="2400" b="1" dirty="0" err="1">
                <a:latin typeface="Times New Roman" panose="02020603050405020304" pitchFamily="18" charset="0"/>
              </a:rPr>
              <a:t>deci-Bel</a:t>
            </a:r>
            <a:r>
              <a:rPr lang="zh-CN" altLang="en-US" sz="2400" b="1" dirty="0">
                <a:latin typeface="Times New Roman" panose="02020603050405020304" pitchFamily="18" charset="0"/>
              </a:rPr>
              <a:t>），分别记为</a:t>
            </a:r>
            <a:r>
              <a:rPr lang="en-US" altLang="zh-CN" sz="2400" b="1" dirty="0" err="1">
                <a:latin typeface="Times New Roman" panose="02020603050405020304" pitchFamily="18" charset="0"/>
              </a:rPr>
              <a:t>Np</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dB</a:t>
            </a:r>
            <a:r>
              <a:rPr lang="zh-CN" altLang="en-US" sz="2400" b="1" dirty="0">
                <a:latin typeface="Times New Roman" panose="02020603050405020304" pitchFamily="18" charset="0"/>
              </a:rPr>
              <a:t>。</a:t>
            </a:r>
          </a:p>
          <a:p>
            <a:pPr marL="0" indent="0" latinLnBrk="0">
              <a:lnSpc>
                <a:spcPct val="100000"/>
              </a:lnSpc>
              <a:spcBef>
                <a:spcPts val="0"/>
              </a:spcBef>
              <a:buFontTx/>
              <a:buNone/>
            </a:pPr>
            <a:r>
              <a:rPr lang="zh-CN" altLang="en-US" sz="2400" b="1" dirty="0">
                <a:latin typeface="Times New Roman" panose="02020603050405020304" pitchFamily="18" charset="0"/>
              </a:rPr>
              <a:t>由</a:t>
            </a:r>
            <a:r>
              <a:rPr lang="en-US" altLang="zh-CN" sz="2400" b="1" dirty="0">
                <a:latin typeface="Times New Roman" panose="02020603050405020304" pitchFamily="18" charset="0"/>
              </a:rPr>
              <a:t>G(ω)=</a:t>
            </a:r>
            <a:r>
              <a:rPr lang="en-US" altLang="zh-CN" sz="2400" b="1" dirty="0" err="1">
                <a:latin typeface="Times New Roman" panose="02020603050405020304" pitchFamily="18" charset="0"/>
              </a:rPr>
              <a:t>ln|H</a:t>
            </a:r>
            <a:r>
              <a:rPr lang="en-US" altLang="zh-CN" sz="2400" b="1" dirty="0">
                <a:latin typeface="Times New Roman" panose="02020603050405020304" pitchFamily="18" charset="0"/>
              </a:rPr>
              <a:t>(</a:t>
            </a:r>
            <a:r>
              <a:rPr lang="en-US" altLang="zh-CN" sz="2400" b="1" dirty="0" err="1">
                <a:latin typeface="Times New Roman" panose="02020603050405020304" pitchFamily="18" charset="0"/>
              </a:rPr>
              <a:t>jω</a:t>
            </a:r>
            <a:r>
              <a:rPr lang="en-US" altLang="zh-CN" sz="2400" b="1" dirty="0">
                <a:latin typeface="Times New Roman" panose="02020603050405020304" pitchFamily="18" charset="0"/>
              </a:rPr>
              <a:t>)| (</a:t>
            </a:r>
            <a:r>
              <a:rPr lang="en-US" altLang="zh-CN" sz="2400" b="1" dirty="0" err="1">
                <a:latin typeface="Times New Roman" panose="02020603050405020304" pitchFamily="18" charset="0"/>
              </a:rPr>
              <a:t>Np</a:t>
            </a:r>
            <a:r>
              <a:rPr lang="en-US" altLang="zh-CN" sz="2400" b="1" dirty="0">
                <a:latin typeface="Times New Roman" panose="02020603050405020304" pitchFamily="18" charset="0"/>
              </a:rPr>
              <a:t>)=20lg|H(</a:t>
            </a:r>
            <a:r>
              <a:rPr lang="en-US" altLang="zh-CN" sz="2400" b="1" dirty="0" err="1">
                <a:latin typeface="Times New Roman" panose="02020603050405020304" pitchFamily="18" charset="0"/>
              </a:rPr>
              <a:t>jω</a:t>
            </a:r>
            <a:r>
              <a:rPr lang="en-US" altLang="zh-CN" sz="2400" b="1" dirty="0">
                <a:latin typeface="Times New Roman" panose="02020603050405020304" pitchFamily="18" charset="0"/>
              </a:rPr>
              <a:t>)|(dB)</a:t>
            </a:r>
          </a:p>
          <a:p>
            <a:pPr marL="0" indent="0" latinLnBrk="0">
              <a:lnSpc>
                <a:spcPct val="100000"/>
              </a:lnSpc>
              <a:spcBef>
                <a:spcPts val="0"/>
              </a:spcBef>
              <a:buFontTx/>
              <a:buNone/>
            </a:pPr>
            <a:r>
              <a:rPr lang="zh-CN" altLang="en-US" sz="2400" b="1" dirty="0">
                <a:latin typeface="Times New Roman" panose="02020603050405020304" pitchFamily="18" charset="0"/>
              </a:rPr>
              <a:t>得：</a:t>
            </a:r>
            <a:r>
              <a:rPr lang="en-US" altLang="zh-CN" sz="2400" b="1" dirty="0">
                <a:latin typeface="Times New Roman" panose="02020603050405020304" pitchFamily="18" charset="0"/>
              </a:rPr>
              <a:t>1Np = 20lg(e) = 8.686dB</a:t>
            </a:r>
          </a:p>
          <a:p>
            <a:pPr marL="0" indent="0" latinLnBrk="0">
              <a:lnSpc>
                <a:spcPct val="100000"/>
              </a:lnSpc>
              <a:spcBef>
                <a:spcPts val="0"/>
              </a:spcBef>
              <a:buFontTx/>
              <a:buNone/>
            </a:pPr>
            <a:r>
              <a:rPr lang="en-US" altLang="zh-CN" sz="2400" b="1" dirty="0">
                <a:latin typeface="Times New Roman" panose="02020603050405020304" pitchFamily="18" charset="0"/>
              </a:rPr>
              <a:t>        φ(ω)</a:t>
            </a:r>
            <a:r>
              <a:rPr lang="zh-CN" altLang="en-US" sz="2400" b="1" dirty="0">
                <a:latin typeface="Times New Roman" panose="02020603050405020304" pitchFamily="18" charset="0"/>
              </a:rPr>
              <a:t>为相位。</a:t>
            </a:r>
          </a:p>
        </p:txBody>
      </p:sp>
      <p:graphicFrame>
        <p:nvGraphicFramePr>
          <p:cNvPr id="56324" name="Object 2"/>
          <p:cNvGraphicFramePr>
            <a:graphicFrameLocks noGrp="1" noChangeAspect="1"/>
          </p:cNvGraphicFramePr>
          <p:nvPr>
            <p:ph sz="half" idx="2"/>
          </p:nvPr>
        </p:nvGraphicFramePr>
        <p:xfrm>
          <a:off x="4947285" y="2217420"/>
          <a:ext cx="4196715" cy="1217930"/>
        </p:xfrm>
        <a:graphic>
          <a:graphicData uri="http://schemas.openxmlformats.org/presentationml/2006/ole">
            <mc:AlternateContent xmlns:mc="http://schemas.openxmlformats.org/markup-compatibility/2006">
              <mc:Choice xmlns:v="urn:schemas-microsoft-com:vml" Requires="v">
                <p:oleObj name="公式" r:id="rId2" imgW="2971800" imgH="862965" progId="Equation.3">
                  <p:embed/>
                </p:oleObj>
              </mc:Choice>
              <mc:Fallback>
                <p:oleObj name="公式" r:id="rId2" imgW="2971800" imgH="862965" progId="Equation.3">
                  <p:embed/>
                  <p:pic>
                    <p:nvPicPr>
                      <p:cNvPr id="0" name="Object 2"/>
                      <p:cNvPicPr>
                        <a:picLocks noChangeAspect="1" noChangeArrowheads="1"/>
                      </p:cNvPicPr>
                      <p:nvPr/>
                    </p:nvPicPr>
                    <p:blipFill>
                      <a:blip r:embed="rId3"/>
                      <a:srcRect/>
                      <a:stretch>
                        <a:fillRect/>
                      </a:stretch>
                    </p:blipFill>
                    <p:spPr bwMode="auto">
                      <a:xfrm>
                        <a:off x="4947285" y="2217420"/>
                        <a:ext cx="4196715" cy="12179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5" name="Object 3"/>
          <p:cNvGraphicFramePr>
            <a:graphicFrameLocks noChangeAspect="1"/>
          </p:cNvGraphicFramePr>
          <p:nvPr/>
        </p:nvGraphicFramePr>
        <p:xfrm>
          <a:off x="908685" y="3768090"/>
          <a:ext cx="4294188" cy="554038"/>
        </p:xfrm>
        <a:graphic>
          <a:graphicData uri="http://schemas.openxmlformats.org/presentationml/2006/ole">
            <mc:AlternateContent xmlns:mc="http://schemas.openxmlformats.org/markup-compatibility/2006">
              <mc:Choice xmlns:v="urn:schemas-microsoft-com:vml" Requires="v">
                <p:oleObj name="公式" r:id="rId4" imgW="1968500" imgH="254000" progId="Equation.3">
                  <p:embed/>
                </p:oleObj>
              </mc:Choice>
              <mc:Fallback>
                <p:oleObj name="公式" r:id="rId4" imgW="1968500" imgH="2540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8685" y="3768090"/>
                        <a:ext cx="4294188"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750" name="Object 4"/>
          <p:cNvGraphicFramePr>
            <a:graphicFrameLocks noChangeAspect="1"/>
          </p:cNvGraphicFramePr>
          <p:nvPr/>
        </p:nvGraphicFramePr>
        <p:xfrm>
          <a:off x="12209780" y="3767773"/>
          <a:ext cx="2132013" cy="471487"/>
        </p:xfrm>
        <a:graphic>
          <a:graphicData uri="http://schemas.openxmlformats.org/presentationml/2006/ole">
            <mc:AlternateContent xmlns:mc="http://schemas.openxmlformats.org/markup-compatibility/2006">
              <mc:Choice xmlns:v="urn:schemas-microsoft-com:vml" Requires="v">
                <p:oleObj name="公式" r:id="rId6" imgW="977265" imgH="215900" progId="Equation.3">
                  <p:embed/>
                </p:oleObj>
              </mc:Choice>
              <mc:Fallback>
                <p:oleObj name="公式" r:id="rId6" imgW="977265" imgH="2159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209780" y="3767773"/>
                        <a:ext cx="2132013"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3"/>
          <p:cNvGraphicFramePr>
            <a:graphicFrameLocks noChangeAspect="1"/>
          </p:cNvGraphicFramePr>
          <p:nvPr/>
        </p:nvGraphicFramePr>
        <p:xfrm>
          <a:off x="636905" y="520065"/>
          <a:ext cx="4480560" cy="1628775"/>
        </p:xfrm>
        <a:graphic>
          <a:graphicData uri="http://schemas.openxmlformats.org/presentationml/2006/ole">
            <mc:AlternateContent xmlns:mc="http://schemas.openxmlformats.org/markup-compatibility/2006">
              <mc:Choice xmlns:v="urn:schemas-microsoft-com:vml" Requires="v">
                <p:oleObj name="Equation" r:id="rId8" imgW="2578100" imgH="876300" progId="Equation.3">
                  <p:embed/>
                </p:oleObj>
              </mc:Choice>
              <mc:Fallback>
                <p:oleObj name="Equation" r:id="rId8" imgW="2578100" imgH="876300" progId="Equation.3">
                  <p:embed/>
                  <p:pic>
                    <p:nvPicPr>
                      <p:cNvPr id="0" name="Object 3"/>
                      <p:cNvPicPr>
                        <a:picLocks noChangeAspect="1" noChangeArrowheads="1"/>
                      </p:cNvPicPr>
                      <p:nvPr/>
                    </p:nvPicPr>
                    <p:blipFill>
                      <a:blip r:embed="rId9"/>
                      <a:srcRect/>
                      <a:stretch>
                        <a:fillRect/>
                      </a:stretch>
                    </p:blipFill>
                    <p:spPr bwMode="auto">
                      <a:xfrm>
                        <a:off x="636905" y="520065"/>
                        <a:ext cx="4480560" cy="16287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5"/>
          <p:cNvGraphicFramePr>
            <a:graphicFrameLocks noChangeAspect="1"/>
          </p:cNvGraphicFramePr>
          <p:nvPr/>
        </p:nvGraphicFramePr>
        <p:xfrm>
          <a:off x="5712143" y="788035"/>
          <a:ext cx="2230437" cy="498475"/>
        </p:xfrm>
        <a:graphic>
          <a:graphicData uri="http://schemas.openxmlformats.org/presentationml/2006/ole">
            <mc:AlternateContent xmlns:mc="http://schemas.openxmlformats.org/markup-compatibility/2006">
              <mc:Choice xmlns:v="urn:schemas-microsoft-com:vml" Requires="v">
                <p:oleObj name="Equation" r:id="rId10" imgW="832485" imgH="127000" progId="Equation.DSMT4">
                  <p:embed/>
                </p:oleObj>
              </mc:Choice>
              <mc:Fallback>
                <p:oleObj name="Equation" r:id="rId10" imgW="832485" imgH="127000"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12143" y="788035"/>
                        <a:ext cx="223043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9959" name="Object 6"/>
          <p:cNvGraphicFramePr>
            <a:graphicFrameLocks noChangeAspect="1"/>
          </p:cNvGraphicFramePr>
          <p:nvPr/>
        </p:nvGraphicFramePr>
        <p:xfrm>
          <a:off x="6094095" y="1351280"/>
          <a:ext cx="2003425" cy="533400"/>
        </p:xfrm>
        <a:graphic>
          <a:graphicData uri="http://schemas.openxmlformats.org/presentationml/2006/ole">
            <mc:AlternateContent xmlns:mc="http://schemas.openxmlformats.org/markup-compatibility/2006">
              <mc:Choice xmlns:v="urn:schemas-microsoft-com:vml" Requires="v">
                <p:oleObj name="Equation" r:id="rId12" imgW="661035" imgH="127000" progId="Equation.DSMT4">
                  <p:embed/>
                </p:oleObj>
              </mc:Choice>
              <mc:Fallback>
                <p:oleObj name="Equation" r:id="rId12" imgW="661035" imgH="127000"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94095" y="1351280"/>
                        <a:ext cx="20034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2" name="组合 21"/>
          <p:cNvGrpSpPr/>
          <p:nvPr/>
        </p:nvGrpSpPr>
        <p:grpSpPr>
          <a:xfrm>
            <a:off x="407670" y="2400300"/>
            <a:ext cx="4939030" cy="751840"/>
            <a:chOff x="1217" y="3628"/>
            <a:chExt cx="7778" cy="1184"/>
          </a:xfrm>
        </p:grpSpPr>
        <p:grpSp>
          <p:nvGrpSpPr>
            <p:cNvPr id="19" name="组合 18"/>
            <p:cNvGrpSpPr/>
            <p:nvPr/>
          </p:nvGrpSpPr>
          <p:grpSpPr>
            <a:xfrm>
              <a:off x="1217" y="3628"/>
              <a:ext cx="7778" cy="1184"/>
              <a:chOff x="3483" y="1691"/>
              <a:chExt cx="7778" cy="1184"/>
            </a:xfrm>
          </p:grpSpPr>
          <p:sp>
            <p:nvSpPr>
              <p:cNvPr id="20" name="文本框 19"/>
              <p:cNvSpPr txBox="1">
                <a:spLocks noRot="1" noChangeAspect="1" noMove="1" noResize="1" noEditPoints="1" noAdjustHandles="1" noChangeArrowheads="1" noChangeShapeType="1" noTextEdit="1"/>
              </p:cNvSpPr>
              <p:nvPr/>
            </p:nvSpPr>
            <p:spPr>
              <a:xfrm>
                <a:off x="3483" y="1691"/>
                <a:ext cx="7779" cy="1184"/>
              </a:xfrm>
              <a:prstGeom prst="rect">
                <a:avLst/>
              </a:prstGeom>
              <a:blipFill>
                <a:blip r:embed="rId14"/>
                <a:stretch>
                  <a:fillRect b="-5691"/>
                </a:stretch>
              </a:blipFill>
            </p:spPr>
            <p:txBody>
              <a:bodyPr/>
              <a:lstStyle/>
              <a:p>
                <a:pPr>
                  <a:defRPr/>
                </a:pPr>
                <a:r>
                  <a:rPr lang="zh-CN" altLang="en-US">
                    <a:noFill/>
                    <a:latin typeface="黑体" panose="02010609060101010101" pitchFamily="49" charset="-122"/>
                    <a:ea typeface="黑体" panose="02010609060101010101" pitchFamily="49" charset="-122"/>
                  </a:rPr>
                  <a:t> </a:t>
                </a:r>
              </a:p>
            </p:txBody>
          </p:sp>
          <p:sp>
            <p:nvSpPr>
              <p:cNvPr id="21" name="矩形 20"/>
              <p:cNvSpPr/>
              <p:nvPr/>
            </p:nvSpPr>
            <p:spPr>
              <a:xfrm>
                <a:off x="3483" y="1834"/>
                <a:ext cx="1993" cy="95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aphicFrame>
          <p:nvGraphicFramePr>
            <p:cNvPr id="17" name="对象 16"/>
            <p:cNvGraphicFramePr/>
            <p:nvPr/>
          </p:nvGraphicFramePr>
          <p:xfrm>
            <a:off x="1296" y="3881"/>
            <a:ext cx="1911" cy="677"/>
          </p:xfrm>
          <a:graphic>
            <a:graphicData uri="http://schemas.openxmlformats.org/presentationml/2006/ole">
              <mc:AlternateContent xmlns:mc="http://schemas.openxmlformats.org/markup-compatibility/2006">
                <mc:Choice xmlns:v="urn:schemas-microsoft-com:vml" Requires="v">
                  <p:oleObj r:id="rId15" imgW="787400" imgH="228600" progId="Equation.KSEE3">
                    <p:embed/>
                  </p:oleObj>
                </mc:Choice>
                <mc:Fallback>
                  <p:oleObj r:id="rId15" imgW="787400" imgH="228600" progId="Equation.KSEE3">
                    <p:embed/>
                    <p:pic>
                      <p:nvPicPr>
                        <p:cNvPr id="0" name="图片 17"/>
                        <p:cNvPicPr/>
                        <p:nvPr/>
                      </p:nvPicPr>
                      <p:blipFill>
                        <a:blip r:embed="rId16"/>
                        <a:stretch>
                          <a:fillRect/>
                        </a:stretch>
                      </p:blipFill>
                      <p:spPr>
                        <a:xfrm>
                          <a:off x="1296" y="3881"/>
                          <a:ext cx="1911" cy="677"/>
                        </a:xfrm>
                        <a:prstGeom prst="rect">
                          <a:avLst/>
                        </a:prstGeom>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14:dur="2000" advTm="191774"/>
    </mc:Choice>
    <mc:Fallback xmlns="">
      <p:transition spd="slow" advTm="1917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09959"/>
                                        </p:tgtEl>
                                        <p:attrNameLst>
                                          <p:attrName>style.visibility</p:attrName>
                                        </p:attrNameLst>
                                      </p:cBhvr>
                                      <p:to>
                                        <p:strVal val="visible"/>
                                      </p:to>
                                    </p:set>
                                    <p:animEffect transition="in" filter="wipe(left)">
                                      <p:cBhvr>
                                        <p:cTn id="15" dur="500"/>
                                        <p:tgtEl>
                                          <p:spTgt spid="509959"/>
                                        </p:tgtEl>
                                      </p:cBhvr>
                                    </p:animEffect>
                                  </p:childTnLst>
                                </p:cTn>
                              </p:par>
                            </p:childTnLst>
                          </p:cTn>
                        </p:par>
                        <p:par>
                          <p:cTn id="16" fill="hold">
                            <p:stCondLst>
                              <p:cond delay="1500"/>
                            </p:stCondLst>
                            <p:childTnLst>
                              <p:par>
                                <p:cTn id="17" presetID="55" presetClass="entr" presetSubtype="0" fill="hold" nodeType="afterEffect">
                                  <p:stCondLst>
                                    <p:cond delay="0"/>
                                  </p:stCondLst>
                                  <p:childTnLst>
                                    <p:set>
                                      <p:cBhvr>
                                        <p:cTn id="18" dur="1" fill="hold">
                                          <p:stCondLst>
                                            <p:cond delay="0"/>
                                          </p:stCondLst>
                                        </p:cTn>
                                        <p:tgtEl>
                                          <p:spTgt spid="543750"/>
                                        </p:tgtEl>
                                        <p:attrNameLst>
                                          <p:attrName>style.visibility</p:attrName>
                                        </p:attrNameLst>
                                      </p:cBhvr>
                                      <p:to>
                                        <p:strVal val="visible"/>
                                      </p:to>
                                    </p:set>
                                    <p:anim calcmode="lin" valueType="num">
                                      <p:cBhvr>
                                        <p:cTn id="19" dur="1000" fill="hold"/>
                                        <p:tgtEl>
                                          <p:spTgt spid="543750"/>
                                        </p:tgtEl>
                                        <p:attrNameLst>
                                          <p:attrName>ppt_w</p:attrName>
                                        </p:attrNameLst>
                                      </p:cBhvr>
                                      <p:tavLst>
                                        <p:tav tm="0">
                                          <p:val>
                                            <p:strVal val="#ppt_w*0.70"/>
                                          </p:val>
                                        </p:tav>
                                        <p:tav tm="100000">
                                          <p:val>
                                            <p:strVal val="#ppt_w"/>
                                          </p:val>
                                        </p:tav>
                                      </p:tavLst>
                                    </p:anim>
                                    <p:anim calcmode="lin" valueType="num">
                                      <p:cBhvr>
                                        <p:cTn id="20" dur="1000" fill="hold"/>
                                        <p:tgtEl>
                                          <p:spTgt spid="543750"/>
                                        </p:tgtEl>
                                        <p:attrNameLst>
                                          <p:attrName>ppt_h</p:attrName>
                                        </p:attrNameLst>
                                      </p:cBhvr>
                                      <p:tavLst>
                                        <p:tav tm="0">
                                          <p:val>
                                            <p:strVal val="#ppt_h"/>
                                          </p:val>
                                        </p:tav>
                                        <p:tav tm="100000">
                                          <p:val>
                                            <p:strVal val="#ppt_h"/>
                                          </p:val>
                                        </p:tav>
                                      </p:tavLst>
                                    </p:anim>
                                    <p:animEffect transition="in" filter="fade">
                                      <p:cBhvr>
                                        <p:cTn id="21" dur="1000"/>
                                        <p:tgtEl>
                                          <p:spTgt spid="54375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5632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6325"/>
                                        </p:tgtEl>
                                        <p:attrNameLst>
                                          <p:attrName>style.visibility</p:attrName>
                                        </p:attrNameLst>
                                      </p:cBhvr>
                                      <p:to>
                                        <p:strVal val="visible"/>
                                      </p:to>
                                    </p:set>
                                  </p:childTnLst>
                                </p:cTn>
                              </p:par>
                            </p:childTnLst>
                          </p:cTn>
                        </p:par>
                        <p:par>
                          <p:cTn id="32" fill="hold">
                            <p:stCondLst>
                              <p:cond delay="0"/>
                            </p:stCondLst>
                            <p:childTnLst>
                              <p:par>
                                <p:cTn id="33" presetID="55" presetClass="entr" presetSubtype="0" fill="hold" grpId="0" nodeType="afterEffect">
                                  <p:stCondLst>
                                    <p:cond delay="0"/>
                                  </p:stCondLst>
                                  <p:childTnLst>
                                    <p:set>
                                      <p:cBhvr>
                                        <p:cTn id="34" dur="1" fill="hold">
                                          <p:stCondLst>
                                            <p:cond delay="0"/>
                                          </p:stCondLst>
                                        </p:cTn>
                                        <p:tgtEl>
                                          <p:spTgt spid="543747">
                                            <p:bg/>
                                          </p:spTgt>
                                        </p:tgtEl>
                                        <p:attrNameLst>
                                          <p:attrName>style.visibility</p:attrName>
                                        </p:attrNameLst>
                                      </p:cBhvr>
                                      <p:to>
                                        <p:strVal val="visible"/>
                                      </p:to>
                                    </p:set>
                                    <p:anim calcmode="lin" valueType="num">
                                      <p:cBhvr>
                                        <p:cTn id="35" dur="1000" fill="hold"/>
                                        <p:tgtEl>
                                          <p:spTgt spid="543747">
                                            <p:bg/>
                                          </p:spTgt>
                                        </p:tgtEl>
                                        <p:attrNameLst>
                                          <p:attrName>ppt_w</p:attrName>
                                        </p:attrNameLst>
                                      </p:cBhvr>
                                      <p:tavLst>
                                        <p:tav tm="0">
                                          <p:val>
                                            <p:strVal val="#ppt_w*0.70"/>
                                          </p:val>
                                        </p:tav>
                                        <p:tav tm="100000">
                                          <p:val>
                                            <p:strVal val="#ppt_w"/>
                                          </p:val>
                                        </p:tav>
                                      </p:tavLst>
                                    </p:anim>
                                    <p:anim calcmode="lin" valueType="num">
                                      <p:cBhvr>
                                        <p:cTn id="36" dur="1000" fill="hold"/>
                                        <p:tgtEl>
                                          <p:spTgt spid="543747">
                                            <p:bg/>
                                          </p:spTgt>
                                        </p:tgtEl>
                                        <p:attrNameLst>
                                          <p:attrName>ppt_h</p:attrName>
                                        </p:attrNameLst>
                                      </p:cBhvr>
                                      <p:tavLst>
                                        <p:tav tm="0">
                                          <p:val>
                                            <p:strVal val="#ppt_h"/>
                                          </p:val>
                                        </p:tav>
                                        <p:tav tm="100000">
                                          <p:val>
                                            <p:strVal val="#ppt_h"/>
                                          </p:val>
                                        </p:tav>
                                      </p:tavLst>
                                    </p:anim>
                                    <p:animEffect transition="in" filter="fade">
                                      <p:cBhvr>
                                        <p:cTn id="37" dur="1000"/>
                                        <p:tgtEl>
                                          <p:spTgt spid="543747">
                                            <p:bg/>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543747">
                                            <p:txEl>
                                              <p:pRg st="0" end="0"/>
                                            </p:txEl>
                                          </p:spTgt>
                                        </p:tgtEl>
                                        <p:attrNameLst>
                                          <p:attrName>style.visibility</p:attrName>
                                        </p:attrNameLst>
                                      </p:cBhvr>
                                      <p:to>
                                        <p:strVal val="visible"/>
                                      </p:to>
                                    </p:set>
                                    <p:anim calcmode="lin" valueType="num">
                                      <p:cBhvr>
                                        <p:cTn id="42" dur="1000" fill="hold"/>
                                        <p:tgtEl>
                                          <p:spTgt spid="543747">
                                            <p:txEl>
                                              <p:pRg st="0" end="0"/>
                                            </p:txEl>
                                          </p:spTgt>
                                        </p:tgtEl>
                                        <p:attrNameLst>
                                          <p:attrName>ppt_w</p:attrName>
                                        </p:attrNameLst>
                                      </p:cBhvr>
                                      <p:tavLst>
                                        <p:tav tm="0">
                                          <p:val>
                                            <p:strVal val="#ppt_w*0.70"/>
                                          </p:val>
                                        </p:tav>
                                        <p:tav tm="100000">
                                          <p:val>
                                            <p:strVal val="#ppt_w"/>
                                          </p:val>
                                        </p:tav>
                                      </p:tavLst>
                                    </p:anim>
                                    <p:anim calcmode="lin" valueType="num">
                                      <p:cBhvr>
                                        <p:cTn id="43" dur="1000" fill="hold"/>
                                        <p:tgtEl>
                                          <p:spTgt spid="543747">
                                            <p:txEl>
                                              <p:pRg st="0" end="0"/>
                                            </p:txEl>
                                          </p:spTgt>
                                        </p:tgtEl>
                                        <p:attrNameLst>
                                          <p:attrName>ppt_h</p:attrName>
                                        </p:attrNameLst>
                                      </p:cBhvr>
                                      <p:tavLst>
                                        <p:tav tm="0">
                                          <p:val>
                                            <p:strVal val="#ppt_h"/>
                                          </p:val>
                                        </p:tav>
                                        <p:tav tm="100000">
                                          <p:val>
                                            <p:strVal val="#ppt_h"/>
                                          </p:val>
                                        </p:tav>
                                      </p:tavLst>
                                    </p:anim>
                                    <p:animEffect transition="in" filter="fade">
                                      <p:cBhvr>
                                        <p:cTn id="44" dur="1000"/>
                                        <p:tgtEl>
                                          <p:spTgt spid="543747">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grpId="0" nodeType="clickEffect">
                                  <p:stCondLst>
                                    <p:cond delay="0"/>
                                  </p:stCondLst>
                                  <p:childTnLst>
                                    <p:set>
                                      <p:cBhvr>
                                        <p:cTn id="48" dur="1" fill="hold">
                                          <p:stCondLst>
                                            <p:cond delay="0"/>
                                          </p:stCondLst>
                                        </p:cTn>
                                        <p:tgtEl>
                                          <p:spTgt spid="543747">
                                            <p:txEl>
                                              <p:pRg st="1" end="1"/>
                                            </p:txEl>
                                          </p:spTgt>
                                        </p:tgtEl>
                                        <p:attrNameLst>
                                          <p:attrName>style.visibility</p:attrName>
                                        </p:attrNameLst>
                                      </p:cBhvr>
                                      <p:to>
                                        <p:strVal val="visible"/>
                                      </p:to>
                                    </p:set>
                                    <p:anim calcmode="lin" valueType="num">
                                      <p:cBhvr>
                                        <p:cTn id="49" dur="1000" fill="hold"/>
                                        <p:tgtEl>
                                          <p:spTgt spid="543747">
                                            <p:txEl>
                                              <p:pRg st="1" end="1"/>
                                            </p:txEl>
                                          </p:spTgt>
                                        </p:tgtEl>
                                        <p:attrNameLst>
                                          <p:attrName>ppt_w</p:attrName>
                                        </p:attrNameLst>
                                      </p:cBhvr>
                                      <p:tavLst>
                                        <p:tav tm="0">
                                          <p:val>
                                            <p:strVal val="#ppt_w*0.70"/>
                                          </p:val>
                                        </p:tav>
                                        <p:tav tm="100000">
                                          <p:val>
                                            <p:strVal val="#ppt_w"/>
                                          </p:val>
                                        </p:tav>
                                      </p:tavLst>
                                    </p:anim>
                                    <p:anim calcmode="lin" valueType="num">
                                      <p:cBhvr>
                                        <p:cTn id="50" dur="1000" fill="hold"/>
                                        <p:tgtEl>
                                          <p:spTgt spid="543747">
                                            <p:txEl>
                                              <p:pRg st="1" end="1"/>
                                            </p:txEl>
                                          </p:spTgt>
                                        </p:tgtEl>
                                        <p:attrNameLst>
                                          <p:attrName>ppt_h</p:attrName>
                                        </p:attrNameLst>
                                      </p:cBhvr>
                                      <p:tavLst>
                                        <p:tav tm="0">
                                          <p:val>
                                            <p:strVal val="#ppt_h"/>
                                          </p:val>
                                        </p:tav>
                                        <p:tav tm="100000">
                                          <p:val>
                                            <p:strVal val="#ppt_h"/>
                                          </p:val>
                                        </p:tav>
                                      </p:tavLst>
                                    </p:anim>
                                    <p:animEffect transition="in" filter="fade">
                                      <p:cBhvr>
                                        <p:cTn id="51" dur="1000"/>
                                        <p:tgtEl>
                                          <p:spTgt spid="543747">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5" presetClass="entr" presetSubtype="0" fill="hold" grpId="0" nodeType="clickEffect">
                                  <p:stCondLst>
                                    <p:cond delay="0"/>
                                  </p:stCondLst>
                                  <p:childTnLst>
                                    <p:set>
                                      <p:cBhvr>
                                        <p:cTn id="55" dur="1" fill="hold">
                                          <p:stCondLst>
                                            <p:cond delay="0"/>
                                          </p:stCondLst>
                                        </p:cTn>
                                        <p:tgtEl>
                                          <p:spTgt spid="543747">
                                            <p:txEl>
                                              <p:pRg st="2" end="2"/>
                                            </p:txEl>
                                          </p:spTgt>
                                        </p:tgtEl>
                                        <p:attrNameLst>
                                          <p:attrName>style.visibility</p:attrName>
                                        </p:attrNameLst>
                                      </p:cBhvr>
                                      <p:to>
                                        <p:strVal val="visible"/>
                                      </p:to>
                                    </p:set>
                                    <p:anim calcmode="lin" valueType="num">
                                      <p:cBhvr>
                                        <p:cTn id="56" dur="1000" fill="hold"/>
                                        <p:tgtEl>
                                          <p:spTgt spid="543747">
                                            <p:txEl>
                                              <p:pRg st="2" end="2"/>
                                            </p:txEl>
                                          </p:spTgt>
                                        </p:tgtEl>
                                        <p:attrNameLst>
                                          <p:attrName>ppt_w</p:attrName>
                                        </p:attrNameLst>
                                      </p:cBhvr>
                                      <p:tavLst>
                                        <p:tav tm="0">
                                          <p:val>
                                            <p:strVal val="#ppt_w*0.70"/>
                                          </p:val>
                                        </p:tav>
                                        <p:tav tm="100000">
                                          <p:val>
                                            <p:strVal val="#ppt_w"/>
                                          </p:val>
                                        </p:tav>
                                      </p:tavLst>
                                    </p:anim>
                                    <p:anim calcmode="lin" valueType="num">
                                      <p:cBhvr>
                                        <p:cTn id="57" dur="1000" fill="hold"/>
                                        <p:tgtEl>
                                          <p:spTgt spid="543747">
                                            <p:txEl>
                                              <p:pRg st="2" end="2"/>
                                            </p:txEl>
                                          </p:spTgt>
                                        </p:tgtEl>
                                        <p:attrNameLst>
                                          <p:attrName>ppt_h</p:attrName>
                                        </p:attrNameLst>
                                      </p:cBhvr>
                                      <p:tavLst>
                                        <p:tav tm="0">
                                          <p:val>
                                            <p:strVal val="#ppt_h"/>
                                          </p:val>
                                        </p:tav>
                                        <p:tav tm="100000">
                                          <p:val>
                                            <p:strVal val="#ppt_h"/>
                                          </p:val>
                                        </p:tav>
                                      </p:tavLst>
                                    </p:anim>
                                    <p:animEffect transition="in" filter="fade">
                                      <p:cBhvr>
                                        <p:cTn id="58" dur="1000"/>
                                        <p:tgtEl>
                                          <p:spTgt spid="543747">
                                            <p:txEl>
                                              <p:pRg st="2" end="2"/>
                                            </p:txEl>
                                          </p:spTgt>
                                        </p:tgtEl>
                                      </p:cBhvr>
                                    </p:animEffect>
                                  </p:childTnLst>
                                </p:cTn>
                              </p:par>
                            </p:childTnLst>
                          </p:cTn>
                        </p:par>
                        <p:par>
                          <p:cTn id="59" fill="hold">
                            <p:stCondLst>
                              <p:cond delay="1000"/>
                            </p:stCondLst>
                            <p:childTnLst>
                              <p:par>
                                <p:cTn id="60" presetID="55" presetClass="entr" presetSubtype="0" fill="hold" grpId="0" nodeType="afterEffect">
                                  <p:stCondLst>
                                    <p:cond delay="0"/>
                                  </p:stCondLst>
                                  <p:childTnLst>
                                    <p:set>
                                      <p:cBhvr>
                                        <p:cTn id="61" dur="1" fill="hold">
                                          <p:stCondLst>
                                            <p:cond delay="0"/>
                                          </p:stCondLst>
                                        </p:cTn>
                                        <p:tgtEl>
                                          <p:spTgt spid="543747">
                                            <p:txEl>
                                              <p:pRg st="3" end="3"/>
                                            </p:txEl>
                                          </p:spTgt>
                                        </p:tgtEl>
                                        <p:attrNameLst>
                                          <p:attrName>style.visibility</p:attrName>
                                        </p:attrNameLst>
                                      </p:cBhvr>
                                      <p:to>
                                        <p:strVal val="visible"/>
                                      </p:to>
                                    </p:set>
                                    <p:anim calcmode="lin" valueType="num">
                                      <p:cBhvr>
                                        <p:cTn id="62" dur="1000" fill="hold"/>
                                        <p:tgtEl>
                                          <p:spTgt spid="543747">
                                            <p:txEl>
                                              <p:pRg st="3" end="3"/>
                                            </p:txEl>
                                          </p:spTgt>
                                        </p:tgtEl>
                                        <p:attrNameLst>
                                          <p:attrName>ppt_w</p:attrName>
                                        </p:attrNameLst>
                                      </p:cBhvr>
                                      <p:tavLst>
                                        <p:tav tm="0">
                                          <p:val>
                                            <p:strVal val="#ppt_w*0.70"/>
                                          </p:val>
                                        </p:tav>
                                        <p:tav tm="100000">
                                          <p:val>
                                            <p:strVal val="#ppt_w"/>
                                          </p:val>
                                        </p:tav>
                                      </p:tavLst>
                                    </p:anim>
                                    <p:anim calcmode="lin" valueType="num">
                                      <p:cBhvr>
                                        <p:cTn id="63" dur="1000" fill="hold"/>
                                        <p:tgtEl>
                                          <p:spTgt spid="543747">
                                            <p:txEl>
                                              <p:pRg st="3" end="3"/>
                                            </p:txEl>
                                          </p:spTgt>
                                        </p:tgtEl>
                                        <p:attrNameLst>
                                          <p:attrName>ppt_h</p:attrName>
                                        </p:attrNameLst>
                                      </p:cBhvr>
                                      <p:tavLst>
                                        <p:tav tm="0">
                                          <p:val>
                                            <p:strVal val="#ppt_h"/>
                                          </p:val>
                                        </p:tav>
                                        <p:tav tm="100000">
                                          <p:val>
                                            <p:strVal val="#ppt_h"/>
                                          </p:val>
                                        </p:tav>
                                      </p:tavLst>
                                    </p:anim>
                                    <p:animEffect transition="in" filter="fade">
                                      <p:cBhvr>
                                        <p:cTn id="64" dur="1000"/>
                                        <p:tgtEl>
                                          <p:spTgt spid="543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7" grpId="0" build="p"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8"/>
          <p:cNvSpPr>
            <a:spLocks noGrp="1"/>
          </p:cNvSpPr>
          <p:nvPr>
            <p:ph type="dt" sz="quarter" idx="10"/>
          </p:nvPr>
        </p:nvSpPr>
        <p:spPr/>
        <p:txBody>
          <a:bodyPr/>
          <a:lstStyle/>
          <a:p>
            <a:pPr>
              <a:defRPr/>
            </a:pPr>
            <a:fld id="{AE8F0425-27F3-4B9C-8FF4-5B8C8F374DF4}" type="datetime1">
              <a:rPr lang="zh-CN" altLang="en-US"/>
              <a:t>2026/4/28</a:t>
            </a:fld>
            <a:endParaRPr lang="zh-CN" altLang="en-US" dirty="0"/>
          </a:p>
        </p:txBody>
      </p:sp>
      <p:sp>
        <p:nvSpPr>
          <p:cNvPr id="544770" name="Rectangle 2"/>
          <p:cNvSpPr>
            <a:spLocks noGrp="1" noChangeArrowheads="1"/>
          </p:cNvSpPr>
          <p:nvPr>
            <p:ph type="body" sz="half" idx="1"/>
          </p:nvPr>
        </p:nvSpPr>
        <p:spPr>
          <a:xfrm>
            <a:off x="827088" y="0"/>
            <a:ext cx="4968875" cy="1903413"/>
          </a:xfrm>
          <a:solidFill>
            <a:schemeClr val="bg1"/>
          </a:solidFill>
          <a:ln>
            <a:solidFill>
              <a:schemeClr val="folHlink"/>
            </a:solidFill>
            <a:miter lim="800000"/>
          </a:ln>
          <a:effectLst>
            <a:outerShdw dist="35921" dir="2700000" algn="ctr" rotWithShape="0">
              <a:schemeClr val="bg2"/>
            </a:outerShdw>
          </a:effectLst>
        </p:spPr>
        <p:txBody>
          <a:bodyPr/>
          <a:lstStyle/>
          <a:p>
            <a:pPr marL="0" indent="0">
              <a:lnSpc>
                <a:spcPct val="125000"/>
              </a:lnSpc>
              <a:spcBef>
                <a:spcPct val="5000"/>
              </a:spcBef>
              <a:buFontTx/>
              <a:buNone/>
            </a:pPr>
            <a:r>
              <a:rPr lang="en-US" altLang="zh-CN" sz="2400" b="1"/>
              <a:t>    G(ω)</a:t>
            </a:r>
            <a:r>
              <a:rPr lang="zh-CN" altLang="en-US" sz="2400" b="1"/>
              <a:t>、</a:t>
            </a:r>
            <a:r>
              <a:rPr lang="en-US" altLang="zh-CN" sz="2400" b="1"/>
              <a:t>φ(ω)</a:t>
            </a:r>
            <a:r>
              <a:rPr lang="zh-CN" altLang="en-US" sz="2400" b="1"/>
              <a:t>随</a:t>
            </a:r>
            <a:r>
              <a:rPr lang="en-US" altLang="zh-CN" sz="2400" b="1"/>
              <a:t>ω</a:t>
            </a:r>
            <a:r>
              <a:rPr lang="zh-CN" altLang="en-US" sz="2400" b="1"/>
              <a:t>变化曲线称为</a:t>
            </a:r>
            <a:r>
              <a:rPr lang="zh-CN" altLang="en-US" sz="2400" b="1">
                <a:solidFill>
                  <a:srgbClr val="FF0000"/>
                </a:solidFill>
              </a:rPr>
              <a:t>对数频率特性</a:t>
            </a:r>
            <a:r>
              <a:rPr lang="zh-CN" altLang="en-US" sz="2400" b="1"/>
              <a:t>。通常对数频率特性的自变量轴也以对数即以</a:t>
            </a:r>
            <a:r>
              <a:rPr lang="en-US" altLang="zh-CN" sz="2400" b="1"/>
              <a:t>lgω</a:t>
            </a:r>
            <a:r>
              <a:rPr lang="zh-CN" altLang="en-US" sz="2400" b="1"/>
              <a:t>为刻度。</a:t>
            </a:r>
          </a:p>
        </p:txBody>
      </p:sp>
      <p:graphicFrame>
        <p:nvGraphicFramePr>
          <p:cNvPr id="544771" name="Object 2"/>
          <p:cNvGraphicFramePr>
            <a:graphicFrameLocks noGrp="1" noChangeAspect="1"/>
          </p:cNvGraphicFramePr>
          <p:nvPr>
            <p:ph sz="half" idx="2"/>
          </p:nvPr>
        </p:nvGraphicFramePr>
        <p:xfrm>
          <a:off x="1331913" y="2060575"/>
          <a:ext cx="7138987" cy="860425"/>
        </p:xfrm>
        <a:graphic>
          <a:graphicData uri="http://schemas.openxmlformats.org/presentationml/2006/ole">
            <mc:AlternateContent xmlns:mc="http://schemas.openxmlformats.org/markup-compatibility/2006">
              <mc:Choice xmlns:v="urn:schemas-microsoft-com:vml" Requires="v">
                <p:oleObj name="公式" r:id="rId3" imgW="3581400" imgH="431800" progId="Equation.3">
                  <p:embed/>
                </p:oleObj>
              </mc:Choice>
              <mc:Fallback>
                <p:oleObj name="公式" r:id="rId3" imgW="3581400" imgH="431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2060575"/>
                        <a:ext cx="7138987"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4772" name="Object 3"/>
          <p:cNvGraphicFramePr>
            <a:graphicFrameLocks noChangeAspect="1"/>
          </p:cNvGraphicFramePr>
          <p:nvPr/>
        </p:nvGraphicFramePr>
        <p:xfrm>
          <a:off x="1187450" y="3644900"/>
          <a:ext cx="6696075" cy="930275"/>
        </p:xfrm>
        <a:graphic>
          <a:graphicData uri="http://schemas.openxmlformats.org/presentationml/2006/ole">
            <mc:AlternateContent xmlns:mc="http://schemas.openxmlformats.org/markup-compatibility/2006">
              <mc:Choice xmlns:v="urn:schemas-microsoft-com:vml" Requires="v">
                <p:oleObj name="公式" r:id="rId5" imgW="3289300" imgH="457200" progId="Equation.3">
                  <p:embed/>
                </p:oleObj>
              </mc:Choice>
              <mc:Fallback>
                <p:oleObj name="公式" r:id="rId5" imgW="3289300" imgH="457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3644900"/>
                        <a:ext cx="6696075" cy="93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4773" name="Object 4"/>
          <p:cNvGraphicFramePr>
            <a:graphicFrameLocks noChangeAspect="1"/>
          </p:cNvGraphicFramePr>
          <p:nvPr/>
        </p:nvGraphicFramePr>
        <p:xfrm>
          <a:off x="1763713" y="3068638"/>
          <a:ext cx="4257675" cy="576262"/>
        </p:xfrm>
        <a:graphic>
          <a:graphicData uri="http://schemas.openxmlformats.org/presentationml/2006/ole">
            <mc:AlternateContent xmlns:mc="http://schemas.openxmlformats.org/markup-compatibility/2006">
              <mc:Choice xmlns:v="urn:schemas-microsoft-com:vml" Requires="v">
                <p:oleObj name="公式" r:id="rId7" imgW="1879600" imgH="254000" progId="Equation.3">
                  <p:embed/>
                </p:oleObj>
              </mc:Choice>
              <mc:Fallback>
                <p:oleObj name="公式" r:id="rId7" imgW="1879600" imgH="254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3068638"/>
                        <a:ext cx="425767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4774" name="Object 5"/>
          <p:cNvGraphicFramePr>
            <a:graphicFrameLocks noChangeAspect="1"/>
          </p:cNvGraphicFramePr>
          <p:nvPr/>
        </p:nvGraphicFramePr>
        <p:xfrm>
          <a:off x="1689100" y="4437063"/>
          <a:ext cx="2520950" cy="850900"/>
        </p:xfrm>
        <a:graphic>
          <a:graphicData uri="http://schemas.openxmlformats.org/presentationml/2006/ole">
            <mc:AlternateContent xmlns:mc="http://schemas.openxmlformats.org/markup-compatibility/2006">
              <mc:Choice xmlns:v="urn:schemas-microsoft-com:vml" Requires="v">
                <p:oleObj name="公式" r:id="rId9" imgW="1282700" imgH="431800" progId="Equation.3">
                  <p:embed/>
                </p:oleObj>
              </mc:Choice>
              <mc:Fallback>
                <p:oleObj name="公式" r:id="rId9" imgW="1282700" imgH="4318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89100" y="4437063"/>
                        <a:ext cx="252095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4775" name="Rectangle 7"/>
          <p:cNvSpPr>
            <a:spLocks noChangeArrowheads="1"/>
          </p:cNvSpPr>
          <p:nvPr/>
        </p:nvSpPr>
        <p:spPr bwMode="auto">
          <a:xfrm>
            <a:off x="620713" y="5300663"/>
            <a:ext cx="8523287" cy="1557337"/>
          </a:xfrm>
          <a:prstGeom prst="rect">
            <a:avLst/>
          </a:prstGeom>
          <a:solidFill>
            <a:schemeClr val="bg1"/>
          </a:solidFill>
          <a:ln w="28575">
            <a:solidFill>
              <a:srgbClr val="008000"/>
            </a:solidFill>
            <a:miter lim="800000"/>
          </a:ln>
          <a:effectLst>
            <a:outerShdw dist="35921" dir="2700000" algn="ctr" rotWithShape="0">
              <a:schemeClr val="bg2"/>
            </a:outerShdw>
          </a:effec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r>
              <a:rPr lang="zh-CN" altLang="en-US">
                <a:solidFill>
                  <a:srgbClr val="FF0000"/>
                </a:solidFill>
                <a:latin typeface="华文中宋" panose="02010600040101010101" pitchFamily="2" charset="-122"/>
              </a:rPr>
              <a:t>可见</a:t>
            </a:r>
            <a:r>
              <a:rPr lang="zh-CN" altLang="en-US">
                <a:latin typeface="华文中宋" panose="02010600040101010101" pitchFamily="2" charset="-122"/>
              </a:rPr>
              <a:t>只要知道上式中各个因子的频特曲线，就可用叠加方法得总的频特图。所以我们只要研究一、二阶因子的频特曲线即可。</a:t>
            </a:r>
          </a:p>
        </p:txBody>
      </p:sp>
      <p:graphicFrame>
        <p:nvGraphicFramePr>
          <p:cNvPr id="544780" name="Object 6"/>
          <p:cNvGraphicFramePr>
            <a:graphicFrameLocks noChangeAspect="1"/>
          </p:cNvGraphicFramePr>
          <p:nvPr/>
        </p:nvGraphicFramePr>
        <p:xfrm>
          <a:off x="6011863" y="188913"/>
          <a:ext cx="2505075" cy="1668462"/>
        </p:xfrm>
        <a:graphic>
          <a:graphicData uri="http://schemas.openxmlformats.org/presentationml/2006/ole">
            <mc:AlternateContent xmlns:mc="http://schemas.openxmlformats.org/markup-compatibility/2006">
              <mc:Choice xmlns:v="urn:schemas-microsoft-com:vml" Requires="v">
                <p:oleObj name="公式" r:id="rId11" imgW="1257300" imgH="838200" progId="Equation.3">
                  <p:embed/>
                </p:oleObj>
              </mc:Choice>
              <mc:Fallback>
                <p:oleObj name="公式" r:id="rId11" imgW="1257300" imgH="8382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11863" y="188913"/>
                        <a:ext cx="2505075" cy="1668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墨迹 1"/>
          <p:cNvSpPr/>
          <p:nvPr/>
        </p:nvSpPr>
        <p:spPr bwMode="auto">
          <a:xfrm>
            <a:off x="942480" y="471600"/>
            <a:ext cx="7531560" cy="59094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9679"/>
    </mc:Choice>
    <mc:Fallback xmlns="">
      <p:transition spd="slow" advTm="1296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544770">
                                            <p:bg/>
                                          </p:spTgt>
                                        </p:tgtEl>
                                        <p:attrNameLst>
                                          <p:attrName>style.visibility</p:attrName>
                                        </p:attrNameLst>
                                      </p:cBhvr>
                                      <p:to>
                                        <p:strVal val="visible"/>
                                      </p:to>
                                    </p:set>
                                    <p:anim calcmode="lin" valueType="num">
                                      <p:cBhvr>
                                        <p:cTn id="11" dur="1000" fill="hold"/>
                                        <p:tgtEl>
                                          <p:spTgt spid="544770">
                                            <p:bg/>
                                          </p:spTgt>
                                        </p:tgtEl>
                                        <p:attrNameLst>
                                          <p:attrName>ppt_w</p:attrName>
                                        </p:attrNameLst>
                                      </p:cBhvr>
                                      <p:tavLst>
                                        <p:tav tm="0">
                                          <p:val>
                                            <p:strVal val="#ppt_w*0.70"/>
                                          </p:val>
                                        </p:tav>
                                        <p:tav tm="100000">
                                          <p:val>
                                            <p:strVal val="#ppt_w"/>
                                          </p:val>
                                        </p:tav>
                                      </p:tavLst>
                                    </p:anim>
                                    <p:anim calcmode="lin" valueType="num">
                                      <p:cBhvr>
                                        <p:cTn id="12" dur="1000" fill="hold"/>
                                        <p:tgtEl>
                                          <p:spTgt spid="544770">
                                            <p:bg/>
                                          </p:spTgt>
                                        </p:tgtEl>
                                        <p:attrNameLst>
                                          <p:attrName>ppt_h</p:attrName>
                                        </p:attrNameLst>
                                      </p:cBhvr>
                                      <p:tavLst>
                                        <p:tav tm="0">
                                          <p:val>
                                            <p:strVal val="#ppt_h"/>
                                          </p:val>
                                        </p:tav>
                                        <p:tav tm="100000">
                                          <p:val>
                                            <p:strVal val="#ppt_h"/>
                                          </p:val>
                                        </p:tav>
                                      </p:tavLst>
                                    </p:anim>
                                    <p:animEffect transition="in" filter="fade">
                                      <p:cBhvr>
                                        <p:cTn id="13" dur="1000"/>
                                        <p:tgtEl>
                                          <p:spTgt spid="544770">
                                            <p:bg/>
                                          </p:spTgt>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544770">
                                            <p:txEl>
                                              <p:pRg st="0" end="0"/>
                                            </p:txEl>
                                          </p:spTgt>
                                        </p:tgtEl>
                                        <p:attrNameLst>
                                          <p:attrName>style.visibility</p:attrName>
                                        </p:attrNameLst>
                                      </p:cBhvr>
                                      <p:to>
                                        <p:strVal val="visible"/>
                                      </p:to>
                                    </p:set>
                                    <p:anim calcmode="lin" valueType="num">
                                      <p:cBhvr>
                                        <p:cTn id="17" dur="1000" fill="hold"/>
                                        <p:tgtEl>
                                          <p:spTgt spid="544770">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44770">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44770">
                                            <p:txEl>
                                              <p:pRg st="0" end="0"/>
                                            </p:txEl>
                                          </p:spTgt>
                                        </p:tgtEl>
                                      </p:cBhvr>
                                    </p:animEffect>
                                  </p:childTnLst>
                                </p:cTn>
                              </p:par>
                            </p:childTnLst>
                          </p:cTn>
                        </p:par>
                        <p:par>
                          <p:cTn id="20" fill="hold">
                            <p:stCondLst>
                              <p:cond delay="2000"/>
                            </p:stCondLst>
                            <p:childTnLst>
                              <p:par>
                                <p:cTn id="21" presetID="55" presetClass="entr" presetSubtype="0" fill="hold" nodeType="afterEffect">
                                  <p:stCondLst>
                                    <p:cond delay="0"/>
                                  </p:stCondLst>
                                  <p:childTnLst>
                                    <p:set>
                                      <p:cBhvr>
                                        <p:cTn id="22" dur="1" fill="hold">
                                          <p:stCondLst>
                                            <p:cond delay="0"/>
                                          </p:stCondLst>
                                        </p:cTn>
                                        <p:tgtEl>
                                          <p:spTgt spid="544780"/>
                                        </p:tgtEl>
                                        <p:attrNameLst>
                                          <p:attrName>style.visibility</p:attrName>
                                        </p:attrNameLst>
                                      </p:cBhvr>
                                      <p:to>
                                        <p:strVal val="visible"/>
                                      </p:to>
                                    </p:set>
                                    <p:anim calcmode="lin" valueType="num">
                                      <p:cBhvr>
                                        <p:cTn id="23" dur="1000" fill="hold"/>
                                        <p:tgtEl>
                                          <p:spTgt spid="544780"/>
                                        </p:tgtEl>
                                        <p:attrNameLst>
                                          <p:attrName>ppt_w</p:attrName>
                                        </p:attrNameLst>
                                      </p:cBhvr>
                                      <p:tavLst>
                                        <p:tav tm="0">
                                          <p:val>
                                            <p:strVal val="#ppt_w*0.70"/>
                                          </p:val>
                                        </p:tav>
                                        <p:tav tm="100000">
                                          <p:val>
                                            <p:strVal val="#ppt_w"/>
                                          </p:val>
                                        </p:tav>
                                      </p:tavLst>
                                    </p:anim>
                                    <p:anim calcmode="lin" valueType="num">
                                      <p:cBhvr>
                                        <p:cTn id="24" dur="1000" fill="hold"/>
                                        <p:tgtEl>
                                          <p:spTgt spid="544780"/>
                                        </p:tgtEl>
                                        <p:attrNameLst>
                                          <p:attrName>ppt_h</p:attrName>
                                        </p:attrNameLst>
                                      </p:cBhvr>
                                      <p:tavLst>
                                        <p:tav tm="0">
                                          <p:val>
                                            <p:strVal val="#ppt_h"/>
                                          </p:val>
                                        </p:tav>
                                        <p:tav tm="100000">
                                          <p:val>
                                            <p:strVal val="#ppt_h"/>
                                          </p:val>
                                        </p:tav>
                                      </p:tavLst>
                                    </p:anim>
                                    <p:animEffect transition="in" filter="fade">
                                      <p:cBhvr>
                                        <p:cTn id="25" dur="1000"/>
                                        <p:tgtEl>
                                          <p:spTgt spid="544780"/>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nodeType="clickEffect">
                                  <p:stCondLst>
                                    <p:cond delay="0"/>
                                  </p:stCondLst>
                                  <p:childTnLst>
                                    <p:set>
                                      <p:cBhvr>
                                        <p:cTn id="29" dur="1" fill="hold">
                                          <p:stCondLst>
                                            <p:cond delay="0"/>
                                          </p:stCondLst>
                                        </p:cTn>
                                        <p:tgtEl>
                                          <p:spTgt spid="544771"/>
                                        </p:tgtEl>
                                        <p:attrNameLst>
                                          <p:attrName>style.visibility</p:attrName>
                                        </p:attrNameLst>
                                      </p:cBhvr>
                                      <p:to>
                                        <p:strVal val="visible"/>
                                      </p:to>
                                    </p:set>
                                    <p:anim calcmode="lin" valueType="num">
                                      <p:cBhvr>
                                        <p:cTn id="30" dur="1000" fill="hold"/>
                                        <p:tgtEl>
                                          <p:spTgt spid="544771"/>
                                        </p:tgtEl>
                                        <p:attrNameLst>
                                          <p:attrName>ppt_w</p:attrName>
                                        </p:attrNameLst>
                                      </p:cBhvr>
                                      <p:tavLst>
                                        <p:tav tm="0">
                                          <p:val>
                                            <p:strVal val="#ppt_w*0.70"/>
                                          </p:val>
                                        </p:tav>
                                        <p:tav tm="100000">
                                          <p:val>
                                            <p:strVal val="#ppt_w"/>
                                          </p:val>
                                        </p:tav>
                                      </p:tavLst>
                                    </p:anim>
                                    <p:anim calcmode="lin" valueType="num">
                                      <p:cBhvr>
                                        <p:cTn id="31" dur="1000" fill="hold"/>
                                        <p:tgtEl>
                                          <p:spTgt spid="544771"/>
                                        </p:tgtEl>
                                        <p:attrNameLst>
                                          <p:attrName>ppt_h</p:attrName>
                                        </p:attrNameLst>
                                      </p:cBhvr>
                                      <p:tavLst>
                                        <p:tav tm="0">
                                          <p:val>
                                            <p:strVal val="#ppt_h"/>
                                          </p:val>
                                        </p:tav>
                                        <p:tav tm="100000">
                                          <p:val>
                                            <p:strVal val="#ppt_h"/>
                                          </p:val>
                                        </p:tav>
                                      </p:tavLst>
                                    </p:anim>
                                    <p:animEffect transition="in" filter="fade">
                                      <p:cBhvr>
                                        <p:cTn id="32" dur="1000"/>
                                        <p:tgtEl>
                                          <p:spTgt spid="544771"/>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544773"/>
                                        </p:tgtEl>
                                        <p:attrNameLst>
                                          <p:attrName>style.visibility</p:attrName>
                                        </p:attrNameLst>
                                      </p:cBhvr>
                                      <p:to>
                                        <p:strVal val="visible"/>
                                      </p:to>
                                    </p:set>
                                    <p:anim calcmode="lin" valueType="num">
                                      <p:cBhvr>
                                        <p:cTn id="37" dur="1000" fill="hold"/>
                                        <p:tgtEl>
                                          <p:spTgt spid="544773"/>
                                        </p:tgtEl>
                                        <p:attrNameLst>
                                          <p:attrName>ppt_w</p:attrName>
                                        </p:attrNameLst>
                                      </p:cBhvr>
                                      <p:tavLst>
                                        <p:tav tm="0">
                                          <p:val>
                                            <p:strVal val="#ppt_w*0.70"/>
                                          </p:val>
                                        </p:tav>
                                        <p:tav tm="100000">
                                          <p:val>
                                            <p:strVal val="#ppt_w"/>
                                          </p:val>
                                        </p:tav>
                                      </p:tavLst>
                                    </p:anim>
                                    <p:anim calcmode="lin" valueType="num">
                                      <p:cBhvr>
                                        <p:cTn id="38" dur="1000" fill="hold"/>
                                        <p:tgtEl>
                                          <p:spTgt spid="544773"/>
                                        </p:tgtEl>
                                        <p:attrNameLst>
                                          <p:attrName>ppt_h</p:attrName>
                                        </p:attrNameLst>
                                      </p:cBhvr>
                                      <p:tavLst>
                                        <p:tav tm="0">
                                          <p:val>
                                            <p:strVal val="#ppt_h"/>
                                          </p:val>
                                        </p:tav>
                                        <p:tav tm="100000">
                                          <p:val>
                                            <p:strVal val="#ppt_h"/>
                                          </p:val>
                                        </p:tav>
                                      </p:tavLst>
                                    </p:anim>
                                    <p:animEffect transition="in" filter="fade">
                                      <p:cBhvr>
                                        <p:cTn id="39" dur="1000"/>
                                        <p:tgtEl>
                                          <p:spTgt spid="544773"/>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544772"/>
                                        </p:tgtEl>
                                        <p:attrNameLst>
                                          <p:attrName>style.visibility</p:attrName>
                                        </p:attrNameLst>
                                      </p:cBhvr>
                                      <p:to>
                                        <p:strVal val="visible"/>
                                      </p:to>
                                    </p:set>
                                    <p:anim calcmode="lin" valueType="num">
                                      <p:cBhvr>
                                        <p:cTn id="44" dur="1000" fill="hold"/>
                                        <p:tgtEl>
                                          <p:spTgt spid="544772"/>
                                        </p:tgtEl>
                                        <p:attrNameLst>
                                          <p:attrName>ppt_w</p:attrName>
                                        </p:attrNameLst>
                                      </p:cBhvr>
                                      <p:tavLst>
                                        <p:tav tm="0">
                                          <p:val>
                                            <p:strVal val="#ppt_w*0.70"/>
                                          </p:val>
                                        </p:tav>
                                        <p:tav tm="100000">
                                          <p:val>
                                            <p:strVal val="#ppt_w"/>
                                          </p:val>
                                        </p:tav>
                                      </p:tavLst>
                                    </p:anim>
                                    <p:anim calcmode="lin" valueType="num">
                                      <p:cBhvr>
                                        <p:cTn id="45" dur="1000" fill="hold"/>
                                        <p:tgtEl>
                                          <p:spTgt spid="544772"/>
                                        </p:tgtEl>
                                        <p:attrNameLst>
                                          <p:attrName>ppt_h</p:attrName>
                                        </p:attrNameLst>
                                      </p:cBhvr>
                                      <p:tavLst>
                                        <p:tav tm="0">
                                          <p:val>
                                            <p:strVal val="#ppt_h"/>
                                          </p:val>
                                        </p:tav>
                                        <p:tav tm="100000">
                                          <p:val>
                                            <p:strVal val="#ppt_h"/>
                                          </p:val>
                                        </p:tav>
                                      </p:tavLst>
                                    </p:anim>
                                    <p:animEffect transition="in" filter="fade">
                                      <p:cBhvr>
                                        <p:cTn id="46" dur="1000"/>
                                        <p:tgtEl>
                                          <p:spTgt spid="544772"/>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nodeType="clickEffect">
                                  <p:stCondLst>
                                    <p:cond delay="0"/>
                                  </p:stCondLst>
                                  <p:childTnLst>
                                    <p:set>
                                      <p:cBhvr>
                                        <p:cTn id="50" dur="1" fill="hold">
                                          <p:stCondLst>
                                            <p:cond delay="0"/>
                                          </p:stCondLst>
                                        </p:cTn>
                                        <p:tgtEl>
                                          <p:spTgt spid="544774"/>
                                        </p:tgtEl>
                                        <p:attrNameLst>
                                          <p:attrName>style.visibility</p:attrName>
                                        </p:attrNameLst>
                                      </p:cBhvr>
                                      <p:to>
                                        <p:strVal val="visible"/>
                                      </p:to>
                                    </p:set>
                                    <p:anim calcmode="lin" valueType="num">
                                      <p:cBhvr>
                                        <p:cTn id="51" dur="1000" fill="hold"/>
                                        <p:tgtEl>
                                          <p:spTgt spid="544774"/>
                                        </p:tgtEl>
                                        <p:attrNameLst>
                                          <p:attrName>ppt_w</p:attrName>
                                        </p:attrNameLst>
                                      </p:cBhvr>
                                      <p:tavLst>
                                        <p:tav tm="0">
                                          <p:val>
                                            <p:strVal val="#ppt_w*0.70"/>
                                          </p:val>
                                        </p:tav>
                                        <p:tav tm="100000">
                                          <p:val>
                                            <p:strVal val="#ppt_w"/>
                                          </p:val>
                                        </p:tav>
                                      </p:tavLst>
                                    </p:anim>
                                    <p:anim calcmode="lin" valueType="num">
                                      <p:cBhvr>
                                        <p:cTn id="52" dur="1000" fill="hold"/>
                                        <p:tgtEl>
                                          <p:spTgt spid="544774"/>
                                        </p:tgtEl>
                                        <p:attrNameLst>
                                          <p:attrName>ppt_h</p:attrName>
                                        </p:attrNameLst>
                                      </p:cBhvr>
                                      <p:tavLst>
                                        <p:tav tm="0">
                                          <p:val>
                                            <p:strVal val="#ppt_h"/>
                                          </p:val>
                                        </p:tav>
                                        <p:tav tm="100000">
                                          <p:val>
                                            <p:strVal val="#ppt_h"/>
                                          </p:val>
                                        </p:tav>
                                      </p:tavLst>
                                    </p:anim>
                                    <p:animEffect transition="in" filter="fade">
                                      <p:cBhvr>
                                        <p:cTn id="53" dur="1000"/>
                                        <p:tgtEl>
                                          <p:spTgt spid="544774"/>
                                        </p:tgtEl>
                                      </p:cBhvr>
                                    </p:animEffect>
                                  </p:childTnLst>
                                </p:cTn>
                              </p:par>
                            </p:childTnLst>
                          </p:cTn>
                        </p:par>
                      </p:childTnLst>
                    </p:cTn>
                  </p:par>
                  <p:par>
                    <p:cTn id="54" fill="hold">
                      <p:stCondLst>
                        <p:cond delay="indefinite"/>
                      </p:stCondLst>
                      <p:childTnLst>
                        <p:par>
                          <p:cTn id="55" fill="hold">
                            <p:stCondLst>
                              <p:cond delay="0"/>
                            </p:stCondLst>
                            <p:childTnLst>
                              <p:par>
                                <p:cTn id="56" presetID="55" presetClass="entr" presetSubtype="0" fill="hold" grpId="0" nodeType="clickEffect">
                                  <p:stCondLst>
                                    <p:cond delay="0"/>
                                  </p:stCondLst>
                                  <p:childTnLst>
                                    <p:set>
                                      <p:cBhvr>
                                        <p:cTn id="57" dur="1" fill="hold">
                                          <p:stCondLst>
                                            <p:cond delay="0"/>
                                          </p:stCondLst>
                                        </p:cTn>
                                        <p:tgtEl>
                                          <p:spTgt spid="544775"/>
                                        </p:tgtEl>
                                        <p:attrNameLst>
                                          <p:attrName>style.visibility</p:attrName>
                                        </p:attrNameLst>
                                      </p:cBhvr>
                                      <p:to>
                                        <p:strVal val="visible"/>
                                      </p:to>
                                    </p:set>
                                    <p:anim calcmode="lin" valueType="num">
                                      <p:cBhvr>
                                        <p:cTn id="58" dur="1000" fill="hold"/>
                                        <p:tgtEl>
                                          <p:spTgt spid="544775"/>
                                        </p:tgtEl>
                                        <p:attrNameLst>
                                          <p:attrName>ppt_w</p:attrName>
                                        </p:attrNameLst>
                                      </p:cBhvr>
                                      <p:tavLst>
                                        <p:tav tm="0">
                                          <p:val>
                                            <p:strVal val="#ppt_w*0.70"/>
                                          </p:val>
                                        </p:tav>
                                        <p:tav tm="100000">
                                          <p:val>
                                            <p:strVal val="#ppt_w"/>
                                          </p:val>
                                        </p:tav>
                                      </p:tavLst>
                                    </p:anim>
                                    <p:anim calcmode="lin" valueType="num">
                                      <p:cBhvr>
                                        <p:cTn id="59" dur="1000" fill="hold"/>
                                        <p:tgtEl>
                                          <p:spTgt spid="544775"/>
                                        </p:tgtEl>
                                        <p:attrNameLst>
                                          <p:attrName>ppt_h</p:attrName>
                                        </p:attrNameLst>
                                      </p:cBhvr>
                                      <p:tavLst>
                                        <p:tav tm="0">
                                          <p:val>
                                            <p:strVal val="#ppt_h"/>
                                          </p:val>
                                        </p:tav>
                                        <p:tav tm="100000">
                                          <p:val>
                                            <p:strVal val="#ppt_h"/>
                                          </p:val>
                                        </p:tav>
                                      </p:tavLst>
                                    </p:anim>
                                    <p:animEffect transition="in" filter="fade">
                                      <p:cBhvr>
                                        <p:cTn id="60" dur="1000"/>
                                        <p:tgtEl>
                                          <p:spTgt spid="544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0" grpId="0" build="p" animBg="1"/>
      <p:bldP spid="54477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52438" y="0"/>
            <a:ext cx="4500562" cy="608013"/>
          </a:xfrm>
          <a:solidFill>
            <a:schemeClr val="accent2"/>
          </a:solidFill>
          <a:ln>
            <a:solidFill>
              <a:schemeClr val="folHlink"/>
            </a:solidFill>
            <a:miter lim="800000"/>
          </a:ln>
          <a:effectLst>
            <a:outerShdw dist="35921" dir="2700000" algn="ctr" rotWithShape="0">
              <a:schemeClr val="bg2"/>
            </a:outerShdw>
          </a:effectLst>
        </p:spPr>
        <p:txBody>
          <a:bodyPr/>
          <a:lstStyle/>
          <a:p>
            <a:r>
              <a:rPr lang="zh-CN" altLang="en-US" sz="2800" b="1">
                <a:solidFill>
                  <a:schemeClr val="bg1"/>
                </a:solidFill>
              </a:rPr>
              <a:t>二、一阶因子的频特曲线</a:t>
            </a:r>
          </a:p>
        </p:txBody>
      </p:sp>
      <p:sp>
        <p:nvSpPr>
          <p:cNvPr id="58371" name="Rectangle 3"/>
          <p:cNvSpPr>
            <a:spLocks noGrp="1" noChangeArrowheads="1"/>
          </p:cNvSpPr>
          <p:nvPr>
            <p:ph type="body" sz="half" idx="1"/>
          </p:nvPr>
        </p:nvSpPr>
        <p:spPr>
          <a:xfrm>
            <a:off x="711200" y="919163"/>
            <a:ext cx="4176713" cy="503237"/>
          </a:xfrm>
        </p:spPr>
        <p:txBody>
          <a:bodyPr/>
          <a:lstStyle/>
          <a:p>
            <a:pPr>
              <a:buFontTx/>
              <a:buNone/>
            </a:pPr>
            <a:r>
              <a:rPr lang="en-US" altLang="zh-CN" sz="2800" b="1">
                <a:solidFill>
                  <a:srgbClr val="FF0000"/>
                </a:solidFill>
              </a:rPr>
              <a:t>1</a:t>
            </a:r>
            <a:r>
              <a:rPr lang="zh-CN" altLang="en-US" sz="2800" b="1">
                <a:solidFill>
                  <a:srgbClr val="FF0000"/>
                </a:solidFill>
              </a:rPr>
              <a:t>、一阶因子的增益</a:t>
            </a:r>
            <a:r>
              <a:rPr lang="zh-CN" altLang="en-US" sz="2800" b="1"/>
              <a:t>     </a:t>
            </a:r>
          </a:p>
        </p:txBody>
      </p:sp>
      <p:graphicFrame>
        <p:nvGraphicFramePr>
          <p:cNvPr id="545796" name="Object 2"/>
          <p:cNvGraphicFramePr>
            <a:graphicFrameLocks noGrp="1" noChangeAspect="1"/>
          </p:cNvGraphicFramePr>
          <p:nvPr>
            <p:ph sz="half" idx="2"/>
          </p:nvPr>
        </p:nvGraphicFramePr>
        <p:xfrm>
          <a:off x="1055688" y="3121025"/>
          <a:ext cx="3024187" cy="598488"/>
        </p:xfrm>
        <a:graphic>
          <a:graphicData uri="http://schemas.openxmlformats.org/presentationml/2006/ole">
            <mc:AlternateContent xmlns:mc="http://schemas.openxmlformats.org/markup-compatibility/2006">
              <mc:Choice xmlns:v="urn:schemas-microsoft-com:vml" Requires="v">
                <p:oleObj name="公式" r:id="rId3" imgW="1282700" imgH="254000" progId="Equation.3">
                  <p:embed/>
                </p:oleObj>
              </mc:Choice>
              <mc:Fallback>
                <p:oleObj name="公式" r:id="rId3" imgW="1282700" imgH="254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688" y="3121025"/>
                        <a:ext cx="3024187" cy="598488"/>
                      </a:xfrm>
                      <a:prstGeom prst="rect">
                        <a:avLst/>
                      </a:prstGeom>
                      <a:solidFill>
                        <a:schemeClr val="bg1"/>
                      </a:solidFill>
                      <a:ln w="28575" cmpd="sng">
                        <a:solidFill>
                          <a:srgbClr val="008000"/>
                        </a:solidFill>
                        <a:miter lim="800000"/>
                        <a:headEnd/>
                        <a:tailEnd/>
                      </a:ln>
                      <a:effectLst>
                        <a:outerShdw dist="35921" dir="2700000" algn="ctr" rotWithShape="0">
                          <a:srgbClr val="808080"/>
                        </a:outerShdw>
                      </a:effectLst>
                    </p:spPr>
                  </p:pic>
                </p:oleObj>
              </mc:Fallback>
            </mc:AlternateContent>
          </a:graphicData>
        </a:graphic>
      </p:graphicFrame>
      <p:sp>
        <p:nvSpPr>
          <p:cNvPr id="545798" name="Rectangle 6"/>
          <p:cNvSpPr>
            <a:spLocks noChangeArrowheads="1"/>
          </p:cNvSpPr>
          <p:nvPr/>
        </p:nvSpPr>
        <p:spPr bwMode="auto">
          <a:xfrm>
            <a:off x="889000" y="2193925"/>
            <a:ext cx="7477125" cy="608013"/>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dirty="0">
                <a:solidFill>
                  <a:srgbClr val="0033CC"/>
                </a:solidFill>
                <a:effectLst>
                  <a:outerShdw blurRad="38100" dist="38100" dir="2700000" algn="tl">
                    <a:srgbClr val="C0C0C0"/>
                  </a:outerShdw>
                </a:effectLst>
                <a:latin typeface="楷体_GB2312" pitchFamily="49" charset="-122"/>
                <a:ea typeface="楷体_GB2312" pitchFamily="49" charset="-122"/>
              </a:rPr>
              <a:t>a</a:t>
            </a:r>
            <a:r>
              <a:rPr lang="zh-CN" altLang="en-US" dirty="0">
                <a:solidFill>
                  <a:srgbClr val="0033CC"/>
                </a:solidFill>
                <a:effectLst>
                  <a:outerShdw blurRad="38100" dist="38100" dir="2700000" algn="tl">
                    <a:srgbClr val="C0C0C0"/>
                  </a:outerShdw>
                </a:effectLst>
                <a:latin typeface="楷体_GB2312" pitchFamily="49" charset="-122"/>
                <a:ea typeface="楷体_GB2312" pitchFamily="49" charset="-122"/>
              </a:rPr>
              <a:t>、先考虑一阶零点的增益</a:t>
            </a:r>
            <a:r>
              <a:rPr lang="en-US" altLang="zh-CN" dirty="0">
                <a:solidFill>
                  <a:srgbClr val="0033CC"/>
                </a:solidFill>
                <a:effectLst>
                  <a:outerShdw blurRad="38100" dist="38100" dir="2700000" algn="tl">
                    <a:srgbClr val="C0C0C0"/>
                  </a:outerShdw>
                </a:effectLst>
                <a:latin typeface="楷体_GB2312" pitchFamily="49" charset="-122"/>
                <a:ea typeface="楷体_GB2312" pitchFamily="49" charset="-122"/>
              </a:rPr>
              <a:t>,</a:t>
            </a:r>
            <a:r>
              <a:rPr lang="zh-CN" altLang="en-US" dirty="0">
                <a:solidFill>
                  <a:srgbClr val="0033CC"/>
                </a:solidFill>
                <a:effectLst>
                  <a:outerShdw blurRad="38100" dist="38100" dir="2700000" algn="tl">
                    <a:srgbClr val="C0C0C0"/>
                  </a:outerShdw>
                </a:effectLst>
                <a:latin typeface="楷体_GB2312" pitchFamily="49" charset="-122"/>
                <a:ea typeface="楷体_GB2312" pitchFamily="49" charset="-122"/>
              </a:rPr>
              <a:t>设零点为实数</a:t>
            </a:r>
          </a:p>
        </p:txBody>
      </p:sp>
      <p:graphicFrame>
        <p:nvGraphicFramePr>
          <p:cNvPr id="545801" name="Object 3"/>
          <p:cNvGraphicFramePr>
            <a:graphicFrameLocks noChangeAspect="1"/>
          </p:cNvGraphicFramePr>
          <p:nvPr/>
        </p:nvGraphicFramePr>
        <p:xfrm>
          <a:off x="971550" y="1557338"/>
          <a:ext cx="5400675" cy="504825"/>
        </p:xfrm>
        <a:graphic>
          <a:graphicData uri="http://schemas.openxmlformats.org/presentationml/2006/ole">
            <mc:AlternateContent xmlns:mc="http://schemas.openxmlformats.org/markup-compatibility/2006">
              <mc:Choice xmlns:v="urn:schemas-microsoft-com:vml" Requires="v">
                <p:oleObj name="公式" r:id="rId5" imgW="2717800" imgH="254000" progId="Equation.3">
                  <p:embed/>
                </p:oleObj>
              </mc:Choice>
              <mc:Fallback>
                <p:oleObj name="公式" r:id="rId5" imgW="2717800" imgH="254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1557338"/>
                        <a:ext cx="5400675" cy="504825"/>
                      </a:xfrm>
                      <a:prstGeom prst="rect">
                        <a:avLst/>
                      </a:prstGeom>
                      <a:solidFill>
                        <a:schemeClr val="bg1"/>
                      </a:solidFill>
                      <a:ln w="28575">
                        <a:solidFill>
                          <a:srgbClr val="008000"/>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545802" name="Object 4"/>
          <p:cNvGraphicFramePr>
            <a:graphicFrameLocks noChangeAspect="1"/>
          </p:cNvGraphicFramePr>
          <p:nvPr/>
        </p:nvGraphicFramePr>
        <p:xfrm>
          <a:off x="1681163" y="3908425"/>
          <a:ext cx="4608512" cy="2279650"/>
        </p:xfrm>
        <a:graphic>
          <a:graphicData uri="http://schemas.openxmlformats.org/presentationml/2006/ole">
            <mc:AlternateContent xmlns:mc="http://schemas.openxmlformats.org/markup-compatibility/2006">
              <mc:Choice xmlns:v="urn:schemas-microsoft-com:vml" Requires="v">
                <p:oleObj name="公式" r:id="rId7" imgW="2209800" imgH="1092200" progId="Equation.3">
                  <p:embed/>
                </p:oleObj>
              </mc:Choice>
              <mc:Fallback>
                <p:oleObj name="公式" r:id="rId7" imgW="2209800" imgH="1092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1163" y="3908425"/>
                        <a:ext cx="4608512" cy="2279650"/>
                      </a:xfrm>
                      <a:prstGeom prst="rect">
                        <a:avLst/>
                      </a:prstGeom>
                      <a:solidFill>
                        <a:schemeClr val="bg1"/>
                      </a:solidFill>
                      <a:ln w="28575">
                        <a:solidFill>
                          <a:srgbClr val="008000"/>
                        </a:solidFill>
                        <a:miter lim="800000"/>
                        <a:headEnd/>
                        <a:tailEnd/>
                      </a:ln>
                      <a:effectLst>
                        <a:outerShdw dist="35921" dir="2700000" algn="ctr" rotWithShape="0">
                          <a:srgbClr val="808080"/>
                        </a:outerShdw>
                      </a:effectLst>
                    </p:spPr>
                  </p:pic>
                </p:oleObj>
              </mc:Fallback>
            </mc:AlternateContent>
          </a:graphicData>
        </a:graphic>
      </p:graphicFrame>
      <p:sp>
        <p:nvSpPr>
          <p:cNvPr id="8" name="日期占位符 7"/>
          <p:cNvSpPr>
            <a:spLocks noGrp="1"/>
          </p:cNvSpPr>
          <p:nvPr>
            <p:ph type="dt" sz="quarter" idx="10"/>
          </p:nvPr>
        </p:nvSpPr>
        <p:spPr/>
        <p:txBody>
          <a:bodyPr/>
          <a:lstStyle/>
          <a:p>
            <a:pPr>
              <a:defRPr/>
            </a:pPr>
            <a:fld id="{D6130911-713B-4BDE-8286-A236082FDC25}" type="datetime1">
              <a:rPr lang="zh-CN" altLang="en-US"/>
              <a:t>2026/4/28</a:t>
            </a:fld>
            <a:endParaRPr lang="zh-CN" altLang="en-US" dirty="0"/>
          </a:p>
        </p:txBody>
      </p:sp>
      <p:sp>
        <p:nvSpPr>
          <p:cNvPr id="2" name="墨迹 1"/>
          <p:cNvSpPr/>
          <p:nvPr/>
        </p:nvSpPr>
        <p:spPr bwMode="auto">
          <a:xfrm>
            <a:off x="1980000" y="563040"/>
            <a:ext cx="5306760" cy="53913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5039"/>
    </mc:Choice>
    <mc:Fallback xmlns="">
      <p:transition spd="slow" advTm="950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545801"/>
                                        </p:tgtEl>
                                        <p:attrNameLst>
                                          <p:attrName>style.visibility</p:attrName>
                                        </p:attrNameLst>
                                      </p:cBhvr>
                                      <p:to>
                                        <p:strVal val="visible"/>
                                      </p:to>
                                    </p:set>
                                    <p:anim calcmode="lin" valueType="num">
                                      <p:cBhvr>
                                        <p:cTn id="11" dur="1000" fill="hold"/>
                                        <p:tgtEl>
                                          <p:spTgt spid="545801"/>
                                        </p:tgtEl>
                                        <p:attrNameLst>
                                          <p:attrName>ppt_w</p:attrName>
                                        </p:attrNameLst>
                                      </p:cBhvr>
                                      <p:tavLst>
                                        <p:tav tm="0">
                                          <p:val>
                                            <p:strVal val="#ppt_w*0.70"/>
                                          </p:val>
                                        </p:tav>
                                        <p:tav tm="100000">
                                          <p:val>
                                            <p:strVal val="#ppt_w"/>
                                          </p:val>
                                        </p:tav>
                                      </p:tavLst>
                                    </p:anim>
                                    <p:anim calcmode="lin" valueType="num">
                                      <p:cBhvr>
                                        <p:cTn id="12" dur="1000" fill="hold"/>
                                        <p:tgtEl>
                                          <p:spTgt spid="545801"/>
                                        </p:tgtEl>
                                        <p:attrNameLst>
                                          <p:attrName>ppt_h</p:attrName>
                                        </p:attrNameLst>
                                      </p:cBhvr>
                                      <p:tavLst>
                                        <p:tav tm="0">
                                          <p:val>
                                            <p:strVal val="#ppt_h"/>
                                          </p:val>
                                        </p:tav>
                                        <p:tav tm="100000">
                                          <p:val>
                                            <p:strVal val="#ppt_h"/>
                                          </p:val>
                                        </p:tav>
                                      </p:tavLst>
                                    </p:anim>
                                    <p:animEffect transition="in" filter="fade">
                                      <p:cBhvr>
                                        <p:cTn id="13" dur="1000"/>
                                        <p:tgtEl>
                                          <p:spTgt spid="545801"/>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545798"/>
                                        </p:tgtEl>
                                        <p:attrNameLst>
                                          <p:attrName>style.visibility</p:attrName>
                                        </p:attrNameLst>
                                      </p:cBhvr>
                                      <p:to>
                                        <p:strVal val="visible"/>
                                      </p:to>
                                    </p:set>
                                    <p:anim calcmode="lin" valueType="num">
                                      <p:cBhvr>
                                        <p:cTn id="17" dur="1000" fill="hold"/>
                                        <p:tgtEl>
                                          <p:spTgt spid="545798"/>
                                        </p:tgtEl>
                                        <p:attrNameLst>
                                          <p:attrName>ppt_w</p:attrName>
                                        </p:attrNameLst>
                                      </p:cBhvr>
                                      <p:tavLst>
                                        <p:tav tm="0">
                                          <p:val>
                                            <p:strVal val="#ppt_w*0.70"/>
                                          </p:val>
                                        </p:tav>
                                        <p:tav tm="100000">
                                          <p:val>
                                            <p:strVal val="#ppt_w"/>
                                          </p:val>
                                        </p:tav>
                                      </p:tavLst>
                                    </p:anim>
                                    <p:anim calcmode="lin" valueType="num">
                                      <p:cBhvr>
                                        <p:cTn id="18" dur="1000" fill="hold"/>
                                        <p:tgtEl>
                                          <p:spTgt spid="545798"/>
                                        </p:tgtEl>
                                        <p:attrNameLst>
                                          <p:attrName>ppt_h</p:attrName>
                                        </p:attrNameLst>
                                      </p:cBhvr>
                                      <p:tavLst>
                                        <p:tav tm="0">
                                          <p:val>
                                            <p:strVal val="#ppt_h"/>
                                          </p:val>
                                        </p:tav>
                                        <p:tav tm="100000">
                                          <p:val>
                                            <p:strVal val="#ppt_h"/>
                                          </p:val>
                                        </p:tav>
                                      </p:tavLst>
                                    </p:anim>
                                    <p:animEffect transition="in" filter="fade">
                                      <p:cBhvr>
                                        <p:cTn id="19" dur="1000"/>
                                        <p:tgtEl>
                                          <p:spTgt spid="545798"/>
                                        </p:tgtEl>
                                      </p:cBhvr>
                                    </p:animEffect>
                                  </p:childTnLst>
                                </p:cTn>
                              </p:par>
                            </p:childTnLst>
                          </p:cTn>
                        </p:par>
                        <p:par>
                          <p:cTn id="20" fill="hold">
                            <p:stCondLst>
                              <p:cond delay="2000"/>
                            </p:stCondLst>
                            <p:childTnLst>
                              <p:par>
                                <p:cTn id="21" presetID="55" presetClass="entr" presetSubtype="0" fill="hold" nodeType="afterEffect">
                                  <p:stCondLst>
                                    <p:cond delay="0"/>
                                  </p:stCondLst>
                                  <p:childTnLst>
                                    <p:set>
                                      <p:cBhvr>
                                        <p:cTn id="22" dur="1" fill="hold">
                                          <p:stCondLst>
                                            <p:cond delay="0"/>
                                          </p:stCondLst>
                                        </p:cTn>
                                        <p:tgtEl>
                                          <p:spTgt spid="545796"/>
                                        </p:tgtEl>
                                        <p:attrNameLst>
                                          <p:attrName>style.visibility</p:attrName>
                                        </p:attrNameLst>
                                      </p:cBhvr>
                                      <p:to>
                                        <p:strVal val="visible"/>
                                      </p:to>
                                    </p:set>
                                    <p:anim calcmode="lin" valueType="num">
                                      <p:cBhvr>
                                        <p:cTn id="23" dur="1000" fill="hold"/>
                                        <p:tgtEl>
                                          <p:spTgt spid="545796"/>
                                        </p:tgtEl>
                                        <p:attrNameLst>
                                          <p:attrName>ppt_w</p:attrName>
                                        </p:attrNameLst>
                                      </p:cBhvr>
                                      <p:tavLst>
                                        <p:tav tm="0">
                                          <p:val>
                                            <p:strVal val="#ppt_w*0.70"/>
                                          </p:val>
                                        </p:tav>
                                        <p:tav tm="100000">
                                          <p:val>
                                            <p:strVal val="#ppt_w"/>
                                          </p:val>
                                        </p:tav>
                                      </p:tavLst>
                                    </p:anim>
                                    <p:anim calcmode="lin" valueType="num">
                                      <p:cBhvr>
                                        <p:cTn id="24" dur="1000" fill="hold"/>
                                        <p:tgtEl>
                                          <p:spTgt spid="545796"/>
                                        </p:tgtEl>
                                        <p:attrNameLst>
                                          <p:attrName>ppt_h</p:attrName>
                                        </p:attrNameLst>
                                      </p:cBhvr>
                                      <p:tavLst>
                                        <p:tav tm="0">
                                          <p:val>
                                            <p:strVal val="#ppt_h"/>
                                          </p:val>
                                        </p:tav>
                                        <p:tav tm="100000">
                                          <p:val>
                                            <p:strVal val="#ppt_h"/>
                                          </p:val>
                                        </p:tav>
                                      </p:tavLst>
                                    </p:anim>
                                    <p:animEffect transition="in" filter="fade">
                                      <p:cBhvr>
                                        <p:cTn id="25" dur="1000"/>
                                        <p:tgtEl>
                                          <p:spTgt spid="545796"/>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nodeType="clickEffect">
                                  <p:stCondLst>
                                    <p:cond delay="0"/>
                                  </p:stCondLst>
                                  <p:childTnLst>
                                    <p:set>
                                      <p:cBhvr>
                                        <p:cTn id="29" dur="1" fill="hold">
                                          <p:stCondLst>
                                            <p:cond delay="0"/>
                                          </p:stCondLst>
                                        </p:cTn>
                                        <p:tgtEl>
                                          <p:spTgt spid="545802"/>
                                        </p:tgtEl>
                                        <p:attrNameLst>
                                          <p:attrName>style.visibility</p:attrName>
                                        </p:attrNameLst>
                                      </p:cBhvr>
                                      <p:to>
                                        <p:strVal val="visible"/>
                                      </p:to>
                                    </p:set>
                                    <p:anim calcmode="lin" valueType="num">
                                      <p:cBhvr>
                                        <p:cTn id="30" dur="1000" fill="hold"/>
                                        <p:tgtEl>
                                          <p:spTgt spid="545802"/>
                                        </p:tgtEl>
                                        <p:attrNameLst>
                                          <p:attrName>ppt_w</p:attrName>
                                        </p:attrNameLst>
                                      </p:cBhvr>
                                      <p:tavLst>
                                        <p:tav tm="0">
                                          <p:val>
                                            <p:strVal val="#ppt_w*0.70"/>
                                          </p:val>
                                        </p:tav>
                                        <p:tav tm="100000">
                                          <p:val>
                                            <p:strVal val="#ppt_w"/>
                                          </p:val>
                                        </p:tav>
                                      </p:tavLst>
                                    </p:anim>
                                    <p:anim calcmode="lin" valueType="num">
                                      <p:cBhvr>
                                        <p:cTn id="31" dur="1000" fill="hold"/>
                                        <p:tgtEl>
                                          <p:spTgt spid="545802"/>
                                        </p:tgtEl>
                                        <p:attrNameLst>
                                          <p:attrName>ppt_h</p:attrName>
                                        </p:attrNameLst>
                                      </p:cBhvr>
                                      <p:tavLst>
                                        <p:tav tm="0">
                                          <p:val>
                                            <p:strVal val="#ppt_h"/>
                                          </p:val>
                                        </p:tav>
                                        <p:tav tm="100000">
                                          <p:val>
                                            <p:strVal val="#ppt_h"/>
                                          </p:val>
                                        </p:tav>
                                      </p:tavLst>
                                    </p:anim>
                                    <p:animEffect transition="in" filter="fade">
                                      <p:cBhvr>
                                        <p:cTn id="32" dur="1000"/>
                                        <p:tgtEl>
                                          <p:spTgt spid="545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p:nvPr/>
        </p:nvGrpSpPr>
        <p:grpSpPr bwMode="auto">
          <a:xfrm>
            <a:off x="2412048" y="4438333"/>
            <a:ext cx="4208462" cy="2403475"/>
            <a:chOff x="703" y="2523"/>
            <a:chExt cx="2651" cy="1514"/>
          </a:xfrm>
        </p:grpSpPr>
        <p:pic>
          <p:nvPicPr>
            <p:cNvPr id="59402"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2523"/>
              <a:ext cx="2631" cy="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9403" name="Object 8"/>
            <p:cNvGraphicFramePr>
              <a:graphicFrameLocks noChangeAspect="1"/>
            </p:cNvGraphicFramePr>
            <p:nvPr/>
          </p:nvGraphicFramePr>
          <p:xfrm>
            <a:off x="1565" y="2750"/>
            <a:ext cx="726" cy="155"/>
          </p:xfrm>
          <a:graphic>
            <a:graphicData uri="http://schemas.openxmlformats.org/presentationml/2006/ole">
              <mc:AlternateContent xmlns:mc="http://schemas.openxmlformats.org/markup-compatibility/2006">
                <mc:Choice xmlns:v="urn:schemas-microsoft-com:vml" Requires="v">
                  <p:oleObj name="公式" r:id="rId4" imgW="951865" imgH="203200" progId="Equation.3">
                    <p:embed/>
                  </p:oleObj>
                </mc:Choice>
                <mc:Fallback>
                  <p:oleObj name="公式" r:id="rId4" imgW="951865" imgH="2032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5" y="2750"/>
                          <a:ext cx="726" cy="15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04" name="Line 11"/>
            <p:cNvSpPr>
              <a:spLocks noChangeShapeType="1"/>
            </p:cNvSpPr>
            <p:nvPr/>
          </p:nvSpPr>
          <p:spPr bwMode="auto">
            <a:xfrm flipH="1" flipV="1">
              <a:off x="1837" y="2931"/>
              <a:ext cx="181" cy="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9405" name="Object 9"/>
            <p:cNvGraphicFramePr>
              <a:graphicFrameLocks noChangeAspect="1"/>
            </p:cNvGraphicFramePr>
            <p:nvPr/>
          </p:nvGraphicFramePr>
          <p:xfrm>
            <a:off x="2744" y="3113"/>
            <a:ext cx="610" cy="155"/>
          </p:xfrm>
          <a:graphic>
            <a:graphicData uri="http://schemas.openxmlformats.org/presentationml/2006/ole">
              <mc:AlternateContent xmlns:mc="http://schemas.openxmlformats.org/markup-compatibility/2006">
                <mc:Choice xmlns:v="urn:schemas-microsoft-com:vml" Requires="v">
                  <p:oleObj name="公式" r:id="rId6" imgW="799465" imgH="203200" progId="Equation.3">
                    <p:embed/>
                  </p:oleObj>
                </mc:Choice>
                <mc:Fallback>
                  <p:oleObj name="公式" r:id="rId6" imgW="799465" imgH="2032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4" y="3113"/>
                          <a:ext cx="610" cy="15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06" name="Line 13"/>
            <p:cNvSpPr>
              <a:spLocks noChangeShapeType="1"/>
            </p:cNvSpPr>
            <p:nvPr/>
          </p:nvSpPr>
          <p:spPr bwMode="auto">
            <a:xfrm>
              <a:off x="2381" y="3067"/>
              <a:ext cx="272" cy="73"/>
            </a:xfrm>
            <a:prstGeom prst="line">
              <a:avLst/>
            </a:prstGeom>
            <a:noFill/>
            <a:ln w="9525">
              <a:solidFill>
                <a:srgbClr val="99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9407" name="Object 10"/>
            <p:cNvGraphicFramePr>
              <a:graphicFrameLocks noChangeAspect="1"/>
            </p:cNvGraphicFramePr>
            <p:nvPr/>
          </p:nvGraphicFramePr>
          <p:xfrm>
            <a:off x="703" y="3158"/>
            <a:ext cx="610" cy="155"/>
          </p:xfrm>
          <a:graphic>
            <a:graphicData uri="http://schemas.openxmlformats.org/presentationml/2006/ole">
              <mc:AlternateContent xmlns:mc="http://schemas.openxmlformats.org/markup-compatibility/2006">
                <mc:Choice xmlns:v="urn:schemas-microsoft-com:vml" Requires="v">
                  <p:oleObj name="公式" r:id="rId8" imgW="799465" imgH="203200" progId="Equation.3">
                    <p:embed/>
                  </p:oleObj>
                </mc:Choice>
                <mc:Fallback>
                  <p:oleObj name="公式" r:id="rId8" imgW="799465" imgH="20320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3" y="3158"/>
                          <a:ext cx="610" cy="15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08" name="Line 15"/>
            <p:cNvSpPr>
              <a:spLocks noChangeShapeType="1"/>
            </p:cNvSpPr>
            <p:nvPr/>
          </p:nvSpPr>
          <p:spPr bwMode="auto">
            <a:xfrm flipH="1" flipV="1">
              <a:off x="1247" y="3294"/>
              <a:ext cx="182" cy="18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546818" name="Object 2"/>
          <p:cNvGraphicFramePr>
            <a:graphicFrameLocks noGrp="1" noChangeAspect="1"/>
          </p:cNvGraphicFramePr>
          <p:nvPr>
            <p:ph/>
          </p:nvPr>
        </p:nvGraphicFramePr>
        <p:xfrm>
          <a:off x="4572000" y="404813"/>
          <a:ext cx="4249738" cy="452437"/>
        </p:xfrm>
        <a:graphic>
          <a:graphicData uri="http://schemas.openxmlformats.org/presentationml/2006/ole">
            <mc:AlternateContent xmlns:mc="http://schemas.openxmlformats.org/markup-compatibility/2006">
              <mc:Choice xmlns:v="urn:schemas-microsoft-com:vml" Requires="v">
                <p:oleObj name="公式" r:id="rId10" imgW="2159000" imgH="228600" progId="Equation.3">
                  <p:embed/>
                </p:oleObj>
              </mc:Choice>
              <mc:Fallback>
                <p:oleObj name="公式" r:id="rId10" imgW="2159000" imgH="228600"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0" y="404813"/>
                        <a:ext cx="4249738"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6819" name="Object 3"/>
          <p:cNvGraphicFramePr>
            <a:graphicFrameLocks noChangeAspect="1"/>
          </p:cNvGraphicFramePr>
          <p:nvPr/>
        </p:nvGraphicFramePr>
        <p:xfrm>
          <a:off x="827088" y="908050"/>
          <a:ext cx="4248150" cy="1162050"/>
        </p:xfrm>
        <a:graphic>
          <a:graphicData uri="http://schemas.openxmlformats.org/presentationml/2006/ole">
            <mc:AlternateContent xmlns:mc="http://schemas.openxmlformats.org/markup-compatibility/2006">
              <mc:Choice xmlns:v="urn:schemas-microsoft-com:vml" Requires="v">
                <p:oleObj name="公式" r:id="rId12" imgW="2145665" imgH="584200" progId="Equation.3">
                  <p:embed/>
                </p:oleObj>
              </mc:Choice>
              <mc:Fallback>
                <p:oleObj name="公式" r:id="rId12" imgW="2145665" imgH="584200" progId="Equation.3">
                  <p:embed/>
                  <p:pic>
                    <p:nvPicPr>
                      <p:cNvPr id="0"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7088" y="908050"/>
                        <a:ext cx="4248150" cy="1162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6820" name="Object 4"/>
          <p:cNvGraphicFramePr>
            <a:graphicFrameLocks noChangeAspect="1"/>
          </p:cNvGraphicFramePr>
          <p:nvPr/>
        </p:nvGraphicFramePr>
        <p:xfrm>
          <a:off x="619760" y="2206625"/>
          <a:ext cx="7664450" cy="485775"/>
        </p:xfrm>
        <a:graphic>
          <a:graphicData uri="http://schemas.openxmlformats.org/presentationml/2006/ole">
            <mc:AlternateContent xmlns:mc="http://schemas.openxmlformats.org/markup-compatibility/2006">
              <mc:Choice xmlns:v="urn:schemas-microsoft-com:vml" Requires="v">
                <p:oleObj name="公式" r:id="rId14" imgW="2667000" imgH="254000" progId="Equation.3">
                  <p:embed/>
                </p:oleObj>
              </mc:Choice>
              <mc:Fallback>
                <p:oleObj name="公式" r:id="rId14" imgW="2667000" imgH="254000" progId="Equation.3">
                  <p:embed/>
                  <p:pic>
                    <p:nvPicPr>
                      <p:cNvPr id="0" name="Object 4"/>
                      <p:cNvPicPr>
                        <a:picLocks noChangeAspect="1" noChangeArrowheads="1"/>
                      </p:cNvPicPr>
                      <p:nvPr/>
                    </p:nvPicPr>
                    <p:blipFill>
                      <a:blip r:embed="rId15"/>
                      <a:srcRect/>
                      <a:stretch>
                        <a:fillRect/>
                      </a:stretch>
                    </p:blipFill>
                    <p:spPr bwMode="auto">
                      <a:xfrm>
                        <a:off x="619760" y="2206625"/>
                        <a:ext cx="7664450" cy="485775"/>
                      </a:xfrm>
                      <a:prstGeom prst="rect">
                        <a:avLst/>
                      </a:prstGeom>
                      <a:noFill/>
                      <a:ln w="9525">
                        <a:solidFill>
                          <a:srgbClr val="008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6821" name="Object 5"/>
          <p:cNvGraphicFramePr>
            <a:graphicFrameLocks noChangeAspect="1"/>
          </p:cNvGraphicFramePr>
          <p:nvPr/>
        </p:nvGraphicFramePr>
        <p:xfrm>
          <a:off x="619443" y="2854167"/>
          <a:ext cx="8537575" cy="524510"/>
        </p:xfrm>
        <a:graphic>
          <a:graphicData uri="http://schemas.openxmlformats.org/presentationml/2006/ole">
            <mc:AlternateContent xmlns:mc="http://schemas.openxmlformats.org/markup-compatibility/2006">
              <mc:Choice xmlns:v="urn:schemas-microsoft-com:vml" Requires="v">
                <p:oleObj name="公式" r:id="rId16" imgW="4140200" imgH="254000" progId="Equation.3">
                  <p:embed/>
                </p:oleObj>
              </mc:Choice>
              <mc:Fallback>
                <p:oleObj name="公式" r:id="rId16" imgW="4140200" imgH="254000" progId="Equation.3">
                  <p:embed/>
                  <p:pic>
                    <p:nvPicPr>
                      <p:cNvPr id="0" name="Object 5"/>
                      <p:cNvPicPr>
                        <a:picLocks noChangeAspect="1" noChangeArrowheads="1"/>
                      </p:cNvPicPr>
                      <p:nvPr/>
                    </p:nvPicPr>
                    <p:blipFill>
                      <a:blip r:embed="rId17"/>
                      <a:srcRect/>
                      <a:stretch>
                        <a:fillRect/>
                      </a:stretch>
                    </p:blipFill>
                    <p:spPr bwMode="auto">
                      <a:xfrm>
                        <a:off x="619443" y="2854167"/>
                        <a:ext cx="8537575" cy="524510"/>
                      </a:xfrm>
                      <a:prstGeom prst="rect">
                        <a:avLst/>
                      </a:prstGeom>
                      <a:noFill/>
                      <a:ln w="9525">
                        <a:solidFill>
                          <a:srgbClr val="008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9" name="Object 6"/>
          <p:cNvGraphicFramePr>
            <a:graphicFrameLocks noChangeAspect="1"/>
          </p:cNvGraphicFramePr>
          <p:nvPr/>
        </p:nvGraphicFramePr>
        <p:xfrm>
          <a:off x="755650" y="0"/>
          <a:ext cx="3673475" cy="1089025"/>
        </p:xfrm>
        <a:graphic>
          <a:graphicData uri="http://schemas.openxmlformats.org/presentationml/2006/ole">
            <mc:AlternateContent xmlns:mc="http://schemas.openxmlformats.org/markup-compatibility/2006">
              <mc:Choice xmlns:v="urn:schemas-microsoft-com:vml" Requires="v">
                <p:oleObj name="公式" r:id="rId18" imgW="1981200" imgH="584200" progId="Equation.3">
                  <p:embed/>
                </p:oleObj>
              </mc:Choice>
              <mc:Fallback>
                <p:oleObj name="公式" r:id="rId18" imgW="1981200" imgH="584200" progId="Equation.3">
                  <p:embed/>
                  <p:pic>
                    <p:nvPicPr>
                      <p:cNvPr id="0" name="Object 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5650" y="0"/>
                        <a:ext cx="3673475"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6826" name="Object 7"/>
          <p:cNvGraphicFramePr>
            <a:graphicFrameLocks noChangeAspect="1"/>
          </p:cNvGraphicFramePr>
          <p:nvPr/>
        </p:nvGraphicFramePr>
        <p:xfrm>
          <a:off x="665480" y="3540760"/>
          <a:ext cx="5667375" cy="579755"/>
        </p:xfrm>
        <a:graphic>
          <a:graphicData uri="http://schemas.openxmlformats.org/presentationml/2006/ole">
            <mc:AlternateContent xmlns:mc="http://schemas.openxmlformats.org/markup-compatibility/2006">
              <mc:Choice xmlns:v="urn:schemas-microsoft-com:vml" Requires="v">
                <p:oleObj name="公式" r:id="rId20" imgW="2336800" imgH="254000" progId="Equation.3">
                  <p:embed/>
                </p:oleObj>
              </mc:Choice>
              <mc:Fallback>
                <p:oleObj name="公式" r:id="rId20" imgW="2336800" imgH="254000" progId="Equation.3">
                  <p:embed/>
                  <p:pic>
                    <p:nvPicPr>
                      <p:cNvPr id="0" name="Object 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65480" y="3540760"/>
                        <a:ext cx="5667375" cy="57975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日期占位符 15"/>
          <p:cNvSpPr>
            <a:spLocks noGrp="1"/>
          </p:cNvSpPr>
          <p:nvPr>
            <p:ph type="dt" sz="quarter" idx="10"/>
          </p:nvPr>
        </p:nvSpPr>
        <p:spPr/>
        <p:txBody>
          <a:bodyPr/>
          <a:lstStyle/>
          <a:p>
            <a:pPr>
              <a:defRPr/>
            </a:pPr>
            <a:fld id="{C785DEA1-2B83-43A6-836B-A885953C56F5}" type="datetime1">
              <a:rPr lang="zh-CN" altLang="en-US"/>
              <a:t>2026/4/28</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4152"/>
    </mc:Choice>
    <mc:Fallback xmlns="">
      <p:transition spd="slow" advTm="2041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46818"/>
                                        </p:tgtEl>
                                        <p:attrNameLst>
                                          <p:attrName>style.visibility</p:attrName>
                                        </p:attrNameLst>
                                      </p:cBhvr>
                                      <p:to>
                                        <p:strVal val="visible"/>
                                      </p:to>
                                    </p:set>
                                    <p:anim calcmode="lin" valueType="num">
                                      <p:cBhvr>
                                        <p:cTn id="7" dur="1000" fill="hold"/>
                                        <p:tgtEl>
                                          <p:spTgt spid="546818"/>
                                        </p:tgtEl>
                                        <p:attrNameLst>
                                          <p:attrName>ppt_w</p:attrName>
                                        </p:attrNameLst>
                                      </p:cBhvr>
                                      <p:tavLst>
                                        <p:tav tm="0">
                                          <p:val>
                                            <p:strVal val="#ppt_w*0.70"/>
                                          </p:val>
                                        </p:tav>
                                        <p:tav tm="100000">
                                          <p:val>
                                            <p:strVal val="#ppt_w"/>
                                          </p:val>
                                        </p:tav>
                                      </p:tavLst>
                                    </p:anim>
                                    <p:anim calcmode="lin" valueType="num">
                                      <p:cBhvr>
                                        <p:cTn id="8" dur="1000" fill="hold"/>
                                        <p:tgtEl>
                                          <p:spTgt spid="546818"/>
                                        </p:tgtEl>
                                        <p:attrNameLst>
                                          <p:attrName>ppt_h</p:attrName>
                                        </p:attrNameLst>
                                      </p:cBhvr>
                                      <p:tavLst>
                                        <p:tav tm="0">
                                          <p:val>
                                            <p:strVal val="#ppt_h"/>
                                          </p:val>
                                        </p:tav>
                                        <p:tav tm="100000">
                                          <p:val>
                                            <p:strVal val="#ppt_h"/>
                                          </p:val>
                                        </p:tav>
                                      </p:tavLst>
                                    </p:anim>
                                    <p:animEffect transition="in" filter="fade">
                                      <p:cBhvr>
                                        <p:cTn id="9" dur="1000"/>
                                        <p:tgtEl>
                                          <p:spTgt spid="546818"/>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546819"/>
                                        </p:tgtEl>
                                        <p:attrNameLst>
                                          <p:attrName>style.visibility</p:attrName>
                                        </p:attrNameLst>
                                      </p:cBhvr>
                                      <p:to>
                                        <p:strVal val="visible"/>
                                      </p:to>
                                    </p:set>
                                    <p:anim calcmode="lin" valueType="num">
                                      <p:cBhvr>
                                        <p:cTn id="14" dur="1000" fill="hold"/>
                                        <p:tgtEl>
                                          <p:spTgt spid="546819"/>
                                        </p:tgtEl>
                                        <p:attrNameLst>
                                          <p:attrName>ppt_w</p:attrName>
                                        </p:attrNameLst>
                                      </p:cBhvr>
                                      <p:tavLst>
                                        <p:tav tm="0">
                                          <p:val>
                                            <p:strVal val="#ppt_w*0.70"/>
                                          </p:val>
                                        </p:tav>
                                        <p:tav tm="100000">
                                          <p:val>
                                            <p:strVal val="#ppt_w"/>
                                          </p:val>
                                        </p:tav>
                                      </p:tavLst>
                                    </p:anim>
                                    <p:anim calcmode="lin" valueType="num">
                                      <p:cBhvr>
                                        <p:cTn id="15" dur="1000" fill="hold"/>
                                        <p:tgtEl>
                                          <p:spTgt spid="546819"/>
                                        </p:tgtEl>
                                        <p:attrNameLst>
                                          <p:attrName>ppt_h</p:attrName>
                                        </p:attrNameLst>
                                      </p:cBhvr>
                                      <p:tavLst>
                                        <p:tav tm="0">
                                          <p:val>
                                            <p:strVal val="#ppt_h"/>
                                          </p:val>
                                        </p:tav>
                                        <p:tav tm="100000">
                                          <p:val>
                                            <p:strVal val="#ppt_h"/>
                                          </p:val>
                                        </p:tav>
                                      </p:tavLst>
                                    </p:anim>
                                    <p:animEffect transition="in" filter="fade">
                                      <p:cBhvr>
                                        <p:cTn id="16" dur="1000"/>
                                        <p:tgtEl>
                                          <p:spTgt spid="546819"/>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3" fill="hold" nodeType="clickEffect">
                                  <p:stCondLst>
                                    <p:cond delay="0"/>
                                  </p:stCondLst>
                                  <p:childTnLst>
                                    <p:set>
                                      <p:cBhvr>
                                        <p:cTn id="20" dur="1" fill="hold">
                                          <p:stCondLst>
                                            <p:cond delay="0"/>
                                          </p:stCondLst>
                                        </p:cTn>
                                        <p:tgtEl>
                                          <p:spTgt spid="546820"/>
                                        </p:tgtEl>
                                        <p:attrNameLst>
                                          <p:attrName>style.visibility</p:attrName>
                                        </p:attrNameLst>
                                      </p:cBhvr>
                                      <p:to>
                                        <p:strVal val="visible"/>
                                      </p:to>
                                    </p:set>
                                    <p:animEffect transition="in" filter="strips(upRight)">
                                      <p:cBhvr>
                                        <p:cTn id="21" dur="500"/>
                                        <p:tgtEl>
                                          <p:spTgt spid="546820"/>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3" fill="hold" nodeType="clickEffect">
                                  <p:stCondLst>
                                    <p:cond delay="0"/>
                                  </p:stCondLst>
                                  <p:childTnLst>
                                    <p:set>
                                      <p:cBhvr>
                                        <p:cTn id="25" dur="1" fill="hold">
                                          <p:stCondLst>
                                            <p:cond delay="0"/>
                                          </p:stCondLst>
                                        </p:cTn>
                                        <p:tgtEl>
                                          <p:spTgt spid="546821"/>
                                        </p:tgtEl>
                                        <p:attrNameLst>
                                          <p:attrName>style.visibility</p:attrName>
                                        </p:attrNameLst>
                                      </p:cBhvr>
                                      <p:to>
                                        <p:strVal val="visible"/>
                                      </p:to>
                                    </p:set>
                                    <p:animEffect transition="in" filter="strips(upRight)">
                                      <p:cBhvr>
                                        <p:cTn id="26" dur="500"/>
                                        <p:tgtEl>
                                          <p:spTgt spid="546821"/>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3" fill="hold" nodeType="clickEffect">
                                  <p:stCondLst>
                                    <p:cond delay="0"/>
                                  </p:stCondLst>
                                  <p:childTnLst>
                                    <p:set>
                                      <p:cBhvr>
                                        <p:cTn id="30" dur="1" fill="hold">
                                          <p:stCondLst>
                                            <p:cond delay="0"/>
                                          </p:stCondLst>
                                        </p:cTn>
                                        <p:tgtEl>
                                          <p:spTgt spid="546826"/>
                                        </p:tgtEl>
                                        <p:attrNameLst>
                                          <p:attrName>style.visibility</p:attrName>
                                        </p:attrNameLst>
                                      </p:cBhvr>
                                      <p:to>
                                        <p:strVal val="visible"/>
                                      </p:to>
                                    </p:set>
                                    <p:animEffect transition="in" filter="strips(upRight)">
                                      <p:cBhvr>
                                        <p:cTn id="31" dur="500"/>
                                        <p:tgtEl>
                                          <p:spTgt spid="546826"/>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p:cTn id="36" dur="1000" fill="hold"/>
                                        <p:tgtEl>
                                          <p:spTgt spid="2"/>
                                        </p:tgtEl>
                                        <p:attrNameLst>
                                          <p:attrName>ppt_w</p:attrName>
                                        </p:attrNameLst>
                                      </p:cBhvr>
                                      <p:tavLst>
                                        <p:tav tm="0">
                                          <p:val>
                                            <p:strVal val="#ppt_w*0.70"/>
                                          </p:val>
                                        </p:tav>
                                        <p:tav tm="100000">
                                          <p:val>
                                            <p:strVal val="#ppt_w"/>
                                          </p:val>
                                        </p:tav>
                                      </p:tavLst>
                                    </p:anim>
                                    <p:anim calcmode="lin" valueType="num">
                                      <p:cBhvr>
                                        <p:cTn id="37" dur="1000" fill="hold"/>
                                        <p:tgtEl>
                                          <p:spTgt spid="2"/>
                                        </p:tgtEl>
                                        <p:attrNameLst>
                                          <p:attrName>ppt_h</p:attrName>
                                        </p:attrNameLst>
                                      </p:cBhvr>
                                      <p:tavLst>
                                        <p:tav tm="0">
                                          <p:val>
                                            <p:strVal val="#ppt_h"/>
                                          </p:val>
                                        </p:tav>
                                        <p:tav tm="100000">
                                          <p:val>
                                            <p:strVal val="#ppt_h"/>
                                          </p:val>
                                        </p:tav>
                                      </p:tavLst>
                                    </p:anim>
                                    <p:animEffect transition="in" filter="fade">
                                      <p:cBhvr>
                                        <p:cTn id="38"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7844" name="Object 2"/>
          <p:cNvGraphicFramePr>
            <a:graphicFrameLocks noChangeAspect="1"/>
          </p:cNvGraphicFramePr>
          <p:nvPr/>
        </p:nvGraphicFramePr>
        <p:xfrm>
          <a:off x="755650" y="3837623"/>
          <a:ext cx="3119438" cy="692150"/>
        </p:xfrm>
        <a:graphic>
          <a:graphicData uri="http://schemas.openxmlformats.org/presentationml/2006/ole">
            <mc:AlternateContent xmlns:mc="http://schemas.openxmlformats.org/markup-compatibility/2006">
              <mc:Choice xmlns:v="urn:schemas-microsoft-com:vml" Requires="v">
                <p:oleObj name="公式" r:id="rId3" imgW="2005965" imgH="444500" progId="Equation.3">
                  <p:embed/>
                </p:oleObj>
              </mc:Choice>
              <mc:Fallback>
                <p:oleObj name="公式" r:id="rId3" imgW="2005965" imgH="44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3837623"/>
                        <a:ext cx="3119438" cy="6921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7845" name="Object 3"/>
          <p:cNvGraphicFramePr>
            <a:graphicFrameLocks noChangeAspect="1"/>
          </p:cNvGraphicFramePr>
          <p:nvPr/>
        </p:nvGraphicFramePr>
        <p:xfrm>
          <a:off x="684213" y="5300663"/>
          <a:ext cx="3721100" cy="454025"/>
        </p:xfrm>
        <a:graphic>
          <a:graphicData uri="http://schemas.openxmlformats.org/presentationml/2006/ole">
            <mc:AlternateContent xmlns:mc="http://schemas.openxmlformats.org/markup-compatibility/2006">
              <mc:Choice xmlns:v="urn:schemas-microsoft-com:vml" Requires="v">
                <p:oleObj name="公式" r:id="rId5" imgW="2082800" imgH="254000" progId="Equation.3">
                  <p:embed/>
                </p:oleObj>
              </mc:Choice>
              <mc:Fallback>
                <p:oleObj name="公式" r:id="rId5" imgW="2082800" imgH="254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5300663"/>
                        <a:ext cx="3721100" cy="454025"/>
                      </a:xfrm>
                      <a:prstGeom prst="rect">
                        <a:avLst/>
                      </a:prstGeom>
                      <a:solidFill>
                        <a:schemeClr val="bg1"/>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7846" name="Rectangle 6"/>
          <p:cNvSpPr>
            <a:spLocks noChangeArrowheads="1"/>
          </p:cNvSpPr>
          <p:nvPr/>
        </p:nvSpPr>
        <p:spPr bwMode="auto">
          <a:xfrm>
            <a:off x="684213" y="1341438"/>
            <a:ext cx="4103687" cy="1211262"/>
          </a:xfrm>
          <a:prstGeom prst="rect">
            <a:avLst/>
          </a:prstGeom>
          <a:noFill/>
          <a:ln w="28575">
            <a:solidFill>
              <a:srgbClr val="008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latin typeface="华文楷体" panose="02010600040101010101" pitchFamily="2" charset="-122"/>
                <a:ea typeface="华文楷体" panose="02010600040101010101" pitchFamily="2" charset="-122"/>
              </a:rPr>
              <a:t> </a:t>
            </a:r>
            <a:r>
              <a:rPr lang="zh-CN" altLang="en-US">
                <a:solidFill>
                  <a:srgbClr val="0000FF"/>
                </a:solidFill>
                <a:latin typeface="华文楷体" panose="02010600040101010101" pitchFamily="2" charset="-122"/>
                <a:ea typeface="华文楷体" panose="02010600040101010101" pitchFamily="2" charset="-122"/>
              </a:rPr>
              <a:t>若以该两条渐近线构成的折线近似表示原频特曲线，则引入的误差为：</a:t>
            </a:r>
          </a:p>
        </p:txBody>
      </p:sp>
      <p:graphicFrame>
        <p:nvGraphicFramePr>
          <p:cNvPr id="60421" name="Object 4"/>
          <p:cNvGraphicFramePr>
            <a:graphicFrameLocks noGrp="1" noChangeAspect="1"/>
          </p:cNvGraphicFramePr>
          <p:nvPr>
            <p:ph sz="half" idx="2"/>
          </p:nvPr>
        </p:nvGraphicFramePr>
        <p:xfrm>
          <a:off x="827088" y="333375"/>
          <a:ext cx="3816350" cy="1038225"/>
        </p:xfrm>
        <a:graphic>
          <a:graphicData uri="http://schemas.openxmlformats.org/presentationml/2006/ole">
            <mc:AlternateContent xmlns:mc="http://schemas.openxmlformats.org/markup-compatibility/2006">
              <mc:Choice xmlns:v="urn:schemas-microsoft-com:vml" Requires="v">
                <p:oleObj name="公式" r:id="rId7" imgW="2145665" imgH="584200" progId="Equation.3">
                  <p:embed/>
                </p:oleObj>
              </mc:Choice>
              <mc:Fallback>
                <p:oleObj name="公式" r:id="rId7" imgW="2145665" imgH="584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333375"/>
                        <a:ext cx="3816350"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2"/>
          <p:cNvGrpSpPr/>
          <p:nvPr/>
        </p:nvGrpSpPr>
        <p:grpSpPr bwMode="auto">
          <a:xfrm>
            <a:off x="4873625" y="173038"/>
            <a:ext cx="4067175" cy="2447925"/>
            <a:chOff x="703" y="2523"/>
            <a:chExt cx="2651" cy="1514"/>
          </a:xfrm>
        </p:grpSpPr>
        <p:pic>
          <p:nvPicPr>
            <p:cNvPr id="60428"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3" y="2523"/>
              <a:ext cx="2631" cy="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0429" name="Object 9"/>
            <p:cNvGraphicFramePr>
              <a:graphicFrameLocks noChangeAspect="1"/>
            </p:cNvGraphicFramePr>
            <p:nvPr/>
          </p:nvGraphicFramePr>
          <p:xfrm>
            <a:off x="1565" y="2750"/>
            <a:ext cx="726" cy="155"/>
          </p:xfrm>
          <a:graphic>
            <a:graphicData uri="http://schemas.openxmlformats.org/presentationml/2006/ole">
              <mc:AlternateContent xmlns:mc="http://schemas.openxmlformats.org/markup-compatibility/2006">
                <mc:Choice xmlns:v="urn:schemas-microsoft-com:vml" Requires="v">
                  <p:oleObj name="公式" r:id="rId10" imgW="951865" imgH="203200" progId="Equation.3">
                    <p:embed/>
                  </p:oleObj>
                </mc:Choice>
                <mc:Fallback>
                  <p:oleObj name="公式" r:id="rId10" imgW="951865" imgH="2032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65" y="2750"/>
                          <a:ext cx="726" cy="15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30" name="Line 15"/>
            <p:cNvSpPr>
              <a:spLocks noChangeShapeType="1"/>
            </p:cNvSpPr>
            <p:nvPr/>
          </p:nvSpPr>
          <p:spPr bwMode="auto">
            <a:xfrm flipH="1" flipV="1">
              <a:off x="1837" y="2931"/>
              <a:ext cx="181" cy="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0431" name="Object 10"/>
            <p:cNvGraphicFramePr>
              <a:graphicFrameLocks noChangeAspect="1"/>
            </p:cNvGraphicFramePr>
            <p:nvPr/>
          </p:nvGraphicFramePr>
          <p:xfrm>
            <a:off x="2744" y="3113"/>
            <a:ext cx="610" cy="155"/>
          </p:xfrm>
          <a:graphic>
            <a:graphicData uri="http://schemas.openxmlformats.org/presentationml/2006/ole">
              <mc:AlternateContent xmlns:mc="http://schemas.openxmlformats.org/markup-compatibility/2006">
                <mc:Choice xmlns:v="urn:schemas-microsoft-com:vml" Requires="v">
                  <p:oleObj name="公式" r:id="rId12" imgW="799465" imgH="203200" progId="Equation.3">
                    <p:embed/>
                  </p:oleObj>
                </mc:Choice>
                <mc:Fallback>
                  <p:oleObj name="公式" r:id="rId12" imgW="799465" imgH="203200" progId="Equation.3">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44" y="3113"/>
                          <a:ext cx="610" cy="15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32" name="Line 17"/>
            <p:cNvSpPr>
              <a:spLocks noChangeShapeType="1"/>
            </p:cNvSpPr>
            <p:nvPr/>
          </p:nvSpPr>
          <p:spPr bwMode="auto">
            <a:xfrm>
              <a:off x="2381" y="3067"/>
              <a:ext cx="272" cy="73"/>
            </a:xfrm>
            <a:prstGeom prst="line">
              <a:avLst/>
            </a:prstGeom>
            <a:noFill/>
            <a:ln w="9525">
              <a:solidFill>
                <a:srgbClr val="99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0433" name="Object 11"/>
            <p:cNvGraphicFramePr>
              <a:graphicFrameLocks noChangeAspect="1"/>
            </p:cNvGraphicFramePr>
            <p:nvPr/>
          </p:nvGraphicFramePr>
          <p:xfrm>
            <a:off x="703" y="3158"/>
            <a:ext cx="610" cy="155"/>
          </p:xfrm>
          <a:graphic>
            <a:graphicData uri="http://schemas.openxmlformats.org/presentationml/2006/ole">
              <mc:AlternateContent xmlns:mc="http://schemas.openxmlformats.org/markup-compatibility/2006">
                <mc:Choice xmlns:v="urn:schemas-microsoft-com:vml" Requires="v">
                  <p:oleObj name="公式" r:id="rId14" imgW="799465" imgH="203200" progId="Equation.3">
                    <p:embed/>
                  </p:oleObj>
                </mc:Choice>
                <mc:Fallback>
                  <p:oleObj name="公式" r:id="rId14" imgW="799465" imgH="203200" progId="Equation.3">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3" y="3158"/>
                          <a:ext cx="610" cy="15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34" name="Line 19"/>
            <p:cNvSpPr>
              <a:spLocks noChangeShapeType="1"/>
            </p:cNvSpPr>
            <p:nvPr/>
          </p:nvSpPr>
          <p:spPr bwMode="auto">
            <a:xfrm flipH="1" flipV="1">
              <a:off x="1247" y="3294"/>
              <a:ext cx="182" cy="182"/>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547860" name="Object 5"/>
          <p:cNvGraphicFramePr>
            <a:graphicFrameLocks noChangeAspect="1"/>
          </p:cNvGraphicFramePr>
          <p:nvPr/>
        </p:nvGraphicFramePr>
        <p:xfrm>
          <a:off x="827088" y="2853055"/>
          <a:ext cx="2974975" cy="419100"/>
        </p:xfrm>
        <a:graphic>
          <a:graphicData uri="http://schemas.openxmlformats.org/presentationml/2006/ole">
            <mc:AlternateContent xmlns:mc="http://schemas.openxmlformats.org/markup-compatibility/2006">
              <mc:Choice xmlns:v="urn:schemas-microsoft-com:vml" Requires="v">
                <p:oleObj name="公式" r:id="rId16" imgW="1803400" imgH="254000" progId="Equation.3">
                  <p:embed/>
                </p:oleObj>
              </mc:Choice>
              <mc:Fallback>
                <p:oleObj name="公式" r:id="rId16" imgW="1803400" imgH="254000" progId="Equation.3">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27088" y="2853055"/>
                        <a:ext cx="2974975" cy="4191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7862" name="Object 6"/>
          <p:cNvGraphicFramePr>
            <a:graphicFrameLocks noChangeAspect="1"/>
          </p:cNvGraphicFramePr>
          <p:nvPr/>
        </p:nvGraphicFramePr>
        <p:xfrm>
          <a:off x="4140200" y="2852738"/>
          <a:ext cx="4129088" cy="419100"/>
        </p:xfrm>
        <a:graphic>
          <a:graphicData uri="http://schemas.openxmlformats.org/presentationml/2006/ole">
            <mc:AlternateContent xmlns:mc="http://schemas.openxmlformats.org/markup-compatibility/2006">
              <mc:Choice xmlns:v="urn:schemas-microsoft-com:vml" Requires="v">
                <p:oleObj name="公式" r:id="rId18" imgW="2501900" imgH="254000" progId="Equation.3">
                  <p:embed/>
                </p:oleObj>
              </mc:Choice>
              <mc:Fallback>
                <p:oleObj name="公式" r:id="rId18" imgW="2501900" imgH="254000" progId="Equation.3">
                  <p:embed/>
                  <p:pic>
                    <p:nvPicPr>
                      <p:cNvPr id="0" name="Object 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40200" y="2852738"/>
                        <a:ext cx="4129088" cy="4191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7864" name="Object 7"/>
          <p:cNvGraphicFramePr>
            <a:graphicFrameLocks noChangeAspect="1"/>
          </p:cNvGraphicFramePr>
          <p:nvPr/>
        </p:nvGraphicFramePr>
        <p:xfrm>
          <a:off x="3995738" y="3573463"/>
          <a:ext cx="4752975" cy="1390650"/>
        </p:xfrm>
        <a:graphic>
          <a:graphicData uri="http://schemas.openxmlformats.org/presentationml/2006/ole">
            <mc:AlternateContent xmlns:mc="http://schemas.openxmlformats.org/markup-compatibility/2006">
              <mc:Choice xmlns:v="urn:schemas-microsoft-com:vml" Requires="v">
                <p:oleObj name="公式" r:id="rId20" imgW="2654300" imgH="774700" progId="Equation.3">
                  <p:embed/>
                </p:oleObj>
              </mc:Choice>
              <mc:Fallback>
                <p:oleObj name="公式" r:id="rId20" imgW="2654300" imgH="774700" progId="Equation.3">
                  <p:embed/>
                  <p:pic>
                    <p:nvPicPr>
                      <p:cNvPr id="0" name="Object 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95738" y="3573463"/>
                        <a:ext cx="4752975" cy="139065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7865" name="Object 8"/>
          <p:cNvGraphicFramePr>
            <a:graphicFrameLocks noChangeAspect="1"/>
          </p:cNvGraphicFramePr>
          <p:nvPr/>
        </p:nvGraphicFramePr>
        <p:xfrm>
          <a:off x="2627313" y="5876925"/>
          <a:ext cx="5129212" cy="793750"/>
        </p:xfrm>
        <a:graphic>
          <a:graphicData uri="http://schemas.openxmlformats.org/presentationml/2006/ole">
            <mc:AlternateContent xmlns:mc="http://schemas.openxmlformats.org/markup-compatibility/2006">
              <mc:Choice xmlns:v="urn:schemas-microsoft-com:vml" Requires="v">
                <p:oleObj name="公式" r:id="rId22" imgW="2870200" imgH="444500" progId="Equation.3">
                  <p:embed/>
                </p:oleObj>
              </mc:Choice>
              <mc:Fallback>
                <p:oleObj name="公式" r:id="rId22" imgW="2870200" imgH="444500" progId="Equation.3">
                  <p:embed/>
                  <p:pic>
                    <p:nvPicPr>
                      <p:cNvPr id="0" name="Object 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627313" y="5876925"/>
                        <a:ext cx="5129212" cy="793750"/>
                      </a:xfrm>
                      <a:prstGeom prst="rect">
                        <a:avLst/>
                      </a:prstGeom>
                      <a:solidFill>
                        <a:srgbClr val="FFFF00"/>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日期占位符 17"/>
          <p:cNvSpPr>
            <a:spLocks noGrp="1"/>
          </p:cNvSpPr>
          <p:nvPr>
            <p:ph type="dt" sz="quarter" idx="10"/>
          </p:nvPr>
        </p:nvSpPr>
        <p:spPr/>
        <p:txBody>
          <a:bodyPr/>
          <a:lstStyle/>
          <a:p>
            <a:pPr>
              <a:defRPr/>
            </a:pPr>
            <a:fld id="{AC55E2E5-487A-4ECB-801E-FAFC13EC6C82}" type="datetime1">
              <a:rPr lang="zh-CN" altLang="en-US"/>
              <a:t>2026/4/28</a:t>
            </a:fld>
            <a:endParaRPr lang="en-US" altLang="zh-CN"/>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43"/>
    </mc:Choice>
    <mc:Fallback xmlns="">
      <p:transition spd="slow" advTm="53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547846"/>
                                        </p:tgtEl>
                                        <p:attrNameLst>
                                          <p:attrName>style.visibility</p:attrName>
                                        </p:attrNameLst>
                                      </p:cBhvr>
                                      <p:to>
                                        <p:strVal val="visible"/>
                                      </p:to>
                                    </p:set>
                                    <p:anim calcmode="lin" valueType="num">
                                      <p:cBhvr>
                                        <p:cTn id="13" dur="1000" fill="hold"/>
                                        <p:tgtEl>
                                          <p:spTgt spid="547846"/>
                                        </p:tgtEl>
                                        <p:attrNameLst>
                                          <p:attrName>ppt_w</p:attrName>
                                        </p:attrNameLst>
                                      </p:cBhvr>
                                      <p:tavLst>
                                        <p:tav tm="0">
                                          <p:val>
                                            <p:strVal val="#ppt_w*0.70"/>
                                          </p:val>
                                        </p:tav>
                                        <p:tav tm="100000">
                                          <p:val>
                                            <p:strVal val="#ppt_w"/>
                                          </p:val>
                                        </p:tav>
                                      </p:tavLst>
                                    </p:anim>
                                    <p:anim calcmode="lin" valueType="num">
                                      <p:cBhvr>
                                        <p:cTn id="14" dur="1000" fill="hold"/>
                                        <p:tgtEl>
                                          <p:spTgt spid="547846"/>
                                        </p:tgtEl>
                                        <p:attrNameLst>
                                          <p:attrName>ppt_h</p:attrName>
                                        </p:attrNameLst>
                                      </p:cBhvr>
                                      <p:tavLst>
                                        <p:tav tm="0">
                                          <p:val>
                                            <p:strVal val="#ppt_h"/>
                                          </p:val>
                                        </p:tav>
                                        <p:tav tm="100000">
                                          <p:val>
                                            <p:strVal val="#ppt_h"/>
                                          </p:val>
                                        </p:tav>
                                      </p:tavLst>
                                    </p:anim>
                                    <p:animEffect transition="in" filter="fade">
                                      <p:cBhvr>
                                        <p:cTn id="15" dur="1000"/>
                                        <p:tgtEl>
                                          <p:spTgt spid="547846"/>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547860"/>
                                        </p:tgtEl>
                                        <p:attrNameLst>
                                          <p:attrName>style.visibility</p:attrName>
                                        </p:attrNameLst>
                                      </p:cBhvr>
                                      <p:to>
                                        <p:strVal val="visible"/>
                                      </p:to>
                                    </p:set>
                                    <p:anim calcmode="lin" valueType="num">
                                      <p:cBhvr>
                                        <p:cTn id="19" dur="1000" fill="hold"/>
                                        <p:tgtEl>
                                          <p:spTgt spid="547860"/>
                                        </p:tgtEl>
                                        <p:attrNameLst>
                                          <p:attrName>ppt_w</p:attrName>
                                        </p:attrNameLst>
                                      </p:cBhvr>
                                      <p:tavLst>
                                        <p:tav tm="0">
                                          <p:val>
                                            <p:strVal val="#ppt_w*0.70"/>
                                          </p:val>
                                        </p:tav>
                                        <p:tav tm="100000">
                                          <p:val>
                                            <p:strVal val="#ppt_w"/>
                                          </p:val>
                                        </p:tav>
                                      </p:tavLst>
                                    </p:anim>
                                    <p:anim calcmode="lin" valueType="num">
                                      <p:cBhvr>
                                        <p:cTn id="20" dur="1000" fill="hold"/>
                                        <p:tgtEl>
                                          <p:spTgt spid="547860"/>
                                        </p:tgtEl>
                                        <p:attrNameLst>
                                          <p:attrName>ppt_h</p:attrName>
                                        </p:attrNameLst>
                                      </p:cBhvr>
                                      <p:tavLst>
                                        <p:tav tm="0">
                                          <p:val>
                                            <p:strVal val="#ppt_h"/>
                                          </p:val>
                                        </p:tav>
                                        <p:tav tm="100000">
                                          <p:val>
                                            <p:strVal val="#ppt_h"/>
                                          </p:val>
                                        </p:tav>
                                      </p:tavLst>
                                    </p:anim>
                                    <p:animEffect transition="in" filter="fade">
                                      <p:cBhvr>
                                        <p:cTn id="21" dur="1000"/>
                                        <p:tgtEl>
                                          <p:spTgt spid="547860"/>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547862"/>
                                        </p:tgtEl>
                                        <p:attrNameLst>
                                          <p:attrName>style.visibility</p:attrName>
                                        </p:attrNameLst>
                                      </p:cBhvr>
                                      <p:to>
                                        <p:strVal val="visible"/>
                                      </p:to>
                                    </p:set>
                                    <p:anim calcmode="lin" valueType="num">
                                      <p:cBhvr>
                                        <p:cTn id="26" dur="1000" fill="hold"/>
                                        <p:tgtEl>
                                          <p:spTgt spid="547862"/>
                                        </p:tgtEl>
                                        <p:attrNameLst>
                                          <p:attrName>ppt_w</p:attrName>
                                        </p:attrNameLst>
                                      </p:cBhvr>
                                      <p:tavLst>
                                        <p:tav tm="0">
                                          <p:val>
                                            <p:strVal val="#ppt_w*0.70"/>
                                          </p:val>
                                        </p:tav>
                                        <p:tav tm="100000">
                                          <p:val>
                                            <p:strVal val="#ppt_w"/>
                                          </p:val>
                                        </p:tav>
                                      </p:tavLst>
                                    </p:anim>
                                    <p:anim calcmode="lin" valueType="num">
                                      <p:cBhvr>
                                        <p:cTn id="27" dur="1000" fill="hold"/>
                                        <p:tgtEl>
                                          <p:spTgt spid="547862"/>
                                        </p:tgtEl>
                                        <p:attrNameLst>
                                          <p:attrName>ppt_h</p:attrName>
                                        </p:attrNameLst>
                                      </p:cBhvr>
                                      <p:tavLst>
                                        <p:tav tm="0">
                                          <p:val>
                                            <p:strVal val="#ppt_h"/>
                                          </p:val>
                                        </p:tav>
                                        <p:tav tm="100000">
                                          <p:val>
                                            <p:strVal val="#ppt_h"/>
                                          </p:val>
                                        </p:tav>
                                      </p:tavLst>
                                    </p:anim>
                                    <p:animEffect transition="in" filter="fade">
                                      <p:cBhvr>
                                        <p:cTn id="28" dur="1000"/>
                                        <p:tgtEl>
                                          <p:spTgt spid="547862"/>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547844"/>
                                        </p:tgtEl>
                                        <p:attrNameLst>
                                          <p:attrName>style.visibility</p:attrName>
                                        </p:attrNameLst>
                                      </p:cBhvr>
                                      <p:to>
                                        <p:strVal val="visible"/>
                                      </p:to>
                                    </p:set>
                                    <p:anim calcmode="lin" valueType="num">
                                      <p:cBhvr>
                                        <p:cTn id="33" dur="1000" fill="hold"/>
                                        <p:tgtEl>
                                          <p:spTgt spid="547844"/>
                                        </p:tgtEl>
                                        <p:attrNameLst>
                                          <p:attrName>ppt_w</p:attrName>
                                        </p:attrNameLst>
                                      </p:cBhvr>
                                      <p:tavLst>
                                        <p:tav tm="0">
                                          <p:val>
                                            <p:strVal val="#ppt_w*0.70"/>
                                          </p:val>
                                        </p:tav>
                                        <p:tav tm="100000">
                                          <p:val>
                                            <p:strVal val="#ppt_w"/>
                                          </p:val>
                                        </p:tav>
                                      </p:tavLst>
                                    </p:anim>
                                    <p:anim calcmode="lin" valueType="num">
                                      <p:cBhvr>
                                        <p:cTn id="34" dur="1000" fill="hold"/>
                                        <p:tgtEl>
                                          <p:spTgt spid="547844"/>
                                        </p:tgtEl>
                                        <p:attrNameLst>
                                          <p:attrName>ppt_h</p:attrName>
                                        </p:attrNameLst>
                                      </p:cBhvr>
                                      <p:tavLst>
                                        <p:tav tm="0">
                                          <p:val>
                                            <p:strVal val="#ppt_h"/>
                                          </p:val>
                                        </p:tav>
                                        <p:tav tm="100000">
                                          <p:val>
                                            <p:strVal val="#ppt_h"/>
                                          </p:val>
                                        </p:tav>
                                      </p:tavLst>
                                    </p:anim>
                                    <p:animEffect transition="in" filter="fade">
                                      <p:cBhvr>
                                        <p:cTn id="35" dur="1000"/>
                                        <p:tgtEl>
                                          <p:spTgt spid="547844"/>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547845"/>
                                        </p:tgtEl>
                                        <p:attrNameLst>
                                          <p:attrName>style.visibility</p:attrName>
                                        </p:attrNameLst>
                                      </p:cBhvr>
                                      <p:to>
                                        <p:strVal val="visible"/>
                                      </p:to>
                                    </p:set>
                                    <p:anim calcmode="lin" valueType="num">
                                      <p:cBhvr>
                                        <p:cTn id="40" dur="1000" fill="hold"/>
                                        <p:tgtEl>
                                          <p:spTgt spid="547845"/>
                                        </p:tgtEl>
                                        <p:attrNameLst>
                                          <p:attrName>ppt_w</p:attrName>
                                        </p:attrNameLst>
                                      </p:cBhvr>
                                      <p:tavLst>
                                        <p:tav tm="0">
                                          <p:val>
                                            <p:strVal val="#ppt_w*0.70"/>
                                          </p:val>
                                        </p:tav>
                                        <p:tav tm="100000">
                                          <p:val>
                                            <p:strVal val="#ppt_w"/>
                                          </p:val>
                                        </p:tav>
                                      </p:tavLst>
                                    </p:anim>
                                    <p:anim calcmode="lin" valueType="num">
                                      <p:cBhvr>
                                        <p:cTn id="41" dur="1000" fill="hold"/>
                                        <p:tgtEl>
                                          <p:spTgt spid="547845"/>
                                        </p:tgtEl>
                                        <p:attrNameLst>
                                          <p:attrName>ppt_h</p:attrName>
                                        </p:attrNameLst>
                                      </p:cBhvr>
                                      <p:tavLst>
                                        <p:tav tm="0">
                                          <p:val>
                                            <p:strVal val="#ppt_h"/>
                                          </p:val>
                                        </p:tav>
                                        <p:tav tm="100000">
                                          <p:val>
                                            <p:strVal val="#ppt_h"/>
                                          </p:val>
                                        </p:tav>
                                      </p:tavLst>
                                    </p:anim>
                                    <p:animEffect transition="in" filter="fade">
                                      <p:cBhvr>
                                        <p:cTn id="42" dur="1000"/>
                                        <p:tgtEl>
                                          <p:spTgt spid="547845"/>
                                        </p:tgtEl>
                                      </p:cBhvr>
                                    </p:animEffect>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nodeType="clickEffect">
                                  <p:stCondLst>
                                    <p:cond delay="0"/>
                                  </p:stCondLst>
                                  <p:childTnLst>
                                    <p:set>
                                      <p:cBhvr>
                                        <p:cTn id="46" dur="1" fill="hold">
                                          <p:stCondLst>
                                            <p:cond delay="0"/>
                                          </p:stCondLst>
                                        </p:cTn>
                                        <p:tgtEl>
                                          <p:spTgt spid="547864"/>
                                        </p:tgtEl>
                                        <p:attrNameLst>
                                          <p:attrName>style.visibility</p:attrName>
                                        </p:attrNameLst>
                                      </p:cBhvr>
                                      <p:to>
                                        <p:strVal val="visible"/>
                                      </p:to>
                                    </p:set>
                                    <p:anim calcmode="lin" valueType="num">
                                      <p:cBhvr>
                                        <p:cTn id="47" dur="1000" fill="hold"/>
                                        <p:tgtEl>
                                          <p:spTgt spid="547864"/>
                                        </p:tgtEl>
                                        <p:attrNameLst>
                                          <p:attrName>ppt_w</p:attrName>
                                        </p:attrNameLst>
                                      </p:cBhvr>
                                      <p:tavLst>
                                        <p:tav tm="0">
                                          <p:val>
                                            <p:strVal val="#ppt_w*0.70"/>
                                          </p:val>
                                        </p:tav>
                                        <p:tav tm="100000">
                                          <p:val>
                                            <p:strVal val="#ppt_w"/>
                                          </p:val>
                                        </p:tav>
                                      </p:tavLst>
                                    </p:anim>
                                    <p:anim calcmode="lin" valueType="num">
                                      <p:cBhvr>
                                        <p:cTn id="48" dur="1000" fill="hold"/>
                                        <p:tgtEl>
                                          <p:spTgt spid="547864"/>
                                        </p:tgtEl>
                                        <p:attrNameLst>
                                          <p:attrName>ppt_h</p:attrName>
                                        </p:attrNameLst>
                                      </p:cBhvr>
                                      <p:tavLst>
                                        <p:tav tm="0">
                                          <p:val>
                                            <p:strVal val="#ppt_h"/>
                                          </p:val>
                                        </p:tav>
                                        <p:tav tm="100000">
                                          <p:val>
                                            <p:strVal val="#ppt_h"/>
                                          </p:val>
                                        </p:tav>
                                      </p:tavLst>
                                    </p:anim>
                                    <p:animEffect transition="in" filter="fade">
                                      <p:cBhvr>
                                        <p:cTn id="49" dur="1000"/>
                                        <p:tgtEl>
                                          <p:spTgt spid="547864"/>
                                        </p:tgtEl>
                                      </p:cBhvr>
                                    </p:animEffect>
                                  </p:childTnLst>
                                </p:cTn>
                              </p:par>
                            </p:childTnLst>
                          </p:cTn>
                        </p:par>
                      </p:childTnLst>
                    </p:cTn>
                  </p:par>
                  <p:par>
                    <p:cTn id="50" fill="hold">
                      <p:stCondLst>
                        <p:cond delay="indefinite"/>
                      </p:stCondLst>
                      <p:childTnLst>
                        <p:par>
                          <p:cTn id="51" fill="hold">
                            <p:stCondLst>
                              <p:cond delay="0"/>
                            </p:stCondLst>
                            <p:childTnLst>
                              <p:par>
                                <p:cTn id="52" presetID="55" presetClass="entr" presetSubtype="0" fill="hold" nodeType="clickEffect">
                                  <p:stCondLst>
                                    <p:cond delay="0"/>
                                  </p:stCondLst>
                                  <p:childTnLst>
                                    <p:set>
                                      <p:cBhvr>
                                        <p:cTn id="53" dur="1" fill="hold">
                                          <p:stCondLst>
                                            <p:cond delay="0"/>
                                          </p:stCondLst>
                                        </p:cTn>
                                        <p:tgtEl>
                                          <p:spTgt spid="547865"/>
                                        </p:tgtEl>
                                        <p:attrNameLst>
                                          <p:attrName>style.visibility</p:attrName>
                                        </p:attrNameLst>
                                      </p:cBhvr>
                                      <p:to>
                                        <p:strVal val="visible"/>
                                      </p:to>
                                    </p:set>
                                    <p:anim calcmode="lin" valueType="num">
                                      <p:cBhvr>
                                        <p:cTn id="54" dur="1000" fill="hold"/>
                                        <p:tgtEl>
                                          <p:spTgt spid="547865"/>
                                        </p:tgtEl>
                                        <p:attrNameLst>
                                          <p:attrName>ppt_w</p:attrName>
                                        </p:attrNameLst>
                                      </p:cBhvr>
                                      <p:tavLst>
                                        <p:tav tm="0">
                                          <p:val>
                                            <p:strVal val="#ppt_w*0.70"/>
                                          </p:val>
                                        </p:tav>
                                        <p:tav tm="100000">
                                          <p:val>
                                            <p:strVal val="#ppt_w"/>
                                          </p:val>
                                        </p:tav>
                                      </p:tavLst>
                                    </p:anim>
                                    <p:anim calcmode="lin" valueType="num">
                                      <p:cBhvr>
                                        <p:cTn id="55" dur="1000" fill="hold"/>
                                        <p:tgtEl>
                                          <p:spTgt spid="547865"/>
                                        </p:tgtEl>
                                        <p:attrNameLst>
                                          <p:attrName>ppt_h</p:attrName>
                                        </p:attrNameLst>
                                      </p:cBhvr>
                                      <p:tavLst>
                                        <p:tav tm="0">
                                          <p:val>
                                            <p:strVal val="#ppt_h"/>
                                          </p:val>
                                        </p:tav>
                                        <p:tav tm="100000">
                                          <p:val>
                                            <p:strVal val="#ppt_h"/>
                                          </p:val>
                                        </p:tav>
                                      </p:tavLst>
                                    </p:anim>
                                    <p:animEffect transition="in" filter="fade">
                                      <p:cBhvr>
                                        <p:cTn id="56" dur="1000"/>
                                        <p:tgtEl>
                                          <p:spTgt spid="547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sz="half" idx="1"/>
          </p:nvPr>
        </p:nvSpPr>
        <p:spPr>
          <a:xfrm>
            <a:off x="539750" y="549275"/>
            <a:ext cx="7993063" cy="576263"/>
          </a:xfrm>
        </p:spPr>
        <p:txBody>
          <a:bodyPr/>
          <a:lstStyle/>
          <a:p>
            <a:pPr>
              <a:buFontTx/>
              <a:buNone/>
            </a:pPr>
            <a:r>
              <a:rPr lang="en-US" altLang="zh-CN" sz="2800">
                <a:solidFill>
                  <a:srgbClr val="FF0000"/>
                </a:solidFill>
              </a:rPr>
              <a:t>b</a:t>
            </a:r>
            <a:r>
              <a:rPr lang="zh-CN" altLang="en-US" sz="2800">
                <a:solidFill>
                  <a:srgbClr val="FF0000"/>
                </a:solidFill>
              </a:rPr>
              <a:t>、一阶极点的增益</a:t>
            </a:r>
          </a:p>
        </p:txBody>
      </p:sp>
      <p:graphicFrame>
        <p:nvGraphicFramePr>
          <p:cNvPr id="548867" name="Object 2"/>
          <p:cNvGraphicFramePr>
            <a:graphicFrameLocks noGrp="1" noChangeAspect="1"/>
          </p:cNvGraphicFramePr>
          <p:nvPr>
            <p:ph sz="half" idx="2"/>
          </p:nvPr>
        </p:nvGraphicFramePr>
        <p:xfrm>
          <a:off x="827088" y="1268413"/>
          <a:ext cx="3600450" cy="660400"/>
        </p:xfrm>
        <a:graphic>
          <a:graphicData uri="http://schemas.openxmlformats.org/presentationml/2006/ole">
            <mc:AlternateContent xmlns:mc="http://schemas.openxmlformats.org/markup-compatibility/2006">
              <mc:Choice xmlns:v="urn:schemas-microsoft-com:vml" Requires="v">
                <p:oleObj name="公式" r:id="rId2" imgW="1384300" imgH="254000" progId="Equation.3">
                  <p:embed/>
                </p:oleObj>
              </mc:Choice>
              <mc:Fallback>
                <p:oleObj name="公式" r:id="rId2" imgW="1384300" imgH="2540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268413"/>
                        <a:ext cx="3600450" cy="6604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48868" name="Picture 4"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3503613"/>
            <a:ext cx="4824412" cy="335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445" name="Group 7"/>
          <p:cNvGrpSpPr/>
          <p:nvPr/>
        </p:nvGrpSpPr>
        <p:grpSpPr bwMode="auto">
          <a:xfrm>
            <a:off x="4787900" y="188913"/>
            <a:ext cx="3997325" cy="2659062"/>
            <a:chOff x="2971" y="300"/>
            <a:chExt cx="2518" cy="1675"/>
          </a:xfrm>
        </p:grpSpPr>
        <p:pic>
          <p:nvPicPr>
            <p:cNvPr id="61448" name="Picture 5" descr="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 y="436"/>
              <a:ext cx="2518" cy="1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1449" name="Object 3"/>
            <p:cNvGraphicFramePr>
              <a:graphicFrameLocks noChangeAspect="1"/>
            </p:cNvGraphicFramePr>
            <p:nvPr/>
          </p:nvGraphicFramePr>
          <p:xfrm>
            <a:off x="3696" y="300"/>
            <a:ext cx="1353" cy="268"/>
          </p:xfrm>
          <a:graphic>
            <a:graphicData uri="http://schemas.openxmlformats.org/presentationml/2006/ole">
              <mc:AlternateContent xmlns:mc="http://schemas.openxmlformats.org/markup-compatibility/2006">
                <mc:Choice xmlns:v="urn:schemas-microsoft-com:vml" Requires="v">
                  <p:oleObj name="公式" r:id="rId6" imgW="1282700" imgH="254000" progId="Equation.3">
                    <p:embed/>
                  </p:oleObj>
                </mc:Choice>
                <mc:Fallback>
                  <p:oleObj name="公式" r:id="rId6" imgW="1282700" imgH="2540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96" y="300"/>
                          <a:ext cx="1353" cy="26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48872" name="Rectangle 8"/>
          <p:cNvSpPr>
            <a:spLocks noChangeArrowheads="1"/>
          </p:cNvSpPr>
          <p:nvPr/>
        </p:nvSpPr>
        <p:spPr bwMode="auto">
          <a:xfrm>
            <a:off x="827088" y="2852738"/>
            <a:ext cx="56165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b="0">
                <a:solidFill>
                  <a:srgbClr val="FF0000"/>
                </a:solidFill>
                <a:latin typeface="华文中宋" panose="02010600040101010101" pitchFamily="2" charset="-122"/>
              </a:rPr>
              <a:t>所以只要将前者沿横轴对折即可。</a:t>
            </a:r>
          </a:p>
        </p:txBody>
      </p:sp>
      <p:sp>
        <p:nvSpPr>
          <p:cNvPr id="9" name="日期占位符 8"/>
          <p:cNvSpPr>
            <a:spLocks noGrp="1"/>
          </p:cNvSpPr>
          <p:nvPr>
            <p:ph type="dt" sz="quarter" idx="10"/>
          </p:nvPr>
        </p:nvSpPr>
        <p:spPr/>
        <p:txBody>
          <a:bodyPr/>
          <a:lstStyle/>
          <a:p>
            <a:pPr>
              <a:defRPr/>
            </a:pPr>
            <a:fld id="{A8FFD809-9709-4A8D-A378-D5D554F08A95}" type="datetime1">
              <a:rPr lang="zh-CN" altLang="en-US" b="0"/>
              <a:t>2026/4/28</a:t>
            </a:fld>
            <a:endParaRPr lang="zh-CN" altLang="en-US" b="0" dirty="0"/>
          </a:p>
        </p:txBody>
      </p:sp>
      <p:sp>
        <p:nvSpPr>
          <p:cNvPr id="2" name="墨迹 1"/>
          <p:cNvSpPr/>
          <p:nvPr/>
        </p:nvSpPr>
        <p:spPr bwMode="auto">
          <a:xfrm>
            <a:off x="1015560" y="39960"/>
            <a:ext cx="7714440" cy="6381360"/>
          </a:xfrm>
        </p:spPr>
      </p:sp>
    </p:spTree>
  </p:cSld>
  <p:clrMapOvr>
    <a:masterClrMapping/>
  </p:clrMapOvr>
  <mc:AlternateContent xmlns:mc="http://schemas.openxmlformats.org/markup-compatibility/2006" xmlns:p14="http://schemas.microsoft.com/office/powerpoint/2010/main">
    <mc:Choice Requires="p14">
      <p:transition spd="slow" p14:dur="2000" advTm="132708"/>
    </mc:Choice>
    <mc:Fallback xmlns="">
      <p:transition spd="slow" advTm="1327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548867"/>
                                        </p:tgtEl>
                                        <p:attrNameLst>
                                          <p:attrName>style.visibility</p:attrName>
                                        </p:attrNameLst>
                                      </p:cBhvr>
                                      <p:to>
                                        <p:strVal val="visible"/>
                                      </p:to>
                                    </p:set>
                                    <p:anim calcmode="lin" valueType="num">
                                      <p:cBhvr>
                                        <p:cTn id="11" dur="1000" fill="hold"/>
                                        <p:tgtEl>
                                          <p:spTgt spid="548867"/>
                                        </p:tgtEl>
                                        <p:attrNameLst>
                                          <p:attrName>ppt_w</p:attrName>
                                        </p:attrNameLst>
                                      </p:cBhvr>
                                      <p:tavLst>
                                        <p:tav tm="0">
                                          <p:val>
                                            <p:strVal val="#ppt_w*0.70"/>
                                          </p:val>
                                        </p:tav>
                                        <p:tav tm="100000">
                                          <p:val>
                                            <p:strVal val="#ppt_w"/>
                                          </p:val>
                                        </p:tav>
                                      </p:tavLst>
                                    </p:anim>
                                    <p:anim calcmode="lin" valueType="num">
                                      <p:cBhvr>
                                        <p:cTn id="12" dur="1000" fill="hold"/>
                                        <p:tgtEl>
                                          <p:spTgt spid="548867"/>
                                        </p:tgtEl>
                                        <p:attrNameLst>
                                          <p:attrName>ppt_h</p:attrName>
                                        </p:attrNameLst>
                                      </p:cBhvr>
                                      <p:tavLst>
                                        <p:tav tm="0">
                                          <p:val>
                                            <p:strVal val="#ppt_h"/>
                                          </p:val>
                                        </p:tav>
                                        <p:tav tm="100000">
                                          <p:val>
                                            <p:strVal val="#ppt_h"/>
                                          </p:val>
                                        </p:tav>
                                      </p:tavLst>
                                    </p:anim>
                                    <p:animEffect transition="in" filter="fade">
                                      <p:cBhvr>
                                        <p:cTn id="13" dur="1000"/>
                                        <p:tgtEl>
                                          <p:spTgt spid="548867"/>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548872">
                                            <p:txEl>
                                              <p:pRg st="0" end="0"/>
                                            </p:txEl>
                                          </p:spTgt>
                                        </p:tgtEl>
                                        <p:attrNameLst>
                                          <p:attrName>style.visibility</p:attrName>
                                        </p:attrNameLst>
                                      </p:cBhvr>
                                      <p:to>
                                        <p:strVal val="visible"/>
                                      </p:to>
                                    </p:set>
                                    <p:anim calcmode="lin" valueType="num">
                                      <p:cBhvr>
                                        <p:cTn id="17" dur="1000" fill="hold"/>
                                        <p:tgtEl>
                                          <p:spTgt spid="548872">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548872">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548872">
                                            <p:txEl>
                                              <p:pRg st="0" end="0"/>
                                            </p:txEl>
                                          </p:spTgt>
                                        </p:tgtEl>
                                      </p:cBhvr>
                                    </p:animEffect>
                                  </p:childTnLst>
                                </p:cTn>
                              </p:par>
                            </p:childTnLst>
                          </p:cTn>
                        </p:par>
                        <p:par>
                          <p:cTn id="20" fill="hold">
                            <p:stCondLst>
                              <p:cond delay="2000"/>
                            </p:stCondLst>
                            <p:childTnLst>
                              <p:par>
                                <p:cTn id="21" presetID="55" presetClass="entr" presetSubtype="0" fill="hold" nodeType="afterEffect">
                                  <p:stCondLst>
                                    <p:cond delay="0"/>
                                  </p:stCondLst>
                                  <p:childTnLst>
                                    <p:set>
                                      <p:cBhvr>
                                        <p:cTn id="22" dur="1" fill="hold">
                                          <p:stCondLst>
                                            <p:cond delay="0"/>
                                          </p:stCondLst>
                                        </p:cTn>
                                        <p:tgtEl>
                                          <p:spTgt spid="548868"/>
                                        </p:tgtEl>
                                        <p:attrNameLst>
                                          <p:attrName>style.visibility</p:attrName>
                                        </p:attrNameLst>
                                      </p:cBhvr>
                                      <p:to>
                                        <p:strVal val="visible"/>
                                      </p:to>
                                    </p:set>
                                    <p:anim calcmode="lin" valueType="num">
                                      <p:cBhvr>
                                        <p:cTn id="23" dur="1000" fill="hold"/>
                                        <p:tgtEl>
                                          <p:spTgt spid="548868"/>
                                        </p:tgtEl>
                                        <p:attrNameLst>
                                          <p:attrName>ppt_w</p:attrName>
                                        </p:attrNameLst>
                                      </p:cBhvr>
                                      <p:tavLst>
                                        <p:tav tm="0">
                                          <p:val>
                                            <p:strVal val="#ppt_w*0.70"/>
                                          </p:val>
                                        </p:tav>
                                        <p:tav tm="100000">
                                          <p:val>
                                            <p:strVal val="#ppt_w"/>
                                          </p:val>
                                        </p:tav>
                                      </p:tavLst>
                                    </p:anim>
                                    <p:anim calcmode="lin" valueType="num">
                                      <p:cBhvr>
                                        <p:cTn id="24" dur="1000" fill="hold"/>
                                        <p:tgtEl>
                                          <p:spTgt spid="548868"/>
                                        </p:tgtEl>
                                        <p:attrNameLst>
                                          <p:attrName>ppt_h</p:attrName>
                                        </p:attrNameLst>
                                      </p:cBhvr>
                                      <p:tavLst>
                                        <p:tav tm="0">
                                          <p:val>
                                            <p:strVal val="#ppt_h"/>
                                          </p:val>
                                        </p:tav>
                                        <p:tav tm="100000">
                                          <p:val>
                                            <p:strVal val="#ppt_h"/>
                                          </p:val>
                                        </p:tav>
                                      </p:tavLst>
                                    </p:anim>
                                    <p:animEffect transition="in" filter="fade">
                                      <p:cBhvr>
                                        <p:cTn id="25" dur="1000"/>
                                        <p:tgtEl>
                                          <p:spTgt spid="548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body" sz="half" idx="1"/>
          </p:nvPr>
        </p:nvSpPr>
        <p:spPr>
          <a:xfrm>
            <a:off x="900113" y="333375"/>
            <a:ext cx="4465637" cy="1296988"/>
          </a:xfrm>
        </p:spPr>
        <p:txBody>
          <a:bodyPr/>
          <a:lstStyle/>
          <a:p>
            <a:pPr>
              <a:lnSpc>
                <a:spcPct val="125000"/>
              </a:lnSpc>
              <a:spcBef>
                <a:spcPct val="25000"/>
              </a:spcBef>
              <a:buFontTx/>
              <a:buNone/>
            </a:pPr>
            <a:r>
              <a:rPr lang="en-US" altLang="zh-CN" sz="2800" b="1">
                <a:solidFill>
                  <a:srgbClr val="FF0000"/>
                </a:solidFill>
              </a:rPr>
              <a:t>2</a:t>
            </a:r>
            <a:r>
              <a:rPr lang="zh-CN" altLang="en-US" sz="2800" b="1">
                <a:solidFill>
                  <a:srgbClr val="FF0000"/>
                </a:solidFill>
              </a:rPr>
              <a:t>、一阶因子的相角</a:t>
            </a:r>
          </a:p>
          <a:p>
            <a:pPr>
              <a:lnSpc>
                <a:spcPct val="125000"/>
              </a:lnSpc>
              <a:spcBef>
                <a:spcPct val="25000"/>
              </a:spcBef>
              <a:buFontTx/>
              <a:buNone/>
            </a:pPr>
            <a:r>
              <a:rPr lang="en-US" altLang="zh-CN" sz="2800" b="1"/>
              <a:t>a</a:t>
            </a:r>
            <a:r>
              <a:rPr lang="zh-CN" altLang="en-US" sz="2800" b="1"/>
              <a:t>、一阶零点的相角       </a:t>
            </a:r>
          </a:p>
        </p:txBody>
      </p:sp>
      <p:graphicFrame>
        <p:nvGraphicFramePr>
          <p:cNvPr id="549891" name="Object 2"/>
          <p:cNvGraphicFramePr>
            <a:graphicFrameLocks noGrp="1" noChangeAspect="1"/>
          </p:cNvGraphicFramePr>
          <p:nvPr>
            <p:ph sz="quarter" idx="2"/>
          </p:nvPr>
        </p:nvGraphicFramePr>
        <p:xfrm>
          <a:off x="1692275" y="2060575"/>
          <a:ext cx="5184775" cy="2816225"/>
        </p:xfrm>
        <a:graphic>
          <a:graphicData uri="http://schemas.openxmlformats.org/presentationml/2006/ole">
            <mc:AlternateContent xmlns:mc="http://schemas.openxmlformats.org/markup-compatibility/2006">
              <mc:Choice xmlns:v="urn:schemas-microsoft-com:vml" Requires="v">
                <p:oleObj name="公式" r:id="rId3" imgW="1917700" imgH="1041400" progId="Equation.3">
                  <p:embed/>
                </p:oleObj>
              </mc:Choice>
              <mc:Fallback>
                <p:oleObj name="公式" r:id="rId3" imgW="1917700" imgH="1041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2060575"/>
                        <a:ext cx="5184775" cy="281622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9892" name="Object 3"/>
          <p:cNvGraphicFramePr>
            <a:graphicFrameLocks noGrp="1" noChangeAspect="1"/>
          </p:cNvGraphicFramePr>
          <p:nvPr>
            <p:ph sz="quarter" idx="3"/>
          </p:nvPr>
        </p:nvGraphicFramePr>
        <p:xfrm>
          <a:off x="827088" y="5516563"/>
          <a:ext cx="7921625" cy="838200"/>
        </p:xfrm>
        <a:graphic>
          <a:graphicData uri="http://schemas.openxmlformats.org/presentationml/2006/ole">
            <mc:AlternateContent xmlns:mc="http://schemas.openxmlformats.org/markup-compatibility/2006">
              <mc:Choice xmlns:v="urn:schemas-microsoft-com:vml" Requires="v">
                <p:oleObj name="公式" r:id="rId5" imgW="2159000" imgH="228600" progId="Equation.3">
                  <p:embed/>
                </p:oleObj>
              </mc:Choice>
              <mc:Fallback>
                <p:oleObj name="公式" r:id="rId5" imgW="215900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5516563"/>
                        <a:ext cx="7921625"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墨迹 1"/>
          <p:cNvSpPr/>
          <p:nvPr/>
        </p:nvSpPr>
        <p:spPr bwMode="auto">
          <a:xfrm>
            <a:off x="1808280" y="3524400"/>
            <a:ext cx="498600" cy="539280"/>
          </a:xfrm>
        </p:spPr>
      </p:sp>
    </p:spTree>
    <p:custDataLst>
      <p:tags r:id="rId1"/>
    </p:custDataLst>
  </p:cSld>
  <p:clrMapOvr>
    <a:masterClrMapping/>
  </p:clrMapOvr>
  <p:transition spd="med" advTm="38729">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49891"/>
                                        </p:tgtEl>
                                        <p:attrNameLst>
                                          <p:attrName>style.visibility</p:attrName>
                                        </p:attrNameLst>
                                      </p:cBhvr>
                                      <p:to>
                                        <p:strVal val="visible"/>
                                      </p:to>
                                    </p:set>
                                    <p:anim calcmode="lin" valueType="num">
                                      <p:cBhvr>
                                        <p:cTn id="7" dur="1000" fill="hold"/>
                                        <p:tgtEl>
                                          <p:spTgt spid="549891"/>
                                        </p:tgtEl>
                                        <p:attrNameLst>
                                          <p:attrName>ppt_w</p:attrName>
                                        </p:attrNameLst>
                                      </p:cBhvr>
                                      <p:tavLst>
                                        <p:tav tm="0">
                                          <p:val>
                                            <p:strVal val="#ppt_w*0.70"/>
                                          </p:val>
                                        </p:tav>
                                        <p:tav tm="100000">
                                          <p:val>
                                            <p:strVal val="#ppt_w"/>
                                          </p:val>
                                        </p:tav>
                                      </p:tavLst>
                                    </p:anim>
                                    <p:anim calcmode="lin" valueType="num">
                                      <p:cBhvr>
                                        <p:cTn id="8" dur="1000" fill="hold"/>
                                        <p:tgtEl>
                                          <p:spTgt spid="549891"/>
                                        </p:tgtEl>
                                        <p:attrNameLst>
                                          <p:attrName>ppt_h</p:attrName>
                                        </p:attrNameLst>
                                      </p:cBhvr>
                                      <p:tavLst>
                                        <p:tav tm="0">
                                          <p:val>
                                            <p:strVal val="#ppt_h"/>
                                          </p:val>
                                        </p:tav>
                                        <p:tav tm="100000">
                                          <p:val>
                                            <p:strVal val="#ppt_h"/>
                                          </p:val>
                                        </p:tav>
                                      </p:tavLst>
                                    </p:anim>
                                    <p:animEffect transition="in" filter="fade">
                                      <p:cBhvr>
                                        <p:cTn id="9" dur="1000"/>
                                        <p:tgtEl>
                                          <p:spTgt spid="54989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549892"/>
                                        </p:tgtEl>
                                        <p:attrNameLst>
                                          <p:attrName>style.visibility</p:attrName>
                                        </p:attrNameLst>
                                      </p:cBhvr>
                                      <p:to>
                                        <p:strVal val="visible"/>
                                      </p:to>
                                    </p:set>
                                    <p:anim calcmode="lin" valueType="num">
                                      <p:cBhvr>
                                        <p:cTn id="14" dur="1000" fill="hold"/>
                                        <p:tgtEl>
                                          <p:spTgt spid="549892"/>
                                        </p:tgtEl>
                                        <p:attrNameLst>
                                          <p:attrName>ppt_w</p:attrName>
                                        </p:attrNameLst>
                                      </p:cBhvr>
                                      <p:tavLst>
                                        <p:tav tm="0">
                                          <p:val>
                                            <p:strVal val="#ppt_w*0.70"/>
                                          </p:val>
                                        </p:tav>
                                        <p:tav tm="100000">
                                          <p:val>
                                            <p:strVal val="#ppt_w"/>
                                          </p:val>
                                        </p:tav>
                                      </p:tavLst>
                                    </p:anim>
                                    <p:anim calcmode="lin" valueType="num">
                                      <p:cBhvr>
                                        <p:cTn id="15" dur="1000" fill="hold"/>
                                        <p:tgtEl>
                                          <p:spTgt spid="549892"/>
                                        </p:tgtEl>
                                        <p:attrNameLst>
                                          <p:attrName>ppt_h</p:attrName>
                                        </p:attrNameLst>
                                      </p:cBhvr>
                                      <p:tavLst>
                                        <p:tav tm="0">
                                          <p:val>
                                            <p:strVal val="#ppt_h"/>
                                          </p:val>
                                        </p:tav>
                                        <p:tav tm="100000">
                                          <p:val>
                                            <p:strVal val="#ppt_h"/>
                                          </p:val>
                                        </p:tav>
                                      </p:tavLst>
                                    </p:anim>
                                    <p:animEffect transition="in" filter="fade">
                                      <p:cBhvr>
                                        <p:cTn id="16" dur="1000"/>
                                        <p:tgtEl>
                                          <p:spTgt spid="549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body" sz="half" idx="1"/>
          </p:nvPr>
        </p:nvSpPr>
        <p:spPr>
          <a:xfrm>
            <a:off x="611188" y="404813"/>
            <a:ext cx="5105400" cy="5872162"/>
          </a:xfrm>
        </p:spPr>
        <p:txBody>
          <a:bodyPr/>
          <a:lstStyle/>
          <a:p>
            <a:pPr marL="0" indent="0">
              <a:lnSpc>
                <a:spcPct val="80000"/>
              </a:lnSpc>
              <a:buFontTx/>
              <a:buNone/>
            </a:pPr>
            <a:r>
              <a:rPr lang="en-US" altLang="zh-CN" sz="2400" b="1">
                <a:latin typeface="Times New Roman" panose="02020603050405020304" pitchFamily="18" charset="0"/>
              </a:rPr>
              <a:t> ①</a:t>
            </a:r>
            <a:r>
              <a:rPr lang="zh-CN" altLang="en-US" sz="2400" b="1">
                <a:latin typeface="Times New Roman" panose="02020603050405020304" pitchFamily="18" charset="0"/>
              </a:rPr>
              <a:t>、 </a:t>
            </a:r>
            <a:r>
              <a:rPr lang="en-US" altLang="zh-CN" sz="2400" b="1">
                <a:latin typeface="Times New Roman" panose="02020603050405020304" pitchFamily="18" charset="0"/>
              </a:rPr>
              <a:t>z</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&lt;0</a:t>
            </a:r>
            <a:r>
              <a:rPr lang="zh-CN" altLang="zh-CN" sz="2400" b="1">
                <a:latin typeface="Times New Roman" panose="02020603050405020304" pitchFamily="18" charset="0"/>
              </a:rPr>
              <a:t> </a:t>
            </a:r>
            <a:r>
              <a:rPr lang="zh-CN" altLang="en-US" sz="2400" b="1">
                <a:latin typeface="Times New Roman" panose="02020603050405020304" pitchFamily="18" charset="0"/>
              </a:rPr>
              <a:t>时，有两条渐近线：</a:t>
            </a:r>
          </a:p>
          <a:p>
            <a:pPr marL="0" indent="0">
              <a:lnSpc>
                <a:spcPct val="120000"/>
              </a:lnSpc>
              <a:buClr>
                <a:srgbClr val="FF0000"/>
              </a:buClr>
              <a:buFont typeface="Wingdings" panose="05000000000000000000" pitchFamily="2" charset="2"/>
              <a:buChar char="l"/>
            </a:pPr>
            <a:r>
              <a:rPr lang="zh-CN" altLang="en-US" sz="2400" b="1">
                <a:latin typeface="Times New Roman" panose="02020603050405020304" pitchFamily="18" charset="0"/>
              </a:rPr>
              <a:t> </a:t>
            </a:r>
            <a:r>
              <a:rPr lang="en-US" altLang="zh-CN" sz="2400" b="1">
                <a:solidFill>
                  <a:srgbClr val="FF0000"/>
                </a:solidFill>
                <a:latin typeface="Times New Roman" panose="02020603050405020304" pitchFamily="18" charset="0"/>
              </a:rPr>
              <a:t>ω→0</a:t>
            </a:r>
            <a:r>
              <a:rPr lang="zh-CN" altLang="en-US" sz="2400" b="1">
                <a:solidFill>
                  <a:srgbClr val="FF0000"/>
                </a:solidFill>
                <a:latin typeface="Times New Roman" panose="02020603050405020304" pitchFamily="18" charset="0"/>
              </a:rPr>
              <a:t>， </a:t>
            </a:r>
            <a:r>
              <a:rPr lang="en-US" altLang="zh-CN" sz="2400" b="1">
                <a:solidFill>
                  <a:srgbClr val="FF0000"/>
                </a:solidFill>
                <a:latin typeface="Times New Roman" panose="02020603050405020304" pitchFamily="18" charset="0"/>
              </a:rPr>
              <a:t>φ(ω</a:t>
            </a:r>
            <a:r>
              <a:rPr lang="en-US" altLang="zh-CN" sz="2400" b="1" baseline="-25000">
                <a:solidFill>
                  <a:srgbClr val="FF0000"/>
                </a:solidFill>
                <a:latin typeface="Times New Roman" panose="02020603050405020304" pitchFamily="18" charset="0"/>
              </a:rPr>
              <a:t>1</a:t>
            </a:r>
            <a:r>
              <a:rPr lang="en-US" altLang="zh-CN" sz="2400" b="1">
                <a:solidFill>
                  <a:srgbClr val="FF0000"/>
                </a:solidFill>
                <a:latin typeface="Times New Roman" panose="02020603050405020304" pitchFamily="18" charset="0"/>
              </a:rPr>
              <a:t>)=0 </a:t>
            </a:r>
          </a:p>
          <a:p>
            <a:pPr marL="0" indent="0">
              <a:lnSpc>
                <a:spcPct val="120000"/>
              </a:lnSpc>
              <a:buClr>
                <a:srgbClr val="FF0000"/>
              </a:buClr>
              <a:buFont typeface="Wingdings" panose="05000000000000000000" pitchFamily="2" charset="2"/>
              <a:buChar char="l"/>
            </a:pPr>
            <a:r>
              <a:rPr lang="en-US" altLang="zh-CN" sz="2400" b="1">
                <a:solidFill>
                  <a:srgbClr val="FF0000"/>
                </a:solidFill>
                <a:latin typeface="Times New Roman" panose="02020603050405020304" pitchFamily="18" charset="0"/>
              </a:rPr>
              <a:t> ω→∞</a:t>
            </a:r>
            <a:r>
              <a:rPr lang="zh-CN" altLang="en-US" sz="2400" b="1">
                <a:solidFill>
                  <a:srgbClr val="FF0000"/>
                </a:solidFill>
                <a:latin typeface="Times New Roman" panose="02020603050405020304" pitchFamily="18" charset="0"/>
              </a:rPr>
              <a:t>，</a:t>
            </a:r>
            <a:r>
              <a:rPr lang="en-US" altLang="zh-CN" sz="2400" b="1">
                <a:solidFill>
                  <a:srgbClr val="FF0000"/>
                </a:solidFill>
                <a:latin typeface="Times New Roman" panose="02020603050405020304" pitchFamily="18" charset="0"/>
              </a:rPr>
              <a:t>φ(ω</a:t>
            </a:r>
            <a:r>
              <a:rPr lang="en-US" altLang="zh-CN" sz="2400" b="1" baseline="-25000">
                <a:solidFill>
                  <a:srgbClr val="FF0000"/>
                </a:solidFill>
                <a:latin typeface="Times New Roman" panose="02020603050405020304" pitchFamily="18" charset="0"/>
              </a:rPr>
              <a:t>1</a:t>
            </a:r>
            <a:r>
              <a:rPr lang="en-US" altLang="zh-CN" sz="2400" b="1">
                <a:solidFill>
                  <a:srgbClr val="FF0000"/>
                </a:solidFill>
                <a:latin typeface="Times New Roman" panose="02020603050405020304" pitchFamily="18" charset="0"/>
              </a:rPr>
              <a:t>)=π/2=90</a:t>
            </a:r>
            <a:r>
              <a:rPr lang="zh-CN" altLang="zh-CN" sz="2400" b="1">
                <a:solidFill>
                  <a:srgbClr val="FF0000"/>
                </a:solidFill>
                <a:latin typeface="Times New Roman" panose="02020603050405020304" pitchFamily="18" charset="0"/>
              </a:rPr>
              <a:t>°</a:t>
            </a:r>
          </a:p>
          <a:p>
            <a:pPr marL="0" indent="0">
              <a:lnSpc>
                <a:spcPct val="120000"/>
              </a:lnSpc>
              <a:buFontTx/>
              <a:buNone/>
            </a:pPr>
            <a:r>
              <a:rPr lang="zh-CN" altLang="zh-CN" sz="2400" b="1">
                <a:latin typeface="Times New Roman" panose="02020603050405020304" pitchFamily="18" charset="0"/>
              </a:rPr>
              <a:t>   </a:t>
            </a:r>
            <a:r>
              <a:rPr lang="zh-CN" altLang="en-US" sz="2400" b="1">
                <a:latin typeface="Times New Roman" panose="02020603050405020304" pitchFamily="18" charset="0"/>
              </a:rPr>
              <a:t>在（</a:t>
            </a:r>
            <a:r>
              <a:rPr lang="en-US" altLang="zh-CN" sz="2400" b="1">
                <a:latin typeface="Times New Roman" panose="02020603050405020304" pitchFamily="18" charset="0"/>
              </a:rPr>
              <a:t>ω</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=lg[0.1</a:t>
            </a:r>
            <a:r>
              <a:rPr lang="zh-CN" altLang="zh-CN" sz="2400" b="1">
                <a:latin typeface="Times New Roman" panose="02020603050405020304" pitchFamily="18" charset="0"/>
              </a:rPr>
              <a:t>·</a:t>
            </a:r>
            <a:r>
              <a:rPr lang="en-US" altLang="zh-CN" sz="2400" b="1">
                <a:latin typeface="Times New Roman" panose="02020603050405020304" pitchFamily="18" charset="0"/>
              </a:rPr>
              <a:t>|z</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a:t>
            </a:r>
            <a:r>
              <a:rPr lang="zh-CN" altLang="en-US" sz="2400" b="1">
                <a:latin typeface="Times New Roman" panose="02020603050405020304" pitchFamily="18" charset="0"/>
              </a:rPr>
              <a:t>，</a:t>
            </a:r>
            <a:r>
              <a:rPr lang="en-US" altLang="zh-CN" sz="2400" b="1">
                <a:latin typeface="Times New Roman" panose="02020603050405020304" pitchFamily="18" charset="0"/>
              </a:rPr>
              <a:t>0</a:t>
            </a:r>
            <a:r>
              <a:rPr lang="zh-CN" altLang="zh-CN" sz="2400" b="1">
                <a:latin typeface="Times New Roman" panose="02020603050405020304" pitchFamily="18" charset="0"/>
              </a:rPr>
              <a:t>°）</a:t>
            </a:r>
          </a:p>
          <a:p>
            <a:pPr marL="0" indent="0">
              <a:lnSpc>
                <a:spcPct val="125000"/>
              </a:lnSpc>
              <a:buFontTx/>
              <a:buNone/>
            </a:pPr>
            <a:r>
              <a:rPr lang="zh-CN" altLang="zh-CN" sz="2400" b="1">
                <a:latin typeface="Times New Roman" panose="02020603050405020304" pitchFamily="18" charset="0"/>
              </a:rPr>
              <a:t> </a:t>
            </a:r>
            <a:r>
              <a:rPr lang="zh-CN" altLang="en-US" sz="2400" b="1">
                <a:latin typeface="Times New Roman" panose="02020603050405020304" pitchFamily="18" charset="0"/>
              </a:rPr>
              <a:t>与（</a:t>
            </a:r>
            <a:r>
              <a:rPr lang="en-US" altLang="zh-CN" sz="2400" b="1">
                <a:latin typeface="Times New Roman" panose="02020603050405020304" pitchFamily="18" charset="0"/>
              </a:rPr>
              <a:t>lg|10</a:t>
            </a:r>
            <a:r>
              <a:rPr lang="zh-CN" altLang="zh-CN" sz="2400" b="1">
                <a:latin typeface="Times New Roman" panose="02020603050405020304" pitchFamily="18" charset="0"/>
              </a:rPr>
              <a:t>·z</a:t>
            </a:r>
            <a:r>
              <a:rPr lang="zh-CN" altLang="zh-CN" sz="2400" b="1" baseline="-25000">
                <a:latin typeface="Times New Roman" panose="02020603050405020304" pitchFamily="18" charset="0"/>
              </a:rPr>
              <a:t>1</a:t>
            </a:r>
            <a:r>
              <a:rPr lang="en-US" altLang="zh-CN" sz="2400" b="1">
                <a:latin typeface="Times New Roman" panose="02020603050405020304" pitchFamily="18" charset="0"/>
              </a:rPr>
              <a:t>|</a:t>
            </a:r>
            <a:r>
              <a:rPr lang="zh-CN" altLang="en-US" sz="2400" b="1">
                <a:latin typeface="Times New Roman" panose="02020603050405020304" pitchFamily="18" charset="0"/>
              </a:rPr>
              <a:t>，</a:t>
            </a:r>
            <a:r>
              <a:rPr lang="zh-CN" altLang="zh-CN" sz="2400" b="1">
                <a:latin typeface="Times New Roman" panose="02020603050405020304" pitchFamily="18" charset="0"/>
              </a:rPr>
              <a:t>90°）</a:t>
            </a:r>
            <a:r>
              <a:rPr lang="zh-CN" altLang="en-US" sz="2400" b="1">
                <a:latin typeface="Times New Roman" panose="02020603050405020304" pitchFamily="18" charset="0"/>
              </a:rPr>
              <a:t>间连一斜线，该线段与两条渐近线构成折线。用该折线代替原有相频特性，最多差</a:t>
            </a:r>
            <a:r>
              <a:rPr lang="en-US" altLang="zh-CN" sz="2400" b="1">
                <a:latin typeface="Times New Roman" panose="02020603050405020304" pitchFamily="18" charset="0"/>
              </a:rPr>
              <a:t>6</a:t>
            </a:r>
            <a:r>
              <a:rPr lang="zh-CN" altLang="zh-CN" sz="2400" b="1">
                <a:latin typeface="Times New Roman" panose="02020603050405020304" pitchFamily="18" charset="0"/>
              </a:rPr>
              <a:t>°</a:t>
            </a:r>
            <a:endParaRPr lang="zh-CN" altLang="en-US" sz="2400" b="1">
              <a:latin typeface="Times New Roman" panose="02020603050405020304" pitchFamily="18" charset="0"/>
            </a:endParaRPr>
          </a:p>
          <a:p>
            <a:pPr marL="0" indent="0">
              <a:lnSpc>
                <a:spcPct val="125000"/>
              </a:lnSpc>
              <a:buFontTx/>
              <a:buNone/>
            </a:pPr>
            <a:r>
              <a:rPr lang="en-US" altLang="zh-CN" sz="2400" b="1">
                <a:latin typeface="Times New Roman" panose="02020603050405020304" pitchFamily="18" charset="0"/>
              </a:rPr>
              <a:t>ω=|z</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a:t>
            </a:r>
            <a:r>
              <a:rPr lang="zh-CN" altLang="en-US" sz="2400" b="1">
                <a:latin typeface="Times New Roman" panose="02020603050405020304" pitchFamily="18" charset="0"/>
              </a:rPr>
              <a:t>时，实相角为</a:t>
            </a:r>
            <a:r>
              <a:rPr lang="en-US" altLang="zh-CN" sz="2400" b="1">
                <a:latin typeface="Times New Roman" panose="02020603050405020304" pitchFamily="18" charset="0"/>
              </a:rPr>
              <a:t>45</a:t>
            </a:r>
            <a:r>
              <a:rPr lang="zh-CN" altLang="zh-CN" sz="2400" b="1">
                <a:latin typeface="Times New Roman" panose="02020603050405020304" pitchFamily="18" charset="0"/>
              </a:rPr>
              <a:t>°；</a:t>
            </a:r>
            <a:endParaRPr lang="zh-CN" altLang="en-US" sz="2400" b="1">
              <a:latin typeface="Times New Roman" panose="02020603050405020304" pitchFamily="18" charset="0"/>
            </a:endParaRPr>
          </a:p>
          <a:p>
            <a:pPr marL="0" indent="0">
              <a:lnSpc>
                <a:spcPct val="125000"/>
              </a:lnSpc>
              <a:buFontTx/>
              <a:buNone/>
            </a:pPr>
            <a:r>
              <a:rPr lang="en-US" altLang="zh-CN" sz="2400" b="1">
                <a:latin typeface="Times New Roman" panose="02020603050405020304" pitchFamily="18" charset="0"/>
              </a:rPr>
              <a:t>ω=|z</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/2|</a:t>
            </a:r>
            <a:r>
              <a:rPr lang="zh-CN" altLang="en-US" sz="2400" b="1">
                <a:latin typeface="Times New Roman" panose="02020603050405020304" pitchFamily="18" charset="0"/>
              </a:rPr>
              <a:t>时，</a:t>
            </a:r>
            <a:r>
              <a:rPr lang="en-US" altLang="zh-CN" sz="2400" b="1">
                <a:latin typeface="Times New Roman" panose="02020603050405020304" pitchFamily="18" charset="0"/>
              </a:rPr>
              <a:t>φ(ω)=26.6</a:t>
            </a:r>
            <a:r>
              <a:rPr lang="zh-CN" altLang="zh-CN" sz="2400" b="1">
                <a:latin typeface="Times New Roman" panose="02020603050405020304" pitchFamily="18" charset="0"/>
              </a:rPr>
              <a:t>°；</a:t>
            </a:r>
            <a:endParaRPr lang="zh-CN" altLang="en-US" sz="2400" b="1">
              <a:latin typeface="Times New Roman" panose="02020603050405020304" pitchFamily="18" charset="0"/>
            </a:endParaRPr>
          </a:p>
          <a:p>
            <a:pPr marL="0" indent="0">
              <a:lnSpc>
                <a:spcPct val="125000"/>
              </a:lnSpc>
              <a:buFontTx/>
              <a:buNone/>
            </a:pPr>
            <a:r>
              <a:rPr lang="en-US" altLang="zh-CN" sz="2400" b="1">
                <a:latin typeface="Times New Roman" panose="02020603050405020304" pitchFamily="18" charset="0"/>
              </a:rPr>
              <a:t>ω=2|z</a:t>
            </a:r>
            <a:r>
              <a:rPr lang="en-US" altLang="zh-CN" sz="2400" b="1" baseline="-25000">
                <a:latin typeface="Times New Roman" panose="02020603050405020304" pitchFamily="18" charset="0"/>
              </a:rPr>
              <a:t>1</a:t>
            </a:r>
            <a:r>
              <a:rPr lang="en-US" altLang="zh-CN" sz="2400" b="1">
                <a:latin typeface="Times New Roman" panose="02020603050405020304" pitchFamily="18" charset="0"/>
              </a:rPr>
              <a:t>|</a:t>
            </a:r>
            <a:r>
              <a:rPr lang="zh-CN" altLang="en-US" sz="2400" b="1">
                <a:latin typeface="Times New Roman" panose="02020603050405020304" pitchFamily="18" charset="0"/>
              </a:rPr>
              <a:t>时，</a:t>
            </a:r>
            <a:r>
              <a:rPr lang="en-US" altLang="zh-CN" sz="2400" b="1">
                <a:latin typeface="Times New Roman" panose="02020603050405020304" pitchFamily="18" charset="0"/>
              </a:rPr>
              <a:t>φ(ω)=63.4</a:t>
            </a:r>
            <a:r>
              <a:rPr lang="zh-CN" altLang="zh-CN" sz="2400" b="1">
                <a:latin typeface="Times New Roman" panose="02020603050405020304" pitchFamily="18" charset="0"/>
              </a:rPr>
              <a:t>°</a:t>
            </a:r>
            <a:r>
              <a:rPr lang="en-US" altLang="zh-CN" sz="2400" b="1">
                <a:latin typeface="Times New Roman" panose="02020603050405020304" pitchFamily="18" charset="0"/>
              </a:rPr>
              <a:t>      </a:t>
            </a:r>
          </a:p>
        </p:txBody>
      </p:sp>
      <p:graphicFrame>
        <p:nvGraphicFramePr>
          <p:cNvPr id="63491" name="Object 2"/>
          <p:cNvGraphicFramePr>
            <a:graphicFrameLocks noGrp="1" noChangeAspect="1"/>
          </p:cNvGraphicFramePr>
          <p:nvPr>
            <p:ph sz="quarter" idx="2"/>
          </p:nvPr>
        </p:nvGraphicFramePr>
        <p:xfrm>
          <a:off x="5867400" y="2986088"/>
          <a:ext cx="3276600" cy="1779587"/>
        </p:xfrm>
        <a:graphic>
          <a:graphicData uri="http://schemas.openxmlformats.org/presentationml/2006/ole">
            <mc:AlternateContent xmlns:mc="http://schemas.openxmlformats.org/markup-compatibility/2006">
              <mc:Choice xmlns:v="urn:schemas-microsoft-com:vml" Requires="v">
                <p:oleObj name="公式" r:id="rId3" imgW="1917700" imgH="1041400" progId="Equation.3">
                  <p:embed/>
                </p:oleObj>
              </mc:Choice>
              <mc:Fallback>
                <p:oleObj name="公式" r:id="rId3" imgW="1917700" imgH="1041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2986088"/>
                        <a:ext cx="3276600" cy="1779587"/>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3492" name="Picture 4" descr="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1500" y="0"/>
            <a:ext cx="3492500"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3493" name="Object 3"/>
          <p:cNvGraphicFramePr>
            <a:graphicFrameLocks noGrp="1" noChangeAspect="1"/>
          </p:cNvGraphicFramePr>
          <p:nvPr>
            <p:ph sz="quarter" idx="3"/>
          </p:nvPr>
        </p:nvGraphicFramePr>
        <p:xfrm>
          <a:off x="5724525" y="5300663"/>
          <a:ext cx="3168650" cy="1046162"/>
        </p:xfrm>
        <a:graphic>
          <a:graphicData uri="http://schemas.openxmlformats.org/presentationml/2006/ole">
            <mc:AlternateContent xmlns:mc="http://schemas.openxmlformats.org/markup-compatibility/2006">
              <mc:Choice xmlns:v="urn:schemas-microsoft-com:vml" Requires="v">
                <p:oleObj name="公式" r:id="rId6" imgW="1384300" imgH="457200" progId="Equation.3">
                  <p:embed/>
                </p:oleObj>
              </mc:Choice>
              <mc:Fallback>
                <p:oleObj name="公式" r:id="rId6" imgW="1384300" imgH="4572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4525" y="5300663"/>
                        <a:ext cx="3168650" cy="1046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6"/>
          <p:cNvGrpSpPr/>
          <p:nvPr/>
        </p:nvGrpSpPr>
        <p:grpSpPr bwMode="auto">
          <a:xfrm>
            <a:off x="6443663" y="831850"/>
            <a:ext cx="2146300" cy="1084263"/>
            <a:chOff x="4059" y="524"/>
            <a:chExt cx="1352" cy="683"/>
          </a:xfrm>
        </p:grpSpPr>
        <p:sp>
          <p:nvSpPr>
            <p:cNvPr id="63495" name="Line 7"/>
            <p:cNvSpPr>
              <a:spLocks noChangeShapeType="1"/>
            </p:cNvSpPr>
            <p:nvPr/>
          </p:nvSpPr>
          <p:spPr bwMode="auto">
            <a:xfrm>
              <a:off x="4059" y="1207"/>
              <a:ext cx="136" cy="0"/>
            </a:xfrm>
            <a:prstGeom prst="line">
              <a:avLst/>
            </a:prstGeom>
            <a:noFill/>
            <a:ln w="57150">
              <a:solidFill>
                <a:srgbClr val="99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496" name="Line 8"/>
            <p:cNvSpPr>
              <a:spLocks noChangeShapeType="1"/>
            </p:cNvSpPr>
            <p:nvPr/>
          </p:nvSpPr>
          <p:spPr bwMode="auto">
            <a:xfrm>
              <a:off x="5094" y="537"/>
              <a:ext cx="317" cy="0"/>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497" name="Line 9"/>
            <p:cNvSpPr>
              <a:spLocks noChangeShapeType="1"/>
            </p:cNvSpPr>
            <p:nvPr/>
          </p:nvSpPr>
          <p:spPr bwMode="auto">
            <a:xfrm flipV="1">
              <a:off x="4215" y="524"/>
              <a:ext cx="890" cy="68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 name="墨迹 2"/>
          <p:cNvSpPr/>
          <p:nvPr/>
        </p:nvSpPr>
        <p:spPr bwMode="auto">
          <a:xfrm>
            <a:off x="1369080" y="321840"/>
            <a:ext cx="746280" cy="535680"/>
          </a:xfrm>
        </p:spPr>
      </p:sp>
    </p:spTree>
    <p:custDataLst>
      <p:tags r:id="rId1"/>
    </p:custDataLst>
  </p:cSld>
  <p:clrMapOvr>
    <a:masterClrMapping/>
  </p:clrMapOvr>
  <p:transition spd="med" advTm="911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622594">
                                            <p:txEl>
                                              <p:pRg st="3" end="3"/>
                                            </p:txEl>
                                          </p:spTgt>
                                        </p:tgtEl>
                                        <p:attrNameLst>
                                          <p:attrName>style.visibility</p:attrName>
                                        </p:attrNameLst>
                                      </p:cBhvr>
                                      <p:to>
                                        <p:strVal val="visible"/>
                                      </p:to>
                                    </p:set>
                                    <p:anim calcmode="lin" valueType="num">
                                      <p:cBhvr>
                                        <p:cTn id="12" dur="1000" fill="hold"/>
                                        <p:tgtEl>
                                          <p:spTgt spid="622594">
                                            <p:txEl>
                                              <p:pRg st="3" end="3"/>
                                            </p:txEl>
                                          </p:spTgt>
                                        </p:tgtEl>
                                        <p:attrNameLst>
                                          <p:attrName>ppt_w</p:attrName>
                                        </p:attrNameLst>
                                      </p:cBhvr>
                                      <p:tavLst>
                                        <p:tav tm="0">
                                          <p:val>
                                            <p:strVal val="#ppt_w*0.70"/>
                                          </p:val>
                                        </p:tav>
                                        <p:tav tm="100000">
                                          <p:val>
                                            <p:strVal val="#ppt_w"/>
                                          </p:val>
                                        </p:tav>
                                      </p:tavLst>
                                    </p:anim>
                                    <p:anim calcmode="lin" valueType="num">
                                      <p:cBhvr>
                                        <p:cTn id="13" dur="1000" fill="hold"/>
                                        <p:tgtEl>
                                          <p:spTgt spid="622594">
                                            <p:txEl>
                                              <p:pRg st="3" end="3"/>
                                            </p:txEl>
                                          </p:spTgt>
                                        </p:tgtEl>
                                        <p:attrNameLst>
                                          <p:attrName>ppt_h</p:attrName>
                                        </p:attrNameLst>
                                      </p:cBhvr>
                                      <p:tavLst>
                                        <p:tav tm="0">
                                          <p:val>
                                            <p:strVal val="#ppt_h"/>
                                          </p:val>
                                        </p:tav>
                                        <p:tav tm="100000">
                                          <p:val>
                                            <p:strVal val="#ppt_h"/>
                                          </p:val>
                                        </p:tav>
                                      </p:tavLst>
                                    </p:anim>
                                    <p:animEffect transition="in" filter="fade">
                                      <p:cBhvr>
                                        <p:cTn id="14" dur="1000"/>
                                        <p:tgtEl>
                                          <p:spTgt spid="622594">
                                            <p:txEl>
                                              <p:pRg st="3" end="3"/>
                                            </p:txEl>
                                          </p:spTgt>
                                        </p:tgtEl>
                                      </p:cBhvr>
                                    </p:animEffect>
                                  </p:childTnLst>
                                </p:cTn>
                              </p:par>
                              <p:par>
                                <p:cTn id="15" presetID="55" presetClass="entr" presetSubtype="0" fill="hold" nodeType="withEffect">
                                  <p:stCondLst>
                                    <p:cond delay="0"/>
                                  </p:stCondLst>
                                  <p:childTnLst>
                                    <p:set>
                                      <p:cBhvr>
                                        <p:cTn id="16" dur="1" fill="hold">
                                          <p:stCondLst>
                                            <p:cond delay="0"/>
                                          </p:stCondLst>
                                        </p:cTn>
                                        <p:tgtEl>
                                          <p:spTgt spid="622594">
                                            <p:txEl>
                                              <p:pRg st="4" end="4"/>
                                            </p:txEl>
                                          </p:spTgt>
                                        </p:tgtEl>
                                        <p:attrNameLst>
                                          <p:attrName>style.visibility</p:attrName>
                                        </p:attrNameLst>
                                      </p:cBhvr>
                                      <p:to>
                                        <p:strVal val="visible"/>
                                      </p:to>
                                    </p:set>
                                    <p:anim calcmode="lin" valueType="num">
                                      <p:cBhvr>
                                        <p:cTn id="17" dur="1000" fill="hold"/>
                                        <p:tgtEl>
                                          <p:spTgt spid="622594">
                                            <p:txEl>
                                              <p:pRg st="4" end="4"/>
                                            </p:txEl>
                                          </p:spTgt>
                                        </p:tgtEl>
                                        <p:attrNameLst>
                                          <p:attrName>ppt_w</p:attrName>
                                        </p:attrNameLst>
                                      </p:cBhvr>
                                      <p:tavLst>
                                        <p:tav tm="0">
                                          <p:val>
                                            <p:strVal val="#ppt_w*0.70"/>
                                          </p:val>
                                        </p:tav>
                                        <p:tav tm="100000">
                                          <p:val>
                                            <p:strVal val="#ppt_w"/>
                                          </p:val>
                                        </p:tav>
                                      </p:tavLst>
                                    </p:anim>
                                    <p:anim calcmode="lin" valueType="num">
                                      <p:cBhvr>
                                        <p:cTn id="18" dur="1000" fill="hold"/>
                                        <p:tgtEl>
                                          <p:spTgt spid="622594">
                                            <p:txEl>
                                              <p:pRg st="4" end="4"/>
                                            </p:txEl>
                                          </p:spTgt>
                                        </p:tgtEl>
                                        <p:attrNameLst>
                                          <p:attrName>ppt_h</p:attrName>
                                        </p:attrNameLst>
                                      </p:cBhvr>
                                      <p:tavLst>
                                        <p:tav tm="0">
                                          <p:val>
                                            <p:strVal val="#ppt_h"/>
                                          </p:val>
                                        </p:tav>
                                        <p:tav tm="100000">
                                          <p:val>
                                            <p:strVal val="#ppt_h"/>
                                          </p:val>
                                        </p:tav>
                                      </p:tavLst>
                                    </p:anim>
                                    <p:animEffect transition="in" filter="fade">
                                      <p:cBhvr>
                                        <p:cTn id="19" dur="1000"/>
                                        <p:tgtEl>
                                          <p:spTgt spid="622594">
                                            <p:txEl>
                                              <p:pRg st="4" end="4"/>
                                            </p:txEl>
                                          </p:spTgt>
                                        </p:tgtEl>
                                      </p:cBhvr>
                                    </p:animEffect>
                                  </p:childTnLst>
                                </p:cTn>
                              </p:par>
                            </p:childTnLst>
                          </p:cTn>
                        </p:par>
                        <p:par>
                          <p:cTn id="20" fill="hold">
                            <p:stCondLst>
                              <p:cond delay="1000"/>
                            </p:stCondLst>
                            <p:childTnLst>
                              <p:par>
                                <p:cTn id="21" presetID="55" presetClass="entr" presetSubtype="0"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1000" fill="hold"/>
                                        <p:tgtEl>
                                          <p:spTgt spid="2"/>
                                        </p:tgtEl>
                                        <p:attrNameLst>
                                          <p:attrName>ppt_w</p:attrName>
                                        </p:attrNameLst>
                                      </p:cBhvr>
                                      <p:tavLst>
                                        <p:tav tm="0">
                                          <p:val>
                                            <p:strVal val="#ppt_w*0.70"/>
                                          </p:val>
                                        </p:tav>
                                        <p:tav tm="100000">
                                          <p:val>
                                            <p:strVal val="#ppt_w"/>
                                          </p:val>
                                        </p:tav>
                                      </p:tavLst>
                                    </p:anim>
                                    <p:anim calcmode="lin" valueType="num">
                                      <p:cBhvr>
                                        <p:cTn id="24" dur="1000" fill="hold"/>
                                        <p:tgtEl>
                                          <p:spTgt spid="2"/>
                                        </p:tgtEl>
                                        <p:attrNameLst>
                                          <p:attrName>ppt_h</p:attrName>
                                        </p:attrNameLst>
                                      </p:cBhvr>
                                      <p:tavLst>
                                        <p:tav tm="0">
                                          <p:val>
                                            <p:strVal val="#ppt_h"/>
                                          </p:val>
                                        </p:tav>
                                        <p:tav tm="100000">
                                          <p:val>
                                            <p:strVal val="#ppt_h"/>
                                          </p:val>
                                        </p:tav>
                                      </p:tavLst>
                                    </p:anim>
                                    <p:animEffect transition="in" filter="fade">
                                      <p:cBhvr>
                                        <p:cTn id="25" dur="10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nodeType="clickEffect">
                                  <p:stCondLst>
                                    <p:cond delay="0"/>
                                  </p:stCondLst>
                                  <p:childTnLst>
                                    <p:set>
                                      <p:cBhvr>
                                        <p:cTn id="29" dur="1" fill="hold">
                                          <p:stCondLst>
                                            <p:cond delay="0"/>
                                          </p:stCondLst>
                                        </p:cTn>
                                        <p:tgtEl>
                                          <p:spTgt spid="622594">
                                            <p:txEl>
                                              <p:pRg st="5" end="5"/>
                                            </p:txEl>
                                          </p:spTgt>
                                        </p:tgtEl>
                                        <p:attrNameLst>
                                          <p:attrName>style.visibility</p:attrName>
                                        </p:attrNameLst>
                                      </p:cBhvr>
                                      <p:to>
                                        <p:strVal val="visible"/>
                                      </p:to>
                                    </p:set>
                                    <p:anim calcmode="lin" valueType="num">
                                      <p:cBhvr>
                                        <p:cTn id="30" dur="1000" fill="hold"/>
                                        <p:tgtEl>
                                          <p:spTgt spid="622594">
                                            <p:txEl>
                                              <p:pRg st="5" end="5"/>
                                            </p:txEl>
                                          </p:spTgt>
                                        </p:tgtEl>
                                        <p:attrNameLst>
                                          <p:attrName>ppt_w</p:attrName>
                                        </p:attrNameLst>
                                      </p:cBhvr>
                                      <p:tavLst>
                                        <p:tav tm="0">
                                          <p:val>
                                            <p:strVal val="#ppt_w*0.70"/>
                                          </p:val>
                                        </p:tav>
                                        <p:tav tm="100000">
                                          <p:val>
                                            <p:strVal val="#ppt_w"/>
                                          </p:val>
                                        </p:tav>
                                      </p:tavLst>
                                    </p:anim>
                                    <p:anim calcmode="lin" valueType="num">
                                      <p:cBhvr>
                                        <p:cTn id="31" dur="1000" fill="hold"/>
                                        <p:tgtEl>
                                          <p:spTgt spid="622594">
                                            <p:txEl>
                                              <p:pRg st="5" end="5"/>
                                            </p:txEl>
                                          </p:spTgt>
                                        </p:tgtEl>
                                        <p:attrNameLst>
                                          <p:attrName>ppt_h</p:attrName>
                                        </p:attrNameLst>
                                      </p:cBhvr>
                                      <p:tavLst>
                                        <p:tav tm="0">
                                          <p:val>
                                            <p:strVal val="#ppt_h"/>
                                          </p:val>
                                        </p:tav>
                                        <p:tav tm="100000">
                                          <p:val>
                                            <p:strVal val="#ppt_h"/>
                                          </p:val>
                                        </p:tav>
                                      </p:tavLst>
                                    </p:anim>
                                    <p:animEffect transition="in" filter="fade">
                                      <p:cBhvr>
                                        <p:cTn id="32" dur="1000"/>
                                        <p:tgtEl>
                                          <p:spTgt spid="622594">
                                            <p:txEl>
                                              <p:pRg st="5" end="5"/>
                                            </p:txEl>
                                          </p:spTgt>
                                        </p:tgtEl>
                                      </p:cBhvr>
                                    </p:animEffect>
                                  </p:childTnLst>
                                </p:cTn>
                              </p:par>
                            </p:childTnLst>
                          </p:cTn>
                        </p:par>
                        <p:par>
                          <p:cTn id="33" fill="hold">
                            <p:stCondLst>
                              <p:cond delay="1000"/>
                            </p:stCondLst>
                            <p:childTnLst>
                              <p:par>
                                <p:cTn id="34" presetID="55" presetClass="entr" presetSubtype="0" fill="hold" nodeType="afterEffect">
                                  <p:stCondLst>
                                    <p:cond delay="0"/>
                                  </p:stCondLst>
                                  <p:childTnLst>
                                    <p:set>
                                      <p:cBhvr>
                                        <p:cTn id="35" dur="1" fill="hold">
                                          <p:stCondLst>
                                            <p:cond delay="0"/>
                                          </p:stCondLst>
                                        </p:cTn>
                                        <p:tgtEl>
                                          <p:spTgt spid="622594">
                                            <p:txEl>
                                              <p:pRg st="6" end="6"/>
                                            </p:txEl>
                                          </p:spTgt>
                                        </p:tgtEl>
                                        <p:attrNameLst>
                                          <p:attrName>style.visibility</p:attrName>
                                        </p:attrNameLst>
                                      </p:cBhvr>
                                      <p:to>
                                        <p:strVal val="visible"/>
                                      </p:to>
                                    </p:set>
                                    <p:anim calcmode="lin" valueType="num">
                                      <p:cBhvr>
                                        <p:cTn id="36" dur="1000" fill="hold"/>
                                        <p:tgtEl>
                                          <p:spTgt spid="622594">
                                            <p:txEl>
                                              <p:pRg st="6" end="6"/>
                                            </p:txEl>
                                          </p:spTgt>
                                        </p:tgtEl>
                                        <p:attrNameLst>
                                          <p:attrName>ppt_w</p:attrName>
                                        </p:attrNameLst>
                                      </p:cBhvr>
                                      <p:tavLst>
                                        <p:tav tm="0">
                                          <p:val>
                                            <p:strVal val="#ppt_w*0.70"/>
                                          </p:val>
                                        </p:tav>
                                        <p:tav tm="100000">
                                          <p:val>
                                            <p:strVal val="#ppt_w"/>
                                          </p:val>
                                        </p:tav>
                                      </p:tavLst>
                                    </p:anim>
                                    <p:anim calcmode="lin" valueType="num">
                                      <p:cBhvr>
                                        <p:cTn id="37" dur="1000" fill="hold"/>
                                        <p:tgtEl>
                                          <p:spTgt spid="622594">
                                            <p:txEl>
                                              <p:pRg st="6" end="6"/>
                                            </p:txEl>
                                          </p:spTgt>
                                        </p:tgtEl>
                                        <p:attrNameLst>
                                          <p:attrName>ppt_h</p:attrName>
                                        </p:attrNameLst>
                                      </p:cBhvr>
                                      <p:tavLst>
                                        <p:tav tm="0">
                                          <p:val>
                                            <p:strVal val="#ppt_h"/>
                                          </p:val>
                                        </p:tav>
                                        <p:tav tm="100000">
                                          <p:val>
                                            <p:strVal val="#ppt_h"/>
                                          </p:val>
                                        </p:tav>
                                      </p:tavLst>
                                    </p:anim>
                                    <p:animEffect transition="in" filter="fade">
                                      <p:cBhvr>
                                        <p:cTn id="38" dur="1000"/>
                                        <p:tgtEl>
                                          <p:spTgt spid="622594">
                                            <p:txEl>
                                              <p:pRg st="6" end="6"/>
                                            </p:txEl>
                                          </p:spTgt>
                                        </p:tgtEl>
                                      </p:cBhvr>
                                    </p:animEffect>
                                  </p:childTnLst>
                                </p:cTn>
                              </p:par>
                            </p:childTnLst>
                          </p:cTn>
                        </p:par>
                        <p:par>
                          <p:cTn id="39" fill="hold">
                            <p:stCondLst>
                              <p:cond delay="2000"/>
                            </p:stCondLst>
                            <p:childTnLst>
                              <p:par>
                                <p:cTn id="40" presetID="55" presetClass="entr" presetSubtype="0" fill="hold" nodeType="afterEffect">
                                  <p:stCondLst>
                                    <p:cond delay="0"/>
                                  </p:stCondLst>
                                  <p:childTnLst>
                                    <p:set>
                                      <p:cBhvr>
                                        <p:cTn id="41" dur="1" fill="hold">
                                          <p:stCondLst>
                                            <p:cond delay="0"/>
                                          </p:stCondLst>
                                        </p:cTn>
                                        <p:tgtEl>
                                          <p:spTgt spid="622594">
                                            <p:txEl>
                                              <p:pRg st="7" end="7"/>
                                            </p:txEl>
                                          </p:spTgt>
                                        </p:tgtEl>
                                        <p:attrNameLst>
                                          <p:attrName>style.visibility</p:attrName>
                                        </p:attrNameLst>
                                      </p:cBhvr>
                                      <p:to>
                                        <p:strVal val="visible"/>
                                      </p:to>
                                    </p:set>
                                    <p:anim calcmode="lin" valueType="num">
                                      <p:cBhvr>
                                        <p:cTn id="42" dur="1000" fill="hold"/>
                                        <p:tgtEl>
                                          <p:spTgt spid="622594">
                                            <p:txEl>
                                              <p:pRg st="7" end="7"/>
                                            </p:txEl>
                                          </p:spTgt>
                                        </p:tgtEl>
                                        <p:attrNameLst>
                                          <p:attrName>ppt_w</p:attrName>
                                        </p:attrNameLst>
                                      </p:cBhvr>
                                      <p:tavLst>
                                        <p:tav tm="0">
                                          <p:val>
                                            <p:strVal val="#ppt_w*0.70"/>
                                          </p:val>
                                        </p:tav>
                                        <p:tav tm="100000">
                                          <p:val>
                                            <p:strVal val="#ppt_w"/>
                                          </p:val>
                                        </p:tav>
                                      </p:tavLst>
                                    </p:anim>
                                    <p:anim calcmode="lin" valueType="num">
                                      <p:cBhvr>
                                        <p:cTn id="43" dur="1000" fill="hold"/>
                                        <p:tgtEl>
                                          <p:spTgt spid="622594">
                                            <p:txEl>
                                              <p:pRg st="7" end="7"/>
                                            </p:txEl>
                                          </p:spTgt>
                                        </p:tgtEl>
                                        <p:attrNameLst>
                                          <p:attrName>ppt_h</p:attrName>
                                        </p:attrNameLst>
                                      </p:cBhvr>
                                      <p:tavLst>
                                        <p:tav tm="0">
                                          <p:val>
                                            <p:strVal val="#ppt_h"/>
                                          </p:val>
                                        </p:tav>
                                        <p:tav tm="100000">
                                          <p:val>
                                            <p:strVal val="#ppt_h"/>
                                          </p:val>
                                        </p:tav>
                                      </p:tavLst>
                                    </p:anim>
                                    <p:animEffect transition="in" filter="fade">
                                      <p:cBhvr>
                                        <p:cTn id="44" dur="1000"/>
                                        <p:tgtEl>
                                          <p:spTgt spid="62259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ChangeArrowheads="1"/>
          </p:cNvSpPr>
          <p:nvPr>
            <p:ph type="body" sz="half" idx="1"/>
          </p:nvPr>
        </p:nvSpPr>
        <p:spPr>
          <a:xfrm>
            <a:off x="900113" y="2133600"/>
            <a:ext cx="4392612" cy="1943100"/>
          </a:xfrm>
          <a:solidFill>
            <a:schemeClr val="bg1"/>
          </a:solidFill>
          <a:ln>
            <a:solidFill>
              <a:schemeClr val="folHlink"/>
            </a:solidFill>
            <a:miter lim="800000"/>
          </a:ln>
          <a:effectLst>
            <a:outerShdw dist="35921" dir="2700000" algn="ctr" rotWithShape="0">
              <a:schemeClr val="bg2"/>
            </a:outerShdw>
          </a:effectLst>
        </p:spPr>
        <p:txBody>
          <a:bodyPr/>
          <a:lstStyle/>
          <a:p>
            <a:pPr marL="0" indent="0">
              <a:lnSpc>
                <a:spcPct val="120000"/>
              </a:lnSpc>
              <a:buFontTx/>
              <a:buNone/>
            </a:pPr>
            <a:r>
              <a:rPr lang="en-US" altLang="zh-CN" sz="2000" b="1"/>
              <a:t> </a:t>
            </a:r>
            <a:r>
              <a:rPr lang="zh-CN" altLang="en-US" sz="2000" b="1"/>
              <a:t>在（</a:t>
            </a:r>
            <a:r>
              <a:rPr lang="en-US" altLang="zh-CN" sz="2000" b="1"/>
              <a:t>ω</a:t>
            </a:r>
            <a:r>
              <a:rPr lang="en-US" altLang="zh-CN" sz="2000" b="1" baseline="-25000"/>
              <a:t>1</a:t>
            </a:r>
            <a:r>
              <a:rPr lang="en-US" altLang="zh-CN" sz="2000" b="1"/>
              <a:t>=lg[0.1</a:t>
            </a:r>
            <a:r>
              <a:rPr lang="zh-CN" altLang="zh-CN" sz="2000" b="1"/>
              <a:t>·</a:t>
            </a:r>
            <a:r>
              <a:rPr lang="en-US" altLang="zh-CN" sz="2000" b="1"/>
              <a:t>|z</a:t>
            </a:r>
            <a:r>
              <a:rPr lang="en-US" altLang="zh-CN" sz="2000" b="1" baseline="-25000"/>
              <a:t>1</a:t>
            </a:r>
            <a:r>
              <a:rPr lang="en-US" altLang="zh-CN" sz="2000" b="1"/>
              <a:t>|]</a:t>
            </a:r>
            <a:r>
              <a:rPr lang="zh-CN" altLang="en-US" sz="2000" b="1"/>
              <a:t>，</a:t>
            </a:r>
            <a:r>
              <a:rPr lang="en-US" altLang="zh-CN" sz="2000" b="1"/>
              <a:t>0</a:t>
            </a:r>
            <a:r>
              <a:rPr lang="zh-CN" altLang="zh-CN" sz="2000" b="1"/>
              <a:t>°）</a:t>
            </a:r>
            <a:r>
              <a:rPr lang="zh-CN" altLang="en-US" sz="2000" b="1"/>
              <a:t>与（</a:t>
            </a:r>
            <a:r>
              <a:rPr lang="en-US" altLang="zh-CN" sz="2000" b="1"/>
              <a:t>lg|10</a:t>
            </a:r>
            <a:r>
              <a:rPr lang="zh-CN" altLang="zh-CN" sz="2000" b="1"/>
              <a:t>·z</a:t>
            </a:r>
            <a:r>
              <a:rPr lang="zh-CN" altLang="zh-CN" sz="2000" b="1" baseline="-25000"/>
              <a:t>1</a:t>
            </a:r>
            <a:r>
              <a:rPr lang="en-US" altLang="zh-CN" sz="2000" b="1"/>
              <a:t>|</a:t>
            </a:r>
            <a:r>
              <a:rPr lang="zh-CN" altLang="en-US" sz="2000" b="1"/>
              <a:t>，</a:t>
            </a:r>
            <a:r>
              <a:rPr lang="en-US" altLang="zh-CN" sz="2000" b="1"/>
              <a:t>-</a:t>
            </a:r>
            <a:r>
              <a:rPr lang="zh-CN" altLang="zh-CN" sz="2000" b="1"/>
              <a:t>90°）</a:t>
            </a:r>
            <a:r>
              <a:rPr lang="zh-CN" altLang="en-US" sz="2000" b="1"/>
              <a:t>间连线，则与两渐近线构成折线。</a:t>
            </a:r>
          </a:p>
        </p:txBody>
      </p:sp>
      <p:pic>
        <p:nvPicPr>
          <p:cNvPr id="623619" name="Picture 3" descr="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3213100"/>
            <a:ext cx="392430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Rectangle 4"/>
          <p:cNvSpPr>
            <a:spLocks noChangeArrowheads="1"/>
          </p:cNvSpPr>
          <p:nvPr/>
        </p:nvSpPr>
        <p:spPr bwMode="auto">
          <a:xfrm>
            <a:off x="407988" y="341313"/>
            <a:ext cx="5191125" cy="1363662"/>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r>
              <a:rPr lang="en-US" altLang="zh-CN"/>
              <a:t>②</a:t>
            </a:r>
            <a:r>
              <a:rPr lang="zh-CN" altLang="en-US"/>
              <a:t>、</a:t>
            </a:r>
            <a:r>
              <a:rPr lang="en-US" altLang="zh-CN"/>
              <a:t>z</a:t>
            </a:r>
            <a:r>
              <a:rPr lang="en-US" altLang="zh-CN" baseline="-25000"/>
              <a:t>1</a:t>
            </a:r>
            <a:r>
              <a:rPr lang="en-US" altLang="zh-CN"/>
              <a:t>&gt;0</a:t>
            </a:r>
            <a:r>
              <a:rPr lang="zh-CN" altLang="zh-CN">
                <a:latin typeface="华文中宋" panose="02010600040101010101" pitchFamily="2" charset="-122"/>
              </a:rPr>
              <a:t> </a:t>
            </a:r>
            <a:r>
              <a:rPr lang="zh-CN" altLang="en-US"/>
              <a:t>时，有两条渐近线：</a:t>
            </a:r>
          </a:p>
          <a:p>
            <a:pPr eaLnBrk="1" hangingPunct="1">
              <a:lnSpc>
                <a:spcPct val="85000"/>
              </a:lnSpc>
              <a:spcBef>
                <a:spcPct val="20000"/>
              </a:spcBef>
              <a:buClr>
                <a:schemeClr val="accent2"/>
              </a:buClr>
              <a:buFont typeface="Wingdings" panose="05000000000000000000" pitchFamily="2" charset="2"/>
              <a:buNone/>
            </a:pPr>
            <a:r>
              <a:rPr lang="zh-CN" altLang="en-US">
                <a:latin typeface="华文中宋" panose="02010600040101010101" pitchFamily="2" charset="-122"/>
              </a:rPr>
              <a:t>    </a:t>
            </a:r>
            <a:r>
              <a:rPr lang="en-US" altLang="zh-CN">
                <a:solidFill>
                  <a:srgbClr val="FF0000"/>
                </a:solidFill>
              </a:rPr>
              <a:t>ω→0</a:t>
            </a:r>
            <a:r>
              <a:rPr lang="zh-CN" altLang="en-US">
                <a:solidFill>
                  <a:srgbClr val="FF0000"/>
                </a:solidFill>
              </a:rPr>
              <a:t>，</a:t>
            </a:r>
            <a:r>
              <a:rPr lang="zh-CN" altLang="en-US">
                <a:solidFill>
                  <a:srgbClr val="FF0000"/>
                </a:solidFill>
                <a:latin typeface="华文中宋" panose="02010600040101010101" pitchFamily="2" charset="-122"/>
              </a:rPr>
              <a:t> </a:t>
            </a:r>
            <a:r>
              <a:rPr lang="zh-CN" altLang="en-US">
                <a:solidFill>
                  <a:srgbClr val="FF0000"/>
                </a:solidFill>
              </a:rPr>
              <a:t> </a:t>
            </a:r>
            <a:r>
              <a:rPr lang="en-US" altLang="zh-CN">
                <a:solidFill>
                  <a:srgbClr val="FF0000"/>
                </a:solidFill>
              </a:rPr>
              <a:t>φ(ω</a:t>
            </a:r>
            <a:r>
              <a:rPr lang="en-US" altLang="zh-CN" baseline="-25000">
                <a:solidFill>
                  <a:srgbClr val="FF0000"/>
                </a:solidFill>
              </a:rPr>
              <a:t>1</a:t>
            </a:r>
            <a:r>
              <a:rPr lang="en-US" altLang="zh-CN">
                <a:solidFill>
                  <a:srgbClr val="FF0000"/>
                </a:solidFill>
              </a:rPr>
              <a:t>)=0 </a:t>
            </a:r>
          </a:p>
          <a:p>
            <a:pPr eaLnBrk="1" hangingPunct="1">
              <a:lnSpc>
                <a:spcPct val="85000"/>
              </a:lnSpc>
              <a:spcBef>
                <a:spcPct val="20000"/>
              </a:spcBef>
              <a:buClr>
                <a:schemeClr val="accent2"/>
              </a:buClr>
              <a:buFont typeface="Wingdings" panose="05000000000000000000" pitchFamily="2" charset="2"/>
              <a:buNone/>
            </a:pPr>
            <a:r>
              <a:rPr lang="en-US" altLang="zh-CN">
                <a:solidFill>
                  <a:srgbClr val="FF0000"/>
                </a:solidFill>
                <a:latin typeface="华文中宋" panose="02010600040101010101" pitchFamily="2" charset="-122"/>
              </a:rPr>
              <a:t>    </a:t>
            </a:r>
            <a:r>
              <a:rPr lang="en-US" altLang="zh-CN">
                <a:solidFill>
                  <a:srgbClr val="FF0000"/>
                </a:solidFill>
              </a:rPr>
              <a:t>ω→∞</a:t>
            </a:r>
            <a:r>
              <a:rPr lang="zh-CN" altLang="en-US">
                <a:solidFill>
                  <a:srgbClr val="FF0000"/>
                </a:solidFill>
              </a:rPr>
              <a:t>，</a:t>
            </a:r>
            <a:r>
              <a:rPr lang="en-US" altLang="zh-CN">
                <a:solidFill>
                  <a:srgbClr val="FF0000"/>
                </a:solidFill>
              </a:rPr>
              <a:t>φ(ω</a:t>
            </a:r>
            <a:r>
              <a:rPr lang="en-US" altLang="zh-CN" baseline="-25000">
                <a:solidFill>
                  <a:srgbClr val="FF0000"/>
                </a:solidFill>
              </a:rPr>
              <a:t>1</a:t>
            </a:r>
            <a:r>
              <a:rPr lang="en-US" altLang="zh-CN">
                <a:solidFill>
                  <a:srgbClr val="FF0000"/>
                </a:solidFill>
              </a:rPr>
              <a:t>)=-90</a:t>
            </a:r>
            <a:r>
              <a:rPr lang="zh-CN" altLang="zh-CN">
                <a:solidFill>
                  <a:srgbClr val="FF0000"/>
                </a:solidFill>
              </a:rPr>
              <a:t>°</a:t>
            </a:r>
            <a:r>
              <a:rPr lang="en-US" altLang="zh-CN">
                <a:solidFill>
                  <a:srgbClr val="FF0000"/>
                </a:solidFill>
                <a:latin typeface="华文中宋" panose="02010600040101010101" pitchFamily="2" charset="-122"/>
              </a:rPr>
              <a:t>  </a:t>
            </a:r>
            <a:r>
              <a:rPr lang="en-US" altLang="zh-CN">
                <a:latin typeface="华文中宋" panose="02010600040101010101" pitchFamily="2" charset="-122"/>
              </a:rPr>
              <a:t>    </a:t>
            </a:r>
            <a:r>
              <a:rPr lang="en-US" altLang="zh-CN"/>
              <a:t> </a:t>
            </a:r>
          </a:p>
        </p:txBody>
      </p:sp>
      <p:graphicFrame>
        <p:nvGraphicFramePr>
          <p:cNvPr id="64517" name="Object 2"/>
          <p:cNvGraphicFramePr>
            <a:graphicFrameLocks noGrp="1" noChangeAspect="1"/>
          </p:cNvGraphicFramePr>
          <p:nvPr>
            <p:ph sz="half" idx="2"/>
          </p:nvPr>
        </p:nvGraphicFramePr>
        <p:xfrm>
          <a:off x="5795963" y="404813"/>
          <a:ext cx="3097212" cy="1682750"/>
        </p:xfrm>
        <a:graphic>
          <a:graphicData uri="http://schemas.openxmlformats.org/presentationml/2006/ole">
            <mc:AlternateContent xmlns:mc="http://schemas.openxmlformats.org/markup-compatibility/2006">
              <mc:Choice xmlns:v="urn:schemas-microsoft-com:vml" Requires="v">
                <p:oleObj name="公式" r:id="rId4" imgW="1917700" imgH="1041400" progId="Equation.3">
                  <p:embed/>
                </p:oleObj>
              </mc:Choice>
              <mc:Fallback>
                <p:oleObj name="公式" r:id="rId4" imgW="1917700" imgH="10414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5963" y="404813"/>
                        <a:ext cx="3097212" cy="168275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6"/>
          <p:cNvGrpSpPr/>
          <p:nvPr/>
        </p:nvGrpSpPr>
        <p:grpSpPr bwMode="auto">
          <a:xfrm>
            <a:off x="5795963" y="4365625"/>
            <a:ext cx="2535237" cy="1268413"/>
            <a:chOff x="3651" y="2750"/>
            <a:chExt cx="1597" cy="799"/>
          </a:xfrm>
        </p:grpSpPr>
        <p:sp>
          <p:nvSpPr>
            <p:cNvPr id="64520" name="Line 7"/>
            <p:cNvSpPr>
              <a:spLocks noChangeShapeType="1"/>
            </p:cNvSpPr>
            <p:nvPr/>
          </p:nvSpPr>
          <p:spPr bwMode="auto">
            <a:xfrm>
              <a:off x="3787" y="2762"/>
              <a:ext cx="1092" cy="773"/>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521" name="Line 8"/>
            <p:cNvSpPr>
              <a:spLocks noChangeShapeType="1"/>
            </p:cNvSpPr>
            <p:nvPr/>
          </p:nvSpPr>
          <p:spPr bwMode="auto">
            <a:xfrm>
              <a:off x="4885" y="3549"/>
              <a:ext cx="363" cy="0"/>
            </a:xfrm>
            <a:prstGeom prst="line">
              <a:avLst/>
            </a:prstGeom>
            <a:noFill/>
            <a:ln w="38100">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522" name="Line 9"/>
            <p:cNvSpPr>
              <a:spLocks noChangeShapeType="1"/>
            </p:cNvSpPr>
            <p:nvPr/>
          </p:nvSpPr>
          <p:spPr bwMode="auto">
            <a:xfrm flipH="1">
              <a:off x="3651" y="2750"/>
              <a:ext cx="182" cy="0"/>
            </a:xfrm>
            <a:prstGeom prst="line">
              <a:avLst/>
            </a:prstGeom>
            <a:noFill/>
            <a:ln w="28575">
              <a:solidFill>
                <a:srgbClr val="008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0" name="日期占位符 9"/>
          <p:cNvSpPr>
            <a:spLocks noGrp="1"/>
          </p:cNvSpPr>
          <p:nvPr>
            <p:ph type="dt" sz="quarter" idx="10"/>
          </p:nvPr>
        </p:nvSpPr>
        <p:spPr/>
        <p:txBody>
          <a:bodyPr/>
          <a:lstStyle/>
          <a:p>
            <a:pPr>
              <a:defRPr/>
            </a:pPr>
            <a:fld id="{8E2B6688-A148-402C-AA21-1232DDEA493D}" type="datetime1">
              <a:rPr lang="zh-CN" altLang="en-US"/>
              <a:t>2026/4/28</a:t>
            </a:fld>
            <a:endParaRPr lang="zh-CN" altLang="en-US" dirty="0"/>
          </a:p>
        </p:txBody>
      </p:sp>
      <p:sp>
        <p:nvSpPr>
          <p:cNvPr id="3" name="墨迹 2"/>
          <p:cNvSpPr/>
          <p:nvPr/>
        </p:nvSpPr>
        <p:spPr bwMode="auto">
          <a:xfrm>
            <a:off x="5492520" y="4066200"/>
            <a:ext cx="3219120" cy="19598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4860"/>
    </mc:Choice>
    <mc:Fallback xmlns="">
      <p:transition spd="slow" advTm="34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623618">
                                            <p:bg/>
                                          </p:spTgt>
                                        </p:tgtEl>
                                        <p:attrNameLst>
                                          <p:attrName>style.visibility</p:attrName>
                                        </p:attrNameLst>
                                      </p:cBhvr>
                                      <p:to>
                                        <p:strVal val="visible"/>
                                      </p:to>
                                    </p:set>
                                    <p:anim calcmode="lin" valueType="num">
                                      <p:cBhvr>
                                        <p:cTn id="12" dur="1000" fill="hold"/>
                                        <p:tgtEl>
                                          <p:spTgt spid="623618">
                                            <p:bg/>
                                          </p:spTgt>
                                        </p:tgtEl>
                                        <p:attrNameLst>
                                          <p:attrName>ppt_w</p:attrName>
                                        </p:attrNameLst>
                                      </p:cBhvr>
                                      <p:tavLst>
                                        <p:tav tm="0">
                                          <p:val>
                                            <p:strVal val="#ppt_w*0.70"/>
                                          </p:val>
                                        </p:tav>
                                        <p:tav tm="100000">
                                          <p:val>
                                            <p:strVal val="#ppt_w"/>
                                          </p:val>
                                        </p:tav>
                                      </p:tavLst>
                                    </p:anim>
                                    <p:anim calcmode="lin" valueType="num">
                                      <p:cBhvr>
                                        <p:cTn id="13" dur="1000" fill="hold"/>
                                        <p:tgtEl>
                                          <p:spTgt spid="623618">
                                            <p:bg/>
                                          </p:spTgt>
                                        </p:tgtEl>
                                        <p:attrNameLst>
                                          <p:attrName>ppt_h</p:attrName>
                                        </p:attrNameLst>
                                      </p:cBhvr>
                                      <p:tavLst>
                                        <p:tav tm="0">
                                          <p:val>
                                            <p:strVal val="#ppt_h"/>
                                          </p:val>
                                        </p:tav>
                                        <p:tav tm="100000">
                                          <p:val>
                                            <p:strVal val="#ppt_h"/>
                                          </p:val>
                                        </p:tav>
                                      </p:tavLst>
                                    </p:anim>
                                    <p:animEffect transition="in" filter="fade">
                                      <p:cBhvr>
                                        <p:cTn id="14" dur="1000"/>
                                        <p:tgtEl>
                                          <p:spTgt spid="623618">
                                            <p:bg/>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623618">
                                            <p:txEl>
                                              <p:pRg st="0" end="0"/>
                                            </p:txEl>
                                          </p:spTgt>
                                        </p:tgtEl>
                                        <p:attrNameLst>
                                          <p:attrName>style.visibility</p:attrName>
                                        </p:attrNameLst>
                                      </p:cBhvr>
                                      <p:to>
                                        <p:strVal val="visible"/>
                                      </p:to>
                                    </p:set>
                                    <p:anim calcmode="lin" valueType="num">
                                      <p:cBhvr>
                                        <p:cTn id="19" dur="1000" fill="hold"/>
                                        <p:tgtEl>
                                          <p:spTgt spid="623618">
                                            <p:txEl>
                                              <p:pRg st="0" end="0"/>
                                            </p:txEl>
                                          </p:spTgt>
                                        </p:tgtEl>
                                        <p:attrNameLst>
                                          <p:attrName>ppt_w</p:attrName>
                                        </p:attrNameLst>
                                      </p:cBhvr>
                                      <p:tavLst>
                                        <p:tav tm="0">
                                          <p:val>
                                            <p:strVal val="#ppt_w*0.70"/>
                                          </p:val>
                                        </p:tav>
                                        <p:tav tm="100000">
                                          <p:val>
                                            <p:strVal val="#ppt_w"/>
                                          </p:val>
                                        </p:tav>
                                      </p:tavLst>
                                    </p:anim>
                                    <p:anim calcmode="lin" valueType="num">
                                      <p:cBhvr>
                                        <p:cTn id="20" dur="1000" fill="hold"/>
                                        <p:tgtEl>
                                          <p:spTgt spid="623618">
                                            <p:txEl>
                                              <p:pRg st="0" end="0"/>
                                            </p:txEl>
                                          </p:spTgt>
                                        </p:tgtEl>
                                        <p:attrNameLst>
                                          <p:attrName>ppt_h</p:attrName>
                                        </p:attrNameLst>
                                      </p:cBhvr>
                                      <p:tavLst>
                                        <p:tav tm="0">
                                          <p:val>
                                            <p:strVal val="#ppt_h"/>
                                          </p:val>
                                        </p:tav>
                                        <p:tav tm="100000">
                                          <p:val>
                                            <p:strVal val="#ppt_h"/>
                                          </p:val>
                                        </p:tav>
                                      </p:tavLst>
                                    </p:anim>
                                    <p:animEffect transition="in" filter="fade">
                                      <p:cBhvr>
                                        <p:cTn id="21" dur="1000"/>
                                        <p:tgtEl>
                                          <p:spTgt spid="623618">
                                            <p:txEl>
                                              <p:pRg st="0" end="0"/>
                                            </p:txEl>
                                          </p:spTgt>
                                        </p:tgtEl>
                                      </p:cBhvr>
                                    </p:animEffect>
                                  </p:childTnLst>
                                </p:cTn>
                              </p:par>
                            </p:childTnLst>
                          </p:cTn>
                        </p:par>
                        <p:par>
                          <p:cTn id="22" fill="hold">
                            <p:stCondLst>
                              <p:cond delay="1000"/>
                            </p:stCondLst>
                            <p:childTnLst>
                              <p:par>
                                <p:cTn id="23" presetID="55" presetClass="entr" presetSubtype="0" fill="hold" nodeType="afterEffect">
                                  <p:stCondLst>
                                    <p:cond delay="0"/>
                                  </p:stCondLst>
                                  <p:childTnLst>
                                    <p:set>
                                      <p:cBhvr>
                                        <p:cTn id="24" dur="1" fill="hold">
                                          <p:stCondLst>
                                            <p:cond delay="0"/>
                                          </p:stCondLst>
                                        </p:cTn>
                                        <p:tgtEl>
                                          <p:spTgt spid="623619"/>
                                        </p:tgtEl>
                                        <p:attrNameLst>
                                          <p:attrName>style.visibility</p:attrName>
                                        </p:attrNameLst>
                                      </p:cBhvr>
                                      <p:to>
                                        <p:strVal val="visible"/>
                                      </p:to>
                                    </p:set>
                                    <p:anim calcmode="lin" valueType="num">
                                      <p:cBhvr>
                                        <p:cTn id="25" dur="1000" fill="hold"/>
                                        <p:tgtEl>
                                          <p:spTgt spid="623619"/>
                                        </p:tgtEl>
                                        <p:attrNameLst>
                                          <p:attrName>ppt_w</p:attrName>
                                        </p:attrNameLst>
                                      </p:cBhvr>
                                      <p:tavLst>
                                        <p:tav tm="0">
                                          <p:val>
                                            <p:strVal val="#ppt_w*0.70"/>
                                          </p:val>
                                        </p:tav>
                                        <p:tav tm="100000">
                                          <p:val>
                                            <p:strVal val="#ppt_w"/>
                                          </p:val>
                                        </p:tav>
                                      </p:tavLst>
                                    </p:anim>
                                    <p:anim calcmode="lin" valueType="num">
                                      <p:cBhvr>
                                        <p:cTn id="26" dur="1000" fill="hold"/>
                                        <p:tgtEl>
                                          <p:spTgt spid="623619"/>
                                        </p:tgtEl>
                                        <p:attrNameLst>
                                          <p:attrName>ppt_h</p:attrName>
                                        </p:attrNameLst>
                                      </p:cBhvr>
                                      <p:tavLst>
                                        <p:tav tm="0">
                                          <p:val>
                                            <p:strVal val="#ppt_h"/>
                                          </p:val>
                                        </p:tav>
                                        <p:tav tm="100000">
                                          <p:val>
                                            <p:strVal val="#ppt_h"/>
                                          </p:val>
                                        </p:tav>
                                      </p:tavLst>
                                    </p:anim>
                                    <p:animEffect transition="in" filter="fade">
                                      <p:cBhvr>
                                        <p:cTn id="27" dur="1000"/>
                                        <p:tgtEl>
                                          <p:spTgt spid="623619"/>
                                        </p:tgtEl>
                                      </p:cBhvr>
                                    </p:animEffect>
                                  </p:childTnLst>
                                </p:cTn>
                              </p:par>
                              <p:par>
                                <p:cTn id="28" presetID="55" presetClass="entr" presetSubtype="0"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1000" fill="hold"/>
                                        <p:tgtEl>
                                          <p:spTgt spid="2"/>
                                        </p:tgtEl>
                                        <p:attrNameLst>
                                          <p:attrName>ppt_w</p:attrName>
                                        </p:attrNameLst>
                                      </p:cBhvr>
                                      <p:tavLst>
                                        <p:tav tm="0">
                                          <p:val>
                                            <p:strVal val="#ppt_w*0.70"/>
                                          </p:val>
                                        </p:tav>
                                        <p:tav tm="100000">
                                          <p:val>
                                            <p:strVal val="#ppt_w"/>
                                          </p:val>
                                        </p:tav>
                                      </p:tavLst>
                                    </p:anim>
                                    <p:anim calcmode="lin" valueType="num">
                                      <p:cBhvr>
                                        <p:cTn id="31" dur="1000" fill="hold"/>
                                        <p:tgtEl>
                                          <p:spTgt spid="2"/>
                                        </p:tgtEl>
                                        <p:attrNameLst>
                                          <p:attrName>ppt_h</p:attrName>
                                        </p:attrNameLst>
                                      </p:cBhvr>
                                      <p:tavLst>
                                        <p:tav tm="0">
                                          <p:val>
                                            <p:strVal val="#ppt_h"/>
                                          </p:val>
                                        </p:tav>
                                        <p:tav tm="100000">
                                          <p:val>
                                            <p:strVal val="#ppt_h"/>
                                          </p:val>
                                        </p:tav>
                                      </p:tavLst>
                                    </p:anim>
                                    <p:animEffect transition="in" filter="fade">
                                      <p:cBhvr>
                                        <p:cTn id="3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18" grpId="0" build="p"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sz="half" idx="1"/>
          </p:nvPr>
        </p:nvSpPr>
        <p:spPr>
          <a:xfrm>
            <a:off x="971550" y="549275"/>
            <a:ext cx="3416300" cy="576263"/>
          </a:xfrm>
        </p:spPr>
        <p:txBody>
          <a:bodyPr/>
          <a:lstStyle/>
          <a:p>
            <a:pPr>
              <a:buFontTx/>
              <a:buNone/>
            </a:pPr>
            <a:r>
              <a:rPr lang="en-US" altLang="zh-CN" sz="2800" b="1"/>
              <a:t> b</a:t>
            </a:r>
            <a:r>
              <a:rPr lang="zh-CN" altLang="en-US" sz="2800" b="1"/>
              <a:t>、一阶极点的相角</a:t>
            </a:r>
          </a:p>
        </p:txBody>
      </p:sp>
      <p:graphicFrame>
        <p:nvGraphicFramePr>
          <p:cNvPr id="552963" name="Object 2"/>
          <p:cNvGraphicFramePr>
            <a:graphicFrameLocks noGrp="1" noChangeAspect="1"/>
          </p:cNvGraphicFramePr>
          <p:nvPr>
            <p:ph sz="quarter" idx="2"/>
          </p:nvPr>
        </p:nvGraphicFramePr>
        <p:xfrm>
          <a:off x="1613535" y="1412875"/>
          <a:ext cx="5053330" cy="923925"/>
        </p:xfrm>
        <a:graphic>
          <a:graphicData uri="http://schemas.openxmlformats.org/presentationml/2006/ole">
            <mc:AlternateContent xmlns:mc="http://schemas.openxmlformats.org/markup-compatibility/2006">
              <mc:Choice xmlns:v="urn:schemas-microsoft-com:vml" Requires="v">
                <p:oleObj name="公式" r:id="rId3" imgW="2362200" imgH="431800" progId="Equation.3">
                  <p:embed/>
                </p:oleObj>
              </mc:Choice>
              <mc:Fallback>
                <p:oleObj name="公式" r:id="rId3" imgW="2362200" imgH="431800" progId="Equation.3">
                  <p:embed/>
                  <p:pic>
                    <p:nvPicPr>
                      <p:cNvPr id="0" name="Object 2"/>
                      <p:cNvPicPr>
                        <a:picLocks noChangeAspect="1" noChangeArrowheads="1"/>
                      </p:cNvPicPr>
                      <p:nvPr/>
                    </p:nvPicPr>
                    <p:blipFill>
                      <a:blip r:embed="rId4"/>
                      <a:srcRect/>
                      <a:stretch>
                        <a:fillRect/>
                      </a:stretch>
                    </p:blipFill>
                    <p:spPr bwMode="auto">
                      <a:xfrm>
                        <a:off x="1613535" y="1412875"/>
                        <a:ext cx="5053330"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2964" name="Object 3"/>
          <p:cNvGraphicFramePr>
            <a:graphicFrameLocks noGrp="1" noChangeAspect="1"/>
          </p:cNvGraphicFramePr>
          <p:nvPr>
            <p:ph sz="quarter" idx="3"/>
          </p:nvPr>
        </p:nvGraphicFramePr>
        <p:xfrm>
          <a:off x="2289969" y="2492217"/>
          <a:ext cx="3844925" cy="2033905"/>
        </p:xfrm>
        <a:graphic>
          <a:graphicData uri="http://schemas.openxmlformats.org/presentationml/2006/ole">
            <mc:AlternateContent xmlns:mc="http://schemas.openxmlformats.org/markup-compatibility/2006">
              <mc:Choice xmlns:v="urn:schemas-microsoft-com:vml" Requires="v">
                <p:oleObj name="公式" r:id="rId5" imgW="1968500" imgH="1041400" progId="Equation.3">
                  <p:embed/>
                </p:oleObj>
              </mc:Choice>
              <mc:Fallback>
                <p:oleObj name="公式" r:id="rId5" imgW="1968500" imgH="1041400" progId="Equation.3">
                  <p:embed/>
                  <p:pic>
                    <p:nvPicPr>
                      <p:cNvPr id="0" name="Object 3"/>
                      <p:cNvPicPr>
                        <a:picLocks noChangeAspect="1" noChangeArrowheads="1"/>
                      </p:cNvPicPr>
                      <p:nvPr/>
                    </p:nvPicPr>
                    <p:blipFill>
                      <a:blip r:embed="rId6"/>
                      <a:srcRect/>
                      <a:stretch>
                        <a:fillRect/>
                      </a:stretch>
                    </p:blipFill>
                    <p:spPr bwMode="auto">
                      <a:xfrm>
                        <a:off x="2289969" y="2492217"/>
                        <a:ext cx="3844925" cy="203390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2967" name="Rectangle 7"/>
          <p:cNvSpPr>
            <a:spLocks noChangeArrowheads="1"/>
          </p:cNvSpPr>
          <p:nvPr/>
        </p:nvSpPr>
        <p:spPr bwMode="auto">
          <a:xfrm>
            <a:off x="1908175" y="5013325"/>
            <a:ext cx="34163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r>
              <a:rPr lang="zh-CN" altLang="en-US">
                <a:latin typeface="华文中宋" panose="02010600040101010101" pitchFamily="2" charset="-122"/>
              </a:rPr>
              <a:t>与零点相角反号。</a:t>
            </a:r>
          </a:p>
          <a:p>
            <a:pPr eaLnBrk="1" hangingPunct="1">
              <a:lnSpc>
                <a:spcPct val="85000"/>
              </a:lnSpc>
              <a:spcBef>
                <a:spcPct val="20000"/>
              </a:spcBef>
              <a:buClr>
                <a:schemeClr val="accent2"/>
              </a:buClr>
              <a:buFont typeface="Wingdings" panose="05000000000000000000" pitchFamily="2" charset="2"/>
              <a:buNone/>
            </a:pPr>
            <a:r>
              <a:rPr lang="zh-CN" altLang="en-US">
                <a:latin typeface="华文中宋" panose="02010600040101010101" pitchFamily="2" charset="-122"/>
              </a:rPr>
              <a:t>　</a:t>
            </a:r>
          </a:p>
        </p:txBody>
      </p:sp>
      <p:sp>
        <p:nvSpPr>
          <p:cNvPr id="2" name="墨迹 1"/>
          <p:cNvSpPr/>
          <p:nvPr/>
        </p:nvSpPr>
        <p:spPr bwMode="auto">
          <a:xfrm>
            <a:off x="6818040" y="1510560"/>
            <a:ext cx="2064240" cy="4542120"/>
          </a:xfrm>
        </p:spPr>
      </p:sp>
    </p:spTree>
    <p:custDataLst>
      <p:tags r:id="rId1"/>
    </p:custDataLst>
  </p:cSld>
  <p:clrMapOvr>
    <a:masterClrMapping/>
  </p:clrMapOvr>
  <p:transition spd="med" advTm="76557">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552963"/>
                                        </p:tgtEl>
                                        <p:attrNameLst>
                                          <p:attrName>style.visibility</p:attrName>
                                        </p:attrNameLst>
                                      </p:cBhvr>
                                      <p:to>
                                        <p:strVal val="visible"/>
                                      </p:to>
                                    </p:set>
                                    <p:anim calcmode="lin" valueType="num">
                                      <p:cBhvr>
                                        <p:cTn id="11" dur="1000" fill="hold"/>
                                        <p:tgtEl>
                                          <p:spTgt spid="552963"/>
                                        </p:tgtEl>
                                        <p:attrNameLst>
                                          <p:attrName>ppt_w</p:attrName>
                                        </p:attrNameLst>
                                      </p:cBhvr>
                                      <p:tavLst>
                                        <p:tav tm="0">
                                          <p:val>
                                            <p:strVal val="#ppt_w*0.70"/>
                                          </p:val>
                                        </p:tav>
                                        <p:tav tm="100000">
                                          <p:val>
                                            <p:strVal val="#ppt_w"/>
                                          </p:val>
                                        </p:tav>
                                      </p:tavLst>
                                    </p:anim>
                                    <p:anim calcmode="lin" valueType="num">
                                      <p:cBhvr>
                                        <p:cTn id="12" dur="1000" fill="hold"/>
                                        <p:tgtEl>
                                          <p:spTgt spid="552963"/>
                                        </p:tgtEl>
                                        <p:attrNameLst>
                                          <p:attrName>ppt_h</p:attrName>
                                        </p:attrNameLst>
                                      </p:cBhvr>
                                      <p:tavLst>
                                        <p:tav tm="0">
                                          <p:val>
                                            <p:strVal val="#ppt_h"/>
                                          </p:val>
                                        </p:tav>
                                        <p:tav tm="100000">
                                          <p:val>
                                            <p:strVal val="#ppt_h"/>
                                          </p:val>
                                        </p:tav>
                                      </p:tavLst>
                                    </p:anim>
                                    <p:animEffect transition="in" filter="fade">
                                      <p:cBhvr>
                                        <p:cTn id="13" dur="1000"/>
                                        <p:tgtEl>
                                          <p:spTgt spid="552963"/>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552964"/>
                                        </p:tgtEl>
                                        <p:attrNameLst>
                                          <p:attrName>style.visibility</p:attrName>
                                        </p:attrNameLst>
                                      </p:cBhvr>
                                      <p:to>
                                        <p:strVal val="visible"/>
                                      </p:to>
                                    </p:set>
                                    <p:anim calcmode="lin" valueType="num">
                                      <p:cBhvr>
                                        <p:cTn id="18" dur="1000" fill="hold"/>
                                        <p:tgtEl>
                                          <p:spTgt spid="552964"/>
                                        </p:tgtEl>
                                        <p:attrNameLst>
                                          <p:attrName>ppt_w</p:attrName>
                                        </p:attrNameLst>
                                      </p:cBhvr>
                                      <p:tavLst>
                                        <p:tav tm="0">
                                          <p:val>
                                            <p:strVal val="#ppt_w*0.70"/>
                                          </p:val>
                                        </p:tav>
                                        <p:tav tm="100000">
                                          <p:val>
                                            <p:strVal val="#ppt_w"/>
                                          </p:val>
                                        </p:tav>
                                      </p:tavLst>
                                    </p:anim>
                                    <p:anim calcmode="lin" valueType="num">
                                      <p:cBhvr>
                                        <p:cTn id="19" dur="1000" fill="hold"/>
                                        <p:tgtEl>
                                          <p:spTgt spid="552964"/>
                                        </p:tgtEl>
                                        <p:attrNameLst>
                                          <p:attrName>ppt_h</p:attrName>
                                        </p:attrNameLst>
                                      </p:cBhvr>
                                      <p:tavLst>
                                        <p:tav tm="0">
                                          <p:val>
                                            <p:strVal val="#ppt_h"/>
                                          </p:val>
                                        </p:tav>
                                        <p:tav tm="100000">
                                          <p:val>
                                            <p:strVal val="#ppt_h"/>
                                          </p:val>
                                        </p:tav>
                                      </p:tavLst>
                                    </p:anim>
                                    <p:animEffect transition="in" filter="fade">
                                      <p:cBhvr>
                                        <p:cTn id="20" dur="1000"/>
                                        <p:tgtEl>
                                          <p:spTgt spid="552964"/>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552967"/>
                                        </p:tgtEl>
                                        <p:attrNameLst>
                                          <p:attrName>style.visibility</p:attrName>
                                        </p:attrNameLst>
                                      </p:cBhvr>
                                      <p:to>
                                        <p:strVal val="visible"/>
                                      </p:to>
                                    </p:set>
                                    <p:anim calcmode="lin" valueType="num">
                                      <p:cBhvr>
                                        <p:cTn id="25" dur="1000" fill="hold"/>
                                        <p:tgtEl>
                                          <p:spTgt spid="552967"/>
                                        </p:tgtEl>
                                        <p:attrNameLst>
                                          <p:attrName>ppt_w</p:attrName>
                                        </p:attrNameLst>
                                      </p:cBhvr>
                                      <p:tavLst>
                                        <p:tav tm="0">
                                          <p:val>
                                            <p:strVal val="#ppt_w*0.70"/>
                                          </p:val>
                                        </p:tav>
                                        <p:tav tm="100000">
                                          <p:val>
                                            <p:strVal val="#ppt_w"/>
                                          </p:val>
                                        </p:tav>
                                      </p:tavLst>
                                    </p:anim>
                                    <p:anim calcmode="lin" valueType="num">
                                      <p:cBhvr>
                                        <p:cTn id="26" dur="1000" fill="hold"/>
                                        <p:tgtEl>
                                          <p:spTgt spid="552967"/>
                                        </p:tgtEl>
                                        <p:attrNameLst>
                                          <p:attrName>ppt_h</p:attrName>
                                        </p:attrNameLst>
                                      </p:cBhvr>
                                      <p:tavLst>
                                        <p:tav tm="0">
                                          <p:val>
                                            <p:strVal val="#ppt_h"/>
                                          </p:val>
                                        </p:tav>
                                        <p:tav tm="100000">
                                          <p:val>
                                            <p:strVal val="#ppt_h"/>
                                          </p:val>
                                        </p:tav>
                                      </p:tavLst>
                                    </p:anim>
                                    <p:animEffect transition="in" filter="fade">
                                      <p:cBhvr>
                                        <p:cTn id="27" dur="1000"/>
                                        <p:tgtEl>
                                          <p:spTgt spid="552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515938" y="0"/>
            <a:ext cx="5045075" cy="679450"/>
          </a:xfrm>
          <a:solidFill>
            <a:schemeClr val="accent2"/>
          </a:solidFill>
          <a:effectLst>
            <a:outerShdw dist="35921" dir="2700000" algn="ctr" rotWithShape="0">
              <a:schemeClr val="bg2"/>
            </a:outerShdw>
          </a:effectLst>
        </p:spPr>
        <p:txBody>
          <a:bodyPr/>
          <a:lstStyle/>
          <a:p>
            <a:r>
              <a:rPr lang="zh-CN" altLang="en-US" sz="2800" b="1">
                <a:solidFill>
                  <a:schemeClr val="bg1"/>
                </a:solidFill>
              </a:rPr>
              <a:t>三、二阶因子的频率特性</a:t>
            </a:r>
          </a:p>
        </p:txBody>
      </p:sp>
      <p:sp>
        <p:nvSpPr>
          <p:cNvPr id="66563" name="Rectangle 3"/>
          <p:cNvSpPr>
            <a:spLocks noGrp="1" noChangeArrowheads="1"/>
          </p:cNvSpPr>
          <p:nvPr>
            <p:ph type="body" sz="half" idx="1"/>
          </p:nvPr>
        </p:nvSpPr>
        <p:spPr>
          <a:xfrm>
            <a:off x="719138" y="773113"/>
            <a:ext cx="2376487" cy="1223962"/>
          </a:xfrm>
        </p:spPr>
        <p:txBody>
          <a:bodyPr/>
          <a:lstStyle/>
          <a:p>
            <a:pPr>
              <a:buFontTx/>
              <a:buNone/>
            </a:pPr>
            <a:r>
              <a:rPr lang="en-US" altLang="zh-CN" sz="2800" b="1">
                <a:solidFill>
                  <a:srgbClr val="FF0000"/>
                </a:solidFill>
              </a:rPr>
              <a:t>1</a:t>
            </a:r>
            <a:r>
              <a:rPr lang="zh-CN" altLang="en-US" sz="2800" b="1">
                <a:solidFill>
                  <a:srgbClr val="FF0000"/>
                </a:solidFill>
              </a:rPr>
              <a:t>、增益</a:t>
            </a:r>
            <a:br>
              <a:rPr lang="zh-CN" altLang="en-US" sz="2800" b="1">
                <a:solidFill>
                  <a:srgbClr val="FF0000"/>
                </a:solidFill>
              </a:rPr>
            </a:br>
            <a:r>
              <a:rPr lang="en-US" altLang="zh-CN" sz="2800" b="1"/>
              <a:t>a</a:t>
            </a:r>
            <a:r>
              <a:rPr lang="zh-CN" altLang="en-US" sz="2800" b="1"/>
              <a:t>、零点</a:t>
            </a:r>
          </a:p>
        </p:txBody>
      </p:sp>
      <p:graphicFrame>
        <p:nvGraphicFramePr>
          <p:cNvPr id="66564" name="Object 2"/>
          <p:cNvGraphicFramePr>
            <a:graphicFrameLocks noGrp="1" noChangeAspect="1"/>
          </p:cNvGraphicFramePr>
          <p:nvPr>
            <p:ph sz="half" idx="2"/>
          </p:nvPr>
        </p:nvGraphicFramePr>
        <p:xfrm>
          <a:off x="1708150" y="1728788"/>
          <a:ext cx="6453188" cy="2963862"/>
        </p:xfrm>
        <a:graphic>
          <a:graphicData uri="http://schemas.openxmlformats.org/presentationml/2006/ole">
            <mc:AlternateContent xmlns:mc="http://schemas.openxmlformats.org/markup-compatibility/2006">
              <mc:Choice xmlns:v="urn:schemas-microsoft-com:vml" Requires="v">
                <p:oleObj name="公式" r:id="rId2" imgW="3454400" imgH="1727200" progId="Equation.3">
                  <p:embed/>
                </p:oleObj>
              </mc:Choice>
              <mc:Fallback>
                <p:oleObj name="公式" r:id="rId2" imgW="3454400" imgH="17272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8150" y="1728788"/>
                        <a:ext cx="6453188" cy="2963862"/>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65" name="Rectangle 5"/>
          <p:cNvSpPr>
            <a:spLocks noChangeArrowheads="1"/>
          </p:cNvSpPr>
          <p:nvPr/>
        </p:nvSpPr>
        <p:spPr bwMode="auto">
          <a:xfrm>
            <a:off x="879475" y="4778375"/>
            <a:ext cx="66246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a:latin typeface="华文中宋" panose="02010600040101010101" pitchFamily="2" charset="-122"/>
              </a:rPr>
              <a:t>横轴以对数计，  </a:t>
            </a:r>
            <a:r>
              <a:rPr lang="en-US" altLang="zh-CN">
                <a:latin typeface="华文中宋" panose="02010600040101010101" pitchFamily="2" charset="-122"/>
              </a:rPr>
              <a:t>ω</a:t>
            </a:r>
            <a:r>
              <a:rPr lang="en-US" altLang="zh-CN" baseline="-25000">
                <a:latin typeface="华文中宋" panose="02010600040101010101" pitchFamily="2" charset="-122"/>
              </a:rPr>
              <a:t>1</a:t>
            </a:r>
            <a:r>
              <a:rPr lang="en-US" altLang="zh-CN">
                <a:latin typeface="华文中宋" panose="02010600040101010101" pitchFamily="2" charset="-122"/>
              </a:rPr>
              <a:t>=lgω</a:t>
            </a:r>
          </a:p>
        </p:txBody>
      </p:sp>
      <p:graphicFrame>
        <p:nvGraphicFramePr>
          <p:cNvPr id="66566" name="Object 3"/>
          <p:cNvGraphicFramePr>
            <a:graphicFrameLocks noChangeAspect="1"/>
          </p:cNvGraphicFramePr>
          <p:nvPr/>
        </p:nvGraphicFramePr>
        <p:xfrm>
          <a:off x="1262063" y="5292725"/>
          <a:ext cx="6680200" cy="1204913"/>
        </p:xfrm>
        <a:graphic>
          <a:graphicData uri="http://schemas.openxmlformats.org/presentationml/2006/ole">
            <mc:AlternateContent xmlns:mc="http://schemas.openxmlformats.org/markup-compatibility/2006">
              <mc:Choice xmlns:v="urn:schemas-microsoft-com:vml" Requires="v">
                <p:oleObj name="公式" r:id="rId4" imgW="3797300" imgH="685800" progId="Equation.3">
                  <p:embed/>
                </p:oleObj>
              </mc:Choice>
              <mc:Fallback>
                <p:oleObj name="公式" r:id="rId4" imgW="3797300" imgH="685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2063" y="5292725"/>
                        <a:ext cx="6680200" cy="1204913"/>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日期占位符 6"/>
          <p:cNvSpPr>
            <a:spLocks noGrp="1"/>
          </p:cNvSpPr>
          <p:nvPr>
            <p:ph type="dt" sz="quarter" idx="10"/>
          </p:nvPr>
        </p:nvSpPr>
        <p:spPr/>
        <p:txBody>
          <a:bodyPr/>
          <a:lstStyle/>
          <a:p>
            <a:pPr>
              <a:defRPr/>
            </a:pPr>
            <a:fld id="{56FF306D-4F78-4E6D-A449-CE4875E5C4D8}" type="datetime1">
              <a:rPr lang="zh-CN" altLang="en-US"/>
              <a:t>2026/4/28</a:t>
            </a:fld>
            <a:endParaRPr lang="zh-CN" altLang="en-US" dirty="0"/>
          </a:p>
        </p:txBody>
      </p:sp>
      <p:sp>
        <p:nvSpPr>
          <p:cNvPr id="2" name="墨迹 1"/>
          <p:cNvSpPr/>
          <p:nvPr/>
        </p:nvSpPr>
        <p:spPr bwMode="auto">
          <a:xfrm>
            <a:off x="1010160" y="982080"/>
            <a:ext cx="6457680" cy="5229360"/>
          </a:xfrm>
        </p:spPr>
      </p:sp>
    </p:spTree>
  </p:cSld>
  <p:clrMapOvr>
    <a:masterClrMapping/>
  </p:clrMapOvr>
  <mc:AlternateContent xmlns:mc="http://schemas.openxmlformats.org/markup-compatibility/2006" xmlns:p14="http://schemas.microsoft.com/office/powerpoint/2010/main">
    <mc:Choice Requires="p14">
      <p:transition spd="slow" p14:dur="2000" advTm="85762"/>
    </mc:Choice>
    <mc:Fallback xmlns="">
      <p:transition spd="slow" advTm="857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656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66566"/>
                                        </p:tgtEl>
                                        <p:attrNameLst>
                                          <p:attrName>style.visibility</p:attrName>
                                        </p:attrNameLst>
                                      </p:cBhvr>
                                      <p:to>
                                        <p:strVal val="visible"/>
                                      </p:to>
                                    </p:set>
                                    <p:anim calcmode="lin" valueType="num">
                                      <p:cBhvr additive="base">
                                        <p:cTn id="16" dur="500" fill="hold"/>
                                        <p:tgtEl>
                                          <p:spTgt spid="66566"/>
                                        </p:tgtEl>
                                        <p:attrNameLst>
                                          <p:attrName>ppt_x</p:attrName>
                                        </p:attrNameLst>
                                      </p:cBhvr>
                                      <p:tavLst>
                                        <p:tav tm="0">
                                          <p:val>
                                            <p:strVal val="#ppt_x"/>
                                          </p:val>
                                        </p:tav>
                                        <p:tav tm="100000">
                                          <p:val>
                                            <p:strVal val="#ppt_x"/>
                                          </p:val>
                                        </p:tav>
                                      </p:tavLst>
                                    </p:anim>
                                    <p:anim calcmode="lin" valueType="num">
                                      <p:cBhvr additive="base">
                                        <p:cTn id="17" dur="500" fill="hold"/>
                                        <p:tgtEl>
                                          <p:spTgt spid="665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5" grpId="0"/>
      <p:bldP spid="66565" grpId="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ChangeArrowheads="1"/>
          </p:cNvSpPr>
          <p:nvPr/>
        </p:nvSpPr>
        <p:spPr bwMode="auto">
          <a:xfrm>
            <a:off x="0" y="0"/>
            <a:ext cx="589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r>
              <a:rPr lang="zh-CN" altLang="en-US">
                <a:latin typeface="华文中宋" panose="02010600040101010101" pitchFamily="2" charset="-122"/>
              </a:rPr>
              <a:t>该增益有两条渐近线： </a:t>
            </a:r>
          </a:p>
        </p:txBody>
      </p:sp>
      <p:graphicFrame>
        <p:nvGraphicFramePr>
          <p:cNvPr id="67587" name="Object 3"/>
          <p:cNvGraphicFramePr>
            <a:graphicFrameLocks noChangeAspect="1"/>
          </p:cNvGraphicFramePr>
          <p:nvPr/>
        </p:nvGraphicFramePr>
        <p:xfrm>
          <a:off x="603250" y="1058863"/>
          <a:ext cx="8304213" cy="1614487"/>
        </p:xfrm>
        <a:graphic>
          <a:graphicData uri="http://schemas.openxmlformats.org/presentationml/2006/ole">
            <mc:AlternateContent xmlns:mc="http://schemas.openxmlformats.org/markup-compatibility/2006">
              <mc:Choice xmlns:v="urn:schemas-microsoft-com:vml" Requires="v">
                <p:oleObj name="公式" r:id="rId2" imgW="4445000" imgH="863600" progId="Equation.3">
                  <p:embed/>
                </p:oleObj>
              </mc:Choice>
              <mc:Fallback>
                <p:oleObj name="公式" r:id="rId2" imgW="4445000" imgH="8636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250" y="1058863"/>
                        <a:ext cx="8304213" cy="161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88" name="Rectangle 5"/>
          <p:cNvSpPr>
            <a:spLocks noChangeArrowheads="1"/>
          </p:cNvSpPr>
          <p:nvPr/>
        </p:nvSpPr>
        <p:spPr bwMode="auto">
          <a:xfrm>
            <a:off x="536575" y="2673350"/>
            <a:ext cx="309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zh-CN" altLang="en-US">
                <a:latin typeface="华文中宋" panose="02010600040101010101" pitchFamily="2" charset="-122"/>
              </a:rPr>
              <a:t>其图形如图所示。 </a:t>
            </a:r>
          </a:p>
        </p:txBody>
      </p:sp>
      <p:pic>
        <p:nvPicPr>
          <p:cNvPr id="67589" name="Picture 6" descr="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3213100"/>
            <a:ext cx="3744912"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7590" name="Object 4"/>
          <p:cNvGraphicFramePr>
            <a:graphicFrameLocks noChangeAspect="1"/>
          </p:cNvGraphicFramePr>
          <p:nvPr/>
        </p:nvGraphicFramePr>
        <p:xfrm>
          <a:off x="4427538" y="3573463"/>
          <a:ext cx="4140200" cy="1790700"/>
        </p:xfrm>
        <a:graphic>
          <a:graphicData uri="http://schemas.openxmlformats.org/presentationml/2006/ole">
            <mc:AlternateContent xmlns:mc="http://schemas.openxmlformats.org/markup-compatibility/2006">
              <mc:Choice xmlns:v="urn:schemas-microsoft-com:vml" Requires="v">
                <p:oleObj name="公式" r:id="rId5" imgW="1524000" imgH="660400" progId="Equation.3">
                  <p:embed/>
                </p:oleObj>
              </mc:Choice>
              <mc:Fallback>
                <p:oleObj name="公式" r:id="rId5" imgW="1524000" imgH="6604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7538" y="3573463"/>
                        <a:ext cx="4140200" cy="179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1" name="Rectangle 8"/>
          <p:cNvSpPr>
            <a:spLocks noChangeArrowheads="1"/>
          </p:cNvSpPr>
          <p:nvPr/>
        </p:nvSpPr>
        <p:spPr bwMode="auto">
          <a:xfrm>
            <a:off x="395288" y="5846445"/>
            <a:ext cx="8512175" cy="1177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449580" indent="-44958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b</a:t>
            </a:r>
            <a:r>
              <a:rPr lang="zh-CN" altLang="en-US">
                <a:latin typeface="华文中宋" panose="02010600040101010101" pitchFamily="2" charset="-122"/>
              </a:rPr>
              <a:t>、</a:t>
            </a:r>
            <a:r>
              <a:rPr lang="zh-CN" altLang="en-US">
                <a:solidFill>
                  <a:srgbClr val="FF0000"/>
                </a:solidFill>
                <a:latin typeface="华文中宋" panose="02010600040101010101" pitchFamily="2" charset="-122"/>
              </a:rPr>
              <a:t>二阶极点的增益</a:t>
            </a:r>
            <a:r>
              <a:rPr lang="zh-CN" altLang="en-US">
                <a:latin typeface="华文中宋" panose="02010600040101010101" pitchFamily="2" charset="-122"/>
              </a:rPr>
              <a:t>曲线可由可相应</a:t>
            </a:r>
            <a:r>
              <a:rPr lang="zh-CN" altLang="en-US">
                <a:solidFill>
                  <a:srgbClr val="FF0000"/>
                </a:solidFill>
                <a:latin typeface="华文中宋" panose="02010600040101010101" pitchFamily="2" charset="-122"/>
              </a:rPr>
              <a:t>零点式增益曲线绕横轴对折而得到</a:t>
            </a:r>
            <a:r>
              <a:rPr lang="zh-CN" altLang="en-US">
                <a:latin typeface="华文中宋" panose="02010600040101010101" pitchFamily="2" charset="-122"/>
              </a:rPr>
              <a:t>。 </a:t>
            </a:r>
          </a:p>
        </p:txBody>
      </p:sp>
      <p:graphicFrame>
        <p:nvGraphicFramePr>
          <p:cNvPr id="67592" name="Object 5"/>
          <p:cNvGraphicFramePr>
            <a:graphicFrameLocks noGrp="1" noChangeAspect="1"/>
          </p:cNvGraphicFramePr>
          <p:nvPr>
            <p:ph sz="half" idx="1"/>
          </p:nvPr>
        </p:nvGraphicFramePr>
        <p:xfrm>
          <a:off x="3746500" y="0"/>
          <a:ext cx="5424488" cy="1022350"/>
        </p:xfrm>
        <a:graphic>
          <a:graphicData uri="http://schemas.openxmlformats.org/presentationml/2006/ole">
            <mc:AlternateContent xmlns:mc="http://schemas.openxmlformats.org/markup-compatibility/2006">
              <mc:Choice xmlns:v="urn:schemas-microsoft-com:vml" Requires="v">
                <p:oleObj name="公式" r:id="rId7" imgW="4178300" imgH="787400" progId="Equation.3">
                  <p:embed/>
                </p:oleObj>
              </mc:Choice>
              <mc:Fallback>
                <p:oleObj name="公式" r:id="rId7" imgW="4178300" imgH="7874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6500" y="0"/>
                        <a:ext cx="5424488" cy="1022350"/>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日期占位符 9"/>
          <p:cNvSpPr>
            <a:spLocks noGrp="1"/>
          </p:cNvSpPr>
          <p:nvPr>
            <p:ph type="dt" sz="quarter" idx="10"/>
          </p:nvPr>
        </p:nvSpPr>
        <p:spPr/>
        <p:txBody>
          <a:bodyPr/>
          <a:lstStyle/>
          <a:p>
            <a:pPr>
              <a:defRPr/>
            </a:pPr>
            <a:fld id="{789B797F-033A-437F-AE05-062C5F12DD6A}" type="datetime1">
              <a:rPr lang="zh-CN" altLang="en-US"/>
              <a:t>2026/4/28</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14037"/>
    </mc:Choice>
    <mc:Fallback xmlns="">
      <p:transition spd="slow" advTm="140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8"/>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6758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759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7591"/>
                                        </p:tgtEl>
                                        <p:attrNameLst>
                                          <p:attrName>style.visibility</p:attrName>
                                        </p:attrNameLst>
                                      </p:cBhvr>
                                      <p:to>
                                        <p:strVal val="visible"/>
                                      </p:to>
                                    </p:set>
                                    <p:anim calcmode="lin" valueType="num">
                                      <p:cBhvr additive="base">
                                        <p:cTn id="22" dur="500" fill="hold"/>
                                        <p:tgtEl>
                                          <p:spTgt spid="67591"/>
                                        </p:tgtEl>
                                        <p:attrNameLst>
                                          <p:attrName>ppt_x</p:attrName>
                                        </p:attrNameLst>
                                      </p:cBhvr>
                                      <p:tavLst>
                                        <p:tav tm="0">
                                          <p:val>
                                            <p:strVal val="#ppt_x"/>
                                          </p:val>
                                        </p:tav>
                                        <p:tav tm="100000">
                                          <p:val>
                                            <p:strVal val="#ppt_x"/>
                                          </p:val>
                                        </p:tav>
                                      </p:tavLst>
                                    </p:anim>
                                    <p:anim calcmode="lin" valueType="num">
                                      <p:cBhvr additive="base">
                                        <p:cTn id="23" dur="500" fill="hold"/>
                                        <p:tgtEl>
                                          <p:spTgt spid="675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p:bldP spid="67588" grpId="1"/>
      <p:bldP spid="67591" grpId="0" bldLvl="0" animBg="1"/>
      <p:bldP spid="67591"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body" sz="half" idx="1"/>
          </p:nvPr>
        </p:nvSpPr>
        <p:spPr>
          <a:xfrm>
            <a:off x="488950" y="230188"/>
            <a:ext cx="2736850" cy="1125537"/>
          </a:xfrm>
        </p:spPr>
        <p:txBody>
          <a:bodyPr/>
          <a:lstStyle/>
          <a:p>
            <a:pPr>
              <a:buFontTx/>
              <a:buNone/>
            </a:pPr>
            <a:r>
              <a:rPr lang="en-US" altLang="zh-CN" sz="2800" b="1">
                <a:solidFill>
                  <a:srgbClr val="FF0000"/>
                </a:solidFill>
              </a:rPr>
              <a:t>2</a:t>
            </a:r>
            <a:r>
              <a:rPr lang="zh-CN" altLang="en-US" sz="2800" b="1">
                <a:solidFill>
                  <a:srgbClr val="FF0000"/>
                </a:solidFill>
              </a:rPr>
              <a:t>、相角</a:t>
            </a:r>
          </a:p>
          <a:p>
            <a:pPr>
              <a:buFontTx/>
              <a:buNone/>
            </a:pPr>
            <a:r>
              <a:rPr lang="zh-CN" altLang="en-US" sz="2800" b="1"/>
              <a:t>    </a:t>
            </a:r>
            <a:r>
              <a:rPr lang="en-US" altLang="zh-CN" sz="2800" b="1"/>
              <a:t>a</a:t>
            </a:r>
            <a:r>
              <a:rPr lang="zh-CN" altLang="en-US" sz="2800" b="1"/>
              <a:t>、二阶零点</a:t>
            </a:r>
          </a:p>
        </p:txBody>
      </p:sp>
      <p:graphicFrame>
        <p:nvGraphicFramePr>
          <p:cNvPr id="68611" name="Object 2"/>
          <p:cNvGraphicFramePr>
            <a:graphicFrameLocks noGrp="1" noChangeAspect="1"/>
          </p:cNvGraphicFramePr>
          <p:nvPr>
            <p:ph sz="quarter" idx="2"/>
          </p:nvPr>
        </p:nvGraphicFramePr>
        <p:xfrm>
          <a:off x="1366520" y="2543175"/>
          <a:ext cx="7382510" cy="1132205"/>
        </p:xfrm>
        <a:graphic>
          <a:graphicData uri="http://schemas.openxmlformats.org/presentationml/2006/ole">
            <mc:AlternateContent xmlns:mc="http://schemas.openxmlformats.org/markup-compatibility/2006">
              <mc:Choice xmlns:v="urn:schemas-microsoft-com:vml" Requires="v">
                <p:oleObj name="公式" r:id="rId2" imgW="3810000" imgH="584200" progId="Equation.3">
                  <p:embed/>
                </p:oleObj>
              </mc:Choice>
              <mc:Fallback>
                <p:oleObj name="公式" r:id="rId2" imgW="3810000" imgH="584200" progId="Equation.3">
                  <p:embed/>
                  <p:pic>
                    <p:nvPicPr>
                      <p:cNvPr id="0" name="Object 2"/>
                      <p:cNvPicPr>
                        <a:picLocks noChangeAspect="1" noChangeArrowheads="1"/>
                      </p:cNvPicPr>
                      <p:nvPr/>
                    </p:nvPicPr>
                    <p:blipFill>
                      <a:blip r:embed="rId3"/>
                      <a:srcRect/>
                      <a:stretch>
                        <a:fillRect/>
                      </a:stretch>
                    </p:blipFill>
                    <p:spPr bwMode="auto">
                      <a:xfrm>
                        <a:off x="1366520" y="2543175"/>
                        <a:ext cx="7382510" cy="11322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12" name="Rectangle 4"/>
          <p:cNvSpPr>
            <a:spLocks noChangeArrowheads="1"/>
          </p:cNvSpPr>
          <p:nvPr/>
        </p:nvSpPr>
        <p:spPr bwMode="auto">
          <a:xfrm>
            <a:off x="755650" y="3860800"/>
            <a:ext cx="2016125" cy="50482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solidFill>
                  <a:srgbClr val="FF0000"/>
                </a:solidFill>
                <a:latin typeface="华文中宋" panose="02010600040101010101" pitchFamily="2" charset="-122"/>
              </a:rPr>
              <a:t>①</a:t>
            </a:r>
            <a:r>
              <a:rPr lang="zh-CN" altLang="en-US">
                <a:solidFill>
                  <a:srgbClr val="FF0000"/>
                </a:solidFill>
                <a:latin typeface="华文中宋" panose="02010600040101010101" pitchFamily="2" charset="-122"/>
              </a:rPr>
              <a:t>、</a:t>
            </a:r>
            <a:r>
              <a:rPr lang="en-US" altLang="zh-CN">
                <a:solidFill>
                  <a:srgbClr val="FF0000"/>
                </a:solidFill>
                <a:latin typeface="华文中宋" panose="02010600040101010101" pitchFamily="2" charset="-122"/>
              </a:rPr>
              <a:t>σ</a:t>
            </a:r>
            <a:r>
              <a:rPr lang="en-US" altLang="zh-CN" baseline="-25000">
                <a:solidFill>
                  <a:srgbClr val="FF0000"/>
                </a:solidFill>
                <a:latin typeface="华文中宋" panose="02010600040101010101" pitchFamily="2" charset="-122"/>
              </a:rPr>
              <a:t>2</a:t>
            </a:r>
            <a:r>
              <a:rPr lang="en-US" altLang="zh-CN">
                <a:solidFill>
                  <a:srgbClr val="FF0000"/>
                </a:solidFill>
                <a:latin typeface="华文中宋" panose="02010600040101010101" pitchFamily="2" charset="-122"/>
              </a:rPr>
              <a:t>&lt;0 </a:t>
            </a:r>
          </a:p>
        </p:txBody>
      </p:sp>
      <p:graphicFrame>
        <p:nvGraphicFramePr>
          <p:cNvPr id="68613" name="Object 3"/>
          <p:cNvGraphicFramePr>
            <a:graphicFrameLocks noChangeAspect="1"/>
          </p:cNvGraphicFramePr>
          <p:nvPr/>
        </p:nvGraphicFramePr>
        <p:xfrm>
          <a:off x="971550" y="4341813"/>
          <a:ext cx="8172450" cy="2135187"/>
        </p:xfrm>
        <a:graphic>
          <a:graphicData uri="http://schemas.openxmlformats.org/presentationml/2006/ole">
            <mc:AlternateContent xmlns:mc="http://schemas.openxmlformats.org/markup-compatibility/2006">
              <mc:Choice xmlns:v="urn:schemas-microsoft-com:vml" Requires="v">
                <p:oleObj name="公式" r:id="rId4" imgW="2870200" imgH="749300" progId="Equation.3">
                  <p:embed/>
                </p:oleObj>
              </mc:Choice>
              <mc:Fallback>
                <p:oleObj name="公式" r:id="rId4" imgW="2870200" imgH="7493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4341813"/>
                        <a:ext cx="8172450" cy="2135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14" name="Object 4"/>
          <p:cNvGraphicFramePr>
            <a:graphicFrameLocks noGrp="1" noChangeAspect="1"/>
          </p:cNvGraphicFramePr>
          <p:nvPr>
            <p:ph sz="quarter" idx="3"/>
          </p:nvPr>
        </p:nvGraphicFramePr>
        <p:xfrm>
          <a:off x="3124835" y="641985"/>
          <a:ext cx="6132830" cy="1716405"/>
        </p:xfrm>
        <a:graphic>
          <a:graphicData uri="http://schemas.openxmlformats.org/presentationml/2006/ole">
            <mc:AlternateContent xmlns:mc="http://schemas.openxmlformats.org/markup-compatibility/2006">
              <mc:Choice xmlns:v="urn:schemas-microsoft-com:vml" Requires="v">
                <p:oleObj name="公式" r:id="rId6" imgW="3086100" imgH="862965" progId="Equation.3">
                  <p:embed/>
                </p:oleObj>
              </mc:Choice>
              <mc:Fallback>
                <p:oleObj name="公式" r:id="rId6" imgW="3086100" imgH="862965" progId="Equation.3">
                  <p:embed/>
                  <p:pic>
                    <p:nvPicPr>
                      <p:cNvPr id="0" name="Object 4"/>
                      <p:cNvPicPr>
                        <a:picLocks noChangeAspect="1" noChangeArrowheads="1"/>
                      </p:cNvPicPr>
                      <p:nvPr/>
                    </p:nvPicPr>
                    <p:blipFill>
                      <a:blip r:embed="rId7"/>
                      <a:srcRect/>
                      <a:stretch>
                        <a:fillRect/>
                      </a:stretch>
                    </p:blipFill>
                    <p:spPr bwMode="auto">
                      <a:xfrm>
                        <a:off x="3124835" y="641985"/>
                        <a:ext cx="6132830" cy="171640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墨迹 1"/>
          <p:cNvSpPr/>
          <p:nvPr/>
        </p:nvSpPr>
        <p:spPr bwMode="auto">
          <a:xfrm>
            <a:off x="1464480" y="3658680"/>
            <a:ext cx="2357640" cy="657360"/>
          </a:xfrm>
        </p:spPr>
      </p:sp>
    </p:spTree>
  </p:cSld>
  <p:clrMapOvr>
    <a:masterClrMapping/>
  </p:clrMapOvr>
  <p:transition spd="med" advTm="16112">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6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8613"/>
                                        </p:tgtEl>
                                        <p:attrNameLst>
                                          <p:attrName>style.visibility</p:attrName>
                                        </p:attrNameLst>
                                      </p:cBhvr>
                                      <p:to>
                                        <p:strVal val="visible"/>
                                      </p:to>
                                    </p:set>
                                    <p:anim calcmode="lin" valueType="num">
                                      <p:cBhvr additive="base">
                                        <p:cTn id="15" dur="500" fill="hold"/>
                                        <p:tgtEl>
                                          <p:spTgt spid="68613"/>
                                        </p:tgtEl>
                                        <p:attrNameLst>
                                          <p:attrName>ppt_x</p:attrName>
                                        </p:attrNameLst>
                                      </p:cBhvr>
                                      <p:tavLst>
                                        <p:tav tm="0">
                                          <p:val>
                                            <p:strVal val="#ppt_x"/>
                                          </p:val>
                                        </p:tav>
                                        <p:tav tm="100000">
                                          <p:val>
                                            <p:strVal val="#ppt_x"/>
                                          </p:val>
                                        </p:tav>
                                      </p:tavLst>
                                    </p:anim>
                                    <p:anim calcmode="lin" valueType="num">
                                      <p:cBhvr additive="base">
                                        <p:cTn id="16" dur="500" fill="hold"/>
                                        <p:tgtEl>
                                          <p:spTgt spid="686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animBg="1"/>
      <p:bldP spid="68612"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611188" y="404813"/>
            <a:ext cx="374491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a:latin typeface="华文中宋" panose="02010600040101010101" pitchFamily="2" charset="-122"/>
              </a:rPr>
              <a:t>如下图所示。 </a:t>
            </a:r>
          </a:p>
        </p:txBody>
      </p:sp>
      <p:pic>
        <p:nvPicPr>
          <p:cNvPr id="69635" name="Picture 3" descr="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981075"/>
            <a:ext cx="489585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9636" name="Object 2"/>
          <p:cNvGraphicFramePr>
            <a:graphicFrameLocks noGrp="1" noChangeAspect="1"/>
          </p:cNvGraphicFramePr>
          <p:nvPr>
            <p:ph/>
          </p:nvPr>
        </p:nvGraphicFramePr>
        <p:xfrm>
          <a:off x="755650" y="4879975"/>
          <a:ext cx="6096000" cy="661988"/>
        </p:xfrm>
        <a:graphic>
          <a:graphicData uri="http://schemas.openxmlformats.org/presentationml/2006/ole">
            <mc:AlternateContent xmlns:mc="http://schemas.openxmlformats.org/markup-compatibility/2006">
              <mc:Choice xmlns:v="urn:schemas-microsoft-com:vml" Requires="v">
                <p:oleObj name="公式" r:id="rId3" imgW="2336800" imgH="254000" progId="Equation.3">
                  <p:embed/>
                </p:oleObj>
              </mc:Choice>
              <mc:Fallback>
                <p:oleObj name="公式" r:id="rId3" imgW="2336800" imgH="254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4879975"/>
                        <a:ext cx="6096000" cy="661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7" name="Rectangle 5"/>
          <p:cNvSpPr>
            <a:spLocks noChangeArrowheads="1"/>
          </p:cNvSpPr>
          <p:nvPr/>
        </p:nvSpPr>
        <p:spPr bwMode="auto">
          <a:xfrm>
            <a:off x="755650" y="5734050"/>
            <a:ext cx="71294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a:highlight>
                  <a:srgbClr val="FFFF00"/>
                </a:highlight>
                <a:latin typeface="华文中宋" panose="02010600040101010101" pitchFamily="2" charset="-122"/>
              </a:rPr>
              <a:t>②</a:t>
            </a:r>
            <a:r>
              <a:rPr lang="zh-CN" altLang="en-US">
                <a:highlight>
                  <a:srgbClr val="FFFF00"/>
                </a:highlight>
                <a:latin typeface="华文中宋" panose="02010600040101010101" pitchFamily="2" charset="-122"/>
              </a:rPr>
              <a:t>、</a:t>
            </a:r>
            <a:r>
              <a:rPr lang="en-US" altLang="zh-CN">
                <a:highlight>
                  <a:srgbClr val="FFFF00"/>
                </a:highlight>
                <a:latin typeface="华文中宋" panose="02010600040101010101" pitchFamily="2" charset="-122"/>
              </a:rPr>
              <a:t>σ</a:t>
            </a:r>
            <a:r>
              <a:rPr lang="en-US" altLang="zh-CN" baseline="-25000">
                <a:highlight>
                  <a:srgbClr val="FFFF00"/>
                </a:highlight>
                <a:latin typeface="华文中宋" panose="02010600040101010101" pitchFamily="2" charset="-122"/>
              </a:rPr>
              <a:t>2</a:t>
            </a:r>
            <a:r>
              <a:rPr lang="en-US" altLang="zh-CN">
                <a:highlight>
                  <a:srgbClr val="FFFF00"/>
                </a:highlight>
                <a:latin typeface="华文中宋" panose="02010600040101010101" pitchFamily="2" charset="-122"/>
              </a:rPr>
              <a:t>&gt;0</a:t>
            </a:r>
            <a:r>
              <a:rPr lang="zh-CN" altLang="en-US">
                <a:highlight>
                  <a:srgbClr val="FFFF00"/>
                </a:highlight>
                <a:latin typeface="华文中宋" panose="02010600040101010101" pitchFamily="2" charset="-122"/>
              </a:rPr>
              <a:t>，图为将上图绕横轴反折。 </a:t>
            </a:r>
          </a:p>
        </p:txBody>
      </p:sp>
      <p:sp>
        <p:nvSpPr>
          <p:cNvPr id="6" name="日期占位符 5"/>
          <p:cNvSpPr>
            <a:spLocks noGrp="1"/>
          </p:cNvSpPr>
          <p:nvPr>
            <p:ph type="dt" sz="quarter" idx="10"/>
          </p:nvPr>
        </p:nvSpPr>
        <p:spPr/>
        <p:txBody>
          <a:bodyPr/>
          <a:lstStyle/>
          <a:p>
            <a:pPr>
              <a:defRPr/>
            </a:pPr>
            <a:fld id="{E14B420A-EE4F-411D-9C38-62E0B5E21ECD}" type="datetime1">
              <a:rPr lang="zh-CN" altLang="en-US"/>
              <a:t>2026/4/28</a:t>
            </a:fld>
            <a:endParaRPr lang="zh-CN" altLang="en-US"/>
          </a:p>
        </p:txBody>
      </p:sp>
      <p:sp>
        <p:nvSpPr>
          <p:cNvPr id="2" name="墨迹 1"/>
          <p:cNvSpPr/>
          <p:nvPr/>
        </p:nvSpPr>
        <p:spPr bwMode="auto">
          <a:xfrm>
            <a:off x="2511360" y="1614600"/>
            <a:ext cx="6558480" cy="3579840"/>
          </a:xfrm>
        </p:spPr>
      </p:sp>
      <p:sp>
        <p:nvSpPr>
          <p:cNvPr id="3" name="文本框 2"/>
          <p:cNvSpPr txBox="1"/>
          <p:nvPr/>
        </p:nvSpPr>
        <p:spPr>
          <a:xfrm>
            <a:off x="3733800" y="1125538"/>
            <a:ext cx="868680" cy="703262"/>
          </a:xfrm>
          <a:prstGeom prst="rect">
            <a:avLst/>
          </a:prstGeom>
          <a:solidFill>
            <a:schemeClr val="bg1"/>
          </a:solidFill>
        </p:spPr>
        <p:txBody>
          <a:bodyPr wrap="square" rtlCol="0">
            <a:spAutoFit/>
          </a:bodyPr>
          <a:lstStyle/>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9990"/>
    </mc:Choice>
    <mc:Fallback xmlns="">
      <p:transition spd="slow" advTm="79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963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963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963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9637"/>
                                        </p:tgtEl>
                                        <p:attrNameLst>
                                          <p:attrName>style.visibility</p:attrName>
                                        </p:attrNameLst>
                                      </p:cBhvr>
                                      <p:to>
                                        <p:strVal val="visible"/>
                                      </p:to>
                                    </p:set>
                                    <p:anim calcmode="lin" valueType="num">
                                      <p:cBhvr additive="base">
                                        <p:cTn id="22" dur="500" fill="hold"/>
                                        <p:tgtEl>
                                          <p:spTgt spid="69637"/>
                                        </p:tgtEl>
                                        <p:attrNameLst>
                                          <p:attrName>ppt_x</p:attrName>
                                        </p:attrNameLst>
                                      </p:cBhvr>
                                      <p:tavLst>
                                        <p:tav tm="0">
                                          <p:val>
                                            <p:strVal val="#ppt_x"/>
                                          </p:val>
                                        </p:tav>
                                        <p:tav tm="100000">
                                          <p:val>
                                            <p:strVal val="#ppt_x"/>
                                          </p:val>
                                        </p:tav>
                                      </p:tavLst>
                                    </p:anim>
                                    <p:anim calcmode="lin" valueType="num">
                                      <p:cBhvr additive="base">
                                        <p:cTn id="23" dur="500" fill="hold"/>
                                        <p:tgtEl>
                                          <p:spTgt spid="696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P spid="69634" grpId="1"/>
      <p:bldP spid="69637" grpId="0"/>
      <p:bldP spid="69637"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827088" y="333375"/>
            <a:ext cx="2808287"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b</a:t>
            </a:r>
            <a:r>
              <a:rPr lang="zh-CN" altLang="en-US">
                <a:latin typeface="华文中宋" panose="02010600040101010101" pitchFamily="2" charset="-122"/>
              </a:rPr>
              <a:t>、二阶极点 </a:t>
            </a:r>
          </a:p>
        </p:txBody>
      </p:sp>
      <p:sp>
        <p:nvSpPr>
          <p:cNvPr id="70659" name="Rectangle 3"/>
          <p:cNvSpPr>
            <a:spLocks noChangeArrowheads="1"/>
          </p:cNvSpPr>
          <p:nvPr/>
        </p:nvSpPr>
        <p:spPr bwMode="auto">
          <a:xfrm>
            <a:off x="611188" y="1817688"/>
            <a:ext cx="7993062"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p>
          <a:p>
            <a:pPr eaLnBrk="1" hangingPunct="1">
              <a:lnSpc>
                <a:spcPct val="120000"/>
              </a:lnSpc>
              <a:spcBef>
                <a:spcPct val="20000"/>
              </a:spcBef>
              <a:buClr>
                <a:schemeClr val="accent2"/>
              </a:buClr>
              <a:buFont typeface="Wingdings" panose="05000000000000000000" pitchFamily="2" charset="2"/>
              <a:buNone/>
            </a:pPr>
            <a:r>
              <a:rPr lang="en-US" altLang="zh-CN">
                <a:latin typeface="华文中宋" panose="02010600040101010101" pitchFamily="2" charset="-122"/>
              </a:rPr>
              <a:t>       </a:t>
            </a:r>
            <a:r>
              <a:rPr lang="zh-CN" altLang="en-US">
                <a:latin typeface="华文中宋" panose="02010600040101010101" pitchFamily="2" charset="-122"/>
              </a:rPr>
              <a:t>与零点反号。</a:t>
            </a:r>
          </a:p>
          <a:p>
            <a:pPr eaLnBrk="1" hangingPunct="1">
              <a:lnSpc>
                <a:spcPct val="120000"/>
              </a:lnSpc>
              <a:spcBef>
                <a:spcPct val="20000"/>
              </a:spcBef>
              <a:buClr>
                <a:schemeClr val="accent2"/>
              </a:buClr>
              <a:buFont typeface="Wingdings" panose="05000000000000000000" pitchFamily="2" charset="2"/>
              <a:buNone/>
            </a:pPr>
            <a:r>
              <a:rPr lang="zh-CN" altLang="en-US">
                <a:latin typeface="华文中宋" panose="02010600040101010101" pitchFamily="2" charset="-122"/>
              </a:rPr>
              <a:t>　     这种用折线近似原频特图的方法虽有误差，但已可定性 。</a:t>
            </a:r>
            <a:r>
              <a:rPr lang="zh-CN" altLang="en-US">
                <a:solidFill>
                  <a:srgbClr val="0000FF"/>
                </a:solidFill>
                <a:latin typeface="华文中宋" panose="02010600040101010101" pitchFamily="2" charset="-122"/>
              </a:rPr>
              <a:t>这种方法由</a:t>
            </a:r>
            <a:r>
              <a:rPr lang="en-US" altLang="zh-CN">
                <a:solidFill>
                  <a:srgbClr val="0000FF"/>
                </a:solidFill>
                <a:latin typeface="华文中宋" panose="02010600040101010101" pitchFamily="2" charset="-122"/>
              </a:rPr>
              <a:t>Bode</a:t>
            </a:r>
            <a:r>
              <a:rPr lang="zh-CN" altLang="en-US">
                <a:solidFill>
                  <a:srgbClr val="0000FF"/>
                </a:solidFill>
                <a:latin typeface="华文中宋" panose="02010600040101010101" pitchFamily="2" charset="-122"/>
              </a:rPr>
              <a:t>首先提出，所以称为</a:t>
            </a:r>
            <a:r>
              <a:rPr lang="en-US" altLang="zh-CN">
                <a:solidFill>
                  <a:srgbClr val="0000FF"/>
                </a:solidFill>
                <a:latin typeface="华文中宋" panose="02010600040101010101" pitchFamily="2" charset="-122"/>
              </a:rPr>
              <a:t>Bode</a:t>
            </a:r>
            <a:r>
              <a:rPr lang="zh-CN" altLang="en-US">
                <a:solidFill>
                  <a:srgbClr val="0000FF"/>
                </a:solidFill>
                <a:latin typeface="华文中宋" panose="02010600040101010101" pitchFamily="2" charset="-122"/>
              </a:rPr>
              <a:t>（波特）图</a:t>
            </a:r>
            <a:r>
              <a:rPr lang="zh-CN" altLang="en-US">
                <a:latin typeface="华文中宋" panose="02010600040101010101" pitchFamily="2" charset="-122"/>
              </a:rPr>
              <a:t>。</a:t>
            </a:r>
          </a:p>
          <a:p>
            <a:pPr eaLnBrk="1" hangingPunct="1">
              <a:lnSpc>
                <a:spcPct val="120000"/>
              </a:lnSpc>
              <a:spcBef>
                <a:spcPct val="20000"/>
              </a:spcBef>
              <a:buClr>
                <a:schemeClr val="accent2"/>
              </a:buClr>
              <a:buFont typeface="Wingdings" panose="05000000000000000000" pitchFamily="2" charset="2"/>
              <a:buNone/>
            </a:pPr>
            <a:r>
              <a:rPr lang="zh-CN" altLang="en-US">
                <a:latin typeface="华文中宋" panose="02010600040101010101" pitchFamily="2" charset="-122"/>
              </a:rPr>
              <a:t>        有了一阶、二阶极零点因子的波特图，那么</a:t>
            </a:r>
            <a:r>
              <a:rPr lang="en-US" altLang="zh-CN">
                <a:latin typeface="华文中宋" panose="02010600040101010101" pitchFamily="2" charset="-122"/>
              </a:rPr>
              <a:t>H(jω)</a:t>
            </a:r>
            <a:r>
              <a:rPr lang="zh-CN" altLang="en-US">
                <a:latin typeface="华文中宋" panose="02010600040101010101" pitchFamily="2" charset="-122"/>
              </a:rPr>
              <a:t>的 波特图等于各一、二阶因子</a:t>
            </a:r>
            <a:r>
              <a:rPr lang="en-US" altLang="zh-CN">
                <a:latin typeface="华文中宋" panose="02010600040101010101" pitchFamily="2" charset="-122"/>
              </a:rPr>
              <a:t>Bode</a:t>
            </a:r>
            <a:r>
              <a:rPr lang="zh-CN" altLang="en-US">
                <a:latin typeface="华文中宋" panose="02010600040101010101" pitchFamily="2" charset="-122"/>
              </a:rPr>
              <a:t>图的叠加。</a:t>
            </a:r>
          </a:p>
        </p:txBody>
      </p:sp>
      <p:graphicFrame>
        <p:nvGraphicFramePr>
          <p:cNvPr id="70660" name="Object 2"/>
          <p:cNvGraphicFramePr>
            <a:graphicFrameLocks noGrp="1" noChangeAspect="1"/>
          </p:cNvGraphicFramePr>
          <p:nvPr>
            <p:ph/>
          </p:nvPr>
        </p:nvGraphicFramePr>
        <p:xfrm>
          <a:off x="1331913" y="1196975"/>
          <a:ext cx="5761037" cy="1262063"/>
        </p:xfrm>
        <a:graphic>
          <a:graphicData uri="http://schemas.openxmlformats.org/presentationml/2006/ole">
            <mc:AlternateContent xmlns:mc="http://schemas.openxmlformats.org/markup-compatibility/2006">
              <mc:Choice xmlns:v="urn:schemas-microsoft-com:vml" Requires="v">
                <p:oleObj name="公式" r:id="rId2" imgW="2146300" imgH="469900" progId="Equation.3">
                  <p:embed/>
                </p:oleObj>
              </mc:Choice>
              <mc:Fallback>
                <p:oleObj name="公式" r:id="rId2" imgW="2146300" imgH="4699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196975"/>
                        <a:ext cx="5761037" cy="126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日期占位符 4"/>
          <p:cNvSpPr>
            <a:spLocks noGrp="1"/>
          </p:cNvSpPr>
          <p:nvPr>
            <p:ph type="dt" sz="quarter" idx="10"/>
          </p:nvPr>
        </p:nvSpPr>
        <p:spPr/>
        <p:txBody>
          <a:bodyPr/>
          <a:lstStyle/>
          <a:p>
            <a:pPr>
              <a:defRPr/>
            </a:pPr>
            <a:fld id="{E968998F-C677-47BA-8129-6E2886CC3781}" type="datetime1">
              <a:rPr lang="zh-CN" altLang="en-US"/>
              <a:t>2026/4/28</a:t>
            </a:fld>
            <a:endParaRPr lang="zh-CN" altLang="en-US"/>
          </a:p>
        </p:txBody>
      </p:sp>
      <p:sp>
        <p:nvSpPr>
          <p:cNvPr id="2" name="墨迹 1"/>
          <p:cNvSpPr/>
          <p:nvPr/>
        </p:nvSpPr>
        <p:spPr bwMode="auto">
          <a:xfrm>
            <a:off x="1803960" y="3456720"/>
            <a:ext cx="4292280" cy="1168920"/>
          </a:xfrm>
        </p:spPr>
      </p:sp>
    </p:spTree>
  </p:cSld>
  <p:clrMapOvr>
    <a:masterClrMapping/>
  </p:clrMapOvr>
  <mc:AlternateContent xmlns:mc="http://schemas.openxmlformats.org/markup-compatibility/2006" xmlns:p14="http://schemas.microsoft.com/office/powerpoint/2010/main">
    <mc:Choice Requires="p14">
      <p:transition spd="slow" p14:dur="2000" advTm="43940"/>
    </mc:Choice>
    <mc:Fallback xmlns="">
      <p:transition spd="slow" advTm="439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0659">
                                            <p:txEl>
                                              <p:pRg st="1" end="1"/>
                                            </p:txEl>
                                          </p:spTgt>
                                        </p:tgtEl>
                                        <p:attrNameLst>
                                          <p:attrName>style.visibility</p:attrName>
                                        </p:attrNameLst>
                                      </p:cBhvr>
                                      <p:to>
                                        <p:strVal val="visible"/>
                                      </p:to>
                                    </p:set>
                                    <p:anim calcmode="lin" valueType="num">
                                      <p:cBhvr additive="base">
                                        <p:cTn id="11" dur="500" fill="hold"/>
                                        <p:tgtEl>
                                          <p:spTgt spid="706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06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0659">
                                            <p:txEl>
                                              <p:pRg st="2" end="2"/>
                                            </p:txEl>
                                          </p:spTgt>
                                        </p:tgtEl>
                                        <p:attrNameLst>
                                          <p:attrName>style.visibility</p:attrName>
                                        </p:attrNameLst>
                                      </p:cBhvr>
                                      <p:to>
                                        <p:strVal val="visible"/>
                                      </p:to>
                                    </p:set>
                                    <p:anim calcmode="lin" valueType="num">
                                      <p:cBhvr additive="base">
                                        <p:cTn id="17" dur="500" fill="hold"/>
                                        <p:tgtEl>
                                          <p:spTgt spid="706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06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6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body" sz="half" idx="1"/>
          </p:nvPr>
        </p:nvSpPr>
        <p:spPr>
          <a:xfrm>
            <a:off x="539750" y="188913"/>
            <a:ext cx="8424863" cy="719137"/>
          </a:xfrm>
        </p:spPr>
        <p:txBody>
          <a:bodyPr/>
          <a:lstStyle/>
          <a:p>
            <a:pPr>
              <a:buFontTx/>
              <a:buNone/>
            </a:pPr>
            <a:r>
              <a:rPr lang="zh-CN" altLang="en-US" sz="2800"/>
              <a:t>以上说明的是分析方法，下面举一例说明。 </a:t>
            </a:r>
          </a:p>
        </p:txBody>
      </p:sp>
      <p:graphicFrame>
        <p:nvGraphicFramePr>
          <p:cNvPr id="71683" name="Object 2"/>
          <p:cNvGraphicFramePr>
            <a:graphicFrameLocks noGrp="1" noChangeAspect="1"/>
          </p:cNvGraphicFramePr>
          <p:nvPr>
            <p:ph sz="half" idx="2"/>
          </p:nvPr>
        </p:nvGraphicFramePr>
        <p:xfrm>
          <a:off x="609600" y="966470"/>
          <a:ext cx="8481060" cy="895350"/>
        </p:xfrm>
        <a:graphic>
          <a:graphicData uri="http://schemas.openxmlformats.org/presentationml/2006/ole">
            <mc:AlternateContent xmlns:mc="http://schemas.openxmlformats.org/markup-compatibility/2006">
              <mc:Choice xmlns:v="urn:schemas-microsoft-com:vml" Requires="v">
                <p:oleObj name="公式" r:id="rId2" imgW="3733800" imgH="393700" progId="Equation.3">
                  <p:embed/>
                </p:oleObj>
              </mc:Choice>
              <mc:Fallback>
                <p:oleObj name="公式" r:id="rId2" imgW="3733800" imgH="393700" progId="Equation.3">
                  <p:embed/>
                  <p:pic>
                    <p:nvPicPr>
                      <p:cNvPr id="0" name="Object 2"/>
                      <p:cNvPicPr>
                        <a:picLocks noChangeAspect="1" noChangeArrowheads="1"/>
                      </p:cNvPicPr>
                      <p:nvPr/>
                    </p:nvPicPr>
                    <p:blipFill>
                      <a:blip r:embed="rId3"/>
                      <a:srcRect/>
                      <a:stretch>
                        <a:fillRect/>
                      </a:stretch>
                    </p:blipFill>
                    <p:spPr bwMode="auto">
                      <a:xfrm>
                        <a:off x="609600" y="966470"/>
                        <a:ext cx="848106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84" name="Object 3"/>
          <p:cNvGraphicFramePr>
            <a:graphicFrameLocks noChangeAspect="1"/>
          </p:cNvGraphicFramePr>
          <p:nvPr/>
        </p:nvGraphicFramePr>
        <p:xfrm>
          <a:off x="1146810" y="2397125"/>
          <a:ext cx="6922135" cy="3119755"/>
        </p:xfrm>
        <a:graphic>
          <a:graphicData uri="http://schemas.openxmlformats.org/presentationml/2006/ole">
            <mc:AlternateContent xmlns:mc="http://schemas.openxmlformats.org/markup-compatibility/2006">
              <mc:Choice xmlns:v="urn:schemas-microsoft-com:vml" Requires="v">
                <p:oleObj name="公式" r:id="rId4" imgW="2565400" imgH="1308100" progId="Equation.3">
                  <p:embed/>
                </p:oleObj>
              </mc:Choice>
              <mc:Fallback>
                <p:oleObj name="公式" r:id="rId4" imgW="2565400" imgH="1308100" progId="Equation.3">
                  <p:embed/>
                  <p:pic>
                    <p:nvPicPr>
                      <p:cNvPr id="0" name="Object 3"/>
                      <p:cNvPicPr>
                        <a:picLocks noChangeAspect="1" noChangeArrowheads="1"/>
                      </p:cNvPicPr>
                      <p:nvPr/>
                    </p:nvPicPr>
                    <p:blipFill>
                      <a:blip r:embed="rId5"/>
                      <a:srcRect/>
                      <a:stretch>
                        <a:fillRect/>
                      </a:stretch>
                    </p:blipFill>
                    <p:spPr bwMode="auto">
                      <a:xfrm>
                        <a:off x="1146810" y="2397125"/>
                        <a:ext cx="6922135" cy="31197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日期占位符 4"/>
          <p:cNvSpPr>
            <a:spLocks noGrp="1"/>
          </p:cNvSpPr>
          <p:nvPr>
            <p:ph type="dt" sz="quarter" idx="10"/>
          </p:nvPr>
        </p:nvSpPr>
        <p:spPr/>
        <p:txBody>
          <a:bodyPr/>
          <a:lstStyle/>
          <a:p>
            <a:pPr>
              <a:defRPr/>
            </a:pPr>
            <a:fld id="{006C2B9C-A38F-42A8-97F5-70B72EA42B1C}" type="datetime1">
              <a:rPr lang="zh-CN" altLang="en-US"/>
              <a:t>2026/4/28</a:t>
            </a:fld>
            <a:endParaRPr lang="zh-CN" altLang="en-US" dirty="0"/>
          </a:p>
        </p:txBody>
      </p:sp>
      <p:sp>
        <p:nvSpPr>
          <p:cNvPr id="2" name="墨迹 1"/>
          <p:cNvSpPr/>
          <p:nvPr/>
        </p:nvSpPr>
        <p:spPr bwMode="auto">
          <a:xfrm>
            <a:off x="2255400" y="3120480"/>
            <a:ext cx="3708720" cy="1419480"/>
          </a:xfrm>
        </p:spPr>
      </p:sp>
    </p:spTree>
  </p:cSld>
  <p:clrMapOvr>
    <a:masterClrMapping/>
  </p:clrMapOvr>
  <mc:AlternateContent xmlns:mc="http://schemas.openxmlformats.org/markup-compatibility/2006" xmlns:p14="http://schemas.microsoft.com/office/powerpoint/2010/main">
    <mc:Choice Requires="p14">
      <p:transition spd="slow" p14:dur="2000" advTm="39084"/>
    </mc:Choice>
    <mc:Fallback xmlns="">
      <p:transition spd="slow" advTm="390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6" name="Object 2"/>
          <p:cNvGraphicFramePr>
            <a:graphicFrameLocks noChangeAspect="1"/>
          </p:cNvGraphicFramePr>
          <p:nvPr/>
        </p:nvGraphicFramePr>
        <p:xfrm>
          <a:off x="913130" y="112395"/>
          <a:ext cx="7030085" cy="1995805"/>
        </p:xfrm>
        <a:graphic>
          <a:graphicData uri="http://schemas.openxmlformats.org/presentationml/2006/ole">
            <mc:AlternateContent xmlns:mc="http://schemas.openxmlformats.org/markup-compatibility/2006">
              <mc:Choice xmlns:v="urn:schemas-microsoft-com:vml" Requires="v">
                <p:oleObj name="公式" r:id="rId2" imgW="2654300" imgH="927100" progId="Equation.3">
                  <p:embed/>
                </p:oleObj>
              </mc:Choice>
              <mc:Fallback>
                <p:oleObj name="公式" r:id="rId2" imgW="2654300" imgH="927100" progId="Equation.3">
                  <p:embed/>
                  <p:pic>
                    <p:nvPicPr>
                      <p:cNvPr id="0" name="Object 2"/>
                      <p:cNvPicPr>
                        <a:picLocks noChangeAspect="1" noChangeArrowheads="1"/>
                      </p:cNvPicPr>
                      <p:nvPr/>
                    </p:nvPicPr>
                    <p:blipFill>
                      <a:blip r:embed="rId3"/>
                      <a:srcRect/>
                      <a:stretch>
                        <a:fillRect/>
                      </a:stretch>
                    </p:blipFill>
                    <p:spPr bwMode="auto">
                      <a:xfrm>
                        <a:off x="913130" y="112395"/>
                        <a:ext cx="7030085" cy="19958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日期占位符 13"/>
          <p:cNvSpPr>
            <a:spLocks noGrp="1"/>
          </p:cNvSpPr>
          <p:nvPr>
            <p:ph type="dt" sz="quarter" idx="10"/>
          </p:nvPr>
        </p:nvSpPr>
        <p:spPr/>
        <p:txBody>
          <a:bodyPr/>
          <a:lstStyle/>
          <a:p>
            <a:pPr>
              <a:defRPr/>
            </a:pPr>
            <a:fld id="{557185EB-23B9-499F-8501-3D7C59C1A55A}" type="datetime1">
              <a:rPr lang="zh-CN" altLang="en-US"/>
              <a:t>2026/4/28</a:t>
            </a:fld>
            <a:endParaRPr lang="en-US" altLang="zh-CN"/>
          </a:p>
        </p:txBody>
      </p:sp>
      <p:graphicFrame>
        <p:nvGraphicFramePr>
          <p:cNvPr id="3" name="对象 2"/>
          <p:cNvGraphicFramePr/>
          <p:nvPr/>
        </p:nvGraphicFramePr>
        <p:xfrm>
          <a:off x="966470" y="2192655"/>
          <a:ext cx="7484110" cy="869950"/>
        </p:xfrm>
        <a:graphic>
          <a:graphicData uri="http://schemas.openxmlformats.org/presentationml/2006/ole">
            <mc:AlternateContent xmlns:mc="http://schemas.openxmlformats.org/markup-compatibility/2006">
              <mc:Choice xmlns:v="urn:schemas-microsoft-com:vml" Requires="v">
                <p:oleObj r:id="rId4" imgW="4931410" imgH="1080770" progId="Equation.KSEE3">
                  <p:embed/>
                </p:oleObj>
              </mc:Choice>
              <mc:Fallback>
                <p:oleObj r:id="rId4" imgW="4931410" imgH="1080770" progId="Equation.KSEE3">
                  <p:embed/>
                  <p:pic>
                    <p:nvPicPr>
                      <p:cNvPr id="0" name="图片 3"/>
                      <p:cNvPicPr/>
                      <p:nvPr/>
                    </p:nvPicPr>
                    <p:blipFill>
                      <a:blip r:embed="rId5"/>
                      <a:stretch>
                        <a:fillRect/>
                      </a:stretch>
                    </p:blipFill>
                    <p:spPr>
                      <a:xfrm>
                        <a:off x="966470" y="2192655"/>
                        <a:ext cx="7484110" cy="869950"/>
                      </a:xfrm>
                      <a:prstGeom prst="rect">
                        <a:avLst/>
                      </a:prstGeom>
                    </p:spPr>
                  </p:pic>
                </p:oleObj>
              </mc:Fallback>
            </mc:AlternateContent>
          </a:graphicData>
        </a:graphic>
      </p:graphicFrame>
      <p:graphicFrame>
        <p:nvGraphicFramePr>
          <p:cNvPr id="5" name="对象 4"/>
          <p:cNvGraphicFramePr/>
          <p:nvPr/>
        </p:nvGraphicFramePr>
        <p:xfrm>
          <a:off x="1061085" y="3201035"/>
          <a:ext cx="6584950" cy="783590"/>
        </p:xfrm>
        <a:graphic>
          <a:graphicData uri="http://schemas.openxmlformats.org/presentationml/2006/ole">
            <mc:AlternateContent xmlns:mc="http://schemas.openxmlformats.org/markup-compatibility/2006">
              <mc:Choice xmlns:v="urn:schemas-microsoft-com:vml" Requires="v">
                <p:oleObj r:id="rId6" imgW="4271645" imgH="956310" progId="Equation.KSEE3">
                  <p:embed/>
                </p:oleObj>
              </mc:Choice>
              <mc:Fallback>
                <p:oleObj r:id="rId6" imgW="4271645" imgH="956310" progId="Equation.KSEE3">
                  <p:embed/>
                  <p:pic>
                    <p:nvPicPr>
                      <p:cNvPr id="0" name="图片 5"/>
                      <p:cNvPicPr/>
                      <p:nvPr/>
                    </p:nvPicPr>
                    <p:blipFill>
                      <a:blip r:embed="rId7"/>
                      <a:stretch>
                        <a:fillRect/>
                      </a:stretch>
                    </p:blipFill>
                    <p:spPr>
                      <a:xfrm>
                        <a:off x="1061085" y="3201035"/>
                        <a:ext cx="6584950" cy="783590"/>
                      </a:xfrm>
                      <a:prstGeom prst="rect">
                        <a:avLst/>
                      </a:prstGeom>
                    </p:spPr>
                  </p:pic>
                </p:oleObj>
              </mc:Fallback>
            </mc:AlternateContent>
          </a:graphicData>
        </a:graphic>
      </p:graphicFrame>
      <p:grpSp>
        <p:nvGrpSpPr>
          <p:cNvPr id="8" name="组合 7"/>
          <p:cNvGrpSpPr/>
          <p:nvPr/>
        </p:nvGrpSpPr>
        <p:grpSpPr>
          <a:xfrm>
            <a:off x="576580" y="4183380"/>
            <a:ext cx="4047490" cy="2395220"/>
            <a:chOff x="1098" y="6501"/>
            <a:chExt cx="5006" cy="3772"/>
          </a:xfrm>
        </p:grpSpPr>
        <p:grpSp>
          <p:nvGrpSpPr>
            <p:cNvPr id="72709" name="Group 9"/>
            <p:cNvGrpSpPr/>
            <p:nvPr/>
          </p:nvGrpSpPr>
          <p:grpSpPr bwMode="auto">
            <a:xfrm>
              <a:off x="1098" y="6501"/>
              <a:ext cx="5007" cy="3772"/>
              <a:chOff x="657" y="2811"/>
              <a:chExt cx="1860" cy="1509"/>
            </a:xfrm>
          </p:grpSpPr>
          <p:pic>
            <p:nvPicPr>
              <p:cNvPr id="72711" name="Picture 10" descr="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7" y="2811"/>
                <a:ext cx="1860" cy="1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2" name="Line 11"/>
              <p:cNvSpPr>
                <a:spLocks noChangeShapeType="1"/>
              </p:cNvSpPr>
              <p:nvPr/>
            </p:nvSpPr>
            <p:spPr bwMode="auto">
              <a:xfrm>
                <a:off x="1582" y="3702"/>
                <a:ext cx="318" cy="454"/>
              </a:xfrm>
              <a:prstGeom prst="line">
                <a:avLst/>
              </a:prstGeom>
              <a:noFill/>
              <a:ln w="19050">
                <a:solidFill>
                  <a:srgbClr val="FF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13" name="Rectangle 12"/>
              <p:cNvSpPr>
                <a:spLocks noChangeArrowheads="1"/>
              </p:cNvSpPr>
              <p:nvPr/>
            </p:nvSpPr>
            <p:spPr bwMode="auto">
              <a:xfrm>
                <a:off x="1700" y="4065"/>
                <a:ext cx="136" cy="2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grpSp>
        <p:sp>
          <p:nvSpPr>
            <p:cNvPr id="7" name="剪去对角的矩形 6"/>
            <p:cNvSpPr/>
            <p:nvPr/>
          </p:nvSpPr>
          <p:spPr>
            <a:xfrm rot="10260000">
              <a:off x="3521" y="9015"/>
              <a:ext cx="488" cy="751"/>
            </a:xfrm>
            <a:prstGeom prst="snip2DiagRect">
              <a:avLst>
                <a:gd name="adj1" fmla="val 0"/>
                <a:gd name="adj2" fmla="val 50000"/>
              </a:avLst>
            </a:prstGeom>
            <a:solidFill>
              <a:schemeClr val="bg1"/>
            </a:solidFill>
            <a:ln w="19050" cap="flat" cmpd="sng" algn="ctr">
              <a:noFill/>
              <a:prstDash val="solid"/>
              <a:round/>
              <a:headEnd type="none" w="med" len="med"/>
              <a:tailEnd type="triangle" w="sm" len="sm"/>
            </a:ln>
          </p:spPr>
          <p:txBody>
            <a:bodyPr vert="horz" wrap="square" lIns="91440" tIns="45720" rIns="91440" bIns="45720" numCol="1" anchor="t" anchorCtr="0" compatLnSpc="1">
              <a:noAutofit/>
            </a:bodyPr>
            <a:lstStyle/>
            <a:p>
              <a: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pPr>
              <a:endParaRPr kumimoji="0"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p:txBody>
        </p:sp>
      </p:grpSp>
      <p:grpSp>
        <p:nvGrpSpPr>
          <p:cNvPr id="12" name="组合 11"/>
          <p:cNvGrpSpPr/>
          <p:nvPr/>
        </p:nvGrpSpPr>
        <p:grpSpPr>
          <a:xfrm>
            <a:off x="4571365" y="4300855"/>
            <a:ext cx="4144645" cy="2211070"/>
            <a:chOff x="7445" y="6415"/>
            <a:chExt cx="5426" cy="3840"/>
          </a:xfrm>
        </p:grpSpPr>
        <p:grpSp>
          <p:nvGrpSpPr>
            <p:cNvPr id="72707" name="Group 3"/>
            <p:cNvGrpSpPr/>
            <p:nvPr/>
          </p:nvGrpSpPr>
          <p:grpSpPr bwMode="auto">
            <a:xfrm>
              <a:off x="7445" y="6415"/>
              <a:ext cx="5198" cy="3840"/>
              <a:chOff x="2978" y="2784"/>
              <a:chExt cx="2079" cy="1536"/>
            </a:xfrm>
          </p:grpSpPr>
          <p:grpSp>
            <p:nvGrpSpPr>
              <p:cNvPr id="72715" name="Group 4"/>
              <p:cNvGrpSpPr/>
              <p:nvPr/>
            </p:nvGrpSpPr>
            <p:grpSpPr bwMode="auto">
              <a:xfrm>
                <a:off x="2978" y="2784"/>
                <a:ext cx="2079" cy="1536"/>
                <a:chOff x="2978" y="2784"/>
                <a:chExt cx="2079" cy="1536"/>
              </a:xfrm>
            </p:grpSpPr>
            <p:sp>
              <p:nvSpPr>
                <p:cNvPr id="72718" name="Line 6"/>
                <p:cNvSpPr>
                  <a:spLocks noChangeShapeType="1"/>
                </p:cNvSpPr>
                <p:nvPr/>
              </p:nvSpPr>
              <p:spPr bwMode="auto">
                <a:xfrm>
                  <a:off x="3742" y="3612"/>
                  <a:ext cx="635" cy="498"/>
                </a:xfrm>
                <a:prstGeom prst="line">
                  <a:avLst/>
                </a:prstGeom>
                <a:noFill/>
                <a:ln w="5715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2717" name="Picture 5" descr="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8" y="2784"/>
                  <a:ext cx="2079"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2716" name="Line 7"/>
              <p:cNvSpPr>
                <a:spLocks noChangeShapeType="1"/>
              </p:cNvSpPr>
              <p:nvPr/>
            </p:nvSpPr>
            <p:spPr bwMode="auto">
              <a:xfrm>
                <a:off x="4150" y="4138"/>
                <a:ext cx="590" cy="0"/>
              </a:xfrm>
              <a:prstGeom prst="line">
                <a:avLst/>
              </a:prstGeom>
              <a:noFill/>
              <a:ln w="5715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2708" name="Line 8"/>
            <p:cNvSpPr>
              <a:spLocks noChangeShapeType="1"/>
            </p:cNvSpPr>
            <p:nvPr/>
          </p:nvSpPr>
          <p:spPr bwMode="auto">
            <a:xfrm>
              <a:off x="10943" y="9776"/>
              <a:ext cx="1928" cy="0"/>
            </a:xfrm>
            <a:prstGeom prst="line">
              <a:avLst/>
            </a:prstGeom>
            <a:ln>
              <a:solidFill>
                <a:srgbClr val="FF0000"/>
              </a:solidFill>
            </a:ln>
            <a:extLst>
              <a:ext uri="{909E8E84-426E-40DD-AFC4-6F175D3DCCD1}">
                <a14:hiddenFill xmlns:a14="http://schemas.microsoft.com/office/drawing/2010/main">
                  <a:noFill/>
                </a14:hiddenFill>
              </a:ext>
            </a:extLst>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9" name="Line 8"/>
            <p:cNvSpPr>
              <a:spLocks noChangeShapeType="1"/>
            </p:cNvSpPr>
            <p:nvPr/>
          </p:nvSpPr>
          <p:spPr bwMode="auto">
            <a:xfrm>
              <a:off x="8078" y="8485"/>
              <a:ext cx="1364" cy="1"/>
            </a:xfrm>
            <a:prstGeom prst="line">
              <a:avLst/>
            </a:prstGeom>
            <a:ln>
              <a:solidFill>
                <a:srgbClr val="FF0000"/>
              </a:solidFill>
            </a:ln>
            <a:extLst>
              <a:ext uri="{909E8E84-426E-40DD-AFC4-6F175D3DCCD1}">
                <a14:hiddenFill xmlns:a14="http://schemas.microsoft.com/office/drawing/2010/main">
                  <a:noFill/>
                </a14:hiddenFill>
              </a:ext>
            </a:extLst>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10" name="Line 8"/>
            <p:cNvSpPr>
              <a:spLocks noChangeShapeType="1"/>
            </p:cNvSpPr>
            <p:nvPr/>
          </p:nvSpPr>
          <p:spPr bwMode="auto">
            <a:xfrm>
              <a:off x="10581" y="9294"/>
              <a:ext cx="1928" cy="0"/>
            </a:xfrm>
            <a:prstGeom prst="line">
              <a:avLst/>
            </a:prstGeom>
            <a:ln>
              <a:gradFill>
                <a:gsLst>
                  <a:gs pos="50000">
                    <a:schemeClr val="tx1"/>
                  </a:gs>
                  <a:gs pos="0">
                    <a:schemeClr val="tx1">
                      <a:lumMod val="25000"/>
                      <a:lumOff val="75000"/>
                    </a:schemeClr>
                  </a:gs>
                  <a:gs pos="100000">
                    <a:schemeClr val="tx1">
                      <a:lumMod val="85000"/>
                    </a:schemeClr>
                  </a:gs>
                </a:gsLst>
                <a:lin ang="5400000" scaled="0"/>
              </a:gradFill>
            </a:ln>
            <a:extLst>
              <a:ext uri="{909E8E84-426E-40DD-AFC4-6F175D3DCCD1}">
                <a14:hiddenFill xmlns:a14="http://schemas.microsoft.com/office/drawing/2010/main">
                  <a:noFill/>
                </a14:hiddenFill>
              </a:ext>
            </a:extLst>
          </p:spPr>
          <p:style>
            <a:lnRef idx="2">
              <a:schemeClr val="accent1"/>
            </a:lnRef>
            <a:fillRef idx="0">
              <a:srgbClr val="FFFFFF"/>
            </a:fillRef>
            <a:effectRef idx="0">
              <a:srgbClr val="FFFFFF"/>
            </a:effectRef>
            <a:fontRef idx="minor">
              <a:schemeClr val="tx1"/>
            </a:fontRef>
          </p:style>
          <p:txBody>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advTm="220908"/>
    </mc:Choice>
    <mc:Fallback xmlns="">
      <p:transition spd="slow" advTm="2209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6883" name="Text Box 3"/>
          <p:cNvSpPr txBox="1">
            <a:spLocks noChangeArrowheads="1"/>
          </p:cNvSpPr>
          <p:nvPr/>
        </p:nvSpPr>
        <p:spPr bwMode="auto">
          <a:xfrm>
            <a:off x="539750" y="656590"/>
            <a:ext cx="7993063" cy="455613"/>
          </a:xfrm>
          <a:prstGeom prst="rect">
            <a:avLst/>
          </a:prstGeom>
          <a:solidFill>
            <a:schemeClr val="bg1"/>
          </a:solidFill>
          <a:ln>
            <a:noFill/>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dirty="0">
                <a:solidFill>
                  <a:srgbClr val="800000"/>
                </a:solidFill>
                <a:latin typeface="Tahoma" panose="020B0604030504040204" pitchFamily="34" charset="0"/>
                <a:ea typeface="宋体" panose="02010600030101010101" pitchFamily="2" charset="-122"/>
              </a:rPr>
              <a:t>1. h(t)</a:t>
            </a:r>
            <a:r>
              <a:rPr kumimoji="1" lang="zh-CN" altLang="en-US" dirty="0">
                <a:solidFill>
                  <a:srgbClr val="800000"/>
                </a:solidFill>
                <a:latin typeface="Tahoma" panose="020B0604030504040204" pitchFamily="34" charset="0"/>
                <a:ea typeface="宋体" panose="02010600030101010101" pitchFamily="2" charset="-122"/>
              </a:rPr>
              <a:t>随时间变化的规律取决于</a:t>
            </a:r>
            <a:r>
              <a:rPr kumimoji="1" lang="en-US" altLang="zh-CN" dirty="0">
                <a:solidFill>
                  <a:srgbClr val="800000"/>
                </a:solidFill>
                <a:latin typeface="Tahoma" panose="020B0604030504040204" pitchFamily="34" charset="0"/>
                <a:ea typeface="宋体" panose="02010600030101010101" pitchFamily="2" charset="-122"/>
              </a:rPr>
              <a:t>H(s)</a:t>
            </a:r>
            <a:r>
              <a:rPr kumimoji="1" lang="zh-CN" altLang="en-US" dirty="0">
                <a:solidFill>
                  <a:srgbClr val="800000"/>
                </a:solidFill>
                <a:latin typeface="Tahoma" panose="020B0604030504040204" pitchFamily="34" charset="0"/>
                <a:ea typeface="宋体" panose="02010600030101010101" pitchFamily="2" charset="-122"/>
              </a:rPr>
              <a:t>的极点 分布</a:t>
            </a:r>
            <a:endParaRPr kumimoji="1" lang="zh-CN" altLang="en-US" dirty="0">
              <a:latin typeface="Tahoma" panose="020B0604030504040204" pitchFamily="34" charset="0"/>
              <a:ea typeface="宋体" panose="02010600030101010101" pitchFamily="2" charset="-122"/>
            </a:endParaRPr>
          </a:p>
        </p:txBody>
      </p:sp>
      <p:sp>
        <p:nvSpPr>
          <p:cNvPr id="506884" name="Text Box 4"/>
          <p:cNvSpPr txBox="1">
            <a:spLocks noChangeArrowheads="1"/>
          </p:cNvSpPr>
          <p:nvPr/>
        </p:nvSpPr>
        <p:spPr bwMode="auto">
          <a:xfrm>
            <a:off x="815976" y="4155864"/>
            <a:ext cx="7716837" cy="455612"/>
          </a:xfrm>
          <a:prstGeom prst="rect">
            <a:avLst/>
          </a:prstGeom>
          <a:solidFill>
            <a:schemeClr val="bg1"/>
          </a:solidFill>
          <a:ln>
            <a:noFill/>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en-US" altLang="zh-CN" dirty="0">
                <a:solidFill>
                  <a:srgbClr val="FF0000"/>
                </a:solidFill>
                <a:latin typeface="Tahoma" panose="020B0604030504040204" pitchFamily="34" charset="0"/>
                <a:ea typeface="宋体" panose="02010600030101010101" pitchFamily="2" charset="-122"/>
              </a:rPr>
              <a:t>1) H(s)</a:t>
            </a:r>
            <a:r>
              <a:rPr kumimoji="1" lang="zh-CN" altLang="en-US" dirty="0">
                <a:solidFill>
                  <a:srgbClr val="FF0000"/>
                </a:solidFill>
                <a:latin typeface="Tahoma" panose="020B0604030504040204" pitchFamily="34" charset="0"/>
                <a:ea typeface="宋体" panose="02010600030101010101" pitchFamily="2" charset="-122"/>
              </a:rPr>
              <a:t>极点 全部位于 </a:t>
            </a:r>
            <a:r>
              <a:rPr kumimoji="1" lang="en-US" altLang="zh-CN" dirty="0">
                <a:solidFill>
                  <a:srgbClr val="FF0000"/>
                </a:solidFill>
                <a:latin typeface="Tahoma" panose="020B0604030504040204" pitchFamily="34" charset="0"/>
                <a:ea typeface="宋体" panose="02010600030101010101" pitchFamily="2" charset="-122"/>
              </a:rPr>
              <a:t>s</a:t>
            </a:r>
            <a:r>
              <a:rPr kumimoji="1" lang="zh-CN" altLang="en-US" dirty="0">
                <a:solidFill>
                  <a:srgbClr val="FF0000"/>
                </a:solidFill>
                <a:latin typeface="Tahoma" panose="020B0604030504040204" pitchFamily="34" charset="0"/>
                <a:ea typeface="宋体" panose="02010600030101010101" pitchFamily="2" charset="-122"/>
              </a:rPr>
              <a:t>左半平面，系统稳定；</a:t>
            </a:r>
          </a:p>
        </p:txBody>
      </p:sp>
      <p:sp>
        <p:nvSpPr>
          <p:cNvPr id="506885" name="Text Box 5"/>
          <p:cNvSpPr txBox="1">
            <a:spLocks noChangeArrowheads="1"/>
          </p:cNvSpPr>
          <p:nvPr/>
        </p:nvSpPr>
        <p:spPr bwMode="auto">
          <a:xfrm>
            <a:off x="539750" y="1232853"/>
            <a:ext cx="8604250" cy="458587"/>
          </a:xfrm>
          <a:prstGeom prst="rect">
            <a:avLst/>
          </a:prstGeom>
          <a:solidFill>
            <a:schemeClr val="bg1"/>
          </a:solidFill>
          <a:ln>
            <a:noFill/>
          </a:ln>
        </p:spPr>
        <p:txBody>
          <a:bodyPr wrap="squar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dirty="0">
                <a:solidFill>
                  <a:srgbClr val="800000"/>
                </a:solidFill>
                <a:latin typeface="Tahoma" panose="020B0604030504040204" pitchFamily="34" charset="0"/>
                <a:ea typeface="宋体" panose="02010600030101010101" pitchFamily="2" charset="-122"/>
              </a:rPr>
              <a:t>       </a:t>
            </a:r>
            <a:r>
              <a:rPr kumimoji="1" lang="zh-CN" altLang="en-US" dirty="0">
                <a:solidFill>
                  <a:srgbClr val="003300"/>
                </a:solidFill>
                <a:latin typeface="Tahoma" panose="020B0604030504040204" pitchFamily="34" charset="0"/>
                <a:ea typeface="宋体" panose="02010600030101010101" pitchFamily="2" charset="-122"/>
              </a:rPr>
              <a:t>位于左半平面极点 对应：   </a:t>
            </a:r>
            <a:r>
              <a:rPr kumimoji="1" lang="zh-CN" altLang="en-US" dirty="0">
                <a:solidFill>
                  <a:srgbClr val="FF0000"/>
                </a:solidFill>
                <a:latin typeface="Tahoma" panose="020B0604030504040204" pitchFamily="34" charset="0"/>
                <a:ea typeface="宋体" panose="02010600030101010101" pitchFamily="2" charset="-122"/>
              </a:rPr>
              <a:t>稳定分量  </a:t>
            </a:r>
            <a:r>
              <a:rPr kumimoji="1" lang="zh-CN" altLang="en-US" dirty="0">
                <a:solidFill>
                  <a:srgbClr val="0000FF"/>
                </a:solidFill>
                <a:latin typeface="Tahoma" panose="020B0604030504040204" pitchFamily="34" charset="0"/>
                <a:ea typeface="宋体" panose="02010600030101010101" pitchFamily="2" charset="-122"/>
              </a:rPr>
              <a:t>暂态分量</a:t>
            </a:r>
          </a:p>
        </p:txBody>
      </p:sp>
      <p:sp>
        <p:nvSpPr>
          <p:cNvPr id="506886" name="Text Box 6"/>
          <p:cNvSpPr txBox="1">
            <a:spLocks noChangeArrowheads="1"/>
          </p:cNvSpPr>
          <p:nvPr/>
        </p:nvSpPr>
        <p:spPr bwMode="auto">
          <a:xfrm>
            <a:off x="539750" y="1809115"/>
            <a:ext cx="7086600" cy="455613"/>
          </a:xfrm>
          <a:prstGeom prst="rect">
            <a:avLst/>
          </a:prstGeom>
          <a:solidFill>
            <a:schemeClr val="bg1"/>
          </a:solidFill>
          <a:ln>
            <a:noFill/>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dirty="0">
                <a:solidFill>
                  <a:srgbClr val="003300"/>
                </a:solidFill>
                <a:latin typeface="Tahoma" panose="020B0604030504040204" pitchFamily="34" charset="0"/>
                <a:ea typeface="宋体" panose="02010600030101010101" pitchFamily="2" charset="-122"/>
              </a:rPr>
              <a:t>       </a:t>
            </a:r>
            <a:r>
              <a:rPr kumimoji="1" lang="zh-CN" altLang="en-US" dirty="0">
                <a:solidFill>
                  <a:srgbClr val="003300"/>
                </a:solidFill>
                <a:latin typeface="Tahoma" panose="020B0604030504040204" pitchFamily="34" charset="0"/>
                <a:ea typeface="宋体" panose="02010600030101010101" pitchFamily="2" charset="-122"/>
              </a:rPr>
              <a:t>位于右半平面极点 对应：   </a:t>
            </a:r>
            <a:r>
              <a:rPr kumimoji="1" lang="zh-CN" altLang="en-US" dirty="0">
                <a:solidFill>
                  <a:srgbClr val="0000FF"/>
                </a:solidFill>
                <a:latin typeface="Tahoma" panose="020B0604030504040204" pitchFamily="34" charset="0"/>
                <a:ea typeface="宋体" panose="02010600030101010101" pitchFamily="2" charset="-122"/>
              </a:rPr>
              <a:t>不稳定分量</a:t>
            </a:r>
          </a:p>
        </p:txBody>
      </p:sp>
      <p:sp>
        <p:nvSpPr>
          <p:cNvPr id="506887" name="Text Box 7"/>
          <p:cNvSpPr txBox="1">
            <a:spLocks noChangeArrowheads="1"/>
          </p:cNvSpPr>
          <p:nvPr/>
        </p:nvSpPr>
        <p:spPr bwMode="auto">
          <a:xfrm>
            <a:off x="539750" y="2240915"/>
            <a:ext cx="7620000" cy="455613"/>
          </a:xfrm>
          <a:prstGeom prst="rect">
            <a:avLst/>
          </a:prstGeom>
          <a:solidFill>
            <a:schemeClr val="bg1"/>
          </a:solidFill>
          <a:ln>
            <a:noFill/>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dirty="0">
                <a:solidFill>
                  <a:srgbClr val="003300"/>
                </a:solidFill>
                <a:latin typeface="Tahoma" panose="020B0604030504040204" pitchFamily="34" charset="0"/>
                <a:ea typeface="宋体" panose="02010600030101010101" pitchFamily="2" charset="-122"/>
              </a:rPr>
              <a:t>       </a:t>
            </a:r>
            <a:r>
              <a:rPr kumimoji="1" lang="zh-CN" altLang="en-US" dirty="0">
                <a:solidFill>
                  <a:srgbClr val="003300"/>
                </a:solidFill>
                <a:latin typeface="Tahoma" panose="020B0604030504040204" pitchFamily="34" charset="0"/>
                <a:ea typeface="宋体" panose="02010600030101010101" pitchFamily="2" charset="-122"/>
              </a:rPr>
              <a:t>位于</a:t>
            </a:r>
            <a:r>
              <a:rPr kumimoji="1" lang="en-US" altLang="zh-CN" dirty="0">
                <a:solidFill>
                  <a:srgbClr val="003300"/>
                </a:solidFill>
                <a:latin typeface="Tahoma" panose="020B0604030504040204" pitchFamily="34" charset="0"/>
                <a:ea typeface="宋体" panose="02010600030101010101" pitchFamily="2" charset="-122"/>
              </a:rPr>
              <a:t>j</a:t>
            </a:r>
            <a:r>
              <a:rPr kumimoji="1" lang="en-US" altLang="zh-CN"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kumimoji="1" lang="zh-CN" altLang="en-US" dirty="0">
                <a:solidFill>
                  <a:srgbClr val="003300"/>
                </a:solidFill>
                <a:latin typeface="Tahoma" panose="020B0604030504040204" pitchFamily="34" charset="0"/>
                <a:ea typeface="宋体" panose="02010600030101010101" pitchFamily="2" charset="-122"/>
              </a:rPr>
              <a:t>轴单极点 对应：      </a:t>
            </a:r>
            <a:r>
              <a:rPr kumimoji="1" lang="zh-CN" altLang="en-US" dirty="0">
                <a:solidFill>
                  <a:srgbClr val="0000FF"/>
                </a:solidFill>
                <a:latin typeface="Tahoma" panose="020B0604030504040204" pitchFamily="34" charset="0"/>
                <a:ea typeface="宋体" panose="02010600030101010101" pitchFamily="2" charset="-122"/>
              </a:rPr>
              <a:t>有界稳态分量</a:t>
            </a:r>
          </a:p>
        </p:txBody>
      </p:sp>
      <p:sp>
        <p:nvSpPr>
          <p:cNvPr id="506888" name="Text Box 8"/>
          <p:cNvSpPr txBox="1">
            <a:spLocks noChangeArrowheads="1"/>
          </p:cNvSpPr>
          <p:nvPr/>
        </p:nvSpPr>
        <p:spPr bwMode="auto">
          <a:xfrm>
            <a:off x="539750" y="2745741"/>
            <a:ext cx="7620000" cy="4556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folHlink"/>
              </a:buClr>
              <a:buSzPct val="60000"/>
              <a:buFont typeface="Wingdings" panose="05000000000000000000" pitchFamily="2" charset="2"/>
              <a:buNone/>
            </a:pPr>
            <a:r>
              <a:rPr kumimoji="1" lang="en-US" altLang="zh-CN" dirty="0">
                <a:solidFill>
                  <a:srgbClr val="003300"/>
                </a:solidFill>
                <a:latin typeface="Tahoma" panose="020B0604030504040204" pitchFamily="34" charset="0"/>
                <a:ea typeface="宋体" panose="02010600030101010101" pitchFamily="2" charset="-122"/>
              </a:rPr>
              <a:t>       </a:t>
            </a:r>
            <a:r>
              <a:rPr kumimoji="1" lang="zh-CN" altLang="en-US" dirty="0">
                <a:solidFill>
                  <a:srgbClr val="003300"/>
                </a:solidFill>
                <a:latin typeface="Tahoma" panose="020B0604030504040204" pitchFamily="34" charset="0"/>
                <a:ea typeface="宋体" panose="02010600030101010101" pitchFamily="2" charset="-122"/>
              </a:rPr>
              <a:t>位于</a:t>
            </a:r>
            <a:r>
              <a:rPr kumimoji="1" lang="en-US" altLang="zh-CN" dirty="0">
                <a:solidFill>
                  <a:srgbClr val="003300"/>
                </a:solidFill>
                <a:latin typeface="Tahoma" panose="020B0604030504040204" pitchFamily="34" charset="0"/>
                <a:ea typeface="宋体" panose="02010600030101010101" pitchFamily="2" charset="-122"/>
              </a:rPr>
              <a:t>j</a:t>
            </a:r>
            <a:r>
              <a:rPr kumimoji="1" lang="en-US" altLang="zh-CN"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kumimoji="1" lang="zh-CN" altLang="en-US" dirty="0">
                <a:solidFill>
                  <a:srgbClr val="003300"/>
                </a:solidFill>
                <a:latin typeface="Tahoma" panose="020B0604030504040204" pitchFamily="34" charset="0"/>
                <a:ea typeface="宋体" panose="02010600030101010101" pitchFamily="2" charset="-122"/>
              </a:rPr>
              <a:t>轴重极点 对应：      </a:t>
            </a:r>
            <a:r>
              <a:rPr kumimoji="1" lang="zh-CN" altLang="en-US" dirty="0">
                <a:solidFill>
                  <a:srgbClr val="0000FF"/>
                </a:solidFill>
                <a:latin typeface="Tahoma" panose="020B0604030504040204" pitchFamily="34" charset="0"/>
                <a:ea typeface="宋体" panose="02010600030101010101" pitchFamily="2" charset="-122"/>
              </a:rPr>
              <a:t>不稳定分量</a:t>
            </a:r>
          </a:p>
        </p:txBody>
      </p:sp>
      <p:sp>
        <p:nvSpPr>
          <p:cNvPr id="506890" name="Text Box 10"/>
          <p:cNvSpPr txBox="1">
            <a:spLocks noChangeArrowheads="1"/>
          </p:cNvSpPr>
          <p:nvPr/>
        </p:nvSpPr>
        <p:spPr bwMode="auto">
          <a:xfrm>
            <a:off x="815976" y="4660689"/>
            <a:ext cx="7837487" cy="819150"/>
          </a:xfrm>
          <a:prstGeom prst="rect">
            <a:avLst/>
          </a:prstGeom>
          <a:solidFill>
            <a:schemeClr val="bg1"/>
          </a:solidFill>
          <a:ln>
            <a:noFill/>
          </a:ln>
        </p:spPr>
        <p:txBody>
          <a:bodyPr>
            <a:spAutoFit/>
          </a:bodyPr>
          <a:lstStyle>
            <a:lvl1pPr marL="539750" indent="-53975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dirty="0">
                <a:solidFill>
                  <a:srgbClr val="FF0000"/>
                </a:solidFill>
                <a:latin typeface="Tahoma" panose="020B0604030504040204" pitchFamily="34" charset="0"/>
                <a:ea typeface="宋体" panose="02010600030101010101" pitchFamily="2" charset="-122"/>
              </a:rPr>
              <a:t>2) H(S)</a:t>
            </a:r>
            <a:r>
              <a:rPr kumimoji="1" lang="zh-CN" altLang="en-US" dirty="0">
                <a:solidFill>
                  <a:srgbClr val="FF0000"/>
                </a:solidFill>
                <a:latin typeface="Tahoma" panose="020B0604030504040204" pitchFamily="34" charset="0"/>
                <a:ea typeface="宋体" panose="02010600030101010101" pitchFamily="2" charset="-122"/>
              </a:rPr>
              <a:t>在</a:t>
            </a:r>
            <a:r>
              <a:rPr kumimoji="1" lang="en-US" altLang="zh-CN" dirty="0">
                <a:solidFill>
                  <a:srgbClr val="FF0000"/>
                </a:solidFill>
                <a:latin typeface="Tahoma" panose="020B0604030504040204" pitchFamily="34" charset="0"/>
                <a:ea typeface="宋体" panose="02010600030101010101" pitchFamily="2" charset="-122"/>
              </a:rPr>
              <a:t>j</a:t>
            </a:r>
            <a:r>
              <a:rPr kumimoji="1" lang="en-US" altLang="zh-CN" dirty="0">
                <a:solidFill>
                  <a:srgbClr val="FF0000"/>
                </a:solidFill>
                <a:latin typeface="Tahoma" panose="020B0604030504040204" pitchFamily="34" charset="0"/>
                <a:ea typeface="宋体" panose="02010600030101010101" pitchFamily="2" charset="-122"/>
                <a:sym typeface="Symbol" panose="05050102010706020507" pitchFamily="18" charset="2"/>
              </a:rPr>
              <a:t></a:t>
            </a:r>
            <a:r>
              <a:rPr kumimoji="1" lang="zh-CN" altLang="en-US" dirty="0">
                <a:solidFill>
                  <a:srgbClr val="FF0000"/>
                </a:solidFill>
                <a:latin typeface="Tahoma" panose="020B0604030504040204" pitchFamily="34" charset="0"/>
                <a:ea typeface="宋体" panose="02010600030101010101" pitchFamily="2" charset="-122"/>
                <a:sym typeface="Symbol" panose="05050102010706020507" pitchFamily="18" charset="2"/>
              </a:rPr>
              <a:t>轴上有单极点 ，在</a:t>
            </a:r>
            <a:r>
              <a:rPr kumimoji="1" lang="en-US" altLang="zh-CN" dirty="0">
                <a:solidFill>
                  <a:srgbClr val="FF0000"/>
                </a:solidFill>
                <a:latin typeface="Tahoma" panose="020B0604030504040204" pitchFamily="34" charset="0"/>
                <a:ea typeface="宋体" panose="02010600030101010101" pitchFamily="2" charset="-122"/>
                <a:sym typeface="Symbol" panose="05050102010706020507" pitchFamily="18" charset="2"/>
              </a:rPr>
              <a:t>s</a:t>
            </a:r>
            <a:r>
              <a:rPr kumimoji="1" lang="zh-CN" altLang="en-US" dirty="0">
                <a:solidFill>
                  <a:srgbClr val="FF0000"/>
                </a:solidFill>
                <a:latin typeface="Tahoma" panose="020B0604030504040204" pitchFamily="34" charset="0"/>
                <a:ea typeface="宋体" panose="02010600030101010101" pitchFamily="2" charset="-122"/>
                <a:sym typeface="Symbol" panose="05050102010706020507" pitchFamily="18" charset="2"/>
              </a:rPr>
              <a:t>右半平面没有极点 ，系统临界稳定；</a:t>
            </a:r>
          </a:p>
        </p:txBody>
      </p:sp>
      <p:sp>
        <p:nvSpPr>
          <p:cNvPr id="506891" name="Text Box 11"/>
          <p:cNvSpPr txBox="1">
            <a:spLocks noChangeArrowheads="1"/>
          </p:cNvSpPr>
          <p:nvPr/>
        </p:nvSpPr>
        <p:spPr bwMode="auto">
          <a:xfrm>
            <a:off x="801688" y="5559214"/>
            <a:ext cx="7848600" cy="819150"/>
          </a:xfrm>
          <a:prstGeom prst="rect">
            <a:avLst/>
          </a:prstGeom>
          <a:solidFill>
            <a:schemeClr val="bg1"/>
          </a:solidFill>
          <a:ln>
            <a:noFill/>
          </a:ln>
        </p:spPr>
        <p:txBody>
          <a:bodyPr>
            <a:spAutoFit/>
          </a:bodyPr>
          <a:lstStyle>
            <a:lvl1pPr marL="539750" indent="-53975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dirty="0">
                <a:solidFill>
                  <a:srgbClr val="FF0000"/>
                </a:solidFill>
                <a:latin typeface="Tahoma" panose="020B0604030504040204" pitchFamily="34" charset="0"/>
                <a:ea typeface="宋体" panose="02010600030101010101" pitchFamily="2" charset="-122"/>
              </a:rPr>
              <a:t>3) H(S)</a:t>
            </a:r>
            <a:r>
              <a:rPr kumimoji="1" lang="zh-CN" altLang="en-US" dirty="0">
                <a:solidFill>
                  <a:srgbClr val="FF0000"/>
                </a:solidFill>
                <a:latin typeface="Tahoma" panose="020B0604030504040204" pitchFamily="34" charset="0"/>
                <a:ea typeface="宋体" panose="02010600030101010101" pitchFamily="2" charset="-122"/>
              </a:rPr>
              <a:t>在</a:t>
            </a:r>
            <a:r>
              <a:rPr kumimoji="1" lang="en-US" altLang="zh-CN" dirty="0">
                <a:solidFill>
                  <a:srgbClr val="FF0000"/>
                </a:solidFill>
                <a:latin typeface="Tahoma" panose="020B0604030504040204" pitchFamily="34" charset="0"/>
                <a:ea typeface="宋体" panose="02010600030101010101" pitchFamily="2" charset="-122"/>
              </a:rPr>
              <a:t>S</a:t>
            </a:r>
            <a:r>
              <a:rPr kumimoji="1" lang="zh-CN" altLang="en-US" dirty="0">
                <a:solidFill>
                  <a:srgbClr val="FF0000"/>
                </a:solidFill>
                <a:latin typeface="Tahoma" panose="020B0604030504040204" pitchFamily="34" charset="0"/>
                <a:ea typeface="宋体" panose="02010600030101010101" pitchFamily="2" charset="-122"/>
              </a:rPr>
              <a:t>右半平面存在极点 ，或在</a:t>
            </a:r>
            <a:r>
              <a:rPr kumimoji="1" lang="en-US" altLang="zh-CN" dirty="0">
                <a:solidFill>
                  <a:srgbClr val="FF0000"/>
                </a:solidFill>
                <a:latin typeface="Tahoma" panose="020B0604030504040204" pitchFamily="34" charset="0"/>
                <a:ea typeface="宋体" panose="02010600030101010101" pitchFamily="2" charset="-122"/>
              </a:rPr>
              <a:t>j</a:t>
            </a:r>
            <a:r>
              <a:rPr kumimoji="1" lang="en-US" altLang="zh-CN" dirty="0">
                <a:solidFill>
                  <a:srgbClr val="FF0000"/>
                </a:solidFill>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a:t>
            </a:r>
            <a:r>
              <a:rPr kumimoji="1" lang="zh-CN" altLang="en-US" dirty="0">
                <a:solidFill>
                  <a:srgbClr val="FF0000"/>
                </a:solidFill>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轴上有重极点 ，</a:t>
            </a:r>
            <a:r>
              <a:rPr kumimoji="1" lang="zh-CN" altLang="en-US" dirty="0">
                <a:solidFill>
                  <a:srgbClr val="FF0000"/>
                </a:solidFill>
                <a:latin typeface="Tahoma" panose="020B0604030504040204" pitchFamily="34" charset="0"/>
                <a:ea typeface="宋体" panose="02010600030101010101" pitchFamily="2" charset="-122"/>
              </a:rPr>
              <a:t>系统不稳定。</a:t>
            </a:r>
          </a:p>
        </p:txBody>
      </p:sp>
      <p:sp>
        <p:nvSpPr>
          <p:cNvPr id="506894" name="Text Box 14"/>
          <p:cNvSpPr txBox="1">
            <a:spLocks noChangeArrowheads="1"/>
          </p:cNvSpPr>
          <p:nvPr/>
        </p:nvSpPr>
        <p:spPr bwMode="auto">
          <a:xfrm>
            <a:off x="539750" y="3563218"/>
            <a:ext cx="2159000" cy="458587"/>
          </a:xfrm>
          <a:prstGeom prst="rect">
            <a:avLst/>
          </a:prstGeom>
          <a:solidFill>
            <a:schemeClr val="bg1"/>
          </a:solidFill>
          <a:ln>
            <a:noFill/>
          </a:ln>
        </p:spPr>
        <p:txBody>
          <a:bodyPr wrap="squar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lang="en-US" altLang="zh-CN" dirty="0">
                <a:solidFill>
                  <a:srgbClr val="FF0000"/>
                </a:solidFill>
                <a:ea typeface="华文新魏" panose="02010800040101010101" pitchFamily="2" charset="-122"/>
              </a:rPr>
              <a:t>2. </a:t>
            </a:r>
            <a:r>
              <a:rPr lang="zh-CN" altLang="en-US" dirty="0">
                <a:solidFill>
                  <a:srgbClr val="FF0000"/>
                </a:solidFill>
                <a:ea typeface="华文新魏" panose="02010800040101010101" pitchFamily="2" charset="-122"/>
              </a:rPr>
              <a:t>结论：</a:t>
            </a:r>
          </a:p>
        </p:txBody>
      </p:sp>
      <p:sp>
        <p:nvSpPr>
          <p:cNvPr id="12" name="日期占位符 11"/>
          <p:cNvSpPr>
            <a:spLocks noGrp="1"/>
          </p:cNvSpPr>
          <p:nvPr>
            <p:ph type="dt" sz="quarter" idx="10"/>
          </p:nvPr>
        </p:nvSpPr>
        <p:spPr>
          <a:xfrm>
            <a:off x="0" y="6538913"/>
            <a:ext cx="1339850" cy="319087"/>
          </a:xfrm>
        </p:spPr>
        <p:txBody>
          <a:bodyPr/>
          <a:lstStyle/>
          <a:p>
            <a:pPr>
              <a:defRPr/>
            </a:pPr>
            <a:fld id="{A55F00D1-3751-4D43-A21D-A39E54E82C19}" type="datetime1">
              <a:rPr lang="zh-CN" altLang="en-US" smtClean="0"/>
              <a:t>2026/4/28</a:t>
            </a:fld>
            <a:endParaRPr lang="zh-CN" altLang="en-US" dirty="0"/>
          </a:p>
        </p:txBody>
      </p:sp>
      <p:sp>
        <p:nvSpPr>
          <p:cNvPr id="2" name="矩形 1"/>
          <p:cNvSpPr/>
          <p:nvPr/>
        </p:nvSpPr>
        <p:spPr>
          <a:xfrm>
            <a:off x="539750" y="81449"/>
            <a:ext cx="8314690" cy="523220"/>
          </a:xfrm>
          <a:prstGeom prst="rect">
            <a:avLst/>
          </a:prstGeom>
        </p:spPr>
        <p:txBody>
          <a:bodyPr wrap="square">
            <a:spAutoFit/>
          </a:bodyPr>
          <a:lstStyle/>
          <a:p>
            <a:r>
              <a:rPr lang="zh-CN" altLang="en-US" dirty="0">
                <a:solidFill>
                  <a:srgbClr val="FF0000"/>
                </a:solidFill>
                <a:latin typeface="Times New Roman" panose="02020603050405020304" pitchFamily="18" charset="0"/>
              </a:rPr>
              <a:t>回顾</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   </a:t>
            </a:r>
            <a:r>
              <a:rPr lang="zh-CN" altLang="en-US" dirty="0">
                <a:solidFill>
                  <a:srgbClr val="0000FF"/>
                </a:solidFill>
                <a:latin typeface="Times New Roman" panose="02020603050405020304" pitchFamily="18" charset="0"/>
              </a:rPr>
              <a:t>零点 与极点 分布与系统</a:t>
            </a:r>
            <a:r>
              <a:rPr lang="zh-CN" altLang="en-US" dirty="0">
                <a:solidFill>
                  <a:srgbClr val="FF0000"/>
                </a:solidFill>
                <a:latin typeface="Times New Roman" panose="02020603050405020304" pitchFamily="18" charset="0"/>
              </a:rPr>
              <a:t>时间特性的关系</a:t>
            </a:r>
            <a:endParaRPr lang="zh-CN" altLang="en-US" dirty="0"/>
          </a:p>
        </p:txBody>
      </p:sp>
    </p:spTree>
    <p:custDataLst>
      <p:tags r:id="rId1"/>
    </p:custDataLst>
    <p:extLst>
      <p:ext uri="{BB962C8B-B14F-4D97-AF65-F5344CB8AC3E}">
        <p14:creationId xmlns:p14="http://schemas.microsoft.com/office/powerpoint/2010/main" val="2582850796"/>
      </p:ext>
    </p:extLst>
  </p:cSld>
  <p:clrMapOvr>
    <a:masterClrMapping/>
  </p:clrMapOvr>
  <mc:AlternateContent xmlns:mc="http://schemas.openxmlformats.org/markup-compatibility/2006" xmlns:p14="http://schemas.microsoft.com/office/powerpoint/2010/main">
    <mc:Choice Requires="p14">
      <p:transition spd="slow" p14:dur="2000" advTm="3260"/>
    </mc:Choice>
    <mc:Fallback xmlns="">
      <p:transition spd="slow" advTm="32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6883"/>
                                        </p:tgtEl>
                                        <p:attrNameLst>
                                          <p:attrName>style.visibility</p:attrName>
                                        </p:attrNameLst>
                                      </p:cBhvr>
                                      <p:to>
                                        <p:strVal val="visible"/>
                                      </p:to>
                                    </p:set>
                                    <p:animEffect transition="in" filter="wipe(left)">
                                      <p:cBhvr>
                                        <p:cTn id="7" dur="500"/>
                                        <p:tgtEl>
                                          <p:spTgt spid="5068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6885"/>
                                        </p:tgtEl>
                                        <p:attrNameLst>
                                          <p:attrName>style.visibility</p:attrName>
                                        </p:attrNameLst>
                                      </p:cBhvr>
                                      <p:to>
                                        <p:strVal val="visible"/>
                                      </p:to>
                                    </p:set>
                                    <p:animEffect transition="in" filter="wipe(left)">
                                      <p:cBhvr>
                                        <p:cTn id="12" dur="500"/>
                                        <p:tgtEl>
                                          <p:spTgt spid="5068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6886"/>
                                        </p:tgtEl>
                                        <p:attrNameLst>
                                          <p:attrName>style.visibility</p:attrName>
                                        </p:attrNameLst>
                                      </p:cBhvr>
                                      <p:to>
                                        <p:strVal val="visible"/>
                                      </p:to>
                                    </p:set>
                                    <p:animEffect transition="in" filter="wipe(left)">
                                      <p:cBhvr>
                                        <p:cTn id="17" dur="500"/>
                                        <p:tgtEl>
                                          <p:spTgt spid="5068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6887"/>
                                        </p:tgtEl>
                                        <p:attrNameLst>
                                          <p:attrName>style.visibility</p:attrName>
                                        </p:attrNameLst>
                                      </p:cBhvr>
                                      <p:to>
                                        <p:strVal val="visible"/>
                                      </p:to>
                                    </p:set>
                                    <p:animEffect transition="in" filter="wipe(left)">
                                      <p:cBhvr>
                                        <p:cTn id="22" dur="500"/>
                                        <p:tgtEl>
                                          <p:spTgt spid="5068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6888"/>
                                        </p:tgtEl>
                                        <p:attrNameLst>
                                          <p:attrName>style.visibility</p:attrName>
                                        </p:attrNameLst>
                                      </p:cBhvr>
                                      <p:to>
                                        <p:strVal val="visible"/>
                                      </p:to>
                                    </p:set>
                                    <p:animEffect transition="in" filter="wipe(left)">
                                      <p:cBhvr>
                                        <p:cTn id="27" dur="500"/>
                                        <p:tgtEl>
                                          <p:spTgt spid="50688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06894"/>
                                        </p:tgtEl>
                                        <p:attrNameLst>
                                          <p:attrName>style.visibility</p:attrName>
                                        </p:attrNameLst>
                                      </p:cBhvr>
                                      <p:to>
                                        <p:strVal val="visible"/>
                                      </p:to>
                                    </p:set>
                                    <p:animEffect transition="in" filter="dissolve">
                                      <p:cBhvr>
                                        <p:cTn id="32" dur="500"/>
                                        <p:tgtEl>
                                          <p:spTgt spid="50689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06884">
                                            <p:txEl>
                                              <p:pRg st="0" end="0"/>
                                            </p:txEl>
                                          </p:spTgt>
                                        </p:tgtEl>
                                        <p:attrNameLst>
                                          <p:attrName>style.visibility</p:attrName>
                                        </p:attrNameLst>
                                      </p:cBhvr>
                                      <p:to>
                                        <p:strVal val="visible"/>
                                      </p:to>
                                    </p:set>
                                    <p:animEffect transition="in" filter="wipe(left)">
                                      <p:cBhvr>
                                        <p:cTn id="37" dur="500"/>
                                        <p:tgtEl>
                                          <p:spTgt spid="50688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06890"/>
                                        </p:tgtEl>
                                        <p:attrNameLst>
                                          <p:attrName>style.visibility</p:attrName>
                                        </p:attrNameLst>
                                      </p:cBhvr>
                                      <p:to>
                                        <p:strVal val="visible"/>
                                      </p:to>
                                    </p:set>
                                    <p:animEffect transition="in" filter="wipe(left)">
                                      <p:cBhvr>
                                        <p:cTn id="42" dur="500"/>
                                        <p:tgtEl>
                                          <p:spTgt spid="50689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06891"/>
                                        </p:tgtEl>
                                        <p:attrNameLst>
                                          <p:attrName>style.visibility</p:attrName>
                                        </p:attrNameLst>
                                      </p:cBhvr>
                                      <p:to>
                                        <p:strVal val="visible"/>
                                      </p:to>
                                    </p:set>
                                    <p:animEffect transition="in" filter="wipe(left)">
                                      <p:cBhvr>
                                        <p:cTn id="47" dur="500"/>
                                        <p:tgtEl>
                                          <p:spTgt spid="506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3" grpId="0" bldLvl="0" animBg="1" autoUpdateAnimBg="0"/>
      <p:bldP spid="506884" grpId="0" build="p" autoUpdateAnimBg="0"/>
      <p:bldP spid="506885" grpId="0" bldLvl="0" animBg="1" autoUpdateAnimBg="0"/>
      <p:bldP spid="506886" grpId="0" bldLvl="0" animBg="1" autoUpdateAnimBg="0"/>
      <p:bldP spid="506887" grpId="0" bldLvl="0" animBg="1" autoUpdateAnimBg="0"/>
      <p:bldP spid="506888" grpId="0" bldLvl="0" animBg="1" autoUpdateAnimBg="0"/>
      <p:bldP spid="506890" grpId="0" bldLvl="0" animBg="1"/>
      <p:bldP spid="506891" grpId="0" bldLvl="0" animBg="1"/>
      <p:bldP spid="506894"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sz="half" idx="1"/>
          </p:nvPr>
        </p:nvSpPr>
        <p:spPr>
          <a:xfrm>
            <a:off x="404813" y="670375"/>
            <a:ext cx="8739187" cy="2532900"/>
          </a:xfrm>
        </p:spPr>
        <p:txBody>
          <a:bodyPr/>
          <a:lstStyle/>
          <a:p>
            <a:pPr marL="0" indent="0">
              <a:lnSpc>
                <a:spcPct val="130000"/>
              </a:lnSpc>
              <a:buFontTx/>
              <a:buNone/>
            </a:pPr>
            <a:r>
              <a:rPr lang="zh-CN" altLang="en-US" sz="2400" b="1" dirty="0">
                <a:solidFill>
                  <a:srgbClr val="FF0000"/>
                </a:solidFill>
              </a:rPr>
              <a:t>结论：</a:t>
            </a:r>
            <a:r>
              <a:rPr lang="zh-CN" altLang="en-US" sz="2400" b="1" dirty="0">
                <a:solidFill>
                  <a:srgbClr val="0000FF"/>
                </a:solidFill>
              </a:rPr>
              <a:t>当一极点非常接近于虚轴</a:t>
            </a:r>
            <a:r>
              <a:rPr lang="zh-CN" altLang="en-US" sz="2400" b="1" dirty="0"/>
              <a:t>时（</a:t>
            </a:r>
            <a:r>
              <a:rPr lang="en-US" altLang="zh-CN" sz="2400" b="1" dirty="0"/>
              <a:t>s=σ</a:t>
            </a:r>
            <a:r>
              <a:rPr lang="en-US" altLang="zh-CN" sz="2400" b="1" baseline="-25000" dirty="0"/>
              <a:t>0</a:t>
            </a:r>
            <a:r>
              <a:rPr lang="en-US" altLang="zh-CN" sz="2400" b="1" dirty="0"/>
              <a:t>+jω</a:t>
            </a:r>
            <a:r>
              <a:rPr lang="en-US" altLang="zh-CN" sz="2400" b="1" baseline="-25000" dirty="0"/>
              <a:t>0</a:t>
            </a:r>
            <a:r>
              <a:rPr lang="zh-CN" altLang="en-US" sz="2400" b="1" dirty="0"/>
              <a:t>，</a:t>
            </a:r>
            <a:r>
              <a:rPr lang="en-US" altLang="zh-CN" sz="2400" b="1" dirty="0"/>
              <a:t>|σ</a:t>
            </a:r>
            <a:r>
              <a:rPr lang="en-US" altLang="zh-CN" sz="2400" b="1" baseline="-25000" dirty="0"/>
              <a:t>0</a:t>
            </a:r>
            <a:r>
              <a:rPr lang="en-US" altLang="zh-CN" sz="2400" b="1" dirty="0"/>
              <a:t>| </a:t>
            </a:r>
            <a:r>
              <a:rPr lang="zh-CN" altLang="en-US" sz="2400" b="1" dirty="0"/>
              <a:t>很小），而频率为极点之虚部系数时，</a:t>
            </a:r>
            <a:r>
              <a:rPr lang="zh-CN" altLang="en-US" sz="2400" b="1" dirty="0">
                <a:solidFill>
                  <a:srgbClr val="0000FF"/>
                </a:solidFill>
              </a:rPr>
              <a:t>模量有一极值（峰值），相位很快减小</a:t>
            </a:r>
            <a:r>
              <a:rPr lang="zh-CN" altLang="en-US" sz="2400" b="1" dirty="0"/>
              <a:t>；</a:t>
            </a:r>
            <a:endParaRPr lang="en-US" altLang="zh-CN" sz="2400" b="1" dirty="0"/>
          </a:p>
          <a:p>
            <a:pPr marL="0" indent="0">
              <a:lnSpc>
                <a:spcPct val="130000"/>
              </a:lnSpc>
              <a:buFontTx/>
              <a:buNone/>
            </a:pPr>
            <a:r>
              <a:rPr lang="en-US" altLang="zh-CN" sz="2400" b="1" dirty="0">
                <a:solidFill>
                  <a:srgbClr val="0000FF"/>
                </a:solidFill>
              </a:rPr>
              <a:t>    </a:t>
            </a:r>
            <a:r>
              <a:rPr lang="zh-CN" altLang="en-US" sz="2400" b="1" dirty="0">
                <a:solidFill>
                  <a:srgbClr val="0000FF"/>
                </a:solidFill>
              </a:rPr>
              <a:t>当一零点十分接近虚轴</a:t>
            </a:r>
            <a:r>
              <a:rPr lang="zh-CN" altLang="en-US" sz="2400" b="1" dirty="0"/>
              <a:t>时，频率为零点虚部系数时，</a:t>
            </a:r>
            <a:r>
              <a:rPr lang="zh-CN" altLang="en-US" sz="2400" b="1" dirty="0">
                <a:solidFill>
                  <a:srgbClr val="0000FF"/>
                </a:solidFill>
              </a:rPr>
              <a:t>模量有一谷值，相位很快增大</a:t>
            </a:r>
            <a:r>
              <a:rPr lang="zh-CN" altLang="en-US" sz="2400" b="1" dirty="0"/>
              <a:t>。    </a:t>
            </a:r>
          </a:p>
        </p:txBody>
      </p:sp>
      <p:pic>
        <p:nvPicPr>
          <p:cNvPr id="52228" name="Picture 7" descr="55"/>
          <p:cNvPicPr>
            <a:picLocks noChangeAspect="1" noChangeArrowheads="1"/>
          </p:cNvPicPr>
          <p:nvPr/>
        </p:nvPicPr>
        <p:blipFill rotWithShape="1">
          <a:blip r:embed="rId3">
            <a:extLst>
              <a:ext uri="{28A0092B-C50C-407E-A947-70E740481C1C}">
                <a14:useLocalDpi xmlns:a14="http://schemas.microsoft.com/office/drawing/2010/main" val="0"/>
              </a:ext>
            </a:extLst>
          </a:blip>
          <a:srcRect r="56744"/>
          <a:stretch>
            <a:fillRect/>
          </a:stretch>
        </p:blipFill>
        <p:spPr bwMode="auto">
          <a:xfrm>
            <a:off x="468313" y="3429000"/>
            <a:ext cx="3597604"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日期占位符 4"/>
          <p:cNvSpPr>
            <a:spLocks noGrp="1"/>
          </p:cNvSpPr>
          <p:nvPr>
            <p:ph type="dt" sz="quarter" idx="10"/>
          </p:nvPr>
        </p:nvSpPr>
        <p:spPr>
          <a:xfrm>
            <a:off x="0" y="6578600"/>
            <a:ext cx="1654175" cy="279400"/>
          </a:xfrm>
        </p:spPr>
        <p:txBody>
          <a:bodyPr/>
          <a:lstStyle/>
          <a:p>
            <a:pPr>
              <a:defRPr/>
            </a:pPr>
            <a:fld id="{38DDBF1F-43FA-4176-AB97-300788325074}" type="datetime1">
              <a:rPr lang="zh-CN" altLang="en-US" smtClean="0"/>
              <a:t>2026/4/28</a:t>
            </a:fld>
            <a:endParaRPr lang="en-US" altLang="zh-CN" dirty="0"/>
          </a:p>
        </p:txBody>
      </p:sp>
      <p:pic>
        <p:nvPicPr>
          <p:cNvPr id="8" name="Picture 7" descr="55"/>
          <p:cNvPicPr>
            <a:picLocks noChangeAspect="1" noChangeArrowheads="1"/>
          </p:cNvPicPr>
          <p:nvPr/>
        </p:nvPicPr>
        <p:blipFill rotWithShape="1">
          <a:blip r:embed="rId3">
            <a:extLst>
              <a:ext uri="{28A0092B-C50C-407E-A947-70E740481C1C}">
                <a14:useLocalDpi xmlns:a14="http://schemas.microsoft.com/office/drawing/2010/main" val="0"/>
              </a:ext>
            </a:extLst>
          </a:blip>
          <a:srcRect l="55426"/>
          <a:stretch>
            <a:fillRect/>
          </a:stretch>
        </p:blipFill>
        <p:spPr bwMode="auto">
          <a:xfrm>
            <a:off x="5078085" y="3429000"/>
            <a:ext cx="3707140"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bwMode="auto">
          <a:xfrm>
            <a:off x="436563" y="0"/>
            <a:ext cx="8424862" cy="608013"/>
          </a:xfrm>
          <a:prstGeom prst="rect">
            <a:avLst/>
          </a:prstGeom>
          <a:solidFill>
            <a:schemeClr val="accent2"/>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zh-CN" altLang="en-US" sz="2800" b="1" kern="0" dirty="0">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回顾</a:t>
            </a:r>
            <a:r>
              <a:rPr lang="en-US" altLang="zh-CN" sz="2800" b="1" kern="0" dirty="0">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2 </a:t>
            </a:r>
            <a:r>
              <a:rPr lang="zh-CN" altLang="en-US" sz="2800" b="1" kern="0" dirty="0">
                <a:solidFill>
                  <a:srgbClr val="F8F8F8"/>
                </a:solidFill>
                <a:effectLst>
                  <a:outerShdw blurRad="38100" dist="38100" dir="2700000" algn="tl">
                    <a:srgbClr val="000000"/>
                  </a:outerShdw>
                </a:effectLst>
                <a:latin typeface="黑体" panose="02010609060101010101" pitchFamily="49" charset="-122"/>
                <a:ea typeface="黑体" panose="02010609060101010101" pitchFamily="49" charset="-122"/>
              </a:rPr>
              <a:t>系统函数的极零点与系统频率特性的关系</a:t>
            </a:r>
          </a:p>
        </p:txBody>
      </p:sp>
      <p:sp>
        <p:nvSpPr>
          <p:cNvPr id="4" name="墨迹 3"/>
          <p:cNvSpPr/>
          <p:nvPr/>
        </p:nvSpPr>
        <p:spPr bwMode="auto">
          <a:xfrm>
            <a:off x="2210400" y="1157400"/>
            <a:ext cx="5879880" cy="4504680"/>
          </a:xfrm>
        </p:spPr>
      </p:sp>
    </p:spTree>
    <p:custDataLst>
      <p:tags r:id="rId1"/>
    </p:custDataLst>
    <p:extLst>
      <p:ext uri="{BB962C8B-B14F-4D97-AF65-F5344CB8AC3E}">
        <p14:creationId xmlns:p14="http://schemas.microsoft.com/office/powerpoint/2010/main" val="2089538991"/>
      </p:ext>
    </p:extLst>
  </p:cSld>
  <p:clrMapOvr>
    <a:masterClrMapping/>
  </p:clrMapOvr>
  <mc:AlternateContent xmlns:mc="http://schemas.openxmlformats.org/markup-compatibility/2006" xmlns:p14="http://schemas.microsoft.com/office/powerpoint/2010/main">
    <mc:Choice Requires="p14">
      <p:transition spd="slow" p14:dur="2000" advTm="56300"/>
    </mc:Choice>
    <mc:Fallback xmlns="">
      <p:transition spd="slow" advTm="56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2227">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52228"/>
                                        </p:tgtEl>
                                        <p:attrNameLst>
                                          <p:attrName>style.visibility</p:attrName>
                                        </p:attrNameLst>
                                      </p:cBhvr>
                                      <p:to>
                                        <p:strVal val="visible"/>
                                      </p:to>
                                    </p:set>
                                    <p:anim calcmode="lin" valueType="num">
                                      <p:cBhvr additive="base">
                                        <p:cTn id="16" dur="500" fill="hold"/>
                                        <p:tgtEl>
                                          <p:spTgt spid="52228"/>
                                        </p:tgtEl>
                                        <p:attrNameLst>
                                          <p:attrName>ppt_x</p:attrName>
                                        </p:attrNameLst>
                                      </p:cBhvr>
                                      <p:tavLst>
                                        <p:tav tm="0">
                                          <p:val>
                                            <p:strVal val="#ppt_x"/>
                                          </p:val>
                                        </p:tav>
                                        <p:tav tm="100000">
                                          <p:val>
                                            <p:strVal val="#ppt_x"/>
                                          </p:val>
                                        </p:tav>
                                      </p:tavLst>
                                    </p:anim>
                                    <p:anim calcmode="lin" valueType="num">
                                      <p:cBhvr additive="base">
                                        <p:cTn id="17" dur="500" fill="hold"/>
                                        <p:tgtEl>
                                          <p:spTgt spid="5222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a:xfrm>
            <a:off x="661987" y="0"/>
            <a:ext cx="6233393" cy="679450"/>
          </a:xfrm>
          <a:solidFill>
            <a:schemeClr val="accent2"/>
          </a:solidFill>
          <a:effectLst>
            <a:outerShdw dist="35921" dir="2700000" algn="ctr" rotWithShape="0">
              <a:schemeClr val="bg2"/>
            </a:outerShdw>
          </a:effectLst>
        </p:spPr>
        <p:txBody>
          <a:bodyPr/>
          <a:lstStyle/>
          <a:p>
            <a:pPr>
              <a:defRPr/>
            </a:pPr>
            <a:r>
              <a:rPr lang="zh-CN" altLang="en-US" sz="2800" b="1" dirty="0">
                <a:solidFill>
                  <a:schemeClr val="bg1"/>
                </a:solidFill>
                <a:effectLst>
                  <a:outerShdw blurRad="38100" dist="38100" dir="2700000" algn="tl">
                    <a:srgbClr val="000000"/>
                  </a:outerShdw>
                </a:effectLst>
              </a:rPr>
              <a:t>回顾</a:t>
            </a:r>
            <a:r>
              <a:rPr lang="en-US" altLang="zh-CN" sz="2800" b="1" dirty="0">
                <a:solidFill>
                  <a:schemeClr val="bg1"/>
                </a:solidFill>
                <a:effectLst>
                  <a:outerShdw blurRad="38100" dist="38100" dir="2700000" algn="tl">
                    <a:srgbClr val="000000"/>
                  </a:outerShdw>
                </a:effectLst>
              </a:rPr>
              <a:t>3   </a:t>
            </a:r>
            <a:r>
              <a:rPr lang="zh-CN" altLang="en-US" sz="2800" b="1" dirty="0">
                <a:solidFill>
                  <a:schemeClr val="bg1"/>
                </a:solidFill>
                <a:effectLst>
                  <a:outerShdw blurRad="38100" dist="38100" dir="2700000" algn="tl">
                    <a:srgbClr val="000000"/>
                  </a:outerShdw>
                </a:effectLst>
              </a:rPr>
              <a:t>对数频率特性</a:t>
            </a:r>
            <a:r>
              <a:rPr lang="en-US" altLang="zh-CN" sz="2800" b="1" dirty="0">
                <a:solidFill>
                  <a:schemeClr val="bg1"/>
                </a:solidFill>
                <a:effectLst>
                  <a:outerShdw blurRad="38100" dist="38100" dir="2700000" algn="tl">
                    <a:srgbClr val="000000"/>
                  </a:outerShdw>
                </a:effectLst>
              </a:rPr>
              <a:t>—Bode</a:t>
            </a:r>
            <a:r>
              <a:rPr lang="zh-CN" altLang="en-US" sz="2800" b="1" dirty="0">
                <a:solidFill>
                  <a:schemeClr val="bg1"/>
                </a:solidFill>
                <a:effectLst>
                  <a:outerShdw blurRad="38100" dist="38100" dir="2700000" algn="tl">
                    <a:srgbClr val="000000"/>
                  </a:outerShdw>
                </a:effectLst>
              </a:rPr>
              <a:t>图</a:t>
            </a:r>
          </a:p>
        </p:txBody>
      </p:sp>
      <p:sp>
        <p:nvSpPr>
          <p:cNvPr id="543747" name="Rectangle 3"/>
          <p:cNvSpPr>
            <a:spLocks noGrp="1" noChangeArrowheads="1"/>
          </p:cNvSpPr>
          <p:nvPr>
            <p:ph type="body" sz="half" idx="1"/>
          </p:nvPr>
        </p:nvSpPr>
        <p:spPr>
          <a:xfrm>
            <a:off x="551655" y="3937097"/>
            <a:ext cx="7997495" cy="603100"/>
          </a:xfrm>
          <a:solidFill>
            <a:schemeClr val="bg1"/>
          </a:solidFill>
          <a:ln w="28575">
            <a:solidFill>
              <a:srgbClr val="008000"/>
            </a:solidFill>
            <a:miter lim="800000"/>
          </a:ln>
          <a:effectLst>
            <a:outerShdw dist="35921" dir="2700000" algn="ctr" rotWithShape="0">
              <a:schemeClr val="bg2"/>
            </a:outerShdw>
          </a:effectLst>
        </p:spPr>
        <p:txBody>
          <a:bodyPr/>
          <a:lstStyle/>
          <a:p>
            <a:pPr marL="0" indent="0">
              <a:lnSpc>
                <a:spcPct val="135000"/>
              </a:lnSpc>
              <a:buFontTx/>
              <a:buNone/>
            </a:pPr>
            <a:r>
              <a:rPr lang="en-US" altLang="zh-CN" sz="2400" b="1" dirty="0">
                <a:latin typeface="Times New Roman" panose="02020603050405020304" pitchFamily="18" charset="0"/>
              </a:rPr>
              <a:t>         G(ω)</a:t>
            </a:r>
            <a:r>
              <a:rPr lang="zh-CN" altLang="en-US" sz="2400" b="1" dirty="0">
                <a:latin typeface="Times New Roman" panose="02020603050405020304" pitchFamily="18" charset="0"/>
              </a:rPr>
              <a:t>是系统的放大倍数或称增益、对数增益。</a:t>
            </a:r>
          </a:p>
        </p:txBody>
      </p:sp>
      <p:graphicFrame>
        <p:nvGraphicFramePr>
          <p:cNvPr id="56324" name="Object 2"/>
          <p:cNvGraphicFramePr>
            <a:graphicFrameLocks noGrp="1" noChangeAspect="1"/>
          </p:cNvGraphicFramePr>
          <p:nvPr>
            <p:ph sz="half" idx="2"/>
          </p:nvPr>
        </p:nvGraphicFramePr>
        <p:xfrm>
          <a:off x="870100" y="590334"/>
          <a:ext cx="7200900" cy="1739900"/>
        </p:xfrm>
        <a:graphic>
          <a:graphicData uri="http://schemas.openxmlformats.org/presentationml/2006/ole">
            <mc:AlternateContent xmlns:mc="http://schemas.openxmlformats.org/markup-compatibility/2006">
              <mc:Choice xmlns:v="urn:schemas-microsoft-com:vml" Requires="v">
                <p:oleObj name="公式" r:id="rId4" imgW="3467100" imgH="838200" progId="Equation.3">
                  <p:embed/>
                </p:oleObj>
              </mc:Choice>
              <mc:Fallback>
                <p:oleObj name="公式" r:id="rId4" imgW="3467100" imgH="838200" progId="Equation.3">
                  <p:embed/>
                  <p:pic>
                    <p:nvPicPr>
                      <p:cNvPr id="5632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0100" y="590334"/>
                        <a:ext cx="7200900" cy="173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日期占位符 6"/>
          <p:cNvSpPr>
            <a:spLocks noGrp="1"/>
          </p:cNvSpPr>
          <p:nvPr>
            <p:ph type="dt" sz="quarter" idx="10"/>
          </p:nvPr>
        </p:nvSpPr>
        <p:spPr/>
        <p:txBody>
          <a:bodyPr/>
          <a:lstStyle/>
          <a:p>
            <a:pPr>
              <a:defRPr/>
            </a:pPr>
            <a:fld id="{83CA40D9-1721-4C68-AF0B-9C3C4B86E2B8}" type="datetime1">
              <a:rPr lang="zh-CN" altLang="en-US"/>
              <a:t>2026/4/28</a:t>
            </a:fld>
            <a:endParaRPr lang="zh-CN" altLang="en-US" dirty="0"/>
          </a:p>
        </p:txBody>
      </p:sp>
      <p:sp>
        <p:nvSpPr>
          <p:cNvPr id="10" name="Rectangle 2"/>
          <p:cNvSpPr txBox="1">
            <a:spLocks noChangeArrowheads="1"/>
          </p:cNvSpPr>
          <p:nvPr/>
        </p:nvSpPr>
        <p:spPr bwMode="auto">
          <a:xfrm>
            <a:off x="562498" y="4652299"/>
            <a:ext cx="7986652" cy="969844"/>
          </a:xfrm>
          <a:prstGeom prst="rect">
            <a:avLst/>
          </a:prstGeom>
          <a:solidFill>
            <a:schemeClr val="bg1"/>
          </a:solidFill>
          <a:ln w="28575">
            <a:solidFill>
              <a:srgbClr val="33CC33"/>
            </a:solidFill>
            <a:miter lim="800000"/>
          </a:ln>
          <a:effectLst>
            <a:outerShdw dist="35921" dir="2700000" algn="ctr" rotWithShape="0">
              <a:schemeClr val="bg2"/>
            </a:outerShdw>
          </a:effec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marL="0" indent="0">
              <a:lnSpc>
                <a:spcPct val="125000"/>
              </a:lnSpc>
              <a:spcBef>
                <a:spcPct val="5000"/>
              </a:spcBef>
              <a:buFontTx/>
              <a:buNone/>
            </a:pPr>
            <a:r>
              <a:rPr lang="en-US" altLang="zh-CN" sz="2400" b="1" kern="0" dirty="0"/>
              <a:t>    G(ω)</a:t>
            </a:r>
            <a:r>
              <a:rPr lang="zh-CN" altLang="en-US" sz="2400" b="1" kern="0" dirty="0"/>
              <a:t>、</a:t>
            </a:r>
            <a:r>
              <a:rPr lang="en-US" altLang="zh-CN" sz="2400" b="1" kern="0" dirty="0"/>
              <a:t>φ(ω)</a:t>
            </a:r>
            <a:r>
              <a:rPr lang="zh-CN" altLang="en-US" sz="2400" b="1" kern="0" dirty="0"/>
              <a:t>随</a:t>
            </a:r>
            <a:r>
              <a:rPr lang="en-US" altLang="zh-CN" sz="2400" b="1" kern="0" dirty="0"/>
              <a:t>ω</a:t>
            </a:r>
            <a:r>
              <a:rPr lang="zh-CN" altLang="en-US" sz="2400" b="1" kern="0" dirty="0"/>
              <a:t>变化曲线称为</a:t>
            </a:r>
            <a:r>
              <a:rPr lang="zh-CN" altLang="en-US" sz="2400" b="1" kern="0" dirty="0">
                <a:solidFill>
                  <a:srgbClr val="FF0000"/>
                </a:solidFill>
              </a:rPr>
              <a:t>对数频率特性</a:t>
            </a:r>
            <a:r>
              <a:rPr lang="zh-CN" altLang="en-US" sz="2400" b="1" kern="0" dirty="0"/>
              <a:t>。通常对数频率特性的自变量轴也以对数即以</a:t>
            </a:r>
            <a:r>
              <a:rPr lang="en-US" altLang="zh-CN" sz="2400" b="1" kern="0" dirty="0" err="1"/>
              <a:t>lgω</a:t>
            </a:r>
            <a:r>
              <a:rPr lang="zh-CN" altLang="en-US" sz="2400" b="1" kern="0" dirty="0"/>
              <a:t>为刻度。</a:t>
            </a:r>
          </a:p>
        </p:txBody>
      </p:sp>
      <p:graphicFrame>
        <p:nvGraphicFramePr>
          <p:cNvPr id="12" name="Object 3"/>
          <p:cNvGraphicFramePr>
            <a:graphicFrameLocks noChangeAspect="1"/>
          </p:cNvGraphicFramePr>
          <p:nvPr/>
        </p:nvGraphicFramePr>
        <p:xfrm>
          <a:off x="761880" y="2483935"/>
          <a:ext cx="6696075" cy="930275"/>
        </p:xfrm>
        <a:graphic>
          <a:graphicData uri="http://schemas.openxmlformats.org/presentationml/2006/ole">
            <mc:AlternateContent xmlns:mc="http://schemas.openxmlformats.org/markup-compatibility/2006">
              <mc:Choice xmlns:v="urn:schemas-microsoft-com:vml" Requires="v">
                <p:oleObj name="公式" r:id="rId6" imgW="3289300" imgH="457200" progId="Equation.3">
                  <p:embed/>
                </p:oleObj>
              </mc:Choice>
              <mc:Fallback>
                <p:oleObj name="公式" r:id="rId6" imgW="3289300" imgH="457200" progId="Equation.3">
                  <p:embed/>
                  <p:pic>
                    <p:nvPicPr>
                      <p:cNvPr id="12"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1880" y="2483935"/>
                        <a:ext cx="6696075" cy="93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4"/>
          <p:cNvGraphicFramePr>
            <a:graphicFrameLocks noChangeAspect="1"/>
          </p:cNvGraphicFramePr>
          <p:nvPr/>
        </p:nvGraphicFramePr>
        <p:xfrm>
          <a:off x="1370013" y="2042103"/>
          <a:ext cx="4257675" cy="576262"/>
        </p:xfrm>
        <a:graphic>
          <a:graphicData uri="http://schemas.openxmlformats.org/presentationml/2006/ole">
            <mc:AlternateContent xmlns:mc="http://schemas.openxmlformats.org/markup-compatibility/2006">
              <mc:Choice xmlns:v="urn:schemas-microsoft-com:vml" Requires="v">
                <p:oleObj name="公式" r:id="rId8" imgW="1879600" imgH="254000" progId="Equation.3">
                  <p:embed/>
                </p:oleObj>
              </mc:Choice>
              <mc:Fallback>
                <p:oleObj name="公式" r:id="rId8" imgW="1879600" imgH="254000" progId="Equation.3">
                  <p:embed/>
                  <p:pic>
                    <p:nvPicPr>
                      <p:cNvPr id="13"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0013" y="2042103"/>
                        <a:ext cx="425767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5"/>
          <p:cNvGraphicFramePr>
            <a:graphicFrameLocks noChangeAspect="1"/>
          </p:cNvGraphicFramePr>
          <p:nvPr/>
        </p:nvGraphicFramePr>
        <p:xfrm>
          <a:off x="1160013" y="3086197"/>
          <a:ext cx="2520950" cy="850900"/>
        </p:xfrm>
        <a:graphic>
          <a:graphicData uri="http://schemas.openxmlformats.org/presentationml/2006/ole">
            <mc:AlternateContent xmlns:mc="http://schemas.openxmlformats.org/markup-compatibility/2006">
              <mc:Choice xmlns:v="urn:schemas-microsoft-com:vml" Requires="v">
                <p:oleObj name="公式" r:id="rId10" imgW="1282700" imgH="431800" progId="Equation.3">
                  <p:embed/>
                </p:oleObj>
              </mc:Choice>
              <mc:Fallback>
                <p:oleObj name="公式" r:id="rId10" imgW="1282700" imgH="431800" progId="Equation.3">
                  <p:embed/>
                  <p:pic>
                    <p:nvPicPr>
                      <p:cNvPr id="14"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60013" y="3086197"/>
                        <a:ext cx="252095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7"/>
          <p:cNvSpPr>
            <a:spLocks noChangeArrowheads="1"/>
          </p:cNvSpPr>
          <p:nvPr/>
        </p:nvSpPr>
        <p:spPr bwMode="auto">
          <a:xfrm>
            <a:off x="562498" y="5752112"/>
            <a:ext cx="8058166" cy="1105888"/>
          </a:xfrm>
          <a:prstGeom prst="rect">
            <a:avLst/>
          </a:prstGeom>
          <a:solidFill>
            <a:schemeClr val="bg1"/>
          </a:solidFill>
          <a:ln w="28575">
            <a:solidFill>
              <a:srgbClr val="008000"/>
            </a:solidFill>
            <a:miter lim="800000"/>
          </a:ln>
          <a:effectLst>
            <a:outerShdw dist="35921" dir="2700000" algn="ctr" rotWithShape="0">
              <a:schemeClr val="bg2"/>
            </a:outerShdw>
          </a:effectLst>
        </p:spPr>
        <p:txBody>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lang="en-US" altLang="zh-CN" sz="2400" dirty="0">
                <a:latin typeface="华文中宋" panose="02010600040101010101" pitchFamily="2" charset="-122"/>
              </a:rPr>
              <a:t>       </a:t>
            </a:r>
            <a:r>
              <a:rPr lang="zh-CN" altLang="en-US" sz="2400" dirty="0">
                <a:solidFill>
                  <a:srgbClr val="FF0000"/>
                </a:solidFill>
                <a:latin typeface="华文中宋" panose="02010600040101010101" pitchFamily="2" charset="-122"/>
              </a:rPr>
              <a:t>可见</a:t>
            </a:r>
            <a:r>
              <a:rPr lang="zh-CN" altLang="en-US" sz="2400" dirty="0">
                <a:latin typeface="华文中宋" panose="02010600040101010101" pitchFamily="2" charset="-122"/>
              </a:rPr>
              <a:t>只要知道上式中各个因子的频特曲线，就可用叠加方法得总的频特图。</a:t>
            </a:r>
          </a:p>
        </p:txBody>
      </p:sp>
      <p:sp>
        <p:nvSpPr>
          <p:cNvPr id="4" name="墨迹 3"/>
          <p:cNvSpPr/>
          <p:nvPr/>
        </p:nvSpPr>
        <p:spPr bwMode="auto">
          <a:xfrm>
            <a:off x="2026080" y="1911600"/>
            <a:ext cx="5403960" cy="3221640"/>
          </a:xfrm>
        </p:spPr>
      </p:sp>
    </p:spTree>
    <p:custDataLst>
      <p:tags r:id="rId1"/>
    </p:custDataLst>
    <p:extLst>
      <p:ext uri="{BB962C8B-B14F-4D97-AF65-F5344CB8AC3E}">
        <p14:creationId xmlns:p14="http://schemas.microsoft.com/office/powerpoint/2010/main" val="993399533"/>
      </p:ext>
    </p:extLst>
  </p:cSld>
  <p:clrMapOvr>
    <a:masterClrMapping/>
  </p:clrMapOvr>
  <mc:AlternateContent xmlns:mc="http://schemas.openxmlformats.org/markup-compatibility/2006" xmlns:p14="http://schemas.microsoft.com/office/powerpoint/2010/main">
    <mc:Choice Requires="p14">
      <p:transition spd="slow" p14:dur="2000" advTm="101129"/>
    </mc:Choice>
    <mc:Fallback xmlns="">
      <p:transition spd="slow" advTm="1011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1000" fill="hold"/>
                                        <p:tgtEl>
                                          <p:spTgt spid="13"/>
                                        </p:tgtEl>
                                        <p:attrNameLst>
                                          <p:attrName>ppt_w</p:attrName>
                                        </p:attrNameLst>
                                      </p:cBhvr>
                                      <p:tavLst>
                                        <p:tav tm="0">
                                          <p:val>
                                            <p:strVal val="#ppt_w*0.70"/>
                                          </p:val>
                                        </p:tav>
                                        <p:tav tm="100000">
                                          <p:val>
                                            <p:strVal val="#ppt_w"/>
                                          </p:val>
                                        </p:tav>
                                      </p:tavLst>
                                    </p:anim>
                                    <p:anim calcmode="lin" valueType="num">
                                      <p:cBhvr>
                                        <p:cTn id="13" dur="1000" fill="hold"/>
                                        <p:tgtEl>
                                          <p:spTgt spid="13"/>
                                        </p:tgtEl>
                                        <p:attrNameLst>
                                          <p:attrName>ppt_h</p:attrName>
                                        </p:attrNameLst>
                                      </p:cBhvr>
                                      <p:tavLst>
                                        <p:tav tm="0">
                                          <p:val>
                                            <p:strVal val="#ppt_h"/>
                                          </p:val>
                                        </p:tav>
                                        <p:tav tm="100000">
                                          <p:val>
                                            <p:strVal val="#ppt_h"/>
                                          </p:val>
                                        </p:tav>
                                      </p:tavLst>
                                    </p:anim>
                                    <p:animEffect transition="in" filter="fade">
                                      <p:cBhvr>
                                        <p:cTn id="14" dur="10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1000" fill="hold"/>
                                        <p:tgtEl>
                                          <p:spTgt spid="12"/>
                                        </p:tgtEl>
                                        <p:attrNameLst>
                                          <p:attrName>ppt_w</p:attrName>
                                        </p:attrNameLst>
                                      </p:cBhvr>
                                      <p:tavLst>
                                        <p:tav tm="0">
                                          <p:val>
                                            <p:strVal val="#ppt_w*0.70"/>
                                          </p:val>
                                        </p:tav>
                                        <p:tav tm="100000">
                                          <p:val>
                                            <p:strVal val="#ppt_w"/>
                                          </p:val>
                                        </p:tav>
                                      </p:tavLst>
                                    </p:anim>
                                    <p:anim calcmode="lin" valueType="num">
                                      <p:cBhvr>
                                        <p:cTn id="20" dur="1000" fill="hold"/>
                                        <p:tgtEl>
                                          <p:spTgt spid="12"/>
                                        </p:tgtEl>
                                        <p:attrNameLst>
                                          <p:attrName>ppt_h</p:attrName>
                                        </p:attrNameLst>
                                      </p:cBhvr>
                                      <p:tavLst>
                                        <p:tav tm="0">
                                          <p:val>
                                            <p:strVal val="#ppt_h"/>
                                          </p:val>
                                        </p:tav>
                                        <p:tav tm="100000">
                                          <p:val>
                                            <p:strVal val="#ppt_h"/>
                                          </p:val>
                                        </p:tav>
                                      </p:tavLst>
                                    </p:anim>
                                    <p:animEffect transition="in" filter="fade">
                                      <p:cBhvr>
                                        <p:cTn id="21" dur="10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p:cTn id="26" dur="1000" fill="hold"/>
                                        <p:tgtEl>
                                          <p:spTgt spid="14"/>
                                        </p:tgtEl>
                                        <p:attrNameLst>
                                          <p:attrName>ppt_w</p:attrName>
                                        </p:attrNameLst>
                                      </p:cBhvr>
                                      <p:tavLst>
                                        <p:tav tm="0">
                                          <p:val>
                                            <p:strVal val="#ppt_w*0.70"/>
                                          </p:val>
                                        </p:tav>
                                        <p:tav tm="100000">
                                          <p:val>
                                            <p:strVal val="#ppt_w"/>
                                          </p:val>
                                        </p:tav>
                                      </p:tavLst>
                                    </p:anim>
                                    <p:anim calcmode="lin" valueType="num">
                                      <p:cBhvr>
                                        <p:cTn id="27" dur="1000" fill="hold"/>
                                        <p:tgtEl>
                                          <p:spTgt spid="14"/>
                                        </p:tgtEl>
                                        <p:attrNameLst>
                                          <p:attrName>ppt_h</p:attrName>
                                        </p:attrNameLst>
                                      </p:cBhvr>
                                      <p:tavLst>
                                        <p:tav tm="0">
                                          <p:val>
                                            <p:strVal val="#ppt_h"/>
                                          </p:val>
                                        </p:tav>
                                        <p:tav tm="100000">
                                          <p:val>
                                            <p:strVal val="#ppt_h"/>
                                          </p:val>
                                        </p:tav>
                                      </p:tavLst>
                                    </p:anim>
                                    <p:animEffect transition="in" filter="fade">
                                      <p:cBhvr>
                                        <p:cTn id="28" dur="10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543747">
                                            <p:txEl>
                                              <p:pRg st="0" end="0"/>
                                            </p:txEl>
                                          </p:spTgt>
                                        </p:tgtEl>
                                        <p:attrNameLst>
                                          <p:attrName>style.visibility</p:attrName>
                                        </p:attrNameLst>
                                      </p:cBhvr>
                                      <p:to>
                                        <p:strVal val="visible"/>
                                      </p:to>
                                    </p:set>
                                    <p:anim calcmode="lin" valueType="num">
                                      <p:cBhvr>
                                        <p:cTn id="33" dur="1000" fill="hold"/>
                                        <p:tgtEl>
                                          <p:spTgt spid="543747">
                                            <p:txEl>
                                              <p:pRg st="0" end="0"/>
                                            </p:txEl>
                                          </p:spTgt>
                                        </p:tgtEl>
                                        <p:attrNameLst>
                                          <p:attrName>ppt_w</p:attrName>
                                        </p:attrNameLst>
                                      </p:cBhvr>
                                      <p:tavLst>
                                        <p:tav tm="0">
                                          <p:val>
                                            <p:strVal val="#ppt_w*0.70"/>
                                          </p:val>
                                        </p:tav>
                                        <p:tav tm="100000">
                                          <p:val>
                                            <p:strVal val="#ppt_w"/>
                                          </p:val>
                                        </p:tav>
                                      </p:tavLst>
                                    </p:anim>
                                    <p:anim calcmode="lin" valueType="num">
                                      <p:cBhvr>
                                        <p:cTn id="34" dur="1000" fill="hold"/>
                                        <p:tgtEl>
                                          <p:spTgt spid="543747">
                                            <p:txEl>
                                              <p:pRg st="0" end="0"/>
                                            </p:txEl>
                                          </p:spTgt>
                                        </p:tgtEl>
                                        <p:attrNameLst>
                                          <p:attrName>ppt_h</p:attrName>
                                        </p:attrNameLst>
                                      </p:cBhvr>
                                      <p:tavLst>
                                        <p:tav tm="0">
                                          <p:val>
                                            <p:strVal val="#ppt_h"/>
                                          </p:val>
                                        </p:tav>
                                        <p:tav tm="100000">
                                          <p:val>
                                            <p:strVal val="#ppt_h"/>
                                          </p:val>
                                        </p:tav>
                                      </p:tavLst>
                                    </p:anim>
                                    <p:animEffect transition="in" filter="fade">
                                      <p:cBhvr>
                                        <p:cTn id="35" dur="1000"/>
                                        <p:tgtEl>
                                          <p:spTgt spid="54374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grpId="0" nodeType="click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 calcmode="lin" valueType="num">
                                      <p:cBhvr>
                                        <p:cTn id="40" dur="1000" fill="hold"/>
                                        <p:tgtEl>
                                          <p:spTgt spid="10">
                                            <p:txEl>
                                              <p:pRg st="0" end="0"/>
                                            </p:txEl>
                                          </p:spTgt>
                                        </p:tgtEl>
                                        <p:attrNameLst>
                                          <p:attrName>ppt_w</p:attrName>
                                        </p:attrNameLst>
                                      </p:cBhvr>
                                      <p:tavLst>
                                        <p:tav tm="0">
                                          <p:val>
                                            <p:strVal val="#ppt_w*0.70"/>
                                          </p:val>
                                        </p:tav>
                                        <p:tav tm="100000">
                                          <p:val>
                                            <p:strVal val="#ppt_w"/>
                                          </p:val>
                                        </p:tav>
                                      </p:tavLst>
                                    </p:anim>
                                    <p:anim calcmode="lin" valueType="num">
                                      <p:cBhvr>
                                        <p:cTn id="41" dur="1000" fill="hold"/>
                                        <p:tgtEl>
                                          <p:spTgt spid="10">
                                            <p:txEl>
                                              <p:pRg st="0" end="0"/>
                                            </p:txEl>
                                          </p:spTgt>
                                        </p:tgtEl>
                                        <p:attrNameLst>
                                          <p:attrName>ppt_h</p:attrName>
                                        </p:attrNameLst>
                                      </p:cBhvr>
                                      <p:tavLst>
                                        <p:tav tm="0">
                                          <p:val>
                                            <p:strVal val="#ppt_h"/>
                                          </p:val>
                                        </p:tav>
                                        <p:tav tm="100000">
                                          <p:val>
                                            <p:strVal val="#ppt_h"/>
                                          </p:val>
                                        </p:tav>
                                      </p:tavLst>
                                    </p:anim>
                                    <p:animEffect transition="in" filter="fade">
                                      <p:cBhvr>
                                        <p:cTn id="42" dur="1000"/>
                                        <p:tgtEl>
                                          <p:spTgt spid="1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p:cTn id="47" dur="1000" fill="hold"/>
                                        <p:tgtEl>
                                          <p:spTgt spid="15"/>
                                        </p:tgtEl>
                                        <p:attrNameLst>
                                          <p:attrName>ppt_w</p:attrName>
                                        </p:attrNameLst>
                                      </p:cBhvr>
                                      <p:tavLst>
                                        <p:tav tm="0">
                                          <p:val>
                                            <p:strVal val="#ppt_w*0.70"/>
                                          </p:val>
                                        </p:tav>
                                        <p:tav tm="100000">
                                          <p:val>
                                            <p:strVal val="#ppt_w"/>
                                          </p:val>
                                        </p:tav>
                                      </p:tavLst>
                                    </p:anim>
                                    <p:anim calcmode="lin" valueType="num">
                                      <p:cBhvr>
                                        <p:cTn id="48" dur="1000" fill="hold"/>
                                        <p:tgtEl>
                                          <p:spTgt spid="15"/>
                                        </p:tgtEl>
                                        <p:attrNameLst>
                                          <p:attrName>ppt_h</p:attrName>
                                        </p:attrNameLst>
                                      </p:cBhvr>
                                      <p:tavLst>
                                        <p:tav tm="0">
                                          <p:val>
                                            <p:strVal val="#ppt_h"/>
                                          </p:val>
                                        </p:tav>
                                        <p:tav tm="100000">
                                          <p:val>
                                            <p:strVal val="#ppt_h"/>
                                          </p:val>
                                        </p:tav>
                                      </p:tavLst>
                                    </p:anim>
                                    <p:animEffect transition="in" filter="fade">
                                      <p:cBhvr>
                                        <p:cTn id="49"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7" grpId="0" build="p"/>
      <p:bldP spid="10" grpId="0" build="p"/>
      <p:bldP spid="1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a:xfrm>
            <a:off x="684213" y="188913"/>
            <a:ext cx="3959225" cy="620712"/>
          </a:xfrm>
          <a:solidFill>
            <a:schemeClr val="accent2"/>
          </a:solidFill>
          <a:effectLst>
            <a:outerShdw dist="35921" dir="2700000" algn="ctr" rotWithShape="0">
              <a:schemeClr val="bg2"/>
            </a:outerShdw>
          </a:effectLst>
        </p:spPr>
        <p:txBody>
          <a:bodyPr/>
          <a:lstStyle/>
          <a:p>
            <a:pPr>
              <a:defRPr/>
            </a:pPr>
            <a:r>
              <a:rPr lang="en-US" altLang="zh-CN" sz="2800" b="1" dirty="0">
                <a:solidFill>
                  <a:srgbClr val="F8F8F8"/>
                </a:solidFill>
                <a:effectLst>
                  <a:outerShdw blurRad="38100" dist="38100" dir="2700000" algn="tl">
                    <a:srgbClr val="000000"/>
                  </a:outerShdw>
                </a:effectLst>
              </a:rPr>
              <a:t>§6.6 </a:t>
            </a:r>
            <a:r>
              <a:rPr lang="zh-CN" altLang="en-US" sz="2800" b="1" dirty="0">
                <a:solidFill>
                  <a:srgbClr val="F8F8F8"/>
                </a:solidFill>
                <a:effectLst>
                  <a:outerShdw blurRad="38100" dist="38100" dir="2700000" algn="tl">
                    <a:srgbClr val="000000"/>
                  </a:outerShdw>
                </a:effectLst>
              </a:rPr>
              <a:t>系统的稳定性</a:t>
            </a:r>
          </a:p>
        </p:txBody>
      </p:sp>
      <p:sp>
        <p:nvSpPr>
          <p:cNvPr id="561156" name="Text Box 4"/>
          <p:cNvSpPr txBox="1">
            <a:spLocks noChangeArrowheads="1"/>
          </p:cNvSpPr>
          <p:nvPr/>
        </p:nvSpPr>
        <p:spPr bwMode="auto">
          <a:xfrm>
            <a:off x="1320800" y="4502150"/>
            <a:ext cx="6696075" cy="1211263"/>
          </a:xfrm>
          <a:prstGeom prst="rect">
            <a:avLst/>
          </a:prstGeom>
          <a:solidFill>
            <a:schemeClr val="bg1"/>
          </a:solidFill>
          <a:ln w="28575" cap="sq">
            <a:solidFill>
              <a:srgbClr val="008000"/>
            </a:solidFill>
            <a:miter lim="800000"/>
            <a:headEnd type="none" w="sm" len="sm"/>
            <a:tailEnd type="none" w="sm" len="sm"/>
          </a:ln>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en-US" altLang="zh-CN">
                <a:solidFill>
                  <a:srgbClr val="FF0000"/>
                </a:solidFill>
              </a:rPr>
              <a:t>  </a:t>
            </a:r>
            <a:r>
              <a:rPr kumimoji="1" lang="zh-CN" altLang="en-US">
                <a:solidFill>
                  <a:srgbClr val="FF0000"/>
                </a:solidFill>
              </a:rPr>
              <a:t>系统稳定性取决于系统本身的结构和参数，是系统身性质之一。</a:t>
            </a:r>
            <a:r>
              <a:rPr kumimoji="1" lang="zh-CN" altLang="en-US">
                <a:solidFill>
                  <a:srgbClr val="0000FF"/>
                </a:solidFill>
              </a:rPr>
              <a:t>系统是否稳定与激励信号无关。</a:t>
            </a:r>
          </a:p>
        </p:txBody>
      </p:sp>
      <p:sp>
        <p:nvSpPr>
          <p:cNvPr id="561157" name="Text Box 5"/>
          <p:cNvSpPr txBox="1">
            <a:spLocks noChangeArrowheads="1"/>
          </p:cNvSpPr>
          <p:nvPr/>
        </p:nvSpPr>
        <p:spPr bwMode="auto">
          <a:xfrm>
            <a:off x="900113" y="1196975"/>
            <a:ext cx="7632700" cy="1856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30000"/>
              </a:lnSpc>
              <a:spcBef>
                <a:spcPct val="20000"/>
              </a:spcBef>
              <a:buClr>
                <a:schemeClr val="accent2"/>
              </a:buClr>
              <a:buFont typeface="Wingdings" panose="05000000000000000000" pitchFamily="2" charset="2"/>
              <a:buNone/>
            </a:pPr>
            <a:r>
              <a:rPr kumimoji="1" lang="zh-CN" altLang="en-US">
                <a:solidFill>
                  <a:srgbClr val="0000FF"/>
                </a:solidFill>
                <a:ea typeface="宋体" panose="02010600030101010101" pitchFamily="2" charset="-122"/>
              </a:rPr>
              <a:t>定义：</a:t>
            </a:r>
            <a:r>
              <a:rPr kumimoji="1" lang="zh-CN" altLang="en-US">
                <a:solidFill>
                  <a:srgbClr val="800000"/>
                </a:solidFill>
                <a:ea typeface="宋体" panose="02010600030101010101" pitchFamily="2" charset="-122"/>
              </a:rPr>
              <a:t>若</a:t>
            </a:r>
            <a:r>
              <a:rPr kumimoji="1" lang="zh-CN" altLang="en-US">
                <a:ea typeface="宋体" panose="02010600030101010101" pitchFamily="2" charset="-122"/>
              </a:rPr>
              <a:t>一个系统对于</a:t>
            </a:r>
            <a:r>
              <a:rPr kumimoji="1" lang="zh-CN" altLang="en-US">
                <a:solidFill>
                  <a:srgbClr val="FF0000"/>
                </a:solidFill>
                <a:ea typeface="宋体" panose="02010600030101010101" pitchFamily="2" charset="-122"/>
              </a:rPr>
              <a:t>有界激励信号</a:t>
            </a:r>
            <a:r>
              <a:rPr kumimoji="1" lang="zh-CN" altLang="en-US">
                <a:ea typeface="宋体" panose="02010600030101010101" pitchFamily="2" charset="-122"/>
              </a:rPr>
              <a:t>产生</a:t>
            </a:r>
            <a:r>
              <a:rPr kumimoji="1" lang="zh-CN" altLang="en-US">
                <a:solidFill>
                  <a:srgbClr val="FF0000"/>
                </a:solidFill>
                <a:ea typeface="宋体" panose="02010600030101010101" pitchFamily="2" charset="-122"/>
              </a:rPr>
              <a:t>有界的响应</a:t>
            </a:r>
            <a:r>
              <a:rPr kumimoji="1" lang="zh-CN" altLang="en-US">
                <a:solidFill>
                  <a:srgbClr val="800000"/>
                </a:solidFill>
                <a:ea typeface="宋体" panose="02010600030101010101" pitchFamily="2" charset="-122"/>
              </a:rPr>
              <a:t>，</a:t>
            </a:r>
          </a:p>
          <a:p>
            <a:pPr eaLnBrk="1" hangingPunct="1">
              <a:lnSpc>
                <a:spcPct val="130000"/>
              </a:lnSpc>
              <a:spcBef>
                <a:spcPct val="20000"/>
              </a:spcBef>
              <a:buClr>
                <a:schemeClr val="accent2"/>
              </a:buClr>
              <a:buFont typeface="Wingdings" panose="05000000000000000000" pitchFamily="2" charset="2"/>
              <a:buNone/>
            </a:pPr>
            <a:r>
              <a:rPr kumimoji="1" lang="zh-CN" altLang="en-US">
                <a:solidFill>
                  <a:srgbClr val="800000"/>
                </a:solidFill>
                <a:ea typeface="宋体" panose="02010600030101010101" pitchFamily="2" charset="-122"/>
              </a:rPr>
              <a:t>则</a:t>
            </a:r>
            <a:r>
              <a:rPr kumimoji="1" lang="zh-CN" altLang="en-US">
                <a:ea typeface="宋体" panose="02010600030101010101" pitchFamily="2" charset="-122"/>
              </a:rPr>
              <a:t>该系统是</a:t>
            </a:r>
            <a:r>
              <a:rPr kumimoji="1" lang="zh-CN" altLang="en-US">
                <a:solidFill>
                  <a:srgbClr val="FF0000"/>
                </a:solidFill>
                <a:ea typeface="宋体" panose="02010600030101010101" pitchFamily="2" charset="-122"/>
              </a:rPr>
              <a:t>稳定</a:t>
            </a:r>
            <a:r>
              <a:rPr kumimoji="1" lang="zh-CN" altLang="en-US">
                <a:ea typeface="宋体" panose="02010600030101010101" pitchFamily="2" charset="-122"/>
              </a:rPr>
              <a:t>的</a:t>
            </a:r>
            <a:r>
              <a:rPr kumimoji="1" lang="zh-CN" altLang="en-US">
                <a:solidFill>
                  <a:srgbClr val="800000"/>
                </a:solidFill>
                <a:ea typeface="宋体" panose="02010600030101010101" pitchFamily="2" charset="-122"/>
              </a:rPr>
              <a:t>。即：</a:t>
            </a:r>
          </a:p>
        </p:txBody>
      </p:sp>
      <p:graphicFrame>
        <p:nvGraphicFramePr>
          <p:cNvPr id="561158" name="Object 2"/>
          <p:cNvGraphicFramePr>
            <a:graphicFrameLocks noChangeAspect="1"/>
          </p:cNvGraphicFramePr>
          <p:nvPr/>
        </p:nvGraphicFramePr>
        <p:xfrm>
          <a:off x="2420938" y="1836738"/>
          <a:ext cx="4192587" cy="533400"/>
        </p:xfrm>
        <a:graphic>
          <a:graphicData uri="http://schemas.openxmlformats.org/presentationml/2006/ole">
            <mc:AlternateContent xmlns:mc="http://schemas.openxmlformats.org/markup-compatibility/2006">
              <mc:Choice xmlns:v="urn:schemas-microsoft-com:vml" Requires="v">
                <p:oleObj name="公式" r:id="rId3" imgW="1216025" imgH="140335" progId="Equation.3">
                  <p:embed/>
                </p:oleObj>
              </mc:Choice>
              <mc:Fallback>
                <p:oleObj name="公式" r:id="rId3" imgW="1216025" imgH="14033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0938" y="1836738"/>
                        <a:ext cx="419258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1159" name="Text Box 7"/>
          <p:cNvSpPr txBox="1">
            <a:spLocks noChangeArrowheads="1"/>
          </p:cNvSpPr>
          <p:nvPr/>
        </p:nvSpPr>
        <p:spPr bwMode="auto">
          <a:xfrm>
            <a:off x="2357438" y="3357563"/>
            <a:ext cx="554196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宋体" panose="02010600030101010101" pitchFamily="2" charset="-122"/>
              </a:rPr>
              <a:t>其中：</a:t>
            </a:r>
            <a:r>
              <a:rPr kumimoji="1" lang="en-US" altLang="zh-CN">
                <a:solidFill>
                  <a:srgbClr val="800000"/>
                </a:solidFill>
                <a:latin typeface="Tahoma" panose="020B0604030504040204" pitchFamily="34" charset="0"/>
                <a:ea typeface="宋体" panose="02010600030101010101" pitchFamily="2" charset="-122"/>
              </a:rPr>
              <a:t>M</a:t>
            </a:r>
            <a:r>
              <a:rPr kumimoji="1" lang="en-US" altLang="zh-CN" baseline="-25000">
                <a:solidFill>
                  <a:srgbClr val="800000"/>
                </a:solidFill>
                <a:latin typeface="Tahoma" panose="020B0604030504040204" pitchFamily="34" charset="0"/>
                <a:ea typeface="宋体" panose="02010600030101010101" pitchFamily="2" charset="-122"/>
              </a:rPr>
              <a:t>e </a:t>
            </a:r>
            <a:r>
              <a:rPr kumimoji="1" lang="zh-CN" altLang="en-US">
                <a:solidFill>
                  <a:srgbClr val="800000"/>
                </a:solidFill>
                <a:latin typeface="Tahoma" panose="020B0604030504040204" pitchFamily="34" charset="0"/>
                <a:ea typeface="宋体" panose="02010600030101010101" pitchFamily="2" charset="-122"/>
              </a:rPr>
              <a:t>，</a:t>
            </a:r>
            <a:r>
              <a:rPr kumimoji="1" lang="zh-CN" altLang="en-US" baseline="-25000">
                <a:solidFill>
                  <a:srgbClr val="800000"/>
                </a:solidFill>
                <a:latin typeface="Tahoma" panose="020B0604030504040204" pitchFamily="34" charset="0"/>
                <a:ea typeface="宋体" panose="02010600030101010101" pitchFamily="2" charset="-122"/>
              </a:rPr>
              <a:t> </a:t>
            </a:r>
            <a:r>
              <a:rPr kumimoji="1" lang="en-US" altLang="zh-CN">
                <a:solidFill>
                  <a:srgbClr val="800000"/>
                </a:solidFill>
                <a:latin typeface="Tahoma" panose="020B0604030504040204" pitchFamily="34" charset="0"/>
                <a:ea typeface="宋体" panose="02010600030101010101" pitchFamily="2" charset="-122"/>
              </a:rPr>
              <a:t>M</a:t>
            </a:r>
            <a:r>
              <a:rPr kumimoji="1" lang="en-US" altLang="zh-CN" baseline="-25000">
                <a:solidFill>
                  <a:srgbClr val="800000"/>
                </a:solidFill>
                <a:latin typeface="Tahoma" panose="020B0604030504040204" pitchFamily="34" charset="0"/>
                <a:ea typeface="宋体" panose="02010600030101010101" pitchFamily="2" charset="-122"/>
              </a:rPr>
              <a:t>r</a:t>
            </a:r>
            <a:r>
              <a:rPr kumimoji="1" lang="zh-CN" altLang="en-US">
                <a:solidFill>
                  <a:srgbClr val="800000"/>
                </a:solidFill>
                <a:latin typeface="Tahoma" panose="020B0604030504040204" pitchFamily="34" charset="0"/>
                <a:ea typeface="宋体" panose="02010600030101010101" pitchFamily="2" charset="-122"/>
              </a:rPr>
              <a:t>为有限正实常数</a:t>
            </a:r>
          </a:p>
        </p:txBody>
      </p:sp>
      <p:sp>
        <p:nvSpPr>
          <p:cNvPr id="7" name="日期占位符 6"/>
          <p:cNvSpPr>
            <a:spLocks noGrp="1"/>
          </p:cNvSpPr>
          <p:nvPr>
            <p:ph type="dt" sz="quarter" idx="10"/>
          </p:nvPr>
        </p:nvSpPr>
        <p:spPr>
          <a:xfrm>
            <a:off x="0" y="6538913"/>
            <a:ext cx="1611313" cy="319087"/>
          </a:xfrm>
        </p:spPr>
        <p:txBody>
          <a:bodyPr/>
          <a:lstStyle/>
          <a:p>
            <a:pPr>
              <a:defRPr/>
            </a:pPr>
            <a:fld id="{41E6BD1A-3A9D-4B52-A4C3-F0C16271BC19}" type="datetime1">
              <a:rPr lang="zh-CN" altLang="en-US" smtClean="0"/>
              <a:t>2026/4/28</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579"/>
    </mc:Choice>
    <mc:Fallback xmlns="">
      <p:transition spd="slow" advTm="395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61157">
                                            <p:txEl>
                                              <p:pRg st="0" end="0"/>
                                            </p:txEl>
                                          </p:spTgt>
                                        </p:tgtEl>
                                        <p:attrNameLst>
                                          <p:attrName>style.visibility</p:attrName>
                                        </p:attrNameLst>
                                      </p:cBhvr>
                                      <p:to>
                                        <p:strVal val="visible"/>
                                      </p:to>
                                    </p:set>
                                    <p:animEffect transition="in" filter="wipe(left)">
                                      <p:cBhvr>
                                        <p:cTn id="7" dur="500"/>
                                        <p:tgtEl>
                                          <p:spTgt spid="561157">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61158"/>
                                        </p:tgtEl>
                                        <p:attrNameLst>
                                          <p:attrName>style.visibility</p:attrName>
                                        </p:attrNameLst>
                                      </p:cBhvr>
                                      <p:to>
                                        <p:strVal val="visible"/>
                                      </p:to>
                                    </p:set>
                                    <p:animEffect transition="in" filter="wipe(left)">
                                      <p:cBhvr>
                                        <p:cTn id="11" dur="500"/>
                                        <p:tgtEl>
                                          <p:spTgt spid="56115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61159">
                                            <p:txEl>
                                              <p:pRg st="0" end="0"/>
                                            </p:txEl>
                                          </p:spTgt>
                                        </p:tgtEl>
                                        <p:attrNameLst>
                                          <p:attrName>style.visibility</p:attrName>
                                        </p:attrNameLst>
                                      </p:cBhvr>
                                      <p:to>
                                        <p:strVal val="visible"/>
                                      </p:to>
                                    </p:set>
                                    <p:animEffect transition="in" filter="wipe(left)">
                                      <p:cBhvr>
                                        <p:cTn id="15" dur="500"/>
                                        <p:tgtEl>
                                          <p:spTgt spid="56115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561156"/>
                                        </p:tgtEl>
                                        <p:attrNameLst>
                                          <p:attrName>style.visibility</p:attrName>
                                        </p:attrNameLst>
                                      </p:cBhvr>
                                      <p:to>
                                        <p:strVal val="visible"/>
                                      </p:to>
                                    </p:set>
                                    <p:anim calcmode="lin" valueType="num">
                                      <p:cBhvr>
                                        <p:cTn id="20" dur="1000" fill="hold"/>
                                        <p:tgtEl>
                                          <p:spTgt spid="561156"/>
                                        </p:tgtEl>
                                        <p:attrNameLst>
                                          <p:attrName>ppt_w</p:attrName>
                                        </p:attrNameLst>
                                      </p:cBhvr>
                                      <p:tavLst>
                                        <p:tav tm="0">
                                          <p:val>
                                            <p:strVal val="#ppt_w*0.70"/>
                                          </p:val>
                                        </p:tav>
                                        <p:tav tm="100000">
                                          <p:val>
                                            <p:strVal val="#ppt_w"/>
                                          </p:val>
                                        </p:tav>
                                      </p:tavLst>
                                    </p:anim>
                                    <p:anim calcmode="lin" valueType="num">
                                      <p:cBhvr>
                                        <p:cTn id="21" dur="1000" fill="hold"/>
                                        <p:tgtEl>
                                          <p:spTgt spid="561156"/>
                                        </p:tgtEl>
                                        <p:attrNameLst>
                                          <p:attrName>ppt_h</p:attrName>
                                        </p:attrNameLst>
                                      </p:cBhvr>
                                      <p:tavLst>
                                        <p:tav tm="0">
                                          <p:val>
                                            <p:strVal val="#ppt_h"/>
                                          </p:val>
                                        </p:tav>
                                        <p:tav tm="100000">
                                          <p:val>
                                            <p:strVal val="#ppt_h"/>
                                          </p:val>
                                        </p:tav>
                                      </p:tavLst>
                                    </p:anim>
                                    <p:animEffect transition="in" filter="fade">
                                      <p:cBhvr>
                                        <p:cTn id="22" dur="1000"/>
                                        <p:tgtEl>
                                          <p:spTgt spid="561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6" grpId="0" animBg="1"/>
      <p:bldP spid="561157" grpId="0" build="p" autoUpdateAnimBg="0"/>
      <p:bldP spid="561159"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p:cNvSpPr>
            <a:spLocks noChangeArrowheads="1"/>
          </p:cNvSpPr>
          <p:nvPr/>
        </p:nvSpPr>
        <p:spPr bwMode="auto">
          <a:xfrm>
            <a:off x="596900" y="1243013"/>
            <a:ext cx="8291513" cy="4548187"/>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marL="360680" indent="-36068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rgbClr val="FF0000"/>
              </a:buClr>
              <a:buFont typeface="Wingdings" panose="05000000000000000000" pitchFamily="2" charset="2"/>
              <a:buChar char="l"/>
            </a:pPr>
            <a:r>
              <a:rPr kumimoji="1" lang="zh-CN" altLang="en-US">
                <a:latin typeface="华文楷体" panose="02010600040101010101" pitchFamily="2" charset="-122"/>
                <a:ea typeface="华文楷体" panose="02010600040101010101" pitchFamily="2" charset="-122"/>
              </a:rPr>
              <a:t>在</a:t>
            </a:r>
            <a:r>
              <a:rPr kumimoji="1" lang="zh-CN" altLang="zh-CN">
                <a:latin typeface="华文楷体" panose="02010600040101010101" pitchFamily="2" charset="-122"/>
                <a:ea typeface="华文楷体" panose="02010600040101010101" pitchFamily="2" charset="-122"/>
              </a:rPr>
              <a:t>§</a:t>
            </a:r>
            <a:r>
              <a:rPr kumimoji="1" lang="en-US" altLang="zh-CN">
                <a:latin typeface="华文楷体" panose="02010600040101010101" pitchFamily="2" charset="-122"/>
                <a:ea typeface="华文楷体" panose="02010600040101010101" pitchFamily="2" charset="-122"/>
              </a:rPr>
              <a:t>6.3</a:t>
            </a:r>
            <a:r>
              <a:rPr kumimoji="1" lang="zh-CN" altLang="en-US">
                <a:latin typeface="华文楷体" panose="02010600040101010101" pitchFamily="2" charset="-122"/>
                <a:ea typeface="华文楷体" panose="02010600040101010101" pitchFamily="2" charset="-122"/>
              </a:rPr>
              <a:t>中说明稳定性的含义是当激励为有限时，当</a:t>
            </a:r>
            <a:r>
              <a:rPr kumimoji="1" lang="en-US" altLang="zh-CN">
                <a:latin typeface="华文楷体" panose="02010600040101010101" pitchFamily="2" charset="-122"/>
                <a:ea typeface="华文楷体" panose="02010600040101010101" pitchFamily="2" charset="-122"/>
              </a:rPr>
              <a:t>t→∞</a:t>
            </a:r>
            <a:r>
              <a:rPr kumimoji="1" lang="zh-CN" altLang="en-US">
                <a:latin typeface="华文楷体" panose="02010600040101010101" pitchFamily="2" charset="-122"/>
                <a:ea typeface="华文楷体" panose="02010600040101010101" pitchFamily="2" charset="-122"/>
              </a:rPr>
              <a:t>时，系统的响应是有限的，不随时间增大而趋于无限大</a:t>
            </a:r>
            <a:r>
              <a:rPr kumimoji="1" lang="en-US" altLang="zh-CN">
                <a:latin typeface="华文楷体" panose="02010600040101010101" pitchFamily="2" charset="-122"/>
                <a:ea typeface="华文楷体" panose="02010600040101010101" pitchFamily="2" charset="-122"/>
              </a:rPr>
              <a:t>;</a:t>
            </a:r>
          </a:p>
          <a:p>
            <a:pPr eaLnBrk="1" hangingPunct="1">
              <a:lnSpc>
                <a:spcPct val="140000"/>
              </a:lnSpc>
              <a:spcBef>
                <a:spcPct val="20000"/>
              </a:spcBef>
              <a:buClr>
                <a:srgbClr val="FF0000"/>
              </a:buClr>
              <a:buFont typeface="Wingdings" panose="05000000000000000000" pitchFamily="2" charset="2"/>
              <a:buChar char="l"/>
            </a:pPr>
            <a:r>
              <a:rPr kumimoji="1" lang="zh-CN" altLang="en-US">
                <a:latin typeface="华文楷体" panose="02010600040101010101" pitchFamily="2" charset="-122"/>
                <a:ea typeface="华文楷体" panose="02010600040101010101" pitchFamily="2" charset="-122"/>
              </a:rPr>
              <a:t>可见</a:t>
            </a:r>
            <a:r>
              <a:rPr kumimoji="1" lang="zh-CN" altLang="en-US">
                <a:solidFill>
                  <a:srgbClr val="0000FF"/>
                </a:solidFill>
                <a:latin typeface="华文楷体" panose="02010600040101010101" pitchFamily="2" charset="-122"/>
                <a:ea typeface="华文楷体" panose="02010600040101010101" pitchFamily="2" charset="-122"/>
              </a:rPr>
              <a:t>无源系统一定是稳定系统</a:t>
            </a:r>
            <a:r>
              <a:rPr kumimoji="1" lang="zh-CN" altLang="en-US">
                <a:latin typeface="华文楷体" panose="02010600040101010101" pitchFamily="2" charset="-122"/>
                <a:ea typeface="华文楷体" panose="02010600040101010101" pitchFamily="2" charset="-122"/>
              </a:rPr>
              <a:t>。</a:t>
            </a:r>
          </a:p>
          <a:p>
            <a:pPr eaLnBrk="1" hangingPunct="1">
              <a:lnSpc>
                <a:spcPct val="140000"/>
              </a:lnSpc>
              <a:spcBef>
                <a:spcPct val="20000"/>
              </a:spcBef>
              <a:buClr>
                <a:srgbClr val="FF0000"/>
              </a:buClr>
              <a:buFont typeface="Wingdings" panose="05000000000000000000" pitchFamily="2" charset="2"/>
              <a:buChar char="l"/>
            </a:pPr>
            <a:r>
              <a:rPr kumimoji="1" lang="zh-CN" altLang="en-US">
                <a:latin typeface="华文楷体" panose="02010600040101010101" pitchFamily="2" charset="-122"/>
                <a:ea typeface="华文楷体" panose="02010600040101010101" pitchFamily="2" charset="-122"/>
              </a:rPr>
              <a:t>但工程上常用的有源反馈系统，则可能不稳定。</a:t>
            </a:r>
          </a:p>
          <a:p>
            <a:pPr eaLnBrk="1" hangingPunct="1">
              <a:lnSpc>
                <a:spcPct val="140000"/>
              </a:lnSpc>
              <a:spcBef>
                <a:spcPct val="20000"/>
              </a:spcBef>
              <a:buClr>
                <a:srgbClr val="FF0000"/>
              </a:buClr>
              <a:buFont typeface="Wingdings" panose="05000000000000000000" pitchFamily="2" charset="2"/>
              <a:buChar char="l"/>
            </a:pPr>
            <a:r>
              <a:rPr kumimoji="1" lang="zh-CN" altLang="en-US">
                <a:latin typeface="华文楷体" panose="02010600040101010101" pitchFamily="2" charset="-122"/>
                <a:ea typeface="华文楷体" panose="02010600040101010101" pitchFamily="2" charset="-122"/>
              </a:rPr>
              <a:t>判定一个系统稳定与否，是系统设计者首先要考虑的问题。 </a:t>
            </a:r>
          </a:p>
        </p:txBody>
      </p:sp>
      <p:sp>
        <p:nvSpPr>
          <p:cNvPr id="601096" name="Rectangle 8"/>
          <p:cNvSpPr>
            <a:spLocks noChangeArrowheads="1"/>
          </p:cNvSpPr>
          <p:nvPr/>
        </p:nvSpPr>
        <p:spPr bwMode="auto">
          <a:xfrm>
            <a:off x="504825" y="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4" name="日期占位符 3"/>
          <p:cNvSpPr>
            <a:spLocks noGrp="1"/>
          </p:cNvSpPr>
          <p:nvPr>
            <p:ph type="dt" sz="quarter" idx="10"/>
          </p:nvPr>
        </p:nvSpPr>
        <p:spPr/>
        <p:txBody>
          <a:bodyPr/>
          <a:lstStyle/>
          <a:p>
            <a:pPr>
              <a:defRPr/>
            </a:pPr>
            <a:fld id="{C5F62AD3-4506-4E33-9E50-767573C2D584}" type="datetime1">
              <a:rPr lang="zh-CN" altLang="en-US"/>
              <a:t>2026/4/28</a:t>
            </a:fld>
            <a:endParaRPr lang="zh-CN" altLang="en-US"/>
          </a:p>
        </p:txBody>
      </p:sp>
      <p:sp>
        <p:nvSpPr>
          <p:cNvPr id="2" name="墨迹 1"/>
          <p:cNvSpPr/>
          <p:nvPr/>
        </p:nvSpPr>
        <p:spPr bwMode="auto">
          <a:xfrm>
            <a:off x="1868400" y="2466000"/>
            <a:ext cx="6383520" cy="2072160"/>
          </a:xfrm>
        </p:spPr>
      </p:sp>
    </p:spTree>
  </p:cSld>
  <p:clrMapOvr>
    <a:masterClrMapping/>
  </p:clrMapOvr>
  <mc:AlternateContent xmlns:mc="http://schemas.openxmlformats.org/markup-compatibility/2006" xmlns:p14="http://schemas.microsoft.com/office/powerpoint/2010/main">
    <mc:Choice Requires="p14">
      <p:transition spd="slow" p14:dur="2000" advTm="105641"/>
    </mc:Choice>
    <mc:Fallback xmlns="">
      <p:transition spd="slow" advTm="1056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4754">
                                            <p:txEl>
                                              <p:pRg st="3" end="3"/>
                                            </p:txEl>
                                          </p:spTgt>
                                        </p:tgtEl>
                                        <p:attrNameLst>
                                          <p:attrName>style.visibility</p:attrName>
                                        </p:attrNameLst>
                                      </p:cBhvr>
                                      <p:to>
                                        <p:strVal val="visible"/>
                                      </p:to>
                                    </p:set>
                                    <p:anim calcmode="lin" valueType="num">
                                      <p:cBhvr additive="base">
                                        <p:cTn id="15" dur="500" fill="hold"/>
                                        <p:tgtEl>
                                          <p:spTgt spid="7475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475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2180" name="Object 2"/>
          <p:cNvGraphicFramePr>
            <a:graphicFrameLocks noGrp="1" noChangeAspect="1"/>
          </p:cNvGraphicFramePr>
          <p:nvPr>
            <p:ph idx="1"/>
          </p:nvPr>
        </p:nvGraphicFramePr>
        <p:xfrm>
          <a:off x="1042670" y="2178050"/>
          <a:ext cx="7790815" cy="579755"/>
        </p:xfrm>
        <a:graphic>
          <a:graphicData uri="http://schemas.openxmlformats.org/presentationml/2006/ole">
            <mc:AlternateContent xmlns:mc="http://schemas.openxmlformats.org/markup-compatibility/2006">
              <mc:Choice xmlns:v="urn:schemas-microsoft-com:vml" Requires="v">
                <p:oleObj name="公式" r:id="rId3" imgW="7526655" imgH="558800" progId="Equation.3">
                  <p:embed/>
                </p:oleObj>
              </mc:Choice>
              <mc:Fallback>
                <p:oleObj name="公式" r:id="rId3" imgW="7526655" imgH="558800" progId="Equation.3">
                  <p:embed/>
                  <p:pic>
                    <p:nvPicPr>
                      <p:cNvPr id="0" name="Object 2"/>
                      <p:cNvPicPr>
                        <a:picLocks noChangeAspect="1" noChangeArrowheads="1"/>
                      </p:cNvPicPr>
                      <p:nvPr/>
                    </p:nvPicPr>
                    <p:blipFill>
                      <a:blip r:embed="rId4"/>
                      <a:srcRect/>
                      <a:stretch>
                        <a:fillRect/>
                      </a:stretch>
                    </p:blipFill>
                    <p:spPr bwMode="auto">
                      <a:xfrm>
                        <a:off x="1042670" y="2178050"/>
                        <a:ext cx="7790815" cy="57975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562183" name="Object 3"/>
          <p:cNvGraphicFramePr>
            <a:graphicFrameLocks noChangeAspect="1"/>
          </p:cNvGraphicFramePr>
          <p:nvPr/>
        </p:nvGraphicFramePr>
        <p:xfrm>
          <a:off x="988378" y="3024823"/>
          <a:ext cx="4068762" cy="523875"/>
        </p:xfrm>
        <a:graphic>
          <a:graphicData uri="http://schemas.openxmlformats.org/presentationml/2006/ole">
            <mc:AlternateContent xmlns:mc="http://schemas.openxmlformats.org/markup-compatibility/2006">
              <mc:Choice xmlns:v="urn:schemas-microsoft-com:vml" Requires="v">
                <p:oleObj name="公式" r:id="rId5" imgW="1968500" imgH="254000" progId="Equation.3">
                  <p:embed/>
                </p:oleObj>
              </mc:Choice>
              <mc:Fallback>
                <p:oleObj name="公式" r:id="rId5" imgW="1968500" imgH="254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8378" y="3024823"/>
                        <a:ext cx="4068762"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2184" name="Rectangle 8"/>
          <p:cNvSpPr>
            <a:spLocks noChangeArrowheads="1"/>
          </p:cNvSpPr>
          <p:nvPr/>
        </p:nvSpPr>
        <p:spPr bwMode="auto">
          <a:xfrm>
            <a:off x="473075" y="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562187" name="Rectangle 11"/>
          <p:cNvSpPr>
            <a:spLocks noChangeArrowheads="1"/>
          </p:cNvSpPr>
          <p:nvPr/>
        </p:nvSpPr>
        <p:spPr bwMode="auto">
          <a:xfrm>
            <a:off x="472758" y="836613"/>
            <a:ext cx="3959225" cy="620712"/>
          </a:xfrm>
          <a:prstGeom prst="rect">
            <a:avLst/>
          </a:prstGeom>
          <a:solidFill>
            <a:schemeClr val="bg1"/>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F0000"/>
                </a:solidFill>
                <a:effectLst>
                  <a:outerShdw blurRad="38100" dist="38100" dir="2700000" algn="tl">
                    <a:srgbClr val="C0C0C0"/>
                  </a:outerShdw>
                </a:effectLst>
                <a:latin typeface="楷体_GB2312" pitchFamily="49" charset="-122"/>
                <a:ea typeface="楷体_GB2312" pitchFamily="49" charset="-122"/>
              </a:rPr>
              <a:t>1</a:t>
            </a:r>
            <a:r>
              <a:rPr lang="zh-CN" altLang="en-US">
                <a:solidFill>
                  <a:srgbClr val="FF0000"/>
                </a:solidFill>
                <a:effectLst>
                  <a:outerShdw blurRad="38100" dist="38100" dir="2700000" algn="tl">
                    <a:srgbClr val="C0C0C0"/>
                  </a:outerShdw>
                </a:effectLst>
                <a:latin typeface="楷体_GB2312" pitchFamily="49" charset="-122"/>
                <a:ea typeface="楷体_GB2312" pitchFamily="49" charset="-122"/>
              </a:rPr>
              <a:t>、系统的稳定及其条件</a:t>
            </a:r>
          </a:p>
        </p:txBody>
      </p:sp>
      <p:sp>
        <p:nvSpPr>
          <p:cNvPr id="562188" name="Rectangle 12"/>
          <p:cNvSpPr>
            <a:spLocks noChangeArrowheads="1"/>
          </p:cNvSpPr>
          <p:nvPr/>
        </p:nvSpPr>
        <p:spPr bwMode="auto">
          <a:xfrm>
            <a:off x="911860" y="1457643"/>
            <a:ext cx="5976938" cy="620712"/>
          </a:xfrm>
          <a:prstGeom prst="rect">
            <a:avLst/>
          </a:prstGeom>
          <a:solidFill>
            <a:schemeClr val="bg1"/>
          </a:solidFill>
          <a:ln w="9525">
            <a:noFill/>
            <a:miter lim="800000"/>
          </a:ln>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zh-CN" altLang="en-US" dirty="0">
                <a:effectLst>
                  <a:outerShdw blurRad="38100" dist="38100" dir="2700000" algn="tl">
                    <a:srgbClr val="C0C0C0"/>
                  </a:outerShdw>
                </a:effectLst>
                <a:latin typeface="楷体_GB2312" pitchFamily="49" charset="-122"/>
                <a:ea typeface="楷体_GB2312" pitchFamily="49" charset="-122"/>
              </a:rPr>
              <a:t>有界激励</a:t>
            </a:r>
            <a:r>
              <a:rPr lang="en-US" altLang="zh-CN" dirty="0">
                <a:effectLst>
                  <a:outerShdw blurRad="38100" dist="38100" dir="2700000" algn="tl">
                    <a:srgbClr val="C0C0C0"/>
                  </a:outerShdw>
                </a:effectLst>
                <a:latin typeface="楷体_GB2312" pitchFamily="49" charset="-122"/>
                <a:ea typeface="楷体_GB2312" pitchFamily="49" charset="-122"/>
              </a:rPr>
              <a:t>-&gt;</a:t>
            </a:r>
            <a:r>
              <a:rPr lang="zh-CN" altLang="en-US" dirty="0">
                <a:effectLst>
                  <a:outerShdw blurRad="38100" dist="38100" dir="2700000" algn="tl">
                    <a:srgbClr val="C0C0C0"/>
                  </a:outerShdw>
                </a:effectLst>
                <a:latin typeface="楷体_GB2312" pitchFamily="49" charset="-122"/>
                <a:ea typeface="楷体_GB2312" pitchFamily="49" charset="-122"/>
              </a:rPr>
              <a:t>有界响应称为</a:t>
            </a:r>
            <a:r>
              <a:rPr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稳定系统。</a:t>
            </a:r>
          </a:p>
        </p:txBody>
      </p:sp>
      <p:graphicFrame>
        <p:nvGraphicFramePr>
          <p:cNvPr id="562189" name="Object 4"/>
          <p:cNvGraphicFramePr>
            <a:graphicFrameLocks noChangeAspect="1"/>
          </p:cNvGraphicFramePr>
          <p:nvPr/>
        </p:nvGraphicFramePr>
        <p:xfrm>
          <a:off x="988378" y="3682206"/>
          <a:ext cx="4484370" cy="680720"/>
        </p:xfrm>
        <a:graphic>
          <a:graphicData uri="http://schemas.openxmlformats.org/presentationml/2006/ole">
            <mc:AlternateContent xmlns:mc="http://schemas.openxmlformats.org/markup-compatibility/2006">
              <mc:Choice xmlns:v="urn:schemas-microsoft-com:vml" Requires="v">
                <p:oleObj name="公式" r:id="rId7" imgW="2171700" imgH="330200" progId="Equation.3">
                  <p:embed/>
                </p:oleObj>
              </mc:Choice>
              <mc:Fallback>
                <p:oleObj name="公式" r:id="rId7" imgW="2171700" imgH="330200" progId="Equation.3">
                  <p:embed/>
                  <p:pic>
                    <p:nvPicPr>
                      <p:cNvPr id="0" name="Object 4"/>
                      <p:cNvPicPr>
                        <a:picLocks noChangeAspect="1" noChangeArrowheads="1"/>
                      </p:cNvPicPr>
                      <p:nvPr/>
                    </p:nvPicPr>
                    <p:blipFill>
                      <a:blip r:embed="rId8"/>
                      <a:srcRect/>
                      <a:stretch>
                        <a:fillRect/>
                      </a:stretch>
                    </p:blipFill>
                    <p:spPr bwMode="auto">
                      <a:xfrm>
                        <a:off x="988378" y="3682206"/>
                        <a:ext cx="4484370" cy="68072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562190" name="Rectangle 14"/>
          <p:cNvSpPr>
            <a:spLocks noChangeArrowheads="1"/>
          </p:cNvSpPr>
          <p:nvPr/>
        </p:nvSpPr>
        <p:spPr bwMode="auto">
          <a:xfrm>
            <a:off x="827088" y="4495800"/>
            <a:ext cx="7943850" cy="182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35000"/>
              </a:lnSpc>
              <a:spcBef>
                <a:spcPct val="15000"/>
              </a:spcBef>
              <a:buClr>
                <a:schemeClr val="accent2"/>
              </a:buClr>
              <a:buFont typeface="Wingdings" panose="05000000000000000000" pitchFamily="2" charset="2"/>
              <a:buNone/>
            </a:pPr>
            <a:r>
              <a:rPr lang="en-US" altLang="zh-CN"/>
              <a:t>    </a:t>
            </a:r>
            <a:r>
              <a:rPr lang="zh-CN" altLang="en-US"/>
              <a:t>即对于稳定系统，它的</a:t>
            </a:r>
            <a:r>
              <a:rPr lang="zh-CN" altLang="en-US">
                <a:solidFill>
                  <a:srgbClr val="FF0000"/>
                </a:solidFill>
              </a:rPr>
              <a:t>冲激响应必须是绝对可积的</a:t>
            </a:r>
            <a:r>
              <a:rPr lang="zh-CN" altLang="en-US"/>
              <a:t>。该条件既是</a:t>
            </a:r>
            <a:r>
              <a:rPr kumimoji="1" lang="zh-CN" altLang="en-US"/>
              <a:t>系统稳定的</a:t>
            </a:r>
            <a:r>
              <a:rPr kumimoji="1" lang="zh-CN" altLang="en-US">
                <a:solidFill>
                  <a:srgbClr val="FF0000"/>
                </a:solidFill>
              </a:rPr>
              <a:t>充分</a:t>
            </a:r>
            <a:r>
              <a:rPr kumimoji="1" lang="zh-CN" altLang="en-US"/>
              <a:t>条件，也是系统稳定的</a:t>
            </a:r>
            <a:r>
              <a:rPr kumimoji="1" lang="zh-CN" altLang="en-US">
                <a:solidFill>
                  <a:srgbClr val="FF0000"/>
                </a:solidFill>
              </a:rPr>
              <a:t>必要</a:t>
            </a:r>
            <a:r>
              <a:rPr kumimoji="1" lang="zh-CN" altLang="en-US"/>
              <a:t>条件。</a:t>
            </a:r>
          </a:p>
        </p:txBody>
      </p:sp>
      <p:graphicFrame>
        <p:nvGraphicFramePr>
          <p:cNvPr id="562194" name="Object 5"/>
          <p:cNvGraphicFramePr>
            <a:graphicFrameLocks noChangeAspect="1"/>
          </p:cNvGraphicFramePr>
          <p:nvPr/>
        </p:nvGraphicFramePr>
        <p:xfrm>
          <a:off x="5866130" y="3647440"/>
          <a:ext cx="3139440" cy="715645"/>
        </p:xfrm>
        <a:graphic>
          <a:graphicData uri="http://schemas.openxmlformats.org/presentationml/2006/ole">
            <mc:AlternateContent xmlns:mc="http://schemas.openxmlformats.org/markup-compatibility/2006">
              <mc:Choice xmlns:v="urn:schemas-microsoft-com:vml" Requires="v">
                <p:oleObj name="公式" r:id="rId9" imgW="1231265" imgH="330200" progId="Equation.3">
                  <p:embed/>
                </p:oleObj>
              </mc:Choice>
              <mc:Fallback>
                <p:oleObj name="公式" r:id="rId9" imgW="1231265" imgH="330200" progId="Equation.3">
                  <p:embed/>
                  <p:pic>
                    <p:nvPicPr>
                      <p:cNvPr id="0" name="Object 5"/>
                      <p:cNvPicPr>
                        <a:picLocks noChangeAspect="1" noChangeArrowheads="1"/>
                      </p:cNvPicPr>
                      <p:nvPr/>
                    </p:nvPicPr>
                    <p:blipFill>
                      <a:blip r:embed="rId10"/>
                      <a:srcRect/>
                      <a:stretch>
                        <a:fillRect/>
                      </a:stretch>
                    </p:blipFill>
                    <p:spPr bwMode="auto">
                      <a:xfrm>
                        <a:off x="5866130" y="3647440"/>
                        <a:ext cx="3139440" cy="715645"/>
                      </a:xfrm>
                      <a:prstGeom prst="rect">
                        <a:avLst/>
                      </a:prstGeom>
                      <a:solidFill>
                        <a:schemeClr val="bg1"/>
                      </a:solidFill>
                      <a:ln w="9525">
                        <a:solidFill>
                          <a:srgbClr val="FF0000"/>
                        </a:solidFill>
                        <a:miter lim="800000"/>
                        <a:headEnd/>
                        <a:tailEnd/>
                      </a:ln>
                      <a:effectLst>
                        <a:outerShdw dist="35921" dir="2700000" algn="ctr" rotWithShape="0">
                          <a:srgbClr val="808080"/>
                        </a:outerShdw>
                      </a:effectLst>
                    </p:spPr>
                  </p:pic>
                </p:oleObj>
              </mc:Fallback>
            </mc:AlternateContent>
          </a:graphicData>
        </a:graphic>
      </p:graphicFrame>
      <p:sp>
        <p:nvSpPr>
          <p:cNvPr id="11" name="日期占位符 10"/>
          <p:cNvSpPr>
            <a:spLocks noGrp="1"/>
          </p:cNvSpPr>
          <p:nvPr>
            <p:ph type="dt" sz="quarter" idx="10"/>
          </p:nvPr>
        </p:nvSpPr>
        <p:spPr/>
        <p:txBody>
          <a:bodyPr/>
          <a:lstStyle/>
          <a:p>
            <a:pPr>
              <a:defRPr/>
            </a:pPr>
            <a:fld id="{47E8E745-0796-47A9-B6BA-AE6200684063}" type="datetime1">
              <a:rPr lang="zh-CN" altLang="en-US"/>
              <a:t>2026/4/28</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4771"/>
    </mc:Choice>
    <mc:Fallback xmlns="">
      <p:transition spd="slow" advTm="13477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62188"/>
                                        </p:tgtEl>
                                        <p:attrNameLst>
                                          <p:attrName>style.visibility</p:attrName>
                                        </p:attrNameLst>
                                      </p:cBhvr>
                                      <p:to>
                                        <p:strVal val="visible"/>
                                      </p:to>
                                    </p:set>
                                    <p:anim calcmode="lin" valueType="num">
                                      <p:cBhvr>
                                        <p:cTn id="7" dur="1000" fill="hold"/>
                                        <p:tgtEl>
                                          <p:spTgt spid="562188"/>
                                        </p:tgtEl>
                                        <p:attrNameLst>
                                          <p:attrName>ppt_w</p:attrName>
                                        </p:attrNameLst>
                                      </p:cBhvr>
                                      <p:tavLst>
                                        <p:tav tm="0">
                                          <p:val>
                                            <p:strVal val="#ppt_w*0.70"/>
                                          </p:val>
                                        </p:tav>
                                        <p:tav tm="100000">
                                          <p:val>
                                            <p:strVal val="#ppt_w"/>
                                          </p:val>
                                        </p:tav>
                                      </p:tavLst>
                                    </p:anim>
                                    <p:anim calcmode="lin" valueType="num">
                                      <p:cBhvr>
                                        <p:cTn id="8" dur="1000" fill="hold"/>
                                        <p:tgtEl>
                                          <p:spTgt spid="562188"/>
                                        </p:tgtEl>
                                        <p:attrNameLst>
                                          <p:attrName>ppt_h</p:attrName>
                                        </p:attrNameLst>
                                      </p:cBhvr>
                                      <p:tavLst>
                                        <p:tav tm="0">
                                          <p:val>
                                            <p:strVal val="#ppt_h"/>
                                          </p:val>
                                        </p:tav>
                                        <p:tav tm="100000">
                                          <p:val>
                                            <p:strVal val="#ppt_h"/>
                                          </p:val>
                                        </p:tav>
                                      </p:tavLst>
                                    </p:anim>
                                    <p:animEffect transition="in" filter="fade">
                                      <p:cBhvr>
                                        <p:cTn id="9" dur="1000"/>
                                        <p:tgtEl>
                                          <p:spTgt spid="562188"/>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562180"/>
                                        </p:tgtEl>
                                        <p:attrNameLst>
                                          <p:attrName>style.visibility</p:attrName>
                                        </p:attrNameLst>
                                      </p:cBhvr>
                                      <p:to>
                                        <p:strVal val="visible"/>
                                      </p:to>
                                    </p:set>
                                    <p:anim calcmode="lin" valueType="num">
                                      <p:cBhvr>
                                        <p:cTn id="13" dur="1000" fill="hold"/>
                                        <p:tgtEl>
                                          <p:spTgt spid="562180"/>
                                        </p:tgtEl>
                                        <p:attrNameLst>
                                          <p:attrName>ppt_w</p:attrName>
                                        </p:attrNameLst>
                                      </p:cBhvr>
                                      <p:tavLst>
                                        <p:tav tm="0">
                                          <p:val>
                                            <p:strVal val="#ppt_w*0.70"/>
                                          </p:val>
                                        </p:tav>
                                        <p:tav tm="100000">
                                          <p:val>
                                            <p:strVal val="#ppt_w"/>
                                          </p:val>
                                        </p:tav>
                                      </p:tavLst>
                                    </p:anim>
                                    <p:anim calcmode="lin" valueType="num">
                                      <p:cBhvr>
                                        <p:cTn id="14" dur="1000" fill="hold"/>
                                        <p:tgtEl>
                                          <p:spTgt spid="562180"/>
                                        </p:tgtEl>
                                        <p:attrNameLst>
                                          <p:attrName>ppt_h</p:attrName>
                                        </p:attrNameLst>
                                      </p:cBhvr>
                                      <p:tavLst>
                                        <p:tav tm="0">
                                          <p:val>
                                            <p:strVal val="#ppt_h"/>
                                          </p:val>
                                        </p:tav>
                                        <p:tav tm="100000">
                                          <p:val>
                                            <p:strVal val="#ppt_h"/>
                                          </p:val>
                                        </p:tav>
                                      </p:tavLst>
                                    </p:anim>
                                    <p:animEffect transition="in" filter="fade">
                                      <p:cBhvr>
                                        <p:cTn id="15" dur="1000"/>
                                        <p:tgtEl>
                                          <p:spTgt spid="562180"/>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562183"/>
                                        </p:tgtEl>
                                        <p:attrNameLst>
                                          <p:attrName>style.visibility</p:attrName>
                                        </p:attrNameLst>
                                      </p:cBhvr>
                                      <p:to>
                                        <p:strVal val="visible"/>
                                      </p:to>
                                    </p:set>
                                    <p:anim calcmode="lin" valueType="num">
                                      <p:cBhvr>
                                        <p:cTn id="20" dur="1000" fill="hold"/>
                                        <p:tgtEl>
                                          <p:spTgt spid="562183"/>
                                        </p:tgtEl>
                                        <p:attrNameLst>
                                          <p:attrName>ppt_w</p:attrName>
                                        </p:attrNameLst>
                                      </p:cBhvr>
                                      <p:tavLst>
                                        <p:tav tm="0">
                                          <p:val>
                                            <p:strVal val="#ppt_w*0.70"/>
                                          </p:val>
                                        </p:tav>
                                        <p:tav tm="100000">
                                          <p:val>
                                            <p:strVal val="#ppt_w"/>
                                          </p:val>
                                        </p:tav>
                                      </p:tavLst>
                                    </p:anim>
                                    <p:anim calcmode="lin" valueType="num">
                                      <p:cBhvr>
                                        <p:cTn id="21" dur="1000" fill="hold"/>
                                        <p:tgtEl>
                                          <p:spTgt spid="562183"/>
                                        </p:tgtEl>
                                        <p:attrNameLst>
                                          <p:attrName>ppt_h</p:attrName>
                                        </p:attrNameLst>
                                      </p:cBhvr>
                                      <p:tavLst>
                                        <p:tav tm="0">
                                          <p:val>
                                            <p:strVal val="#ppt_h"/>
                                          </p:val>
                                        </p:tav>
                                        <p:tav tm="100000">
                                          <p:val>
                                            <p:strVal val="#ppt_h"/>
                                          </p:val>
                                        </p:tav>
                                      </p:tavLst>
                                    </p:anim>
                                    <p:animEffect transition="in" filter="fade">
                                      <p:cBhvr>
                                        <p:cTn id="22" dur="1000"/>
                                        <p:tgtEl>
                                          <p:spTgt spid="562183"/>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562189"/>
                                        </p:tgtEl>
                                        <p:attrNameLst>
                                          <p:attrName>style.visibility</p:attrName>
                                        </p:attrNameLst>
                                      </p:cBhvr>
                                      <p:to>
                                        <p:strVal val="visible"/>
                                      </p:to>
                                    </p:set>
                                    <p:anim calcmode="lin" valueType="num">
                                      <p:cBhvr>
                                        <p:cTn id="27" dur="1000" fill="hold"/>
                                        <p:tgtEl>
                                          <p:spTgt spid="562189"/>
                                        </p:tgtEl>
                                        <p:attrNameLst>
                                          <p:attrName>ppt_w</p:attrName>
                                        </p:attrNameLst>
                                      </p:cBhvr>
                                      <p:tavLst>
                                        <p:tav tm="0">
                                          <p:val>
                                            <p:strVal val="#ppt_w*0.70"/>
                                          </p:val>
                                        </p:tav>
                                        <p:tav tm="100000">
                                          <p:val>
                                            <p:strVal val="#ppt_w"/>
                                          </p:val>
                                        </p:tav>
                                      </p:tavLst>
                                    </p:anim>
                                    <p:anim calcmode="lin" valueType="num">
                                      <p:cBhvr>
                                        <p:cTn id="28" dur="1000" fill="hold"/>
                                        <p:tgtEl>
                                          <p:spTgt spid="562189"/>
                                        </p:tgtEl>
                                        <p:attrNameLst>
                                          <p:attrName>ppt_h</p:attrName>
                                        </p:attrNameLst>
                                      </p:cBhvr>
                                      <p:tavLst>
                                        <p:tav tm="0">
                                          <p:val>
                                            <p:strVal val="#ppt_h"/>
                                          </p:val>
                                        </p:tav>
                                        <p:tav tm="100000">
                                          <p:val>
                                            <p:strVal val="#ppt_h"/>
                                          </p:val>
                                        </p:tav>
                                      </p:tavLst>
                                    </p:anim>
                                    <p:animEffect transition="in" filter="fade">
                                      <p:cBhvr>
                                        <p:cTn id="29" dur="1000"/>
                                        <p:tgtEl>
                                          <p:spTgt spid="562189"/>
                                        </p:tgtEl>
                                      </p:cBhvr>
                                    </p:animEffect>
                                  </p:childTnLst>
                                </p:cTn>
                              </p:par>
                            </p:childTnLst>
                          </p:cTn>
                        </p:par>
                        <p:par>
                          <p:cTn id="30" fill="hold">
                            <p:stCondLst>
                              <p:cond delay="1000"/>
                            </p:stCondLst>
                            <p:childTnLst>
                              <p:par>
                                <p:cTn id="31" presetID="55" presetClass="entr" presetSubtype="0" fill="hold" nodeType="afterEffect">
                                  <p:stCondLst>
                                    <p:cond delay="0"/>
                                  </p:stCondLst>
                                  <p:childTnLst>
                                    <p:set>
                                      <p:cBhvr>
                                        <p:cTn id="32" dur="1" fill="hold">
                                          <p:stCondLst>
                                            <p:cond delay="0"/>
                                          </p:stCondLst>
                                        </p:cTn>
                                        <p:tgtEl>
                                          <p:spTgt spid="562194"/>
                                        </p:tgtEl>
                                        <p:attrNameLst>
                                          <p:attrName>style.visibility</p:attrName>
                                        </p:attrNameLst>
                                      </p:cBhvr>
                                      <p:to>
                                        <p:strVal val="visible"/>
                                      </p:to>
                                    </p:set>
                                    <p:anim calcmode="lin" valueType="num">
                                      <p:cBhvr>
                                        <p:cTn id="33" dur="1000" fill="hold"/>
                                        <p:tgtEl>
                                          <p:spTgt spid="562194"/>
                                        </p:tgtEl>
                                        <p:attrNameLst>
                                          <p:attrName>ppt_w</p:attrName>
                                        </p:attrNameLst>
                                      </p:cBhvr>
                                      <p:tavLst>
                                        <p:tav tm="0">
                                          <p:val>
                                            <p:strVal val="#ppt_w*0.70"/>
                                          </p:val>
                                        </p:tav>
                                        <p:tav tm="100000">
                                          <p:val>
                                            <p:strVal val="#ppt_w"/>
                                          </p:val>
                                        </p:tav>
                                      </p:tavLst>
                                    </p:anim>
                                    <p:anim calcmode="lin" valueType="num">
                                      <p:cBhvr>
                                        <p:cTn id="34" dur="1000" fill="hold"/>
                                        <p:tgtEl>
                                          <p:spTgt spid="562194"/>
                                        </p:tgtEl>
                                        <p:attrNameLst>
                                          <p:attrName>ppt_h</p:attrName>
                                        </p:attrNameLst>
                                      </p:cBhvr>
                                      <p:tavLst>
                                        <p:tav tm="0">
                                          <p:val>
                                            <p:strVal val="#ppt_h"/>
                                          </p:val>
                                        </p:tav>
                                        <p:tav tm="100000">
                                          <p:val>
                                            <p:strVal val="#ppt_h"/>
                                          </p:val>
                                        </p:tav>
                                      </p:tavLst>
                                    </p:anim>
                                    <p:animEffect transition="in" filter="fade">
                                      <p:cBhvr>
                                        <p:cTn id="35" dur="1000"/>
                                        <p:tgtEl>
                                          <p:spTgt spid="562194"/>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grpId="0" nodeType="clickEffect">
                                  <p:stCondLst>
                                    <p:cond delay="0"/>
                                  </p:stCondLst>
                                  <p:childTnLst>
                                    <p:set>
                                      <p:cBhvr>
                                        <p:cTn id="39" dur="1" fill="hold">
                                          <p:stCondLst>
                                            <p:cond delay="0"/>
                                          </p:stCondLst>
                                        </p:cTn>
                                        <p:tgtEl>
                                          <p:spTgt spid="562190"/>
                                        </p:tgtEl>
                                        <p:attrNameLst>
                                          <p:attrName>style.visibility</p:attrName>
                                        </p:attrNameLst>
                                      </p:cBhvr>
                                      <p:to>
                                        <p:strVal val="visible"/>
                                      </p:to>
                                    </p:set>
                                    <p:anim calcmode="lin" valueType="num">
                                      <p:cBhvr>
                                        <p:cTn id="40" dur="1000" fill="hold"/>
                                        <p:tgtEl>
                                          <p:spTgt spid="562190"/>
                                        </p:tgtEl>
                                        <p:attrNameLst>
                                          <p:attrName>ppt_w</p:attrName>
                                        </p:attrNameLst>
                                      </p:cBhvr>
                                      <p:tavLst>
                                        <p:tav tm="0">
                                          <p:val>
                                            <p:strVal val="#ppt_w*0.70"/>
                                          </p:val>
                                        </p:tav>
                                        <p:tav tm="100000">
                                          <p:val>
                                            <p:strVal val="#ppt_w"/>
                                          </p:val>
                                        </p:tav>
                                      </p:tavLst>
                                    </p:anim>
                                    <p:anim calcmode="lin" valueType="num">
                                      <p:cBhvr>
                                        <p:cTn id="41" dur="1000" fill="hold"/>
                                        <p:tgtEl>
                                          <p:spTgt spid="562190"/>
                                        </p:tgtEl>
                                        <p:attrNameLst>
                                          <p:attrName>ppt_h</p:attrName>
                                        </p:attrNameLst>
                                      </p:cBhvr>
                                      <p:tavLst>
                                        <p:tav tm="0">
                                          <p:val>
                                            <p:strVal val="#ppt_h"/>
                                          </p:val>
                                        </p:tav>
                                        <p:tav tm="100000">
                                          <p:val>
                                            <p:strVal val="#ppt_h"/>
                                          </p:val>
                                        </p:tav>
                                      </p:tavLst>
                                    </p:anim>
                                    <p:animEffect transition="in" filter="fade">
                                      <p:cBhvr>
                                        <p:cTn id="42" dur="1000"/>
                                        <p:tgtEl>
                                          <p:spTgt spid="562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88" grpId="0" bldLvl="0" animBg="1"/>
      <p:bldP spid="56219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7" name="Rectangle 3"/>
          <p:cNvSpPr>
            <a:spLocks noChangeArrowheads="1"/>
          </p:cNvSpPr>
          <p:nvPr/>
        </p:nvSpPr>
        <p:spPr bwMode="auto">
          <a:xfrm>
            <a:off x="857250" y="2256790"/>
            <a:ext cx="7522845" cy="189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zh-CN" altLang="en-US">
                <a:latin typeface="华文中宋" panose="02010600040101010101" pitchFamily="2" charset="-122"/>
              </a:rPr>
              <a:t>在</a:t>
            </a:r>
            <a:r>
              <a:rPr kumimoji="1" lang="en-US" altLang="zh-CN">
                <a:latin typeface="华文中宋" panose="02010600040101010101" pitchFamily="2" charset="-122"/>
              </a:rPr>
              <a:t>t</a:t>
            </a:r>
            <a:r>
              <a:rPr kumimoji="1" lang="zh-CN" altLang="en-US">
                <a:latin typeface="华文中宋" panose="02010600040101010101" pitchFamily="2" charset="-122"/>
              </a:rPr>
              <a:t>未趋于无限大的一般情况，冲激响应</a:t>
            </a:r>
            <a:r>
              <a:rPr kumimoji="1" lang="en-US" altLang="zh-CN">
                <a:latin typeface="华文中宋" panose="02010600040101010101" pitchFamily="2" charset="-122"/>
              </a:rPr>
              <a:t>h(t)</a:t>
            </a:r>
            <a:r>
              <a:rPr kumimoji="1" lang="zh-CN" altLang="en-US">
                <a:latin typeface="华文中宋" panose="02010600040101010101" pitchFamily="2" charset="-122"/>
              </a:rPr>
              <a:t>中，除了在</a:t>
            </a:r>
            <a:r>
              <a:rPr kumimoji="1" lang="en-US" altLang="zh-CN">
                <a:latin typeface="华文中宋" panose="02010600040101010101" pitchFamily="2" charset="-122"/>
              </a:rPr>
              <a:t>t=0</a:t>
            </a:r>
            <a:r>
              <a:rPr kumimoji="1" lang="zh-CN" altLang="en-US">
                <a:latin typeface="华文中宋" panose="02010600040101010101" pitchFamily="2" charset="-122"/>
              </a:rPr>
              <a:t>处可能有孤立的冲激函数外，都应是有限的。即：  </a:t>
            </a:r>
          </a:p>
        </p:txBody>
      </p:sp>
      <p:graphicFrame>
        <p:nvGraphicFramePr>
          <p:cNvPr id="564228" name="Object 2"/>
          <p:cNvGraphicFramePr>
            <a:graphicFrameLocks noGrp="1" noChangeAspect="1"/>
          </p:cNvGraphicFramePr>
          <p:nvPr>
            <p:ph idx="1"/>
          </p:nvPr>
        </p:nvGraphicFramePr>
        <p:xfrm>
          <a:off x="857250" y="850900"/>
          <a:ext cx="7228840" cy="1202055"/>
        </p:xfrm>
        <a:graphic>
          <a:graphicData uri="http://schemas.openxmlformats.org/presentationml/2006/ole">
            <mc:AlternateContent xmlns:mc="http://schemas.openxmlformats.org/markup-compatibility/2006">
              <mc:Choice xmlns:v="urn:schemas-microsoft-com:vml" Requires="v">
                <p:oleObj name="公式" r:id="rId3" imgW="2908300" imgH="508000" progId="Equation.3">
                  <p:embed/>
                </p:oleObj>
              </mc:Choice>
              <mc:Fallback>
                <p:oleObj name="公式" r:id="rId3" imgW="2908300" imgH="508000" progId="Equation.3">
                  <p:embed/>
                  <p:pic>
                    <p:nvPicPr>
                      <p:cNvPr id="0" name="Object 2"/>
                      <p:cNvPicPr>
                        <a:picLocks noChangeAspect="1" noChangeArrowheads="1"/>
                      </p:cNvPicPr>
                      <p:nvPr/>
                    </p:nvPicPr>
                    <p:blipFill>
                      <a:blip r:embed="rId4"/>
                      <a:srcRect/>
                      <a:stretch>
                        <a:fillRect/>
                      </a:stretch>
                    </p:blipFill>
                    <p:spPr bwMode="auto">
                      <a:xfrm>
                        <a:off x="857250" y="850900"/>
                        <a:ext cx="7228840" cy="120205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76804" name="Rectangle 5"/>
          <p:cNvSpPr>
            <a:spLocks noChangeArrowheads="1"/>
          </p:cNvSpPr>
          <p:nvPr/>
        </p:nvSpPr>
        <p:spPr bwMode="auto">
          <a:xfrm>
            <a:off x="3200400" y="3881438"/>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graphicFrame>
        <p:nvGraphicFramePr>
          <p:cNvPr id="564230" name="Object 3"/>
          <p:cNvGraphicFramePr>
            <a:graphicFrameLocks noChangeAspect="1"/>
          </p:cNvGraphicFramePr>
          <p:nvPr/>
        </p:nvGraphicFramePr>
        <p:xfrm>
          <a:off x="2051050" y="4156075"/>
          <a:ext cx="4249738" cy="685800"/>
        </p:xfrm>
        <a:graphic>
          <a:graphicData uri="http://schemas.openxmlformats.org/presentationml/2006/ole">
            <mc:AlternateContent xmlns:mc="http://schemas.openxmlformats.org/markup-compatibility/2006">
              <mc:Choice xmlns:v="urn:schemas-microsoft-com:vml" Requires="v">
                <p:oleObj name="公式" r:id="rId5" imgW="1574800" imgH="254000" progId="Equation.3">
                  <p:embed/>
                </p:oleObj>
              </mc:Choice>
              <mc:Fallback>
                <p:oleObj name="公式" r:id="rId5" imgW="1574800" imgH="254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050" y="4156075"/>
                        <a:ext cx="4249738"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4231" name="Rectangle 7"/>
          <p:cNvSpPr>
            <a:spLocks noChangeArrowheads="1"/>
          </p:cNvSpPr>
          <p:nvPr/>
        </p:nvSpPr>
        <p:spPr bwMode="auto">
          <a:xfrm>
            <a:off x="427038" y="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564234" name="Rectangle 10"/>
          <p:cNvSpPr>
            <a:spLocks noChangeArrowheads="1"/>
          </p:cNvSpPr>
          <p:nvPr/>
        </p:nvSpPr>
        <p:spPr bwMode="auto">
          <a:xfrm>
            <a:off x="1031875" y="5000625"/>
            <a:ext cx="7127875" cy="1298575"/>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zh-CN" altLang="en-US">
                <a:latin typeface="华文中宋" panose="02010600040101010101" pitchFamily="2" charset="-122"/>
              </a:rPr>
              <a:t>其中</a:t>
            </a:r>
            <a:r>
              <a:rPr kumimoji="1" lang="en-US" altLang="zh-CN">
                <a:latin typeface="华文中宋" panose="02010600040101010101" pitchFamily="2" charset="-122"/>
              </a:rPr>
              <a:t>M</a:t>
            </a:r>
            <a:r>
              <a:rPr kumimoji="1" lang="zh-CN" altLang="en-US">
                <a:latin typeface="华文中宋" panose="02010600040101010101" pitchFamily="2" charset="-122"/>
              </a:rPr>
              <a:t>是有限的正实数。当系统符合上述条件时，称它是</a:t>
            </a:r>
            <a:r>
              <a:rPr kumimoji="1" lang="zh-CN" altLang="en-US">
                <a:solidFill>
                  <a:srgbClr val="9900FF"/>
                </a:solidFill>
                <a:latin typeface="华文中宋" panose="02010600040101010101" pitchFamily="2" charset="-122"/>
              </a:rPr>
              <a:t>渐近稳定</a:t>
            </a:r>
            <a:r>
              <a:rPr kumimoji="1" lang="zh-CN" altLang="en-US">
                <a:latin typeface="华文中宋" panose="02010600040101010101" pitchFamily="2" charset="-122"/>
              </a:rPr>
              <a:t>的。</a:t>
            </a:r>
          </a:p>
        </p:txBody>
      </p:sp>
      <p:sp>
        <p:nvSpPr>
          <p:cNvPr id="8" name="日期占位符 7"/>
          <p:cNvSpPr>
            <a:spLocks noGrp="1"/>
          </p:cNvSpPr>
          <p:nvPr>
            <p:ph type="dt" sz="quarter" idx="10"/>
          </p:nvPr>
        </p:nvSpPr>
        <p:spPr/>
        <p:txBody>
          <a:bodyPr/>
          <a:lstStyle/>
          <a:p>
            <a:pPr>
              <a:defRPr/>
            </a:pPr>
            <a:fld id="{1D977DA7-05D9-46E3-94F6-26481087CC05}" type="datetime1">
              <a:rPr lang="zh-CN" altLang="en-US"/>
              <a:t>2026/4/28</a:t>
            </a:fld>
            <a:endParaRPr lang="zh-CN" altLang="en-US"/>
          </a:p>
        </p:txBody>
      </p:sp>
      <p:sp>
        <p:nvSpPr>
          <p:cNvPr id="2" name="墨迹 1"/>
          <p:cNvSpPr/>
          <p:nvPr/>
        </p:nvSpPr>
        <p:spPr bwMode="auto">
          <a:xfrm>
            <a:off x="3737160" y="4975920"/>
            <a:ext cx="5178240" cy="15710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8724"/>
    </mc:Choice>
    <mc:Fallback xmlns="">
      <p:transition spd="slow" advTm="787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564228"/>
                                        </p:tgtEl>
                                        <p:attrNameLst>
                                          <p:attrName>style.visibility</p:attrName>
                                        </p:attrNameLst>
                                      </p:cBhvr>
                                      <p:to>
                                        <p:strVal val="visible"/>
                                      </p:to>
                                    </p:set>
                                    <p:anim calcmode="lin" valueType="num">
                                      <p:cBhvr>
                                        <p:cTn id="11" dur="1000" fill="hold"/>
                                        <p:tgtEl>
                                          <p:spTgt spid="564228"/>
                                        </p:tgtEl>
                                        <p:attrNameLst>
                                          <p:attrName>ppt_w</p:attrName>
                                        </p:attrNameLst>
                                      </p:cBhvr>
                                      <p:tavLst>
                                        <p:tav tm="0">
                                          <p:val>
                                            <p:strVal val="#ppt_w*0.70"/>
                                          </p:val>
                                        </p:tav>
                                        <p:tav tm="100000">
                                          <p:val>
                                            <p:strVal val="#ppt_w"/>
                                          </p:val>
                                        </p:tav>
                                      </p:tavLst>
                                    </p:anim>
                                    <p:anim calcmode="lin" valueType="num">
                                      <p:cBhvr>
                                        <p:cTn id="12" dur="1000" fill="hold"/>
                                        <p:tgtEl>
                                          <p:spTgt spid="564228"/>
                                        </p:tgtEl>
                                        <p:attrNameLst>
                                          <p:attrName>ppt_h</p:attrName>
                                        </p:attrNameLst>
                                      </p:cBhvr>
                                      <p:tavLst>
                                        <p:tav tm="0">
                                          <p:val>
                                            <p:strVal val="#ppt_h"/>
                                          </p:val>
                                        </p:tav>
                                        <p:tav tm="100000">
                                          <p:val>
                                            <p:strVal val="#ppt_h"/>
                                          </p:val>
                                        </p:tav>
                                      </p:tavLst>
                                    </p:anim>
                                    <p:animEffect transition="in" filter="fade">
                                      <p:cBhvr>
                                        <p:cTn id="13" dur="1000"/>
                                        <p:tgtEl>
                                          <p:spTgt spid="564228"/>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564227"/>
                                        </p:tgtEl>
                                        <p:attrNameLst>
                                          <p:attrName>style.visibility</p:attrName>
                                        </p:attrNameLst>
                                      </p:cBhvr>
                                      <p:to>
                                        <p:strVal val="visible"/>
                                      </p:to>
                                    </p:set>
                                    <p:anim calcmode="lin" valueType="num">
                                      <p:cBhvr>
                                        <p:cTn id="18" dur="1000" fill="hold"/>
                                        <p:tgtEl>
                                          <p:spTgt spid="564227"/>
                                        </p:tgtEl>
                                        <p:attrNameLst>
                                          <p:attrName>ppt_w</p:attrName>
                                        </p:attrNameLst>
                                      </p:cBhvr>
                                      <p:tavLst>
                                        <p:tav tm="0">
                                          <p:val>
                                            <p:strVal val="#ppt_w*0.70"/>
                                          </p:val>
                                        </p:tav>
                                        <p:tav tm="100000">
                                          <p:val>
                                            <p:strVal val="#ppt_w"/>
                                          </p:val>
                                        </p:tav>
                                      </p:tavLst>
                                    </p:anim>
                                    <p:anim calcmode="lin" valueType="num">
                                      <p:cBhvr>
                                        <p:cTn id="19" dur="1000" fill="hold"/>
                                        <p:tgtEl>
                                          <p:spTgt spid="564227"/>
                                        </p:tgtEl>
                                        <p:attrNameLst>
                                          <p:attrName>ppt_h</p:attrName>
                                        </p:attrNameLst>
                                      </p:cBhvr>
                                      <p:tavLst>
                                        <p:tav tm="0">
                                          <p:val>
                                            <p:strVal val="#ppt_h"/>
                                          </p:val>
                                        </p:tav>
                                        <p:tav tm="100000">
                                          <p:val>
                                            <p:strVal val="#ppt_h"/>
                                          </p:val>
                                        </p:tav>
                                      </p:tavLst>
                                    </p:anim>
                                    <p:animEffect transition="in" filter="fade">
                                      <p:cBhvr>
                                        <p:cTn id="20" dur="1000"/>
                                        <p:tgtEl>
                                          <p:spTgt spid="564227"/>
                                        </p:tgtEl>
                                      </p:cBhvr>
                                    </p:animEffect>
                                  </p:childTnLst>
                                </p:cTn>
                              </p:par>
                            </p:childTnLst>
                          </p:cTn>
                        </p:par>
                        <p:par>
                          <p:cTn id="21" fill="hold">
                            <p:stCondLst>
                              <p:cond delay="1000"/>
                            </p:stCondLst>
                            <p:childTnLst>
                              <p:par>
                                <p:cTn id="22" presetID="55" presetClass="entr" presetSubtype="0" fill="hold" nodeType="afterEffect">
                                  <p:stCondLst>
                                    <p:cond delay="0"/>
                                  </p:stCondLst>
                                  <p:childTnLst>
                                    <p:set>
                                      <p:cBhvr>
                                        <p:cTn id="23" dur="1" fill="hold">
                                          <p:stCondLst>
                                            <p:cond delay="0"/>
                                          </p:stCondLst>
                                        </p:cTn>
                                        <p:tgtEl>
                                          <p:spTgt spid="564230"/>
                                        </p:tgtEl>
                                        <p:attrNameLst>
                                          <p:attrName>style.visibility</p:attrName>
                                        </p:attrNameLst>
                                      </p:cBhvr>
                                      <p:to>
                                        <p:strVal val="visible"/>
                                      </p:to>
                                    </p:set>
                                    <p:anim calcmode="lin" valueType="num">
                                      <p:cBhvr>
                                        <p:cTn id="24" dur="1000" fill="hold"/>
                                        <p:tgtEl>
                                          <p:spTgt spid="564230"/>
                                        </p:tgtEl>
                                        <p:attrNameLst>
                                          <p:attrName>ppt_w</p:attrName>
                                        </p:attrNameLst>
                                      </p:cBhvr>
                                      <p:tavLst>
                                        <p:tav tm="0">
                                          <p:val>
                                            <p:strVal val="#ppt_w*0.70"/>
                                          </p:val>
                                        </p:tav>
                                        <p:tav tm="100000">
                                          <p:val>
                                            <p:strVal val="#ppt_w"/>
                                          </p:val>
                                        </p:tav>
                                      </p:tavLst>
                                    </p:anim>
                                    <p:anim calcmode="lin" valueType="num">
                                      <p:cBhvr>
                                        <p:cTn id="25" dur="1000" fill="hold"/>
                                        <p:tgtEl>
                                          <p:spTgt spid="564230"/>
                                        </p:tgtEl>
                                        <p:attrNameLst>
                                          <p:attrName>ppt_h</p:attrName>
                                        </p:attrNameLst>
                                      </p:cBhvr>
                                      <p:tavLst>
                                        <p:tav tm="0">
                                          <p:val>
                                            <p:strVal val="#ppt_h"/>
                                          </p:val>
                                        </p:tav>
                                        <p:tav tm="100000">
                                          <p:val>
                                            <p:strVal val="#ppt_h"/>
                                          </p:val>
                                        </p:tav>
                                      </p:tavLst>
                                    </p:anim>
                                    <p:animEffect transition="in" filter="fade">
                                      <p:cBhvr>
                                        <p:cTn id="26" dur="1000"/>
                                        <p:tgtEl>
                                          <p:spTgt spid="564230"/>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564234"/>
                                        </p:tgtEl>
                                        <p:attrNameLst>
                                          <p:attrName>style.visibility</p:attrName>
                                        </p:attrNameLst>
                                      </p:cBhvr>
                                      <p:to>
                                        <p:strVal val="visible"/>
                                      </p:to>
                                    </p:set>
                                    <p:anim calcmode="lin" valueType="num">
                                      <p:cBhvr>
                                        <p:cTn id="31" dur="1000" fill="hold"/>
                                        <p:tgtEl>
                                          <p:spTgt spid="564234"/>
                                        </p:tgtEl>
                                        <p:attrNameLst>
                                          <p:attrName>ppt_w</p:attrName>
                                        </p:attrNameLst>
                                      </p:cBhvr>
                                      <p:tavLst>
                                        <p:tav tm="0">
                                          <p:val>
                                            <p:strVal val="#ppt_w*0.70"/>
                                          </p:val>
                                        </p:tav>
                                        <p:tav tm="100000">
                                          <p:val>
                                            <p:strVal val="#ppt_w"/>
                                          </p:val>
                                        </p:tav>
                                      </p:tavLst>
                                    </p:anim>
                                    <p:anim calcmode="lin" valueType="num">
                                      <p:cBhvr>
                                        <p:cTn id="32" dur="1000" fill="hold"/>
                                        <p:tgtEl>
                                          <p:spTgt spid="564234"/>
                                        </p:tgtEl>
                                        <p:attrNameLst>
                                          <p:attrName>ppt_h</p:attrName>
                                        </p:attrNameLst>
                                      </p:cBhvr>
                                      <p:tavLst>
                                        <p:tav tm="0">
                                          <p:val>
                                            <p:strVal val="#ppt_h"/>
                                          </p:val>
                                        </p:tav>
                                        <p:tav tm="100000">
                                          <p:val>
                                            <p:strVal val="#ppt_h"/>
                                          </p:val>
                                        </p:tav>
                                      </p:tavLst>
                                    </p:anim>
                                    <p:animEffect transition="in" filter="fade">
                                      <p:cBhvr>
                                        <p:cTn id="33" dur="1000"/>
                                        <p:tgtEl>
                                          <p:spTgt spid="564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7" grpId="0"/>
      <p:bldP spid="56423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1" name="Rectangle 3"/>
          <p:cNvSpPr>
            <a:spLocks noChangeArrowheads="1"/>
          </p:cNvSpPr>
          <p:nvPr/>
        </p:nvSpPr>
        <p:spPr bwMode="auto">
          <a:xfrm>
            <a:off x="712788" y="806450"/>
            <a:ext cx="8012112" cy="4906963"/>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marL="894080" indent="-89408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15000"/>
              </a:spcBef>
              <a:buClr>
                <a:schemeClr val="accent2"/>
              </a:buClr>
              <a:buFont typeface="Wingdings" panose="05000000000000000000" pitchFamily="2" charset="2"/>
              <a:buNone/>
            </a:pPr>
            <a:r>
              <a:rPr kumimoji="1" lang="zh-CN" altLang="en-US">
                <a:latin typeface="华文中宋" panose="02010600040101010101" pitchFamily="2" charset="-122"/>
              </a:rPr>
              <a:t>就是说：</a:t>
            </a:r>
          </a:p>
          <a:p>
            <a:pPr eaLnBrk="1" hangingPunct="1">
              <a:lnSpc>
                <a:spcPct val="120000"/>
              </a:lnSpc>
              <a:spcBef>
                <a:spcPct val="15000"/>
              </a:spcBef>
              <a:buClr>
                <a:schemeClr val="accent2"/>
              </a:buClr>
              <a:buFont typeface="Wingdings" panose="05000000000000000000" pitchFamily="2" charset="2"/>
              <a:buNone/>
            </a:pPr>
            <a:r>
              <a:rPr kumimoji="1" lang="zh-CN" altLang="en-US">
                <a:latin typeface="华文中宋" panose="02010600040101010101" pitchFamily="2" charset="-122"/>
              </a:rPr>
              <a:t>  ①、时域中系统的</a:t>
            </a:r>
            <a:r>
              <a:rPr kumimoji="1" lang="zh-CN" altLang="en-US">
                <a:solidFill>
                  <a:srgbClr val="FF0000"/>
                </a:solidFill>
                <a:latin typeface="华文中宋" panose="02010600040101010101" pitchFamily="2" charset="-122"/>
              </a:rPr>
              <a:t>冲激响应绝对可积</a:t>
            </a:r>
            <a:r>
              <a:rPr kumimoji="1" lang="zh-CN" altLang="en-US">
                <a:latin typeface="华文中宋" panose="02010600040101010101" pitchFamily="2" charset="-122"/>
              </a:rPr>
              <a:t>是系统稳定的</a:t>
            </a:r>
            <a:r>
              <a:rPr kumimoji="1" lang="zh-CN" altLang="en-US">
                <a:solidFill>
                  <a:srgbClr val="FF0000"/>
                </a:solidFill>
                <a:latin typeface="华文中宋" panose="02010600040101010101" pitchFamily="2" charset="-122"/>
              </a:rPr>
              <a:t>充要条件</a:t>
            </a:r>
            <a:r>
              <a:rPr kumimoji="1" lang="zh-CN" altLang="en-US">
                <a:latin typeface="华文中宋" panose="02010600040101010101" pitchFamily="2" charset="-122"/>
              </a:rPr>
              <a:t>（满足该条件的系统称为渐近稳定系统）。</a:t>
            </a:r>
            <a:r>
              <a:rPr kumimoji="1" lang="zh-CN" altLang="en-US">
                <a:solidFill>
                  <a:srgbClr val="0000FF"/>
                </a:solidFill>
                <a:latin typeface="华文中宋" panose="02010600040101010101" pitchFamily="2" charset="-122"/>
              </a:rPr>
              <a:t>理想无耗系统，有振荡但非发散型振荡，所以称临界稳定系统</a:t>
            </a:r>
            <a:r>
              <a:rPr kumimoji="1" lang="zh-CN" altLang="en-US">
                <a:latin typeface="华文中宋" panose="02010600040101010101" pitchFamily="2" charset="-122"/>
              </a:rPr>
              <a:t>。</a:t>
            </a:r>
          </a:p>
          <a:p>
            <a:pPr eaLnBrk="1" hangingPunct="1">
              <a:lnSpc>
                <a:spcPct val="120000"/>
              </a:lnSpc>
              <a:spcBef>
                <a:spcPct val="15000"/>
              </a:spcBef>
              <a:buClr>
                <a:schemeClr val="accent2"/>
              </a:buClr>
              <a:buFont typeface="Wingdings" panose="05000000000000000000" pitchFamily="2" charset="2"/>
              <a:buNone/>
            </a:pPr>
            <a:r>
              <a:rPr kumimoji="1" lang="zh-CN" altLang="en-US">
                <a:latin typeface="华文中宋" panose="02010600040101010101" pitchFamily="2" charset="-122"/>
              </a:rPr>
              <a:t>  ②、复频域条件：</a:t>
            </a:r>
            <a:r>
              <a:rPr kumimoji="1" lang="zh-CN" altLang="en-US">
                <a:solidFill>
                  <a:srgbClr val="0000FF"/>
                </a:solidFill>
                <a:latin typeface="华文中宋" panose="02010600040101010101" pitchFamily="2" charset="-122"/>
              </a:rPr>
              <a:t>所有极点落在</a:t>
            </a:r>
            <a:r>
              <a:rPr kumimoji="1" lang="zh-CN" altLang="en-US">
                <a:solidFill>
                  <a:srgbClr val="FF0000"/>
                </a:solidFill>
                <a:latin typeface="华文中宋" panose="02010600040101010101" pitchFamily="2" charset="-122"/>
              </a:rPr>
              <a:t>左半面内</a:t>
            </a:r>
            <a:r>
              <a:rPr kumimoji="1" lang="en-US" altLang="zh-CN">
                <a:solidFill>
                  <a:srgbClr val="0000FF"/>
                </a:solidFill>
                <a:latin typeface="华文中宋" panose="02010600040101010101" pitchFamily="2" charset="-122"/>
              </a:rPr>
              <a:t>,</a:t>
            </a:r>
            <a:r>
              <a:rPr kumimoji="1" lang="zh-CN" altLang="en-US">
                <a:solidFill>
                  <a:srgbClr val="FF0000"/>
                </a:solidFill>
                <a:latin typeface="华文中宋" panose="02010600040101010101" pitchFamily="2" charset="-122"/>
              </a:rPr>
              <a:t>渐近稳定</a:t>
            </a:r>
            <a:r>
              <a:rPr kumimoji="1" lang="zh-CN" altLang="en-US">
                <a:solidFill>
                  <a:srgbClr val="0000FF"/>
                </a:solidFill>
                <a:latin typeface="华文中宋" panose="02010600040101010101" pitchFamily="2" charset="-122"/>
              </a:rPr>
              <a:t>。若极点在虚轴</a:t>
            </a:r>
            <a:r>
              <a:rPr kumimoji="1" lang="en-US" altLang="zh-CN">
                <a:solidFill>
                  <a:srgbClr val="0000FF"/>
                </a:solidFill>
                <a:latin typeface="华文中宋" panose="02010600040101010101" pitchFamily="2" charset="-122"/>
              </a:rPr>
              <a:t>jω</a:t>
            </a:r>
            <a:r>
              <a:rPr kumimoji="1" lang="zh-CN" altLang="en-US">
                <a:solidFill>
                  <a:srgbClr val="0000FF"/>
                </a:solidFill>
                <a:latin typeface="华文中宋" panose="02010600040101010101" pitchFamily="2" charset="-122"/>
              </a:rPr>
              <a:t>上（包括</a:t>
            </a:r>
            <a:r>
              <a:rPr kumimoji="1" lang="en-US" altLang="zh-CN">
                <a:solidFill>
                  <a:srgbClr val="0000FF"/>
                </a:solidFill>
                <a:latin typeface="华文中宋" panose="02010600040101010101" pitchFamily="2" charset="-122"/>
              </a:rPr>
              <a:t>S=0</a:t>
            </a:r>
            <a:r>
              <a:rPr kumimoji="1" lang="zh-CN" altLang="en-US">
                <a:solidFill>
                  <a:srgbClr val="0000FF"/>
                </a:solidFill>
                <a:latin typeface="华文中宋" panose="02010600040101010101" pitchFamily="2" charset="-122"/>
              </a:rPr>
              <a:t>，</a:t>
            </a:r>
            <a:r>
              <a:rPr kumimoji="1" lang="en-US" altLang="zh-CN">
                <a:solidFill>
                  <a:srgbClr val="0000FF"/>
                </a:solidFill>
                <a:latin typeface="华文中宋" panose="02010600040101010101" pitchFamily="2" charset="-122"/>
              </a:rPr>
              <a:t>S=∞</a:t>
            </a:r>
            <a:r>
              <a:rPr kumimoji="1" lang="zh-CN" altLang="en-US">
                <a:solidFill>
                  <a:srgbClr val="0000FF"/>
                </a:solidFill>
                <a:latin typeface="华文中宋" panose="02010600040101010101" pitchFamily="2" charset="-122"/>
              </a:rPr>
              <a:t>），则只能是</a:t>
            </a:r>
            <a:r>
              <a:rPr kumimoji="1" lang="zh-CN" altLang="en-US">
                <a:solidFill>
                  <a:srgbClr val="FF0000"/>
                </a:solidFill>
                <a:latin typeface="华文中宋" panose="02010600040101010101" pitchFamily="2" charset="-122"/>
              </a:rPr>
              <a:t>单阶</a:t>
            </a:r>
            <a:r>
              <a:rPr kumimoji="1" lang="zh-CN" altLang="en-US">
                <a:solidFill>
                  <a:srgbClr val="0000FF"/>
                </a:solidFill>
                <a:latin typeface="华文中宋" panose="02010600040101010101" pitchFamily="2" charset="-122"/>
              </a:rPr>
              <a:t>的，</a:t>
            </a:r>
            <a:r>
              <a:rPr kumimoji="1" lang="zh-CN" altLang="en-US">
                <a:solidFill>
                  <a:srgbClr val="FF0000"/>
                </a:solidFill>
                <a:latin typeface="华文中宋" panose="02010600040101010101" pitchFamily="2" charset="-122"/>
              </a:rPr>
              <a:t>临界稳定</a:t>
            </a:r>
            <a:r>
              <a:rPr kumimoji="1" lang="zh-CN" altLang="en-US">
                <a:latin typeface="华文中宋" panose="02010600040101010101" pitchFamily="2" charset="-122"/>
              </a:rPr>
              <a:t>。</a:t>
            </a:r>
          </a:p>
          <a:p>
            <a:pPr eaLnBrk="1" hangingPunct="1">
              <a:lnSpc>
                <a:spcPct val="120000"/>
              </a:lnSpc>
              <a:spcBef>
                <a:spcPct val="15000"/>
              </a:spcBef>
              <a:buClr>
                <a:schemeClr val="accent2"/>
              </a:buClr>
              <a:buFont typeface="Wingdings" panose="05000000000000000000" pitchFamily="2" charset="2"/>
              <a:buNone/>
            </a:pPr>
            <a:r>
              <a:rPr kumimoji="1" lang="zh-CN" altLang="en-US">
                <a:latin typeface="华文中宋" panose="02010600040101010101" pitchFamily="2" charset="-122"/>
              </a:rPr>
              <a:t>   ③、稳定系统必须遵从因果律。   </a:t>
            </a:r>
            <a:endParaRPr kumimoji="1" lang="zh-CN" altLang="en-US">
              <a:solidFill>
                <a:srgbClr val="FF0000"/>
              </a:solidFill>
              <a:latin typeface="华文中宋" panose="02010600040101010101" pitchFamily="2" charset="-122"/>
            </a:endParaRPr>
          </a:p>
        </p:txBody>
      </p:sp>
      <p:sp>
        <p:nvSpPr>
          <p:cNvPr id="77828" name="Rectangle 5"/>
          <p:cNvSpPr>
            <a:spLocks noChangeArrowheads="1"/>
          </p:cNvSpPr>
          <p:nvPr/>
        </p:nvSpPr>
        <p:spPr bwMode="auto">
          <a:xfrm>
            <a:off x="3200400" y="4241800"/>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565254" name="Rectangle 6"/>
          <p:cNvSpPr>
            <a:spLocks noChangeArrowheads="1"/>
          </p:cNvSpPr>
          <p:nvPr/>
        </p:nvSpPr>
        <p:spPr bwMode="auto">
          <a:xfrm>
            <a:off x="661988" y="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565256" name="Rectangle 8"/>
          <p:cNvSpPr>
            <a:spLocks noChangeArrowheads="1"/>
          </p:cNvSpPr>
          <p:nvPr/>
        </p:nvSpPr>
        <p:spPr bwMode="auto">
          <a:xfrm>
            <a:off x="873125" y="5772150"/>
            <a:ext cx="77914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solidFill>
                  <a:srgbClr val="FF0000"/>
                </a:solidFill>
              </a:rPr>
              <a:t>通常判定系统稳定与否仍采用复频域极点条件。</a:t>
            </a:r>
          </a:p>
        </p:txBody>
      </p:sp>
      <p:sp>
        <p:nvSpPr>
          <p:cNvPr id="7" name="日期占位符 6"/>
          <p:cNvSpPr>
            <a:spLocks noGrp="1"/>
          </p:cNvSpPr>
          <p:nvPr>
            <p:ph type="dt" sz="quarter" idx="10"/>
          </p:nvPr>
        </p:nvSpPr>
        <p:spPr/>
        <p:txBody>
          <a:bodyPr/>
          <a:lstStyle/>
          <a:p>
            <a:pPr>
              <a:defRPr/>
            </a:pPr>
            <a:fld id="{B6E19ABE-47EA-47DB-A81F-B092F37FEDEA}" type="datetime1">
              <a:rPr lang="zh-CN" altLang="en-US"/>
              <a:t>2026/4/28</a:t>
            </a:fld>
            <a:endParaRPr lang="zh-CN" altLang="en-US"/>
          </a:p>
        </p:txBody>
      </p:sp>
      <p:sp>
        <p:nvSpPr>
          <p:cNvPr id="2" name="墨迹 1"/>
          <p:cNvSpPr/>
          <p:nvPr/>
        </p:nvSpPr>
        <p:spPr bwMode="auto">
          <a:xfrm>
            <a:off x="1826640" y="1866960"/>
            <a:ext cx="6208920" cy="42998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4417"/>
    </mc:Choice>
    <mc:Fallback xmlns="">
      <p:transition spd="slow" advTm="1544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565251">
                                            <p:txEl>
                                              <p:pRg st="1" end="1"/>
                                            </p:txEl>
                                          </p:spTgt>
                                        </p:tgtEl>
                                        <p:attrNameLst>
                                          <p:attrName>style.visibility</p:attrName>
                                        </p:attrNameLst>
                                      </p:cBhvr>
                                      <p:to>
                                        <p:strVal val="visible"/>
                                      </p:to>
                                    </p:set>
                                    <p:anim calcmode="lin" valueType="num">
                                      <p:cBhvr>
                                        <p:cTn id="11" dur="1000" fill="hold"/>
                                        <p:tgtEl>
                                          <p:spTgt spid="565251">
                                            <p:txEl>
                                              <p:pRg st="1" end="1"/>
                                            </p:txEl>
                                          </p:spTgt>
                                        </p:tgtEl>
                                        <p:attrNameLst>
                                          <p:attrName>ppt_w</p:attrName>
                                        </p:attrNameLst>
                                      </p:cBhvr>
                                      <p:tavLst>
                                        <p:tav tm="0">
                                          <p:val>
                                            <p:strVal val="#ppt_w*0.70"/>
                                          </p:val>
                                        </p:tav>
                                        <p:tav tm="100000">
                                          <p:val>
                                            <p:strVal val="#ppt_w"/>
                                          </p:val>
                                        </p:tav>
                                      </p:tavLst>
                                    </p:anim>
                                    <p:anim calcmode="lin" valueType="num">
                                      <p:cBhvr>
                                        <p:cTn id="12" dur="1000" fill="hold"/>
                                        <p:tgtEl>
                                          <p:spTgt spid="565251">
                                            <p:txEl>
                                              <p:pRg st="1" end="1"/>
                                            </p:txEl>
                                          </p:spTgt>
                                        </p:tgtEl>
                                        <p:attrNameLst>
                                          <p:attrName>ppt_h</p:attrName>
                                        </p:attrNameLst>
                                      </p:cBhvr>
                                      <p:tavLst>
                                        <p:tav tm="0">
                                          <p:val>
                                            <p:strVal val="#ppt_h"/>
                                          </p:val>
                                        </p:tav>
                                        <p:tav tm="100000">
                                          <p:val>
                                            <p:strVal val="#ppt_h"/>
                                          </p:val>
                                        </p:tav>
                                      </p:tavLst>
                                    </p:anim>
                                    <p:animEffect transition="in" filter="fade">
                                      <p:cBhvr>
                                        <p:cTn id="13" dur="1000"/>
                                        <p:tgtEl>
                                          <p:spTgt spid="565251">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565251">
                                            <p:txEl>
                                              <p:pRg st="2" end="2"/>
                                            </p:txEl>
                                          </p:spTgt>
                                        </p:tgtEl>
                                        <p:attrNameLst>
                                          <p:attrName>style.visibility</p:attrName>
                                        </p:attrNameLst>
                                      </p:cBhvr>
                                      <p:to>
                                        <p:strVal val="visible"/>
                                      </p:to>
                                    </p:set>
                                    <p:anim calcmode="lin" valueType="num">
                                      <p:cBhvr>
                                        <p:cTn id="18" dur="1000" fill="hold"/>
                                        <p:tgtEl>
                                          <p:spTgt spid="565251">
                                            <p:txEl>
                                              <p:pRg st="2" end="2"/>
                                            </p:txEl>
                                          </p:spTgt>
                                        </p:tgtEl>
                                        <p:attrNameLst>
                                          <p:attrName>ppt_w</p:attrName>
                                        </p:attrNameLst>
                                      </p:cBhvr>
                                      <p:tavLst>
                                        <p:tav tm="0">
                                          <p:val>
                                            <p:strVal val="#ppt_w*0.70"/>
                                          </p:val>
                                        </p:tav>
                                        <p:tav tm="100000">
                                          <p:val>
                                            <p:strVal val="#ppt_w"/>
                                          </p:val>
                                        </p:tav>
                                      </p:tavLst>
                                    </p:anim>
                                    <p:anim calcmode="lin" valueType="num">
                                      <p:cBhvr>
                                        <p:cTn id="19" dur="1000" fill="hold"/>
                                        <p:tgtEl>
                                          <p:spTgt spid="565251">
                                            <p:txEl>
                                              <p:pRg st="2" end="2"/>
                                            </p:txEl>
                                          </p:spTgt>
                                        </p:tgtEl>
                                        <p:attrNameLst>
                                          <p:attrName>ppt_h</p:attrName>
                                        </p:attrNameLst>
                                      </p:cBhvr>
                                      <p:tavLst>
                                        <p:tav tm="0">
                                          <p:val>
                                            <p:strVal val="#ppt_h"/>
                                          </p:val>
                                        </p:tav>
                                        <p:tav tm="100000">
                                          <p:val>
                                            <p:strVal val="#ppt_h"/>
                                          </p:val>
                                        </p:tav>
                                      </p:tavLst>
                                    </p:anim>
                                    <p:animEffect transition="in" filter="fade">
                                      <p:cBhvr>
                                        <p:cTn id="20" dur="1000"/>
                                        <p:tgtEl>
                                          <p:spTgt spid="565251">
                                            <p:txEl>
                                              <p:pRg st="2" end="2"/>
                                            </p:txEl>
                                          </p:spTgt>
                                        </p:tgtEl>
                                      </p:cBhvr>
                                    </p:animEffect>
                                  </p:childTnLst>
                                </p:cTn>
                              </p:par>
                            </p:childTnLst>
                          </p:cTn>
                        </p:par>
                        <p:par>
                          <p:cTn id="21" fill="hold">
                            <p:stCondLst>
                              <p:cond delay="1000"/>
                            </p:stCondLst>
                            <p:childTnLst>
                              <p:par>
                                <p:cTn id="22" presetID="55" presetClass="entr" presetSubtype="0" fill="hold" nodeType="afterEffect">
                                  <p:stCondLst>
                                    <p:cond delay="0"/>
                                  </p:stCondLst>
                                  <p:childTnLst>
                                    <p:set>
                                      <p:cBhvr>
                                        <p:cTn id="23" dur="1" fill="hold">
                                          <p:stCondLst>
                                            <p:cond delay="0"/>
                                          </p:stCondLst>
                                        </p:cTn>
                                        <p:tgtEl>
                                          <p:spTgt spid="565251">
                                            <p:txEl>
                                              <p:pRg st="3" end="3"/>
                                            </p:txEl>
                                          </p:spTgt>
                                        </p:tgtEl>
                                        <p:attrNameLst>
                                          <p:attrName>style.visibility</p:attrName>
                                        </p:attrNameLst>
                                      </p:cBhvr>
                                      <p:to>
                                        <p:strVal val="visible"/>
                                      </p:to>
                                    </p:set>
                                    <p:anim calcmode="lin" valueType="num">
                                      <p:cBhvr>
                                        <p:cTn id="24" dur="1000" fill="hold"/>
                                        <p:tgtEl>
                                          <p:spTgt spid="565251">
                                            <p:txEl>
                                              <p:pRg st="3" end="3"/>
                                            </p:txEl>
                                          </p:spTgt>
                                        </p:tgtEl>
                                        <p:attrNameLst>
                                          <p:attrName>ppt_w</p:attrName>
                                        </p:attrNameLst>
                                      </p:cBhvr>
                                      <p:tavLst>
                                        <p:tav tm="0">
                                          <p:val>
                                            <p:strVal val="#ppt_w*0.70"/>
                                          </p:val>
                                        </p:tav>
                                        <p:tav tm="100000">
                                          <p:val>
                                            <p:strVal val="#ppt_w"/>
                                          </p:val>
                                        </p:tav>
                                      </p:tavLst>
                                    </p:anim>
                                    <p:anim calcmode="lin" valueType="num">
                                      <p:cBhvr>
                                        <p:cTn id="25" dur="1000" fill="hold"/>
                                        <p:tgtEl>
                                          <p:spTgt spid="565251">
                                            <p:txEl>
                                              <p:pRg st="3" end="3"/>
                                            </p:txEl>
                                          </p:spTgt>
                                        </p:tgtEl>
                                        <p:attrNameLst>
                                          <p:attrName>ppt_h</p:attrName>
                                        </p:attrNameLst>
                                      </p:cBhvr>
                                      <p:tavLst>
                                        <p:tav tm="0">
                                          <p:val>
                                            <p:strVal val="#ppt_h"/>
                                          </p:val>
                                        </p:tav>
                                        <p:tav tm="100000">
                                          <p:val>
                                            <p:strVal val="#ppt_h"/>
                                          </p:val>
                                        </p:tav>
                                      </p:tavLst>
                                    </p:anim>
                                    <p:animEffect transition="in" filter="fade">
                                      <p:cBhvr>
                                        <p:cTn id="26" dur="1000"/>
                                        <p:tgtEl>
                                          <p:spTgt spid="56525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565256"/>
                                        </p:tgtEl>
                                        <p:attrNameLst>
                                          <p:attrName>style.visibility</p:attrName>
                                        </p:attrNameLst>
                                      </p:cBhvr>
                                      <p:to>
                                        <p:strVal val="visible"/>
                                      </p:to>
                                    </p:set>
                                    <p:anim calcmode="lin" valueType="num">
                                      <p:cBhvr>
                                        <p:cTn id="31" dur="1000" fill="hold"/>
                                        <p:tgtEl>
                                          <p:spTgt spid="565256"/>
                                        </p:tgtEl>
                                        <p:attrNameLst>
                                          <p:attrName>ppt_w</p:attrName>
                                        </p:attrNameLst>
                                      </p:cBhvr>
                                      <p:tavLst>
                                        <p:tav tm="0">
                                          <p:val>
                                            <p:strVal val="#ppt_w*0.70"/>
                                          </p:val>
                                        </p:tav>
                                        <p:tav tm="100000">
                                          <p:val>
                                            <p:strVal val="#ppt_w"/>
                                          </p:val>
                                        </p:tav>
                                      </p:tavLst>
                                    </p:anim>
                                    <p:anim calcmode="lin" valueType="num">
                                      <p:cBhvr>
                                        <p:cTn id="32" dur="1000" fill="hold"/>
                                        <p:tgtEl>
                                          <p:spTgt spid="565256"/>
                                        </p:tgtEl>
                                        <p:attrNameLst>
                                          <p:attrName>ppt_h</p:attrName>
                                        </p:attrNameLst>
                                      </p:cBhvr>
                                      <p:tavLst>
                                        <p:tav tm="0">
                                          <p:val>
                                            <p:strVal val="#ppt_h"/>
                                          </p:val>
                                        </p:tav>
                                        <p:tav tm="100000">
                                          <p:val>
                                            <p:strVal val="#ppt_h"/>
                                          </p:val>
                                        </p:tav>
                                      </p:tavLst>
                                    </p:anim>
                                    <p:animEffect transition="in" filter="fade">
                                      <p:cBhvr>
                                        <p:cTn id="33" dur="1000"/>
                                        <p:tgtEl>
                                          <p:spTgt spid="565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5" name="Rectangle 3"/>
          <p:cNvSpPr>
            <a:spLocks noChangeArrowheads="1"/>
          </p:cNvSpPr>
          <p:nvPr/>
        </p:nvSpPr>
        <p:spPr bwMode="auto">
          <a:xfrm>
            <a:off x="1223963" y="1635125"/>
            <a:ext cx="7040562" cy="2495550"/>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zh-CN" altLang="en-US">
                <a:solidFill>
                  <a:srgbClr val="FF0000"/>
                </a:solidFill>
                <a:latin typeface="华文中宋" panose="02010600040101010101" pitchFamily="2" charset="-122"/>
              </a:rPr>
              <a:t>稳定性复频域判据为</a:t>
            </a:r>
            <a:r>
              <a:rPr kumimoji="1" lang="zh-CN" altLang="en-US">
                <a:latin typeface="华文中宋" panose="02010600040101010101" pitchFamily="2" charset="-122"/>
              </a:rPr>
              <a:t>：系统的极点落在左半平面内</a:t>
            </a:r>
            <a:r>
              <a:rPr kumimoji="1" lang="zh-CN" altLang="en-US">
                <a:solidFill>
                  <a:srgbClr val="0000FF"/>
                </a:solidFill>
                <a:latin typeface="华文中宋" panose="02010600040101010101" pitchFamily="2" charset="-122"/>
              </a:rPr>
              <a:t>或者一阶虚轴及</a:t>
            </a:r>
            <a:r>
              <a:rPr kumimoji="1" lang="en-US" altLang="zh-CN">
                <a:solidFill>
                  <a:srgbClr val="0000FF"/>
                </a:solidFill>
                <a:latin typeface="华文中宋" panose="02010600040101010101" pitchFamily="2" charset="-122"/>
              </a:rPr>
              <a:t>S=0</a:t>
            </a:r>
            <a:r>
              <a:rPr kumimoji="1" lang="zh-CN" altLang="en-US">
                <a:solidFill>
                  <a:srgbClr val="0000FF"/>
                </a:solidFill>
                <a:latin typeface="华文中宋" panose="02010600040101010101" pitchFamily="2" charset="-122"/>
              </a:rPr>
              <a:t>、</a:t>
            </a:r>
            <a:r>
              <a:rPr kumimoji="1" lang="en-US" altLang="zh-CN">
                <a:solidFill>
                  <a:srgbClr val="0000FF"/>
                </a:solidFill>
                <a:latin typeface="华文中宋" panose="02010600040101010101" pitchFamily="2" charset="-122"/>
              </a:rPr>
              <a:t>S=∞</a:t>
            </a:r>
            <a:r>
              <a:rPr kumimoji="1" lang="zh-CN" altLang="en-US">
                <a:solidFill>
                  <a:srgbClr val="0000FF"/>
                </a:solidFill>
                <a:latin typeface="华文中宋" panose="02010600040101010101" pitchFamily="2" charset="-122"/>
              </a:rPr>
              <a:t>的极点</a:t>
            </a:r>
            <a:r>
              <a:rPr kumimoji="1" lang="zh-CN" altLang="en-US">
                <a:latin typeface="华文中宋" panose="02010600040101010101" pitchFamily="2" charset="-122"/>
              </a:rPr>
              <a:t>；或者说系统的特征方程的</a:t>
            </a:r>
            <a:r>
              <a:rPr kumimoji="1" lang="zh-CN" altLang="en-US">
                <a:solidFill>
                  <a:srgbClr val="0000FF"/>
                </a:solidFill>
                <a:latin typeface="华文中宋" panose="02010600040101010101" pitchFamily="2" charset="-122"/>
              </a:rPr>
              <a:t>特征根都有负实部</a:t>
            </a:r>
            <a:r>
              <a:rPr kumimoji="1" lang="zh-CN" altLang="en-US">
                <a:latin typeface="华文中宋" panose="02010600040101010101" pitchFamily="2" charset="-122"/>
              </a:rPr>
              <a:t>。</a:t>
            </a:r>
          </a:p>
        </p:txBody>
      </p:sp>
      <p:sp>
        <p:nvSpPr>
          <p:cNvPr id="78851" name="Rectangle 4"/>
          <p:cNvSpPr>
            <a:spLocks noChangeArrowheads="1"/>
          </p:cNvSpPr>
          <p:nvPr/>
        </p:nvSpPr>
        <p:spPr bwMode="auto">
          <a:xfrm>
            <a:off x="3052763" y="2436813"/>
            <a:ext cx="69215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600">
                <a:solidFill>
                  <a:srgbClr val="000000"/>
                </a:solidFill>
                <a:latin typeface="华文楷体" panose="02010600040101010101" pitchFamily="2" charset="-122"/>
                <a:ea typeface="华文楷体" panose="02010600040101010101" pitchFamily="2" charset="-122"/>
              </a:rPr>
              <a:t>：</a:t>
            </a:r>
            <a:endParaRPr lang="zh-CN" altLang="en-US" sz="1100"/>
          </a:p>
          <a:p>
            <a:pPr algn="ctr">
              <a:lnSpc>
                <a:spcPct val="85000"/>
              </a:lnSpc>
              <a:spcBef>
                <a:spcPct val="20000"/>
              </a:spcBef>
              <a:buClr>
                <a:schemeClr val="accent2"/>
              </a:buClr>
              <a:buFont typeface="Wingdings" panose="05000000000000000000" pitchFamily="2" charset="2"/>
              <a:buNone/>
            </a:pPr>
            <a:r>
              <a:rPr lang="zh-CN" altLang="en-US" sz="1600">
                <a:solidFill>
                  <a:srgbClr val="000000"/>
                </a:solidFill>
                <a:latin typeface="Arial" panose="020B0604020202020204" pitchFamily="34" charset="0"/>
                <a:ea typeface="华文楷体" panose="02010600040101010101" pitchFamily="2" charset="-122"/>
              </a:rPr>
              <a:t>        </a:t>
            </a:r>
            <a:r>
              <a:rPr lang="zh-CN" altLang="en-US" sz="1600">
                <a:solidFill>
                  <a:srgbClr val="000000"/>
                </a:solidFill>
                <a:latin typeface="华文楷体" panose="02010600040101010101" pitchFamily="2" charset="-122"/>
                <a:ea typeface="华文楷体" panose="02010600040101010101" pitchFamily="2" charset="-122"/>
              </a:rPr>
              <a:t> </a:t>
            </a:r>
            <a:endParaRPr lang="zh-CN" altLang="en-US" sz="1800">
              <a:latin typeface="Arial" panose="020B0604020202020204" pitchFamily="34" charset="0"/>
              <a:ea typeface="宋体" panose="02010600030101010101" pitchFamily="2" charset="-122"/>
            </a:endParaRPr>
          </a:p>
        </p:txBody>
      </p:sp>
      <p:sp>
        <p:nvSpPr>
          <p:cNvPr id="566278" name="Rectangle 6"/>
          <p:cNvSpPr>
            <a:spLocks noChangeArrowheads="1"/>
          </p:cNvSpPr>
          <p:nvPr/>
        </p:nvSpPr>
        <p:spPr bwMode="auto">
          <a:xfrm>
            <a:off x="447675" y="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6" name="日期占位符 5"/>
          <p:cNvSpPr>
            <a:spLocks noGrp="1"/>
          </p:cNvSpPr>
          <p:nvPr>
            <p:ph type="dt" sz="quarter" idx="10"/>
          </p:nvPr>
        </p:nvSpPr>
        <p:spPr/>
        <p:txBody>
          <a:bodyPr/>
          <a:lstStyle/>
          <a:p>
            <a:pPr>
              <a:defRPr/>
            </a:pPr>
            <a:fld id="{8D2D628F-EF74-4013-86C1-AD2FFE6EDC10}" type="datetime1">
              <a:rPr lang="zh-CN" altLang="en-US"/>
              <a:t>2026/4/28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9370"/>
    </mc:Choice>
    <mc:Fallback xmlns="">
      <p:transition spd="slow" advTm="59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566275"/>
                                        </p:tgtEl>
                                        <p:attrNameLst>
                                          <p:attrName>style.visibility</p:attrName>
                                        </p:attrNameLst>
                                      </p:cBhvr>
                                      <p:to>
                                        <p:strVal val="visible"/>
                                      </p:to>
                                    </p:set>
                                    <p:anim calcmode="lin" valueType="num">
                                      <p:cBhvr>
                                        <p:cTn id="7" dur="1000" fill="hold"/>
                                        <p:tgtEl>
                                          <p:spTgt spid="566275"/>
                                        </p:tgtEl>
                                        <p:attrNameLst>
                                          <p:attrName>ppt_w</p:attrName>
                                        </p:attrNameLst>
                                      </p:cBhvr>
                                      <p:tavLst>
                                        <p:tav tm="0">
                                          <p:val>
                                            <p:strVal val="#ppt_w*0.70"/>
                                          </p:val>
                                        </p:tav>
                                        <p:tav tm="100000">
                                          <p:val>
                                            <p:strVal val="#ppt_w"/>
                                          </p:val>
                                        </p:tav>
                                      </p:tavLst>
                                    </p:anim>
                                    <p:anim calcmode="lin" valueType="num">
                                      <p:cBhvr>
                                        <p:cTn id="8" dur="1000" fill="hold"/>
                                        <p:tgtEl>
                                          <p:spTgt spid="566275"/>
                                        </p:tgtEl>
                                        <p:attrNameLst>
                                          <p:attrName>ppt_h</p:attrName>
                                        </p:attrNameLst>
                                      </p:cBhvr>
                                      <p:tavLst>
                                        <p:tav tm="0">
                                          <p:val>
                                            <p:strVal val="#ppt_h"/>
                                          </p:val>
                                        </p:tav>
                                        <p:tav tm="100000">
                                          <p:val>
                                            <p:strVal val="#ppt_h"/>
                                          </p:val>
                                        </p:tav>
                                      </p:tavLst>
                                    </p:anim>
                                    <p:animEffect transition="in" filter="fade">
                                      <p:cBhvr>
                                        <p:cTn id="9" dur="1000"/>
                                        <p:tgtEl>
                                          <p:spTgt spid="566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ChangeArrowheads="1"/>
          </p:cNvSpPr>
          <p:nvPr/>
        </p:nvSpPr>
        <p:spPr bwMode="auto">
          <a:xfrm>
            <a:off x="900113" y="908050"/>
            <a:ext cx="3889375"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16280" indent="-71628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zh-CN" altLang="en-US"/>
              <a:t>设系统的特征方程为：</a:t>
            </a:r>
          </a:p>
        </p:txBody>
      </p:sp>
      <p:sp>
        <p:nvSpPr>
          <p:cNvPr id="79875" name="Rectangle 5"/>
          <p:cNvSpPr>
            <a:spLocks noChangeArrowheads="1"/>
          </p:cNvSpPr>
          <p:nvPr/>
        </p:nvSpPr>
        <p:spPr bwMode="auto">
          <a:xfrm>
            <a:off x="3200400" y="4241800"/>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79876" name="Rectangle 6"/>
          <p:cNvSpPr>
            <a:spLocks noChangeArrowheads="1"/>
          </p:cNvSpPr>
          <p:nvPr/>
        </p:nvSpPr>
        <p:spPr bwMode="auto">
          <a:xfrm>
            <a:off x="2976563" y="2944813"/>
            <a:ext cx="971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79877" name="Rectangle 8"/>
          <p:cNvSpPr>
            <a:spLocks noChangeArrowheads="1"/>
          </p:cNvSpPr>
          <p:nvPr/>
        </p:nvSpPr>
        <p:spPr bwMode="auto">
          <a:xfrm>
            <a:off x="2976563" y="3576638"/>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567305" name="Rectangle 9"/>
          <p:cNvSpPr>
            <a:spLocks noChangeArrowheads="1"/>
          </p:cNvSpPr>
          <p:nvPr/>
        </p:nvSpPr>
        <p:spPr bwMode="auto">
          <a:xfrm>
            <a:off x="530225" y="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dirty="0">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graphicFrame>
        <p:nvGraphicFramePr>
          <p:cNvPr id="567308" name="Object 2"/>
          <p:cNvGraphicFramePr>
            <a:graphicFrameLocks noGrp="1" noChangeAspect="1"/>
          </p:cNvGraphicFramePr>
          <p:nvPr>
            <p:ph sz="half" idx="1"/>
          </p:nvPr>
        </p:nvGraphicFramePr>
        <p:xfrm>
          <a:off x="1689100" y="2319338"/>
          <a:ext cx="5400675" cy="509587"/>
        </p:xfrm>
        <a:graphic>
          <a:graphicData uri="http://schemas.openxmlformats.org/presentationml/2006/ole">
            <mc:AlternateContent xmlns:mc="http://schemas.openxmlformats.org/markup-compatibility/2006">
              <mc:Choice xmlns:v="urn:schemas-microsoft-com:vml" Requires="v">
                <p:oleObj name="公式" r:id="rId3" imgW="2425700" imgH="228600" progId="Equation.3">
                  <p:embed/>
                </p:oleObj>
              </mc:Choice>
              <mc:Fallback>
                <p:oleObj name="公式" r:id="rId3" imgW="24257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9100" y="2319338"/>
                        <a:ext cx="5400675"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7309" name="Object 3"/>
          <p:cNvGraphicFramePr>
            <a:graphicFrameLocks noChangeAspect="1"/>
          </p:cNvGraphicFramePr>
          <p:nvPr/>
        </p:nvGraphicFramePr>
        <p:xfrm>
          <a:off x="900113" y="2997200"/>
          <a:ext cx="7632700" cy="1062038"/>
        </p:xfrm>
        <a:graphic>
          <a:graphicData uri="http://schemas.openxmlformats.org/presentationml/2006/ole">
            <mc:AlternateContent xmlns:mc="http://schemas.openxmlformats.org/markup-compatibility/2006">
              <mc:Choice xmlns:v="urn:schemas-microsoft-com:vml" Requires="v">
                <p:oleObj name="公式" r:id="rId5" imgW="3467100" imgH="482600" progId="Equation.3">
                  <p:embed/>
                </p:oleObj>
              </mc:Choice>
              <mc:Fallback>
                <p:oleObj name="公式" r:id="rId5" imgW="3467100" imgH="482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997200"/>
                        <a:ext cx="7632700" cy="1062038"/>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pSp>
        <p:nvGrpSpPr>
          <p:cNvPr id="79881" name="Group 15"/>
          <p:cNvGrpSpPr/>
          <p:nvPr/>
        </p:nvGrpSpPr>
        <p:grpSpPr bwMode="auto">
          <a:xfrm>
            <a:off x="1187450" y="1557338"/>
            <a:ext cx="7956550" cy="558800"/>
            <a:chOff x="884" y="1207"/>
            <a:chExt cx="4491" cy="352"/>
          </a:xfrm>
        </p:grpSpPr>
        <p:pic>
          <p:nvPicPr>
            <p:cNvPr id="79888"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84" y="1253"/>
              <a:ext cx="3312"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9" name="Rectangle 14"/>
            <p:cNvSpPr>
              <a:spLocks noChangeArrowheads="1"/>
            </p:cNvSpPr>
            <p:nvPr/>
          </p:nvSpPr>
          <p:spPr bwMode="auto">
            <a:xfrm>
              <a:off x="4468" y="1207"/>
              <a:ext cx="90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16280" indent="-71628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120000"/>
                </a:lnSpc>
                <a:spcBef>
                  <a:spcPct val="20000"/>
                </a:spcBef>
                <a:buClr>
                  <a:schemeClr val="accent2"/>
                </a:buClr>
                <a:buFont typeface="Wingdings" panose="05000000000000000000" pitchFamily="2" charset="2"/>
                <a:buNone/>
              </a:pPr>
              <a:r>
                <a:rPr kumimoji="1" lang="zh-CN" altLang="en-US" sz="2400"/>
                <a:t>（</a:t>
              </a:r>
              <a:r>
                <a:rPr kumimoji="1" lang="en-US" altLang="zh-CN" sz="2400"/>
                <a:t>6-35</a:t>
              </a:r>
              <a:r>
                <a:rPr kumimoji="1" lang="zh-CN" altLang="en-US" sz="2400"/>
                <a:t>）</a:t>
              </a:r>
            </a:p>
          </p:txBody>
        </p:sp>
      </p:grpSp>
      <p:graphicFrame>
        <p:nvGraphicFramePr>
          <p:cNvPr id="567312" name="Object 4"/>
          <p:cNvGraphicFramePr>
            <a:graphicFrameLocks noChangeAspect="1"/>
          </p:cNvGraphicFramePr>
          <p:nvPr/>
        </p:nvGraphicFramePr>
        <p:xfrm>
          <a:off x="755650" y="4365625"/>
          <a:ext cx="8029575" cy="454025"/>
        </p:xfrm>
        <a:graphic>
          <a:graphicData uri="http://schemas.openxmlformats.org/presentationml/2006/ole">
            <mc:AlternateContent xmlns:mc="http://schemas.openxmlformats.org/markup-compatibility/2006">
              <mc:Choice xmlns:v="urn:schemas-microsoft-com:vml" Requires="v">
                <p:oleObj name="公式" r:id="rId8" imgW="3606800" imgH="203200" progId="Equation.3">
                  <p:embed/>
                </p:oleObj>
              </mc:Choice>
              <mc:Fallback>
                <p:oleObj name="公式" r:id="rId8" imgW="3606800" imgH="2032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650" y="4365625"/>
                        <a:ext cx="802957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7313" name="Object 5"/>
          <p:cNvGraphicFramePr>
            <a:graphicFrameLocks noChangeAspect="1"/>
          </p:cNvGraphicFramePr>
          <p:nvPr/>
        </p:nvGraphicFramePr>
        <p:xfrm>
          <a:off x="827088" y="4941888"/>
          <a:ext cx="2233612" cy="785812"/>
        </p:xfrm>
        <a:graphic>
          <a:graphicData uri="http://schemas.openxmlformats.org/presentationml/2006/ole">
            <mc:AlternateContent xmlns:mc="http://schemas.openxmlformats.org/markup-compatibility/2006">
              <mc:Choice xmlns:v="urn:schemas-microsoft-com:vml" Requires="v">
                <p:oleObj name="公式" r:id="rId10" imgW="1231265" imgH="431800" progId="Equation.3">
                  <p:embed/>
                </p:oleObj>
              </mc:Choice>
              <mc:Fallback>
                <p:oleObj name="公式" r:id="rId10" imgW="1231265" imgH="4318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7088" y="4941888"/>
                        <a:ext cx="2233612"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7314" name="Object 6"/>
          <p:cNvGraphicFramePr>
            <a:graphicFrameLocks noChangeAspect="1"/>
          </p:cNvGraphicFramePr>
          <p:nvPr/>
        </p:nvGraphicFramePr>
        <p:xfrm>
          <a:off x="3779838" y="4941888"/>
          <a:ext cx="5184775" cy="755650"/>
        </p:xfrm>
        <a:graphic>
          <a:graphicData uri="http://schemas.openxmlformats.org/presentationml/2006/ole">
            <mc:AlternateContent xmlns:mc="http://schemas.openxmlformats.org/markup-compatibility/2006">
              <mc:Choice xmlns:v="urn:schemas-microsoft-com:vml" Requires="v">
                <p:oleObj name="公式" r:id="rId12" imgW="2971800" imgH="431800" progId="Equation.3">
                  <p:embed/>
                </p:oleObj>
              </mc:Choice>
              <mc:Fallback>
                <p:oleObj name="公式" r:id="rId12" imgW="2971800" imgH="431800"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79838" y="4941888"/>
                        <a:ext cx="5184775"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7315" name="Object 7"/>
          <p:cNvGraphicFramePr>
            <a:graphicFrameLocks noChangeAspect="1"/>
          </p:cNvGraphicFramePr>
          <p:nvPr/>
        </p:nvGraphicFramePr>
        <p:xfrm>
          <a:off x="684213" y="5734050"/>
          <a:ext cx="5318125" cy="755650"/>
        </p:xfrm>
        <a:graphic>
          <a:graphicData uri="http://schemas.openxmlformats.org/presentationml/2006/ole">
            <mc:AlternateContent xmlns:mc="http://schemas.openxmlformats.org/markup-compatibility/2006">
              <mc:Choice xmlns:v="urn:schemas-microsoft-com:vml" Requires="v">
                <p:oleObj name="公式" r:id="rId14" imgW="3048000" imgH="431800" progId="Equation.3">
                  <p:embed/>
                </p:oleObj>
              </mc:Choice>
              <mc:Fallback>
                <p:oleObj name="公式" r:id="rId14" imgW="3048000" imgH="431800"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4213" y="5734050"/>
                        <a:ext cx="5318125"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7316" name="Object 8"/>
          <p:cNvGraphicFramePr>
            <a:graphicFrameLocks noChangeAspect="1"/>
          </p:cNvGraphicFramePr>
          <p:nvPr/>
        </p:nvGraphicFramePr>
        <p:xfrm>
          <a:off x="6227763" y="5661025"/>
          <a:ext cx="2703512" cy="755650"/>
        </p:xfrm>
        <a:graphic>
          <a:graphicData uri="http://schemas.openxmlformats.org/presentationml/2006/ole">
            <mc:AlternateContent xmlns:mc="http://schemas.openxmlformats.org/markup-compatibility/2006">
              <mc:Choice xmlns:v="urn:schemas-microsoft-com:vml" Requires="v">
                <p:oleObj name="公式" r:id="rId16" imgW="1548765" imgH="431800" progId="Equation.3">
                  <p:embed/>
                </p:oleObj>
              </mc:Choice>
              <mc:Fallback>
                <p:oleObj name="公式" r:id="rId16" imgW="1548765" imgH="431800"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27763" y="5661025"/>
                        <a:ext cx="2703512"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日期占位符 17"/>
          <p:cNvSpPr>
            <a:spLocks noGrp="1"/>
          </p:cNvSpPr>
          <p:nvPr>
            <p:ph type="dt" sz="quarter" idx="10"/>
          </p:nvPr>
        </p:nvSpPr>
        <p:spPr/>
        <p:txBody>
          <a:bodyPr/>
          <a:lstStyle/>
          <a:p>
            <a:pPr>
              <a:defRPr/>
            </a:pPr>
            <a:fld id="{3314EFEE-A048-4791-BA96-6860255FFF87}" type="datetime1">
              <a:rPr lang="zh-CN" altLang="en-US"/>
              <a:t>2026/4/28</a:t>
            </a:fld>
            <a:endParaRPr lang="zh-CN" altLang="en-US"/>
          </a:p>
        </p:txBody>
      </p:sp>
      <p:sp>
        <p:nvSpPr>
          <p:cNvPr id="2" name="墨迹 1"/>
          <p:cNvSpPr/>
          <p:nvPr/>
        </p:nvSpPr>
        <p:spPr bwMode="auto">
          <a:xfrm>
            <a:off x="734760" y="1953720"/>
            <a:ext cx="8151840" cy="35989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8272"/>
    </mc:Choice>
    <mc:Fallback xmlns="">
      <p:transition spd="slow" advTm="1082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567308"/>
                                        </p:tgtEl>
                                        <p:attrNameLst>
                                          <p:attrName>style.visibility</p:attrName>
                                        </p:attrNameLst>
                                      </p:cBhvr>
                                      <p:to>
                                        <p:strVal val="visible"/>
                                      </p:to>
                                    </p:set>
                                    <p:anim calcmode="lin" valueType="num">
                                      <p:cBhvr>
                                        <p:cTn id="11" dur="1000" fill="hold"/>
                                        <p:tgtEl>
                                          <p:spTgt spid="567308"/>
                                        </p:tgtEl>
                                        <p:attrNameLst>
                                          <p:attrName>ppt_w</p:attrName>
                                        </p:attrNameLst>
                                      </p:cBhvr>
                                      <p:tavLst>
                                        <p:tav tm="0">
                                          <p:val>
                                            <p:strVal val="#ppt_w*0.70"/>
                                          </p:val>
                                        </p:tav>
                                        <p:tav tm="100000">
                                          <p:val>
                                            <p:strVal val="#ppt_w"/>
                                          </p:val>
                                        </p:tav>
                                      </p:tavLst>
                                    </p:anim>
                                    <p:anim calcmode="lin" valueType="num">
                                      <p:cBhvr>
                                        <p:cTn id="12" dur="1000" fill="hold"/>
                                        <p:tgtEl>
                                          <p:spTgt spid="567308"/>
                                        </p:tgtEl>
                                        <p:attrNameLst>
                                          <p:attrName>ppt_h</p:attrName>
                                        </p:attrNameLst>
                                      </p:cBhvr>
                                      <p:tavLst>
                                        <p:tav tm="0">
                                          <p:val>
                                            <p:strVal val="#ppt_h"/>
                                          </p:val>
                                        </p:tav>
                                        <p:tav tm="100000">
                                          <p:val>
                                            <p:strVal val="#ppt_h"/>
                                          </p:val>
                                        </p:tav>
                                      </p:tavLst>
                                    </p:anim>
                                    <p:animEffect transition="in" filter="fade">
                                      <p:cBhvr>
                                        <p:cTn id="13" dur="1000"/>
                                        <p:tgtEl>
                                          <p:spTgt spid="567308"/>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567309"/>
                                        </p:tgtEl>
                                        <p:attrNameLst>
                                          <p:attrName>style.visibility</p:attrName>
                                        </p:attrNameLst>
                                      </p:cBhvr>
                                      <p:to>
                                        <p:strVal val="visible"/>
                                      </p:to>
                                    </p:set>
                                    <p:anim calcmode="lin" valueType="num">
                                      <p:cBhvr>
                                        <p:cTn id="18" dur="1000" fill="hold"/>
                                        <p:tgtEl>
                                          <p:spTgt spid="567309"/>
                                        </p:tgtEl>
                                        <p:attrNameLst>
                                          <p:attrName>ppt_w</p:attrName>
                                        </p:attrNameLst>
                                      </p:cBhvr>
                                      <p:tavLst>
                                        <p:tav tm="0">
                                          <p:val>
                                            <p:strVal val="#ppt_w*0.70"/>
                                          </p:val>
                                        </p:tav>
                                        <p:tav tm="100000">
                                          <p:val>
                                            <p:strVal val="#ppt_w"/>
                                          </p:val>
                                        </p:tav>
                                      </p:tavLst>
                                    </p:anim>
                                    <p:anim calcmode="lin" valueType="num">
                                      <p:cBhvr>
                                        <p:cTn id="19" dur="1000" fill="hold"/>
                                        <p:tgtEl>
                                          <p:spTgt spid="567309"/>
                                        </p:tgtEl>
                                        <p:attrNameLst>
                                          <p:attrName>ppt_h</p:attrName>
                                        </p:attrNameLst>
                                      </p:cBhvr>
                                      <p:tavLst>
                                        <p:tav tm="0">
                                          <p:val>
                                            <p:strVal val="#ppt_h"/>
                                          </p:val>
                                        </p:tav>
                                        <p:tav tm="100000">
                                          <p:val>
                                            <p:strVal val="#ppt_h"/>
                                          </p:val>
                                        </p:tav>
                                      </p:tavLst>
                                    </p:anim>
                                    <p:animEffect transition="in" filter="fade">
                                      <p:cBhvr>
                                        <p:cTn id="20" dur="1000"/>
                                        <p:tgtEl>
                                          <p:spTgt spid="567309"/>
                                        </p:tgtEl>
                                      </p:cBhvr>
                                    </p:animEffect>
                                  </p:childTnLst>
                                </p:cTn>
                              </p:par>
                            </p:childTnLst>
                          </p:cTn>
                        </p:par>
                        <p:par>
                          <p:cTn id="21" fill="hold">
                            <p:stCondLst>
                              <p:cond delay="1000"/>
                            </p:stCondLst>
                            <p:childTnLst>
                              <p:par>
                                <p:cTn id="22" presetID="55" presetClass="entr" presetSubtype="0" fill="hold" nodeType="afterEffect">
                                  <p:stCondLst>
                                    <p:cond delay="0"/>
                                  </p:stCondLst>
                                  <p:childTnLst>
                                    <p:set>
                                      <p:cBhvr>
                                        <p:cTn id="23" dur="1" fill="hold">
                                          <p:stCondLst>
                                            <p:cond delay="0"/>
                                          </p:stCondLst>
                                        </p:cTn>
                                        <p:tgtEl>
                                          <p:spTgt spid="567312"/>
                                        </p:tgtEl>
                                        <p:attrNameLst>
                                          <p:attrName>style.visibility</p:attrName>
                                        </p:attrNameLst>
                                      </p:cBhvr>
                                      <p:to>
                                        <p:strVal val="visible"/>
                                      </p:to>
                                    </p:set>
                                    <p:anim calcmode="lin" valueType="num">
                                      <p:cBhvr>
                                        <p:cTn id="24" dur="1000" fill="hold"/>
                                        <p:tgtEl>
                                          <p:spTgt spid="567312"/>
                                        </p:tgtEl>
                                        <p:attrNameLst>
                                          <p:attrName>ppt_w</p:attrName>
                                        </p:attrNameLst>
                                      </p:cBhvr>
                                      <p:tavLst>
                                        <p:tav tm="0">
                                          <p:val>
                                            <p:strVal val="#ppt_w*0.70"/>
                                          </p:val>
                                        </p:tav>
                                        <p:tav tm="100000">
                                          <p:val>
                                            <p:strVal val="#ppt_w"/>
                                          </p:val>
                                        </p:tav>
                                      </p:tavLst>
                                    </p:anim>
                                    <p:anim calcmode="lin" valueType="num">
                                      <p:cBhvr>
                                        <p:cTn id="25" dur="1000" fill="hold"/>
                                        <p:tgtEl>
                                          <p:spTgt spid="567312"/>
                                        </p:tgtEl>
                                        <p:attrNameLst>
                                          <p:attrName>ppt_h</p:attrName>
                                        </p:attrNameLst>
                                      </p:cBhvr>
                                      <p:tavLst>
                                        <p:tav tm="0">
                                          <p:val>
                                            <p:strVal val="#ppt_h"/>
                                          </p:val>
                                        </p:tav>
                                        <p:tav tm="100000">
                                          <p:val>
                                            <p:strVal val="#ppt_h"/>
                                          </p:val>
                                        </p:tav>
                                      </p:tavLst>
                                    </p:anim>
                                    <p:animEffect transition="in" filter="fade">
                                      <p:cBhvr>
                                        <p:cTn id="26" dur="1000"/>
                                        <p:tgtEl>
                                          <p:spTgt spid="567312"/>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567313"/>
                                        </p:tgtEl>
                                        <p:attrNameLst>
                                          <p:attrName>style.visibility</p:attrName>
                                        </p:attrNameLst>
                                      </p:cBhvr>
                                      <p:to>
                                        <p:strVal val="visible"/>
                                      </p:to>
                                    </p:set>
                                    <p:anim calcmode="lin" valueType="num">
                                      <p:cBhvr>
                                        <p:cTn id="31" dur="1000" fill="hold"/>
                                        <p:tgtEl>
                                          <p:spTgt spid="567313"/>
                                        </p:tgtEl>
                                        <p:attrNameLst>
                                          <p:attrName>ppt_w</p:attrName>
                                        </p:attrNameLst>
                                      </p:cBhvr>
                                      <p:tavLst>
                                        <p:tav tm="0">
                                          <p:val>
                                            <p:strVal val="#ppt_w*0.70"/>
                                          </p:val>
                                        </p:tav>
                                        <p:tav tm="100000">
                                          <p:val>
                                            <p:strVal val="#ppt_w"/>
                                          </p:val>
                                        </p:tav>
                                      </p:tavLst>
                                    </p:anim>
                                    <p:anim calcmode="lin" valueType="num">
                                      <p:cBhvr>
                                        <p:cTn id="32" dur="1000" fill="hold"/>
                                        <p:tgtEl>
                                          <p:spTgt spid="567313"/>
                                        </p:tgtEl>
                                        <p:attrNameLst>
                                          <p:attrName>ppt_h</p:attrName>
                                        </p:attrNameLst>
                                      </p:cBhvr>
                                      <p:tavLst>
                                        <p:tav tm="0">
                                          <p:val>
                                            <p:strVal val="#ppt_h"/>
                                          </p:val>
                                        </p:tav>
                                        <p:tav tm="100000">
                                          <p:val>
                                            <p:strVal val="#ppt_h"/>
                                          </p:val>
                                        </p:tav>
                                      </p:tavLst>
                                    </p:anim>
                                    <p:animEffect transition="in" filter="fade">
                                      <p:cBhvr>
                                        <p:cTn id="33" dur="1000"/>
                                        <p:tgtEl>
                                          <p:spTgt spid="567313"/>
                                        </p:tgtEl>
                                      </p:cBhvr>
                                    </p:animEffect>
                                  </p:childTnLst>
                                </p:cTn>
                              </p:par>
                              <p:par>
                                <p:cTn id="34" presetID="55" presetClass="entr" presetSubtype="0" fill="hold" nodeType="withEffect">
                                  <p:stCondLst>
                                    <p:cond delay="0"/>
                                  </p:stCondLst>
                                  <p:childTnLst>
                                    <p:set>
                                      <p:cBhvr>
                                        <p:cTn id="35" dur="1" fill="hold">
                                          <p:stCondLst>
                                            <p:cond delay="0"/>
                                          </p:stCondLst>
                                        </p:cTn>
                                        <p:tgtEl>
                                          <p:spTgt spid="567314"/>
                                        </p:tgtEl>
                                        <p:attrNameLst>
                                          <p:attrName>style.visibility</p:attrName>
                                        </p:attrNameLst>
                                      </p:cBhvr>
                                      <p:to>
                                        <p:strVal val="visible"/>
                                      </p:to>
                                    </p:set>
                                    <p:anim calcmode="lin" valueType="num">
                                      <p:cBhvr>
                                        <p:cTn id="36" dur="1000" fill="hold"/>
                                        <p:tgtEl>
                                          <p:spTgt spid="567314"/>
                                        </p:tgtEl>
                                        <p:attrNameLst>
                                          <p:attrName>ppt_w</p:attrName>
                                        </p:attrNameLst>
                                      </p:cBhvr>
                                      <p:tavLst>
                                        <p:tav tm="0">
                                          <p:val>
                                            <p:strVal val="#ppt_w*0.70"/>
                                          </p:val>
                                        </p:tav>
                                        <p:tav tm="100000">
                                          <p:val>
                                            <p:strVal val="#ppt_w"/>
                                          </p:val>
                                        </p:tav>
                                      </p:tavLst>
                                    </p:anim>
                                    <p:anim calcmode="lin" valueType="num">
                                      <p:cBhvr>
                                        <p:cTn id="37" dur="1000" fill="hold"/>
                                        <p:tgtEl>
                                          <p:spTgt spid="567314"/>
                                        </p:tgtEl>
                                        <p:attrNameLst>
                                          <p:attrName>ppt_h</p:attrName>
                                        </p:attrNameLst>
                                      </p:cBhvr>
                                      <p:tavLst>
                                        <p:tav tm="0">
                                          <p:val>
                                            <p:strVal val="#ppt_h"/>
                                          </p:val>
                                        </p:tav>
                                        <p:tav tm="100000">
                                          <p:val>
                                            <p:strVal val="#ppt_h"/>
                                          </p:val>
                                        </p:tav>
                                      </p:tavLst>
                                    </p:anim>
                                    <p:animEffect transition="in" filter="fade">
                                      <p:cBhvr>
                                        <p:cTn id="38" dur="1000"/>
                                        <p:tgtEl>
                                          <p:spTgt spid="567314"/>
                                        </p:tgtEl>
                                      </p:cBhvr>
                                    </p:animEffect>
                                  </p:childTnLst>
                                </p:cTn>
                              </p:par>
                              <p:par>
                                <p:cTn id="39" presetID="55" presetClass="entr" presetSubtype="0" fill="hold" nodeType="withEffect">
                                  <p:stCondLst>
                                    <p:cond delay="0"/>
                                  </p:stCondLst>
                                  <p:childTnLst>
                                    <p:set>
                                      <p:cBhvr>
                                        <p:cTn id="40" dur="1" fill="hold">
                                          <p:stCondLst>
                                            <p:cond delay="0"/>
                                          </p:stCondLst>
                                        </p:cTn>
                                        <p:tgtEl>
                                          <p:spTgt spid="567315"/>
                                        </p:tgtEl>
                                        <p:attrNameLst>
                                          <p:attrName>style.visibility</p:attrName>
                                        </p:attrNameLst>
                                      </p:cBhvr>
                                      <p:to>
                                        <p:strVal val="visible"/>
                                      </p:to>
                                    </p:set>
                                    <p:anim calcmode="lin" valueType="num">
                                      <p:cBhvr>
                                        <p:cTn id="41" dur="1000" fill="hold"/>
                                        <p:tgtEl>
                                          <p:spTgt spid="567315"/>
                                        </p:tgtEl>
                                        <p:attrNameLst>
                                          <p:attrName>ppt_w</p:attrName>
                                        </p:attrNameLst>
                                      </p:cBhvr>
                                      <p:tavLst>
                                        <p:tav tm="0">
                                          <p:val>
                                            <p:strVal val="#ppt_w*0.70"/>
                                          </p:val>
                                        </p:tav>
                                        <p:tav tm="100000">
                                          <p:val>
                                            <p:strVal val="#ppt_w"/>
                                          </p:val>
                                        </p:tav>
                                      </p:tavLst>
                                    </p:anim>
                                    <p:anim calcmode="lin" valueType="num">
                                      <p:cBhvr>
                                        <p:cTn id="42" dur="1000" fill="hold"/>
                                        <p:tgtEl>
                                          <p:spTgt spid="567315"/>
                                        </p:tgtEl>
                                        <p:attrNameLst>
                                          <p:attrName>ppt_h</p:attrName>
                                        </p:attrNameLst>
                                      </p:cBhvr>
                                      <p:tavLst>
                                        <p:tav tm="0">
                                          <p:val>
                                            <p:strVal val="#ppt_h"/>
                                          </p:val>
                                        </p:tav>
                                        <p:tav tm="100000">
                                          <p:val>
                                            <p:strVal val="#ppt_h"/>
                                          </p:val>
                                        </p:tav>
                                      </p:tavLst>
                                    </p:anim>
                                    <p:animEffect transition="in" filter="fade">
                                      <p:cBhvr>
                                        <p:cTn id="43" dur="1000"/>
                                        <p:tgtEl>
                                          <p:spTgt spid="567315"/>
                                        </p:tgtEl>
                                      </p:cBhvr>
                                    </p:animEffect>
                                  </p:childTnLst>
                                </p:cTn>
                              </p:par>
                              <p:par>
                                <p:cTn id="44" presetID="55" presetClass="entr" presetSubtype="0" fill="hold" nodeType="withEffect">
                                  <p:stCondLst>
                                    <p:cond delay="0"/>
                                  </p:stCondLst>
                                  <p:childTnLst>
                                    <p:set>
                                      <p:cBhvr>
                                        <p:cTn id="45" dur="1" fill="hold">
                                          <p:stCondLst>
                                            <p:cond delay="0"/>
                                          </p:stCondLst>
                                        </p:cTn>
                                        <p:tgtEl>
                                          <p:spTgt spid="567316"/>
                                        </p:tgtEl>
                                        <p:attrNameLst>
                                          <p:attrName>style.visibility</p:attrName>
                                        </p:attrNameLst>
                                      </p:cBhvr>
                                      <p:to>
                                        <p:strVal val="visible"/>
                                      </p:to>
                                    </p:set>
                                    <p:anim calcmode="lin" valueType="num">
                                      <p:cBhvr>
                                        <p:cTn id="46" dur="1000" fill="hold"/>
                                        <p:tgtEl>
                                          <p:spTgt spid="567316"/>
                                        </p:tgtEl>
                                        <p:attrNameLst>
                                          <p:attrName>ppt_w</p:attrName>
                                        </p:attrNameLst>
                                      </p:cBhvr>
                                      <p:tavLst>
                                        <p:tav tm="0">
                                          <p:val>
                                            <p:strVal val="#ppt_w*0.70"/>
                                          </p:val>
                                        </p:tav>
                                        <p:tav tm="100000">
                                          <p:val>
                                            <p:strVal val="#ppt_w"/>
                                          </p:val>
                                        </p:tav>
                                      </p:tavLst>
                                    </p:anim>
                                    <p:anim calcmode="lin" valueType="num">
                                      <p:cBhvr>
                                        <p:cTn id="47" dur="1000" fill="hold"/>
                                        <p:tgtEl>
                                          <p:spTgt spid="567316"/>
                                        </p:tgtEl>
                                        <p:attrNameLst>
                                          <p:attrName>ppt_h</p:attrName>
                                        </p:attrNameLst>
                                      </p:cBhvr>
                                      <p:tavLst>
                                        <p:tav tm="0">
                                          <p:val>
                                            <p:strVal val="#ppt_h"/>
                                          </p:val>
                                        </p:tav>
                                        <p:tav tm="100000">
                                          <p:val>
                                            <p:strVal val="#ppt_h"/>
                                          </p:val>
                                        </p:tav>
                                      </p:tavLst>
                                    </p:anim>
                                    <p:animEffect transition="in" filter="fade">
                                      <p:cBhvr>
                                        <p:cTn id="48" dur="1000"/>
                                        <p:tgtEl>
                                          <p:spTgt spid="567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1116013" y="1341438"/>
            <a:ext cx="6767512"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16280" indent="-71628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20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zh-CN" altLang="en-US"/>
              <a:t>则根据</a:t>
            </a:r>
            <a:r>
              <a:rPr kumimoji="1" lang="zh-CN" altLang="en-US">
                <a:solidFill>
                  <a:srgbClr val="0000FF"/>
                </a:solidFill>
              </a:rPr>
              <a:t>根与系数的关系</a:t>
            </a:r>
            <a:r>
              <a:rPr kumimoji="1" lang="zh-CN" altLang="en-US"/>
              <a:t>有如下结论：</a:t>
            </a:r>
          </a:p>
        </p:txBody>
      </p:sp>
      <p:sp>
        <p:nvSpPr>
          <p:cNvPr id="80899" name="Rectangle 3"/>
          <p:cNvSpPr>
            <a:spLocks noChangeArrowheads="1"/>
          </p:cNvSpPr>
          <p:nvPr/>
        </p:nvSpPr>
        <p:spPr bwMode="auto">
          <a:xfrm>
            <a:off x="3200400" y="2279650"/>
            <a:ext cx="6921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600">
                <a:solidFill>
                  <a:srgbClr val="000000"/>
                </a:solidFill>
                <a:latin typeface="华文楷体" panose="02010600040101010101" pitchFamily="2" charset="-122"/>
                <a:ea typeface="华文楷体" panose="02010600040101010101" pitchFamily="2" charset="-122"/>
              </a:rPr>
              <a:t>：</a:t>
            </a:r>
            <a:endParaRPr lang="zh-CN" altLang="en-US" sz="1100"/>
          </a:p>
          <a:p>
            <a:pPr algn="ctr">
              <a:lnSpc>
                <a:spcPct val="85000"/>
              </a:lnSpc>
              <a:spcBef>
                <a:spcPct val="20000"/>
              </a:spcBef>
              <a:buClr>
                <a:schemeClr val="accent2"/>
              </a:buClr>
              <a:buFont typeface="Wingdings" panose="05000000000000000000" pitchFamily="2" charset="2"/>
              <a:buNone/>
            </a:pPr>
            <a:r>
              <a:rPr lang="zh-CN" altLang="en-US" sz="1600">
                <a:solidFill>
                  <a:srgbClr val="000000"/>
                </a:solidFill>
                <a:latin typeface="Arial" panose="020B0604020202020204" pitchFamily="34" charset="0"/>
                <a:ea typeface="华文楷体" panose="02010600040101010101" pitchFamily="2" charset="-122"/>
              </a:rPr>
              <a:t>        </a:t>
            </a:r>
            <a:r>
              <a:rPr lang="zh-CN" altLang="en-US" sz="1600">
                <a:solidFill>
                  <a:srgbClr val="000000"/>
                </a:solidFill>
                <a:latin typeface="华文楷体" panose="02010600040101010101" pitchFamily="2" charset="-122"/>
                <a:ea typeface="华文楷体" panose="02010600040101010101" pitchFamily="2" charset="-122"/>
              </a:rPr>
              <a:t> </a:t>
            </a:r>
            <a:endParaRPr lang="zh-CN" altLang="en-US" sz="1800">
              <a:latin typeface="Arial" panose="020B0604020202020204" pitchFamily="34" charset="0"/>
              <a:ea typeface="宋体" panose="02010600030101010101" pitchFamily="2" charset="-122"/>
            </a:endParaRPr>
          </a:p>
        </p:txBody>
      </p:sp>
      <p:sp>
        <p:nvSpPr>
          <p:cNvPr id="80900" name="Rectangle 4"/>
          <p:cNvSpPr>
            <a:spLocks noChangeArrowheads="1"/>
          </p:cNvSpPr>
          <p:nvPr/>
        </p:nvSpPr>
        <p:spPr bwMode="auto">
          <a:xfrm>
            <a:off x="3200400" y="4241800"/>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80901" name="Rectangle 5"/>
          <p:cNvSpPr>
            <a:spLocks noChangeArrowheads="1"/>
          </p:cNvSpPr>
          <p:nvPr/>
        </p:nvSpPr>
        <p:spPr bwMode="auto">
          <a:xfrm>
            <a:off x="2976563" y="2944813"/>
            <a:ext cx="971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80902" name="Rectangle 7"/>
          <p:cNvSpPr>
            <a:spLocks noChangeArrowheads="1"/>
          </p:cNvSpPr>
          <p:nvPr/>
        </p:nvSpPr>
        <p:spPr bwMode="auto">
          <a:xfrm>
            <a:off x="2976563" y="3576638"/>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603144" name="Rectangle 8"/>
          <p:cNvSpPr>
            <a:spLocks noChangeArrowheads="1"/>
          </p:cNvSpPr>
          <p:nvPr/>
        </p:nvSpPr>
        <p:spPr bwMode="auto">
          <a:xfrm>
            <a:off x="542925" y="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dirty="0">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80904" name="Rectangle 10"/>
          <p:cNvSpPr>
            <a:spLocks noChangeArrowheads="1"/>
          </p:cNvSpPr>
          <p:nvPr/>
        </p:nvSpPr>
        <p:spPr bwMode="auto">
          <a:xfrm>
            <a:off x="655638" y="2274888"/>
            <a:ext cx="7618412" cy="2132012"/>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marL="716280" indent="-71628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25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en-US" altLang="zh-CN"/>
              <a:t>①</a:t>
            </a:r>
            <a:r>
              <a:rPr kumimoji="1" lang="zh-CN" altLang="en-US"/>
              <a:t>、方程各系数</a:t>
            </a:r>
            <a:r>
              <a:rPr kumimoji="1" lang="zh-CN" altLang="en-US">
                <a:solidFill>
                  <a:srgbClr val="FF0000"/>
                </a:solidFill>
              </a:rPr>
              <a:t>符号有异</a:t>
            </a:r>
            <a:r>
              <a:rPr kumimoji="1" lang="zh-CN" altLang="en-US"/>
              <a:t>，则系统不稳定。</a:t>
            </a:r>
          </a:p>
          <a:p>
            <a:pPr eaLnBrk="1" hangingPunct="1">
              <a:lnSpc>
                <a:spcPct val="150000"/>
              </a:lnSpc>
              <a:spcBef>
                <a:spcPct val="25000"/>
              </a:spcBef>
              <a:buClr>
                <a:schemeClr val="accent2"/>
              </a:buClr>
              <a:buFont typeface="Wingdings" panose="05000000000000000000" pitchFamily="2" charset="2"/>
              <a:buNone/>
            </a:pPr>
            <a:r>
              <a:rPr kumimoji="1" lang="zh-CN" altLang="en-US">
                <a:latin typeface="华文中宋" panose="02010600040101010101" pitchFamily="2" charset="-122"/>
              </a:rPr>
              <a:t>  </a:t>
            </a:r>
            <a:r>
              <a:rPr kumimoji="1" lang="zh-CN" altLang="en-US"/>
              <a:t>②、方程各</a:t>
            </a:r>
            <a:r>
              <a:rPr kumimoji="1" lang="zh-CN" altLang="en-US">
                <a:solidFill>
                  <a:srgbClr val="FF0000"/>
                </a:solidFill>
              </a:rPr>
              <a:t>非零系数符号相同，但有缺项</a:t>
            </a:r>
            <a:r>
              <a:rPr kumimoji="1" lang="zh-CN" altLang="en-US"/>
              <a:t>（一些系数为</a:t>
            </a:r>
            <a:r>
              <a:rPr kumimoji="1" lang="en-US" altLang="zh-CN"/>
              <a:t>0</a:t>
            </a:r>
            <a:r>
              <a:rPr kumimoji="1" lang="zh-CN" altLang="en-US"/>
              <a:t>），则系统不渐近稳定。</a:t>
            </a:r>
          </a:p>
        </p:txBody>
      </p:sp>
      <p:sp>
        <p:nvSpPr>
          <p:cNvPr id="9" name="日期占位符 8"/>
          <p:cNvSpPr>
            <a:spLocks noGrp="1"/>
          </p:cNvSpPr>
          <p:nvPr>
            <p:ph type="dt" sz="quarter" idx="10"/>
          </p:nvPr>
        </p:nvSpPr>
        <p:spPr/>
        <p:txBody>
          <a:bodyPr/>
          <a:lstStyle/>
          <a:p>
            <a:pPr>
              <a:defRPr/>
            </a:pPr>
            <a:fld id="{9D2A0022-BAA4-46C2-B954-076333BC51E1}" type="datetime1">
              <a:rPr lang="zh-CN" altLang="en-US"/>
              <a:t>2026/4/28</a:t>
            </a:fld>
            <a:endParaRPr lang="zh-CN" altLang="en-US"/>
          </a:p>
        </p:txBody>
      </p:sp>
      <p:sp>
        <p:nvSpPr>
          <p:cNvPr id="2" name="墨迹 1"/>
          <p:cNvSpPr/>
          <p:nvPr/>
        </p:nvSpPr>
        <p:spPr bwMode="auto">
          <a:xfrm>
            <a:off x="2034360" y="501840"/>
            <a:ext cx="6246720" cy="3928680"/>
          </a:xfrm>
        </p:spPr>
      </p:sp>
    </p:spTree>
  </p:cSld>
  <p:clrMapOvr>
    <a:masterClrMapping/>
  </p:clrMapOvr>
  <mc:AlternateContent xmlns:mc="http://schemas.openxmlformats.org/markup-compatibility/2006" xmlns:p14="http://schemas.microsoft.com/office/powerpoint/2010/main">
    <mc:Choice Requires="p14">
      <p:transition spd="slow" p14:dur="2000" advTm="89028"/>
    </mc:Choice>
    <mc:Fallback xmlns="">
      <p:transition spd="slow" advTm="890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3" name="Rectangle 3"/>
          <p:cNvSpPr>
            <a:spLocks noChangeArrowheads="1"/>
          </p:cNvSpPr>
          <p:nvPr/>
        </p:nvSpPr>
        <p:spPr bwMode="auto">
          <a:xfrm>
            <a:off x="971550" y="1196975"/>
            <a:ext cx="7416800" cy="2601913"/>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5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zh-CN" altLang="en-US">
                <a:latin typeface="华文中宋" panose="02010600040101010101" pitchFamily="2" charset="-122"/>
              </a:rPr>
              <a:t>这些条件概括起来就是：</a:t>
            </a:r>
            <a:r>
              <a:rPr kumimoji="1" lang="zh-CN" altLang="en-US">
                <a:solidFill>
                  <a:srgbClr val="FF0000"/>
                </a:solidFill>
                <a:latin typeface="华文中宋" panose="02010600040101010101" pitchFamily="2" charset="-122"/>
              </a:rPr>
              <a:t>系统稳定的必要条件为特征方程的全部系数同号且无缺项。</a:t>
            </a:r>
          </a:p>
          <a:p>
            <a:pPr eaLnBrk="1" hangingPunct="1">
              <a:lnSpc>
                <a:spcPct val="140000"/>
              </a:lnSpc>
              <a:spcBef>
                <a:spcPct val="25000"/>
              </a:spcBef>
              <a:buClr>
                <a:schemeClr val="accent2"/>
              </a:buClr>
              <a:buFont typeface="Wingdings" panose="05000000000000000000" pitchFamily="2" charset="2"/>
              <a:buNone/>
            </a:pPr>
            <a:r>
              <a:rPr kumimoji="1" lang="zh-CN" altLang="en-US">
                <a:latin typeface="华文中宋" panose="02010600040101010101" pitchFamily="2" charset="-122"/>
              </a:rPr>
              <a:t>        注意：这仅为</a:t>
            </a:r>
            <a:r>
              <a:rPr kumimoji="1" lang="zh-CN" altLang="en-US">
                <a:solidFill>
                  <a:srgbClr val="FF0000"/>
                </a:solidFill>
                <a:latin typeface="华文中宋" panose="02010600040101010101" pitchFamily="2" charset="-122"/>
              </a:rPr>
              <a:t>必要条件</a:t>
            </a:r>
            <a:r>
              <a:rPr kumimoji="1" lang="zh-CN" altLang="en-US">
                <a:latin typeface="华文中宋" panose="02010600040101010101" pitchFamily="2" charset="-122"/>
              </a:rPr>
              <a:t>，即不满足该条件必定不稳定，但若满足则不一定稳定。</a:t>
            </a:r>
          </a:p>
        </p:txBody>
      </p:sp>
      <p:sp>
        <p:nvSpPr>
          <p:cNvPr id="568326" name="Rectangle 6"/>
          <p:cNvSpPr>
            <a:spLocks noChangeArrowheads="1"/>
          </p:cNvSpPr>
          <p:nvPr/>
        </p:nvSpPr>
        <p:spPr bwMode="auto">
          <a:xfrm>
            <a:off x="661988" y="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568328" name="Rectangle 8"/>
          <p:cNvSpPr>
            <a:spLocks noChangeArrowheads="1"/>
          </p:cNvSpPr>
          <p:nvPr/>
        </p:nvSpPr>
        <p:spPr bwMode="auto">
          <a:xfrm>
            <a:off x="960438" y="5524500"/>
            <a:ext cx="6684962"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5000"/>
              </a:spcBef>
              <a:buClr>
                <a:schemeClr val="accent2"/>
              </a:buClr>
              <a:buFont typeface="Wingdings" panose="05000000000000000000" pitchFamily="2" charset="2"/>
              <a:buNone/>
            </a:pPr>
            <a:r>
              <a:rPr kumimoji="1" lang="zh-CN" altLang="en-US">
                <a:latin typeface="Times New Roman" panose="02020603050405020304" pitchFamily="18" charset="0"/>
              </a:rPr>
              <a:t>这时要用到</a:t>
            </a:r>
            <a:r>
              <a:rPr kumimoji="1" lang="en-US" altLang="zh-CN">
                <a:solidFill>
                  <a:srgbClr val="FF0000"/>
                </a:solidFill>
                <a:latin typeface="Times New Roman" panose="02020603050405020304" pitchFamily="18" charset="0"/>
              </a:rPr>
              <a:t>Routh</a:t>
            </a:r>
            <a:r>
              <a:rPr kumimoji="1" lang="zh-CN" altLang="en-US">
                <a:solidFill>
                  <a:srgbClr val="FF0000"/>
                </a:solidFill>
                <a:latin typeface="Times New Roman" panose="02020603050405020304" pitchFamily="18" charset="0"/>
              </a:rPr>
              <a:t>－</a:t>
            </a:r>
            <a:r>
              <a:rPr kumimoji="1" lang="en-US" altLang="zh-CN">
                <a:solidFill>
                  <a:srgbClr val="FF0000"/>
                </a:solidFill>
                <a:latin typeface="Times New Roman" panose="02020603050405020304" pitchFamily="18" charset="0"/>
              </a:rPr>
              <a:t>Hurwitz</a:t>
            </a:r>
            <a:r>
              <a:rPr kumimoji="1" lang="zh-CN" altLang="en-US">
                <a:latin typeface="Times New Roman" panose="02020603050405020304" pitchFamily="18" charset="0"/>
              </a:rPr>
              <a:t>判据来判断。</a:t>
            </a:r>
          </a:p>
        </p:txBody>
      </p:sp>
      <p:graphicFrame>
        <p:nvGraphicFramePr>
          <p:cNvPr id="568329" name="Object 2"/>
          <p:cNvGraphicFramePr>
            <a:graphicFrameLocks noGrp="1" noChangeAspect="1"/>
          </p:cNvGraphicFramePr>
          <p:nvPr>
            <p:ph sz="half" idx="1"/>
          </p:nvPr>
        </p:nvGraphicFramePr>
        <p:xfrm>
          <a:off x="1943100" y="4033838"/>
          <a:ext cx="3927475" cy="509587"/>
        </p:xfrm>
        <a:graphic>
          <a:graphicData uri="http://schemas.openxmlformats.org/presentationml/2006/ole">
            <mc:AlternateContent xmlns:mc="http://schemas.openxmlformats.org/markup-compatibility/2006">
              <mc:Choice xmlns:v="urn:schemas-microsoft-com:vml" Requires="v">
                <p:oleObj name="公式" r:id="rId3" imgW="1663700" imgH="215900" progId="Equation.3">
                  <p:embed/>
                </p:oleObj>
              </mc:Choice>
              <mc:Fallback>
                <p:oleObj name="公式" r:id="rId3" imgW="1663700" imgH="215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4033838"/>
                        <a:ext cx="3927475"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8330" name="Object 3"/>
          <p:cNvGraphicFramePr>
            <a:graphicFrameLocks noChangeAspect="1"/>
          </p:cNvGraphicFramePr>
          <p:nvPr/>
        </p:nvGraphicFramePr>
        <p:xfrm>
          <a:off x="1884363" y="4516438"/>
          <a:ext cx="5156200" cy="1019175"/>
        </p:xfrm>
        <a:graphic>
          <a:graphicData uri="http://schemas.openxmlformats.org/presentationml/2006/ole">
            <mc:AlternateContent xmlns:mc="http://schemas.openxmlformats.org/markup-compatibility/2006">
              <mc:Choice xmlns:v="urn:schemas-microsoft-com:vml" Requires="v">
                <p:oleObj name="公式" r:id="rId5" imgW="2184400" imgH="431800" progId="Equation.3">
                  <p:embed/>
                </p:oleObj>
              </mc:Choice>
              <mc:Fallback>
                <p:oleObj name="公式" r:id="rId5" imgW="2184400" imgH="431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4363" y="4516438"/>
                        <a:ext cx="5156200" cy="1019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日期占位符 8"/>
          <p:cNvSpPr>
            <a:spLocks noGrp="1"/>
          </p:cNvSpPr>
          <p:nvPr>
            <p:ph type="dt" sz="quarter" idx="10"/>
          </p:nvPr>
        </p:nvSpPr>
        <p:spPr/>
        <p:txBody>
          <a:bodyPr/>
          <a:lstStyle/>
          <a:p>
            <a:pPr>
              <a:defRPr/>
            </a:pPr>
            <a:fld id="{F3082041-BC27-4C67-99FD-1F10F2CD1DC6}" type="datetime1">
              <a:rPr lang="zh-CN" altLang="en-US"/>
              <a:t>2026/4/28</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53491"/>
    </mc:Choice>
    <mc:Fallback xmlns="">
      <p:transition spd="slow" advTm="25349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68323"/>
                                        </p:tgtEl>
                                        <p:attrNameLst>
                                          <p:attrName>style.visibility</p:attrName>
                                        </p:attrNameLst>
                                      </p:cBhvr>
                                      <p:to>
                                        <p:strVal val="visible"/>
                                      </p:to>
                                    </p:set>
                                    <p:anim calcmode="lin" valueType="num">
                                      <p:cBhvr>
                                        <p:cTn id="7" dur="1000" fill="hold"/>
                                        <p:tgtEl>
                                          <p:spTgt spid="568323"/>
                                        </p:tgtEl>
                                        <p:attrNameLst>
                                          <p:attrName>ppt_w</p:attrName>
                                        </p:attrNameLst>
                                      </p:cBhvr>
                                      <p:tavLst>
                                        <p:tav tm="0">
                                          <p:val>
                                            <p:strVal val="#ppt_w*0.70"/>
                                          </p:val>
                                        </p:tav>
                                        <p:tav tm="100000">
                                          <p:val>
                                            <p:strVal val="#ppt_w"/>
                                          </p:val>
                                        </p:tav>
                                      </p:tavLst>
                                    </p:anim>
                                    <p:anim calcmode="lin" valueType="num">
                                      <p:cBhvr>
                                        <p:cTn id="8" dur="1000" fill="hold"/>
                                        <p:tgtEl>
                                          <p:spTgt spid="568323"/>
                                        </p:tgtEl>
                                        <p:attrNameLst>
                                          <p:attrName>ppt_h</p:attrName>
                                        </p:attrNameLst>
                                      </p:cBhvr>
                                      <p:tavLst>
                                        <p:tav tm="0">
                                          <p:val>
                                            <p:strVal val="#ppt_h"/>
                                          </p:val>
                                        </p:tav>
                                        <p:tav tm="100000">
                                          <p:val>
                                            <p:strVal val="#ppt_h"/>
                                          </p:val>
                                        </p:tav>
                                      </p:tavLst>
                                    </p:anim>
                                    <p:animEffect transition="in" filter="fade">
                                      <p:cBhvr>
                                        <p:cTn id="9" dur="1000"/>
                                        <p:tgtEl>
                                          <p:spTgt spid="568323"/>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568329"/>
                                        </p:tgtEl>
                                        <p:attrNameLst>
                                          <p:attrName>style.visibility</p:attrName>
                                        </p:attrNameLst>
                                      </p:cBhvr>
                                      <p:to>
                                        <p:strVal val="visible"/>
                                      </p:to>
                                    </p:set>
                                    <p:anim calcmode="lin" valueType="num">
                                      <p:cBhvr>
                                        <p:cTn id="14" dur="1000" fill="hold"/>
                                        <p:tgtEl>
                                          <p:spTgt spid="568329"/>
                                        </p:tgtEl>
                                        <p:attrNameLst>
                                          <p:attrName>ppt_w</p:attrName>
                                        </p:attrNameLst>
                                      </p:cBhvr>
                                      <p:tavLst>
                                        <p:tav tm="0">
                                          <p:val>
                                            <p:strVal val="#ppt_w*0.70"/>
                                          </p:val>
                                        </p:tav>
                                        <p:tav tm="100000">
                                          <p:val>
                                            <p:strVal val="#ppt_w"/>
                                          </p:val>
                                        </p:tav>
                                      </p:tavLst>
                                    </p:anim>
                                    <p:anim calcmode="lin" valueType="num">
                                      <p:cBhvr>
                                        <p:cTn id="15" dur="1000" fill="hold"/>
                                        <p:tgtEl>
                                          <p:spTgt spid="568329"/>
                                        </p:tgtEl>
                                        <p:attrNameLst>
                                          <p:attrName>ppt_h</p:attrName>
                                        </p:attrNameLst>
                                      </p:cBhvr>
                                      <p:tavLst>
                                        <p:tav tm="0">
                                          <p:val>
                                            <p:strVal val="#ppt_h"/>
                                          </p:val>
                                        </p:tav>
                                        <p:tav tm="100000">
                                          <p:val>
                                            <p:strVal val="#ppt_h"/>
                                          </p:val>
                                        </p:tav>
                                      </p:tavLst>
                                    </p:anim>
                                    <p:animEffect transition="in" filter="fade">
                                      <p:cBhvr>
                                        <p:cTn id="16" dur="1000"/>
                                        <p:tgtEl>
                                          <p:spTgt spid="568329"/>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568330"/>
                                        </p:tgtEl>
                                        <p:attrNameLst>
                                          <p:attrName>style.visibility</p:attrName>
                                        </p:attrNameLst>
                                      </p:cBhvr>
                                      <p:to>
                                        <p:strVal val="visible"/>
                                      </p:to>
                                    </p:set>
                                    <p:anim calcmode="lin" valueType="num">
                                      <p:cBhvr>
                                        <p:cTn id="21" dur="1000" fill="hold"/>
                                        <p:tgtEl>
                                          <p:spTgt spid="568330"/>
                                        </p:tgtEl>
                                        <p:attrNameLst>
                                          <p:attrName>ppt_w</p:attrName>
                                        </p:attrNameLst>
                                      </p:cBhvr>
                                      <p:tavLst>
                                        <p:tav tm="0">
                                          <p:val>
                                            <p:strVal val="#ppt_w*0.70"/>
                                          </p:val>
                                        </p:tav>
                                        <p:tav tm="100000">
                                          <p:val>
                                            <p:strVal val="#ppt_w"/>
                                          </p:val>
                                        </p:tav>
                                      </p:tavLst>
                                    </p:anim>
                                    <p:anim calcmode="lin" valueType="num">
                                      <p:cBhvr>
                                        <p:cTn id="22" dur="1000" fill="hold"/>
                                        <p:tgtEl>
                                          <p:spTgt spid="568330"/>
                                        </p:tgtEl>
                                        <p:attrNameLst>
                                          <p:attrName>ppt_h</p:attrName>
                                        </p:attrNameLst>
                                      </p:cBhvr>
                                      <p:tavLst>
                                        <p:tav tm="0">
                                          <p:val>
                                            <p:strVal val="#ppt_h"/>
                                          </p:val>
                                        </p:tav>
                                        <p:tav tm="100000">
                                          <p:val>
                                            <p:strVal val="#ppt_h"/>
                                          </p:val>
                                        </p:tav>
                                      </p:tavLst>
                                    </p:anim>
                                    <p:animEffect transition="in" filter="fade">
                                      <p:cBhvr>
                                        <p:cTn id="23" dur="1000"/>
                                        <p:tgtEl>
                                          <p:spTgt spid="568330"/>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568328"/>
                                        </p:tgtEl>
                                        <p:attrNameLst>
                                          <p:attrName>style.visibility</p:attrName>
                                        </p:attrNameLst>
                                      </p:cBhvr>
                                      <p:to>
                                        <p:strVal val="visible"/>
                                      </p:to>
                                    </p:set>
                                    <p:anim calcmode="lin" valueType="num">
                                      <p:cBhvr>
                                        <p:cTn id="28" dur="1000" fill="hold"/>
                                        <p:tgtEl>
                                          <p:spTgt spid="568328"/>
                                        </p:tgtEl>
                                        <p:attrNameLst>
                                          <p:attrName>ppt_w</p:attrName>
                                        </p:attrNameLst>
                                      </p:cBhvr>
                                      <p:tavLst>
                                        <p:tav tm="0">
                                          <p:val>
                                            <p:strVal val="#ppt_w*0.70"/>
                                          </p:val>
                                        </p:tav>
                                        <p:tav tm="100000">
                                          <p:val>
                                            <p:strVal val="#ppt_w"/>
                                          </p:val>
                                        </p:tav>
                                      </p:tavLst>
                                    </p:anim>
                                    <p:anim calcmode="lin" valueType="num">
                                      <p:cBhvr>
                                        <p:cTn id="29" dur="1000" fill="hold"/>
                                        <p:tgtEl>
                                          <p:spTgt spid="568328"/>
                                        </p:tgtEl>
                                        <p:attrNameLst>
                                          <p:attrName>ppt_h</p:attrName>
                                        </p:attrNameLst>
                                      </p:cBhvr>
                                      <p:tavLst>
                                        <p:tav tm="0">
                                          <p:val>
                                            <p:strVal val="#ppt_h"/>
                                          </p:val>
                                        </p:tav>
                                        <p:tav tm="100000">
                                          <p:val>
                                            <p:strVal val="#ppt_h"/>
                                          </p:val>
                                        </p:tav>
                                      </p:tavLst>
                                    </p:anim>
                                    <p:animEffect transition="in" filter="fade">
                                      <p:cBhvr>
                                        <p:cTn id="30" dur="1000"/>
                                        <p:tgtEl>
                                          <p:spTgt spid="568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3" grpId="0" animBg="1"/>
      <p:bldP spid="56832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ChangeArrowheads="1"/>
          </p:cNvSpPr>
          <p:nvPr/>
        </p:nvSpPr>
        <p:spPr bwMode="auto">
          <a:xfrm>
            <a:off x="548676" y="857121"/>
            <a:ext cx="7836200" cy="4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en-US" altLang="zh-CN" dirty="0">
                <a:solidFill>
                  <a:srgbClr val="FF3300"/>
                </a:solidFill>
                <a:latin typeface="华文中宋" panose="02010600040101010101" pitchFamily="2" charset="-122"/>
              </a:rPr>
              <a:t>2</a:t>
            </a:r>
            <a:r>
              <a:rPr kumimoji="1" lang="zh-CN" altLang="en-US" dirty="0">
                <a:solidFill>
                  <a:srgbClr val="FF3300"/>
                </a:solidFill>
                <a:latin typeface="华文中宋" panose="02010600040101010101" pitchFamily="2" charset="-122"/>
              </a:rPr>
              <a:t>、</a:t>
            </a:r>
            <a:r>
              <a:rPr kumimoji="1" lang="en-US" altLang="zh-CN" dirty="0">
                <a:solidFill>
                  <a:srgbClr val="FF3300"/>
                </a:solidFill>
                <a:latin typeface="华文中宋" panose="02010600040101010101" pitchFamily="2" charset="-122"/>
              </a:rPr>
              <a:t>Routh-Hurwitz</a:t>
            </a:r>
            <a:r>
              <a:rPr kumimoji="1" lang="zh-CN" altLang="en-US" dirty="0">
                <a:solidFill>
                  <a:srgbClr val="FF3300"/>
                </a:solidFill>
                <a:latin typeface="华文中宋" panose="02010600040101010101" pitchFamily="2" charset="-122"/>
              </a:rPr>
              <a:t>判据</a:t>
            </a:r>
            <a:r>
              <a:rPr kumimoji="1" lang="en-US" altLang="zh-CN" dirty="0">
                <a:solidFill>
                  <a:srgbClr val="FF3300"/>
                </a:solidFill>
                <a:latin typeface="华文中宋" panose="02010600040101010101" pitchFamily="2" charset="-122"/>
              </a:rPr>
              <a:t>----</a:t>
            </a:r>
            <a:r>
              <a:rPr kumimoji="1" lang="zh-CN" altLang="en-US" dirty="0">
                <a:solidFill>
                  <a:srgbClr val="FF3300"/>
                </a:solidFill>
                <a:latin typeface="华文中宋" panose="02010600040101010101" pitchFamily="2" charset="-122"/>
              </a:rPr>
              <a:t>代数判据</a:t>
            </a:r>
          </a:p>
        </p:txBody>
      </p:sp>
      <p:graphicFrame>
        <p:nvGraphicFramePr>
          <p:cNvPr id="82947" name="Object 8"/>
          <p:cNvGraphicFramePr>
            <a:graphicFrameLocks noGrp="1" noChangeAspect="1"/>
          </p:cNvGraphicFramePr>
          <p:nvPr>
            <p:ph sz="half" idx="1"/>
          </p:nvPr>
        </p:nvGraphicFramePr>
        <p:xfrm>
          <a:off x="1599572" y="1617332"/>
          <a:ext cx="5400675" cy="1127125"/>
        </p:xfrm>
        <a:graphic>
          <a:graphicData uri="http://schemas.openxmlformats.org/presentationml/2006/ole">
            <mc:AlternateContent xmlns:mc="http://schemas.openxmlformats.org/markup-compatibility/2006">
              <mc:Choice xmlns:v="urn:schemas-microsoft-com:vml" Requires="v">
                <p:oleObj name="公式" r:id="rId3" imgW="2311400" imgH="482600" progId="Equation.3">
                  <p:embed/>
                </p:oleObj>
              </mc:Choice>
              <mc:Fallback>
                <p:oleObj name="公式" r:id="rId3" imgW="2311400" imgH="482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9572" y="1617332"/>
                        <a:ext cx="5400675" cy="1127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9"/>
          <p:cNvGraphicFramePr>
            <a:graphicFrameLocks noChangeAspect="1"/>
          </p:cNvGraphicFramePr>
          <p:nvPr/>
        </p:nvGraphicFramePr>
        <p:xfrm>
          <a:off x="971550" y="4221163"/>
          <a:ext cx="5103813" cy="1601787"/>
        </p:xfrm>
        <a:graphic>
          <a:graphicData uri="http://schemas.openxmlformats.org/presentationml/2006/ole">
            <mc:AlternateContent xmlns:mc="http://schemas.openxmlformats.org/markup-compatibility/2006">
              <mc:Choice xmlns:v="urn:schemas-microsoft-com:vml" Requires="v">
                <p:oleObj name="公式" r:id="rId5" imgW="2184400" imgH="685800" progId="Equation.3">
                  <p:embed/>
                </p:oleObj>
              </mc:Choice>
              <mc:Fallback>
                <p:oleObj name="公式" r:id="rId5" imgW="2184400" imgH="6858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4221163"/>
                        <a:ext cx="5103813" cy="160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Rectangle 6"/>
          <p:cNvSpPr>
            <a:spLocks noChangeArrowheads="1"/>
          </p:cNvSpPr>
          <p:nvPr/>
        </p:nvSpPr>
        <p:spPr bwMode="auto">
          <a:xfrm>
            <a:off x="6300788" y="4581525"/>
            <a:ext cx="24479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solidFill>
                  <a:srgbClr val="9900FF"/>
                </a:solidFill>
                <a:latin typeface="华文中宋" panose="02010600040101010101" pitchFamily="2" charset="-122"/>
              </a:rPr>
              <a:t>依此类推</a:t>
            </a:r>
          </a:p>
          <a:p>
            <a:pPr eaLnBrk="1" hangingPunct="1">
              <a:lnSpc>
                <a:spcPct val="85000"/>
              </a:lnSpc>
              <a:spcBef>
                <a:spcPct val="20000"/>
              </a:spcBef>
              <a:buClr>
                <a:schemeClr val="accent2"/>
              </a:buClr>
              <a:buFont typeface="Wingdings" panose="05000000000000000000" pitchFamily="2" charset="2"/>
              <a:buNone/>
            </a:pPr>
            <a:r>
              <a:rPr kumimoji="1" lang="zh-CN" altLang="en-US">
                <a:solidFill>
                  <a:srgbClr val="9900FF"/>
                </a:solidFill>
                <a:latin typeface="华文中宋" panose="02010600040101010101" pitchFamily="2" charset="-122"/>
              </a:rPr>
              <a:t>排列到</a:t>
            </a:r>
            <a:r>
              <a:rPr kumimoji="1" lang="en-US" altLang="zh-CN">
                <a:solidFill>
                  <a:srgbClr val="9900FF"/>
                </a:solidFill>
                <a:latin typeface="华文中宋" panose="02010600040101010101" pitchFamily="2" charset="-122"/>
              </a:rPr>
              <a:t>a</a:t>
            </a:r>
            <a:r>
              <a:rPr kumimoji="1" lang="en-US" altLang="zh-CN" baseline="-25000">
                <a:solidFill>
                  <a:srgbClr val="9900FF"/>
                </a:solidFill>
                <a:latin typeface="华文中宋" panose="02010600040101010101" pitchFamily="2" charset="-122"/>
              </a:rPr>
              <a:t>0</a:t>
            </a:r>
            <a:r>
              <a:rPr kumimoji="1" lang="zh-CN" altLang="en-US">
                <a:solidFill>
                  <a:srgbClr val="9900FF"/>
                </a:solidFill>
                <a:latin typeface="华文中宋" panose="02010600040101010101" pitchFamily="2" charset="-122"/>
              </a:rPr>
              <a:t>为止</a:t>
            </a:r>
          </a:p>
        </p:txBody>
      </p:sp>
      <p:sp>
        <p:nvSpPr>
          <p:cNvPr id="17" name="Rectangle 7"/>
          <p:cNvSpPr>
            <a:spLocks noChangeArrowheads="1"/>
          </p:cNvSpPr>
          <p:nvPr/>
        </p:nvSpPr>
        <p:spPr bwMode="auto">
          <a:xfrm>
            <a:off x="452438" y="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18" name="Rectangle 9"/>
          <p:cNvSpPr>
            <a:spLocks noChangeArrowheads="1"/>
          </p:cNvSpPr>
          <p:nvPr/>
        </p:nvSpPr>
        <p:spPr bwMode="auto">
          <a:xfrm>
            <a:off x="495300" y="3313113"/>
            <a:ext cx="86487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sz="2400">
                <a:solidFill>
                  <a:srgbClr val="FF0000"/>
                </a:solidFill>
              </a:rPr>
              <a:t>第一步：</a:t>
            </a:r>
            <a:r>
              <a:rPr kumimoji="1" lang="zh-CN" altLang="en-US" sz="2400"/>
              <a:t>首先把该式的所有系数按照奇偶顺序排成两行：</a:t>
            </a:r>
          </a:p>
        </p:txBody>
      </p:sp>
      <p:sp>
        <p:nvSpPr>
          <p:cNvPr id="19" name="日期占位符 7"/>
          <p:cNvSpPr>
            <a:spLocks noGrp="1"/>
          </p:cNvSpPr>
          <p:nvPr>
            <p:ph type="dt" sz="quarter" idx="10"/>
          </p:nvPr>
        </p:nvSpPr>
        <p:spPr>
          <a:xfrm>
            <a:off x="0" y="6578600"/>
            <a:ext cx="1495425" cy="279400"/>
          </a:xfrm>
        </p:spPr>
        <p:txBody>
          <a:bodyPr/>
          <a:lstStyle/>
          <a:p>
            <a:pPr>
              <a:defRPr/>
            </a:pPr>
            <a:fld id="{14E06DA3-AFD1-4F1D-BC64-515FA79BDDA9}" type="datetime1">
              <a:rPr lang="zh-CN" altLang="en-US" sz="1400"/>
              <a:t>2026/4/28</a:t>
            </a:fld>
            <a:endParaRPr lang="en-US" altLang="zh-CN" sz="1400" dirty="0"/>
          </a:p>
        </p:txBody>
      </p:sp>
      <p:sp>
        <p:nvSpPr>
          <p:cNvPr id="2" name="墨迹 1"/>
          <p:cNvSpPr/>
          <p:nvPr/>
        </p:nvSpPr>
        <p:spPr bwMode="auto">
          <a:xfrm>
            <a:off x="1016640" y="4673880"/>
            <a:ext cx="4204080" cy="59652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549"/>
    </mc:Choice>
    <mc:Fallback xmlns="">
      <p:transition spd="slow" advTm="375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1000" fill="hold"/>
                                        <p:tgtEl>
                                          <p:spTgt spid="18"/>
                                        </p:tgtEl>
                                        <p:attrNameLst>
                                          <p:attrName>ppt_w</p:attrName>
                                        </p:attrNameLst>
                                      </p:cBhvr>
                                      <p:tavLst>
                                        <p:tav tm="0">
                                          <p:val>
                                            <p:strVal val="#ppt_w*0.70"/>
                                          </p:val>
                                        </p:tav>
                                        <p:tav tm="100000">
                                          <p:val>
                                            <p:strVal val="#ppt_w"/>
                                          </p:val>
                                        </p:tav>
                                      </p:tavLst>
                                    </p:anim>
                                    <p:anim calcmode="lin" valueType="num">
                                      <p:cBhvr>
                                        <p:cTn id="13" dur="1000" fill="hold"/>
                                        <p:tgtEl>
                                          <p:spTgt spid="18"/>
                                        </p:tgtEl>
                                        <p:attrNameLst>
                                          <p:attrName>ppt_h</p:attrName>
                                        </p:attrNameLst>
                                      </p:cBhvr>
                                      <p:tavLst>
                                        <p:tav tm="0">
                                          <p:val>
                                            <p:strVal val="#ppt_h"/>
                                          </p:val>
                                        </p:tav>
                                        <p:tav tm="100000">
                                          <p:val>
                                            <p:strVal val="#ppt_h"/>
                                          </p:val>
                                        </p:tav>
                                      </p:tavLst>
                                    </p:anim>
                                    <p:animEffect transition="in" filter="fade">
                                      <p:cBhvr>
                                        <p:cTn id="14" dur="10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1000" fill="hold"/>
                                        <p:tgtEl>
                                          <p:spTgt spid="15"/>
                                        </p:tgtEl>
                                        <p:attrNameLst>
                                          <p:attrName>ppt_w</p:attrName>
                                        </p:attrNameLst>
                                      </p:cBhvr>
                                      <p:tavLst>
                                        <p:tav tm="0">
                                          <p:val>
                                            <p:strVal val="#ppt_w*0.70"/>
                                          </p:val>
                                        </p:tav>
                                        <p:tav tm="100000">
                                          <p:val>
                                            <p:strVal val="#ppt_w"/>
                                          </p:val>
                                        </p:tav>
                                      </p:tavLst>
                                    </p:anim>
                                    <p:anim calcmode="lin" valueType="num">
                                      <p:cBhvr>
                                        <p:cTn id="20" dur="1000" fill="hold"/>
                                        <p:tgtEl>
                                          <p:spTgt spid="15"/>
                                        </p:tgtEl>
                                        <p:attrNameLst>
                                          <p:attrName>ppt_h</p:attrName>
                                        </p:attrNameLst>
                                      </p:cBhvr>
                                      <p:tavLst>
                                        <p:tav tm="0">
                                          <p:val>
                                            <p:strVal val="#ppt_h"/>
                                          </p:val>
                                        </p:tav>
                                        <p:tav tm="100000">
                                          <p:val>
                                            <p:strVal val="#ppt_h"/>
                                          </p:val>
                                        </p:tav>
                                      </p:tavLst>
                                    </p:anim>
                                    <p:animEffect transition="in" filter="fade">
                                      <p:cBhvr>
                                        <p:cTn id="21" dur="1000"/>
                                        <p:tgtEl>
                                          <p:spTgt spid="15"/>
                                        </p:tgtEl>
                                      </p:cBhvr>
                                    </p:animEffect>
                                  </p:childTnLst>
                                </p:cTn>
                              </p:par>
                            </p:childTnLst>
                          </p:cTn>
                        </p:par>
                        <p:par>
                          <p:cTn id="22" fill="hold">
                            <p:stCondLst>
                              <p:cond delay="1000"/>
                            </p:stCondLst>
                            <p:childTnLst>
                              <p:par>
                                <p:cTn id="23" presetID="55" presetClass="entr" presetSubtype="0"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1000" fill="hold"/>
                                        <p:tgtEl>
                                          <p:spTgt spid="16"/>
                                        </p:tgtEl>
                                        <p:attrNameLst>
                                          <p:attrName>ppt_w</p:attrName>
                                        </p:attrNameLst>
                                      </p:cBhvr>
                                      <p:tavLst>
                                        <p:tav tm="0">
                                          <p:val>
                                            <p:strVal val="#ppt_w*0.70"/>
                                          </p:val>
                                        </p:tav>
                                        <p:tav tm="100000">
                                          <p:val>
                                            <p:strVal val="#ppt_w"/>
                                          </p:val>
                                        </p:tav>
                                      </p:tavLst>
                                    </p:anim>
                                    <p:anim calcmode="lin" valueType="num">
                                      <p:cBhvr>
                                        <p:cTn id="26" dur="1000" fill="hold"/>
                                        <p:tgtEl>
                                          <p:spTgt spid="16"/>
                                        </p:tgtEl>
                                        <p:attrNameLst>
                                          <p:attrName>ppt_h</p:attrName>
                                        </p:attrNameLst>
                                      </p:cBhvr>
                                      <p:tavLst>
                                        <p:tav tm="0">
                                          <p:val>
                                            <p:strVal val="#ppt_h"/>
                                          </p:val>
                                        </p:tav>
                                        <p:tav tm="100000">
                                          <p:val>
                                            <p:strVal val="#ppt_h"/>
                                          </p:val>
                                        </p:tav>
                                      </p:tavLst>
                                    </p:anim>
                                    <p:animEffect transition="in" filter="fade">
                                      <p:cBhvr>
                                        <p:cTn id="2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8"/>
          <p:cNvSpPr>
            <a:spLocks noGrp="1"/>
          </p:cNvSpPr>
          <p:nvPr>
            <p:ph type="dt" sz="quarter" idx="10"/>
          </p:nvPr>
        </p:nvSpPr>
        <p:spPr/>
        <p:txBody>
          <a:bodyPr/>
          <a:lstStyle/>
          <a:p>
            <a:pPr>
              <a:defRPr/>
            </a:pPr>
            <a:fld id="{254AD63C-8835-44FE-9A37-37C4A86923ED}" type="datetime1">
              <a:rPr lang="zh-CN" altLang="en-US"/>
              <a:t>2026/4/28</a:t>
            </a:fld>
            <a:endParaRPr lang="zh-CN" altLang="en-US"/>
          </a:p>
        </p:txBody>
      </p:sp>
      <p:sp>
        <p:nvSpPr>
          <p:cNvPr id="83971" name="Rectangle 3"/>
          <p:cNvSpPr>
            <a:spLocks noChangeArrowheads="1"/>
          </p:cNvSpPr>
          <p:nvPr/>
        </p:nvSpPr>
        <p:spPr bwMode="auto">
          <a:xfrm>
            <a:off x="684213" y="1052513"/>
            <a:ext cx="748823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438275" indent="-143827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solidFill>
                  <a:srgbClr val="FF0000"/>
                </a:solidFill>
                <a:latin typeface="华文中宋" panose="02010600040101010101" pitchFamily="2" charset="-122"/>
              </a:rPr>
              <a:t>第二步：</a:t>
            </a:r>
            <a:r>
              <a:rPr kumimoji="1" lang="zh-CN" altLang="en-US">
                <a:latin typeface="华文中宋" panose="02010600040101010101" pitchFamily="2" charset="-122"/>
              </a:rPr>
              <a:t>以前两行为基础，计算下面各行，从而构成如下的数值表，称为</a:t>
            </a:r>
            <a:r>
              <a:rPr kumimoji="1" lang="zh-CN" altLang="en-US">
                <a:solidFill>
                  <a:srgbClr val="FF0000"/>
                </a:solidFill>
                <a:latin typeface="华文中宋" panose="02010600040101010101" pitchFamily="2" charset="-122"/>
              </a:rPr>
              <a:t>罗斯</a:t>
            </a:r>
            <a:r>
              <a:rPr kumimoji="1" lang="en-US" altLang="zh-CN">
                <a:solidFill>
                  <a:srgbClr val="FF0000"/>
                </a:solidFill>
                <a:latin typeface="华文中宋" panose="02010600040101010101" pitchFamily="2" charset="-122"/>
              </a:rPr>
              <a:t>—</a:t>
            </a:r>
            <a:r>
              <a:rPr kumimoji="1" lang="zh-CN" altLang="en-US">
                <a:solidFill>
                  <a:srgbClr val="FF0000"/>
                </a:solidFill>
                <a:latin typeface="华文中宋" panose="02010600040101010101" pitchFamily="2" charset="-122"/>
              </a:rPr>
              <a:t>霍维茨</a:t>
            </a:r>
            <a:r>
              <a:rPr kumimoji="1" lang="zh-CN" altLang="en-US">
                <a:latin typeface="华文中宋" panose="02010600040101010101" pitchFamily="2" charset="-122"/>
              </a:rPr>
              <a:t>阵列。</a:t>
            </a:r>
          </a:p>
        </p:txBody>
      </p:sp>
      <p:grpSp>
        <p:nvGrpSpPr>
          <p:cNvPr id="2" name="Group 4"/>
          <p:cNvGrpSpPr/>
          <p:nvPr/>
        </p:nvGrpSpPr>
        <p:grpSpPr bwMode="auto">
          <a:xfrm>
            <a:off x="752475" y="2151063"/>
            <a:ext cx="2952750" cy="2736850"/>
            <a:chOff x="1111" y="1710"/>
            <a:chExt cx="3020" cy="2280"/>
          </a:xfrm>
        </p:grpSpPr>
        <p:graphicFrame>
          <p:nvGraphicFramePr>
            <p:cNvPr id="83976" name="Object 7"/>
            <p:cNvGraphicFramePr>
              <a:graphicFrameLocks noChangeAspect="1"/>
            </p:cNvGraphicFramePr>
            <p:nvPr/>
          </p:nvGraphicFramePr>
          <p:xfrm>
            <a:off x="1111" y="1710"/>
            <a:ext cx="456" cy="2280"/>
          </p:xfrm>
          <a:graphic>
            <a:graphicData uri="http://schemas.openxmlformats.org/presentationml/2006/ole">
              <mc:AlternateContent xmlns:mc="http://schemas.openxmlformats.org/markup-compatibility/2006">
                <mc:Choice xmlns:v="urn:schemas-microsoft-com:vml" Requires="v">
                  <p:oleObj name="公式" r:id="rId3" imgW="330200" imgH="1651000" progId="Equation.3">
                    <p:embed/>
                  </p:oleObj>
                </mc:Choice>
                <mc:Fallback>
                  <p:oleObj name="公式" r:id="rId3" imgW="330200" imgH="16510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 y="1710"/>
                          <a:ext cx="456" cy="2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77" name="Object 8"/>
            <p:cNvGraphicFramePr>
              <a:graphicFrameLocks noChangeAspect="1"/>
            </p:cNvGraphicFramePr>
            <p:nvPr/>
          </p:nvGraphicFramePr>
          <p:xfrm>
            <a:off x="1784" y="1763"/>
            <a:ext cx="421" cy="2174"/>
          </p:xfrm>
          <a:graphic>
            <a:graphicData uri="http://schemas.openxmlformats.org/presentationml/2006/ole">
              <mc:AlternateContent xmlns:mc="http://schemas.openxmlformats.org/markup-compatibility/2006">
                <mc:Choice xmlns:v="urn:schemas-microsoft-com:vml" Requires="v">
                  <p:oleObj name="公式" r:id="rId5" imgW="304800" imgH="1574800" progId="Equation.3">
                    <p:embed/>
                  </p:oleObj>
                </mc:Choice>
                <mc:Fallback>
                  <p:oleObj name="公式" r:id="rId5" imgW="304800" imgH="1574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4" y="1763"/>
                          <a:ext cx="421" cy="2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78" name="Object 9"/>
            <p:cNvGraphicFramePr>
              <a:graphicFrameLocks noChangeAspect="1"/>
            </p:cNvGraphicFramePr>
            <p:nvPr/>
          </p:nvGraphicFramePr>
          <p:xfrm>
            <a:off x="2422" y="1762"/>
            <a:ext cx="421" cy="2175"/>
          </p:xfrm>
          <a:graphic>
            <a:graphicData uri="http://schemas.openxmlformats.org/presentationml/2006/ole">
              <mc:AlternateContent xmlns:mc="http://schemas.openxmlformats.org/markup-compatibility/2006">
                <mc:Choice xmlns:v="urn:schemas-microsoft-com:vml" Requires="v">
                  <p:oleObj name="公式" r:id="rId7" imgW="304800" imgH="1574800" progId="Equation.3">
                    <p:embed/>
                  </p:oleObj>
                </mc:Choice>
                <mc:Fallback>
                  <p:oleObj name="公式" r:id="rId7" imgW="304800" imgH="15748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2" y="1762"/>
                          <a:ext cx="421" cy="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79" name="Object 10"/>
            <p:cNvGraphicFramePr>
              <a:graphicFrameLocks noChangeAspect="1"/>
            </p:cNvGraphicFramePr>
            <p:nvPr/>
          </p:nvGraphicFramePr>
          <p:xfrm>
            <a:off x="3061" y="1772"/>
            <a:ext cx="1070" cy="2157"/>
          </p:xfrm>
          <a:graphic>
            <a:graphicData uri="http://schemas.openxmlformats.org/presentationml/2006/ole">
              <mc:AlternateContent xmlns:mc="http://schemas.openxmlformats.org/markup-compatibility/2006">
                <mc:Choice xmlns:v="urn:schemas-microsoft-com:vml" Requires="v">
                  <p:oleObj name="公式" r:id="rId9" imgW="774700" imgH="1562100" progId="Equation.3">
                    <p:embed/>
                  </p:oleObj>
                </mc:Choice>
                <mc:Fallback>
                  <p:oleObj name="公式" r:id="rId9" imgW="774700" imgH="15621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61" y="1772"/>
                          <a:ext cx="1070" cy="21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4" name="Rectangle 9"/>
          <p:cNvSpPr>
            <a:spLocks noChangeArrowheads="1"/>
          </p:cNvSpPr>
          <p:nvPr/>
        </p:nvSpPr>
        <p:spPr bwMode="auto">
          <a:xfrm>
            <a:off x="827088" y="26035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dirty="0">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graphicFrame>
        <p:nvGraphicFramePr>
          <p:cNvPr id="25" name="Object 11"/>
          <p:cNvGraphicFramePr>
            <a:graphicFrameLocks noGrp="1" noChangeAspect="1"/>
          </p:cNvGraphicFramePr>
          <p:nvPr>
            <p:ph sz="quarter" idx="4294967295"/>
          </p:nvPr>
        </p:nvGraphicFramePr>
        <p:xfrm>
          <a:off x="3974680" y="2574324"/>
          <a:ext cx="4745038" cy="944563"/>
        </p:xfrm>
        <a:graphic>
          <a:graphicData uri="http://schemas.openxmlformats.org/presentationml/2006/ole">
            <mc:AlternateContent xmlns:mc="http://schemas.openxmlformats.org/markup-compatibility/2006">
              <mc:Choice xmlns:v="urn:schemas-microsoft-com:vml" Requires="v">
                <p:oleObj name="公式" r:id="rId11" imgW="2298700" imgH="457200" progId="Equation.3">
                  <p:embed/>
                </p:oleObj>
              </mc:Choice>
              <mc:Fallback>
                <p:oleObj name="公式" r:id="rId11" imgW="2298700" imgH="4572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74680" y="2574324"/>
                        <a:ext cx="4745038" cy="944563"/>
                      </a:xfrm>
                      <a:prstGeom prst="rect">
                        <a:avLst/>
                      </a:prstGeom>
                      <a:solidFill>
                        <a:schemeClr val="bg1"/>
                      </a:solidFill>
                      <a:ln w="9525">
                        <a:solidFill>
                          <a:schemeClr val="accent2"/>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6" name="Object 12"/>
          <p:cNvGraphicFramePr>
            <a:graphicFrameLocks noGrp="1" noChangeAspect="1"/>
          </p:cNvGraphicFramePr>
          <p:nvPr>
            <p:ph sz="quarter" idx="4294967295"/>
          </p:nvPr>
        </p:nvGraphicFramePr>
        <p:xfrm>
          <a:off x="3705225" y="4104481"/>
          <a:ext cx="5329238" cy="1566863"/>
        </p:xfrm>
        <a:graphic>
          <a:graphicData uri="http://schemas.openxmlformats.org/presentationml/2006/ole">
            <mc:AlternateContent xmlns:mc="http://schemas.openxmlformats.org/markup-compatibility/2006">
              <mc:Choice xmlns:v="urn:schemas-microsoft-com:vml" Requires="v">
                <p:oleObj name="公式" r:id="rId13" imgW="3022600" imgH="889000" progId="Equation.3">
                  <p:embed/>
                </p:oleObj>
              </mc:Choice>
              <mc:Fallback>
                <p:oleObj name="公式" r:id="rId13" imgW="3022600" imgH="88900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05225" y="4104481"/>
                        <a:ext cx="5329238" cy="1566863"/>
                      </a:xfrm>
                      <a:prstGeom prst="rect">
                        <a:avLst/>
                      </a:prstGeom>
                      <a:solidFill>
                        <a:schemeClr val="bg1"/>
                      </a:solidFill>
                      <a:ln w="38100">
                        <a:solidFill>
                          <a:srgbClr val="008000"/>
                        </a:solidFill>
                        <a:miter lim="800000"/>
                        <a:headEnd/>
                        <a:tailEnd/>
                      </a:ln>
                      <a:effectLst>
                        <a:outerShdw dist="35921" dir="2700000" algn="ctr" rotWithShape="0">
                          <a:srgbClr val="808080"/>
                        </a:outerShdw>
                      </a:effectLst>
                    </p:spPr>
                  </p:pic>
                </p:oleObj>
              </mc:Fallback>
            </mc:AlternateContent>
          </a:graphicData>
        </a:graphic>
      </p:graphicFrame>
      <p:sp>
        <p:nvSpPr>
          <p:cNvPr id="3" name="墨迹 2"/>
          <p:cNvSpPr/>
          <p:nvPr/>
        </p:nvSpPr>
        <p:spPr bwMode="auto">
          <a:xfrm>
            <a:off x="700560" y="2591640"/>
            <a:ext cx="1365480" cy="111888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5349"/>
    </mc:Choice>
    <mc:Fallback xmlns="">
      <p:transition spd="slow" advTm="1553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strVal val="#ppt_w*0.70"/>
                                          </p:val>
                                        </p:tav>
                                        <p:tav tm="100000">
                                          <p:val>
                                            <p:strVal val="#ppt_w"/>
                                          </p:val>
                                        </p:tav>
                                      </p:tavLst>
                                    </p:anim>
                                    <p:anim calcmode="lin" valueType="num">
                                      <p:cBhvr>
                                        <p:cTn id="12" dur="1000" fill="hold"/>
                                        <p:tgtEl>
                                          <p:spTgt spid="2"/>
                                        </p:tgtEl>
                                        <p:attrNameLst>
                                          <p:attrName>ppt_h</p:attrName>
                                        </p:attrNameLst>
                                      </p:cBhvr>
                                      <p:tavLst>
                                        <p:tav tm="0">
                                          <p:val>
                                            <p:strVal val="#ppt_h"/>
                                          </p:val>
                                        </p:tav>
                                        <p:tav tm="100000">
                                          <p:val>
                                            <p:strVal val="#ppt_h"/>
                                          </p:val>
                                        </p:tav>
                                      </p:tavLst>
                                    </p:anim>
                                    <p:animEffect transition="in" filter="fade">
                                      <p:cBhvr>
                                        <p:cTn id="13" dur="1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 calcmode="lin" valueType="num">
                                      <p:cBhvr>
                                        <p:cTn id="18" dur="1000" fill="hold"/>
                                        <p:tgtEl>
                                          <p:spTgt spid="25"/>
                                        </p:tgtEl>
                                        <p:attrNameLst>
                                          <p:attrName>ppt_w</p:attrName>
                                        </p:attrNameLst>
                                      </p:cBhvr>
                                      <p:tavLst>
                                        <p:tav tm="0">
                                          <p:val>
                                            <p:strVal val="#ppt_w*0.70"/>
                                          </p:val>
                                        </p:tav>
                                        <p:tav tm="100000">
                                          <p:val>
                                            <p:strVal val="#ppt_w"/>
                                          </p:val>
                                        </p:tav>
                                      </p:tavLst>
                                    </p:anim>
                                    <p:anim calcmode="lin" valueType="num">
                                      <p:cBhvr>
                                        <p:cTn id="19" dur="1000" fill="hold"/>
                                        <p:tgtEl>
                                          <p:spTgt spid="25"/>
                                        </p:tgtEl>
                                        <p:attrNameLst>
                                          <p:attrName>ppt_h</p:attrName>
                                        </p:attrNameLst>
                                      </p:cBhvr>
                                      <p:tavLst>
                                        <p:tav tm="0">
                                          <p:val>
                                            <p:strVal val="#ppt_h"/>
                                          </p:val>
                                        </p:tav>
                                        <p:tav tm="100000">
                                          <p:val>
                                            <p:strVal val="#ppt_h"/>
                                          </p:val>
                                        </p:tav>
                                      </p:tavLst>
                                    </p:anim>
                                    <p:animEffect transition="in" filter="fade">
                                      <p:cBhvr>
                                        <p:cTn id="20" dur="10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p:cTn id="25" dur="1000" fill="hold"/>
                                        <p:tgtEl>
                                          <p:spTgt spid="26"/>
                                        </p:tgtEl>
                                        <p:attrNameLst>
                                          <p:attrName>ppt_w</p:attrName>
                                        </p:attrNameLst>
                                      </p:cBhvr>
                                      <p:tavLst>
                                        <p:tav tm="0">
                                          <p:val>
                                            <p:strVal val="#ppt_w*0.70"/>
                                          </p:val>
                                        </p:tav>
                                        <p:tav tm="100000">
                                          <p:val>
                                            <p:strVal val="#ppt_w"/>
                                          </p:val>
                                        </p:tav>
                                      </p:tavLst>
                                    </p:anim>
                                    <p:anim calcmode="lin" valueType="num">
                                      <p:cBhvr>
                                        <p:cTn id="26" dur="1000" fill="hold"/>
                                        <p:tgtEl>
                                          <p:spTgt spid="26"/>
                                        </p:tgtEl>
                                        <p:attrNameLst>
                                          <p:attrName>ppt_h</p:attrName>
                                        </p:attrNameLst>
                                      </p:cBhvr>
                                      <p:tavLst>
                                        <p:tav tm="0">
                                          <p:val>
                                            <p:strVal val="#ppt_h"/>
                                          </p:val>
                                        </p:tav>
                                        <p:tav tm="100000">
                                          <p:val>
                                            <p:strVal val="#ppt_h"/>
                                          </p:val>
                                        </p:tav>
                                      </p:tavLst>
                                    </p:anim>
                                    <p:animEffect transition="in" filter="fade">
                                      <p:cBhvr>
                                        <p:cTn id="27"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8"/>
          <p:cNvSpPr>
            <a:spLocks noGrp="1"/>
          </p:cNvSpPr>
          <p:nvPr>
            <p:ph type="dt" sz="quarter" idx="10"/>
          </p:nvPr>
        </p:nvSpPr>
        <p:spPr/>
        <p:txBody>
          <a:bodyPr/>
          <a:lstStyle/>
          <a:p>
            <a:pPr>
              <a:defRPr/>
            </a:pPr>
            <a:fld id="{254AD63C-8835-44FE-9A37-37C4A86923ED}" type="datetime1">
              <a:rPr lang="zh-CN" altLang="en-US"/>
              <a:t>2026/4/28</a:t>
            </a:fld>
            <a:endParaRPr lang="zh-CN" altLang="en-US"/>
          </a:p>
        </p:txBody>
      </p:sp>
      <p:sp>
        <p:nvSpPr>
          <p:cNvPr id="10" name="Rectangle 3"/>
          <p:cNvSpPr>
            <a:spLocks noChangeArrowheads="1"/>
          </p:cNvSpPr>
          <p:nvPr/>
        </p:nvSpPr>
        <p:spPr bwMode="auto">
          <a:xfrm>
            <a:off x="1042988" y="1196975"/>
            <a:ext cx="3457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kumimoji="1" lang="zh-CN" altLang="en-US">
                <a:latin typeface="华文中宋" panose="02010600040101010101" pitchFamily="2" charset="-122"/>
              </a:rPr>
              <a:t>一般的递推公式为：</a:t>
            </a:r>
          </a:p>
        </p:txBody>
      </p:sp>
      <p:graphicFrame>
        <p:nvGraphicFramePr>
          <p:cNvPr id="11" name="Object 6"/>
          <p:cNvGraphicFramePr>
            <a:graphicFrameLocks noChangeAspect="1"/>
          </p:cNvGraphicFramePr>
          <p:nvPr/>
        </p:nvGraphicFramePr>
        <p:xfrm>
          <a:off x="1187450" y="1989138"/>
          <a:ext cx="3024188" cy="1909762"/>
        </p:xfrm>
        <a:graphic>
          <a:graphicData uri="http://schemas.openxmlformats.org/presentationml/2006/ole">
            <mc:AlternateContent xmlns:mc="http://schemas.openxmlformats.org/markup-compatibility/2006">
              <mc:Choice xmlns:v="urn:schemas-microsoft-com:vml" Requires="v">
                <p:oleObj name="公式" r:id="rId3" imgW="1409700" imgH="889000" progId="Equation.3">
                  <p:embed/>
                </p:oleObj>
              </mc:Choice>
              <mc:Fallback>
                <p:oleObj name="公式" r:id="rId3" imgW="1409700" imgH="8890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989138"/>
                        <a:ext cx="3024188" cy="190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p:cNvGrpSpPr/>
          <p:nvPr/>
        </p:nvGrpSpPr>
        <p:grpSpPr bwMode="auto">
          <a:xfrm>
            <a:off x="5219700" y="333375"/>
            <a:ext cx="3097213" cy="2951163"/>
            <a:chOff x="1111" y="1710"/>
            <a:chExt cx="3020" cy="2280"/>
          </a:xfrm>
        </p:grpSpPr>
        <p:graphicFrame>
          <p:nvGraphicFramePr>
            <p:cNvPr id="85000" name="Object 7"/>
            <p:cNvGraphicFramePr>
              <a:graphicFrameLocks noChangeAspect="1"/>
            </p:cNvGraphicFramePr>
            <p:nvPr/>
          </p:nvGraphicFramePr>
          <p:xfrm>
            <a:off x="1111" y="1710"/>
            <a:ext cx="456" cy="2280"/>
          </p:xfrm>
          <a:graphic>
            <a:graphicData uri="http://schemas.openxmlformats.org/presentationml/2006/ole">
              <mc:AlternateContent xmlns:mc="http://schemas.openxmlformats.org/markup-compatibility/2006">
                <mc:Choice xmlns:v="urn:schemas-microsoft-com:vml" Requires="v">
                  <p:oleObj name="公式" r:id="rId5" imgW="330200" imgH="1651000" progId="Equation.3">
                    <p:embed/>
                  </p:oleObj>
                </mc:Choice>
                <mc:Fallback>
                  <p:oleObj name="公式" r:id="rId5" imgW="330200" imgH="16510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1" y="1710"/>
                          <a:ext cx="456" cy="2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01" name="Object 8"/>
            <p:cNvGraphicFramePr>
              <a:graphicFrameLocks noChangeAspect="1"/>
            </p:cNvGraphicFramePr>
            <p:nvPr/>
          </p:nvGraphicFramePr>
          <p:xfrm>
            <a:off x="1784" y="1763"/>
            <a:ext cx="421" cy="2174"/>
          </p:xfrm>
          <a:graphic>
            <a:graphicData uri="http://schemas.openxmlformats.org/presentationml/2006/ole">
              <mc:AlternateContent xmlns:mc="http://schemas.openxmlformats.org/markup-compatibility/2006">
                <mc:Choice xmlns:v="urn:schemas-microsoft-com:vml" Requires="v">
                  <p:oleObj name="公式" r:id="rId7" imgW="304800" imgH="1574800" progId="Equation.3">
                    <p:embed/>
                  </p:oleObj>
                </mc:Choice>
                <mc:Fallback>
                  <p:oleObj name="公式" r:id="rId7" imgW="304800" imgH="15748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4" y="1763"/>
                          <a:ext cx="421" cy="2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02" name="Object 9"/>
            <p:cNvGraphicFramePr>
              <a:graphicFrameLocks noChangeAspect="1"/>
            </p:cNvGraphicFramePr>
            <p:nvPr/>
          </p:nvGraphicFramePr>
          <p:xfrm>
            <a:off x="2422" y="1762"/>
            <a:ext cx="421" cy="2175"/>
          </p:xfrm>
          <a:graphic>
            <a:graphicData uri="http://schemas.openxmlformats.org/presentationml/2006/ole">
              <mc:AlternateContent xmlns:mc="http://schemas.openxmlformats.org/markup-compatibility/2006">
                <mc:Choice xmlns:v="urn:schemas-microsoft-com:vml" Requires="v">
                  <p:oleObj name="公式" r:id="rId9" imgW="304800" imgH="1574800" progId="Equation.3">
                    <p:embed/>
                  </p:oleObj>
                </mc:Choice>
                <mc:Fallback>
                  <p:oleObj name="公式" r:id="rId9" imgW="304800" imgH="15748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22" y="1762"/>
                          <a:ext cx="421" cy="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03" name="Object 10"/>
            <p:cNvGraphicFramePr>
              <a:graphicFrameLocks noChangeAspect="1"/>
            </p:cNvGraphicFramePr>
            <p:nvPr/>
          </p:nvGraphicFramePr>
          <p:xfrm>
            <a:off x="3061" y="1772"/>
            <a:ext cx="1070" cy="2157"/>
          </p:xfrm>
          <a:graphic>
            <a:graphicData uri="http://schemas.openxmlformats.org/presentationml/2006/ole">
              <mc:AlternateContent xmlns:mc="http://schemas.openxmlformats.org/markup-compatibility/2006">
                <mc:Choice xmlns:v="urn:schemas-microsoft-com:vml" Requires="v">
                  <p:oleObj name="公式" r:id="rId11" imgW="774700" imgH="1562100" progId="Equation.3">
                    <p:embed/>
                  </p:oleObj>
                </mc:Choice>
                <mc:Fallback>
                  <p:oleObj name="公式" r:id="rId11" imgW="774700" imgH="15621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61" y="1772"/>
                          <a:ext cx="1070" cy="21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 name="Rectangle 11"/>
          <p:cNvSpPr>
            <a:spLocks noChangeArrowheads="1"/>
          </p:cNvSpPr>
          <p:nvPr/>
        </p:nvSpPr>
        <p:spPr bwMode="auto">
          <a:xfrm>
            <a:off x="827088" y="26035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18" name="Rectangle 13"/>
          <p:cNvSpPr>
            <a:spLocks noChangeArrowheads="1"/>
          </p:cNvSpPr>
          <p:nvPr/>
        </p:nvSpPr>
        <p:spPr bwMode="auto">
          <a:xfrm>
            <a:off x="755650" y="4437063"/>
            <a:ext cx="7885113"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30000"/>
              </a:lnSpc>
              <a:spcBef>
                <a:spcPct val="20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zh-CN" altLang="en-US">
                <a:latin typeface="华文中宋" panose="02010600040101010101" pitchFamily="2" charset="-122"/>
              </a:rPr>
              <a:t>这样构成的阵列共有</a:t>
            </a:r>
            <a:r>
              <a:rPr kumimoji="1" lang="en-US" altLang="zh-CN">
                <a:latin typeface="华文中宋" panose="02010600040101010101" pitchFamily="2" charset="-122"/>
              </a:rPr>
              <a:t>n+1</a:t>
            </a:r>
            <a:r>
              <a:rPr kumimoji="1" lang="zh-CN" altLang="en-US">
                <a:latin typeface="华文中宋" panose="02010600040101010101" pitchFamily="2" charset="-122"/>
              </a:rPr>
              <a:t>行，且最后两行都只有一个元素。阵列中的第一列</a:t>
            </a:r>
            <a:r>
              <a:rPr kumimoji="1" lang="en-US" altLang="zh-CN">
                <a:latin typeface="华文中宋" panose="02010600040101010101" pitchFamily="2" charset="-122"/>
              </a:rPr>
              <a:t>A</a:t>
            </a:r>
            <a:r>
              <a:rPr kumimoji="1" lang="en-US" altLang="zh-CN" baseline="-25000">
                <a:latin typeface="华文中宋" panose="02010600040101010101" pitchFamily="2" charset="-122"/>
              </a:rPr>
              <a:t>n</a:t>
            </a:r>
            <a:r>
              <a:rPr kumimoji="1" lang="zh-CN" altLang="en-US">
                <a:latin typeface="华文中宋" panose="02010600040101010101" pitchFamily="2" charset="-122"/>
              </a:rPr>
              <a:t>、</a:t>
            </a:r>
            <a:r>
              <a:rPr kumimoji="1" lang="en-US" altLang="zh-CN">
                <a:latin typeface="华文中宋" panose="02010600040101010101" pitchFamily="2" charset="-122"/>
              </a:rPr>
              <a:t>A</a:t>
            </a:r>
            <a:r>
              <a:rPr kumimoji="1" lang="en-US" altLang="zh-CN" baseline="-25000">
                <a:latin typeface="华文中宋" panose="02010600040101010101" pitchFamily="2" charset="-122"/>
              </a:rPr>
              <a:t>n-1</a:t>
            </a:r>
            <a:r>
              <a:rPr kumimoji="1" lang="en-US" altLang="zh-CN">
                <a:latin typeface="华文中宋" panose="02010600040101010101" pitchFamily="2" charset="-122"/>
              </a:rPr>
              <a:t> </a:t>
            </a:r>
            <a:r>
              <a:rPr kumimoji="1" lang="zh-CN" altLang="en-US"/>
              <a:t>、</a:t>
            </a:r>
            <a:r>
              <a:rPr kumimoji="1" lang="en-US" altLang="zh-CN">
                <a:latin typeface="华文中宋" panose="02010600040101010101" pitchFamily="2" charset="-122"/>
              </a:rPr>
              <a:t>A</a:t>
            </a:r>
            <a:r>
              <a:rPr kumimoji="1" lang="en-US" altLang="zh-CN" baseline="-25000">
                <a:latin typeface="华文中宋" panose="02010600040101010101" pitchFamily="2" charset="-122"/>
              </a:rPr>
              <a:t>n-2</a:t>
            </a:r>
            <a:r>
              <a:rPr kumimoji="1" lang="zh-CN" altLang="en-US"/>
              <a:t>、</a:t>
            </a:r>
            <a:r>
              <a:rPr kumimoji="1" lang="en-US" altLang="zh-CN">
                <a:latin typeface="华文中宋" panose="02010600040101010101" pitchFamily="2" charset="-122"/>
              </a:rPr>
              <a:t>…</a:t>
            </a:r>
            <a:r>
              <a:rPr kumimoji="1" lang="zh-CN" altLang="en-US"/>
              <a:t>、 </a:t>
            </a:r>
            <a:r>
              <a:rPr kumimoji="1" lang="en-US" altLang="zh-CN">
                <a:latin typeface="华文中宋" panose="02010600040101010101" pitchFamily="2" charset="-122"/>
              </a:rPr>
              <a:t>A</a:t>
            </a:r>
            <a:r>
              <a:rPr kumimoji="1" lang="en-US" altLang="zh-CN" baseline="-25000">
                <a:latin typeface="华文中宋" panose="02010600040101010101" pitchFamily="2" charset="-122"/>
              </a:rPr>
              <a:t>1</a:t>
            </a:r>
            <a:r>
              <a:rPr kumimoji="1" lang="zh-CN" altLang="en-US">
                <a:latin typeface="华文中宋" panose="02010600040101010101" pitchFamily="2" charset="-122"/>
              </a:rPr>
              <a:t>、</a:t>
            </a:r>
            <a:r>
              <a:rPr kumimoji="1" lang="en-US" altLang="zh-CN">
                <a:latin typeface="华文中宋" panose="02010600040101010101" pitchFamily="2" charset="-122"/>
              </a:rPr>
              <a:t>A</a:t>
            </a:r>
            <a:r>
              <a:rPr kumimoji="1" lang="en-US" altLang="zh-CN" baseline="-25000">
                <a:latin typeface="华文中宋" panose="02010600040101010101" pitchFamily="2" charset="-122"/>
              </a:rPr>
              <a:t>0</a:t>
            </a:r>
            <a:r>
              <a:rPr kumimoji="1" lang="en-US" altLang="zh-CN">
                <a:latin typeface="华文中宋" panose="02010600040101010101" pitchFamily="2" charset="-122"/>
              </a:rPr>
              <a:t> </a:t>
            </a:r>
            <a:r>
              <a:rPr kumimoji="1" lang="zh-CN" altLang="en-US">
                <a:latin typeface="华文中宋" panose="02010600040101010101" pitchFamily="2" charset="-122"/>
              </a:rPr>
              <a:t>称为</a:t>
            </a:r>
            <a:r>
              <a:rPr kumimoji="1" lang="zh-CN" altLang="en-US">
                <a:solidFill>
                  <a:srgbClr val="FF0000"/>
                </a:solidFill>
                <a:latin typeface="华文中宋" panose="02010600040101010101" pitchFamily="2" charset="-122"/>
              </a:rPr>
              <a:t>罗斯</a:t>
            </a:r>
            <a:r>
              <a:rPr kumimoji="1" lang="en-US" altLang="zh-CN">
                <a:solidFill>
                  <a:srgbClr val="FF0000"/>
                </a:solidFill>
                <a:latin typeface="华文中宋" panose="02010600040101010101" pitchFamily="2" charset="-122"/>
              </a:rPr>
              <a:t>-</a:t>
            </a:r>
            <a:r>
              <a:rPr kumimoji="1" lang="zh-CN" altLang="en-US">
                <a:solidFill>
                  <a:srgbClr val="FF0000"/>
                </a:solidFill>
                <a:latin typeface="华文中宋" panose="02010600040101010101" pitchFamily="2" charset="-122"/>
              </a:rPr>
              <a:t>霍维茨数列</a:t>
            </a:r>
            <a:r>
              <a:rPr kumimoji="1" lang="zh-CN" altLang="en-US">
                <a:latin typeface="华文中宋" panose="02010600040101010101" pitchFamily="2" charset="-122"/>
              </a:rPr>
              <a:t>。</a:t>
            </a:r>
          </a:p>
        </p:txBody>
      </p:sp>
      <p:sp>
        <p:nvSpPr>
          <p:cNvPr id="3" name="墨迹 2"/>
          <p:cNvSpPr/>
          <p:nvPr/>
        </p:nvSpPr>
        <p:spPr bwMode="auto">
          <a:xfrm>
            <a:off x="4205520" y="380160"/>
            <a:ext cx="4721760" cy="46512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1749"/>
    </mc:Choice>
    <mc:Fallback xmlns="">
      <p:transition spd="slow" advTm="817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strVal val="#ppt_w*0.70"/>
                                          </p:val>
                                        </p:tav>
                                        <p:tav tm="100000">
                                          <p:val>
                                            <p:strVal val="#ppt_w"/>
                                          </p:val>
                                        </p:tav>
                                      </p:tavLst>
                                    </p:anim>
                                    <p:anim calcmode="lin" valueType="num">
                                      <p:cBhvr>
                                        <p:cTn id="12" dur="1000" fill="hold"/>
                                        <p:tgtEl>
                                          <p:spTgt spid="2"/>
                                        </p:tgtEl>
                                        <p:attrNameLst>
                                          <p:attrName>ppt_h</p:attrName>
                                        </p:attrNameLst>
                                      </p:cBhvr>
                                      <p:tavLst>
                                        <p:tav tm="0">
                                          <p:val>
                                            <p:strVal val="#ppt_h"/>
                                          </p:val>
                                        </p:tav>
                                        <p:tav tm="100000">
                                          <p:val>
                                            <p:strVal val="#ppt_h"/>
                                          </p:val>
                                        </p:tav>
                                      </p:tavLst>
                                    </p:anim>
                                    <p:animEffect transition="in" filter="fade">
                                      <p:cBhvr>
                                        <p:cTn id="13" dur="1000"/>
                                        <p:tgtEl>
                                          <p:spTgt spid="2"/>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1000" fill="hold"/>
                                        <p:tgtEl>
                                          <p:spTgt spid="10"/>
                                        </p:tgtEl>
                                        <p:attrNameLst>
                                          <p:attrName>ppt_w</p:attrName>
                                        </p:attrNameLst>
                                      </p:cBhvr>
                                      <p:tavLst>
                                        <p:tav tm="0">
                                          <p:val>
                                            <p:strVal val="#ppt_w*0.70"/>
                                          </p:val>
                                        </p:tav>
                                        <p:tav tm="100000">
                                          <p:val>
                                            <p:strVal val="#ppt_w"/>
                                          </p:val>
                                        </p:tav>
                                      </p:tavLst>
                                    </p:anim>
                                    <p:anim calcmode="lin" valueType="num">
                                      <p:cBhvr>
                                        <p:cTn id="18" dur="1000" fill="hold"/>
                                        <p:tgtEl>
                                          <p:spTgt spid="10"/>
                                        </p:tgtEl>
                                        <p:attrNameLst>
                                          <p:attrName>ppt_h</p:attrName>
                                        </p:attrNameLst>
                                      </p:cBhvr>
                                      <p:tavLst>
                                        <p:tav tm="0">
                                          <p:val>
                                            <p:strVal val="#ppt_h"/>
                                          </p:val>
                                        </p:tav>
                                        <p:tav tm="100000">
                                          <p:val>
                                            <p:strVal val="#ppt_h"/>
                                          </p:val>
                                        </p:tav>
                                      </p:tavLst>
                                    </p:anim>
                                    <p:animEffect transition="in" filter="fade">
                                      <p:cBhvr>
                                        <p:cTn id="19" dur="1000"/>
                                        <p:tgtEl>
                                          <p:spTgt spid="10"/>
                                        </p:tgtEl>
                                      </p:cBhvr>
                                    </p:animEffect>
                                  </p:childTnLst>
                                </p:cTn>
                              </p:par>
                            </p:childTnLst>
                          </p:cTn>
                        </p:par>
                        <p:par>
                          <p:cTn id="20" fill="hold">
                            <p:stCondLst>
                              <p:cond delay="2000"/>
                            </p:stCondLst>
                            <p:childTnLst>
                              <p:par>
                                <p:cTn id="21" presetID="55"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1000" fill="hold"/>
                                        <p:tgtEl>
                                          <p:spTgt spid="11"/>
                                        </p:tgtEl>
                                        <p:attrNameLst>
                                          <p:attrName>ppt_w</p:attrName>
                                        </p:attrNameLst>
                                      </p:cBhvr>
                                      <p:tavLst>
                                        <p:tav tm="0">
                                          <p:val>
                                            <p:strVal val="#ppt_w*0.70"/>
                                          </p:val>
                                        </p:tav>
                                        <p:tav tm="100000">
                                          <p:val>
                                            <p:strVal val="#ppt_w"/>
                                          </p:val>
                                        </p:tav>
                                      </p:tavLst>
                                    </p:anim>
                                    <p:anim calcmode="lin" valueType="num">
                                      <p:cBhvr>
                                        <p:cTn id="24" dur="1000" fill="hold"/>
                                        <p:tgtEl>
                                          <p:spTgt spid="11"/>
                                        </p:tgtEl>
                                        <p:attrNameLst>
                                          <p:attrName>ppt_h</p:attrName>
                                        </p:attrNameLst>
                                      </p:cBhvr>
                                      <p:tavLst>
                                        <p:tav tm="0">
                                          <p:val>
                                            <p:strVal val="#ppt_h"/>
                                          </p:val>
                                        </p:tav>
                                        <p:tav tm="100000">
                                          <p:val>
                                            <p:strVal val="#ppt_h"/>
                                          </p:val>
                                        </p:tav>
                                      </p:tavLst>
                                    </p:anim>
                                    <p:animEffect transition="in" filter="fade">
                                      <p:cBhvr>
                                        <p:cTn id="25" dur="10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 calcmode="lin" valueType="num">
                                      <p:cBhvr>
                                        <p:cTn id="30" dur="1000" fill="hold"/>
                                        <p:tgtEl>
                                          <p:spTgt spid="18"/>
                                        </p:tgtEl>
                                        <p:attrNameLst>
                                          <p:attrName>ppt_w</p:attrName>
                                        </p:attrNameLst>
                                      </p:cBhvr>
                                      <p:tavLst>
                                        <p:tav tm="0">
                                          <p:val>
                                            <p:strVal val="#ppt_w*0.70"/>
                                          </p:val>
                                        </p:tav>
                                        <p:tav tm="100000">
                                          <p:val>
                                            <p:strVal val="#ppt_w"/>
                                          </p:val>
                                        </p:tav>
                                      </p:tavLst>
                                    </p:anim>
                                    <p:anim calcmode="lin" valueType="num">
                                      <p:cBhvr>
                                        <p:cTn id="31" dur="1000" fill="hold"/>
                                        <p:tgtEl>
                                          <p:spTgt spid="18"/>
                                        </p:tgtEl>
                                        <p:attrNameLst>
                                          <p:attrName>ppt_h</p:attrName>
                                        </p:attrNameLst>
                                      </p:cBhvr>
                                      <p:tavLst>
                                        <p:tav tm="0">
                                          <p:val>
                                            <p:strVal val="#ppt_h"/>
                                          </p:val>
                                        </p:tav>
                                        <p:tav tm="100000">
                                          <p:val>
                                            <p:strVal val="#ppt_h"/>
                                          </p:val>
                                        </p:tav>
                                      </p:tavLst>
                                    </p:anim>
                                    <p:animEffect transition="in" filter="fade">
                                      <p:cBhvr>
                                        <p:cTn id="32"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3" name="Rectangle 3"/>
          <p:cNvSpPr>
            <a:spLocks noChangeArrowheads="1"/>
          </p:cNvSpPr>
          <p:nvPr/>
        </p:nvSpPr>
        <p:spPr bwMode="auto">
          <a:xfrm>
            <a:off x="611188" y="1052513"/>
            <a:ext cx="799306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619250" indent="-161925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zh-CN" altLang="en-US">
                <a:solidFill>
                  <a:srgbClr val="FF0000"/>
                </a:solidFill>
                <a:latin typeface="华文中宋" panose="02010600040101010101" pitchFamily="2" charset="-122"/>
              </a:rPr>
              <a:t>第三步：</a:t>
            </a:r>
            <a:r>
              <a:rPr kumimoji="1" lang="zh-CN" altLang="en-US">
                <a:latin typeface="华文中宋" panose="02010600040101010101" pitchFamily="2" charset="-122"/>
              </a:rPr>
              <a:t>就罗斯</a:t>
            </a:r>
            <a:r>
              <a:rPr kumimoji="1" lang="en-US" altLang="zh-CN">
                <a:latin typeface="华文中宋" panose="02010600040101010101" pitchFamily="2" charset="-122"/>
              </a:rPr>
              <a:t>—</a:t>
            </a:r>
            <a:r>
              <a:rPr kumimoji="1" lang="zh-CN" altLang="en-US">
                <a:latin typeface="华文中宋" panose="02010600040101010101" pitchFamily="2" charset="-122"/>
              </a:rPr>
              <a:t>霍维茨数列，根据罗斯</a:t>
            </a:r>
            <a:r>
              <a:rPr kumimoji="1" lang="en-US" altLang="zh-CN">
                <a:latin typeface="华文中宋" panose="02010600040101010101" pitchFamily="2" charset="-122"/>
              </a:rPr>
              <a:t>-</a:t>
            </a:r>
            <a:r>
              <a:rPr kumimoji="1" lang="zh-CN" altLang="en-US">
                <a:latin typeface="华文中宋" panose="02010600040101010101" pitchFamily="2" charset="-122"/>
              </a:rPr>
              <a:t>霍维茨定理来决定方程是否有实部为正的根，从而判别有关系统是否稳定。</a:t>
            </a:r>
          </a:p>
        </p:txBody>
      </p:sp>
      <p:grpSp>
        <p:nvGrpSpPr>
          <p:cNvPr id="2" name="Group 4"/>
          <p:cNvGrpSpPr/>
          <p:nvPr/>
        </p:nvGrpSpPr>
        <p:grpSpPr bwMode="auto">
          <a:xfrm>
            <a:off x="2195513" y="2601913"/>
            <a:ext cx="4794250" cy="3619500"/>
            <a:chOff x="1111" y="1710"/>
            <a:chExt cx="3020" cy="2280"/>
          </a:xfrm>
        </p:grpSpPr>
        <p:graphicFrame>
          <p:nvGraphicFramePr>
            <p:cNvPr id="86022" name="Object 2"/>
            <p:cNvGraphicFramePr>
              <a:graphicFrameLocks noChangeAspect="1"/>
            </p:cNvGraphicFramePr>
            <p:nvPr/>
          </p:nvGraphicFramePr>
          <p:xfrm>
            <a:off x="1111" y="1710"/>
            <a:ext cx="456" cy="2280"/>
          </p:xfrm>
          <a:graphic>
            <a:graphicData uri="http://schemas.openxmlformats.org/presentationml/2006/ole">
              <mc:AlternateContent xmlns:mc="http://schemas.openxmlformats.org/markup-compatibility/2006">
                <mc:Choice xmlns:v="urn:schemas-microsoft-com:vml" Requires="v">
                  <p:oleObj name="公式" r:id="rId2" imgW="330200" imgH="1651000" progId="Equation.3">
                    <p:embed/>
                  </p:oleObj>
                </mc:Choice>
                <mc:Fallback>
                  <p:oleObj name="公式" r:id="rId2" imgW="330200" imgH="16510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 y="1710"/>
                          <a:ext cx="456" cy="2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3" name="Object 3"/>
            <p:cNvGraphicFramePr>
              <a:graphicFrameLocks noChangeAspect="1"/>
            </p:cNvGraphicFramePr>
            <p:nvPr/>
          </p:nvGraphicFramePr>
          <p:xfrm>
            <a:off x="1784" y="1763"/>
            <a:ext cx="421" cy="2174"/>
          </p:xfrm>
          <a:graphic>
            <a:graphicData uri="http://schemas.openxmlformats.org/presentationml/2006/ole">
              <mc:AlternateContent xmlns:mc="http://schemas.openxmlformats.org/markup-compatibility/2006">
                <mc:Choice xmlns:v="urn:schemas-microsoft-com:vml" Requires="v">
                  <p:oleObj name="公式" r:id="rId4" imgW="304800" imgH="1574800" progId="Equation.3">
                    <p:embed/>
                  </p:oleObj>
                </mc:Choice>
                <mc:Fallback>
                  <p:oleObj name="公式" r:id="rId4" imgW="304800" imgH="1574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4" y="1763"/>
                          <a:ext cx="421" cy="2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4" name="Object 4"/>
            <p:cNvGraphicFramePr>
              <a:graphicFrameLocks noChangeAspect="1"/>
            </p:cNvGraphicFramePr>
            <p:nvPr/>
          </p:nvGraphicFramePr>
          <p:xfrm>
            <a:off x="2422" y="1762"/>
            <a:ext cx="421" cy="2175"/>
          </p:xfrm>
          <a:graphic>
            <a:graphicData uri="http://schemas.openxmlformats.org/presentationml/2006/ole">
              <mc:AlternateContent xmlns:mc="http://schemas.openxmlformats.org/markup-compatibility/2006">
                <mc:Choice xmlns:v="urn:schemas-microsoft-com:vml" Requires="v">
                  <p:oleObj name="公式" r:id="rId6" imgW="304800" imgH="1574800" progId="Equation.3">
                    <p:embed/>
                  </p:oleObj>
                </mc:Choice>
                <mc:Fallback>
                  <p:oleObj name="公式" r:id="rId6" imgW="304800" imgH="15748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2" y="1762"/>
                          <a:ext cx="421" cy="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5" name="Object 5"/>
            <p:cNvGraphicFramePr>
              <a:graphicFrameLocks noChangeAspect="1"/>
            </p:cNvGraphicFramePr>
            <p:nvPr/>
          </p:nvGraphicFramePr>
          <p:xfrm>
            <a:off x="3061" y="1772"/>
            <a:ext cx="1070" cy="2157"/>
          </p:xfrm>
          <a:graphic>
            <a:graphicData uri="http://schemas.openxmlformats.org/presentationml/2006/ole">
              <mc:AlternateContent xmlns:mc="http://schemas.openxmlformats.org/markup-compatibility/2006">
                <mc:Choice xmlns:v="urn:schemas-microsoft-com:vml" Requires="v">
                  <p:oleObj name="公式" r:id="rId8" imgW="774700" imgH="1562100" progId="Equation.3">
                    <p:embed/>
                  </p:oleObj>
                </mc:Choice>
                <mc:Fallback>
                  <p:oleObj name="公式" r:id="rId8" imgW="774700" imgH="15621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61" y="1772"/>
                          <a:ext cx="1070" cy="21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73449" name="Rectangle 9"/>
          <p:cNvSpPr>
            <a:spLocks noChangeArrowheads="1"/>
          </p:cNvSpPr>
          <p:nvPr/>
        </p:nvSpPr>
        <p:spPr bwMode="auto">
          <a:xfrm>
            <a:off x="827088" y="26035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9" name="日期占位符 8"/>
          <p:cNvSpPr>
            <a:spLocks noGrp="1"/>
          </p:cNvSpPr>
          <p:nvPr>
            <p:ph type="dt" sz="quarter" idx="10"/>
          </p:nvPr>
        </p:nvSpPr>
        <p:spPr/>
        <p:txBody>
          <a:bodyPr/>
          <a:lstStyle/>
          <a:p>
            <a:pPr>
              <a:defRPr/>
            </a:pPr>
            <a:fld id="{254AD63C-8835-44FE-9A37-37C4A86923ED}" type="datetime1">
              <a:rPr lang="zh-CN" altLang="en-US"/>
              <a:t>2026/4/28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3792"/>
    </mc:Choice>
    <mc:Fallback xmlns="">
      <p:transition spd="slow" advTm="137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573443"/>
                                        </p:tgtEl>
                                        <p:attrNameLst>
                                          <p:attrName>style.visibility</p:attrName>
                                        </p:attrNameLst>
                                      </p:cBhvr>
                                      <p:to>
                                        <p:strVal val="visible"/>
                                      </p:to>
                                    </p:set>
                                    <p:anim calcmode="lin" valueType="num">
                                      <p:cBhvr>
                                        <p:cTn id="7" dur="1000" fill="hold"/>
                                        <p:tgtEl>
                                          <p:spTgt spid="573443"/>
                                        </p:tgtEl>
                                        <p:attrNameLst>
                                          <p:attrName>ppt_w</p:attrName>
                                        </p:attrNameLst>
                                      </p:cBhvr>
                                      <p:tavLst>
                                        <p:tav tm="0">
                                          <p:val>
                                            <p:strVal val="#ppt_w*0.70"/>
                                          </p:val>
                                        </p:tav>
                                        <p:tav tm="100000">
                                          <p:val>
                                            <p:strVal val="#ppt_w"/>
                                          </p:val>
                                        </p:tav>
                                      </p:tavLst>
                                    </p:anim>
                                    <p:anim calcmode="lin" valueType="num">
                                      <p:cBhvr>
                                        <p:cTn id="8" dur="1000" fill="hold"/>
                                        <p:tgtEl>
                                          <p:spTgt spid="573443"/>
                                        </p:tgtEl>
                                        <p:attrNameLst>
                                          <p:attrName>ppt_h</p:attrName>
                                        </p:attrNameLst>
                                      </p:cBhvr>
                                      <p:tavLst>
                                        <p:tav tm="0">
                                          <p:val>
                                            <p:strVal val="#ppt_h"/>
                                          </p:val>
                                        </p:tav>
                                        <p:tav tm="100000">
                                          <p:val>
                                            <p:strVal val="#ppt_h"/>
                                          </p:val>
                                        </p:tav>
                                      </p:tavLst>
                                    </p:anim>
                                    <p:animEffect transition="in" filter="fade">
                                      <p:cBhvr>
                                        <p:cTn id="9" dur="1000"/>
                                        <p:tgtEl>
                                          <p:spTgt spid="573443"/>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1000" fill="hold"/>
                                        <p:tgtEl>
                                          <p:spTgt spid="2"/>
                                        </p:tgtEl>
                                        <p:attrNameLst>
                                          <p:attrName>ppt_w</p:attrName>
                                        </p:attrNameLst>
                                      </p:cBhvr>
                                      <p:tavLst>
                                        <p:tav tm="0">
                                          <p:val>
                                            <p:strVal val="#ppt_w*0.70"/>
                                          </p:val>
                                        </p:tav>
                                        <p:tav tm="100000">
                                          <p:val>
                                            <p:strVal val="#ppt_w"/>
                                          </p:val>
                                        </p:tav>
                                      </p:tavLst>
                                    </p:anim>
                                    <p:anim calcmode="lin" valueType="num">
                                      <p:cBhvr>
                                        <p:cTn id="14" dur="1000" fill="hold"/>
                                        <p:tgtEl>
                                          <p:spTgt spid="2"/>
                                        </p:tgtEl>
                                        <p:attrNameLst>
                                          <p:attrName>ppt_h</p:attrName>
                                        </p:attrNameLst>
                                      </p:cBhvr>
                                      <p:tavLst>
                                        <p:tav tm="0">
                                          <p:val>
                                            <p:strVal val="#ppt_h"/>
                                          </p:val>
                                        </p:tav>
                                        <p:tav tm="100000">
                                          <p:val>
                                            <p:strVal val="#ppt_h"/>
                                          </p:val>
                                        </p:tav>
                                      </p:tavLst>
                                    </p:anim>
                                    <p:animEffect transition="in" filter="fade">
                                      <p:cBhvr>
                                        <p:cTn id="1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ChangeArrowheads="1"/>
          </p:cNvSpPr>
          <p:nvPr/>
        </p:nvSpPr>
        <p:spPr bwMode="auto">
          <a:xfrm>
            <a:off x="755650" y="1773238"/>
            <a:ext cx="5903913" cy="181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chemeClr val="accent2"/>
              </a:buClr>
              <a:buFont typeface="Wingdings" panose="05000000000000000000" pitchFamily="2" charset="2"/>
              <a:buNone/>
            </a:pPr>
            <a:r>
              <a:rPr kumimoji="1" lang="en-US" altLang="zh-CN">
                <a:solidFill>
                  <a:srgbClr val="9900FF"/>
                </a:solidFill>
                <a:latin typeface="华文中宋" panose="02010600040101010101" pitchFamily="2" charset="-122"/>
              </a:rPr>
              <a:t>    Routh-Hurwitz</a:t>
            </a:r>
            <a:r>
              <a:rPr kumimoji="1" lang="zh-CN" altLang="en-US">
                <a:solidFill>
                  <a:srgbClr val="9900FF"/>
                </a:solidFill>
                <a:latin typeface="华文中宋" panose="02010600040101010101" pitchFamily="2" charset="-122"/>
              </a:rPr>
              <a:t>定理为：</a:t>
            </a:r>
            <a:r>
              <a:rPr kumimoji="1" lang="zh-CN" altLang="en-US">
                <a:latin typeface="华文中宋" panose="02010600040101010101" pitchFamily="2" charset="-122"/>
              </a:rPr>
              <a:t>数列从头到尾改变的次数等于原特征方程的实部为正的根的个数。即：</a:t>
            </a:r>
            <a:r>
              <a:rPr kumimoji="1" lang="zh-CN" altLang="en-US"/>
              <a:t>        </a:t>
            </a:r>
          </a:p>
        </p:txBody>
      </p:sp>
      <p:sp>
        <p:nvSpPr>
          <p:cNvPr id="87043" name="Rectangle 4"/>
          <p:cNvSpPr>
            <a:spLocks noChangeArrowheads="1"/>
          </p:cNvSpPr>
          <p:nvPr/>
        </p:nvSpPr>
        <p:spPr bwMode="auto">
          <a:xfrm>
            <a:off x="3200400" y="4241800"/>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87044" name="Rectangle 5"/>
          <p:cNvSpPr>
            <a:spLocks noChangeArrowheads="1"/>
          </p:cNvSpPr>
          <p:nvPr/>
        </p:nvSpPr>
        <p:spPr bwMode="auto">
          <a:xfrm>
            <a:off x="2976563" y="2944813"/>
            <a:ext cx="971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87045" name="Rectangle 6"/>
          <p:cNvSpPr>
            <a:spLocks noChangeArrowheads="1"/>
          </p:cNvSpPr>
          <p:nvPr/>
        </p:nvSpPr>
        <p:spPr bwMode="auto">
          <a:xfrm>
            <a:off x="2976563" y="3576638"/>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574471" name="Rectangle 7"/>
          <p:cNvSpPr>
            <a:spLocks noChangeArrowheads="1"/>
          </p:cNvSpPr>
          <p:nvPr/>
        </p:nvSpPr>
        <p:spPr bwMode="auto">
          <a:xfrm>
            <a:off x="971550" y="3789363"/>
            <a:ext cx="6553200"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chemeClr val="accent2"/>
              </a:buClr>
              <a:buFont typeface="Wingdings" panose="05000000000000000000" pitchFamily="2" charset="2"/>
              <a:buNone/>
            </a:pPr>
            <a:r>
              <a:rPr kumimoji="1" lang="en-US" altLang="zh-CN" dirty="0">
                <a:solidFill>
                  <a:srgbClr val="FF0000"/>
                </a:solidFill>
              </a:rPr>
              <a:t>   </a:t>
            </a:r>
            <a:r>
              <a:rPr kumimoji="1" lang="en-US" altLang="zh-CN" dirty="0"/>
              <a:t>Routh-Hurwitz</a:t>
            </a:r>
            <a:r>
              <a:rPr kumimoji="1" lang="zh-CN" altLang="en-US" dirty="0"/>
              <a:t>数列从头到尾若无符号变化，则该系统稳定的；否则，系统是不稳定的。</a:t>
            </a:r>
            <a:r>
              <a:rPr kumimoji="1" lang="en-US" altLang="zh-CN" dirty="0">
                <a:solidFill>
                  <a:srgbClr val="9900FF"/>
                </a:solidFill>
              </a:rPr>
              <a:t>--</a:t>
            </a:r>
            <a:r>
              <a:rPr kumimoji="1" lang="zh-CN" altLang="en-US" dirty="0">
                <a:solidFill>
                  <a:srgbClr val="9900FF"/>
                </a:solidFill>
              </a:rPr>
              <a:t>罗斯</a:t>
            </a:r>
            <a:r>
              <a:rPr kumimoji="1" lang="en-US" altLang="zh-CN" dirty="0">
                <a:solidFill>
                  <a:srgbClr val="9900FF"/>
                </a:solidFill>
              </a:rPr>
              <a:t>-</a:t>
            </a:r>
            <a:r>
              <a:rPr kumimoji="1" lang="zh-CN" altLang="en-US" dirty="0">
                <a:solidFill>
                  <a:srgbClr val="9900FF"/>
                </a:solidFill>
              </a:rPr>
              <a:t>霍维茨判据 </a:t>
            </a:r>
          </a:p>
        </p:txBody>
      </p:sp>
      <p:sp>
        <p:nvSpPr>
          <p:cNvPr id="574472" name="Rectangle 8"/>
          <p:cNvSpPr>
            <a:spLocks noChangeArrowheads="1"/>
          </p:cNvSpPr>
          <p:nvPr/>
        </p:nvSpPr>
        <p:spPr bwMode="auto">
          <a:xfrm>
            <a:off x="827088" y="26035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dirty="0">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grpSp>
        <p:nvGrpSpPr>
          <p:cNvPr id="87048" name="Group 15"/>
          <p:cNvGrpSpPr/>
          <p:nvPr/>
        </p:nvGrpSpPr>
        <p:grpSpPr bwMode="auto">
          <a:xfrm>
            <a:off x="7308850" y="404813"/>
            <a:ext cx="1317625" cy="2735262"/>
            <a:chOff x="3470" y="1525"/>
            <a:chExt cx="830" cy="1723"/>
          </a:xfrm>
        </p:grpSpPr>
        <p:graphicFrame>
          <p:nvGraphicFramePr>
            <p:cNvPr id="87050" name="Object 2"/>
            <p:cNvGraphicFramePr>
              <a:graphicFrameLocks noChangeAspect="1"/>
            </p:cNvGraphicFramePr>
            <p:nvPr/>
          </p:nvGraphicFramePr>
          <p:xfrm>
            <a:off x="3470" y="1525"/>
            <a:ext cx="346" cy="1723"/>
          </p:xfrm>
          <a:graphic>
            <a:graphicData uri="http://schemas.openxmlformats.org/presentationml/2006/ole">
              <mc:AlternateContent xmlns:mc="http://schemas.openxmlformats.org/markup-compatibility/2006">
                <mc:Choice xmlns:v="urn:schemas-microsoft-com:vml" Requires="v">
                  <p:oleObj name="公式" r:id="rId3" imgW="330200" imgH="1651000" progId="Equation.3">
                    <p:embed/>
                  </p:oleObj>
                </mc:Choice>
                <mc:Fallback>
                  <p:oleObj name="公式" r:id="rId3" imgW="330200" imgH="1651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0" y="1525"/>
                          <a:ext cx="346" cy="1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51" name="Object 3"/>
            <p:cNvGraphicFramePr>
              <a:graphicFrameLocks noChangeAspect="1"/>
            </p:cNvGraphicFramePr>
            <p:nvPr/>
          </p:nvGraphicFramePr>
          <p:xfrm>
            <a:off x="3980" y="1565"/>
            <a:ext cx="320" cy="1643"/>
          </p:xfrm>
          <a:graphic>
            <a:graphicData uri="http://schemas.openxmlformats.org/presentationml/2006/ole">
              <mc:AlternateContent xmlns:mc="http://schemas.openxmlformats.org/markup-compatibility/2006">
                <mc:Choice xmlns:v="urn:schemas-microsoft-com:vml" Requires="v">
                  <p:oleObj name="公式" r:id="rId5" imgW="304800" imgH="1574800" progId="Equation.3">
                    <p:embed/>
                  </p:oleObj>
                </mc:Choice>
                <mc:Fallback>
                  <p:oleObj name="公式" r:id="rId5" imgW="304800" imgH="1574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0" y="1565"/>
                          <a:ext cx="320" cy="16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 name="日期占位符 10"/>
          <p:cNvSpPr>
            <a:spLocks noGrp="1"/>
          </p:cNvSpPr>
          <p:nvPr>
            <p:ph type="dt" sz="quarter" idx="10"/>
          </p:nvPr>
        </p:nvSpPr>
        <p:spPr/>
        <p:txBody>
          <a:bodyPr/>
          <a:lstStyle/>
          <a:p>
            <a:pPr>
              <a:defRPr/>
            </a:pPr>
            <a:fld id="{F918E716-E3C6-4397-9DE2-09B43279D8C6}" type="datetime1">
              <a:rPr lang="zh-CN" altLang="en-US"/>
              <a:t>2026/4/28</a:t>
            </a:fld>
            <a:endParaRPr lang="zh-CN" altLang="en-US"/>
          </a:p>
        </p:txBody>
      </p:sp>
      <p:sp>
        <p:nvSpPr>
          <p:cNvPr id="2" name="墨迹 1"/>
          <p:cNvSpPr/>
          <p:nvPr/>
        </p:nvSpPr>
        <p:spPr bwMode="auto">
          <a:xfrm>
            <a:off x="1982160" y="525960"/>
            <a:ext cx="5451120" cy="45111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0597"/>
    </mc:Choice>
    <mc:Fallback xmlns="">
      <p:transition spd="slow" advTm="1205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1" nodeType="clickEffect">
                                  <p:stCondLst>
                                    <p:cond delay="0"/>
                                  </p:stCondLst>
                                  <p:iterate type="lt">
                                    <p:tmPct val="0"/>
                                  </p:iterate>
                                  <p:childTnLst>
                                    <p:set>
                                      <p:cBhvr>
                                        <p:cTn id="11" dur="1" fill="hold">
                                          <p:stCondLst>
                                            <p:cond delay="0"/>
                                          </p:stCondLst>
                                        </p:cTn>
                                        <p:tgtEl>
                                          <p:spTgt spid="574471"/>
                                        </p:tgtEl>
                                        <p:attrNameLst>
                                          <p:attrName>style.visibility</p:attrName>
                                        </p:attrNameLst>
                                      </p:cBhvr>
                                      <p:to>
                                        <p:strVal val="visible"/>
                                      </p:to>
                                    </p:set>
                                    <p:anim calcmode="lin" valueType="num">
                                      <p:cBhvr additive="base">
                                        <p:cTn id="12" dur="500" fill="hold"/>
                                        <p:tgtEl>
                                          <p:spTgt spid="574471"/>
                                        </p:tgtEl>
                                        <p:attrNameLst>
                                          <p:attrName>ppt_x</p:attrName>
                                        </p:attrNameLst>
                                      </p:cBhvr>
                                      <p:tavLst>
                                        <p:tav tm="0">
                                          <p:val>
                                            <p:strVal val="#ppt_x"/>
                                          </p:val>
                                        </p:tav>
                                        <p:tav tm="100000">
                                          <p:val>
                                            <p:strVal val="#ppt_x"/>
                                          </p:val>
                                        </p:tav>
                                      </p:tavLst>
                                    </p:anim>
                                    <p:anim calcmode="lin" valueType="num">
                                      <p:cBhvr additive="base">
                                        <p:cTn id="13" dur="500" fill="hold"/>
                                        <p:tgtEl>
                                          <p:spTgt spid="574471"/>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0" presetClass="emph" presetSubtype="0" fill="hold" grpId="0" nodeType="afterEffect">
                                  <p:stCondLst>
                                    <p:cond delay="0"/>
                                  </p:stCondLst>
                                  <p:iterate type="lt">
                                    <p:tmPct val="10000"/>
                                  </p:iterate>
                                  <p:childTnLst>
                                    <p:set>
                                      <p:cBhvr override="childStyle">
                                        <p:cTn id="16" dur="250" autoRev="1" fill="hold"/>
                                        <p:tgtEl>
                                          <p:spTgt spid="574471"/>
                                        </p:tgtEl>
                                        <p:attrNameLst>
                                          <p:attrName>style.color</p:attrName>
                                        </p:attrNameLst>
                                      </p:cBhvr>
                                      <p:to>
                                        <p:clrVal>
                                          <a:srgbClr val="FF0000"/>
                                        </p:clrVal>
                                      </p:to>
                                    </p:set>
                                    <p:set>
                                      <p:cBhvr>
                                        <p:cTn id="17" dur="250" autoRev="1" fill="hold"/>
                                        <p:tgtEl>
                                          <p:spTgt spid="574471"/>
                                        </p:tgtEl>
                                        <p:attrNameLst>
                                          <p:attrName>fillcolor</p:attrName>
                                        </p:attrNameLst>
                                      </p:cBhvr>
                                      <p:to>
                                        <p:clrVal>
                                          <a:srgbClr val="FF0000"/>
                                        </p:clrVal>
                                      </p:to>
                                    </p:set>
                                    <p:set>
                                      <p:cBhvr>
                                        <p:cTn id="18" dur="250" autoRev="1" fill="hold"/>
                                        <p:tgtEl>
                                          <p:spTgt spid="57447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71" grpId="0"/>
      <p:bldP spid="574471" grpId="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Text Box 2"/>
          <p:cNvSpPr txBox="1">
            <a:spLocks noChangeArrowheads="1"/>
          </p:cNvSpPr>
          <p:nvPr/>
        </p:nvSpPr>
        <p:spPr bwMode="auto">
          <a:xfrm>
            <a:off x="755650" y="260350"/>
            <a:ext cx="1098550" cy="457200"/>
          </a:xfrm>
          <a:prstGeom prst="rect">
            <a:avLst/>
          </a:prstGeom>
          <a:noFill/>
          <a:ln w="12700" cap="sq">
            <a:noFill/>
            <a:miter lim="800000"/>
            <a:headEnd type="none" w="sm" len="sm"/>
            <a:tailEnd type="none" w="sm" len="sm"/>
          </a:ln>
          <a:effectLst/>
        </p:spPr>
        <p:txBody>
          <a:bodyPr>
            <a:spAutoFit/>
          </a:bodyPr>
          <a:lstStyle/>
          <a:p>
            <a:pPr algn="ctr" eaLnBrk="1" hangingPunct="1">
              <a:lnSpc>
                <a:spcPct val="85000"/>
              </a:lnSpc>
              <a:spcBef>
                <a:spcPct val="20000"/>
              </a:spcBef>
              <a:buClr>
                <a:schemeClr val="accent2"/>
              </a:buClr>
              <a:buFont typeface="Wingdings" panose="05000000000000000000" pitchFamily="2" charset="2"/>
              <a:buNone/>
              <a:defRPr/>
            </a:pPr>
            <a:r>
              <a:rPr kumimoji="1" lang="zh-CN" altLang="en-US">
                <a:effectLst>
                  <a:outerShdw blurRad="38100" dist="38100" dir="2700000" algn="tl">
                    <a:srgbClr val="C0C0C0"/>
                  </a:outerShdw>
                </a:effectLst>
                <a:latin typeface="黑体" panose="02010609060101010101" pitchFamily="49" charset="-122"/>
                <a:ea typeface="宋体" panose="02010600030101010101" pitchFamily="2" charset="-122"/>
              </a:rPr>
              <a:t>例</a:t>
            </a:r>
            <a:r>
              <a:rPr kumimoji="1" lang="en-US" altLang="zh-CN">
                <a:effectLst>
                  <a:outerShdw blurRad="38100" dist="38100" dir="2700000" algn="tl">
                    <a:srgbClr val="C0C0C0"/>
                  </a:outerShdw>
                </a:effectLst>
                <a:latin typeface="黑体" panose="02010609060101010101" pitchFamily="49" charset="-122"/>
                <a:ea typeface="宋体" panose="02010600030101010101" pitchFamily="2" charset="-122"/>
              </a:rPr>
              <a:t>1</a:t>
            </a:r>
            <a:r>
              <a:rPr kumimoji="1" lang="zh-CN" altLang="en-US">
                <a:effectLst>
                  <a:outerShdw blurRad="38100" dist="38100" dir="2700000" algn="tl">
                    <a:srgbClr val="C0C0C0"/>
                  </a:outerShdw>
                </a:effectLst>
                <a:latin typeface="黑体" panose="02010609060101010101" pitchFamily="49" charset="-122"/>
                <a:ea typeface="宋体" panose="02010600030101010101" pitchFamily="2" charset="-122"/>
              </a:rPr>
              <a:t>：</a:t>
            </a:r>
          </a:p>
        </p:txBody>
      </p:sp>
      <p:graphicFrame>
        <p:nvGraphicFramePr>
          <p:cNvPr id="88067" name="Object 2"/>
          <p:cNvGraphicFramePr>
            <a:graphicFrameLocks noChangeAspect="1"/>
          </p:cNvGraphicFramePr>
          <p:nvPr/>
        </p:nvGraphicFramePr>
        <p:xfrm>
          <a:off x="1692275" y="260350"/>
          <a:ext cx="3924300" cy="514350"/>
        </p:xfrm>
        <a:graphic>
          <a:graphicData uri="http://schemas.openxmlformats.org/presentationml/2006/ole">
            <mc:AlternateContent xmlns:mc="http://schemas.openxmlformats.org/markup-compatibility/2006">
              <mc:Choice xmlns:v="urn:schemas-microsoft-com:vml" Requires="v">
                <p:oleObj name="Equation" r:id="rId3" imgW="1236345" imgH="120015" progId="Equation.3">
                  <p:embed/>
                </p:oleObj>
              </mc:Choice>
              <mc:Fallback>
                <p:oleObj name="Equation" r:id="rId3" imgW="1236345" imgH="12001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260350"/>
                        <a:ext cx="3924300" cy="5143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5492" name="Text Box 4"/>
          <p:cNvSpPr txBox="1">
            <a:spLocks noChangeArrowheads="1"/>
          </p:cNvSpPr>
          <p:nvPr/>
        </p:nvSpPr>
        <p:spPr bwMode="auto">
          <a:xfrm>
            <a:off x="755650" y="625475"/>
            <a:ext cx="5116195" cy="1872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50000"/>
              </a:spcBef>
              <a:buClr>
                <a:schemeClr val="accent2"/>
              </a:buClr>
              <a:buFont typeface="Wingdings" panose="05000000000000000000" pitchFamily="2" charset="2"/>
              <a:buNone/>
            </a:pPr>
            <a:r>
              <a:rPr kumimoji="1" lang="en-US" altLang="zh-CN">
                <a:solidFill>
                  <a:srgbClr val="800000"/>
                </a:solidFill>
                <a:latin typeface="Tahoma" panose="020B0604030504040204" pitchFamily="34" charset="0"/>
                <a:ea typeface="楷体_GB2312" pitchFamily="49" charset="-122"/>
              </a:rPr>
              <a:t>      </a:t>
            </a:r>
            <a:r>
              <a:rPr kumimoji="1" lang="zh-CN" altLang="en-US">
                <a:solidFill>
                  <a:srgbClr val="0000FF"/>
                </a:solidFill>
                <a:latin typeface="Tahoma" panose="020B0604030504040204" pitchFamily="34" charset="0"/>
                <a:ea typeface="楷体_GB2312" pitchFamily="49" charset="-122"/>
              </a:rPr>
              <a:t>罗斯阵列中首列元素同号，故</a:t>
            </a:r>
            <a:r>
              <a:rPr kumimoji="1" lang="en-US" altLang="zh-CN">
                <a:solidFill>
                  <a:srgbClr val="0000FF"/>
                </a:solidFill>
                <a:latin typeface="Tahoma" panose="020B0604030504040204" pitchFamily="34" charset="0"/>
                <a:ea typeface="楷体_GB2312" pitchFamily="49" charset="-122"/>
              </a:rPr>
              <a:t>D(s)=0</a:t>
            </a:r>
            <a:r>
              <a:rPr kumimoji="1" lang="zh-CN" altLang="en-US">
                <a:solidFill>
                  <a:srgbClr val="0000FF"/>
                </a:solidFill>
                <a:latin typeface="Tahoma" panose="020B0604030504040204" pitchFamily="34" charset="0"/>
                <a:ea typeface="楷体_GB2312" pitchFamily="49" charset="-122"/>
              </a:rPr>
              <a:t>的根全位于左半平面。</a:t>
            </a:r>
            <a:r>
              <a:rPr kumimoji="1" lang="zh-CN" altLang="en-US">
                <a:solidFill>
                  <a:srgbClr val="FF0000"/>
                </a:solidFill>
                <a:latin typeface="Tahoma" panose="020B0604030504040204" pitchFamily="34" charset="0"/>
                <a:ea typeface="楷体_GB2312" pitchFamily="49" charset="-122"/>
              </a:rPr>
              <a:t>系统稳定</a:t>
            </a:r>
            <a:r>
              <a:rPr kumimoji="1" lang="zh-CN" altLang="en-US">
                <a:solidFill>
                  <a:srgbClr val="800000"/>
                </a:solidFill>
                <a:latin typeface="Tahoma" panose="020B0604030504040204" pitchFamily="34" charset="0"/>
                <a:ea typeface="楷体_GB2312" pitchFamily="49" charset="-122"/>
              </a:rPr>
              <a:t>。</a:t>
            </a:r>
          </a:p>
        </p:txBody>
      </p:sp>
      <p:graphicFrame>
        <p:nvGraphicFramePr>
          <p:cNvPr id="575493" name="Object 3"/>
          <p:cNvGraphicFramePr>
            <a:graphicFrameLocks noChangeAspect="1"/>
          </p:cNvGraphicFramePr>
          <p:nvPr/>
        </p:nvGraphicFramePr>
        <p:xfrm>
          <a:off x="6323013" y="152400"/>
          <a:ext cx="458787" cy="2667000"/>
        </p:xfrm>
        <a:graphic>
          <a:graphicData uri="http://schemas.openxmlformats.org/presentationml/2006/ole">
            <mc:AlternateContent xmlns:mc="http://schemas.openxmlformats.org/markup-compatibility/2006">
              <mc:Choice xmlns:v="urn:schemas-microsoft-com:vml" Requires="v">
                <p:oleObj name="Equation" r:id="rId5" imgW="85725" imgH="674370" progId="Equation.3">
                  <p:embed/>
                </p:oleObj>
              </mc:Choice>
              <mc:Fallback>
                <p:oleObj name="Equation" r:id="rId5" imgW="85725" imgH="67437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3013" y="152400"/>
                        <a:ext cx="458787" cy="266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494" name="Object 4"/>
          <p:cNvGraphicFramePr>
            <a:graphicFrameLocks noChangeAspect="1"/>
          </p:cNvGraphicFramePr>
          <p:nvPr/>
        </p:nvGraphicFramePr>
        <p:xfrm>
          <a:off x="827088" y="3141663"/>
          <a:ext cx="4654550" cy="514350"/>
        </p:xfrm>
        <a:graphic>
          <a:graphicData uri="http://schemas.openxmlformats.org/presentationml/2006/ole">
            <mc:AlternateContent xmlns:mc="http://schemas.openxmlformats.org/markup-compatibility/2006">
              <mc:Choice xmlns:v="urn:schemas-microsoft-com:vml" Requires="v">
                <p:oleObj name="Equation" r:id="rId7" imgW="1469390" imgH="120015" progId="Equation.3">
                  <p:embed/>
                </p:oleObj>
              </mc:Choice>
              <mc:Fallback>
                <p:oleObj name="Equation" r:id="rId7" imgW="1469390" imgH="120015"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3141663"/>
                        <a:ext cx="4654550" cy="5143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5495" name="Text Box 7"/>
          <p:cNvSpPr txBox="1">
            <a:spLocks noChangeArrowheads="1"/>
          </p:cNvSpPr>
          <p:nvPr/>
        </p:nvSpPr>
        <p:spPr bwMode="auto">
          <a:xfrm>
            <a:off x="827088" y="2636838"/>
            <a:ext cx="1463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r>
              <a:rPr kumimoji="1" lang="zh-CN" altLang="en-US">
                <a:latin typeface="Tahoma" panose="020B0604030504040204" pitchFamily="34" charset="0"/>
                <a:ea typeface="宋体" panose="02010600030101010101" pitchFamily="2" charset="-122"/>
              </a:rPr>
              <a:t>练习：</a:t>
            </a:r>
          </a:p>
        </p:txBody>
      </p:sp>
      <p:graphicFrame>
        <p:nvGraphicFramePr>
          <p:cNvPr id="575496" name="Object 5"/>
          <p:cNvGraphicFramePr>
            <a:graphicFrameLocks noChangeAspect="1"/>
          </p:cNvGraphicFramePr>
          <p:nvPr/>
        </p:nvGraphicFramePr>
        <p:xfrm>
          <a:off x="684213" y="4076700"/>
          <a:ext cx="5241925" cy="514350"/>
        </p:xfrm>
        <a:graphic>
          <a:graphicData uri="http://schemas.openxmlformats.org/presentationml/2006/ole">
            <mc:AlternateContent xmlns:mc="http://schemas.openxmlformats.org/markup-compatibility/2006">
              <mc:Choice xmlns:v="urn:schemas-microsoft-com:vml" Requires="v">
                <p:oleObj name="公式" r:id="rId9" imgW="1661160" imgH="120015" progId="Equation.3">
                  <p:embed/>
                </p:oleObj>
              </mc:Choice>
              <mc:Fallback>
                <p:oleObj name="公式" r:id="rId9" imgW="1661160" imgH="120015"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4213" y="4076700"/>
                        <a:ext cx="5241925" cy="5143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497" name="Object 6"/>
          <p:cNvGraphicFramePr>
            <a:graphicFrameLocks noChangeAspect="1"/>
          </p:cNvGraphicFramePr>
          <p:nvPr/>
        </p:nvGraphicFramePr>
        <p:xfrm>
          <a:off x="684213" y="5876925"/>
          <a:ext cx="5467350" cy="514350"/>
        </p:xfrm>
        <a:graphic>
          <a:graphicData uri="http://schemas.openxmlformats.org/presentationml/2006/ole">
            <mc:AlternateContent xmlns:mc="http://schemas.openxmlformats.org/markup-compatibility/2006">
              <mc:Choice xmlns:v="urn:schemas-microsoft-com:vml" Requires="v">
                <p:oleObj name="Equation" r:id="rId11" imgW="1736090" imgH="120015" progId="Equation.3">
                  <p:embed/>
                </p:oleObj>
              </mc:Choice>
              <mc:Fallback>
                <p:oleObj name="Equation" r:id="rId11" imgW="1736090" imgH="120015"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213" y="5876925"/>
                        <a:ext cx="5467350" cy="5143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498" name="Object 7"/>
          <p:cNvGraphicFramePr>
            <a:graphicFrameLocks noChangeAspect="1"/>
          </p:cNvGraphicFramePr>
          <p:nvPr/>
        </p:nvGraphicFramePr>
        <p:xfrm>
          <a:off x="5943600" y="3352800"/>
          <a:ext cx="655638" cy="2667000"/>
        </p:xfrm>
        <a:graphic>
          <a:graphicData uri="http://schemas.openxmlformats.org/presentationml/2006/ole">
            <mc:AlternateContent xmlns:mc="http://schemas.openxmlformats.org/markup-compatibility/2006">
              <mc:Choice xmlns:v="urn:schemas-microsoft-com:vml" Requires="v">
                <p:oleObj name="Equation" r:id="rId13" imgW="140335" imgH="832485" progId="Equation.3">
                  <p:embed/>
                </p:oleObj>
              </mc:Choice>
              <mc:Fallback>
                <p:oleObj name="Equation" r:id="rId13" imgW="140335" imgH="832485"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43600" y="3352800"/>
                        <a:ext cx="655638" cy="266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499" name="Object 8"/>
          <p:cNvGraphicFramePr>
            <a:graphicFrameLocks noChangeAspect="1"/>
          </p:cNvGraphicFramePr>
          <p:nvPr/>
        </p:nvGraphicFramePr>
        <p:xfrm>
          <a:off x="6553200" y="3276600"/>
          <a:ext cx="1570038" cy="457200"/>
        </p:xfrm>
        <a:graphic>
          <a:graphicData uri="http://schemas.openxmlformats.org/presentationml/2006/ole">
            <mc:AlternateContent xmlns:mc="http://schemas.openxmlformats.org/markup-compatibility/2006">
              <mc:Choice xmlns:v="urn:schemas-microsoft-com:vml" Requires="v">
                <p:oleObj name="Equation" r:id="rId15" imgW="469265" imgH="99060" progId="Equation.3">
                  <p:embed/>
                </p:oleObj>
              </mc:Choice>
              <mc:Fallback>
                <p:oleObj name="Equation" r:id="rId15" imgW="469265" imgH="9906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53200" y="3276600"/>
                        <a:ext cx="1570038"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500" name="Object 9"/>
          <p:cNvGraphicFramePr>
            <a:graphicFrameLocks noChangeAspect="1"/>
          </p:cNvGraphicFramePr>
          <p:nvPr/>
        </p:nvGraphicFramePr>
        <p:xfrm>
          <a:off x="6629400" y="3733800"/>
          <a:ext cx="1543050" cy="457200"/>
        </p:xfrm>
        <a:graphic>
          <a:graphicData uri="http://schemas.openxmlformats.org/presentationml/2006/ole">
            <mc:AlternateContent xmlns:mc="http://schemas.openxmlformats.org/markup-compatibility/2006">
              <mc:Choice xmlns:v="urn:schemas-microsoft-com:vml" Requires="v">
                <p:oleObj name="Equation" r:id="rId17" imgW="455295" imgH="99060" progId="Equation.3">
                  <p:embed/>
                </p:oleObj>
              </mc:Choice>
              <mc:Fallback>
                <p:oleObj name="Equation" r:id="rId17" imgW="455295" imgH="9906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629400" y="3733800"/>
                        <a:ext cx="15430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501" name="Object 10"/>
          <p:cNvGraphicFramePr>
            <a:graphicFrameLocks noChangeAspect="1"/>
          </p:cNvGraphicFramePr>
          <p:nvPr/>
        </p:nvGraphicFramePr>
        <p:xfrm>
          <a:off x="6477000" y="4267200"/>
          <a:ext cx="1676400" cy="457200"/>
        </p:xfrm>
        <a:graphic>
          <a:graphicData uri="http://schemas.openxmlformats.org/presentationml/2006/ole">
            <mc:AlternateContent xmlns:mc="http://schemas.openxmlformats.org/markup-compatibility/2006">
              <mc:Choice xmlns:v="urn:schemas-microsoft-com:vml" Requires="v">
                <p:oleObj name="Equation" r:id="rId19" imgW="469265" imgH="99060" progId="Equation.3">
                  <p:embed/>
                </p:oleObj>
              </mc:Choice>
              <mc:Fallback>
                <p:oleObj name="Equation" r:id="rId19" imgW="469265" imgH="9906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477000" y="4267200"/>
                        <a:ext cx="16764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502" name="Object 11"/>
          <p:cNvGraphicFramePr>
            <a:graphicFrameLocks noChangeAspect="1"/>
          </p:cNvGraphicFramePr>
          <p:nvPr/>
        </p:nvGraphicFramePr>
        <p:xfrm>
          <a:off x="6553200" y="4648200"/>
          <a:ext cx="990600" cy="885825"/>
        </p:xfrm>
        <a:graphic>
          <a:graphicData uri="http://schemas.openxmlformats.org/presentationml/2006/ole">
            <mc:AlternateContent xmlns:mc="http://schemas.openxmlformats.org/markup-compatibility/2006">
              <mc:Choice xmlns:v="urn:schemas-microsoft-com:vml" Requires="v">
                <p:oleObj name="Equation" r:id="rId21" imgW="263525" imgH="236220" progId="Equation.3">
                  <p:embed/>
                </p:oleObj>
              </mc:Choice>
              <mc:Fallback>
                <p:oleObj name="Equation" r:id="rId21" imgW="263525" imgH="23622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553200" y="4648200"/>
                        <a:ext cx="990600" cy="885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503" name="Object 12"/>
          <p:cNvGraphicFramePr>
            <a:graphicFrameLocks noChangeAspect="1"/>
          </p:cNvGraphicFramePr>
          <p:nvPr/>
        </p:nvGraphicFramePr>
        <p:xfrm>
          <a:off x="6629400" y="5638800"/>
          <a:ext cx="279400" cy="371475"/>
        </p:xfrm>
        <a:graphic>
          <a:graphicData uri="http://schemas.openxmlformats.org/presentationml/2006/ole">
            <mc:AlternateContent xmlns:mc="http://schemas.openxmlformats.org/markup-compatibility/2006">
              <mc:Choice xmlns:v="urn:schemas-microsoft-com:vml" Requires="v">
                <p:oleObj name="Equation" r:id="rId23" imgW="44450" imgH="71755" progId="Equation.3">
                  <p:embed/>
                </p:oleObj>
              </mc:Choice>
              <mc:Fallback>
                <p:oleObj name="Equation" r:id="rId23" imgW="44450" imgH="71755"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629400" y="5638800"/>
                        <a:ext cx="279400" cy="371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5504" name="Rectangle 16"/>
          <p:cNvSpPr>
            <a:spLocks noChangeArrowheads="1"/>
          </p:cNvSpPr>
          <p:nvPr/>
        </p:nvSpPr>
        <p:spPr bwMode="auto">
          <a:xfrm>
            <a:off x="6400800" y="3276600"/>
            <a:ext cx="685800" cy="2895600"/>
          </a:xfrm>
          <a:prstGeom prst="rect">
            <a:avLst/>
          </a:prstGeom>
          <a:noFill/>
          <a:ln w="1905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575505" name="AutoShape 17"/>
          <p:cNvSpPr>
            <a:spLocks noChangeArrowheads="1"/>
          </p:cNvSpPr>
          <p:nvPr/>
        </p:nvSpPr>
        <p:spPr bwMode="auto">
          <a:xfrm>
            <a:off x="3340100" y="4800600"/>
            <a:ext cx="1384300" cy="457200"/>
          </a:xfrm>
          <a:prstGeom prst="wedgeRectCallout">
            <a:avLst>
              <a:gd name="adj1" fmla="val 120296"/>
              <a:gd name="adj2" fmla="val -134722"/>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r>
              <a:rPr kumimoji="1" lang="zh-CN" altLang="en-US">
                <a:latin typeface="Tahoma" panose="020B0604030504040204" pitchFamily="34" charset="0"/>
                <a:ea typeface="宋体" panose="02010600030101010101" pitchFamily="2" charset="-122"/>
              </a:rPr>
              <a:t>负系数</a:t>
            </a:r>
          </a:p>
        </p:txBody>
      </p:sp>
      <p:sp>
        <p:nvSpPr>
          <p:cNvPr id="575506" name="AutoShape 18"/>
          <p:cNvSpPr>
            <a:spLocks noChangeArrowheads="1"/>
          </p:cNvSpPr>
          <p:nvPr/>
        </p:nvSpPr>
        <p:spPr bwMode="auto">
          <a:xfrm>
            <a:off x="838200" y="4953000"/>
            <a:ext cx="1143000" cy="457200"/>
          </a:xfrm>
          <a:prstGeom prst="wedgeRectCallout">
            <a:avLst>
              <a:gd name="adj1" fmla="val 197500"/>
              <a:gd name="adj2" fmla="val 195486"/>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r>
              <a:rPr kumimoji="1" lang="zh-CN" altLang="en-US">
                <a:latin typeface="Tahoma" panose="020B0604030504040204" pitchFamily="34" charset="0"/>
                <a:ea typeface="宋体" panose="02010600030101010101" pitchFamily="2" charset="-122"/>
              </a:rPr>
              <a:t>缺项</a:t>
            </a:r>
          </a:p>
        </p:txBody>
      </p:sp>
      <p:graphicFrame>
        <p:nvGraphicFramePr>
          <p:cNvPr id="575507" name="Object 13"/>
          <p:cNvGraphicFramePr>
            <a:graphicFrameLocks noChangeAspect="1"/>
          </p:cNvGraphicFramePr>
          <p:nvPr/>
        </p:nvGraphicFramePr>
        <p:xfrm>
          <a:off x="7010400" y="304800"/>
          <a:ext cx="1374775" cy="457200"/>
        </p:xfrm>
        <a:graphic>
          <a:graphicData uri="http://schemas.openxmlformats.org/presentationml/2006/ole">
            <mc:AlternateContent xmlns:mc="http://schemas.openxmlformats.org/markup-compatibility/2006">
              <mc:Choice xmlns:v="urn:schemas-microsoft-com:vml" Requires="v">
                <p:oleObj name="Equation" r:id="rId25" imgW="400685" imgH="99060" progId="Equation.3">
                  <p:embed/>
                </p:oleObj>
              </mc:Choice>
              <mc:Fallback>
                <p:oleObj name="Equation" r:id="rId25" imgW="400685" imgH="99060" progId="Equation.3">
                  <p:embed/>
                  <p:pic>
                    <p:nvPicPr>
                      <p:cNvPr id="0"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010400" y="304800"/>
                        <a:ext cx="1374775"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508" name="Object 14"/>
          <p:cNvGraphicFramePr>
            <a:graphicFrameLocks noChangeAspect="1"/>
          </p:cNvGraphicFramePr>
          <p:nvPr/>
        </p:nvGraphicFramePr>
        <p:xfrm>
          <a:off x="6940550" y="762000"/>
          <a:ext cx="1514475" cy="457200"/>
        </p:xfrm>
        <a:graphic>
          <a:graphicData uri="http://schemas.openxmlformats.org/presentationml/2006/ole">
            <mc:AlternateContent xmlns:mc="http://schemas.openxmlformats.org/markup-compatibility/2006">
              <mc:Choice xmlns:v="urn:schemas-microsoft-com:vml" Requires="v">
                <p:oleObj name="Equation" r:id="rId27" imgW="448945" imgH="99060" progId="Equation.3">
                  <p:embed/>
                </p:oleObj>
              </mc:Choice>
              <mc:Fallback>
                <p:oleObj name="Equation" r:id="rId27" imgW="448945" imgH="99060" progId="Equation.3">
                  <p:embed/>
                  <p:pic>
                    <p:nvPicPr>
                      <p:cNvPr id="0"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940550" y="762000"/>
                        <a:ext cx="1514475"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509" name="Object 15"/>
          <p:cNvGraphicFramePr>
            <a:graphicFrameLocks noChangeAspect="1"/>
          </p:cNvGraphicFramePr>
          <p:nvPr/>
        </p:nvGraphicFramePr>
        <p:xfrm>
          <a:off x="7010400" y="1295400"/>
          <a:ext cx="982663" cy="457200"/>
        </p:xfrm>
        <a:graphic>
          <a:graphicData uri="http://schemas.openxmlformats.org/presentationml/2006/ole">
            <mc:AlternateContent xmlns:mc="http://schemas.openxmlformats.org/markup-compatibility/2006">
              <mc:Choice xmlns:v="urn:schemas-microsoft-com:vml" Requires="v">
                <p:oleObj name="Equation" r:id="rId29" imgW="277495" imgH="99060" progId="Equation.3">
                  <p:embed/>
                </p:oleObj>
              </mc:Choice>
              <mc:Fallback>
                <p:oleObj name="Equation" r:id="rId29" imgW="277495" imgH="99060" progId="Equation.3">
                  <p:embed/>
                  <p:pic>
                    <p:nvPicPr>
                      <p:cNvPr id="0" name="Object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010400" y="1295400"/>
                        <a:ext cx="98266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510" name="Object 16"/>
          <p:cNvGraphicFramePr>
            <a:graphicFrameLocks noChangeAspect="1"/>
          </p:cNvGraphicFramePr>
          <p:nvPr/>
        </p:nvGraphicFramePr>
        <p:xfrm>
          <a:off x="7010400" y="1828800"/>
          <a:ext cx="982663" cy="457200"/>
        </p:xfrm>
        <a:graphic>
          <a:graphicData uri="http://schemas.openxmlformats.org/presentationml/2006/ole">
            <mc:AlternateContent xmlns:mc="http://schemas.openxmlformats.org/markup-compatibility/2006">
              <mc:Choice xmlns:v="urn:schemas-microsoft-com:vml" Requires="v">
                <p:oleObj name="Equation" r:id="rId31" imgW="277495" imgH="99060" progId="Equation.3">
                  <p:embed/>
                </p:oleObj>
              </mc:Choice>
              <mc:Fallback>
                <p:oleObj name="Equation" r:id="rId31" imgW="277495" imgH="99060" progId="Equation.3">
                  <p:embed/>
                  <p:pic>
                    <p:nvPicPr>
                      <p:cNvPr id="0" name="Object 1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7010400" y="1828800"/>
                        <a:ext cx="98266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5511" name="Object 17"/>
          <p:cNvGraphicFramePr>
            <a:graphicFrameLocks noChangeAspect="1"/>
          </p:cNvGraphicFramePr>
          <p:nvPr/>
        </p:nvGraphicFramePr>
        <p:xfrm>
          <a:off x="6934200" y="2286000"/>
          <a:ext cx="393700" cy="457200"/>
        </p:xfrm>
        <a:graphic>
          <a:graphicData uri="http://schemas.openxmlformats.org/presentationml/2006/ole">
            <mc:AlternateContent xmlns:mc="http://schemas.openxmlformats.org/markup-compatibility/2006">
              <mc:Choice xmlns:v="urn:schemas-microsoft-com:vml" Requires="v">
                <p:oleObj name="Equation" r:id="rId33" imgW="85725" imgH="99060" progId="Equation.3">
                  <p:embed/>
                </p:oleObj>
              </mc:Choice>
              <mc:Fallback>
                <p:oleObj name="Equation" r:id="rId33" imgW="85725" imgH="99060" progId="Equation.3">
                  <p:embed/>
                  <p:pic>
                    <p:nvPicPr>
                      <p:cNvPr id="0" name="Object 1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934200" y="2286000"/>
                        <a:ext cx="3937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5512" name="Rectangle 24"/>
          <p:cNvSpPr>
            <a:spLocks noChangeArrowheads="1"/>
          </p:cNvSpPr>
          <p:nvPr/>
        </p:nvSpPr>
        <p:spPr bwMode="auto">
          <a:xfrm>
            <a:off x="6858000" y="304800"/>
            <a:ext cx="533400" cy="2514600"/>
          </a:xfrm>
          <a:prstGeom prst="rect">
            <a:avLst/>
          </a:prstGeom>
          <a:noFill/>
          <a:ln w="1905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25" name="日期占位符 24"/>
          <p:cNvSpPr>
            <a:spLocks noGrp="1"/>
          </p:cNvSpPr>
          <p:nvPr>
            <p:ph type="dt" sz="quarter" idx="10"/>
          </p:nvPr>
        </p:nvSpPr>
        <p:spPr/>
        <p:txBody>
          <a:bodyPr/>
          <a:lstStyle/>
          <a:p>
            <a:pPr>
              <a:defRPr/>
            </a:pPr>
            <a:fld id="{B8762107-B45B-4866-BE92-20BB38A55B5D}" type="datetime1">
              <a:rPr lang="zh-CN" altLang="en-US"/>
              <a:t>2026/4/28</a:t>
            </a:fld>
            <a:endParaRPr lang="en-US" altLang="zh-CN" dirty="0"/>
          </a:p>
        </p:txBody>
      </p:sp>
      <p:sp>
        <p:nvSpPr>
          <p:cNvPr id="2" name="墨迹 1"/>
          <p:cNvSpPr/>
          <p:nvPr/>
        </p:nvSpPr>
        <p:spPr bwMode="auto">
          <a:xfrm>
            <a:off x="610560" y="490680"/>
            <a:ext cx="7192440" cy="5913360"/>
          </a:xfrm>
        </p:spPr>
      </p:sp>
    </p:spTree>
    <p:custDataLst>
      <p:tags r:id="rId1"/>
    </p:custDataLst>
  </p:cSld>
  <p:clrMapOvr>
    <a:masterClrMapping/>
  </p:clrMapOvr>
  <p:transition spd="med" advTm="37533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75493"/>
                                        </p:tgtEl>
                                        <p:attrNameLst>
                                          <p:attrName>style.visibility</p:attrName>
                                        </p:attrNameLst>
                                      </p:cBhvr>
                                      <p:to>
                                        <p:strVal val="visible"/>
                                      </p:to>
                                    </p:set>
                                    <p:animEffect transition="in" filter="wipe(left)">
                                      <p:cBhvr>
                                        <p:cTn id="12" dur="500"/>
                                        <p:tgtEl>
                                          <p:spTgt spid="57549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75507"/>
                                        </p:tgtEl>
                                        <p:attrNameLst>
                                          <p:attrName>style.visibility</p:attrName>
                                        </p:attrNameLst>
                                      </p:cBhvr>
                                      <p:to>
                                        <p:strVal val="visible"/>
                                      </p:to>
                                    </p:set>
                                    <p:animEffect transition="in" filter="wipe(left)">
                                      <p:cBhvr>
                                        <p:cTn id="17" dur="500"/>
                                        <p:tgtEl>
                                          <p:spTgt spid="5755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75508"/>
                                        </p:tgtEl>
                                        <p:attrNameLst>
                                          <p:attrName>style.visibility</p:attrName>
                                        </p:attrNameLst>
                                      </p:cBhvr>
                                      <p:to>
                                        <p:strVal val="visible"/>
                                      </p:to>
                                    </p:set>
                                    <p:animEffect transition="in" filter="wipe(left)">
                                      <p:cBhvr>
                                        <p:cTn id="22" dur="500"/>
                                        <p:tgtEl>
                                          <p:spTgt spid="5755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75509"/>
                                        </p:tgtEl>
                                        <p:attrNameLst>
                                          <p:attrName>style.visibility</p:attrName>
                                        </p:attrNameLst>
                                      </p:cBhvr>
                                      <p:to>
                                        <p:strVal val="visible"/>
                                      </p:to>
                                    </p:set>
                                    <p:animEffect transition="in" filter="wipe(left)">
                                      <p:cBhvr>
                                        <p:cTn id="27" dur="500"/>
                                        <p:tgtEl>
                                          <p:spTgt spid="5755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75510"/>
                                        </p:tgtEl>
                                        <p:attrNameLst>
                                          <p:attrName>style.visibility</p:attrName>
                                        </p:attrNameLst>
                                      </p:cBhvr>
                                      <p:to>
                                        <p:strVal val="visible"/>
                                      </p:to>
                                    </p:set>
                                    <p:animEffect transition="in" filter="wipe(left)">
                                      <p:cBhvr>
                                        <p:cTn id="32" dur="500"/>
                                        <p:tgtEl>
                                          <p:spTgt spid="5755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75511"/>
                                        </p:tgtEl>
                                        <p:attrNameLst>
                                          <p:attrName>style.visibility</p:attrName>
                                        </p:attrNameLst>
                                      </p:cBhvr>
                                      <p:to>
                                        <p:strVal val="visible"/>
                                      </p:to>
                                    </p:set>
                                    <p:animEffect transition="in" filter="wipe(left)">
                                      <p:cBhvr>
                                        <p:cTn id="37" dur="500"/>
                                        <p:tgtEl>
                                          <p:spTgt spid="5755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75512"/>
                                        </p:tgtEl>
                                        <p:attrNameLst>
                                          <p:attrName>style.visibility</p:attrName>
                                        </p:attrNameLst>
                                      </p:cBhvr>
                                      <p:to>
                                        <p:strVal val="visible"/>
                                      </p:to>
                                    </p:set>
                                    <p:animEffect transition="in" filter="wipe(left)">
                                      <p:cBhvr>
                                        <p:cTn id="42" dur="500"/>
                                        <p:tgtEl>
                                          <p:spTgt spid="575512"/>
                                        </p:tgtEl>
                                      </p:cBhvr>
                                    </p:animEffect>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grpId="0" nodeType="clickEffect">
                                  <p:stCondLst>
                                    <p:cond delay="0"/>
                                  </p:stCondLst>
                                  <p:childTnLst>
                                    <p:set>
                                      <p:cBhvr>
                                        <p:cTn id="46" dur="1" fill="hold">
                                          <p:stCondLst>
                                            <p:cond delay="0"/>
                                          </p:stCondLst>
                                        </p:cTn>
                                        <p:tgtEl>
                                          <p:spTgt spid="575492">
                                            <p:txEl>
                                              <p:pRg st="0" end="0"/>
                                            </p:txEl>
                                          </p:spTgt>
                                        </p:tgtEl>
                                        <p:attrNameLst>
                                          <p:attrName>style.visibility</p:attrName>
                                        </p:attrNameLst>
                                      </p:cBhvr>
                                      <p:to>
                                        <p:strVal val="visible"/>
                                      </p:to>
                                    </p:set>
                                    <p:anim calcmode="lin" valueType="num">
                                      <p:cBhvr>
                                        <p:cTn id="47" dur="1000" fill="hold"/>
                                        <p:tgtEl>
                                          <p:spTgt spid="575492">
                                            <p:txEl>
                                              <p:pRg st="0" end="0"/>
                                            </p:txEl>
                                          </p:spTgt>
                                        </p:tgtEl>
                                        <p:attrNameLst>
                                          <p:attrName>ppt_w</p:attrName>
                                        </p:attrNameLst>
                                      </p:cBhvr>
                                      <p:tavLst>
                                        <p:tav tm="0">
                                          <p:val>
                                            <p:strVal val="#ppt_w*0.70"/>
                                          </p:val>
                                        </p:tav>
                                        <p:tav tm="100000">
                                          <p:val>
                                            <p:strVal val="#ppt_w"/>
                                          </p:val>
                                        </p:tav>
                                      </p:tavLst>
                                    </p:anim>
                                    <p:anim calcmode="lin" valueType="num">
                                      <p:cBhvr>
                                        <p:cTn id="48" dur="1000" fill="hold"/>
                                        <p:tgtEl>
                                          <p:spTgt spid="575492">
                                            <p:txEl>
                                              <p:pRg st="0" end="0"/>
                                            </p:txEl>
                                          </p:spTgt>
                                        </p:tgtEl>
                                        <p:attrNameLst>
                                          <p:attrName>ppt_h</p:attrName>
                                        </p:attrNameLst>
                                      </p:cBhvr>
                                      <p:tavLst>
                                        <p:tav tm="0">
                                          <p:val>
                                            <p:strVal val="#ppt_h"/>
                                          </p:val>
                                        </p:tav>
                                        <p:tav tm="100000">
                                          <p:val>
                                            <p:strVal val="#ppt_h"/>
                                          </p:val>
                                        </p:tav>
                                      </p:tavLst>
                                    </p:anim>
                                    <p:animEffect transition="in" filter="fade">
                                      <p:cBhvr>
                                        <p:cTn id="49" dur="1000"/>
                                        <p:tgtEl>
                                          <p:spTgt spid="575492">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75495">
                                            <p:txEl>
                                              <p:pRg st="0" end="0"/>
                                            </p:txEl>
                                          </p:spTgt>
                                        </p:tgtEl>
                                        <p:attrNameLst>
                                          <p:attrName>style.visibility</p:attrName>
                                        </p:attrNameLst>
                                      </p:cBhvr>
                                      <p:to>
                                        <p:strVal val="visible"/>
                                      </p:to>
                                    </p:set>
                                    <p:animEffect transition="in" filter="wipe(left)">
                                      <p:cBhvr>
                                        <p:cTn id="54" dur="500"/>
                                        <p:tgtEl>
                                          <p:spTgt spid="575495">
                                            <p:txEl>
                                              <p:pRg st="0" end="0"/>
                                            </p:txEl>
                                          </p:spTgt>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575494"/>
                                        </p:tgtEl>
                                        <p:attrNameLst>
                                          <p:attrName>style.visibility</p:attrName>
                                        </p:attrNameLst>
                                      </p:cBhvr>
                                      <p:to>
                                        <p:strVal val="visible"/>
                                      </p:to>
                                    </p:set>
                                    <p:animEffect transition="in" filter="wipe(left)">
                                      <p:cBhvr>
                                        <p:cTn id="58" dur="500"/>
                                        <p:tgtEl>
                                          <p:spTgt spid="57549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575498"/>
                                        </p:tgtEl>
                                        <p:attrNameLst>
                                          <p:attrName>style.visibility</p:attrName>
                                        </p:attrNameLst>
                                      </p:cBhvr>
                                      <p:to>
                                        <p:strVal val="visible"/>
                                      </p:to>
                                    </p:set>
                                    <p:animEffect transition="in" filter="wipe(left)">
                                      <p:cBhvr>
                                        <p:cTn id="63" dur="500"/>
                                        <p:tgtEl>
                                          <p:spTgt spid="57549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575499"/>
                                        </p:tgtEl>
                                        <p:attrNameLst>
                                          <p:attrName>style.visibility</p:attrName>
                                        </p:attrNameLst>
                                      </p:cBhvr>
                                      <p:to>
                                        <p:strVal val="visible"/>
                                      </p:to>
                                    </p:set>
                                    <p:animEffect transition="in" filter="wipe(left)">
                                      <p:cBhvr>
                                        <p:cTn id="68" dur="500"/>
                                        <p:tgtEl>
                                          <p:spTgt spid="57549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575500"/>
                                        </p:tgtEl>
                                        <p:attrNameLst>
                                          <p:attrName>style.visibility</p:attrName>
                                        </p:attrNameLst>
                                      </p:cBhvr>
                                      <p:to>
                                        <p:strVal val="visible"/>
                                      </p:to>
                                    </p:set>
                                    <p:animEffect transition="in" filter="wipe(left)">
                                      <p:cBhvr>
                                        <p:cTn id="73" dur="500"/>
                                        <p:tgtEl>
                                          <p:spTgt spid="57550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575501"/>
                                        </p:tgtEl>
                                        <p:attrNameLst>
                                          <p:attrName>style.visibility</p:attrName>
                                        </p:attrNameLst>
                                      </p:cBhvr>
                                      <p:to>
                                        <p:strVal val="visible"/>
                                      </p:to>
                                    </p:set>
                                    <p:animEffect transition="in" filter="wipe(left)">
                                      <p:cBhvr>
                                        <p:cTn id="78" dur="500"/>
                                        <p:tgtEl>
                                          <p:spTgt spid="57550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575502"/>
                                        </p:tgtEl>
                                        <p:attrNameLst>
                                          <p:attrName>style.visibility</p:attrName>
                                        </p:attrNameLst>
                                      </p:cBhvr>
                                      <p:to>
                                        <p:strVal val="visible"/>
                                      </p:to>
                                    </p:set>
                                    <p:animEffect transition="in" filter="wipe(left)">
                                      <p:cBhvr>
                                        <p:cTn id="83" dur="500"/>
                                        <p:tgtEl>
                                          <p:spTgt spid="57550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575503"/>
                                        </p:tgtEl>
                                        <p:attrNameLst>
                                          <p:attrName>style.visibility</p:attrName>
                                        </p:attrNameLst>
                                      </p:cBhvr>
                                      <p:to>
                                        <p:strVal val="visible"/>
                                      </p:to>
                                    </p:set>
                                    <p:animEffect transition="in" filter="wipe(left)">
                                      <p:cBhvr>
                                        <p:cTn id="88" dur="500"/>
                                        <p:tgtEl>
                                          <p:spTgt spid="57550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575504"/>
                                        </p:tgtEl>
                                        <p:attrNameLst>
                                          <p:attrName>style.visibility</p:attrName>
                                        </p:attrNameLst>
                                      </p:cBhvr>
                                      <p:to>
                                        <p:strVal val="visible"/>
                                      </p:to>
                                    </p:set>
                                    <p:animEffect transition="in" filter="wipe(left)">
                                      <p:cBhvr>
                                        <p:cTn id="93" dur="500"/>
                                        <p:tgtEl>
                                          <p:spTgt spid="575504"/>
                                        </p:tgtEl>
                                      </p:cBhvr>
                                    </p:animEffect>
                                  </p:childTnLst>
                                </p:cTn>
                              </p:par>
                            </p:childTnLst>
                          </p:cTn>
                        </p:par>
                        <p:par>
                          <p:cTn id="94" fill="hold">
                            <p:stCondLst>
                              <p:cond delay="500"/>
                            </p:stCondLst>
                            <p:childTnLst>
                              <p:par>
                                <p:cTn id="95" presetID="22" presetClass="entr" presetSubtype="8" fill="hold" nodeType="afterEffect">
                                  <p:stCondLst>
                                    <p:cond delay="0"/>
                                  </p:stCondLst>
                                  <p:childTnLst>
                                    <p:set>
                                      <p:cBhvr>
                                        <p:cTn id="96" dur="1" fill="hold">
                                          <p:stCondLst>
                                            <p:cond delay="0"/>
                                          </p:stCondLst>
                                        </p:cTn>
                                        <p:tgtEl>
                                          <p:spTgt spid="575496"/>
                                        </p:tgtEl>
                                        <p:attrNameLst>
                                          <p:attrName>style.visibility</p:attrName>
                                        </p:attrNameLst>
                                      </p:cBhvr>
                                      <p:to>
                                        <p:strVal val="visible"/>
                                      </p:to>
                                    </p:set>
                                    <p:animEffect transition="in" filter="wipe(left)">
                                      <p:cBhvr>
                                        <p:cTn id="97" dur="500"/>
                                        <p:tgtEl>
                                          <p:spTgt spid="575496"/>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575505"/>
                                        </p:tgtEl>
                                        <p:attrNameLst>
                                          <p:attrName>style.visibility</p:attrName>
                                        </p:attrNameLst>
                                      </p:cBhvr>
                                      <p:to>
                                        <p:strVal val="visible"/>
                                      </p:to>
                                    </p:set>
                                    <p:animEffect transition="in" filter="wipe(left)">
                                      <p:cBhvr>
                                        <p:cTn id="102" dur="500"/>
                                        <p:tgtEl>
                                          <p:spTgt spid="575505"/>
                                        </p:tgtEl>
                                      </p:cBhvr>
                                    </p:animEffec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575497"/>
                                        </p:tgtEl>
                                        <p:attrNameLst>
                                          <p:attrName>style.visibility</p:attrName>
                                        </p:attrNameLst>
                                      </p:cBhvr>
                                      <p:to>
                                        <p:strVal val="visible"/>
                                      </p:to>
                                    </p:set>
                                    <p:animEffect transition="in" filter="wipe(left)">
                                      <p:cBhvr>
                                        <p:cTn id="106" dur="500"/>
                                        <p:tgtEl>
                                          <p:spTgt spid="575497"/>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575506"/>
                                        </p:tgtEl>
                                        <p:attrNameLst>
                                          <p:attrName>style.visibility</p:attrName>
                                        </p:attrNameLst>
                                      </p:cBhvr>
                                      <p:to>
                                        <p:strVal val="visible"/>
                                      </p:to>
                                    </p:set>
                                    <p:animEffect transition="in" filter="wipe(left)">
                                      <p:cBhvr>
                                        <p:cTn id="111" dur="500"/>
                                        <p:tgtEl>
                                          <p:spTgt spid="575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2" grpId="0" build="allAtOnce"/>
      <p:bldP spid="575495" grpId="0" build="p" autoUpdateAnimBg="0"/>
      <p:bldP spid="575504" grpId="0" animBg="1"/>
      <p:bldP spid="575505" grpId="0" animBg="1" autoUpdateAnimBg="0"/>
      <p:bldP spid="575506" grpId="0" animBg="1" autoUpdateAnimBg="0"/>
      <p:bldP spid="57551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ChangeArrowheads="1"/>
          </p:cNvSpPr>
          <p:nvPr/>
        </p:nvSpPr>
        <p:spPr bwMode="auto">
          <a:xfrm>
            <a:off x="611188" y="1268413"/>
            <a:ext cx="835342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zh-CN" altLang="en-US">
                <a:latin typeface="华文中宋" panose="02010600040101010101" pitchFamily="2" charset="-122"/>
              </a:rPr>
              <a:t>若某行首项为</a:t>
            </a:r>
            <a:r>
              <a:rPr kumimoji="1" lang="en-US" altLang="zh-CN">
                <a:latin typeface="华文中宋" panose="02010600040101010101" pitchFamily="2" charset="-122"/>
              </a:rPr>
              <a:t>0</a:t>
            </a:r>
            <a:r>
              <a:rPr kumimoji="1" lang="zh-CN" altLang="en-US">
                <a:latin typeface="华文中宋" panose="02010600040101010101" pitchFamily="2" charset="-122"/>
              </a:rPr>
              <a:t>，导致下一行的分母为</a:t>
            </a:r>
            <a:r>
              <a:rPr kumimoji="1" lang="en-US" altLang="zh-CN">
                <a:latin typeface="华文中宋" panose="02010600040101010101" pitchFamily="2" charset="-122"/>
              </a:rPr>
              <a:t>0</a:t>
            </a:r>
            <a:r>
              <a:rPr kumimoji="1" lang="zh-CN" altLang="en-US">
                <a:latin typeface="华文中宋" panose="02010600040101010101" pitchFamily="2" charset="-122"/>
              </a:rPr>
              <a:t>而无法进行计算时：</a:t>
            </a:r>
          </a:p>
        </p:txBody>
      </p:sp>
      <p:sp>
        <p:nvSpPr>
          <p:cNvPr id="89091" name="Rectangle 4"/>
          <p:cNvSpPr>
            <a:spLocks noChangeArrowheads="1"/>
          </p:cNvSpPr>
          <p:nvPr/>
        </p:nvSpPr>
        <p:spPr bwMode="auto">
          <a:xfrm>
            <a:off x="3200400" y="4241800"/>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89092" name="Rectangle 5"/>
          <p:cNvSpPr>
            <a:spLocks noChangeArrowheads="1"/>
          </p:cNvSpPr>
          <p:nvPr/>
        </p:nvSpPr>
        <p:spPr bwMode="auto">
          <a:xfrm>
            <a:off x="2976563" y="2944813"/>
            <a:ext cx="971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89093" name="Rectangle 6"/>
          <p:cNvSpPr>
            <a:spLocks noChangeArrowheads="1"/>
          </p:cNvSpPr>
          <p:nvPr/>
        </p:nvSpPr>
        <p:spPr bwMode="auto">
          <a:xfrm>
            <a:off x="2976563" y="3576638"/>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576519" name="Rectangle 7"/>
          <p:cNvSpPr>
            <a:spLocks noChangeArrowheads="1"/>
          </p:cNvSpPr>
          <p:nvPr/>
        </p:nvSpPr>
        <p:spPr bwMode="auto">
          <a:xfrm>
            <a:off x="985838" y="2732088"/>
            <a:ext cx="7488237"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20000"/>
              </a:spcBef>
              <a:buClr>
                <a:schemeClr val="accent2"/>
              </a:buClr>
              <a:buFont typeface="Wingdings" panose="05000000000000000000" pitchFamily="2" charset="2"/>
              <a:buChar char="Ø"/>
            </a:pPr>
            <a:r>
              <a:rPr lang="zh-CN" altLang="en-US"/>
              <a:t>特征方程乘以</a:t>
            </a:r>
            <a:r>
              <a:rPr lang="en-US" altLang="zh-CN"/>
              <a:t>s+1</a:t>
            </a:r>
            <a:r>
              <a:rPr lang="zh-CN" altLang="en-US"/>
              <a:t>，再重新排出阵列进行判断</a:t>
            </a:r>
          </a:p>
        </p:txBody>
      </p:sp>
      <p:sp>
        <p:nvSpPr>
          <p:cNvPr id="576520" name="Rectangle 8"/>
          <p:cNvSpPr>
            <a:spLocks noChangeArrowheads="1"/>
          </p:cNvSpPr>
          <p:nvPr/>
        </p:nvSpPr>
        <p:spPr bwMode="auto">
          <a:xfrm>
            <a:off x="1001713" y="4575175"/>
            <a:ext cx="7345362"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20000"/>
              </a:spcBef>
              <a:buClr>
                <a:schemeClr val="accent2"/>
              </a:buClr>
              <a:buFont typeface="Wingdings" panose="05000000000000000000" pitchFamily="2" charset="2"/>
              <a:buChar char="Ø"/>
            </a:pPr>
            <a:r>
              <a:rPr lang="zh-CN" altLang="en-US"/>
              <a:t>用一正无穷小量</a:t>
            </a:r>
            <a:r>
              <a:rPr lang="el-GR" altLang="zh-CN"/>
              <a:t>ε</a:t>
            </a:r>
            <a:r>
              <a:rPr lang="zh-CN" altLang="el-GR"/>
              <a:t>代替，继续排出阵列，而后令</a:t>
            </a:r>
            <a:r>
              <a:rPr lang="el-GR" altLang="zh-CN"/>
              <a:t>ε→0</a:t>
            </a:r>
            <a:r>
              <a:rPr lang="zh-CN" altLang="el-GR"/>
              <a:t>加以判定</a:t>
            </a:r>
            <a:endParaRPr lang="el-GR" altLang="zh-CN"/>
          </a:p>
        </p:txBody>
      </p:sp>
      <p:sp>
        <p:nvSpPr>
          <p:cNvPr id="576521" name="Text Box 9"/>
          <p:cNvSpPr txBox="1">
            <a:spLocks noChangeArrowheads="1"/>
          </p:cNvSpPr>
          <p:nvPr/>
        </p:nvSpPr>
        <p:spPr bwMode="auto">
          <a:xfrm>
            <a:off x="3765550" y="3738563"/>
            <a:ext cx="936625" cy="528637"/>
          </a:xfrm>
          <a:prstGeom prst="rect">
            <a:avLst/>
          </a:prstGeom>
          <a:solidFill>
            <a:schemeClr val="bg1"/>
          </a:solidFill>
          <a:ln w="9525">
            <a:solidFill>
              <a:schemeClr val="bg2"/>
            </a:solidFill>
            <a:miter lim="800000"/>
          </a:ln>
          <a:effectLst>
            <a:outerShdw dist="35921" dir="2700000" algn="ctr" rotWithShape="0">
              <a:schemeClr val="bg2"/>
            </a:outerShdw>
          </a:effec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r>
              <a:rPr lang="zh-CN" altLang="en-US">
                <a:solidFill>
                  <a:srgbClr val="FF0000"/>
                </a:solidFill>
              </a:rPr>
              <a:t>或者</a:t>
            </a:r>
          </a:p>
        </p:txBody>
      </p:sp>
      <p:sp>
        <p:nvSpPr>
          <p:cNvPr id="576522" name="Rectangle 10"/>
          <p:cNvSpPr>
            <a:spLocks noChangeArrowheads="1"/>
          </p:cNvSpPr>
          <p:nvPr/>
        </p:nvSpPr>
        <p:spPr bwMode="auto">
          <a:xfrm>
            <a:off x="827088" y="260350"/>
            <a:ext cx="3959225"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algn="ct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10" name="日期占位符 9"/>
          <p:cNvSpPr>
            <a:spLocks noGrp="1"/>
          </p:cNvSpPr>
          <p:nvPr>
            <p:ph type="dt" sz="quarter" idx="10"/>
          </p:nvPr>
        </p:nvSpPr>
        <p:spPr/>
        <p:txBody>
          <a:bodyPr/>
          <a:lstStyle/>
          <a:p>
            <a:pPr>
              <a:defRPr/>
            </a:pPr>
            <a:fld id="{D21BCE20-1FCF-4DC2-B98C-876D01A73702}" type="datetime1">
              <a:rPr lang="zh-CN" altLang="en-US"/>
              <a:t>2026/4/28</a:t>
            </a:fld>
            <a:endParaRPr lang="zh-CN" altLang="en-US"/>
          </a:p>
        </p:txBody>
      </p:sp>
      <p:sp>
        <p:nvSpPr>
          <p:cNvPr id="2" name="墨迹 1"/>
          <p:cNvSpPr/>
          <p:nvPr/>
        </p:nvSpPr>
        <p:spPr bwMode="auto">
          <a:xfrm>
            <a:off x="2397600" y="1789920"/>
            <a:ext cx="2295720" cy="34074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9042"/>
    </mc:Choice>
    <mc:Fallback xmlns="">
      <p:transition spd="slow" advTm="990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1" nodeType="clickEffect">
                                  <p:stCondLst>
                                    <p:cond delay="0"/>
                                  </p:stCondLst>
                                  <p:iterate type="lt">
                                    <p:tmPct val="0"/>
                                  </p:iterate>
                                  <p:childTnLst>
                                    <p:set>
                                      <p:cBhvr>
                                        <p:cTn id="11" dur="1" fill="hold">
                                          <p:stCondLst>
                                            <p:cond delay="0"/>
                                          </p:stCondLst>
                                        </p:cTn>
                                        <p:tgtEl>
                                          <p:spTgt spid="576519"/>
                                        </p:tgtEl>
                                        <p:attrNameLst>
                                          <p:attrName>style.visibility</p:attrName>
                                        </p:attrNameLst>
                                      </p:cBhvr>
                                      <p:to>
                                        <p:strVal val="visible"/>
                                      </p:to>
                                    </p:set>
                                    <p:anim calcmode="lin" valueType="num">
                                      <p:cBhvr>
                                        <p:cTn id="12" dur="1000" fill="hold"/>
                                        <p:tgtEl>
                                          <p:spTgt spid="576519"/>
                                        </p:tgtEl>
                                        <p:attrNameLst>
                                          <p:attrName>ppt_w</p:attrName>
                                        </p:attrNameLst>
                                      </p:cBhvr>
                                      <p:tavLst>
                                        <p:tav tm="0">
                                          <p:val>
                                            <p:strVal val="#ppt_w*0.70"/>
                                          </p:val>
                                        </p:tav>
                                        <p:tav tm="100000">
                                          <p:val>
                                            <p:strVal val="#ppt_w"/>
                                          </p:val>
                                        </p:tav>
                                      </p:tavLst>
                                    </p:anim>
                                    <p:anim calcmode="lin" valueType="num">
                                      <p:cBhvr>
                                        <p:cTn id="13" dur="1000" fill="hold"/>
                                        <p:tgtEl>
                                          <p:spTgt spid="576519"/>
                                        </p:tgtEl>
                                        <p:attrNameLst>
                                          <p:attrName>ppt_h</p:attrName>
                                        </p:attrNameLst>
                                      </p:cBhvr>
                                      <p:tavLst>
                                        <p:tav tm="0">
                                          <p:val>
                                            <p:strVal val="#ppt_h"/>
                                          </p:val>
                                        </p:tav>
                                        <p:tav tm="100000">
                                          <p:val>
                                            <p:strVal val="#ppt_h"/>
                                          </p:val>
                                        </p:tav>
                                      </p:tavLst>
                                    </p:anim>
                                    <p:animEffect transition="in" filter="fade">
                                      <p:cBhvr>
                                        <p:cTn id="14" dur="1000"/>
                                        <p:tgtEl>
                                          <p:spTgt spid="576519"/>
                                        </p:tgtEl>
                                      </p:cBhvr>
                                    </p:animEffect>
                                  </p:childTnLst>
                                </p:cTn>
                              </p:par>
                            </p:childTnLst>
                          </p:cTn>
                        </p:par>
                        <p:par>
                          <p:cTn id="15" fill="hold">
                            <p:stCondLst>
                              <p:cond delay="1000"/>
                            </p:stCondLst>
                            <p:childTnLst>
                              <p:par>
                                <p:cTn id="16" presetID="20" presetClass="emph" presetSubtype="0" fill="hold" grpId="0" nodeType="afterEffect">
                                  <p:stCondLst>
                                    <p:cond delay="0"/>
                                  </p:stCondLst>
                                  <p:iterate type="lt">
                                    <p:tmPct val="10000"/>
                                  </p:iterate>
                                  <p:childTnLst>
                                    <p:set>
                                      <p:cBhvr override="childStyle">
                                        <p:cTn id="17" dur="250" autoRev="1" fill="hold"/>
                                        <p:tgtEl>
                                          <p:spTgt spid="576519"/>
                                        </p:tgtEl>
                                        <p:attrNameLst>
                                          <p:attrName>style.color</p:attrName>
                                        </p:attrNameLst>
                                      </p:cBhvr>
                                      <p:to>
                                        <p:clrVal>
                                          <a:srgbClr val="660066"/>
                                        </p:clrVal>
                                      </p:to>
                                    </p:set>
                                    <p:set>
                                      <p:cBhvr>
                                        <p:cTn id="18" dur="250" autoRev="1" fill="hold"/>
                                        <p:tgtEl>
                                          <p:spTgt spid="576519"/>
                                        </p:tgtEl>
                                        <p:attrNameLst>
                                          <p:attrName>fillcolor</p:attrName>
                                        </p:attrNameLst>
                                      </p:cBhvr>
                                      <p:to>
                                        <p:clrVal>
                                          <a:srgbClr val="660066"/>
                                        </p:clrVal>
                                      </p:to>
                                    </p:set>
                                    <p:set>
                                      <p:cBhvr>
                                        <p:cTn id="19" dur="250" autoRev="1" fill="hold"/>
                                        <p:tgtEl>
                                          <p:spTgt spid="576519"/>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576521"/>
                                        </p:tgtEl>
                                        <p:attrNameLst>
                                          <p:attrName>style.visibility</p:attrName>
                                        </p:attrNameLst>
                                      </p:cBhvr>
                                      <p:to>
                                        <p:strVal val="visible"/>
                                      </p:to>
                                    </p:set>
                                    <p:anim calcmode="lin" valueType="num">
                                      <p:cBhvr>
                                        <p:cTn id="24" dur="1000" fill="hold"/>
                                        <p:tgtEl>
                                          <p:spTgt spid="576521"/>
                                        </p:tgtEl>
                                        <p:attrNameLst>
                                          <p:attrName>ppt_w</p:attrName>
                                        </p:attrNameLst>
                                      </p:cBhvr>
                                      <p:tavLst>
                                        <p:tav tm="0">
                                          <p:val>
                                            <p:strVal val="#ppt_w*0.70"/>
                                          </p:val>
                                        </p:tav>
                                        <p:tav tm="100000">
                                          <p:val>
                                            <p:strVal val="#ppt_w"/>
                                          </p:val>
                                        </p:tav>
                                      </p:tavLst>
                                    </p:anim>
                                    <p:anim calcmode="lin" valueType="num">
                                      <p:cBhvr>
                                        <p:cTn id="25" dur="1000" fill="hold"/>
                                        <p:tgtEl>
                                          <p:spTgt spid="576521"/>
                                        </p:tgtEl>
                                        <p:attrNameLst>
                                          <p:attrName>ppt_h</p:attrName>
                                        </p:attrNameLst>
                                      </p:cBhvr>
                                      <p:tavLst>
                                        <p:tav tm="0">
                                          <p:val>
                                            <p:strVal val="#ppt_h"/>
                                          </p:val>
                                        </p:tav>
                                        <p:tav tm="100000">
                                          <p:val>
                                            <p:strVal val="#ppt_h"/>
                                          </p:val>
                                        </p:tav>
                                      </p:tavLst>
                                    </p:anim>
                                    <p:animEffect transition="in" filter="fade">
                                      <p:cBhvr>
                                        <p:cTn id="26" dur="1000"/>
                                        <p:tgtEl>
                                          <p:spTgt spid="576521"/>
                                        </p:tgtEl>
                                      </p:cBhvr>
                                    </p:animEffect>
                                  </p:childTnLst>
                                </p:cTn>
                              </p:par>
                            </p:childTnLst>
                          </p:cTn>
                        </p:par>
                        <p:par>
                          <p:cTn id="27" fill="hold">
                            <p:stCondLst>
                              <p:cond delay="1000"/>
                            </p:stCondLst>
                            <p:childTnLst>
                              <p:par>
                                <p:cTn id="28" presetID="55" presetClass="entr" presetSubtype="0" fill="hold" grpId="1" nodeType="afterEffect">
                                  <p:stCondLst>
                                    <p:cond delay="0"/>
                                  </p:stCondLst>
                                  <p:iterate type="lt">
                                    <p:tmPct val="0"/>
                                  </p:iterate>
                                  <p:childTnLst>
                                    <p:set>
                                      <p:cBhvr>
                                        <p:cTn id="29" dur="1" fill="hold">
                                          <p:stCondLst>
                                            <p:cond delay="0"/>
                                          </p:stCondLst>
                                        </p:cTn>
                                        <p:tgtEl>
                                          <p:spTgt spid="576520"/>
                                        </p:tgtEl>
                                        <p:attrNameLst>
                                          <p:attrName>style.visibility</p:attrName>
                                        </p:attrNameLst>
                                      </p:cBhvr>
                                      <p:to>
                                        <p:strVal val="visible"/>
                                      </p:to>
                                    </p:set>
                                    <p:anim calcmode="lin" valueType="num">
                                      <p:cBhvr>
                                        <p:cTn id="30" dur="1000" fill="hold"/>
                                        <p:tgtEl>
                                          <p:spTgt spid="576520"/>
                                        </p:tgtEl>
                                        <p:attrNameLst>
                                          <p:attrName>ppt_w</p:attrName>
                                        </p:attrNameLst>
                                      </p:cBhvr>
                                      <p:tavLst>
                                        <p:tav tm="0">
                                          <p:val>
                                            <p:strVal val="#ppt_w*0.70"/>
                                          </p:val>
                                        </p:tav>
                                        <p:tav tm="100000">
                                          <p:val>
                                            <p:strVal val="#ppt_w"/>
                                          </p:val>
                                        </p:tav>
                                      </p:tavLst>
                                    </p:anim>
                                    <p:anim calcmode="lin" valueType="num">
                                      <p:cBhvr>
                                        <p:cTn id="31" dur="1000" fill="hold"/>
                                        <p:tgtEl>
                                          <p:spTgt spid="576520"/>
                                        </p:tgtEl>
                                        <p:attrNameLst>
                                          <p:attrName>ppt_h</p:attrName>
                                        </p:attrNameLst>
                                      </p:cBhvr>
                                      <p:tavLst>
                                        <p:tav tm="0">
                                          <p:val>
                                            <p:strVal val="#ppt_h"/>
                                          </p:val>
                                        </p:tav>
                                        <p:tav tm="100000">
                                          <p:val>
                                            <p:strVal val="#ppt_h"/>
                                          </p:val>
                                        </p:tav>
                                      </p:tavLst>
                                    </p:anim>
                                    <p:animEffect transition="in" filter="fade">
                                      <p:cBhvr>
                                        <p:cTn id="32" dur="1000"/>
                                        <p:tgtEl>
                                          <p:spTgt spid="576520"/>
                                        </p:tgtEl>
                                      </p:cBhvr>
                                    </p:animEffect>
                                  </p:childTnLst>
                                </p:cTn>
                              </p:par>
                            </p:childTnLst>
                          </p:cTn>
                        </p:par>
                        <p:par>
                          <p:cTn id="33" fill="hold">
                            <p:stCondLst>
                              <p:cond delay="2000"/>
                            </p:stCondLst>
                            <p:childTnLst>
                              <p:par>
                                <p:cTn id="34" presetID="20" presetClass="emph" presetSubtype="0" fill="hold" grpId="0" nodeType="afterEffect">
                                  <p:stCondLst>
                                    <p:cond delay="0"/>
                                  </p:stCondLst>
                                  <p:iterate type="lt">
                                    <p:tmPct val="10000"/>
                                  </p:iterate>
                                  <p:childTnLst>
                                    <p:set>
                                      <p:cBhvr override="childStyle">
                                        <p:cTn id="35" dur="250" autoRev="1" fill="hold"/>
                                        <p:tgtEl>
                                          <p:spTgt spid="576520"/>
                                        </p:tgtEl>
                                        <p:attrNameLst>
                                          <p:attrName>style.color</p:attrName>
                                        </p:attrNameLst>
                                      </p:cBhvr>
                                      <p:to>
                                        <p:clrVal>
                                          <a:srgbClr val="660066"/>
                                        </p:clrVal>
                                      </p:to>
                                    </p:set>
                                    <p:set>
                                      <p:cBhvr>
                                        <p:cTn id="36" dur="250" autoRev="1" fill="hold"/>
                                        <p:tgtEl>
                                          <p:spTgt spid="576520"/>
                                        </p:tgtEl>
                                        <p:attrNameLst>
                                          <p:attrName>fillcolor</p:attrName>
                                        </p:attrNameLst>
                                      </p:cBhvr>
                                      <p:to>
                                        <p:clrVal>
                                          <a:srgbClr val="660066"/>
                                        </p:clrVal>
                                      </p:to>
                                    </p:set>
                                    <p:set>
                                      <p:cBhvr>
                                        <p:cTn id="37" dur="250" autoRev="1" fill="hold"/>
                                        <p:tgtEl>
                                          <p:spTgt spid="57652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19" grpId="0"/>
      <p:bldP spid="576519" grpId="1"/>
      <p:bldP spid="576520" grpId="0"/>
      <p:bldP spid="576520" grpId="1"/>
      <p:bldP spid="576521" grpId="0" animBg="1"/>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p:cNvSpPr>
            <a:spLocks noGrp="1" noChangeArrowheads="1"/>
          </p:cNvSpPr>
          <p:nvPr>
            <p:ph type="title" idx="4294967295"/>
          </p:nvPr>
        </p:nvSpPr>
        <p:spPr>
          <a:xfrm>
            <a:off x="611188" y="188913"/>
            <a:ext cx="1103312" cy="541337"/>
          </a:xfrm>
          <a:noFill/>
        </p:spPr>
        <p:txBody>
          <a:bodyPr/>
          <a:lstStyle/>
          <a:p>
            <a:r>
              <a:rPr kumimoji="1" lang="zh-CN" altLang="en-US" sz="2400">
                <a:solidFill>
                  <a:schemeClr val="tx1"/>
                </a:solidFill>
                <a:latin typeface="Tahoma" panose="020B0604030504040204" pitchFamily="34" charset="0"/>
              </a:rPr>
              <a:t>例</a:t>
            </a:r>
            <a:r>
              <a:rPr kumimoji="1" lang="en-US" altLang="zh-CN" sz="2400">
                <a:solidFill>
                  <a:schemeClr val="tx1"/>
                </a:solidFill>
                <a:latin typeface="Tahoma" panose="020B0604030504040204" pitchFamily="34" charset="0"/>
              </a:rPr>
              <a:t>2</a:t>
            </a:r>
            <a:r>
              <a:rPr kumimoji="1" lang="zh-CN" altLang="en-US" sz="2400">
                <a:solidFill>
                  <a:schemeClr val="tx1"/>
                </a:solidFill>
                <a:latin typeface="Tahoma" panose="020B0604030504040204" pitchFamily="34" charset="0"/>
              </a:rPr>
              <a:t>：</a:t>
            </a:r>
          </a:p>
        </p:txBody>
      </p:sp>
      <p:graphicFrame>
        <p:nvGraphicFramePr>
          <p:cNvPr id="90115" name="Object 2"/>
          <p:cNvGraphicFramePr>
            <a:graphicFrameLocks noChangeAspect="1"/>
          </p:cNvGraphicFramePr>
          <p:nvPr/>
        </p:nvGraphicFramePr>
        <p:xfrm>
          <a:off x="827088" y="1268413"/>
          <a:ext cx="4513262" cy="514350"/>
        </p:xfrm>
        <a:graphic>
          <a:graphicData uri="http://schemas.openxmlformats.org/presentationml/2006/ole">
            <mc:AlternateContent xmlns:mc="http://schemas.openxmlformats.org/markup-compatibility/2006">
              <mc:Choice xmlns:v="urn:schemas-microsoft-com:vml" Requires="v">
                <p:oleObj name="Equation" r:id="rId3" imgW="1428115" imgH="120015" progId="Equation.3">
                  <p:embed/>
                </p:oleObj>
              </mc:Choice>
              <mc:Fallback>
                <p:oleObj name="Equation" r:id="rId3" imgW="1428115" imgH="12001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268413"/>
                        <a:ext cx="4513262" cy="5143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8260" name="Text Box 4"/>
          <p:cNvSpPr txBox="1">
            <a:spLocks noChangeArrowheads="1"/>
          </p:cNvSpPr>
          <p:nvPr/>
        </p:nvSpPr>
        <p:spPr bwMode="auto">
          <a:xfrm>
            <a:off x="611188" y="2276475"/>
            <a:ext cx="5688012"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50000"/>
              </a:spcBef>
              <a:buClr>
                <a:schemeClr val="accent2"/>
              </a:buClr>
              <a:buFont typeface="Wingdings" panose="05000000000000000000" pitchFamily="2" charset="2"/>
              <a:buNone/>
            </a:pPr>
            <a:r>
              <a:rPr kumimoji="1" lang="en-US" altLang="zh-CN">
                <a:latin typeface="Tahoma" panose="020B0604030504040204" pitchFamily="34" charset="0"/>
                <a:ea typeface="宋体" panose="02010600030101010101" pitchFamily="2" charset="-122"/>
              </a:rPr>
              <a:t>    </a:t>
            </a:r>
            <a:r>
              <a:rPr kumimoji="1" lang="zh-CN" altLang="en-US">
                <a:latin typeface="Tahoma" panose="020B0604030504040204" pitchFamily="34" charset="0"/>
                <a:ea typeface="宋体" panose="02010600030101010101" pitchFamily="2" charset="-122"/>
              </a:rPr>
              <a:t>某行首列元素为零，其他元素不为零：</a:t>
            </a:r>
          </a:p>
          <a:p>
            <a:pPr eaLnBrk="1" hangingPunct="1">
              <a:lnSpc>
                <a:spcPct val="150000"/>
              </a:lnSpc>
              <a:spcBef>
                <a:spcPct val="20000"/>
              </a:spcBef>
              <a:buClr>
                <a:schemeClr val="accent2"/>
              </a:buClr>
              <a:buFont typeface="Wingdings" panose="05000000000000000000" pitchFamily="2" charset="2"/>
              <a:buNone/>
            </a:pPr>
            <a:r>
              <a:rPr lang="zh-CN" altLang="en-US"/>
              <a:t>   </a:t>
            </a:r>
            <a:r>
              <a:rPr lang="zh-CN" altLang="en-US">
                <a:solidFill>
                  <a:srgbClr val="0000FF"/>
                </a:solidFill>
              </a:rPr>
              <a:t>特征方程乘以</a:t>
            </a:r>
            <a:r>
              <a:rPr lang="en-US" altLang="zh-CN">
                <a:solidFill>
                  <a:srgbClr val="0000FF"/>
                </a:solidFill>
              </a:rPr>
              <a:t>s+1</a:t>
            </a:r>
            <a:r>
              <a:rPr lang="zh-CN" altLang="en-US">
                <a:solidFill>
                  <a:srgbClr val="0000FF"/>
                </a:solidFill>
              </a:rPr>
              <a:t>，再重新排出阵列进行判断</a:t>
            </a:r>
            <a:r>
              <a:rPr kumimoji="1" lang="zh-CN" altLang="en-US">
                <a:latin typeface="Tahoma" panose="020B0604030504040204" pitchFamily="34" charset="0"/>
                <a:ea typeface="宋体" panose="02010600030101010101" pitchFamily="2" charset="-122"/>
                <a:sym typeface="Symbol" panose="05050102010706020507" pitchFamily="18" charset="2"/>
              </a:rPr>
              <a:t>。</a:t>
            </a:r>
          </a:p>
        </p:txBody>
      </p:sp>
      <p:graphicFrame>
        <p:nvGraphicFramePr>
          <p:cNvPr id="608261" name="Object 3"/>
          <p:cNvGraphicFramePr>
            <a:graphicFrameLocks noChangeAspect="1"/>
          </p:cNvGraphicFramePr>
          <p:nvPr/>
        </p:nvGraphicFramePr>
        <p:xfrm>
          <a:off x="7010400" y="1376363"/>
          <a:ext cx="1885950" cy="1143000"/>
        </p:xfrm>
        <a:graphic>
          <a:graphicData uri="http://schemas.openxmlformats.org/presentationml/2006/ole">
            <mc:AlternateContent xmlns:mc="http://schemas.openxmlformats.org/markup-compatibility/2006">
              <mc:Choice xmlns:v="urn:schemas-microsoft-com:vml" Requires="v">
                <p:oleObj name="位图图像" r:id="rId5" imgW="1752600" imgH="1219200" progId="Paint.Picture">
                  <p:embed/>
                </p:oleObj>
              </mc:Choice>
              <mc:Fallback>
                <p:oleObj name="位图图像" r:id="rId5" imgW="1752600" imgH="1219200" progId="Paint.Picture">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0400" y="1376363"/>
                        <a:ext cx="18859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8262" name="Object 4"/>
          <p:cNvGraphicFramePr>
            <a:graphicFrameLocks noChangeAspect="1"/>
          </p:cNvGraphicFramePr>
          <p:nvPr/>
        </p:nvGraphicFramePr>
        <p:xfrm>
          <a:off x="6553200" y="1376363"/>
          <a:ext cx="460375" cy="3124200"/>
        </p:xfrm>
        <a:graphic>
          <a:graphicData uri="http://schemas.openxmlformats.org/presentationml/2006/ole">
            <mc:AlternateContent xmlns:mc="http://schemas.openxmlformats.org/markup-compatibility/2006">
              <mc:Choice xmlns:v="urn:schemas-microsoft-com:vml" Requires="v">
                <p:oleObj name="Equation" r:id="rId7" imgW="85725" imgH="832485" progId="Equation.3">
                  <p:embed/>
                </p:oleObj>
              </mc:Choice>
              <mc:Fallback>
                <p:oleObj name="Equation" r:id="rId7" imgW="85725" imgH="832485"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1376363"/>
                        <a:ext cx="460375" cy="312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8263" name="Object 5"/>
          <p:cNvGraphicFramePr>
            <a:graphicFrameLocks noChangeAspect="1"/>
          </p:cNvGraphicFramePr>
          <p:nvPr/>
        </p:nvGraphicFramePr>
        <p:xfrm>
          <a:off x="7308850" y="2492375"/>
          <a:ext cx="1077913" cy="588963"/>
        </p:xfrm>
        <a:graphic>
          <a:graphicData uri="http://schemas.openxmlformats.org/presentationml/2006/ole">
            <mc:AlternateContent xmlns:mc="http://schemas.openxmlformats.org/markup-compatibility/2006">
              <mc:Choice xmlns:v="urn:schemas-microsoft-com:vml" Requires="v">
                <p:oleObj name="Equation" r:id="rId9" imgW="256540" imgH="120015" progId="Equation.3">
                  <p:embed/>
                </p:oleObj>
              </mc:Choice>
              <mc:Fallback>
                <p:oleObj name="Equation" r:id="rId9" imgW="256540" imgH="120015"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08850" y="2492375"/>
                        <a:ext cx="1077913"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8264" name="Rectangle 8"/>
          <p:cNvSpPr>
            <a:spLocks noChangeArrowheads="1"/>
          </p:cNvSpPr>
          <p:nvPr/>
        </p:nvSpPr>
        <p:spPr bwMode="auto">
          <a:xfrm>
            <a:off x="7010400" y="1452563"/>
            <a:ext cx="762000" cy="3048000"/>
          </a:xfrm>
          <a:prstGeom prst="rect">
            <a:avLst/>
          </a:prstGeom>
          <a:noFill/>
          <a:ln w="1905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graphicFrame>
        <p:nvGraphicFramePr>
          <p:cNvPr id="608265" name="Object 6"/>
          <p:cNvGraphicFramePr>
            <a:graphicFrameLocks noChangeAspect="1"/>
          </p:cNvGraphicFramePr>
          <p:nvPr/>
        </p:nvGraphicFramePr>
        <p:xfrm>
          <a:off x="720408" y="5348288"/>
          <a:ext cx="5832475" cy="484187"/>
        </p:xfrm>
        <a:graphic>
          <a:graphicData uri="http://schemas.openxmlformats.org/presentationml/2006/ole">
            <mc:AlternateContent xmlns:mc="http://schemas.openxmlformats.org/markup-compatibility/2006">
              <mc:Choice xmlns:v="urn:schemas-microsoft-com:vml" Requires="v">
                <p:oleObj name="公式" r:id="rId11" imgW="1976120" imgH="120015" progId="Equation.3">
                  <p:embed/>
                </p:oleObj>
              </mc:Choice>
              <mc:Fallback>
                <p:oleObj name="公式" r:id="rId11" imgW="1976120" imgH="120015"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0408" y="5348288"/>
                        <a:ext cx="5832475" cy="48418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日期占位符 9"/>
          <p:cNvSpPr>
            <a:spLocks noGrp="1"/>
          </p:cNvSpPr>
          <p:nvPr>
            <p:ph type="dt" sz="quarter" idx="10"/>
          </p:nvPr>
        </p:nvSpPr>
        <p:spPr/>
        <p:txBody>
          <a:bodyPr/>
          <a:lstStyle/>
          <a:p>
            <a:pPr>
              <a:defRPr/>
            </a:pPr>
            <a:fld id="{F36FF372-E2C8-4B42-983E-13C702A0BADD}" type="datetime1">
              <a:rPr lang="zh-CN" altLang="en-US"/>
              <a:t>2026/4/28</a:t>
            </a:fld>
            <a:endParaRPr lang="en-US" altLang="zh-CN" dirty="0"/>
          </a:p>
        </p:txBody>
      </p:sp>
      <p:sp>
        <p:nvSpPr>
          <p:cNvPr id="2" name="墨迹 1"/>
          <p:cNvSpPr/>
          <p:nvPr/>
        </p:nvSpPr>
        <p:spPr bwMode="auto">
          <a:xfrm>
            <a:off x="705600" y="4632120"/>
            <a:ext cx="740880" cy="49680"/>
          </a:xfrm>
        </p:spPr>
      </p:sp>
    </p:spTree>
    <p:custDataLst>
      <p:tags r:id="rId1"/>
    </p:custDataLst>
  </p:cSld>
  <p:clrMapOvr>
    <a:masterClrMapping/>
  </p:clrMapOvr>
  <p:transition spd="med" advTm="52777">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08262"/>
                                        </p:tgtEl>
                                        <p:attrNameLst>
                                          <p:attrName>style.visibility</p:attrName>
                                        </p:attrNameLst>
                                      </p:cBhvr>
                                      <p:to>
                                        <p:strVal val="visible"/>
                                      </p:to>
                                    </p:set>
                                    <p:animEffect transition="in" filter="wipe(left)">
                                      <p:cBhvr>
                                        <p:cTn id="12" dur="500"/>
                                        <p:tgtEl>
                                          <p:spTgt spid="6082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08261"/>
                                        </p:tgtEl>
                                        <p:attrNameLst>
                                          <p:attrName>style.visibility</p:attrName>
                                        </p:attrNameLst>
                                      </p:cBhvr>
                                      <p:to>
                                        <p:strVal val="visible"/>
                                      </p:to>
                                    </p:set>
                                    <p:animEffect transition="in" filter="wipe(left)">
                                      <p:cBhvr>
                                        <p:cTn id="17" dur="500"/>
                                        <p:tgtEl>
                                          <p:spTgt spid="60826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08263"/>
                                        </p:tgtEl>
                                        <p:attrNameLst>
                                          <p:attrName>style.visibility</p:attrName>
                                        </p:attrNameLst>
                                      </p:cBhvr>
                                      <p:to>
                                        <p:strVal val="visible"/>
                                      </p:to>
                                    </p:set>
                                    <p:animEffect transition="in" filter="wipe(left)">
                                      <p:cBhvr>
                                        <p:cTn id="22" dur="500"/>
                                        <p:tgtEl>
                                          <p:spTgt spid="60826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08264"/>
                                        </p:tgtEl>
                                        <p:attrNameLst>
                                          <p:attrName>style.visibility</p:attrName>
                                        </p:attrNameLst>
                                      </p:cBhvr>
                                      <p:to>
                                        <p:strVal val="visible"/>
                                      </p:to>
                                    </p:set>
                                    <p:animEffect transition="in" filter="wipe(left)">
                                      <p:cBhvr>
                                        <p:cTn id="27" dur="500"/>
                                        <p:tgtEl>
                                          <p:spTgt spid="60826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08260">
                                            <p:txEl>
                                              <p:pRg st="0" end="0"/>
                                            </p:txEl>
                                          </p:spTgt>
                                        </p:tgtEl>
                                        <p:attrNameLst>
                                          <p:attrName>style.visibility</p:attrName>
                                        </p:attrNameLst>
                                      </p:cBhvr>
                                      <p:to>
                                        <p:strVal val="visible"/>
                                      </p:to>
                                    </p:set>
                                    <p:animEffect transition="in" filter="wipe(left)">
                                      <p:cBhvr>
                                        <p:cTn id="32" dur="500"/>
                                        <p:tgtEl>
                                          <p:spTgt spid="608260">
                                            <p:txEl>
                                              <p:pRg st="0" end="0"/>
                                            </p:txEl>
                                          </p:spTgt>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608260">
                                            <p:txEl>
                                              <p:pRg st="1" end="1"/>
                                            </p:txEl>
                                          </p:spTgt>
                                        </p:tgtEl>
                                        <p:attrNameLst>
                                          <p:attrName>style.visibility</p:attrName>
                                        </p:attrNameLst>
                                      </p:cBhvr>
                                      <p:to>
                                        <p:strVal val="visible"/>
                                      </p:to>
                                    </p:set>
                                    <p:animEffect transition="in" filter="wipe(left)">
                                      <p:cBhvr>
                                        <p:cTn id="36" dur="500"/>
                                        <p:tgtEl>
                                          <p:spTgt spid="608260">
                                            <p:txEl>
                                              <p:pRg st="1" end="1"/>
                                            </p:txEl>
                                          </p:spTgt>
                                        </p:tgtEl>
                                      </p:cBhvr>
                                    </p:animEffect>
                                  </p:childTnLst>
                                </p:cTn>
                              </p:par>
                            </p:childTnLst>
                          </p:cTn>
                        </p:par>
                        <p:par>
                          <p:cTn id="37" fill="hold">
                            <p:stCondLst>
                              <p:cond delay="1000"/>
                            </p:stCondLst>
                            <p:childTnLst>
                              <p:par>
                                <p:cTn id="38" presetID="55" presetClass="entr" presetSubtype="0" fill="hold" nodeType="afterEffect">
                                  <p:stCondLst>
                                    <p:cond delay="0"/>
                                  </p:stCondLst>
                                  <p:childTnLst>
                                    <p:set>
                                      <p:cBhvr>
                                        <p:cTn id="39" dur="1" fill="hold">
                                          <p:stCondLst>
                                            <p:cond delay="0"/>
                                          </p:stCondLst>
                                        </p:cTn>
                                        <p:tgtEl>
                                          <p:spTgt spid="608265"/>
                                        </p:tgtEl>
                                        <p:attrNameLst>
                                          <p:attrName>style.visibility</p:attrName>
                                        </p:attrNameLst>
                                      </p:cBhvr>
                                      <p:to>
                                        <p:strVal val="visible"/>
                                      </p:to>
                                    </p:set>
                                    <p:anim calcmode="lin" valueType="num">
                                      <p:cBhvr>
                                        <p:cTn id="40" dur="1000" fill="hold"/>
                                        <p:tgtEl>
                                          <p:spTgt spid="608265"/>
                                        </p:tgtEl>
                                        <p:attrNameLst>
                                          <p:attrName>ppt_w</p:attrName>
                                        </p:attrNameLst>
                                      </p:cBhvr>
                                      <p:tavLst>
                                        <p:tav tm="0">
                                          <p:val>
                                            <p:strVal val="#ppt_w*0.70"/>
                                          </p:val>
                                        </p:tav>
                                        <p:tav tm="100000">
                                          <p:val>
                                            <p:strVal val="#ppt_w"/>
                                          </p:val>
                                        </p:tav>
                                      </p:tavLst>
                                    </p:anim>
                                    <p:anim calcmode="lin" valueType="num">
                                      <p:cBhvr>
                                        <p:cTn id="41" dur="1000" fill="hold"/>
                                        <p:tgtEl>
                                          <p:spTgt spid="608265"/>
                                        </p:tgtEl>
                                        <p:attrNameLst>
                                          <p:attrName>ppt_h</p:attrName>
                                        </p:attrNameLst>
                                      </p:cBhvr>
                                      <p:tavLst>
                                        <p:tav tm="0">
                                          <p:val>
                                            <p:strVal val="#ppt_h"/>
                                          </p:val>
                                        </p:tav>
                                        <p:tav tm="100000">
                                          <p:val>
                                            <p:strVal val="#ppt_h"/>
                                          </p:val>
                                        </p:tav>
                                      </p:tavLst>
                                    </p:anim>
                                    <p:animEffect transition="in" filter="fade">
                                      <p:cBhvr>
                                        <p:cTn id="42" dur="1000"/>
                                        <p:tgtEl>
                                          <p:spTgt spid="608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8260" grpId="0" build="p" autoUpdateAnimBg="0"/>
      <p:bldP spid="608264" grpId="0"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611188" y="188913"/>
            <a:ext cx="1103312" cy="541337"/>
          </a:xfrm>
          <a:noFill/>
        </p:spPr>
        <p:txBody>
          <a:bodyPr/>
          <a:lstStyle/>
          <a:p>
            <a:r>
              <a:rPr kumimoji="1" lang="zh-CN" altLang="en-US" sz="2400">
                <a:solidFill>
                  <a:schemeClr val="tx1"/>
                </a:solidFill>
                <a:latin typeface="Tahoma" panose="020B0604030504040204" pitchFamily="34" charset="0"/>
              </a:rPr>
              <a:t>例</a:t>
            </a:r>
            <a:r>
              <a:rPr kumimoji="1" lang="en-US" altLang="zh-CN" sz="2400">
                <a:solidFill>
                  <a:schemeClr val="tx1"/>
                </a:solidFill>
                <a:latin typeface="Tahoma" panose="020B0604030504040204" pitchFamily="34" charset="0"/>
              </a:rPr>
              <a:t>2</a:t>
            </a:r>
            <a:r>
              <a:rPr kumimoji="1" lang="zh-CN" altLang="en-US" sz="2400">
                <a:solidFill>
                  <a:schemeClr val="tx1"/>
                </a:solidFill>
                <a:latin typeface="Tahoma" panose="020B0604030504040204" pitchFamily="34" charset="0"/>
              </a:rPr>
              <a:t>：</a:t>
            </a:r>
          </a:p>
        </p:txBody>
      </p:sp>
      <p:graphicFrame>
        <p:nvGraphicFramePr>
          <p:cNvPr id="91139" name="Object 2"/>
          <p:cNvGraphicFramePr>
            <a:graphicFrameLocks noChangeAspect="1"/>
          </p:cNvGraphicFramePr>
          <p:nvPr/>
        </p:nvGraphicFramePr>
        <p:xfrm>
          <a:off x="1438593" y="250508"/>
          <a:ext cx="4513262" cy="514350"/>
        </p:xfrm>
        <a:graphic>
          <a:graphicData uri="http://schemas.openxmlformats.org/presentationml/2006/ole">
            <mc:AlternateContent xmlns:mc="http://schemas.openxmlformats.org/markup-compatibility/2006">
              <mc:Choice xmlns:v="urn:schemas-microsoft-com:vml" Requires="v">
                <p:oleObj name="Equation" r:id="rId3" imgW="1428115" imgH="120015" progId="Equation.3">
                  <p:embed/>
                </p:oleObj>
              </mc:Choice>
              <mc:Fallback>
                <p:oleObj name="Equation" r:id="rId3" imgW="1428115" imgH="12001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8593" y="250508"/>
                        <a:ext cx="4513262" cy="5143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9284" name="Text Box 4"/>
          <p:cNvSpPr txBox="1">
            <a:spLocks noChangeArrowheads="1"/>
          </p:cNvSpPr>
          <p:nvPr/>
        </p:nvSpPr>
        <p:spPr bwMode="auto">
          <a:xfrm>
            <a:off x="928688" y="4149725"/>
            <a:ext cx="50228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楷体_GB2312" pitchFamily="49" charset="-122"/>
              </a:rPr>
              <a:t>故</a:t>
            </a:r>
            <a:r>
              <a:rPr kumimoji="1" lang="en-US" altLang="zh-CN">
                <a:solidFill>
                  <a:srgbClr val="800000"/>
                </a:solidFill>
                <a:latin typeface="Tahoma" panose="020B0604030504040204" pitchFamily="34" charset="0"/>
                <a:ea typeface="楷体_GB2312" pitchFamily="49" charset="-122"/>
              </a:rPr>
              <a:t>D(s)=0</a:t>
            </a:r>
            <a:r>
              <a:rPr kumimoji="1" lang="zh-CN" altLang="en-US">
                <a:solidFill>
                  <a:srgbClr val="800000"/>
                </a:solidFill>
                <a:latin typeface="Tahoma" panose="020B0604030504040204" pitchFamily="34" charset="0"/>
                <a:ea typeface="楷体_GB2312" pitchFamily="49" charset="-122"/>
              </a:rPr>
              <a:t>含两个右半平面根</a:t>
            </a:r>
            <a:endParaRPr kumimoji="1" lang="zh-CN" altLang="en-US">
              <a:latin typeface="Tahoma" panose="020B0604030504040204" pitchFamily="34" charset="0"/>
              <a:ea typeface="宋体" panose="02010600030101010101" pitchFamily="2" charset="-122"/>
            </a:endParaRPr>
          </a:p>
        </p:txBody>
      </p:sp>
      <p:graphicFrame>
        <p:nvGraphicFramePr>
          <p:cNvPr id="609285" name="Object 3"/>
          <p:cNvGraphicFramePr>
            <a:graphicFrameLocks noChangeAspect="1"/>
          </p:cNvGraphicFramePr>
          <p:nvPr/>
        </p:nvGraphicFramePr>
        <p:xfrm>
          <a:off x="6443663" y="765175"/>
          <a:ext cx="460375" cy="4329113"/>
        </p:xfrm>
        <a:graphic>
          <a:graphicData uri="http://schemas.openxmlformats.org/presentationml/2006/ole">
            <mc:AlternateContent xmlns:mc="http://schemas.openxmlformats.org/markup-compatibility/2006">
              <mc:Choice xmlns:v="urn:schemas-microsoft-com:vml" Requires="v">
                <p:oleObj name="公式" r:id="rId5" imgW="85725" imgH="1167765" progId="Equation.3">
                  <p:embed/>
                </p:oleObj>
              </mc:Choice>
              <mc:Fallback>
                <p:oleObj name="公式" r:id="rId5" imgW="85725" imgH="116776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63" y="765175"/>
                        <a:ext cx="460375" cy="432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9286" name="Object 4"/>
          <p:cNvGraphicFramePr>
            <a:graphicFrameLocks noChangeAspect="1"/>
          </p:cNvGraphicFramePr>
          <p:nvPr/>
        </p:nvGraphicFramePr>
        <p:xfrm>
          <a:off x="6948488" y="2060575"/>
          <a:ext cx="1584325" cy="492125"/>
        </p:xfrm>
        <a:graphic>
          <a:graphicData uri="http://schemas.openxmlformats.org/presentationml/2006/ole">
            <mc:AlternateContent xmlns:mc="http://schemas.openxmlformats.org/markup-compatibility/2006">
              <mc:Choice xmlns:v="urn:schemas-microsoft-com:vml" Requires="v">
                <p:oleObj name="公式" r:id="rId7" imgW="482600" imgH="120015" progId="Equation.3">
                  <p:embed/>
                </p:oleObj>
              </mc:Choice>
              <mc:Fallback>
                <p:oleObj name="公式" r:id="rId7" imgW="482600" imgH="120015"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48488" y="2060575"/>
                        <a:ext cx="1584325"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9287" name="Rectangle 7"/>
          <p:cNvSpPr>
            <a:spLocks noChangeArrowheads="1"/>
          </p:cNvSpPr>
          <p:nvPr/>
        </p:nvSpPr>
        <p:spPr bwMode="auto">
          <a:xfrm>
            <a:off x="6877050" y="765175"/>
            <a:ext cx="647700" cy="4392613"/>
          </a:xfrm>
          <a:prstGeom prst="rect">
            <a:avLst/>
          </a:prstGeom>
          <a:noFill/>
          <a:ln w="1905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graphicFrame>
        <p:nvGraphicFramePr>
          <p:cNvPr id="91144" name="Object 5"/>
          <p:cNvGraphicFramePr>
            <a:graphicFrameLocks noChangeAspect="1"/>
          </p:cNvGraphicFramePr>
          <p:nvPr/>
        </p:nvGraphicFramePr>
        <p:xfrm>
          <a:off x="628333" y="2104073"/>
          <a:ext cx="5473700" cy="454025"/>
        </p:xfrm>
        <a:graphic>
          <a:graphicData uri="http://schemas.openxmlformats.org/presentationml/2006/ole">
            <mc:AlternateContent xmlns:mc="http://schemas.openxmlformats.org/markup-compatibility/2006">
              <mc:Choice xmlns:v="urn:schemas-microsoft-com:vml" Requires="v">
                <p:oleObj name="公式" r:id="rId9" imgW="1976120" imgH="120015" progId="Equation.3">
                  <p:embed/>
                </p:oleObj>
              </mc:Choice>
              <mc:Fallback>
                <p:oleObj name="公式" r:id="rId9" imgW="1976120" imgH="120015"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8333" y="2104073"/>
                        <a:ext cx="5473700" cy="4540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9289" name="Object 6"/>
          <p:cNvGraphicFramePr>
            <a:graphicFrameLocks noChangeAspect="1"/>
          </p:cNvGraphicFramePr>
          <p:nvPr/>
        </p:nvGraphicFramePr>
        <p:xfrm>
          <a:off x="6910388" y="908050"/>
          <a:ext cx="2233612" cy="989013"/>
        </p:xfrm>
        <a:graphic>
          <a:graphicData uri="http://schemas.openxmlformats.org/presentationml/2006/ole">
            <mc:AlternateContent xmlns:mc="http://schemas.openxmlformats.org/markup-compatibility/2006">
              <mc:Choice xmlns:v="urn:schemas-microsoft-com:vml" Requires="v">
                <p:oleObj name="公式" r:id="rId11" imgW="661035" imgH="263525" progId="Equation.3">
                  <p:embed/>
                </p:oleObj>
              </mc:Choice>
              <mc:Fallback>
                <p:oleObj name="公式" r:id="rId11" imgW="661035" imgH="263525"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10388" y="908050"/>
                        <a:ext cx="2233612" cy="989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9290" name="Object 7"/>
          <p:cNvGraphicFramePr>
            <a:graphicFrameLocks noChangeAspect="1"/>
          </p:cNvGraphicFramePr>
          <p:nvPr/>
        </p:nvGraphicFramePr>
        <p:xfrm>
          <a:off x="6948488" y="2708275"/>
          <a:ext cx="1008062" cy="433388"/>
        </p:xfrm>
        <a:graphic>
          <a:graphicData uri="http://schemas.openxmlformats.org/presentationml/2006/ole">
            <mc:AlternateContent xmlns:mc="http://schemas.openxmlformats.org/markup-compatibility/2006">
              <mc:Choice xmlns:v="urn:schemas-microsoft-com:vml" Requires="v">
                <p:oleObj name="公式" r:id="rId13" imgW="339090" imgH="120015" progId="Equation.3">
                  <p:embed/>
                </p:oleObj>
              </mc:Choice>
              <mc:Fallback>
                <p:oleObj name="公式" r:id="rId13" imgW="339090" imgH="120015"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48488" y="2708275"/>
                        <a:ext cx="1008062"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9291" name="Object 8"/>
          <p:cNvGraphicFramePr>
            <a:graphicFrameLocks noChangeAspect="1"/>
          </p:cNvGraphicFramePr>
          <p:nvPr/>
        </p:nvGraphicFramePr>
        <p:xfrm>
          <a:off x="7043738" y="3357563"/>
          <a:ext cx="815975" cy="433387"/>
        </p:xfrm>
        <a:graphic>
          <a:graphicData uri="http://schemas.openxmlformats.org/presentationml/2006/ole">
            <mc:AlternateContent xmlns:mc="http://schemas.openxmlformats.org/markup-compatibility/2006">
              <mc:Choice xmlns:v="urn:schemas-microsoft-com:vml" Requires="v">
                <p:oleObj name="公式" r:id="rId15" imgW="263525" imgH="120015" progId="Equation.3">
                  <p:embed/>
                </p:oleObj>
              </mc:Choice>
              <mc:Fallback>
                <p:oleObj name="公式" r:id="rId15" imgW="263525" imgH="120015"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43738" y="3357563"/>
                        <a:ext cx="815975"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9292" name="Object 9"/>
          <p:cNvGraphicFramePr>
            <a:graphicFrameLocks noChangeAspect="1"/>
          </p:cNvGraphicFramePr>
          <p:nvPr/>
        </p:nvGraphicFramePr>
        <p:xfrm>
          <a:off x="7019925" y="3933825"/>
          <a:ext cx="287338" cy="433388"/>
        </p:xfrm>
        <a:graphic>
          <a:graphicData uri="http://schemas.openxmlformats.org/presentationml/2006/ole">
            <mc:AlternateContent xmlns:mc="http://schemas.openxmlformats.org/markup-compatibility/2006">
              <mc:Choice xmlns:v="urn:schemas-microsoft-com:vml" Requires="v">
                <p:oleObj name="公式" r:id="rId17" imgW="64770" imgH="120015" progId="Equation.3">
                  <p:embed/>
                </p:oleObj>
              </mc:Choice>
              <mc:Fallback>
                <p:oleObj name="公式" r:id="rId17" imgW="64770" imgH="120015"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19925" y="3933825"/>
                        <a:ext cx="287338"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9293" name="Object 10"/>
          <p:cNvGraphicFramePr>
            <a:graphicFrameLocks noChangeAspect="1"/>
          </p:cNvGraphicFramePr>
          <p:nvPr/>
        </p:nvGraphicFramePr>
        <p:xfrm>
          <a:off x="7080250" y="4640263"/>
          <a:ext cx="166688" cy="314325"/>
        </p:xfrm>
        <a:graphic>
          <a:graphicData uri="http://schemas.openxmlformats.org/presentationml/2006/ole">
            <mc:AlternateContent xmlns:mc="http://schemas.openxmlformats.org/markup-compatibility/2006">
              <mc:Choice xmlns:v="urn:schemas-microsoft-com:vml" Requires="v">
                <p:oleObj name="公式" r:id="rId19" imgW="17145" imgH="71755" progId="Equation.3">
                  <p:embed/>
                </p:oleObj>
              </mc:Choice>
              <mc:Fallback>
                <p:oleObj name="公式" r:id="rId19" imgW="17145" imgH="71755"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80250" y="4640263"/>
                        <a:ext cx="166688" cy="314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日期占位符 13"/>
          <p:cNvSpPr>
            <a:spLocks noGrp="1"/>
          </p:cNvSpPr>
          <p:nvPr>
            <p:ph type="dt" sz="quarter" idx="10"/>
          </p:nvPr>
        </p:nvSpPr>
        <p:spPr/>
        <p:txBody>
          <a:bodyPr/>
          <a:lstStyle/>
          <a:p>
            <a:pPr>
              <a:defRPr/>
            </a:pPr>
            <a:fld id="{7CAB8F3E-38C6-4960-AD03-36F21B629757}" type="datetime1">
              <a:rPr lang="zh-CN" altLang="en-US"/>
              <a:t>2026/4/28</a:t>
            </a:fld>
            <a:endParaRPr lang="en-US" altLang="zh-CN" dirty="0"/>
          </a:p>
        </p:txBody>
      </p:sp>
      <p:sp>
        <p:nvSpPr>
          <p:cNvPr id="2" name="墨迹 1"/>
          <p:cNvSpPr/>
          <p:nvPr/>
        </p:nvSpPr>
        <p:spPr bwMode="auto">
          <a:xfrm>
            <a:off x="628560" y="2602080"/>
            <a:ext cx="614520" cy="54000"/>
          </a:xfrm>
        </p:spPr>
      </p:sp>
    </p:spTree>
    <p:custDataLst>
      <p:tags r:id="rId1"/>
    </p:custDataLst>
  </p:cSld>
  <p:clrMapOvr>
    <a:masterClrMapping/>
  </p:clrMapOvr>
  <p:transition spd="med" advTm="65115">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09285"/>
                                        </p:tgtEl>
                                        <p:attrNameLst>
                                          <p:attrName>style.visibility</p:attrName>
                                        </p:attrNameLst>
                                      </p:cBhvr>
                                      <p:to>
                                        <p:strVal val="visible"/>
                                      </p:to>
                                    </p:set>
                                    <p:animEffect transition="in" filter="wipe(left)">
                                      <p:cBhvr>
                                        <p:cTn id="12" dur="500"/>
                                        <p:tgtEl>
                                          <p:spTgt spid="6092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09289"/>
                                        </p:tgtEl>
                                        <p:attrNameLst>
                                          <p:attrName>style.visibility</p:attrName>
                                        </p:attrNameLst>
                                      </p:cBhvr>
                                      <p:to>
                                        <p:strVal val="visible"/>
                                      </p:to>
                                    </p:set>
                                    <p:animEffect transition="in" filter="wipe(left)">
                                      <p:cBhvr>
                                        <p:cTn id="17" dur="500"/>
                                        <p:tgtEl>
                                          <p:spTgt spid="6092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09286"/>
                                        </p:tgtEl>
                                        <p:attrNameLst>
                                          <p:attrName>style.visibility</p:attrName>
                                        </p:attrNameLst>
                                      </p:cBhvr>
                                      <p:to>
                                        <p:strVal val="visible"/>
                                      </p:to>
                                    </p:set>
                                    <p:animEffect transition="in" filter="wipe(left)">
                                      <p:cBhvr>
                                        <p:cTn id="22" dur="500"/>
                                        <p:tgtEl>
                                          <p:spTgt spid="60928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09290"/>
                                        </p:tgtEl>
                                        <p:attrNameLst>
                                          <p:attrName>style.visibility</p:attrName>
                                        </p:attrNameLst>
                                      </p:cBhvr>
                                      <p:to>
                                        <p:strVal val="visible"/>
                                      </p:to>
                                    </p:set>
                                    <p:animEffect transition="in" filter="wipe(left)">
                                      <p:cBhvr>
                                        <p:cTn id="27" dur="500"/>
                                        <p:tgtEl>
                                          <p:spTgt spid="60929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09291"/>
                                        </p:tgtEl>
                                        <p:attrNameLst>
                                          <p:attrName>style.visibility</p:attrName>
                                        </p:attrNameLst>
                                      </p:cBhvr>
                                      <p:to>
                                        <p:strVal val="visible"/>
                                      </p:to>
                                    </p:set>
                                    <p:animEffect transition="in" filter="wipe(left)">
                                      <p:cBhvr>
                                        <p:cTn id="32" dur="500"/>
                                        <p:tgtEl>
                                          <p:spTgt spid="60929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09292"/>
                                        </p:tgtEl>
                                        <p:attrNameLst>
                                          <p:attrName>style.visibility</p:attrName>
                                        </p:attrNameLst>
                                      </p:cBhvr>
                                      <p:to>
                                        <p:strVal val="visible"/>
                                      </p:to>
                                    </p:set>
                                    <p:animEffect transition="in" filter="wipe(left)">
                                      <p:cBhvr>
                                        <p:cTn id="37" dur="500"/>
                                        <p:tgtEl>
                                          <p:spTgt spid="60929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09293"/>
                                        </p:tgtEl>
                                        <p:attrNameLst>
                                          <p:attrName>style.visibility</p:attrName>
                                        </p:attrNameLst>
                                      </p:cBhvr>
                                      <p:to>
                                        <p:strVal val="visible"/>
                                      </p:to>
                                    </p:set>
                                    <p:animEffect transition="in" filter="wipe(left)">
                                      <p:cBhvr>
                                        <p:cTn id="42" dur="500"/>
                                        <p:tgtEl>
                                          <p:spTgt spid="60929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09287"/>
                                        </p:tgtEl>
                                        <p:attrNameLst>
                                          <p:attrName>style.visibility</p:attrName>
                                        </p:attrNameLst>
                                      </p:cBhvr>
                                      <p:to>
                                        <p:strVal val="visible"/>
                                      </p:to>
                                    </p:set>
                                    <p:animEffect transition="in" filter="wipe(left)">
                                      <p:cBhvr>
                                        <p:cTn id="47" dur="500"/>
                                        <p:tgtEl>
                                          <p:spTgt spid="60928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09284">
                                            <p:txEl>
                                              <p:pRg st="0" end="0"/>
                                            </p:txEl>
                                          </p:spTgt>
                                        </p:tgtEl>
                                        <p:attrNameLst>
                                          <p:attrName>style.visibility</p:attrName>
                                        </p:attrNameLst>
                                      </p:cBhvr>
                                      <p:to>
                                        <p:strVal val="visible"/>
                                      </p:to>
                                    </p:set>
                                    <p:animEffect transition="in" filter="wipe(left)">
                                      <p:cBhvr>
                                        <p:cTn id="52" dur="500"/>
                                        <p:tgtEl>
                                          <p:spTgt spid="6092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4" grpId="0" build="p" autoUpdateAnimBg="0"/>
      <p:bldP spid="609287" grpId="0" animBg="1"/>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Rectangle 2"/>
          <p:cNvSpPr>
            <a:spLocks noGrp="1" noChangeArrowheads="1"/>
          </p:cNvSpPr>
          <p:nvPr>
            <p:ph type="title" idx="4294967295"/>
          </p:nvPr>
        </p:nvSpPr>
        <p:spPr>
          <a:xfrm>
            <a:off x="611188" y="188913"/>
            <a:ext cx="1103312" cy="541337"/>
          </a:xfrm>
          <a:noFill/>
        </p:spPr>
        <p:txBody>
          <a:bodyPr/>
          <a:lstStyle/>
          <a:p>
            <a:r>
              <a:rPr kumimoji="1" lang="zh-CN" altLang="en-US" sz="2400">
                <a:solidFill>
                  <a:schemeClr val="tx1"/>
                </a:solidFill>
                <a:latin typeface="Tahoma" panose="020B0604030504040204" pitchFamily="34" charset="0"/>
              </a:rPr>
              <a:t>例</a:t>
            </a:r>
            <a:r>
              <a:rPr kumimoji="1" lang="en-US" altLang="zh-CN" sz="2400">
                <a:solidFill>
                  <a:schemeClr val="tx1"/>
                </a:solidFill>
                <a:latin typeface="Tahoma" panose="020B0604030504040204" pitchFamily="34" charset="0"/>
              </a:rPr>
              <a:t>2</a:t>
            </a:r>
            <a:r>
              <a:rPr kumimoji="1" lang="zh-CN" altLang="en-US" sz="2400">
                <a:solidFill>
                  <a:schemeClr val="tx1"/>
                </a:solidFill>
                <a:latin typeface="Tahoma" panose="020B0604030504040204" pitchFamily="34" charset="0"/>
              </a:rPr>
              <a:t>：</a:t>
            </a:r>
          </a:p>
        </p:txBody>
      </p:sp>
      <p:graphicFrame>
        <p:nvGraphicFramePr>
          <p:cNvPr id="92163" name="Object 2"/>
          <p:cNvGraphicFramePr>
            <a:graphicFrameLocks noChangeAspect="1"/>
          </p:cNvGraphicFramePr>
          <p:nvPr/>
        </p:nvGraphicFramePr>
        <p:xfrm>
          <a:off x="1487170" y="215900"/>
          <a:ext cx="4513263" cy="514350"/>
        </p:xfrm>
        <a:graphic>
          <a:graphicData uri="http://schemas.openxmlformats.org/presentationml/2006/ole">
            <mc:AlternateContent xmlns:mc="http://schemas.openxmlformats.org/markup-compatibility/2006">
              <mc:Choice xmlns:v="urn:schemas-microsoft-com:vml" Requires="v">
                <p:oleObj name="Equation" r:id="rId3" imgW="1428115" imgH="120015" progId="Equation.3">
                  <p:embed/>
                </p:oleObj>
              </mc:Choice>
              <mc:Fallback>
                <p:oleObj name="Equation" r:id="rId3" imgW="1428115" imgH="12001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7170" y="215900"/>
                        <a:ext cx="4513263" cy="5143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0308" name="Text Box 4"/>
          <p:cNvSpPr txBox="1">
            <a:spLocks noChangeArrowheads="1"/>
          </p:cNvSpPr>
          <p:nvPr/>
        </p:nvSpPr>
        <p:spPr bwMode="auto">
          <a:xfrm>
            <a:off x="858838" y="1275080"/>
            <a:ext cx="5688012" cy="2891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50000"/>
              </a:lnSpc>
              <a:spcBef>
                <a:spcPct val="50000"/>
              </a:spcBef>
              <a:buClr>
                <a:schemeClr val="accent2"/>
              </a:buClr>
              <a:buFont typeface="Wingdings" panose="05000000000000000000" pitchFamily="2" charset="2"/>
              <a:buNone/>
            </a:pPr>
            <a:r>
              <a:rPr kumimoji="1" lang="en-US" altLang="zh-CN">
                <a:latin typeface="Tahoma" panose="020B0604030504040204" pitchFamily="34" charset="0"/>
                <a:ea typeface="宋体" panose="02010600030101010101" pitchFamily="2" charset="-122"/>
              </a:rPr>
              <a:t>     </a:t>
            </a:r>
            <a:r>
              <a:rPr kumimoji="1" lang="zh-CN" altLang="en-US">
                <a:latin typeface="Tahoma" panose="020B0604030504040204" pitchFamily="34" charset="0"/>
                <a:ea typeface="宋体" panose="02010600030101010101" pitchFamily="2" charset="-122"/>
              </a:rPr>
              <a:t>某行首列元素为零，其他元素不为零：</a:t>
            </a:r>
          </a:p>
          <a:p>
            <a:pPr eaLnBrk="1" hangingPunct="1">
              <a:lnSpc>
                <a:spcPct val="150000"/>
              </a:lnSpc>
              <a:spcBef>
                <a:spcPct val="50000"/>
              </a:spcBef>
              <a:buClr>
                <a:schemeClr val="accent2"/>
              </a:buClr>
              <a:buFont typeface="Wingdings" panose="05000000000000000000" pitchFamily="2" charset="2"/>
              <a:buNone/>
            </a:pPr>
            <a:r>
              <a:rPr kumimoji="1" lang="zh-CN" altLang="en-US">
                <a:solidFill>
                  <a:srgbClr val="FF0000"/>
                </a:solidFill>
                <a:latin typeface="Tahoma" panose="020B0604030504040204" pitchFamily="34" charset="0"/>
                <a:ea typeface="宋体" panose="02010600030101010101" pitchFamily="2" charset="-122"/>
              </a:rPr>
              <a:t>    可用无穷小量</a:t>
            </a:r>
            <a:r>
              <a:rPr kumimoji="1" lang="zh-CN" altLang="en-US">
                <a:solidFill>
                  <a:srgbClr val="FF0000"/>
                </a:solidFill>
                <a:latin typeface="Tahoma" panose="020B0604030504040204" pitchFamily="34" charset="0"/>
                <a:ea typeface="宋体" panose="02010600030101010101" pitchFamily="2" charset="-122"/>
                <a:sym typeface="Symbol" panose="05050102010706020507" pitchFamily="18" charset="2"/>
              </a:rPr>
              <a:t>（认为是正值）代替</a:t>
            </a:r>
            <a:r>
              <a:rPr kumimoji="1" lang="en-US" altLang="zh-CN">
                <a:solidFill>
                  <a:srgbClr val="FF0000"/>
                </a:solidFill>
                <a:latin typeface="Tahoma" panose="020B0604030504040204" pitchFamily="34" charset="0"/>
                <a:ea typeface="宋体" panose="02010600030101010101" pitchFamily="2" charset="-122"/>
                <a:sym typeface="Symbol" panose="05050102010706020507" pitchFamily="18" charset="2"/>
              </a:rPr>
              <a:t>0</a:t>
            </a:r>
            <a:r>
              <a:rPr kumimoji="1" lang="zh-CN" altLang="en-US">
                <a:solidFill>
                  <a:srgbClr val="FF0000"/>
                </a:solidFill>
                <a:latin typeface="Tahoma" panose="020B0604030504040204" pitchFamily="34" charset="0"/>
                <a:ea typeface="宋体" panose="02010600030101010101" pitchFamily="2" charset="-122"/>
                <a:sym typeface="Symbol" panose="05050102010706020507" pitchFamily="18" charset="2"/>
              </a:rPr>
              <a:t>，继续阵列计算</a:t>
            </a:r>
            <a:r>
              <a:rPr kumimoji="1" lang="zh-CN" altLang="en-US">
                <a:latin typeface="Tahoma" panose="020B0604030504040204" pitchFamily="34" charset="0"/>
                <a:ea typeface="宋体" panose="02010600030101010101" pitchFamily="2" charset="-122"/>
                <a:sym typeface="Symbol" panose="05050102010706020507" pitchFamily="18" charset="2"/>
              </a:rPr>
              <a:t>。</a:t>
            </a:r>
          </a:p>
        </p:txBody>
      </p:sp>
      <p:graphicFrame>
        <p:nvGraphicFramePr>
          <p:cNvPr id="92165" name="Object 3"/>
          <p:cNvGraphicFramePr>
            <a:graphicFrameLocks noChangeAspect="1"/>
          </p:cNvGraphicFramePr>
          <p:nvPr/>
        </p:nvGraphicFramePr>
        <p:xfrm>
          <a:off x="7010400" y="1376363"/>
          <a:ext cx="1885950" cy="1143000"/>
        </p:xfrm>
        <a:graphic>
          <a:graphicData uri="http://schemas.openxmlformats.org/presentationml/2006/ole">
            <mc:AlternateContent xmlns:mc="http://schemas.openxmlformats.org/markup-compatibility/2006">
              <mc:Choice xmlns:v="urn:schemas-microsoft-com:vml" Requires="v">
                <p:oleObj name="位图图像" r:id="rId5" imgW="1752600" imgH="1219200" progId="Paint.Picture">
                  <p:embed/>
                </p:oleObj>
              </mc:Choice>
              <mc:Fallback>
                <p:oleObj name="位图图像" r:id="rId5" imgW="1752600" imgH="1219200" progId="Paint.Picture">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0400" y="1376363"/>
                        <a:ext cx="18859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0310" name="Text Box 6"/>
          <p:cNvSpPr txBox="1">
            <a:spLocks noChangeArrowheads="1"/>
          </p:cNvSpPr>
          <p:nvPr/>
        </p:nvSpPr>
        <p:spPr bwMode="auto">
          <a:xfrm>
            <a:off x="1268413" y="4613275"/>
            <a:ext cx="49974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楷体_GB2312" pitchFamily="49" charset="-122"/>
              </a:rPr>
              <a:t>故</a:t>
            </a:r>
            <a:r>
              <a:rPr kumimoji="1" lang="en-US" altLang="zh-CN">
                <a:solidFill>
                  <a:srgbClr val="800000"/>
                </a:solidFill>
                <a:latin typeface="Tahoma" panose="020B0604030504040204" pitchFamily="34" charset="0"/>
                <a:ea typeface="楷体_GB2312" pitchFamily="49" charset="-122"/>
              </a:rPr>
              <a:t>D(s)=0</a:t>
            </a:r>
            <a:r>
              <a:rPr kumimoji="1" lang="zh-CN" altLang="en-US">
                <a:solidFill>
                  <a:srgbClr val="800000"/>
                </a:solidFill>
                <a:latin typeface="Tahoma" panose="020B0604030504040204" pitchFamily="34" charset="0"/>
                <a:ea typeface="楷体_GB2312" pitchFamily="49" charset="-122"/>
              </a:rPr>
              <a:t>含两个右半平面根</a:t>
            </a:r>
            <a:endParaRPr kumimoji="1" lang="zh-CN" altLang="en-US">
              <a:latin typeface="Tahoma" panose="020B0604030504040204" pitchFamily="34" charset="0"/>
              <a:ea typeface="宋体" panose="02010600030101010101" pitchFamily="2" charset="-122"/>
            </a:endParaRPr>
          </a:p>
        </p:txBody>
      </p:sp>
      <p:graphicFrame>
        <p:nvGraphicFramePr>
          <p:cNvPr id="92167" name="Object 4"/>
          <p:cNvGraphicFramePr>
            <a:graphicFrameLocks noChangeAspect="1"/>
          </p:cNvGraphicFramePr>
          <p:nvPr/>
        </p:nvGraphicFramePr>
        <p:xfrm>
          <a:off x="6553200" y="1376363"/>
          <a:ext cx="460375" cy="3124200"/>
        </p:xfrm>
        <a:graphic>
          <a:graphicData uri="http://schemas.openxmlformats.org/presentationml/2006/ole">
            <mc:AlternateContent xmlns:mc="http://schemas.openxmlformats.org/markup-compatibility/2006">
              <mc:Choice xmlns:v="urn:schemas-microsoft-com:vml" Requires="v">
                <p:oleObj name="Equation" r:id="rId7" imgW="85725" imgH="832485" progId="Equation.3">
                  <p:embed/>
                </p:oleObj>
              </mc:Choice>
              <mc:Fallback>
                <p:oleObj name="Equation" r:id="rId7" imgW="85725" imgH="832485"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1376363"/>
                        <a:ext cx="460375" cy="312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68" name="Object 5"/>
          <p:cNvGraphicFramePr>
            <a:graphicFrameLocks noChangeAspect="1"/>
          </p:cNvGraphicFramePr>
          <p:nvPr/>
        </p:nvGraphicFramePr>
        <p:xfrm>
          <a:off x="7140575" y="2519363"/>
          <a:ext cx="1077913" cy="588962"/>
        </p:xfrm>
        <a:graphic>
          <a:graphicData uri="http://schemas.openxmlformats.org/presentationml/2006/ole">
            <mc:AlternateContent xmlns:mc="http://schemas.openxmlformats.org/markup-compatibility/2006">
              <mc:Choice xmlns:v="urn:schemas-microsoft-com:vml" Requires="v">
                <p:oleObj name="Equation" r:id="rId9" imgW="256540" imgH="120015" progId="Equation.3">
                  <p:embed/>
                </p:oleObj>
              </mc:Choice>
              <mc:Fallback>
                <p:oleObj name="Equation" r:id="rId9" imgW="256540" imgH="120015"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40575" y="2519363"/>
                        <a:ext cx="1077913" cy="588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0313" name="Object 6"/>
          <p:cNvGraphicFramePr>
            <a:graphicFrameLocks noChangeAspect="1"/>
          </p:cNvGraphicFramePr>
          <p:nvPr/>
        </p:nvGraphicFramePr>
        <p:xfrm>
          <a:off x="7019925" y="2924175"/>
          <a:ext cx="1873250" cy="1524000"/>
        </p:xfrm>
        <a:graphic>
          <a:graphicData uri="http://schemas.openxmlformats.org/presentationml/2006/ole">
            <mc:AlternateContent xmlns:mc="http://schemas.openxmlformats.org/markup-compatibility/2006">
              <mc:Choice xmlns:v="urn:schemas-microsoft-com:vml" Requires="v">
                <p:oleObj name="位图图像" r:id="rId11" imgW="1762125" imgH="1304925" progId="Paint.Picture">
                  <p:embed/>
                </p:oleObj>
              </mc:Choice>
              <mc:Fallback>
                <p:oleObj name="位图图像" r:id="rId11" imgW="1762125" imgH="1304925" progId="Paint.Picture">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19925" y="2924175"/>
                        <a:ext cx="187325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0314" name="Object 7"/>
          <p:cNvGraphicFramePr>
            <a:graphicFrameLocks noChangeAspect="1"/>
          </p:cNvGraphicFramePr>
          <p:nvPr/>
        </p:nvGraphicFramePr>
        <p:xfrm>
          <a:off x="7019925" y="2513330"/>
          <a:ext cx="1873250" cy="494030"/>
        </p:xfrm>
        <a:graphic>
          <a:graphicData uri="http://schemas.openxmlformats.org/presentationml/2006/ole">
            <mc:AlternateContent xmlns:mc="http://schemas.openxmlformats.org/markup-compatibility/2006">
              <mc:Choice xmlns:v="urn:schemas-microsoft-com:vml" Requires="v">
                <p:oleObj name="位图图像" r:id="rId13" imgW="1676400" imgH="381000" progId="Paint.Picture">
                  <p:embed/>
                </p:oleObj>
              </mc:Choice>
              <mc:Fallback>
                <p:oleObj name="位图图像" r:id="rId13" imgW="1676400" imgH="381000" progId="Paint.Picture">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19925" y="2513330"/>
                        <a:ext cx="1873250" cy="4940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0315" name="Rectangle 11"/>
          <p:cNvSpPr>
            <a:spLocks noChangeArrowheads="1"/>
          </p:cNvSpPr>
          <p:nvPr/>
        </p:nvSpPr>
        <p:spPr bwMode="auto">
          <a:xfrm>
            <a:off x="7010400" y="1452563"/>
            <a:ext cx="762000" cy="3048000"/>
          </a:xfrm>
          <a:prstGeom prst="rect">
            <a:avLst/>
          </a:prstGeom>
          <a:noFill/>
          <a:ln w="1905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12" name="日期占位符 11"/>
          <p:cNvSpPr>
            <a:spLocks noGrp="1"/>
          </p:cNvSpPr>
          <p:nvPr>
            <p:ph type="dt" sz="quarter" idx="10"/>
          </p:nvPr>
        </p:nvSpPr>
        <p:spPr/>
        <p:txBody>
          <a:bodyPr/>
          <a:lstStyle/>
          <a:p>
            <a:pPr>
              <a:defRPr/>
            </a:pPr>
            <a:fld id="{0626CAEC-C849-4B28-B105-A0AD9406FFAD}" type="datetime1">
              <a:rPr lang="zh-CN" altLang="en-US"/>
              <a:t>2026/4/28</a:t>
            </a:fld>
            <a:endParaRPr lang="en-US" altLang="zh-CN" dirty="0"/>
          </a:p>
        </p:txBody>
      </p:sp>
      <p:sp>
        <p:nvSpPr>
          <p:cNvPr id="2" name="墨迹 1"/>
          <p:cNvSpPr/>
          <p:nvPr/>
        </p:nvSpPr>
        <p:spPr bwMode="auto">
          <a:xfrm>
            <a:off x="7109280" y="2705040"/>
            <a:ext cx="123840" cy="281520"/>
          </a:xfrm>
        </p:spPr>
      </p:sp>
    </p:spTree>
    <p:custDataLst>
      <p:tags r:id="rId1"/>
    </p:custDataLst>
  </p:cSld>
  <p:clrMapOvr>
    <a:masterClrMapping/>
  </p:clrMapOvr>
  <p:transition spd="med" advTm="4649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0308">
                                            <p:txEl>
                                              <p:pRg st="0" end="0"/>
                                            </p:txEl>
                                          </p:spTgt>
                                        </p:tgtEl>
                                        <p:attrNameLst>
                                          <p:attrName>style.visibility</p:attrName>
                                        </p:attrNameLst>
                                      </p:cBhvr>
                                      <p:to>
                                        <p:strVal val="visible"/>
                                      </p:to>
                                    </p:set>
                                    <p:animEffect transition="in" filter="wipe(left)">
                                      <p:cBhvr>
                                        <p:cTn id="12" dur="500"/>
                                        <p:tgtEl>
                                          <p:spTgt spid="61030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0308">
                                            <p:txEl>
                                              <p:pRg st="1" end="1"/>
                                            </p:txEl>
                                          </p:spTgt>
                                        </p:tgtEl>
                                        <p:attrNameLst>
                                          <p:attrName>style.visibility</p:attrName>
                                        </p:attrNameLst>
                                      </p:cBhvr>
                                      <p:to>
                                        <p:strVal val="visible"/>
                                      </p:to>
                                    </p:set>
                                    <p:animEffect transition="in" filter="wipe(left)">
                                      <p:cBhvr>
                                        <p:cTn id="17" dur="500"/>
                                        <p:tgtEl>
                                          <p:spTgt spid="61030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10314"/>
                                        </p:tgtEl>
                                        <p:attrNameLst>
                                          <p:attrName>style.visibility</p:attrName>
                                        </p:attrNameLst>
                                      </p:cBhvr>
                                      <p:to>
                                        <p:strVal val="visible"/>
                                      </p:to>
                                    </p:set>
                                    <p:animEffect transition="in" filter="wipe(left)">
                                      <p:cBhvr>
                                        <p:cTn id="22" dur="500"/>
                                        <p:tgtEl>
                                          <p:spTgt spid="6103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0313"/>
                                        </p:tgtEl>
                                        <p:attrNameLst>
                                          <p:attrName>style.visibility</p:attrName>
                                        </p:attrNameLst>
                                      </p:cBhvr>
                                      <p:to>
                                        <p:strVal val="visible"/>
                                      </p:to>
                                    </p:set>
                                    <p:animEffect transition="in" filter="wipe(left)">
                                      <p:cBhvr>
                                        <p:cTn id="27" dur="500"/>
                                        <p:tgtEl>
                                          <p:spTgt spid="6103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10315"/>
                                        </p:tgtEl>
                                        <p:attrNameLst>
                                          <p:attrName>style.visibility</p:attrName>
                                        </p:attrNameLst>
                                      </p:cBhvr>
                                      <p:to>
                                        <p:strVal val="visible"/>
                                      </p:to>
                                    </p:set>
                                    <p:animEffect transition="in" filter="wipe(left)">
                                      <p:cBhvr>
                                        <p:cTn id="32" dur="500"/>
                                        <p:tgtEl>
                                          <p:spTgt spid="6103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10310">
                                            <p:txEl>
                                              <p:pRg st="0" end="0"/>
                                            </p:txEl>
                                          </p:spTgt>
                                        </p:tgtEl>
                                        <p:attrNameLst>
                                          <p:attrName>style.visibility</p:attrName>
                                        </p:attrNameLst>
                                      </p:cBhvr>
                                      <p:to>
                                        <p:strVal val="visible"/>
                                      </p:to>
                                    </p:set>
                                    <p:animEffect transition="in" filter="wipe(left)">
                                      <p:cBhvr>
                                        <p:cTn id="37" dur="500"/>
                                        <p:tgtEl>
                                          <p:spTgt spid="6103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8" grpId="0" build="p" autoUpdateAnimBg="0"/>
      <p:bldP spid="610310" grpId="0" build="p" autoUpdateAnimBg="0"/>
      <p:bldP spid="61031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ChangeArrowheads="1"/>
          </p:cNvSpPr>
          <p:nvPr/>
        </p:nvSpPr>
        <p:spPr bwMode="auto">
          <a:xfrm>
            <a:off x="868363" y="876300"/>
            <a:ext cx="7847012" cy="5687695"/>
          </a:xfrm>
          <a:prstGeom prst="rect">
            <a:avLst/>
          </a:prstGeom>
          <a:solidFill>
            <a:schemeClr val="bg1"/>
          </a:solidFill>
          <a:ln w="38100">
            <a:solidFill>
              <a:srgbClr val="008000"/>
            </a:solidFill>
            <a:miter lim="800000"/>
          </a:ln>
          <a:effectLst>
            <a:outerShdw dist="35921" dir="2700000" algn="ctr" rotWithShape="0">
              <a:schemeClr val="bg2"/>
            </a:outerShdw>
          </a:effectLst>
        </p:spPr>
        <p:txBody>
          <a:bodyPr>
            <a:spAutoFit/>
          </a:bodyPr>
          <a:lstStyle>
            <a:lvl1pPr marL="363855" indent="-363855">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chemeClr val="accent2"/>
              </a:buClr>
              <a:buFont typeface="Wingdings" panose="05000000000000000000" pitchFamily="2" charset="2"/>
              <a:buChar char="l"/>
            </a:pPr>
            <a:r>
              <a:rPr kumimoji="1" lang="zh-CN" altLang="en-US">
                <a:latin typeface="华文中宋" panose="02010600040101010101" pitchFamily="2" charset="-122"/>
              </a:rPr>
              <a:t>若遇到</a:t>
            </a:r>
            <a:r>
              <a:rPr kumimoji="1" lang="zh-CN" altLang="en-US">
                <a:solidFill>
                  <a:srgbClr val="FF0000"/>
                </a:solidFill>
                <a:latin typeface="华文中宋" panose="02010600040101010101" pitchFamily="2" charset="-122"/>
              </a:rPr>
              <a:t>连续两行数字相等或成比例</a:t>
            </a:r>
            <a:r>
              <a:rPr kumimoji="1" lang="zh-CN" altLang="en-US">
                <a:latin typeface="华文中宋" panose="02010600040101010101" pitchFamily="2" charset="-122"/>
              </a:rPr>
              <a:t>，则下一行全为零，也无法计算。这说明函数在</a:t>
            </a:r>
            <a:r>
              <a:rPr kumimoji="1" lang="zh-CN" altLang="en-US">
                <a:solidFill>
                  <a:srgbClr val="FF0000"/>
                </a:solidFill>
                <a:latin typeface="华文中宋" panose="02010600040101010101" pitchFamily="2" charset="-122"/>
              </a:rPr>
              <a:t>虚轴上可能有极点</a:t>
            </a:r>
            <a:r>
              <a:rPr kumimoji="1" lang="zh-CN" altLang="en-US">
                <a:latin typeface="华文中宋" panose="02010600040101010101" pitchFamily="2" charset="-122"/>
              </a:rPr>
              <a:t>。</a:t>
            </a:r>
          </a:p>
          <a:p>
            <a:pPr eaLnBrk="1" hangingPunct="1">
              <a:lnSpc>
                <a:spcPct val="140000"/>
              </a:lnSpc>
              <a:spcBef>
                <a:spcPct val="20000"/>
              </a:spcBef>
              <a:buClr>
                <a:schemeClr val="accent2"/>
              </a:buClr>
              <a:buFont typeface="Wingdings" panose="05000000000000000000" pitchFamily="2" charset="2"/>
              <a:buChar char="l"/>
            </a:pPr>
            <a:r>
              <a:rPr kumimoji="1" lang="zh-CN" altLang="en-US">
                <a:latin typeface="华文中宋" panose="02010600040101010101" pitchFamily="2" charset="-122"/>
              </a:rPr>
              <a:t>处理如下：由全零行</a:t>
            </a:r>
            <a:r>
              <a:rPr kumimoji="1" lang="zh-CN" altLang="en-US">
                <a:solidFill>
                  <a:srgbClr val="FF0000"/>
                </a:solidFill>
                <a:latin typeface="华文中宋" panose="02010600040101010101" pitchFamily="2" charset="-122"/>
              </a:rPr>
              <a:t>前一行</a:t>
            </a:r>
            <a:r>
              <a:rPr kumimoji="1" lang="zh-CN" altLang="en-US">
                <a:latin typeface="华文中宋" panose="02010600040101010101" pitchFamily="2" charset="-122"/>
              </a:rPr>
              <a:t>的元素组成一个辅助多项式，用此多项式的</a:t>
            </a:r>
            <a:r>
              <a:rPr kumimoji="1" lang="zh-CN" altLang="en-US">
                <a:solidFill>
                  <a:srgbClr val="CC0000"/>
                </a:solidFill>
                <a:latin typeface="华文中宋" panose="02010600040101010101" pitchFamily="2" charset="-122"/>
              </a:rPr>
              <a:t>导数</a:t>
            </a:r>
            <a:r>
              <a:rPr kumimoji="1" lang="zh-CN" altLang="en-US">
                <a:latin typeface="华文中宋" panose="02010600040101010101" pitchFamily="2" charset="-122"/>
              </a:rPr>
              <a:t>的系数代替全零行，继续排出阵列。</a:t>
            </a:r>
          </a:p>
          <a:p>
            <a:pPr eaLnBrk="1" hangingPunct="1">
              <a:lnSpc>
                <a:spcPct val="140000"/>
              </a:lnSpc>
              <a:spcBef>
                <a:spcPct val="20000"/>
              </a:spcBef>
              <a:buClr>
                <a:schemeClr val="accent2"/>
              </a:buClr>
              <a:buFont typeface="Wingdings" panose="05000000000000000000" pitchFamily="2" charset="2"/>
              <a:buChar char="l"/>
            </a:pPr>
            <a:r>
              <a:rPr kumimoji="1" lang="zh-CN" altLang="en-US">
                <a:latin typeface="华文中宋" panose="02010600040101010101" pitchFamily="2" charset="-122"/>
              </a:rPr>
              <a:t>变号时，系统必不稳定； </a:t>
            </a:r>
            <a:r>
              <a:rPr kumimoji="1" lang="zh-CN" altLang="en-US">
                <a:solidFill>
                  <a:srgbClr val="CC0000"/>
                </a:solidFill>
                <a:latin typeface="华文中宋" panose="02010600040101010101" pitchFamily="2" charset="-122"/>
              </a:rPr>
              <a:t>不变号时</a:t>
            </a:r>
            <a:r>
              <a:rPr kumimoji="1" lang="zh-CN" altLang="en-US">
                <a:latin typeface="华文中宋" panose="02010600040101010101" pitchFamily="2" charset="-122"/>
              </a:rPr>
              <a:t>，虚轴上的极点为</a:t>
            </a:r>
            <a:r>
              <a:rPr kumimoji="1" lang="zh-CN" altLang="en-US">
                <a:solidFill>
                  <a:srgbClr val="CC0000"/>
                </a:solidFill>
                <a:latin typeface="华文中宋" panose="02010600040101010101" pitchFamily="2" charset="-122"/>
              </a:rPr>
              <a:t>单极点</a:t>
            </a:r>
            <a:r>
              <a:rPr kumimoji="1" lang="zh-CN" altLang="en-US">
                <a:latin typeface="华文中宋" panose="02010600040101010101" pitchFamily="2" charset="-122"/>
              </a:rPr>
              <a:t>时，系统</a:t>
            </a:r>
            <a:r>
              <a:rPr kumimoji="1" lang="zh-CN" altLang="en-US">
                <a:solidFill>
                  <a:srgbClr val="CC0000"/>
                </a:solidFill>
                <a:latin typeface="华文中宋" panose="02010600040101010101" pitchFamily="2" charset="-122"/>
              </a:rPr>
              <a:t>临界稳定</a:t>
            </a:r>
            <a:r>
              <a:rPr kumimoji="1" lang="zh-CN" altLang="en-US">
                <a:latin typeface="华文中宋" panose="02010600040101010101" pitchFamily="2" charset="-122"/>
              </a:rPr>
              <a:t>，如虚轴上有重极点，则系统不稳定。</a:t>
            </a:r>
            <a:endParaRPr kumimoji="1" lang="zh-CN" altLang="en-US"/>
          </a:p>
        </p:txBody>
      </p:sp>
      <p:sp>
        <p:nvSpPr>
          <p:cNvPr id="93187" name="Rectangle 3"/>
          <p:cNvSpPr>
            <a:spLocks noChangeArrowheads="1"/>
          </p:cNvSpPr>
          <p:nvPr/>
        </p:nvSpPr>
        <p:spPr bwMode="auto">
          <a:xfrm>
            <a:off x="3200400" y="4241800"/>
            <a:ext cx="3206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93188" name="Rectangle 4"/>
          <p:cNvSpPr>
            <a:spLocks noChangeArrowheads="1"/>
          </p:cNvSpPr>
          <p:nvPr/>
        </p:nvSpPr>
        <p:spPr bwMode="auto">
          <a:xfrm>
            <a:off x="2976563" y="2944813"/>
            <a:ext cx="1071562"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611333" name="Rectangle 5"/>
          <p:cNvSpPr>
            <a:spLocks noChangeArrowheads="1"/>
          </p:cNvSpPr>
          <p:nvPr/>
        </p:nvSpPr>
        <p:spPr bwMode="auto">
          <a:xfrm>
            <a:off x="542925" y="0"/>
            <a:ext cx="4332288"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en-US" altLang="zh-CN">
                <a:solidFill>
                  <a:srgbClr val="F8F8F8"/>
                </a:solidFill>
                <a:effectLst>
                  <a:outerShdw blurRad="38100" dist="38100" dir="2700000" algn="tl">
                    <a:srgbClr val="000000"/>
                  </a:outerShdw>
                </a:effectLst>
                <a:latin typeface="楷体_GB2312" pitchFamily="49" charset="-122"/>
                <a:ea typeface="楷体_GB2312" pitchFamily="49" charset="-122"/>
              </a:rPr>
              <a:t>§6.6 </a:t>
            </a:r>
            <a:r>
              <a:rPr lang="zh-CN" altLang="en-US">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6" name="日期占位符 5"/>
          <p:cNvSpPr>
            <a:spLocks noGrp="1"/>
          </p:cNvSpPr>
          <p:nvPr>
            <p:ph type="dt" sz="quarter" idx="10"/>
          </p:nvPr>
        </p:nvSpPr>
        <p:spPr>
          <a:xfrm>
            <a:off x="0" y="6538913"/>
            <a:ext cx="1247775" cy="319087"/>
          </a:xfrm>
        </p:spPr>
        <p:txBody>
          <a:bodyPr/>
          <a:lstStyle/>
          <a:p>
            <a:pPr>
              <a:defRPr/>
            </a:pPr>
            <a:fld id="{6106DAE5-C639-46E4-8FB6-62EB9B3802B2}" type="datetime1">
              <a:rPr lang="zh-CN" altLang="en-US"/>
              <a:t>2026/4/28</a:t>
            </a:fld>
            <a:endParaRPr lang="zh-CN" altLang="en-US"/>
          </a:p>
        </p:txBody>
      </p:sp>
      <p:sp>
        <p:nvSpPr>
          <p:cNvPr id="2" name="墨迹 1"/>
          <p:cNvSpPr/>
          <p:nvPr/>
        </p:nvSpPr>
        <p:spPr bwMode="auto">
          <a:xfrm>
            <a:off x="1451520" y="3536640"/>
            <a:ext cx="7004160" cy="17892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0202"/>
    </mc:Choice>
    <mc:Fallback xmlns="">
      <p:transition spd="slow" advTm="802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611330">
                                            <p:txEl>
                                              <p:pRg st="0" end="0"/>
                                            </p:txEl>
                                          </p:spTgt>
                                        </p:tgtEl>
                                        <p:attrNameLst>
                                          <p:attrName>style.visibility</p:attrName>
                                        </p:attrNameLst>
                                      </p:cBhvr>
                                      <p:to>
                                        <p:strVal val="visible"/>
                                      </p:to>
                                    </p:set>
                                    <p:anim calcmode="lin" valueType="num">
                                      <p:cBhvr>
                                        <p:cTn id="11" dur="1000" fill="hold"/>
                                        <p:tgtEl>
                                          <p:spTgt spid="611330">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611330">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611330">
                                            <p:txEl>
                                              <p:pRg st="0" end="0"/>
                                            </p:txEl>
                                          </p:spTgt>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611330">
                                            <p:txEl>
                                              <p:pRg st="1" end="1"/>
                                            </p:txEl>
                                          </p:spTgt>
                                        </p:tgtEl>
                                        <p:attrNameLst>
                                          <p:attrName>style.visibility</p:attrName>
                                        </p:attrNameLst>
                                      </p:cBhvr>
                                      <p:to>
                                        <p:strVal val="visible"/>
                                      </p:to>
                                    </p:set>
                                    <p:anim calcmode="lin" valueType="num">
                                      <p:cBhvr>
                                        <p:cTn id="17" dur="1000" fill="hold"/>
                                        <p:tgtEl>
                                          <p:spTgt spid="611330">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611330">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611330">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611330">
                                            <p:txEl>
                                              <p:pRg st="2" end="2"/>
                                            </p:txEl>
                                          </p:spTgt>
                                        </p:tgtEl>
                                        <p:attrNameLst>
                                          <p:attrName>style.visibility</p:attrName>
                                        </p:attrNameLst>
                                      </p:cBhvr>
                                      <p:to>
                                        <p:strVal val="visible"/>
                                      </p:to>
                                    </p:set>
                                    <p:anim calcmode="lin" valueType="num">
                                      <p:cBhvr>
                                        <p:cTn id="24" dur="1000" fill="hold"/>
                                        <p:tgtEl>
                                          <p:spTgt spid="611330">
                                            <p:txEl>
                                              <p:pRg st="2" end="2"/>
                                            </p:txEl>
                                          </p:spTgt>
                                        </p:tgtEl>
                                        <p:attrNameLst>
                                          <p:attrName>ppt_w</p:attrName>
                                        </p:attrNameLst>
                                      </p:cBhvr>
                                      <p:tavLst>
                                        <p:tav tm="0">
                                          <p:val>
                                            <p:strVal val="#ppt_w*0.70"/>
                                          </p:val>
                                        </p:tav>
                                        <p:tav tm="100000">
                                          <p:val>
                                            <p:strVal val="#ppt_w"/>
                                          </p:val>
                                        </p:tav>
                                      </p:tavLst>
                                    </p:anim>
                                    <p:anim calcmode="lin" valueType="num">
                                      <p:cBhvr>
                                        <p:cTn id="25" dur="1000" fill="hold"/>
                                        <p:tgtEl>
                                          <p:spTgt spid="611330">
                                            <p:txEl>
                                              <p:pRg st="2" end="2"/>
                                            </p:txEl>
                                          </p:spTgt>
                                        </p:tgtEl>
                                        <p:attrNameLst>
                                          <p:attrName>ppt_h</p:attrName>
                                        </p:attrNameLst>
                                      </p:cBhvr>
                                      <p:tavLst>
                                        <p:tav tm="0">
                                          <p:val>
                                            <p:strVal val="#ppt_h"/>
                                          </p:val>
                                        </p:tav>
                                        <p:tav tm="100000">
                                          <p:val>
                                            <p:strVal val="#ppt_h"/>
                                          </p:val>
                                        </p:tav>
                                      </p:tavLst>
                                    </p:anim>
                                    <p:animEffect transition="in" filter="fade">
                                      <p:cBhvr>
                                        <p:cTn id="26" dur="1000"/>
                                        <p:tgtEl>
                                          <p:spTgt spid="6113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12354" name="Object 2"/>
          <p:cNvGraphicFramePr>
            <a:graphicFrameLocks noChangeAspect="1"/>
          </p:cNvGraphicFramePr>
          <p:nvPr/>
        </p:nvGraphicFramePr>
        <p:xfrm>
          <a:off x="7451725" y="2492375"/>
          <a:ext cx="1143000" cy="914400"/>
        </p:xfrm>
        <a:graphic>
          <a:graphicData uri="http://schemas.openxmlformats.org/presentationml/2006/ole">
            <mc:AlternateContent xmlns:mc="http://schemas.openxmlformats.org/markup-compatibility/2006">
              <mc:Choice xmlns:v="urn:schemas-microsoft-com:vml" Requires="v">
                <p:oleObj name="位图图像" r:id="rId3" imgW="1143000" imgH="1009650" progId="Paint.Picture">
                  <p:embed/>
                </p:oleObj>
              </mc:Choice>
              <mc:Fallback>
                <p:oleObj name="位图图像" r:id="rId3" imgW="1143000" imgH="1009650"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1725" y="2492375"/>
                        <a:ext cx="1143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211" name="Rectangle 3"/>
          <p:cNvSpPr>
            <a:spLocks noChangeArrowheads="1"/>
          </p:cNvSpPr>
          <p:nvPr/>
        </p:nvSpPr>
        <p:spPr bwMode="auto">
          <a:xfrm>
            <a:off x="900113" y="549275"/>
            <a:ext cx="1171575"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kumimoji="1" lang="zh-CN" altLang="en-US">
                <a:latin typeface="Tahoma" panose="020B0604030504040204" pitchFamily="34" charset="0"/>
                <a:ea typeface="宋体" panose="02010600030101010101" pitchFamily="2" charset="-122"/>
              </a:rPr>
              <a:t>例</a:t>
            </a:r>
            <a:r>
              <a:rPr kumimoji="1" lang="en-US" altLang="zh-CN">
                <a:latin typeface="Tahoma" panose="020B0604030504040204" pitchFamily="34" charset="0"/>
                <a:ea typeface="宋体" panose="02010600030101010101" pitchFamily="2" charset="-122"/>
              </a:rPr>
              <a:t>3</a:t>
            </a:r>
            <a:r>
              <a:rPr kumimoji="1" lang="zh-CN" altLang="en-US">
                <a:latin typeface="Tahoma" panose="020B0604030504040204" pitchFamily="34" charset="0"/>
                <a:ea typeface="宋体" panose="02010600030101010101" pitchFamily="2" charset="-122"/>
              </a:rPr>
              <a:t>：</a:t>
            </a:r>
          </a:p>
        </p:txBody>
      </p:sp>
      <p:graphicFrame>
        <p:nvGraphicFramePr>
          <p:cNvPr id="612356" name="Object 3"/>
          <p:cNvGraphicFramePr>
            <a:graphicFrameLocks noChangeAspect="1"/>
          </p:cNvGraphicFramePr>
          <p:nvPr/>
        </p:nvGraphicFramePr>
        <p:xfrm>
          <a:off x="1835150" y="549275"/>
          <a:ext cx="3195638" cy="514350"/>
        </p:xfrm>
        <a:graphic>
          <a:graphicData uri="http://schemas.openxmlformats.org/presentationml/2006/ole">
            <mc:AlternateContent xmlns:mc="http://schemas.openxmlformats.org/markup-compatibility/2006">
              <mc:Choice xmlns:v="urn:schemas-microsoft-com:vml" Requires="v">
                <p:oleObj name="Equation" r:id="rId5" imgW="996315" imgH="120015" progId="Equation.3">
                  <p:embed/>
                </p:oleObj>
              </mc:Choice>
              <mc:Fallback>
                <p:oleObj name="Equation" r:id="rId5" imgW="996315" imgH="12001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549275"/>
                        <a:ext cx="3195638" cy="5143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2357" name="Text Box 5"/>
          <p:cNvSpPr txBox="1">
            <a:spLocks noChangeArrowheads="1"/>
          </p:cNvSpPr>
          <p:nvPr/>
        </p:nvSpPr>
        <p:spPr bwMode="auto">
          <a:xfrm>
            <a:off x="900113" y="1412875"/>
            <a:ext cx="5638800"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50000"/>
              </a:spcBef>
              <a:buClr>
                <a:schemeClr val="accent2"/>
              </a:buClr>
              <a:buFont typeface="Wingdings" panose="05000000000000000000" pitchFamily="2" charset="2"/>
              <a:buNone/>
            </a:pPr>
            <a:r>
              <a:rPr kumimoji="1" lang="en-US" altLang="zh-CN">
                <a:latin typeface="Tahoma" panose="020B0604030504040204" pitchFamily="34" charset="0"/>
                <a:ea typeface="宋体" panose="02010600030101010101" pitchFamily="2" charset="-122"/>
              </a:rPr>
              <a:t>       </a:t>
            </a:r>
            <a:r>
              <a:rPr kumimoji="1" lang="zh-CN" altLang="en-US">
                <a:latin typeface="Tahoma" panose="020B0604030504040204" pitchFamily="34" charset="0"/>
                <a:ea typeface="宋体" panose="02010600030101010101" pitchFamily="2" charset="-122"/>
              </a:rPr>
              <a:t>某行元素全为零，可从上行找辅助多项式</a:t>
            </a:r>
            <a:r>
              <a:rPr kumimoji="1" lang="en-US" altLang="zh-CN">
                <a:latin typeface="Tahoma" panose="020B0604030504040204" pitchFamily="34" charset="0"/>
                <a:ea typeface="宋体" panose="02010600030101010101" pitchFamily="2" charset="-122"/>
              </a:rPr>
              <a:t>P(s)</a:t>
            </a:r>
            <a:r>
              <a:rPr kumimoji="1" lang="zh-CN" altLang="en-US">
                <a:latin typeface="Tahoma" panose="020B0604030504040204" pitchFamily="34" charset="0"/>
                <a:ea typeface="宋体" panose="02010600030101010101" pitchFamily="2" charset="-122"/>
              </a:rPr>
              <a:t>，</a:t>
            </a:r>
            <a:endParaRPr kumimoji="1" lang="zh-CN" altLang="en-US">
              <a:latin typeface="Tahoma" panose="020B0604030504040204" pitchFamily="34" charset="0"/>
              <a:ea typeface="宋体" panose="02010600030101010101" pitchFamily="2" charset="-122"/>
              <a:sym typeface="Symbol" panose="05050102010706020507" pitchFamily="18" charset="2"/>
            </a:endParaRPr>
          </a:p>
        </p:txBody>
      </p:sp>
      <p:sp>
        <p:nvSpPr>
          <p:cNvPr id="612358" name="Text Box 6"/>
          <p:cNvSpPr txBox="1">
            <a:spLocks noChangeArrowheads="1"/>
          </p:cNvSpPr>
          <p:nvPr/>
        </p:nvSpPr>
        <p:spPr bwMode="auto">
          <a:xfrm>
            <a:off x="755650" y="4652963"/>
            <a:ext cx="6005513"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楷体_GB2312" pitchFamily="49" charset="-122"/>
              </a:rPr>
              <a:t>故： </a:t>
            </a:r>
            <a:r>
              <a:rPr kumimoji="1" lang="en-US" altLang="zh-CN">
                <a:solidFill>
                  <a:srgbClr val="800000"/>
                </a:solidFill>
                <a:latin typeface="Tahoma" panose="020B0604030504040204" pitchFamily="34" charset="0"/>
                <a:ea typeface="楷体_GB2312" pitchFamily="49" charset="-122"/>
              </a:rPr>
              <a:t>D(s)=0</a:t>
            </a:r>
            <a:r>
              <a:rPr kumimoji="1" lang="zh-CN" altLang="en-US">
                <a:solidFill>
                  <a:srgbClr val="CC0000"/>
                </a:solidFill>
                <a:latin typeface="Tahoma" panose="020B0604030504040204" pitchFamily="34" charset="0"/>
                <a:ea typeface="楷体_GB2312" pitchFamily="49" charset="-122"/>
              </a:rPr>
              <a:t>无右半平面的根</a:t>
            </a:r>
            <a:r>
              <a:rPr kumimoji="1" lang="zh-CN" altLang="en-US">
                <a:solidFill>
                  <a:srgbClr val="800000"/>
                </a:solidFill>
                <a:latin typeface="Tahoma" panose="020B0604030504040204" pitchFamily="34" charset="0"/>
                <a:ea typeface="楷体_GB2312" pitchFamily="49" charset="-122"/>
              </a:rPr>
              <a:t>。</a:t>
            </a:r>
          </a:p>
          <a:p>
            <a:pPr algn="ct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楷体_GB2312" pitchFamily="49" charset="-122"/>
              </a:rPr>
              <a:t>但有一对共轭复根在</a:t>
            </a:r>
            <a:r>
              <a:rPr kumimoji="1" lang="en-US" altLang="zh-CN">
                <a:solidFill>
                  <a:srgbClr val="800000"/>
                </a:solidFill>
                <a:latin typeface="Tahoma" panose="020B0604030504040204" pitchFamily="34" charset="0"/>
                <a:ea typeface="楷体_GB2312" pitchFamily="49" charset="-122"/>
              </a:rPr>
              <a:t>j</a:t>
            </a:r>
            <a:r>
              <a:rPr kumimoji="1" lang="en-US" altLang="zh-CN">
                <a:solidFill>
                  <a:srgbClr val="800000"/>
                </a:solidFill>
                <a:latin typeface="Tahoma" panose="020B0604030504040204" pitchFamily="34" charset="0"/>
                <a:ea typeface="楷体_GB2312" pitchFamily="49" charset="-122"/>
                <a:sym typeface="Symbol" panose="05050102010706020507" pitchFamily="18" charset="2"/>
              </a:rPr>
              <a:t></a:t>
            </a:r>
            <a:r>
              <a:rPr kumimoji="1" lang="zh-CN" altLang="en-US">
                <a:solidFill>
                  <a:srgbClr val="800000"/>
                </a:solidFill>
                <a:latin typeface="Tahoma" panose="020B0604030504040204" pitchFamily="34" charset="0"/>
                <a:ea typeface="楷体_GB2312" pitchFamily="49" charset="-122"/>
              </a:rPr>
              <a:t>轴</a:t>
            </a:r>
            <a:r>
              <a:rPr kumimoji="1" lang="en-US" altLang="zh-CN">
                <a:solidFill>
                  <a:srgbClr val="800000"/>
                </a:solidFill>
                <a:latin typeface="Times New Roman" panose="02020603050405020304" pitchFamily="18" charset="0"/>
                <a:ea typeface="楷体_GB2312" pitchFamily="49" charset="-122"/>
              </a:rPr>
              <a:t>—</a:t>
            </a:r>
            <a:r>
              <a:rPr kumimoji="1" lang="zh-CN" altLang="en-US">
                <a:solidFill>
                  <a:srgbClr val="CC0000"/>
                </a:solidFill>
                <a:latin typeface="Tahoma" panose="020B0604030504040204" pitchFamily="34" charset="0"/>
                <a:ea typeface="楷体_GB2312" pitchFamily="49" charset="-122"/>
              </a:rPr>
              <a:t>临界稳定</a:t>
            </a:r>
            <a:r>
              <a:rPr kumimoji="1" lang="zh-CN" altLang="en-US">
                <a:solidFill>
                  <a:srgbClr val="800000"/>
                </a:solidFill>
                <a:latin typeface="Tahoma" panose="020B0604030504040204" pitchFamily="34" charset="0"/>
                <a:ea typeface="楷体_GB2312" pitchFamily="49" charset="-122"/>
              </a:rPr>
              <a:t>。</a:t>
            </a:r>
            <a:endParaRPr kumimoji="1" lang="zh-CN" altLang="en-US">
              <a:latin typeface="Tahoma" panose="020B0604030504040204" pitchFamily="34" charset="0"/>
              <a:ea typeface="宋体" panose="02010600030101010101" pitchFamily="2" charset="-122"/>
            </a:endParaRPr>
          </a:p>
        </p:txBody>
      </p:sp>
      <p:graphicFrame>
        <p:nvGraphicFramePr>
          <p:cNvPr id="612359" name="Object 4"/>
          <p:cNvGraphicFramePr>
            <a:graphicFrameLocks noChangeAspect="1"/>
          </p:cNvGraphicFramePr>
          <p:nvPr/>
        </p:nvGraphicFramePr>
        <p:xfrm>
          <a:off x="7458075" y="3419475"/>
          <a:ext cx="1066800" cy="587375"/>
        </p:xfrm>
        <a:graphic>
          <a:graphicData uri="http://schemas.openxmlformats.org/presentationml/2006/ole">
            <mc:AlternateContent xmlns:mc="http://schemas.openxmlformats.org/markup-compatibility/2006">
              <mc:Choice xmlns:v="urn:schemas-microsoft-com:vml" Requires="v">
                <p:oleObj name="Equation" r:id="rId7" imgW="201930" imgH="99060" progId="Equation.3">
                  <p:embed/>
                </p:oleObj>
              </mc:Choice>
              <mc:Fallback>
                <p:oleObj name="Equation" r:id="rId7" imgW="201930" imgH="9906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8075" y="3419475"/>
                        <a:ext cx="106680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2360" name="Object 5"/>
          <p:cNvGraphicFramePr>
            <a:graphicFrameLocks noChangeAspect="1"/>
          </p:cNvGraphicFramePr>
          <p:nvPr/>
        </p:nvGraphicFramePr>
        <p:xfrm>
          <a:off x="6848475" y="2352675"/>
          <a:ext cx="460375" cy="2082800"/>
        </p:xfrm>
        <a:graphic>
          <a:graphicData uri="http://schemas.openxmlformats.org/presentationml/2006/ole">
            <mc:AlternateContent xmlns:mc="http://schemas.openxmlformats.org/markup-compatibility/2006">
              <mc:Choice xmlns:v="urn:schemas-microsoft-com:vml" Requires="v">
                <p:oleObj name="Equation" r:id="rId9" imgW="85725" imgH="537845" progId="Equation.3">
                  <p:embed/>
                </p:oleObj>
              </mc:Choice>
              <mc:Fallback>
                <p:oleObj name="Equation" r:id="rId9" imgW="85725" imgH="537845"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48475" y="2352675"/>
                        <a:ext cx="460375" cy="208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2361" name="Object 6"/>
          <p:cNvGraphicFramePr>
            <a:graphicFrameLocks noChangeAspect="1"/>
          </p:cNvGraphicFramePr>
          <p:nvPr/>
        </p:nvGraphicFramePr>
        <p:xfrm>
          <a:off x="898525" y="2709863"/>
          <a:ext cx="1860550" cy="479425"/>
        </p:xfrm>
        <a:graphic>
          <a:graphicData uri="http://schemas.openxmlformats.org/presentationml/2006/ole">
            <mc:AlternateContent xmlns:mc="http://schemas.openxmlformats.org/markup-compatibility/2006">
              <mc:Choice xmlns:v="urn:schemas-microsoft-com:vml" Requires="v">
                <p:oleObj name="Equation" r:id="rId11" imgW="889000" imgH="228600" progId="Equation.3">
                  <p:embed/>
                </p:oleObj>
              </mc:Choice>
              <mc:Fallback>
                <p:oleObj name="Equation" r:id="rId11" imgW="889000" imgH="2286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8525" y="2709863"/>
                        <a:ext cx="18605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2362" name="AutoShape 10"/>
          <p:cNvSpPr>
            <a:spLocks noChangeArrowheads="1"/>
          </p:cNvSpPr>
          <p:nvPr/>
        </p:nvSpPr>
        <p:spPr bwMode="auto">
          <a:xfrm>
            <a:off x="3059113" y="2565400"/>
            <a:ext cx="914400" cy="762000"/>
          </a:xfrm>
          <a:prstGeom prst="rightArrow">
            <a:avLst>
              <a:gd name="adj1" fmla="val 50000"/>
              <a:gd name="adj2" fmla="val 30000"/>
            </a:avLst>
          </a:prstGeom>
          <a:solidFill>
            <a:srgbClr val="FFE7FF"/>
          </a:solidFill>
          <a:ln w="9525">
            <a:solidFill>
              <a:srgbClr val="FF0000"/>
            </a:solidFill>
            <a:miter lim="800000"/>
          </a:ln>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r>
              <a:rPr kumimoji="1" lang="zh-CN" altLang="en-US">
                <a:latin typeface="Tahoma" panose="020B0604030504040204" pitchFamily="34" charset="0"/>
                <a:ea typeface="宋体" panose="02010600030101010101" pitchFamily="2" charset="-122"/>
              </a:rPr>
              <a:t>求导</a:t>
            </a:r>
          </a:p>
        </p:txBody>
      </p:sp>
      <p:graphicFrame>
        <p:nvGraphicFramePr>
          <p:cNvPr id="612363" name="Object 7"/>
          <p:cNvGraphicFramePr>
            <a:graphicFrameLocks noChangeAspect="1"/>
          </p:cNvGraphicFramePr>
          <p:nvPr/>
        </p:nvGraphicFramePr>
        <p:xfrm>
          <a:off x="4283075" y="2709863"/>
          <a:ext cx="1303338" cy="425450"/>
        </p:xfrm>
        <a:graphic>
          <a:graphicData uri="http://schemas.openxmlformats.org/presentationml/2006/ole">
            <mc:AlternateContent xmlns:mc="http://schemas.openxmlformats.org/markup-compatibility/2006">
              <mc:Choice xmlns:v="urn:schemas-microsoft-com:vml" Requires="v">
                <p:oleObj name="Equation" r:id="rId13" imgW="622300" imgH="203200" progId="Equation.3">
                  <p:embed/>
                </p:oleObj>
              </mc:Choice>
              <mc:Fallback>
                <p:oleObj name="Equation" r:id="rId13" imgW="622300" imgH="2032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83075" y="2709863"/>
                        <a:ext cx="1303338"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2364" name="Rectangle 12"/>
          <p:cNvSpPr>
            <a:spLocks noChangeArrowheads="1"/>
          </p:cNvSpPr>
          <p:nvPr/>
        </p:nvSpPr>
        <p:spPr bwMode="auto">
          <a:xfrm>
            <a:off x="971550" y="3644900"/>
            <a:ext cx="2328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50000"/>
              </a:spcBef>
              <a:buClr>
                <a:schemeClr val="accent2"/>
              </a:buClr>
              <a:buFont typeface="Wingdings" panose="05000000000000000000" pitchFamily="2" charset="2"/>
              <a:buNone/>
            </a:pPr>
            <a:r>
              <a:rPr kumimoji="1" lang="zh-CN" altLang="en-US">
                <a:solidFill>
                  <a:srgbClr val="003300"/>
                </a:solidFill>
                <a:latin typeface="Tahoma" panose="020B0604030504040204" pitchFamily="34" charset="0"/>
                <a:ea typeface="宋体" panose="02010600030101010101" pitchFamily="2" charset="-122"/>
                <a:sym typeface="Symbol" panose="05050102010706020507" pitchFamily="18" charset="2"/>
              </a:rPr>
              <a:t>继续阵列计算。</a:t>
            </a:r>
          </a:p>
        </p:txBody>
      </p:sp>
      <p:graphicFrame>
        <p:nvGraphicFramePr>
          <p:cNvPr id="612365" name="Object 8"/>
          <p:cNvGraphicFramePr>
            <a:graphicFrameLocks noChangeAspect="1"/>
          </p:cNvGraphicFramePr>
          <p:nvPr/>
        </p:nvGraphicFramePr>
        <p:xfrm>
          <a:off x="7458075" y="3419475"/>
          <a:ext cx="1143000" cy="1143000"/>
        </p:xfrm>
        <a:graphic>
          <a:graphicData uri="http://schemas.openxmlformats.org/presentationml/2006/ole">
            <mc:AlternateContent xmlns:mc="http://schemas.openxmlformats.org/markup-compatibility/2006">
              <mc:Choice xmlns:v="urn:schemas-microsoft-com:vml" Requires="v">
                <p:oleObj name="位图图像" r:id="rId15" imgW="1143000" imgH="914400" progId="Paint.Picture">
                  <p:embed/>
                </p:oleObj>
              </mc:Choice>
              <mc:Fallback>
                <p:oleObj name="位图图像" r:id="rId15" imgW="1143000" imgH="914400" progId="Paint.Picture">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58075" y="3419475"/>
                        <a:ext cx="1143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2366" name="Object 9"/>
          <p:cNvGraphicFramePr>
            <a:graphicFrameLocks noChangeAspect="1"/>
          </p:cNvGraphicFramePr>
          <p:nvPr/>
        </p:nvGraphicFramePr>
        <p:xfrm>
          <a:off x="7011988" y="5013325"/>
          <a:ext cx="977900" cy="546100"/>
        </p:xfrm>
        <a:graphic>
          <a:graphicData uri="http://schemas.openxmlformats.org/presentationml/2006/ole">
            <mc:AlternateContent xmlns:mc="http://schemas.openxmlformats.org/markup-compatibility/2006">
              <mc:Choice xmlns:v="urn:schemas-microsoft-com:vml" Requires="v">
                <p:oleObj name="Equation" r:id="rId17" imgW="263525" imgH="127000" progId="Equation.3">
                  <p:embed/>
                </p:oleObj>
              </mc:Choice>
              <mc:Fallback>
                <p:oleObj name="Equation" r:id="rId17" imgW="263525" imgH="1270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11988" y="5013325"/>
                        <a:ext cx="97790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日期占位符 14"/>
          <p:cNvSpPr>
            <a:spLocks noGrp="1"/>
          </p:cNvSpPr>
          <p:nvPr>
            <p:ph type="dt" sz="quarter" idx="10"/>
          </p:nvPr>
        </p:nvSpPr>
        <p:spPr/>
        <p:txBody>
          <a:bodyPr/>
          <a:lstStyle/>
          <a:p>
            <a:pPr>
              <a:defRPr/>
            </a:pPr>
            <a:fld id="{11ABEC0A-63AB-4049-8D6D-4F5251ABE3CA}" type="datetime1">
              <a:rPr lang="zh-CN" altLang="en-US"/>
              <a:t>2026/4/28</a:t>
            </a:fld>
            <a:endParaRPr lang="en-US" altLang="zh-CN" dirty="0"/>
          </a:p>
        </p:txBody>
      </p:sp>
      <p:sp>
        <p:nvSpPr>
          <p:cNvPr id="2" name="墨迹 1"/>
          <p:cNvSpPr/>
          <p:nvPr/>
        </p:nvSpPr>
        <p:spPr bwMode="auto">
          <a:xfrm>
            <a:off x="1891800" y="2057400"/>
            <a:ext cx="6557400" cy="3745440"/>
          </a:xfrm>
        </p:spPr>
      </p:sp>
    </p:spTree>
    <p:custDataLst>
      <p:tags r:id="rId1"/>
    </p:custDataLst>
  </p:cSld>
  <p:clrMapOvr>
    <a:masterClrMapping/>
  </p:clrMapOvr>
  <p:transition spd="med" advTm="10525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22" presetClass="entr" presetSubtype="8" fill="hold" nodeType="afterEffect">
                                  <p:stCondLst>
                                    <p:cond delay="0"/>
                                  </p:stCondLst>
                                  <p:childTnLst>
                                    <p:set>
                                      <p:cBhvr>
                                        <p:cTn id="10" dur="1" fill="hold">
                                          <p:stCondLst>
                                            <p:cond delay="0"/>
                                          </p:stCondLst>
                                        </p:cTn>
                                        <p:tgtEl>
                                          <p:spTgt spid="612356"/>
                                        </p:tgtEl>
                                        <p:attrNameLst>
                                          <p:attrName>style.visibility</p:attrName>
                                        </p:attrNameLst>
                                      </p:cBhvr>
                                      <p:to>
                                        <p:strVal val="visible"/>
                                      </p:to>
                                    </p:set>
                                    <p:animEffect transition="in" filter="wipe(left)">
                                      <p:cBhvr>
                                        <p:cTn id="11" dur="500"/>
                                        <p:tgtEl>
                                          <p:spTgt spid="61235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12360"/>
                                        </p:tgtEl>
                                        <p:attrNameLst>
                                          <p:attrName>style.visibility</p:attrName>
                                        </p:attrNameLst>
                                      </p:cBhvr>
                                      <p:to>
                                        <p:strVal val="visible"/>
                                      </p:to>
                                    </p:set>
                                    <p:animEffect transition="in" filter="wipe(left)">
                                      <p:cBhvr>
                                        <p:cTn id="16" dur="500"/>
                                        <p:tgtEl>
                                          <p:spTgt spid="61236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12354"/>
                                        </p:tgtEl>
                                        <p:attrNameLst>
                                          <p:attrName>style.visibility</p:attrName>
                                        </p:attrNameLst>
                                      </p:cBhvr>
                                      <p:to>
                                        <p:strVal val="visible"/>
                                      </p:to>
                                    </p:set>
                                    <p:animEffect transition="in" filter="wipe(left)">
                                      <p:cBhvr>
                                        <p:cTn id="21" dur="500"/>
                                        <p:tgtEl>
                                          <p:spTgt spid="61235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12359"/>
                                        </p:tgtEl>
                                        <p:attrNameLst>
                                          <p:attrName>style.visibility</p:attrName>
                                        </p:attrNameLst>
                                      </p:cBhvr>
                                      <p:to>
                                        <p:strVal val="visible"/>
                                      </p:to>
                                    </p:set>
                                    <p:animEffect transition="in" filter="wipe(left)">
                                      <p:cBhvr>
                                        <p:cTn id="26" dur="500"/>
                                        <p:tgtEl>
                                          <p:spTgt spid="61235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12357">
                                            <p:txEl>
                                              <p:pRg st="0" end="0"/>
                                            </p:txEl>
                                          </p:spTgt>
                                        </p:tgtEl>
                                        <p:attrNameLst>
                                          <p:attrName>style.visibility</p:attrName>
                                        </p:attrNameLst>
                                      </p:cBhvr>
                                      <p:to>
                                        <p:strVal val="visible"/>
                                      </p:to>
                                    </p:set>
                                    <p:animEffect transition="in" filter="wipe(left)">
                                      <p:cBhvr>
                                        <p:cTn id="31" dur="500"/>
                                        <p:tgtEl>
                                          <p:spTgt spid="612357">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12361"/>
                                        </p:tgtEl>
                                        <p:attrNameLst>
                                          <p:attrName>style.visibility</p:attrName>
                                        </p:attrNameLst>
                                      </p:cBhvr>
                                      <p:to>
                                        <p:strVal val="visible"/>
                                      </p:to>
                                    </p:set>
                                    <p:animEffect transition="in" filter="wipe(left)">
                                      <p:cBhvr>
                                        <p:cTn id="36" dur="500"/>
                                        <p:tgtEl>
                                          <p:spTgt spid="61236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12362"/>
                                        </p:tgtEl>
                                        <p:attrNameLst>
                                          <p:attrName>style.visibility</p:attrName>
                                        </p:attrNameLst>
                                      </p:cBhvr>
                                      <p:to>
                                        <p:strVal val="visible"/>
                                      </p:to>
                                    </p:set>
                                    <p:animEffect transition="in" filter="wipe(left)">
                                      <p:cBhvr>
                                        <p:cTn id="41" dur="500"/>
                                        <p:tgtEl>
                                          <p:spTgt spid="61236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612363"/>
                                        </p:tgtEl>
                                        <p:attrNameLst>
                                          <p:attrName>style.visibility</p:attrName>
                                        </p:attrNameLst>
                                      </p:cBhvr>
                                      <p:to>
                                        <p:strVal val="visible"/>
                                      </p:to>
                                    </p:set>
                                    <p:animEffect transition="in" filter="wipe(left)">
                                      <p:cBhvr>
                                        <p:cTn id="46" dur="500"/>
                                        <p:tgtEl>
                                          <p:spTgt spid="61236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612364">
                                            <p:txEl>
                                              <p:pRg st="0" end="0"/>
                                            </p:txEl>
                                          </p:spTgt>
                                        </p:tgtEl>
                                        <p:attrNameLst>
                                          <p:attrName>style.visibility</p:attrName>
                                        </p:attrNameLst>
                                      </p:cBhvr>
                                      <p:to>
                                        <p:strVal val="visible"/>
                                      </p:to>
                                    </p:set>
                                    <p:animEffect transition="in" filter="wipe(left)">
                                      <p:cBhvr>
                                        <p:cTn id="51" dur="500"/>
                                        <p:tgtEl>
                                          <p:spTgt spid="612364">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612365"/>
                                        </p:tgtEl>
                                        <p:attrNameLst>
                                          <p:attrName>style.visibility</p:attrName>
                                        </p:attrNameLst>
                                      </p:cBhvr>
                                      <p:to>
                                        <p:strVal val="visible"/>
                                      </p:to>
                                    </p:set>
                                    <p:animEffect transition="in" filter="wipe(left)">
                                      <p:cBhvr>
                                        <p:cTn id="56" dur="500"/>
                                        <p:tgtEl>
                                          <p:spTgt spid="61236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612358">
                                            <p:txEl>
                                              <p:pRg st="0" end="0"/>
                                            </p:txEl>
                                          </p:spTgt>
                                        </p:tgtEl>
                                        <p:attrNameLst>
                                          <p:attrName>style.visibility</p:attrName>
                                        </p:attrNameLst>
                                      </p:cBhvr>
                                      <p:to>
                                        <p:strVal val="visible"/>
                                      </p:to>
                                    </p:set>
                                    <p:animEffect transition="in" filter="wipe(left)">
                                      <p:cBhvr>
                                        <p:cTn id="61" dur="500"/>
                                        <p:tgtEl>
                                          <p:spTgt spid="612358">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612358">
                                            <p:txEl>
                                              <p:pRg st="1" end="1"/>
                                            </p:txEl>
                                          </p:spTgt>
                                        </p:tgtEl>
                                        <p:attrNameLst>
                                          <p:attrName>style.visibility</p:attrName>
                                        </p:attrNameLst>
                                      </p:cBhvr>
                                      <p:to>
                                        <p:strVal val="visible"/>
                                      </p:to>
                                    </p:set>
                                    <p:animEffect transition="in" filter="wipe(left)">
                                      <p:cBhvr>
                                        <p:cTn id="66" dur="500"/>
                                        <p:tgtEl>
                                          <p:spTgt spid="612358">
                                            <p:txEl>
                                              <p:pRg st="1" end="1"/>
                                            </p:txEl>
                                          </p:spTgt>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612366"/>
                                        </p:tgtEl>
                                        <p:attrNameLst>
                                          <p:attrName>style.visibility</p:attrName>
                                        </p:attrNameLst>
                                      </p:cBhvr>
                                      <p:to>
                                        <p:strVal val="visible"/>
                                      </p:to>
                                    </p:set>
                                    <p:animEffect transition="in" filter="wipe(left)">
                                      <p:cBhvr>
                                        <p:cTn id="70" dur="500"/>
                                        <p:tgtEl>
                                          <p:spTgt spid="612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57" grpId="0" build="p" autoUpdateAnimBg="0"/>
      <p:bldP spid="612358" grpId="0" build="p" autoUpdateAnimBg="0"/>
      <p:bldP spid="612362" grpId="0" animBg="1" autoUpdateAnimBg="0"/>
      <p:bldP spid="612364"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827088" y="1412875"/>
            <a:ext cx="7926387"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latin typeface="Tahoma" panose="020B0604030504040204" pitchFamily="34" charset="0"/>
                <a:ea typeface="宋体" panose="02010600030101010101" pitchFamily="2" charset="-122"/>
              </a:rPr>
              <a:t>欲使该系统为一个稳定工作系统，求</a:t>
            </a:r>
            <a:r>
              <a:rPr kumimoji="1" lang="en-US" altLang="zh-CN">
                <a:latin typeface="Tahoma" panose="020B0604030504040204" pitchFamily="34" charset="0"/>
                <a:ea typeface="宋体" panose="02010600030101010101" pitchFamily="2" charset="-122"/>
              </a:rPr>
              <a:t>k</a:t>
            </a:r>
            <a:r>
              <a:rPr kumimoji="1" lang="zh-CN" altLang="en-US">
                <a:latin typeface="Tahoma" panose="020B0604030504040204" pitchFamily="34" charset="0"/>
                <a:ea typeface="宋体" panose="02010600030101010101" pitchFamily="2" charset="-122"/>
              </a:rPr>
              <a:t>的取值范围。</a:t>
            </a:r>
          </a:p>
        </p:txBody>
      </p:sp>
      <p:sp>
        <p:nvSpPr>
          <p:cNvPr id="95235" name="Text Box 3"/>
          <p:cNvSpPr txBox="1">
            <a:spLocks noChangeArrowheads="1"/>
          </p:cNvSpPr>
          <p:nvPr/>
        </p:nvSpPr>
        <p:spPr bwMode="auto">
          <a:xfrm>
            <a:off x="609600" y="609600"/>
            <a:ext cx="441166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latin typeface="Tahoma" panose="020B0604030504040204" pitchFamily="34" charset="0"/>
                <a:ea typeface="宋体" panose="02010600030101010101" pitchFamily="2" charset="-122"/>
              </a:rPr>
              <a:t>例题</a:t>
            </a:r>
            <a:r>
              <a:rPr kumimoji="1" lang="en-US" altLang="zh-CN">
                <a:latin typeface="Tahoma" panose="020B0604030504040204" pitchFamily="34" charset="0"/>
                <a:ea typeface="宋体" panose="02010600030101010101" pitchFamily="2" charset="-122"/>
              </a:rPr>
              <a:t>4</a:t>
            </a:r>
            <a:r>
              <a:rPr kumimoji="1" lang="zh-CN" altLang="en-US">
                <a:latin typeface="Tahoma" panose="020B0604030504040204" pitchFamily="34" charset="0"/>
                <a:ea typeface="宋体" panose="02010600030101010101" pitchFamily="2" charset="-122"/>
              </a:rPr>
              <a:t>：</a:t>
            </a:r>
            <a:r>
              <a:rPr kumimoji="1" lang="zh-CN" altLang="en-US">
                <a:solidFill>
                  <a:srgbClr val="003300"/>
                </a:solidFill>
                <a:latin typeface="Tahoma" panose="020B0604030504040204" pitchFamily="34" charset="0"/>
                <a:ea typeface="宋体" panose="02010600030101010101" pitchFamily="2" charset="-122"/>
              </a:rPr>
              <a:t>已知某系统函数为</a:t>
            </a:r>
          </a:p>
        </p:txBody>
      </p:sp>
      <p:graphicFrame>
        <p:nvGraphicFramePr>
          <p:cNvPr id="95236" name="Object 2"/>
          <p:cNvGraphicFramePr>
            <a:graphicFrameLocks noChangeAspect="1"/>
          </p:cNvGraphicFramePr>
          <p:nvPr/>
        </p:nvGraphicFramePr>
        <p:xfrm>
          <a:off x="5137150" y="306388"/>
          <a:ext cx="3549650" cy="882650"/>
        </p:xfrm>
        <a:graphic>
          <a:graphicData uri="http://schemas.openxmlformats.org/presentationml/2006/ole">
            <mc:AlternateContent xmlns:mc="http://schemas.openxmlformats.org/markup-compatibility/2006">
              <mc:Choice xmlns:v="urn:schemas-microsoft-com:vml" Requires="v">
                <p:oleObj name="公式" r:id="rId3" imgW="1160780" imgH="236220" progId="Equation.3">
                  <p:embed/>
                </p:oleObj>
              </mc:Choice>
              <mc:Fallback>
                <p:oleObj name="公式" r:id="rId3" imgW="1160780" imgH="23622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7150" y="306388"/>
                        <a:ext cx="3549650"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3381" name="Object 3"/>
          <p:cNvGraphicFramePr>
            <a:graphicFrameLocks noChangeAspect="1"/>
          </p:cNvGraphicFramePr>
          <p:nvPr/>
        </p:nvGraphicFramePr>
        <p:xfrm>
          <a:off x="611188" y="2349500"/>
          <a:ext cx="762000" cy="3333750"/>
        </p:xfrm>
        <a:graphic>
          <a:graphicData uri="http://schemas.openxmlformats.org/presentationml/2006/ole">
            <mc:AlternateContent xmlns:mc="http://schemas.openxmlformats.org/markup-compatibility/2006">
              <mc:Choice xmlns:v="urn:schemas-microsoft-com:vml" Requires="v">
                <p:oleObj name="Equation" r:id="rId5" imgW="140335" imgH="688340" progId="Equation.3">
                  <p:embed/>
                </p:oleObj>
              </mc:Choice>
              <mc:Fallback>
                <p:oleObj name="Equation" r:id="rId5" imgW="140335" imgH="6883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2349500"/>
                        <a:ext cx="762000" cy="333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82" name="Object 4"/>
          <p:cNvGraphicFramePr>
            <a:graphicFrameLocks noChangeAspect="1"/>
          </p:cNvGraphicFramePr>
          <p:nvPr/>
        </p:nvGraphicFramePr>
        <p:xfrm>
          <a:off x="1547813" y="2492375"/>
          <a:ext cx="1700212" cy="504825"/>
        </p:xfrm>
        <a:graphic>
          <a:graphicData uri="http://schemas.openxmlformats.org/presentationml/2006/ole">
            <mc:AlternateContent xmlns:mc="http://schemas.openxmlformats.org/markup-compatibility/2006">
              <mc:Choice xmlns:v="urn:schemas-microsoft-com:vml" Requires="v">
                <p:oleObj name="Equation" r:id="rId7" imgW="455295" imgH="99060" progId="Equation.3">
                  <p:embed/>
                </p:oleObj>
              </mc:Choice>
              <mc:Fallback>
                <p:oleObj name="Equation" r:id="rId7" imgW="455295" imgH="9906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2492375"/>
                        <a:ext cx="1700212"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83" name="Object 5"/>
          <p:cNvGraphicFramePr>
            <a:graphicFrameLocks noChangeAspect="1"/>
          </p:cNvGraphicFramePr>
          <p:nvPr/>
        </p:nvGraphicFramePr>
        <p:xfrm>
          <a:off x="1547813" y="3213100"/>
          <a:ext cx="1855787" cy="504825"/>
        </p:xfrm>
        <a:graphic>
          <a:graphicData uri="http://schemas.openxmlformats.org/presentationml/2006/ole">
            <mc:AlternateContent xmlns:mc="http://schemas.openxmlformats.org/markup-compatibility/2006">
              <mc:Choice xmlns:v="urn:schemas-microsoft-com:vml" Requires="v">
                <p:oleObj name="Equation" r:id="rId9" imgW="503555" imgH="99060" progId="Equation.3">
                  <p:embed/>
                </p:oleObj>
              </mc:Choice>
              <mc:Fallback>
                <p:oleObj name="Equation" r:id="rId9" imgW="503555" imgH="9906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3213100"/>
                        <a:ext cx="185578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84" name="Object 6"/>
          <p:cNvGraphicFramePr>
            <a:graphicFrameLocks noChangeAspect="1"/>
          </p:cNvGraphicFramePr>
          <p:nvPr/>
        </p:nvGraphicFramePr>
        <p:xfrm>
          <a:off x="1322388" y="4038600"/>
          <a:ext cx="2041525" cy="977900"/>
        </p:xfrm>
        <a:graphic>
          <a:graphicData uri="http://schemas.openxmlformats.org/presentationml/2006/ole">
            <mc:AlternateContent xmlns:mc="http://schemas.openxmlformats.org/markup-compatibility/2006">
              <mc:Choice xmlns:v="urn:schemas-microsoft-com:vml" Requires="v">
                <p:oleObj name="Equation" r:id="rId11" imgW="558165" imgH="236220" progId="Equation.3">
                  <p:embed/>
                </p:oleObj>
              </mc:Choice>
              <mc:Fallback>
                <p:oleObj name="Equation" r:id="rId11" imgW="558165" imgH="23622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22388" y="4038600"/>
                        <a:ext cx="2041525" cy="9779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85" name="Object 7"/>
          <p:cNvGraphicFramePr>
            <a:graphicFrameLocks noChangeAspect="1"/>
          </p:cNvGraphicFramePr>
          <p:nvPr/>
        </p:nvGraphicFramePr>
        <p:xfrm>
          <a:off x="1685925" y="5334000"/>
          <a:ext cx="309563" cy="441325"/>
        </p:xfrm>
        <a:graphic>
          <a:graphicData uri="http://schemas.openxmlformats.org/presentationml/2006/ole">
            <mc:AlternateContent xmlns:mc="http://schemas.openxmlformats.org/markup-compatibility/2006">
              <mc:Choice xmlns:v="urn:schemas-microsoft-com:vml" Requires="v">
                <p:oleObj name="Equation" r:id="rId13" imgW="44450" imgH="85725" progId="Equation.3">
                  <p:embed/>
                </p:oleObj>
              </mc:Choice>
              <mc:Fallback>
                <p:oleObj name="Equation" r:id="rId13" imgW="44450" imgH="85725"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85925" y="5334000"/>
                        <a:ext cx="309563" cy="441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3386" name="Rectangle 10"/>
          <p:cNvSpPr>
            <a:spLocks noChangeArrowheads="1"/>
          </p:cNvSpPr>
          <p:nvPr/>
        </p:nvSpPr>
        <p:spPr bwMode="auto">
          <a:xfrm>
            <a:off x="1295400" y="2209800"/>
            <a:ext cx="1219200" cy="3657600"/>
          </a:xfrm>
          <a:prstGeom prst="rect">
            <a:avLst/>
          </a:prstGeom>
          <a:noFill/>
          <a:ln w="1905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613387" name="AutoShape 11"/>
          <p:cNvSpPr>
            <a:spLocks noChangeArrowheads="1"/>
          </p:cNvSpPr>
          <p:nvPr/>
        </p:nvSpPr>
        <p:spPr bwMode="auto">
          <a:xfrm>
            <a:off x="3924300" y="2565400"/>
            <a:ext cx="990600" cy="838200"/>
          </a:xfrm>
          <a:prstGeom prst="rightArrow">
            <a:avLst>
              <a:gd name="adj1" fmla="val 50000"/>
              <a:gd name="adj2" fmla="val 29545"/>
            </a:avLst>
          </a:prstGeom>
          <a:solidFill>
            <a:srgbClr val="FFE7FF"/>
          </a:solidFill>
          <a:ln w="9525">
            <a:solidFill>
              <a:srgbClr val="FF0000"/>
            </a:solidFill>
            <a:miter lim="800000"/>
          </a:ln>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endParaRPr lang="zh-CN" altLang="en-US"/>
          </a:p>
        </p:txBody>
      </p:sp>
      <p:sp>
        <p:nvSpPr>
          <p:cNvPr id="613388" name="AutoShape 12"/>
          <p:cNvSpPr/>
          <p:nvPr/>
        </p:nvSpPr>
        <p:spPr bwMode="auto">
          <a:xfrm>
            <a:off x="5364163" y="2205038"/>
            <a:ext cx="152400" cy="1447800"/>
          </a:xfrm>
          <a:prstGeom prst="leftBrace">
            <a:avLst>
              <a:gd name="adj1" fmla="val 79167"/>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endParaRPr lang="zh-CN" altLang="en-US"/>
          </a:p>
        </p:txBody>
      </p:sp>
      <p:graphicFrame>
        <p:nvGraphicFramePr>
          <p:cNvPr id="613389" name="Object 8"/>
          <p:cNvGraphicFramePr>
            <a:graphicFrameLocks noChangeAspect="1"/>
          </p:cNvGraphicFramePr>
          <p:nvPr/>
        </p:nvGraphicFramePr>
        <p:xfrm>
          <a:off x="5795963" y="2205038"/>
          <a:ext cx="1701800" cy="1325562"/>
        </p:xfrm>
        <a:graphic>
          <a:graphicData uri="http://schemas.openxmlformats.org/presentationml/2006/ole">
            <mc:AlternateContent xmlns:mc="http://schemas.openxmlformats.org/markup-compatibility/2006">
              <mc:Choice xmlns:v="urn:schemas-microsoft-com:vml" Requires="v">
                <p:oleObj name="Equation" r:id="rId15" imgW="455295" imgH="339090" progId="Equation.3">
                  <p:embed/>
                </p:oleObj>
              </mc:Choice>
              <mc:Fallback>
                <p:oleObj name="Equation" r:id="rId15" imgW="455295" imgH="33909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95963" y="2205038"/>
                        <a:ext cx="1701800" cy="13255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90" name="Object 9"/>
          <p:cNvGraphicFramePr>
            <a:graphicFrameLocks noChangeAspect="1"/>
          </p:cNvGraphicFramePr>
          <p:nvPr/>
        </p:nvGraphicFramePr>
        <p:xfrm>
          <a:off x="7235825" y="2924175"/>
          <a:ext cx="1727200" cy="439738"/>
        </p:xfrm>
        <a:graphic>
          <a:graphicData uri="http://schemas.openxmlformats.org/presentationml/2006/ole">
            <mc:AlternateContent xmlns:mc="http://schemas.openxmlformats.org/markup-compatibility/2006">
              <mc:Choice xmlns:v="urn:schemas-microsoft-com:vml" Requires="v">
                <p:oleObj name="Equation" r:id="rId17" imgW="469265" imgH="85725" progId="Equation.3">
                  <p:embed/>
                </p:oleObj>
              </mc:Choice>
              <mc:Fallback>
                <p:oleObj name="Equation" r:id="rId17" imgW="469265" imgH="85725"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35825" y="2924175"/>
                        <a:ext cx="1727200"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91" name="Object 10"/>
          <p:cNvGraphicFramePr>
            <a:graphicFrameLocks noChangeAspect="1"/>
          </p:cNvGraphicFramePr>
          <p:nvPr/>
        </p:nvGraphicFramePr>
        <p:xfrm>
          <a:off x="3708400" y="4076700"/>
          <a:ext cx="1728788" cy="565150"/>
        </p:xfrm>
        <a:graphic>
          <a:graphicData uri="http://schemas.openxmlformats.org/presentationml/2006/ole">
            <mc:AlternateContent xmlns:mc="http://schemas.openxmlformats.org/markup-compatibility/2006">
              <mc:Choice xmlns:v="urn:schemas-microsoft-com:vml" Requires="v">
                <p:oleObj name="公式" r:id="rId19" imgW="414655" imgH="99060" progId="Equation.3">
                  <p:embed/>
                </p:oleObj>
              </mc:Choice>
              <mc:Fallback>
                <p:oleObj name="公式" r:id="rId19" imgW="414655" imgH="9906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08400" y="4076700"/>
                        <a:ext cx="1728788"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92" name="Object 11"/>
          <p:cNvGraphicFramePr>
            <a:graphicFrameLocks noChangeAspect="1"/>
          </p:cNvGraphicFramePr>
          <p:nvPr/>
        </p:nvGraphicFramePr>
        <p:xfrm>
          <a:off x="5795963" y="4005263"/>
          <a:ext cx="2260600" cy="479425"/>
        </p:xfrm>
        <a:graphic>
          <a:graphicData uri="http://schemas.openxmlformats.org/presentationml/2006/ole">
            <mc:AlternateContent xmlns:mc="http://schemas.openxmlformats.org/markup-compatibility/2006">
              <mc:Choice xmlns:v="urn:schemas-microsoft-com:vml" Requires="v">
                <p:oleObj name="公式" r:id="rId21" imgW="1079500" imgH="228600" progId="Equation.3">
                  <p:embed/>
                </p:oleObj>
              </mc:Choice>
              <mc:Fallback>
                <p:oleObj name="公式" r:id="rId21" imgW="1079500" imgH="22860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95963" y="4005263"/>
                        <a:ext cx="226060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93" name="Object 12"/>
          <p:cNvGraphicFramePr>
            <a:graphicFrameLocks noChangeAspect="1"/>
          </p:cNvGraphicFramePr>
          <p:nvPr/>
        </p:nvGraphicFramePr>
        <p:xfrm>
          <a:off x="6011863" y="4868863"/>
          <a:ext cx="1463675" cy="425450"/>
        </p:xfrm>
        <a:graphic>
          <a:graphicData uri="http://schemas.openxmlformats.org/presentationml/2006/ole">
            <mc:AlternateContent xmlns:mc="http://schemas.openxmlformats.org/markup-compatibility/2006">
              <mc:Choice xmlns:v="urn:schemas-microsoft-com:vml" Requires="v">
                <p:oleObj name="公式" r:id="rId23" imgW="698500" imgH="203200" progId="Equation.3">
                  <p:embed/>
                </p:oleObj>
              </mc:Choice>
              <mc:Fallback>
                <p:oleObj name="公式" r:id="rId23" imgW="698500" imgH="20320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11863" y="4868863"/>
                        <a:ext cx="1463675"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94" name="Object 13"/>
          <p:cNvGraphicFramePr>
            <a:graphicFrameLocks noChangeAspect="1"/>
          </p:cNvGraphicFramePr>
          <p:nvPr/>
        </p:nvGraphicFramePr>
        <p:xfrm>
          <a:off x="1403350" y="4292600"/>
          <a:ext cx="1917700" cy="504825"/>
        </p:xfrm>
        <a:graphic>
          <a:graphicData uri="http://schemas.openxmlformats.org/presentationml/2006/ole">
            <mc:AlternateContent xmlns:mc="http://schemas.openxmlformats.org/markup-compatibility/2006">
              <mc:Choice xmlns:v="urn:schemas-microsoft-com:vml" Requires="v">
                <p:oleObj name="公式" r:id="rId25" imgW="523875" imgH="99060" progId="Equation.3">
                  <p:embed/>
                </p:oleObj>
              </mc:Choice>
              <mc:Fallback>
                <p:oleObj name="公式" r:id="rId25" imgW="523875" imgH="99060" progId="Equation.3">
                  <p:embed/>
                  <p:pic>
                    <p:nvPicPr>
                      <p:cNvPr id="0"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403350" y="4292600"/>
                        <a:ext cx="1917700" cy="5048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95" name="Object 14"/>
          <p:cNvGraphicFramePr>
            <a:graphicFrameLocks noChangeAspect="1"/>
          </p:cNvGraphicFramePr>
          <p:nvPr/>
        </p:nvGraphicFramePr>
        <p:xfrm>
          <a:off x="1476375" y="4149725"/>
          <a:ext cx="1701800" cy="504825"/>
        </p:xfrm>
        <a:graphic>
          <a:graphicData uri="http://schemas.openxmlformats.org/presentationml/2006/ole">
            <mc:AlternateContent xmlns:mc="http://schemas.openxmlformats.org/markup-compatibility/2006">
              <mc:Choice xmlns:v="urn:schemas-microsoft-com:vml" Requires="v">
                <p:oleObj name="公式" r:id="rId27" imgW="455295" imgH="99060" progId="Equation.3">
                  <p:embed/>
                </p:oleObj>
              </mc:Choice>
              <mc:Fallback>
                <p:oleObj name="公式" r:id="rId27" imgW="455295" imgH="99060" progId="Equation.3">
                  <p:embed/>
                  <p:pic>
                    <p:nvPicPr>
                      <p:cNvPr id="0"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476375" y="4149725"/>
                        <a:ext cx="1701800" cy="5048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96" name="Object 15"/>
          <p:cNvGraphicFramePr>
            <a:graphicFrameLocks noChangeAspect="1"/>
          </p:cNvGraphicFramePr>
          <p:nvPr/>
        </p:nvGraphicFramePr>
        <p:xfrm>
          <a:off x="1401763" y="6032500"/>
          <a:ext cx="7050087" cy="427038"/>
        </p:xfrm>
        <a:graphic>
          <a:graphicData uri="http://schemas.openxmlformats.org/presentationml/2006/ole">
            <mc:AlternateContent xmlns:mc="http://schemas.openxmlformats.org/markup-compatibility/2006">
              <mc:Choice xmlns:v="urn:schemas-microsoft-com:vml" Requires="v">
                <p:oleObj name="公式" r:id="rId29" imgW="2421255" imgH="99060" progId="Equation.3">
                  <p:embed/>
                </p:oleObj>
              </mc:Choice>
              <mc:Fallback>
                <p:oleObj name="公式" r:id="rId29" imgW="2421255" imgH="99060" progId="Equation.3">
                  <p:embed/>
                  <p:pic>
                    <p:nvPicPr>
                      <p:cNvPr id="0" name="Object 15"/>
                      <p:cNvPicPr>
                        <a:picLocks noChangeAspect="1" noChangeArrowheads="1"/>
                      </p:cNvPicPr>
                      <p:nvPr/>
                    </p:nvPicPr>
                    <p:blipFill>
                      <a:blip r:embed="rId30">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01763" y="6032500"/>
                        <a:ext cx="7050087" cy="42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3397" name="Object 16"/>
          <p:cNvGraphicFramePr>
            <a:graphicFrameLocks noChangeAspect="1"/>
          </p:cNvGraphicFramePr>
          <p:nvPr/>
        </p:nvGraphicFramePr>
        <p:xfrm>
          <a:off x="2730500" y="5411788"/>
          <a:ext cx="5880100" cy="419100"/>
        </p:xfrm>
        <a:graphic>
          <a:graphicData uri="http://schemas.openxmlformats.org/presentationml/2006/ole">
            <mc:AlternateContent xmlns:mc="http://schemas.openxmlformats.org/markup-compatibility/2006">
              <mc:Choice xmlns:v="urn:schemas-microsoft-com:vml" Requires="v">
                <p:oleObj name="公式" r:id="rId31" imgW="2386965" imgH="127000" progId="Equation.3">
                  <p:embed/>
                </p:oleObj>
              </mc:Choice>
              <mc:Fallback>
                <p:oleObj name="公式" r:id="rId31" imgW="2386965" imgH="127000" progId="Equation.3">
                  <p:embed/>
                  <p:pic>
                    <p:nvPicPr>
                      <p:cNvPr id="0" name="Object 1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730500" y="5411788"/>
                        <a:ext cx="58801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日期占位符 21"/>
          <p:cNvSpPr>
            <a:spLocks noGrp="1"/>
          </p:cNvSpPr>
          <p:nvPr>
            <p:ph type="dt" sz="quarter" idx="10"/>
          </p:nvPr>
        </p:nvSpPr>
        <p:spPr/>
        <p:txBody>
          <a:bodyPr/>
          <a:lstStyle/>
          <a:p>
            <a:pPr>
              <a:defRPr/>
            </a:pPr>
            <a:fld id="{972D1DE3-FA5A-4D6C-90C0-9652FF2C54DD}" type="datetime1">
              <a:rPr lang="zh-CN" altLang="en-US"/>
              <a:t>2026/4/28</a:t>
            </a:fld>
            <a:endParaRPr lang="en-US" altLang="zh-CN" dirty="0"/>
          </a:p>
        </p:txBody>
      </p:sp>
      <p:sp>
        <p:nvSpPr>
          <p:cNvPr id="2" name="墨迹 1"/>
          <p:cNvSpPr/>
          <p:nvPr/>
        </p:nvSpPr>
        <p:spPr bwMode="auto">
          <a:xfrm>
            <a:off x="1432440" y="648720"/>
            <a:ext cx="7611480" cy="5211360"/>
          </a:xfrm>
        </p:spPr>
      </p:sp>
    </p:spTree>
    <p:custDataLst>
      <p:tags r:id="rId1"/>
    </p:custDataLst>
  </p:cSld>
  <p:clrMapOvr>
    <a:masterClrMapping/>
  </p:clrMapOvr>
  <p:transition spd="med" advTm="30120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3381"/>
                                        </p:tgtEl>
                                        <p:attrNameLst>
                                          <p:attrName>style.visibility</p:attrName>
                                        </p:attrNameLst>
                                      </p:cBhvr>
                                      <p:to>
                                        <p:strVal val="visible"/>
                                      </p:to>
                                    </p:set>
                                    <p:animEffect transition="in" filter="wipe(left)">
                                      <p:cBhvr>
                                        <p:cTn id="12" dur="500"/>
                                        <p:tgtEl>
                                          <p:spTgt spid="61338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3382"/>
                                        </p:tgtEl>
                                        <p:attrNameLst>
                                          <p:attrName>style.visibility</p:attrName>
                                        </p:attrNameLst>
                                      </p:cBhvr>
                                      <p:to>
                                        <p:strVal val="visible"/>
                                      </p:to>
                                    </p:set>
                                    <p:animEffect transition="in" filter="wipe(left)">
                                      <p:cBhvr>
                                        <p:cTn id="17" dur="500"/>
                                        <p:tgtEl>
                                          <p:spTgt spid="61338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13383"/>
                                        </p:tgtEl>
                                        <p:attrNameLst>
                                          <p:attrName>style.visibility</p:attrName>
                                        </p:attrNameLst>
                                      </p:cBhvr>
                                      <p:to>
                                        <p:strVal val="visible"/>
                                      </p:to>
                                    </p:set>
                                    <p:animEffect transition="in" filter="wipe(left)">
                                      <p:cBhvr>
                                        <p:cTn id="22" dur="500"/>
                                        <p:tgtEl>
                                          <p:spTgt spid="61338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3384"/>
                                        </p:tgtEl>
                                        <p:attrNameLst>
                                          <p:attrName>style.visibility</p:attrName>
                                        </p:attrNameLst>
                                      </p:cBhvr>
                                      <p:to>
                                        <p:strVal val="visible"/>
                                      </p:to>
                                    </p:set>
                                    <p:animEffect transition="in" filter="wipe(left)">
                                      <p:cBhvr>
                                        <p:cTn id="27" dur="500"/>
                                        <p:tgtEl>
                                          <p:spTgt spid="6133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13385"/>
                                        </p:tgtEl>
                                        <p:attrNameLst>
                                          <p:attrName>style.visibility</p:attrName>
                                        </p:attrNameLst>
                                      </p:cBhvr>
                                      <p:to>
                                        <p:strVal val="visible"/>
                                      </p:to>
                                    </p:set>
                                    <p:animEffect transition="in" filter="wipe(left)">
                                      <p:cBhvr>
                                        <p:cTn id="32" dur="500"/>
                                        <p:tgtEl>
                                          <p:spTgt spid="61338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13386"/>
                                        </p:tgtEl>
                                        <p:attrNameLst>
                                          <p:attrName>style.visibility</p:attrName>
                                        </p:attrNameLst>
                                      </p:cBhvr>
                                      <p:to>
                                        <p:strVal val="visible"/>
                                      </p:to>
                                    </p:set>
                                    <p:animEffect transition="in" filter="wipe(left)">
                                      <p:cBhvr>
                                        <p:cTn id="37" dur="500"/>
                                        <p:tgtEl>
                                          <p:spTgt spid="61338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13387"/>
                                        </p:tgtEl>
                                        <p:attrNameLst>
                                          <p:attrName>style.visibility</p:attrName>
                                        </p:attrNameLst>
                                      </p:cBhvr>
                                      <p:to>
                                        <p:strVal val="visible"/>
                                      </p:to>
                                    </p:set>
                                    <p:animEffect transition="in" filter="wipe(left)">
                                      <p:cBhvr>
                                        <p:cTn id="42" dur="500"/>
                                        <p:tgtEl>
                                          <p:spTgt spid="61338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13388"/>
                                        </p:tgtEl>
                                        <p:attrNameLst>
                                          <p:attrName>style.visibility</p:attrName>
                                        </p:attrNameLst>
                                      </p:cBhvr>
                                      <p:to>
                                        <p:strVal val="visible"/>
                                      </p:to>
                                    </p:set>
                                    <p:animEffect transition="in" filter="wipe(left)">
                                      <p:cBhvr>
                                        <p:cTn id="47" dur="500"/>
                                        <p:tgtEl>
                                          <p:spTgt spid="61338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13389"/>
                                        </p:tgtEl>
                                        <p:attrNameLst>
                                          <p:attrName>style.visibility</p:attrName>
                                        </p:attrNameLst>
                                      </p:cBhvr>
                                      <p:to>
                                        <p:strVal val="visible"/>
                                      </p:to>
                                    </p:set>
                                    <p:animEffect transition="in" filter="wipe(left)">
                                      <p:cBhvr>
                                        <p:cTn id="52" dur="500"/>
                                        <p:tgtEl>
                                          <p:spTgt spid="61338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13390"/>
                                        </p:tgtEl>
                                        <p:attrNameLst>
                                          <p:attrName>style.visibility</p:attrName>
                                        </p:attrNameLst>
                                      </p:cBhvr>
                                      <p:to>
                                        <p:strVal val="visible"/>
                                      </p:to>
                                    </p:set>
                                    <p:animEffect transition="in" filter="wipe(left)">
                                      <p:cBhvr>
                                        <p:cTn id="57" dur="500"/>
                                        <p:tgtEl>
                                          <p:spTgt spid="61339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13391"/>
                                        </p:tgtEl>
                                        <p:attrNameLst>
                                          <p:attrName>style.visibility</p:attrName>
                                        </p:attrNameLst>
                                      </p:cBhvr>
                                      <p:to>
                                        <p:strVal val="visible"/>
                                      </p:to>
                                    </p:set>
                                    <p:animEffect transition="in" filter="wipe(left)">
                                      <p:cBhvr>
                                        <p:cTn id="62" dur="500"/>
                                        <p:tgtEl>
                                          <p:spTgt spid="613391"/>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xit" presetSubtype="4" fill="hold" nodeType="clickEffect">
                                  <p:stCondLst>
                                    <p:cond delay="0"/>
                                  </p:stCondLst>
                                  <p:childTnLst>
                                    <p:anim calcmode="lin" valueType="num">
                                      <p:cBhvr additive="base">
                                        <p:cTn id="66" dur="500"/>
                                        <p:tgtEl>
                                          <p:spTgt spid="613384"/>
                                        </p:tgtEl>
                                        <p:attrNameLst>
                                          <p:attrName>ppt_x</p:attrName>
                                        </p:attrNameLst>
                                      </p:cBhvr>
                                      <p:tavLst>
                                        <p:tav tm="0">
                                          <p:val>
                                            <p:strVal val="ppt_x"/>
                                          </p:val>
                                        </p:tav>
                                        <p:tav tm="100000">
                                          <p:val>
                                            <p:strVal val="ppt_x"/>
                                          </p:val>
                                        </p:tav>
                                      </p:tavLst>
                                    </p:anim>
                                    <p:anim calcmode="lin" valueType="num">
                                      <p:cBhvr additive="base">
                                        <p:cTn id="67" dur="500"/>
                                        <p:tgtEl>
                                          <p:spTgt spid="613384"/>
                                        </p:tgtEl>
                                        <p:attrNameLst>
                                          <p:attrName>ppt_y</p:attrName>
                                        </p:attrNameLst>
                                      </p:cBhvr>
                                      <p:tavLst>
                                        <p:tav tm="0">
                                          <p:val>
                                            <p:strVal val="ppt_y"/>
                                          </p:val>
                                        </p:tav>
                                        <p:tav tm="100000">
                                          <p:val>
                                            <p:strVal val="1+ppt_h/2"/>
                                          </p:val>
                                        </p:tav>
                                      </p:tavLst>
                                    </p:anim>
                                    <p:set>
                                      <p:cBhvr>
                                        <p:cTn id="68" dur="1" fill="hold">
                                          <p:stCondLst>
                                            <p:cond delay="499"/>
                                          </p:stCondLst>
                                        </p:cTn>
                                        <p:tgtEl>
                                          <p:spTgt spid="613384"/>
                                        </p:tgtEl>
                                        <p:attrNameLst>
                                          <p:attrName>style.visibility</p:attrName>
                                        </p:attrNameLst>
                                      </p:cBhvr>
                                      <p:to>
                                        <p:strVal val="hidden"/>
                                      </p:to>
                                    </p:set>
                                  </p:childTnLst>
                                </p:cTn>
                              </p:par>
                            </p:childTnLst>
                          </p:cTn>
                        </p:par>
                        <p:par>
                          <p:cTn id="69" fill="hold">
                            <p:stCondLst>
                              <p:cond delay="500"/>
                            </p:stCondLst>
                            <p:childTnLst>
                              <p:par>
                                <p:cTn id="70" presetID="2" presetClass="entr" presetSubtype="4" fill="hold" nodeType="afterEffect">
                                  <p:stCondLst>
                                    <p:cond delay="0"/>
                                  </p:stCondLst>
                                  <p:childTnLst>
                                    <p:set>
                                      <p:cBhvr>
                                        <p:cTn id="71" dur="1" fill="hold">
                                          <p:stCondLst>
                                            <p:cond delay="0"/>
                                          </p:stCondLst>
                                        </p:cTn>
                                        <p:tgtEl>
                                          <p:spTgt spid="613395"/>
                                        </p:tgtEl>
                                        <p:attrNameLst>
                                          <p:attrName>style.visibility</p:attrName>
                                        </p:attrNameLst>
                                      </p:cBhvr>
                                      <p:to>
                                        <p:strVal val="visible"/>
                                      </p:to>
                                    </p:set>
                                    <p:anim calcmode="lin" valueType="num">
                                      <p:cBhvr additive="base">
                                        <p:cTn id="72" dur="500" fill="hold"/>
                                        <p:tgtEl>
                                          <p:spTgt spid="613395"/>
                                        </p:tgtEl>
                                        <p:attrNameLst>
                                          <p:attrName>ppt_x</p:attrName>
                                        </p:attrNameLst>
                                      </p:cBhvr>
                                      <p:tavLst>
                                        <p:tav tm="0">
                                          <p:val>
                                            <p:strVal val="#ppt_x"/>
                                          </p:val>
                                        </p:tav>
                                        <p:tav tm="100000">
                                          <p:val>
                                            <p:strVal val="#ppt_x"/>
                                          </p:val>
                                        </p:tav>
                                      </p:tavLst>
                                    </p:anim>
                                    <p:anim calcmode="lin" valueType="num">
                                      <p:cBhvr additive="base">
                                        <p:cTn id="73" dur="500" fill="hold"/>
                                        <p:tgtEl>
                                          <p:spTgt spid="613395"/>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613392"/>
                                        </p:tgtEl>
                                        <p:attrNameLst>
                                          <p:attrName>style.visibility</p:attrName>
                                        </p:attrNameLst>
                                      </p:cBhvr>
                                      <p:to>
                                        <p:strVal val="visible"/>
                                      </p:to>
                                    </p:set>
                                    <p:animEffect transition="in" filter="wipe(left)">
                                      <p:cBhvr>
                                        <p:cTn id="78" dur="500"/>
                                        <p:tgtEl>
                                          <p:spTgt spid="61339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613393"/>
                                        </p:tgtEl>
                                        <p:attrNameLst>
                                          <p:attrName>style.visibility</p:attrName>
                                        </p:attrNameLst>
                                      </p:cBhvr>
                                      <p:to>
                                        <p:strVal val="visible"/>
                                      </p:to>
                                    </p:set>
                                    <p:animEffect transition="in" filter="wipe(left)">
                                      <p:cBhvr>
                                        <p:cTn id="83" dur="500"/>
                                        <p:tgtEl>
                                          <p:spTgt spid="613393"/>
                                        </p:tgtEl>
                                      </p:cBhvr>
                                    </p:animEffect>
                                  </p:childTnLst>
                                </p:cTn>
                              </p:par>
                            </p:childTnLst>
                          </p:cTn>
                        </p:par>
                        <p:par>
                          <p:cTn id="84" fill="hold">
                            <p:stCondLst>
                              <p:cond delay="500"/>
                            </p:stCondLst>
                            <p:childTnLst>
                              <p:par>
                                <p:cTn id="85" presetID="2" presetClass="exit" presetSubtype="4" fill="hold" nodeType="afterEffect">
                                  <p:stCondLst>
                                    <p:cond delay="0"/>
                                  </p:stCondLst>
                                  <p:childTnLst>
                                    <p:anim calcmode="lin" valueType="num">
                                      <p:cBhvr additive="base">
                                        <p:cTn id="86" dur="500"/>
                                        <p:tgtEl>
                                          <p:spTgt spid="613395"/>
                                        </p:tgtEl>
                                        <p:attrNameLst>
                                          <p:attrName>ppt_x</p:attrName>
                                        </p:attrNameLst>
                                      </p:cBhvr>
                                      <p:tavLst>
                                        <p:tav tm="0">
                                          <p:val>
                                            <p:strVal val="ppt_x"/>
                                          </p:val>
                                        </p:tav>
                                        <p:tav tm="100000">
                                          <p:val>
                                            <p:strVal val="ppt_x"/>
                                          </p:val>
                                        </p:tav>
                                      </p:tavLst>
                                    </p:anim>
                                    <p:anim calcmode="lin" valueType="num">
                                      <p:cBhvr additive="base">
                                        <p:cTn id="87" dur="500"/>
                                        <p:tgtEl>
                                          <p:spTgt spid="613395"/>
                                        </p:tgtEl>
                                        <p:attrNameLst>
                                          <p:attrName>ppt_y</p:attrName>
                                        </p:attrNameLst>
                                      </p:cBhvr>
                                      <p:tavLst>
                                        <p:tav tm="0">
                                          <p:val>
                                            <p:strVal val="ppt_y"/>
                                          </p:val>
                                        </p:tav>
                                        <p:tav tm="100000">
                                          <p:val>
                                            <p:strVal val="1+ppt_h/2"/>
                                          </p:val>
                                        </p:tav>
                                      </p:tavLst>
                                    </p:anim>
                                    <p:set>
                                      <p:cBhvr>
                                        <p:cTn id="88" dur="1" fill="hold">
                                          <p:stCondLst>
                                            <p:cond delay="499"/>
                                          </p:stCondLst>
                                        </p:cTn>
                                        <p:tgtEl>
                                          <p:spTgt spid="613395"/>
                                        </p:tgtEl>
                                        <p:attrNameLst>
                                          <p:attrName>style.visibility</p:attrName>
                                        </p:attrNameLst>
                                      </p:cBhvr>
                                      <p:to>
                                        <p:strVal val="hidden"/>
                                      </p:to>
                                    </p:set>
                                  </p:childTnLst>
                                </p:cTn>
                              </p:par>
                            </p:childTnLst>
                          </p:cTn>
                        </p:par>
                        <p:par>
                          <p:cTn id="89" fill="hold">
                            <p:stCondLst>
                              <p:cond delay="1000"/>
                            </p:stCondLst>
                            <p:childTnLst>
                              <p:par>
                                <p:cTn id="90" presetID="2" presetClass="entr" presetSubtype="4" fill="hold" nodeType="afterEffect">
                                  <p:stCondLst>
                                    <p:cond delay="0"/>
                                  </p:stCondLst>
                                  <p:childTnLst>
                                    <p:set>
                                      <p:cBhvr>
                                        <p:cTn id="91" dur="1" fill="hold">
                                          <p:stCondLst>
                                            <p:cond delay="0"/>
                                          </p:stCondLst>
                                        </p:cTn>
                                        <p:tgtEl>
                                          <p:spTgt spid="613394"/>
                                        </p:tgtEl>
                                        <p:attrNameLst>
                                          <p:attrName>style.visibility</p:attrName>
                                        </p:attrNameLst>
                                      </p:cBhvr>
                                      <p:to>
                                        <p:strVal val="visible"/>
                                      </p:to>
                                    </p:set>
                                    <p:anim calcmode="lin" valueType="num">
                                      <p:cBhvr additive="base">
                                        <p:cTn id="92" dur="500" fill="hold"/>
                                        <p:tgtEl>
                                          <p:spTgt spid="613394"/>
                                        </p:tgtEl>
                                        <p:attrNameLst>
                                          <p:attrName>ppt_x</p:attrName>
                                        </p:attrNameLst>
                                      </p:cBhvr>
                                      <p:tavLst>
                                        <p:tav tm="0">
                                          <p:val>
                                            <p:strVal val="#ppt_x"/>
                                          </p:val>
                                        </p:tav>
                                        <p:tav tm="100000">
                                          <p:val>
                                            <p:strVal val="#ppt_x"/>
                                          </p:val>
                                        </p:tav>
                                      </p:tavLst>
                                    </p:anim>
                                    <p:anim calcmode="lin" valueType="num">
                                      <p:cBhvr additive="base">
                                        <p:cTn id="93" dur="500" fill="hold"/>
                                        <p:tgtEl>
                                          <p:spTgt spid="613394"/>
                                        </p:tgtEl>
                                        <p:attrNameLst>
                                          <p:attrName>ppt_y</p:attrName>
                                        </p:attrNameLst>
                                      </p:cBhvr>
                                      <p:tavLst>
                                        <p:tav tm="0">
                                          <p:val>
                                            <p:strVal val="1+#ppt_h/2"/>
                                          </p:val>
                                        </p:tav>
                                        <p:tav tm="100000">
                                          <p:val>
                                            <p:strVal val="#ppt_y"/>
                                          </p:val>
                                        </p:tav>
                                      </p:tavLst>
                                    </p:anim>
                                  </p:childTnLst>
                                </p:cTn>
                              </p:par>
                            </p:childTnLst>
                          </p:cTn>
                        </p:par>
                        <p:par>
                          <p:cTn id="94" fill="hold">
                            <p:stCondLst>
                              <p:cond delay="1500"/>
                            </p:stCondLst>
                            <p:childTnLst>
                              <p:par>
                                <p:cTn id="95" presetID="22" presetClass="entr" presetSubtype="8" fill="hold" nodeType="afterEffect">
                                  <p:stCondLst>
                                    <p:cond delay="0"/>
                                  </p:stCondLst>
                                  <p:childTnLst>
                                    <p:set>
                                      <p:cBhvr>
                                        <p:cTn id="96" dur="1" fill="hold">
                                          <p:stCondLst>
                                            <p:cond delay="0"/>
                                          </p:stCondLst>
                                        </p:cTn>
                                        <p:tgtEl>
                                          <p:spTgt spid="613397"/>
                                        </p:tgtEl>
                                        <p:attrNameLst>
                                          <p:attrName>style.visibility</p:attrName>
                                        </p:attrNameLst>
                                      </p:cBhvr>
                                      <p:to>
                                        <p:strVal val="visible"/>
                                      </p:to>
                                    </p:set>
                                    <p:animEffect transition="in" filter="wipe(left)">
                                      <p:cBhvr>
                                        <p:cTn id="97" dur="500"/>
                                        <p:tgtEl>
                                          <p:spTgt spid="61339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613396"/>
                                        </p:tgtEl>
                                        <p:attrNameLst>
                                          <p:attrName>style.visibility</p:attrName>
                                        </p:attrNameLst>
                                      </p:cBhvr>
                                      <p:to>
                                        <p:strVal val="visible"/>
                                      </p:to>
                                    </p:set>
                                    <p:animEffect transition="in" filter="wipe(left)">
                                      <p:cBhvr>
                                        <p:cTn id="102" dur="500"/>
                                        <p:tgtEl>
                                          <p:spTgt spid="613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86" grpId="0" animBg="1"/>
      <p:bldP spid="613387" grpId="0" animBg="1"/>
      <p:bldP spid="613388"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1" name="Rectangle 3"/>
          <p:cNvSpPr>
            <a:spLocks noChangeArrowheads="1"/>
          </p:cNvSpPr>
          <p:nvPr/>
        </p:nvSpPr>
        <p:spPr bwMode="auto">
          <a:xfrm>
            <a:off x="712788" y="806450"/>
            <a:ext cx="8012112" cy="4309513"/>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marL="894080" indent="-89408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20000"/>
              </a:lnSpc>
              <a:spcBef>
                <a:spcPct val="15000"/>
              </a:spcBef>
              <a:buClr>
                <a:schemeClr val="accent2"/>
              </a:buClr>
              <a:buFont typeface="Wingdings" panose="05000000000000000000" pitchFamily="2" charset="2"/>
              <a:buNone/>
            </a:pPr>
            <a:r>
              <a:rPr kumimoji="1" lang="zh-CN" altLang="en-US" dirty="0">
                <a:latin typeface="华文中宋" panose="02010600040101010101" pitchFamily="2" charset="-122"/>
              </a:rPr>
              <a:t> ①、时域中系统的冲激响应绝对可积是系统稳定的</a:t>
            </a:r>
            <a:r>
              <a:rPr kumimoji="1" lang="zh-CN" altLang="en-US" dirty="0">
                <a:solidFill>
                  <a:srgbClr val="FF0000"/>
                </a:solidFill>
                <a:latin typeface="华文中宋" panose="02010600040101010101" pitchFamily="2" charset="-122"/>
              </a:rPr>
              <a:t>充要条件</a:t>
            </a:r>
            <a:r>
              <a:rPr kumimoji="1" lang="zh-CN" altLang="en-US" dirty="0">
                <a:latin typeface="华文中宋" panose="02010600040101010101" pitchFamily="2" charset="-122"/>
              </a:rPr>
              <a:t>（满足该条件的系统称为渐近稳定系统）。</a:t>
            </a:r>
            <a:r>
              <a:rPr kumimoji="1" lang="zh-CN" altLang="en-US" dirty="0">
                <a:solidFill>
                  <a:srgbClr val="0000FF"/>
                </a:solidFill>
                <a:latin typeface="华文中宋" panose="02010600040101010101" pitchFamily="2" charset="-122"/>
              </a:rPr>
              <a:t>理想无耗系统，有振荡但非发散型振荡，所以称临界稳定系统</a:t>
            </a:r>
            <a:r>
              <a:rPr kumimoji="1" lang="zh-CN" altLang="en-US" dirty="0">
                <a:latin typeface="华文中宋" panose="02010600040101010101" pitchFamily="2" charset="-122"/>
              </a:rPr>
              <a:t>。</a:t>
            </a:r>
          </a:p>
          <a:p>
            <a:pPr eaLnBrk="1" hangingPunct="1">
              <a:lnSpc>
                <a:spcPct val="120000"/>
              </a:lnSpc>
              <a:spcBef>
                <a:spcPct val="15000"/>
              </a:spcBef>
              <a:buClr>
                <a:schemeClr val="accent2"/>
              </a:buClr>
              <a:buFont typeface="Wingdings" panose="05000000000000000000" pitchFamily="2" charset="2"/>
              <a:buNone/>
            </a:pPr>
            <a:r>
              <a:rPr kumimoji="1" lang="zh-CN" altLang="en-US" dirty="0">
                <a:latin typeface="华文中宋" panose="02010600040101010101" pitchFamily="2" charset="-122"/>
              </a:rPr>
              <a:t>  ②、复频域条件：</a:t>
            </a:r>
            <a:r>
              <a:rPr kumimoji="1" lang="zh-CN" altLang="en-US" dirty="0">
                <a:solidFill>
                  <a:srgbClr val="0000FF"/>
                </a:solidFill>
                <a:latin typeface="华文中宋" panose="02010600040101010101" pitchFamily="2" charset="-122"/>
              </a:rPr>
              <a:t>所有极点落在</a:t>
            </a:r>
            <a:r>
              <a:rPr kumimoji="1" lang="zh-CN" altLang="en-US" dirty="0">
                <a:solidFill>
                  <a:srgbClr val="FF0000"/>
                </a:solidFill>
                <a:latin typeface="华文中宋" panose="02010600040101010101" pitchFamily="2" charset="-122"/>
              </a:rPr>
              <a:t>左半面内</a:t>
            </a:r>
            <a:r>
              <a:rPr kumimoji="1" lang="en-US" altLang="zh-CN" dirty="0">
                <a:solidFill>
                  <a:srgbClr val="0000FF"/>
                </a:solidFill>
                <a:latin typeface="华文中宋" panose="02010600040101010101" pitchFamily="2" charset="-122"/>
              </a:rPr>
              <a:t>,</a:t>
            </a:r>
            <a:r>
              <a:rPr kumimoji="1" lang="zh-CN" altLang="en-US" dirty="0">
                <a:solidFill>
                  <a:srgbClr val="FF0000"/>
                </a:solidFill>
                <a:latin typeface="华文中宋" panose="02010600040101010101" pitchFamily="2" charset="-122"/>
              </a:rPr>
              <a:t>渐近稳定</a:t>
            </a:r>
            <a:r>
              <a:rPr kumimoji="1" lang="zh-CN" altLang="en-US" dirty="0">
                <a:solidFill>
                  <a:srgbClr val="0000FF"/>
                </a:solidFill>
                <a:latin typeface="华文中宋" panose="02010600040101010101" pitchFamily="2" charset="-122"/>
              </a:rPr>
              <a:t>。若极点在虚轴</a:t>
            </a:r>
            <a:r>
              <a:rPr kumimoji="1" lang="en-US" altLang="zh-CN" dirty="0" err="1">
                <a:solidFill>
                  <a:srgbClr val="0000FF"/>
                </a:solidFill>
                <a:latin typeface="华文中宋" panose="02010600040101010101" pitchFamily="2" charset="-122"/>
              </a:rPr>
              <a:t>jω</a:t>
            </a:r>
            <a:r>
              <a:rPr kumimoji="1" lang="zh-CN" altLang="en-US" dirty="0">
                <a:solidFill>
                  <a:srgbClr val="0000FF"/>
                </a:solidFill>
                <a:latin typeface="华文中宋" panose="02010600040101010101" pitchFamily="2" charset="-122"/>
              </a:rPr>
              <a:t>上（包括</a:t>
            </a:r>
            <a:r>
              <a:rPr kumimoji="1" lang="en-US" altLang="zh-CN" dirty="0">
                <a:solidFill>
                  <a:srgbClr val="0000FF"/>
                </a:solidFill>
                <a:latin typeface="华文中宋" panose="02010600040101010101" pitchFamily="2" charset="-122"/>
              </a:rPr>
              <a:t>S=0</a:t>
            </a:r>
            <a:r>
              <a:rPr kumimoji="1" lang="zh-CN" altLang="en-US" dirty="0">
                <a:solidFill>
                  <a:srgbClr val="0000FF"/>
                </a:solidFill>
                <a:latin typeface="华文中宋" panose="02010600040101010101" pitchFamily="2" charset="-122"/>
              </a:rPr>
              <a:t>，</a:t>
            </a:r>
            <a:r>
              <a:rPr kumimoji="1" lang="en-US" altLang="zh-CN" dirty="0">
                <a:solidFill>
                  <a:srgbClr val="0000FF"/>
                </a:solidFill>
                <a:latin typeface="华文中宋" panose="02010600040101010101" pitchFamily="2" charset="-122"/>
              </a:rPr>
              <a:t>S=∞</a:t>
            </a:r>
            <a:r>
              <a:rPr kumimoji="1" lang="zh-CN" altLang="en-US" dirty="0">
                <a:solidFill>
                  <a:srgbClr val="0000FF"/>
                </a:solidFill>
                <a:latin typeface="华文中宋" panose="02010600040101010101" pitchFamily="2" charset="-122"/>
              </a:rPr>
              <a:t>），则只能是</a:t>
            </a:r>
            <a:r>
              <a:rPr kumimoji="1" lang="zh-CN" altLang="en-US" dirty="0">
                <a:solidFill>
                  <a:srgbClr val="FF0000"/>
                </a:solidFill>
                <a:latin typeface="华文中宋" panose="02010600040101010101" pitchFamily="2" charset="-122"/>
              </a:rPr>
              <a:t>单阶</a:t>
            </a:r>
            <a:r>
              <a:rPr kumimoji="1" lang="zh-CN" altLang="en-US" dirty="0">
                <a:solidFill>
                  <a:srgbClr val="0000FF"/>
                </a:solidFill>
                <a:latin typeface="华文中宋" panose="02010600040101010101" pitchFamily="2" charset="-122"/>
              </a:rPr>
              <a:t>的，</a:t>
            </a:r>
            <a:r>
              <a:rPr kumimoji="1" lang="zh-CN" altLang="en-US" dirty="0">
                <a:solidFill>
                  <a:srgbClr val="FF0000"/>
                </a:solidFill>
                <a:latin typeface="华文中宋" panose="02010600040101010101" pitchFamily="2" charset="-122"/>
              </a:rPr>
              <a:t>临界稳定</a:t>
            </a:r>
            <a:r>
              <a:rPr kumimoji="1" lang="zh-CN" altLang="en-US" dirty="0">
                <a:latin typeface="华文中宋" panose="02010600040101010101" pitchFamily="2" charset="-122"/>
              </a:rPr>
              <a:t>。</a:t>
            </a:r>
          </a:p>
          <a:p>
            <a:pPr eaLnBrk="1" hangingPunct="1">
              <a:lnSpc>
                <a:spcPct val="120000"/>
              </a:lnSpc>
              <a:spcBef>
                <a:spcPct val="15000"/>
              </a:spcBef>
              <a:buClr>
                <a:schemeClr val="accent2"/>
              </a:buClr>
              <a:buFont typeface="Wingdings" panose="05000000000000000000" pitchFamily="2" charset="2"/>
              <a:buNone/>
            </a:pPr>
            <a:r>
              <a:rPr kumimoji="1" lang="zh-CN" altLang="en-US" dirty="0">
                <a:latin typeface="华文中宋" panose="02010600040101010101" pitchFamily="2" charset="-122"/>
              </a:rPr>
              <a:t>   ③、稳定系统必须遵从因果律。   </a:t>
            </a:r>
            <a:endParaRPr kumimoji="1" lang="zh-CN" altLang="en-US" dirty="0">
              <a:solidFill>
                <a:srgbClr val="FF0000"/>
              </a:solidFill>
              <a:latin typeface="华文中宋" panose="02010600040101010101" pitchFamily="2" charset="-122"/>
            </a:endParaRPr>
          </a:p>
        </p:txBody>
      </p:sp>
      <p:sp>
        <p:nvSpPr>
          <p:cNvPr id="77827" name="Rectangle 4"/>
          <p:cNvSpPr>
            <a:spLocks noChangeArrowheads="1"/>
          </p:cNvSpPr>
          <p:nvPr/>
        </p:nvSpPr>
        <p:spPr bwMode="auto">
          <a:xfrm>
            <a:off x="3200400" y="2279650"/>
            <a:ext cx="6921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600">
                <a:solidFill>
                  <a:srgbClr val="000000"/>
                </a:solidFill>
                <a:latin typeface="华文楷体" panose="02010600040101010101" pitchFamily="2" charset="-122"/>
                <a:ea typeface="华文楷体" panose="02010600040101010101" pitchFamily="2" charset="-122"/>
              </a:rPr>
              <a:t>：</a:t>
            </a:r>
            <a:endParaRPr lang="zh-CN" altLang="en-US" sz="1100"/>
          </a:p>
          <a:p>
            <a:pPr algn="ctr">
              <a:lnSpc>
                <a:spcPct val="85000"/>
              </a:lnSpc>
              <a:spcBef>
                <a:spcPct val="20000"/>
              </a:spcBef>
              <a:buClr>
                <a:schemeClr val="accent2"/>
              </a:buClr>
              <a:buFont typeface="Wingdings" panose="05000000000000000000" pitchFamily="2" charset="2"/>
              <a:buNone/>
            </a:pPr>
            <a:r>
              <a:rPr lang="zh-CN" altLang="en-US" sz="1600">
                <a:solidFill>
                  <a:srgbClr val="000000"/>
                </a:solidFill>
                <a:latin typeface="Arial" panose="020B0604020202020204" pitchFamily="34" charset="0"/>
                <a:ea typeface="华文楷体" panose="02010600040101010101" pitchFamily="2" charset="-122"/>
              </a:rPr>
              <a:t>        </a:t>
            </a:r>
            <a:r>
              <a:rPr lang="zh-CN" altLang="en-US" sz="1600">
                <a:solidFill>
                  <a:srgbClr val="000000"/>
                </a:solidFill>
                <a:latin typeface="华文楷体" panose="02010600040101010101" pitchFamily="2" charset="-122"/>
                <a:ea typeface="华文楷体" panose="02010600040101010101" pitchFamily="2" charset="-122"/>
              </a:rPr>
              <a:t> </a:t>
            </a:r>
            <a:endParaRPr lang="zh-CN" altLang="en-US" sz="1800">
              <a:latin typeface="Arial" panose="020B0604020202020204" pitchFamily="34" charset="0"/>
              <a:ea typeface="宋体" panose="02010600030101010101" pitchFamily="2" charset="-122"/>
            </a:endParaRPr>
          </a:p>
        </p:txBody>
      </p:sp>
      <p:sp>
        <p:nvSpPr>
          <p:cNvPr id="77828" name="Rectangle 5"/>
          <p:cNvSpPr>
            <a:spLocks noChangeArrowheads="1"/>
          </p:cNvSpPr>
          <p:nvPr/>
        </p:nvSpPr>
        <p:spPr bwMode="auto">
          <a:xfrm>
            <a:off x="3200400" y="4241800"/>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565254" name="Rectangle 6"/>
          <p:cNvSpPr>
            <a:spLocks noChangeArrowheads="1"/>
          </p:cNvSpPr>
          <p:nvPr/>
        </p:nvSpPr>
        <p:spPr bwMode="auto">
          <a:xfrm>
            <a:off x="661988" y="0"/>
            <a:ext cx="4443412"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回顾</a:t>
            </a:r>
            <a:r>
              <a:rPr lang="en-US" altLang="zh-CN" dirty="0">
                <a:solidFill>
                  <a:srgbClr val="F8F8F8"/>
                </a:solidFill>
                <a:effectLst>
                  <a:outerShdw blurRad="38100" dist="38100" dir="2700000" algn="tl">
                    <a:srgbClr val="000000"/>
                  </a:outerShdw>
                </a:effectLst>
                <a:latin typeface="楷体_GB2312" pitchFamily="49" charset="-122"/>
                <a:ea typeface="楷体_GB2312" pitchFamily="49" charset="-122"/>
              </a:rPr>
              <a:t>1    </a:t>
            </a: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系统的稳定性</a:t>
            </a:r>
          </a:p>
        </p:txBody>
      </p:sp>
      <p:sp>
        <p:nvSpPr>
          <p:cNvPr id="565256" name="Rectangle 8"/>
          <p:cNvSpPr>
            <a:spLocks noChangeArrowheads="1"/>
          </p:cNvSpPr>
          <p:nvPr/>
        </p:nvSpPr>
        <p:spPr bwMode="auto">
          <a:xfrm>
            <a:off x="873125" y="5500687"/>
            <a:ext cx="77914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dirty="0">
                <a:solidFill>
                  <a:srgbClr val="FF0000"/>
                </a:solidFill>
              </a:rPr>
              <a:t>通常判定系统稳定与否仍采用复频域极点条件。</a:t>
            </a:r>
          </a:p>
        </p:txBody>
      </p:sp>
      <p:sp>
        <p:nvSpPr>
          <p:cNvPr id="7" name="日期占位符 6"/>
          <p:cNvSpPr>
            <a:spLocks noGrp="1"/>
          </p:cNvSpPr>
          <p:nvPr>
            <p:ph type="dt" sz="quarter" idx="10"/>
          </p:nvPr>
        </p:nvSpPr>
        <p:spPr/>
        <p:txBody>
          <a:bodyPr/>
          <a:lstStyle/>
          <a:p>
            <a:pPr>
              <a:defRPr/>
            </a:pPr>
            <a:fld id="{B6E19ABE-47EA-47DB-A81F-B092F37FEDEA}" type="datetime1">
              <a:rPr lang="zh-CN" altLang="en-US"/>
              <a:t>2026/4/28</a:t>
            </a:fld>
            <a:endParaRPr lang="zh-CN" altLang="en-US"/>
          </a:p>
        </p:txBody>
      </p:sp>
      <p:sp>
        <p:nvSpPr>
          <p:cNvPr id="4" name="墨迹 3"/>
          <p:cNvSpPr/>
          <p:nvPr/>
        </p:nvSpPr>
        <p:spPr bwMode="auto">
          <a:xfrm>
            <a:off x="4128480" y="599040"/>
            <a:ext cx="4002480" cy="550224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8141"/>
    </mc:Choice>
    <mc:Fallback xmlns="">
      <p:transition spd="slow" advTm="481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565251">
                                            <p:txEl>
                                              <p:pRg st="0" end="0"/>
                                            </p:txEl>
                                          </p:spTgt>
                                        </p:tgtEl>
                                        <p:attrNameLst>
                                          <p:attrName>style.visibility</p:attrName>
                                        </p:attrNameLst>
                                      </p:cBhvr>
                                      <p:to>
                                        <p:strVal val="visible"/>
                                      </p:to>
                                    </p:set>
                                    <p:anim calcmode="lin" valueType="num">
                                      <p:cBhvr>
                                        <p:cTn id="11" dur="1000" fill="hold"/>
                                        <p:tgtEl>
                                          <p:spTgt spid="565251">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565251">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56525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565251">
                                            <p:txEl>
                                              <p:pRg st="1" end="1"/>
                                            </p:txEl>
                                          </p:spTgt>
                                        </p:tgtEl>
                                        <p:attrNameLst>
                                          <p:attrName>style.visibility</p:attrName>
                                        </p:attrNameLst>
                                      </p:cBhvr>
                                      <p:to>
                                        <p:strVal val="visible"/>
                                      </p:to>
                                    </p:set>
                                    <p:anim calcmode="lin" valueType="num">
                                      <p:cBhvr>
                                        <p:cTn id="18" dur="1000" fill="hold"/>
                                        <p:tgtEl>
                                          <p:spTgt spid="565251">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565251">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565251">
                                            <p:txEl>
                                              <p:pRg st="1" end="1"/>
                                            </p:txEl>
                                          </p:spTgt>
                                        </p:tgtEl>
                                      </p:cBhvr>
                                    </p:animEffect>
                                  </p:childTnLst>
                                </p:cTn>
                              </p:par>
                            </p:childTnLst>
                          </p:cTn>
                        </p:par>
                        <p:par>
                          <p:cTn id="21" fill="hold">
                            <p:stCondLst>
                              <p:cond delay="1000"/>
                            </p:stCondLst>
                            <p:childTnLst>
                              <p:par>
                                <p:cTn id="22" presetID="55" presetClass="entr" presetSubtype="0" fill="hold" nodeType="afterEffect">
                                  <p:stCondLst>
                                    <p:cond delay="0"/>
                                  </p:stCondLst>
                                  <p:childTnLst>
                                    <p:set>
                                      <p:cBhvr>
                                        <p:cTn id="23" dur="1" fill="hold">
                                          <p:stCondLst>
                                            <p:cond delay="0"/>
                                          </p:stCondLst>
                                        </p:cTn>
                                        <p:tgtEl>
                                          <p:spTgt spid="565251">
                                            <p:txEl>
                                              <p:pRg st="2" end="2"/>
                                            </p:txEl>
                                          </p:spTgt>
                                        </p:tgtEl>
                                        <p:attrNameLst>
                                          <p:attrName>style.visibility</p:attrName>
                                        </p:attrNameLst>
                                      </p:cBhvr>
                                      <p:to>
                                        <p:strVal val="visible"/>
                                      </p:to>
                                    </p:set>
                                    <p:anim calcmode="lin" valueType="num">
                                      <p:cBhvr>
                                        <p:cTn id="24" dur="1000" fill="hold"/>
                                        <p:tgtEl>
                                          <p:spTgt spid="565251">
                                            <p:txEl>
                                              <p:pRg st="2" end="2"/>
                                            </p:txEl>
                                          </p:spTgt>
                                        </p:tgtEl>
                                        <p:attrNameLst>
                                          <p:attrName>ppt_w</p:attrName>
                                        </p:attrNameLst>
                                      </p:cBhvr>
                                      <p:tavLst>
                                        <p:tav tm="0">
                                          <p:val>
                                            <p:strVal val="#ppt_w*0.70"/>
                                          </p:val>
                                        </p:tav>
                                        <p:tav tm="100000">
                                          <p:val>
                                            <p:strVal val="#ppt_w"/>
                                          </p:val>
                                        </p:tav>
                                      </p:tavLst>
                                    </p:anim>
                                    <p:anim calcmode="lin" valueType="num">
                                      <p:cBhvr>
                                        <p:cTn id="25" dur="1000" fill="hold"/>
                                        <p:tgtEl>
                                          <p:spTgt spid="565251">
                                            <p:txEl>
                                              <p:pRg st="2" end="2"/>
                                            </p:txEl>
                                          </p:spTgt>
                                        </p:tgtEl>
                                        <p:attrNameLst>
                                          <p:attrName>ppt_h</p:attrName>
                                        </p:attrNameLst>
                                      </p:cBhvr>
                                      <p:tavLst>
                                        <p:tav tm="0">
                                          <p:val>
                                            <p:strVal val="#ppt_h"/>
                                          </p:val>
                                        </p:tav>
                                        <p:tav tm="100000">
                                          <p:val>
                                            <p:strVal val="#ppt_h"/>
                                          </p:val>
                                        </p:tav>
                                      </p:tavLst>
                                    </p:anim>
                                    <p:animEffect transition="in" filter="fade">
                                      <p:cBhvr>
                                        <p:cTn id="26" dur="1000"/>
                                        <p:tgtEl>
                                          <p:spTgt spid="565251">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565256"/>
                                        </p:tgtEl>
                                        <p:attrNameLst>
                                          <p:attrName>style.visibility</p:attrName>
                                        </p:attrNameLst>
                                      </p:cBhvr>
                                      <p:to>
                                        <p:strVal val="visible"/>
                                      </p:to>
                                    </p:set>
                                    <p:anim calcmode="lin" valueType="num">
                                      <p:cBhvr>
                                        <p:cTn id="31" dur="1000" fill="hold"/>
                                        <p:tgtEl>
                                          <p:spTgt spid="565256"/>
                                        </p:tgtEl>
                                        <p:attrNameLst>
                                          <p:attrName>ppt_w</p:attrName>
                                        </p:attrNameLst>
                                      </p:cBhvr>
                                      <p:tavLst>
                                        <p:tav tm="0">
                                          <p:val>
                                            <p:strVal val="#ppt_w*0.70"/>
                                          </p:val>
                                        </p:tav>
                                        <p:tav tm="100000">
                                          <p:val>
                                            <p:strVal val="#ppt_w"/>
                                          </p:val>
                                        </p:tav>
                                      </p:tavLst>
                                    </p:anim>
                                    <p:anim calcmode="lin" valueType="num">
                                      <p:cBhvr>
                                        <p:cTn id="32" dur="1000" fill="hold"/>
                                        <p:tgtEl>
                                          <p:spTgt spid="565256"/>
                                        </p:tgtEl>
                                        <p:attrNameLst>
                                          <p:attrName>ppt_h</p:attrName>
                                        </p:attrNameLst>
                                      </p:cBhvr>
                                      <p:tavLst>
                                        <p:tav tm="0">
                                          <p:val>
                                            <p:strVal val="#ppt_h"/>
                                          </p:val>
                                        </p:tav>
                                        <p:tav tm="100000">
                                          <p:val>
                                            <p:strVal val="#ppt_h"/>
                                          </p:val>
                                        </p:tav>
                                      </p:tavLst>
                                    </p:anim>
                                    <p:animEffect transition="in" filter="fade">
                                      <p:cBhvr>
                                        <p:cTn id="33" dur="1000"/>
                                        <p:tgtEl>
                                          <p:spTgt spid="565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5" name="Rectangle 3"/>
          <p:cNvSpPr>
            <a:spLocks noChangeArrowheads="1"/>
          </p:cNvSpPr>
          <p:nvPr/>
        </p:nvSpPr>
        <p:spPr bwMode="auto">
          <a:xfrm>
            <a:off x="1223963" y="1635125"/>
            <a:ext cx="7040562" cy="2495550"/>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chemeClr val="accent2"/>
              </a:buClr>
              <a:buFont typeface="Wingdings" panose="05000000000000000000" pitchFamily="2" charset="2"/>
              <a:buNone/>
            </a:pPr>
            <a:r>
              <a:rPr kumimoji="1" lang="en-US" altLang="zh-CN">
                <a:latin typeface="华文中宋" panose="02010600040101010101" pitchFamily="2" charset="-122"/>
              </a:rPr>
              <a:t>     </a:t>
            </a:r>
            <a:r>
              <a:rPr kumimoji="1" lang="zh-CN" altLang="en-US">
                <a:solidFill>
                  <a:srgbClr val="FF0000"/>
                </a:solidFill>
                <a:latin typeface="华文中宋" panose="02010600040101010101" pitchFamily="2" charset="-122"/>
              </a:rPr>
              <a:t>稳定性复频域判据为</a:t>
            </a:r>
            <a:r>
              <a:rPr kumimoji="1" lang="zh-CN" altLang="en-US">
                <a:latin typeface="华文中宋" panose="02010600040101010101" pitchFamily="2" charset="-122"/>
              </a:rPr>
              <a:t>：系统的极点落在左半平面内</a:t>
            </a:r>
            <a:r>
              <a:rPr kumimoji="1" lang="zh-CN" altLang="en-US">
                <a:solidFill>
                  <a:srgbClr val="0000FF"/>
                </a:solidFill>
                <a:latin typeface="华文中宋" panose="02010600040101010101" pitchFamily="2" charset="-122"/>
              </a:rPr>
              <a:t>或者一阶虚轴及</a:t>
            </a:r>
            <a:r>
              <a:rPr kumimoji="1" lang="en-US" altLang="zh-CN">
                <a:solidFill>
                  <a:srgbClr val="0000FF"/>
                </a:solidFill>
                <a:latin typeface="华文中宋" panose="02010600040101010101" pitchFamily="2" charset="-122"/>
              </a:rPr>
              <a:t>S=0</a:t>
            </a:r>
            <a:r>
              <a:rPr kumimoji="1" lang="zh-CN" altLang="en-US">
                <a:solidFill>
                  <a:srgbClr val="0000FF"/>
                </a:solidFill>
                <a:latin typeface="华文中宋" panose="02010600040101010101" pitchFamily="2" charset="-122"/>
              </a:rPr>
              <a:t>、</a:t>
            </a:r>
            <a:r>
              <a:rPr kumimoji="1" lang="en-US" altLang="zh-CN">
                <a:solidFill>
                  <a:srgbClr val="0000FF"/>
                </a:solidFill>
                <a:latin typeface="华文中宋" panose="02010600040101010101" pitchFamily="2" charset="-122"/>
              </a:rPr>
              <a:t>S=∞</a:t>
            </a:r>
            <a:r>
              <a:rPr kumimoji="1" lang="zh-CN" altLang="en-US">
                <a:solidFill>
                  <a:srgbClr val="0000FF"/>
                </a:solidFill>
                <a:latin typeface="华文中宋" panose="02010600040101010101" pitchFamily="2" charset="-122"/>
              </a:rPr>
              <a:t>的极点</a:t>
            </a:r>
            <a:r>
              <a:rPr kumimoji="1" lang="zh-CN" altLang="en-US">
                <a:latin typeface="华文中宋" panose="02010600040101010101" pitchFamily="2" charset="-122"/>
              </a:rPr>
              <a:t>；或者说系统的特征方程的</a:t>
            </a:r>
            <a:r>
              <a:rPr kumimoji="1" lang="zh-CN" altLang="en-US">
                <a:solidFill>
                  <a:srgbClr val="0000FF"/>
                </a:solidFill>
                <a:latin typeface="华文中宋" panose="02010600040101010101" pitchFamily="2" charset="-122"/>
              </a:rPr>
              <a:t>特征根都有负实部</a:t>
            </a:r>
            <a:r>
              <a:rPr kumimoji="1" lang="zh-CN" altLang="en-US">
                <a:latin typeface="华文中宋" panose="02010600040101010101" pitchFamily="2" charset="-122"/>
              </a:rPr>
              <a:t>。</a:t>
            </a:r>
          </a:p>
        </p:txBody>
      </p:sp>
      <p:sp>
        <p:nvSpPr>
          <p:cNvPr id="78851" name="Rectangle 4"/>
          <p:cNvSpPr>
            <a:spLocks noChangeArrowheads="1"/>
          </p:cNvSpPr>
          <p:nvPr/>
        </p:nvSpPr>
        <p:spPr bwMode="auto">
          <a:xfrm>
            <a:off x="3052763" y="2436813"/>
            <a:ext cx="69215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zh-CN" altLang="en-US" sz="1600">
                <a:solidFill>
                  <a:srgbClr val="000000"/>
                </a:solidFill>
                <a:latin typeface="华文楷体" panose="02010600040101010101" pitchFamily="2" charset="-122"/>
                <a:ea typeface="华文楷体" panose="02010600040101010101" pitchFamily="2" charset="-122"/>
              </a:rPr>
              <a:t>：</a:t>
            </a:r>
            <a:endParaRPr lang="zh-CN" altLang="en-US" sz="1100"/>
          </a:p>
          <a:p>
            <a:pPr algn="ctr">
              <a:lnSpc>
                <a:spcPct val="85000"/>
              </a:lnSpc>
              <a:spcBef>
                <a:spcPct val="20000"/>
              </a:spcBef>
              <a:buClr>
                <a:schemeClr val="accent2"/>
              </a:buClr>
              <a:buFont typeface="Wingdings" panose="05000000000000000000" pitchFamily="2" charset="2"/>
              <a:buNone/>
            </a:pPr>
            <a:r>
              <a:rPr lang="zh-CN" altLang="en-US" sz="1600">
                <a:solidFill>
                  <a:srgbClr val="000000"/>
                </a:solidFill>
                <a:latin typeface="Arial" panose="020B0604020202020204" pitchFamily="34" charset="0"/>
                <a:ea typeface="华文楷体" panose="02010600040101010101" pitchFamily="2" charset="-122"/>
              </a:rPr>
              <a:t>        </a:t>
            </a:r>
            <a:r>
              <a:rPr lang="zh-CN" altLang="en-US" sz="1600">
                <a:solidFill>
                  <a:srgbClr val="000000"/>
                </a:solidFill>
                <a:latin typeface="华文楷体" panose="02010600040101010101" pitchFamily="2" charset="-122"/>
                <a:ea typeface="华文楷体" panose="02010600040101010101" pitchFamily="2" charset="-122"/>
              </a:rPr>
              <a:t> </a:t>
            </a:r>
            <a:endParaRPr lang="zh-CN" altLang="en-US" sz="1800">
              <a:latin typeface="Arial" panose="020B0604020202020204" pitchFamily="34" charset="0"/>
              <a:ea typeface="宋体" panose="02010600030101010101" pitchFamily="2" charset="-122"/>
            </a:endParaRPr>
          </a:p>
        </p:txBody>
      </p:sp>
      <p:sp>
        <p:nvSpPr>
          <p:cNvPr id="566278" name="Rectangle 6"/>
          <p:cNvSpPr>
            <a:spLocks noChangeArrowheads="1"/>
          </p:cNvSpPr>
          <p:nvPr/>
        </p:nvSpPr>
        <p:spPr bwMode="auto">
          <a:xfrm>
            <a:off x="447675" y="0"/>
            <a:ext cx="6712250"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回顾</a:t>
            </a:r>
            <a:r>
              <a:rPr lang="en-US" altLang="zh-CN" dirty="0">
                <a:solidFill>
                  <a:srgbClr val="F8F8F8"/>
                </a:solidFill>
                <a:effectLst>
                  <a:outerShdw blurRad="38100" dist="38100" dir="2700000" algn="tl">
                    <a:srgbClr val="000000"/>
                  </a:outerShdw>
                </a:effectLst>
                <a:latin typeface="楷体_GB2312" pitchFamily="49" charset="-122"/>
                <a:ea typeface="楷体_GB2312" pitchFamily="49" charset="-122"/>
              </a:rPr>
              <a:t>2  </a:t>
            </a: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系统的稳定性复频域判据</a:t>
            </a:r>
          </a:p>
        </p:txBody>
      </p:sp>
      <p:sp>
        <p:nvSpPr>
          <p:cNvPr id="6" name="日期占位符 5"/>
          <p:cNvSpPr>
            <a:spLocks noGrp="1"/>
          </p:cNvSpPr>
          <p:nvPr>
            <p:ph type="dt" sz="quarter" idx="10"/>
          </p:nvPr>
        </p:nvSpPr>
        <p:spPr/>
        <p:txBody>
          <a:bodyPr/>
          <a:lstStyle/>
          <a:p>
            <a:pPr>
              <a:defRPr/>
            </a:pPr>
            <a:fld id="{8D2D628F-EF74-4013-86C1-AD2FFE6EDC10}" type="datetime1">
              <a:rPr lang="zh-CN" altLang="en-US"/>
              <a:t>2026/4/28</a:t>
            </a:fld>
            <a:endParaRPr lang="zh-CN" altLang="en-US"/>
          </a:p>
        </p:txBody>
      </p:sp>
      <p:sp>
        <p:nvSpPr>
          <p:cNvPr id="4" name="墨迹 3"/>
          <p:cNvSpPr/>
          <p:nvPr/>
        </p:nvSpPr>
        <p:spPr bwMode="auto">
          <a:xfrm>
            <a:off x="4071600" y="847800"/>
            <a:ext cx="1891440" cy="537480"/>
          </a:xfrm>
        </p:spPr>
      </p:sp>
    </p:spTree>
  </p:cSld>
  <p:clrMapOvr>
    <a:masterClrMapping/>
  </p:clrMapOvr>
  <mc:AlternateContent xmlns:mc="http://schemas.openxmlformats.org/markup-compatibility/2006" xmlns:p14="http://schemas.microsoft.com/office/powerpoint/2010/main">
    <mc:Choice Requires="p14">
      <p:transition spd="slow" p14:dur="2000" advTm="80056"/>
    </mc:Choice>
    <mc:Fallback xmlns="">
      <p:transition spd="slow" advTm="800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566275"/>
                                        </p:tgtEl>
                                        <p:attrNameLst>
                                          <p:attrName>style.visibility</p:attrName>
                                        </p:attrNameLst>
                                      </p:cBhvr>
                                      <p:to>
                                        <p:strVal val="visible"/>
                                      </p:to>
                                    </p:set>
                                    <p:anim calcmode="lin" valueType="num">
                                      <p:cBhvr>
                                        <p:cTn id="11" dur="1000" fill="hold"/>
                                        <p:tgtEl>
                                          <p:spTgt spid="566275"/>
                                        </p:tgtEl>
                                        <p:attrNameLst>
                                          <p:attrName>ppt_w</p:attrName>
                                        </p:attrNameLst>
                                      </p:cBhvr>
                                      <p:tavLst>
                                        <p:tav tm="0">
                                          <p:val>
                                            <p:strVal val="#ppt_w*0.70"/>
                                          </p:val>
                                        </p:tav>
                                        <p:tav tm="100000">
                                          <p:val>
                                            <p:strVal val="#ppt_w"/>
                                          </p:val>
                                        </p:tav>
                                      </p:tavLst>
                                    </p:anim>
                                    <p:anim calcmode="lin" valueType="num">
                                      <p:cBhvr>
                                        <p:cTn id="12" dur="1000" fill="hold"/>
                                        <p:tgtEl>
                                          <p:spTgt spid="566275"/>
                                        </p:tgtEl>
                                        <p:attrNameLst>
                                          <p:attrName>ppt_h</p:attrName>
                                        </p:attrNameLst>
                                      </p:cBhvr>
                                      <p:tavLst>
                                        <p:tav tm="0">
                                          <p:val>
                                            <p:strVal val="#ppt_h"/>
                                          </p:val>
                                        </p:tav>
                                        <p:tav tm="100000">
                                          <p:val>
                                            <p:strVal val="#ppt_h"/>
                                          </p:val>
                                        </p:tav>
                                      </p:tavLst>
                                    </p:anim>
                                    <p:animEffect transition="in" filter="fade">
                                      <p:cBhvr>
                                        <p:cTn id="13" dur="1000"/>
                                        <p:tgtEl>
                                          <p:spTgt spid="566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5"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3" name="Rectangle 3"/>
          <p:cNvSpPr>
            <a:spLocks noChangeArrowheads="1"/>
          </p:cNvSpPr>
          <p:nvPr/>
        </p:nvSpPr>
        <p:spPr bwMode="auto">
          <a:xfrm>
            <a:off x="971550" y="1196975"/>
            <a:ext cx="7416800" cy="4077142"/>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5000"/>
              </a:spcBef>
              <a:buClr>
                <a:schemeClr val="accent2"/>
              </a:buClr>
              <a:buFont typeface="Wingdings" panose="05000000000000000000" pitchFamily="2" charset="2"/>
              <a:buNone/>
            </a:pPr>
            <a:r>
              <a:rPr kumimoji="1" lang="zh-CN" altLang="en-US" dirty="0">
                <a:solidFill>
                  <a:srgbClr val="FF0000"/>
                </a:solidFill>
                <a:latin typeface="华文中宋" panose="02010600040101010101" pitchFamily="2" charset="-122"/>
              </a:rPr>
              <a:t>         系统稳定的必要条件为特征方程的全部系数同号且无缺项。</a:t>
            </a:r>
          </a:p>
          <a:p>
            <a:pPr eaLnBrk="1" hangingPunct="1">
              <a:lnSpc>
                <a:spcPct val="140000"/>
              </a:lnSpc>
              <a:spcBef>
                <a:spcPct val="25000"/>
              </a:spcBef>
              <a:buClr>
                <a:schemeClr val="accent2"/>
              </a:buClr>
            </a:pPr>
            <a:r>
              <a:rPr kumimoji="1" lang="zh-CN" altLang="en-US" dirty="0">
                <a:latin typeface="华文中宋" panose="02010600040101010101" pitchFamily="2" charset="-122"/>
              </a:rPr>
              <a:t>        注意：这仅为</a:t>
            </a:r>
            <a:r>
              <a:rPr kumimoji="1" lang="zh-CN" altLang="en-US" dirty="0">
                <a:solidFill>
                  <a:srgbClr val="FF0000"/>
                </a:solidFill>
                <a:latin typeface="华文中宋" panose="02010600040101010101" pitchFamily="2" charset="-122"/>
              </a:rPr>
              <a:t>必要条件</a:t>
            </a:r>
            <a:r>
              <a:rPr kumimoji="1" lang="zh-CN" altLang="en-US" dirty="0">
                <a:latin typeface="华文中宋" panose="02010600040101010101" pitchFamily="2" charset="-122"/>
              </a:rPr>
              <a:t>：</a:t>
            </a:r>
            <a:endParaRPr kumimoji="1" lang="en-US" altLang="zh-CN" dirty="0">
              <a:latin typeface="华文中宋" panose="02010600040101010101" pitchFamily="2" charset="-122"/>
            </a:endParaRPr>
          </a:p>
          <a:p>
            <a:pPr marL="457200" indent="-457200" eaLnBrk="1" hangingPunct="1">
              <a:lnSpc>
                <a:spcPct val="140000"/>
              </a:lnSpc>
              <a:spcBef>
                <a:spcPct val="25000"/>
              </a:spcBef>
              <a:buClr>
                <a:schemeClr val="accent2"/>
              </a:buClr>
              <a:buFont typeface="Wingdings" panose="05000000000000000000" pitchFamily="2" charset="2"/>
              <a:buChar char="Ø"/>
            </a:pPr>
            <a:r>
              <a:rPr kumimoji="1" lang="zh-CN" altLang="en-US" dirty="0">
                <a:latin typeface="华文中宋" panose="02010600040101010101" pitchFamily="2" charset="-122"/>
              </a:rPr>
              <a:t>即不满足该条件必定不稳定，</a:t>
            </a:r>
            <a:endParaRPr kumimoji="1" lang="en-US" altLang="zh-CN" dirty="0">
              <a:latin typeface="华文中宋" panose="02010600040101010101" pitchFamily="2" charset="-122"/>
            </a:endParaRPr>
          </a:p>
          <a:p>
            <a:pPr marL="457200" indent="-457200" eaLnBrk="1" hangingPunct="1">
              <a:lnSpc>
                <a:spcPct val="140000"/>
              </a:lnSpc>
              <a:spcBef>
                <a:spcPct val="25000"/>
              </a:spcBef>
              <a:buClr>
                <a:schemeClr val="accent2"/>
              </a:buClr>
              <a:buFont typeface="Wingdings" panose="05000000000000000000" pitchFamily="2" charset="2"/>
              <a:buChar char="Ø"/>
            </a:pPr>
            <a:r>
              <a:rPr kumimoji="1" lang="zh-CN" altLang="en-US" dirty="0">
                <a:latin typeface="华文中宋" panose="02010600040101010101" pitchFamily="2" charset="-122"/>
              </a:rPr>
              <a:t>但若满足则不一定稳定。</a:t>
            </a:r>
            <a:endParaRPr lang="zh-CN" altLang="en-US" dirty="0"/>
          </a:p>
          <a:p>
            <a:pPr eaLnBrk="1" hangingPunct="1">
              <a:lnSpc>
                <a:spcPct val="140000"/>
              </a:lnSpc>
              <a:spcBef>
                <a:spcPct val="25000"/>
              </a:spcBef>
              <a:buClr>
                <a:schemeClr val="accent2"/>
              </a:buClr>
              <a:buFont typeface="Wingdings" panose="05000000000000000000" pitchFamily="2" charset="2"/>
              <a:buNone/>
            </a:pPr>
            <a:endParaRPr kumimoji="1" lang="zh-CN" altLang="en-US" dirty="0">
              <a:latin typeface="华文中宋" panose="02010600040101010101" pitchFamily="2" charset="-122"/>
            </a:endParaRPr>
          </a:p>
        </p:txBody>
      </p:sp>
      <p:sp>
        <p:nvSpPr>
          <p:cNvPr id="568326" name="Rectangle 6"/>
          <p:cNvSpPr>
            <a:spLocks noChangeArrowheads="1"/>
          </p:cNvSpPr>
          <p:nvPr/>
        </p:nvSpPr>
        <p:spPr bwMode="auto">
          <a:xfrm>
            <a:off x="661988" y="0"/>
            <a:ext cx="6577012"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回顾</a:t>
            </a:r>
            <a:r>
              <a:rPr lang="en-US" altLang="zh-CN" dirty="0">
                <a:solidFill>
                  <a:srgbClr val="F8F8F8"/>
                </a:solidFill>
                <a:effectLst>
                  <a:outerShdw blurRad="38100" dist="38100" dir="2700000" algn="tl">
                    <a:srgbClr val="000000"/>
                  </a:outerShdw>
                </a:effectLst>
                <a:latin typeface="楷体_GB2312" pitchFamily="49" charset="-122"/>
                <a:ea typeface="楷体_GB2312" pitchFamily="49" charset="-122"/>
              </a:rPr>
              <a:t>3      </a:t>
            </a: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系统的稳定性的代数判据</a:t>
            </a:r>
          </a:p>
        </p:txBody>
      </p:sp>
      <p:sp>
        <p:nvSpPr>
          <p:cNvPr id="568328" name="Rectangle 8"/>
          <p:cNvSpPr>
            <a:spLocks noChangeArrowheads="1"/>
          </p:cNvSpPr>
          <p:nvPr/>
        </p:nvSpPr>
        <p:spPr bwMode="auto">
          <a:xfrm>
            <a:off x="1104211" y="5202447"/>
            <a:ext cx="6684962"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5000"/>
              </a:spcBef>
              <a:buClr>
                <a:schemeClr val="accent2"/>
              </a:buClr>
              <a:buFont typeface="Wingdings" panose="05000000000000000000" pitchFamily="2" charset="2"/>
              <a:buNone/>
            </a:pPr>
            <a:r>
              <a:rPr kumimoji="1" lang="zh-CN" altLang="en-US" dirty="0">
                <a:latin typeface="Times New Roman" panose="02020603050405020304" pitchFamily="18" charset="0"/>
              </a:rPr>
              <a:t>这时要用到</a:t>
            </a:r>
            <a:r>
              <a:rPr kumimoji="1" lang="en-US" altLang="zh-CN" dirty="0">
                <a:solidFill>
                  <a:srgbClr val="FF0000"/>
                </a:solidFill>
                <a:latin typeface="Times New Roman" panose="02020603050405020304" pitchFamily="18" charset="0"/>
              </a:rPr>
              <a:t>Routh</a:t>
            </a:r>
            <a:r>
              <a:rPr kumimoji="1" lang="zh-CN" altLang="en-US" dirty="0">
                <a:solidFill>
                  <a:srgbClr val="FF0000"/>
                </a:solidFill>
                <a:latin typeface="Times New Roman" panose="02020603050405020304" pitchFamily="18" charset="0"/>
              </a:rPr>
              <a:t>－</a:t>
            </a:r>
            <a:r>
              <a:rPr kumimoji="1" lang="en-US" altLang="zh-CN" dirty="0">
                <a:solidFill>
                  <a:srgbClr val="FF0000"/>
                </a:solidFill>
                <a:latin typeface="Times New Roman" panose="02020603050405020304" pitchFamily="18" charset="0"/>
              </a:rPr>
              <a:t>Hurwitz</a:t>
            </a:r>
            <a:r>
              <a:rPr kumimoji="1" lang="zh-CN" altLang="en-US" dirty="0">
                <a:latin typeface="Times New Roman" panose="02020603050405020304" pitchFamily="18" charset="0"/>
              </a:rPr>
              <a:t>判据来判断。</a:t>
            </a:r>
          </a:p>
        </p:txBody>
      </p:sp>
      <p:sp>
        <p:nvSpPr>
          <p:cNvPr id="9" name="日期占位符 8"/>
          <p:cNvSpPr>
            <a:spLocks noGrp="1"/>
          </p:cNvSpPr>
          <p:nvPr>
            <p:ph type="dt" sz="quarter" idx="10"/>
          </p:nvPr>
        </p:nvSpPr>
        <p:spPr/>
        <p:txBody>
          <a:bodyPr/>
          <a:lstStyle/>
          <a:p>
            <a:pPr>
              <a:defRPr/>
            </a:pPr>
            <a:fld id="{F3082041-BC27-4C67-99FD-1F10F2CD1DC6}" type="datetime1">
              <a:rPr lang="zh-CN" altLang="en-US"/>
              <a:t>2026/4/28</a:t>
            </a:fld>
            <a:endParaRPr lang="zh-CN" altLang="en-US"/>
          </a:p>
        </p:txBody>
      </p:sp>
      <p:sp>
        <p:nvSpPr>
          <p:cNvPr id="7" name="墨迹 6"/>
          <p:cNvSpPr/>
          <p:nvPr/>
        </p:nvSpPr>
        <p:spPr bwMode="auto">
          <a:xfrm>
            <a:off x="1902600" y="364680"/>
            <a:ext cx="4413240" cy="278460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4065"/>
    </mc:Choice>
    <mc:Fallback xmlns="">
      <p:transition spd="slow" advTm="540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cmd type="call" cmd="playFrom(0.0)">
                                      <p:cBhvr>
                                        <p:cTn id="7" dur="1" fill="hold"/>
                                        <p:tgtEl>
                                          <p:spTgt spid="7"/>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568323"/>
                                        </p:tgtEl>
                                        <p:attrNameLst>
                                          <p:attrName>style.visibility</p:attrName>
                                        </p:attrNameLst>
                                      </p:cBhvr>
                                      <p:to>
                                        <p:strVal val="visible"/>
                                      </p:to>
                                    </p:set>
                                    <p:anim calcmode="lin" valueType="num">
                                      <p:cBhvr>
                                        <p:cTn id="12" dur="1000" fill="hold"/>
                                        <p:tgtEl>
                                          <p:spTgt spid="568323"/>
                                        </p:tgtEl>
                                        <p:attrNameLst>
                                          <p:attrName>ppt_w</p:attrName>
                                        </p:attrNameLst>
                                      </p:cBhvr>
                                      <p:tavLst>
                                        <p:tav tm="0">
                                          <p:val>
                                            <p:strVal val="#ppt_w*0.70"/>
                                          </p:val>
                                        </p:tav>
                                        <p:tav tm="100000">
                                          <p:val>
                                            <p:strVal val="#ppt_w"/>
                                          </p:val>
                                        </p:tav>
                                      </p:tavLst>
                                    </p:anim>
                                    <p:anim calcmode="lin" valueType="num">
                                      <p:cBhvr>
                                        <p:cTn id="13" dur="1000" fill="hold"/>
                                        <p:tgtEl>
                                          <p:spTgt spid="568323"/>
                                        </p:tgtEl>
                                        <p:attrNameLst>
                                          <p:attrName>ppt_h</p:attrName>
                                        </p:attrNameLst>
                                      </p:cBhvr>
                                      <p:tavLst>
                                        <p:tav tm="0">
                                          <p:val>
                                            <p:strVal val="#ppt_h"/>
                                          </p:val>
                                        </p:tav>
                                        <p:tav tm="100000">
                                          <p:val>
                                            <p:strVal val="#ppt_h"/>
                                          </p:val>
                                        </p:tav>
                                      </p:tavLst>
                                    </p:anim>
                                    <p:animEffect transition="in" filter="fade">
                                      <p:cBhvr>
                                        <p:cTn id="14" dur="1000"/>
                                        <p:tgtEl>
                                          <p:spTgt spid="568323"/>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568328"/>
                                        </p:tgtEl>
                                        <p:attrNameLst>
                                          <p:attrName>style.visibility</p:attrName>
                                        </p:attrNameLst>
                                      </p:cBhvr>
                                      <p:to>
                                        <p:strVal val="visible"/>
                                      </p:to>
                                    </p:set>
                                    <p:anim calcmode="lin" valueType="num">
                                      <p:cBhvr>
                                        <p:cTn id="19" dur="1000" fill="hold"/>
                                        <p:tgtEl>
                                          <p:spTgt spid="568328"/>
                                        </p:tgtEl>
                                        <p:attrNameLst>
                                          <p:attrName>ppt_w</p:attrName>
                                        </p:attrNameLst>
                                      </p:cBhvr>
                                      <p:tavLst>
                                        <p:tav tm="0">
                                          <p:val>
                                            <p:strVal val="#ppt_w*0.70"/>
                                          </p:val>
                                        </p:tav>
                                        <p:tav tm="100000">
                                          <p:val>
                                            <p:strVal val="#ppt_w"/>
                                          </p:val>
                                        </p:tav>
                                      </p:tavLst>
                                    </p:anim>
                                    <p:anim calcmode="lin" valueType="num">
                                      <p:cBhvr>
                                        <p:cTn id="20" dur="1000" fill="hold"/>
                                        <p:tgtEl>
                                          <p:spTgt spid="568328"/>
                                        </p:tgtEl>
                                        <p:attrNameLst>
                                          <p:attrName>ppt_h</p:attrName>
                                        </p:attrNameLst>
                                      </p:cBhvr>
                                      <p:tavLst>
                                        <p:tav tm="0">
                                          <p:val>
                                            <p:strVal val="#ppt_h"/>
                                          </p:val>
                                        </p:tav>
                                        <p:tav tm="100000">
                                          <p:val>
                                            <p:strVal val="#ppt_h"/>
                                          </p:val>
                                        </p:tav>
                                      </p:tavLst>
                                    </p:anim>
                                    <p:animEffect transition="in" filter="fade">
                                      <p:cBhvr>
                                        <p:cTn id="21" dur="1000"/>
                                        <p:tgtEl>
                                          <p:spTgt spid="568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3" grpId="0" animBg="1"/>
      <p:bldP spid="56832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ChangeArrowheads="1"/>
          </p:cNvSpPr>
          <p:nvPr/>
        </p:nvSpPr>
        <p:spPr bwMode="auto">
          <a:xfrm>
            <a:off x="755650" y="1773238"/>
            <a:ext cx="5903913" cy="181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chemeClr val="accent2"/>
              </a:buClr>
              <a:buFont typeface="Wingdings" panose="05000000000000000000" pitchFamily="2" charset="2"/>
              <a:buNone/>
            </a:pPr>
            <a:r>
              <a:rPr kumimoji="1" lang="en-US" altLang="zh-CN">
                <a:solidFill>
                  <a:srgbClr val="9900FF"/>
                </a:solidFill>
                <a:latin typeface="华文中宋" panose="02010600040101010101" pitchFamily="2" charset="-122"/>
              </a:rPr>
              <a:t>    Routh-Hurwitz</a:t>
            </a:r>
            <a:r>
              <a:rPr kumimoji="1" lang="zh-CN" altLang="en-US">
                <a:solidFill>
                  <a:srgbClr val="9900FF"/>
                </a:solidFill>
                <a:latin typeface="华文中宋" panose="02010600040101010101" pitchFamily="2" charset="-122"/>
              </a:rPr>
              <a:t>定理为：</a:t>
            </a:r>
            <a:r>
              <a:rPr kumimoji="1" lang="zh-CN" altLang="en-US">
                <a:latin typeface="华文中宋" panose="02010600040101010101" pitchFamily="2" charset="-122"/>
              </a:rPr>
              <a:t>数列从头到尾改变的次数等于原特征方程的实部为正的根的个数。即：</a:t>
            </a:r>
            <a:r>
              <a:rPr kumimoji="1" lang="zh-CN" altLang="en-US"/>
              <a:t>        </a:t>
            </a:r>
          </a:p>
        </p:txBody>
      </p:sp>
      <p:sp>
        <p:nvSpPr>
          <p:cNvPr id="87043" name="Rectangle 4"/>
          <p:cNvSpPr>
            <a:spLocks noChangeArrowheads="1"/>
          </p:cNvSpPr>
          <p:nvPr/>
        </p:nvSpPr>
        <p:spPr bwMode="auto">
          <a:xfrm>
            <a:off x="3200400" y="4241800"/>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87044" name="Rectangle 5"/>
          <p:cNvSpPr>
            <a:spLocks noChangeArrowheads="1"/>
          </p:cNvSpPr>
          <p:nvPr/>
        </p:nvSpPr>
        <p:spPr bwMode="auto">
          <a:xfrm>
            <a:off x="2976563" y="2944813"/>
            <a:ext cx="971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87045" name="Rectangle 6"/>
          <p:cNvSpPr>
            <a:spLocks noChangeArrowheads="1"/>
          </p:cNvSpPr>
          <p:nvPr/>
        </p:nvSpPr>
        <p:spPr bwMode="auto">
          <a:xfrm>
            <a:off x="2976563" y="3576638"/>
            <a:ext cx="29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sp>
        <p:nvSpPr>
          <p:cNvPr id="574471" name="Rectangle 7"/>
          <p:cNvSpPr>
            <a:spLocks noChangeArrowheads="1"/>
          </p:cNvSpPr>
          <p:nvPr/>
        </p:nvSpPr>
        <p:spPr bwMode="auto">
          <a:xfrm>
            <a:off x="971550" y="3789363"/>
            <a:ext cx="6553200"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40000"/>
              </a:lnSpc>
              <a:spcBef>
                <a:spcPct val="20000"/>
              </a:spcBef>
              <a:buClr>
                <a:schemeClr val="accent2"/>
              </a:buClr>
              <a:buFont typeface="Wingdings" panose="05000000000000000000" pitchFamily="2" charset="2"/>
              <a:buNone/>
            </a:pPr>
            <a:r>
              <a:rPr kumimoji="1" lang="en-US" altLang="zh-CN" dirty="0">
                <a:solidFill>
                  <a:srgbClr val="FF0000"/>
                </a:solidFill>
              </a:rPr>
              <a:t>   </a:t>
            </a:r>
            <a:r>
              <a:rPr kumimoji="1" lang="en-US" altLang="zh-CN" dirty="0"/>
              <a:t>Routh-Hurwitz</a:t>
            </a:r>
            <a:r>
              <a:rPr kumimoji="1" lang="zh-CN" altLang="en-US" dirty="0"/>
              <a:t>数列从头到尾若无符号变化，则该系统稳定的；否则，系统是不稳定的。</a:t>
            </a:r>
            <a:r>
              <a:rPr kumimoji="1" lang="en-US" altLang="zh-CN" dirty="0">
                <a:solidFill>
                  <a:srgbClr val="9900FF"/>
                </a:solidFill>
              </a:rPr>
              <a:t>--</a:t>
            </a:r>
            <a:r>
              <a:rPr kumimoji="1" lang="zh-CN" altLang="en-US" dirty="0">
                <a:solidFill>
                  <a:srgbClr val="9900FF"/>
                </a:solidFill>
              </a:rPr>
              <a:t>罗斯</a:t>
            </a:r>
            <a:r>
              <a:rPr kumimoji="1" lang="en-US" altLang="zh-CN" dirty="0">
                <a:solidFill>
                  <a:srgbClr val="9900FF"/>
                </a:solidFill>
              </a:rPr>
              <a:t>-</a:t>
            </a:r>
            <a:r>
              <a:rPr kumimoji="1" lang="zh-CN" altLang="en-US" dirty="0">
                <a:solidFill>
                  <a:srgbClr val="9900FF"/>
                </a:solidFill>
              </a:rPr>
              <a:t>霍维茨判据 </a:t>
            </a:r>
          </a:p>
        </p:txBody>
      </p:sp>
      <p:sp>
        <p:nvSpPr>
          <p:cNvPr id="574472" name="Rectangle 8"/>
          <p:cNvSpPr>
            <a:spLocks noChangeArrowheads="1"/>
          </p:cNvSpPr>
          <p:nvPr/>
        </p:nvSpPr>
        <p:spPr bwMode="auto">
          <a:xfrm>
            <a:off x="827088" y="260350"/>
            <a:ext cx="5329872" cy="620713"/>
          </a:xfrm>
          <a:prstGeom prst="rect">
            <a:avLst/>
          </a:prstGeom>
          <a:solidFill>
            <a:schemeClr val="accent2"/>
          </a:solidFill>
          <a:ln w="9525">
            <a:noFill/>
            <a:miter lim="800000"/>
          </a:ln>
          <a:effectLst>
            <a:outerShdw dist="35921" dir="2700000" algn="ctr" rotWithShape="0">
              <a:schemeClr val="bg2"/>
            </a:outerShdw>
          </a:effectLst>
        </p:spPr>
        <p:txBody>
          <a:bodyPr anchor="ctr"/>
          <a:lstStyle/>
          <a:p>
            <a:pPr eaLnBrk="1" hangingPunct="1">
              <a:lnSpc>
                <a:spcPct val="85000"/>
              </a:lnSpc>
              <a:spcBef>
                <a:spcPct val="20000"/>
              </a:spcBef>
              <a:buClr>
                <a:schemeClr val="accent2"/>
              </a:buClr>
              <a:buFont typeface="Wingdings" panose="05000000000000000000" pitchFamily="2" charset="2"/>
              <a:buNone/>
              <a:defRPr/>
            </a:pP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回顾</a:t>
            </a:r>
            <a:r>
              <a:rPr lang="en-US" altLang="zh-CN" dirty="0">
                <a:solidFill>
                  <a:srgbClr val="F8F8F8"/>
                </a:solidFill>
                <a:effectLst>
                  <a:outerShdw blurRad="38100" dist="38100" dir="2700000" algn="tl">
                    <a:srgbClr val="000000"/>
                  </a:outerShdw>
                </a:effectLst>
                <a:latin typeface="楷体_GB2312" pitchFamily="49" charset="-122"/>
                <a:ea typeface="楷体_GB2312" pitchFamily="49" charset="-122"/>
              </a:rPr>
              <a:t>4   </a:t>
            </a:r>
            <a:r>
              <a:rPr lang="zh-CN" altLang="en-US" dirty="0">
                <a:solidFill>
                  <a:srgbClr val="F8F8F8"/>
                </a:solidFill>
                <a:effectLst>
                  <a:outerShdw blurRad="38100" dist="38100" dir="2700000" algn="tl">
                    <a:srgbClr val="000000"/>
                  </a:outerShdw>
                </a:effectLst>
                <a:latin typeface="楷体_GB2312" pitchFamily="49" charset="-122"/>
                <a:ea typeface="楷体_GB2312" pitchFamily="49" charset="-122"/>
              </a:rPr>
              <a:t>系统的稳定的代数判据</a:t>
            </a:r>
          </a:p>
        </p:txBody>
      </p:sp>
      <p:grpSp>
        <p:nvGrpSpPr>
          <p:cNvPr id="87048" name="Group 15"/>
          <p:cNvGrpSpPr/>
          <p:nvPr/>
        </p:nvGrpSpPr>
        <p:grpSpPr bwMode="auto">
          <a:xfrm>
            <a:off x="7308850" y="404813"/>
            <a:ext cx="1317625" cy="2735262"/>
            <a:chOff x="3470" y="1525"/>
            <a:chExt cx="830" cy="1723"/>
          </a:xfrm>
        </p:grpSpPr>
        <p:graphicFrame>
          <p:nvGraphicFramePr>
            <p:cNvPr id="87050" name="Object 2"/>
            <p:cNvGraphicFramePr>
              <a:graphicFrameLocks noChangeAspect="1"/>
            </p:cNvGraphicFramePr>
            <p:nvPr/>
          </p:nvGraphicFramePr>
          <p:xfrm>
            <a:off x="3470" y="1525"/>
            <a:ext cx="346" cy="1723"/>
          </p:xfrm>
          <a:graphic>
            <a:graphicData uri="http://schemas.openxmlformats.org/presentationml/2006/ole">
              <mc:AlternateContent xmlns:mc="http://schemas.openxmlformats.org/markup-compatibility/2006">
                <mc:Choice xmlns:v="urn:schemas-microsoft-com:vml" Requires="v">
                  <p:oleObj name="公式" r:id="rId3" imgW="330200" imgH="1651000" progId="Equation.3">
                    <p:embed/>
                  </p:oleObj>
                </mc:Choice>
                <mc:Fallback>
                  <p:oleObj name="公式" r:id="rId3" imgW="330200" imgH="1651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0" y="1525"/>
                          <a:ext cx="346" cy="17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51" name="Object 3"/>
            <p:cNvGraphicFramePr>
              <a:graphicFrameLocks noChangeAspect="1"/>
            </p:cNvGraphicFramePr>
            <p:nvPr/>
          </p:nvGraphicFramePr>
          <p:xfrm>
            <a:off x="3980" y="1565"/>
            <a:ext cx="320" cy="1643"/>
          </p:xfrm>
          <a:graphic>
            <a:graphicData uri="http://schemas.openxmlformats.org/presentationml/2006/ole">
              <mc:AlternateContent xmlns:mc="http://schemas.openxmlformats.org/markup-compatibility/2006">
                <mc:Choice xmlns:v="urn:schemas-microsoft-com:vml" Requires="v">
                  <p:oleObj name="公式" r:id="rId5" imgW="304800" imgH="1574800" progId="Equation.3">
                    <p:embed/>
                  </p:oleObj>
                </mc:Choice>
                <mc:Fallback>
                  <p:oleObj name="公式" r:id="rId5" imgW="304800" imgH="1574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0" y="1565"/>
                          <a:ext cx="320" cy="16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 name="日期占位符 10"/>
          <p:cNvSpPr>
            <a:spLocks noGrp="1"/>
          </p:cNvSpPr>
          <p:nvPr>
            <p:ph type="dt" sz="quarter" idx="10"/>
          </p:nvPr>
        </p:nvSpPr>
        <p:spPr/>
        <p:txBody>
          <a:bodyPr/>
          <a:lstStyle/>
          <a:p>
            <a:pPr>
              <a:defRPr/>
            </a:pPr>
            <a:fld id="{F918E716-E3C6-4397-9DE2-09B43279D8C6}" type="datetime1">
              <a:rPr lang="zh-CN" altLang="en-US"/>
              <a:t>2026/4/28</a:t>
            </a:fld>
            <a:endParaRPr lang="zh-CN" altLang="en-US"/>
          </a:p>
        </p:txBody>
      </p:sp>
      <p:sp>
        <p:nvSpPr>
          <p:cNvPr id="2" name="墨迹 1"/>
          <p:cNvSpPr/>
          <p:nvPr/>
        </p:nvSpPr>
        <p:spPr bwMode="auto">
          <a:xfrm>
            <a:off x="1982160" y="525960"/>
            <a:ext cx="5451120" cy="4511160"/>
          </a:xfrm>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0597"/>
    </mc:Choice>
    <mc:Fallback xmlns="">
      <p:transition spd="slow" advTm="1205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1" nodeType="clickEffect">
                                  <p:stCondLst>
                                    <p:cond delay="0"/>
                                  </p:stCondLst>
                                  <p:iterate type="lt">
                                    <p:tmPct val="0"/>
                                  </p:iterate>
                                  <p:childTnLst>
                                    <p:set>
                                      <p:cBhvr>
                                        <p:cTn id="11" dur="1" fill="hold">
                                          <p:stCondLst>
                                            <p:cond delay="0"/>
                                          </p:stCondLst>
                                        </p:cTn>
                                        <p:tgtEl>
                                          <p:spTgt spid="574471"/>
                                        </p:tgtEl>
                                        <p:attrNameLst>
                                          <p:attrName>style.visibility</p:attrName>
                                        </p:attrNameLst>
                                      </p:cBhvr>
                                      <p:to>
                                        <p:strVal val="visible"/>
                                      </p:to>
                                    </p:set>
                                    <p:anim calcmode="lin" valueType="num">
                                      <p:cBhvr additive="base">
                                        <p:cTn id="12" dur="500" fill="hold"/>
                                        <p:tgtEl>
                                          <p:spTgt spid="574471"/>
                                        </p:tgtEl>
                                        <p:attrNameLst>
                                          <p:attrName>ppt_x</p:attrName>
                                        </p:attrNameLst>
                                      </p:cBhvr>
                                      <p:tavLst>
                                        <p:tav tm="0">
                                          <p:val>
                                            <p:strVal val="#ppt_x"/>
                                          </p:val>
                                        </p:tav>
                                        <p:tav tm="100000">
                                          <p:val>
                                            <p:strVal val="#ppt_x"/>
                                          </p:val>
                                        </p:tav>
                                      </p:tavLst>
                                    </p:anim>
                                    <p:anim calcmode="lin" valueType="num">
                                      <p:cBhvr additive="base">
                                        <p:cTn id="13" dur="500" fill="hold"/>
                                        <p:tgtEl>
                                          <p:spTgt spid="574471"/>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0" presetClass="emph" presetSubtype="0" fill="hold" grpId="0" nodeType="afterEffect">
                                  <p:stCondLst>
                                    <p:cond delay="0"/>
                                  </p:stCondLst>
                                  <p:iterate type="lt">
                                    <p:tmPct val="10000"/>
                                  </p:iterate>
                                  <p:childTnLst>
                                    <p:set>
                                      <p:cBhvr override="childStyle">
                                        <p:cTn id="16" dur="250" autoRev="1" fill="hold"/>
                                        <p:tgtEl>
                                          <p:spTgt spid="574471"/>
                                        </p:tgtEl>
                                        <p:attrNameLst>
                                          <p:attrName>style.color</p:attrName>
                                        </p:attrNameLst>
                                      </p:cBhvr>
                                      <p:to>
                                        <p:clrVal>
                                          <a:srgbClr val="FF0000"/>
                                        </p:clrVal>
                                      </p:to>
                                    </p:set>
                                    <p:set>
                                      <p:cBhvr>
                                        <p:cTn id="17" dur="250" autoRev="1" fill="hold"/>
                                        <p:tgtEl>
                                          <p:spTgt spid="574471"/>
                                        </p:tgtEl>
                                        <p:attrNameLst>
                                          <p:attrName>fillcolor</p:attrName>
                                        </p:attrNameLst>
                                      </p:cBhvr>
                                      <p:to>
                                        <p:clrVal>
                                          <a:srgbClr val="FF0000"/>
                                        </p:clrVal>
                                      </p:to>
                                    </p:set>
                                    <p:set>
                                      <p:cBhvr>
                                        <p:cTn id="18" dur="250" autoRev="1" fill="hold"/>
                                        <p:tgtEl>
                                          <p:spTgt spid="57447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71" grpId="0"/>
      <p:bldP spid="574471" grpId="1"/>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2"/>
          <p:cNvSpPr>
            <a:spLocks noGrp="1" noChangeArrowheads="1"/>
          </p:cNvSpPr>
          <p:nvPr>
            <p:ph type="title" idx="4294967295"/>
          </p:nvPr>
        </p:nvSpPr>
        <p:spPr>
          <a:xfrm>
            <a:off x="1331913" y="255588"/>
            <a:ext cx="1439862" cy="612775"/>
          </a:xfrm>
          <a:noFill/>
        </p:spPr>
        <p:txBody>
          <a:bodyPr/>
          <a:lstStyle/>
          <a:p>
            <a:r>
              <a:rPr lang="zh-CN" altLang="en-US" sz="3600" dirty="0">
                <a:solidFill>
                  <a:srgbClr val="FF0000"/>
                </a:solidFill>
                <a:ea typeface="华文行楷" panose="02010800040101010101" pitchFamily="2" charset="-122"/>
              </a:rPr>
              <a:t>总结</a:t>
            </a:r>
            <a:endParaRPr lang="zh-CN" altLang="en-US" sz="3600" dirty="0">
              <a:solidFill>
                <a:srgbClr val="990000"/>
              </a:solidFill>
              <a:ea typeface="华文行楷" panose="02010800040101010101" pitchFamily="2" charset="-122"/>
            </a:endParaRPr>
          </a:p>
        </p:txBody>
      </p:sp>
      <p:sp>
        <p:nvSpPr>
          <p:cNvPr id="96259" name="Text Box 3"/>
          <p:cNvSpPr txBox="1">
            <a:spLocks noChangeArrowheads="1"/>
          </p:cNvSpPr>
          <p:nvPr/>
        </p:nvSpPr>
        <p:spPr bwMode="auto">
          <a:xfrm>
            <a:off x="1116013" y="1628775"/>
            <a:ext cx="5184775" cy="4587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latin typeface="华文行楷" panose="02010800040101010101" pitchFamily="2" charset="-122"/>
                <a:ea typeface="华文行楷" panose="02010800040101010101" pitchFamily="2" charset="-122"/>
              </a:rPr>
              <a:t>系统函数的三种图形表示方法</a:t>
            </a:r>
          </a:p>
        </p:txBody>
      </p:sp>
      <p:sp>
        <p:nvSpPr>
          <p:cNvPr id="617476" name="Text Box 4"/>
          <p:cNvSpPr txBox="1">
            <a:spLocks noChangeArrowheads="1"/>
          </p:cNvSpPr>
          <p:nvPr/>
        </p:nvSpPr>
        <p:spPr bwMode="auto">
          <a:xfrm>
            <a:off x="1577975" y="2303463"/>
            <a:ext cx="6891338" cy="161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Char char="Ø"/>
            </a:pPr>
            <a:r>
              <a:rPr kumimoji="1" lang="zh-CN" altLang="en-US">
                <a:solidFill>
                  <a:srgbClr val="800000"/>
                </a:solidFill>
                <a:latin typeface="Tahoma" panose="020B0604030504040204" pitchFamily="34" charset="0"/>
                <a:ea typeface="宋体" panose="02010600030101010101" pitchFamily="2" charset="-122"/>
              </a:rPr>
              <a:t>频率特性曲线</a:t>
            </a:r>
            <a:endParaRPr kumimoji="1" lang="en-US" altLang="zh-CN">
              <a:solidFill>
                <a:srgbClr val="800000"/>
              </a:solidFill>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Char char="Ø"/>
            </a:pPr>
            <a:r>
              <a:rPr kumimoji="1" lang="zh-CN" altLang="en-US">
                <a:solidFill>
                  <a:srgbClr val="800000"/>
                </a:solidFill>
                <a:latin typeface="Tahoma" panose="020B0604030504040204" pitchFamily="34" charset="0"/>
                <a:ea typeface="宋体" panose="02010600030101010101" pitchFamily="2" charset="-122"/>
              </a:rPr>
              <a:t>复轨迹</a:t>
            </a:r>
            <a:endParaRPr kumimoji="1" lang="en-US" altLang="zh-CN">
              <a:solidFill>
                <a:srgbClr val="800000"/>
              </a:solidFill>
              <a:latin typeface="Tahoma" panose="020B0604030504040204" pitchFamily="34" charset="0"/>
              <a:ea typeface="宋体" panose="02010600030101010101" pitchFamily="2" charset="-122"/>
            </a:endParaRPr>
          </a:p>
          <a:p>
            <a:pPr eaLnBrk="1" hangingPunct="1">
              <a:lnSpc>
                <a:spcPct val="85000"/>
              </a:lnSpc>
              <a:spcBef>
                <a:spcPct val="50000"/>
              </a:spcBef>
              <a:buClr>
                <a:schemeClr val="accent2"/>
              </a:buClr>
              <a:buFont typeface="Wingdings" panose="05000000000000000000" pitchFamily="2" charset="2"/>
              <a:buChar char="Ø"/>
            </a:pPr>
            <a:r>
              <a:rPr kumimoji="1" lang="zh-CN" altLang="en-US">
                <a:solidFill>
                  <a:srgbClr val="800000"/>
                </a:solidFill>
                <a:latin typeface="Tahoma" panose="020B0604030504040204" pitchFamily="34" charset="0"/>
                <a:ea typeface="宋体" panose="02010600030101010101" pitchFamily="2" charset="-122"/>
              </a:rPr>
              <a:t>极点、零点  分布图</a:t>
            </a:r>
          </a:p>
        </p:txBody>
      </p:sp>
      <p:sp>
        <p:nvSpPr>
          <p:cNvPr id="617477" name="Text Box 5"/>
          <p:cNvSpPr txBox="1">
            <a:spLocks noChangeArrowheads="1"/>
          </p:cNvSpPr>
          <p:nvPr/>
        </p:nvSpPr>
        <p:spPr bwMode="auto">
          <a:xfrm>
            <a:off x="1187450" y="4379913"/>
            <a:ext cx="7345363" cy="474662"/>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latin typeface="华文行楷" panose="02010800040101010101" pitchFamily="2" charset="-122"/>
                <a:ea typeface="华文行楷" panose="02010800040101010101" pitchFamily="2" charset="-122"/>
              </a:rPr>
              <a:t>系统函数极点零点分布与系统时域特性的关系</a:t>
            </a:r>
          </a:p>
        </p:txBody>
      </p:sp>
      <p:sp>
        <p:nvSpPr>
          <p:cNvPr id="6" name="日期占位符 5"/>
          <p:cNvSpPr>
            <a:spLocks noGrp="1"/>
          </p:cNvSpPr>
          <p:nvPr>
            <p:ph type="dt" sz="quarter" idx="10"/>
          </p:nvPr>
        </p:nvSpPr>
        <p:spPr/>
        <p:txBody>
          <a:bodyPr/>
          <a:lstStyle/>
          <a:p>
            <a:pPr>
              <a:defRPr/>
            </a:pPr>
            <a:fld id="{69695DF7-B0A0-4EAE-B7FE-C7DED81E6D0F}" type="datetime1">
              <a:rPr lang="zh-CN" altLang="en-US"/>
              <a:t>2026/4/28</a:t>
            </a:fld>
            <a:endParaRPr lang="en-US" altLang="zh-CN" dirty="0"/>
          </a:p>
        </p:txBody>
      </p:sp>
    </p:spTree>
    <p:custDataLst>
      <p:tags r:id="rId1"/>
    </p:custDataLst>
  </p:cSld>
  <p:clrMapOvr>
    <a:masterClrMapping/>
  </p:clrMapOvr>
  <p:transition spd="med" advTm="1235">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17476">
                                            <p:txEl>
                                              <p:pRg st="0" end="0"/>
                                            </p:txEl>
                                          </p:spTgt>
                                        </p:tgtEl>
                                        <p:attrNameLst>
                                          <p:attrName>style.visibility</p:attrName>
                                        </p:attrNameLst>
                                      </p:cBhvr>
                                      <p:to>
                                        <p:strVal val="visible"/>
                                      </p:to>
                                    </p:set>
                                    <p:anim calcmode="lin" valueType="num">
                                      <p:cBhvr>
                                        <p:cTn id="7" dur="1000" fill="hold"/>
                                        <p:tgtEl>
                                          <p:spTgt spid="617476">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617476">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61747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617476">
                                            <p:txEl>
                                              <p:pRg st="1" end="1"/>
                                            </p:txEl>
                                          </p:spTgt>
                                        </p:tgtEl>
                                        <p:attrNameLst>
                                          <p:attrName>style.visibility</p:attrName>
                                        </p:attrNameLst>
                                      </p:cBhvr>
                                      <p:to>
                                        <p:strVal val="visible"/>
                                      </p:to>
                                    </p:set>
                                    <p:anim calcmode="lin" valueType="num">
                                      <p:cBhvr>
                                        <p:cTn id="14" dur="1000" fill="hold"/>
                                        <p:tgtEl>
                                          <p:spTgt spid="617476">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617476">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61747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617476">
                                            <p:txEl>
                                              <p:pRg st="2" end="2"/>
                                            </p:txEl>
                                          </p:spTgt>
                                        </p:tgtEl>
                                        <p:attrNameLst>
                                          <p:attrName>style.visibility</p:attrName>
                                        </p:attrNameLst>
                                      </p:cBhvr>
                                      <p:to>
                                        <p:strVal val="visible"/>
                                      </p:to>
                                    </p:set>
                                    <p:anim calcmode="lin" valueType="num">
                                      <p:cBhvr>
                                        <p:cTn id="21" dur="1000" fill="hold"/>
                                        <p:tgtEl>
                                          <p:spTgt spid="617476">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617476">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61747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617477"/>
                                        </p:tgtEl>
                                        <p:attrNameLst>
                                          <p:attrName>style.visibility</p:attrName>
                                        </p:attrNameLst>
                                      </p:cBhvr>
                                      <p:to>
                                        <p:strVal val="visible"/>
                                      </p:to>
                                    </p:set>
                                    <p:anim calcmode="lin" valueType="num">
                                      <p:cBhvr>
                                        <p:cTn id="28" dur="1000" fill="hold"/>
                                        <p:tgtEl>
                                          <p:spTgt spid="617477"/>
                                        </p:tgtEl>
                                        <p:attrNameLst>
                                          <p:attrName>ppt_w</p:attrName>
                                        </p:attrNameLst>
                                      </p:cBhvr>
                                      <p:tavLst>
                                        <p:tav tm="0">
                                          <p:val>
                                            <p:strVal val="#ppt_w*0.70"/>
                                          </p:val>
                                        </p:tav>
                                        <p:tav tm="100000">
                                          <p:val>
                                            <p:strVal val="#ppt_w"/>
                                          </p:val>
                                        </p:tav>
                                      </p:tavLst>
                                    </p:anim>
                                    <p:anim calcmode="lin" valueType="num">
                                      <p:cBhvr>
                                        <p:cTn id="29" dur="1000" fill="hold"/>
                                        <p:tgtEl>
                                          <p:spTgt spid="617477"/>
                                        </p:tgtEl>
                                        <p:attrNameLst>
                                          <p:attrName>ppt_h</p:attrName>
                                        </p:attrNameLst>
                                      </p:cBhvr>
                                      <p:tavLst>
                                        <p:tav tm="0">
                                          <p:val>
                                            <p:strVal val="#ppt_h"/>
                                          </p:val>
                                        </p:tav>
                                        <p:tav tm="100000">
                                          <p:val>
                                            <p:strVal val="#ppt_h"/>
                                          </p:val>
                                        </p:tav>
                                      </p:tavLst>
                                    </p:anim>
                                    <p:animEffect transition="in" filter="fade">
                                      <p:cBhvr>
                                        <p:cTn id="30" dur="1000"/>
                                        <p:tgtEl>
                                          <p:spTgt spid="617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476" grpId="0" build="allAtOnce"/>
      <p:bldP spid="617477" grpId="0" animBg="1"/>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 name="日期占位符 26"/>
          <p:cNvSpPr>
            <a:spLocks noGrp="1"/>
          </p:cNvSpPr>
          <p:nvPr>
            <p:ph type="dt" sz="quarter" idx="10"/>
          </p:nvPr>
        </p:nvSpPr>
        <p:spPr>
          <a:xfrm>
            <a:off x="-20638" y="6541293"/>
            <a:ext cx="1630363" cy="369887"/>
          </a:xfrm>
        </p:spPr>
        <p:txBody>
          <a:bodyPr/>
          <a:lstStyle/>
          <a:p>
            <a:pPr>
              <a:defRPr/>
            </a:pPr>
            <a:fld id="{058FFFA2-10C5-46DC-B895-4913A8DC984C}" type="datetime1">
              <a:rPr lang="zh-CN" altLang="en-US"/>
              <a:t>2026/4/28</a:t>
            </a:fld>
            <a:endParaRPr lang="en-US" altLang="zh-CN" dirty="0"/>
          </a:p>
        </p:txBody>
      </p:sp>
      <p:sp>
        <p:nvSpPr>
          <p:cNvPr id="97283" name="Rectangle 2"/>
          <p:cNvSpPr>
            <a:spLocks noGrp="1" noChangeArrowheads="1"/>
          </p:cNvSpPr>
          <p:nvPr>
            <p:ph type="title" idx="4294967295"/>
          </p:nvPr>
        </p:nvSpPr>
        <p:spPr>
          <a:xfrm>
            <a:off x="468313" y="115888"/>
            <a:ext cx="8611892" cy="457200"/>
          </a:xfrm>
        </p:spPr>
        <p:txBody>
          <a:bodyPr/>
          <a:lstStyle/>
          <a:p>
            <a:r>
              <a:rPr lang="zh-CN" altLang="en-US" sz="3600" dirty="0">
                <a:solidFill>
                  <a:srgbClr val="FF0000"/>
                </a:solidFill>
                <a:ea typeface="华文行楷" panose="02010800040101010101" pitchFamily="2" charset="-122"/>
              </a:rPr>
              <a:t>总结 </a:t>
            </a:r>
            <a:r>
              <a:rPr lang="zh-CN" altLang="en-US" sz="2400" b="1" dirty="0">
                <a:solidFill>
                  <a:srgbClr val="0000FF"/>
                </a:solidFill>
                <a:latin typeface="Times New Roman" panose="02020603050405020304" pitchFamily="18" charset="0"/>
              </a:rPr>
              <a:t> 零点与极点分布与系统的时域特性</a:t>
            </a:r>
            <a:r>
              <a:rPr lang="en-US" altLang="zh-CN" sz="2400" b="1" dirty="0">
                <a:solidFill>
                  <a:srgbClr val="0000FF"/>
                </a:solidFill>
                <a:latin typeface="Times New Roman" panose="02020603050405020304" pitchFamily="18" charset="0"/>
              </a:rPr>
              <a:t>(</a:t>
            </a:r>
            <a:r>
              <a:rPr lang="zh-CN" altLang="en-US" sz="2400" b="1" dirty="0">
                <a:solidFill>
                  <a:srgbClr val="FF0000"/>
                </a:solidFill>
                <a:latin typeface="Times New Roman" panose="02020603050405020304" pitchFamily="18" charset="0"/>
              </a:rPr>
              <a:t>对应的冲激响应</a:t>
            </a:r>
            <a:r>
              <a:rPr lang="en-US" altLang="zh-CN" sz="2400" b="1" dirty="0">
                <a:solidFill>
                  <a:srgbClr val="0000FF"/>
                </a:solidFill>
                <a:latin typeface="Times New Roman" panose="02020603050405020304" pitchFamily="18" charset="0"/>
              </a:rPr>
              <a:t>)</a:t>
            </a:r>
          </a:p>
        </p:txBody>
      </p:sp>
      <p:sp>
        <p:nvSpPr>
          <p:cNvPr id="97284" name="Text Box 3"/>
          <p:cNvSpPr txBox="1">
            <a:spLocks noChangeArrowheads="1"/>
          </p:cNvSpPr>
          <p:nvPr/>
        </p:nvSpPr>
        <p:spPr bwMode="auto">
          <a:xfrm>
            <a:off x="385763" y="692150"/>
            <a:ext cx="3286125" cy="455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008000"/>
                </a:solidFill>
                <a:latin typeface="Tahoma" panose="020B0604030504040204" pitchFamily="34" charset="0"/>
                <a:ea typeface="宋体" panose="02010600030101010101" pitchFamily="2" charset="-122"/>
              </a:rPr>
              <a:t>极点 在</a:t>
            </a:r>
            <a:r>
              <a:rPr kumimoji="1" lang="en-US" altLang="zh-CN">
                <a:solidFill>
                  <a:srgbClr val="008000"/>
                </a:solidFill>
                <a:latin typeface="Tahoma" panose="020B0604030504040204" pitchFamily="34" charset="0"/>
                <a:ea typeface="宋体" panose="02010600030101010101" pitchFamily="2" charset="-122"/>
              </a:rPr>
              <a:t>s</a:t>
            </a:r>
            <a:r>
              <a:rPr kumimoji="1" lang="zh-CN" altLang="en-US">
                <a:solidFill>
                  <a:srgbClr val="008000"/>
                </a:solidFill>
                <a:latin typeface="Tahoma" panose="020B0604030504040204" pitchFamily="34" charset="0"/>
                <a:ea typeface="宋体" panose="02010600030101010101" pitchFamily="2" charset="-122"/>
              </a:rPr>
              <a:t>左半平面</a:t>
            </a:r>
          </a:p>
        </p:txBody>
      </p:sp>
      <p:graphicFrame>
        <p:nvGraphicFramePr>
          <p:cNvPr id="97285" name="Object 2"/>
          <p:cNvGraphicFramePr>
            <a:graphicFrameLocks noChangeAspect="1"/>
          </p:cNvGraphicFramePr>
          <p:nvPr/>
        </p:nvGraphicFramePr>
        <p:xfrm>
          <a:off x="611188" y="1125538"/>
          <a:ext cx="2757487" cy="4271962"/>
        </p:xfrm>
        <a:graphic>
          <a:graphicData uri="http://schemas.openxmlformats.org/presentationml/2006/ole">
            <mc:AlternateContent xmlns:mc="http://schemas.openxmlformats.org/markup-compatibility/2006">
              <mc:Choice xmlns:v="urn:schemas-microsoft-com:vml" Requires="v">
                <p:oleObj name="BMP 图象" r:id="rId3" imgW="5429250" imgH="5143500" progId="Paint.Picture">
                  <p:embed/>
                </p:oleObj>
              </mc:Choice>
              <mc:Fallback>
                <p:oleObj name="BMP 图象" r:id="rId3" imgW="5429250" imgH="5143500"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125538"/>
                        <a:ext cx="2757487" cy="427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8501" name="Object 3"/>
          <p:cNvGraphicFramePr>
            <a:graphicFrameLocks noChangeAspect="1"/>
          </p:cNvGraphicFramePr>
          <p:nvPr/>
        </p:nvGraphicFramePr>
        <p:xfrm>
          <a:off x="776288" y="3573463"/>
          <a:ext cx="1012825" cy="1455737"/>
        </p:xfrm>
        <a:graphic>
          <a:graphicData uri="http://schemas.openxmlformats.org/presentationml/2006/ole">
            <mc:AlternateContent xmlns:mc="http://schemas.openxmlformats.org/markup-compatibility/2006">
              <mc:Choice xmlns:v="urn:schemas-microsoft-com:vml" Requires="v">
                <p:oleObj name="BMP 图象" r:id="rId5" imgW="1819275" imgH="2047875" progId="Paint.Picture">
                  <p:embed/>
                </p:oleObj>
              </mc:Choice>
              <mc:Fallback>
                <p:oleObj name="BMP 图象" r:id="rId5" imgW="1819275" imgH="2047875" progId="Paint.Picture">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288" y="3573463"/>
                        <a:ext cx="1012825" cy="145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8502" name="Object 4"/>
          <p:cNvGraphicFramePr>
            <a:graphicFrameLocks noChangeAspect="1"/>
          </p:cNvGraphicFramePr>
          <p:nvPr/>
        </p:nvGraphicFramePr>
        <p:xfrm>
          <a:off x="1784350" y="1916113"/>
          <a:ext cx="979488" cy="1038225"/>
        </p:xfrm>
        <a:graphic>
          <a:graphicData uri="http://schemas.openxmlformats.org/presentationml/2006/ole">
            <mc:AlternateContent xmlns:mc="http://schemas.openxmlformats.org/markup-compatibility/2006">
              <mc:Choice xmlns:v="urn:schemas-microsoft-com:vml" Requires="v">
                <p:oleObj name="BMP 图象" r:id="rId7" imgW="1590675" imgH="1381125" progId="Paint.Picture">
                  <p:embed/>
                </p:oleObj>
              </mc:Choice>
              <mc:Fallback>
                <p:oleObj name="BMP 图象" r:id="rId7" imgW="1590675" imgH="1381125" progId="Paint.Picture">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4350" y="1916113"/>
                        <a:ext cx="979488"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288" name="Text Box 7"/>
          <p:cNvSpPr txBox="1">
            <a:spLocks noChangeArrowheads="1"/>
          </p:cNvSpPr>
          <p:nvPr/>
        </p:nvSpPr>
        <p:spPr bwMode="auto">
          <a:xfrm>
            <a:off x="2387600" y="3024188"/>
            <a:ext cx="207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009900"/>
                </a:solidFill>
                <a:latin typeface="Tahoma" panose="020B0604030504040204" pitchFamily="34" charset="0"/>
                <a:ea typeface="宋体" panose="02010600030101010101" pitchFamily="2" charset="-122"/>
              </a:rPr>
              <a:t>X</a:t>
            </a:r>
          </a:p>
        </p:txBody>
      </p:sp>
      <p:sp>
        <p:nvSpPr>
          <p:cNvPr id="97289" name="Text Box 8"/>
          <p:cNvSpPr txBox="1">
            <a:spLocks noChangeArrowheads="1"/>
          </p:cNvSpPr>
          <p:nvPr/>
        </p:nvSpPr>
        <p:spPr bwMode="auto">
          <a:xfrm>
            <a:off x="1401763" y="3151188"/>
            <a:ext cx="4159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50000"/>
              </a:lnSpc>
              <a:spcBef>
                <a:spcPct val="50000"/>
              </a:spcBef>
              <a:buClr>
                <a:schemeClr val="accent2"/>
              </a:buClr>
              <a:buFont typeface="Wingdings" panose="05000000000000000000" pitchFamily="2" charset="2"/>
              <a:buNone/>
            </a:pPr>
            <a:r>
              <a:rPr kumimoji="1" lang="en-US" altLang="zh-CN">
                <a:solidFill>
                  <a:srgbClr val="000066"/>
                </a:solidFill>
                <a:latin typeface="方正舒体" panose="02010601030101010101" pitchFamily="2" charset="-122"/>
                <a:ea typeface="方正舒体" panose="02010601030101010101" pitchFamily="2" charset="-122"/>
              </a:rPr>
              <a:t>X</a:t>
            </a:r>
          </a:p>
          <a:p>
            <a:pPr eaLnBrk="1" hangingPunct="1">
              <a:lnSpc>
                <a:spcPct val="50000"/>
              </a:lnSpc>
              <a:spcBef>
                <a:spcPct val="50000"/>
              </a:spcBef>
              <a:buClr>
                <a:schemeClr val="accent2"/>
              </a:buClr>
              <a:buFont typeface="Wingdings" panose="05000000000000000000" pitchFamily="2" charset="2"/>
              <a:buNone/>
            </a:pPr>
            <a:r>
              <a:rPr kumimoji="1" lang="en-US" altLang="zh-CN" sz="1400">
                <a:solidFill>
                  <a:srgbClr val="000066"/>
                </a:solidFill>
                <a:latin typeface="Tahoma" panose="020B0604030504040204" pitchFamily="34" charset="0"/>
                <a:ea typeface="宋体" panose="02010600030101010101" pitchFamily="2" charset="-122"/>
              </a:rPr>
              <a:t>(2)</a:t>
            </a:r>
          </a:p>
        </p:txBody>
      </p:sp>
      <p:graphicFrame>
        <p:nvGraphicFramePr>
          <p:cNvPr id="618505" name="Object 5"/>
          <p:cNvGraphicFramePr>
            <a:graphicFrameLocks noChangeAspect="1"/>
          </p:cNvGraphicFramePr>
          <p:nvPr/>
        </p:nvGraphicFramePr>
        <p:xfrm>
          <a:off x="631825" y="2060575"/>
          <a:ext cx="998538" cy="846138"/>
        </p:xfrm>
        <a:graphic>
          <a:graphicData uri="http://schemas.openxmlformats.org/presentationml/2006/ole">
            <mc:AlternateContent xmlns:mc="http://schemas.openxmlformats.org/markup-compatibility/2006">
              <mc:Choice xmlns:v="urn:schemas-microsoft-com:vml" Requires="v">
                <p:oleObj name="BMP 图象" r:id="rId9" imgW="1466850" imgH="1019175" progId="Paint.Picture">
                  <p:embed/>
                </p:oleObj>
              </mc:Choice>
              <mc:Fallback>
                <p:oleObj name="BMP 图象" r:id="rId9" imgW="1466850" imgH="1019175" progId="Paint.Picture">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1825" y="2060575"/>
                        <a:ext cx="998538" cy="84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8506" name="Object 6"/>
          <p:cNvGraphicFramePr>
            <a:graphicFrameLocks noChangeAspect="1"/>
          </p:cNvGraphicFramePr>
          <p:nvPr/>
        </p:nvGraphicFramePr>
        <p:xfrm>
          <a:off x="1928813" y="3716338"/>
          <a:ext cx="758825" cy="1042987"/>
        </p:xfrm>
        <a:graphic>
          <a:graphicData uri="http://schemas.openxmlformats.org/presentationml/2006/ole">
            <mc:AlternateContent xmlns:mc="http://schemas.openxmlformats.org/markup-compatibility/2006">
              <mc:Choice xmlns:v="urn:schemas-microsoft-com:vml" Requires="v">
                <p:oleObj name="BMP 图象" r:id="rId11" imgW="1114425" imgH="1257300" progId="Paint.Picture">
                  <p:embed/>
                </p:oleObj>
              </mc:Choice>
              <mc:Fallback>
                <p:oleObj name="BMP 图象" r:id="rId11" imgW="1114425" imgH="1257300" progId="Paint.Picture">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28813" y="3716338"/>
                        <a:ext cx="758825" cy="1042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18507"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36875" y="2133600"/>
            <a:ext cx="1295400"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508" name="Picture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81338" y="3573463"/>
            <a:ext cx="10668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509" name="Picture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49763" y="1989138"/>
            <a:ext cx="1028700"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510" name="Picture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35463" y="3554413"/>
            <a:ext cx="9715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96" name="Text Box 15"/>
          <p:cNvSpPr txBox="1">
            <a:spLocks noChangeArrowheads="1"/>
          </p:cNvSpPr>
          <p:nvPr/>
        </p:nvSpPr>
        <p:spPr bwMode="auto">
          <a:xfrm>
            <a:off x="3432968" y="704850"/>
            <a:ext cx="2976563" cy="455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dirty="0">
                <a:solidFill>
                  <a:srgbClr val="800000"/>
                </a:solidFill>
                <a:latin typeface="Tahoma" panose="020B0604030504040204" pitchFamily="34" charset="0"/>
                <a:ea typeface="宋体" panose="02010600030101010101" pitchFamily="2" charset="-122"/>
              </a:rPr>
              <a:t>极点 在</a:t>
            </a:r>
            <a:r>
              <a:rPr kumimoji="1" lang="en-US" altLang="zh-CN" dirty="0">
                <a:solidFill>
                  <a:srgbClr val="800000"/>
                </a:solidFill>
                <a:latin typeface="Tahoma" panose="020B0604030504040204" pitchFamily="34" charset="0"/>
                <a:ea typeface="宋体" panose="02010600030101010101" pitchFamily="2" charset="-122"/>
              </a:rPr>
              <a:t>s</a:t>
            </a:r>
            <a:r>
              <a:rPr kumimoji="1" lang="zh-CN" altLang="en-US" dirty="0">
                <a:solidFill>
                  <a:srgbClr val="800000"/>
                </a:solidFill>
                <a:latin typeface="Tahoma" panose="020B0604030504040204" pitchFamily="34" charset="0"/>
                <a:ea typeface="宋体" panose="02010600030101010101" pitchFamily="2" charset="-122"/>
              </a:rPr>
              <a:t>右半平面</a:t>
            </a:r>
          </a:p>
        </p:txBody>
      </p:sp>
      <p:pic>
        <p:nvPicPr>
          <p:cNvPr id="97297" name="Picture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95963" y="1557338"/>
            <a:ext cx="2816225"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513" name="Picture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96188" y="1773238"/>
            <a:ext cx="1038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514" name="Picture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740650" y="3500438"/>
            <a:ext cx="12192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515" name="Picture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35600" y="3500438"/>
            <a:ext cx="15811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8516" name="Picture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95963" y="1700213"/>
            <a:ext cx="1066800"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8517" name="Text Box 21"/>
          <p:cNvSpPr txBox="1">
            <a:spLocks noChangeArrowheads="1"/>
          </p:cNvSpPr>
          <p:nvPr/>
        </p:nvSpPr>
        <p:spPr bwMode="auto">
          <a:xfrm>
            <a:off x="6450013" y="692151"/>
            <a:ext cx="2292350" cy="455612"/>
          </a:xfrm>
          <a:prstGeom prst="rect">
            <a:avLst/>
          </a:prstGeom>
          <a:solidFill>
            <a:schemeClr val="bg1"/>
          </a:solidFill>
          <a:ln w="9525">
            <a:noFill/>
            <a:miter lim="800000"/>
          </a:ln>
          <a:effectLst/>
        </p:spPr>
        <p:txBody>
          <a:bodyPr>
            <a:spAutoFit/>
          </a:bodyPr>
          <a:lstStyle/>
          <a:p>
            <a:pPr eaLnBrk="1" hangingPunct="1">
              <a:lnSpc>
                <a:spcPct val="85000"/>
              </a:lnSpc>
              <a:spcBef>
                <a:spcPct val="50000"/>
              </a:spcBef>
              <a:buClr>
                <a:schemeClr val="accent2"/>
              </a:buClr>
              <a:buFont typeface="Wingdings" panose="05000000000000000000" pitchFamily="2" charset="2"/>
              <a:buNone/>
              <a:defRPr/>
            </a:pPr>
            <a:r>
              <a:rPr kumimoji="1" lang="zh-CN" altLang="en-US" dirty="0">
                <a:solidFill>
                  <a:srgbClr val="9900FF"/>
                </a:solidFill>
                <a:latin typeface="Tahoma" panose="020B0604030504040204" pitchFamily="34" charset="0"/>
                <a:ea typeface="宋体" panose="02010600030101010101" pitchFamily="2" charset="-122"/>
              </a:rPr>
              <a:t>极点 在</a:t>
            </a:r>
            <a:r>
              <a:rPr lang="en-US" altLang="zh-CN" dirty="0">
                <a:solidFill>
                  <a:srgbClr val="9900FF"/>
                </a:solidFill>
                <a:effectLst>
                  <a:outerShdw blurRad="38100" dist="38100" dir="2700000" algn="tl">
                    <a:srgbClr val="C0C0C0"/>
                  </a:outerShdw>
                </a:effectLst>
                <a:latin typeface="黑体" panose="02010609060101010101" pitchFamily="49" charset="-122"/>
                <a:ea typeface="黑体" panose="02010609060101010101" pitchFamily="49" charset="-122"/>
              </a:rPr>
              <a:t>j</a:t>
            </a:r>
            <a:r>
              <a:rPr lang="en-US" altLang="zh-CN" dirty="0">
                <a:solidFill>
                  <a:srgbClr val="9900FF"/>
                </a:solidFill>
                <a:effectLst>
                  <a:outerShdw blurRad="38100" dist="38100" dir="2700000" algn="tl">
                    <a:srgbClr val="C0C0C0"/>
                  </a:outerShdw>
                </a:effectLst>
                <a:latin typeface="黑体" panose="02010609060101010101" pitchFamily="49" charset="-122"/>
                <a:ea typeface="黑体" panose="02010609060101010101" pitchFamily="49" charset="-122"/>
                <a:sym typeface="Symbol" panose="05050102010706020507" pitchFamily="18" charset="2"/>
              </a:rPr>
              <a:t></a:t>
            </a:r>
            <a:r>
              <a:rPr lang="zh-CN" altLang="en-US" dirty="0">
                <a:solidFill>
                  <a:srgbClr val="9900FF"/>
                </a:solidFill>
                <a:effectLst>
                  <a:outerShdw blurRad="38100" dist="38100" dir="2700000" algn="tl">
                    <a:srgbClr val="C0C0C0"/>
                  </a:outerShdw>
                </a:effectLst>
                <a:latin typeface="黑体" panose="02010609060101010101" pitchFamily="49" charset="-122"/>
                <a:ea typeface="黑体" panose="02010609060101010101" pitchFamily="49" charset="-122"/>
                <a:sym typeface="Symbol" panose="05050102010706020507" pitchFamily="18" charset="2"/>
              </a:rPr>
              <a:t>轴</a:t>
            </a:r>
          </a:p>
        </p:txBody>
      </p:sp>
      <p:sp>
        <p:nvSpPr>
          <p:cNvPr id="97303" name="Text Box 22"/>
          <p:cNvSpPr txBox="1">
            <a:spLocks noChangeArrowheads="1"/>
          </p:cNvSpPr>
          <p:nvPr/>
        </p:nvSpPr>
        <p:spPr bwMode="auto">
          <a:xfrm>
            <a:off x="1403350" y="1412875"/>
            <a:ext cx="1296988" cy="354013"/>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sz="2000">
                <a:solidFill>
                  <a:srgbClr val="FF0000"/>
                </a:solidFill>
                <a:latin typeface="Tahoma" panose="020B0604030504040204" pitchFamily="34" charset="0"/>
                <a:ea typeface="宋体" panose="02010600030101010101" pitchFamily="2" charset="-122"/>
              </a:rPr>
              <a:t>单实极点</a:t>
            </a:r>
          </a:p>
        </p:txBody>
      </p:sp>
      <p:sp>
        <p:nvSpPr>
          <p:cNvPr id="618519" name="Text Box 23"/>
          <p:cNvSpPr txBox="1">
            <a:spLocks noChangeArrowheads="1"/>
          </p:cNvSpPr>
          <p:nvPr/>
        </p:nvSpPr>
        <p:spPr bwMode="auto">
          <a:xfrm>
            <a:off x="4356100" y="1484313"/>
            <a:ext cx="1296988" cy="354012"/>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sz="2000">
                <a:solidFill>
                  <a:srgbClr val="FF0000"/>
                </a:solidFill>
                <a:latin typeface="Tahoma" panose="020B0604030504040204" pitchFamily="34" charset="0"/>
                <a:ea typeface="宋体" panose="02010600030101010101" pitchFamily="2" charset="-122"/>
              </a:rPr>
              <a:t>重实极点</a:t>
            </a:r>
          </a:p>
        </p:txBody>
      </p:sp>
      <p:sp>
        <p:nvSpPr>
          <p:cNvPr id="618520" name="Text Box 24"/>
          <p:cNvSpPr txBox="1">
            <a:spLocks noChangeArrowheads="1"/>
          </p:cNvSpPr>
          <p:nvPr/>
        </p:nvSpPr>
        <p:spPr bwMode="auto">
          <a:xfrm>
            <a:off x="611188" y="5013325"/>
            <a:ext cx="1296987" cy="354013"/>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sz="2000">
                <a:solidFill>
                  <a:srgbClr val="FF0000"/>
                </a:solidFill>
                <a:latin typeface="Tahoma" panose="020B0604030504040204" pitchFamily="34" charset="0"/>
                <a:ea typeface="宋体" panose="02010600030101010101" pitchFamily="2" charset="-122"/>
              </a:rPr>
              <a:t>共轭极点</a:t>
            </a:r>
          </a:p>
        </p:txBody>
      </p:sp>
      <p:sp>
        <p:nvSpPr>
          <p:cNvPr id="618521" name="Text Box 25"/>
          <p:cNvSpPr txBox="1">
            <a:spLocks noChangeArrowheads="1"/>
          </p:cNvSpPr>
          <p:nvPr/>
        </p:nvSpPr>
        <p:spPr bwMode="auto">
          <a:xfrm>
            <a:off x="4056063" y="5097463"/>
            <a:ext cx="1584325" cy="354012"/>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sz="2000">
                <a:solidFill>
                  <a:srgbClr val="FF0000"/>
                </a:solidFill>
                <a:latin typeface="Tahoma" panose="020B0604030504040204" pitchFamily="34" charset="0"/>
                <a:ea typeface="宋体" panose="02010600030101010101" pitchFamily="2" charset="-122"/>
              </a:rPr>
              <a:t>重共轭极点</a:t>
            </a:r>
          </a:p>
        </p:txBody>
      </p:sp>
      <p:sp>
        <p:nvSpPr>
          <p:cNvPr id="618522" name="Text Box 26"/>
          <p:cNvSpPr txBox="1">
            <a:spLocks noChangeArrowheads="1"/>
          </p:cNvSpPr>
          <p:nvPr/>
        </p:nvSpPr>
        <p:spPr bwMode="auto">
          <a:xfrm>
            <a:off x="698500" y="5694363"/>
            <a:ext cx="8445500" cy="1308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en-US" altLang="zh-CN" sz="2000">
                <a:solidFill>
                  <a:srgbClr val="FF0000"/>
                </a:solidFill>
                <a:latin typeface="Tahoma" panose="020B0604030504040204" pitchFamily="34" charset="0"/>
                <a:ea typeface="宋体" panose="02010600030101010101" pitchFamily="2" charset="-122"/>
              </a:rPr>
              <a:t>1</a:t>
            </a:r>
            <a:r>
              <a:rPr kumimoji="1" lang="zh-CN" altLang="en-US" sz="2000">
                <a:solidFill>
                  <a:srgbClr val="FF0000"/>
                </a:solidFill>
                <a:latin typeface="Tahoma" panose="020B0604030504040204" pitchFamily="34" charset="0"/>
                <a:ea typeface="宋体" panose="02010600030101010101" pitchFamily="2" charset="-122"/>
              </a:rPr>
              <a:t>、</a:t>
            </a:r>
            <a:r>
              <a:rPr kumimoji="1" lang="en-US" altLang="zh-CN" sz="2000">
                <a:solidFill>
                  <a:srgbClr val="FF0000"/>
                </a:solidFill>
                <a:latin typeface="Tahoma" panose="020B0604030504040204" pitchFamily="34" charset="0"/>
                <a:ea typeface="宋体" panose="02010600030101010101" pitchFamily="2" charset="-122"/>
              </a:rPr>
              <a:t>H(s)</a:t>
            </a:r>
            <a:r>
              <a:rPr kumimoji="1" lang="zh-CN" altLang="en-US" sz="2000">
                <a:solidFill>
                  <a:srgbClr val="FF0000"/>
                </a:solidFill>
                <a:latin typeface="Tahoma" panose="020B0604030504040204" pitchFamily="34" charset="0"/>
                <a:ea typeface="宋体" panose="02010600030101010101" pitchFamily="2" charset="-122"/>
              </a:rPr>
              <a:t>极点全部位于 </a:t>
            </a:r>
            <a:r>
              <a:rPr kumimoji="1" lang="en-US" altLang="zh-CN" sz="2000">
                <a:solidFill>
                  <a:srgbClr val="FF0000"/>
                </a:solidFill>
                <a:latin typeface="Tahoma" panose="020B0604030504040204" pitchFamily="34" charset="0"/>
                <a:ea typeface="宋体" panose="02010600030101010101" pitchFamily="2" charset="-122"/>
              </a:rPr>
              <a:t>s</a:t>
            </a:r>
            <a:r>
              <a:rPr kumimoji="1" lang="zh-CN" altLang="en-US" sz="2000">
                <a:solidFill>
                  <a:srgbClr val="FF0000"/>
                </a:solidFill>
                <a:latin typeface="Tahoma" panose="020B0604030504040204" pitchFamily="34" charset="0"/>
                <a:ea typeface="宋体" panose="02010600030101010101" pitchFamily="2" charset="-122"/>
              </a:rPr>
              <a:t>左半平面，系统稳定；</a:t>
            </a:r>
          </a:p>
          <a:p>
            <a:pPr eaLnBrk="1" hangingPunct="1">
              <a:lnSpc>
                <a:spcPct val="85000"/>
              </a:lnSpc>
              <a:spcBef>
                <a:spcPct val="20000"/>
              </a:spcBef>
              <a:buClr>
                <a:schemeClr val="accent2"/>
              </a:buClr>
              <a:buFont typeface="Wingdings" panose="05000000000000000000" pitchFamily="2" charset="2"/>
              <a:buNone/>
            </a:pPr>
            <a:r>
              <a:rPr kumimoji="1" lang="en-US" altLang="zh-CN" sz="2000">
                <a:solidFill>
                  <a:srgbClr val="FF0000"/>
                </a:solidFill>
              </a:rPr>
              <a:t>2</a:t>
            </a:r>
            <a:r>
              <a:rPr kumimoji="1" lang="zh-CN" altLang="en-US" sz="2000">
                <a:solidFill>
                  <a:srgbClr val="FF0000"/>
                </a:solidFill>
              </a:rPr>
              <a:t>、</a:t>
            </a:r>
            <a:r>
              <a:rPr kumimoji="1" lang="en-US" altLang="zh-CN" sz="2000">
                <a:solidFill>
                  <a:srgbClr val="FF0000"/>
                </a:solidFill>
              </a:rPr>
              <a:t>H(S)</a:t>
            </a:r>
            <a:r>
              <a:rPr kumimoji="1" lang="zh-CN" altLang="en-US" sz="2000">
                <a:solidFill>
                  <a:srgbClr val="FF0000"/>
                </a:solidFill>
              </a:rPr>
              <a:t>在</a:t>
            </a:r>
            <a:r>
              <a:rPr kumimoji="1" lang="en-US" altLang="zh-CN" sz="2000">
                <a:solidFill>
                  <a:srgbClr val="FF0000"/>
                </a:solidFill>
              </a:rPr>
              <a:t>j</a:t>
            </a:r>
            <a:r>
              <a:rPr kumimoji="1" lang="en-US" altLang="zh-CN" sz="2000">
                <a:solidFill>
                  <a:srgbClr val="FF0000"/>
                </a:solidFill>
                <a:sym typeface="Symbol" panose="05050102010706020507" pitchFamily="18" charset="2"/>
              </a:rPr>
              <a:t></a:t>
            </a:r>
            <a:r>
              <a:rPr kumimoji="1" lang="zh-CN" altLang="en-US" sz="2000">
                <a:solidFill>
                  <a:srgbClr val="FF0000"/>
                </a:solidFill>
                <a:sym typeface="Symbol" panose="05050102010706020507" pitchFamily="18" charset="2"/>
              </a:rPr>
              <a:t>轴上有单极点，在</a:t>
            </a:r>
            <a:r>
              <a:rPr kumimoji="1" lang="en-US" altLang="zh-CN" sz="2000">
                <a:solidFill>
                  <a:srgbClr val="FF0000"/>
                </a:solidFill>
                <a:sym typeface="Symbol" panose="05050102010706020507" pitchFamily="18" charset="2"/>
              </a:rPr>
              <a:t>s</a:t>
            </a:r>
            <a:r>
              <a:rPr kumimoji="1" lang="zh-CN" altLang="en-US" sz="2000">
                <a:solidFill>
                  <a:srgbClr val="FF0000"/>
                </a:solidFill>
                <a:sym typeface="Symbol" panose="05050102010706020507" pitchFamily="18" charset="2"/>
              </a:rPr>
              <a:t>右半平面没有极点，系统临界稳定；</a:t>
            </a:r>
          </a:p>
          <a:p>
            <a:pPr eaLnBrk="1" hangingPunct="1">
              <a:lnSpc>
                <a:spcPct val="85000"/>
              </a:lnSpc>
              <a:spcBef>
                <a:spcPct val="20000"/>
              </a:spcBef>
              <a:buClr>
                <a:schemeClr val="accent2"/>
              </a:buClr>
              <a:buFont typeface="Wingdings" panose="05000000000000000000" pitchFamily="2" charset="2"/>
              <a:buNone/>
            </a:pPr>
            <a:r>
              <a:rPr kumimoji="1" lang="en-US" altLang="zh-CN" sz="2000">
                <a:solidFill>
                  <a:srgbClr val="FF0000"/>
                </a:solidFill>
              </a:rPr>
              <a:t>3</a:t>
            </a:r>
            <a:r>
              <a:rPr kumimoji="1" lang="zh-CN" altLang="en-US" sz="2000">
                <a:solidFill>
                  <a:srgbClr val="FF0000"/>
                </a:solidFill>
              </a:rPr>
              <a:t>、</a:t>
            </a:r>
            <a:r>
              <a:rPr kumimoji="1" lang="en-US" altLang="zh-CN" sz="2000">
                <a:solidFill>
                  <a:srgbClr val="FF0000"/>
                </a:solidFill>
              </a:rPr>
              <a:t>H(S)</a:t>
            </a:r>
            <a:r>
              <a:rPr kumimoji="1" lang="zh-CN" altLang="en-US" sz="2000">
                <a:solidFill>
                  <a:srgbClr val="FF0000"/>
                </a:solidFill>
              </a:rPr>
              <a:t>在</a:t>
            </a:r>
            <a:r>
              <a:rPr kumimoji="1" lang="en-US" altLang="zh-CN" sz="2000">
                <a:solidFill>
                  <a:srgbClr val="FF0000"/>
                </a:solidFill>
              </a:rPr>
              <a:t>S</a:t>
            </a:r>
            <a:r>
              <a:rPr kumimoji="1" lang="zh-CN" altLang="en-US" sz="2000">
                <a:solidFill>
                  <a:srgbClr val="FF0000"/>
                </a:solidFill>
              </a:rPr>
              <a:t>右半平面存在极点，或在</a:t>
            </a:r>
            <a:r>
              <a:rPr kumimoji="1" lang="en-US" altLang="zh-CN" sz="2000">
                <a:solidFill>
                  <a:srgbClr val="FF0000"/>
                </a:solidFill>
              </a:rPr>
              <a:t>j</a:t>
            </a:r>
            <a:r>
              <a:rPr kumimoji="1" lang="en-US" altLang="zh-CN" sz="2000">
                <a:solidFill>
                  <a:srgbClr val="FF0000"/>
                </a:solidFill>
                <a:sym typeface="Symbol" panose="05050102010706020507" pitchFamily="18" charset="2"/>
              </a:rPr>
              <a:t></a:t>
            </a:r>
            <a:r>
              <a:rPr kumimoji="1" lang="zh-CN" altLang="en-US" sz="2000">
                <a:solidFill>
                  <a:srgbClr val="FF0000"/>
                </a:solidFill>
                <a:sym typeface="Symbol" panose="05050102010706020507" pitchFamily="18" charset="2"/>
              </a:rPr>
              <a:t>轴上有重极点，</a:t>
            </a:r>
            <a:r>
              <a:rPr kumimoji="1" lang="zh-CN" altLang="en-US" sz="2000">
                <a:solidFill>
                  <a:srgbClr val="FF0000"/>
                </a:solidFill>
              </a:rPr>
              <a:t>系统不稳定。</a:t>
            </a:r>
          </a:p>
          <a:p>
            <a:pPr eaLnBrk="1" hangingPunct="1">
              <a:lnSpc>
                <a:spcPct val="85000"/>
              </a:lnSpc>
              <a:spcBef>
                <a:spcPct val="20000"/>
              </a:spcBef>
              <a:buClr>
                <a:schemeClr val="accent2"/>
              </a:buClr>
              <a:buFont typeface="Wingdings" panose="05000000000000000000" pitchFamily="2" charset="2"/>
              <a:buNone/>
            </a:pPr>
            <a:endParaRPr kumimoji="1" lang="zh-CN" altLang="en-US" sz="2000">
              <a:solidFill>
                <a:srgbClr val="FF0000"/>
              </a:solidFill>
              <a:sym typeface="Symbol" panose="05050102010706020507" pitchFamily="18" charset="2"/>
            </a:endParaRPr>
          </a:p>
        </p:txBody>
      </p:sp>
    </p:spTree>
    <p:custDataLst>
      <p:tags r:id="rId1"/>
    </p:custDataLst>
  </p:cSld>
  <p:clrMapOvr>
    <a:masterClrMapping/>
  </p:clrMapOvr>
  <p:transition spd="med" advTm="11979">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18502"/>
                                        </p:tgtEl>
                                        <p:attrNameLst>
                                          <p:attrName>style.visibility</p:attrName>
                                        </p:attrNameLst>
                                      </p:cBhvr>
                                      <p:to>
                                        <p:strVal val="visible"/>
                                      </p:to>
                                    </p:set>
                                    <p:anim calcmode="lin" valueType="num">
                                      <p:cBhvr>
                                        <p:cTn id="7" dur="1000" fill="hold"/>
                                        <p:tgtEl>
                                          <p:spTgt spid="618502"/>
                                        </p:tgtEl>
                                        <p:attrNameLst>
                                          <p:attrName>ppt_w</p:attrName>
                                        </p:attrNameLst>
                                      </p:cBhvr>
                                      <p:tavLst>
                                        <p:tav tm="0">
                                          <p:val>
                                            <p:strVal val="#ppt_w*0.70"/>
                                          </p:val>
                                        </p:tav>
                                        <p:tav tm="100000">
                                          <p:val>
                                            <p:strVal val="#ppt_w"/>
                                          </p:val>
                                        </p:tav>
                                      </p:tavLst>
                                    </p:anim>
                                    <p:anim calcmode="lin" valueType="num">
                                      <p:cBhvr>
                                        <p:cTn id="8" dur="1000" fill="hold"/>
                                        <p:tgtEl>
                                          <p:spTgt spid="618502"/>
                                        </p:tgtEl>
                                        <p:attrNameLst>
                                          <p:attrName>ppt_h</p:attrName>
                                        </p:attrNameLst>
                                      </p:cBhvr>
                                      <p:tavLst>
                                        <p:tav tm="0">
                                          <p:val>
                                            <p:strVal val="#ppt_h"/>
                                          </p:val>
                                        </p:tav>
                                        <p:tav tm="100000">
                                          <p:val>
                                            <p:strVal val="#ppt_h"/>
                                          </p:val>
                                        </p:tav>
                                      </p:tavLst>
                                    </p:anim>
                                    <p:animEffect transition="in" filter="fade">
                                      <p:cBhvr>
                                        <p:cTn id="9" dur="1000"/>
                                        <p:tgtEl>
                                          <p:spTgt spid="618502"/>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618507"/>
                                        </p:tgtEl>
                                        <p:attrNameLst>
                                          <p:attrName>style.visibility</p:attrName>
                                        </p:attrNameLst>
                                      </p:cBhvr>
                                      <p:to>
                                        <p:strVal val="visible"/>
                                      </p:to>
                                    </p:set>
                                    <p:anim calcmode="lin" valueType="num">
                                      <p:cBhvr>
                                        <p:cTn id="13" dur="1000" fill="hold"/>
                                        <p:tgtEl>
                                          <p:spTgt spid="618507"/>
                                        </p:tgtEl>
                                        <p:attrNameLst>
                                          <p:attrName>ppt_w</p:attrName>
                                        </p:attrNameLst>
                                      </p:cBhvr>
                                      <p:tavLst>
                                        <p:tav tm="0">
                                          <p:val>
                                            <p:strVal val="#ppt_w*0.70"/>
                                          </p:val>
                                        </p:tav>
                                        <p:tav tm="100000">
                                          <p:val>
                                            <p:strVal val="#ppt_w"/>
                                          </p:val>
                                        </p:tav>
                                      </p:tavLst>
                                    </p:anim>
                                    <p:anim calcmode="lin" valueType="num">
                                      <p:cBhvr>
                                        <p:cTn id="14" dur="1000" fill="hold"/>
                                        <p:tgtEl>
                                          <p:spTgt spid="618507"/>
                                        </p:tgtEl>
                                        <p:attrNameLst>
                                          <p:attrName>ppt_h</p:attrName>
                                        </p:attrNameLst>
                                      </p:cBhvr>
                                      <p:tavLst>
                                        <p:tav tm="0">
                                          <p:val>
                                            <p:strVal val="#ppt_h"/>
                                          </p:val>
                                        </p:tav>
                                        <p:tav tm="100000">
                                          <p:val>
                                            <p:strVal val="#ppt_h"/>
                                          </p:val>
                                        </p:tav>
                                      </p:tavLst>
                                    </p:anim>
                                    <p:animEffect transition="in" filter="fade">
                                      <p:cBhvr>
                                        <p:cTn id="15" dur="1000"/>
                                        <p:tgtEl>
                                          <p:spTgt spid="618507"/>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618513"/>
                                        </p:tgtEl>
                                        <p:attrNameLst>
                                          <p:attrName>style.visibility</p:attrName>
                                        </p:attrNameLst>
                                      </p:cBhvr>
                                      <p:to>
                                        <p:strVal val="visible"/>
                                      </p:to>
                                    </p:set>
                                    <p:anim calcmode="lin" valueType="num">
                                      <p:cBhvr>
                                        <p:cTn id="19" dur="1000" fill="hold"/>
                                        <p:tgtEl>
                                          <p:spTgt spid="618513"/>
                                        </p:tgtEl>
                                        <p:attrNameLst>
                                          <p:attrName>ppt_w</p:attrName>
                                        </p:attrNameLst>
                                      </p:cBhvr>
                                      <p:tavLst>
                                        <p:tav tm="0">
                                          <p:val>
                                            <p:strVal val="#ppt_w*0.70"/>
                                          </p:val>
                                        </p:tav>
                                        <p:tav tm="100000">
                                          <p:val>
                                            <p:strVal val="#ppt_w"/>
                                          </p:val>
                                        </p:tav>
                                      </p:tavLst>
                                    </p:anim>
                                    <p:anim calcmode="lin" valueType="num">
                                      <p:cBhvr>
                                        <p:cTn id="20" dur="1000" fill="hold"/>
                                        <p:tgtEl>
                                          <p:spTgt spid="618513"/>
                                        </p:tgtEl>
                                        <p:attrNameLst>
                                          <p:attrName>ppt_h</p:attrName>
                                        </p:attrNameLst>
                                      </p:cBhvr>
                                      <p:tavLst>
                                        <p:tav tm="0">
                                          <p:val>
                                            <p:strVal val="#ppt_h"/>
                                          </p:val>
                                        </p:tav>
                                        <p:tav tm="100000">
                                          <p:val>
                                            <p:strVal val="#ppt_h"/>
                                          </p:val>
                                        </p:tav>
                                      </p:tavLst>
                                    </p:anim>
                                    <p:animEffect transition="in" filter="fade">
                                      <p:cBhvr>
                                        <p:cTn id="21" dur="1000"/>
                                        <p:tgtEl>
                                          <p:spTgt spid="618513"/>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618519"/>
                                        </p:tgtEl>
                                        <p:attrNameLst>
                                          <p:attrName>style.visibility</p:attrName>
                                        </p:attrNameLst>
                                      </p:cBhvr>
                                      <p:to>
                                        <p:strVal val="visible"/>
                                      </p:to>
                                    </p:set>
                                    <p:anim calcmode="lin" valueType="num">
                                      <p:cBhvr>
                                        <p:cTn id="26" dur="1000" fill="hold"/>
                                        <p:tgtEl>
                                          <p:spTgt spid="618519"/>
                                        </p:tgtEl>
                                        <p:attrNameLst>
                                          <p:attrName>ppt_w</p:attrName>
                                        </p:attrNameLst>
                                      </p:cBhvr>
                                      <p:tavLst>
                                        <p:tav tm="0">
                                          <p:val>
                                            <p:strVal val="#ppt_w*0.70"/>
                                          </p:val>
                                        </p:tav>
                                        <p:tav tm="100000">
                                          <p:val>
                                            <p:strVal val="#ppt_w"/>
                                          </p:val>
                                        </p:tav>
                                      </p:tavLst>
                                    </p:anim>
                                    <p:anim calcmode="lin" valueType="num">
                                      <p:cBhvr>
                                        <p:cTn id="27" dur="1000" fill="hold"/>
                                        <p:tgtEl>
                                          <p:spTgt spid="618519"/>
                                        </p:tgtEl>
                                        <p:attrNameLst>
                                          <p:attrName>ppt_h</p:attrName>
                                        </p:attrNameLst>
                                      </p:cBhvr>
                                      <p:tavLst>
                                        <p:tav tm="0">
                                          <p:val>
                                            <p:strVal val="#ppt_h"/>
                                          </p:val>
                                        </p:tav>
                                        <p:tav tm="100000">
                                          <p:val>
                                            <p:strVal val="#ppt_h"/>
                                          </p:val>
                                        </p:tav>
                                      </p:tavLst>
                                    </p:anim>
                                    <p:animEffect transition="in" filter="fade">
                                      <p:cBhvr>
                                        <p:cTn id="28" dur="1000"/>
                                        <p:tgtEl>
                                          <p:spTgt spid="618519"/>
                                        </p:tgtEl>
                                      </p:cBhvr>
                                    </p:animEffect>
                                  </p:childTnLst>
                                </p:cTn>
                              </p:par>
                            </p:childTnLst>
                          </p:cTn>
                        </p:par>
                        <p:par>
                          <p:cTn id="29" fill="hold">
                            <p:stCondLst>
                              <p:cond delay="1000"/>
                            </p:stCondLst>
                            <p:childTnLst>
                              <p:par>
                                <p:cTn id="30" presetID="55" presetClass="entr" presetSubtype="0" fill="hold" nodeType="afterEffect">
                                  <p:stCondLst>
                                    <p:cond delay="0"/>
                                  </p:stCondLst>
                                  <p:childTnLst>
                                    <p:set>
                                      <p:cBhvr>
                                        <p:cTn id="31" dur="1" fill="hold">
                                          <p:stCondLst>
                                            <p:cond delay="0"/>
                                          </p:stCondLst>
                                        </p:cTn>
                                        <p:tgtEl>
                                          <p:spTgt spid="618505"/>
                                        </p:tgtEl>
                                        <p:attrNameLst>
                                          <p:attrName>style.visibility</p:attrName>
                                        </p:attrNameLst>
                                      </p:cBhvr>
                                      <p:to>
                                        <p:strVal val="visible"/>
                                      </p:to>
                                    </p:set>
                                    <p:anim calcmode="lin" valueType="num">
                                      <p:cBhvr>
                                        <p:cTn id="32" dur="1000" fill="hold"/>
                                        <p:tgtEl>
                                          <p:spTgt spid="618505"/>
                                        </p:tgtEl>
                                        <p:attrNameLst>
                                          <p:attrName>ppt_w</p:attrName>
                                        </p:attrNameLst>
                                      </p:cBhvr>
                                      <p:tavLst>
                                        <p:tav tm="0">
                                          <p:val>
                                            <p:strVal val="#ppt_w*0.70"/>
                                          </p:val>
                                        </p:tav>
                                        <p:tav tm="100000">
                                          <p:val>
                                            <p:strVal val="#ppt_w"/>
                                          </p:val>
                                        </p:tav>
                                      </p:tavLst>
                                    </p:anim>
                                    <p:anim calcmode="lin" valueType="num">
                                      <p:cBhvr>
                                        <p:cTn id="33" dur="1000" fill="hold"/>
                                        <p:tgtEl>
                                          <p:spTgt spid="618505"/>
                                        </p:tgtEl>
                                        <p:attrNameLst>
                                          <p:attrName>ppt_h</p:attrName>
                                        </p:attrNameLst>
                                      </p:cBhvr>
                                      <p:tavLst>
                                        <p:tav tm="0">
                                          <p:val>
                                            <p:strVal val="#ppt_h"/>
                                          </p:val>
                                        </p:tav>
                                        <p:tav tm="100000">
                                          <p:val>
                                            <p:strVal val="#ppt_h"/>
                                          </p:val>
                                        </p:tav>
                                      </p:tavLst>
                                    </p:anim>
                                    <p:animEffect transition="in" filter="fade">
                                      <p:cBhvr>
                                        <p:cTn id="34" dur="1000"/>
                                        <p:tgtEl>
                                          <p:spTgt spid="618505"/>
                                        </p:tgtEl>
                                      </p:cBhvr>
                                    </p:animEffect>
                                  </p:childTnLst>
                                </p:cTn>
                              </p:par>
                            </p:childTnLst>
                          </p:cTn>
                        </p:par>
                        <p:par>
                          <p:cTn id="35" fill="hold">
                            <p:stCondLst>
                              <p:cond delay="2000"/>
                            </p:stCondLst>
                            <p:childTnLst>
                              <p:par>
                                <p:cTn id="36" presetID="55" presetClass="entr" presetSubtype="0" fill="hold" nodeType="afterEffect">
                                  <p:stCondLst>
                                    <p:cond delay="0"/>
                                  </p:stCondLst>
                                  <p:childTnLst>
                                    <p:set>
                                      <p:cBhvr>
                                        <p:cTn id="37" dur="1" fill="hold">
                                          <p:stCondLst>
                                            <p:cond delay="0"/>
                                          </p:stCondLst>
                                        </p:cTn>
                                        <p:tgtEl>
                                          <p:spTgt spid="618509"/>
                                        </p:tgtEl>
                                        <p:attrNameLst>
                                          <p:attrName>style.visibility</p:attrName>
                                        </p:attrNameLst>
                                      </p:cBhvr>
                                      <p:to>
                                        <p:strVal val="visible"/>
                                      </p:to>
                                    </p:set>
                                    <p:anim calcmode="lin" valueType="num">
                                      <p:cBhvr>
                                        <p:cTn id="38" dur="1000" fill="hold"/>
                                        <p:tgtEl>
                                          <p:spTgt spid="618509"/>
                                        </p:tgtEl>
                                        <p:attrNameLst>
                                          <p:attrName>ppt_w</p:attrName>
                                        </p:attrNameLst>
                                      </p:cBhvr>
                                      <p:tavLst>
                                        <p:tav tm="0">
                                          <p:val>
                                            <p:strVal val="#ppt_w*0.70"/>
                                          </p:val>
                                        </p:tav>
                                        <p:tav tm="100000">
                                          <p:val>
                                            <p:strVal val="#ppt_w"/>
                                          </p:val>
                                        </p:tav>
                                      </p:tavLst>
                                    </p:anim>
                                    <p:anim calcmode="lin" valueType="num">
                                      <p:cBhvr>
                                        <p:cTn id="39" dur="1000" fill="hold"/>
                                        <p:tgtEl>
                                          <p:spTgt spid="618509"/>
                                        </p:tgtEl>
                                        <p:attrNameLst>
                                          <p:attrName>ppt_h</p:attrName>
                                        </p:attrNameLst>
                                      </p:cBhvr>
                                      <p:tavLst>
                                        <p:tav tm="0">
                                          <p:val>
                                            <p:strVal val="#ppt_h"/>
                                          </p:val>
                                        </p:tav>
                                        <p:tav tm="100000">
                                          <p:val>
                                            <p:strVal val="#ppt_h"/>
                                          </p:val>
                                        </p:tav>
                                      </p:tavLst>
                                    </p:anim>
                                    <p:animEffect transition="in" filter="fade">
                                      <p:cBhvr>
                                        <p:cTn id="40" dur="1000"/>
                                        <p:tgtEl>
                                          <p:spTgt spid="618509"/>
                                        </p:tgtEl>
                                      </p:cBhvr>
                                    </p:animEffect>
                                  </p:childTnLst>
                                </p:cTn>
                              </p:par>
                            </p:childTnLst>
                          </p:cTn>
                        </p:par>
                        <p:par>
                          <p:cTn id="41" fill="hold">
                            <p:stCondLst>
                              <p:cond delay="3000"/>
                            </p:stCondLst>
                            <p:childTnLst>
                              <p:par>
                                <p:cTn id="42" presetID="55" presetClass="entr" presetSubtype="0" fill="hold" nodeType="afterEffect">
                                  <p:stCondLst>
                                    <p:cond delay="0"/>
                                  </p:stCondLst>
                                  <p:childTnLst>
                                    <p:set>
                                      <p:cBhvr>
                                        <p:cTn id="43" dur="1" fill="hold">
                                          <p:stCondLst>
                                            <p:cond delay="0"/>
                                          </p:stCondLst>
                                        </p:cTn>
                                        <p:tgtEl>
                                          <p:spTgt spid="618516"/>
                                        </p:tgtEl>
                                        <p:attrNameLst>
                                          <p:attrName>style.visibility</p:attrName>
                                        </p:attrNameLst>
                                      </p:cBhvr>
                                      <p:to>
                                        <p:strVal val="visible"/>
                                      </p:to>
                                    </p:set>
                                    <p:anim calcmode="lin" valueType="num">
                                      <p:cBhvr>
                                        <p:cTn id="44" dur="1000" fill="hold"/>
                                        <p:tgtEl>
                                          <p:spTgt spid="618516"/>
                                        </p:tgtEl>
                                        <p:attrNameLst>
                                          <p:attrName>ppt_w</p:attrName>
                                        </p:attrNameLst>
                                      </p:cBhvr>
                                      <p:tavLst>
                                        <p:tav tm="0">
                                          <p:val>
                                            <p:strVal val="#ppt_w*0.70"/>
                                          </p:val>
                                        </p:tav>
                                        <p:tav tm="100000">
                                          <p:val>
                                            <p:strVal val="#ppt_w"/>
                                          </p:val>
                                        </p:tav>
                                      </p:tavLst>
                                    </p:anim>
                                    <p:anim calcmode="lin" valueType="num">
                                      <p:cBhvr>
                                        <p:cTn id="45" dur="1000" fill="hold"/>
                                        <p:tgtEl>
                                          <p:spTgt spid="618516"/>
                                        </p:tgtEl>
                                        <p:attrNameLst>
                                          <p:attrName>ppt_h</p:attrName>
                                        </p:attrNameLst>
                                      </p:cBhvr>
                                      <p:tavLst>
                                        <p:tav tm="0">
                                          <p:val>
                                            <p:strVal val="#ppt_h"/>
                                          </p:val>
                                        </p:tav>
                                        <p:tav tm="100000">
                                          <p:val>
                                            <p:strVal val="#ppt_h"/>
                                          </p:val>
                                        </p:tav>
                                      </p:tavLst>
                                    </p:anim>
                                    <p:animEffect transition="in" filter="fade">
                                      <p:cBhvr>
                                        <p:cTn id="46" dur="1000"/>
                                        <p:tgtEl>
                                          <p:spTgt spid="618516"/>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grpId="0" nodeType="clickEffect">
                                  <p:stCondLst>
                                    <p:cond delay="0"/>
                                  </p:stCondLst>
                                  <p:childTnLst>
                                    <p:set>
                                      <p:cBhvr>
                                        <p:cTn id="50" dur="1" fill="hold">
                                          <p:stCondLst>
                                            <p:cond delay="0"/>
                                          </p:stCondLst>
                                        </p:cTn>
                                        <p:tgtEl>
                                          <p:spTgt spid="618520"/>
                                        </p:tgtEl>
                                        <p:attrNameLst>
                                          <p:attrName>style.visibility</p:attrName>
                                        </p:attrNameLst>
                                      </p:cBhvr>
                                      <p:to>
                                        <p:strVal val="visible"/>
                                      </p:to>
                                    </p:set>
                                    <p:anim calcmode="lin" valueType="num">
                                      <p:cBhvr>
                                        <p:cTn id="51" dur="1000" fill="hold"/>
                                        <p:tgtEl>
                                          <p:spTgt spid="618520"/>
                                        </p:tgtEl>
                                        <p:attrNameLst>
                                          <p:attrName>ppt_w</p:attrName>
                                        </p:attrNameLst>
                                      </p:cBhvr>
                                      <p:tavLst>
                                        <p:tav tm="0">
                                          <p:val>
                                            <p:strVal val="#ppt_w*0.70"/>
                                          </p:val>
                                        </p:tav>
                                        <p:tav tm="100000">
                                          <p:val>
                                            <p:strVal val="#ppt_w"/>
                                          </p:val>
                                        </p:tav>
                                      </p:tavLst>
                                    </p:anim>
                                    <p:anim calcmode="lin" valueType="num">
                                      <p:cBhvr>
                                        <p:cTn id="52" dur="1000" fill="hold"/>
                                        <p:tgtEl>
                                          <p:spTgt spid="618520"/>
                                        </p:tgtEl>
                                        <p:attrNameLst>
                                          <p:attrName>ppt_h</p:attrName>
                                        </p:attrNameLst>
                                      </p:cBhvr>
                                      <p:tavLst>
                                        <p:tav tm="0">
                                          <p:val>
                                            <p:strVal val="#ppt_h"/>
                                          </p:val>
                                        </p:tav>
                                        <p:tav tm="100000">
                                          <p:val>
                                            <p:strVal val="#ppt_h"/>
                                          </p:val>
                                        </p:tav>
                                      </p:tavLst>
                                    </p:anim>
                                    <p:animEffect transition="in" filter="fade">
                                      <p:cBhvr>
                                        <p:cTn id="53" dur="1000"/>
                                        <p:tgtEl>
                                          <p:spTgt spid="618520"/>
                                        </p:tgtEl>
                                      </p:cBhvr>
                                    </p:animEffect>
                                  </p:childTnLst>
                                </p:cTn>
                              </p:par>
                            </p:childTnLst>
                          </p:cTn>
                        </p:par>
                        <p:par>
                          <p:cTn id="54" fill="hold">
                            <p:stCondLst>
                              <p:cond delay="1000"/>
                            </p:stCondLst>
                            <p:childTnLst>
                              <p:par>
                                <p:cTn id="55" presetID="55" presetClass="entr" presetSubtype="0" fill="hold" nodeType="afterEffect">
                                  <p:stCondLst>
                                    <p:cond delay="0"/>
                                  </p:stCondLst>
                                  <p:childTnLst>
                                    <p:set>
                                      <p:cBhvr>
                                        <p:cTn id="56" dur="1" fill="hold">
                                          <p:stCondLst>
                                            <p:cond delay="0"/>
                                          </p:stCondLst>
                                        </p:cTn>
                                        <p:tgtEl>
                                          <p:spTgt spid="618501"/>
                                        </p:tgtEl>
                                        <p:attrNameLst>
                                          <p:attrName>style.visibility</p:attrName>
                                        </p:attrNameLst>
                                      </p:cBhvr>
                                      <p:to>
                                        <p:strVal val="visible"/>
                                      </p:to>
                                    </p:set>
                                    <p:anim calcmode="lin" valueType="num">
                                      <p:cBhvr>
                                        <p:cTn id="57" dur="1000" fill="hold"/>
                                        <p:tgtEl>
                                          <p:spTgt spid="618501"/>
                                        </p:tgtEl>
                                        <p:attrNameLst>
                                          <p:attrName>ppt_w</p:attrName>
                                        </p:attrNameLst>
                                      </p:cBhvr>
                                      <p:tavLst>
                                        <p:tav tm="0">
                                          <p:val>
                                            <p:strVal val="#ppt_w*0.70"/>
                                          </p:val>
                                        </p:tav>
                                        <p:tav tm="100000">
                                          <p:val>
                                            <p:strVal val="#ppt_w"/>
                                          </p:val>
                                        </p:tav>
                                      </p:tavLst>
                                    </p:anim>
                                    <p:anim calcmode="lin" valueType="num">
                                      <p:cBhvr>
                                        <p:cTn id="58" dur="1000" fill="hold"/>
                                        <p:tgtEl>
                                          <p:spTgt spid="618501"/>
                                        </p:tgtEl>
                                        <p:attrNameLst>
                                          <p:attrName>ppt_h</p:attrName>
                                        </p:attrNameLst>
                                      </p:cBhvr>
                                      <p:tavLst>
                                        <p:tav tm="0">
                                          <p:val>
                                            <p:strVal val="#ppt_h"/>
                                          </p:val>
                                        </p:tav>
                                        <p:tav tm="100000">
                                          <p:val>
                                            <p:strVal val="#ppt_h"/>
                                          </p:val>
                                        </p:tav>
                                      </p:tavLst>
                                    </p:anim>
                                    <p:animEffect transition="in" filter="fade">
                                      <p:cBhvr>
                                        <p:cTn id="59" dur="1000"/>
                                        <p:tgtEl>
                                          <p:spTgt spid="618501"/>
                                        </p:tgtEl>
                                      </p:cBhvr>
                                    </p:animEffect>
                                  </p:childTnLst>
                                </p:cTn>
                              </p:par>
                            </p:childTnLst>
                          </p:cTn>
                        </p:par>
                        <p:par>
                          <p:cTn id="60" fill="hold">
                            <p:stCondLst>
                              <p:cond delay="2000"/>
                            </p:stCondLst>
                            <p:childTnLst>
                              <p:par>
                                <p:cTn id="61" presetID="55" presetClass="entr" presetSubtype="0" fill="hold" nodeType="afterEffect">
                                  <p:stCondLst>
                                    <p:cond delay="0"/>
                                  </p:stCondLst>
                                  <p:childTnLst>
                                    <p:set>
                                      <p:cBhvr>
                                        <p:cTn id="62" dur="1" fill="hold">
                                          <p:stCondLst>
                                            <p:cond delay="0"/>
                                          </p:stCondLst>
                                        </p:cTn>
                                        <p:tgtEl>
                                          <p:spTgt spid="618508"/>
                                        </p:tgtEl>
                                        <p:attrNameLst>
                                          <p:attrName>style.visibility</p:attrName>
                                        </p:attrNameLst>
                                      </p:cBhvr>
                                      <p:to>
                                        <p:strVal val="visible"/>
                                      </p:to>
                                    </p:set>
                                    <p:anim calcmode="lin" valueType="num">
                                      <p:cBhvr>
                                        <p:cTn id="63" dur="1000" fill="hold"/>
                                        <p:tgtEl>
                                          <p:spTgt spid="618508"/>
                                        </p:tgtEl>
                                        <p:attrNameLst>
                                          <p:attrName>ppt_w</p:attrName>
                                        </p:attrNameLst>
                                      </p:cBhvr>
                                      <p:tavLst>
                                        <p:tav tm="0">
                                          <p:val>
                                            <p:strVal val="#ppt_w*0.70"/>
                                          </p:val>
                                        </p:tav>
                                        <p:tav tm="100000">
                                          <p:val>
                                            <p:strVal val="#ppt_w"/>
                                          </p:val>
                                        </p:tav>
                                      </p:tavLst>
                                    </p:anim>
                                    <p:anim calcmode="lin" valueType="num">
                                      <p:cBhvr>
                                        <p:cTn id="64" dur="1000" fill="hold"/>
                                        <p:tgtEl>
                                          <p:spTgt spid="618508"/>
                                        </p:tgtEl>
                                        <p:attrNameLst>
                                          <p:attrName>ppt_h</p:attrName>
                                        </p:attrNameLst>
                                      </p:cBhvr>
                                      <p:tavLst>
                                        <p:tav tm="0">
                                          <p:val>
                                            <p:strVal val="#ppt_h"/>
                                          </p:val>
                                        </p:tav>
                                        <p:tav tm="100000">
                                          <p:val>
                                            <p:strVal val="#ppt_h"/>
                                          </p:val>
                                        </p:tav>
                                      </p:tavLst>
                                    </p:anim>
                                    <p:animEffect transition="in" filter="fade">
                                      <p:cBhvr>
                                        <p:cTn id="65" dur="1000"/>
                                        <p:tgtEl>
                                          <p:spTgt spid="618508"/>
                                        </p:tgtEl>
                                      </p:cBhvr>
                                    </p:animEffect>
                                  </p:childTnLst>
                                </p:cTn>
                              </p:par>
                            </p:childTnLst>
                          </p:cTn>
                        </p:par>
                        <p:par>
                          <p:cTn id="66" fill="hold">
                            <p:stCondLst>
                              <p:cond delay="3000"/>
                            </p:stCondLst>
                            <p:childTnLst>
                              <p:par>
                                <p:cTn id="67" presetID="55" presetClass="entr" presetSubtype="0" fill="hold" nodeType="afterEffect">
                                  <p:stCondLst>
                                    <p:cond delay="0"/>
                                  </p:stCondLst>
                                  <p:childTnLst>
                                    <p:set>
                                      <p:cBhvr>
                                        <p:cTn id="68" dur="1" fill="hold">
                                          <p:stCondLst>
                                            <p:cond delay="0"/>
                                          </p:stCondLst>
                                        </p:cTn>
                                        <p:tgtEl>
                                          <p:spTgt spid="618514"/>
                                        </p:tgtEl>
                                        <p:attrNameLst>
                                          <p:attrName>style.visibility</p:attrName>
                                        </p:attrNameLst>
                                      </p:cBhvr>
                                      <p:to>
                                        <p:strVal val="visible"/>
                                      </p:to>
                                    </p:set>
                                    <p:anim calcmode="lin" valueType="num">
                                      <p:cBhvr>
                                        <p:cTn id="69" dur="1000" fill="hold"/>
                                        <p:tgtEl>
                                          <p:spTgt spid="618514"/>
                                        </p:tgtEl>
                                        <p:attrNameLst>
                                          <p:attrName>ppt_w</p:attrName>
                                        </p:attrNameLst>
                                      </p:cBhvr>
                                      <p:tavLst>
                                        <p:tav tm="0">
                                          <p:val>
                                            <p:strVal val="#ppt_w*0.70"/>
                                          </p:val>
                                        </p:tav>
                                        <p:tav tm="100000">
                                          <p:val>
                                            <p:strVal val="#ppt_w"/>
                                          </p:val>
                                        </p:tav>
                                      </p:tavLst>
                                    </p:anim>
                                    <p:anim calcmode="lin" valueType="num">
                                      <p:cBhvr>
                                        <p:cTn id="70" dur="1000" fill="hold"/>
                                        <p:tgtEl>
                                          <p:spTgt spid="618514"/>
                                        </p:tgtEl>
                                        <p:attrNameLst>
                                          <p:attrName>ppt_h</p:attrName>
                                        </p:attrNameLst>
                                      </p:cBhvr>
                                      <p:tavLst>
                                        <p:tav tm="0">
                                          <p:val>
                                            <p:strVal val="#ppt_h"/>
                                          </p:val>
                                        </p:tav>
                                        <p:tav tm="100000">
                                          <p:val>
                                            <p:strVal val="#ppt_h"/>
                                          </p:val>
                                        </p:tav>
                                      </p:tavLst>
                                    </p:anim>
                                    <p:animEffect transition="in" filter="fade">
                                      <p:cBhvr>
                                        <p:cTn id="71" dur="1000"/>
                                        <p:tgtEl>
                                          <p:spTgt spid="618514"/>
                                        </p:tgtEl>
                                      </p:cBhvr>
                                    </p:animEffect>
                                  </p:childTnLst>
                                </p:cTn>
                              </p:par>
                            </p:childTnLst>
                          </p:cTn>
                        </p:par>
                      </p:childTnLst>
                    </p:cTn>
                  </p:par>
                  <p:par>
                    <p:cTn id="72" fill="hold">
                      <p:stCondLst>
                        <p:cond delay="indefinite"/>
                      </p:stCondLst>
                      <p:childTnLst>
                        <p:par>
                          <p:cTn id="73" fill="hold">
                            <p:stCondLst>
                              <p:cond delay="0"/>
                            </p:stCondLst>
                            <p:childTnLst>
                              <p:par>
                                <p:cTn id="74" presetID="55" presetClass="entr" presetSubtype="0" fill="hold" grpId="0" nodeType="clickEffect">
                                  <p:stCondLst>
                                    <p:cond delay="0"/>
                                  </p:stCondLst>
                                  <p:childTnLst>
                                    <p:set>
                                      <p:cBhvr>
                                        <p:cTn id="75" dur="1" fill="hold">
                                          <p:stCondLst>
                                            <p:cond delay="0"/>
                                          </p:stCondLst>
                                        </p:cTn>
                                        <p:tgtEl>
                                          <p:spTgt spid="618521"/>
                                        </p:tgtEl>
                                        <p:attrNameLst>
                                          <p:attrName>style.visibility</p:attrName>
                                        </p:attrNameLst>
                                      </p:cBhvr>
                                      <p:to>
                                        <p:strVal val="visible"/>
                                      </p:to>
                                    </p:set>
                                    <p:anim calcmode="lin" valueType="num">
                                      <p:cBhvr>
                                        <p:cTn id="76" dur="1000" fill="hold"/>
                                        <p:tgtEl>
                                          <p:spTgt spid="618521"/>
                                        </p:tgtEl>
                                        <p:attrNameLst>
                                          <p:attrName>ppt_w</p:attrName>
                                        </p:attrNameLst>
                                      </p:cBhvr>
                                      <p:tavLst>
                                        <p:tav tm="0">
                                          <p:val>
                                            <p:strVal val="#ppt_w*0.70"/>
                                          </p:val>
                                        </p:tav>
                                        <p:tav tm="100000">
                                          <p:val>
                                            <p:strVal val="#ppt_w"/>
                                          </p:val>
                                        </p:tav>
                                      </p:tavLst>
                                    </p:anim>
                                    <p:anim calcmode="lin" valueType="num">
                                      <p:cBhvr>
                                        <p:cTn id="77" dur="1000" fill="hold"/>
                                        <p:tgtEl>
                                          <p:spTgt spid="618521"/>
                                        </p:tgtEl>
                                        <p:attrNameLst>
                                          <p:attrName>ppt_h</p:attrName>
                                        </p:attrNameLst>
                                      </p:cBhvr>
                                      <p:tavLst>
                                        <p:tav tm="0">
                                          <p:val>
                                            <p:strVal val="#ppt_h"/>
                                          </p:val>
                                        </p:tav>
                                        <p:tav tm="100000">
                                          <p:val>
                                            <p:strVal val="#ppt_h"/>
                                          </p:val>
                                        </p:tav>
                                      </p:tavLst>
                                    </p:anim>
                                    <p:animEffect transition="in" filter="fade">
                                      <p:cBhvr>
                                        <p:cTn id="78" dur="1000"/>
                                        <p:tgtEl>
                                          <p:spTgt spid="618521"/>
                                        </p:tgtEl>
                                      </p:cBhvr>
                                    </p:animEffect>
                                  </p:childTnLst>
                                </p:cTn>
                              </p:par>
                            </p:childTnLst>
                          </p:cTn>
                        </p:par>
                        <p:par>
                          <p:cTn id="79" fill="hold">
                            <p:stCondLst>
                              <p:cond delay="1000"/>
                            </p:stCondLst>
                            <p:childTnLst>
                              <p:par>
                                <p:cTn id="80" presetID="55" presetClass="entr" presetSubtype="0" fill="hold" nodeType="afterEffect">
                                  <p:stCondLst>
                                    <p:cond delay="0"/>
                                  </p:stCondLst>
                                  <p:childTnLst>
                                    <p:set>
                                      <p:cBhvr>
                                        <p:cTn id="81" dur="1" fill="hold">
                                          <p:stCondLst>
                                            <p:cond delay="0"/>
                                          </p:stCondLst>
                                        </p:cTn>
                                        <p:tgtEl>
                                          <p:spTgt spid="618506"/>
                                        </p:tgtEl>
                                        <p:attrNameLst>
                                          <p:attrName>style.visibility</p:attrName>
                                        </p:attrNameLst>
                                      </p:cBhvr>
                                      <p:to>
                                        <p:strVal val="visible"/>
                                      </p:to>
                                    </p:set>
                                    <p:anim calcmode="lin" valueType="num">
                                      <p:cBhvr>
                                        <p:cTn id="82" dur="1000" fill="hold"/>
                                        <p:tgtEl>
                                          <p:spTgt spid="618506"/>
                                        </p:tgtEl>
                                        <p:attrNameLst>
                                          <p:attrName>ppt_w</p:attrName>
                                        </p:attrNameLst>
                                      </p:cBhvr>
                                      <p:tavLst>
                                        <p:tav tm="0">
                                          <p:val>
                                            <p:strVal val="#ppt_w*0.70"/>
                                          </p:val>
                                        </p:tav>
                                        <p:tav tm="100000">
                                          <p:val>
                                            <p:strVal val="#ppt_w"/>
                                          </p:val>
                                        </p:tav>
                                      </p:tavLst>
                                    </p:anim>
                                    <p:anim calcmode="lin" valueType="num">
                                      <p:cBhvr>
                                        <p:cTn id="83" dur="1000" fill="hold"/>
                                        <p:tgtEl>
                                          <p:spTgt spid="618506"/>
                                        </p:tgtEl>
                                        <p:attrNameLst>
                                          <p:attrName>ppt_h</p:attrName>
                                        </p:attrNameLst>
                                      </p:cBhvr>
                                      <p:tavLst>
                                        <p:tav tm="0">
                                          <p:val>
                                            <p:strVal val="#ppt_h"/>
                                          </p:val>
                                        </p:tav>
                                        <p:tav tm="100000">
                                          <p:val>
                                            <p:strVal val="#ppt_h"/>
                                          </p:val>
                                        </p:tav>
                                      </p:tavLst>
                                    </p:anim>
                                    <p:animEffect transition="in" filter="fade">
                                      <p:cBhvr>
                                        <p:cTn id="84" dur="1000"/>
                                        <p:tgtEl>
                                          <p:spTgt spid="618506"/>
                                        </p:tgtEl>
                                      </p:cBhvr>
                                    </p:animEffect>
                                  </p:childTnLst>
                                </p:cTn>
                              </p:par>
                            </p:childTnLst>
                          </p:cTn>
                        </p:par>
                        <p:par>
                          <p:cTn id="85" fill="hold">
                            <p:stCondLst>
                              <p:cond delay="2000"/>
                            </p:stCondLst>
                            <p:childTnLst>
                              <p:par>
                                <p:cTn id="86" presetID="55" presetClass="entr" presetSubtype="0" fill="hold" nodeType="afterEffect">
                                  <p:stCondLst>
                                    <p:cond delay="0"/>
                                  </p:stCondLst>
                                  <p:childTnLst>
                                    <p:set>
                                      <p:cBhvr>
                                        <p:cTn id="87" dur="1" fill="hold">
                                          <p:stCondLst>
                                            <p:cond delay="0"/>
                                          </p:stCondLst>
                                        </p:cTn>
                                        <p:tgtEl>
                                          <p:spTgt spid="618510"/>
                                        </p:tgtEl>
                                        <p:attrNameLst>
                                          <p:attrName>style.visibility</p:attrName>
                                        </p:attrNameLst>
                                      </p:cBhvr>
                                      <p:to>
                                        <p:strVal val="visible"/>
                                      </p:to>
                                    </p:set>
                                    <p:anim calcmode="lin" valueType="num">
                                      <p:cBhvr>
                                        <p:cTn id="88" dur="1000" fill="hold"/>
                                        <p:tgtEl>
                                          <p:spTgt spid="618510"/>
                                        </p:tgtEl>
                                        <p:attrNameLst>
                                          <p:attrName>ppt_w</p:attrName>
                                        </p:attrNameLst>
                                      </p:cBhvr>
                                      <p:tavLst>
                                        <p:tav tm="0">
                                          <p:val>
                                            <p:strVal val="#ppt_w*0.70"/>
                                          </p:val>
                                        </p:tav>
                                        <p:tav tm="100000">
                                          <p:val>
                                            <p:strVal val="#ppt_w"/>
                                          </p:val>
                                        </p:tav>
                                      </p:tavLst>
                                    </p:anim>
                                    <p:anim calcmode="lin" valueType="num">
                                      <p:cBhvr>
                                        <p:cTn id="89" dur="1000" fill="hold"/>
                                        <p:tgtEl>
                                          <p:spTgt spid="618510"/>
                                        </p:tgtEl>
                                        <p:attrNameLst>
                                          <p:attrName>ppt_h</p:attrName>
                                        </p:attrNameLst>
                                      </p:cBhvr>
                                      <p:tavLst>
                                        <p:tav tm="0">
                                          <p:val>
                                            <p:strVal val="#ppt_h"/>
                                          </p:val>
                                        </p:tav>
                                        <p:tav tm="100000">
                                          <p:val>
                                            <p:strVal val="#ppt_h"/>
                                          </p:val>
                                        </p:tav>
                                      </p:tavLst>
                                    </p:anim>
                                    <p:animEffect transition="in" filter="fade">
                                      <p:cBhvr>
                                        <p:cTn id="90" dur="1000"/>
                                        <p:tgtEl>
                                          <p:spTgt spid="618510"/>
                                        </p:tgtEl>
                                      </p:cBhvr>
                                    </p:animEffect>
                                  </p:childTnLst>
                                </p:cTn>
                              </p:par>
                            </p:childTnLst>
                          </p:cTn>
                        </p:par>
                        <p:par>
                          <p:cTn id="91" fill="hold">
                            <p:stCondLst>
                              <p:cond delay="3000"/>
                            </p:stCondLst>
                            <p:childTnLst>
                              <p:par>
                                <p:cTn id="92" presetID="55" presetClass="entr" presetSubtype="0" fill="hold" nodeType="afterEffect">
                                  <p:stCondLst>
                                    <p:cond delay="0"/>
                                  </p:stCondLst>
                                  <p:childTnLst>
                                    <p:set>
                                      <p:cBhvr>
                                        <p:cTn id="93" dur="1" fill="hold">
                                          <p:stCondLst>
                                            <p:cond delay="0"/>
                                          </p:stCondLst>
                                        </p:cTn>
                                        <p:tgtEl>
                                          <p:spTgt spid="618515"/>
                                        </p:tgtEl>
                                        <p:attrNameLst>
                                          <p:attrName>style.visibility</p:attrName>
                                        </p:attrNameLst>
                                      </p:cBhvr>
                                      <p:to>
                                        <p:strVal val="visible"/>
                                      </p:to>
                                    </p:set>
                                    <p:anim calcmode="lin" valueType="num">
                                      <p:cBhvr>
                                        <p:cTn id="94" dur="1000" fill="hold"/>
                                        <p:tgtEl>
                                          <p:spTgt spid="618515"/>
                                        </p:tgtEl>
                                        <p:attrNameLst>
                                          <p:attrName>ppt_w</p:attrName>
                                        </p:attrNameLst>
                                      </p:cBhvr>
                                      <p:tavLst>
                                        <p:tav tm="0">
                                          <p:val>
                                            <p:strVal val="#ppt_w*0.70"/>
                                          </p:val>
                                        </p:tav>
                                        <p:tav tm="100000">
                                          <p:val>
                                            <p:strVal val="#ppt_w"/>
                                          </p:val>
                                        </p:tav>
                                      </p:tavLst>
                                    </p:anim>
                                    <p:anim calcmode="lin" valueType="num">
                                      <p:cBhvr>
                                        <p:cTn id="95" dur="1000" fill="hold"/>
                                        <p:tgtEl>
                                          <p:spTgt spid="618515"/>
                                        </p:tgtEl>
                                        <p:attrNameLst>
                                          <p:attrName>ppt_h</p:attrName>
                                        </p:attrNameLst>
                                      </p:cBhvr>
                                      <p:tavLst>
                                        <p:tav tm="0">
                                          <p:val>
                                            <p:strVal val="#ppt_h"/>
                                          </p:val>
                                        </p:tav>
                                        <p:tav tm="100000">
                                          <p:val>
                                            <p:strVal val="#ppt_h"/>
                                          </p:val>
                                        </p:tav>
                                      </p:tavLst>
                                    </p:anim>
                                    <p:animEffect transition="in" filter="fade">
                                      <p:cBhvr>
                                        <p:cTn id="96" dur="1000"/>
                                        <p:tgtEl>
                                          <p:spTgt spid="618515"/>
                                        </p:tgtEl>
                                      </p:cBhvr>
                                    </p:animEffect>
                                  </p:childTnLst>
                                </p:cTn>
                              </p:par>
                            </p:childTnLst>
                          </p:cTn>
                        </p:par>
                      </p:childTnLst>
                    </p:cTn>
                  </p:par>
                  <p:par>
                    <p:cTn id="97" fill="hold">
                      <p:stCondLst>
                        <p:cond delay="indefinite"/>
                      </p:stCondLst>
                      <p:childTnLst>
                        <p:par>
                          <p:cTn id="98" fill="hold">
                            <p:stCondLst>
                              <p:cond delay="0"/>
                            </p:stCondLst>
                            <p:childTnLst>
                              <p:par>
                                <p:cTn id="99" presetID="55" presetClass="entr" presetSubtype="0" fill="hold" grpId="0" nodeType="clickEffect">
                                  <p:stCondLst>
                                    <p:cond delay="0"/>
                                  </p:stCondLst>
                                  <p:childTnLst>
                                    <p:set>
                                      <p:cBhvr>
                                        <p:cTn id="100" dur="1" fill="hold">
                                          <p:stCondLst>
                                            <p:cond delay="0"/>
                                          </p:stCondLst>
                                        </p:cTn>
                                        <p:tgtEl>
                                          <p:spTgt spid="618522"/>
                                        </p:tgtEl>
                                        <p:attrNameLst>
                                          <p:attrName>style.visibility</p:attrName>
                                        </p:attrNameLst>
                                      </p:cBhvr>
                                      <p:to>
                                        <p:strVal val="visible"/>
                                      </p:to>
                                    </p:set>
                                    <p:anim calcmode="lin" valueType="num">
                                      <p:cBhvr>
                                        <p:cTn id="101" dur="1000" fill="hold"/>
                                        <p:tgtEl>
                                          <p:spTgt spid="618522"/>
                                        </p:tgtEl>
                                        <p:attrNameLst>
                                          <p:attrName>ppt_w</p:attrName>
                                        </p:attrNameLst>
                                      </p:cBhvr>
                                      <p:tavLst>
                                        <p:tav tm="0">
                                          <p:val>
                                            <p:strVal val="#ppt_w*0.70"/>
                                          </p:val>
                                        </p:tav>
                                        <p:tav tm="100000">
                                          <p:val>
                                            <p:strVal val="#ppt_w"/>
                                          </p:val>
                                        </p:tav>
                                      </p:tavLst>
                                    </p:anim>
                                    <p:anim calcmode="lin" valueType="num">
                                      <p:cBhvr>
                                        <p:cTn id="102" dur="1000" fill="hold"/>
                                        <p:tgtEl>
                                          <p:spTgt spid="618522"/>
                                        </p:tgtEl>
                                        <p:attrNameLst>
                                          <p:attrName>ppt_h</p:attrName>
                                        </p:attrNameLst>
                                      </p:cBhvr>
                                      <p:tavLst>
                                        <p:tav tm="0">
                                          <p:val>
                                            <p:strVal val="#ppt_h"/>
                                          </p:val>
                                        </p:tav>
                                        <p:tav tm="100000">
                                          <p:val>
                                            <p:strVal val="#ppt_h"/>
                                          </p:val>
                                        </p:tav>
                                      </p:tavLst>
                                    </p:anim>
                                    <p:animEffect transition="in" filter="fade">
                                      <p:cBhvr>
                                        <p:cTn id="103" dur="1000"/>
                                        <p:tgtEl>
                                          <p:spTgt spid="6185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8519" grpId="0" animBg="1"/>
      <p:bldP spid="618520" grpId="0" animBg="1"/>
      <p:bldP spid="618521" grpId="0" animBg="1"/>
      <p:bldP spid="61852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9522" name="Object 2"/>
          <p:cNvGraphicFramePr>
            <a:graphicFrameLocks noGrp="1" noChangeAspect="1"/>
          </p:cNvGraphicFramePr>
          <p:nvPr>
            <p:ph idx="1"/>
          </p:nvPr>
        </p:nvGraphicFramePr>
        <p:xfrm>
          <a:off x="1187450" y="1773238"/>
          <a:ext cx="7127875" cy="2017712"/>
        </p:xfrm>
        <a:graphic>
          <a:graphicData uri="http://schemas.openxmlformats.org/presentationml/2006/ole">
            <mc:AlternateContent xmlns:mc="http://schemas.openxmlformats.org/markup-compatibility/2006">
              <mc:Choice xmlns:v="urn:schemas-microsoft-com:vml" Requires="v">
                <p:oleObj name="公式" r:id="rId3" imgW="3365500" imgH="952500" progId="Equation.3">
                  <p:embed/>
                </p:oleObj>
              </mc:Choice>
              <mc:Fallback>
                <p:oleObj name="公式" r:id="rId3" imgW="3365500" imgH="952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773238"/>
                        <a:ext cx="7127875"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307" name="Rectangle 3"/>
          <p:cNvSpPr>
            <a:spLocks noChangeArrowheads="1"/>
          </p:cNvSpPr>
          <p:nvPr/>
        </p:nvSpPr>
        <p:spPr bwMode="auto">
          <a:xfrm>
            <a:off x="3143250" y="3724275"/>
            <a:ext cx="6286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ctr" eaLnBrk="1" hangingPunct="1">
              <a:lnSpc>
                <a:spcPct val="85000"/>
              </a:lnSpc>
              <a:spcBef>
                <a:spcPct val="20000"/>
              </a:spcBef>
              <a:buClr>
                <a:schemeClr val="accent2"/>
              </a:buClr>
              <a:buFont typeface="Wingdings" panose="05000000000000000000" pitchFamily="2" charset="2"/>
              <a:buNone/>
            </a:pPr>
            <a:r>
              <a:rPr lang="en-US" altLang="zh-CN" sz="1600">
                <a:latin typeface="Arial" panose="020B0604020202020204" pitchFamily="34" charset="0"/>
                <a:ea typeface="华文楷体" panose="02010600040101010101" pitchFamily="2" charset="-122"/>
              </a:rPr>
              <a:t> </a:t>
            </a:r>
            <a:r>
              <a:rPr lang="en-US" altLang="zh-CN" sz="1600">
                <a:latin typeface="华文楷体" panose="02010600040101010101" pitchFamily="2" charset="-122"/>
                <a:ea typeface="华文楷体" panose="02010600040101010101" pitchFamily="2" charset="-122"/>
              </a:rPr>
              <a:t> </a:t>
            </a:r>
            <a:endParaRPr lang="en-US" altLang="zh-CN" sz="1100"/>
          </a:p>
          <a:p>
            <a:pPr algn="ctr">
              <a:lnSpc>
                <a:spcPct val="85000"/>
              </a:lnSpc>
              <a:spcBef>
                <a:spcPct val="20000"/>
              </a:spcBef>
              <a:buClr>
                <a:schemeClr val="accent2"/>
              </a:buClr>
              <a:buFont typeface="Wingdings" panose="05000000000000000000" pitchFamily="2" charset="2"/>
              <a:buNone/>
            </a:pP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r>
              <a:rPr lang="en-US" altLang="zh-CN" sz="1600">
                <a:solidFill>
                  <a:srgbClr val="000000"/>
                </a:solidFill>
                <a:latin typeface="Arial" panose="020B0604020202020204" pitchFamily="34" charset="0"/>
                <a:ea typeface="华文楷体" panose="02010600040101010101" pitchFamily="2" charset="-122"/>
              </a:rPr>
              <a:t>  </a:t>
            </a:r>
            <a:r>
              <a:rPr lang="en-US" altLang="zh-CN" sz="1600">
                <a:solidFill>
                  <a:srgbClr val="000000"/>
                </a:solidFill>
                <a:latin typeface="华文楷体" panose="02010600040101010101" pitchFamily="2" charset="-122"/>
                <a:ea typeface="华文楷体" panose="02010600040101010101" pitchFamily="2" charset="-122"/>
              </a:rPr>
              <a:t> </a:t>
            </a:r>
            <a:endParaRPr lang="en-US" altLang="zh-CN" sz="1800">
              <a:latin typeface="Arial" panose="020B0604020202020204" pitchFamily="34" charset="0"/>
              <a:ea typeface="宋体" panose="02010600030101010101" pitchFamily="2" charset="-122"/>
            </a:endParaRPr>
          </a:p>
        </p:txBody>
      </p:sp>
      <p:graphicFrame>
        <p:nvGraphicFramePr>
          <p:cNvPr id="619525" name="Object 3"/>
          <p:cNvGraphicFramePr>
            <a:graphicFrameLocks noChangeAspect="1"/>
          </p:cNvGraphicFramePr>
          <p:nvPr/>
        </p:nvGraphicFramePr>
        <p:xfrm>
          <a:off x="1403350" y="4797425"/>
          <a:ext cx="1239838" cy="465138"/>
        </p:xfrm>
        <a:graphic>
          <a:graphicData uri="http://schemas.openxmlformats.org/presentationml/2006/ole">
            <mc:AlternateContent xmlns:mc="http://schemas.openxmlformats.org/markup-compatibility/2006">
              <mc:Choice xmlns:v="urn:schemas-microsoft-com:vml" Requires="v">
                <p:oleObj name="公式" r:id="rId5" imgW="660400" imgH="203200" progId="Equation.3">
                  <p:embed/>
                </p:oleObj>
              </mc:Choice>
              <mc:Fallback>
                <p:oleObj name="公式" r:id="rId5" imgW="660400" imgH="203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4797425"/>
                        <a:ext cx="1239838" cy="465138"/>
                      </a:xfrm>
                      <a:prstGeom prst="rect">
                        <a:avLst/>
                      </a:prstGeom>
                      <a:solidFill>
                        <a:schemeClr val="bg1"/>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9526" name="Object 4"/>
          <p:cNvGraphicFramePr>
            <a:graphicFrameLocks noChangeAspect="1"/>
          </p:cNvGraphicFramePr>
          <p:nvPr/>
        </p:nvGraphicFramePr>
        <p:xfrm>
          <a:off x="1552575" y="5729288"/>
          <a:ext cx="974725" cy="525462"/>
        </p:xfrm>
        <a:graphic>
          <a:graphicData uri="http://schemas.openxmlformats.org/presentationml/2006/ole">
            <mc:AlternateContent xmlns:mc="http://schemas.openxmlformats.org/markup-compatibility/2006">
              <mc:Choice xmlns:v="urn:schemas-microsoft-com:vml" Requires="v">
                <p:oleObj name="公式" r:id="rId7" imgW="457200" imgH="203200" progId="Equation.3">
                  <p:embed/>
                </p:oleObj>
              </mc:Choice>
              <mc:Fallback>
                <p:oleObj name="公式" r:id="rId7" imgW="457200" imgH="2032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52575" y="5729288"/>
                        <a:ext cx="97472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6699"/>
                            </a:solidFill>
                            <a:miter lim="800000"/>
                            <a:headEnd/>
                            <a:tailEnd/>
                          </a14:hiddenLine>
                        </a:ext>
                      </a:extLst>
                    </p:spPr>
                  </p:pic>
                </p:oleObj>
              </mc:Fallback>
            </mc:AlternateContent>
          </a:graphicData>
        </a:graphic>
      </p:graphicFrame>
      <p:graphicFrame>
        <p:nvGraphicFramePr>
          <p:cNvPr id="619527" name="Object 5"/>
          <p:cNvGraphicFramePr>
            <a:graphicFrameLocks noChangeAspect="1"/>
          </p:cNvGraphicFramePr>
          <p:nvPr/>
        </p:nvGraphicFramePr>
        <p:xfrm>
          <a:off x="2987675" y="4437063"/>
          <a:ext cx="1646238" cy="990600"/>
        </p:xfrm>
        <a:graphic>
          <a:graphicData uri="http://schemas.openxmlformats.org/presentationml/2006/ole">
            <mc:AlternateContent xmlns:mc="http://schemas.openxmlformats.org/markup-compatibility/2006">
              <mc:Choice xmlns:v="urn:schemas-microsoft-com:vml" Requires="v">
                <p:oleObj name="公式" r:id="rId9" imgW="876300" imgH="431800" progId="Equation.3">
                  <p:embed/>
                </p:oleObj>
              </mc:Choice>
              <mc:Fallback>
                <p:oleObj name="公式" r:id="rId9" imgW="876300" imgH="4318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87675" y="4437063"/>
                        <a:ext cx="1646238" cy="990600"/>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619528" name="Object 6"/>
          <p:cNvGraphicFramePr>
            <a:graphicFrameLocks noChangeAspect="1"/>
          </p:cNvGraphicFramePr>
          <p:nvPr/>
        </p:nvGraphicFramePr>
        <p:xfrm>
          <a:off x="2936875" y="5740400"/>
          <a:ext cx="4548188" cy="592138"/>
        </p:xfrm>
        <a:graphic>
          <a:graphicData uri="http://schemas.openxmlformats.org/presentationml/2006/ole">
            <mc:AlternateContent xmlns:mc="http://schemas.openxmlformats.org/markup-compatibility/2006">
              <mc:Choice xmlns:v="urn:schemas-microsoft-com:vml" Requires="v">
                <p:oleObj name="公式" r:id="rId11" imgW="2133600" imgH="228600" progId="Equation.3">
                  <p:embed/>
                </p:oleObj>
              </mc:Choice>
              <mc:Fallback>
                <p:oleObj name="公式" r:id="rId11" imgW="2133600" imgH="2286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36875" y="5740400"/>
                        <a:ext cx="4548188" cy="592138"/>
                      </a:xfrm>
                      <a:prstGeom prst="rect">
                        <a:avLst/>
                      </a:prstGeom>
                      <a:solidFill>
                        <a:schemeClr val="bg1"/>
                      </a:solidFill>
                      <a:ln w="9525">
                        <a:solidFill>
                          <a:srgbClr val="666699"/>
                        </a:solidFill>
                        <a:miter lim="800000"/>
                        <a:headEnd/>
                        <a:tailEnd/>
                      </a:ln>
                      <a:effectLst>
                        <a:outerShdw dist="35921" dir="2700000" algn="ctr" rotWithShape="0">
                          <a:srgbClr val="808080"/>
                        </a:outerShdw>
                      </a:effectLst>
                    </p:spPr>
                  </p:pic>
                </p:oleObj>
              </mc:Fallback>
            </mc:AlternateContent>
          </a:graphicData>
        </a:graphic>
      </p:graphicFrame>
      <p:sp>
        <p:nvSpPr>
          <p:cNvPr id="619529" name="Rectangle 9"/>
          <p:cNvSpPr>
            <a:spLocks noChangeArrowheads="1"/>
          </p:cNvSpPr>
          <p:nvPr/>
        </p:nvSpPr>
        <p:spPr bwMode="auto">
          <a:xfrm>
            <a:off x="971550" y="188913"/>
            <a:ext cx="1871663" cy="463550"/>
          </a:xfrm>
          <a:prstGeom prst="rect">
            <a:avLst/>
          </a:prstGeom>
          <a:noFill/>
          <a:ln w="9525" algn="ctr">
            <a:noFill/>
            <a:miter lim="800000"/>
          </a:ln>
          <a:effectLst/>
        </p:spPr>
        <p:txBody>
          <a:bodyPr anchor="b"/>
          <a:lstStyle/>
          <a:p>
            <a:pPr eaLnBrk="1" hangingPunct="1">
              <a:lnSpc>
                <a:spcPct val="85000"/>
              </a:lnSpc>
              <a:spcBef>
                <a:spcPct val="20000"/>
              </a:spcBef>
              <a:buClr>
                <a:schemeClr val="accent2"/>
              </a:buClr>
              <a:buFont typeface="Wingdings" panose="05000000000000000000" pitchFamily="2" charset="2"/>
              <a:buNone/>
              <a:defRPr/>
            </a:pPr>
            <a:r>
              <a:rPr lang="zh-CN" altLang="en-US" sz="3200" dirty="0">
                <a:solidFill>
                  <a:srgbClr val="FF0000"/>
                </a:solidFill>
                <a:effectLst>
                  <a:outerShdw blurRad="38100" dist="38100" dir="2700000" algn="tl">
                    <a:srgbClr val="C0C0C0"/>
                  </a:outerShdw>
                </a:effectLst>
                <a:latin typeface="楷体_GB2312" pitchFamily="49" charset="-122"/>
                <a:ea typeface="华文行楷" panose="02010800040101010101" pitchFamily="2" charset="-122"/>
              </a:rPr>
              <a:t>总结</a:t>
            </a:r>
            <a:endParaRPr lang="zh-CN" altLang="en-US" dirty="0">
              <a:solidFill>
                <a:srgbClr val="990000"/>
              </a:solidFill>
              <a:effectLst>
                <a:outerShdw blurRad="38100" dist="38100" dir="2700000" algn="tl">
                  <a:srgbClr val="C0C0C0"/>
                </a:outerShdw>
              </a:effectLst>
              <a:latin typeface="楷体_GB2312" pitchFamily="49" charset="-122"/>
              <a:ea typeface="华文行楷" panose="02010800040101010101" pitchFamily="2" charset="-122"/>
            </a:endParaRPr>
          </a:p>
        </p:txBody>
      </p:sp>
      <p:sp>
        <p:nvSpPr>
          <p:cNvPr id="619530" name="Text Box 10"/>
          <p:cNvSpPr txBox="1">
            <a:spLocks noChangeArrowheads="1"/>
          </p:cNvSpPr>
          <p:nvPr/>
        </p:nvSpPr>
        <p:spPr bwMode="auto">
          <a:xfrm>
            <a:off x="1187450" y="908050"/>
            <a:ext cx="7345363" cy="474663"/>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latin typeface="华文行楷" panose="02010800040101010101" pitchFamily="2" charset="-122"/>
                <a:ea typeface="华文行楷" panose="02010800040101010101" pitchFamily="2" charset="-122"/>
              </a:rPr>
              <a:t>系统函数极点零点分布与系统频率特性的关系</a:t>
            </a:r>
          </a:p>
        </p:txBody>
      </p:sp>
      <p:sp>
        <p:nvSpPr>
          <p:cNvPr id="11" name="日期占位符 10"/>
          <p:cNvSpPr>
            <a:spLocks noGrp="1"/>
          </p:cNvSpPr>
          <p:nvPr>
            <p:ph type="dt" sz="quarter" idx="10"/>
          </p:nvPr>
        </p:nvSpPr>
        <p:spPr>
          <a:xfrm>
            <a:off x="0" y="6538913"/>
            <a:ext cx="1328738" cy="319087"/>
          </a:xfrm>
        </p:spPr>
        <p:txBody>
          <a:bodyPr/>
          <a:lstStyle/>
          <a:p>
            <a:pPr>
              <a:defRPr/>
            </a:pPr>
            <a:fld id="{2DBD7CFA-3D1E-4AA3-8B75-A2B94D18A6F7}" type="datetime1">
              <a:rPr lang="zh-CN" altLang="en-US"/>
              <a:t>2026/4/28</a:t>
            </a:fld>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720"/>
    </mc:Choice>
    <mc:Fallback xmlns="">
      <p:transition spd="slow" advTm="28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619530"/>
                                        </p:tgtEl>
                                        <p:attrNameLst>
                                          <p:attrName>style.visibility</p:attrName>
                                        </p:attrNameLst>
                                      </p:cBhvr>
                                      <p:to>
                                        <p:strVal val="visible"/>
                                      </p:to>
                                    </p:set>
                                    <p:anim calcmode="lin" valueType="num">
                                      <p:cBhvr>
                                        <p:cTn id="7" dur="1000" fill="hold"/>
                                        <p:tgtEl>
                                          <p:spTgt spid="619530"/>
                                        </p:tgtEl>
                                        <p:attrNameLst>
                                          <p:attrName>ppt_w</p:attrName>
                                        </p:attrNameLst>
                                      </p:cBhvr>
                                      <p:tavLst>
                                        <p:tav tm="0">
                                          <p:val>
                                            <p:strVal val="#ppt_w*0.70"/>
                                          </p:val>
                                        </p:tav>
                                        <p:tav tm="100000">
                                          <p:val>
                                            <p:strVal val="#ppt_w"/>
                                          </p:val>
                                        </p:tav>
                                      </p:tavLst>
                                    </p:anim>
                                    <p:anim calcmode="lin" valueType="num">
                                      <p:cBhvr>
                                        <p:cTn id="8" dur="1000" fill="hold"/>
                                        <p:tgtEl>
                                          <p:spTgt spid="619530"/>
                                        </p:tgtEl>
                                        <p:attrNameLst>
                                          <p:attrName>ppt_h</p:attrName>
                                        </p:attrNameLst>
                                      </p:cBhvr>
                                      <p:tavLst>
                                        <p:tav tm="0">
                                          <p:val>
                                            <p:strVal val="#ppt_h"/>
                                          </p:val>
                                        </p:tav>
                                        <p:tav tm="100000">
                                          <p:val>
                                            <p:strVal val="#ppt_h"/>
                                          </p:val>
                                        </p:tav>
                                      </p:tavLst>
                                    </p:anim>
                                    <p:animEffect transition="in" filter="fade">
                                      <p:cBhvr>
                                        <p:cTn id="9" dur="1000"/>
                                        <p:tgtEl>
                                          <p:spTgt spid="61953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619522"/>
                                        </p:tgtEl>
                                        <p:attrNameLst>
                                          <p:attrName>style.visibility</p:attrName>
                                        </p:attrNameLst>
                                      </p:cBhvr>
                                      <p:to>
                                        <p:strVal val="visible"/>
                                      </p:to>
                                    </p:set>
                                    <p:anim calcmode="lin" valueType="num">
                                      <p:cBhvr>
                                        <p:cTn id="14" dur="1000" fill="hold"/>
                                        <p:tgtEl>
                                          <p:spTgt spid="619522"/>
                                        </p:tgtEl>
                                        <p:attrNameLst>
                                          <p:attrName>ppt_w</p:attrName>
                                        </p:attrNameLst>
                                      </p:cBhvr>
                                      <p:tavLst>
                                        <p:tav tm="0">
                                          <p:val>
                                            <p:strVal val="#ppt_w*0.70"/>
                                          </p:val>
                                        </p:tav>
                                        <p:tav tm="100000">
                                          <p:val>
                                            <p:strVal val="#ppt_w"/>
                                          </p:val>
                                        </p:tav>
                                      </p:tavLst>
                                    </p:anim>
                                    <p:anim calcmode="lin" valueType="num">
                                      <p:cBhvr>
                                        <p:cTn id="15" dur="1000" fill="hold"/>
                                        <p:tgtEl>
                                          <p:spTgt spid="619522"/>
                                        </p:tgtEl>
                                        <p:attrNameLst>
                                          <p:attrName>ppt_h</p:attrName>
                                        </p:attrNameLst>
                                      </p:cBhvr>
                                      <p:tavLst>
                                        <p:tav tm="0">
                                          <p:val>
                                            <p:strVal val="#ppt_h"/>
                                          </p:val>
                                        </p:tav>
                                        <p:tav tm="100000">
                                          <p:val>
                                            <p:strVal val="#ppt_h"/>
                                          </p:val>
                                        </p:tav>
                                      </p:tavLst>
                                    </p:anim>
                                    <p:animEffect transition="in" filter="fade">
                                      <p:cBhvr>
                                        <p:cTn id="16" dur="1000"/>
                                        <p:tgtEl>
                                          <p:spTgt spid="619522"/>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619525"/>
                                        </p:tgtEl>
                                        <p:attrNameLst>
                                          <p:attrName>style.visibility</p:attrName>
                                        </p:attrNameLst>
                                      </p:cBhvr>
                                      <p:to>
                                        <p:strVal val="visible"/>
                                      </p:to>
                                    </p:set>
                                    <p:animEffect transition="in" filter="wipe(left)">
                                      <p:cBhvr>
                                        <p:cTn id="20" dur="500"/>
                                        <p:tgtEl>
                                          <p:spTgt spid="619525"/>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619526"/>
                                        </p:tgtEl>
                                        <p:attrNameLst>
                                          <p:attrName>style.visibility</p:attrName>
                                        </p:attrNameLst>
                                      </p:cBhvr>
                                      <p:to>
                                        <p:strVal val="visible"/>
                                      </p:to>
                                    </p:set>
                                    <p:animEffect transition="in" filter="wipe(left)">
                                      <p:cBhvr>
                                        <p:cTn id="24" dur="500"/>
                                        <p:tgtEl>
                                          <p:spTgt spid="61952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619527"/>
                                        </p:tgtEl>
                                        <p:attrNameLst>
                                          <p:attrName>style.visibility</p:attrName>
                                        </p:attrNameLst>
                                      </p:cBhvr>
                                      <p:to>
                                        <p:strVal val="visible"/>
                                      </p:to>
                                    </p:set>
                                    <p:animEffect transition="in" filter="wipe(left)">
                                      <p:cBhvr>
                                        <p:cTn id="29" dur="500"/>
                                        <p:tgtEl>
                                          <p:spTgt spid="61952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619528"/>
                                        </p:tgtEl>
                                        <p:attrNameLst>
                                          <p:attrName>style.visibility</p:attrName>
                                        </p:attrNameLst>
                                      </p:cBhvr>
                                      <p:to>
                                        <p:strVal val="visible"/>
                                      </p:to>
                                    </p:set>
                                    <p:animEffect transition="in" filter="wipe(left)">
                                      <p:cBhvr>
                                        <p:cTn id="34" dur="500"/>
                                        <p:tgtEl>
                                          <p:spTgt spid="619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30" grpId="0" animBg="1"/>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1"/>
          <p:cNvSpPr>
            <a:spLocks noGrp="1"/>
          </p:cNvSpPr>
          <p:nvPr>
            <p:ph type="dt" sz="quarter" idx="10"/>
          </p:nvPr>
        </p:nvSpPr>
        <p:spPr/>
        <p:txBody>
          <a:bodyPr/>
          <a:lstStyle/>
          <a:p>
            <a:pPr>
              <a:defRPr/>
            </a:pPr>
            <a:fld id="{B845CFAA-56CB-44AC-A0E1-059879096685}" type="datetime1">
              <a:rPr lang="zh-CN" altLang="en-US"/>
              <a:t>2026/4/28</a:t>
            </a:fld>
            <a:endParaRPr lang="en-US" altLang="zh-CN" dirty="0"/>
          </a:p>
        </p:txBody>
      </p:sp>
      <p:sp>
        <p:nvSpPr>
          <p:cNvPr id="99331" name="Rectangle 2"/>
          <p:cNvSpPr>
            <a:spLocks noGrp="1" noChangeArrowheads="1"/>
          </p:cNvSpPr>
          <p:nvPr>
            <p:ph type="title" idx="4294967295"/>
          </p:nvPr>
        </p:nvSpPr>
        <p:spPr>
          <a:xfrm>
            <a:off x="552450" y="228600"/>
            <a:ext cx="5021263" cy="463550"/>
          </a:xfrm>
          <a:noFill/>
        </p:spPr>
        <p:txBody>
          <a:bodyPr/>
          <a:lstStyle/>
          <a:p>
            <a:r>
              <a:rPr lang="zh-CN" altLang="en-US" sz="3200" b="1">
                <a:solidFill>
                  <a:srgbClr val="FF0000"/>
                </a:solidFill>
                <a:ea typeface="华文行楷" panose="02010800040101010101" pitchFamily="2" charset="-122"/>
              </a:rPr>
              <a:t>总结</a:t>
            </a:r>
            <a:r>
              <a:rPr lang="en-US" altLang="zh-CN" sz="3200" b="1">
                <a:solidFill>
                  <a:srgbClr val="FF0000"/>
                </a:solidFill>
                <a:ea typeface="华文行楷" panose="02010800040101010101" pitchFamily="2" charset="-122"/>
              </a:rPr>
              <a:t>--</a:t>
            </a:r>
            <a:r>
              <a:rPr lang="zh-CN" altLang="en-US" sz="2400" b="1">
                <a:solidFill>
                  <a:srgbClr val="990000"/>
                </a:solidFill>
                <a:ea typeface="华文行楷" panose="02010800040101010101" pitchFamily="2" charset="-122"/>
              </a:rPr>
              <a:t>系统的稳定性分析</a:t>
            </a:r>
          </a:p>
        </p:txBody>
      </p:sp>
      <p:sp>
        <p:nvSpPr>
          <p:cNvPr id="620547" name="Text Box 3"/>
          <p:cNvSpPr txBox="1">
            <a:spLocks noChangeArrowheads="1"/>
          </p:cNvSpPr>
          <p:nvPr/>
        </p:nvSpPr>
        <p:spPr bwMode="auto">
          <a:xfrm>
            <a:off x="539750" y="892175"/>
            <a:ext cx="172720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en-US" altLang="zh-CN">
                <a:solidFill>
                  <a:srgbClr val="800080"/>
                </a:solidFill>
                <a:latin typeface="华文行楷" panose="02010800040101010101" pitchFamily="2" charset="-122"/>
                <a:ea typeface="华文行楷" panose="02010800040101010101" pitchFamily="2" charset="-122"/>
              </a:rPr>
              <a:t>1</a:t>
            </a:r>
            <a:r>
              <a:rPr kumimoji="1" lang="zh-CN" altLang="en-US">
                <a:solidFill>
                  <a:srgbClr val="800080"/>
                </a:solidFill>
                <a:latin typeface="华文行楷" panose="02010800040101010101" pitchFamily="2" charset="-122"/>
                <a:ea typeface="华文行楷" panose="02010800040101010101" pitchFamily="2" charset="-122"/>
              </a:rPr>
              <a:t>）定义</a:t>
            </a:r>
          </a:p>
        </p:txBody>
      </p:sp>
      <p:sp>
        <p:nvSpPr>
          <p:cNvPr id="620548" name="Text Box 4"/>
          <p:cNvSpPr txBox="1">
            <a:spLocks noChangeArrowheads="1"/>
          </p:cNvSpPr>
          <p:nvPr/>
        </p:nvSpPr>
        <p:spPr bwMode="auto">
          <a:xfrm>
            <a:off x="395288" y="1484313"/>
            <a:ext cx="8137525"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solidFill>
                  <a:schemeClr val="accent2"/>
                </a:solidFill>
                <a:latin typeface="华文行楷" panose="02010800040101010101" pitchFamily="2" charset="-122"/>
                <a:ea typeface="华文行楷" panose="02010800040101010101" pitchFamily="2" charset="-122"/>
              </a:rPr>
              <a:t>（</a:t>
            </a:r>
            <a:r>
              <a:rPr kumimoji="1" lang="en-US" altLang="zh-CN">
                <a:solidFill>
                  <a:schemeClr val="accent2"/>
                </a:solidFill>
                <a:latin typeface="华文行楷" panose="02010800040101010101" pitchFamily="2" charset="-122"/>
                <a:ea typeface="华文行楷" panose="02010800040101010101" pitchFamily="2" charset="-122"/>
              </a:rPr>
              <a:t>1) </a:t>
            </a:r>
            <a:r>
              <a:rPr kumimoji="1" lang="zh-CN" altLang="en-US">
                <a:solidFill>
                  <a:schemeClr val="accent2"/>
                </a:solidFill>
                <a:latin typeface="华文行楷" panose="02010800040101010101" pitchFamily="2" charset="-122"/>
                <a:ea typeface="华文行楷" panose="02010800040101010101" pitchFamily="2" charset="-122"/>
              </a:rPr>
              <a:t>若一个系统对于有界激励信号产生有界的响应，则该系统是稳定的。即：</a:t>
            </a:r>
          </a:p>
        </p:txBody>
      </p:sp>
      <p:sp>
        <p:nvSpPr>
          <p:cNvPr id="620549" name="Text Box 5"/>
          <p:cNvSpPr txBox="1">
            <a:spLocks noChangeArrowheads="1"/>
          </p:cNvSpPr>
          <p:nvPr/>
        </p:nvSpPr>
        <p:spPr bwMode="auto">
          <a:xfrm>
            <a:off x="539750" y="3657600"/>
            <a:ext cx="5510213"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solidFill>
                  <a:schemeClr val="accent2"/>
                </a:solidFill>
                <a:latin typeface="华文行楷" panose="02010800040101010101" pitchFamily="2" charset="-122"/>
                <a:ea typeface="华文行楷" panose="02010800040101010101" pitchFamily="2" charset="-122"/>
              </a:rPr>
              <a:t>（</a:t>
            </a:r>
            <a:r>
              <a:rPr kumimoji="1" lang="en-US" altLang="zh-CN">
                <a:solidFill>
                  <a:schemeClr val="accent2"/>
                </a:solidFill>
                <a:latin typeface="华文行楷" panose="02010800040101010101" pitchFamily="2" charset="-122"/>
                <a:ea typeface="华文行楷" panose="02010800040101010101" pitchFamily="2" charset="-122"/>
              </a:rPr>
              <a:t>2</a:t>
            </a:r>
            <a:r>
              <a:rPr kumimoji="1" lang="zh-CN" altLang="en-US">
                <a:solidFill>
                  <a:schemeClr val="accent2"/>
                </a:solidFill>
                <a:latin typeface="华文行楷" panose="02010800040101010101" pitchFamily="2" charset="-122"/>
                <a:ea typeface="华文行楷" panose="02010800040101010101" pitchFamily="2" charset="-122"/>
              </a:rPr>
              <a:t>）稳定性准则（充要条件）</a:t>
            </a:r>
          </a:p>
        </p:txBody>
      </p:sp>
      <p:sp>
        <p:nvSpPr>
          <p:cNvPr id="620550" name="Text Box 6"/>
          <p:cNvSpPr txBox="1">
            <a:spLocks noChangeArrowheads="1"/>
          </p:cNvSpPr>
          <p:nvPr/>
        </p:nvSpPr>
        <p:spPr bwMode="auto">
          <a:xfrm>
            <a:off x="647700" y="5675313"/>
            <a:ext cx="8496300" cy="1182687"/>
          </a:xfrm>
          <a:prstGeom prst="rect">
            <a:avLst/>
          </a:prstGeom>
          <a:solidFill>
            <a:srgbClr val="FFFF66"/>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en-US" altLang="zh-CN">
                <a:solidFill>
                  <a:srgbClr val="FF0000"/>
                </a:solidFill>
                <a:ea typeface="楷体_GB2312" pitchFamily="49" charset="-122"/>
              </a:rPr>
              <a:t>   </a:t>
            </a:r>
            <a:r>
              <a:rPr kumimoji="1" lang="zh-CN" altLang="en-US">
                <a:solidFill>
                  <a:srgbClr val="FF0000"/>
                </a:solidFill>
                <a:ea typeface="楷体_GB2312" pitchFamily="49" charset="-122"/>
              </a:rPr>
              <a:t>可见，系统稳定性取决于系统本身的结构和参数，是系统自身性质之一。</a:t>
            </a:r>
            <a:r>
              <a:rPr kumimoji="1" lang="zh-CN" altLang="en-US">
                <a:solidFill>
                  <a:srgbClr val="0000FF"/>
                </a:solidFill>
                <a:ea typeface="楷体_GB2312" pitchFamily="49" charset="-122"/>
              </a:rPr>
              <a:t>系统是否稳定与激励信号无关。</a:t>
            </a:r>
          </a:p>
        </p:txBody>
      </p:sp>
      <p:graphicFrame>
        <p:nvGraphicFramePr>
          <p:cNvPr id="620551" name="Object 2"/>
          <p:cNvGraphicFramePr>
            <a:graphicFrameLocks noChangeAspect="1"/>
          </p:cNvGraphicFramePr>
          <p:nvPr/>
        </p:nvGraphicFramePr>
        <p:xfrm>
          <a:off x="1693863" y="2608263"/>
          <a:ext cx="4495800" cy="533400"/>
        </p:xfrm>
        <a:graphic>
          <a:graphicData uri="http://schemas.openxmlformats.org/presentationml/2006/ole">
            <mc:AlternateContent xmlns:mc="http://schemas.openxmlformats.org/markup-compatibility/2006">
              <mc:Choice xmlns:v="urn:schemas-microsoft-com:vml" Requires="v">
                <p:oleObj name="Equation" r:id="rId3" imgW="1304925" imgH="140335" progId="Equation.3">
                  <p:embed/>
                </p:oleObj>
              </mc:Choice>
              <mc:Fallback>
                <p:oleObj name="Equation" r:id="rId3" imgW="1304925" imgH="14033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3863" y="2608263"/>
                        <a:ext cx="4495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0552" name="Text Box 8"/>
          <p:cNvSpPr txBox="1">
            <a:spLocks noChangeArrowheads="1"/>
          </p:cNvSpPr>
          <p:nvPr/>
        </p:nvSpPr>
        <p:spPr bwMode="auto">
          <a:xfrm>
            <a:off x="3468688" y="3124200"/>
            <a:ext cx="5294312"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latin typeface="Tahoma" panose="020B0604030504040204" pitchFamily="34" charset="0"/>
                <a:ea typeface="宋体" panose="02010600030101010101" pitchFamily="2" charset="-122"/>
              </a:rPr>
              <a:t>其中：</a:t>
            </a:r>
            <a:r>
              <a:rPr kumimoji="1" lang="en-US" altLang="zh-CN">
                <a:solidFill>
                  <a:srgbClr val="800000"/>
                </a:solidFill>
                <a:latin typeface="Tahoma" panose="020B0604030504040204" pitchFamily="34" charset="0"/>
                <a:ea typeface="宋体" panose="02010600030101010101" pitchFamily="2" charset="-122"/>
              </a:rPr>
              <a:t>M</a:t>
            </a:r>
            <a:r>
              <a:rPr kumimoji="1" lang="en-US" altLang="zh-CN" baseline="-25000">
                <a:solidFill>
                  <a:srgbClr val="800000"/>
                </a:solidFill>
                <a:latin typeface="Tahoma" panose="020B0604030504040204" pitchFamily="34" charset="0"/>
                <a:ea typeface="宋体" panose="02010600030101010101" pitchFamily="2" charset="-122"/>
              </a:rPr>
              <a:t>f </a:t>
            </a:r>
            <a:r>
              <a:rPr kumimoji="1" lang="zh-CN" altLang="en-US">
                <a:solidFill>
                  <a:srgbClr val="800000"/>
                </a:solidFill>
                <a:latin typeface="Tahoma" panose="020B0604030504040204" pitchFamily="34" charset="0"/>
                <a:ea typeface="宋体" panose="02010600030101010101" pitchFamily="2" charset="-122"/>
              </a:rPr>
              <a:t>，</a:t>
            </a:r>
            <a:r>
              <a:rPr kumimoji="1" lang="zh-CN" altLang="en-US" baseline="-25000">
                <a:solidFill>
                  <a:srgbClr val="800000"/>
                </a:solidFill>
                <a:latin typeface="Tahoma" panose="020B0604030504040204" pitchFamily="34" charset="0"/>
                <a:ea typeface="宋体" panose="02010600030101010101" pitchFamily="2" charset="-122"/>
              </a:rPr>
              <a:t> </a:t>
            </a:r>
            <a:r>
              <a:rPr kumimoji="1" lang="en-US" altLang="zh-CN">
                <a:solidFill>
                  <a:srgbClr val="800000"/>
                </a:solidFill>
                <a:latin typeface="Tahoma" panose="020B0604030504040204" pitchFamily="34" charset="0"/>
                <a:ea typeface="宋体" panose="02010600030101010101" pitchFamily="2" charset="-122"/>
              </a:rPr>
              <a:t>M</a:t>
            </a:r>
            <a:r>
              <a:rPr kumimoji="1" lang="en-US" altLang="zh-CN" baseline="-25000">
                <a:solidFill>
                  <a:srgbClr val="800000"/>
                </a:solidFill>
                <a:latin typeface="Tahoma" panose="020B0604030504040204" pitchFamily="34" charset="0"/>
                <a:ea typeface="宋体" panose="02010600030101010101" pitchFamily="2" charset="-122"/>
              </a:rPr>
              <a:t>y</a:t>
            </a:r>
            <a:r>
              <a:rPr kumimoji="1" lang="zh-CN" altLang="en-US">
                <a:solidFill>
                  <a:srgbClr val="800000"/>
                </a:solidFill>
                <a:latin typeface="Tahoma" panose="020B0604030504040204" pitchFamily="34" charset="0"/>
                <a:ea typeface="宋体" panose="02010600030101010101" pitchFamily="2" charset="-122"/>
              </a:rPr>
              <a:t>为有限正实常数</a:t>
            </a:r>
          </a:p>
        </p:txBody>
      </p:sp>
      <p:graphicFrame>
        <p:nvGraphicFramePr>
          <p:cNvPr id="620553" name="Object 3"/>
          <p:cNvGraphicFramePr>
            <a:graphicFrameLocks noChangeAspect="1"/>
          </p:cNvGraphicFramePr>
          <p:nvPr/>
        </p:nvGraphicFramePr>
        <p:xfrm>
          <a:off x="1763713" y="4149725"/>
          <a:ext cx="2209800" cy="685800"/>
        </p:xfrm>
        <a:graphic>
          <a:graphicData uri="http://schemas.openxmlformats.org/presentationml/2006/ole">
            <mc:AlternateContent xmlns:mc="http://schemas.openxmlformats.org/markup-compatibility/2006">
              <mc:Choice xmlns:v="urn:schemas-microsoft-com:vml" Requires="v">
                <p:oleObj name="Equation" r:id="rId5" imgW="606425" imgH="194945" progId="Equation.3">
                  <p:embed/>
                </p:oleObj>
              </mc:Choice>
              <mc:Fallback>
                <p:oleObj name="Equation" r:id="rId5" imgW="606425" imgH="19494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4149725"/>
                        <a:ext cx="2209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0554" name="Text Box 10"/>
          <p:cNvSpPr txBox="1">
            <a:spLocks noChangeArrowheads="1"/>
          </p:cNvSpPr>
          <p:nvPr/>
        </p:nvSpPr>
        <p:spPr bwMode="auto">
          <a:xfrm>
            <a:off x="4211638" y="4149725"/>
            <a:ext cx="37401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a:solidFill>
                  <a:srgbClr val="800000"/>
                </a:solidFill>
                <a:latin typeface="Tahoma" panose="020B0604030504040204" pitchFamily="34" charset="0"/>
                <a:ea typeface="宋体" panose="02010600030101010101" pitchFamily="2" charset="-122"/>
              </a:rPr>
              <a:t>M</a:t>
            </a:r>
            <a:r>
              <a:rPr kumimoji="1" lang="zh-CN" altLang="en-US">
                <a:solidFill>
                  <a:srgbClr val="800000"/>
                </a:solidFill>
                <a:latin typeface="Tahoma" panose="020B0604030504040204" pitchFamily="34" charset="0"/>
                <a:ea typeface="宋体" panose="02010600030101010101" pitchFamily="2" charset="-122"/>
              </a:rPr>
              <a:t>：有限正实常数</a:t>
            </a:r>
          </a:p>
        </p:txBody>
      </p:sp>
      <p:sp>
        <p:nvSpPr>
          <p:cNvPr id="620555" name="Text Box 11"/>
          <p:cNvSpPr txBox="1">
            <a:spLocks noChangeArrowheads="1"/>
          </p:cNvSpPr>
          <p:nvPr/>
        </p:nvSpPr>
        <p:spPr bwMode="auto">
          <a:xfrm>
            <a:off x="827088" y="4868863"/>
            <a:ext cx="7897812"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008000"/>
                </a:solidFill>
                <a:latin typeface="Tahoma" panose="020B0604030504040204" pitchFamily="34" charset="0"/>
                <a:ea typeface="宋体" panose="02010600030101010101" pitchFamily="2" charset="-122"/>
              </a:rPr>
              <a:t>即：系统的单位冲激响应绝对可积，则系统稳定。</a:t>
            </a:r>
          </a:p>
        </p:txBody>
      </p:sp>
      <p:sp>
        <p:nvSpPr>
          <p:cNvPr id="2" name="墨迹 1"/>
          <p:cNvSpPr/>
          <p:nvPr/>
        </p:nvSpPr>
        <p:spPr bwMode="auto">
          <a:xfrm>
            <a:off x="2298240" y="4724280"/>
            <a:ext cx="3845880" cy="707400"/>
          </a:xfrm>
        </p:spPr>
      </p:sp>
    </p:spTree>
    <p:custDataLst>
      <p:tags r:id="rId1"/>
    </p:custDataLst>
  </p:cSld>
  <p:clrMapOvr>
    <a:masterClrMapping/>
  </p:clrMapOvr>
  <p:transition spd="med" advTm="30544">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0547">
                                            <p:txEl>
                                              <p:pRg st="0" end="0"/>
                                            </p:txEl>
                                          </p:spTgt>
                                        </p:tgtEl>
                                        <p:attrNameLst>
                                          <p:attrName>style.visibility</p:attrName>
                                        </p:attrNameLst>
                                      </p:cBhvr>
                                      <p:to>
                                        <p:strVal val="visible"/>
                                      </p:to>
                                    </p:set>
                                    <p:animEffect transition="in" filter="wipe(left)">
                                      <p:cBhvr>
                                        <p:cTn id="12" dur="500"/>
                                        <p:tgtEl>
                                          <p:spTgt spid="6205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0548">
                                            <p:txEl>
                                              <p:pRg st="0" end="0"/>
                                            </p:txEl>
                                          </p:spTgt>
                                        </p:tgtEl>
                                        <p:attrNameLst>
                                          <p:attrName>style.visibility</p:attrName>
                                        </p:attrNameLst>
                                      </p:cBhvr>
                                      <p:to>
                                        <p:strVal val="visible"/>
                                      </p:to>
                                    </p:set>
                                    <p:animEffect transition="in" filter="wipe(left)">
                                      <p:cBhvr>
                                        <p:cTn id="17" dur="500"/>
                                        <p:tgtEl>
                                          <p:spTgt spid="620548">
                                            <p:txEl>
                                              <p:pRg st="0" end="0"/>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620551"/>
                                        </p:tgtEl>
                                        <p:attrNameLst>
                                          <p:attrName>style.visibility</p:attrName>
                                        </p:attrNameLst>
                                      </p:cBhvr>
                                      <p:to>
                                        <p:strVal val="visible"/>
                                      </p:to>
                                    </p:set>
                                    <p:animEffect transition="in" filter="wipe(left)">
                                      <p:cBhvr>
                                        <p:cTn id="21" dur="500"/>
                                        <p:tgtEl>
                                          <p:spTgt spid="620551"/>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620552">
                                            <p:txEl>
                                              <p:pRg st="0" end="0"/>
                                            </p:txEl>
                                          </p:spTgt>
                                        </p:tgtEl>
                                        <p:attrNameLst>
                                          <p:attrName>style.visibility</p:attrName>
                                        </p:attrNameLst>
                                      </p:cBhvr>
                                      <p:to>
                                        <p:strVal val="visible"/>
                                      </p:to>
                                    </p:set>
                                    <p:animEffect transition="in" filter="wipe(left)">
                                      <p:cBhvr>
                                        <p:cTn id="25" dur="500"/>
                                        <p:tgtEl>
                                          <p:spTgt spid="62055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20549">
                                            <p:txEl>
                                              <p:pRg st="0" end="0"/>
                                            </p:txEl>
                                          </p:spTgt>
                                        </p:tgtEl>
                                        <p:attrNameLst>
                                          <p:attrName>style.visibility</p:attrName>
                                        </p:attrNameLst>
                                      </p:cBhvr>
                                      <p:to>
                                        <p:strVal val="visible"/>
                                      </p:to>
                                    </p:set>
                                    <p:animEffect transition="in" filter="wipe(left)">
                                      <p:cBhvr>
                                        <p:cTn id="30" dur="500"/>
                                        <p:tgtEl>
                                          <p:spTgt spid="620549">
                                            <p:txEl>
                                              <p:pRg st="0" end="0"/>
                                            </p:txEl>
                                          </p:spTgt>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620553"/>
                                        </p:tgtEl>
                                        <p:attrNameLst>
                                          <p:attrName>style.visibility</p:attrName>
                                        </p:attrNameLst>
                                      </p:cBhvr>
                                      <p:to>
                                        <p:strVal val="visible"/>
                                      </p:to>
                                    </p:set>
                                    <p:animEffect transition="in" filter="wipe(left)">
                                      <p:cBhvr>
                                        <p:cTn id="34" dur="500"/>
                                        <p:tgtEl>
                                          <p:spTgt spid="620553"/>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620554">
                                            <p:txEl>
                                              <p:pRg st="0" end="0"/>
                                            </p:txEl>
                                          </p:spTgt>
                                        </p:tgtEl>
                                        <p:attrNameLst>
                                          <p:attrName>style.visibility</p:attrName>
                                        </p:attrNameLst>
                                      </p:cBhvr>
                                      <p:to>
                                        <p:strVal val="visible"/>
                                      </p:to>
                                    </p:set>
                                    <p:animEffect transition="in" filter="wipe(left)">
                                      <p:cBhvr>
                                        <p:cTn id="37" dur="500"/>
                                        <p:tgtEl>
                                          <p:spTgt spid="620554">
                                            <p:txEl>
                                              <p:pRg st="0" end="0"/>
                                            </p:txEl>
                                          </p:spTgt>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620555">
                                            <p:txEl>
                                              <p:pRg st="0" end="0"/>
                                            </p:txEl>
                                          </p:spTgt>
                                        </p:tgtEl>
                                        <p:attrNameLst>
                                          <p:attrName>style.visibility</p:attrName>
                                        </p:attrNameLst>
                                      </p:cBhvr>
                                      <p:to>
                                        <p:strVal val="visible"/>
                                      </p:to>
                                    </p:set>
                                    <p:animEffect transition="in" filter="wipe(left)">
                                      <p:cBhvr>
                                        <p:cTn id="41" dur="500"/>
                                        <p:tgtEl>
                                          <p:spTgt spid="620555">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20550">
                                            <p:txEl>
                                              <p:pRg st="0" end="0"/>
                                            </p:txEl>
                                          </p:spTgt>
                                        </p:tgtEl>
                                        <p:attrNameLst>
                                          <p:attrName>style.visibility</p:attrName>
                                        </p:attrNameLst>
                                      </p:cBhvr>
                                      <p:to>
                                        <p:strVal val="visible"/>
                                      </p:to>
                                    </p:set>
                                    <p:animEffect transition="in" filter="wipe(left)">
                                      <p:cBhvr>
                                        <p:cTn id="46" dur="500"/>
                                        <p:tgtEl>
                                          <p:spTgt spid="62055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547" grpId="0" build="p" autoUpdateAnimBg="0"/>
      <p:bldP spid="620548" grpId="0" build="p" autoUpdateAnimBg="0"/>
      <p:bldP spid="620549" grpId="0" build="p" autoUpdateAnimBg="0"/>
      <p:bldP spid="620550" grpId="0" build="p" autoUpdateAnimBg="0"/>
      <p:bldP spid="620552" grpId="0" build="p" autoUpdateAnimBg="0"/>
      <p:bldP spid="620554" grpId="0" build="p" autoUpdateAnimBg="0"/>
      <p:bldP spid="620555" grpId="0" build="p"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 name="日期占位符 14"/>
          <p:cNvSpPr>
            <a:spLocks noGrp="1"/>
          </p:cNvSpPr>
          <p:nvPr>
            <p:ph type="dt" sz="quarter" idx="10"/>
          </p:nvPr>
        </p:nvSpPr>
        <p:spPr/>
        <p:txBody>
          <a:bodyPr/>
          <a:lstStyle/>
          <a:p>
            <a:pPr>
              <a:defRPr/>
            </a:pPr>
            <a:fld id="{7CE76EB4-4A7B-4251-AB73-27A4448718EB}" type="datetime1">
              <a:rPr lang="zh-CN" altLang="en-US"/>
              <a:t>2026/4/28</a:t>
            </a:fld>
            <a:endParaRPr lang="en-US" altLang="zh-CN" dirty="0"/>
          </a:p>
        </p:txBody>
      </p:sp>
      <p:sp>
        <p:nvSpPr>
          <p:cNvPr id="100355" name="Rectangle 2"/>
          <p:cNvSpPr>
            <a:spLocks noGrp="1" noChangeArrowheads="1"/>
          </p:cNvSpPr>
          <p:nvPr>
            <p:ph type="title" idx="4294967295"/>
          </p:nvPr>
        </p:nvSpPr>
        <p:spPr>
          <a:xfrm>
            <a:off x="536575" y="0"/>
            <a:ext cx="2735263" cy="519113"/>
          </a:xfrm>
          <a:noFill/>
        </p:spPr>
        <p:txBody>
          <a:bodyPr anchor="t">
            <a:spAutoFit/>
          </a:bodyPr>
          <a:lstStyle/>
          <a:p>
            <a:r>
              <a:rPr lang="en-US" altLang="zh-CN" sz="2800">
                <a:solidFill>
                  <a:srgbClr val="800080"/>
                </a:solidFill>
                <a:latin typeface="华文行楷" panose="02010800040101010101" pitchFamily="2" charset="-122"/>
                <a:ea typeface="华文行楷" panose="02010800040101010101" pitchFamily="2" charset="-122"/>
              </a:rPr>
              <a:t>2</a:t>
            </a:r>
            <a:r>
              <a:rPr lang="zh-CN" altLang="en-US" sz="2800">
                <a:solidFill>
                  <a:srgbClr val="800080"/>
                </a:solidFill>
                <a:latin typeface="华文行楷" panose="02010800040101010101" pitchFamily="2" charset="-122"/>
                <a:ea typeface="华文行楷" panose="02010800040101010101" pitchFamily="2" charset="-122"/>
              </a:rPr>
              <a:t>）稳定性判断</a:t>
            </a:r>
          </a:p>
        </p:txBody>
      </p:sp>
      <p:sp>
        <p:nvSpPr>
          <p:cNvPr id="621571" name="Text Box 3"/>
          <p:cNvSpPr txBox="1">
            <a:spLocks noChangeArrowheads="1"/>
          </p:cNvSpPr>
          <p:nvPr/>
        </p:nvSpPr>
        <p:spPr bwMode="auto">
          <a:xfrm>
            <a:off x="0" y="660400"/>
            <a:ext cx="314483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800000"/>
                </a:solidFill>
                <a:ea typeface="宋体" panose="02010600030101010101" pitchFamily="2" charset="-122"/>
              </a:rPr>
              <a:t>（</a:t>
            </a:r>
            <a:r>
              <a:rPr kumimoji="1" lang="en-US" altLang="zh-CN">
                <a:solidFill>
                  <a:srgbClr val="800000"/>
                </a:solidFill>
                <a:ea typeface="宋体" panose="02010600030101010101" pitchFamily="2" charset="-122"/>
              </a:rPr>
              <a:t>1</a:t>
            </a:r>
            <a:r>
              <a:rPr kumimoji="1" lang="zh-CN" altLang="en-US">
                <a:solidFill>
                  <a:srgbClr val="800000"/>
                </a:solidFill>
                <a:ea typeface="宋体" panose="02010600030101010101" pitchFamily="2" charset="-122"/>
              </a:rPr>
              <a:t>）极点 判断：</a:t>
            </a:r>
          </a:p>
        </p:txBody>
      </p:sp>
      <p:graphicFrame>
        <p:nvGraphicFramePr>
          <p:cNvPr id="621572" name="Object 2"/>
          <p:cNvGraphicFramePr>
            <a:graphicFrameLocks noChangeAspect="1"/>
          </p:cNvGraphicFramePr>
          <p:nvPr/>
        </p:nvGraphicFramePr>
        <p:xfrm>
          <a:off x="2909888" y="571500"/>
          <a:ext cx="1828800" cy="762000"/>
        </p:xfrm>
        <a:graphic>
          <a:graphicData uri="http://schemas.openxmlformats.org/presentationml/2006/ole">
            <mc:AlternateContent xmlns:mc="http://schemas.openxmlformats.org/markup-compatibility/2006">
              <mc:Choice xmlns:v="urn:schemas-microsoft-com:vml" Requires="v">
                <p:oleObj name="Equation" r:id="rId3" imgW="838200" imgH="419100" progId="Equation.3">
                  <p:embed/>
                </p:oleObj>
              </mc:Choice>
              <mc:Fallback>
                <p:oleObj name="Equation" r:id="rId3" imgW="838200" imgH="419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9888" y="571500"/>
                        <a:ext cx="1828800" cy="7620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1573" name="Object 3"/>
          <p:cNvGraphicFramePr>
            <a:graphicFrameLocks noChangeAspect="1"/>
          </p:cNvGraphicFramePr>
          <p:nvPr/>
        </p:nvGraphicFramePr>
        <p:xfrm>
          <a:off x="4652963" y="712788"/>
          <a:ext cx="1633537" cy="381000"/>
        </p:xfrm>
        <a:graphic>
          <a:graphicData uri="http://schemas.openxmlformats.org/presentationml/2006/ole">
            <mc:AlternateContent xmlns:mc="http://schemas.openxmlformats.org/markup-compatibility/2006">
              <mc:Choice xmlns:v="urn:schemas-microsoft-com:vml" Requires="v">
                <p:oleObj name="Equation" r:id="rId5" imgW="748665" imgH="203200" progId="Equation.3">
                  <p:embed/>
                </p:oleObj>
              </mc:Choice>
              <mc:Fallback>
                <p:oleObj name="Equation" r:id="rId5" imgW="748665" imgH="203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2963" y="712788"/>
                        <a:ext cx="1633537" cy="3810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1574" name="Text Box 6"/>
          <p:cNvSpPr txBox="1">
            <a:spLocks noChangeArrowheads="1"/>
          </p:cNvSpPr>
          <p:nvPr/>
        </p:nvSpPr>
        <p:spPr bwMode="auto">
          <a:xfrm>
            <a:off x="685800" y="1349375"/>
            <a:ext cx="8458200"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buClr>
                <a:schemeClr val="accent2"/>
              </a:buClr>
              <a:buFontTx/>
              <a:buAutoNum type="circleNumDbPlain"/>
            </a:pPr>
            <a:r>
              <a:rPr kumimoji="1" lang="en-US" altLang="zh-CN">
                <a:solidFill>
                  <a:srgbClr val="003300"/>
                </a:solidFill>
                <a:ea typeface="宋体" panose="02010600030101010101" pitchFamily="2" charset="-122"/>
              </a:rPr>
              <a:t>H(s)</a:t>
            </a:r>
            <a:r>
              <a:rPr kumimoji="1" lang="zh-CN" altLang="en-US">
                <a:solidFill>
                  <a:srgbClr val="003300"/>
                </a:solidFill>
                <a:ea typeface="宋体" panose="02010600030101010101" pitchFamily="2" charset="-122"/>
              </a:rPr>
              <a:t>极点 全部位于</a:t>
            </a:r>
            <a:r>
              <a:rPr kumimoji="1" lang="en-US" altLang="zh-CN">
                <a:solidFill>
                  <a:srgbClr val="003300"/>
                </a:solidFill>
                <a:ea typeface="宋体" panose="02010600030101010101" pitchFamily="2" charset="-122"/>
              </a:rPr>
              <a:t>s</a:t>
            </a:r>
            <a:r>
              <a:rPr kumimoji="1" lang="zh-CN" altLang="en-US">
                <a:solidFill>
                  <a:srgbClr val="003300"/>
                </a:solidFill>
                <a:ea typeface="宋体" panose="02010600030101010101" pitchFamily="2" charset="-122"/>
              </a:rPr>
              <a:t>左半平面：</a:t>
            </a:r>
            <a:r>
              <a:rPr kumimoji="1" lang="zh-CN" altLang="en-US">
                <a:solidFill>
                  <a:srgbClr val="0000FF"/>
                </a:solidFill>
                <a:ea typeface="宋体" panose="02010600030101010101" pitchFamily="2" charset="-122"/>
              </a:rPr>
              <a:t>系统稳定</a:t>
            </a:r>
            <a:endParaRPr kumimoji="1" lang="zh-CN" altLang="en-US">
              <a:solidFill>
                <a:srgbClr val="0000FF"/>
              </a:solidFill>
              <a:latin typeface="Tahoma" panose="020B0604030504040204" pitchFamily="34" charset="0"/>
              <a:ea typeface="宋体" panose="02010600030101010101" pitchFamily="2" charset="-122"/>
            </a:endParaRPr>
          </a:p>
          <a:p>
            <a:pPr eaLnBrk="1" hangingPunct="1">
              <a:lnSpc>
                <a:spcPct val="85000"/>
              </a:lnSpc>
              <a:buClr>
                <a:schemeClr val="accent2"/>
              </a:buClr>
              <a:buFontTx/>
              <a:buAutoNum type="circleNumDbPlain" startAt="2"/>
            </a:pPr>
            <a:r>
              <a:rPr kumimoji="1" lang="zh-CN" altLang="en-US">
                <a:solidFill>
                  <a:srgbClr val="003300"/>
                </a:solidFill>
                <a:latin typeface="Tahoma" panose="020B0604030504040204" pitchFamily="34" charset="0"/>
                <a:ea typeface="宋体" panose="02010600030101010101" pitchFamily="2" charset="-122"/>
              </a:rPr>
              <a:t>含有</a:t>
            </a:r>
            <a:r>
              <a:rPr kumimoji="1" lang="en-US" altLang="zh-CN">
                <a:solidFill>
                  <a:srgbClr val="003300"/>
                </a:solidFill>
                <a:ea typeface="宋体" panose="02010600030101010101" pitchFamily="2" charset="-122"/>
              </a:rPr>
              <a:t>j</a:t>
            </a:r>
            <a:r>
              <a:rPr kumimoji="1" lang="en-US" altLang="zh-CN">
                <a:solidFill>
                  <a:srgbClr val="003300"/>
                </a:solidFill>
                <a:ea typeface="宋体" panose="02010600030101010101" pitchFamily="2" charset="-122"/>
                <a:cs typeface="Times New Roman" panose="02020603050405020304" pitchFamily="18" charset="0"/>
              </a:rPr>
              <a:t> </a:t>
            </a:r>
            <a:r>
              <a:rPr kumimoji="1" lang="en-US" altLang="zh-CN">
                <a:solidFill>
                  <a:srgbClr val="003300"/>
                </a:solidFill>
                <a:ea typeface="宋体" panose="02010600030101010101" pitchFamily="2" charset="-122"/>
                <a:cs typeface="Times New Roman" panose="02020603050405020304" pitchFamily="18" charset="0"/>
                <a:sym typeface="Symbol" panose="05050102010706020507" pitchFamily="18" charset="2"/>
              </a:rPr>
              <a:t></a:t>
            </a:r>
            <a:r>
              <a:rPr kumimoji="1" lang="zh-CN" altLang="en-US">
                <a:solidFill>
                  <a:srgbClr val="003300"/>
                </a:solidFill>
                <a:ea typeface="宋体" panose="02010600030101010101" pitchFamily="2" charset="-122"/>
                <a:sym typeface="Symbol" panose="05050102010706020507" pitchFamily="18" charset="2"/>
              </a:rPr>
              <a:t>轴</a:t>
            </a:r>
            <a:r>
              <a:rPr kumimoji="1" lang="zh-CN" altLang="en-US">
                <a:solidFill>
                  <a:srgbClr val="003300"/>
                </a:solidFill>
                <a:latin typeface="Tahoma" panose="020B0604030504040204" pitchFamily="34" charset="0"/>
                <a:ea typeface="宋体" panose="02010600030101010101" pitchFamily="2" charset="-122"/>
              </a:rPr>
              <a:t>单极点  ，其余</a:t>
            </a:r>
            <a:r>
              <a:rPr kumimoji="1" lang="zh-CN" altLang="en-US">
                <a:solidFill>
                  <a:srgbClr val="003300"/>
                </a:solidFill>
                <a:ea typeface="宋体" panose="02010600030101010101" pitchFamily="2" charset="-122"/>
              </a:rPr>
              <a:t>位于</a:t>
            </a:r>
            <a:r>
              <a:rPr kumimoji="1" lang="en-US" altLang="zh-CN">
                <a:solidFill>
                  <a:srgbClr val="003300"/>
                </a:solidFill>
                <a:ea typeface="宋体" panose="02010600030101010101" pitchFamily="2" charset="-122"/>
              </a:rPr>
              <a:t>s</a:t>
            </a:r>
            <a:r>
              <a:rPr kumimoji="1" lang="zh-CN" altLang="en-US">
                <a:solidFill>
                  <a:srgbClr val="003300"/>
                </a:solidFill>
                <a:ea typeface="宋体" panose="02010600030101010101" pitchFamily="2" charset="-122"/>
              </a:rPr>
              <a:t>左半平面：</a:t>
            </a:r>
            <a:r>
              <a:rPr kumimoji="1" lang="zh-CN" altLang="en-US">
                <a:solidFill>
                  <a:srgbClr val="0000FF"/>
                </a:solidFill>
                <a:ea typeface="宋体" panose="02010600030101010101" pitchFamily="2" charset="-122"/>
              </a:rPr>
              <a:t>系统临界稳定</a:t>
            </a:r>
          </a:p>
          <a:p>
            <a:pPr eaLnBrk="1" hangingPunct="1">
              <a:lnSpc>
                <a:spcPct val="85000"/>
              </a:lnSpc>
              <a:buClr>
                <a:schemeClr val="accent2"/>
              </a:buClr>
              <a:buFontTx/>
              <a:buAutoNum type="circleNumDbPlain" startAt="3"/>
            </a:pPr>
            <a:r>
              <a:rPr kumimoji="1" lang="zh-CN" altLang="en-US">
                <a:solidFill>
                  <a:srgbClr val="003300"/>
                </a:solidFill>
                <a:latin typeface="Tahoma" panose="020B0604030504040204" pitchFamily="34" charset="0"/>
                <a:ea typeface="宋体" panose="02010600030101010101" pitchFamily="2" charset="-122"/>
              </a:rPr>
              <a:t>含有</a:t>
            </a:r>
            <a:r>
              <a:rPr kumimoji="1" lang="en-US" altLang="zh-CN">
                <a:solidFill>
                  <a:srgbClr val="003300"/>
                </a:solidFill>
                <a:latin typeface="Tahoma" panose="020B0604030504040204" pitchFamily="34" charset="0"/>
                <a:ea typeface="宋体" panose="02010600030101010101" pitchFamily="2" charset="-122"/>
              </a:rPr>
              <a:t>s</a:t>
            </a:r>
            <a:r>
              <a:rPr kumimoji="1" lang="zh-CN" altLang="en-US">
                <a:solidFill>
                  <a:srgbClr val="003300"/>
                </a:solidFill>
                <a:latin typeface="Tahoma" panose="020B0604030504040204" pitchFamily="34" charset="0"/>
                <a:ea typeface="宋体" panose="02010600030101010101" pitchFamily="2" charset="-122"/>
              </a:rPr>
              <a:t>右</a:t>
            </a:r>
            <a:r>
              <a:rPr kumimoji="1" lang="zh-CN" altLang="en-US">
                <a:solidFill>
                  <a:srgbClr val="003300"/>
                </a:solidFill>
                <a:ea typeface="宋体" panose="02010600030101010101" pitchFamily="2" charset="-122"/>
              </a:rPr>
              <a:t>半平面或</a:t>
            </a:r>
            <a:r>
              <a:rPr kumimoji="1" lang="en-US" altLang="zh-CN">
                <a:solidFill>
                  <a:srgbClr val="003300"/>
                </a:solidFill>
                <a:ea typeface="宋体" panose="02010600030101010101" pitchFamily="2" charset="-122"/>
              </a:rPr>
              <a:t>j </a:t>
            </a:r>
            <a:r>
              <a:rPr kumimoji="1" lang="en-US" altLang="zh-CN">
                <a:solidFill>
                  <a:srgbClr val="003300"/>
                </a:solidFill>
                <a:ea typeface="宋体" panose="02010600030101010101" pitchFamily="2" charset="-122"/>
                <a:sym typeface="Symbol" panose="05050102010706020507" pitchFamily="18" charset="2"/>
              </a:rPr>
              <a:t></a:t>
            </a:r>
            <a:r>
              <a:rPr kumimoji="1" lang="zh-CN" altLang="en-US">
                <a:solidFill>
                  <a:srgbClr val="003300"/>
                </a:solidFill>
                <a:ea typeface="宋体" panose="02010600030101010101" pitchFamily="2" charset="-122"/>
                <a:sym typeface="Symbol" panose="05050102010706020507" pitchFamily="18" charset="2"/>
              </a:rPr>
              <a:t>轴重极点  </a:t>
            </a:r>
            <a:r>
              <a:rPr kumimoji="1" lang="zh-CN" altLang="en-US">
                <a:solidFill>
                  <a:srgbClr val="003300"/>
                </a:solidFill>
                <a:ea typeface="宋体" panose="02010600030101010101" pitchFamily="2" charset="-122"/>
              </a:rPr>
              <a:t>：</a:t>
            </a:r>
            <a:r>
              <a:rPr kumimoji="1" lang="zh-CN" altLang="en-US">
                <a:solidFill>
                  <a:srgbClr val="0000FF"/>
                </a:solidFill>
                <a:ea typeface="宋体" panose="02010600030101010101" pitchFamily="2" charset="-122"/>
              </a:rPr>
              <a:t>系统不稳定 </a:t>
            </a:r>
            <a:r>
              <a:rPr kumimoji="1" lang="zh-CN" altLang="en-US">
                <a:latin typeface="Tahoma" panose="020B0604030504040204" pitchFamily="34" charset="0"/>
                <a:ea typeface="宋体" panose="02010600030101010101" pitchFamily="2" charset="-122"/>
              </a:rPr>
              <a:t>    </a:t>
            </a:r>
          </a:p>
        </p:txBody>
      </p:sp>
      <p:sp>
        <p:nvSpPr>
          <p:cNvPr id="621575" name="Text Box 7"/>
          <p:cNvSpPr txBox="1">
            <a:spLocks noChangeArrowheads="1"/>
          </p:cNvSpPr>
          <p:nvPr/>
        </p:nvSpPr>
        <p:spPr bwMode="auto">
          <a:xfrm>
            <a:off x="6196013" y="715963"/>
            <a:ext cx="294798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20000"/>
              </a:spcBef>
              <a:buClr>
                <a:schemeClr val="accent2"/>
              </a:buClr>
              <a:buFont typeface="Wingdings" panose="05000000000000000000" pitchFamily="2" charset="2"/>
              <a:buNone/>
            </a:pPr>
            <a:r>
              <a:rPr kumimoji="1" lang="zh-CN" altLang="en-US">
                <a:solidFill>
                  <a:srgbClr val="FF0000"/>
                </a:solidFill>
                <a:latin typeface="Tahoma" panose="020B0604030504040204" pitchFamily="34" charset="0"/>
                <a:ea typeface="宋体" panose="02010600030101010101" pitchFamily="2" charset="-122"/>
              </a:rPr>
              <a:t>由系统极点  判断</a:t>
            </a:r>
          </a:p>
        </p:txBody>
      </p:sp>
      <p:sp>
        <p:nvSpPr>
          <p:cNvPr id="621576" name="Text Box 8"/>
          <p:cNvSpPr txBox="1">
            <a:spLocks noChangeArrowheads="1"/>
          </p:cNvSpPr>
          <p:nvPr/>
        </p:nvSpPr>
        <p:spPr bwMode="auto">
          <a:xfrm>
            <a:off x="193675" y="3160713"/>
            <a:ext cx="61610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algn="just" eaLnBrk="1" hangingPunct="1">
              <a:lnSpc>
                <a:spcPct val="85000"/>
              </a:lnSpc>
              <a:spcBef>
                <a:spcPct val="50000"/>
              </a:spcBef>
              <a:buClr>
                <a:schemeClr val="accent2"/>
              </a:buClr>
              <a:buFont typeface="Wingdings" panose="05000000000000000000" pitchFamily="2" charset="2"/>
              <a:buNone/>
            </a:pPr>
            <a:r>
              <a:rPr kumimoji="1" lang="zh-CN" altLang="en-US" sz="2400">
                <a:solidFill>
                  <a:srgbClr val="800000"/>
                </a:solidFill>
                <a:ea typeface="宋体" panose="02010600030101010101" pitchFamily="2" charset="-122"/>
              </a:rPr>
              <a:t>（</a:t>
            </a:r>
            <a:r>
              <a:rPr kumimoji="1" lang="en-US" altLang="zh-CN" sz="2400">
                <a:solidFill>
                  <a:srgbClr val="800000"/>
                </a:solidFill>
                <a:ea typeface="宋体" panose="02010600030101010101" pitchFamily="2" charset="-122"/>
              </a:rPr>
              <a:t>2</a:t>
            </a:r>
            <a:r>
              <a:rPr kumimoji="1" lang="zh-CN" altLang="en-US" sz="2400">
                <a:solidFill>
                  <a:srgbClr val="800000"/>
                </a:solidFill>
                <a:ea typeface="宋体" panose="02010600030101010101" pitchFamily="2" charset="-122"/>
              </a:rPr>
              <a:t>）霍尔维茨（</a:t>
            </a:r>
            <a:r>
              <a:rPr kumimoji="1" lang="en-US" altLang="zh-CN" sz="2400">
                <a:solidFill>
                  <a:srgbClr val="800000"/>
                </a:solidFill>
                <a:ea typeface="宋体" panose="02010600030101010101" pitchFamily="2" charset="-122"/>
              </a:rPr>
              <a:t>Hurwitz</a:t>
            </a:r>
            <a:r>
              <a:rPr kumimoji="1" lang="zh-CN" altLang="en-US" sz="2400">
                <a:solidFill>
                  <a:srgbClr val="800000"/>
                </a:solidFill>
                <a:ea typeface="宋体" panose="02010600030101010101" pitchFamily="2" charset="-122"/>
              </a:rPr>
              <a:t>）判断法：</a:t>
            </a:r>
          </a:p>
        </p:txBody>
      </p:sp>
      <p:graphicFrame>
        <p:nvGraphicFramePr>
          <p:cNvPr id="621577" name="Object 4"/>
          <p:cNvGraphicFramePr>
            <a:graphicFrameLocks noChangeAspect="1"/>
          </p:cNvGraphicFramePr>
          <p:nvPr/>
        </p:nvGraphicFramePr>
        <p:xfrm>
          <a:off x="596900" y="3695700"/>
          <a:ext cx="4876800" cy="542925"/>
        </p:xfrm>
        <a:graphic>
          <a:graphicData uri="http://schemas.openxmlformats.org/presentationml/2006/ole">
            <mc:AlternateContent xmlns:mc="http://schemas.openxmlformats.org/markup-compatibility/2006">
              <mc:Choice xmlns:v="urn:schemas-microsoft-com:vml" Requires="v">
                <p:oleObj name="Equation" r:id="rId7" imgW="1544320" imgH="127000" progId="Equation.3">
                  <p:embed/>
                </p:oleObj>
              </mc:Choice>
              <mc:Fallback>
                <p:oleObj name="Equation" r:id="rId7" imgW="1544320" imgH="127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6900" y="3695700"/>
                        <a:ext cx="4876800" cy="5429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1578" name="Text Box 10"/>
          <p:cNvSpPr txBox="1">
            <a:spLocks noChangeArrowheads="1"/>
          </p:cNvSpPr>
          <p:nvPr/>
        </p:nvSpPr>
        <p:spPr bwMode="auto">
          <a:xfrm>
            <a:off x="5510213" y="3640138"/>
            <a:ext cx="3424237"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buClr>
                <a:schemeClr val="accent2"/>
              </a:buClr>
              <a:buFont typeface="Wingdings" panose="05000000000000000000" pitchFamily="2" charset="2"/>
              <a:buNone/>
            </a:pPr>
            <a:r>
              <a:rPr kumimoji="1" lang="zh-CN" altLang="en-US">
                <a:solidFill>
                  <a:srgbClr val="FF0000"/>
                </a:solidFill>
                <a:latin typeface="Tahoma" panose="020B0604030504040204" pitchFamily="34" charset="0"/>
                <a:ea typeface="宋体" panose="02010600030101010101" pitchFamily="2" charset="-122"/>
              </a:rPr>
              <a:t>    成为霍尔维茨多项式必要条件：</a:t>
            </a:r>
            <a:r>
              <a:rPr kumimoji="1" lang="zh-CN" altLang="en-US">
                <a:latin typeface="Tahoma" panose="020B0604030504040204" pitchFamily="34" charset="0"/>
                <a:ea typeface="宋体" panose="02010600030101010101" pitchFamily="2" charset="-122"/>
              </a:rPr>
              <a:t> </a:t>
            </a:r>
          </a:p>
          <a:p>
            <a:pPr eaLnBrk="1" hangingPunct="1">
              <a:buClr>
                <a:schemeClr val="accent2"/>
              </a:buClr>
              <a:buFont typeface="Wingdings" panose="05000000000000000000" pitchFamily="2" charset="2"/>
              <a:buNone/>
            </a:pPr>
            <a:r>
              <a:rPr kumimoji="1" lang="zh-CN" altLang="en-US">
                <a:solidFill>
                  <a:srgbClr val="003300"/>
                </a:solidFill>
                <a:ea typeface="宋体" panose="02010600030101010101" pitchFamily="2" charset="-122"/>
              </a:rPr>
              <a:t>（</a:t>
            </a:r>
            <a:r>
              <a:rPr kumimoji="1" lang="en-US" altLang="zh-CN">
                <a:solidFill>
                  <a:srgbClr val="003300"/>
                </a:solidFill>
                <a:ea typeface="宋体" panose="02010600030101010101" pitchFamily="2" charset="-122"/>
              </a:rPr>
              <a:t>a</a:t>
            </a:r>
            <a:r>
              <a:rPr kumimoji="1" lang="zh-CN" altLang="en-US">
                <a:solidFill>
                  <a:srgbClr val="003300"/>
                </a:solidFill>
                <a:ea typeface="宋体" panose="02010600030101010101" pitchFamily="2" charset="-122"/>
              </a:rPr>
              <a:t>）系数无缺项；</a:t>
            </a:r>
          </a:p>
          <a:p>
            <a:pPr eaLnBrk="1" hangingPunct="1">
              <a:buClr>
                <a:schemeClr val="accent2"/>
              </a:buClr>
              <a:buFont typeface="Wingdings" panose="05000000000000000000" pitchFamily="2" charset="2"/>
              <a:buNone/>
            </a:pPr>
            <a:r>
              <a:rPr kumimoji="1" lang="zh-CN" altLang="en-US">
                <a:solidFill>
                  <a:srgbClr val="003300"/>
                </a:solidFill>
                <a:ea typeface="宋体" panose="02010600030101010101" pitchFamily="2" charset="-122"/>
              </a:rPr>
              <a:t>（</a:t>
            </a:r>
            <a:r>
              <a:rPr kumimoji="1" lang="en-US" altLang="zh-CN">
                <a:solidFill>
                  <a:srgbClr val="003300"/>
                </a:solidFill>
                <a:ea typeface="宋体" panose="02010600030101010101" pitchFamily="2" charset="-122"/>
              </a:rPr>
              <a:t>b</a:t>
            </a:r>
            <a:r>
              <a:rPr kumimoji="1" lang="zh-CN" altLang="en-US">
                <a:solidFill>
                  <a:srgbClr val="003300"/>
                </a:solidFill>
                <a:ea typeface="宋体" panose="02010600030101010101" pitchFamily="2" charset="-122"/>
              </a:rPr>
              <a:t>）</a:t>
            </a:r>
            <a:r>
              <a:rPr kumimoji="1" lang="en-US" altLang="zh-CN">
                <a:solidFill>
                  <a:srgbClr val="003300"/>
                </a:solidFill>
                <a:ea typeface="宋体" panose="02010600030101010101" pitchFamily="2" charset="-122"/>
              </a:rPr>
              <a:t>a</a:t>
            </a:r>
            <a:r>
              <a:rPr kumimoji="1" lang="en-US" altLang="zh-CN" baseline="-25000">
                <a:solidFill>
                  <a:srgbClr val="003300"/>
                </a:solidFill>
                <a:ea typeface="宋体" panose="02010600030101010101" pitchFamily="2" charset="-122"/>
              </a:rPr>
              <a:t>i</a:t>
            </a:r>
            <a:r>
              <a:rPr kumimoji="1" lang="en-US" altLang="zh-CN">
                <a:solidFill>
                  <a:srgbClr val="003300"/>
                </a:solidFill>
                <a:ea typeface="宋体" panose="02010600030101010101" pitchFamily="2" charset="-122"/>
              </a:rPr>
              <a:t>&gt;0    </a:t>
            </a:r>
          </a:p>
          <a:p>
            <a:pPr eaLnBrk="1" hangingPunct="1">
              <a:buClr>
                <a:schemeClr val="accent2"/>
              </a:buClr>
              <a:buFont typeface="Wingdings" panose="05000000000000000000" pitchFamily="2" charset="2"/>
              <a:buNone/>
            </a:pPr>
            <a:r>
              <a:rPr kumimoji="1" lang="en-US" altLang="zh-CN">
                <a:solidFill>
                  <a:srgbClr val="003300"/>
                </a:solidFill>
                <a:ea typeface="宋体" panose="02010600030101010101" pitchFamily="2" charset="-122"/>
              </a:rPr>
              <a:t>    i=0,1,…,n </a:t>
            </a:r>
          </a:p>
        </p:txBody>
      </p:sp>
      <p:sp>
        <p:nvSpPr>
          <p:cNvPr id="621579" name="Text Box 11"/>
          <p:cNvSpPr txBox="1">
            <a:spLocks noChangeArrowheads="1"/>
          </p:cNvSpPr>
          <p:nvPr/>
        </p:nvSpPr>
        <p:spPr bwMode="auto">
          <a:xfrm>
            <a:off x="684213" y="4257675"/>
            <a:ext cx="4008437"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110000"/>
              </a:lnSpc>
              <a:spcBef>
                <a:spcPct val="50000"/>
              </a:spcBef>
              <a:buClr>
                <a:schemeClr val="accent2"/>
              </a:buClr>
              <a:buFont typeface="Wingdings" panose="05000000000000000000" pitchFamily="2" charset="2"/>
              <a:buNone/>
            </a:pPr>
            <a:r>
              <a:rPr kumimoji="1" lang="en-US" altLang="zh-CN">
                <a:solidFill>
                  <a:srgbClr val="003300"/>
                </a:solidFill>
                <a:ea typeface="宋体" panose="02010600030101010101" pitchFamily="2" charset="-122"/>
              </a:rPr>
              <a:t> D(S)=0</a:t>
            </a:r>
            <a:r>
              <a:rPr kumimoji="1" lang="zh-CN" altLang="en-US">
                <a:solidFill>
                  <a:srgbClr val="003300"/>
                </a:solidFill>
                <a:ea typeface="宋体" panose="02010600030101010101" pitchFamily="2" charset="-122"/>
              </a:rPr>
              <a:t>所有的根均在</a:t>
            </a:r>
            <a:r>
              <a:rPr kumimoji="1" lang="en-US" altLang="zh-CN">
                <a:solidFill>
                  <a:srgbClr val="003300"/>
                </a:solidFill>
                <a:ea typeface="宋体" panose="02010600030101010101" pitchFamily="2" charset="-122"/>
              </a:rPr>
              <a:t>S</a:t>
            </a:r>
            <a:r>
              <a:rPr kumimoji="1" lang="zh-CN" altLang="en-US">
                <a:solidFill>
                  <a:srgbClr val="003300"/>
                </a:solidFill>
                <a:ea typeface="宋体" panose="02010600030101010101" pitchFamily="2" charset="-122"/>
              </a:rPr>
              <a:t>平面的左半平面，称</a:t>
            </a:r>
            <a:r>
              <a:rPr kumimoji="1" lang="en-US" altLang="zh-CN">
                <a:solidFill>
                  <a:srgbClr val="003300"/>
                </a:solidFill>
                <a:ea typeface="宋体" panose="02010600030101010101" pitchFamily="2" charset="-122"/>
              </a:rPr>
              <a:t>D(S)</a:t>
            </a:r>
            <a:r>
              <a:rPr kumimoji="1" lang="zh-CN" altLang="en-US">
                <a:solidFill>
                  <a:srgbClr val="003300"/>
                </a:solidFill>
                <a:ea typeface="宋体" panose="02010600030101010101" pitchFamily="2" charset="-122"/>
              </a:rPr>
              <a:t>为霍尔维茨多项式。           </a:t>
            </a:r>
            <a:endParaRPr kumimoji="1" lang="zh-CN" altLang="en-US">
              <a:solidFill>
                <a:schemeClr val="hlink"/>
              </a:solidFill>
              <a:latin typeface="楷体_GB2312" pitchFamily="49" charset="-122"/>
              <a:ea typeface="楷体_GB2312" pitchFamily="49" charset="-122"/>
            </a:endParaRPr>
          </a:p>
        </p:txBody>
      </p:sp>
      <p:sp>
        <p:nvSpPr>
          <p:cNvPr id="621580" name="Text Box 12"/>
          <p:cNvSpPr txBox="1">
            <a:spLocks noChangeArrowheads="1"/>
          </p:cNvSpPr>
          <p:nvPr/>
        </p:nvSpPr>
        <p:spPr bwMode="auto">
          <a:xfrm>
            <a:off x="5035550" y="3122613"/>
            <a:ext cx="41084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sz="2400">
                <a:latin typeface="Tahoma" panose="020B0604030504040204" pitchFamily="34" charset="0"/>
                <a:ea typeface="宋体" panose="02010600030101010101" pitchFamily="2" charset="-122"/>
              </a:rPr>
              <a:t>(</a:t>
            </a:r>
            <a:r>
              <a:rPr kumimoji="1" lang="zh-CN" altLang="en-US" sz="2400">
                <a:latin typeface="Tahoma" panose="020B0604030504040204" pitchFamily="34" charset="0"/>
                <a:ea typeface="宋体" panose="02010600030101010101" pitchFamily="2" charset="-122"/>
              </a:rPr>
              <a:t>由</a:t>
            </a:r>
            <a:r>
              <a:rPr kumimoji="1" lang="en-US" altLang="zh-CN" sz="2400">
                <a:latin typeface="Tahoma" panose="020B0604030504040204" pitchFamily="34" charset="0"/>
                <a:ea typeface="宋体" panose="02010600030101010101" pitchFamily="2" charset="-122"/>
              </a:rPr>
              <a:t>H(s)</a:t>
            </a:r>
            <a:r>
              <a:rPr kumimoji="1" lang="zh-CN" altLang="en-US" sz="2400">
                <a:latin typeface="Tahoma" panose="020B0604030504040204" pitchFamily="34" charset="0"/>
                <a:ea typeface="宋体" panose="02010600030101010101" pitchFamily="2" charset="-122"/>
              </a:rPr>
              <a:t>分母多项式判断</a:t>
            </a:r>
            <a:r>
              <a:rPr kumimoji="1" lang="en-US" altLang="zh-CN" sz="2400">
                <a:latin typeface="Tahoma" panose="020B0604030504040204" pitchFamily="34" charset="0"/>
                <a:ea typeface="宋体" panose="02010600030101010101" pitchFamily="2" charset="-122"/>
              </a:rPr>
              <a:t>)</a:t>
            </a:r>
          </a:p>
        </p:txBody>
      </p:sp>
      <p:sp>
        <p:nvSpPr>
          <p:cNvPr id="621581" name="Text Box 13"/>
          <p:cNvSpPr txBox="1">
            <a:spLocks noChangeArrowheads="1"/>
          </p:cNvSpPr>
          <p:nvPr/>
        </p:nvSpPr>
        <p:spPr bwMode="auto">
          <a:xfrm>
            <a:off x="611188" y="5748338"/>
            <a:ext cx="767873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prstDash val="sysDot"/>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zh-CN" altLang="en-US">
                <a:solidFill>
                  <a:srgbClr val="FF0000"/>
                </a:solidFill>
                <a:latin typeface="Tahoma" panose="020B0604030504040204" pitchFamily="34" charset="0"/>
                <a:ea typeface="宋体" panose="02010600030101010101" pitchFamily="2" charset="-122"/>
              </a:rPr>
              <a:t>系统稳定充要条件：</a:t>
            </a:r>
            <a:r>
              <a:rPr kumimoji="1" lang="en-US" altLang="zh-CN">
                <a:solidFill>
                  <a:srgbClr val="FF0000"/>
                </a:solidFill>
                <a:latin typeface="Tahoma" panose="020B0604030504040204" pitchFamily="34" charset="0"/>
                <a:ea typeface="宋体" panose="02010600030101010101" pitchFamily="2" charset="-122"/>
              </a:rPr>
              <a:t>D(S)</a:t>
            </a:r>
            <a:r>
              <a:rPr kumimoji="1" lang="zh-CN" altLang="en-US">
                <a:solidFill>
                  <a:srgbClr val="FF0000"/>
                </a:solidFill>
                <a:latin typeface="Tahoma" panose="020B0604030504040204" pitchFamily="34" charset="0"/>
                <a:ea typeface="宋体" panose="02010600030101010101" pitchFamily="2" charset="-122"/>
              </a:rPr>
              <a:t>为霍尔维茨多项式。</a:t>
            </a:r>
          </a:p>
        </p:txBody>
      </p:sp>
      <p:sp>
        <p:nvSpPr>
          <p:cNvPr id="621582" name="Text Box 14"/>
          <p:cNvSpPr txBox="1">
            <a:spLocks noChangeArrowheads="1"/>
          </p:cNvSpPr>
          <p:nvPr/>
        </p:nvSpPr>
        <p:spPr bwMode="auto">
          <a:xfrm>
            <a:off x="827088" y="6237288"/>
            <a:ext cx="7177087" cy="511175"/>
          </a:xfrm>
          <a:prstGeom prst="rect">
            <a:avLst/>
          </a:prstGeom>
          <a:solidFill>
            <a:schemeClr val="bg1"/>
          </a:solidFill>
          <a:ln>
            <a:noFill/>
          </a:ln>
          <a:extLst>
            <a:ext uri="{91240B29-F687-4F45-9708-019B960494DF}">
              <a14:hiddenLine xmlns:a14="http://schemas.microsoft.com/office/drawing/2010/main" w="38100">
                <a:solidFill>
                  <a:srgbClr val="000000"/>
                </a:solidFill>
                <a:prstDash val="sysDot"/>
                <a:miter lim="800000"/>
                <a:headEnd/>
                <a:tailEnd/>
              </a14:hiddenLine>
            </a:ext>
          </a:extLst>
        </p:spPr>
        <p:txBody>
          <a:bodyPr>
            <a:spAutoFit/>
          </a:bodyPr>
          <a:lstStyle>
            <a:lvl1pPr>
              <a:defRPr sz="2800" b="1">
                <a:solidFill>
                  <a:schemeClr val="tx1"/>
                </a:solidFill>
                <a:latin typeface="黑体" panose="02010609060101010101" pitchFamily="49" charset="-122"/>
                <a:ea typeface="黑体" panose="02010609060101010101" pitchFamily="49" charset="-122"/>
              </a:defRPr>
            </a:lvl1pPr>
            <a:lvl2pPr marL="742950" indent="-285750">
              <a:defRPr sz="2800" b="1">
                <a:solidFill>
                  <a:schemeClr val="tx1"/>
                </a:solidFill>
                <a:latin typeface="黑体" panose="02010609060101010101" pitchFamily="49" charset="-122"/>
                <a:ea typeface="黑体" panose="02010609060101010101" pitchFamily="49" charset="-122"/>
              </a:defRPr>
            </a:lvl2pPr>
            <a:lvl3pPr marL="1143000" indent="-228600">
              <a:defRPr sz="2800" b="1">
                <a:solidFill>
                  <a:schemeClr val="tx1"/>
                </a:solidFill>
                <a:latin typeface="黑体" panose="02010609060101010101" pitchFamily="49" charset="-122"/>
                <a:ea typeface="黑体" panose="02010609060101010101" pitchFamily="49" charset="-122"/>
              </a:defRPr>
            </a:lvl3pPr>
            <a:lvl4pPr marL="1600200" indent="-228600">
              <a:defRPr sz="2800" b="1">
                <a:solidFill>
                  <a:schemeClr val="tx1"/>
                </a:solidFill>
                <a:latin typeface="黑体" panose="02010609060101010101" pitchFamily="49" charset="-122"/>
                <a:ea typeface="黑体" panose="02010609060101010101" pitchFamily="49" charset="-122"/>
              </a:defRPr>
            </a:lvl4pPr>
            <a:lvl5pPr marL="2057400" indent="-228600">
              <a:defRPr sz="28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黑体" panose="02010609060101010101" pitchFamily="49" charset="-122"/>
                <a:ea typeface="黑体" panose="02010609060101010101" pitchFamily="49" charset="-122"/>
              </a:defRPr>
            </a:lvl9pPr>
          </a:lstStyle>
          <a:p>
            <a:pPr eaLnBrk="1" hangingPunct="1">
              <a:lnSpc>
                <a:spcPct val="85000"/>
              </a:lnSpc>
              <a:spcBef>
                <a:spcPct val="50000"/>
              </a:spcBef>
              <a:buClr>
                <a:schemeClr val="accent2"/>
              </a:buClr>
              <a:buFont typeface="Wingdings" panose="05000000000000000000" pitchFamily="2" charset="2"/>
              <a:buNone/>
            </a:pPr>
            <a:r>
              <a:rPr kumimoji="1" lang="en-US" altLang="zh-CN" sz="3200">
                <a:solidFill>
                  <a:srgbClr val="FF0000"/>
                </a:solidFill>
                <a:latin typeface="Tahoma" panose="020B0604030504040204" pitchFamily="34" charset="0"/>
                <a:ea typeface="宋体" panose="02010600030101010101" pitchFamily="2" charset="-122"/>
              </a:rPr>
              <a:t>(a)</a:t>
            </a:r>
            <a:r>
              <a:rPr kumimoji="1" lang="zh-CN" altLang="en-US" sz="3200">
                <a:solidFill>
                  <a:srgbClr val="FF0000"/>
                </a:solidFill>
                <a:latin typeface="Tahoma" panose="020B0604030504040204" pitchFamily="34" charset="0"/>
                <a:ea typeface="宋体" panose="02010600030101010101" pitchFamily="2" charset="-122"/>
              </a:rPr>
              <a:t>、</a:t>
            </a:r>
            <a:r>
              <a:rPr kumimoji="1" lang="en-US" altLang="zh-CN" sz="3200">
                <a:solidFill>
                  <a:srgbClr val="FF0000"/>
                </a:solidFill>
                <a:latin typeface="Tahoma" panose="020B0604030504040204" pitchFamily="34" charset="0"/>
                <a:ea typeface="宋体" panose="02010600030101010101" pitchFamily="2" charset="-122"/>
              </a:rPr>
              <a:t>(b)</a:t>
            </a:r>
            <a:r>
              <a:rPr kumimoji="1" lang="zh-CN" altLang="en-US" sz="3200">
                <a:solidFill>
                  <a:srgbClr val="FF0000"/>
                </a:solidFill>
                <a:latin typeface="Tahoma" panose="020B0604030504040204" pitchFamily="34" charset="0"/>
                <a:ea typeface="宋体" panose="02010600030101010101" pitchFamily="2" charset="-122"/>
              </a:rPr>
              <a:t>是系统稳定充要条件。</a:t>
            </a:r>
          </a:p>
        </p:txBody>
      </p:sp>
      <p:sp>
        <p:nvSpPr>
          <p:cNvPr id="2" name="墨迹 1"/>
          <p:cNvSpPr/>
          <p:nvPr/>
        </p:nvSpPr>
        <p:spPr bwMode="auto">
          <a:xfrm>
            <a:off x="1591920" y="2101320"/>
            <a:ext cx="3934080" cy="2139480"/>
          </a:xfrm>
        </p:spPr>
      </p:sp>
    </p:spTree>
    <p:custDataLst>
      <p:tags r:id="rId1"/>
    </p:custDataLst>
  </p:cSld>
  <p:clrMapOvr>
    <a:masterClrMapping/>
  </p:clrMapOvr>
  <p:transition spd="med" advTm="7904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22" presetClass="entr" presetSubtype="8" fill="hold" grpId="0" nodeType="afterEffect">
                                  <p:stCondLst>
                                    <p:cond delay="0"/>
                                  </p:stCondLst>
                                  <p:childTnLst>
                                    <p:set>
                                      <p:cBhvr>
                                        <p:cTn id="10" dur="1" fill="hold">
                                          <p:stCondLst>
                                            <p:cond delay="0"/>
                                          </p:stCondLst>
                                        </p:cTn>
                                        <p:tgtEl>
                                          <p:spTgt spid="621571">
                                            <p:txEl>
                                              <p:pRg st="0" end="0"/>
                                            </p:txEl>
                                          </p:spTgt>
                                        </p:tgtEl>
                                        <p:attrNameLst>
                                          <p:attrName>style.visibility</p:attrName>
                                        </p:attrNameLst>
                                      </p:cBhvr>
                                      <p:to>
                                        <p:strVal val="visible"/>
                                      </p:to>
                                    </p:set>
                                    <p:animEffect transition="in" filter="wipe(left)">
                                      <p:cBhvr>
                                        <p:cTn id="11" dur="500"/>
                                        <p:tgtEl>
                                          <p:spTgt spid="62157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21572"/>
                                        </p:tgtEl>
                                        <p:attrNameLst>
                                          <p:attrName>style.visibility</p:attrName>
                                        </p:attrNameLst>
                                      </p:cBhvr>
                                      <p:to>
                                        <p:strVal val="visible"/>
                                      </p:to>
                                    </p:set>
                                    <p:animEffect transition="in" filter="wipe(left)">
                                      <p:cBhvr>
                                        <p:cTn id="16" dur="500"/>
                                        <p:tgtEl>
                                          <p:spTgt spid="621572"/>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621573"/>
                                        </p:tgtEl>
                                        <p:attrNameLst>
                                          <p:attrName>style.visibility</p:attrName>
                                        </p:attrNameLst>
                                      </p:cBhvr>
                                      <p:to>
                                        <p:strVal val="visible"/>
                                      </p:to>
                                    </p:set>
                                    <p:animEffect transition="in" filter="wipe(left)">
                                      <p:cBhvr>
                                        <p:cTn id="20" dur="500"/>
                                        <p:tgtEl>
                                          <p:spTgt spid="62157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21575">
                                            <p:txEl>
                                              <p:pRg st="0" end="0"/>
                                            </p:txEl>
                                          </p:spTgt>
                                        </p:tgtEl>
                                        <p:attrNameLst>
                                          <p:attrName>style.visibility</p:attrName>
                                        </p:attrNameLst>
                                      </p:cBhvr>
                                      <p:to>
                                        <p:strVal val="visible"/>
                                      </p:to>
                                    </p:set>
                                    <p:animEffect transition="in" filter="wipe(left)">
                                      <p:cBhvr>
                                        <p:cTn id="25" dur="500"/>
                                        <p:tgtEl>
                                          <p:spTgt spid="621575">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21574">
                                            <p:txEl>
                                              <p:pRg st="0" end="0"/>
                                            </p:txEl>
                                          </p:spTgt>
                                        </p:tgtEl>
                                        <p:attrNameLst>
                                          <p:attrName>style.visibility</p:attrName>
                                        </p:attrNameLst>
                                      </p:cBhvr>
                                      <p:to>
                                        <p:strVal val="visible"/>
                                      </p:to>
                                    </p:set>
                                    <p:animEffect transition="in" filter="wipe(left)">
                                      <p:cBhvr>
                                        <p:cTn id="30" dur="500"/>
                                        <p:tgtEl>
                                          <p:spTgt spid="621574">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21574">
                                            <p:txEl>
                                              <p:pRg st="1" end="1"/>
                                            </p:txEl>
                                          </p:spTgt>
                                        </p:tgtEl>
                                        <p:attrNameLst>
                                          <p:attrName>style.visibility</p:attrName>
                                        </p:attrNameLst>
                                      </p:cBhvr>
                                      <p:to>
                                        <p:strVal val="visible"/>
                                      </p:to>
                                    </p:set>
                                    <p:animEffect transition="in" filter="wipe(left)">
                                      <p:cBhvr>
                                        <p:cTn id="35" dur="500"/>
                                        <p:tgtEl>
                                          <p:spTgt spid="621574">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21574">
                                            <p:txEl>
                                              <p:pRg st="2" end="2"/>
                                            </p:txEl>
                                          </p:spTgt>
                                        </p:tgtEl>
                                        <p:attrNameLst>
                                          <p:attrName>style.visibility</p:attrName>
                                        </p:attrNameLst>
                                      </p:cBhvr>
                                      <p:to>
                                        <p:strVal val="visible"/>
                                      </p:to>
                                    </p:set>
                                    <p:animEffect transition="in" filter="wipe(left)">
                                      <p:cBhvr>
                                        <p:cTn id="40" dur="500"/>
                                        <p:tgtEl>
                                          <p:spTgt spid="621574">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21576">
                                            <p:txEl>
                                              <p:pRg st="0" end="0"/>
                                            </p:txEl>
                                          </p:spTgt>
                                        </p:tgtEl>
                                        <p:attrNameLst>
                                          <p:attrName>style.visibility</p:attrName>
                                        </p:attrNameLst>
                                      </p:cBhvr>
                                      <p:to>
                                        <p:strVal val="visible"/>
                                      </p:to>
                                    </p:set>
                                    <p:animEffect transition="in" filter="wipe(left)">
                                      <p:cBhvr>
                                        <p:cTn id="45" dur="500"/>
                                        <p:tgtEl>
                                          <p:spTgt spid="621576">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21580">
                                            <p:txEl>
                                              <p:pRg st="0" end="0"/>
                                            </p:txEl>
                                          </p:spTgt>
                                        </p:tgtEl>
                                        <p:attrNameLst>
                                          <p:attrName>style.visibility</p:attrName>
                                        </p:attrNameLst>
                                      </p:cBhvr>
                                      <p:to>
                                        <p:strVal val="visible"/>
                                      </p:to>
                                    </p:set>
                                    <p:animEffect transition="in" filter="wipe(left)">
                                      <p:cBhvr>
                                        <p:cTn id="50" dur="500"/>
                                        <p:tgtEl>
                                          <p:spTgt spid="621580">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621577"/>
                                        </p:tgtEl>
                                        <p:attrNameLst>
                                          <p:attrName>style.visibility</p:attrName>
                                        </p:attrNameLst>
                                      </p:cBhvr>
                                      <p:to>
                                        <p:strVal val="visible"/>
                                      </p:to>
                                    </p:set>
                                    <p:animEffect transition="in" filter="wipe(left)">
                                      <p:cBhvr>
                                        <p:cTn id="55" dur="500"/>
                                        <p:tgtEl>
                                          <p:spTgt spid="621577"/>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621579">
                                            <p:txEl>
                                              <p:pRg st="0" end="0"/>
                                            </p:txEl>
                                          </p:spTgt>
                                        </p:tgtEl>
                                        <p:attrNameLst>
                                          <p:attrName>style.visibility</p:attrName>
                                        </p:attrNameLst>
                                      </p:cBhvr>
                                      <p:to>
                                        <p:strVal val="visible"/>
                                      </p:to>
                                    </p:set>
                                    <p:animEffect transition="in" filter="wipe(left)">
                                      <p:cBhvr>
                                        <p:cTn id="60" dur="500"/>
                                        <p:tgtEl>
                                          <p:spTgt spid="621579">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21581"/>
                                        </p:tgtEl>
                                        <p:attrNameLst>
                                          <p:attrName>style.visibility</p:attrName>
                                        </p:attrNameLst>
                                      </p:cBhvr>
                                      <p:to>
                                        <p:strVal val="visible"/>
                                      </p:to>
                                    </p:set>
                                    <p:animEffect transition="in" filter="wipe(left)">
                                      <p:cBhvr>
                                        <p:cTn id="65" dur="500"/>
                                        <p:tgtEl>
                                          <p:spTgt spid="62158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621578">
                                            <p:txEl>
                                              <p:pRg st="0" end="0"/>
                                            </p:txEl>
                                          </p:spTgt>
                                        </p:tgtEl>
                                        <p:attrNameLst>
                                          <p:attrName>style.visibility</p:attrName>
                                        </p:attrNameLst>
                                      </p:cBhvr>
                                      <p:to>
                                        <p:strVal val="visible"/>
                                      </p:to>
                                    </p:set>
                                    <p:animEffect transition="in" filter="wipe(left)">
                                      <p:cBhvr>
                                        <p:cTn id="70" dur="500"/>
                                        <p:tgtEl>
                                          <p:spTgt spid="621578">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621578">
                                            <p:txEl>
                                              <p:pRg st="1" end="1"/>
                                            </p:txEl>
                                          </p:spTgt>
                                        </p:tgtEl>
                                        <p:attrNameLst>
                                          <p:attrName>style.visibility</p:attrName>
                                        </p:attrNameLst>
                                      </p:cBhvr>
                                      <p:to>
                                        <p:strVal val="visible"/>
                                      </p:to>
                                    </p:set>
                                    <p:animEffect transition="in" filter="wipe(left)">
                                      <p:cBhvr>
                                        <p:cTn id="75" dur="500"/>
                                        <p:tgtEl>
                                          <p:spTgt spid="621578">
                                            <p:txEl>
                                              <p:pRg st="1" end="1"/>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621578">
                                            <p:txEl>
                                              <p:pRg st="2" end="2"/>
                                            </p:txEl>
                                          </p:spTgt>
                                        </p:tgtEl>
                                        <p:attrNameLst>
                                          <p:attrName>style.visibility</p:attrName>
                                        </p:attrNameLst>
                                      </p:cBhvr>
                                      <p:to>
                                        <p:strVal val="visible"/>
                                      </p:to>
                                    </p:set>
                                    <p:animEffect transition="in" filter="wipe(left)">
                                      <p:cBhvr>
                                        <p:cTn id="80" dur="500"/>
                                        <p:tgtEl>
                                          <p:spTgt spid="621578">
                                            <p:txEl>
                                              <p:pRg st="2" end="2"/>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621578">
                                            <p:txEl>
                                              <p:pRg st="3" end="3"/>
                                            </p:txEl>
                                          </p:spTgt>
                                        </p:tgtEl>
                                        <p:attrNameLst>
                                          <p:attrName>style.visibility</p:attrName>
                                        </p:attrNameLst>
                                      </p:cBhvr>
                                      <p:to>
                                        <p:strVal val="visible"/>
                                      </p:to>
                                    </p:set>
                                    <p:animEffect transition="in" filter="wipe(left)">
                                      <p:cBhvr>
                                        <p:cTn id="85" dur="500"/>
                                        <p:tgtEl>
                                          <p:spTgt spid="621578">
                                            <p:txEl>
                                              <p:pRg st="3" end="3"/>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621582"/>
                                        </p:tgtEl>
                                        <p:attrNameLst>
                                          <p:attrName>style.visibility</p:attrName>
                                        </p:attrNameLst>
                                      </p:cBhvr>
                                      <p:to>
                                        <p:strVal val="visible"/>
                                      </p:to>
                                    </p:set>
                                    <p:animEffect transition="in" filter="wipe(left)">
                                      <p:cBhvr>
                                        <p:cTn id="90" dur="500"/>
                                        <p:tgtEl>
                                          <p:spTgt spid="621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71" grpId="0" build="p" autoUpdateAnimBg="0"/>
      <p:bldP spid="621574" grpId="0" build="p" autoUpdateAnimBg="0"/>
      <p:bldP spid="621575" grpId="0" build="p" autoUpdateAnimBg="0"/>
      <p:bldP spid="621576" grpId="0" build="p" autoUpdateAnimBg="0"/>
      <p:bldP spid="621578" grpId="0" build="p" autoUpdateAnimBg="0"/>
      <p:bldP spid="621579" grpId="0" build="p" autoUpdateAnimBg="0"/>
      <p:bldP spid="621580" grpId="0" build="p" autoUpdateAnimBg="0"/>
      <p:bldP spid="621581" grpId="0"/>
      <p:bldP spid="621582"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3|4|3.5"/>
</p:tagLst>
</file>

<file path=ppt/tags/tag2.xml><?xml version="1.0" encoding="utf-8"?>
<p:tagLst xmlns:a="http://schemas.openxmlformats.org/drawingml/2006/main" xmlns:r="http://schemas.openxmlformats.org/officeDocument/2006/relationships" xmlns:p="http://schemas.openxmlformats.org/presentationml/2006/main">
  <p:tag name="TIMING" val="|51.7|18.8|2"/>
</p:tagLst>
</file>

<file path=ppt/tags/tag3.xml><?xml version="1.0" encoding="utf-8"?>
<p:tagLst xmlns:a="http://schemas.openxmlformats.org/drawingml/2006/main" xmlns:r="http://schemas.openxmlformats.org/officeDocument/2006/relationships" xmlns:p="http://schemas.openxmlformats.org/presentationml/2006/main">
  <p:tag name="TIMING" val="|4.3|36.6|33.8|8.7|13.7"/>
</p:tagLst>
</file>

<file path=ppt/tags/tag4.xml><?xml version="1.0" encoding="utf-8"?>
<p:tagLst xmlns:a="http://schemas.openxmlformats.org/drawingml/2006/main" xmlns:r="http://schemas.openxmlformats.org/officeDocument/2006/relationships" xmlns:p="http://schemas.openxmlformats.org/presentationml/2006/main">
  <p:tag name="TIMING" val="|168|1.2|2.5"/>
</p:tagLst>
</file>

<file path=ppt/tags/tag5.xml><?xml version="1.0" encoding="utf-8"?>
<p:tagLst xmlns:a="http://schemas.openxmlformats.org/drawingml/2006/main" xmlns:r="http://schemas.openxmlformats.org/officeDocument/2006/relationships" xmlns:p="http://schemas.openxmlformats.org/presentationml/2006/main">
  <p:tag name="TIMING" val="|32.7"/>
</p:tagLst>
</file>

<file path=ppt/tags/tag6.xml><?xml version="1.0" encoding="utf-8"?>
<p:tagLst xmlns:a="http://schemas.openxmlformats.org/drawingml/2006/main" xmlns:r="http://schemas.openxmlformats.org/officeDocument/2006/relationships" xmlns:p="http://schemas.openxmlformats.org/presentationml/2006/main">
  <p:tag name="TIMING" val="|82.9"/>
</p:tagLst>
</file>

<file path=ppt/tags/tag7.xml><?xml version="1.0" encoding="utf-8"?>
<p:tagLst xmlns:a="http://schemas.openxmlformats.org/drawingml/2006/main" xmlns:r="http://schemas.openxmlformats.org/officeDocument/2006/relationships" xmlns:p="http://schemas.openxmlformats.org/presentationml/2006/main">
  <p:tag name="TIMING" val="|30.2"/>
</p:tagLst>
</file>

<file path=ppt/tags/tag8.xml><?xml version="1.0" encoding="utf-8"?>
<p:tagLst xmlns:a="http://schemas.openxmlformats.org/drawingml/2006/main" xmlns:r="http://schemas.openxmlformats.org/officeDocument/2006/relationships" xmlns:p="http://schemas.openxmlformats.org/presentationml/2006/main">
  <p:tag name="TIMING" val="|40.3|8.7|41.9"/>
</p:tagLst>
</file>

<file path=ppt/tags/tag9.xml><?xml version="1.0" encoding="utf-8"?>
<p:tagLst xmlns:a="http://schemas.openxmlformats.org/drawingml/2006/main" xmlns:r="http://schemas.openxmlformats.org/officeDocument/2006/relationships" xmlns:p="http://schemas.openxmlformats.org/presentationml/2006/main">
  <p:tag name="TIMING" val="|4.1|23.4"/>
</p:tagLst>
</file>

<file path=ppt/tags/tag10.xml><?xml version="1.0" encoding="utf-8"?>
<p:tagLst xmlns:a="http://schemas.openxmlformats.org/drawingml/2006/main" xmlns:r="http://schemas.openxmlformats.org/officeDocument/2006/relationships" xmlns:p="http://schemas.openxmlformats.org/presentationml/2006/main">
  <p:tag name="TIMING" val="|1.7"/>
</p:tagLst>
</file>

<file path=ppt/tags/tag11.xml><?xml version="1.0" encoding="utf-8"?>
<p:tagLst xmlns:a="http://schemas.openxmlformats.org/drawingml/2006/main" xmlns:r="http://schemas.openxmlformats.org/officeDocument/2006/relationships" xmlns:p="http://schemas.openxmlformats.org/presentationml/2006/main">
  <p:tag name="TIMING" val="|10.6|18|67.2|29.2"/>
</p:tagLst>
</file>

<file path=ppt/tags/tag12.xml><?xml version="1.0" encoding="utf-8"?>
<p:tagLst xmlns:a="http://schemas.openxmlformats.org/drawingml/2006/main" xmlns:r="http://schemas.openxmlformats.org/officeDocument/2006/relationships" xmlns:p="http://schemas.openxmlformats.org/presentationml/2006/main">
  <p:tag name="TIMING" val="|86.2"/>
</p:tagLst>
</file>

<file path=ppt/tags/tag13.xml><?xml version="1.0" encoding="utf-8"?>
<p:tagLst xmlns:a="http://schemas.openxmlformats.org/drawingml/2006/main" xmlns:r="http://schemas.openxmlformats.org/officeDocument/2006/relationships" xmlns:p="http://schemas.openxmlformats.org/presentationml/2006/main">
  <p:tag name="TIMING" val="|43.1|156.1|67.2"/>
</p:tagLst>
</file>

<file path=ppt/tags/tag14.xml><?xml version="1.0" encoding="utf-8"?>
<p:tagLst xmlns:a="http://schemas.openxmlformats.org/drawingml/2006/main" xmlns:r="http://schemas.openxmlformats.org/officeDocument/2006/relationships" xmlns:p="http://schemas.openxmlformats.org/presentationml/2006/main">
  <p:tag name="TIMING" val="|47.9"/>
</p:tagLst>
</file>

<file path=ppt/tags/tag15.xml><?xml version="1.0" encoding="utf-8"?>
<p:tagLst xmlns:a="http://schemas.openxmlformats.org/drawingml/2006/main" xmlns:r="http://schemas.openxmlformats.org/officeDocument/2006/relationships" xmlns:p="http://schemas.openxmlformats.org/presentationml/2006/main">
  <p:tag name="TIMING" val="|36.5|20.8|29|18.5|2.5|5.2|23.8|3.6"/>
</p:tagLst>
</file>

<file path=ppt/tags/tag16.xml><?xml version="1.0" encoding="utf-8"?>
<p:tagLst xmlns:a="http://schemas.openxmlformats.org/drawingml/2006/main" xmlns:r="http://schemas.openxmlformats.org/officeDocument/2006/relationships" xmlns:p="http://schemas.openxmlformats.org/presentationml/2006/main">
  <p:tag name="TIMING" val="|10|14.4|4.7|2.5"/>
</p:tagLst>
</file>

<file path=ppt/tags/tag17.xml><?xml version="1.0" encoding="utf-8"?>
<p:tagLst xmlns:a="http://schemas.openxmlformats.org/drawingml/2006/main" xmlns:r="http://schemas.openxmlformats.org/officeDocument/2006/relationships" xmlns:p="http://schemas.openxmlformats.org/presentationml/2006/main">
  <p:tag name="TIMING" val="|1.1|0.3|0.2|0.2|0.2|0.2"/>
</p:tagLst>
</file>

<file path=ppt/tags/tag18.xml><?xml version="1.0" encoding="utf-8"?>
<p:tagLst xmlns:a="http://schemas.openxmlformats.org/drawingml/2006/main" xmlns:r="http://schemas.openxmlformats.org/officeDocument/2006/relationships" xmlns:p="http://schemas.openxmlformats.org/presentationml/2006/main">
  <p:tag name="TIMING" val="|0.6|0|0|0.2|0.4|0.2|0.2|0.1|0.2|0.3"/>
</p:tagLst>
</file>

<file path=ppt/tags/tag19.xml><?xml version="1.0" encoding="utf-8"?>
<p:tagLst xmlns:a="http://schemas.openxmlformats.org/drawingml/2006/main" xmlns:r="http://schemas.openxmlformats.org/officeDocument/2006/relationships" xmlns:p="http://schemas.openxmlformats.org/presentationml/2006/main">
  <p:tag name="TIMING" val="|1|0.1|0.2|0.1|0.1|0.2|0.1|0.1|0.1|0.2|0.1|0.3|0.3|0.3|0.4|0.3|0.2|0.2|0.1|0.2"/>
</p:tagLst>
</file>

<file path=ppt/tags/tag20.xml><?xml version="1.0" encoding="utf-8"?>
<p:tagLst xmlns:a="http://schemas.openxmlformats.org/drawingml/2006/main" xmlns:r="http://schemas.openxmlformats.org/officeDocument/2006/relationships" xmlns:p="http://schemas.openxmlformats.org/presentationml/2006/main">
  <p:tag name="TIMING" val="|0.6|27.2|46.9|10.2|1.4"/>
</p:tagLst>
</file>

<file path=ppt/tags/tag21.xml><?xml version="1.0" encoding="utf-8"?>
<p:tagLst xmlns:a="http://schemas.openxmlformats.org/drawingml/2006/main" xmlns:r="http://schemas.openxmlformats.org/officeDocument/2006/relationships" xmlns:p="http://schemas.openxmlformats.org/presentationml/2006/main">
  <p:tag name="TIMING" val="|9.9|96.3"/>
</p:tagLst>
</file>

<file path=ppt/tags/tag22.xml><?xml version="1.0" encoding="utf-8"?>
<p:tagLst xmlns:a="http://schemas.openxmlformats.org/drawingml/2006/main" xmlns:r="http://schemas.openxmlformats.org/officeDocument/2006/relationships" xmlns:p="http://schemas.openxmlformats.org/presentationml/2006/main">
  <p:tag name="TIMING" val="|32.7"/>
</p:tagLst>
</file>

<file path=ppt/tags/tag23.xml><?xml version="1.0" encoding="utf-8"?>
<p:tagLst xmlns:a="http://schemas.openxmlformats.org/drawingml/2006/main" xmlns:r="http://schemas.openxmlformats.org/officeDocument/2006/relationships" xmlns:p="http://schemas.openxmlformats.org/presentationml/2006/main">
  <p:tag name="TIMING" val="|12.5|36.4|2.9|48.6"/>
</p:tagLst>
</file>

<file path=ppt/tags/tag24.xml><?xml version="1.0" encoding="utf-8"?>
<p:tagLst xmlns:a="http://schemas.openxmlformats.org/drawingml/2006/main" xmlns:r="http://schemas.openxmlformats.org/officeDocument/2006/relationships" xmlns:p="http://schemas.openxmlformats.org/presentationml/2006/main">
  <p:tag name="TIMING" val="|89.8"/>
</p:tagLst>
</file>

<file path=ppt/tags/tag25.xml><?xml version="1.0" encoding="utf-8"?>
<p:tagLst xmlns:a="http://schemas.openxmlformats.org/drawingml/2006/main" xmlns:r="http://schemas.openxmlformats.org/officeDocument/2006/relationships" xmlns:p="http://schemas.openxmlformats.org/presentationml/2006/main">
  <p:tag name="TIMING" val="|0.3"/>
</p:tagLst>
</file>

<file path=ppt/tags/tag26.xml><?xml version="1.0" encoding="utf-8"?>
<p:tagLst xmlns:a="http://schemas.openxmlformats.org/drawingml/2006/main" xmlns:r="http://schemas.openxmlformats.org/officeDocument/2006/relationships" xmlns:p="http://schemas.openxmlformats.org/presentationml/2006/main">
  <p:tag name="TIMING" val="|0.4|0.4"/>
</p:tagLst>
</file>

<file path=ppt/tags/tag27.xml><?xml version="1.0" encoding="utf-8"?>
<p:tagLst xmlns:a="http://schemas.openxmlformats.org/drawingml/2006/main" xmlns:r="http://schemas.openxmlformats.org/officeDocument/2006/relationships" xmlns:p="http://schemas.openxmlformats.org/presentationml/2006/main">
  <p:tag name="TIMING" val="|25.6|35.5|14.8|20.2|9.1"/>
</p:tagLst>
</file>

<file path=ppt/tags/tag28.xml><?xml version="1.0" encoding="utf-8"?>
<p:tagLst xmlns:a="http://schemas.openxmlformats.org/drawingml/2006/main" xmlns:r="http://schemas.openxmlformats.org/officeDocument/2006/relationships" xmlns:p="http://schemas.openxmlformats.org/presentationml/2006/main">
  <p:tag name="TIMING" val="|57.6"/>
</p:tagLst>
</file>

<file path=ppt/tags/tag29.xml><?xml version="1.0" encoding="utf-8"?>
<p:tagLst xmlns:a="http://schemas.openxmlformats.org/drawingml/2006/main" xmlns:r="http://schemas.openxmlformats.org/officeDocument/2006/relationships" xmlns:p="http://schemas.openxmlformats.org/presentationml/2006/main">
  <p:tag name="TIMING" val="|1.2|12.5|6.1|68|86.1|4.1"/>
</p:tagLst>
</file>

<file path=ppt/tags/tag30.xml><?xml version="1.0" encoding="utf-8"?>
<p:tagLst xmlns:a="http://schemas.openxmlformats.org/drawingml/2006/main" xmlns:r="http://schemas.openxmlformats.org/officeDocument/2006/relationships" xmlns:p="http://schemas.openxmlformats.org/presentationml/2006/main">
  <p:tag name="TIMING" val="|1.3|0.9|2.1"/>
</p:tagLst>
</file>

<file path=ppt/tags/tag31.xml><?xml version="1.0" encoding="utf-8"?>
<p:tagLst xmlns:a="http://schemas.openxmlformats.org/drawingml/2006/main" xmlns:r="http://schemas.openxmlformats.org/officeDocument/2006/relationships" xmlns:p="http://schemas.openxmlformats.org/presentationml/2006/main">
  <p:tag name="TIMING" val="|1.4|28.9"/>
</p:tagLst>
</file>

<file path=ppt/tags/tag32.xml><?xml version="1.0" encoding="utf-8"?>
<p:tagLst xmlns:a="http://schemas.openxmlformats.org/drawingml/2006/main" xmlns:r="http://schemas.openxmlformats.org/officeDocument/2006/relationships" xmlns:p="http://schemas.openxmlformats.org/presentationml/2006/main">
  <p:tag name="TIMING" val="|6.1|0.4"/>
</p:tagLst>
</file>

<file path=ppt/tags/tag33.xml><?xml version="1.0" encoding="utf-8"?>
<p:tagLst xmlns:a="http://schemas.openxmlformats.org/drawingml/2006/main" xmlns:r="http://schemas.openxmlformats.org/officeDocument/2006/relationships" xmlns:p="http://schemas.openxmlformats.org/presentationml/2006/main">
  <p:tag name="TIMING" val="|0.8|1.3"/>
</p:tagLst>
</file>

<file path=ppt/tags/tag34.xml><?xml version="1.0" encoding="utf-8"?>
<p:tagLst xmlns:a="http://schemas.openxmlformats.org/drawingml/2006/main" xmlns:r="http://schemas.openxmlformats.org/officeDocument/2006/relationships" xmlns:p="http://schemas.openxmlformats.org/presentationml/2006/main">
  <p:tag name="TIMING" val="|1.5|73.4"/>
</p:tagLst>
</file>

<file path=ppt/tags/tag35.xml><?xml version="1.0" encoding="utf-8"?>
<p:tagLst xmlns:a="http://schemas.openxmlformats.org/drawingml/2006/main" xmlns:r="http://schemas.openxmlformats.org/officeDocument/2006/relationships" xmlns:p="http://schemas.openxmlformats.org/presentationml/2006/main">
  <p:tag name="TIMING" val="|0.6|0|0|0.2|0.4|0.2|0.2|0.1|0.2|0.3"/>
</p:tagLst>
</file>

<file path=ppt/tags/tag36.xml><?xml version="1.0" encoding="utf-8"?>
<p:tagLst xmlns:a="http://schemas.openxmlformats.org/drawingml/2006/main" xmlns:r="http://schemas.openxmlformats.org/officeDocument/2006/relationships" xmlns:p="http://schemas.openxmlformats.org/presentationml/2006/main">
  <p:tag name="TIMING" val="|5|18.2|15|2.5"/>
</p:tagLst>
</file>

<file path=ppt/tags/tag37.xml><?xml version="1.0" encoding="utf-8"?>
<p:tagLst xmlns:a="http://schemas.openxmlformats.org/drawingml/2006/main" xmlns:r="http://schemas.openxmlformats.org/officeDocument/2006/relationships" xmlns:p="http://schemas.openxmlformats.org/presentationml/2006/main">
  <p:tag name="TIMING" val="|2.5|31.5|20.9|5.6|8.8|19.4"/>
</p:tagLst>
</file>

<file path=ppt/tags/tag38.xml><?xml version="1.0" encoding="utf-8"?>
<p:tagLst xmlns:a="http://schemas.openxmlformats.org/drawingml/2006/main" xmlns:r="http://schemas.openxmlformats.org/officeDocument/2006/relationships" xmlns:p="http://schemas.openxmlformats.org/presentationml/2006/main">
  <p:tag name="TIMING" val="|0.7|0.5"/>
</p:tagLst>
</file>

<file path=ppt/tags/tag39.xml><?xml version="1.0" encoding="utf-8"?>
<p:tagLst xmlns:a="http://schemas.openxmlformats.org/drawingml/2006/main" xmlns:r="http://schemas.openxmlformats.org/officeDocument/2006/relationships" xmlns:p="http://schemas.openxmlformats.org/presentationml/2006/main">
  <p:tag name="TIMING" val="|5.5|22.9|23.1"/>
</p:tagLst>
</file>

<file path=ppt/tags/tag40.xml><?xml version="1.0" encoding="utf-8"?>
<p:tagLst xmlns:a="http://schemas.openxmlformats.org/drawingml/2006/main" xmlns:r="http://schemas.openxmlformats.org/officeDocument/2006/relationships" xmlns:p="http://schemas.openxmlformats.org/presentationml/2006/main">
  <p:tag name="TIMING" val="|1|0.6"/>
</p:tagLst>
</file>

<file path=ppt/tags/tag41.xml><?xml version="1.0" encoding="utf-8"?>
<p:tagLst xmlns:a="http://schemas.openxmlformats.org/drawingml/2006/main" xmlns:r="http://schemas.openxmlformats.org/officeDocument/2006/relationships" xmlns:p="http://schemas.openxmlformats.org/presentationml/2006/main">
  <p:tag name="TIMING" val="|46.1|97.1"/>
</p:tagLst>
</file>

<file path=ppt/tags/tag42.xml><?xml version="1.0" encoding="utf-8"?>
<p:tagLst xmlns:a="http://schemas.openxmlformats.org/drawingml/2006/main" xmlns:r="http://schemas.openxmlformats.org/officeDocument/2006/relationships" xmlns:p="http://schemas.openxmlformats.org/presentationml/2006/main">
  <p:tag name="TIMING" val="|17.7|47.8"/>
</p:tagLst>
</file>

<file path=ppt/tags/tag43.xml><?xml version="1.0" encoding="utf-8"?>
<p:tagLst xmlns:a="http://schemas.openxmlformats.org/drawingml/2006/main" xmlns:r="http://schemas.openxmlformats.org/officeDocument/2006/relationships" xmlns:p="http://schemas.openxmlformats.org/presentationml/2006/main">
  <p:tag name="TIMING" val="|1.1|87.5|41.4|18.9"/>
</p:tagLst>
</file>

<file path=ppt/tags/tag44.xml><?xml version="1.0" encoding="utf-8"?>
<p:tagLst xmlns:a="http://schemas.openxmlformats.org/drawingml/2006/main" xmlns:r="http://schemas.openxmlformats.org/officeDocument/2006/relationships" xmlns:p="http://schemas.openxmlformats.org/presentationml/2006/main">
  <p:tag name="TIMING" val="|14.9|6.8"/>
</p:tagLst>
</file>

<file path=ppt/tags/tag45.xml><?xml version="1.0" encoding="utf-8"?>
<p:tagLst xmlns:a="http://schemas.openxmlformats.org/drawingml/2006/main" xmlns:r="http://schemas.openxmlformats.org/officeDocument/2006/relationships" xmlns:p="http://schemas.openxmlformats.org/presentationml/2006/main">
  <p:tag name="TIMING" val="|18.8|16.6"/>
</p:tagLst>
</file>

<file path=ppt/tags/tag46.xml><?xml version="1.0" encoding="utf-8"?>
<p:tagLst xmlns:a="http://schemas.openxmlformats.org/drawingml/2006/main" xmlns:r="http://schemas.openxmlformats.org/officeDocument/2006/relationships" xmlns:p="http://schemas.openxmlformats.org/presentationml/2006/main">
  <p:tag name="TIMING" val="|40.1"/>
</p:tagLst>
</file>

<file path=ppt/tags/tag47.xml><?xml version="1.0" encoding="utf-8"?>
<p:tagLst xmlns:a="http://schemas.openxmlformats.org/drawingml/2006/main" xmlns:r="http://schemas.openxmlformats.org/officeDocument/2006/relationships" xmlns:p="http://schemas.openxmlformats.org/presentationml/2006/main">
  <p:tag name="TIMING" val="|63.2"/>
</p:tagLst>
</file>

<file path=ppt/tags/tag48.xml><?xml version="1.0" encoding="utf-8"?>
<p:tagLst xmlns:a="http://schemas.openxmlformats.org/drawingml/2006/main" xmlns:r="http://schemas.openxmlformats.org/officeDocument/2006/relationships" xmlns:p="http://schemas.openxmlformats.org/presentationml/2006/main">
  <p:tag name="TIMING" val="|10.9|1.9|10.3|15.4|26.5|11.4|9.3|6.8|11.4|5.5|3.4|3.7|100.5|2.3|3.2|3.5|91.1|14.8"/>
</p:tagLst>
</file>

<file path=ppt/tags/tag49.xml><?xml version="1.0" encoding="utf-8"?>
<p:tagLst xmlns:a="http://schemas.openxmlformats.org/drawingml/2006/main" xmlns:r="http://schemas.openxmlformats.org/officeDocument/2006/relationships" xmlns:p="http://schemas.openxmlformats.org/presentationml/2006/main">
  <p:tag name="TIMING" val="|23.4|28.5"/>
</p:tagLst>
</file>

<file path=ppt/tags/tag50.xml><?xml version="1.0" encoding="utf-8"?>
<p:tagLst xmlns:a="http://schemas.openxmlformats.org/drawingml/2006/main" xmlns:r="http://schemas.openxmlformats.org/officeDocument/2006/relationships" xmlns:p="http://schemas.openxmlformats.org/presentationml/2006/main">
  <p:tag name="TIMING" val="|17|1.7|5.7|11.6|1.7"/>
</p:tagLst>
</file>

<file path=ppt/tags/tag51.xml><?xml version="1.0" encoding="utf-8"?>
<p:tagLst xmlns:a="http://schemas.openxmlformats.org/drawingml/2006/main" xmlns:r="http://schemas.openxmlformats.org/officeDocument/2006/relationships" xmlns:p="http://schemas.openxmlformats.org/presentationml/2006/main">
  <p:tag name="TIMING" val="|1.2|1.2|11.5|19.9|6.6|0.8|0.6|0.7|20.5"/>
</p:tagLst>
</file>

<file path=ppt/tags/tag52.xml><?xml version="1.0" encoding="utf-8"?>
<p:tagLst xmlns:a="http://schemas.openxmlformats.org/drawingml/2006/main" xmlns:r="http://schemas.openxmlformats.org/officeDocument/2006/relationships" xmlns:p="http://schemas.openxmlformats.org/presentationml/2006/main">
  <p:tag name="TIMING" val="|3.6|1.3|2.2|2.3|30|1.5"/>
</p:tagLst>
</file>

<file path=ppt/tags/tag53.xml><?xml version="1.0" encoding="utf-8"?>
<p:tagLst xmlns:a="http://schemas.openxmlformats.org/drawingml/2006/main" xmlns:r="http://schemas.openxmlformats.org/officeDocument/2006/relationships" xmlns:p="http://schemas.openxmlformats.org/presentationml/2006/main">
  <p:tag name="TIMING" val="|57.1"/>
</p:tagLst>
</file>

<file path=ppt/tags/tag54.xml><?xml version="1.0" encoding="utf-8"?>
<p:tagLst xmlns:a="http://schemas.openxmlformats.org/drawingml/2006/main" xmlns:r="http://schemas.openxmlformats.org/officeDocument/2006/relationships" xmlns:p="http://schemas.openxmlformats.org/presentationml/2006/main">
  <p:tag name="TIMING" val="|2.3|1.1|16.7|1.6|2|21.4|6.6|2.6|7.6|20|3.3"/>
</p:tagLst>
</file>

<file path=ppt/tags/tag55.xml><?xml version="1.0" encoding="utf-8"?>
<p:tagLst xmlns:a="http://schemas.openxmlformats.org/drawingml/2006/main" xmlns:r="http://schemas.openxmlformats.org/officeDocument/2006/relationships" xmlns:p="http://schemas.openxmlformats.org/presentationml/2006/main">
  <p:tag name="TIMING" val="|18.5|23.9|1.2|4.9|3.9|22.3|1.6|1.1|1.2|10.8|117.1|4.4|14.4|24.3|48.1"/>
</p:tagLst>
</file>

<file path=ppt/tags/tag56.xml><?xml version="1.0" encoding="utf-8"?>
<p:tagLst xmlns:a="http://schemas.openxmlformats.org/drawingml/2006/main" xmlns:r="http://schemas.openxmlformats.org/officeDocument/2006/relationships" xmlns:p="http://schemas.openxmlformats.org/presentationml/2006/main">
  <p:tag name="TIMING" val="|22.4|17.7"/>
</p:tagLst>
</file>

<file path=ppt/tags/tag57.xml><?xml version="1.0" encoding="utf-8"?>
<p:tagLst xmlns:a="http://schemas.openxmlformats.org/drawingml/2006/main" xmlns:r="http://schemas.openxmlformats.org/officeDocument/2006/relationships" xmlns:p="http://schemas.openxmlformats.org/presentationml/2006/main">
  <p:tag name="TIMING" val="|11.5|37"/>
</p:tagLst>
</file>

<file path=ppt/tags/tag58.xml><?xml version="1.0" encoding="utf-8"?>
<p:tagLst xmlns:a="http://schemas.openxmlformats.org/drawingml/2006/main" xmlns:r="http://schemas.openxmlformats.org/officeDocument/2006/relationships" xmlns:p="http://schemas.openxmlformats.org/presentationml/2006/main">
  <p:tag name="TIMING" val="|63.2"/>
</p:tagLst>
</file>

<file path=ppt/tags/tag59.xml><?xml version="1.0" encoding="utf-8"?>
<p:tagLst xmlns:a="http://schemas.openxmlformats.org/drawingml/2006/main" xmlns:r="http://schemas.openxmlformats.org/officeDocument/2006/relationships" xmlns:p="http://schemas.openxmlformats.org/presentationml/2006/main">
  <p:tag name="TIMING" val="|0.2|0.2|0.1|0.2"/>
</p:tagLst>
</file>

<file path=ppt/tags/tag60.xml><?xml version="1.0" encoding="utf-8"?>
<p:tagLst xmlns:a="http://schemas.openxmlformats.org/drawingml/2006/main" xmlns:r="http://schemas.openxmlformats.org/officeDocument/2006/relationships" xmlns:p="http://schemas.openxmlformats.org/presentationml/2006/main">
  <p:tag name="TIMING" val="|0.2|0.4|0.7|0.4|0.4"/>
</p:tagLst>
</file>

<file path=ppt/tags/tag61.xml><?xml version="1.0" encoding="utf-8"?>
<p:tagLst xmlns:a="http://schemas.openxmlformats.org/drawingml/2006/main" xmlns:r="http://schemas.openxmlformats.org/officeDocument/2006/relationships" xmlns:p="http://schemas.openxmlformats.org/presentationml/2006/main">
  <p:tag name="TIMING" val="|1.8|5|15.1"/>
</p:tagLst>
</file>

<file path=ppt/tags/tag62.xml><?xml version="1.0" encoding="utf-8"?>
<p:tagLst xmlns:a="http://schemas.openxmlformats.org/drawingml/2006/main" xmlns:r="http://schemas.openxmlformats.org/officeDocument/2006/relationships" xmlns:p="http://schemas.openxmlformats.org/presentationml/2006/main">
  <p:tag name="TIMING" val="|0.7|4.3|8.3|15.2"/>
</p:tagLst>
</file>

<file path=ppt/tags/tag63.xml><?xml version="1.0" encoding="utf-8"?>
<p:tagLst xmlns:a="http://schemas.openxmlformats.org/drawingml/2006/main" xmlns:r="http://schemas.openxmlformats.org/officeDocument/2006/relationships" xmlns:p="http://schemas.openxmlformats.org/presentationml/2006/main">
  <p:tag name="TIMING" val="|5.7|1.4|1|6.6|7.3|4.4|2.8|0.9|0.8|1.1|34.5|2.4|1|0.9|0.9"/>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triangle" w="sm" len="sm"/>
        </a:ln>
      </a:spPr>
      <a:bodyPr vert="horz" wrap="square" lIns="91440" tIns="45720" rIns="91440" bIns="45720" numCol="1" anchor="t" anchorCtr="0" compatLnSpc="1">
        <a:spAutoFit/>
      </a:bodyPr>
      <a:lstStyle>
        <a:def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defRPr kumimoji="0" lang="en-US"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spDef>
    <a:ln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triangle" w="sm" len="sm"/>
        </a:ln>
      </a:spPr>
      <a:bodyPr vert="horz" wrap="square" lIns="91440" tIns="45720" rIns="91440" bIns="45720" numCol="1" anchor="t" anchorCtr="0" compatLnSpc="1">
        <a:spAutoFit/>
      </a:bodyPr>
      <a:lstStyle>
        <a:def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defRPr kumimoji="0" lang="en-US"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1</TotalTime>
  <Words>5074</Words>
  <Application>Microsoft Office PowerPoint</Application>
  <PresentationFormat>全屏显示(4:3)</PresentationFormat>
  <Paragraphs>596</Paragraphs>
  <Slides>91</Slides>
  <Notes>4</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10</vt:i4>
      </vt:variant>
      <vt:variant>
        <vt:lpstr>幻灯片标题</vt:lpstr>
      </vt:variant>
      <vt:variant>
        <vt:i4>91</vt:i4>
      </vt:variant>
    </vt:vector>
  </HeadingPairs>
  <TitlesOfParts>
    <vt:vector size="117" baseType="lpstr">
      <vt:lpstr>Monotype Sorts</vt:lpstr>
      <vt:lpstr>方正舒体</vt:lpstr>
      <vt:lpstr>黑体</vt:lpstr>
      <vt:lpstr>华文楷体</vt:lpstr>
      <vt:lpstr>华文新魏</vt:lpstr>
      <vt:lpstr>华文行楷</vt:lpstr>
      <vt:lpstr>华文中宋</vt:lpstr>
      <vt:lpstr>楷体_GB2312</vt:lpstr>
      <vt:lpstr>宋体</vt:lpstr>
      <vt:lpstr>Arial</vt:lpstr>
      <vt:lpstr>Symbol</vt:lpstr>
      <vt:lpstr>Tahoma</vt:lpstr>
      <vt:lpstr>Times New Roman</vt:lpstr>
      <vt:lpstr>Verdana</vt:lpstr>
      <vt:lpstr>Wingdings</vt:lpstr>
      <vt:lpstr>Profile</vt:lpstr>
      <vt:lpstr>剪辑</vt:lpstr>
      <vt:lpstr>公式</vt:lpstr>
      <vt:lpstr>Equation</vt:lpstr>
      <vt:lpstr>BMP 图象</vt:lpstr>
      <vt:lpstr>Visio</vt:lpstr>
      <vt:lpstr>VISIO</vt:lpstr>
      <vt:lpstr>位图图像</vt:lpstr>
      <vt:lpstr>文档</vt:lpstr>
      <vt:lpstr>Document</vt:lpstr>
      <vt:lpstr>WPS 公式 3.0</vt:lpstr>
      <vt:lpstr>PowerPoint 演示文稿</vt:lpstr>
      <vt:lpstr>本章内容概要</vt:lpstr>
      <vt:lpstr>§6.1 引言</vt:lpstr>
      <vt:lpstr>§6.1 引言</vt:lpstr>
      <vt:lpstr>§6.1 引言</vt:lpstr>
      <vt:lpstr>PowerPoint 演示文稿</vt:lpstr>
      <vt:lpstr>§6.1 引言</vt:lpstr>
      <vt:lpstr>§6.2 系统函数的表示法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§6.3 系统函数的极零点分布与系统时域特性的关系</vt:lpstr>
      <vt:lpstr>PowerPoint 演示文稿</vt:lpstr>
      <vt:lpstr>PowerPoint 演示文稿</vt:lpstr>
      <vt:lpstr>PowerPoint 演示文稿</vt:lpstr>
      <vt:lpstr>PowerPoint 演示文稿</vt:lpstr>
      <vt:lpstr>二、零点 与极点 分布与系统的时域特性(对应的冲激响应)</vt:lpstr>
      <vt:lpstr>2、H(s)极点在s右半平面</vt:lpstr>
      <vt:lpstr>3、H(s)极点在j轴</vt:lpstr>
      <vt:lpstr>PowerPoint 演示文稿</vt:lpstr>
      <vt:lpstr>三、H(s)零、极点 分布与系统的频率特性          （几何法分析频率特性）</vt:lpstr>
      <vt:lpstr>矢量随频率的变化</vt:lpstr>
      <vt:lpstr>PowerPoint 演示文稿</vt:lpstr>
      <vt:lpstr>回顾  系统函数的表示法</vt:lpstr>
      <vt:lpstr>§6.4 系统函数的极零点 分布与系统频率特性的关系</vt:lpstr>
      <vt:lpstr>PowerPoint 演示文稿</vt:lpstr>
      <vt:lpstr>§6.4 系统函数的极零点分布与系统频率特性的关系</vt:lpstr>
      <vt:lpstr>§6.4 系统函数的极零点分布与系统频率特性的关系</vt:lpstr>
      <vt:lpstr>PowerPoint 演示文稿</vt:lpstr>
      <vt:lpstr>§6.4 系统函数的极零点分布与系统频率特性的关系</vt:lpstr>
      <vt:lpstr>PowerPoint 演示文稿</vt:lpstr>
      <vt:lpstr>PowerPoint 演示文稿</vt:lpstr>
      <vt:lpstr>回顾   系统函数的极零点分布与系统频率特性的关系</vt:lpstr>
      <vt:lpstr>6.5 波特图</vt:lpstr>
      <vt:lpstr>一、对数频率特性</vt:lpstr>
      <vt:lpstr>PowerPoint 演示文稿</vt:lpstr>
      <vt:lpstr>二、一阶因子的频特曲线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三、二阶因子的频率特性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回顾3   对数频率特性—Bode图</vt:lpstr>
      <vt:lpstr>§6.6 系统的稳定性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例2：</vt:lpstr>
      <vt:lpstr>例2：</vt:lpstr>
      <vt:lpstr>例2：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总结</vt:lpstr>
      <vt:lpstr>总结  零点与极点分布与系统的时域特性(对应的冲激响应)</vt:lpstr>
      <vt:lpstr>PowerPoint 演示文稿</vt:lpstr>
      <vt:lpstr>总结--系统的稳定性分析</vt:lpstr>
      <vt:lpstr>2）稳定性判断</vt:lpstr>
    </vt:vector>
  </TitlesOfParts>
  <Company>syict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系统函数</dc:title>
  <dc:creator>翟正军</dc:creator>
  <cp:lastModifiedBy>Zhengjun Zhai</cp:lastModifiedBy>
  <cp:revision>284</cp:revision>
  <dcterms:created xsi:type="dcterms:W3CDTF">2000-06-04T02:32:00Z</dcterms:created>
  <dcterms:modified xsi:type="dcterms:W3CDTF">2026-04-28T09:01:32Z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12D9F8444E034AD1B9418803C9DC3219_12</vt:lpwstr>
  </property>
</Properties>
</file>