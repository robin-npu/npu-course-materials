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m4a" ContentType="audio/mp4"/>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notesSlides/notesSlide15.xml" ContentType="application/vnd.openxmlformats-officedocument.presentationml.notesSlide+xml"/>
  <Override PartName="/ppt/tags/tag1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4.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25.xml" ContentType="application/vnd.openxmlformats-officedocument.presentationml.tags+xml"/>
  <Override PartName="/ppt/notesSlides/notesSlide29.xml" ContentType="application/vnd.openxmlformats-officedocument.presentationml.notesSlide+xml"/>
  <Override PartName="/ppt/tags/tag2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7.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29.xml" ContentType="application/vnd.openxmlformats-officedocument.presentationml.tags+xml"/>
  <Override PartName="/ppt/notesSlides/notesSlide37.xml" ContentType="application/vnd.openxmlformats-officedocument.presentationml.notesSlide+xml"/>
  <Override PartName="/ppt/tags/tag30.xml" ContentType="application/vnd.openxmlformats-officedocument.presentationml.tags+xml"/>
  <Override PartName="/ppt/notesSlides/notesSlide38.xml" ContentType="application/vnd.openxmlformats-officedocument.presentationml.notesSlide+xml"/>
  <Override PartName="/ppt/tags/tag31.xml" ContentType="application/vnd.openxmlformats-officedocument.presentationml.tags+xml"/>
  <Override PartName="/ppt/notesSlides/notesSlide39.xml" ContentType="application/vnd.openxmlformats-officedocument.presentationml.notesSlide+xml"/>
  <Override PartName="/ppt/tags/tag32.xml" ContentType="application/vnd.openxmlformats-officedocument.presentationml.tags+xml"/>
  <Override PartName="/ppt/notesSlides/notesSlide40.xml" ContentType="application/vnd.openxmlformats-officedocument.presentationml.notesSlide+xml"/>
  <Override PartName="/ppt/tags/tag33.xml" ContentType="application/vnd.openxmlformats-officedocument.presentationml.tags+xml"/>
  <Override PartName="/ppt/notesSlides/notesSlide41.xml" ContentType="application/vnd.openxmlformats-officedocument.presentationml.notesSlide+xml"/>
  <Override PartName="/ppt/tags/tag34.xml" ContentType="application/vnd.openxmlformats-officedocument.presentationml.tags+xml"/>
  <Override PartName="/ppt/notesSlides/notesSlide42.xml" ContentType="application/vnd.openxmlformats-officedocument.presentationml.notesSlide+xml"/>
  <Override PartName="/ppt/tags/tag35.xml" ContentType="application/vnd.openxmlformats-officedocument.presentationml.tags+xml"/>
  <Override PartName="/ppt/notesSlides/notesSlide43.xml" ContentType="application/vnd.openxmlformats-officedocument.presentationml.notesSlide+xml"/>
  <Override PartName="/ppt/tags/tag36.xml" ContentType="application/vnd.openxmlformats-officedocument.presentationml.tags+xml"/>
  <Override PartName="/ppt/notesSlides/notesSlide44.xml" ContentType="application/vnd.openxmlformats-officedocument.presentationml.notesSlide+xml"/>
  <Override PartName="/ppt/tags/tag37.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38.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39.xml" ContentType="application/vnd.openxmlformats-officedocument.presentationml.tags+xml"/>
  <Override PartName="/ppt/notesSlides/notesSlide49.xml" ContentType="application/vnd.openxmlformats-officedocument.presentationml.notesSlide+xml"/>
  <Override PartName="/ppt/tags/tag40.xml" ContentType="application/vnd.openxmlformats-officedocument.presentationml.tags+xml"/>
  <Override PartName="/ppt/notesSlides/notesSlide50.xml" ContentType="application/vnd.openxmlformats-officedocument.presentationml.notesSlide+xml"/>
  <Override PartName="/ppt/tags/tag41.xml" ContentType="application/vnd.openxmlformats-officedocument.presentationml.tags+xml"/>
  <Override PartName="/ppt/notesSlides/notesSlide51.xml" ContentType="application/vnd.openxmlformats-officedocument.presentationml.notesSlide+xml"/>
  <Override PartName="/ppt/tags/tag42.xml" ContentType="application/vnd.openxmlformats-officedocument.presentationml.tags+xml"/>
  <Override PartName="/ppt/notesSlides/notesSlide52.xml" ContentType="application/vnd.openxmlformats-officedocument.presentationml.notesSlide+xml"/>
  <Override PartName="/ppt/tags/tag43.xml" ContentType="application/vnd.openxmlformats-officedocument.presentationml.tags+xml"/>
  <Override PartName="/ppt/notesSlides/notesSlide53.xml" ContentType="application/vnd.openxmlformats-officedocument.presentationml.notesSlide+xml"/>
  <Override PartName="/ppt/tags/tag44.xml" ContentType="application/vnd.openxmlformats-officedocument.presentationml.tags+xml"/>
  <Override PartName="/ppt/notesSlides/notesSlide54.xml" ContentType="application/vnd.openxmlformats-officedocument.presentationml.notesSlide+xml"/>
  <Override PartName="/ppt/tags/tag45.xml" ContentType="application/vnd.openxmlformats-officedocument.presentationml.tags+xml"/>
  <Override PartName="/ppt/notesSlides/notesSlide55.xml" ContentType="application/vnd.openxmlformats-officedocument.presentationml.notesSlide+xml"/>
  <Override PartName="/ppt/tags/tag46.xml" ContentType="application/vnd.openxmlformats-officedocument.presentationml.tags+xml"/>
  <Override PartName="/ppt/notesSlides/notesSlide56.xml" ContentType="application/vnd.openxmlformats-officedocument.presentationml.notesSlide+xml"/>
  <Override PartName="/ppt/tags/tag47.xml" ContentType="application/vnd.openxmlformats-officedocument.presentationml.tags+xml"/>
  <Override PartName="/ppt/notesSlides/notesSlide57.xml" ContentType="application/vnd.openxmlformats-officedocument.presentationml.notesSlide+xml"/>
  <Override PartName="/ppt/tags/tag48.xml" ContentType="application/vnd.openxmlformats-officedocument.presentationml.tags+xml"/>
  <Override PartName="/ppt/notesSlides/notesSlide58.xml" ContentType="application/vnd.openxmlformats-officedocument.presentationml.notesSlide+xml"/>
  <Override PartName="/ppt/tags/tag49.xml" ContentType="application/vnd.openxmlformats-officedocument.presentationml.tags+xml"/>
  <Override PartName="/ppt/notesSlides/notesSlide59.xml" ContentType="application/vnd.openxmlformats-officedocument.presentationml.notesSlide+xml"/>
  <Override PartName="/ppt/tags/tag50.xml" ContentType="application/vnd.openxmlformats-officedocument.presentationml.tags+xml"/>
  <Override PartName="/ppt/notesSlides/notesSlide60.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61.xml" ContentType="application/vnd.openxmlformats-officedocument.presentationml.notesSlide+xml"/>
  <Override PartName="/ppt/tags/tag53.xml" ContentType="application/vnd.openxmlformats-officedocument.presentationml.tags+xml"/>
  <Override PartName="/ppt/notesSlides/notesSlide62.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58.xml" ContentType="application/vnd.openxmlformats-officedocument.presentationml.tags+xml"/>
  <Override PartName="/ppt/notesSlides/notesSlide65.xml" ContentType="application/vnd.openxmlformats-officedocument.presentationml.notesSlide+xml"/>
  <Override PartName="/ppt/tags/tag59.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60.xml" ContentType="application/vnd.openxmlformats-officedocument.presentationml.tags+xml"/>
  <Override PartName="/ppt/notesSlides/notesSlide68.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4"/>
  </p:notesMasterIdLst>
  <p:handoutMasterIdLst>
    <p:handoutMasterId r:id="rId95"/>
  </p:handoutMasterIdLst>
  <p:sldIdLst>
    <p:sldId id="364" r:id="rId2"/>
    <p:sldId id="1738" r:id="rId3"/>
    <p:sldId id="1628" r:id="rId4"/>
    <p:sldId id="1849" r:id="rId5"/>
    <p:sldId id="1739" r:id="rId6"/>
    <p:sldId id="1838" r:id="rId7"/>
    <p:sldId id="1836" r:id="rId8"/>
    <p:sldId id="1837" r:id="rId9"/>
    <p:sldId id="1839" r:id="rId10"/>
    <p:sldId id="1544" r:id="rId11"/>
    <p:sldId id="1543" r:id="rId12"/>
    <p:sldId id="452" r:id="rId13"/>
    <p:sldId id="453" r:id="rId14"/>
    <p:sldId id="1540" r:id="rId15"/>
    <p:sldId id="1452" r:id="rId16"/>
    <p:sldId id="456" r:id="rId17"/>
    <p:sldId id="457" r:id="rId18"/>
    <p:sldId id="1621" r:id="rId19"/>
    <p:sldId id="1829" r:id="rId20"/>
    <p:sldId id="1830" r:id="rId21"/>
    <p:sldId id="1831" r:id="rId22"/>
    <p:sldId id="1832" r:id="rId23"/>
    <p:sldId id="1833" r:id="rId24"/>
    <p:sldId id="1834" r:id="rId25"/>
    <p:sldId id="1835" r:id="rId26"/>
    <p:sldId id="466" r:id="rId27"/>
    <p:sldId id="467" r:id="rId28"/>
    <p:sldId id="468" r:id="rId29"/>
    <p:sldId id="469" r:id="rId30"/>
    <p:sldId id="470" r:id="rId31"/>
    <p:sldId id="471" r:id="rId32"/>
    <p:sldId id="472" r:id="rId33"/>
    <p:sldId id="473" r:id="rId34"/>
    <p:sldId id="474" r:id="rId35"/>
    <p:sldId id="475" r:id="rId36"/>
    <p:sldId id="476" r:id="rId37"/>
    <p:sldId id="1840" r:id="rId38"/>
    <p:sldId id="478" r:id="rId39"/>
    <p:sldId id="522" r:id="rId40"/>
    <p:sldId id="1841" r:id="rId41"/>
    <p:sldId id="480" r:id="rId42"/>
    <p:sldId id="481" r:id="rId43"/>
    <p:sldId id="482" r:id="rId44"/>
    <p:sldId id="483" r:id="rId45"/>
    <p:sldId id="484" r:id="rId46"/>
    <p:sldId id="1842" r:id="rId47"/>
    <p:sldId id="486" r:id="rId48"/>
    <p:sldId id="1843" r:id="rId49"/>
    <p:sldId id="1844" r:id="rId50"/>
    <p:sldId id="1845" r:id="rId51"/>
    <p:sldId id="1850" r:id="rId52"/>
    <p:sldId id="525" r:id="rId53"/>
    <p:sldId id="527" r:id="rId54"/>
    <p:sldId id="529" r:id="rId55"/>
    <p:sldId id="528" r:id="rId56"/>
    <p:sldId id="1848" r:id="rId57"/>
    <p:sldId id="524" r:id="rId58"/>
    <p:sldId id="493" r:id="rId59"/>
    <p:sldId id="494" r:id="rId60"/>
    <p:sldId id="495" r:id="rId61"/>
    <p:sldId id="496" r:id="rId62"/>
    <p:sldId id="497" r:id="rId63"/>
    <p:sldId id="498" r:id="rId64"/>
    <p:sldId id="499" r:id="rId65"/>
    <p:sldId id="500" r:id="rId66"/>
    <p:sldId id="1736" r:id="rId67"/>
    <p:sldId id="1737" r:id="rId68"/>
    <p:sldId id="503" r:id="rId69"/>
    <p:sldId id="504" r:id="rId70"/>
    <p:sldId id="505" r:id="rId71"/>
    <p:sldId id="1652" r:id="rId72"/>
    <p:sldId id="506" r:id="rId73"/>
    <p:sldId id="507" r:id="rId74"/>
    <p:sldId id="508" r:id="rId75"/>
    <p:sldId id="509" r:id="rId76"/>
    <p:sldId id="510" r:id="rId77"/>
    <p:sldId id="511" r:id="rId78"/>
    <p:sldId id="1649" r:id="rId79"/>
    <p:sldId id="1650" r:id="rId80"/>
    <p:sldId id="1651" r:id="rId81"/>
    <p:sldId id="1742" r:id="rId82"/>
    <p:sldId id="1743" r:id="rId83"/>
    <p:sldId id="1744" r:id="rId84"/>
    <p:sldId id="1498" r:id="rId85"/>
    <p:sldId id="512" r:id="rId86"/>
    <p:sldId id="514" r:id="rId87"/>
    <p:sldId id="1847" r:id="rId88"/>
    <p:sldId id="515" r:id="rId89"/>
    <p:sldId id="516" r:id="rId90"/>
    <p:sldId id="517" r:id="rId91"/>
    <p:sldId id="518" r:id="rId92"/>
    <p:sldId id="519" r:id="rId93"/>
  </p:sldIdLst>
  <p:sldSz cx="9144000" cy="6858000" type="screen4x3"/>
  <p:notesSz cx="9144000" cy="6858000"/>
  <p:custDataLst>
    <p:tags r:id="rId96"/>
  </p:custDataLst>
  <p:defaultTextStyle>
    <a:defPPr>
      <a:defRPr lang="en-US"/>
    </a:defPPr>
    <a:lvl1pPr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2800" b="1" kern="1200">
        <a:solidFill>
          <a:schemeClr val="tx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2800" b="1" kern="1200">
        <a:solidFill>
          <a:schemeClr val="tx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2800" b="1" kern="1200">
        <a:solidFill>
          <a:schemeClr val="tx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2800" b="1" kern="120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880" userDrawn="1">
          <p15:clr>
            <a:srgbClr val="A4A3A4"/>
          </p15:clr>
        </p15:guide>
        <p15:guide id="2" pos="2154"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33CC33"/>
    <a:srgbClr val="009999"/>
    <a:srgbClr val="CC0066"/>
    <a:srgbClr val="A50021"/>
    <a:srgbClr val="CCFFFF"/>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1" autoAdjust="0"/>
    <p:restoredTop sz="95504" autoAdjust="0"/>
  </p:normalViewPr>
  <p:slideViewPr>
    <p:cSldViewPr snapToGrid="0" showGuides="1">
      <p:cViewPr varScale="1">
        <p:scale>
          <a:sx n="98" d="100"/>
          <a:sy n="98" d="100"/>
        </p:scale>
        <p:origin x="244" y="64"/>
      </p:cViewPr>
      <p:guideLst>
        <p:guide orient="horz" pos="2880"/>
        <p:guide pos="215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3242"/>
    </p:cViewPr>
  </p:sorterViewPr>
  <p:notesViewPr>
    <p:cSldViewPr snapToGrid="0">
      <p:cViewPr varScale="1">
        <p:scale>
          <a:sx n="73" d="100"/>
          <a:sy n="73" d="100"/>
        </p:scale>
        <p:origin x="-2742" y="-90"/>
      </p:cViewPr>
      <p:guideLst>
        <p:guide orient="horz" pos="2160"/>
        <p:guide pos="2880"/>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image" Target="../media/image61.emf"/><Relationship Id="rId4" Type="http://schemas.openxmlformats.org/officeDocument/2006/relationships/image" Target="../media/image64.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2.emf"/><Relationship Id="rId1" Type="http://schemas.openxmlformats.org/officeDocument/2006/relationships/image" Target="../media/image63.emf"/><Relationship Id="rId4" Type="http://schemas.openxmlformats.org/officeDocument/2006/relationships/image" Target="../media/image6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962400" cy="342900"/>
          </a:xfrm>
          <a:prstGeom prst="rect">
            <a:avLst/>
          </a:prstGeom>
          <a:noFill/>
          <a:ln w="9525">
            <a:noFill/>
            <a:miter lim="800000"/>
          </a:ln>
        </p:spPr>
        <p:txBody>
          <a:bodyPr vert="horz" wrap="square" lIns="91440" tIns="45720" rIns="91440" bIns="45720" numCol="1" anchor="t" anchorCtr="0" compatLnSpc="1"/>
          <a:lstStyle>
            <a:lvl1pPr algn="l" eaLnBrk="1" hangingPunct="1">
              <a:lnSpc>
                <a:spcPct val="100000"/>
              </a:lnSpc>
              <a:spcBef>
                <a:spcPct val="0"/>
              </a:spcBef>
              <a:buClrTx/>
              <a:buFontTx/>
              <a:buNone/>
              <a:defRPr kumimoji="1" sz="1200" b="0">
                <a:latin typeface="Times New Roman" panose="02020603050405020304" pitchFamily="18" charset="0"/>
                <a:ea typeface="宋体" panose="02010600030101010101" pitchFamily="2" charset="-122"/>
              </a:defRPr>
            </a:lvl1pPr>
          </a:lstStyle>
          <a:p>
            <a:pPr>
              <a:defRPr/>
            </a:pPr>
            <a:r>
              <a:rPr lang="en-US" altLang="zh-CN"/>
              <a:t>计算机控制技术</a:t>
            </a:r>
            <a:endParaRPr lang="en-US" altLang="zh-CN">
              <a:latin typeface="Arial" panose="020B0604020202020204" pitchFamily="34" charset="0"/>
            </a:endParaRPr>
          </a:p>
        </p:txBody>
      </p:sp>
      <p:sp>
        <p:nvSpPr>
          <p:cNvPr id="3075" name="Rectangle 3"/>
          <p:cNvSpPr>
            <a:spLocks noGrp="1" noChangeArrowheads="1"/>
          </p:cNvSpPr>
          <p:nvPr>
            <p:ph type="dt" sz="quarter" idx="1"/>
          </p:nvPr>
        </p:nvSpPr>
        <p:spPr bwMode="auto">
          <a:xfrm>
            <a:off x="5181600" y="0"/>
            <a:ext cx="3962400" cy="342900"/>
          </a:xfrm>
          <a:prstGeom prst="rect">
            <a:avLst/>
          </a:prstGeom>
          <a:noFill/>
          <a:ln w="9525">
            <a:noFill/>
            <a:miter lim="800000"/>
          </a:ln>
        </p:spPr>
        <p:txBody>
          <a:bodyPr vert="horz" wrap="square" lIns="91440" tIns="45720" rIns="91440" bIns="45720" numCol="1" anchor="t" anchorCtr="0" compatLnSpc="1"/>
          <a:lstStyle>
            <a:lvl1pPr algn="r"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fld id="{49B3E6B5-7F6B-4A18-96D3-EE22E32E9814}" type="datetimeFigureOut">
              <a:rPr lang="en-US" altLang="zh-CN"/>
              <a:t>3/4/2026</a:t>
            </a:fld>
            <a:endParaRPr lang="en-US" altLang="zh-CN"/>
          </a:p>
        </p:txBody>
      </p:sp>
      <p:sp>
        <p:nvSpPr>
          <p:cNvPr id="3076" name="Rectangle 4"/>
          <p:cNvSpPr>
            <a:spLocks noGrp="1" noChangeArrowheads="1"/>
          </p:cNvSpPr>
          <p:nvPr>
            <p:ph type="ftr" sz="quarter" idx="2"/>
          </p:nvPr>
        </p:nvSpPr>
        <p:spPr bwMode="auto">
          <a:xfrm>
            <a:off x="0" y="6515100"/>
            <a:ext cx="3962400" cy="342900"/>
          </a:xfrm>
          <a:prstGeom prst="rect">
            <a:avLst/>
          </a:prstGeom>
          <a:noFill/>
          <a:ln w="9525">
            <a:noFill/>
            <a:miter lim="800000"/>
          </a:ln>
        </p:spPr>
        <p:txBody>
          <a:bodyPr vert="horz" wrap="square" lIns="91440" tIns="45720" rIns="91440" bIns="45720" numCol="1" anchor="b" anchorCtr="0" compatLnSpc="1"/>
          <a:lstStyle>
            <a:lvl1pPr algn="l"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endParaRPr lang="en-US" altLang="zh-CN"/>
          </a:p>
        </p:txBody>
      </p:sp>
      <p:sp>
        <p:nvSpPr>
          <p:cNvPr id="3077" name="Rectangle 5"/>
          <p:cNvSpPr>
            <a:spLocks noGrp="1" noChangeArrowheads="1"/>
          </p:cNvSpPr>
          <p:nvPr>
            <p:ph type="sldNum" sz="quarter" idx="3"/>
          </p:nvPr>
        </p:nvSpPr>
        <p:spPr bwMode="auto">
          <a:xfrm>
            <a:off x="5181600" y="6515100"/>
            <a:ext cx="3962400" cy="342900"/>
          </a:xfrm>
          <a:prstGeom prst="rect">
            <a:avLst/>
          </a:prstGeom>
          <a:noFill/>
          <a:ln w="9525">
            <a:noFill/>
            <a:miter lim="800000"/>
          </a:ln>
        </p:spPr>
        <p:txBody>
          <a:bodyPr vert="horz" wrap="square" lIns="91440" tIns="45720" rIns="91440" bIns="45720" numCol="1" anchor="b" anchorCtr="0" compatLnSpc="1"/>
          <a:lstStyle>
            <a:lvl1pPr algn="r" eaLnBrk="1" hangingPunct="1">
              <a:defRPr kumimoji="1" sz="1200" b="0">
                <a:latin typeface="Arial" panose="020B0604020202020204" pitchFamily="34" charset="0"/>
                <a:ea typeface="宋体" panose="02010600030101010101" pitchFamily="2" charset="-122"/>
              </a:defRPr>
            </a:lvl1pPr>
          </a:lstStyle>
          <a:p>
            <a:pPr>
              <a:defRPr/>
            </a:pPr>
            <a:fld id="{92D5D938-C547-4387-B9A6-65405C11A8C7}"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w="9525">
            <a:noFill/>
            <a:miter lim="800000"/>
          </a:ln>
        </p:spPr>
        <p:txBody>
          <a:bodyPr vert="horz" wrap="square" lIns="91440" tIns="45720" rIns="91440" bIns="45720" numCol="1" anchor="t" anchorCtr="0" compatLnSpc="1"/>
          <a:lstStyle>
            <a:lvl1pPr algn="l" eaLnBrk="1" hangingPunct="1">
              <a:lnSpc>
                <a:spcPct val="100000"/>
              </a:lnSpc>
              <a:spcBef>
                <a:spcPct val="0"/>
              </a:spcBef>
              <a:buClrTx/>
              <a:buFontTx/>
              <a:buNone/>
              <a:defRPr kumimoji="1" sz="1200" b="0">
                <a:latin typeface="Times New Roman" panose="02020603050405020304" pitchFamily="18" charset="0"/>
                <a:ea typeface="宋体" panose="02010600030101010101" pitchFamily="2" charset="-122"/>
              </a:defRPr>
            </a:lvl1pPr>
          </a:lstStyle>
          <a:p>
            <a:pPr>
              <a:defRPr/>
            </a:pPr>
            <a:r>
              <a:rPr lang="en-US" altLang="zh-CN"/>
              <a:t>计算机控制技术</a:t>
            </a:r>
            <a:endParaRPr lang="en-US" altLang="zh-CN">
              <a:latin typeface="Arial" panose="020B0604020202020204" pitchFamily="34" charset="0"/>
            </a:endParaRPr>
          </a:p>
        </p:txBody>
      </p:sp>
      <p:sp>
        <p:nvSpPr>
          <p:cNvPr id="2051" name="Rectangle 3"/>
          <p:cNvSpPr>
            <a:spLocks noGrp="1" noChangeArrowheads="1"/>
          </p:cNvSpPr>
          <p:nvPr>
            <p:ph type="dt" idx="1"/>
          </p:nvPr>
        </p:nvSpPr>
        <p:spPr bwMode="auto">
          <a:xfrm>
            <a:off x="5181600" y="0"/>
            <a:ext cx="3962400" cy="342900"/>
          </a:xfrm>
          <a:prstGeom prst="rect">
            <a:avLst/>
          </a:prstGeom>
          <a:noFill/>
          <a:ln w="9525">
            <a:noFill/>
            <a:miter lim="800000"/>
          </a:ln>
        </p:spPr>
        <p:txBody>
          <a:bodyPr vert="horz" wrap="square" lIns="91440" tIns="45720" rIns="91440" bIns="45720" numCol="1" anchor="t" anchorCtr="0" compatLnSpc="1"/>
          <a:lstStyle>
            <a:lvl1pPr algn="r"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fld id="{39D97ED2-D36C-4427-B81C-42049F56CE44}" type="datetimeFigureOut">
              <a:rPr lang="en-US" altLang="zh-CN"/>
              <a:t>3/4/2026</a:t>
            </a:fld>
            <a:endParaRPr lang="en-US" altLang="zh-CN"/>
          </a:p>
        </p:txBody>
      </p:sp>
      <p:sp>
        <p:nvSpPr>
          <p:cNvPr id="8196"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6515100"/>
            <a:ext cx="3962400" cy="342900"/>
          </a:xfrm>
          <a:prstGeom prst="rect">
            <a:avLst/>
          </a:prstGeom>
          <a:noFill/>
          <a:ln w="9525">
            <a:noFill/>
            <a:miter lim="800000"/>
          </a:ln>
        </p:spPr>
        <p:txBody>
          <a:bodyPr vert="horz" wrap="square" lIns="91440" tIns="45720" rIns="91440" bIns="45720" numCol="1" anchor="b" anchorCtr="0" compatLnSpc="1"/>
          <a:lstStyle>
            <a:lvl1pPr algn="l"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w="9525">
            <a:noFill/>
            <a:miter lim="800000"/>
          </a:ln>
        </p:spPr>
        <p:txBody>
          <a:bodyPr vert="horz" wrap="square" lIns="91440" tIns="45720" rIns="91440" bIns="45720" numCol="1" anchor="b" anchorCtr="0" compatLnSpc="1"/>
          <a:lstStyle>
            <a:lvl1pPr algn="r" eaLnBrk="1" hangingPunct="1">
              <a:defRPr kumimoji="1" sz="1200" b="0">
                <a:latin typeface="Arial" panose="020B0604020202020204" pitchFamily="34" charset="0"/>
                <a:ea typeface="宋体" panose="02010600030101010101" pitchFamily="2" charset="-122"/>
              </a:defRPr>
            </a:lvl1pPr>
          </a:lstStyle>
          <a:p>
            <a:pPr>
              <a:defRPr/>
            </a:pPr>
            <a:fld id="{3206AEFF-F6ED-435E-9C8C-36F5618708EB}" type="slidenum">
              <a:rPr lang="en-US" altLang="zh-CN"/>
              <a:t>‹#›</a:t>
            </a:fld>
            <a:endParaRPr lang="en-US" altLang="zh-CN"/>
          </a:p>
        </p:txBody>
      </p:sp>
    </p:spTree>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ChangeArrowheads="1" noTextEdit="1"/>
          </p:cNvSpPr>
          <p:nvPr>
            <p:ph type="sldImg"/>
          </p:nvPr>
        </p:nvSpPr>
        <p:spPr/>
      </p:sp>
      <p:sp>
        <p:nvSpPr>
          <p:cNvPr id="11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126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126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1F7702A-AF20-4E7D-8410-4E8C0CAF85C9}" type="slidenum">
              <a:rPr lang="en-US" altLang="zh-CN" sz="1200" b="0" smtClean="0">
                <a:latin typeface="Arial" panose="020B0604020202020204" pitchFamily="34" charset="0"/>
                <a:ea typeface="宋体" panose="02010600030101010101" pitchFamily="2" charset="-122"/>
              </a:rPr>
              <a:t>1</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ChangeArrowheads="1" noTextEdit="1"/>
          </p:cNvSpPr>
          <p:nvPr>
            <p:ph type="sldImg"/>
          </p:nvPr>
        </p:nvSpPr>
        <p:spPr/>
      </p:sp>
      <p:sp>
        <p:nvSpPr>
          <p:cNvPr id="573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5734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5734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84C40FD7-DC65-47D7-BC1E-B8EFF1F6FF8C}" type="slidenum">
              <a:rPr lang="en-US" altLang="zh-CN" sz="1200" b="0" smtClean="0">
                <a:latin typeface="Arial" panose="020B0604020202020204" pitchFamily="34" charset="0"/>
                <a:ea typeface="宋体" panose="02010600030101010101" pitchFamily="2" charset="-122"/>
              </a:rPr>
              <a:t>6</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idx="4294967295"/>
          </p:nvPr>
        </p:nvSpPr>
        <p:spPr>
          <a:xfrm>
            <a:off x="971550" y="723900"/>
            <a:ext cx="4830763" cy="3622675"/>
          </a:xfrm>
        </p:spPr>
      </p:sp>
      <p:sp>
        <p:nvSpPr>
          <p:cNvPr id="15363"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社会的发展离不开人类群体活动，为保证群体活动的协调有序，人们之间就必须相互交流信息；</a:t>
            </a:r>
          </a:p>
          <a:p>
            <a:r>
              <a:rPr lang="zh-CN" altLang="en-US">
                <a:latin typeface="Arial" panose="020B0604020202020204" pitchFamily="34" charset="0"/>
              </a:rPr>
              <a:t>计算机技术和信息技术的高速发展，信号与系统分析技术变得尤为重要。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ChangeArrowheads="1" noTextEdit="1"/>
          </p:cNvSpPr>
          <p:nvPr>
            <p:ph type="sldImg"/>
          </p:nvPr>
        </p:nvSpPr>
        <p:spPr/>
      </p:sp>
      <p:sp>
        <p:nvSpPr>
          <p:cNvPr id="174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
        <p:nvSpPr>
          <p:cNvPr id="1741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741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ACB6D2ED-CD6D-421F-8CB9-8BF6F8F9722F}" type="slidenum">
              <a:rPr lang="en-US" altLang="zh-CN" sz="1200" b="0" smtClean="0">
                <a:latin typeface="Arial" panose="020B0604020202020204" pitchFamily="34" charset="0"/>
                <a:ea typeface="宋体" panose="02010600030101010101" pitchFamily="2" charset="-122"/>
              </a:rPr>
              <a:t>8</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ChangeArrowheads="1" noTextEdit="1"/>
          </p:cNvSpPr>
          <p:nvPr>
            <p:ph type="sldImg"/>
          </p:nvPr>
        </p:nvSpPr>
        <p:spPr/>
      </p:sp>
      <p:sp>
        <p:nvSpPr>
          <p:cNvPr id="2048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0484" name="页眉占位符 3"/>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20485" name="灯片编号占位符 4"/>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D3F92ECC-D349-46A9-96F0-9A99B4988C20}" type="slidenum">
              <a:rPr lang="en-US" altLang="zh-CN" sz="1200" b="0" smtClean="0">
                <a:latin typeface="Arial" panose="020B0604020202020204" pitchFamily="34" charset="0"/>
                <a:ea typeface="宋体" panose="02010600030101010101" pitchFamily="2" charset="-122"/>
              </a:rPr>
              <a:t>10</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p:nvPr>
        </p:nvSpPr>
        <p:spPr/>
      </p:sp>
      <p:sp>
        <p:nvSpPr>
          <p:cNvPr id="235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2355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2355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61914E58-1191-438A-8595-40B0BDD6BF4A}" type="slidenum">
              <a:rPr lang="en-US" altLang="zh-CN" sz="1200" b="0" smtClean="0">
                <a:latin typeface="Arial" panose="020B0604020202020204" pitchFamily="34" charset="0"/>
                <a:ea typeface="宋体" panose="02010600030101010101" pitchFamily="2" charset="-122"/>
              </a:rPr>
              <a:t>12</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p:nvPr>
        </p:nvSpPr>
        <p:spPr/>
      </p:sp>
      <p:sp>
        <p:nvSpPr>
          <p:cNvPr id="256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2560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2560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F51AB44A-5D31-4A52-990B-2B56FEDB3EFC}" type="slidenum">
              <a:rPr lang="en-US" altLang="zh-CN" sz="1200" b="0" smtClean="0">
                <a:latin typeface="Arial" panose="020B0604020202020204" pitchFamily="34" charset="0"/>
                <a:ea typeface="宋体" panose="02010600030101010101" pitchFamily="2" charset="-122"/>
              </a:rPr>
              <a:t>13</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ChangeArrowheads="1" noTextEdit="1"/>
          </p:cNvSpPr>
          <p:nvPr>
            <p:ph type="sldImg" idx="4294967295"/>
          </p:nvPr>
        </p:nvSpPr>
        <p:spPr/>
      </p:sp>
      <p:sp>
        <p:nvSpPr>
          <p:cNvPr id="32771"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ChangeArrowheads="1" noTextEdit="1"/>
          </p:cNvSpPr>
          <p:nvPr>
            <p:ph type="sldImg"/>
          </p:nvPr>
        </p:nvSpPr>
        <p:spPr/>
      </p:sp>
      <p:sp>
        <p:nvSpPr>
          <p:cNvPr id="348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3482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3482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3729FD89-BF00-4BB0-9254-DC82999C4264}" type="slidenum">
              <a:rPr lang="en-US" altLang="zh-CN" sz="1200" b="0" smtClean="0">
                <a:latin typeface="Arial" panose="020B0604020202020204" pitchFamily="34" charset="0"/>
                <a:ea typeface="宋体" panose="02010600030101010101" pitchFamily="2" charset="-122"/>
              </a:rPr>
              <a:t>16</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p:nvPr>
        </p:nvSpPr>
        <p:spPr/>
      </p:sp>
      <p:sp>
        <p:nvSpPr>
          <p:cNvPr id="368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3686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3686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2BCB5AFA-2E15-458C-A951-3B5111E319B9}" type="slidenum">
              <a:rPr lang="en-US" altLang="zh-CN" sz="1200" b="0" smtClean="0">
                <a:latin typeface="Arial" panose="020B0604020202020204" pitchFamily="34" charset="0"/>
                <a:ea typeface="宋体" panose="02010600030101010101" pitchFamily="2" charset="-122"/>
              </a:rPr>
              <a:t>17</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p:sp>
      <p:sp>
        <p:nvSpPr>
          <p:cNvPr id="430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4301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4301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F57A1C4-8366-4709-A73A-230C7F1D6AB4}" type="slidenum">
              <a:rPr lang="en-US" altLang="zh-CN" sz="1200" b="0" smtClean="0">
                <a:latin typeface="Arial" panose="020B0604020202020204" pitchFamily="34" charset="0"/>
                <a:ea typeface="宋体" panose="02010600030101010101" pitchFamily="2" charset="-122"/>
              </a:rPr>
              <a:t>19</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ChangeArrowheads="1" noTextEdit="1"/>
          </p:cNvSpPr>
          <p:nvPr>
            <p:ph type="sldImg"/>
          </p:nvPr>
        </p:nvSpPr>
        <p:spPr/>
      </p:sp>
      <p:sp>
        <p:nvSpPr>
          <p:cNvPr id="450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4506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4506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CF9899AE-1085-4B4D-8EB2-777B3EABA150}" type="slidenum">
              <a:rPr lang="en-US" altLang="zh-CN" sz="1200" b="0" smtClean="0">
                <a:latin typeface="Arial" panose="020B0604020202020204" pitchFamily="34" charset="0"/>
                <a:ea typeface="宋体" panose="02010600030101010101" pitchFamily="2" charset="-122"/>
              </a:rPr>
              <a:t>20</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ChangeArrowheads="1" noTextEdit="1"/>
          </p:cNvSpPr>
          <p:nvPr>
            <p:ph type="sldImg"/>
          </p:nvPr>
        </p:nvSpPr>
        <p:spPr/>
      </p:sp>
      <p:sp>
        <p:nvSpPr>
          <p:cNvPr id="471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4710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4710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3663FF02-FB6F-4654-9186-A49059D0C7BB}" type="slidenum">
              <a:rPr lang="en-US" altLang="zh-CN" sz="1200" b="0" smtClean="0">
                <a:latin typeface="Arial" panose="020B0604020202020204" pitchFamily="34" charset="0"/>
                <a:ea typeface="宋体" panose="02010600030101010101" pitchFamily="2" charset="-122"/>
              </a:rPr>
              <a:t>21</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ChangeArrowheads="1" noTextEdit="1"/>
          </p:cNvSpPr>
          <p:nvPr>
            <p:ph type="sldImg"/>
          </p:nvPr>
        </p:nvSpPr>
        <p:spPr/>
      </p:sp>
      <p:sp>
        <p:nvSpPr>
          <p:cNvPr id="491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4915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4915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D3DFCCC8-AD70-430A-BFAA-4FA666405C33}" type="slidenum">
              <a:rPr lang="en-US" altLang="zh-CN" sz="1200" b="0" smtClean="0">
                <a:latin typeface="Arial" panose="020B0604020202020204" pitchFamily="34" charset="0"/>
                <a:ea typeface="宋体" panose="02010600030101010101" pitchFamily="2" charset="-122"/>
              </a:rPr>
              <a:t>22</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5120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5120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69880112-727E-41D4-B457-EA674EA54597}" type="slidenum">
              <a:rPr lang="en-US" altLang="zh-CN" sz="1200" b="0" smtClean="0">
                <a:latin typeface="Arial" panose="020B0604020202020204" pitchFamily="34" charset="0"/>
                <a:ea typeface="宋体" panose="02010600030101010101" pitchFamily="2" charset="-122"/>
              </a:rPr>
              <a:t>23</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5325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5325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9473D925-4586-4419-9ADC-30F44C08140A}" type="slidenum">
              <a:rPr lang="en-US" altLang="zh-CN" sz="1200" b="0" smtClean="0">
                <a:latin typeface="Arial" panose="020B0604020202020204" pitchFamily="34" charset="0"/>
                <a:ea typeface="宋体" panose="02010600030101010101" pitchFamily="2" charset="-122"/>
              </a:rPr>
              <a:t>24</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ChangeArrowheads="1" noTextEdit="1"/>
          </p:cNvSpPr>
          <p:nvPr>
            <p:ph type="sldImg"/>
          </p:nvPr>
        </p:nvSpPr>
        <p:spPr/>
      </p:sp>
      <p:sp>
        <p:nvSpPr>
          <p:cNvPr id="552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
        <p:nvSpPr>
          <p:cNvPr id="5530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5530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5C6358E-3B4F-42AF-A913-164D1A4CD248}" type="slidenum">
              <a:rPr lang="en-US" altLang="zh-CN" sz="1200" b="0" smtClean="0">
                <a:latin typeface="Arial" panose="020B0604020202020204" pitchFamily="34" charset="0"/>
                <a:ea typeface="宋体" panose="02010600030101010101" pitchFamily="2" charset="-122"/>
              </a:rPr>
              <a:t>25</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ChangeArrowheads="1" noTextEdit="1"/>
          </p:cNvSpPr>
          <p:nvPr>
            <p:ph type="sldImg"/>
          </p:nvPr>
        </p:nvSpPr>
        <p:spPr/>
      </p:sp>
      <p:sp>
        <p:nvSpPr>
          <p:cNvPr id="604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6042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6042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8578C482-DAD6-415F-A51E-394B5F054080}" type="slidenum">
              <a:rPr lang="en-US" altLang="zh-CN" sz="1200" b="0" smtClean="0">
                <a:latin typeface="Arial" panose="020B0604020202020204" pitchFamily="34" charset="0"/>
                <a:ea typeface="宋体" panose="02010600030101010101" pitchFamily="2" charset="-122"/>
              </a:rPr>
              <a:t>26</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ChangeArrowheads="1" noTextEdit="1"/>
          </p:cNvSpPr>
          <p:nvPr>
            <p:ph type="sldImg"/>
          </p:nvPr>
        </p:nvSpPr>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6246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6246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B4591AF8-8787-4488-B33C-EC8D84AE48B9}" type="slidenum">
              <a:rPr lang="en-US" altLang="zh-CN" sz="1200" b="0" smtClean="0">
                <a:latin typeface="Arial" panose="020B0604020202020204" pitchFamily="34" charset="0"/>
                <a:ea typeface="宋体" panose="02010600030101010101" pitchFamily="2" charset="-122"/>
              </a:rPr>
              <a:t>27</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p:nvPr>
        </p:nvSpPr>
        <p:spPr/>
      </p:sp>
      <p:sp>
        <p:nvSpPr>
          <p:cNvPr id="645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6451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6451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82BFF76-4B29-4710-B19D-72350061BA63}" type="slidenum">
              <a:rPr lang="en-US" altLang="zh-CN" sz="1200" b="0" smtClean="0">
                <a:latin typeface="Arial" panose="020B0604020202020204" pitchFamily="34" charset="0"/>
                <a:ea typeface="宋体" panose="02010600030101010101" pitchFamily="2" charset="-122"/>
              </a:rPr>
              <a:t>28</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ChangeArrowheads="1" noTextEdit="1"/>
          </p:cNvSpPr>
          <p:nvPr>
            <p:ph type="sldImg"/>
          </p:nvPr>
        </p:nvSpPr>
        <p:spPr/>
      </p:sp>
      <p:sp>
        <p:nvSpPr>
          <p:cNvPr id="665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6656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6656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DC98D1B-3F20-4824-B4A9-08B580F7F513}" type="slidenum">
              <a:rPr lang="en-US" altLang="zh-CN" sz="1200" b="0" smtClean="0">
                <a:latin typeface="Arial" panose="020B0604020202020204" pitchFamily="34" charset="0"/>
                <a:ea typeface="宋体" panose="02010600030101010101" pitchFamily="2" charset="-122"/>
              </a:rPr>
              <a:t>29</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ChangeArrowheads="1" noTextEdit="1"/>
          </p:cNvSpPr>
          <p:nvPr>
            <p:ph type="sldImg"/>
          </p:nvPr>
        </p:nvSpPr>
        <p:spPr/>
      </p:sp>
      <p:sp>
        <p:nvSpPr>
          <p:cNvPr id="686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6861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6861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A8D259D2-282F-4DB9-A508-C1E2CB632AED}" type="slidenum">
              <a:rPr lang="en-US" altLang="zh-CN" sz="1200" b="0" smtClean="0">
                <a:latin typeface="Arial" panose="020B0604020202020204" pitchFamily="34" charset="0"/>
                <a:ea typeface="宋体" panose="02010600030101010101" pitchFamily="2" charset="-122"/>
              </a:rPr>
              <a:t>30</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ChangeArrowheads="1" noTextEdit="1"/>
          </p:cNvSpPr>
          <p:nvPr>
            <p:ph type="sldImg"/>
          </p:nvPr>
        </p:nvSpPr>
        <p:spPr/>
      </p:sp>
      <p:sp>
        <p:nvSpPr>
          <p:cNvPr id="706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7066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7066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E44B95A-68ED-4CD0-9326-6A69AD664096}" type="slidenum">
              <a:rPr lang="en-US" altLang="zh-CN" sz="1200" b="0" smtClean="0">
                <a:latin typeface="Arial" panose="020B0604020202020204" pitchFamily="34" charset="0"/>
                <a:ea typeface="宋体" panose="02010600030101010101" pitchFamily="2" charset="-122"/>
              </a:rPr>
              <a:t>31</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p:sp>
      <p:sp>
        <p:nvSpPr>
          <p:cNvPr id="72707" name="Rectangle 3"/>
          <p:cNvSpPr>
            <a:spLocks noGrp="1" noChangeArrowheads="1"/>
          </p:cNvSpPr>
          <p:nvPr>
            <p:ph type="body" idx="1"/>
          </p:nvPr>
        </p:nvSpPr>
        <p:spPr>
          <a:xfrm>
            <a:off x="1219200" y="3200400"/>
            <a:ext cx="6705600" cy="3086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400">
                <a:latin typeface="Arial" panose="020B0604020202020204" pitchFamily="34" charset="0"/>
              </a:rPr>
              <a:t>    信号可描述范围极其广泛的一类物理现象。信号可用许多方式来表示。</a:t>
            </a:r>
          </a:p>
          <a:p>
            <a:pPr eaLnBrk="1" hangingPunct="1"/>
            <a:r>
              <a:rPr lang="zh-CN" altLang="en-US" sz="1400">
                <a:latin typeface="Arial" panose="020B0604020202020204" pitchFamily="34" charset="0"/>
              </a:rPr>
              <a:t>    在物理上， 信号总是信息或消息寄寓变化的形式之一。为了分析信号，人们把信号用一个数学符号来代表。该信号的变化规律用含有一个或多个自变量的函数来表示。而形态上：信号表现为一种波形，可以提供更直观的分析。</a:t>
            </a:r>
          </a:p>
          <a:p>
            <a:pPr eaLnBrk="1" hangingPunct="1"/>
            <a:r>
              <a:rPr lang="zh-CN" altLang="en-US" sz="1400">
                <a:latin typeface="Arial" panose="020B0604020202020204" pitchFamily="34" charset="0"/>
              </a:rPr>
              <a:t>    信号总是直接或间接和一些物理量相关联，例如：电压、电流、电阻、声压、声强、温度、光强等等。</a:t>
            </a:r>
          </a:p>
          <a:p>
            <a:pPr eaLnBrk="1" hangingPunct="1"/>
            <a:r>
              <a:rPr lang="zh-CN" altLang="en-US" sz="1400">
                <a:latin typeface="Arial" panose="020B0604020202020204" pitchFamily="34" charset="0"/>
              </a:rPr>
              <a:t>    信号的自变量则更多是一些描述广义变化规律的基本变量，例如：时间、位移、周期、频率、幅度、相位</a:t>
            </a:r>
          </a:p>
          <a:p>
            <a:pPr eaLnBrk="1" hangingPunct="1"/>
            <a:endParaRPr lang="en-US" altLang="zh-CN" sz="140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p:sp>
      <p:sp>
        <p:nvSpPr>
          <p:cNvPr id="808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a:latin typeface="Arial" panose="020B0604020202020204" pitchFamily="34" charset="0"/>
              </a:rPr>
              <a:t>    信号与系统理论和实践就是要建立一种分析体系，即用一些符号、表达式来描述信号，用系列算法来描述系统，用信号通过系统，在系统做用下，产生某种响应，这些响应也可表示为一些符号。</a:t>
            </a:r>
            <a:endParaRPr lang="zh-CN" altLang="en-US" sz="140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p:sp>
      <p:sp>
        <p:nvSpPr>
          <p:cNvPr id="829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a:latin typeface="Arial" panose="020B0604020202020204" pitchFamily="34" charset="0"/>
              </a:rPr>
              <a:t>信号的数学表达式中体现了幅度、周期、相位以及衰减因子，波形图可用来描述一些现象的轨迹。</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p:sp>
      <p:sp>
        <p:nvSpPr>
          <p:cNvPr id="849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a:latin typeface="Arial" panose="020B0604020202020204" pitchFamily="34" charset="0"/>
              </a:rPr>
              <a:t>这段鸟鸣声的时间波形有</a:t>
            </a:r>
            <a:r>
              <a:rPr lang="en-US" altLang="zh-CN" sz="1600">
                <a:latin typeface="Arial" panose="020B0604020202020204" pitchFamily="34" charset="0"/>
              </a:rPr>
              <a:t>8</a:t>
            </a:r>
            <a:r>
              <a:rPr lang="zh-CN" altLang="en-US" sz="1600">
                <a:latin typeface="Arial" panose="020B0604020202020204" pitchFamily="34" charset="0"/>
              </a:rPr>
              <a:t>次强列的幅度起伏，正好对应有</a:t>
            </a:r>
            <a:r>
              <a:rPr lang="en-US" altLang="zh-CN" sz="1600">
                <a:latin typeface="Arial" panose="020B0604020202020204" pitchFamily="34" charset="0"/>
              </a:rPr>
              <a:t>8</a:t>
            </a:r>
            <a:r>
              <a:rPr lang="zh-CN" altLang="en-US" sz="1600">
                <a:latin typeface="Arial" panose="020B0604020202020204" pitchFamily="34" charset="0"/>
              </a:rPr>
              <a:t>声鸟叫，时间约</a:t>
            </a:r>
            <a:r>
              <a:rPr lang="en-US" altLang="zh-CN" sz="1600">
                <a:latin typeface="Arial" panose="020B0604020202020204" pitchFamily="34" charset="0"/>
              </a:rPr>
              <a:t>1.5s </a:t>
            </a:r>
            <a:r>
              <a:rPr lang="zh-CN" altLang="en-US" sz="1600">
                <a:latin typeface="Arial" panose="020B0604020202020204" pitchFamily="34" charset="0"/>
              </a:rPr>
              <a:t>，平均每声长</a:t>
            </a:r>
            <a:r>
              <a:rPr lang="en-US" altLang="zh-CN" sz="1600">
                <a:latin typeface="Arial" panose="020B0604020202020204" pitchFamily="34" charset="0"/>
              </a:rPr>
              <a:t>187.5ms </a:t>
            </a:r>
            <a:r>
              <a:rPr lang="zh-CN" altLang="en-US" sz="1600">
                <a:latin typeface="Arial" panose="020B0604020202020204" pitchFamily="34" charset="0"/>
              </a:rPr>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p:nvPr>
        </p:nvSpPr>
        <p:spPr/>
      </p:sp>
      <p:sp>
        <p:nvSpPr>
          <p:cNvPr id="870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8704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8704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FC8FE1D0-CDDB-4979-8D54-5FB1975466FE}" type="slidenum">
              <a:rPr lang="en-US" altLang="zh-CN" sz="1200" b="0" smtClean="0">
                <a:latin typeface="Arial" panose="020B0604020202020204" pitchFamily="34" charset="0"/>
                <a:ea typeface="宋体" panose="02010600030101010101" pitchFamily="2" charset="-122"/>
              </a:rPr>
              <a:t>36</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p:nvPr>
        </p:nvSpPr>
        <p:spPr/>
      </p:sp>
      <p:sp>
        <p:nvSpPr>
          <p:cNvPr id="890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8909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8909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7C15CC4D-86A7-4CAE-8D35-DEB712B24C32}" type="slidenum">
              <a:rPr lang="en-US" altLang="zh-CN" sz="1200" b="0" smtClean="0">
                <a:latin typeface="Arial" panose="020B0604020202020204" pitchFamily="34" charset="0"/>
                <a:ea typeface="宋体" panose="02010600030101010101" pitchFamily="2" charset="-122"/>
              </a:rPr>
              <a:t>37</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ChangeArrowheads="1" noTextEdit="1"/>
          </p:cNvSpPr>
          <p:nvPr>
            <p:ph type="sldImg"/>
          </p:nvPr>
        </p:nvSpPr>
        <p:spPr/>
      </p:sp>
      <p:sp>
        <p:nvSpPr>
          <p:cNvPr id="911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9114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9114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DB4F60C4-D333-4FE4-883E-22378C3B2E94}" type="slidenum">
              <a:rPr lang="en-US" altLang="zh-CN" sz="1200" b="0" smtClean="0">
                <a:latin typeface="Arial" panose="020B0604020202020204" pitchFamily="34" charset="0"/>
                <a:ea typeface="宋体" panose="02010600030101010101" pitchFamily="2" charset="-122"/>
              </a:rPr>
              <a:t>38</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ChangeArrowheads="1" noTextEdit="1"/>
          </p:cNvSpPr>
          <p:nvPr>
            <p:ph type="sldImg"/>
          </p:nvPr>
        </p:nvSpPr>
        <p:spPr/>
      </p:sp>
      <p:sp>
        <p:nvSpPr>
          <p:cNvPr id="931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9318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9318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B08DD859-E370-4E7A-8C8D-3A8D8558CF49}" type="slidenum">
              <a:rPr lang="en-US" altLang="zh-CN" sz="1200" b="0" smtClean="0">
                <a:latin typeface="Arial" panose="020B0604020202020204" pitchFamily="34" charset="0"/>
                <a:ea typeface="宋体" panose="02010600030101010101" pitchFamily="2" charset="-122"/>
              </a:rPr>
              <a:t>39</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ChangeArrowheads="1" noTextEdit="1"/>
          </p:cNvSpPr>
          <p:nvPr>
            <p:ph type="sldImg"/>
          </p:nvPr>
        </p:nvSpPr>
        <p:spPr/>
      </p:sp>
      <p:sp>
        <p:nvSpPr>
          <p:cNvPr id="952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9523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9523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FBDAB3E9-08D1-4583-ACB2-D4A718E86C16}" type="slidenum">
              <a:rPr lang="en-US" altLang="zh-CN" sz="1200" b="0" smtClean="0">
                <a:latin typeface="Arial" panose="020B0604020202020204" pitchFamily="34" charset="0"/>
                <a:ea typeface="宋体" panose="02010600030101010101" pitchFamily="2" charset="-122"/>
              </a:rPr>
              <a:t>40</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ChangeArrowheads="1" noTextEdit="1"/>
          </p:cNvSpPr>
          <p:nvPr>
            <p:ph type="sldImg"/>
          </p:nvPr>
        </p:nvSpPr>
        <p:spPr/>
      </p:sp>
      <p:sp>
        <p:nvSpPr>
          <p:cNvPr id="972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9728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9728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20972A0-8F31-4599-A8DB-FDC21E14FB46}" type="slidenum">
              <a:rPr lang="en-US" altLang="zh-CN" sz="1200" b="0" smtClean="0">
                <a:latin typeface="Arial" panose="020B0604020202020204" pitchFamily="34" charset="0"/>
                <a:ea typeface="宋体" panose="02010600030101010101" pitchFamily="2" charset="-122"/>
              </a:rPr>
              <a:t>41</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ChangeArrowheads="1" noTextEdit="1"/>
          </p:cNvSpPr>
          <p:nvPr>
            <p:ph type="sldImg"/>
          </p:nvPr>
        </p:nvSpPr>
        <p:spPr/>
      </p:sp>
      <p:sp>
        <p:nvSpPr>
          <p:cNvPr id="993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9933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9933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8DE70217-C27C-4B11-A333-EED53151070C}" type="slidenum">
              <a:rPr lang="en-US" altLang="zh-CN" sz="1200" b="0" smtClean="0">
                <a:latin typeface="Arial" panose="020B0604020202020204" pitchFamily="34" charset="0"/>
                <a:ea typeface="宋体" panose="02010600030101010101" pitchFamily="2" charset="-122"/>
              </a:rPr>
              <a:t>42</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ChangeArrowheads="1" noTextEdit="1"/>
          </p:cNvSpPr>
          <p:nvPr>
            <p:ph type="sldImg"/>
          </p:nvPr>
        </p:nvSpPr>
        <p:spPr/>
      </p:sp>
      <p:sp>
        <p:nvSpPr>
          <p:cNvPr id="1013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
        <p:nvSpPr>
          <p:cNvPr id="10138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0138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20806524-5B60-4FA4-8043-40E4CAAE1748}" type="slidenum">
              <a:rPr lang="en-US" altLang="zh-CN" sz="1200" b="0" smtClean="0">
                <a:latin typeface="Arial" panose="020B0604020202020204" pitchFamily="34" charset="0"/>
                <a:ea typeface="宋体" panose="02010600030101010101" pitchFamily="2" charset="-122"/>
              </a:rPr>
              <a:t>43</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ChangeArrowheads="1" noTextEdit="1"/>
          </p:cNvSpPr>
          <p:nvPr>
            <p:ph type="sldImg"/>
          </p:nvPr>
        </p:nvSpPr>
        <p:spPr/>
      </p:sp>
      <p:sp>
        <p:nvSpPr>
          <p:cNvPr id="1034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0342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0342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5F9C26A8-AA87-4D99-A71F-92B58B947370}" type="slidenum">
              <a:rPr lang="en-US" altLang="zh-CN" sz="1200" b="0" smtClean="0">
                <a:latin typeface="Arial" panose="020B0604020202020204" pitchFamily="34" charset="0"/>
                <a:ea typeface="宋体" panose="02010600030101010101" pitchFamily="2" charset="-122"/>
              </a:rPr>
              <a:t>44</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ChangeArrowheads="1" noTextEdit="1"/>
          </p:cNvSpPr>
          <p:nvPr>
            <p:ph type="sldImg"/>
          </p:nvPr>
        </p:nvSpPr>
        <p:spPr/>
      </p:sp>
      <p:sp>
        <p:nvSpPr>
          <p:cNvPr id="1054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0547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0547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624E8F22-E314-479B-B35A-CFF3D3108111}" type="slidenum">
              <a:rPr lang="en-US" altLang="zh-CN" sz="1200" b="0" smtClean="0">
                <a:latin typeface="Arial" panose="020B0604020202020204" pitchFamily="34" charset="0"/>
                <a:ea typeface="宋体" panose="02010600030101010101" pitchFamily="2" charset="-122"/>
              </a:rPr>
              <a:t>45</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ChangeArrowheads="1" noTextEdit="1"/>
          </p:cNvSpPr>
          <p:nvPr>
            <p:ph type="sldImg"/>
          </p:nvPr>
        </p:nvSpPr>
        <p:spPr/>
      </p:sp>
      <p:sp>
        <p:nvSpPr>
          <p:cNvPr id="1075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0752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0752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1EB1121D-15C2-4662-BE98-4E9EC0F5D658}" type="slidenum">
              <a:rPr lang="en-US" altLang="zh-CN" sz="1200" b="0" smtClean="0">
                <a:latin typeface="Arial" panose="020B0604020202020204" pitchFamily="34" charset="0"/>
                <a:ea typeface="宋体" panose="02010600030101010101" pitchFamily="2" charset="-122"/>
              </a:rPr>
              <a:t>46</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ChangeArrowheads="1" noTextEdit="1"/>
          </p:cNvSpPr>
          <p:nvPr>
            <p:ph type="sldImg"/>
          </p:nvPr>
        </p:nvSpPr>
        <p:spPr/>
      </p:sp>
      <p:sp>
        <p:nvSpPr>
          <p:cNvPr id="1095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0957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0957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4AD8D34F-448F-4D79-9962-8D3AE6A5F5A5}" type="slidenum">
              <a:rPr lang="en-US" altLang="zh-CN" sz="1200" b="0" smtClean="0">
                <a:latin typeface="Arial" panose="020B0604020202020204" pitchFamily="34" charset="0"/>
                <a:ea typeface="宋体" panose="02010600030101010101" pitchFamily="2" charset="-122"/>
              </a:rPr>
              <a:t>47</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ChangeArrowheads="1" noTextEdit="1"/>
          </p:cNvSpPr>
          <p:nvPr>
            <p:ph type="sldImg"/>
          </p:nvPr>
        </p:nvSpPr>
        <p:spPr/>
      </p:sp>
      <p:sp>
        <p:nvSpPr>
          <p:cNvPr id="1116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1162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1162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B23A37A4-DEF2-4194-B876-E90ECAB83F80}" type="slidenum">
              <a:rPr lang="en-US" altLang="zh-CN" sz="1200" b="0" smtClean="0">
                <a:latin typeface="Arial" panose="020B0604020202020204" pitchFamily="34" charset="0"/>
                <a:ea typeface="宋体" panose="02010600030101010101" pitchFamily="2" charset="-122"/>
              </a:rPr>
              <a:t>48</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ChangeArrowheads="1" noTextEdit="1"/>
          </p:cNvSpPr>
          <p:nvPr>
            <p:ph type="sldImg"/>
          </p:nvPr>
        </p:nvSpPr>
        <p:spPr/>
      </p:sp>
      <p:sp>
        <p:nvSpPr>
          <p:cNvPr id="1136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1366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1366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A78B2D8B-B561-4D94-BC39-587F43901B06}" type="slidenum">
              <a:rPr lang="en-US" altLang="zh-CN" sz="1200" b="0" smtClean="0">
                <a:latin typeface="Arial" panose="020B0604020202020204" pitchFamily="34" charset="0"/>
                <a:ea typeface="宋体" panose="02010600030101010101" pitchFamily="2" charset="-122"/>
              </a:rPr>
              <a:t>49</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ChangeArrowheads="1" noTextEdit="1"/>
          </p:cNvSpPr>
          <p:nvPr>
            <p:ph type="sldImg"/>
          </p:nvPr>
        </p:nvSpPr>
        <p:spPr/>
      </p:sp>
      <p:sp>
        <p:nvSpPr>
          <p:cNvPr id="1157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1571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1571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B72DE785-457C-4155-968C-B12E0AC10899}" type="slidenum">
              <a:rPr lang="en-US" altLang="zh-CN" sz="1200" b="0" smtClean="0">
                <a:latin typeface="Arial" panose="020B0604020202020204" pitchFamily="34" charset="0"/>
                <a:ea typeface="宋体" panose="02010600030101010101" pitchFamily="2" charset="-122"/>
              </a:rPr>
              <a:t>50</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7475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7475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DE182728-4BDC-4FAC-9654-3115EFB1EA67}" type="slidenum">
              <a:rPr lang="en-US" altLang="zh-CN" sz="1200" b="0" smtClean="0">
                <a:latin typeface="Arial" panose="020B0604020202020204" pitchFamily="34" charset="0"/>
                <a:ea typeface="宋体" panose="02010600030101010101" pitchFamily="2" charset="-122"/>
              </a:rPr>
              <a:t>52</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p:sp>
      <p:sp>
        <p:nvSpPr>
          <p:cNvPr id="78851" name="Rectangle 3"/>
          <p:cNvSpPr>
            <a:spLocks noGrp="1" noChangeArrowheads="1"/>
          </p:cNvSpPr>
          <p:nvPr>
            <p:ph type="body" idx="1"/>
          </p:nvPr>
        </p:nvSpPr>
        <p:spPr>
          <a:xfrm>
            <a:off x="1219200" y="3200400"/>
            <a:ext cx="6705600" cy="3086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400">
                <a:latin typeface="Arial" panose="020B0604020202020204" pitchFamily="34" charset="0"/>
              </a:rPr>
              <a:t>    信号可描述范围极其广泛的一类物理现象。信号可用许多方式来表示。</a:t>
            </a:r>
          </a:p>
          <a:p>
            <a:pPr eaLnBrk="1" hangingPunct="1"/>
            <a:r>
              <a:rPr lang="zh-CN" altLang="en-US" sz="1400">
                <a:latin typeface="Arial" panose="020B0604020202020204" pitchFamily="34" charset="0"/>
              </a:rPr>
              <a:t>    在物理上， 信号总是信息或消息寄寓变化的形式之一。为了分析信号，人们把信号用一个数学符号来代表。该信号的变化规律用含有一个或多个自变量的函数来表示。而形态上：信号表现为一种波形，可以提供更直观的分析。</a:t>
            </a:r>
          </a:p>
          <a:p>
            <a:pPr eaLnBrk="1" hangingPunct="1"/>
            <a:r>
              <a:rPr lang="zh-CN" altLang="en-US" sz="1400">
                <a:latin typeface="Arial" panose="020B0604020202020204" pitchFamily="34" charset="0"/>
              </a:rPr>
              <a:t>    信号总是直接或间接和一些物理量相关联，例如：电压、电流、电阻、声压、声强、温度、光强等等。</a:t>
            </a:r>
          </a:p>
          <a:p>
            <a:pPr eaLnBrk="1" hangingPunct="1"/>
            <a:r>
              <a:rPr lang="zh-CN" altLang="en-US" sz="1400">
                <a:latin typeface="Arial" panose="020B0604020202020204" pitchFamily="34" charset="0"/>
              </a:rPr>
              <a:t>    信号的自变量则更多是一些描述广义变化规律的基本变量，例如：时间、位移、周期、频率、幅度、相位</a:t>
            </a:r>
          </a:p>
          <a:p>
            <a:pPr eaLnBrk="1" hangingPunct="1"/>
            <a:endParaRPr lang="en-US" altLang="zh-CN" sz="140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ChangeArrowheads="1" noTextEdit="1"/>
          </p:cNvSpPr>
          <p:nvPr>
            <p:ph type="sldImg"/>
          </p:nvPr>
        </p:nvSpPr>
        <p:spPr/>
      </p:sp>
      <p:sp>
        <p:nvSpPr>
          <p:cNvPr id="1198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1981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1981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C4DB2A10-428C-4865-BE91-E1730880979A}" type="slidenum">
              <a:rPr lang="en-US" altLang="zh-CN" sz="1200" b="0" smtClean="0">
                <a:latin typeface="Arial" panose="020B0604020202020204" pitchFamily="34" charset="0"/>
                <a:ea typeface="宋体" panose="02010600030101010101" pitchFamily="2" charset="-122"/>
              </a:rPr>
              <a:t>54</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ChangeArrowheads="1" noTextEdit="1"/>
          </p:cNvSpPr>
          <p:nvPr>
            <p:ph type="sldImg"/>
          </p:nvPr>
        </p:nvSpPr>
        <p:spPr/>
      </p:sp>
      <p:sp>
        <p:nvSpPr>
          <p:cNvPr id="1177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1776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1776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125A4256-C67D-43E8-AEF9-2BE0FBDCEF5C}" type="slidenum">
              <a:rPr lang="en-US" altLang="zh-CN" sz="1200" b="0" smtClean="0">
                <a:latin typeface="Arial" panose="020B0604020202020204" pitchFamily="34" charset="0"/>
                <a:ea typeface="宋体" panose="02010600030101010101" pitchFamily="2" charset="-122"/>
              </a:rPr>
              <a:t>55</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ChangeArrowheads="1" noTextEdit="1"/>
          </p:cNvSpPr>
          <p:nvPr>
            <p:ph type="sldImg"/>
          </p:nvPr>
        </p:nvSpPr>
        <p:spPr/>
      </p:sp>
      <p:sp>
        <p:nvSpPr>
          <p:cNvPr id="1218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2186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2186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6AE3ECEF-FCF4-49C8-A9D0-752B456E5529}" type="slidenum">
              <a:rPr lang="en-US" altLang="zh-CN" sz="1200" b="0" smtClean="0">
                <a:latin typeface="Arial" panose="020B0604020202020204" pitchFamily="34" charset="0"/>
                <a:ea typeface="宋体" panose="02010600030101010101" pitchFamily="2" charset="-122"/>
              </a:rPr>
              <a:t>56</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ChangeArrowheads="1" noTextEdit="1"/>
          </p:cNvSpPr>
          <p:nvPr>
            <p:ph type="sldImg"/>
          </p:nvPr>
        </p:nvSpPr>
        <p:spPr/>
      </p:sp>
      <p:sp>
        <p:nvSpPr>
          <p:cNvPr id="1239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2390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2390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DF04E11E-1E5B-4396-B583-828BA1F17332}" type="slidenum">
              <a:rPr lang="en-US" altLang="zh-CN" sz="1200" b="0" smtClean="0">
                <a:latin typeface="Arial" panose="020B0604020202020204" pitchFamily="34" charset="0"/>
                <a:ea typeface="宋体" panose="02010600030101010101" pitchFamily="2" charset="-122"/>
              </a:rPr>
              <a:t>57</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ChangeArrowheads="1" noTextEdit="1"/>
          </p:cNvSpPr>
          <p:nvPr>
            <p:ph type="sldImg"/>
          </p:nvPr>
        </p:nvSpPr>
        <p:spPr/>
      </p:sp>
      <p:sp>
        <p:nvSpPr>
          <p:cNvPr id="1259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2595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2595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475C2028-C6EB-4E7F-A9BF-F95020390DA2}" type="slidenum">
              <a:rPr lang="en-US" altLang="zh-CN" sz="1200" b="0" smtClean="0">
                <a:latin typeface="Arial" panose="020B0604020202020204" pitchFamily="34" charset="0"/>
                <a:ea typeface="宋体" panose="02010600030101010101" pitchFamily="2" charset="-122"/>
              </a:rPr>
              <a:t>58</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ChangeArrowheads="1" noTextEdit="1"/>
          </p:cNvSpPr>
          <p:nvPr>
            <p:ph type="sldImg"/>
          </p:nvPr>
        </p:nvSpPr>
        <p:spPr/>
      </p:sp>
      <p:sp>
        <p:nvSpPr>
          <p:cNvPr id="1280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2800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2800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593CE55B-1C16-4D22-BDF3-0A50CC323C63}" type="slidenum">
              <a:rPr lang="en-US" altLang="zh-CN" sz="1200" b="0" smtClean="0">
                <a:latin typeface="Arial" panose="020B0604020202020204" pitchFamily="34" charset="0"/>
                <a:ea typeface="宋体" panose="02010600030101010101" pitchFamily="2" charset="-122"/>
              </a:rPr>
              <a:t>59</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ChangeArrowheads="1" noTextEdit="1"/>
          </p:cNvSpPr>
          <p:nvPr>
            <p:ph type="sldImg"/>
          </p:nvPr>
        </p:nvSpPr>
        <p:spPr/>
      </p:sp>
      <p:sp>
        <p:nvSpPr>
          <p:cNvPr id="1300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3005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3005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F81F737B-F65B-4802-BCC0-F133B1E05CD5}" type="slidenum">
              <a:rPr lang="en-US" altLang="zh-CN" sz="1200" b="0" smtClean="0">
                <a:latin typeface="Arial" panose="020B0604020202020204" pitchFamily="34" charset="0"/>
                <a:ea typeface="宋体" panose="02010600030101010101" pitchFamily="2" charset="-122"/>
              </a:rPr>
              <a:t>60</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ChangeArrowheads="1" noTextEdit="1"/>
          </p:cNvSpPr>
          <p:nvPr>
            <p:ph type="sldImg"/>
          </p:nvPr>
        </p:nvSpPr>
        <p:spPr/>
      </p:sp>
      <p:sp>
        <p:nvSpPr>
          <p:cNvPr id="1320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3210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3210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B34D50AE-0110-4F44-914D-C3EAA84FCAE2}" type="slidenum">
              <a:rPr lang="en-US" altLang="zh-CN" sz="1200" b="0" smtClean="0">
                <a:latin typeface="Arial" panose="020B0604020202020204" pitchFamily="34" charset="0"/>
                <a:ea typeface="宋体" panose="02010600030101010101" pitchFamily="2" charset="-122"/>
              </a:rPr>
              <a:t>61</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ChangeArrowheads="1" noTextEdit="1"/>
          </p:cNvSpPr>
          <p:nvPr>
            <p:ph type="sldImg"/>
          </p:nvPr>
        </p:nvSpPr>
        <p:spPr/>
      </p:sp>
      <p:sp>
        <p:nvSpPr>
          <p:cNvPr id="1341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3414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3414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3E7A682A-D364-4347-84F5-6A62C29137C8}" type="slidenum">
              <a:rPr lang="en-US" altLang="zh-CN" sz="1200" b="0" smtClean="0">
                <a:latin typeface="Arial" panose="020B0604020202020204" pitchFamily="34" charset="0"/>
                <a:ea typeface="宋体" panose="02010600030101010101" pitchFamily="2" charset="-122"/>
              </a:rPr>
              <a:t>62</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ChangeArrowheads="1" noTextEdit="1"/>
          </p:cNvSpPr>
          <p:nvPr>
            <p:ph type="sldImg"/>
          </p:nvPr>
        </p:nvSpPr>
        <p:spPr/>
      </p:sp>
      <p:sp>
        <p:nvSpPr>
          <p:cNvPr id="1361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3619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3619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BF669581-71C8-41AA-981A-8E4A1FA0D58F}" type="slidenum">
              <a:rPr lang="en-US" altLang="zh-CN" sz="1200" b="0" smtClean="0">
                <a:latin typeface="Arial" panose="020B0604020202020204" pitchFamily="34" charset="0"/>
                <a:ea typeface="宋体" panose="02010600030101010101" pitchFamily="2" charset="-122"/>
              </a:rPr>
              <a:t>63</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ChangeArrowheads="1" noTextEdit="1"/>
          </p:cNvSpPr>
          <p:nvPr>
            <p:ph type="sldImg"/>
          </p:nvPr>
        </p:nvSpPr>
        <p:spPr/>
      </p:sp>
      <p:sp>
        <p:nvSpPr>
          <p:cNvPr id="1382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3824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3824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41848D3B-B55A-48FA-9588-40D0BD91EFA4}" type="slidenum">
              <a:rPr lang="en-US" altLang="zh-CN" sz="1200" b="0" smtClean="0">
                <a:latin typeface="Arial" panose="020B0604020202020204" pitchFamily="34" charset="0"/>
                <a:ea typeface="宋体" panose="02010600030101010101" pitchFamily="2" charset="-122"/>
              </a:rPr>
              <a:t>64</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ChangeArrowheads="1" noTextEdit="1"/>
          </p:cNvSpPr>
          <p:nvPr>
            <p:ph type="sldImg"/>
          </p:nvPr>
        </p:nvSpPr>
        <p:spPr/>
      </p:sp>
      <p:sp>
        <p:nvSpPr>
          <p:cNvPr id="1402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4029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4029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22F258E5-2FF1-4001-B7EE-C1FEAD17D887}" type="slidenum">
              <a:rPr lang="en-US" altLang="zh-CN" sz="1200" b="0" smtClean="0">
                <a:latin typeface="Arial" panose="020B0604020202020204" pitchFamily="34" charset="0"/>
                <a:ea typeface="宋体" panose="02010600030101010101" pitchFamily="2" charset="-122"/>
              </a:rPr>
              <a:t>65</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ChangeArrowheads="1" noTextEdit="1"/>
          </p:cNvSpPr>
          <p:nvPr>
            <p:ph type="sldImg"/>
          </p:nvPr>
        </p:nvSpPr>
        <p:spPr/>
      </p:sp>
      <p:sp>
        <p:nvSpPr>
          <p:cNvPr id="142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4234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4234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5F7B8D56-9132-4CCC-AA54-4A9886D0C502}" type="slidenum">
              <a:rPr lang="en-US" altLang="zh-CN" sz="1200" b="0" smtClean="0">
                <a:latin typeface="Arial" panose="020B0604020202020204" pitchFamily="34" charset="0"/>
                <a:ea typeface="宋体" panose="02010600030101010101" pitchFamily="2" charset="-122"/>
              </a:rPr>
              <a:t>66</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ChangeArrowheads="1" noTextEdit="1"/>
          </p:cNvSpPr>
          <p:nvPr>
            <p:ph type="sldImg"/>
          </p:nvPr>
        </p:nvSpPr>
        <p:spPr/>
      </p:sp>
      <p:sp>
        <p:nvSpPr>
          <p:cNvPr id="1443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4438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4438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49671994-A820-492D-9583-95C492C6CF3A}" type="slidenum">
              <a:rPr lang="en-US" altLang="zh-CN" sz="1200" b="0" smtClean="0">
                <a:latin typeface="Arial" panose="020B0604020202020204" pitchFamily="34" charset="0"/>
                <a:ea typeface="宋体" panose="02010600030101010101" pitchFamily="2" charset="-122"/>
              </a:rPr>
              <a:t>67</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ChangeArrowheads="1" noTextEdit="1"/>
          </p:cNvSpPr>
          <p:nvPr>
            <p:ph type="sldImg"/>
          </p:nvPr>
        </p:nvSpPr>
        <p:spPr/>
      </p:sp>
      <p:sp>
        <p:nvSpPr>
          <p:cNvPr id="1464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4643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4643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20DD344B-67FE-49DB-8787-460086DC1572}" type="slidenum">
              <a:rPr lang="en-US" altLang="zh-CN" sz="1200" b="0" smtClean="0">
                <a:latin typeface="Arial" panose="020B0604020202020204" pitchFamily="34" charset="0"/>
                <a:ea typeface="宋体" panose="02010600030101010101" pitchFamily="2" charset="-122"/>
              </a:rPr>
              <a:t>68</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ChangeArrowheads="1" noTextEdit="1"/>
          </p:cNvSpPr>
          <p:nvPr>
            <p:ph type="sldImg"/>
          </p:nvPr>
        </p:nvSpPr>
        <p:spPr/>
      </p:sp>
      <p:sp>
        <p:nvSpPr>
          <p:cNvPr id="1484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48484"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48485"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59BCF371-4913-4CF1-A16D-20E82D426F4D}" type="slidenum">
              <a:rPr lang="en-US" altLang="zh-CN" sz="1200" b="0" smtClean="0">
                <a:latin typeface="Arial" panose="020B0604020202020204" pitchFamily="34" charset="0"/>
                <a:ea typeface="宋体" panose="02010600030101010101" pitchFamily="2" charset="-122"/>
              </a:rPr>
              <a:t>69</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p:sp>
      <p:sp>
        <p:nvSpPr>
          <p:cNvPr id="1525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57400" lvl="4" indent="-228600" eaLnBrk="1" hangingPunct="1">
              <a:spcBef>
                <a:spcPct val="0"/>
              </a:spcBef>
            </a:pPr>
            <a:endParaRPr lang="zh-CN" altLang="en-US" sz="140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ChangeArrowheads="1" noTextEdit="1"/>
          </p:cNvSpPr>
          <p:nvPr>
            <p:ph type="sldImg"/>
          </p:nvPr>
        </p:nvSpPr>
        <p:spPr/>
      </p:sp>
      <p:sp>
        <p:nvSpPr>
          <p:cNvPr id="1546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5462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5462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F5A92AC-367E-46A9-890A-E5FD9CA1A1A4}" type="slidenum">
              <a:rPr lang="en-US" altLang="zh-CN" sz="1200" b="0" smtClean="0">
                <a:latin typeface="Arial" panose="020B0604020202020204" pitchFamily="34" charset="0"/>
                <a:ea typeface="宋体" panose="02010600030101010101" pitchFamily="2" charset="-122"/>
              </a:rPr>
              <a:t>74</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ChangeArrowheads="1" noTextEdit="1"/>
          </p:cNvSpPr>
          <p:nvPr>
            <p:ph type="sldImg"/>
          </p:nvPr>
        </p:nvSpPr>
        <p:spPr/>
      </p:sp>
      <p:sp>
        <p:nvSpPr>
          <p:cNvPr id="1218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21860"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21861"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6AE3ECEF-FCF4-49C8-A9D0-752B456E5529}" type="slidenum">
              <a:rPr lang="en-US" altLang="zh-CN" sz="1200" b="0" smtClean="0">
                <a:latin typeface="Arial" panose="020B0604020202020204" pitchFamily="34" charset="0"/>
                <a:ea typeface="宋体" panose="02010600030101010101" pitchFamily="2" charset="-122"/>
              </a:rPr>
              <a:t>78</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ChangeArrowheads="1" noTextEdit="1"/>
          </p:cNvSpPr>
          <p:nvPr>
            <p:ph type="sldImg"/>
          </p:nvPr>
        </p:nvSpPr>
        <p:spPr/>
      </p:sp>
      <p:sp>
        <p:nvSpPr>
          <p:cNvPr id="1239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2390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2390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DF04E11E-1E5B-4396-B583-828BA1F17332}" type="slidenum">
              <a:rPr lang="en-US" altLang="zh-CN" sz="1200" b="0" smtClean="0">
                <a:latin typeface="Arial" panose="020B0604020202020204" pitchFamily="34" charset="0"/>
                <a:ea typeface="宋体" panose="02010600030101010101" pitchFamily="2" charset="-122"/>
              </a:rPr>
              <a:t>79</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ChangeArrowheads="1" noTextEdit="1"/>
          </p:cNvSpPr>
          <p:nvPr>
            <p:ph type="sldImg"/>
          </p:nvPr>
        </p:nvSpPr>
        <p:spPr/>
      </p:sp>
      <p:sp>
        <p:nvSpPr>
          <p:cNvPr id="1259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2595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2595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475C2028-C6EB-4E7F-A9BF-F95020390DA2}" type="slidenum">
              <a:rPr lang="en-US" altLang="zh-CN" sz="1200" b="0" smtClean="0">
                <a:latin typeface="Arial" panose="020B0604020202020204" pitchFamily="34" charset="0"/>
                <a:ea typeface="宋体" panose="02010600030101010101" pitchFamily="2" charset="-122"/>
              </a:rPr>
              <a:t>80</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ChangeArrowheads="1" noTextEdit="1"/>
          </p:cNvSpPr>
          <p:nvPr>
            <p:ph type="sldImg"/>
          </p:nvPr>
        </p:nvSpPr>
        <p:spPr/>
      </p:sp>
      <p:sp>
        <p:nvSpPr>
          <p:cNvPr id="1464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4643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4643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20DD344B-67FE-49DB-8787-460086DC1572}" type="slidenum">
              <a:rPr lang="en-US" altLang="zh-CN" sz="1200" b="0" smtClean="0">
                <a:latin typeface="Arial" panose="020B0604020202020204" pitchFamily="34" charset="0"/>
                <a:ea typeface="宋体" panose="02010600030101010101" pitchFamily="2" charset="-122"/>
              </a:rPr>
              <a:t>81</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p:sp>
      <p:sp>
        <p:nvSpPr>
          <p:cNvPr id="1525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57400" lvl="4" indent="-228600" eaLnBrk="1" hangingPunct="1">
              <a:spcBef>
                <a:spcPct val="0"/>
              </a:spcBef>
            </a:pPr>
            <a:endParaRPr lang="zh-CN" altLang="en-US" sz="140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ChangeArrowheads="1" noTextEdit="1"/>
          </p:cNvSpPr>
          <p:nvPr>
            <p:ph type="sldImg"/>
          </p:nvPr>
        </p:nvSpPr>
        <p:spPr/>
      </p:sp>
      <p:sp>
        <p:nvSpPr>
          <p:cNvPr id="1546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5462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5462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0F5A92AC-367E-46A9-890A-E5FD9CA1A1A4}" type="slidenum">
              <a:rPr lang="en-US" altLang="zh-CN" sz="1200" b="0" smtClean="0">
                <a:latin typeface="Arial" panose="020B0604020202020204" pitchFamily="34" charset="0"/>
                <a:ea typeface="宋体" panose="02010600030101010101" pitchFamily="2" charset="-122"/>
              </a:rPr>
              <a:t>83</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p:cNvSpPr>
            <a:spLocks noGrp="1" noRot="1" noChangeAspect="1" noChangeArrowheads="1" noTextEdit="1"/>
          </p:cNvSpPr>
          <p:nvPr>
            <p:ph type="sldImg"/>
          </p:nvPr>
        </p:nvSpPr>
        <p:spPr/>
      </p:sp>
      <p:sp>
        <p:nvSpPr>
          <p:cNvPr id="1720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
        <p:nvSpPr>
          <p:cNvPr id="172036"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172037"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85EC472A-2529-4AAD-AE36-E2C9150022D1}" type="slidenum">
              <a:rPr lang="en-US" altLang="zh-CN" sz="1200" b="0" smtClean="0">
                <a:latin typeface="Arial" panose="020B0604020202020204" pitchFamily="34" charset="0"/>
                <a:ea typeface="宋体" panose="02010600030101010101" pitchFamily="2" charset="-122"/>
              </a:rPr>
              <a:t>92</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a:p>
        </p:txBody>
      </p:sp>
      <p:sp>
        <p:nvSpPr>
          <p:cNvPr id="5" name="Text Box 5"/>
          <p:cNvSpPr txBox="1">
            <a:spLocks noChangeArrowheads="1"/>
          </p:cNvSpPr>
          <p:nvPr userDrawn="1"/>
        </p:nvSpPr>
        <p:spPr bwMode="auto">
          <a:xfrm>
            <a:off x="0" y="0"/>
            <a:ext cx="9144000" cy="45593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defRPr/>
            </a:pPr>
            <a:r>
              <a:rPr lang="en-US" altLang="zh-CN" dirty="0">
                <a:solidFill>
                  <a:schemeClr val="bg1"/>
                </a:solidFill>
                <a:latin typeface="Verdana" panose="020B060403050404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信号与系统                         第一章  绪论</a:t>
            </a: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p:cNvSpPr>
            <a:spLocks noGrp="1"/>
          </p:cNvSpPr>
          <p:nvPr>
            <p:ph type="dt" sz="half" idx="10"/>
          </p:nvPr>
        </p:nvSpPr>
        <p:spPr>
          <a:xfrm>
            <a:off x="0" y="6570663"/>
            <a:ext cx="1862138" cy="287337"/>
          </a:xfrm>
        </p:spPr>
        <p:txBody>
          <a:bodyPr/>
          <a:lstStyle>
            <a:lvl1pPr>
              <a:defRPr/>
            </a:lvl1pPr>
          </a:lstStyle>
          <a:p>
            <a:pPr>
              <a:defRPr/>
            </a:pPr>
            <a:fld id="{DE3C20DA-24A6-4A38-94B2-05B06B3D1A8C}" type="datetime3">
              <a:rPr lang="zh-CN" altLang="en-US"/>
              <a:t>2026年3月4日星期三</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5" name="矩形 4"/>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a:p>
        </p:txBody>
      </p:sp>
      <p:sp>
        <p:nvSpPr>
          <p:cNvPr id="6" name="Text Box 5"/>
          <p:cNvSpPr txBox="1">
            <a:spLocks noChangeArrowheads="1"/>
          </p:cNvSpPr>
          <p:nvPr userDrawn="1"/>
        </p:nvSpPr>
        <p:spPr bwMode="auto">
          <a:xfrm>
            <a:off x="0" y="0"/>
            <a:ext cx="9144000" cy="45593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defRPr/>
            </a:pPr>
            <a:r>
              <a:rPr lang="en-US" altLang="zh-CN" dirty="0">
                <a:solidFill>
                  <a:schemeClr val="bg1"/>
                </a:solidFill>
                <a:latin typeface="Verdana" panose="020B060403050404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信号与系统                        第一章  绪论</a:t>
            </a:r>
          </a:p>
        </p:txBody>
      </p:sp>
      <p:sp>
        <p:nvSpPr>
          <p:cNvPr id="2" name="标题 1"/>
          <p:cNvSpPr>
            <a:spLocks noGrp="1"/>
          </p:cNvSpPr>
          <p:nvPr>
            <p:ph type="title" hasCustomPrompt="1"/>
          </p:nvPr>
        </p:nvSpPr>
        <p:spPr>
          <a:xfrm>
            <a:off x="534988" y="392112"/>
            <a:ext cx="8001000" cy="747713"/>
          </a:xfrm>
        </p:spPr>
        <p:txBody>
          <a:bodyPr/>
          <a:lstStyle>
            <a:lvl1pPr>
              <a:defRPr/>
            </a:lvl1pPr>
          </a:lstStyle>
          <a:p>
            <a:r>
              <a:rPr lang="zh-CN" altLang="en-US" dirty="0"/>
              <a:t>单击此处编辑母版标 题样式</a:t>
            </a:r>
          </a:p>
        </p:txBody>
      </p:sp>
      <p:sp>
        <p:nvSpPr>
          <p:cNvPr id="3" name="文本占位符 2"/>
          <p:cNvSpPr>
            <a:spLocks noGrp="1"/>
          </p:cNvSpPr>
          <p:nvPr>
            <p:ph type="body" sz="half" idx="1"/>
          </p:nvPr>
        </p:nvSpPr>
        <p:spPr>
          <a:xfrm>
            <a:off x="611188" y="1484313"/>
            <a:ext cx="3924300" cy="42672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87888" y="1484313"/>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a:xfrm>
            <a:off x="0" y="6561138"/>
            <a:ext cx="2006600" cy="296862"/>
          </a:xfrm>
        </p:spPr>
        <p:txBody>
          <a:bodyPr/>
          <a:lstStyle>
            <a:lvl1pPr>
              <a:defRPr/>
            </a:lvl1pPr>
          </a:lstStyle>
          <a:p>
            <a:pPr>
              <a:defRPr/>
            </a:pPr>
            <a:fld id="{96C8DAEC-A36E-49B0-B1DB-EF60B1B0FE3C}" type="datetime3">
              <a:rPr lang="zh-CN" altLang="en-US"/>
              <a:t>2026年3月4日星期三</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矩形 2"/>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a:p>
        </p:txBody>
      </p:sp>
      <p:sp>
        <p:nvSpPr>
          <p:cNvPr id="4" name="Text Box 5"/>
          <p:cNvSpPr txBox="1">
            <a:spLocks noChangeArrowheads="1"/>
          </p:cNvSpPr>
          <p:nvPr userDrawn="1"/>
        </p:nvSpPr>
        <p:spPr bwMode="auto">
          <a:xfrm>
            <a:off x="0" y="0"/>
            <a:ext cx="9144000" cy="45593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defRPr/>
            </a:pPr>
            <a:r>
              <a:rPr lang="en-US" altLang="zh-CN" dirty="0">
                <a:solidFill>
                  <a:schemeClr val="bg1"/>
                </a:solidFill>
                <a:latin typeface="Verdana" panose="020B060403050404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信号与系统                         第一章  绪论</a:t>
            </a:r>
          </a:p>
        </p:txBody>
      </p:sp>
      <p:sp>
        <p:nvSpPr>
          <p:cNvPr id="2" name="内容占位符 1"/>
          <p:cNvSpPr>
            <a:spLocks noGrp="1"/>
          </p:cNvSpPr>
          <p:nvPr>
            <p:ph/>
          </p:nvPr>
        </p:nvSpPr>
        <p:spPr>
          <a:xfrm>
            <a:off x="277793" y="1261641"/>
            <a:ext cx="8507392" cy="471089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6"/>
          <p:cNvSpPr>
            <a:spLocks noGrp="1" noChangeArrowheads="1"/>
          </p:cNvSpPr>
          <p:nvPr>
            <p:ph type="dt" sz="half" idx="10"/>
          </p:nvPr>
        </p:nvSpPr>
        <p:spPr/>
        <p:txBody>
          <a:bodyPr/>
          <a:lstStyle>
            <a:lvl1pPr>
              <a:defRPr/>
            </a:lvl1pPr>
          </a:lstStyle>
          <a:p>
            <a:pPr>
              <a:defRPr/>
            </a:pPr>
            <a:fld id="{0216F3D1-A426-4D93-9EBD-39286A90DF5D}" type="datetime3">
              <a:rPr lang="zh-CN" altLang="en-US"/>
              <a:t>2026年3月4日星期三</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a:p>
        </p:txBody>
      </p:sp>
      <p:sp>
        <p:nvSpPr>
          <p:cNvPr id="3" name="Text Box 5"/>
          <p:cNvSpPr txBox="1">
            <a:spLocks noChangeArrowheads="1"/>
          </p:cNvSpPr>
          <p:nvPr userDrawn="1"/>
        </p:nvSpPr>
        <p:spPr bwMode="auto">
          <a:xfrm>
            <a:off x="0" y="0"/>
            <a:ext cx="9144000" cy="45593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defRPr/>
            </a:pPr>
            <a:r>
              <a:rPr lang="en-US" altLang="zh-CN" dirty="0">
                <a:solidFill>
                  <a:schemeClr val="bg1"/>
                </a:solidFill>
                <a:latin typeface="Verdana" panose="020B060403050404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信号与系统                         第一章  绪论</a:t>
            </a:r>
          </a:p>
        </p:txBody>
      </p:sp>
      <p:sp>
        <p:nvSpPr>
          <p:cNvPr id="4" name="日期占位符 1"/>
          <p:cNvSpPr>
            <a:spLocks noGrp="1"/>
          </p:cNvSpPr>
          <p:nvPr>
            <p:ph type="dt" sz="half" idx="10"/>
          </p:nvPr>
        </p:nvSpPr>
        <p:spPr/>
        <p:txBody>
          <a:bodyPr/>
          <a:lstStyle>
            <a:lvl1pPr>
              <a:defRPr/>
            </a:lvl1pPr>
          </a:lstStyle>
          <a:p>
            <a:pPr>
              <a:defRPr/>
            </a:pPr>
            <a:fld id="{27C8A6B2-D094-48E1-9C0A-ADD302788664}" type="datetime3">
              <a:rPr lang="zh-CN" altLang="en-US"/>
              <a:t>2026年3月4日星期三</a:t>
            </a:fld>
            <a:endParaRPr lang="en-US" altLang="zh-CN"/>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6" name="矩形 5"/>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a:p>
        </p:txBody>
      </p:sp>
      <p:sp>
        <p:nvSpPr>
          <p:cNvPr id="7" name="Text Box 5"/>
          <p:cNvSpPr txBox="1">
            <a:spLocks noChangeArrowheads="1"/>
          </p:cNvSpPr>
          <p:nvPr userDrawn="1"/>
        </p:nvSpPr>
        <p:spPr bwMode="auto">
          <a:xfrm>
            <a:off x="0" y="0"/>
            <a:ext cx="9144000" cy="45593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defRPr/>
            </a:pPr>
            <a:r>
              <a:rPr lang="en-US" altLang="zh-CN" dirty="0">
                <a:solidFill>
                  <a:schemeClr val="bg1"/>
                </a:solidFill>
                <a:latin typeface="Verdana" panose="020B060403050404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信号与系统                          第一章  绪论</a:t>
            </a:r>
          </a:p>
        </p:txBody>
      </p:sp>
      <p:sp>
        <p:nvSpPr>
          <p:cNvPr id="2" name="标题 1"/>
          <p:cNvSpPr>
            <a:spLocks noGrp="1"/>
          </p:cNvSpPr>
          <p:nvPr>
            <p:ph type="title"/>
          </p:nvPr>
        </p:nvSpPr>
        <p:spPr>
          <a:xfrm>
            <a:off x="686889" y="610362"/>
            <a:ext cx="7770223"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6889" y="1981963"/>
            <a:ext cx="3832860" cy="411365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4252" y="1981963"/>
            <a:ext cx="3832860" cy="200139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4252" y="4093083"/>
            <a:ext cx="3832860" cy="200253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日期占位符 5"/>
          <p:cNvSpPr>
            <a:spLocks noGrp="1"/>
          </p:cNvSpPr>
          <p:nvPr>
            <p:ph type="dt" sz="half" idx="10"/>
          </p:nvPr>
        </p:nvSpPr>
        <p:spPr>
          <a:xfrm>
            <a:off x="0" y="6400800"/>
            <a:ext cx="1905000" cy="457200"/>
          </a:xfrm>
        </p:spPr>
        <p:txBody>
          <a:bodyPr/>
          <a:lstStyle>
            <a:lvl1pPr>
              <a:defRPr/>
            </a:lvl1pPr>
          </a:lstStyle>
          <a:p>
            <a:pPr>
              <a:defRPr/>
            </a:pPr>
            <a:fld id="{A7CEADE0-F6FE-4592-A799-0AF2A78D1D59}" type="datetime3">
              <a:rPr lang="zh-CN" altLang="en-US"/>
              <a:t>2026年3月4日星期三</a:t>
            </a:fld>
            <a:endParaRPr lang="en-US" altLang="zh-CN" dirty="0"/>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6" name="矩形 5"/>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a:p>
        </p:txBody>
      </p:sp>
      <p:sp>
        <p:nvSpPr>
          <p:cNvPr id="7" name="Text Box 5"/>
          <p:cNvSpPr txBox="1">
            <a:spLocks noChangeArrowheads="1"/>
          </p:cNvSpPr>
          <p:nvPr userDrawn="1"/>
        </p:nvSpPr>
        <p:spPr bwMode="auto">
          <a:xfrm>
            <a:off x="0" y="0"/>
            <a:ext cx="9144000" cy="45593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defRPr/>
            </a:pPr>
            <a:r>
              <a:rPr lang="en-US" altLang="zh-CN" dirty="0">
                <a:solidFill>
                  <a:schemeClr val="bg1"/>
                </a:solidFill>
                <a:latin typeface="Verdana" panose="020B060403050404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信号与系统                         第一章  绪论</a:t>
            </a:r>
          </a:p>
        </p:txBody>
      </p:sp>
      <p:sp>
        <p:nvSpPr>
          <p:cNvPr id="2" name="标题 1"/>
          <p:cNvSpPr>
            <a:spLocks noGrp="1"/>
          </p:cNvSpPr>
          <p:nvPr>
            <p:ph type="title"/>
          </p:nvPr>
        </p:nvSpPr>
        <p:spPr>
          <a:xfrm>
            <a:off x="686889" y="610362"/>
            <a:ext cx="7770223" cy="1143000"/>
          </a:xfrm>
        </p:spPr>
        <p:txBody>
          <a:bodyPr/>
          <a:lstStyle/>
          <a:p>
            <a:r>
              <a:rPr lang="zh-CN" altLang="en-US"/>
              <a:t>单击此处编辑母版标题样式</a:t>
            </a:r>
          </a:p>
        </p:txBody>
      </p:sp>
      <p:sp>
        <p:nvSpPr>
          <p:cNvPr id="3" name="内容占位符 2"/>
          <p:cNvSpPr>
            <a:spLocks noGrp="1"/>
          </p:cNvSpPr>
          <p:nvPr>
            <p:ph sz="half" idx="1"/>
          </p:nvPr>
        </p:nvSpPr>
        <p:spPr>
          <a:xfrm>
            <a:off x="686889" y="1981963"/>
            <a:ext cx="3832860" cy="411365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4252" y="1981963"/>
            <a:ext cx="3832860" cy="200139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4252" y="4093083"/>
            <a:ext cx="3832860" cy="200253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5"/>
          <p:cNvSpPr>
            <a:spLocks noGrp="1"/>
          </p:cNvSpPr>
          <p:nvPr>
            <p:ph type="dt" sz="half" idx="10"/>
          </p:nvPr>
        </p:nvSpPr>
        <p:spPr>
          <a:xfrm>
            <a:off x="477838" y="6400800"/>
            <a:ext cx="1905000" cy="457200"/>
          </a:xfrm>
        </p:spPr>
        <p:txBody>
          <a:bodyPr/>
          <a:lstStyle>
            <a:lvl1pPr>
              <a:defRPr/>
            </a:lvl1pPr>
          </a:lstStyle>
          <a:p>
            <a:pPr>
              <a:defRPr/>
            </a:pPr>
            <a:fld id="{923FF49C-A93B-4CDE-8932-F6C15EBA8CE5}" type="datetime3">
              <a:rPr lang="zh-CN" altLang="en-US"/>
              <a:t>2026年3月4日星期三</a:t>
            </a:fld>
            <a:endParaRPr lang="en-US" altLang="zh-CN" dirty="0"/>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8"/>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611188" y="1484313"/>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1029"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6614" name="Rectangle 6"/>
          <p:cNvSpPr>
            <a:spLocks noGrp="1" noChangeArrowheads="1"/>
          </p:cNvSpPr>
          <p:nvPr>
            <p:ph type="dt" sz="half" idx="2"/>
          </p:nvPr>
        </p:nvSpPr>
        <p:spPr bwMode="auto">
          <a:xfrm>
            <a:off x="0" y="6581775"/>
            <a:ext cx="1862138" cy="276225"/>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FontTx/>
              <a:buNone/>
              <a:defRPr sz="1200" b="1">
                <a:latin typeface="+mn-lt"/>
                <a:ea typeface="+mj-ea"/>
              </a:defRPr>
            </a:lvl1pPr>
          </a:lstStyle>
          <a:p>
            <a:pPr>
              <a:defRPr/>
            </a:pPr>
            <a:fld id="{C11FBB1E-5FAE-42DA-99E9-EACE70A4BA07}" type="datetime3">
              <a:rPr lang="zh-CN" altLang="en-US"/>
              <a:t>2026年3月4日星期三</a:t>
            </a:fld>
            <a:endParaRPr lang="zh-CN" altLang="en-US" dirty="0"/>
          </a:p>
        </p:txBody>
      </p:sp>
      <p:pic>
        <p:nvPicPr>
          <p:cNvPr id="1031" name="图片 9"/>
          <p:cNvPicPr>
            <a:picLocks noChangeAspect="1" noChangeArrowheads="1"/>
          </p:cNvPicPr>
          <p:nvPr userDrawn="1"/>
        </p:nvPicPr>
        <p:blipFill>
          <a:blip r:embed="rId9">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3030538" y="6581775"/>
            <a:ext cx="2055812" cy="273050"/>
          </a:xfrm>
          <a:prstGeom prst="rect">
            <a:avLst/>
          </a:prstGeom>
          <a:noFill/>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dirty="0">
                <a:latin typeface="宋体" panose="02010600030101010101" pitchFamily="2" charset="-122"/>
                <a:ea typeface="宋体" panose="02010600030101010101" pitchFamily="2" charset="-122"/>
              </a:rPr>
              <a:t>第</a:t>
            </a:r>
            <a:r>
              <a:rPr lang="en-US" altLang="zh-CN" sz="1400" dirty="0">
                <a:latin typeface="宋体" panose="02010600030101010101" pitchFamily="2" charset="-122"/>
                <a:ea typeface="宋体" panose="02010600030101010101" pitchFamily="2" charset="-122"/>
              </a:rPr>
              <a:t>1</a:t>
            </a:r>
            <a:r>
              <a:rPr lang="zh-CN" altLang="en-US" sz="1400" dirty="0">
                <a:latin typeface="宋体" panose="02010600030101010101" pitchFamily="2" charset="-122"/>
                <a:ea typeface="宋体" panose="02010600030101010101" pitchFamily="2" charset="-122"/>
              </a:rPr>
              <a:t>章 绪论</a:t>
            </a:r>
            <a:r>
              <a:rPr lang="en-US" altLang="zh-CN" sz="1400" dirty="0">
                <a:latin typeface="宋体" panose="02010600030101010101" pitchFamily="2" charset="-122"/>
                <a:ea typeface="宋体" panose="02010600030101010101" pitchFamily="2" charset="-122"/>
              </a:rPr>
              <a:t>--</a:t>
            </a:r>
            <a:fld id="{859A7700-D792-4656-B893-582AA9D73994}" type="slidenum">
              <a:rPr lang="zh-CN" altLang="en-US" sz="1400" dirty="0" smtClean="0">
                <a:latin typeface="宋体" panose="02010600030101010101" pitchFamily="2" charset="-122"/>
                <a:ea typeface="宋体" panose="02010600030101010101" pitchFamily="2" charset="-122"/>
              </a:rPr>
              <a:t>‹#›</a:t>
            </a:fld>
            <a:r>
              <a:rPr lang="en-US" altLang="zh-CN" sz="1400" dirty="0">
                <a:latin typeface="宋体" panose="02010600030101010101" pitchFamily="2" charset="-122"/>
                <a:ea typeface="宋体" panose="02010600030101010101" pitchFamily="2" charset="-122"/>
              </a:rPr>
              <a:t>/91</a:t>
            </a:r>
            <a:endParaRPr lang="zh-CN" altLang="en-US" sz="1400" dirty="0">
              <a:latin typeface="宋体" panose="02010600030101010101" pitchFamily="2" charset="-122"/>
              <a:ea typeface="宋体" panose="02010600030101010101" pitchFamily="2" charset="-122"/>
            </a:endParaRPr>
          </a:p>
        </p:txBody>
      </p:sp>
      <p:sp>
        <p:nvSpPr>
          <p:cNvPr id="9" name="Text Box 5"/>
          <p:cNvSpPr txBox="1">
            <a:spLocks noChangeArrowheads="1"/>
          </p:cNvSpPr>
          <p:nvPr userDrawn="1"/>
        </p:nvSpPr>
        <p:spPr bwMode="auto">
          <a:xfrm>
            <a:off x="0" y="0"/>
            <a:ext cx="9144000" cy="45593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defRPr/>
            </a:pPr>
            <a:r>
              <a:rPr lang="en-US" altLang="zh-CN" dirty="0">
                <a:solidFill>
                  <a:schemeClr val="bg1"/>
                </a:solidFill>
                <a:latin typeface="Verdana" panose="020B0604030504040204" pitchFamily="34" charset="0"/>
                <a:ea typeface="宋体" panose="02010600030101010101" pitchFamily="2" charset="-122"/>
              </a:rPr>
              <a:t>  </a:t>
            </a:r>
            <a:r>
              <a:rPr lang="zh-CN" altLang="en-US" dirty="0">
                <a:solidFill>
                  <a:schemeClr val="bg1"/>
                </a:solidFill>
                <a:latin typeface="楷体_GB2312" pitchFamily="49" charset="-122"/>
                <a:ea typeface="楷体_GB2312" pitchFamily="49" charset="-122"/>
              </a:rPr>
              <a:t>信号与系统                         第一章  绪论</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zhaizjun@nwpu.edu.c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hyperlink" Target="&#32771;&#21220;&#34920;/2022&#26149;&#20449;&#21495;&#19982;&#31995;=&#31995;&#32479;&#20998;&#26512;&#32771;&#21220;&#34920;&#65288;20220110).xls" TargetMode="Externa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9.png"/><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notesSlide" Target="../notesSlides/notesSlide9.xml"/><Relationship Id="rId7" Type="http://schemas.openxmlformats.org/officeDocument/2006/relationships/image" Target="../media/image22.png"/><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 Target="slide31.xml"/><Relationship Id="rId7" Type="http://schemas.openxmlformats.org/officeDocument/2006/relationships/slide" Target="slide86.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slide" Target="slide85.xml"/><Relationship Id="rId5" Type="http://schemas.openxmlformats.org/officeDocument/2006/relationships/slide" Target="slide38.xml"/><Relationship Id="rId10" Type="http://schemas.openxmlformats.org/officeDocument/2006/relationships/image" Target="../media/image26.GIF"/><Relationship Id="rId4" Type="http://schemas.openxmlformats.org/officeDocument/2006/relationships/slide" Target="slide47.xml"/><Relationship Id="rId9" Type="http://schemas.openxmlformats.org/officeDocument/2006/relationships/slide" Target="slide15.xml"/></Relationships>
</file>

<file path=ppt/slides/_rels/slide27.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7.wmf"/></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8.w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24.xml"/><Relationship Id="rId5" Type="http://schemas.openxmlformats.org/officeDocument/2006/relationships/image" Target="../media/image30.wmf"/><Relationship Id="rId4" Type="http://schemas.openxmlformats.org/officeDocument/2006/relationships/image" Target="../media/image29.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32.wmf"/><Relationship Id="rId2" Type="http://schemas.openxmlformats.org/officeDocument/2006/relationships/tags" Target="../tags/tag25.xml"/><Relationship Id="rId1" Type="http://schemas.openxmlformats.org/officeDocument/2006/relationships/vmlDrawing" Target="../drawings/vmlDrawing3.vml"/><Relationship Id="rId6" Type="http://schemas.openxmlformats.org/officeDocument/2006/relationships/image" Target="../media/image31.wmf"/><Relationship Id="rId5" Type="http://schemas.openxmlformats.org/officeDocument/2006/relationships/oleObject" Target="../embeddings/oleObject3.bin"/><Relationship Id="rId4"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8.wmf"/><Relationship Id="rId2" Type="http://schemas.openxmlformats.org/officeDocument/2006/relationships/tags" Target="../tags/tag27.xml"/><Relationship Id="rId1" Type="http://schemas.openxmlformats.org/officeDocument/2006/relationships/vmlDrawing" Target="../drawings/vmlDrawing4.vml"/><Relationship Id="rId6" Type="http://schemas.openxmlformats.org/officeDocument/2006/relationships/image" Target="../media/image37.wmf"/><Relationship Id="rId5" Type="http://schemas.openxmlformats.org/officeDocument/2006/relationships/oleObject" Target="../embeddings/oleObject4.bin"/><Relationship Id="rId4"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44.png"/><Relationship Id="rId2" Type="http://schemas.openxmlformats.org/officeDocument/2006/relationships/slideLayout" Target="../slideLayouts/slideLayout5.xml"/><Relationship Id="rId1" Type="http://schemas.openxmlformats.org/officeDocument/2006/relationships/tags" Target="../tags/tag28.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notesSlide" Target="../notesSlides/notesSlide37.xml"/><Relationship Id="rId7" Type="http://schemas.openxmlformats.org/officeDocument/2006/relationships/image" Target="../media/image50.png"/><Relationship Id="rId2" Type="http://schemas.openxmlformats.org/officeDocument/2006/relationships/slideLayout" Target="../slideLayouts/slideLayout5.xml"/><Relationship Id="rId1" Type="http://schemas.openxmlformats.org/officeDocument/2006/relationships/tags" Target="../tags/tag29.xml"/><Relationship Id="rId6" Type="http://schemas.openxmlformats.org/officeDocument/2006/relationships/image" Target="../media/image49.png"/><Relationship Id="rId11" Type="http://schemas.openxmlformats.org/officeDocument/2006/relationships/image" Target="../media/image3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4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slideLayout" Target="../slideLayouts/slideLayout2.xml"/><Relationship Id="rId7" Type="http://schemas.openxmlformats.org/officeDocument/2006/relationships/image" Target="../media/image39.emf"/><Relationship Id="rId2" Type="http://schemas.openxmlformats.org/officeDocument/2006/relationships/tags" Target="../tags/tag30.xml"/><Relationship Id="rId1" Type="http://schemas.openxmlformats.org/officeDocument/2006/relationships/vmlDrawing" Target="../drawings/vmlDrawing5.vml"/><Relationship Id="rId6" Type="http://schemas.openxmlformats.org/officeDocument/2006/relationships/oleObject" Target="../embeddings/oleObject5.bin"/><Relationship Id="rId5" Type="http://schemas.openxmlformats.org/officeDocument/2006/relationships/image" Target="../media/image55.png"/><Relationship Id="rId4" Type="http://schemas.openxmlformats.org/officeDocument/2006/relationships/notesSlide" Target="../notesSlides/notesSlide38.xml"/><Relationship Id="rId9" Type="http://schemas.openxmlformats.org/officeDocument/2006/relationships/image" Target="../media/image54.png"/></Relationships>
</file>

<file path=ppt/slides/_rels/slide47.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notesSlide" Target="../notesSlides/notesSlide39.xml"/><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48.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10.bin"/><Relationship Id="rId3" Type="http://schemas.openxmlformats.org/officeDocument/2006/relationships/slideLayout" Target="../slideLayouts/slideLayout5.xml"/><Relationship Id="rId7" Type="http://schemas.openxmlformats.org/officeDocument/2006/relationships/oleObject" Target="../embeddings/oleObject7.bin"/><Relationship Id="rId12" Type="http://schemas.openxmlformats.org/officeDocument/2006/relationships/image" Target="../media/image58.wmf"/><Relationship Id="rId2" Type="http://schemas.openxmlformats.org/officeDocument/2006/relationships/tags" Target="../tags/tag32.xml"/><Relationship Id="rId16" Type="http://schemas.openxmlformats.org/officeDocument/2006/relationships/image" Target="../media/image60.wmf"/><Relationship Id="rId1" Type="http://schemas.openxmlformats.org/officeDocument/2006/relationships/vmlDrawing" Target="../drawings/vmlDrawing6.vml"/><Relationship Id="rId6" Type="http://schemas.openxmlformats.org/officeDocument/2006/relationships/image" Target="../media/image55.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57.wmf"/><Relationship Id="rId4" Type="http://schemas.openxmlformats.org/officeDocument/2006/relationships/notesSlide" Target="../notesSlides/notesSlide40.xml"/><Relationship Id="rId9" Type="http://schemas.openxmlformats.org/officeDocument/2006/relationships/oleObject" Target="../embeddings/oleObject8.bin"/><Relationship Id="rId14" Type="http://schemas.openxmlformats.org/officeDocument/2006/relationships/image" Target="../media/image59.wmf"/></Relationships>
</file>

<file path=ppt/slides/_rels/slide49.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63.emf"/><Relationship Id="rId3" Type="http://schemas.openxmlformats.org/officeDocument/2006/relationships/slideLayout" Target="../slideLayouts/slideLayout6.xml"/><Relationship Id="rId7" Type="http://schemas.openxmlformats.org/officeDocument/2006/relationships/image" Target="../media/image78.png"/><Relationship Id="rId12" Type="http://schemas.openxmlformats.org/officeDocument/2006/relationships/oleObject" Target="../embeddings/oleObject14.bin"/><Relationship Id="rId2" Type="http://schemas.openxmlformats.org/officeDocument/2006/relationships/tags" Target="../tags/tag33.xml"/><Relationship Id="rId16" Type="http://schemas.openxmlformats.org/officeDocument/2006/relationships/image" Target="../media/image64.emf"/><Relationship Id="rId1" Type="http://schemas.openxmlformats.org/officeDocument/2006/relationships/vmlDrawing" Target="../drawings/vmlDrawing7.vml"/><Relationship Id="rId6" Type="http://schemas.openxmlformats.org/officeDocument/2006/relationships/image" Target="../media/image61.emf"/><Relationship Id="rId11" Type="http://schemas.openxmlformats.org/officeDocument/2006/relationships/image" Target="../media/image81.png"/><Relationship Id="rId5" Type="http://schemas.openxmlformats.org/officeDocument/2006/relationships/oleObject" Target="../embeddings/oleObject12.bin"/><Relationship Id="rId15" Type="http://schemas.openxmlformats.org/officeDocument/2006/relationships/oleObject" Target="../embeddings/oleObject15.bin"/><Relationship Id="rId10" Type="http://schemas.openxmlformats.org/officeDocument/2006/relationships/image" Target="../media/image62.emf"/><Relationship Id="rId4" Type="http://schemas.openxmlformats.org/officeDocument/2006/relationships/notesSlide" Target="../notesSlides/notesSlide41.xml"/><Relationship Id="rId9" Type="http://schemas.openxmlformats.org/officeDocument/2006/relationships/oleObject" Target="../embeddings/oleObject13.bin"/><Relationship Id="rId14" Type="http://schemas.openxmlformats.org/officeDocument/2006/relationships/image" Target="../media/image83.png"/></Relationships>
</file>

<file path=ppt/slides/_rels/slide50.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65.emf"/><Relationship Id="rId3" Type="http://schemas.openxmlformats.org/officeDocument/2006/relationships/slideLayout" Target="../slideLayouts/slideLayout6.xml"/><Relationship Id="rId7" Type="http://schemas.openxmlformats.org/officeDocument/2006/relationships/image" Target="../media/image63.emf"/><Relationship Id="rId12" Type="http://schemas.openxmlformats.org/officeDocument/2006/relationships/oleObject" Target="../embeddings/oleObject18.bin"/><Relationship Id="rId2" Type="http://schemas.openxmlformats.org/officeDocument/2006/relationships/tags" Target="../tags/tag34.xml"/><Relationship Id="rId16" Type="http://schemas.openxmlformats.org/officeDocument/2006/relationships/image" Target="../media/image89.png"/><Relationship Id="rId1" Type="http://schemas.openxmlformats.org/officeDocument/2006/relationships/vmlDrawing" Target="../drawings/vmlDrawing8.vml"/><Relationship Id="rId6" Type="http://schemas.openxmlformats.org/officeDocument/2006/relationships/oleObject" Target="../embeddings/oleObject16.bin"/><Relationship Id="rId11" Type="http://schemas.openxmlformats.org/officeDocument/2006/relationships/image" Target="../media/image81.png"/><Relationship Id="rId5" Type="http://schemas.openxmlformats.org/officeDocument/2006/relationships/image" Target="../media/image85.png"/><Relationship Id="rId15" Type="http://schemas.openxmlformats.org/officeDocument/2006/relationships/image" Target="../media/image66.emf"/><Relationship Id="rId10" Type="http://schemas.openxmlformats.org/officeDocument/2006/relationships/image" Target="../media/image62.emf"/><Relationship Id="rId4" Type="http://schemas.openxmlformats.org/officeDocument/2006/relationships/notesSlide" Target="../notesSlides/notesSlide42.xml"/><Relationship Id="rId9" Type="http://schemas.openxmlformats.org/officeDocument/2006/relationships/oleObject" Target="../embeddings/oleObject17.bin"/><Relationship Id="rId14" Type="http://schemas.openxmlformats.org/officeDocument/2006/relationships/oleObject" Target="../embeddings/oleObject19.bin"/></Relationships>
</file>

<file path=ppt/slides/_rels/slide51.xml.rels><?xml version="1.0" encoding="UTF-8" standalone="yes"?>
<Relationships xmlns="http://schemas.openxmlformats.org/package/2006/relationships"><Relationship Id="rId3" Type="http://schemas.openxmlformats.org/officeDocument/2006/relationships/hyperlink" Target="&#32771;&#21220;&#34920;/2022&#26149;&#20449;&#21495;&#19982;&#31995;=&#31995;&#32479;&#20998;&#26512;&#32771;&#21220;&#34920;&#65288;20220110).xls" TargetMode="External"/><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52.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54.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notesSlide" Target="../notesSlides/notesSlide45.xml"/><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tags" Target="../tags/tag37.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71.png"/></Relationships>
</file>

<file path=ppt/slides/_rels/slide57.xml.rels><?xml version="1.0" encoding="UTF-8" standalone="yes"?>
<Relationships xmlns="http://schemas.openxmlformats.org/package/2006/relationships"><Relationship Id="rId3" Type="http://schemas.openxmlformats.org/officeDocument/2006/relationships/slide" Target="slide30.xml"/><Relationship Id="rId7" Type="http://schemas.openxmlformats.org/officeDocument/2006/relationships/slide" Target="slide74.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68.xml"/><Relationship Id="rId4" Type="http://schemas.openxmlformats.org/officeDocument/2006/relationships/slide" Target="slide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0.xml"/><Relationship Id="rId7" Type="http://schemas.openxmlformats.org/officeDocument/2006/relationships/image" Target="../media/image94.png"/><Relationship Id="rId2" Type="http://schemas.openxmlformats.org/officeDocument/2006/relationships/slideLayout" Target="../slideLayouts/slideLayout5.xml"/><Relationship Id="rId1" Type="http://schemas.openxmlformats.org/officeDocument/2006/relationships/tags" Target="../tags/tag40.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1.xml"/><Relationship Id="rId7" Type="http://schemas.openxmlformats.org/officeDocument/2006/relationships/image" Target="../media/image96.png"/><Relationship Id="rId2" Type="http://schemas.openxmlformats.org/officeDocument/2006/relationships/slideLayout" Target="../slideLayouts/slideLayout5.xml"/><Relationship Id="rId1" Type="http://schemas.openxmlformats.org/officeDocument/2006/relationships/tags" Target="../tags/tag4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1.png"/></Relationships>
</file>

<file path=ppt/slides/_rels/slide61.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notesSlide" Target="../notesSlides/notesSlide52.xml"/><Relationship Id="rId7" Type="http://schemas.openxmlformats.org/officeDocument/2006/relationships/image" Target="../media/image99.png"/><Relationship Id="rId2" Type="http://schemas.openxmlformats.org/officeDocument/2006/relationships/slideLayout" Target="../slideLayouts/slideLayout5.xml"/><Relationship Id="rId1" Type="http://schemas.openxmlformats.org/officeDocument/2006/relationships/tags" Target="../tags/tag4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1.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3.xml"/><Relationship Id="rId7" Type="http://schemas.openxmlformats.org/officeDocument/2006/relationships/image" Target="../media/image102.png"/><Relationship Id="rId2" Type="http://schemas.openxmlformats.org/officeDocument/2006/relationships/slideLayout" Target="../slideLayouts/slideLayout5.xml"/><Relationship Id="rId1" Type="http://schemas.openxmlformats.org/officeDocument/2006/relationships/tags" Target="../tags/tag43.xml"/><Relationship Id="rId6" Type="http://schemas.openxmlformats.org/officeDocument/2006/relationships/image" Target="../media/image101.png"/><Relationship Id="rId5" Type="http://schemas.openxmlformats.org/officeDocument/2006/relationships/image" Target="../media/image94.png"/><Relationship Id="rId4" Type="http://schemas.openxmlformats.org/officeDocument/2006/relationships/image" Target="../media/image91.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4.xml"/><Relationship Id="rId7" Type="http://schemas.openxmlformats.org/officeDocument/2006/relationships/image" Target="../media/image104.png"/><Relationship Id="rId2" Type="http://schemas.openxmlformats.org/officeDocument/2006/relationships/slideLayout" Target="../slideLayouts/slideLayout5.xml"/><Relationship Id="rId1" Type="http://schemas.openxmlformats.org/officeDocument/2006/relationships/tags" Target="../tags/tag44.xml"/><Relationship Id="rId6" Type="http://schemas.openxmlformats.org/officeDocument/2006/relationships/image" Target="../media/image103.png"/><Relationship Id="rId5" Type="http://schemas.openxmlformats.org/officeDocument/2006/relationships/image" Target="../media/image94.png"/><Relationship Id="rId4" Type="http://schemas.openxmlformats.org/officeDocument/2006/relationships/image" Target="../media/image91.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5.xml"/><Relationship Id="rId7" Type="http://schemas.openxmlformats.org/officeDocument/2006/relationships/image" Target="../media/image106.png"/><Relationship Id="rId2" Type="http://schemas.openxmlformats.org/officeDocument/2006/relationships/slideLayout" Target="../slideLayouts/slideLayout5.xml"/><Relationship Id="rId1" Type="http://schemas.openxmlformats.org/officeDocument/2006/relationships/tags" Target="../tags/tag45.xml"/><Relationship Id="rId6" Type="http://schemas.openxmlformats.org/officeDocument/2006/relationships/image" Target="../media/image105.png"/><Relationship Id="rId5" Type="http://schemas.openxmlformats.org/officeDocument/2006/relationships/image" Target="../media/image94.png"/><Relationship Id="rId4" Type="http://schemas.openxmlformats.org/officeDocument/2006/relationships/image" Target="../media/image91.png"/></Relationships>
</file>

<file path=ppt/slides/_rels/slide65.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notesSlide" Target="../notesSlides/notesSlide56.xml"/><Relationship Id="rId7" Type="http://schemas.openxmlformats.org/officeDocument/2006/relationships/image" Target="../media/image109.png"/><Relationship Id="rId2" Type="http://schemas.openxmlformats.org/officeDocument/2006/relationships/slideLayout" Target="../slideLayouts/slideLayout5.xml"/><Relationship Id="rId1" Type="http://schemas.openxmlformats.org/officeDocument/2006/relationships/tags" Target="../tags/tag46.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91.png"/><Relationship Id="rId9" Type="http://schemas.openxmlformats.org/officeDocument/2006/relationships/image" Target="../media/image111.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67.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notesSlide" Target="../notesSlides/notesSlide58.xml"/><Relationship Id="rId7" Type="http://schemas.openxmlformats.org/officeDocument/2006/relationships/image" Target="../media/image115.png"/><Relationship Id="rId2" Type="http://schemas.openxmlformats.org/officeDocument/2006/relationships/slideLayout" Target="../slideLayouts/slideLayout3.xml"/><Relationship Id="rId1" Type="http://schemas.openxmlformats.org/officeDocument/2006/relationships/tags" Target="../tags/tag48.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 Id="rId9" Type="http://schemas.openxmlformats.org/officeDocument/2006/relationships/image" Target="../media/image117.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120.png"/><Relationship Id="rId2" Type="http://schemas.openxmlformats.org/officeDocument/2006/relationships/slideLayout" Target="../slideLayouts/slideLayout5.xml"/><Relationship Id="rId1" Type="http://schemas.openxmlformats.org/officeDocument/2006/relationships/tags" Target="../tags/tag50.xml"/><Relationship Id="rId6" Type="http://schemas.openxmlformats.org/officeDocument/2006/relationships/image" Target="../media/image119.png"/><Relationship Id="rId5" Type="http://schemas.openxmlformats.org/officeDocument/2006/relationships/image" Target="../media/image92.png"/><Relationship Id="rId4" Type="http://schemas.openxmlformats.org/officeDocument/2006/relationships/image" Target="../media/image118.png"/></Relationships>
</file>

<file path=ppt/slides/_rels/slide70.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slideLayout" Target="../slideLayouts/slideLayout5.xml"/><Relationship Id="rId1" Type="http://schemas.openxmlformats.org/officeDocument/2006/relationships/tags" Target="../tags/tag51.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95.png"/></Relationships>
</file>

<file path=ppt/slides/_rels/slide7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slide" Target="slide39.xml"/><Relationship Id="rId7" Type="http://schemas.openxmlformats.org/officeDocument/2006/relationships/image" Target="../media/image130.png"/><Relationship Id="rId2" Type="http://schemas.openxmlformats.org/officeDocument/2006/relationships/slideLayout" Target="../slideLayouts/slideLayout5.xml"/><Relationship Id="rId1" Type="http://schemas.openxmlformats.org/officeDocument/2006/relationships/tags" Target="../tags/tag52.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73.png"/><Relationship Id="rId9" Type="http://schemas.openxmlformats.org/officeDocument/2006/relationships/image" Target="../media/image125.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75.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slideLayout" Target="../slideLayouts/slideLayout5.xml"/><Relationship Id="rId1" Type="http://schemas.openxmlformats.org/officeDocument/2006/relationships/tags" Target="../tags/tag54.xml"/><Relationship Id="rId5" Type="http://schemas.openxmlformats.org/officeDocument/2006/relationships/image" Target="../media/image134.png"/><Relationship Id="rId4" Type="http://schemas.openxmlformats.org/officeDocument/2006/relationships/image" Target="../media/image133.png"/></Relationships>
</file>

<file path=ppt/slides/_rels/slide7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slideLayout" Target="../slideLayouts/slideLayout5.xml"/><Relationship Id="rId1" Type="http://schemas.openxmlformats.org/officeDocument/2006/relationships/tags" Target="../tags/tag55.xml"/><Relationship Id="rId4" Type="http://schemas.openxmlformats.org/officeDocument/2006/relationships/image" Target="../media/image136.png"/></Relationships>
</file>

<file path=ppt/slides/_rels/slide7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slideLayout" Target="../slideLayouts/slideLayout5.xml"/><Relationship Id="rId1" Type="http://schemas.openxmlformats.org/officeDocument/2006/relationships/tags" Target="../tags/tag56.xml"/><Relationship Id="rId4" Type="http://schemas.openxmlformats.org/officeDocument/2006/relationships/image" Target="../media/image132.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71.png"/></Relationships>
</file>

<file path=ppt/slides/_rels/slide79.xml.rels><?xml version="1.0" encoding="UTF-8" standalone="yes"?>
<Relationships xmlns="http://schemas.openxmlformats.org/package/2006/relationships"><Relationship Id="rId3" Type="http://schemas.openxmlformats.org/officeDocument/2006/relationships/slide" Target="slide30.xml"/><Relationship Id="rId7" Type="http://schemas.openxmlformats.org/officeDocument/2006/relationships/slide" Target="slide74.xm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68.xml"/><Relationship Id="rId4" Type="http://schemas.openxmlformats.org/officeDocument/2006/relationships/slide" Target="slide39.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74.wmf"/></Relationships>
</file>

<file path=ppt/slides/_rels/slide8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Layout" Target="../slideLayouts/slideLayout2.xml"/><Relationship Id="rId1" Type="http://schemas.openxmlformats.org/officeDocument/2006/relationships/tags" Target="../tags/tag6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140.png"/></Relationships>
</file>

<file path=ppt/slides/_rels/slide89.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77.png"/><Relationship Id="rId2" Type="http://schemas.microsoft.com/office/2007/relationships/media" Target="../media/media1.m4a"/><Relationship Id="rId1" Type="http://schemas.openxmlformats.org/officeDocument/2006/relationships/tags" Target="../tags/tag63.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audio" Target="../media/media2.m4a"/><Relationship Id="rId7" Type="http://schemas.openxmlformats.org/officeDocument/2006/relationships/image" Target="../media/image148.png"/><Relationship Id="rId2" Type="http://schemas.microsoft.com/office/2007/relationships/media" Target="../media/media2.m4a"/><Relationship Id="rId1" Type="http://schemas.openxmlformats.org/officeDocument/2006/relationships/tags" Target="../tags/tag64.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slideLayout" Target="../slideLayouts/slideLayout2.xml"/><Relationship Id="rId9" Type="http://schemas.openxmlformats.org/officeDocument/2006/relationships/image" Target="../media/image77.png"/></Relationships>
</file>

<file path=ppt/slides/_rels/slide91.xml.rels><?xml version="1.0" encoding="UTF-8" standalone="yes"?>
<Relationships xmlns="http://schemas.openxmlformats.org/package/2006/relationships"><Relationship Id="rId3" Type="http://schemas.openxmlformats.org/officeDocument/2006/relationships/audio" Target="../media/media3.m4a"/><Relationship Id="rId2" Type="http://schemas.microsoft.com/office/2007/relationships/media" Target="../media/media3.m4a"/><Relationship Id="rId1" Type="http://schemas.openxmlformats.org/officeDocument/2006/relationships/tags" Target="../tags/tag65.xml"/><Relationship Id="rId5" Type="http://schemas.openxmlformats.org/officeDocument/2006/relationships/image" Target="../media/image77.png"/><Relationship Id="rId4"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77.png"/><Relationship Id="rId5" Type="http://schemas.openxmlformats.org/officeDocument/2006/relationships/image" Target="../media/image78.wmf"/><Relationship Id="rId4"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ChangeArrowheads="1"/>
          </p:cNvSpPr>
          <p:nvPr/>
        </p:nvSpPr>
        <p:spPr bwMode="auto">
          <a:xfrm>
            <a:off x="788879" y="3691338"/>
            <a:ext cx="6769100" cy="1420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lvl="1" eaLnBrk="1" hangingPunct="1"/>
            <a:r>
              <a:rPr kumimoji="1" lang="zh-CN" altLang="en-US" sz="3800" dirty="0">
                <a:solidFill>
                  <a:srgbClr val="333399"/>
                </a:solidFill>
                <a:latin typeface="Verdana" panose="020B0604030504040204" pitchFamily="34" charset="0"/>
              </a:rPr>
              <a:t>授  课  教  师：翟正军 教授</a:t>
            </a:r>
            <a:endParaRPr kumimoji="1" lang="en-US" altLang="zh-CN" sz="3800" dirty="0">
              <a:solidFill>
                <a:srgbClr val="333399"/>
              </a:solidFill>
              <a:latin typeface="Verdana" panose="020B0604030504040204" pitchFamily="34" charset="0"/>
            </a:endParaRPr>
          </a:p>
          <a:p>
            <a:pPr eaLnBrk="1" hangingPunct="1">
              <a:lnSpc>
                <a:spcPct val="85000"/>
              </a:lnSpc>
              <a:spcBef>
                <a:spcPct val="20000"/>
              </a:spcBef>
              <a:buClr>
                <a:schemeClr val="accent2"/>
              </a:buClr>
              <a:buFont typeface="Wingdings" panose="05000000000000000000" pitchFamily="2" charset="2"/>
              <a:buNone/>
            </a:pPr>
            <a:r>
              <a:rPr lang="en-US" altLang="zh-CN" sz="2000" dirty="0">
                <a:solidFill>
                  <a:srgbClr val="0000FF"/>
                </a:solidFill>
                <a:latin typeface="隶书" panose="02010509060101010101" pitchFamily="49" charset="-122"/>
                <a:ea typeface="宋体" panose="02010600030101010101" pitchFamily="2" charset="-122"/>
              </a:rPr>
              <a:t>     EMAIL:</a:t>
            </a:r>
            <a:r>
              <a:rPr lang="en-US" altLang="zh-CN" sz="2000" i="1" dirty="0">
                <a:solidFill>
                  <a:srgbClr val="0000FF"/>
                </a:solidFill>
                <a:latin typeface="隶书" panose="02010509060101010101" pitchFamily="49" charset="-122"/>
                <a:ea typeface="宋体" panose="02010600030101010101" pitchFamily="2" charset="-122"/>
              </a:rPr>
              <a:t> </a:t>
            </a:r>
            <a:r>
              <a:rPr lang="en-US" altLang="zh-CN" sz="2000" dirty="0">
                <a:solidFill>
                  <a:srgbClr val="0000FF"/>
                </a:solidFill>
                <a:latin typeface="隶书" panose="02010509060101010101" pitchFamily="49" charset="-122"/>
                <a:ea typeface="宋体" panose="02010600030101010101" pitchFamily="2" charset="-122"/>
                <a:hlinkClick r:id="rId4"/>
              </a:rPr>
              <a:t>zhaizjun@nwpu.edu.cn</a:t>
            </a:r>
            <a:endParaRPr lang="en-US" altLang="zh-CN" sz="2000" dirty="0">
              <a:solidFill>
                <a:srgbClr val="0000FF"/>
              </a:solidFill>
              <a:latin typeface="隶书" panose="02010509060101010101" pitchFamily="49" charset="-122"/>
              <a:ea typeface="宋体" panose="02010600030101010101" pitchFamily="2" charset="-122"/>
            </a:endParaRPr>
          </a:p>
          <a:p>
            <a:pPr eaLnBrk="1" hangingPunct="1">
              <a:lnSpc>
                <a:spcPct val="85000"/>
              </a:lnSpc>
              <a:spcBef>
                <a:spcPct val="20000"/>
              </a:spcBef>
              <a:buClr>
                <a:schemeClr val="accent2"/>
              </a:buClr>
              <a:buFont typeface="Wingdings" panose="05000000000000000000" pitchFamily="2" charset="2"/>
              <a:buNone/>
            </a:pPr>
            <a:endParaRPr lang="en-US" altLang="zh-CN" sz="600" dirty="0">
              <a:solidFill>
                <a:srgbClr val="0000FF"/>
              </a:solidFill>
              <a:latin typeface="隶书" panose="02010509060101010101" pitchFamily="49" charset="-122"/>
              <a:ea typeface="宋体" panose="02010600030101010101" pitchFamily="2" charset="-122"/>
            </a:endParaRPr>
          </a:p>
          <a:p>
            <a:pPr eaLnBrk="1" hangingPunct="1">
              <a:lnSpc>
                <a:spcPct val="85000"/>
              </a:lnSpc>
              <a:spcBef>
                <a:spcPct val="20000"/>
              </a:spcBef>
              <a:buClr>
                <a:schemeClr val="accent2"/>
              </a:buClr>
              <a:buFont typeface="Wingdings" panose="05000000000000000000" pitchFamily="2" charset="2"/>
              <a:buNone/>
            </a:pPr>
            <a:r>
              <a:rPr lang="en-US" altLang="zh-CN" sz="2000" dirty="0">
                <a:solidFill>
                  <a:srgbClr val="0000FF"/>
                </a:solidFill>
                <a:latin typeface="隶书" panose="02010509060101010101" pitchFamily="49" charset="-122"/>
                <a:ea typeface="宋体" panose="02010600030101010101" pitchFamily="2" charset="-122"/>
              </a:rPr>
              <a:t>     TEL</a:t>
            </a:r>
            <a:r>
              <a:rPr lang="zh-CN" altLang="en-US" sz="2000" dirty="0">
                <a:solidFill>
                  <a:srgbClr val="0000FF"/>
                </a:solidFill>
                <a:latin typeface="隶书" panose="02010509060101010101" pitchFamily="49" charset="-122"/>
                <a:ea typeface="宋体" panose="02010600030101010101" pitchFamily="2" charset="-122"/>
              </a:rPr>
              <a:t>：</a:t>
            </a:r>
            <a:r>
              <a:rPr lang="en-US" altLang="zh-CN" sz="2000" dirty="0">
                <a:solidFill>
                  <a:srgbClr val="0000FF"/>
                </a:solidFill>
                <a:latin typeface="隶书" panose="02010509060101010101" pitchFamily="49" charset="-122"/>
                <a:ea typeface="宋体" panose="02010600030101010101" pitchFamily="2" charset="-122"/>
              </a:rPr>
              <a:t>13909296241</a:t>
            </a:r>
            <a:endParaRPr kumimoji="1" lang="zh-CN" altLang="en-US" sz="3800" dirty="0">
              <a:solidFill>
                <a:srgbClr val="333399"/>
              </a:solidFill>
              <a:latin typeface="Verdana" panose="020B0604030504040204" pitchFamily="34" charset="0"/>
            </a:endParaRPr>
          </a:p>
        </p:txBody>
      </p:sp>
      <p:sp>
        <p:nvSpPr>
          <p:cNvPr id="9" name="日期占位符 8"/>
          <p:cNvSpPr>
            <a:spLocks noGrp="1"/>
          </p:cNvSpPr>
          <p:nvPr>
            <p:ph type="dt" sz="quarter" idx="10"/>
          </p:nvPr>
        </p:nvSpPr>
        <p:spPr/>
        <p:txBody>
          <a:bodyPr/>
          <a:lstStyle/>
          <a:p>
            <a:pPr>
              <a:defRPr/>
            </a:pPr>
            <a:fld id="{6C560FFF-F0BC-4341-B337-6DA25B866ECF}" type="datetime3">
              <a:rPr lang="zh-CN" altLang="en-US"/>
              <a:t>2026年3月4日星期三</a:t>
            </a:fld>
            <a:endParaRPr lang="zh-CN" altLang="en-US" dirty="0"/>
          </a:p>
        </p:txBody>
      </p:sp>
      <p:sp>
        <p:nvSpPr>
          <p:cNvPr id="7" name="WordArt 2"/>
          <p:cNvSpPr>
            <a:spLocks noChangeArrowheads="1" noChangeShapeType="1" noTextEdit="1"/>
          </p:cNvSpPr>
          <p:nvPr/>
        </p:nvSpPr>
        <p:spPr bwMode="auto">
          <a:xfrm>
            <a:off x="555625" y="849313"/>
            <a:ext cx="6172200" cy="1906587"/>
          </a:xfrm>
          <a:prstGeom prst="rect">
            <a:avLst/>
          </a:prstGeom>
        </p:spPr>
        <p:txBody>
          <a:bodyPr wrap="none" fromWordArt="1">
            <a:prstTxWarp prst="textPlain">
              <a:avLst>
                <a:gd name="adj" fmla="val 50000"/>
              </a:avLst>
            </a:prstTxWarp>
          </a:bodyPr>
          <a:lstStyle/>
          <a:p>
            <a:pPr algn="ctr"/>
            <a:r>
              <a:rPr lang="zh-CN" altLang="en-US" sz="2500" kern="10" dirty="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rPr>
              <a:t>信号与系统</a:t>
            </a:r>
          </a:p>
        </p:txBody>
      </p:sp>
    </p:spTree>
  </p:cSld>
  <p:clrMapOvr>
    <a:masterClrMapping/>
  </p:clrMapOvr>
  <p:transition spd="slow" advTm="2575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0" fill="hold"/>
                                        <p:tgtEl>
                                          <p:spTgt spid="7"/>
                                        </p:tgtEl>
                                        <p:attrNameLst>
                                          <p:attrName>ppt_w</p:attrName>
                                        </p:attrNameLst>
                                      </p:cBhvr>
                                      <p:tavLst>
                                        <p:tav tm="0" fmla="#ppt_w*sin(2.5*pi*$)">
                                          <p:val>
                                            <p:fltVal val="0"/>
                                          </p:val>
                                        </p:tav>
                                        <p:tav tm="100000">
                                          <p:val>
                                            <p:fltVal val="1"/>
                                          </p:val>
                                        </p:tav>
                                      </p:tavLst>
                                    </p:anim>
                                    <p:anim calcmode="lin" valueType="num">
                                      <p:cBhvr>
                                        <p:cTn id="8" dur="5000" fill="hold"/>
                                        <p:tgtEl>
                                          <p:spTgt spid="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2pPr>
            <a:lvl3pPr marL="9144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3pPr>
            <a:lvl4pPr marL="13716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4pPr>
            <a:lvl5pPr marL="18288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E3B1ED33-B098-4A18-864A-EACEB18F1648}" type="slidenum">
              <a:rPr lang="en-US" altLang="zh-CN" smtClean="0"/>
              <a:t>2</a:t>
            </a:fld>
            <a:endParaRPr lang="en-US" altLang="zh-CN" sz="1645"/>
          </a:p>
        </p:txBody>
      </p:sp>
      <p:sp>
        <p:nvSpPr>
          <p:cNvPr id="1495043" name="Rectangle 3"/>
          <p:cNvSpPr>
            <a:spLocks noGrp="1" noChangeArrowheads="1"/>
          </p:cNvSpPr>
          <p:nvPr>
            <p:ph idx="1"/>
          </p:nvPr>
        </p:nvSpPr>
        <p:spPr>
          <a:xfrm>
            <a:off x="342265" y="862330"/>
            <a:ext cx="8458835" cy="4443730"/>
          </a:xfrm>
          <a:solidFill>
            <a:schemeClr val="bg1"/>
          </a:solidFill>
          <a:ln w="57150">
            <a:solidFill>
              <a:srgbClr val="FF0000"/>
            </a:solidFill>
            <a:miter lim="800000"/>
          </a:ln>
          <a:effectLst>
            <a:prstShdw prst="shdw12">
              <a:srgbClr val="808080">
                <a:alpha val="50000"/>
              </a:srgbClr>
            </a:prstShdw>
          </a:effectLst>
        </p:spPr>
        <p:txBody>
          <a:bodyPr/>
          <a:lstStyle/>
          <a:p>
            <a:pPr marL="360680" indent="-360680" eaLnBrk="1" hangingPunct="1">
              <a:lnSpc>
                <a:spcPct val="155000"/>
              </a:lnSpc>
              <a:spcBef>
                <a:spcPts val="0"/>
              </a:spcBef>
              <a:buFont typeface="Wingdings" panose="05000000000000000000" pitchFamily="2" charset="2"/>
              <a:buChar char="u"/>
              <a:defRPr/>
            </a:pPr>
            <a:r>
              <a:rPr lang="zh-CN" altLang="en-US" sz="1920" dirty="0"/>
              <a:t>我们选用的教材是东南大学孟桥教授参与编写的</a:t>
            </a:r>
            <a:r>
              <a:rPr lang="en-US" altLang="zh-CN" sz="1920" dirty="0"/>
              <a:t>《</a:t>
            </a:r>
            <a:r>
              <a:rPr lang="zh-CN" altLang="en-US" sz="1920" dirty="0"/>
              <a:t>信号与线性系统</a:t>
            </a:r>
            <a:r>
              <a:rPr lang="en-US" altLang="zh-CN" sz="1920" dirty="0"/>
              <a:t>》</a:t>
            </a:r>
            <a:r>
              <a:rPr lang="zh-CN" altLang="en-US" sz="1920" dirty="0"/>
              <a:t>，除了课堂教授外，大家也可以在</a:t>
            </a:r>
            <a:r>
              <a:rPr lang="en-US" altLang="zh-CN" sz="1920" dirty="0"/>
              <a:t>MOOC</a:t>
            </a:r>
            <a:r>
              <a:rPr lang="zh-CN" altLang="en-US" sz="1920" dirty="0"/>
              <a:t>中学习孟桥教授主讲的材料。</a:t>
            </a:r>
            <a:endParaRPr lang="en-US" altLang="zh-CN" sz="1920" dirty="0"/>
          </a:p>
          <a:p>
            <a:pPr marL="360680" indent="-360680" eaLnBrk="1" hangingPunct="1">
              <a:lnSpc>
                <a:spcPct val="155000"/>
              </a:lnSpc>
              <a:spcBef>
                <a:spcPts val="0"/>
              </a:spcBef>
              <a:buFont typeface="Wingdings" panose="05000000000000000000" pitchFamily="2" charset="2"/>
              <a:buChar char="u"/>
              <a:defRPr/>
            </a:pPr>
            <a:r>
              <a:rPr lang="zh-CN" altLang="en-US" sz="1920" dirty="0"/>
              <a:t>教材电子版、我们上课的</a:t>
            </a:r>
            <a:r>
              <a:rPr lang="en-US" altLang="zh-CN" sz="1920" dirty="0"/>
              <a:t>PPT</a:t>
            </a:r>
            <a:r>
              <a:rPr lang="zh-CN" altLang="en-US" sz="1920" dirty="0"/>
              <a:t>课件会及时上传到了</a:t>
            </a:r>
            <a:r>
              <a:rPr lang="en-US" altLang="zh-CN" sz="1920" dirty="0">
                <a:solidFill>
                  <a:srgbClr val="0000FF"/>
                </a:solidFill>
              </a:rPr>
              <a:t>QQ</a:t>
            </a:r>
            <a:r>
              <a:rPr lang="zh-CN" altLang="en-US" sz="1920" dirty="0">
                <a:solidFill>
                  <a:srgbClr val="0000FF"/>
                </a:solidFill>
              </a:rPr>
              <a:t>群文件和学校的课程平台，</a:t>
            </a:r>
            <a:r>
              <a:rPr lang="zh-CN" altLang="en-US" sz="1920" dirty="0"/>
              <a:t>请同学们下载学习，</a:t>
            </a:r>
            <a:r>
              <a:rPr lang="zh-CN" altLang="en-US" sz="1920" dirty="0">
                <a:solidFill>
                  <a:srgbClr val="FF0000"/>
                </a:solidFill>
              </a:rPr>
              <a:t>但请千万不要外传，以免引起不必要的纠纷。</a:t>
            </a:r>
            <a:endParaRPr lang="en-US" altLang="zh-CN" sz="1920" dirty="0">
              <a:solidFill>
                <a:srgbClr val="FF0000"/>
              </a:solidFill>
            </a:endParaRPr>
          </a:p>
          <a:p>
            <a:pPr marL="360680" indent="-360680" eaLnBrk="1" hangingPunct="1">
              <a:lnSpc>
                <a:spcPct val="155000"/>
              </a:lnSpc>
              <a:spcBef>
                <a:spcPts val="0"/>
              </a:spcBef>
              <a:buFont typeface="Wingdings" panose="05000000000000000000" pitchFamily="2" charset="2"/>
              <a:buChar char="u"/>
              <a:defRPr/>
            </a:pPr>
            <a:r>
              <a:rPr lang="zh-CN" altLang="en-US" sz="2400" dirty="0">
                <a:solidFill>
                  <a:srgbClr val="FF0000"/>
                </a:solidFill>
              </a:rPr>
              <a:t>请大家一定按照课表时间安排，在每次上课前</a:t>
            </a:r>
            <a:r>
              <a:rPr lang="en-US" altLang="zh-CN" sz="2400" dirty="0">
                <a:solidFill>
                  <a:srgbClr val="FF0000"/>
                </a:solidFill>
              </a:rPr>
              <a:t>5</a:t>
            </a:r>
            <a:r>
              <a:rPr lang="zh-CN" altLang="en-US" sz="2400" dirty="0">
                <a:solidFill>
                  <a:srgbClr val="FF0000"/>
                </a:solidFill>
              </a:rPr>
              <a:t>分钟教室。</a:t>
            </a:r>
            <a:endParaRPr lang="en-US" altLang="zh-CN" sz="2400" dirty="0">
              <a:solidFill>
                <a:srgbClr val="FF0000"/>
              </a:solidFill>
            </a:endParaRPr>
          </a:p>
          <a:p>
            <a:pPr marL="360680" indent="-360680" eaLnBrk="1" hangingPunct="1">
              <a:lnSpc>
                <a:spcPct val="155000"/>
              </a:lnSpc>
              <a:spcBef>
                <a:spcPts val="0"/>
              </a:spcBef>
              <a:buFont typeface="Wingdings" panose="05000000000000000000" pitchFamily="2" charset="2"/>
              <a:buChar char="u"/>
              <a:defRPr/>
            </a:pPr>
            <a:r>
              <a:rPr lang="zh-CN" altLang="en-US" sz="2000" dirty="0"/>
              <a:t>我们将在课堂中</a:t>
            </a:r>
            <a:r>
              <a:rPr lang="zh-CN" altLang="en-US" sz="2400" dirty="0">
                <a:solidFill>
                  <a:srgbClr val="FF0000"/>
                </a:solidFill>
              </a:rPr>
              <a:t>随机点名</a:t>
            </a:r>
            <a:r>
              <a:rPr lang="zh-CN" altLang="en-US" sz="2000" dirty="0"/>
              <a:t>回答问题，这些都要</a:t>
            </a:r>
            <a:r>
              <a:rPr lang="zh-CN" altLang="en-US" sz="2400" dirty="0">
                <a:solidFill>
                  <a:srgbClr val="FF0000"/>
                </a:solidFill>
              </a:rPr>
              <a:t>计入课堂和平时成绩的。</a:t>
            </a:r>
            <a:endParaRPr lang="en-US" altLang="zh-CN" sz="2400" dirty="0">
              <a:solidFill>
                <a:srgbClr val="FF0000"/>
              </a:solidFill>
            </a:endParaRPr>
          </a:p>
          <a:p>
            <a:pPr marL="360680" indent="-360680" eaLnBrk="1" hangingPunct="1">
              <a:lnSpc>
                <a:spcPct val="155000"/>
              </a:lnSpc>
              <a:spcBef>
                <a:spcPts val="0"/>
              </a:spcBef>
              <a:buFont typeface="Wingdings" panose="05000000000000000000" pitchFamily="2" charset="2"/>
              <a:buChar char="u"/>
              <a:defRPr/>
            </a:pPr>
            <a:r>
              <a:rPr lang="zh-CN" altLang="en-US" sz="2400" dirty="0">
                <a:solidFill>
                  <a:srgbClr val="FF0000"/>
                </a:solidFill>
              </a:rPr>
              <a:t>我们通过</a:t>
            </a:r>
            <a:r>
              <a:rPr lang="en-US" altLang="zh-CN" sz="2400" dirty="0">
                <a:solidFill>
                  <a:srgbClr val="FF0000"/>
                </a:solidFill>
              </a:rPr>
              <a:t>QQ</a:t>
            </a:r>
            <a:r>
              <a:rPr lang="zh-CN" altLang="en-US" sz="2400" dirty="0">
                <a:solidFill>
                  <a:srgbClr val="FF0000"/>
                </a:solidFill>
              </a:rPr>
              <a:t>群和增加讨论时间，</a:t>
            </a:r>
            <a:r>
              <a:rPr lang="zh-CN" altLang="en-US" sz="2400" dirty="0"/>
              <a:t>请大家有问题及时提问。</a:t>
            </a:r>
            <a:endParaRPr lang="en-US" altLang="zh-CN" sz="2400" dirty="0"/>
          </a:p>
          <a:p>
            <a:pPr marL="360680" indent="-360680" eaLnBrk="1" hangingPunct="1">
              <a:lnSpc>
                <a:spcPct val="155000"/>
              </a:lnSpc>
              <a:spcBef>
                <a:spcPts val="0"/>
              </a:spcBef>
              <a:buFont typeface="Wingdings" panose="05000000000000000000" pitchFamily="2" charset="2"/>
              <a:buChar char="u"/>
              <a:defRPr/>
            </a:pPr>
            <a:endParaRPr lang="en-US" altLang="zh-CN" sz="1920" dirty="0"/>
          </a:p>
          <a:p>
            <a:pPr marL="0" indent="0" eaLnBrk="1" hangingPunct="1">
              <a:lnSpc>
                <a:spcPct val="155000"/>
              </a:lnSpc>
              <a:spcBef>
                <a:spcPts val="0"/>
              </a:spcBef>
              <a:buFont typeface="Wingdings" panose="05000000000000000000" pitchFamily="2" charset="2"/>
              <a:buNone/>
              <a:defRPr/>
            </a:pPr>
            <a:endParaRPr lang="en-US" altLang="zh-CN" sz="2800" dirty="0">
              <a:solidFill>
                <a:srgbClr val="FF0000"/>
              </a:solidFill>
            </a:endParaRPr>
          </a:p>
          <a:p>
            <a:pPr marL="0" indent="0" eaLnBrk="1" hangingPunct="1">
              <a:lnSpc>
                <a:spcPct val="155000"/>
              </a:lnSpc>
              <a:spcBef>
                <a:spcPts val="0"/>
              </a:spcBef>
              <a:buFont typeface="Wingdings" panose="05000000000000000000" pitchFamily="2" charset="2"/>
              <a:buNone/>
              <a:defRPr/>
            </a:pPr>
            <a:r>
              <a:rPr lang="zh-CN" altLang="en-US" sz="1920" dirty="0"/>
              <a:t/>
            </a:r>
            <a:br>
              <a:rPr lang="zh-CN" altLang="en-US" sz="1920" dirty="0"/>
            </a:br>
            <a:endParaRPr lang="zh-CN" altLang="en-US" sz="1920" dirty="0"/>
          </a:p>
        </p:txBody>
      </p:sp>
      <p:sp>
        <p:nvSpPr>
          <p:cNvPr id="4" name="Text Box 6"/>
          <p:cNvSpPr txBox="1">
            <a:spLocks noChangeArrowheads="1"/>
          </p:cNvSpPr>
          <p:nvPr/>
        </p:nvSpPr>
        <p:spPr bwMode="auto">
          <a:xfrm>
            <a:off x="0" y="-793"/>
            <a:ext cx="9144000" cy="44704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2330" dirty="0">
                <a:solidFill>
                  <a:schemeClr val="bg1"/>
                </a:solidFill>
                <a:latin typeface="楷体_GB2312" pitchFamily="49" charset="-122"/>
                <a:ea typeface="楷体_GB2312" pitchFamily="49" charset="-122"/>
              </a:rPr>
              <a:t>信号与系统                                  上课说明</a:t>
            </a:r>
          </a:p>
        </p:txBody>
      </p:sp>
    </p:spTree>
    <p:custDataLst>
      <p:tags r:id="rId1"/>
    </p:custDataLst>
  </p:cSld>
  <p:clrMapOvr>
    <a:masterClrMapping/>
  </p:clrMapOvr>
  <p:transition spd="slow" advTm="9759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495043">
                                            <p:bg/>
                                          </p:spTgt>
                                        </p:tgtEl>
                                        <p:attrNameLst>
                                          <p:attrName>style.visibility</p:attrName>
                                        </p:attrNameLst>
                                      </p:cBhvr>
                                      <p:to>
                                        <p:strVal val="visible"/>
                                      </p:to>
                                    </p:set>
                                    <p:anim calcmode="lin" valueType="num">
                                      <p:cBhvr>
                                        <p:cTn id="7" dur="1000" fill="hold"/>
                                        <p:tgtEl>
                                          <p:spTgt spid="1495043">
                                            <p:bg/>
                                          </p:spTgt>
                                        </p:tgtEl>
                                        <p:attrNameLst>
                                          <p:attrName>ppt_w</p:attrName>
                                        </p:attrNameLst>
                                      </p:cBhvr>
                                      <p:tavLst>
                                        <p:tav tm="0">
                                          <p:val>
                                            <p:strVal val="#ppt_w*0.70"/>
                                          </p:val>
                                        </p:tav>
                                        <p:tav tm="100000">
                                          <p:val>
                                            <p:strVal val="#ppt_w"/>
                                          </p:val>
                                        </p:tav>
                                      </p:tavLst>
                                    </p:anim>
                                    <p:anim calcmode="lin" valueType="num">
                                      <p:cBhvr>
                                        <p:cTn id="8" dur="1000" fill="hold"/>
                                        <p:tgtEl>
                                          <p:spTgt spid="1495043">
                                            <p:bg/>
                                          </p:spTgt>
                                        </p:tgtEl>
                                        <p:attrNameLst>
                                          <p:attrName>ppt_h</p:attrName>
                                        </p:attrNameLst>
                                      </p:cBhvr>
                                      <p:tavLst>
                                        <p:tav tm="0">
                                          <p:val>
                                            <p:strVal val="#ppt_h"/>
                                          </p:val>
                                        </p:tav>
                                        <p:tav tm="100000">
                                          <p:val>
                                            <p:strVal val="#ppt_h"/>
                                          </p:val>
                                        </p:tav>
                                      </p:tavLst>
                                    </p:anim>
                                    <p:animEffect transition="in" filter="fade">
                                      <p:cBhvr>
                                        <p:cTn id="9" dur="1000"/>
                                        <p:tgtEl>
                                          <p:spTgt spid="1495043">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495043">
                                            <p:txEl>
                                              <p:pRg st="0" end="0"/>
                                            </p:txEl>
                                          </p:spTgt>
                                        </p:tgtEl>
                                        <p:attrNameLst>
                                          <p:attrName>style.visibility</p:attrName>
                                        </p:attrNameLst>
                                      </p:cBhvr>
                                      <p:to>
                                        <p:strVal val="visible"/>
                                      </p:to>
                                    </p:set>
                                    <p:anim calcmode="lin" valueType="num">
                                      <p:cBhvr>
                                        <p:cTn id="13" dur="1000" fill="hold"/>
                                        <p:tgtEl>
                                          <p:spTgt spid="1495043">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495043">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495043">
                                            <p:txEl>
                                              <p:pRg st="0" end="0"/>
                                            </p:txEl>
                                          </p:spTgt>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1495043">
                                            <p:txEl>
                                              <p:pRg st="1" end="1"/>
                                            </p:txEl>
                                          </p:spTgt>
                                        </p:tgtEl>
                                        <p:attrNameLst>
                                          <p:attrName>style.visibility</p:attrName>
                                        </p:attrNameLst>
                                      </p:cBhvr>
                                      <p:to>
                                        <p:strVal val="visible"/>
                                      </p:to>
                                    </p:set>
                                    <p:anim calcmode="lin" valueType="num">
                                      <p:cBhvr>
                                        <p:cTn id="19" dur="1000" fill="hold"/>
                                        <p:tgtEl>
                                          <p:spTgt spid="1495043">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1495043">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149504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1495043">
                                            <p:txEl>
                                              <p:pRg st="2" end="2"/>
                                            </p:txEl>
                                          </p:spTgt>
                                        </p:tgtEl>
                                        <p:attrNameLst>
                                          <p:attrName>style.visibility</p:attrName>
                                        </p:attrNameLst>
                                      </p:cBhvr>
                                      <p:to>
                                        <p:strVal val="visible"/>
                                      </p:to>
                                    </p:set>
                                    <p:anim calcmode="lin" valueType="num">
                                      <p:cBhvr>
                                        <p:cTn id="26" dur="1000" fill="hold"/>
                                        <p:tgtEl>
                                          <p:spTgt spid="1495043">
                                            <p:txEl>
                                              <p:pRg st="2" end="2"/>
                                            </p:txEl>
                                          </p:spTgt>
                                        </p:tgtEl>
                                        <p:attrNameLst>
                                          <p:attrName>ppt_w</p:attrName>
                                        </p:attrNameLst>
                                      </p:cBhvr>
                                      <p:tavLst>
                                        <p:tav tm="0">
                                          <p:val>
                                            <p:strVal val="#ppt_w*0.70"/>
                                          </p:val>
                                        </p:tav>
                                        <p:tav tm="100000">
                                          <p:val>
                                            <p:strVal val="#ppt_w"/>
                                          </p:val>
                                        </p:tav>
                                      </p:tavLst>
                                    </p:anim>
                                    <p:anim calcmode="lin" valueType="num">
                                      <p:cBhvr>
                                        <p:cTn id="27" dur="1000" fill="hold"/>
                                        <p:tgtEl>
                                          <p:spTgt spid="1495043">
                                            <p:txEl>
                                              <p:pRg st="2" end="2"/>
                                            </p:txEl>
                                          </p:spTgt>
                                        </p:tgtEl>
                                        <p:attrNameLst>
                                          <p:attrName>ppt_h</p:attrName>
                                        </p:attrNameLst>
                                      </p:cBhvr>
                                      <p:tavLst>
                                        <p:tav tm="0">
                                          <p:val>
                                            <p:strVal val="#ppt_h"/>
                                          </p:val>
                                        </p:tav>
                                        <p:tav tm="100000">
                                          <p:val>
                                            <p:strVal val="#ppt_h"/>
                                          </p:val>
                                        </p:tav>
                                      </p:tavLst>
                                    </p:anim>
                                    <p:animEffect transition="in" filter="fade">
                                      <p:cBhvr>
                                        <p:cTn id="28" dur="1000"/>
                                        <p:tgtEl>
                                          <p:spTgt spid="1495043">
                                            <p:txEl>
                                              <p:pRg st="2" end="2"/>
                                            </p:txEl>
                                          </p:spTgt>
                                        </p:tgtEl>
                                      </p:cBhvr>
                                    </p:animEffect>
                                  </p:childTnLst>
                                </p:cTn>
                              </p:par>
                            </p:childTnLst>
                          </p:cTn>
                        </p:par>
                        <p:par>
                          <p:cTn id="29" fill="hold">
                            <p:stCondLst>
                              <p:cond delay="1000"/>
                            </p:stCondLst>
                            <p:childTnLst>
                              <p:par>
                                <p:cTn id="30" presetID="55" presetClass="entr" presetSubtype="0" fill="hold" grpId="0" nodeType="afterEffect">
                                  <p:stCondLst>
                                    <p:cond delay="500"/>
                                  </p:stCondLst>
                                  <p:childTnLst>
                                    <p:set>
                                      <p:cBhvr>
                                        <p:cTn id="31" dur="1" fill="hold">
                                          <p:stCondLst>
                                            <p:cond delay="0"/>
                                          </p:stCondLst>
                                        </p:cTn>
                                        <p:tgtEl>
                                          <p:spTgt spid="1495043">
                                            <p:txEl>
                                              <p:pRg st="3" end="3"/>
                                            </p:txEl>
                                          </p:spTgt>
                                        </p:tgtEl>
                                        <p:attrNameLst>
                                          <p:attrName>style.visibility</p:attrName>
                                        </p:attrNameLst>
                                      </p:cBhvr>
                                      <p:to>
                                        <p:strVal val="visible"/>
                                      </p:to>
                                    </p:set>
                                    <p:anim calcmode="lin" valueType="num">
                                      <p:cBhvr>
                                        <p:cTn id="32" dur="1000" fill="hold"/>
                                        <p:tgtEl>
                                          <p:spTgt spid="1495043">
                                            <p:txEl>
                                              <p:pRg st="3" end="3"/>
                                            </p:txEl>
                                          </p:spTgt>
                                        </p:tgtEl>
                                        <p:attrNameLst>
                                          <p:attrName>ppt_w</p:attrName>
                                        </p:attrNameLst>
                                      </p:cBhvr>
                                      <p:tavLst>
                                        <p:tav tm="0">
                                          <p:val>
                                            <p:strVal val="#ppt_w*0.70"/>
                                          </p:val>
                                        </p:tav>
                                        <p:tav tm="100000">
                                          <p:val>
                                            <p:strVal val="#ppt_w"/>
                                          </p:val>
                                        </p:tav>
                                      </p:tavLst>
                                    </p:anim>
                                    <p:anim calcmode="lin" valueType="num">
                                      <p:cBhvr>
                                        <p:cTn id="33" dur="1000" fill="hold"/>
                                        <p:tgtEl>
                                          <p:spTgt spid="1495043">
                                            <p:txEl>
                                              <p:pRg st="3" end="3"/>
                                            </p:txEl>
                                          </p:spTgt>
                                        </p:tgtEl>
                                        <p:attrNameLst>
                                          <p:attrName>ppt_h</p:attrName>
                                        </p:attrNameLst>
                                      </p:cBhvr>
                                      <p:tavLst>
                                        <p:tav tm="0">
                                          <p:val>
                                            <p:strVal val="#ppt_h"/>
                                          </p:val>
                                        </p:tav>
                                        <p:tav tm="100000">
                                          <p:val>
                                            <p:strVal val="#ppt_h"/>
                                          </p:val>
                                        </p:tav>
                                      </p:tavLst>
                                    </p:anim>
                                    <p:animEffect transition="in" filter="fade">
                                      <p:cBhvr>
                                        <p:cTn id="34" dur="1000"/>
                                        <p:tgtEl>
                                          <p:spTgt spid="149504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grpId="0" nodeType="clickEffect">
                                  <p:stCondLst>
                                    <p:cond delay="500"/>
                                  </p:stCondLst>
                                  <p:childTnLst>
                                    <p:set>
                                      <p:cBhvr>
                                        <p:cTn id="38" dur="1" fill="hold">
                                          <p:stCondLst>
                                            <p:cond delay="0"/>
                                          </p:stCondLst>
                                        </p:cTn>
                                        <p:tgtEl>
                                          <p:spTgt spid="1495043">
                                            <p:txEl>
                                              <p:pRg st="4" end="4"/>
                                            </p:txEl>
                                          </p:spTgt>
                                        </p:tgtEl>
                                        <p:attrNameLst>
                                          <p:attrName>style.visibility</p:attrName>
                                        </p:attrNameLst>
                                      </p:cBhvr>
                                      <p:to>
                                        <p:strVal val="visible"/>
                                      </p:to>
                                    </p:set>
                                    <p:anim calcmode="lin" valueType="num">
                                      <p:cBhvr>
                                        <p:cTn id="39" dur="1000" fill="hold"/>
                                        <p:tgtEl>
                                          <p:spTgt spid="1495043">
                                            <p:txEl>
                                              <p:pRg st="4" end="4"/>
                                            </p:txEl>
                                          </p:spTgt>
                                        </p:tgtEl>
                                        <p:attrNameLst>
                                          <p:attrName>ppt_w</p:attrName>
                                        </p:attrNameLst>
                                      </p:cBhvr>
                                      <p:tavLst>
                                        <p:tav tm="0">
                                          <p:val>
                                            <p:strVal val="#ppt_w*0.70"/>
                                          </p:val>
                                        </p:tav>
                                        <p:tav tm="100000">
                                          <p:val>
                                            <p:strVal val="#ppt_w"/>
                                          </p:val>
                                        </p:tav>
                                      </p:tavLst>
                                    </p:anim>
                                    <p:anim calcmode="lin" valueType="num">
                                      <p:cBhvr>
                                        <p:cTn id="40" dur="1000" fill="hold"/>
                                        <p:tgtEl>
                                          <p:spTgt spid="1495043">
                                            <p:txEl>
                                              <p:pRg st="4" end="4"/>
                                            </p:txEl>
                                          </p:spTgt>
                                        </p:tgtEl>
                                        <p:attrNameLst>
                                          <p:attrName>ppt_h</p:attrName>
                                        </p:attrNameLst>
                                      </p:cBhvr>
                                      <p:tavLst>
                                        <p:tav tm="0">
                                          <p:val>
                                            <p:strVal val="#ppt_h"/>
                                          </p:val>
                                        </p:tav>
                                        <p:tav tm="100000">
                                          <p:val>
                                            <p:strVal val="#ppt_h"/>
                                          </p:val>
                                        </p:tav>
                                      </p:tavLst>
                                    </p:anim>
                                    <p:animEffect transition="in" filter="fade">
                                      <p:cBhvr>
                                        <p:cTn id="41" dur="1000"/>
                                        <p:tgtEl>
                                          <p:spTgt spid="14950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43" grpId="0" uiExpand="1"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noChangeArrowheads="1"/>
          </p:cNvSpPr>
          <p:nvPr>
            <p:ph type="sldNum" sz="quarter" idx="12"/>
          </p:nvPr>
        </p:nvSpPr>
        <p:spPr bwMode="auto">
          <a:xfrm>
            <a:off x="9555163" y="8677275"/>
            <a:ext cx="2778125" cy="6350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30618" tIns="65309" rIns="130618" bIns="65309" numCol="1" anchor="t" anchorCtr="0" compatLnSpc="1"/>
          <a:lstStyle>
            <a:defPPr>
              <a:defRPr lang="zh-CN"/>
            </a:defPPr>
            <a:lvl1pPr algn="r" rtl="0" eaLnBrk="1" fontAlgn="base" hangingPunct="1">
              <a:spcBef>
                <a:spcPct val="50000"/>
              </a:spcBef>
              <a:spcAft>
                <a:spcPct val="0"/>
              </a:spcAft>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2pPr>
            <a:lvl3pPr marL="9144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3pPr>
            <a:lvl4pPr marL="13716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4pPr>
            <a:lvl5pPr marL="18288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pPr>
            <a:fld id="{EBC38A7A-949D-421D-AE51-B8BBD000CAD2}" type="slidenum">
              <a:rPr lang="en-US" altLang="zh-CN" smtClean="0"/>
              <a:t>3</a:t>
            </a:fld>
            <a:endParaRPr lang="en-US" altLang="zh-CN" sz="1645">
              <a:solidFill>
                <a:srgbClr val="FF0000"/>
              </a:solidFill>
              <a:latin typeface="Times New Roman" panose="02020603050405020304" pitchFamily="18" charset="0"/>
            </a:endParaRPr>
          </a:p>
        </p:txBody>
      </p:sp>
      <p:sp>
        <p:nvSpPr>
          <p:cNvPr id="8195" name="Text Box 4"/>
          <p:cNvSpPr txBox="1">
            <a:spLocks noChangeArrowheads="1"/>
          </p:cNvSpPr>
          <p:nvPr/>
        </p:nvSpPr>
        <p:spPr bwMode="auto">
          <a:xfrm>
            <a:off x="-102326" y="0"/>
            <a:ext cx="9144000" cy="449133"/>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marL="742950" indent="-285750">
              <a:defRPr sz="6000">
                <a:solidFill>
                  <a:schemeClr val="tx1"/>
                </a:solidFill>
                <a:latin typeface="宋体" panose="02010600030101010101" pitchFamily="2" charset="-122"/>
                <a:ea typeface="隶书" panose="02010509060101010101" pitchFamily="49" charset="-122"/>
              </a:defRPr>
            </a:lvl2pPr>
            <a:lvl3pPr marL="1143000" indent="-228600">
              <a:defRPr sz="6000">
                <a:solidFill>
                  <a:schemeClr val="tx1"/>
                </a:solidFill>
                <a:latin typeface="宋体" panose="02010600030101010101" pitchFamily="2" charset="-122"/>
                <a:ea typeface="隶书" panose="02010509060101010101" pitchFamily="49" charset="-122"/>
              </a:defRPr>
            </a:lvl3pPr>
            <a:lvl4pPr marL="1600200" indent="-228600">
              <a:defRPr sz="6000">
                <a:solidFill>
                  <a:schemeClr val="tx1"/>
                </a:solidFill>
                <a:latin typeface="宋体" panose="02010600030101010101" pitchFamily="2" charset="-122"/>
                <a:ea typeface="隶书" panose="02010509060101010101" pitchFamily="49" charset="-122"/>
              </a:defRPr>
            </a:lvl4pPr>
            <a:lvl5pPr marL="2057400" indent="-228600">
              <a:defRPr sz="6000">
                <a:solidFill>
                  <a:schemeClr val="tx1"/>
                </a:solidFill>
                <a:latin typeface="宋体" panose="02010600030101010101" pitchFamily="2" charset="-122"/>
                <a:ea typeface="隶书" panose="02010509060101010101" pitchFamily="49" charset="-122"/>
              </a:defRPr>
            </a:lvl5pPr>
            <a:lvl6pPr marL="25146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6pPr>
            <a:lvl7pPr marL="29718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7pPr>
            <a:lvl8pPr marL="34290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8pPr>
            <a:lvl9pPr marL="38862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9pPr>
          </a:lstStyle>
          <a:p>
            <a:pPr>
              <a:spcBef>
                <a:spcPct val="50000"/>
              </a:spcBef>
              <a:buFont typeface="Arial" panose="020B0604020202020204" pitchFamily="34" charset="0"/>
              <a:buNone/>
            </a:pPr>
            <a:r>
              <a:rPr lang="zh-CN" altLang="en-US" sz="2330" dirty="0">
                <a:solidFill>
                  <a:schemeClr val="bg1"/>
                </a:solidFill>
                <a:latin typeface="楷体_GB2312" pitchFamily="49" charset="-122"/>
                <a:ea typeface="楷体_GB2312" pitchFamily="49" charset="-122"/>
              </a:rPr>
              <a:t>信号与系统                                                                    上课说明</a:t>
            </a:r>
          </a:p>
        </p:txBody>
      </p:sp>
      <p:sp>
        <p:nvSpPr>
          <p:cNvPr id="3" name="矩形 2"/>
          <p:cNvSpPr/>
          <p:nvPr/>
        </p:nvSpPr>
        <p:spPr>
          <a:xfrm>
            <a:off x="198120" y="1552303"/>
            <a:ext cx="8768442" cy="1582677"/>
          </a:xfrm>
          <a:prstGeom prst="rect">
            <a:avLst/>
          </a:prstGeom>
        </p:spPr>
        <p:txBody>
          <a:bodyPr wrap="square">
            <a:spAutoFit/>
          </a:bodyPr>
          <a:lstStyle/>
          <a:p>
            <a:pPr indent="182880" algn="just">
              <a:lnSpc>
                <a:spcPct val="150000"/>
              </a:lnSpc>
              <a:spcAft>
                <a:spcPts val="0"/>
              </a:spcAft>
              <a:defRPr/>
            </a:pPr>
            <a:r>
              <a:rPr lang="en-US" altLang="zh-CN" sz="2200" kern="100" dirty="0">
                <a:latin typeface="+mn-ea"/>
                <a:ea typeface="+mn-ea"/>
                <a:cs typeface="Times New Roman" panose="02020603050405020304"/>
              </a:rPr>
              <a:t>   </a:t>
            </a:r>
            <a:r>
              <a:rPr lang="zh-CN" altLang="zh-CN" sz="2200" kern="100" dirty="0">
                <a:latin typeface="+mn-ea"/>
                <a:ea typeface="+mn-ea"/>
                <a:cs typeface="Times New Roman" panose="02020603050405020304"/>
              </a:rPr>
              <a:t>在每周上课前，我会</a:t>
            </a:r>
            <a:r>
              <a:rPr lang="zh-CN" altLang="en-US" sz="2200" kern="100" dirty="0">
                <a:latin typeface="+mn-ea"/>
                <a:ea typeface="+mn-ea"/>
                <a:cs typeface="Times New Roman" panose="02020603050405020304"/>
              </a:rPr>
              <a:t>提前</a:t>
            </a:r>
            <a:r>
              <a:rPr lang="zh-CN" altLang="zh-CN" sz="2200" kern="100" dirty="0">
                <a:latin typeface="+mn-ea"/>
                <a:ea typeface="+mn-ea"/>
                <a:cs typeface="Times New Roman" panose="02020603050405020304"/>
              </a:rPr>
              <a:t>把课</a:t>
            </a:r>
            <a:r>
              <a:rPr lang="zh-CN" altLang="en-US" sz="2200" kern="100" dirty="0">
                <a:latin typeface="+mn-ea"/>
                <a:ea typeface="+mn-ea"/>
                <a:cs typeface="Times New Roman" panose="02020603050405020304"/>
              </a:rPr>
              <a:t>程</a:t>
            </a:r>
            <a:r>
              <a:rPr lang="zh-CN" altLang="zh-CN" sz="2200" kern="100" dirty="0">
                <a:latin typeface="+mn-ea"/>
                <a:ea typeface="+mn-ea"/>
                <a:cs typeface="Times New Roman" panose="02020603050405020304"/>
              </a:rPr>
              <a:t>内容发到</a:t>
            </a:r>
            <a:r>
              <a:rPr lang="en-US" altLang="zh-CN" sz="2200" kern="100" dirty="0">
                <a:latin typeface="+mn-ea"/>
                <a:ea typeface="+mn-ea"/>
                <a:cs typeface="Times New Roman" panose="02020603050405020304"/>
              </a:rPr>
              <a:t>QQ</a:t>
            </a:r>
            <a:r>
              <a:rPr lang="zh-CN" altLang="zh-CN" sz="2200" kern="100" dirty="0">
                <a:latin typeface="+mn-ea"/>
                <a:ea typeface="+mn-ea"/>
                <a:cs typeface="Times New Roman" panose="02020603050405020304"/>
              </a:rPr>
              <a:t>群和学校课程平台，</a:t>
            </a:r>
            <a:r>
              <a:rPr lang="zh-CN" altLang="en-US" sz="2200" kern="100" dirty="0">
                <a:latin typeface="+mn-ea"/>
                <a:ea typeface="+mn-ea"/>
                <a:cs typeface="Times New Roman" panose="02020603050405020304"/>
              </a:rPr>
              <a:t>请</a:t>
            </a:r>
            <a:r>
              <a:rPr lang="zh-CN" altLang="zh-CN" sz="2200" kern="100" dirty="0">
                <a:latin typeface="+mn-ea"/>
                <a:ea typeface="+mn-ea"/>
                <a:cs typeface="Times New Roman" panose="02020603050405020304"/>
              </a:rPr>
              <a:t>同学们仔细阅读，按照课堂计划进行课程学习活动。</a:t>
            </a:r>
            <a:endParaRPr lang="en-US" altLang="zh-CN" sz="2200" kern="100" dirty="0">
              <a:latin typeface="+mn-ea"/>
              <a:ea typeface="+mn-ea"/>
              <a:cs typeface="Times New Roman" panose="02020603050405020304"/>
            </a:endParaRPr>
          </a:p>
          <a:p>
            <a:pPr indent="182880" algn="just">
              <a:lnSpc>
                <a:spcPct val="150000"/>
              </a:lnSpc>
              <a:spcAft>
                <a:spcPts val="0"/>
              </a:spcAft>
              <a:defRPr/>
            </a:pPr>
            <a:r>
              <a:rPr lang="en-US" altLang="zh-CN" sz="2200" kern="100" dirty="0">
                <a:latin typeface="+mn-ea"/>
                <a:ea typeface="+mn-ea"/>
                <a:cs typeface="Times New Roman" panose="02020603050405020304"/>
              </a:rPr>
              <a:t> </a:t>
            </a:r>
            <a:r>
              <a:rPr lang="zh-CN" altLang="zh-CN" sz="2200" kern="100" dirty="0">
                <a:latin typeface="+mn-ea"/>
                <a:ea typeface="+mn-ea"/>
                <a:cs typeface="Times New Roman" panose="02020603050405020304"/>
              </a:rPr>
              <a:t>每堂课基本安排如下：</a:t>
            </a:r>
          </a:p>
        </p:txBody>
      </p:sp>
      <p:sp>
        <p:nvSpPr>
          <p:cNvPr id="4" name="矩形 3"/>
          <p:cNvSpPr/>
          <p:nvPr/>
        </p:nvSpPr>
        <p:spPr>
          <a:xfrm>
            <a:off x="391631" y="3250298"/>
            <a:ext cx="8612396" cy="481863"/>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marL="234950" indent="-234950" algn="just">
              <a:lnSpc>
                <a:spcPct val="150000"/>
              </a:lnSpc>
              <a:spcAft>
                <a:spcPts val="0"/>
              </a:spcAft>
              <a:buFont typeface="+mj-lt"/>
              <a:buAutoNum type="arabicParenR"/>
              <a:defRPr/>
            </a:pPr>
            <a:r>
              <a:rPr lang="zh-CN" altLang="zh-CN" sz="1800" kern="100" dirty="0">
                <a:solidFill>
                  <a:srgbClr val="FF0000"/>
                </a:solidFill>
                <a:cs typeface="Times New Roman" panose="02020603050405020304"/>
              </a:rPr>
              <a:t>首先</a:t>
            </a:r>
            <a:r>
              <a:rPr lang="zh-CN" altLang="zh-CN" sz="1800" kern="100" dirty="0">
                <a:solidFill>
                  <a:srgbClr val="000000"/>
                </a:solidFill>
                <a:cs typeface="Times New Roman" panose="02020603050405020304"/>
              </a:rPr>
              <a:t>，</a:t>
            </a:r>
            <a:r>
              <a:rPr lang="zh-CN" altLang="zh-CN" sz="2000" kern="100" dirty="0">
                <a:solidFill>
                  <a:srgbClr val="000000"/>
                </a:solidFill>
                <a:cs typeface="Times New Roman" panose="02020603050405020304"/>
              </a:rPr>
              <a:t>同学们自主</a:t>
            </a:r>
            <a:r>
              <a:rPr lang="zh-CN" altLang="en-US" sz="2000" kern="100" dirty="0">
                <a:solidFill>
                  <a:srgbClr val="000000"/>
                </a:solidFill>
                <a:cs typeface="Times New Roman" panose="02020603050405020304"/>
              </a:rPr>
              <a:t>预习</a:t>
            </a:r>
            <a:r>
              <a:rPr lang="en-US" altLang="zh-CN" sz="2000" kern="100" dirty="0">
                <a:solidFill>
                  <a:srgbClr val="000000"/>
                </a:solidFill>
                <a:cs typeface="Times New Roman" panose="02020603050405020304"/>
              </a:rPr>
              <a:t>PPT</a:t>
            </a:r>
            <a:r>
              <a:rPr lang="zh-CN" altLang="zh-CN" sz="2000" kern="100" dirty="0">
                <a:solidFill>
                  <a:srgbClr val="000000"/>
                </a:solidFill>
                <a:cs typeface="Times New Roman" panose="02020603050405020304"/>
              </a:rPr>
              <a:t>的学习内容</a:t>
            </a:r>
            <a:r>
              <a:rPr lang="zh-CN" altLang="zh-CN" sz="2000" kern="100" dirty="0">
                <a:solidFill>
                  <a:srgbClr val="808080"/>
                </a:solidFill>
                <a:cs typeface="Times New Roman" panose="02020603050405020304"/>
              </a:rPr>
              <a:t>。</a:t>
            </a:r>
            <a:endParaRPr lang="zh-CN" altLang="zh-CN" sz="2000" kern="100" dirty="0">
              <a:solidFill>
                <a:srgbClr val="000000"/>
              </a:solidFill>
              <a:cs typeface="Times New Roman" panose="02020603050405020304"/>
            </a:endParaRPr>
          </a:p>
        </p:txBody>
      </p:sp>
      <p:sp>
        <p:nvSpPr>
          <p:cNvPr id="5" name="矩形 4"/>
          <p:cNvSpPr/>
          <p:nvPr/>
        </p:nvSpPr>
        <p:spPr>
          <a:xfrm>
            <a:off x="316610" y="4016050"/>
            <a:ext cx="8687508" cy="553085"/>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just">
              <a:lnSpc>
                <a:spcPct val="150000"/>
              </a:lnSpc>
              <a:spcAft>
                <a:spcPts val="0"/>
              </a:spcAft>
              <a:defRPr/>
            </a:pPr>
            <a:r>
              <a:rPr lang="en-US" altLang="zh-CN" sz="1800" kern="100" dirty="0">
                <a:solidFill>
                  <a:srgbClr val="808080"/>
                </a:solidFill>
                <a:cs typeface="Times New Roman" panose="02020603050405020304"/>
              </a:rPr>
              <a:t>2</a:t>
            </a:r>
            <a:r>
              <a:rPr lang="zh-CN" altLang="en-US" sz="1800" kern="100" dirty="0">
                <a:solidFill>
                  <a:srgbClr val="808080"/>
                </a:solidFill>
                <a:cs typeface="Times New Roman" panose="02020603050405020304"/>
              </a:rPr>
              <a:t>）</a:t>
            </a:r>
            <a:r>
              <a:rPr lang="zh-CN" altLang="en-US" sz="2000" kern="100" dirty="0">
                <a:solidFill>
                  <a:srgbClr val="FF0000"/>
                </a:solidFill>
                <a:cs typeface="Times New Roman" panose="02020603050405020304"/>
              </a:rPr>
              <a:t>在教室听我讲课</a:t>
            </a:r>
            <a:r>
              <a:rPr lang="zh-CN" altLang="en-US" sz="2000" kern="100" dirty="0">
                <a:solidFill>
                  <a:srgbClr val="000000"/>
                </a:solidFill>
                <a:cs typeface="Times New Roman" panose="02020603050405020304"/>
              </a:rPr>
              <a:t>，并</a:t>
            </a:r>
            <a:r>
              <a:rPr lang="zh-CN" altLang="zh-CN" sz="2000" kern="100" dirty="0">
                <a:solidFill>
                  <a:srgbClr val="000000"/>
                </a:solidFill>
                <a:cs typeface="Times New Roman" panose="02020603050405020304"/>
              </a:rPr>
              <a:t>针对学习内容在</a:t>
            </a:r>
            <a:r>
              <a:rPr lang="en-US" altLang="zh-CN" sz="2000" kern="100" dirty="0">
                <a:solidFill>
                  <a:srgbClr val="000000"/>
                </a:solidFill>
                <a:cs typeface="Times New Roman" panose="02020603050405020304"/>
              </a:rPr>
              <a:t>QQ</a:t>
            </a:r>
            <a:r>
              <a:rPr lang="zh-CN" altLang="en-US" sz="2000" kern="100" dirty="0">
                <a:solidFill>
                  <a:srgbClr val="000000"/>
                </a:solidFill>
                <a:cs typeface="Times New Roman" panose="02020603050405020304"/>
              </a:rPr>
              <a:t>群中开展的</a:t>
            </a:r>
            <a:r>
              <a:rPr lang="zh-CN" altLang="zh-CN" sz="2000" kern="100" dirty="0">
                <a:solidFill>
                  <a:srgbClr val="000000"/>
                </a:solidFill>
                <a:cs typeface="Times New Roman" panose="02020603050405020304"/>
              </a:rPr>
              <a:t>讨论或者练习。</a:t>
            </a:r>
            <a:endParaRPr lang="zh-CN" altLang="zh-CN" sz="2000" kern="100" dirty="0">
              <a:solidFill>
                <a:srgbClr val="FF0000"/>
              </a:solidFill>
              <a:cs typeface="Times New Roman" panose="02020603050405020304"/>
            </a:endParaRPr>
          </a:p>
        </p:txBody>
      </p:sp>
      <p:sp>
        <p:nvSpPr>
          <p:cNvPr id="15" name="矩形 14"/>
          <p:cNvSpPr/>
          <p:nvPr/>
        </p:nvSpPr>
        <p:spPr>
          <a:xfrm>
            <a:off x="198120" y="752478"/>
            <a:ext cx="3720737" cy="637675"/>
          </a:xfrm>
          <a:prstGeom prst="rect">
            <a:avLst/>
          </a:prstGeom>
          <a:solidFill>
            <a:schemeClr val="bg1"/>
          </a:solidFill>
          <a:ln>
            <a:solidFill>
              <a:srgbClr val="0000FF"/>
            </a:solidFill>
          </a:ln>
          <a:effectLst>
            <a:outerShdw blurRad="50800" dist="38100" dir="2700000" algn="tl" rotWithShape="0">
              <a:prstClr val="black">
                <a:alpha val="40000"/>
              </a:prstClr>
            </a:outerShdw>
          </a:effectLst>
        </p:spPr>
        <p:txBody>
          <a:bodyPr wrap="square">
            <a:spAutoFit/>
          </a:bodyPr>
          <a:lstStyle/>
          <a:p>
            <a:pPr>
              <a:lnSpc>
                <a:spcPct val="150000"/>
              </a:lnSpc>
              <a:defRPr/>
            </a:pPr>
            <a:r>
              <a:rPr lang="zh-CN" altLang="en-US" dirty="0">
                <a:solidFill>
                  <a:srgbClr val="FF0000"/>
                </a:solidFill>
                <a:latin typeface="宋体" panose="02010600030101010101" pitchFamily="2" charset="-122"/>
                <a:ea typeface="宋体" panose="02010600030101010101" pitchFamily="2" charset="-122"/>
              </a:rPr>
              <a:t>关于上课的几点说明</a:t>
            </a:r>
            <a:endParaRPr lang="zh-CN" altLang="zh-CN" dirty="0">
              <a:solidFill>
                <a:srgbClr val="FF0000"/>
              </a:solidFill>
              <a:latin typeface="宋体" panose="02010600030101010101" pitchFamily="2" charset="-122"/>
              <a:ea typeface="宋体" panose="0201060003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7700"/>
    </mc:Choice>
    <mc:Fallback xmlns="">
      <p:transition spd="slow" advTm="47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P spid="5" grpId="0" bldLvl="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2pPr>
            <a:lvl3pPr marL="9144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3pPr>
            <a:lvl4pPr marL="13716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4pPr>
            <a:lvl5pPr marL="18288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2869FF86-3BA0-4AD2-9DF4-0A2682CF464E}" type="slidenum">
              <a:rPr lang="en-US" altLang="zh-CN" smtClean="0"/>
              <a:t>4</a:t>
            </a:fld>
            <a:endParaRPr lang="en-US" altLang="zh-CN" sz="1645"/>
          </a:p>
        </p:txBody>
      </p:sp>
      <p:sp>
        <p:nvSpPr>
          <p:cNvPr id="1516547" name="Rectangle 3"/>
          <p:cNvSpPr>
            <a:spLocks noGrp="1" noChangeArrowheads="1"/>
          </p:cNvSpPr>
          <p:nvPr>
            <p:ph idx="1"/>
          </p:nvPr>
        </p:nvSpPr>
        <p:spPr>
          <a:xfrm>
            <a:off x="40005" y="725805"/>
            <a:ext cx="9037983" cy="5751195"/>
          </a:xfrm>
          <a:ln w="57150">
            <a:solidFill>
              <a:schemeClr val="tx1"/>
            </a:solidFill>
            <a:miter lim="800000"/>
          </a:ln>
        </p:spPr>
        <p:txBody>
          <a:bodyPr/>
          <a:lstStyle/>
          <a:p>
            <a:pPr eaLnBrk="1" hangingPunct="1">
              <a:lnSpc>
                <a:spcPct val="160000"/>
              </a:lnSpc>
              <a:buFont typeface="Wingdings" panose="05000000000000000000" pitchFamily="2" charset="2"/>
              <a:buChar char="l"/>
              <a:defRPr/>
            </a:pPr>
            <a:r>
              <a:rPr lang="zh-CN" altLang="en-US" sz="2195" dirty="0">
                <a:hlinkClick r:id="rId3" action="ppaction://hlinkfile"/>
              </a:rPr>
              <a:t>分组情况</a:t>
            </a:r>
            <a:endParaRPr lang="en-US" altLang="zh-CN" sz="2195" dirty="0"/>
          </a:p>
          <a:p>
            <a:pPr lvl="1" eaLnBrk="1" hangingPunct="1">
              <a:lnSpc>
                <a:spcPct val="200000"/>
              </a:lnSpc>
              <a:defRPr/>
            </a:pPr>
            <a:r>
              <a:rPr lang="zh-CN" altLang="en-US" sz="1800" b="1" dirty="0"/>
              <a:t>第</a:t>
            </a:r>
            <a:r>
              <a:rPr lang="en-US" altLang="zh-CN" sz="1800" b="1" dirty="0"/>
              <a:t>1</a:t>
            </a:r>
            <a:r>
              <a:rPr lang="zh-CN" altLang="en-US" sz="1800" b="1" dirty="0"/>
              <a:t>组：</a:t>
            </a:r>
            <a:r>
              <a:rPr lang="en-US" altLang="zh-CN" sz="1800" b="1" dirty="0"/>
              <a:t>2023301205</a:t>
            </a:r>
            <a:r>
              <a:rPr lang="zh-CN" altLang="en-US" sz="1800" b="1" dirty="0"/>
              <a:t>吴</a:t>
            </a:r>
            <a:r>
              <a:rPr lang="en-US" altLang="zh-CN" sz="1800" b="1" dirty="0"/>
              <a:t>   </a:t>
            </a:r>
            <a:r>
              <a:rPr lang="zh-CN" altLang="en-US" sz="1800" b="1" dirty="0"/>
              <a:t>昊</a:t>
            </a:r>
            <a:r>
              <a:rPr lang="en-US" altLang="zh-CN" sz="1800" b="1" dirty="0"/>
              <a:t>~2024302614</a:t>
            </a:r>
            <a:r>
              <a:rPr lang="zh-CN" altLang="en-US" sz="1800" b="1" dirty="0"/>
              <a:t>杜仕铭</a:t>
            </a:r>
            <a:r>
              <a:rPr lang="zh-CN" altLang="en-US" sz="1800" b="1" dirty="0">
                <a:solidFill>
                  <a:srgbClr val="0000FF"/>
                </a:solidFill>
              </a:rPr>
              <a:t> （序号</a:t>
            </a:r>
            <a:r>
              <a:rPr lang="en-US" altLang="zh-CN" sz="1800" b="1" dirty="0">
                <a:solidFill>
                  <a:srgbClr val="0000FF"/>
                </a:solidFill>
              </a:rPr>
              <a:t>1~36</a:t>
            </a:r>
            <a:r>
              <a:rPr lang="zh-CN" altLang="en-US" sz="1800" b="1" dirty="0">
                <a:solidFill>
                  <a:srgbClr val="0000FF"/>
                </a:solidFill>
              </a:rPr>
              <a:t>）</a:t>
            </a:r>
            <a:r>
              <a:rPr lang="zh-CN" altLang="en-US" sz="1800" b="1" dirty="0"/>
              <a:t>，  </a:t>
            </a:r>
            <a:r>
              <a:rPr lang="zh-CN" altLang="en-US" sz="1800" b="1" dirty="0">
                <a:solidFill>
                  <a:srgbClr val="FF0000"/>
                </a:solidFill>
              </a:rPr>
              <a:t>组长</a:t>
            </a:r>
            <a:r>
              <a:rPr lang="zh-CN" altLang="en-US" sz="1800" b="1" dirty="0" smtClean="0">
                <a:solidFill>
                  <a:srgbClr val="FF0000"/>
                </a:solidFill>
              </a:rPr>
              <a:t>：</a:t>
            </a:r>
            <a:r>
              <a:rPr lang="en-US" altLang="zh-CN" sz="1800" b="1" dirty="0" smtClean="0">
                <a:solidFill>
                  <a:srgbClr val="FF0000"/>
                </a:solidFill>
              </a:rPr>
              <a:t>2024302614  </a:t>
            </a:r>
            <a:r>
              <a:rPr lang="zh-CN" altLang="en-US" sz="1800" b="1" dirty="0" smtClean="0">
                <a:solidFill>
                  <a:srgbClr val="FF0000"/>
                </a:solidFill>
              </a:rPr>
              <a:t>杜仕铭</a:t>
            </a:r>
            <a:r>
              <a:rPr lang="zh-CN" altLang="en-US" sz="1800" b="1" dirty="0" smtClean="0"/>
              <a:t>，</a:t>
            </a:r>
            <a:r>
              <a:rPr lang="zh-CN" altLang="en-US" sz="1800" b="1" dirty="0"/>
              <a:t>助教老师：</a:t>
            </a:r>
            <a:r>
              <a:rPr lang="en-US" altLang="zh-CN" sz="1800" b="1" dirty="0">
                <a:solidFill>
                  <a:srgbClr val="FF0000"/>
                </a:solidFill>
                <a:cs typeface="+mn-ea"/>
              </a:rPr>
              <a:t> </a:t>
            </a:r>
          </a:p>
          <a:p>
            <a:pPr lvl="1" eaLnBrk="1" hangingPunct="1">
              <a:lnSpc>
                <a:spcPct val="200000"/>
              </a:lnSpc>
              <a:defRPr/>
            </a:pPr>
            <a:r>
              <a:rPr lang="zh-CN" altLang="en-US" sz="1800" b="1" dirty="0">
                <a:cs typeface="+mn-ea"/>
              </a:rPr>
              <a:t>第</a:t>
            </a:r>
            <a:r>
              <a:rPr lang="en-US" altLang="zh-CN" sz="1800" b="1" dirty="0"/>
              <a:t>2</a:t>
            </a:r>
            <a:r>
              <a:rPr lang="zh-CN" altLang="en-US" sz="1800" b="1" dirty="0"/>
              <a:t>组：</a:t>
            </a:r>
            <a:r>
              <a:rPr lang="en-US" altLang="zh-CN" sz="1800" b="1" dirty="0"/>
              <a:t> 2024302615 </a:t>
            </a:r>
            <a:r>
              <a:rPr lang="zh-CN" altLang="en-US" sz="1800" b="1" dirty="0"/>
              <a:t>祝建祥</a:t>
            </a:r>
            <a:r>
              <a:rPr lang="en-US" altLang="zh-CN" sz="1800" b="1" dirty="0"/>
              <a:t>~</a:t>
            </a:r>
            <a:r>
              <a:rPr lang="zh-CN" altLang="en-US" sz="1800" b="1" dirty="0">
                <a:cs typeface="+mn-ea"/>
              </a:rPr>
              <a:t>2024302717郭书翰</a:t>
            </a:r>
            <a:r>
              <a:rPr lang="zh-CN" altLang="en-US" sz="1800" b="1" dirty="0">
                <a:solidFill>
                  <a:srgbClr val="0000FF"/>
                </a:solidFill>
              </a:rPr>
              <a:t>（序号</a:t>
            </a:r>
            <a:r>
              <a:rPr lang="en-US" altLang="zh-CN" sz="1800" b="1" dirty="0">
                <a:solidFill>
                  <a:srgbClr val="0000FF"/>
                </a:solidFill>
              </a:rPr>
              <a:t>37~72</a:t>
            </a:r>
            <a:r>
              <a:rPr lang="zh-CN" altLang="en-US" sz="1800" b="1" dirty="0">
                <a:solidFill>
                  <a:srgbClr val="0000FF"/>
                </a:solidFill>
              </a:rPr>
              <a:t>） </a:t>
            </a:r>
            <a:r>
              <a:rPr lang="zh-CN" altLang="en-US" sz="1800" b="1" dirty="0"/>
              <a:t>，</a:t>
            </a:r>
          </a:p>
          <a:p>
            <a:pPr marL="471170" lvl="1" indent="0" eaLnBrk="1" hangingPunct="1">
              <a:lnSpc>
                <a:spcPct val="200000"/>
              </a:lnSpc>
              <a:buNone/>
              <a:defRPr/>
            </a:pPr>
            <a:r>
              <a:rPr lang="zh-CN" altLang="en-US" sz="1800" b="1" dirty="0"/>
              <a:t>  </a:t>
            </a:r>
            <a:r>
              <a:rPr lang="en-US" altLang="zh-CN" sz="1800" b="1" dirty="0"/>
              <a:t>  </a:t>
            </a:r>
            <a:r>
              <a:rPr lang="en-US" altLang="zh-CN" sz="1800" b="1" dirty="0">
                <a:solidFill>
                  <a:srgbClr val="FF0000"/>
                </a:solidFill>
              </a:rPr>
              <a:t> </a:t>
            </a:r>
            <a:r>
              <a:rPr lang="zh-CN" altLang="en-US" sz="1800" b="1" dirty="0">
                <a:solidFill>
                  <a:srgbClr val="FF0000"/>
                </a:solidFill>
              </a:rPr>
              <a:t>组长：</a:t>
            </a:r>
            <a:r>
              <a:rPr lang="en-US" altLang="zh-CN" sz="1800" b="1" dirty="0">
                <a:solidFill>
                  <a:srgbClr val="FF0000"/>
                </a:solidFill>
              </a:rPr>
              <a:t>2024302671 </a:t>
            </a:r>
            <a:r>
              <a:rPr lang="zh-CN" altLang="en-US" sz="1800" b="1" dirty="0">
                <a:solidFill>
                  <a:srgbClr val="FF0000"/>
                </a:solidFill>
              </a:rPr>
              <a:t>焦建维</a:t>
            </a:r>
            <a:r>
              <a:rPr lang="en-US" altLang="zh-CN" sz="1800" b="1" dirty="0">
                <a:solidFill>
                  <a:srgbClr val="FF0000"/>
                </a:solidFill>
              </a:rPr>
              <a:t> </a:t>
            </a:r>
            <a:r>
              <a:rPr lang="zh-CN" altLang="en-US" sz="1800" b="1" dirty="0"/>
              <a:t>，助教老师：</a:t>
            </a:r>
            <a:r>
              <a:rPr lang="en-US" altLang="zh-CN" sz="1800" b="1" dirty="0">
                <a:solidFill>
                  <a:srgbClr val="FF0000"/>
                </a:solidFill>
              </a:rPr>
              <a:t>     </a:t>
            </a:r>
            <a:endParaRPr lang="zh-CN" altLang="en-US" sz="1800" b="1" dirty="0">
              <a:solidFill>
                <a:srgbClr val="FF0000"/>
              </a:solidFill>
            </a:endParaRPr>
          </a:p>
          <a:p>
            <a:pPr lvl="1" eaLnBrk="1" hangingPunct="1">
              <a:lnSpc>
                <a:spcPct val="200000"/>
              </a:lnSpc>
              <a:buFont typeface="Wingdings" panose="05000000000000000000" charset="0"/>
              <a:buChar char="Ø"/>
              <a:defRPr/>
            </a:pPr>
            <a:r>
              <a:rPr lang="zh-CN" altLang="en-US" sz="1800" b="1" dirty="0">
                <a:cs typeface="+mn-ea"/>
              </a:rPr>
              <a:t>第</a:t>
            </a:r>
            <a:r>
              <a:rPr lang="en-US" altLang="zh-CN" sz="1800" b="1" dirty="0"/>
              <a:t>3</a:t>
            </a:r>
            <a:r>
              <a:rPr lang="zh-CN" altLang="en-US" sz="1800" b="1" dirty="0"/>
              <a:t>组：</a:t>
            </a:r>
            <a:r>
              <a:rPr lang="en-US" altLang="zh-CN" sz="1800" b="1" dirty="0"/>
              <a:t> 2024302720</a:t>
            </a:r>
            <a:r>
              <a:rPr lang="zh-CN" altLang="en-US" sz="1800" b="1" dirty="0"/>
              <a:t>汪飞扬</a:t>
            </a:r>
            <a:r>
              <a:rPr lang="en-US" altLang="zh-CN" sz="1800" b="1" dirty="0"/>
              <a:t>~ 2024304037</a:t>
            </a:r>
            <a:r>
              <a:rPr lang="zh-CN" altLang="en-US" sz="1800" b="1" dirty="0"/>
              <a:t>郑建国</a:t>
            </a:r>
            <a:r>
              <a:rPr lang="zh-CN" altLang="en-US" sz="1800" b="1" dirty="0">
                <a:solidFill>
                  <a:srgbClr val="0000FF"/>
                </a:solidFill>
              </a:rPr>
              <a:t>（序号</a:t>
            </a:r>
            <a:r>
              <a:rPr lang="en-US" altLang="zh-CN" sz="1800" b="1" dirty="0">
                <a:solidFill>
                  <a:srgbClr val="0000FF"/>
                </a:solidFill>
              </a:rPr>
              <a:t>73~107</a:t>
            </a:r>
            <a:r>
              <a:rPr lang="zh-CN" altLang="en-US" sz="1800" b="1" dirty="0">
                <a:solidFill>
                  <a:srgbClr val="0000FF"/>
                </a:solidFill>
              </a:rPr>
              <a:t>） </a:t>
            </a:r>
            <a:r>
              <a:rPr lang="zh-CN" altLang="en-US" sz="1800" b="1" dirty="0"/>
              <a:t>，</a:t>
            </a:r>
          </a:p>
          <a:p>
            <a:pPr marL="471170" lvl="1" eaLnBrk="1" hangingPunct="1">
              <a:lnSpc>
                <a:spcPct val="200000"/>
              </a:lnSpc>
              <a:buNone/>
              <a:defRPr/>
            </a:pPr>
            <a:r>
              <a:rPr lang="zh-CN" altLang="en-US" sz="1800" b="1" dirty="0"/>
              <a:t> </a:t>
            </a:r>
            <a:r>
              <a:rPr lang="en-US" altLang="zh-CN" sz="1800" b="1" dirty="0"/>
              <a:t>   </a:t>
            </a:r>
            <a:r>
              <a:rPr lang="en-US" altLang="zh-CN" sz="1800" b="1" dirty="0">
                <a:solidFill>
                  <a:srgbClr val="FF0000"/>
                </a:solidFill>
              </a:rPr>
              <a:t> </a:t>
            </a:r>
            <a:r>
              <a:rPr lang="zh-CN" altLang="en-US" sz="1800" b="1" dirty="0">
                <a:solidFill>
                  <a:srgbClr val="FF0000"/>
                </a:solidFill>
              </a:rPr>
              <a:t> </a:t>
            </a:r>
            <a:r>
              <a:rPr lang="en-US" altLang="zh-CN" sz="1800" b="1" dirty="0">
                <a:solidFill>
                  <a:srgbClr val="FF0000"/>
                </a:solidFill>
              </a:rPr>
              <a:t>     </a:t>
            </a:r>
            <a:r>
              <a:rPr lang="zh-CN" altLang="en-US" sz="1800" b="1" dirty="0">
                <a:solidFill>
                  <a:srgbClr val="FF0000"/>
                </a:solidFill>
              </a:rPr>
              <a:t>组长</a:t>
            </a:r>
            <a:r>
              <a:rPr lang="zh-CN" altLang="en-US" sz="1800" b="1" dirty="0" smtClean="0">
                <a:solidFill>
                  <a:srgbClr val="FF0000"/>
                </a:solidFill>
              </a:rPr>
              <a:t>：</a:t>
            </a:r>
            <a:r>
              <a:rPr lang="en-US" altLang="zh-CN" sz="1800" b="1" dirty="0" smtClean="0">
                <a:solidFill>
                  <a:srgbClr val="FF0000"/>
                </a:solidFill>
              </a:rPr>
              <a:t>2024302739 </a:t>
            </a:r>
            <a:r>
              <a:rPr lang="zh-CN" altLang="en-US" sz="1800" b="1" dirty="0">
                <a:solidFill>
                  <a:srgbClr val="FF0000"/>
                </a:solidFill>
              </a:rPr>
              <a:t>林已超</a:t>
            </a:r>
            <a:r>
              <a:rPr lang="zh-CN" altLang="en-US" sz="1800" b="1" dirty="0" smtClean="0"/>
              <a:t>，</a:t>
            </a:r>
            <a:r>
              <a:rPr lang="zh-CN" altLang="en-US" sz="1800" b="1" dirty="0"/>
              <a:t>助教老师：</a:t>
            </a:r>
            <a:r>
              <a:rPr lang="en-US" altLang="zh-CN" sz="1800" b="1" dirty="0">
                <a:solidFill>
                  <a:srgbClr val="FF0000"/>
                </a:solidFill>
                <a:cs typeface="+mn-ea"/>
              </a:rPr>
              <a:t> </a:t>
            </a:r>
          </a:p>
        </p:txBody>
      </p:sp>
      <p:sp>
        <p:nvSpPr>
          <p:cNvPr id="30725" name="Text Box 6"/>
          <p:cNvSpPr txBox="1">
            <a:spLocks noChangeArrowheads="1"/>
          </p:cNvSpPr>
          <p:nvPr/>
        </p:nvSpPr>
        <p:spPr bwMode="auto">
          <a:xfrm>
            <a:off x="0" y="-6350"/>
            <a:ext cx="9144000" cy="633095"/>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0" tIns="0" rIns="0" bIns="0">
            <a:spAutoFit/>
          </a:bodyPr>
          <a:lstStyle>
            <a:lvl1pPr>
              <a:defRPr sz="6000">
                <a:solidFill>
                  <a:schemeClr val="tx1"/>
                </a:solidFill>
                <a:latin typeface="宋体" panose="02010600030101010101" pitchFamily="2" charset="-122"/>
                <a:ea typeface="隶书" panose="02010509060101010101" pitchFamily="49" charset="-122"/>
              </a:defRPr>
            </a:lvl1pPr>
            <a:lvl2pPr marL="742950" indent="-285750">
              <a:defRPr sz="6000">
                <a:solidFill>
                  <a:schemeClr val="tx1"/>
                </a:solidFill>
                <a:latin typeface="宋体" panose="02010600030101010101" pitchFamily="2" charset="-122"/>
                <a:ea typeface="隶书" panose="02010509060101010101" pitchFamily="49" charset="-122"/>
              </a:defRPr>
            </a:lvl2pPr>
            <a:lvl3pPr marL="1143000" indent="-228600">
              <a:defRPr sz="6000">
                <a:solidFill>
                  <a:schemeClr val="tx1"/>
                </a:solidFill>
                <a:latin typeface="宋体" panose="02010600030101010101" pitchFamily="2" charset="-122"/>
                <a:ea typeface="隶书" panose="02010509060101010101" pitchFamily="49" charset="-122"/>
              </a:defRPr>
            </a:lvl3pPr>
            <a:lvl4pPr marL="1600200" indent="-228600">
              <a:defRPr sz="6000">
                <a:solidFill>
                  <a:schemeClr val="tx1"/>
                </a:solidFill>
                <a:latin typeface="宋体" panose="02010600030101010101" pitchFamily="2" charset="-122"/>
                <a:ea typeface="隶书" panose="02010509060101010101" pitchFamily="49" charset="-122"/>
              </a:defRPr>
            </a:lvl4pPr>
            <a:lvl5pPr marL="2057400" indent="-228600">
              <a:defRPr sz="6000">
                <a:solidFill>
                  <a:schemeClr val="tx1"/>
                </a:solidFill>
                <a:latin typeface="宋体" panose="02010600030101010101" pitchFamily="2" charset="-122"/>
                <a:ea typeface="隶书" panose="02010509060101010101" pitchFamily="49" charset="-122"/>
              </a:defRPr>
            </a:lvl5pPr>
            <a:lvl6pPr marL="25146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6pPr>
            <a:lvl7pPr marL="29718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7pPr>
            <a:lvl8pPr marL="34290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8pPr>
            <a:lvl9pPr marL="38862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9pPr>
          </a:lstStyle>
          <a:p>
            <a:pPr>
              <a:spcBef>
                <a:spcPct val="50000"/>
              </a:spcBef>
              <a:buFont typeface="Arial" panose="020B0604020202020204" pitchFamily="34" charset="0"/>
              <a:buNone/>
              <a:defRPr/>
            </a:pPr>
            <a:r>
              <a:rPr lang="zh-CN" altLang="en-US" sz="2330" dirty="0">
                <a:solidFill>
                  <a:srgbClr val="FFFFFF"/>
                </a:solidFill>
                <a:latin typeface="楷体_GB2312" pitchFamily="49" charset="-122"/>
                <a:ea typeface="楷体_GB2312" pitchFamily="49" charset="-122"/>
              </a:rPr>
              <a:t>信号与系统</a:t>
            </a:r>
            <a:r>
              <a:rPr lang="zh-CN" altLang="en-US" sz="4115" dirty="0">
                <a:solidFill>
                  <a:srgbClr val="FFFFFF"/>
                </a:solidFill>
              </a:rPr>
              <a:t>              </a:t>
            </a:r>
            <a:r>
              <a:rPr lang="en-US" altLang="zh-CN" sz="4115" dirty="0">
                <a:solidFill>
                  <a:srgbClr val="FFFFFF"/>
                </a:solidFill>
              </a:rPr>
              <a:t>    </a:t>
            </a:r>
            <a:r>
              <a:rPr lang="zh-CN" altLang="en-US" sz="2330" dirty="0">
                <a:solidFill>
                  <a:srgbClr val="FFFFFF"/>
                </a:solidFill>
                <a:ea typeface="楷体_GB2312" pitchFamily="49" charset="-122"/>
              </a:rPr>
              <a:t>助教老师与课程代表</a:t>
            </a:r>
            <a:endParaRPr lang="zh-CN" altLang="en-US" sz="2330" dirty="0">
              <a:solidFill>
                <a:srgbClr val="FFFFFF"/>
              </a:solidFill>
              <a:latin typeface="楷体_GB2312" pitchFamily="49" charset="-122"/>
              <a:ea typeface="楷体_GB2312" pitchFamily="49" charset="-122"/>
            </a:endParaRPr>
          </a:p>
        </p:txBody>
      </p:sp>
    </p:spTree>
    <p:custDataLst>
      <p:tags r:id="rId1"/>
    </p:custDataLst>
  </p:cSld>
  <p:clrMapOvr>
    <a:masterClrMapping/>
  </p:clrMapOvr>
  <p:transition advTm="4254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16547">
                                            <p:bg/>
                                          </p:spTgt>
                                        </p:tgtEl>
                                        <p:attrNameLst>
                                          <p:attrName>style.visibility</p:attrName>
                                        </p:attrNameLst>
                                      </p:cBhvr>
                                      <p:to>
                                        <p:strVal val="visible"/>
                                      </p:to>
                                    </p:set>
                                    <p:anim calcmode="lin" valueType="num">
                                      <p:cBhvr>
                                        <p:cTn id="7" dur="1000" fill="hold"/>
                                        <p:tgtEl>
                                          <p:spTgt spid="1516547">
                                            <p:bg/>
                                          </p:spTgt>
                                        </p:tgtEl>
                                        <p:attrNameLst>
                                          <p:attrName>ppt_w</p:attrName>
                                        </p:attrNameLst>
                                      </p:cBhvr>
                                      <p:tavLst>
                                        <p:tav tm="0">
                                          <p:val>
                                            <p:strVal val="#ppt_w*0.70"/>
                                          </p:val>
                                        </p:tav>
                                        <p:tav tm="100000">
                                          <p:val>
                                            <p:strVal val="#ppt_w"/>
                                          </p:val>
                                        </p:tav>
                                      </p:tavLst>
                                    </p:anim>
                                    <p:anim calcmode="lin" valueType="num">
                                      <p:cBhvr>
                                        <p:cTn id="8" dur="1000" fill="hold"/>
                                        <p:tgtEl>
                                          <p:spTgt spid="1516547">
                                            <p:bg/>
                                          </p:spTgt>
                                        </p:tgtEl>
                                        <p:attrNameLst>
                                          <p:attrName>ppt_h</p:attrName>
                                        </p:attrNameLst>
                                      </p:cBhvr>
                                      <p:tavLst>
                                        <p:tav tm="0">
                                          <p:val>
                                            <p:strVal val="#ppt_h"/>
                                          </p:val>
                                        </p:tav>
                                        <p:tav tm="100000">
                                          <p:val>
                                            <p:strVal val="#ppt_h"/>
                                          </p:val>
                                        </p:tav>
                                      </p:tavLst>
                                    </p:anim>
                                    <p:animEffect transition="in" filter="fade">
                                      <p:cBhvr>
                                        <p:cTn id="9" dur="1000"/>
                                        <p:tgtEl>
                                          <p:spTgt spid="1516547">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16547">
                                            <p:txEl>
                                              <p:pRg st="0" end="0"/>
                                            </p:txEl>
                                          </p:spTgt>
                                        </p:tgtEl>
                                        <p:attrNameLst>
                                          <p:attrName>style.visibility</p:attrName>
                                        </p:attrNameLst>
                                      </p:cBhvr>
                                      <p:to>
                                        <p:strVal val="visible"/>
                                      </p:to>
                                    </p:set>
                                    <p:anim calcmode="lin" valueType="num">
                                      <p:cBhvr>
                                        <p:cTn id="12" dur="1000" fill="hold"/>
                                        <p:tgtEl>
                                          <p:spTgt spid="1516547">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516547">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516547">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516547">
                                            <p:txEl>
                                              <p:pRg st="1" end="1"/>
                                            </p:txEl>
                                          </p:spTgt>
                                        </p:tgtEl>
                                        <p:attrNameLst>
                                          <p:attrName>style.visibility</p:attrName>
                                        </p:attrNameLst>
                                      </p:cBhvr>
                                      <p:to>
                                        <p:strVal val="visible"/>
                                      </p:to>
                                    </p:set>
                                    <p:anim calcmode="lin" valueType="num">
                                      <p:cBhvr>
                                        <p:cTn id="17" dur="1000" fill="hold"/>
                                        <p:tgtEl>
                                          <p:spTgt spid="1516547">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1516547">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1516547">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516547">
                                            <p:txEl>
                                              <p:pRg st="2" end="2"/>
                                            </p:txEl>
                                          </p:spTgt>
                                        </p:tgtEl>
                                        <p:attrNameLst>
                                          <p:attrName>style.visibility</p:attrName>
                                        </p:attrNameLst>
                                      </p:cBhvr>
                                      <p:to>
                                        <p:strVal val="visible"/>
                                      </p:to>
                                    </p:set>
                                    <p:anim calcmode="lin" valueType="num">
                                      <p:cBhvr>
                                        <p:cTn id="22" dur="1000" fill="hold"/>
                                        <p:tgtEl>
                                          <p:spTgt spid="1516547">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1516547">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1516547">
                                            <p:txEl>
                                              <p:pRg st="2" end="2"/>
                                            </p:txEl>
                                          </p:spTgt>
                                        </p:tgtEl>
                                      </p:cBhvr>
                                    </p:animEffect>
                                  </p:childTnLst>
                                </p:cTn>
                              </p:par>
                              <p:par>
                                <p:cTn id="25" presetID="55" presetClass="entr" presetSubtype="0" fill="hold" nodeType="withEffect">
                                  <p:stCondLst>
                                    <p:cond delay="0"/>
                                  </p:stCondLst>
                                  <p:childTnLst>
                                    <p:set>
                                      <p:cBhvr>
                                        <p:cTn id="26" dur="1" fill="hold">
                                          <p:stCondLst>
                                            <p:cond delay="0"/>
                                          </p:stCondLst>
                                        </p:cTn>
                                        <p:tgtEl>
                                          <p:spTgt spid="1516547">
                                            <p:txEl>
                                              <p:pRg st="3" end="3"/>
                                            </p:txEl>
                                          </p:spTgt>
                                        </p:tgtEl>
                                        <p:attrNameLst>
                                          <p:attrName>style.visibility</p:attrName>
                                        </p:attrNameLst>
                                      </p:cBhvr>
                                      <p:to>
                                        <p:strVal val="visible"/>
                                      </p:to>
                                    </p:set>
                                    <p:anim calcmode="lin" valueType="num">
                                      <p:cBhvr>
                                        <p:cTn id="27" dur="1000" fill="hold"/>
                                        <p:tgtEl>
                                          <p:spTgt spid="1516547">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1516547">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1516547">
                                            <p:txEl>
                                              <p:pRg st="3" end="3"/>
                                            </p:txEl>
                                          </p:spTgt>
                                        </p:tgtEl>
                                      </p:cBhvr>
                                    </p:animEffect>
                                  </p:childTnLst>
                                </p:cTn>
                              </p:par>
                              <p:par>
                                <p:cTn id="30" presetID="55" presetClass="entr" presetSubtype="0" fill="hold" nodeType="withEffect">
                                  <p:stCondLst>
                                    <p:cond delay="0"/>
                                  </p:stCondLst>
                                  <p:childTnLst>
                                    <p:set>
                                      <p:cBhvr>
                                        <p:cTn id="31" dur="1" fill="hold">
                                          <p:stCondLst>
                                            <p:cond delay="0"/>
                                          </p:stCondLst>
                                        </p:cTn>
                                        <p:tgtEl>
                                          <p:spTgt spid="1516547">
                                            <p:txEl>
                                              <p:pRg st="4" end="4"/>
                                            </p:txEl>
                                          </p:spTgt>
                                        </p:tgtEl>
                                        <p:attrNameLst>
                                          <p:attrName>style.visibility</p:attrName>
                                        </p:attrNameLst>
                                      </p:cBhvr>
                                      <p:to>
                                        <p:strVal val="visible"/>
                                      </p:to>
                                    </p:set>
                                    <p:anim calcmode="lin" valueType="num">
                                      <p:cBhvr>
                                        <p:cTn id="32" dur="1000" fill="hold"/>
                                        <p:tgtEl>
                                          <p:spTgt spid="1516547">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1516547">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1516547">
                                            <p:txEl>
                                              <p:pRg st="4" end="4"/>
                                            </p:txEl>
                                          </p:spTgt>
                                        </p:tgtEl>
                                      </p:cBhvr>
                                    </p:animEffect>
                                  </p:childTnLst>
                                </p:cTn>
                              </p:par>
                              <p:par>
                                <p:cTn id="35" presetID="12" presetClass="entr" presetSubtype="4" fill="hold" nodeType="withEffect">
                                  <p:stCondLst>
                                    <p:cond delay="0"/>
                                  </p:stCondLst>
                                  <p:childTnLst>
                                    <p:set>
                                      <p:cBhvr>
                                        <p:cTn id="36" dur="1" fill="hold">
                                          <p:stCondLst>
                                            <p:cond delay="0"/>
                                          </p:stCondLst>
                                        </p:cTn>
                                        <p:tgtEl>
                                          <p:spTgt spid="1516547">
                                            <p:txEl>
                                              <p:pRg st="5" end="5"/>
                                            </p:txEl>
                                          </p:spTgt>
                                        </p:tgtEl>
                                        <p:attrNameLst>
                                          <p:attrName>style.visibility</p:attrName>
                                        </p:attrNameLst>
                                      </p:cBhvr>
                                      <p:to>
                                        <p:strVal val="visible"/>
                                      </p:to>
                                    </p:set>
                                    <p:anim calcmode="lin" valueType="num">
                                      <p:cBhvr additive="base">
                                        <p:cTn id="37" dur="500"/>
                                        <p:tgtEl>
                                          <p:spTgt spid="151654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15165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6547"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noChangeArrowheads="1"/>
          </p:cNvSpPr>
          <p:nvPr>
            <p:ph type="sldNum" sz="quarter" idx="12"/>
          </p:nvPr>
        </p:nvSpPr>
        <p:spPr bwMode="auto">
          <a:xfrm>
            <a:off x="9555163" y="8677275"/>
            <a:ext cx="2778125" cy="6350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30618" tIns="65309" rIns="130618" bIns="65309" numCol="1" anchor="t" anchorCtr="0" compatLnSpc="1"/>
          <a:lstStyle>
            <a:defPPr>
              <a:defRPr lang="zh-CN"/>
            </a:defPPr>
            <a:lvl1pPr algn="r" rtl="0" eaLnBrk="1" fontAlgn="base" hangingPunct="1">
              <a:spcBef>
                <a:spcPct val="50000"/>
              </a:spcBef>
              <a:spcAft>
                <a:spcPct val="0"/>
              </a:spcAft>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2pPr>
            <a:lvl3pPr marL="9144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3pPr>
            <a:lvl4pPr marL="13716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4pPr>
            <a:lvl5pPr marL="18288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pPr>
            <a:fld id="{EBC38A7A-949D-421D-AE51-B8BBD000CAD2}" type="slidenum">
              <a:rPr lang="en-US" altLang="zh-CN" smtClean="0"/>
              <a:t>5</a:t>
            </a:fld>
            <a:endParaRPr lang="en-US" altLang="zh-CN" sz="1645">
              <a:solidFill>
                <a:srgbClr val="FF0000"/>
              </a:solidFill>
              <a:latin typeface="Times New Roman" panose="02020603050405020304" pitchFamily="18" charset="0"/>
            </a:endParaRPr>
          </a:p>
        </p:txBody>
      </p:sp>
      <p:sp>
        <p:nvSpPr>
          <p:cNvPr id="10243" name="Text Box 4"/>
          <p:cNvSpPr txBox="1">
            <a:spLocks noChangeArrowheads="1"/>
          </p:cNvSpPr>
          <p:nvPr/>
        </p:nvSpPr>
        <p:spPr bwMode="auto">
          <a:xfrm>
            <a:off x="26126" y="0"/>
            <a:ext cx="9144000" cy="44704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marL="742950" indent="-285750">
              <a:defRPr sz="6000">
                <a:solidFill>
                  <a:schemeClr val="tx1"/>
                </a:solidFill>
                <a:latin typeface="宋体" panose="02010600030101010101" pitchFamily="2" charset="-122"/>
                <a:ea typeface="隶书" panose="02010509060101010101" pitchFamily="49" charset="-122"/>
              </a:defRPr>
            </a:lvl2pPr>
            <a:lvl3pPr marL="1143000" indent="-228600">
              <a:defRPr sz="6000">
                <a:solidFill>
                  <a:schemeClr val="tx1"/>
                </a:solidFill>
                <a:latin typeface="宋体" panose="02010600030101010101" pitchFamily="2" charset="-122"/>
                <a:ea typeface="隶书" panose="02010509060101010101" pitchFamily="49" charset="-122"/>
              </a:defRPr>
            </a:lvl3pPr>
            <a:lvl4pPr marL="1600200" indent="-228600">
              <a:defRPr sz="6000">
                <a:solidFill>
                  <a:schemeClr val="tx1"/>
                </a:solidFill>
                <a:latin typeface="宋体" panose="02010600030101010101" pitchFamily="2" charset="-122"/>
                <a:ea typeface="隶书" panose="02010509060101010101" pitchFamily="49" charset="-122"/>
              </a:defRPr>
            </a:lvl4pPr>
            <a:lvl5pPr marL="2057400" indent="-228600">
              <a:defRPr sz="6000">
                <a:solidFill>
                  <a:schemeClr val="tx1"/>
                </a:solidFill>
                <a:latin typeface="宋体" panose="02010600030101010101" pitchFamily="2" charset="-122"/>
                <a:ea typeface="隶书" panose="02010509060101010101" pitchFamily="49" charset="-122"/>
              </a:defRPr>
            </a:lvl5pPr>
            <a:lvl6pPr marL="25146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6pPr>
            <a:lvl7pPr marL="29718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7pPr>
            <a:lvl8pPr marL="34290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8pPr>
            <a:lvl9pPr marL="38862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9pPr>
          </a:lstStyle>
          <a:p>
            <a:pPr>
              <a:spcBef>
                <a:spcPct val="50000"/>
              </a:spcBef>
            </a:pPr>
            <a:r>
              <a:rPr lang="zh-CN" altLang="en-US" sz="2330" dirty="0">
                <a:solidFill>
                  <a:schemeClr val="bg1"/>
                </a:solidFill>
                <a:latin typeface="楷体_GB2312" pitchFamily="49" charset="-122"/>
                <a:ea typeface="楷体_GB2312" pitchFamily="49" charset="-122"/>
              </a:rPr>
              <a:t>信号与系统                             </a:t>
            </a:r>
            <a:r>
              <a:rPr lang="zh-CN" altLang="en-US" sz="2330" dirty="0">
                <a:solidFill>
                  <a:schemeClr val="bg1"/>
                </a:solidFill>
                <a:ea typeface="楷体_GB2312" pitchFamily="49" charset="-122"/>
              </a:rPr>
              <a:t>作业的发布和提交</a:t>
            </a:r>
          </a:p>
        </p:txBody>
      </p:sp>
      <p:sp>
        <p:nvSpPr>
          <p:cNvPr id="3" name="矩形 2"/>
          <p:cNvSpPr/>
          <p:nvPr/>
        </p:nvSpPr>
        <p:spPr>
          <a:xfrm>
            <a:off x="188323" y="1651363"/>
            <a:ext cx="8542020" cy="1420495"/>
          </a:xfrm>
          <a:prstGeom prst="rect">
            <a:avLst/>
          </a:prstGeom>
        </p:spPr>
        <p:txBody>
          <a:bodyPr>
            <a:spAutoFit/>
          </a:bodyPr>
          <a:lstStyle/>
          <a:p>
            <a:pPr marL="342900" indent="-342900">
              <a:lnSpc>
                <a:spcPct val="150000"/>
              </a:lnSpc>
              <a:buFont typeface="Wingdings" panose="05000000000000000000" pitchFamily="2" charset="2"/>
              <a:buChar char="u"/>
              <a:defRPr/>
            </a:pPr>
            <a:r>
              <a:rPr lang="zh-CN" altLang="zh-CN" sz="1920" dirty="0">
                <a:solidFill>
                  <a:srgbClr val="FF0000"/>
                </a:solidFill>
                <a:latin typeface="+mn-ea"/>
                <a:ea typeface="+mn-ea"/>
              </a:rPr>
              <a:t>作业的</a:t>
            </a:r>
            <a:r>
              <a:rPr lang="zh-CN" altLang="en-US" sz="1920" dirty="0">
                <a:solidFill>
                  <a:srgbClr val="FF0000"/>
                </a:solidFill>
                <a:latin typeface="+mn-ea"/>
                <a:ea typeface="+mn-ea"/>
              </a:rPr>
              <a:t>发布</a:t>
            </a:r>
            <a:endParaRPr lang="en-US" altLang="zh-CN" sz="1920" dirty="0">
              <a:solidFill>
                <a:srgbClr val="FF0000"/>
              </a:solidFill>
              <a:latin typeface="+mn-ea"/>
              <a:ea typeface="+mn-ea"/>
            </a:endParaRPr>
          </a:p>
          <a:p>
            <a:pPr>
              <a:lnSpc>
                <a:spcPct val="150000"/>
              </a:lnSpc>
              <a:defRPr/>
            </a:pPr>
            <a:r>
              <a:rPr lang="en-US" altLang="zh-CN" sz="1920" dirty="0">
                <a:latin typeface="+mn-ea"/>
                <a:ea typeface="+mn-ea"/>
              </a:rPr>
              <a:t>   </a:t>
            </a:r>
            <a:r>
              <a:rPr lang="zh-CN" altLang="zh-CN" sz="1920" dirty="0">
                <a:latin typeface="+mn-ea"/>
                <a:ea typeface="+mn-ea"/>
              </a:rPr>
              <a:t>我将以</a:t>
            </a:r>
            <a:r>
              <a:rPr lang="en-US" altLang="zh-CN" sz="1920" dirty="0">
                <a:latin typeface="+mn-ea"/>
                <a:ea typeface="+mn-ea"/>
              </a:rPr>
              <a:t>WORD</a:t>
            </a:r>
            <a:r>
              <a:rPr lang="zh-CN" altLang="zh-CN" sz="1920" dirty="0">
                <a:latin typeface="+mn-ea"/>
                <a:ea typeface="+mn-ea"/>
              </a:rPr>
              <a:t>文档的方式，将作业内容上传到</a:t>
            </a:r>
            <a:r>
              <a:rPr lang="en-US" altLang="zh-CN" sz="1920" dirty="0">
                <a:solidFill>
                  <a:srgbClr val="FF0000"/>
                </a:solidFill>
                <a:latin typeface="+mn-ea"/>
                <a:ea typeface="+mn-ea"/>
              </a:rPr>
              <a:t>QQ</a:t>
            </a:r>
            <a:r>
              <a:rPr lang="zh-CN" altLang="zh-CN" sz="1920" dirty="0">
                <a:solidFill>
                  <a:srgbClr val="FF0000"/>
                </a:solidFill>
                <a:latin typeface="+mn-ea"/>
                <a:ea typeface="+mn-ea"/>
              </a:rPr>
              <a:t>群（</a:t>
            </a:r>
            <a:r>
              <a:rPr lang="en-US" altLang="zh-CN" sz="1920" dirty="0">
                <a:solidFill>
                  <a:srgbClr val="FF0000"/>
                </a:solidFill>
                <a:latin typeface="+mn-ea"/>
                <a:ea typeface="+mn-ea"/>
              </a:rPr>
              <a:t>993178936</a:t>
            </a:r>
            <a:r>
              <a:rPr lang="zh-CN" altLang="en-US" sz="1920" dirty="0">
                <a:solidFill>
                  <a:srgbClr val="FF0000"/>
                </a:solidFill>
                <a:latin typeface="+mn-ea"/>
                <a:ea typeface="+mn-ea"/>
              </a:rPr>
              <a:t>）</a:t>
            </a:r>
            <a:r>
              <a:rPr lang="zh-CN" altLang="zh-CN" sz="1920" dirty="0">
                <a:latin typeface="+mn-ea"/>
                <a:ea typeface="+mn-ea"/>
              </a:rPr>
              <a:t>的作业中，并发出群公告提醒同学们有作业发布。</a:t>
            </a:r>
          </a:p>
        </p:txBody>
      </p:sp>
      <p:sp>
        <p:nvSpPr>
          <p:cNvPr id="8" name="矩形 7"/>
          <p:cNvSpPr/>
          <p:nvPr/>
        </p:nvSpPr>
        <p:spPr>
          <a:xfrm>
            <a:off x="296909" y="3546475"/>
            <a:ext cx="8231777" cy="1352678"/>
          </a:xfrm>
          <a:prstGeom prst="rect">
            <a:avLst/>
          </a:prstGeom>
        </p:spPr>
        <p:txBody>
          <a:bodyPr>
            <a:spAutoFit/>
          </a:bodyPr>
          <a:lstStyle/>
          <a:p>
            <a:pPr marL="342900" indent="-342900">
              <a:lnSpc>
                <a:spcPct val="150000"/>
              </a:lnSpc>
              <a:buFont typeface="Wingdings" panose="05000000000000000000" pitchFamily="2" charset="2"/>
              <a:buChar char="u"/>
              <a:defRPr/>
            </a:pPr>
            <a:r>
              <a:rPr lang="zh-CN" altLang="zh-CN" sz="1920" dirty="0">
                <a:solidFill>
                  <a:srgbClr val="FF0000"/>
                </a:solidFill>
                <a:latin typeface="+mn-ea"/>
                <a:ea typeface="+mn-ea"/>
              </a:rPr>
              <a:t>作业的撰写</a:t>
            </a:r>
            <a:r>
              <a:rPr lang="zh-CN" altLang="en-US" sz="1920" dirty="0">
                <a:solidFill>
                  <a:srgbClr val="FF0000"/>
                </a:solidFill>
                <a:latin typeface="+mn-ea"/>
                <a:ea typeface="+mn-ea"/>
              </a:rPr>
              <a:t>与提交</a:t>
            </a:r>
            <a:endParaRPr lang="zh-CN" altLang="zh-CN" sz="1920" dirty="0">
              <a:solidFill>
                <a:srgbClr val="FF0000"/>
              </a:solidFill>
              <a:latin typeface="+mn-ea"/>
              <a:ea typeface="+mn-ea"/>
            </a:endParaRPr>
          </a:p>
          <a:p>
            <a:pPr>
              <a:lnSpc>
                <a:spcPct val="150000"/>
              </a:lnSpc>
              <a:defRPr/>
            </a:pPr>
            <a:r>
              <a:rPr lang="en-US" altLang="zh-CN" sz="1920" dirty="0">
                <a:latin typeface="+mn-ea"/>
                <a:ea typeface="+mn-ea"/>
              </a:rPr>
              <a:t>   </a:t>
            </a:r>
            <a:r>
              <a:rPr lang="zh-CN" altLang="zh-CN" sz="1920" dirty="0">
                <a:latin typeface="+mn-ea"/>
                <a:ea typeface="+mn-ea"/>
              </a:rPr>
              <a:t>准备两个作业本，</a:t>
            </a:r>
            <a:r>
              <a:rPr lang="zh-CN" altLang="zh-CN" sz="1920" dirty="0">
                <a:solidFill>
                  <a:srgbClr val="0000FF"/>
                </a:solidFill>
                <a:latin typeface="+mn-ea"/>
                <a:ea typeface="+mn-ea"/>
              </a:rPr>
              <a:t>纸质作业的完成后交给课代表处，由课代表交给助教老师。</a:t>
            </a:r>
          </a:p>
        </p:txBody>
      </p:sp>
      <p:sp>
        <p:nvSpPr>
          <p:cNvPr id="2" name="矩形 1"/>
          <p:cNvSpPr/>
          <p:nvPr/>
        </p:nvSpPr>
        <p:spPr>
          <a:xfrm>
            <a:off x="128357" y="617394"/>
            <a:ext cx="3466768" cy="559769"/>
          </a:xfrm>
          <a:prstGeom prst="rect">
            <a:avLst/>
          </a:prstGeom>
          <a:solidFill>
            <a:schemeClr val="bg1"/>
          </a:solidFill>
          <a:ln>
            <a:solidFill>
              <a:srgbClr val="0000FF"/>
            </a:solidFill>
          </a:ln>
          <a:effectLst>
            <a:outerShdw blurRad="50800" dist="38100" dir="2700000" algn="tl" rotWithShape="0">
              <a:prstClr val="black">
                <a:alpha val="40000"/>
              </a:prstClr>
            </a:outerShdw>
          </a:effectLst>
        </p:spPr>
        <p:txBody>
          <a:bodyPr wrap="square">
            <a:spAutoFit/>
          </a:bodyPr>
          <a:lstStyle/>
          <a:p>
            <a:pPr>
              <a:lnSpc>
                <a:spcPct val="150000"/>
              </a:lnSpc>
              <a:defRPr/>
            </a:pPr>
            <a:r>
              <a:rPr lang="zh-CN" altLang="en-US" sz="2400" dirty="0">
                <a:solidFill>
                  <a:srgbClr val="FF0000"/>
                </a:solidFill>
                <a:latin typeface="宋体" panose="02010600030101010101" pitchFamily="2" charset="-122"/>
                <a:ea typeface="宋体" panose="02010600030101010101" pitchFamily="2" charset="-122"/>
              </a:rPr>
              <a:t>作业的发布和提交</a:t>
            </a:r>
            <a:endParaRPr lang="zh-CN" altLang="zh-CN" sz="2400" dirty="0">
              <a:solidFill>
                <a:srgbClr val="FF0000"/>
              </a:solidFill>
              <a:latin typeface="宋体" panose="02010600030101010101" pitchFamily="2" charset="-122"/>
              <a:ea typeface="宋体" panose="02010600030101010101" pitchFamily="2" charset="-122"/>
            </a:endParaRPr>
          </a:p>
        </p:txBody>
      </p:sp>
      <p:sp>
        <p:nvSpPr>
          <p:cNvPr id="13" name="矩形 12"/>
          <p:cNvSpPr/>
          <p:nvPr/>
        </p:nvSpPr>
        <p:spPr>
          <a:xfrm>
            <a:off x="482237" y="5656796"/>
            <a:ext cx="8241480" cy="768350"/>
          </a:xfrm>
          <a:prstGeom prst="rect">
            <a:avLst/>
          </a:prstGeom>
        </p:spPr>
        <p:txBody>
          <a:bodyPr wrap="square">
            <a:spAutoFit/>
          </a:bodyPr>
          <a:lstStyle/>
          <a:p>
            <a:pPr algn="just">
              <a:lnSpc>
                <a:spcPct val="200000"/>
              </a:lnSpc>
              <a:spcAft>
                <a:spcPts val="0"/>
              </a:spcAft>
              <a:defRPr/>
            </a:pPr>
            <a:r>
              <a:rPr lang="en-US" altLang="zh-CN" sz="2195" kern="100" dirty="0">
                <a:solidFill>
                  <a:srgbClr val="FF0000"/>
                </a:solidFill>
                <a:latin typeface="+mn-ea"/>
                <a:ea typeface="+mn-ea"/>
                <a:cs typeface="Times New Roman" panose="02020603050405020304"/>
              </a:rPr>
              <a:t> </a:t>
            </a:r>
            <a:r>
              <a:rPr lang="zh-CN" altLang="en-US" sz="2195" kern="100" dirty="0">
                <a:solidFill>
                  <a:srgbClr val="FF0000"/>
                </a:solidFill>
                <a:latin typeface="+mn-ea"/>
                <a:ea typeface="+mn-ea"/>
                <a:cs typeface="Times New Roman" panose="02020603050405020304"/>
              </a:rPr>
              <a:t>注意：课堂提问、点名和作业的提交与完成情况将计入平时成绩</a:t>
            </a:r>
            <a:endParaRPr lang="zh-CN" altLang="zh-CN" sz="2195" kern="100" dirty="0">
              <a:solidFill>
                <a:srgbClr val="FF0000"/>
              </a:solidFill>
              <a:latin typeface="+mn-ea"/>
              <a:ea typeface="+mn-ea"/>
              <a:cs typeface="Times New Roman" panose="02020603050405020304"/>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970"/>
    </mc:Choice>
    <mc:Fallback xmlns="">
      <p:transition spd="slow" advTm="309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750"/>
                                        <p:tgtEl>
                                          <p:spTgt spid="8"/>
                                        </p:tgtEl>
                                      </p:cBhvr>
                                    </p:animEffect>
                                    <p:anim calcmode="lin" valueType="num">
                                      <p:cBhvr>
                                        <p:cTn id="12" dur="750" fill="hold"/>
                                        <p:tgtEl>
                                          <p:spTgt spid="8"/>
                                        </p:tgtEl>
                                        <p:attrNameLst>
                                          <p:attrName>ppt_x</p:attrName>
                                        </p:attrNameLst>
                                      </p:cBhvr>
                                      <p:tavLst>
                                        <p:tav tm="0">
                                          <p:val>
                                            <p:strVal val="#ppt_x"/>
                                          </p:val>
                                        </p:tav>
                                        <p:tav tm="100000">
                                          <p:val>
                                            <p:strVal val="#ppt_x"/>
                                          </p:val>
                                        </p:tav>
                                      </p:tavLst>
                                    </p:anim>
                                    <p:anim calcmode="lin" valueType="num">
                                      <p:cBhvr>
                                        <p:cTn id="13"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6547" name="Rectangle 3"/>
          <p:cNvSpPr>
            <a:spLocks noGrp="1" noChangeArrowheads="1"/>
          </p:cNvSpPr>
          <p:nvPr>
            <p:ph type="body" idx="1"/>
          </p:nvPr>
        </p:nvSpPr>
        <p:spPr>
          <a:xfrm>
            <a:off x="523875" y="1042988"/>
            <a:ext cx="7497763" cy="3473450"/>
          </a:xfrm>
          <a:ln w="57150">
            <a:solidFill>
              <a:schemeClr val="tx1"/>
            </a:solidFill>
            <a:miter lim="800000"/>
          </a:ln>
        </p:spPr>
        <p:txBody>
          <a:bodyPr/>
          <a:lstStyle/>
          <a:p>
            <a:pPr>
              <a:lnSpc>
                <a:spcPct val="160000"/>
              </a:lnSpc>
              <a:buFont typeface="Wingdings" panose="05000000000000000000" pitchFamily="2" charset="2"/>
              <a:buChar char="l"/>
            </a:pPr>
            <a:r>
              <a:rPr lang="en-US" altLang="zh-CN" sz="2200" b="1" dirty="0"/>
              <a:t>  </a:t>
            </a:r>
            <a:r>
              <a:rPr lang="zh-CN" altLang="en-US" sz="2200" b="1" dirty="0">
                <a:solidFill>
                  <a:srgbClr val="0000FF"/>
                </a:solidFill>
              </a:rPr>
              <a:t>保持良好的课堂秩序</a:t>
            </a:r>
          </a:p>
          <a:p>
            <a:pPr>
              <a:lnSpc>
                <a:spcPct val="160000"/>
              </a:lnSpc>
              <a:buFont typeface="Wingdings" panose="05000000000000000000" pitchFamily="2" charset="2"/>
              <a:buChar char="l"/>
            </a:pPr>
            <a:r>
              <a:rPr lang="zh-CN" altLang="en-US" sz="2200" b="1" dirty="0">
                <a:solidFill>
                  <a:srgbClr val="0000FF"/>
                </a:solidFill>
              </a:rPr>
              <a:t>  严格遵守上课纪律</a:t>
            </a:r>
            <a:r>
              <a:rPr lang="zh-CN" altLang="en-US" sz="2200" b="1" dirty="0"/>
              <a:t> </a:t>
            </a:r>
          </a:p>
          <a:p>
            <a:pPr>
              <a:lnSpc>
                <a:spcPct val="160000"/>
              </a:lnSpc>
              <a:buFont typeface="Wingdings" panose="05000000000000000000" pitchFamily="2" charset="2"/>
              <a:buNone/>
            </a:pPr>
            <a:r>
              <a:rPr lang="zh-CN" altLang="en-US" sz="2200" b="1" dirty="0">
                <a:solidFill>
                  <a:srgbClr val="006600"/>
                </a:solidFill>
                <a:latin typeface="楷体_GB2312" pitchFamily="49" charset="-122"/>
                <a:ea typeface="楷体_GB2312" pitchFamily="49" charset="-122"/>
              </a:rPr>
              <a:t>   （随机抽查三次旷课或</a:t>
            </a:r>
            <a:r>
              <a:rPr lang="en-US" altLang="zh-CN" sz="2200" b="1" dirty="0">
                <a:solidFill>
                  <a:srgbClr val="006600"/>
                </a:solidFill>
                <a:latin typeface="楷体_GB2312" pitchFamily="49" charset="-122"/>
                <a:ea typeface="楷体_GB2312" pitchFamily="49" charset="-122"/>
              </a:rPr>
              <a:t>6</a:t>
            </a:r>
            <a:r>
              <a:rPr lang="zh-CN" altLang="en-US" sz="2200" b="1" dirty="0">
                <a:solidFill>
                  <a:srgbClr val="006600"/>
                </a:solidFill>
                <a:latin typeface="楷体_GB2312" pitchFamily="49" charset="-122"/>
                <a:ea typeface="楷体_GB2312" pitchFamily="49" charset="-122"/>
              </a:rPr>
              <a:t>次迟到、早退取消考试资格）</a:t>
            </a:r>
          </a:p>
          <a:p>
            <a:pPr>
              <a:lnSpc>
                <a:spcPct val="160000"/>
              </a:lnSpc>
              <a:buFont typeface="Wingdings" panose="05000000000000000000" pitchFamily="2" charset="2"/>
              <a:buChar char="l"/>
            </a:pPr>
            <a:r>
              <a:rPr lang="zh-CN" altLang="en-US" sz="2000" b="1" dirty="0">
                <a:solidFill>
                  <a:srgbClr val="CC0000"/>
                </a:solidFill>
              </a:rPr>
              <a:t> </a:t>
            </a:r>
            <a:r>
              <a:rPr lang="zh-CN" altLang="en-US" sz="2200" b="1" dirty="0">
                <a:solidFill>
                  <a:srgbClr val="0000FF"/>
                </a:solidFill>
              </a:rPr>
              <a:t>认真完成课后作业 </a:t>
            </a:r>
          </a:p>
          <a:p>
            <a:pPr>
              <a:lnSpc>
                <a:spcPct val="160000"/>
              </a:lnSpc>
              <a:buFont typeface="Wingdings" panose="05000000000000000000" pitchFamily="2" charset="2"/>
              <a:buNone/>
            </a:pPr>
            <a:r>
              <a:rPr lang="zh-CN" altLang="en-US" sz="2200" b="1" dirty="0">
                <a:solidFill>
                  <a:srgbClr val="006600"/>
                </a:solidFill>
                <a:latin typeface="楷体_GB2312" pitchFamily="49" charset="-122"/>
                <a:ea typeface="楷体_GB2312" pitchFamily="49" charset="-122"/>
              </a:rPr>
              <a:t>     （作业缺</a:t>
            </a:r>
            <a:r>
              <a:rPr lang="en-US" altLang="zh-CN" sz="2200" b="1" dirty="0">
                <a:solidFill>
                  <a:srgbClr val="006600"/>
                </a:solidFill>
                <a:latin typeface="楷体_GB2312" pitchFamily="49" charset="-122"/>
                <a:ea typeface="楷体_GB2312" pitchFamily="49" charset="-122"/>
              </a:rPr>
              <a:t>1/3</a:t>
            </a:r>
            <a:r>
              <a:rPr lang="zh-CN" altLang="en-US" sz="2200" b="1" dirty="0">
                <a:solidFill>
                  <a:srgbClr val="006600"/>
                </a:solidFill>
                <a:latin typeface="楷体_GB2312" pitchFamily="49" charset="-122"/>
                <a:ea typeface="楷体_GB2312" pitchFamily="49" charset="-122"/>
              </a:rPr>
              <a:t>取消考试资格）</a:t>
            </a:r>
            <a:endParaRPr lang="zh-CN" altLang="en-US" sz="2200" b="1" dirty="0">
              <a:solidFill>
                <a:srgbClr val="FF0066"/>
              </a:solidFill>
              <a:latin typeface="楷体_GB2312" pitchFamily="49" charset="-122"/>
              <a:ea typeface="楷体_GB2312" pitchFamily="49" charset="-122"/>
            </a:endParaRPr>
          </a:p>
        </p:txBody>
      </p:sp>
      <p:graphicFrame>
        <p:nvGraphicFramePr>
          <p:cNvPr id="56323" name="Object 2"/>
          <p:cNvGraphicFramePr>
            <a:graphicFrameLocks noChangeAspect="1"/>
          </p:cNvGraphicFramePr>
          <p:nvPr/>
        </p:nvGraphicFramePr>
        <p:xfrm>
          <a:off x="6718300" y="3009900"/>
          <a:ext cx="2425700" cy="3465513"/>
        </p:xfrm>
        <a:graphic>
          <a:graphicData uri="http://schemas.openxmlformats.org/presentationml/2006/ole">
            <mc:AlternateContent xmlns:mc="http://schemas.openxmlformats.org/markup-compatibility/2006">
              <mc:Choice xmlns:v="urn:schemas-microsoft-com:vml" Requires="v">
                <p:oleObj spid="_x0000_s1046" name="剪辑" r:id="rId4" imgW="2425700" imgH="3463925" progId="MS_ClipArt_Gallery.2">
                  <p:embed/>
                </p:oleObj>
              </mc:Choice>
              <mc:Fallback>
                <p:oleObj name="剪辑" r:id="rId4" imgW="2425700" imgH="3463925" progId="MS_ClipArt_Gallery.2">
                  <p:embed/>
                  <p:pic>
                    <p:nvPicPr>
                      <p:cNvPr id="0" name="图片 10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8300" y="3009900"/>
                        <a:ext cx="2425700" cy="3465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4" name="Text Box 6"/>
          <p:cNvSpPr txBox="1">
            <a:spLocks noChangeArrowheads="1"/>
          </p:cNvSpPr>
          <p:nvPr/>
        </p:nvSpPr>
        <p:spPr bwMode="auto">
          <a:xfrm>
            <a:off x="0" y="46038"/>
            <a:ext cx="9144000" cy="41910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sz="3200">
                <a:solidFill>
                  <a:schemeClr val="bg1"/>
                </a:solidFill>
                <a:latin typeface="楷体_GB2312" pitchFamily="49" charset="-122"/>
                <a:ea typeface="楷体_GB2312" pitchFamily="49" charset="-122"/>
              </a:rPr>
              <a:t>信号与系统</a:t>
            </a:r>
            <a:r>
              <a:rPr lang="zh-CN" altLang="en-US" sz="3200">
                <a:solidFill>
                  <a:schemeClr val="bg1"/>
                </a:solidFill>
              </a:rPr>
              <a:t>                  </a:t>
            </a:r>
            <a:r>
              <a:rPr lang="zh-CN" altLang="en-US" sz="3200">
                <a:solidFill>
                  <a:schemeClr val="bg1"/>
                </a:solidFill>
                <a:latin typeface="楷体_GB2312" pitchFamily="49" charset="-122"/>
                <a:ea typeface="楷体_GB2312" pitchFamily="49" charset="-122"/>
              </a:rPr>
              <a:t>学习本课程的要求</a:t>
            </a:r>
          </a:p>
        </p:txBody>
      </p:sp>
      <p:sp>
        <p:nvSpPr>
          <p:cNvPr id="1516551" name="Rectangle 7"/>
          <p:cNvSpPr>
            <a:spLocks noChangeArrowheads="1"/>
          </p:cNvSpPr>
          <p:nvPr/>
        </p:nvSpPr>
        <p:spPr bwMode="auto">
          <a:xfrm>
            <a:off x="1300163" y="4945063"/>
            <a:ext cx="3752850" cy="1139825"/>
          </a:xfrm>
          <a:prstGeom prst="rect">
            <a:avLst/>
          </a:prstGeom>
          <a:solidFill>
            <a:schemeClr val="bg1"/>
          </a:solidFill>
          <a:ln w="9525">
            <a:solidFill>
              <a:schemeClr val="bg2"/>
            </a:solidFill>
            <a:miter lim="800000"/>
          </a:ln>
          <a:effectLst>
            <a:prstShdw prst="shdw11">
              <a:srgbClr val="808080">
                <a:alpha val="50000"/>
              </a:srgbClr>
            </a:prstShdw>
          </a:effectLst>
        </p:spPr>
        <p:txBody>
          <a:bodyPr lIns="91433" tIns="45716" rIns="91433" bIns="45716"/>
          <a:lstStyle>
            <a:lvl1pPr marL="373380" indent="-373380" defTabSz="1148080">
              <a:defRPr sz="2800" b="1">
                <a:solidFill>
                  <a:schemeClr val="tx1"/>
                </a:solidFill>
                <a:latin typeface="黑体" panose="02010609060101010101" pitchFamily="49" charset="-122"/>
                <a:ea typeface="黑体" panose="02010609060101010101" pitchFamily="49" charset="-122"/>
              </a:defRPr>
            </a:lvl1pPr>
            <a:lvl2pPr marL="742950" indent="-285750" defTabSz="1148080">
              <a:defRPr sz="2800" b="1">
                <a:solidFill>
                  <a:schemeClr val="tx1"/>
                </a:solidFill>
                <a:latin typeface="黑体" panose="02010609060101010101" pitchFamily="49" charset="-122"/>
                <a:ea typeface="黑体" panose="02010609060101010101" pitchFamily="49" charset="-122"/>
              </a:defRPr>
            </a:lvl2pPr>
            <a:lvl3pPr marL="1143000" indent="-228600" defTabSz="1148080">
              <a:defRPr sz="2800" b="1">
                <a:solidFill>
                  <a:schemeClr val="tx1"/>
                </a:solidFill>
                <a:latin typeface="黑体" panose="02010609060101010101" pitchFamily="49" charset="-122"/>
                <a:ea typeface="黑体" panose="02010609060101010101" pitchFamily="49" charset="-122"/>
              </a:defRPr>
            </a:lvl3pPr>
            <a:lvl4pPr marL="1600200" indent="-228600" defTabSz="1148080">
              <a:defRPr sz="2800" b="1">
                <a:solidFill>
                  <a:schemeClr val="tx1"/>
                </a:solidFill>
                <a:latin typeface="黑体" panose="02010609060101010101" pitchFamily="49" charset="-122"/>
                <a:ea typeface="黑体" panose="02010609060101010101" pitchFamily="49" charset="-122"/>
              </a:defRPr>
            </a:lvl4pPr>
            <a:lvl5pPr marL="2057400" indent="-228600" defTabSz="1148080">
              <a:defRPr sz="2800" b="1">
                <a:solidFill>
                  <a:schemeClr val="tx1"/>
                </a:solidFill>
                <a:latin typeface="黑体" panose="02010609060101010101" pitchFamily="49" charset="-122"/>
                <a:ea typeface="黑体" panose="02010609060101010101" pitchFamily="49" charset="-122"/>
              </a:defRPr>
            </a:lvl5pPr>
            <a:lvl6pPr marL="2514600" indent="-228600" defTabSz="114808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defTabSz="114808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defTabSz="114808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defTabSz="114808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10000"/>
              </a:lnSpc>
              <a:spcBef>
                <a:spcPct val="5000"/>
              </a:spcBef>
              <a:buClr>
                <a:schemeClr val="accent2"/>
              </a:buClr>
              <a:buFont typeface="Wingdings" panose="05000000000000000000" pitchFamily="2" charset="2"/>
              <a:buNone/>
            </a:pPr>
            <a:r>
              <a:rPr lang="zh-CN" altLang="en-US" sz="3100">
                <a:solidFill>
                  <a:srgbClr val="FF0000"/>
                </a:solidFill>
                <a:latin typeface="隶书" panose="02010509060101010101" pitchFamily="49" charset="-122"/>
              </a:rPr>
              <a:t>考试形式</a:t>
            </a:r>
            <a:r>
              <a:rPr lang="en-US" altLang="zh-CN" sz="3100">
                <a:solidFill>
                  <a:srgbClr val="FF0000"/>
                </a:solidFill>
                <a:latin typeface="隶书" panose="02010509060101010101" pitchFamily="49" charset="-122"/>
              </a:rPr>
              <a:t>:</a:t>
            </a:r>
          </a:p>
          <a:p>
            <a:pPr eaLnBrk="1" hangingPunct="1">
              <a:lnSpc>
                <a:spcPct val="150000"/>
              </a:lnSpc>
              <a:spcBef>
                <a:spcPct val="5000"/>
              </a:spcBef>
              <a:buClr>
                <a:srgbClr val="FF0000"/>
              </a:buClr>
              <a:buFont typeface="Wingdings" panose="05000000000000000000" pitchFamily="2" charset="2"/>
              <a:buChar char="p"/>
            </a:pPr>
            <a:r>
              <a:rPr lang="zh-CN" altLang="en-US" sz="2000">
                <a:ea typeface="宋体" panose="02010600030101010101" pitchFamily="2" charset="-122"/>
              </a:rPr>
              <a:t>闭卷 笔试</a:t>
            </a:r>
          </a:p>
          <a:p>
            <a:pPr eaLnBrk="1" hangingPunct="1">
              <a:lnSpc>
                <a:spcPct val="150000"/>
              </a:lnSpc>
              <a:spcBef>
                <a:spcPct val="5000"/>
              </a:spcBef>
              <a:buClr>
                <a:schemeClr val="accent2"/>
              </a:buClr>
              <a:buFont typeface="Wingdings" panose="05000000000000000000" pitchFamily="2" charset="2"/>
              <a:buNone/>
            </a:pPr>
            <a:endParaRPr lang="en-US" altLang="zh-CN" sz="2000">
              <a:ea typeface="宋体" panose="02010600030101010101" pitchFamily="2" charset="-122"/>
            </a:endParaRPr>
          </a:p>
        </p:txBody>
      </p:sp>
      <p:sp>
        <p:nvSpPr>
          <p:cNvPr id="7" name="日期占位符 6"/>
          <p:cNvSpPr>
            <a:spLocks noGrp="1"/>
          </p:cNvSpPr>
          <p:nvPr>
            <p:ph type="dt" sz="quarter" idx="10"/>
          </p:nvPr>
        </p:nvSpPr>
        <p:spPr/>
        <p:txBody>
          <a:bodyPr/>
          <a:lstStyle/>
          <a:p>
            <a:pPr>
              <a:defRPr/>
            </a:pPr>
            <a:fld id="{C7990575-937C-47EB-8C2B-B2BD755D1669}" type="datetime3">
              <a:rPr lang="zh-CN" altLang="en-US"/>
              <a:t>2026年3月4日星期三</a:t>
            </a:fld>
            <a:endParaRPr lang="zh-CN" altLang="en-US"/>
          </a:p>
        </p:txBody>
      </p:sp>
    </p:spTree>
  </p:cSld>
  <p:clrMapOvr>
    <a:masterClrMapping/>
  </p:clrMapOvr>
  <p:transition advTm="1941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16547">
                                            <p:bg/>
                                          </p:spTgt>
                                        </p:tgtEl>
                                        <p:attrNameLst>
                                          <p:attrName>style.visibility</p:attrName>
                                        </p:attrNameLst>
                                      </p:cBhvr>
                                      <p:to>
                                        <p:strVal val="visible"/>
                                      </p:to>
                                    </p:set>
                                    <p:anim calcmode="lin" valueType="num">
                                      <p:cBhvr>
                                        <p:cTn id="7" dur="1000" fill="hold"/>
                                        <p:tgtEl>
                                          <p:spTgt spid="1516547">
                                            <p:bg/>
                                          </p:spTgt>
                                        </p:tgtEl>
                                        <p:attrNameLst>
                                          <p:attrName>ppt_w</p:attrName>
                                        </p:attrNameLst>
                                      </p:cBhvr>
                                      <p:tavLst>
                                        <p:tav tm="0">
                                          <p:val>
                                            <p:strVal val="#ppt_w*0.70"/>
                                          </p:val>
                                        </p:tav>
                                        <p:tav tm="100000">
                                          <p:val>
                                            <p:strVal val="#ppt_w"/>
                                          </p:val>
                                        </p:tav>
                                      </p:tavLst>
                                    </p:anim>
                                    <p:anim calcmode="lin" valueType="num">
                                      <p:cBhvr>
                                        <p:cTn id="8" dur="1000" fill="hold"/>
                                        <p:tgtEl>
                                          <p:spTgt spid="1516547">
                                            <p:bg/>
                                          </p:spTgt>
                                        </p:tgtEl>
                                        <p:attrNameLst>
                                          <p:attrName>ppt_h</p:attrName>
                                        </p:attrNameLst>
                                      </p:cBhvr>
                                      <p:tavLst>
                                        <p:tav tm="0">
                                          <p:val>
                                            <p:strVal val="#ppt_h"/>
                                          </p:val>
                                        </p:tav>
                                        <p:tav tm="100000">
                                          <p:val>
                                            <p:strVal val="#ppt_h"/>
                                          </p:val>
                                        </p:tav>
                                      </p:tavLst>
                                    </p:anim>
                                    <p:animEffect transition="in" filter="fade">
                                      <p:cBhvr>
                                        <p:cTn id="9" dur="1000"/>
                                        <p:tgtEl>
                                          <p:spTgt spid="1516547">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16547">
                                            <p:txEl>
                                              <p:pRg st="0" end="0"/>
                                            </p:txEl>
                                          </p:spTgt>
                                        </p:tgtEl>
                                        <p:attrNameLst>
                                          <p:attrName>style.visibility</p:attrName>
                                        </p:attrNameLst>
                                      </p:cBhvr>
                                      <p:to>
                                        <p:strVal val="visible"/>
                                      </p:to>
                                    </p:set>
                                    <p:anim calcmode="lin" valueType="num">
                                      <p:cBhvr>
                                        <p:cTn id="12" dur="1000" fill="hold"/>
                                        <p:tgtEl>
                                          <p:spTgt spid="1516547">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516547">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516547">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516547">
                                            <p:txEl>
                                              <p:pRg st="1" end="1"/>
                                            </p:txEl>
                                          </p:spTgt>
                                        </p:tgtEl>
                                        <p:attrNameLst>
                                          <p:attrName>style.visibility</p:attrName>
                                        </p:attrNameLst>
                                      </p:cBhvr>
                                      <p:to>
                                        <p:strVal val="visible"/>
                                      </p:to>
                                    </p:set>
                                    <p:anim calcmode="lin" valueType="num">
                                      <p:cBhvr>
                                        <p:cTn id="17" dur="1000" fill="hold"/>
                                        <p:tgtEl>
                                          <p:spTgt spid="1516547">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1516547">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1516547">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516547">
                                            <p:txEl>
                                              <p:pRg st="2" end="2"/>
                                            </p:txEl>
                                          </p:spTgt>
                                        </p:tgtEl>
                                        <p:attrNameLst>
                                          <p:attrName>style.visibility</p:attrName>
                                        </p:attrNameLst>
                                      </p:cBhvr>
                                      <p:to>
                                        <p:strVal val="visible"/>
                                      </p:to>
                                    </p:set>
                                    <p:anim calcmode="lin" valueType="num">
                                      <p:cBhvr>
                                        <p:cTn id="22" dur="1000" fill="hold"/>
                                        <p:tgtEl>
                                          <p:spTgt spid="1516547">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1516547">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1516547">
                                            <p:txEl>
                                              <p:pRg st="2" end="2"/>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516547">
                                            <p:txEl>
                                              <p:pRg st="3" end="3"/>
                                            </p:txEl>
                                          </p:spTgt>
                                        </p:tgtEl>
                                        <p:attrNameLst>
                                          <p:attrName>style.visibility</p:attrName>
                                        </p:attrNameLst>
                                      </p:cBhvr>
                                      <p:to>
                                        <p:strVal val="visible"/>
                                      </p:to>
                                    </p:set>
                                    <p:anim calcmode="lin" valueType="num">
                                      <p:cBhvr>
                                        <p:cTn id="27" dur="1000" fill="hold"/>
                                        <p:tgtEl>
                                          <p:spTgt spid="1516547">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1516547">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1516547">
                                            <p:txEl>
                                              <p:pRg st="3" end="3"/>
                                            </p:txEl>
                                          </p:spTgt>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1516547">
                                            <p:txEl>
                                              <p:pRg st="4" end="4"/>
                                            </p:txEl>
                                          </p:spTgt>
                                        </p:tgtEl>
                                        <p:attrNameLst>
                                          <p:attrName>style.visibility</p:attrName>
                                        </p:attrNameLst>
                                      </p:cBhvr>
                                      <p:to>
                                        <p:strVal val="visible"/>
                                      </p:to>
                                    </p:set>
                                    <p:anim calcmode="lin" valueType="num">
                                      <p:cBhvr>
                                        <p:cTn id="32" dur="1000" fill="hold"/>
                                        <p:tgtEl>
                                          <p:spTgt spid="1516547">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1516547">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1516547">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grpId="0" nodeType="clickEffect">
                                  <p:stCondLst>
                                    <p:cond delay="0"/>
                                  </p:stCondLst>
                                  <p:childTnLst>
                                    <p:set>
                                      <p:cBhvr>
                                        <p:cTn id="38" dur="1" fill="hold">
                                          <p:stCondLst>
                                            <p:cond delay="0"/>
                                          </p:stCondLst>
                                        </p:cTn>
                                        <p:tgtEl>
                                          <p:spTgt spid="1516551"/>
                                        </p:tgtEl>
                                        <p:attrNameLst>
                                          <p:attrName>style.visibility</p:attrName>
                                        </p:attrNameLst>
                                      </p:cBhvr>
                                      <p:to>
                                        <p:strVal val="visible"/>
                                      </p:to>
                                    </p:set>
                                    <p:anim calcmode="lin" valueType="num">
                                      <p:cBhvr>
                                        <p:cTn id="39" dur="1000" fill="hold"/>
                                        <p:tgtEl>
                                          <p:spTgt spid="1516551"/>
                                        </p:tgtEl>
                                        <p:attrNameLst>
                                          <p:attrName>ppt_w</p:attrName>
                                        </p:attrNameLst>
                                      </p:cBhvr>
                                      <p:tavLst>
                                        <p:tav tm="0">
                                          <p:val>
                                            <p:strVal val="#ppt_w*0.70"/>
                                          </p:val>
                                        </p:tav>
                                        <p:tav tm="100000">
                                          <p:val>
                                            <p:strVal val="#ppt_w"/>
                                          </p:val>
                                        </p:tav>
                                      </p:tavLst>
                                    </p:anim>
                                    <p:anim calcmode="lin" valueType="num">
                                      <p:cBhvr>
                                        <p:cTn id="40" dur="1000" fill="hold"/>
                                        <p:tgtEl>
                                          <p:spTgt spid="1516551"/>
                                        </p:tgtEl>
                                        <p:attrNameLst>
                                          <p:attrName>ppt_h</p:attrName>
                                        </p:attrNameLst>
                                      </p:cBhvr>
                                      <p:tavLst>
                                        <p:tav tm="0">
                                          <p:val>
                                            <p:strVal val="#ppt_h"/>
                                          </p:val>
                                        </p:tav>
                                        <p:tav tm="100000">
                                          <p:val>
                                            <p:strVal val="#ppt_h"/>
                                          </p:val>
                                        </p:tav>
                                      </p:tavLst>
                                    </p:anim>
                                    <p:animEffect transition="in" filter="fade">
                                      <p:cBhvr>
                                        <p:cTn id="41" dur="1000"/>
                                        <p:tgtEl>
                                          <p:spTgt spid="1516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6547" grpId="0" build="p" animBg="1"/>
      <p:bldP spid="151655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2pPr>
            <a:lvl3pPr marL="9144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3pPr>
            <a:lvl4pPr marL="13716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4pPr>
            <a:lvl5pPr marL="18288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4FA62078-0112-44C5-8F21-913E1BF7F2DA}" type="slidenum">
              <a:rPr lang="en-US" altLang="zh-CN" smtClean="0"/>
              <a:t>7</a:t>
            </a:fld>
            <a:endParaRPr lang="en-US" altLang="zh-CN" sz="1645"/>
          </a:p>
        </p:txBody>
      </p:sp>
      <p:sp>
        <p:nvSpPr>
          <p:cNvPr id="6146" name="Rectangle 2"/>
          <p:cNvSpPr>
            <a:spLocks noGrp="1" noChangeArrowheads="1"/>
          </p:cNvSpPr>
          <p:nvPr>
            <p:ph type="title"/>
          </p:nvPr>
        </p:nvSpPr>
        <p:spPr>
          <a:xfrm>
            <a:off x="473075" y="763588"/>
            <a:ext cx="3703638" cy="561975"/>
          </a:xfrm>
        </p:spPr>
        <p:txBody>
          <a:bodyPr/>
          <a:lstStyle/>
          <a:p>
            <a:pPr eaLnBrk="1" hangingPunct="1">
              <a:defRPr/>
            </a:pPr>
            <a:r>
              <a:rPr lang="zh-CN" altLang="en-US" sz="1920">
                <a:solidFill>
                  <a:srgbClr val="FF0000"/>
                </a:solidFill>
                <a:ea typeface="黑体" panose="02010609060101010101" pitchFamily="49" charset="-122"/>
              </a:rPr>
              <a:t>信号与系统问题无处不在</a:t>
            </a:r>
            <a:r>
              <a:rPr lang="en-US" altLang="zh-CN" sz="1920">
                <a:solidFill>
                  <a:srgbClr val="FF0000"/>
                </a:solidFill>
                <a:ea typeface="黑体" panose="02010609060101010101" pitchFamily="49" charset="-122"/>
              </a:rPr>
              <a:t>—</a:t>
            </a:r>
            <a:r>
              <a:rPr lang="zh-CN" altLang="en-US" sz="1920">
                <a:solidFill>
                  <a:srgbClr val="FF0000"/>
                </a:solidFill>
                <a:ea typeface="黑体" panose="02010609060101010101" pitchFamily="49" charset="-122"/>
              </a:rPr>
              <a:t>通信</a:t>
            </a:r>
          </a:p>
        </p:txBody>
      </p:sp>
      <p:sp>
        <p:nvSpPr>
          <p:cNvPr id="1492995" name="Rectangle 3"/>
          <p:cNvSpPr>
            <a:spLocks noGrp="1" noChangeArrowheads="1"/>
          </p:cNvSpPr>
          <p:nvPr>
            <p:ph idx="1"/>
          </p:nvPr>
        </p:nvSpPr>
        <p:spPr>
          <a:xfrm>
            <a:off x="414604" y="1601788"/>
            <a:ext cx="6036080" cy="4295775"/>
          </a:xfrm>
          <a:solidFill>
            <a:schemeClr val="bg1"/>
          </a:solidFill>
          <a:ln w="57150">
            <a:solidFill>
              <a:schemeClr val="tx1"/>
            </a:solidFill>
            <a:miter lim="800000"/>
          </a:ln>
          <a:effectLst>
            <a:prstShdw prst="shdw12">
              <a:srgbClr val="808080">
                <a:alpha val="50000"/>
              </a:srgbClr>
            </a:prstShdw>
          </a:effectLst>
        </p:spPr>
        <p:txBody>
          <a:bodyPr/>
          <a:lstStyle/>
          <a:p>
            <a:pPr eaLnBrk="1" hangingPunct="1">
              <a:lnSpc>
                <a:spcPct val="145000"/>
              </a:lnSpc>
              <a:spcBef>
                <a:spcPct val="50000"/>
              </a:spcBef>
              <a:buFont typeface="Wingdings" panose="05000000000000000000" pitchFamily="2" charset="2"/>
              <a:buChar char="l"/>
              <a:defRPr/>
            </a:pPr>
            <a:r>
              <a:rPr lang="zh-CN" altLang="en-US" sz="1920"/>
              <a:t>古老通讯方式</a:t>
            </a:r>
          </a:p>
          <a:p>
            <a:pPr eaLnBrk="1" hangingPunct="1">
              <a:lnSpc>
                <a:spcPct val="145000"/>
              </a:lnSpc>
              <a:spcBef>
                <a:spcPct val="50000"/>
              </a:spcBef>
              <a:buFont typeface="Wingdings" panose="05000000000000000000" pitchFamily="2" charset="2"/>
              <a:buChar char="l"/>
              <a:defRPr/>
            </a:pPr>
            <a:endParaRPr lang="zh-CN" altLang="en-US" sz="1920"/>
          </a:p>
          <a:p>
            <a:pPr eaLnBrk="1" hangingPunct="1">
              <a:lnSpc>
                <a:spcPct val="145000"/>
              </a:lnSpc>
              <a:spcBef>
                <a:spcPct val="50000"/>
              </a:spcBef>
              <a:buFont typeface="Wingdings" panose="05000000000000000000" pitchFamily="2" charset="2"/>
              <a:buChar char="l"/>
              <a:defRPr/>
            </a:pPr>
            <a:r>
              <a:rPr lang="zh-CN" altLang="en-US" sz="1920"/>
              <a:t>近代通讯方式</a:t>
            </a:r>
          </a:p>
          <a:p>
            <a:pPr eaLnBrk="1" hangingPunct="1">
              <a:lnSpc>
                <a:spcPct val="145000"/>
              </a:lnSpc>
              <a:spcBef>
                <a:spcPct val="50000"/>
              </a:spcBef>
              <a:buFont typeface="Wingdings" panose="05000000000000000000" pitchFamily="2" charset="2"/>
              <a:buChar char="l"/>
              <a:defRPr/>
            </a:pPr>
            <a:endParaRPr lang="zh-CN" altLang="en-US" sz="1920"/>
          </a:p>
          <a:p>
            <a:pPr eaLnBrk="1" hangingPunct="1">
              <a:lnSpc>
                <a:spcPct val="145000"/>
              </a:lnSpc>
              <a:spcBef>
                <a:spcPct val="50000"/>
              </a:spcBef>
              <a:buFont typeface="Wingdings" panose="05000000000000000000" pitchFamily="2" charset="2"/>
              <a:buChar char="l"/>
              <a:defRPr/>
            </a:pPr>
            <a:r>
              <a:rPr lang="zh-CN" altLang="en-US" sz="1920"/>
              <a:t>现代通讯方式：</a:t>
            </a:r>
          </a:p>
        </p:txBody>
      </p:sp>
      <p:sp>
        <p:nvSpPr>
          <p:cNvPr id="1492997" name="Rectangle 5"/>
          <p:cNvSpPr>
            <a:spLocks noChangeArrowheads="1"/>
          </p:cNvSpPr>
          <p:nvPr/>
        </p:nvSpPr>
        <p:spPr bwMode="auto">
          <a:xfrm>
            <a:off x="1080447" y="2220154"/>
            <a:ext cx="2878138" cy="444500"/>
          </a:xfrm>
          <a:prstGeom prst="rect">
            <a:avLst/>
          </a:prstGeom>
          <a:solidFill>
            <a:schemeClr val="bg1"/>
          </a:solidFill>
          <a:ln>
            <a:noFill/>
          </a:ln>
          <a:effectLst>
            <a:outerShdw dist="35921" dir="2700000" algn="ctr" rotWithShape="0">
              <a:srgbClr val="808080"/>
            </a:outerShdw>
          </a:effectLst>
        </p:spPr>
        <p:txBody>
          <a:bodyPr lIns="89567" tIns="44783" rIns="89567" bIns="44783"/>
          <a:lstStyle>
            <a:lvl1pPr marL="492125" indent="-492125">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20000"/>
              </a:spcBef>
              <a:defRPr/>
            </a:pPr>
            <a:r>
              <a:rPr lang="zh-CN" altLang="en-US" sz="1645">
                <a:latin typeface="Times New Roman" panose="02020603050405020304" pitchFamily="18" charset="0"/>
                <a:ea typeface="宋体" panose="02010600030101010101" pitchFamily="2" charset="-122"/>
              </a:rPr>
              <a:t>烽火、信鸽、旗语、信号灯</a:t>
            </a:r>
          </a:p>
        </p:txBody>
      </p:sp>
      <p:sp>
        <p:nvSpPr>
          <p:cNvPr id="1492998" name="Rectangle 6"/>
          <p:cNvSpPr>
            <a:spLocks noChangeArrowheads="1"/>
          </p:cNvSpPr>
          <p:nvPr/>
        </p:nvSpPr>
        <p:spPr bwMode="auto">
          <a:xfrm>
            <a:off x="939800" y="3429000"/>
            <a:ext cx="3808412" cy="444500"/>
          </a:xfrm>
          <a:prstGeom prst="rect">
            <a:avLst/>
          </a:prstGeom>
          <a:solidFill>
            <a:schemeClr val="bg1"/>
          </a:solidFill>
          <a:ln>
            <a:noFill/>
          </a:ln>
          <a:effectLst>
            <a:outerShdw dist="35921" dir="2700000" algn="ctr" rotWithShape="0">
              <a:srgbClr val="808080"/>
            </a:outerShdw>
          </a:effectLst>
        </p:spPr>
        <p:txBody>
          <a:bodyPr lIns="89567" tIns="44783" rIns="89567" bIns="44783"/>
          <a:lstStyle>
            <a:lvl1pPr marL="492125" indent="-492125">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20000"/>
              </a:spcBef>
              <a:defRPr/>
            </a:pPr>
            <a:r>
              <a:rPr lang="zh-CN" altLang="en-US" sz="1645">
                <a:latin typeface="Times New Roman" panose="02020603050405020304" pitchFamily="18" charset="0"/>
                <a:ea typeface="宋体" panose="02010600030101010101" pitchFamily="2" charset="-122"/>
              </a:rPr>
              <a:t>电报、固定电话、</a:t>
            </a:r>
            <a:r>
              <a:rPr lang="en-US" altLang="zh-CN" sz="1645">
                <a:latin typeface="Times New Roman" panose="02020603050405020304" pitchFamily="18" charset="0"/>
                <a:ea typeface="宋体" panose="02010600030101010101" pitchFamily="2" charset="-122"/>
              </a:rPr>
              <a:t>BP</a:t>
            </a:r>
            <a:r>
              <a:rPr lang="zh-CN" altLang="en-US" sz="1645">
                <a:latin typeface="Times New Roman" panose="02020603050405020304" pitchFamily="18" charset="0"/>
                <a:ea typeface="宋体" panose="02010600030101010101" pitchFamily="2" charset="-122"/>
              </a:rPr>
              <a:t>机、无线通讯 </a:t>
            </a:r>
          </a:p>
        </p:txBody>
      </p:sp>
      <p:sp>
        <p:nvSpPr>
          <p:cNvPr id="1492999" name="Rectangle 7"/>
          <p:cNvSpPr>
            <a:spLocks noChangeArrowheads="1"/>
          </p:cNvSpPr>
          <p:nvPr/>
        </p:nvSpPr>
        <p:spPr bwMode="auto">
          <a:xfrm>
            <a:off x="798513" y="4479698"/>
            <a:ext cx="5529262" cy="442913"/>
          </a:xfrm>
          <a:prstGeom prst="rect">
            <a:avLst/>
          </a:prstGeom>
          <a:solidFill>
            <a:schemeClr val="bg1"/>
          </a:solidFill>
          <a:ln>
            <a:noFill/>
          </a:ln>
          <a:effectLst>
            <a:outerShdw dist="35921" dir="2700000" algn="ctr" rotWithShape="0">
              <a:srgbClr val="808080"/>
            </a:outerShdw>
          </a:effectLst>
        </p:spPr>
        <p:txBody>
          <a:bodyPr lIns="89567" tIns="44783" rIns="89567" bIns="44783"/>
          <a:lstStyle>
            <a:lvl1pPr marL="492125" indent="-492125">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20000"/>
              </a:spcBef>
              <a:defRPr/>
            </a:pPr>
            <a:r>
              <a:rPr lang="zh-CN" altLang="en-US" sz="1645" dirty="0">
                <a:latin typeface="Times New Roman" panose="02020603050405020304" pitchFamily="18" charset="0"/>
                <a:ea typeface="宋体" panose="02010600030101010101" pitchFamily="2" charset="-122"/>
              </a:rPr>
              <a:t>计算机网络通讯、视频电视传播、卫星传输、移动通讯</a:t>
            </a:r>
          </a:p>
        </p:txBody>
      </p:sp>
      <p:pic>
        <p:nvPicPr>
          <p:cNvPr id="2"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2793" y="407193"/>
            <a:ext cx="1084263"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3213" y="1932816"/>
            <a:ext cx="1220787"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1993" y="3650047"/>
            <a:ext cx="1039812"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0393" y="2823674"/>
            <a:ext cx="123666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6768" y="4746599"/>
            <a:ext cx="1165225"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advTm="14719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492995">
                                            <p:bg/>
                                          </p:spTgt>
                                        </p:tgtEl>
                                        <p:attrNameLst>
                                          <p:attrName>style.visibility</p:attrName>
                                        </p:attrNameLst>
                                      </p:cBhvr>
                                      <p:to>
                                        <p:strVal val="visible"/>
                                      </p:to>
                                    </p:set>
                                    <p:anim calcmode="lin" valueType="num">
                                      <p:cBhvr>
                                        <p:cTn id="7" dur="1000" fill="hold"/>
                                        <p:tgtEl>
                                          <p:spTgt spid="1492995">
                                            <p:bg/>
                                          </p:spTgt>
                                        </p:tgtEl>
                                        <p:attrNameLst>
                                          <p:attrName>ppt_w</p:attrName>
                                        </p:attrNameLst>
                                      </p:cBhvr>
                                      <p:tavLst>
                                        <p:tav tm="0">
                                          <p:val>
                                            <p:strVal val="#ppt_w*0.70"/>
                                          </p:val>
                                        </p:tav>
                                        <p:tav tm="100000">
                                          <p:val>
                                            <p:strVal val="#ppt_w"/>
                                          </p:val>
                                        </p:tav>
                                      </p:tavLst>
                                    </p:anim>
                                    <p:anim calcmode="lin" valueType="num">
                                      <p:cBhvr>
                                        <p:cTn id="8" dur="1000" fill="hold"/>
                                        <p:tgtEl>
                                          <p:spTgt spid="1492995">
                                            <p:bg/>
                                          </p:spTgt>
                                        </p:tgtEl>
                                        <p:attrNameLst>
                                          <p:attrName>ppt_h</p:attrName>
                                        </p:attrNameLst>
                                      </p:cBhvr>
                                      <p:tavLst>
                                        <p:tav tm="0">
                                          <p:val>
                                            <p:strVal val="#ppt_h"/>
                                          </p:val>
                                        </p:tav>
                                        <p:tav tm="100000">
                                          <p:val>
                                            <p:strVal val="#ppt_h"/>
                                          </p:val>
                                        </p:tav>
                                      </p:tavLst>
                                    </p:anim>
                                    <p:animEffect transition="in" filter="fade">
                                      <p:cBhvr>
                                        <p:cTn id="9" dur="1000"/>
                                        <p:tgtEl>
                                          <p:spTgt spid="1492995">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492995">
                                            <p:txEl>
                                              <p:pRg st="0" end="0"/>
                                            </p:txEl>
                                          </p:spTgt>
                                        </p:tgtEl>
                                        <p:attrNameLst>
                                          <p:attrName>style.visibility</p:attrName>
                                        </p:attrNameLst>
                                      </p:cBhvr>
                                      <p:to>
                                        <p:strVal val="visible"/>
                                      </p:to>
                                    </p:set>
                                    <p:anim calcmode="lin" valueType="num">
                                      <p:cBhvr>
                                        <p:cTn id="13" dur="1000" fill="hold"/>
                                        <p:tgtEl>
                                          <p:spTgt spid="1492995">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492995">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49299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492997"/>
                                        </p:tgtEl>
                                        <p:attrNameLst>
                                          <p:attrName>style.visibility</p:attrName>
                                        </p:attrNameLst>
                                      </p:cBhvr>
                                      <p:to>
                                        <p:strVal val="visible"/>
                                      </p:to>
                                    </p:set>
                                    <p:anim calcmode="lin" valueType="num">
                                      <p:cBhvr>
                                        <p:cTn id="20" dur="1000" fill="hold"/>
                                        <p:tgtEl>
                                          <p:spTgt spid="1492997"/>
                                        </p:tgtEl>
                                        <p:attrNameLst>
                                          <p:attrName>ppt_w</p:attrName>
                                        </p:attrNameLst>
                                      </p:cBhvr>
                                      <p:tavLst>
                                        <p:tav tm="0">
                                          <p:val>
                                            <p:strVal val="#ppt_w*0.70"/>
                                          </p:val>
                                        </p:tav>
                                        <p:tav tm="100000">
                                          <p:val>
                                            <p:strVal val="#ppt_w"/>
                                          </p:val>
                                        </p:tav>
                                      </p:tavLst>
                                    </p:anim>
                                    <p:anim calcmode="lin" valueType="num">
                                      <p:cBhvr>
                                        <p:cTn id="21" dur="1000" fill="hold"/>
                                        <p:tgtEl>
                                          <p:spTgt spid="1492997"/>
                                        </p:tgtEl>
                                        <p:attrNameLst>
                                          <p:attrName>ppt_h</p:attrName>
                                        </p:attrNameLst>
                                      </p:cBhvr>
                                      <p:tavLst>
                                        <p:tav tm="0">
                                          <p:val>
                                            <p:strVal val="#ppt_h"/>
                                          </p:val>
                                        </p:tav>
                                        <p:tav tm="100000">
                                          <p:val>
                                            <p:strVal val="#ppt_h"/>
                                          </p:val>
                                        </p:tav>
                                      </p:tavLst>
                                    </p:anim>
                                    <p:animEffect transition="in" filter="fade">
                                      <p:cBhvr>
                                        <p:cTn id="22" dur="1000"/>
                                        <p:tgtEl>
                                          <p:spTgt spid="1492997"/>
                                        </p:tgtEl>
                                      </p:cBhvr>
                                    </p:animEffect>
                                  </p:childTnLst>
                                </p:cTn>
                              </p:par>
                            </p:childTnLst>
                          </p:cTn>
                        </p:par>
                        <p:par>
                          <p:cTn id="23" fill="hold">
                            <p:stCondLst>
                              <p:cond delay="1000"/>
                            </p:stCondLst>
                            <p:childTnLst>
                              <p:par>
                                <p:cTn id="24" presetID="22" presetClass="entr" presetSubtype="4"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down)">
                                      <p:cBhvr>
                                        <p:cTn id="26" dur="500"/>
                                        <p:tgtEl>
                                          <p:spTgt spid="2"/>
                                        </p:tgtEl>
                                      </p:cBhvr>
                                    </p:animEffect>
                                  </p:childTnLst>
                                </p:cTn>
                              </p:par>
                            </p:childTnLst>
                          </p:cTn>
                        </p:par>
                        <p:par>
                          <p:cTn id="27" fill="hold">
                            <p:stCondLst>
                              <p:cond delay="1500"/>
                            </p:stCondLst>
                            <p:childTnLst>
                              <p:par>
                                <p:cTn id="28" presetID="22" presetClass="entr" presetSubtype="4"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1492995">
                                            <p:txEl>
                                              <p:pRg st="2" end="2"/>
                                            </p:txEl>
                                          </p:spTgt>
                                        </p:tgtEl>
                                        <p:attrNameLst>
                                          <p:attrName>style.visibility</p:attrName>
                                        </p:attrNameLst>
                                      </p:cBhvr>
                                      <p:to>
                                        <p:strVal val="visible"/>
                                      </p:to>
                                    </p:set>
                                    <p:anim calcmode="lin" valueType="num">
                                      <p:cBhvr>
                                        <p:cTn id="35" dur="1000" fill="hold"/>
                                        <p:tgtEl>
                                          <p:spTgt spid="1492995">
                                            <p:txEl>
                                              <p:pRg st="2" end="2"/>
                                            </p:txEl>
                                          </p:spTgt>
                                        </p:tgtEl>
                                        <p:attrNameLst>
                                          <p:attrName>ppt_w</p:attrName>
                                        </p:attrNameLst>
                                      </p:cBhvr>
                                      <p:tavLst>
                                        <p:tav tm="0">
                                          <p:val>
                                            <p:strVal val="#ppt_w*0.70"/>
                                          </p:val>
                                        </p:tav>
                                        <p:tav tm="100000">
                                          <p:val>
                                            <p:strVal val="#ppt_w"/>
                                          </p:val>
                                        </p:tav>
                                      </p:tavLst>
                                    </p:anim>
                                    <p:anim calcmode="lin" valueType="num">
                                      <p:cBhvr>
                                        <p:cTn id="36" dur="1000" fill="hold"/>
                                        <p:tgtEl>
                                          <p:spTgt spid="1492995">
                                            <p:txEl>
                                              <p:pRg st="2" end="2"/>
                                            </p:txEl>
                                          </p:spTgt>
                                        </p:tgtEl>
                                        <p:attrNameLst>
                                          <p:attrName>ppt_h</p:attrName>
                                        </p:attrNameLst>
                                      </p:cBhvr>
                                      <p:tavLst>
                                        <p:tav tm="0">
                                          <p:val>
                                            <p:strVal val="#ppt_h"/>
                                          </p:val>
                                        </p:tav>
                                        <p:tav tm="100000">
                                          <p:val>
                                            <p:strVal val="#ppt_h"/>
                                          </p:val>
                                        </p:tav>
                                      </p:tavLst>
                                    </p:anim>
                                    <p:animEffect transition="in" filter="fade">
                                      <p:cBhvr>
                                        <p:cTn id="37" dur="1000"/>
                                        <p:tgtEl>
                                          <p:spTgt spid="149299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1492998"/>
                                        </p:tgtEl>
                                        <p:attrNameLst>
                                          <p:attrName>style.visibility</p:attrName>
                                        </p:attrNameLst>
                                      </p:cBhvr>
                                      <p:to>
                                        <p:strVal val="visible"/>
                                      </p:to>
                                    </p:set>
                                    <p:anim calcmode="lin" valueType="num">
                                      <p:cBhvr>
                                        <p:cTn id="42" dur="1000" fill="hold"/>
                                        <p:tgtEl>
                                          <p:spTgt spid="1492998"/>
                                        </p:tgtEl>
                                        <p:attrNameLst>
                                          <p:attrName>ppt_w</p:attrName>
                                        </p:attrNameLst>
                                      </p:cBhvr>
                                      <p:tavLst>
                                        <p:tav tm="0">
                                          <p:val>
                                            <p:strVal val="#ppt_w*0.70"/>
                                          </p:val>
                                        </p:tav>
                                        <p:tav tm="100000">
                                          <p:val>
                                            <p:strVal val="#ppt_w"/>
                                          </p:val>
                                        </p:tav>
                                      </p:tavLst>
                                    </p:anim>
                                    <p:anim calcmode="lin" valueType="num">
                                      <p:cBhvr>
                                        <p:cTn id="43" dur="1000" fill="hold"/>
                                        <p:tgtEl>
                                          <p:spTgt spid="1492998"/>
                                        </p:tgtEl>
                                        <p:attrNameLst>
                                          <p:attrName>ppt_h</p:attrName>
                                        </p:attrNameLst>
                                      </p:cBhvr>
                                      <p:tavLst>
                                        <p:tav tm="0">
                                          <p:val>
                                            <p:strVal val="#ppt_h"/>
                                          </p:val>
                                        </p:tav>
                                        <p:tav tm="100000">
                                          <p:val>
                                            <p:strVal val="#ppt_h"/>
                                          </p:val>
                                        </p:tav>
                                      </p:tavLst>
                                    </p:anim>
                                    <p:animEffect transition="in" filter="fade">
                                      <p:cBhvr>
                                        <p:cTn id="44" dur="1000"/>
                                        <p:tgtEl>
                                          <p:spTgt spid="1492998"/>
                                        </p:tgtEl>
                                      </p:cBhvr>
                                    </p:animEffect>
                                  </p:childTnLst>
                                </p:cTn>
                              </p:par>
                            </p:childTnLst>
                          </p:cTn>
                        </p:par>
                        <p:par>
                          <p:cTn id="45" fill="hold">
                            <p:stCondLst>
                              <p:cond delay="1000"/>
                            </p:stCondLst>
                            <p:childTnLst>
                              <p:par>
                                <p:cTn id="46" presetID="42" presetClass="entr" presetSubtype="0" fill="hold" nodeType="after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anim calcmode="lin" valueType="num">
                                      <p:cBhvr>
                                        <p:cTn id="49" dur="500" fill="hold"/>
                                        <p:tgtEl>
                                          <p:spTgt spid="5"/>
                                        </p:tgtEl>
                                        <p:attrNameLst>
                                          <p:attrName>ppt_x</p:attrName>
                                        </p:attrNameLst>
                                      </p:cBhvr>
                                      <p:tavLst>
                                        <p:tav tm="0">
                                          <p:val>
                                            <p:strVal val="#ppt_x"/>
                                          </p:val>
                                        </p:tav>
                                        <p:tav tm="100000">
                                          <p:val>
                                            <p:strVal val="#ppt_x"/>
                                          </p:val>
                                        </p:tav>
                                      </p:tavLst>
                                    </p:anim>
                                    <p:anim calcmode="lin" valueType="num">
                                      <p:cBhvr>
                                        <p:cTn id="50" dur="500" fill="hold"/>
                                        <p:tgtEl>
                                          <p:spTgt spid="5"/>
                                        </p:tgtEl>
                                        <p:attrNameLst>
                                          <p:attrName>ppt_y</p:attrName>
                                        </p:attrNameLst>
                                      </p:cBhvr>
                                      <p:tavLst>
                                        <p:tav tm="0">
                                          <p:val>
                                            <p:strVal val="#ppt_y+.1"/>
                                          </p:val>
                                        </p:tav>
                                        <p:tav tm="100000">
                                          <p:val>
                                            <p:strVal val="#ppt_y"/>
                                          </p:val>
                                        </p:tav>
                                      </p:tavLst>
                                    </p:anim>
                                  </p:childTnLst>
                                </p:cTn>
                              </p:par>
                            </p:childTnLst>
                          </p:cTn>
                        </p:par>
                        <p:par>
                          <p:cTn id="51" fill="hold">
                            <p:stCondLst>
                              <p:cond delay="1500"/>
                            </p:stCondLst>
                            <p:childTnLst>
                              <p:par>
                                <p:cTn id="52" presetID="42" presetClass="entr" presetSubtype="0" fill="hold" nodeType="after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500"/>
                                        <p:tgtEl>
                                          <p:spTgt spid="4"/>
                                        </p:tgtEl>
                                      </p:cBhvr>
                                    </p:animEffect>
                                    <p:anim calcmode="lin" valueType="num">
                                      <p:cBhvr>
                                        <p:cTn id="55" dur="500" fill="hold"/>
                                        <p:tgtEl>
                                          <p:spTgt spid="4"/>
                                        </p:tgtEl>
                                        <p:attrNameLst>
                                          <p:attrName>ppt_x</p:attrName>
                                        </p:attrNameLst>
                                      </p:cBhvr>
                                      <p:tavLst>
                                        <p:tav tm="0">
                                          <p:val>
                                            <p:strVal val="#ppt_x"/>
                                          </p:val>
                                        </p:tav>
                                        <p:tav tm="100000">
                                          <p:val>
                                            <p:strVal val="#ppt_x"/>
                                          </p:val>
                                        </p:tav>
                                      </p:tavLst>
                                    </p:anim>
                                    <p:anim calcmode="lin" valueType="num">
                                      <p:cBhvr>
                                        <p:cTn id="5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55" presetClass="entr" presetSubtype="0" fill="hold" grpId="0" nodeType="clickEffect">
                                  <p:stCondLst>
                                    <p:cond delay="0"/>
                                  </p:stCondLst>
                                  <p:childTnLst>
                                    <p:set>
                                      <p:cBhvr>
                                        <p:cTn id="60" dur="1" fill="hold">
                                          <p:stCondLst>
                                            <p:cond delay="0"/>
                                          </p:stCondLst>
                                        </p:cTn>
                                        <p:tgtEl>
                                          <p:spTgt spid="1492995">
                                            <p:txEl>
                                              <p:pRg st="4" end="4"/>
                                            </p:txEl>
                                          </p:spTgt>
                                        </p:tgtEl>
                                        <p:attrNameLst>
                                          <p:attrName>style.visibility</p:attrName>
                                        </p:attrNameLst>
                                      </p:cBhvr>
                                      <p:to>
                                        <p:strVal val="visible"/>
                                      </p:to>
                                    </p:set>
                                    <p:anim calcmode="lin" valueType="num">
                                      <p:cBhvr>
                                        <p:cTn id="61" dur="1000" fill="hold"/>
                                        <p:tgtEl>
                                          <p:spTgt spid="1492995">
                                            <p:txEl>
                                              <p:pRg st="4" end="4"/>
                                            </p:txEl>
                                          </p:spTgt>
                                        </p:tgtEl>
                                        <p:attrNameLst>
                                          <p:attrName>ppt_w</p:attrName>
                                        </p:attrNameLst>
                                      </p:cBhvr>
                                      <p:tavLst>
                                        <p:tav tm="0">
                                          <p:val>
                                            <p:strVal val="#ppt_w*0.70"/>
                                          </p:val>
                                        </p:tav>
                                        <p:tav tm="100000">
                                          <p:val>
                                            <p:strVal val="#ppt_w"/>
                                          </p:val>
                                        </p:tav>
                                      </p:tavLst>
                                    </p:anim>
                                    <p:anim calcmode="lin" valueType="num">
                                      <p:cBhvr>
                                        <p:cTn id="62" dur="1000" fill="hold"/>
                                        <p:tgtEl>
                                          <p:spTgt spid="1492995">
                                            <p:txEl>
                                              <p:pRg st="4" end="4"/>
                                            </p:txEl>
                                          </p:spTgt>
                                        </p:tgtEl>
                                        <p:attrNameLst>
                                          <p:attrName>ppt_h</p:attrName>
                                        </p:attrNameLst>
                                      </p:cBhvr>
                                      <p:tavLst>
                                        <p:tav tm="0">
                                          <p:val>
                                            <p:strVal val="#ppt_h"/>
                                          </p:val>
                                        </p:tav>
                                        <p:tav tm="100000">
                                          <p:val>
                                            <p:strVal val="#ppt_h"/>
                                          </p:val>
                                        </p:tav>
                                      </p:tavLst>
                                    </p:anim>
                                    <p:animEffect transition="in" filter="fade">
                                      <p:cBhvr>
                                        <p:cTn id="63" dur="1000"/>
                                        <p:tgtEl>
                                          <p:spTgt spid="1492995">
                                            <p:txEl>
                                              <p:pRg st="4"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5" presetClass="entr" presetSubtype="0" fill="hold" grpId="0" nodeType="clickEffect">
                                  <p:stCondLst>
                                    <p:cond delay="0"/>
                                  </p:stCondLst>
                                  <p:childTnLst>
                                    <p:set>
                                      <p:cBhvr>
                                        <p:cTn id="67" dur="1" fill="hold">
                                          <p:stCondLst>
                                            <p:cond delay="0"/>
                                          </p:stCondLst>
                                        </p:cTn>
                                        <p:tgtEl>
                                          <p:spTgt spid="1492999"/>
                                        </p:tgtEl>
                                        <p:attrNameLst>
                                          <p:attrName>style.visibility</p:attrName>
                                        </p:attrNameLst>
                                      </p:cBhvr>
                                      <p:to>
                                        <p:strVal val="visible"/>
                                      </p:to>
                                    </p:set>
                                    <p:anim calcmode="lin" valueType="num">
                                      <p:cBhvr>
                                        <p:cTn id="68" dur="1000" fill="hold"/>
                                        <p:tgtEl>
                                          <p:spTgt spid="1492999"/>
                                        </p:tgtEl>
                                        <p:attrNameLst>
                                          <p:attrName>ppt_w</p:attrName>
                                        </p:attrNameLst>
                                      </p:cBhvr>
                                      <p:tavLst>
                                        <p:tav tm="0">
                                          <p:val>
                                            <p:strVal val="#ppt_w*0.70"/>
                                          </p:val>
                                        </p:tav>
                                        <p:tav tm="100000">
                                          <p:val>
                                            <p:strVal val="#ppt_w"/>
                                          </p:val>
                                        </p:tav>
                                      </p:tavLst>
                                    </p:anim>
                                    <p:anim calcmode="lin" valueType="num">
                                      <p:cBhvr>
                                        <p:cTn id="69" dur="1000" fill="hold"/>
                                        <p:tgtEl>
                                          <p:spTgt spid="1492999"/>
                                        </p:tgtEl>
                                        <p:attrNameLst>
                                          <p:attrName>ppt_h</p:attrName>
                                        </p:attrNameLst>
                                      </p:cBhvr>
                                      <p:tavLst>
                                        <p:tav tm="0">
                                          <p:val>
                                            <p:strVal val="#ppt_h"/>
                                          </p:val>
                                        </p:tav>
                                        <p:tav tm="100000">
                                          <p:val>
                                            <p:strVal val="#ppt_h"/>
                                          </p:val>
                                        </p:tav>
                                      </p:tavLst>
                                    </p:anim>
                                    <p:animEffect transition="in" filter="fade">
                                      <p:cBhvr>
                                        <p:cTn id="70" dur="1000"/>
                                        <p:tgtEl>
                                          <p:spTgt spid="1492999"/>
                                        </p:tgtEl>
                                      </p:cBhvr>
                                    </p:animEffect>
                                  </p:childTnLst>
                                </p:cTn>
                              </p:par>
                            </p:childTnLst>
                          </p:cTn>
                        </p:par>
                        <p:par>
                          <p:cTn id="71" fill="hold">
                            <p:stCondLst>
                              <p:cond delay="1000"/>
                            </p:stCondLst>
                            <p:childTnLst>
                              <p:par>
                                <p:cTn id="72" presetID="21" presetClass="entr" presetSubtype="1" fill="hold" nodeType="afterEffect">
                                  <p:stCondLst>
                                    <p:cond delay="0"/>
                                  </p:stCondLst>
                                  <p:childTnLst>
                                    <p:set>
                                      <p:cBhvr>
                                        <p:cTn id="73" dur="1000" fill="hold">
                                          <p:stCondLst>
                                            <p:cond delay="0"/>
                                          </p:stCondLst>
                                        </p:cTn>
                                        <p:tgtEl>
                                          <p:spTgt spid="6"/>
                                        </p:tgtEl>
                                        <p:attrNameLst>
                                          <p:attrName>style.visibility</p:attrName>
                                        </p:attrNameLst>
                                      </p:cBhvr>
                                      <p:to>
                                        <p:strVal val="visible"/>
                                      </p:to>
                                    </p:set>
                                    <p:animEffect transition="in" filter="wheel(1)">
                                      <p:cBhvr>
                                        <p:cTn id="7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2995" grpId="0" uiExpand="1" build="p" animBg="1"/>
      <p:bldP spid="1492997" grpId="0" bldLvl="0" animBg="1"/>
      <p:bldP spid="1492998" grpId="0" bldLvl="0" animBg="1"/>
      <p:bldP spid="1492999"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42" name="Rectangle 2"/>
          <p:cNvSpPr>
            <a:spLocks noGrp="1" noChangeArrowheads="1"/>
          </p:cNvSpPr>
          <p:nvPr>
            <p:ph type="title"/>
          </p:nvPr>
        </p:nvSpPr>
        <p:spPr>
          <a:xfrm>
            <a:off x="274638" y="719138"/>
            <a:ext cx="6937375" cy="673100"/>
          </a:xfrm>
        </p:spPr>
        <p:txBody>
          <a:bodyPr/>
          <a:lstStyle/>
          <a:p>
            <a:r>
              <a:rPr lang="zh-CN" altLang="en-US" sz="2000" b="1">
                <a:solidFill>
                  <a:srgbClr val="FF0000"/>
                </a:solidFill>
                <a:ea typeface="黑体" panose="02010609060101010101" pitchFamily="49" charset="-122"/>
              </a:rPr>
              <a:t>信息科学已渗透到所有现代自然科学和社会科学领域</a:t>
            </a:r>
          </a:p>
        </p:txBody>
      </p:sp>
      <p:sp>
        <p:nvSpPr>
          <p:cNvPr id="1495043" name="Rectangle 3"/>
          <p:cNvSpPr>
            <a:spLocks noGrp="1" noChangeArrowheads="1"/>
          </p:cNvSpPr>
          <p:nvPr>
            <p:ph type="body" idx="1"/>
          </p:nvPr>
        </p:nvSpPr>
        <p:spPr>
          <a:xfrm>
            <a:off x="1116013" y="1822450"/>
            <a:ext cx="6270625" cy="3576638"/>
          </a:xfrm>
          <a:solidFill>
            <a:schemeClr val="bg1"/>
          </a:solidFill>
          <a:ln w="57150">
            <a:solidFill>
              <a:srgbClr val="FF0000"/>
            </a:solidFill>
            <a:miter lim="800000"/>
          </a:ln>
          <a:effectLst>
            <a:prstShdw prst="shdw12">
              <a:srgbClr val="808080">
                <a:alpha val="50000"/>
              </a:srgbClr>
            </a:prstShdw>
          </a:effectLst>
        </p:spPr>
        <p:txBody>
          <a:bodyPr/>
          <a:lstStyle/>
          <a:p>
            <a:pPr>
              <a:lnSpc>
                <a:spcPct val="155000"/>
              </a:lnSpc>
              <a:spcBef>
                <a:spcPct val="25000"/>
              </a:spcBef>
              <a:buFont typeface="Wingdings" panose="05000000000000000000" pitchFamily="2" charset="2"/>
              <a:buChar char="l"/>
            </a:pPr>
            <a:r>
              <a:rPr lang="zh-CN" altLang="en-US" sz="1700" b="1"/>
              <a:t>工业监控、生产调度、质量分析、资源遥感、地震预报、人工智能、高效农业、交通监控</a:t>
            </a:r>
          </a:p>
          <a:p>
            <a:pPr>
              <a:lnSpc>
                <a:spcPct val="155000"/>
              </a:lnSpc>
              <a:spcBef>
                <a:spcPct val="25000"/>
              </a:spcBef>
              <a:buFont typeface="Wingdings" panose="05000000000000000000" pitchFamily="2" charset="2"/>
              <a:buChar char="l"/>
            </a:pPr>
            <a:r>
              <a:rPr lang="zh-CN" altLang="en-US" sz="1700" b="1"/>
              <a:t>宇宙探测、军事侦察、武器技术、安全报警、指挥系统</a:t>
            </a:r>
          </a:p>
          <a:p>
            <a:pPr>
              <a:lnSpc>
                <a:spcPct val="155000"/>
              </a:lnSpc>
              <a:spcBef>
                <a:spcPct val="25000"/>
              </a:spcBef>
              <a:buFont typeface="Wingdings" panose="05000000000000000000" pitchFamily="2" charset="2"/>
              <a:buChar char="l"/>
            </a:pPr>
            <a:r>
              <a:rPr lang="zh-CN" altLang="en-US" sz="1700" b="1"/>
              <a:t>经济预测、财务统计、市场信息 、股市分析</a:t>
            </a:r>
          </a:p>
          <a:p>
            <a:pPr>
              <a:lnSpc>
                <a:spcPct val="155000"/>
              </a:lnSpc>
              <a:spcBef>
                <a:spcPct val="25000"/>
              </a:spcBef>
              <a:buFont typeface="Wingdings" panose="05000000000000000000" pitchFamily="2" charset="2"/>
              <a:buChar char="l"/>
            </a:pPr>
            <a:r>
              <a:rPr lang="zh-CN" altLang="en-US" sz="1700" b="1"/>
              <a:t>电子出版、新闻传媒、影视制作</a:t>
            </a:r>
          </a:p>
          <a:p>
            <a:pPr>
              <a:lnSpc>
                <a:spcPct val="155000"/>
              </a:lnSpc>
              <a:spcBef>
                <a:spcPct val="25000"/>
              </a:spcBef>
              <a:buFont typeface="Wingdings" panose="05000000000000000000" pitchFamily="2" charset="2"/>
              <a:buChar char="l"/>
            </a:pPr>
            <a:r>
              <a:rPr lang="zh-CN" altLang="en-US" sz="1700" b="1"/>
              <a:t>远程教育、远程医疗、远程会议</a:t>
            </a:r>
          </a:p>
          <a:p>
            <a:pPr>
              <a:lnSpc>
                <a:spcPct val="155000"/>
              </a:lnSpc>
              <a:spcBef>
                <a:spcPct val="25000"/>
              </a:spcBef>
              <a:buFont typeface="Wingdings" panose="05000000000000000000" pitchFamily="2" charset="2"/>
              <a:buChar char="l"/>
            </a:pPr>
            <a:r>
              <a:rPr lang="zh-CN" altLang="en-US" sz="1700" b="1"/>
              <a:t>虚拟仪器、虚拟手术</a:t>
            </a:r>
          </a:p>
        </p:txBody>
      </p:sp>
      <p:sp>
        <p:nvSpPr>
          <p:cNvPr id="6" name="日期占位符 5"/>
          <p:cNvSpPr>
            <a:spLocks noGrp="1"/>
          </p:cNvSpPr>
          <p:nvPr>
            <p:ph type="dt" sz="quarter" idx="10"/>
          </p:nvPr>
        </p:nvSpPr>
        <p:spPr/>
        <p:txBody>
          <a:bodyPr/>
          <a:lstStyle/>
          <a:p>
            <a:pPr>
              <a:defRPr/>
            </a:pPr>
            <a:fld id="{3228796A-5C2D-4E61-9F42-B6978A659B70}" type="datetime3">
              <a:rPr lang="zh-CN" altLang="en-US"/>
              <a:t>2026年3月4日星期三</a:t>
            </a:fld>
            <a:endParaRPr lang="zh-CN" altLang="en-US"/>
          </a:p>
        </p:txBody>
      </p:sp>
    </p:spTree>
  </p:cSld>
  <p:clrMapOvr>
    <a:masterClrMapping/>
  </p:clrMapOvr>
  <p:transition advTm="250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495042"/>
                                        </p:tgtEl>
                                        <p:attrNameLst>
                                          <p:attrName>style.visibility</p:attrName>
                                        </p:attrNameLst>
                                      </p:cBhvr>
                                      <p:to>
                                        <p:strVal val="visible"/>
                                      </p:to>
                                    </p:set>
                                    <p:anim calcmode="lin" valueType="num">
                                      <p:cBhvr>
                                        <p:cTn id="7" dur="1000" fill="hold"/>
                                        <p:tgtEl>
                                          <p:spTgt spid="1495042"/>
                                        </p:tgtEl>
                                        <p:attrNameLst>
                                          <p:attrName>ppt_w</p:attrName>
                                        </p:attrNameLst>
                                      </p:cBhvr>
                                      <p:tavLst>
                                        <p:tav tm="0">
                                          <p:val>
                                            <p:strVal val="#ppt_w*0.70"/>
                                          </p:val>
                                        </p:tav>
                                        <p:tav tm="100000">
                                          <p:val>
                                            <p:strVal val="#ppt_w"/>
                                          </p:val>
                                        </p:tav>
                                      </p:tavLst>
                                    </p:anim>
                                    <p:anim calcmode="lin" valueType="num">
                                      <p:cBhvr>
                                        <p:cTn id="8" dur="1000" fill="hold"/>
                                        <p:tgtEl>
                                          <p:spTgt spid="1495042"/>
                                        </p:tgtEl>
                                        <p:attrNameLst>
                                          <p:attrName>ppt_h</p:attrName>
                                        </p:attrNameLst>
                                      </p:cBhvr>
                                      <p:tavLst>
                                        <p:tav tm="0">
                                          <p:val>
                                            <p:strVal val="#ppt_h"/>
                                          </p:val>
                                        </p:tav>
                                        <p:tav tm="100000">
                                          <p:val>
                                            <p:strVal val="#ppt_h"/>
                                          </p:val>
                                        </p:tav>
                                      </p:tavLst>
                                    </p:anim>
                                    <p:animEffect transition="in" filter="fade">
                                      <p:cBhvr>
                                        <p:cTn id="9" dur="1000"/>
                                        <p:tgtEl>
                                          <p:spTgt spid="1495042"/>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495043">
                                            <p:bg/>
                                          </p:spTgt>
                                        </p:tgtEl>
                                        <p:attrNameLst>
                                          <p:attrName>style.visibility</p:attrName>
                                        </p:attrNameLst>
                                      </p:cBhvr>
                                      <p:to>
                                        <p:strVal val="visible"/>
                                      </p:to>
                                    </p:set>
                                    <p:anim calcmode="lin" valueType="num">
                                      <p:cBhvr>
                                        <p:cTn id="13" dur="1000" fill="hold"/>
                                        <p:tgtEl>
                                          <p:spTgt spid="1495043">
                                            <p:bg/>
                                          </p:spTgt>
                                        </p:tgtEl>
                                        <p:attrNameLst>
                                          <p:attrName>ppt_w</p:attrName>
                                        </p:attrNameLst>
                                      </p:cBhvr>
                                      <p:tavLst>
                                        <p:tav tm="0">
                                          <p:val>
                                            <p:strVal val="#ppt_w*0.70"/>
                                          </p:val>
                                        </p:tav>
                                        <p:tav tm="100000">
                                          <p:val>
                                            <p:strVal val="#ppt_w"/>
                                          </p:val>
                                        </p:tav>
                                      </p:tavLst>
                                    </p:anim>
                                    <p:anim calcmode="lin" valueType="num">
                                      <p:cBhvr>
                                        <p:cTn id="14" dur="1000" fill="hold"/>
                                        <p:tgtEl>
                                          <p:spTgt spid="1495043">
                                            <p:bg/>
                                          </p:spTgt>
                                        </p:tgtEl>
                                        <p:attrNameLst>
                                          <p:attrName>ppt_h</p:attrName>
                                        </p:attrNameLst>
                                      </p:cBhvr>
                                      <p:tavLst>
                                        <p:tav tm="0">
                                          <p:val>
                                            <p:strVal val="#ppt_h"/>
                                          </p:val>
                                        </p:tav>
                                        <p:tav tm="100000">
                                          <p:val>
                                            <p:strVal val="#ppt_h"/>
                                          </p:val>
                                        </p:tav>
                                      </p:tavLst>
                                    </p:anim>
                                    <p:animEffect transition="in" filter="fade">
                                      <p:cBhvr>
                                        <p:cTn id="15" dur="1000"/>
                                        <p:tgtEl>
                                          <p:spTgt spid="1495043">
                                            <p:bg/>
                                          </p:spTgt>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1495043">
                                            <p:txEl>
                                              <p:pRg st="0" end="0"/>
                                            </p:txEl>
                                          </p:spTgt>
                                        </p:tgtEl>
                                        <p:attrNameLst>
                                          <p:attrName>style.visibility</p:attrName>
                                        </p:attrNameLst>
                                      </p:cBhvr>
                                      <p:to>
                                        <p:strVal val="visible"/>
                                      </p:to>
                                    </p:set>
                                    <p:anim calcmode="lin" valueType="num">
                                      <p:cBhvr>
                                        <p:cTn id="19" dur="1000" fill="hold"/>
                                        <p:tgtEl>
                                          <p:spTgt spid="1495043">
                                            <p:txEl>
                                              <p:pRg st="0" end="0"/>
                                            </p:txEl>
                                          </p:spTgt>
                                        </p:tgtEl>
                                        <p:attrNameLst>
                                          <p:attrName>ppt_w</p:attrName>
                                        </p:attrNameLst>
                                      </p:cBhvr>
                                      <p:tavLst>
                                        <p:tav tm="0">
                                          <p:val>
                                            <p:strVal val="#ppt_w*0.70"/>
                                          </p:val>
                                        </p:tav>
                                        <p:tav tm="100000">
                                          <p:val>
                                            <p:strVal val="#ppt_w"/>
                                          </p:val>
                                        </p:tav>
                                      </p:tavLst>
                                    </p:anim>
                                    <p:anim calcmode="lin" valueType="num">
                                      <p:cBhvr>
                                        <p:cTn id="20" dur="1000" fill="hold"/>
                                        <p:tgtEl>
                                          <p:spTgt spid="1495043">
                                            <p:txEl>
                                              <p:pRg st="0" end="0"/>
                                            </p:txEl>
                                          </p:spTgt>
                                        </p:tgtEl>
                                        <p:attrNameLst>
                                          <p:attrName>ppt_h</p:attrName>
                                        </p:attrNameLst>
                                      </p:cBhvr>
                                      <p:tavLst>
                                        <p:tav tm="0">
                                          <p:val>
                                            <p:strVal val="#ppt_h"/>
                                          </p:val>
                                        </p:tav>
                                        <p:tav tm="100000">
                                          <p:val>
                                            <p:strVal val="#ppt_h"/>
                                          </p:val>
                                        </p:tav>
                                      </p:tavLst>
                                    </p:anim>
                                    <p:animEffect transition="in" filter="fade">
                                      <p:cBhvr>
                                        <p:cTn id="21" dur="1000"/>
                                        <p:tgtEl>
                                          <p:spTgt spid="1495043">
                                            <p:txEl>
                                              <p:pRg st="0" end="0"/>
                                            </p:txEl>
                                          </p:spTgt>
                                        </p:tgtEl>
                                      </p:cBhvr>
                                    </p:animEffect>
                                  </p:childTnLst>
                                </p:cTn>
                              </p:par>
                            </p:childTnLst>
                          </p:cTn>
                        </p:par>
                        <p:par>
                          <p:cTn id="22" fill="hold">
                            <p:stCondLst>
                              <p:cond delay="3000"/>
                            </p:stCondLst>
                            <p:childTnLst>
                              <p:par>
                                <p:cTn id="23" presetID="55" presetClass="entr" presetSubtype="0" fill="hold" grpId="0" nodeType="afterEffect">
                                  <p:stCondLst>
                                    <p:cond delay="0"/>
                                  </p:stCondLst>
                                  <p:childTnLst>
                                    <p:set>
                                      <p:cBhvr>
                                        <p:cTn id="24" dur="1" fill="hold">
                                          <p:stCondLst>
                                            <p:cond delay="0"/>
                                          </p:stCondLst>
                                        </p:cTn>
                                        <p:tgtEl>
                                          <p:spTgt spid="1495043">
                                            <p:txEl>
                                              <p:pRg st="1" end="1"/>
                                            </p:txEl>
                                          </p:spTgt>
                                        </p:tgtEl>
                                        <p:attrNameLst>
                                          <p:attrName>style.visibility</p:attrName>
                                        </p:attrNameLst>
                                      </p:cBhvr>
                                      <p:to>
                                        <p:strVal val="visible"/>
                                      </p:to>
                                    </p:set>
                                    <p:anim calcmode="lin" valueType="num">
                                      <p:cBhvr>
                                        <p:cTn id="25" dur="1000" fill="hold"/>
                                        <p:tgtEl>
                                          <p:spTgt spid="1495043">
                                            <p:txEl>
                                              <p:pRg st="1" end="1"/>
                                            </p:txEl>
                                          </p:spTgt>
                                        </p:tgtEl>
                                        <p:attrNameLst>
                                          <p:attrName>ppt_w</p:attrName>
                                        </p:attrNameLst>
                                      </p:cBhvr>
                                      <p:tavLst>
                                        <p:tav tm="0">
                                          <p:val>
                                            <p:strVal val="#ppt_w*0.70"/>
                                          </p:val>
                                        </p:tav>
                                        <p:tav tm="100000">
                                          <p:val>
                                            <p:strVal val="#ppt_w"/>
                                          </p:val>
                                        </p:tav>
                                      </p:tavLst>
                                    </p:anim>
                                    <p:anim calcmode="lin" valueType="num">
                                      <p:cBhvr>
                                        <p:cTn id="26" dur="1000" fill="hold"/>
                                        <p:tgtEl>
                                          <p:spTgt spid="1495043">
                                            <p:txEl>
                                              <p:pRg st="1" end="1"/>
                                            </p:txEl>
                                          </p:spTgt>
                                        </p:tgtEl>
                                        <p:attrNameLst>
                                          <p:attrName>ppt_h</p:attrName>
                                        </p:attrNameLst>
                                      </p:cBhvr>
                                      <p:tavLst>
                                        <p:tav tm="0">
                                          <p:val>
                                            <p:strVal val="#ppt_h"/>
                                          </p:val>
                                        </p:tav>
                                        <p:tav tm="100000">
                                          <p:val>
                                            <p:strVal val="#ppt_h"/>
                                          </p:val>
                                        </p:tav>
                                      </p:tavLst>
                                    </p:anim>
                                    <p:animEffect transition="in" filter="fade">
                                      <p:cBhvr>
                                        <p:cTn id="27" dur="1000"/>
                                        <p:tgtEl>
                                          <p:spTgt spid="1495043">
                                            <p:txEl>
                                              <p:pRg st="1" end="1"/>
                                            </p:txEl>
                                          </p:spTgt>
                                        </p:tgtEl>
                                      </p:cBhvr>
                                    </p:animEffect>
                                  </p:childTnLst>
                                </p:cTn>
                              </p:par>
                            </p:childTnLst>
                          </p:cTn>
                        </p:par>
                        <p:par>
                          <p:cTn id="28" fill="hold">
                            <p:stCondLst>
                              <p:cond delay="4000"/>
                            </p:stCondLst>
                            <p:childTnLst>
                              <p:par>
                                <p:cTn id="29" presetID="55" presetClass="entr" presetSubtype="0" fill="hold" grpId="0" nodeType="afterEffect">
                                  <p:stCondLst>
                                    <p:cond delay="0"/>
                                  </p:stCondLst>
                                  <p:childTnLst>
                                    <p:set>
                                      <p:cBhvr>
                                        <p:cTn id="30" dur="1" fill="hold">
                                          <p:stCondLst>
                                            <p:cond delay="0"/>
                                          </p:stCondLst>
                                        </p:cTn>
                                        <p:tgtEl>
                                          <p:spTgt spid="1495043">
                                            <p:txEl>
                                              <p:pRg st="2" end="2"/>
                                            </p:txEl>
                                          </p:spTgt>
                                        </p:tgtEl>
                                        <p:attrNameLst>
                                          <p:attrName>style.visibility</p:attrName>
                                        </p:attrNameLst>
                                      </p:cBhvr>
                                      <p:to>
                                        <p:strVal val="visible"/>
                                      </p:to>
                                    </p:set>
                                    <p:anim calcmode="lin" valueType="num">
                                      <p:cBhvr>
                                        <p:cTn id="31" dur="1000" fill="hold"/>
                                        <p:tgtEl>
                                          <p:spTgt spid="1495043">
                                            <p:txEl>
                                              <p:pRg st="2" end="2"/>
                                            </p:txEl>
                                          </p:spTgt>
                                        </p:tgtEl>
                                        <p:attrNameLst>
                                          <p:attrName>ppt_w</p:attrName>
                                        </p:attrNameLst>
                                      </p:cBhvr>
                                      <p:tavLst>
                                        <p:tav tm="0">
                                          <p:val>
                                            <p:strVal val="#ppt_w*0.70"/>
                                          </p:val>
                                        </p:tav>
                                        <p:tav tm="100000">
                                          <p:val>
                                            <p:strVal val="#ppt_w"/>
                                          </p:val>
                                        </p:tav>
                                      </p:tavLst>
                                    </p:anim>
                                    <p:anim calcmode="lin" valueType="num">
                                      <p:cBhvr>
                                        <p:cTn id="32" dur="1000" fill="hold"/>
                                        <p:tgtEl>
                                          <p:spTgt spid="1495043">
                                            <p:txEl>
                                              <p:pRg st="2" end="2"/>
                                            </p:txEl>
                                          </p:spTgt>
                                        </p:tgtEl>
                                        <p:attrNameLst>
                                          <p:attrName>ppt_h</p:attrName>
                                        </p:attrNameLst>
                                      </p:cBhvr>
                                      <p:tavLst>
                                        <p:tav tm="0">
                                          <p:val>
                                            <p:strVal val="#ppt_h"/>
                                          </p:val>
                                        </p:tav>
                                        <p:tav tm="100000">
                                          <p:val>
                                            <p:strVal val="#ppt_h"/>
                                          </p:val>
                                        </p:tav>
                                      </p:tavLst>
                                    </p:anim>
                                    <p:animEffect transition="in" filter="fade">
                                      <p:cBhvr>
                                        <p:cTn id="33" dur="1000"/>
                                        <p:tgtEl>
                                          <p:spTgt spid="1495043">
                                            <p:txEl>
                                              <p:pRg st="2" end="2"/>
                                            </p:txEl>
                                          </p:spTgt>
                                        </p:tgtEl>
                                      </p:cBhvr>
                                    </p:animEffect>
                                  </p:childTnLst>
                                </p:cTn>
                              </p:par>
                            </p:childTnLst>
                          </p:cTn>
                        </p:par>
                        <p:par>
                          <p:cTn id="34" fill="hold">
                            <p:stCondLst>
                              <p:cond delay="5000"/>
                            </p:stCondLst>
                            <p:childTnLst>
                              <p:par>
                                <p:cTn id="35" presetID="55" presetClass="entr" presetSubtype="0" fill="hold" grpId="0" nodeType="afterEffect">
                                  <p:stCondLst>
                                    <p:cond delay="0"/>
                                  </p:stCondLst>
                                  <p:childTnLst>
                                    <p:set>
                                      <p:cBhvr>
                                        <p:cTn id="36" dur="1" fill="hold">
                                          <p:stCondLst>
                                            <p:cond delay="0"/>
                                          </p:stCondLst>
                                        </p:cTn>
                                        <p:tgtEl>
                                          <p:spTgt spid="1495043">
                                            <p:txEl>
                                              <p:pRg st="3" end="3"/>
                                            </p:txEl>
                                          </p:spTgt>
                                        </p:tgtEl>
                                        <p:attrNameLst>
                                          <p:attrName>style.visibility</p:attrName>
                                        </p:attrNameLst>
                                      </p:cBhvr>
                                      <p:to>
                                        <p:strVal val="visible"/>
                                      </p:to>
                                    </p:set>
                                    <p:anim calcmode="lin" valueType="num">
                                      <p:cBhvr>
                                        <p:cTn id="37" dur="1000" fill="hold"/>
                                        <p:tgtEl>
                                          <p:spTgt spid="1495043">
                                            <p:txEl>
                                              <p:pRg st="3" end="3"/>
                                            </p:txEl>
                                          </p:spTgt>
                                        </p:tgtEl>
                                        <p:attrNameLst>
                                          <p:attrName>ppt_w</p:attrName>
                                        </p:attrNameLst>
                                      </p:cBhvr>
                                      <p:tavLst>
                                        <p:tav tm="0">
                                          <p:val>
                                            <p:strVal val="#ppt_w*0.70"/>
                                          </p:val>
                                        </p:tav>
                                        <p:tav tm="100000">
                                          <p:val>
                                            <p:strVal val="#ppt_w"/>
                                          </p:val>
                                        </p:tav>
                                      </p:tavLst>
                                    </p:anim>
                                    <p:anim calcmode="lin" valueType="num">
                                      <p:cBhvr>
                                        <p:cTn id="38" dur="1000" fill="hold"/>
                                        <p:tgtEl>
                                          <p:spTgt spid="1495043">
                                            <p:txEl>
                                              <p:pRg st="3" end="3"/>
                                            </p:txEl>
                                          </p:spTgt>
                                        </p:tgtEl>
                                        <p:attrNameLst>
                                          <p:attrName>ppt_h</p:attrName>
                                        </p:attrNameLst>
                                      </p:cBhvr>
                                      <p:tavLst>
                                        <p:tav tm="0">
                                          <p:val>
                                            <p:strVal val="#ppt_h"/>
                                          </p:val>
                                        </p:tav>
                                        <p:tav tm="100000">
                                          <p:val>
                                            <p:strVal val="#ppt_h"/>
                                          </p:val>
                                        </p:tav>
                                      </p:tavLst>
                                    </p:anim>
                                    <p:animEffect transition="in" filter="fade">
                                      <p:cBhvr>
                                        <p:cTn id="39" dur="1000"/>
                                        <p:tgtEl>
                                          <p:spTgt spid="1495043">
                                            <p:txEl>
                                              <p:pRg st="3" end="3"/>
                                            </p:txEl>
                                          </p:spTgt>
                                        </p:tgtEl>
                                      </p:cBhvr>
                                    </p:animEffect>
                                  </p:childTnLst>
                                </p:cTn>
                              </p:par>
                            </p:childTnLst>
                          </p:cTn>
                        </p:par>
                        <p:par>
                          <p:cTn id="40" fill="hold">
                            <p:stCondLst>
                              <p:cond delay="6000"/>
                            </p:stCondLst>
                            <p:childTnLst>
                              <p:par>
                                <p:cTn id="41" presetID="55" presetClass="entr" presetSubtype="0" fill="hold" grpId="0" nodeType="afterEffect">
                                  <p:stCondLst>
                                    <p:cond delay="0"/>
                                  </p:stCondLst>
                                  <p:childTnLst>
                                    <p:set>
                                      <p:cBhvr>
                                        <p:cTn id="42" dur="1" fill="hold">
                                          <p:stCondLst>
                                            <p:cond delay="0"/>
                                          </p:stCondLst>
                                        </p:cTn>
                                        <p:tgtEl>
                                          <p:spTgt spid="1495043">
                                            <p:txEl>
                                              <p:pRg st="4" end="4"/>
                                            </p:txEl>
                                          </p:spTgt>
                                        </p:tgtEl>
                                        <p:attrNameLst>
                                          <p:attrName>style.visibility</p:attrName>
                                        </p:attrNameLst>
                                      </p:cBhvr>
                                      <p:to>
                                        <p:strVal val="visible"/>
                                      </p:to>
                                    </p:set>
                                    <p:anim calcmode="lin" valueType="num">
                                      <p:cBhvr>
                                        <p:cTn id="43" dur="1000" fill="hold"/>
                                        <p:tgtEl>
                                          <p:spTgt spid="1495043">
                                            <p:txEl>
                                              <p:pRg st="4" end="4"/>
                                            </p:txEl>
                                          </p:spTgt>
                                        </p:tgtEl>
                                        <p:attrNameLst>
                                          <p:attrName>ppt_w</p:attrName>
                                        </p:attrNameLst>
                                      </p:cBhvr>
                                      <p:tavLst>
                                        <p:tav tm="0">
                                          <p:val>
                                            <p:strVal val="#ppt_w*0.70"/>
                                          </p:val>
                                        </p:tav>
                                        <p:tav tm="100000">
                                          <p:val>
                                            <p:strVal val="#ppt_w"/>
                                          </p:val>
                                        </p:tav>
                                      </p:tavLst>
                                    </p:anim>
                                    <p:anim calcmode="lin" valueType="num">
                                      <p:cBhvr>
                                        <p:cTn id="44" dur="1000" fill="hold"/>
                                        <p:tgtEl>
                                          <p:spTgt spid="1495043">
                                            <p:txEl>
                                              <p:pRg st="4" end="4"/>
                                            </p:txEl>
                                          </p:spTgt>
                                        </p:tgtEl>
                                        <p:attrNameLst>
                                          <p:attrName>ppt_h</p:attrName>
                                        </p:attrNameLst>
                                      </p:cBhvr>
                                      <p:tavLst>
                                        <p:tav tm="0">
                                          <p:val>
                                            <p:strVal val="#ppt_h"/>
                                          </p:val>
                                        </p:tav>
                                        <p:tav tm="100000">
                                          <p:val>
                                            <p:strVal val="#ppt_h"/>
                                          </p:val>
                                        </p:tav>
                                      </p:tavLst>
                                    </p:anim>
                                    <p:animEffect transition="in" filter="fade">
                                      <p:cBhvr>
                                        <p:cTn id="45" dur="1000"/>
                                        <p:tgtEl>
                                          <p:spTgt spid="1495043">
                                            <p:txEl>
                                              <p:pRg st="4" end="4"/>
                                            </p:txEl>
                                          </p:spTgt>
                                        </p:tgtEl>
                                      </p:cBhvr>
                                    </p:animEffect>
                                  </p:childTnLst>
                                </p:cTn>
                              </p:par>
                            </p:childTnLst>
                          </p:cTn>
                        </p:par>
                        <p:par>
                          <p:cTn id="46" fill="hold">
                            <p:stCondLst>
                              <p:cond delay="7000"/>
                            </p:stCondLst>
                            <p:childTnLst>
                              <p:par>
                                <p:cTn id="47" presetID="55" presetClass="entr" presetSubtype="0" fill="hold" grpId="0" nodeType="afterEffect">
                                  <p:stCondLst>
                                    <p:cond delay="0"/>
                                  </p:stCondLst>
                                  <p:childTnLst>
                                    <p:set>
                                      <p:cBhvr>
                                        <p:cTn id="48" dur="1" fill="hold">
                                          <p:stCondLst>
                                            <p:cond delay="0"/>
                                          </p:stCondLst>
                                        </p:cTn>
                                        <p:tgtEl>
                                          <p:spTgt spid="1495043">
                                            <p:txEl>
                                              <p:pRg st="5" end="5"/>
                                            </p:txEl>
                                          </p:spTgt>
                                        </p:tgtEl>
                                        <p:attrNameLst>
                                          <p:attrName>style.visibility</p:attrName>
                                        </p:attrNameLst>
                                      </p:cBhvr>
                                      <p:to>
                                        <p:strVal val="visible"/>
                                      </p:to>
                                    </p:set>
                                    <p:anim calcmode="lin" valueType="num">
                                      <p:cBhvr>
                                        <p:cTn id="49" dur="1000" fill="hold"/>
                                        <p:tgtEl>
                                          <p:spTgt spid="1495043">
                                            <p:txEl>
                                              <p:pRg st="5" end="5"/>
                                            </p:txEl>
                                          </p:spTgt>
                                        </p:tgtEl>
                                        <p:attrNameLst>
                                          <p:attrName>ppt_w</p:attrName>
                                        </p:attrNameLst>
                                      </p:cBhvr>
                                      <p:tavLst>
                                        <p:tav tm="0">
                                          <p:val>
                                            <p:strVal val="#ppt_w*0.70"/>
                                          </p:val>
                                        </p:tav>
                                        <p:tav tm="100000">
                                          <p:val>
                                            <p:strVal val="#ppt_w"/>
                                          </p:val>
                                        </p:tav>
                                      </p:tavLst>
                                    </p:anim>
                                    <p:anim calcmode="lin" valueType="num">
                                      <p:cBhvr>
                                        <p:cTn id="50" dur="1000" fill="hold"/>
                                        <p:tgtEl>
                                          <p:spTgt spid="1495043">
                                            <p:txEl>
                                              <p:pRg st="5" end="5"/>
                                            </p:txEl>
                                          </p:spTgt>
                                        </p:tgtEl>
                                        <p:attrNameLst>
                                          <p:attrName>ppt_h</p:attrName>
                                        </p:attrNameLst>
                                      </p:cBhvr>
                                      <p:tavLst>
                                        <p:tav tm="0">
                                          <p:val>
                                            <p:strVal val="#ppt_h"/>
                                          </p:val>
                                        </p:tav>
                                        <p:tav tm="100000">
                                          <p:val>
                                            <p:strVal val="#ppt_h"/>
                                          </p:val>
                                        </p:tav>
                                      </p:tavLst>
                                    </p:anim>
                                    <p:animEffect transition="in" filter="fade">
                                      <p:cBhvr>
                                        <p:cTn id="51" dur="1000"/>
                                        <p:tgtEl>
                                          <p:spTgt spid="14950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42" grpId="0"/>
      <p:bldP spid="1495043"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2pPr>
            <a:lvl3pPr marL="9144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3pPr>
            <a:lvl4pPr marL="13716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4pPr>
            <a:lvl5pPr marL="18288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A7766125-2586-4A74-A617-C078190F2B6F}" type="slidenum">
              <a:rPr lang="en-US" altLang="zh-CN" smtClean="0"/>
              <a:t>9</a:t>
            </a:fld>
            <a:endParaRPr lang="en-US" altLang="zh-CN" sz="1645"/>
          </a:p>
        </p:txBody>
      </p:sp>
      <p:sp>
        <p:nvSpPr>
          <p:cNvPr id="9218" name="Rectangle 4"/>
          <p:cNvSpPr>
            <a:spLocks noChangeArrowheads="1"/>
          </p:cNvSpPr>
          <p:nvPr/>
        </p:nvSpPr>
        <p:spPr bwMode="auto">
          <a:xfrm>
            <a:off x="622300" y="1487488"/>
            <a:ext cx="2601913" cy="485775"/>
          </a:xfrm>
          <a:prstGeom prst="rect">
            <a:avLst/>
          </a:prstGeom>
          <a:noFill/>
          <a:ln>
            <a:noFill/>
          </a:ln>
        </p:spPr>
        <p:txBody>
          <a:bodyPr lIns="89569" tIns="44785" rIns="89569" bIns="44785" anchor="ct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defRPr/>
            </a:pPr>
            <a:r>
              <a:rPr lang="en-US" altLang="zh-CN" sz="1920">
                <a:solidFill>
                  <a:schemeClr val="accent2"/>
                </a:solidFill>
                <a:latin typeface="Times New Roman" panose="02020603050405020304" pitchFamily="18" charset="0"/>
                <a:ea typeface="宋体" panose="02010600030101010101" pitchFamily="2" charset="-122"/>
              </a:rPr>
              <a:t>1</a:t>
            </a:r>
            <a:r>
              <a:rPr lang="zh-CN" altLang="en-US" sz="1920">
                <a:solidFill>
                  <a:schemeClr val="accent2"/>
                </a:solidFill>
                <a:latin typeface="Times New Roman" panose="02020603050405020304" pitchFamily="18" charset="0"/>
                <a:ea typeface="宋体" panose="02010600030101010101" pitchFamily="2" charset="-122"/>
              </a:rPr>
              <a:t>、信号与系统分析</a:t>
            </a:r>
          </a:p>
        </p:txBody>
      </p:sp>
      <p:sp>
        <p:nvSpPr>
          <p:cNvPr id="1496067" name="Rectangle 3"/>
          <p:cNvSpPr>
            <a:spLocks noGrp="1"/>
          </p:cNvSpPr>
          <p:nvPr>
            <p:ph idx="1"/>
          </p:nvPr>
        </p:nvSpPr>
        <p:spPr>
          <a:xfrm>
            <a:off x="319088" y="2328863"/>
            <a:ext cx="3783012" cy="2179637"/>
          </a:xfrm>
          <a:solidFill>
            <a:schemeClr val="bg1"/>
          </a:solidFill>
          <a:ln>
            <a:solidFill>
              <a:schemeClr val="accent6">
                <a:lumMod val="20000"/>
                <a:lumOff val="80000"/>
              </a:schemeClr>
            </a:solidFill>
          </a:ln>
          <a:effectLst>
            <a:outerShdw dist="35921" dir="2699999" algn="ctr" rotWithShape="0">
              <a:srgbClr val="808080"/>
            </a:outerShdw>
          </a:effectLst>
        </p:spPr>
        <p:txBody>
          <a:bodyPr/>
          <a:lstStyle/>
          <a:p>
            <a:pPr marL="0" indent="0" defTabSz="895350" eaLnBrk="1" hangingPunct="1">
              <a:lnSpc>
                <a:spcPct val="150000"/>
              </a:lnSpc>
              <a:spcBef>
                <a:spcPts val="0"/>
              </a:spcBef>
              <a:buFont typeface="Wingdings" panose="05000000000000000000" pitchFamily="2" charset="2"/>
              <a:buNone/>
              <a:defRPr/>
            </a:pPr>
            <a:r>
              <a:rPr lang="zh-CN" altLang="en-US" sz="1645" noProof="1"/>
              <a:t>   </a:t>
            </a:r>
            <a:r>
              <a:rPr lang="zh-CN" altLang="en-US" sz="1645" dirty="0"/>
              <a:t>以时间为自变量描述物理量的变化，是信号最基本、最直观的表达形式。在时域内对信号进行滤波、放大、统计特征计算、相关性分析等处理，统称为信号的时域分析。</a:t>
            </a:r>
            <a:endParaRPr lang="zh-CN" altLang="en-US" sz="1645" noProof="1"/>
          </a:p>
        </p:txBody>
      </p:sp>
      <p:sp>
        <p:nvSpPr>
          <p:cNvPr id="9221" name="Rectangle 10"/>
          <p:cNvSpPr>
            <a:spLocks noGrp="1" noChangeArrowheads="1"/>
          </p:cNvSpPr>
          <p:nvPr>
            <p:ph type="title"/>
          </p:nvPr>
        </p:nvSpPr>
        <p:spPr>
          <a:xfrm>
            <a:off x="325438" y="663575"/>
            <a:ext cx="2173287" cy="612775"/>
          </a:xfrm>
        </p:spPr>
        <p:txBody>
          <a:bodyPr/>
          <a:lstStyle/>
          <a:p>
            <a:pPr eaLnBrk="1" hangingPunct="1">
              <a:defRPr/>
            </a:pPr>
            <a:r>
              <a:rPr lang="zh-CN" altLang="en-US" sz="2470">
                <a:solidFill>
                  <a:srgbClr val="FF0000"/>
                </a:solidFill>
                <a:ea typeface="黑体" panose="02010609060101010101" pitchFamily="49" charset="-122"/>
              </a:rPr>
              <a:t>要解决的问题</a:t>
            </a:r>
          </a:p>
        </p:txBody>
      </p:sp>
      <p:sp>
        <p:nvSpPr>
          <p:cNvPr id="10" name="Rectangle 3"/>
          <p:cNvSpPr txBox="1"/>
          <p:nvPr/>
        </p:nvSpPr>
        <p:spPr bwMode="auto">
          <a:xfrm>
            <a:off x="4570413" y="2330450"/>
            <a:ext cx="4113212" cy="1419225"/>
          </a:xfrm>
          <a:prstGeom prst="rect">
            <a:avLst/>
          </a:prstGeom>
          <a:solidFill>
            <a:schemeClr val="bg1"/>
          </a:solidFill>
          <a:ln>
            <a:solidFill>
              <a:schemeClr val="accent6">
                <a:lumMod val="20000"/>
                <a:lumOff val="80000"/>
              </a:schemeClr>
            </a:solidFill>
          </a:ln>
          <a:effectLst>
            <a:outerShdw dist="35921" dir="2699999" algn="ctr" rotWithShape="0">
              <a:srgbClr val="808080"/>
            </a:outerShdw>
          </a:effectLst>
        </p:spPr>
        <p:txBody>
          <a:bodyPr lIns="89567" tIns="44783" rIns="89567" bIns="44783"/>
          <a:lstStyle>
            <a:lvl1pPr marL="492125" indent="-492125" algn="l" defTabSz="1306195" rtl="0" eaLnBrk="0" fontAlgn="base" hangingPunct="0">
              <a:spcBef>
                <a:spcPct val="20000"/>
              </a:spcBef>
              <a:spcAft>
                <a:spcPct val="0"/>
              </a:spcAft>
              <a:buChar char="•"/>
              <a:defRPr sz="3600" b="1">
                <a:solidFill>
                  <a:schemeClr val="accent2"/>
                </a:solidFill>
                <a:latin typeface="+mn-lt"/>
                <a:ea typeface="+mn-ea"/>
                <a:cs typeface="+mn-cs"/>
              </a:defRPr>
            </a:lvl1pPr>
            <a:lvl2pPr marL="1059180" indent="-405130" algn="l" defTabSz="1306195" rtl="0" eaLnBrk="0" fontAlgn="base" hangingPunct="0">
              <a:spcBef>
                <a:spcPct val="20000"/>
              </a:spcBef>
              <a:spcAft>
                <a:spcPct val="0"/>
              </a:spcAft>
              <a:buChar char="•"/>
              <a:defRPr sz="3000">
                <a:solidFill>
                  <a:schemeClr val="tx1"/>
                </a:solidFill>
                <a:latin typeface="+mn-lt"/>
                <a:ea typeface="+mn-ea"/>
              </a:defRPr>
            </a:lvl2pPr>
            <a:lvl3pPr marL="1631950" indent="-325755" algn="l" defTabSz="1306195" rtl="0" eaLnBrk="0" fontAlgn="base" hangingPunct="0">
              <a:spcBef>
                <a:spcPct val="20000"/>
              </a:spcBef>
              <a:spcAft>
                <a:spcPct val="0"/>
              </a:spcAft>
              <a:buChar char="•"/>
              <a:defRPr sz="3500">
                <a:solidFill>
                  <a:schemeClr val="tx1"/>
                </a:solidFill>
                <a:latin typeface="+mn-lt"/>
                <a:ea typeface="+mn-ea"/>
              </a:defRPr>
            </a:lvl3pPr>
            <a:lvl4pPr marL="2286000" indent="-325755" algn="l" defTabSz="1306195" rtl="0" eaLnBrk="0" fontAlgn="base" hangingPunct="0">
              <a:spcBef>
                <a:spcPct val="20000"/>
              </a:spcBef>
              <a:spcAft>
                <a:spcPct val="0"/>
              </a:spcAft>
              <a:buChar char="–"/>
              <a:defRPr sz="2900">
                <a:solidFill>
                  <a:schemeClr val="tx1"/>
                </a:solidFill>
                <a:latin typeface="+mn-lt"/>
                <a:ea typeface="+mn-ea"/>
              </a:defRPr>
            </a:lvl4pPr>
            <a:lvl5pPr marL="2940050" indent="-327025" algn="l" defTabSz="1306195" rtl="0" eaLnBrk="0" fontAlgn="base" hangingPunct="0">
              <a:spcBef>
                <a:spcPct val="20000"/>
              </a:spcBef>
              <a:spcAft>
                <a:spcPct val="0"/>
              </a:spcAft>
              <a:buChar char="»"/>
              <a:defRPr sz="2900">
                <a:solidFill>
                  <a:schemeClr val="tx1"/>
                </a:solidFill>
                <a:latin typeface="+mn-lt"/>
                <a:ea typeface="+mn-ea"/>
              </a:defRPr>
            </a:lvl5pPr>
            <a:lvl6pPr marL="3397250" indent="-327025" algn="l" defTabSz="1306195" rtl="0" fontAlgn="base">
              <a:spcBef>
                <a:spcPct val="20000"/>
              </a:spcBef>
              <a:spcAft>
                <a:spcPct val="0"/>
              </a:spcAft>
              <a:buChar char="»"/>
              <a:defRPr kumimoji="1" sz="2900">
                <a:solidFill>
                  <a:schemeClr val="tx1"/>
                </a:solidFill>
                <a:latin typeface="+mn-lt"/>
                <a:ea typeface="+mn-ea"/>
              </a:defRPr>
            </a:lvl6pPr>
            <a:lvl7pPr marL="3854450" indent="-327025" algn="l" defTabSz="1306195" rtl="0" fontAlgn="base">
              <a:spcBef>
                <a:spcPct val="20000"/>
              </a:spcBef>
              <a:spcAft>
                <a:spcPct val="0"/>
              </a:spcAft>
              <a:buChar char="»"/>
              <a:defRPr kumimoji="1" sz="2900">
                <a:solidFill>
                  <a:schemeClr val="tx1"/>
                </a:solidFill>
                <a:latin typeface="+mn-lt"/>
                <a:ea typeface="+mn-ea"/>
              </a:defRPr>
            </a:lvl7pPr>
            <a:lvl8pPr marL="4311650" indent="-327025" algn="l" defTabSz="1306195" rtl="0" fontAlgn="base">
              <a:spcBef>
                <a:spcPct val="20000"/>
              </a:spcBef>
              <a:spcAft>
                <a:spcPct val="0"/>
              </a:spcAft>
              <a:buChar char="»"/>
              <a:defRPr kumimoji="1" sz="2900">
                <a:solidFill>
                  <a:schemeClr val="tx1"/>
                </a:solidFill>
                <a:latin typeface="+mn-lt"/>
                <a:ea typeface="+mn-ea"/>
              </a:defRPr>
            </a:lvl8pPr>
            <a:lvl9pPr marL="4768850" indent="-327025" algn="l" defTabSz="1306195" rtl="0" fontAlgn="base">
              <a:spcBef>
                <a:spcPct val="20000"/>
              </a:spcBef>
              <a:spcAft>
                <a:spcPct val="0"/>
              </a:spcAft>
              <a:buChar char="»"/>
              <a:defRPr kumimoji="1" sz="2900">
                <a:solidFill>
                  <a:schemeClr val="tx1"/>
                </a:solidFill>
                <a:latin typeface="+mn-lt"/>
                <a:ea typeface="+mn-ea"/>
              </a:defRPr>
            </a:lvl9pPr>
          </a:lstStyle>
          <a:p>
            <a:pPr marL="0" indent="0" eaLnBrk="1" hangingPunct="1">
              <a:lnSpc>
                <a:spcPct val="150000"/>
              </a:lnSpc>
              <a:spcBef>
                <a:spcPct val="30000"/>
              </a:spcBef>
              <a:buFontTx/>
              <a:buNone/>
              <a:defRPr/>
            </a:pPr>
            <a:r>
              <a:rPr lang="zh-CN" altLang="en-US" sz="1645" kern="0" noProof="1">
                <a:solidFill>
                  <a:srgbClr val="00B0F0"/>
                </a:solidFill>
                <a:sym typeface="+mn-ea"/>
              </a:rPr>
              <a:t>  </a:t>
            </a:r>
            <a:r>
              <a:rPr lang="zh-CN" altLang="en-US" sz="1645" kern="0" noProof="1">
                <a:solidFill>
                  <a:schemeClr val="tx1"/>
                </a:solidFill>
                <a:sym typeface="+mn-ea"/>
              </a:rPr>
              <a:t>采用傅立叶变换将时域信号x(t)变换为频域信号X(f)，从而帮助人们从另一个角度来了解信号的特征。</a:t>
            </a:r>
          </a:p>
        </p:txBody>
      </p:sp>
      <p:sp>
        <p:nvSpPr>
          <p:cNvPr id="3" name="矩形 2"/>
          <p:cNvSpPr>
            <a:spLocks noChangeArrowheads="1"/>
          </p:cNvSpPr>
          <p:nvPr/>
        </p:nvSpPr>
        <p:spPr bwMode="auto">
          <a:xfrm>
            <a:off x="3821113" y="1472404"/>
            <a:ext cx="1030287" cy="412750"/>
          </a:xfrm>
          <a:prstGeom prst="rect">
            <a:avLst/>
          </a:prstGeom>
          <a:noFill/>
          <a:ln>
            <a:noFill/>
          </a:ln>
        </p:spPr>
        <p:txBody>
          <a:bodyPr wrap="none">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lnSpc>
                <a:spcPct val="150000"/>
              </a:lnSpc>
              <a:spcBef>
                <a:spcPct val="30000"/>
              </a:spcBef>
              <a:defRPr/>
            </a:pPr>
            <a:r>
              <a:rPr lang="zh-CN" altLang="en-US" sz="1645" noProof="1">
                <a:solidFill>
                  <a:srgbClr val="FF0000"/>
                </a:solidFill>
                <a:latin typeface="黑体" panose="02010609060101010101" pitchFamily="49" charset="-122"/>
                <a:ea typeface="黑体" panose="02010609060101010101" pitchFamily="49" charset="-122"/>
              </a:rPr>
              <a:t>信号分析</a:t>
            </a:r>
            <a:endParaRPr lang="zh-CN" altLang="en-US" sz="1645" noProof="1">
              <a:latin typeface="黑体" panose="02010609060101010101" pitchFamily="49" charset="-122"/>
              <a:ea typeface="黑体" panose="02010609060101010101" pitchFamily="49" charset="-122"/>
            </a:endParaRPr>
          </a:p>
        </p:txBody>
      </p:sp>
      <p:sp>
        <p:nvSpPr>
          <p:cNvPr id="4" name="矩形 3"/>
          <p:cNvSpPr/>
          <p:nvPr/>
        </p:nvSpPr>
        <p:spPr>
          <a:xfrm>
            <a:off x="5815808" y="1889966"/>
            <a:ext cx="1455738" cy="346075"/>
          </a:xfrm>
          <a:prstGeom prst="rect">
            <a:avLst/>
          </a:prstGeom>
        </p:spPr>
        <p:txBody>
          <a:bodyPr wrap="none">
            <a:spAutoFit/>
          </a:bodyPr>
          <a:lstStyle/>
          <a:p>
            <a:pPr>
              <a:defRPr/>
            </a:pPr>
            <a:r>
              <a:rPr lang="zh-CN" altLang="en-US" sz="1645" kern="0" noProof="1">
                <a:solidFill>
                  <a:srgbClr val="00B0F0"/>
                </a:solidFill>
                <a:sym typeface="+mn-ea"/>
              </a:rPr>
              <a:t>信号频域分析</a:t>
            </a:r>
            <a:endParaRPr lang="zh-CN" altLang="en-US" sz="1645" dirty="0">
              <a:sym typeface="+mn-ea"/>
            </a:endParaRPr>
          </a:p>
        </p:txBody>
      </p:sp>
      <p:sp>
        <p:nvSpPr>
          <p:cNvPr id="5" name="矩形 4"/>
          <p:cNvSpPr>
            <a:spLocks noChangeArrowheads="1"/>
          </p:cNvSpPr>
          <p:nvPr/>
        </p:nvSpPr>
        <p:spPr bwMode="auto">
          <a:xfrm>
            <a:off x="933450" y="1917700"/>
            <a:ext cx="1666875" cy="346075"/>
          </a:xfrm>
          <a:prstGeom prst="rect">
            <a:avLst/>
          </a:prstGeom>
          <a:noFill/>
          <a:ln>
            <a:noFill/>
          </a:ln>
        </p:spPr>
        <p:txBody>
          <a:bodyPr wrap="none">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defRPr/>
            </a:pPr>
            <a:r>
              <a:rPr lang="zh-CN" altLang="en-US" sz="1645" noProof="1">
                <a:solidFill>
                  <a:srgbClr val="00B0F0"/>
                </a:solidFill>
                <a:latin typeface="黑体" panose="02010609060101010101" pitchFamily="49" charset="-122"/>
                <a:ea typeface="黑体" panose="02010609060101010101" pitchFamily="49" charset="-122"/>
              </a:rPr>
              <a:t>信号的时域分析</a:t>
            </a:r>
            <a:endParaRPr lang="zh-CN" altLang="en-US" sz="1645">
              <a:latin typeface="黑体" panose="02010609060101010101" pitchFamily="49" charset="-122"/>
              <a:ea typeface="黑体" panose="02010609060101010101" pitchFamily="49" charset="-122"/>
            </a:endParaRPr>
          </a:p>
        </p:txBody>
      </p:sp>
      <p:pic>
        <p:nvPicPr>
          <p:cNvPr id="14" name="图片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3475" y="3883025"/>
            <a:ext cx="414655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组合 12"/>
          <p:cNvGrpSpPr/>
          <p:nvPr/>
        </p:nvGrpSpPr>
        <p:grpSpPr bwMode="auto">
          <a:xfrm>
            <a:off x="0" y="4756150"/>
            <a:ext cx="5575300" cy="1822450"/>
            <a:chOff x="600680" y="5407334"/>
            <a:chExt cx="11144008" cy="4117666"/>
          </a:xfrm>
        </p:grpSpPr>
        <p:pic>
          <p:nvPicPr>
            <p:cNvPr id="18445" name="图片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77284" y="6070908"/>
              <a:ext cx="10067404" cy="183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8446" name="Object 2"/>
            <p:cNvGraphicFramePr>
              <a:graphicFrameLocks noChangeAspect="1"/>
            </p:cNvGraphicFramePr>
            <p:nvPr/>
          </p:nvGraphicFramePr>
          <p:xfrm>
            <a:off x="2434232" y="8117743"/>
            <a:ext cx="8553508" cy="1407257"/>
          </p:xfrm>
          <a:graphic>
            <a:graphicData uri="http://schemas.openxmlformats.org/presentationml/2006/ole">
              <mc:AlternateContent xmlns:mc="http://schemas.openxmlformats.org/markup-compatibility/2006">
                <mc:Choice xmlns:v="urn:schemas-microsoft-com:vml" Requires="v">
                  <p:oleObj spid="_x0000_s2070" r:id="rId6" imgW="5219700" imgH="1066800" progId="Paint.Picture">
                    <p:embed/>
                  </p:oleObj>
                </mc:Choice>
                <mc:Fallback>
                  <p:oleObj r:id="rId6" imgW="5219700" imgH="1066800" progId="Paint.Picture">
                    <p:embed/>
                    <p:pic>
                      <p:nvPicPr>
                        <p:cNvPr id="0" name="图片 2049"/>
                        <p:cNvPicPr>
                          <a:picLocks noChangeAspect="1" noChangeArrowheads="1"/>
                        </p:cNvPicPr>
                        <p:nvPr/>
                      </p:nvPicPr>
                      <p:blipFill>
                        <a:blip r:embed="rId7">
                          <a:extLst>
                            <a:ext uri="{28A0092B-C50C-407E-A947-70E740481C1C}">
                              <a14:useLocalDpi xmlns:a14="http://schemas.microsoft.com/office/drawing/2010/main" val="0"/>
                            </a:ext>
                          </a:extLst>
                        </a:blip>
                        <a:srcRect b="30930"/>
                        <a:stretch>
                          <a:fillRect/>
                        </a:stretch>
                      </p:blipFill>
                      <p:spPr bwMode="auto">
                        <a:xfrm>
                          <a:off x="2434232" y="8117743"/>
                          <a:ext cx="8553508" cy="1407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 name="Rectangle 3"/>
            <p:cNvSpPr txBox="1">
              <a:spLocks noChangeArrowheads="1"/>
            </p:cNvSpPr>
            <p:nvPr/>
          </p:nvSpPr>
          <p:spPr bwMode="auto">
            <a:xfrm>
              <a:off x="629239" y="5407334"/>
              <a:ext cx="2786002" cy="771167"/>
            </a:xfrm>
            <a:prstGeom prst="rect">
              <a:avLst/>
            </a:prstGeom>
            <a:noFill/>
            <a:ln>
              <a:noFill/>
            </a:ln>
          </p:spPr>
          <p:txBody>
            <a:bodyPr lIns="130618" tIns="65309" rIns="130618" bIns="65309" anchor="ctr"/>
            <a:lstStyle>
              <a:lvl1pPr algn="ctr" defTabSz="1306195" rtl="0" eaLnBrk="0" fontAlgn="base" hangingPunct="0">
                <a:spcBef>
                  <a:spcPct val="0"/>
                </a:spcBef>
                <a:spcAft>
                  <a:spcPct val="0"/>
                </a:spcAft>
                <a:defRPr sz="5400" b="1">
                  <a:solidFill>
                    <a:schemeClr val="accent2"/>
                  </a:solidFill>
                  <a:latin typeface="+mj-lt"/>
                  <a:ea typeface="+mj-ea"/>
                  <a:cs typeface="+mj-cs"/>
                </a:defRPr>
              </a:lvl1pPr>
              <a:lvl2pPr algn="ctr" defTabSz="1306195" rtl="0" eaLnBrk="0" fontAlgn="base" hangingPunct="0">
                <a:spcBef>
                  <a:spcPct val="0"/>
                </a:spcBef>
                <a:spcAft>
                  <a:spcPct val="0"/>
                </a:spcAft>
                <a:defRPr sz="5400" b="1">
                  <a:solidFill>
                    <a:schemeClr val="accent2"/>
                  </a:solidFill>
                  <a:latin typeface="Times New Roman" panose="02020603050405020304" pitchFamily="18" charset="0"/>
                  <a:ea typeface="隶书" panose="02010509060101010101" pitchFamily="49" charset="-122"/>
                </a:defRPr>
              </a:lvl2pPr>
              <a:lvl3pPr algn="ctr" defTabSz="1306195" rtl="0" eaLnBrk="0" fontAlgn="base" hangingPunct="0">
                <a:spcBef>
                  <a:spcPct val="0"/>
                </a:spcBef>
                <a:spcAft>
                  <a:spcPct val="0"/>
                </a:spcAft>
                <a:defRPr sz="5400" b="1">
                  <a:solidFill>
                    <a:schemeClr val="accent2"/>
                  </a:solidFill>
                  <a:latin typeface="Times New Roman" panose="02020603050405020304" pitchFamily="18" charset="0"/>
                  <a:ea typeface="隶书" panose="02010509060101010101" pitchFamily="49" charset="-122"/>
                </a:defRPr>
              </a:lvl3pPr>
              <a:lvl4pPr algn="ctr" defTabSz="1306195" rtl="0" eaLnBrk="0" fontAlgn="base" hangingPunct="0">
                <a:spcBef>
                  <a:spcPct val="0"/>
                </a:spcBef>
                <a:spcAft>
                  <a:spcPct val="0"/>
                </a:spcAft>
                <a:defRPr sz="5400" b="1">
                  <a:solidFill>
                    <a:schemeClr val="accent2"/>
                  </a:solidFill>
                  <a:latin typeface="Times New Roman" panose="02020603050405020304" pitchFamily="18" charset="0"/>
                  <a:ea typeface="隶书" panose="02010509060101010101" pitchFamily="49" charset="-122"/>
                </a:defRPr>
              </a:lvl4pPr>
              <a:lvl5pPr algn="ctr" defTabSz="1306195" rtl="0" eaLnBrk="0" fontAlgn="base" hangingPunct="0">
                <a:spcBef>
                  <a:spcPct val="0"/>
                </a:spcBef>
                <a:spcAft>
                  <a:spcPct val="0"/>
                </a:spcAft>
                <a:defRPr sz="5400" b="1">
                  <a:solidFill>
                    <a:schemeClr val="accent2"/>
                  </a:solidFill>
                  <a:latin typeface="Times New Roman" panose="02020603050405020304" pitchFamily="18" charset="0"/>
                  <a:ea typeface="隶书" panose="02010509060101010101" pitchFamily="49" charset="-122"/>
                </a:defRPr>
              </a:lvl5pPr>
              <a:lvl6pPr marL="457200" algn="ctr" defTabSz="1306195" rtl="0" fontAlgn="base">
                <a:spcBef>
                  <a:spcPct val="0"/>
                </a:spcBef>
                <a:spcAft>
                  <a:spcPct val="0"/>
                </a:spcAft>
                <a:defRPr kumimoji="1" sz="5400" b="1">
                  <a:solidFill>
                    <a:schemeClr val="accent2"/>
                  </a:solidFill>
                  <a:latin typeface="Times New Roman" panose="02020603050405020304" pitchFamily="18" charset="0"/>
                  <a:ea typeface="隶书" panose="02010509060101010101" pitchFamily="49" charset="-122"/>
                </a:defRPr>
              </a:lvl6pPr>
              <a:lvl7pPr marL="914400" algn="ctr" defTabSz="1306195" rtl="0" fontAlgn="base">
                <a:spcBef>
                  <a:spcPct val="0"/>
                </a:spcBef>
                <a:spcAft>
                  <a:spcPct val="0"/>
                </a:spcAft>
                <a:defRPr kumimoji="1" sz="5400" b="1">
                  <a:solidFill>
                    <a:schemeClr val="accent2"/>
                  </a:solidFill>
                  <a:latin typeface="Times New Roman" panose="02020603050405020304" pitchFamily="18" charset="0"/>
                  <a:ea typeface="隶书" panose="02010509060101010101" pitchFamily="49" charset="-122"/>
                </a:defRPr>
              </a:lvl7pPr>
              <a:lvl8pPr marL="1371600" algn="ctr" defTabSz="1306195" rtl="0" fontAlgn="base">
                <a:spcBef>
                  <a:spcPct val="0"/>
                </a:spcBef>
                <a:spcAft>
                  <a:spcPct val="0"/>
                </a:spcAft>
                <a:defRPr kumimoji="1" sz="5400" b="1">
                  <a:solidFill>
                    <a:schemeClr val="accent2"/>
                  </a:solidFill>
                  <a:latin typeface="Times New Roman" panose="02020603050405020304" pitchFamily="18" charset="0"/>
                  <a:ea typeface="隶书" panose="02010509060101010101" pitchFamily="49" charset="-122"/>
                </a:defRPr>
              </a:lvl8pPr>
              <a:lvl9pPr marL="1828800" algn="ctr" defTabSz="1306195" rtl="0" fontAlgn="base">
                <a:spcBef>
                  <a:spcPct val="0"/>
                </a:spcBef>
                <a:spcAft>
                  <a:spcPct val="0"/>
                </a:spcAft>
                <a:defRPr kumimoji="1" sz="5400" b="1">
                  <a:solidFill>
                    <a:schemeClr val="accent2"/>
                  </a:solidFill>
                  <a:latin typeface="Times New Roman" panose="02020603050405020304" pitchFamily="18" charset="0"/>
                  <a:ea typeface="隶书" panose="02010509060101010101" pitchFamily="49" charset="-122"/>
                </a:defRPr>
              </a:lvl9pPr>
            </a:lstStyle>
            <a:p>
              <a:pPr eaLnBrk="1" hangingPunct="1">
                <a:defRPr/>
              </a:pPr>
              <a:r>
                <a:rPr lang="zh-CN" altLang="en-US" sz="1800" kern="0" dirty="0">
                  <a:latin typeface="+mn-ea"/>
                  <a:ea typeface="+mn-ea"/>
                  <a:sym typeface="+mn-ea"/>
                </a:rPr>
                <a:t>滤波前的生物医学</a:t>
              </a:r>
            </a:p>
          </p:txBody>
        </p:sp>
        <p:sp>
          <p:nvSpPr>
            <p:cNvPr id="18" name="Rectangle 3"/>
            <p:cNvSpPr txBox="1">
              <a:spLocks noChangeArrowheads="1"/>
            </p:cNvSpPr>
            <p:nvPr/>
          </p:nvSpPr>
          <p:spPr bwMode="auto">
            <a:xfrm>
              <a:off x="600680" y="7487688"/>
              <a:ext cx="2789176" cy="771167"/>
            </a:xfrm>
            <a:prstGeom prst="rect">
              <a:avLst/>
            </a:prstGeom>
            <a:noFill/>
            <a:ln>
              <a:noFill/>
            </a:ln>
          </p:spPr>
          <p:txBody>
            <a:bodyPr lIns="130618" tIns="65309" rIns="130618" bIns="65309" anchor="ctr"/>
            <a:lstStyle>
              <a:lvl1pPr algn="ctr" defTabSz="1306195" rtl="0" eaLnBrk="0" fontAlgn="base" hangingPunct="0">
                <a:spcBef>
                  <a:spcPct val="0"/>
                </a:spcBef>
                <a:spcAft>
                  <a:spcPct val="0"/>
                </a:spcAft>
                <a:defRPr sz="5400" b="1">
                  <a:solidFill>
                    <a:schemeClr val="accent2"/>
                  </a:solidFill>
                  <a:latin typeface="+mj-lt"/>
                  <a:ea typeface="+mj-ea"/>
                  <a:cs typeface="+mj-cs"/>
                </a:defRPr>
              </a:lvl1pPr>
              <a:lvl2pPr algn="ctr" defTabSz="1306195" rtl="0" eaLnBrk="0" fontAlgn="base" hangingPunct="0">
                <a:spcBef>
                  <a:spcPct val="0"/>
                </a:spcBef>
                <a:spcAft>
                  <a:spcPct val="0"/>
                </a:spcAft>
                <a:defRPr sz="5400" b="1">
                  <a:solidFill>
                    <a:schemeClr val="accent2"/>
                  </a:solidFill>
                  <a:latin typeface="Times New Roman" panose="02020603050405020304" pitchFamily="18" charset="0"/>
                  <a:ea typeface="隶书" panose="02010509060101010101" pitchFamily="49" charset="-122"/>
                </a:defRPr>
              </a:lvl2pPr>
              <a:lvl3pPr algn="ctr" defTabSz="1306195" rtl="0" eaLnBrk="0" fontAlgn="base" hangingPunct="0">
                <a:spcBef>
                  <a:spcPct val="0"/>
                </a:spcBef>
                <a:spcAft>
                  <a:spcPct val="0"/>
                </a:spcAft>
                <a:defRPr sz="5400" b="1">
                  <a:solidFill>
                    <a:schemeClr val="accent2"/>
                  </a:solidFill>
                  <a:latin typeface="Times New Roman" panose="02020603050405020304" pitchFamily="18" charset="0"/>
                  <a:ea typeface="隶书" panose="02010509060101010101" pitchFamily="49" charset="-122"/>
                </a:defRPr>
              </a:lvl3pPr>
              <a:lvl4pPr algn="ctr" defTabSz="1306195" rtl="0" eaLnBrk="0" fontAlgn="base" hangingPunct="0">
                <a:spcBef>
                  <a:spcPct val="0"/>
                </a:spcBef>
                <a:spcAft>
                  <a:spcPct val="0"/>
                </a:spcAft>
                <a:defRPr sz="5400" b="1">
                  <a:solidFill>
                    <a:schemeClr val="accent2"/>
                  </a:solidFill>
                  <a:latin typeface="Times New Roman" panose="02020603050405020304" pitchFamily="18" charset="0"/>
                  <a:ea typeface="隶书" panose="02010509060101010101" pitchFamily="49" charset="-122"/>
                </a:defRPr>
              </a:lvl4pPr>
              <a:lvl5pPr algn="ctr" defTabSz="1306195" rtl="0" eaLnBrk="0" fontAlgn="base" hangingPunct="0">
                <a:spcBef>
                  <a:spcPct val="0"/>
                </a:spcBef>
                <a:spcAft>
                  <a:spcPct val="0"/>
                </a:spcAft>
                <a:defRPr sz="5400" b="1">
                  <a:solidFill>
                    <a:schemeClr val="accent2"/>
                  </a:solidFill>
                  <a:latin typeface="Times New Roman" panose="02020603050405020304" pitchFamily="18" charset="0"/>
                  <a:ea typeface="隶书" panose="02010509060101010101" pitchFamily="49" charset="-122"/>
                </a:defRPr>
              </a:lvl5pPr>
              <a:lvl6pPr marL="457200" algn="ctr" defTabSz="1306195" rtl="0" fontAlgn="base">
                <a:spcBef>
                  <a:spcPct val="0"/>
                </a:spcBef>
                <a:spcAft>
                  <a:spcPct val="0"/>
                </a:spcAft>
                <a:defRPr kumimoji="1" sz="5400" b="1">
                  <a:solidFill>
                    <a:schemeClr val="accent2"/>
                  </a:solidFill>
                  <a:latin typeface="Times New Roman" panose="02020603050405020304" pitchFamily="18" charset="0"/>
                  <a:ea typeface="隶书" panose="02010509060101010101" pitchFamily="49" charset="-122"/>
                </a:defRPr>
              </a:lvl6pPr>
              <a:lvl7pPr marL="914400" algn="ctr" defTabSz="1306195" rtl="0" fontAlgn="base">
                <a:spcBef>
                  <a:spcPct val="0"/>
                </a:spcBef>
                <a:spcAft>
                  <a:spcPct val="0"/>
                </a:spcAft>
                <a:defRPr kumimoji="1" sz="5400" b="1">
                  <a:solidFill>
                    <a:schemeClr val="accent2"/>
                  </a:solidFill>
                  <a:latin typeface="Times New Roman" panose="02020603050405020304" pitchFamily="18" charset="0"/>
                  <a:ea typeface="隶书" panose="02010509060101010101" pitchFamily="49" charset="-122"/>
                </a:defRPr>
              </a:lvl7pPr>
              <a:lvl8pPr marL="1371600" algn="ctr" defTabSz="1306195" rtl="0" fontAlgn="base">
                <a:spcBef>
                  <a:spcPct val="0"/>
                </a:spcBef>
                <a:spcAft>
                  <a:spcPct val="0"/>
                </a:spcAft>
                <a:defRPr kumimoji="1" sz="5400" b="1">
                  <a:solidFill>
                    <a:schemeClr val="accent2"/>
                  </a:solidFill>
                  <a:latin typeface="Times New Roman" panose="02020603050405020304" pitchFamily="18" charset="0"/>
                  <a:ea typeface="隶书" panose="02010509060101010101" pitchFamily="49" charset="-122"/>
                </a:defRPr>
              </a:lvl8pPr>
              <a:lvl9pPr marL="1828800" algn="ctr" defTabSz="1306195" rtl="0" fontAlgn="base">
                <a:spcBef>
                  <a:spcPct val="0"/>
                </a:spcBef>
                <a:spcAft>
                  <a:spcPct val="0"/>
                </a:spcAft>
                <a:defRPr kumimoji="1" sz="5400" b="1">
                  <a:solidFill>
                    <a:schemeClr val="accent2"/>
                  </a:solidFill>
                  <a:latin typeface="Times New Roman" panose="02020603050405020304" pitchFamily="18" charset="0"/>
                  <a:ea typeface="隶书" panose="02010509060101010101" pitchFamily="49" charset="-122"/>
                </a:defRPr>
              </a:lvl9pPr>
            </a:lstStyle>
            <a:p>
              <a:pPr eaLnBrk="1" hangingPunct="1">
                <a:defRPr/>
              </a:pPr>
              <a:r>
                <a:rPr lang="zh-CN" altLang="en-US" sz="1800" kern="0" dirty="0">
                  <a:latin typeface="+mn-ea"/>
                  <a:ea typeface="+mn-ea"/>
                  <a:sym typeface="+mn-ea"/>
                </a:rPr>
                <a:t>滤波后的生物医学</a:t>
              </a:r>
            </a:p>
          </p:txBody>
        </p:sp>
      </p:grpSp>
    </p:spTree>
    <p:custDataLst>
      <p:tags r:id="rId2"/>
    </p:custDataLst>
  </p:cSld>
  <p:clrMapOvr>
    <a:masterClrMapping/>
  </p:clrMapOvr>
  <p:transition spd="med" advTm="80276">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21"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1496067">
                                            <p:bg/>
                                          </p:spTgt>
                                        </p:tgtEl>
                                        <p:attrNameLst>
                                          <p:attrName>style.visibility</p:attrName>
                                        </p:attrNameLst>
                                      </p:cBhvr>
                                      <p:to>
                                        <p:strVal val="visible"/>
                                      </p:to>
                                    </p:set>
                                    <p:anim calcmode="lin" valueType="num">
                                      <p:cBhvr>
                                        <p:cTn id="17" dur="1000" fill="hold"/>
                                        <p:tgtEl>
                                          <p:spTgt spid="1496067">
                                            <p:bg/>
                                          </p:spTgt>
                                        </p:tgtEl>
                                        <p:attrNameLst>
                                          <p:attrName>ppt_w</p:attrName>
                                        </p:attrNameLst>
                                      </p:cBhvr>
                                      <p:tavLst>
                                        <p:tav tm="0">
                                          <p:val>
                                            <p:strVal val="#ppt_w*0.70"/>
                                          </p:val>
                                        </p:tav>
                                        <p:tav tm="100000">
                                          <p:val>
                                            <p:strVal val="#ppt_w"/>
                                          </p:val>
                                        </p:tav>
                                      </p:tavLst>
                                    </p:anim>
                                    <p:anim calcmode="lin" valueType="num">
                                      <p:cBhvr>
                                        <p:cTn id="18" dur="1000" fill="hold"/>
                                        <p:tgtEl>
                                          <p:spTgt spid="1496067">
                                            <p:bg/>
                                          </p:spTgt>
                                        </p:tgtEl>
                                        <p:attrNameLst>
                                          <p:attrName>ppt_h</p:attrName>
                                        </p:attrNameLst>
                                      </p:cBhvr>
                                      <p:tavLst>
                                        <p:tav tm="0">
                                          <p:val>
                                            <p:strVal val="#ppt_h"/>
                                          </p:val>
                                        </p:tav>
                                        <p:tav tm="100000">
                                          <p:val>
                                            <p:strVal val="#ppt_h"/>
                                          </p:val>
                                        </p:tav>
                                      </p:tavLst>
                                    </p:anim>
                                    <p:animEffect transition="in" filter="fade">
                                      <p:cBhvr>
                                        <p:cTn id="19" dur="1000"/>
                                        <p:tgtEl>
                                          <p:spTgt spid="1496067">
                                            <p:bg/>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496067">
                                            <p:txEl>
                                              <p:pRg st="0" end="0"/>
                                            </p:txEl>
                                          </p:spTgt>
                                        </p:tgtEl>
                                        <p:attrNameLst>
                                          <p:attrName>style.visibility</p:attrName>
                                        </p:attrNameLst>
                                      </p:cBhvr>
                                      <p:to>
                                        <p:strVal val="visible"/>
                                      </p:to>
                                    </p:set>
                                    <p:anim calcmode="lin" valueType="num">
                                      <p:cBhvr>
                                        <p:cTn id="22" dur="500" fill="hold"/>
                                        <p:tgtEl>
                                          <p:spTgt spid="1496067">
                                            <p:txEl>
                                              <p:pRg st="0" end="0"/>
                                            </p:txEl>
                                          </p:spTgt>
                                        </p:tgtEl>
                                        <p:attrNameLst>
                                          <p:attrName>ppt_w</p:attrName>
                                        </p:attrNameLst>
                                      </p:cBhvr>
                                      <p:tavLst>
                                        <p:tav tm="0">
                                          <p:val>
                                            <p:strVal val="#ppt_w*0.70"/>
                                          </p:val>
                                        </p:tav>
                                        <p:tav tm="100000">
                                          <p:val>
                                            <p:strVal val="#ppt_w"/>
                                          </p:val>
                                        </p:tav>
                                      </p:tavLst>
                                    </p:anim>
                                    <p:anim calcmode="lin" valueType="num">
                                      <p:cBhvr>
                                        <p:cTn id="23" dur="500" fill="hold"/>
                                        <p:tgtEl>
                                          <p:spTgt spid="1496067">
                                            <p:txEl>
                                              <p:pRg st="0" end="0"/>
                                            </p:txEl>
                                          </p:spTgt>
                                        </p:tgtEl>
                                        <p:attrNameLst>
                                          <p:attrName>ppt_h</p:attrName>
                                        </p:attrNameLst>
                                      </p:cBhvr>
                                      <p:tavLst>
                                        <p:tav tm="0">
                                          <p:val>
                                            <p:strVal val="#ppt_h"/>
                                          </p:val>
                                        </p:tav>
                                        <p:tav tm="100000">
                                          <p:val>
                                            <p:strVal val="#ppt_h"/>
                                          </p:val>
                                        </p:tav>
                                      </p:tavLst>
                                    </p:anim>
                                    <p:animEffect transition="in" filter="fade">
                                      <p:cBhvr>
                                        <p:cTn id="24" dur="500"/>
                                        <p:tgtEl>
                                          <p:spTgt spid="1496067">
                                            <p:txEl>
                                              <p:pRg st="0" end="0"/>
                                            </p:txEl>
                                          </p:spTgt>
                                        </p:tgtEl>
                                      </p:cBhvr>
                                    </p:animEffect>
                                  </p:childTnLst>
                                </p:cTn>
                              </p:par>
                            </p:childTnLst>
                          </p:cTn>
                        </p:par>
                        <p:par>
                          <p:cTn id="25" fill="hold">
                            <p:stCondLst>
                              <p:cond delay="1000"/>
                            </p:stCondLst>
                            <p:childTnLst>
                              <p:par>
                                <p:cTn id="26" presetID="2" presetClass="entr" presetSubtype="4" fill="hold" nodeType="after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arn(inVertical)">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grpId="0" nodeType="clickEffect">
                                  <p:stCondLst>
                                    <p:cond delay="0"/>
                                  </p:stCondLst>
                                  <p:childTnLst>
                                    <p:set>
                                      <p:cBhvr>
                                        <p:cTn id="38" dur="1" fill="hold">
                                          <p:stCondLst>
                                            <p:cond delay="0"/>
                                          </p:stCondLst>
                                        </p:cTn>
                                        <p:tgtEl>
                                          <p:spTgt spid="10">
                                            <p:bg/>
                                          </p:spTgt>
                                        </p:tgtEl>
                                        <p:attrNameLst>
                                          <p:attrName>style.visibility</p:attrName>
                                        </p:attrNameLst>
                                      </p:cBhvr>
                                      <p:to>
                                        <p:strVal val="visible"/>
                                      </p:to>
                                    </p:set>
                                    <p:anim calcmode="lin" valueType="num">
                                      <p:cBhvr>
                                        <p:cTn id="39" dur="1000" fill="hold"/>
                                        <p:tgtEl>
                                          <p:spTgt spid="10">
                                            <p:bg/>
                                          </p:spTgt>
                                        </p:tgtEl>
                                        <p:attrNameLst>
                                          <p:attrName>ppt_w</p:attrName>
                                        </p:attrNameLst>
                                      </p:cBhvr>
                                      <p:tavLst>
                                        <p:tav tm="0">
                                          <p:val>
                                            <p:strVal val="#ppt_w*0.70"/>
                                          </p:val>
                                        </p:tav>
                                        <p:tav tm="100000">
                                          <p:val>
                                            <p:strVal val="#ppt_w"/>
                                          </p:val>
                                        </p:tav>
                                      </p:tavLst>
                                    </p:anim>
                                    <p:anim calcmode="lin" valueType="num">
                                      <p:cBhvr>
                                        <p:cTn id="40" dur="1000" fill="hold"/>
                                        <p:tgtEl>
                                          <p:spTgt spid="10">
                                            <p:bg/>
                                          </p:spTgt>
                                        </p:tgtEl>
                                        <p:attrNameLst>
                                          <p:attrName>ppt_h</p:attrName>
                                        </p:attrNameLst>
                                      </p:cBhvr>
                                      <p:tavLst>
                                        <p:tav tm="0">
                                          <p:val>
                                            <p:strVal val="#ppt_h"/>
                                          </p:val>
                                        </p:tav>
                                        <p:tav tm="100000">
                                          <p:val>
                                            <p:strVal val="#ppt_h"/>
                                          </p:val>
                                        </p:tav>
                                      </p:tavLst>
                                    </p:anim>
                                    <p:animEffect transition="in" filter="fade">
                                      <p:cBhvr>
                                        <p:cTn id="41" dur="1000"/>
                                        <p:tgtEl>
                                          <p:spTgt spid="10">
                                            <p:bg/>
                                          </p:spTgt>
                                        </p:tgtEl>
                                      </p:cBhvr>
                                    </p:animEffect>
                                  </p:childTnLst>
                                </p:cTn>
                              </p:par>
                              <p:par>
                                <p:cTn id="42" presetID="55" presetClass="entr" presetSubtype="0" fill="hold" grpId="0" nodeType="withEffect">
                                  <p:stCondLst>
                                    <p:cond delay="0"/>
                                  </p:stCondLst>
                                  <p:childTnLst>
                                    <p:set>
                                      <p:cBhvr>
                                        <p:cTn id="43" dur="1" fill="hold">
                                          <p:stCondLst>
                                            <p:cond delay="0"/>
                                          </p:stCondLst>
                                        </p:cTn>
                                        <p:tgtEl>
                                          <p:spTgt spid="10">
                                            <p:txEl>
                                              <p:pRg st="0" end="0"/>
                                            </p:txEl>
                                          </p:spTgt>
                                        </p:tgtEl>
                                        <p:attrNameLst>
                                          <p:attrName>style.visibility</p:attrName>
                                        </p:attrNameLst>
                                      </p:cBhvr>
                                      <p:to>
                                        <p:strVal val="visible"/>
                                      </p:to>
                                    </p:set>
                                    <p:anim calcmode="lin" valueType="num">
                                      <p:cBhvr>
                                        <p:cTn id="44" dur="750" fill="hold"/>
                                        <p:tgtEl>
                                          <p:spTgt spid="10">
                                            <p:txEl>
                                              <p:pRg st="0" end="0"/>
                                            </p:txEl>
                                          </p:spTgt>
                                        </p:tgtEl>
                                        <p:attrNameLst>
                                          <p:attrName>ppt_w</p:attrName>
                                        </p:attrNameLst>
                                      </p:cBhvr>
                                      <p:tavLst>
                                        <p:tav tm="0">
                                          <p:val>
                                            <p:strVal val="#ppt_w*0.70"/>
                                          </p:val>
                                        </p:tav>
                                        <p:tav tm="100000">
                                          <p:val>
                                            <p:strVal val="#ppt_w"/>
                                          </p:val>
                                        </p:tav>
                                      </p:tavLst>
                                    </p:anim>
                                    <p:anim calcmode="lin" valueType="num">
                                      <p:cBhvr>
                                        <p:cTn id="45" dur="750" fill="hold"/>
                                        <p:tgtEl>
                                          <p:spTgt spid="10">
                                            <p:txEl>
                                              <p:pRg st="0" end="0"/>
                                            </p:txEl>
                                          </p:spTgt>
                                        </p:tgtEl>
                                        <p:attrNameLst>
                                          <p:attrName>ppt_h</p:attrName>
                                        </p:attrNameLst>
                                      </p:cBhvr>
                                      <p:tavLst>
                                        <p:tav tm="0">
                                          <p:val>
                                            <p:strVal val="#ppt_h"/>
                                          </p:val>
                                        </p:tav>
                                        <p:tav tm="100000">
                                          <p:val>
                                            <p:strVal val="#ppt_h"/>
                                          </p:val>
                                        </p:tav>
                                      </p:tavLst>
                                    </p:anim>
                                    <p:animEffect transition="in" filter="fade">
                                      <p:cBhvr>
                                        <p:cTn id="46" dur="750"/>
                                        <p:tgtEl>
                                          <p:spTgt spid="10">
                                            <p:txEl>
                                              <p:pRg st="0" end="0"/>
                                            </p:txEl>
                                          </p:spTgt>
                                        </p:tgtEl>
                                      </p:cBhvr>
                                    </p:animEffect>
                                  </p:childTnLst>
                                </p:cTn>
                              </p:par>
                            </p:childTnLst>
                          </p:cTn>
                        </p:par>
                        <p:par>
                          <p:cTn id="47" fill="hold">
                            <p:stCondLst>
                              <p:cond delay="1000"/>
                            </p:stCondLst>
                            <p:childTnLst>
                              <p:par>
                                <p:cTn id="48" presetID="2" presetClass="entr" presetSubtype="4"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6067" grpId="0" build="p" animBg="1"/>
      <p:bldP spid="10" grpId="0" build="p" animBg="1"/>
      <p:bldP spid="3" grpId="0"/>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2pPr>
            <a:lvl3pPr marL="9144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3pPr>
            <a:lvl4pPr marL="13716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4pPr>
            <a:lvl5pPr marL="18288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5DB3ED41-E534-4143-92CF-40EC79D5D748}" type="slidenum">
              <a:rPr lang="en-US" altLang="zh-CN" smtClean="0"/>
              <a:t>10</a:t>
            </a:fld>
            <a:endParaRPr lang="en-US" altLang="zh-CN" sz="1645"/>
          </a:p>
        </p:txBody>
      </p:sp>
      <p:sp>
        <p:nvSpPr>
          <p:cNvPr id="10242" name="Rectangle 4"/>
          <p:cNvSpPr>
            <a:spLocks noChangeArrowheads="1"/>
          </p:cNvSpPr>
          <p:nvPr/>
        </p:nvSpPr>
        <p:spPr bwMode="auto">
          <a:xfrm>
            <a:off x="592455" y="1276350"/>
            <a:ext cx="4057015" cy="484505"/>
          </a:xfrm>
          <a:prstGeom prst="rect">
            <a:avLst/>
          </a:prstGeom>
          <a:noFill/>
          <a:ln>
            <a:noFill/>
          </a:ln>
        </p:spPr>
        <p:txBody>
          <a:bodyPr lIns="89569" tIns="44785" rIns="89569" bIns="44785" anchor="ct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defRPr/>
            </a:pPr>
            <a:r>
              <a:rPr lang="en-US" altLang="zh-CN" sz="1920" dirty="0">
                <a:solidFill>
                  <a:schemeClr val="accent2"/>
                </a:solidFill>
                <a:latin typeface="Times New Roman" panose="02020603050405020304" pitchFamily="18" charset="0"/>
                <a:ea typeface="宋体" panose="02010600030101010101" pitchFamily="2" charset="-122"/>
              </a:rPr>
              <a:t>2. </a:t>
            </a:r>
            <a:r>
              <a:rPr lang="zh-CN" altLang="en-US" sz="1920" dirty="0">
                <a:solidFill>
                  <a:schemeClr val="accent2"/>
                </a:solidFill>
                <a:latin typeface="Times New Roman" panose="02020603050405020304" pitchFamily="18" charset="0"/>
                <a:ea typeface="宋体" panose="02010600030101010101" pitchFamily="2" charset="-122"/>
              </a:rPr>
              <a:t>信号时域分析与频域分析的关系</a:t>
            </a:r>
          </a:p>
        </p:txBody>
      </p:sp>
      <p:sp>
        <p:nvSpPr>
          <p:cNvPr id="10244" name="Rectangle 10"/>
          <p:cNvSpPr>
            <a:spLocks noGrp="1" noChangeArrowheads="1"/>
          </p:cNvSpPr>
          <p:nvPr>
            <p:ph type="title"/>
          </p:nvPr>
        </p:nvSpPr>
        <p:spPr>
          <a:xfrm>
            <a:off x="325438" y="663575"/>
            <a:ext cx="2173287" cy="612775"/>
          </a:xfrm>
        </p:spPr>
        <p:txBody>
          <a:bodyPr/>
          <a:lstStyle/>
          <a:p>
            <a:pPr eaLnBrk="1" hangingPunct="1">
              <a:defRPr/>
            </a:pPr>
            <a:r>
              <a:rPr lang="zh-CN" altLang="en-US" sz="2470">
                <a:solidFill>
                  <a:srgbClr val="FF0000"/>
                </a:solidFill>
                <a:ea typeface="黑体" panose="02010609060101010101" pitchFamily="49" charset="-122"/>
              </a:rPr>
              <a:t>要解决的问题</a:t>
            </a:r>
          </a:p>
        </p:txBody>
      </p:sp>
      <p:pic>
        <p:nvPicPr>
          <p:cNvPr id="19462"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700" y="1867535"/>
            <a:ext cx="785368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图片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9075" y="4979670"/>
            <a:ext cx="7004050" cy="185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advTm="25810">
    <p:randomBa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2pPr>
            <a:lvl3pPr marL="9144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3pPr>
            <a:lvl4pPr marL="13716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4pPr>
            <a:lvl5pPr marL="18288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0A900533-10BB-4C35-B54E-C125A6528084}" type="slidenum">
              <a:rPr lang="en-US" altLang="zh-CN" smtClean="0"/>
              <a:t>11</a:t>
            </a:fld>
            <a:endParaRPr lang="en-US" altLang="zh-CN" sz="1645"/>
          </a:p>
        </p:txBody>
      </p:sp>
      <p:sp>
        <p:nvSpPr>
          <p:cNvPr id="11266" name="Rectangle 4"/>
          <p:cNvSpPr>
            <a:spLocks noChangeArrowheads="1"/>
          </p:cNvSpPr>
          <p:nvPr/>
        </p:nvSpPr>
        <p:spPr bwMode="auto">
          <a:xfrm>
            <a:off x="592138" y="1416497"/>
            <a:ext cx="2603500" cy="484188"/>
          </a:xfrm>
          <a:prstGeom prst="rect">
            <a:avLst/>
          </a:prstGeom>
          <a:noFill/>
          <a:ln>
            <a:noFill/>
          </a:ln>
        </p:spPr>
        <p:txBody>
          <a:bodyPr lIns="89569" tIns="44785" rIns="89569" bIns="44785" anchor="ct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defRPr/>
            </a:pPr>
            <a:r>
              <a:rPr lang="en-US" altLang="zh-CN" sz="1920" dirty="0">
                <a:solidFill>
                  <a:schemeClr val="accent2"/>
                </a:solidFill>
                <a:latin typeface="Times New Roman" panose="02020603050405020304" pitchFamily="18" charset="0"/>
                <a:ea typeface="宋体" panose="02010600030101010101" pitchFamily="2" charset="-122"/>
              </a:rPr>
              <a:t>3.</a:t>
            </a:r>
            <a:r>
              <a:rPr lang="zh-CN" altLang="en-US" sz="1920" dirty="0">
                <a:solidFill>
                  <a:schemeClr val="accent2"/>
                </a:solidFill>
                <a:latin typeface="Times New Roman" panose="02020603050405020304" pitchFamily="18" charset="0"/>
                <a:ea typeface="宋体" panose="02010600030101010101" pitchFamily="2" charset="-122"/>
              </a:rPr>
              <a:t>系统分析</a:t>
            </a:r>
          </a:p>
        </p:txBody>
      </p:sp>
      <p:sp>
        <p:nvSpPr>
          <p:cNvPr id="1496073" name="Rectangle 9"/>
          <p:cNvSpPr/>
          <p:nvPr/>
        </p:nvSpPr>
        <p:spPr>
          <a:xfrm>
            <a:off x="1045648" y="3682208"/>
            <a:ext cx="6265863" cy="989012"/>
          </a:xfrm>
          <a:prstGeom prst="rect">
            <a:avLst/>
          </a:prstGeom>
          <a:solidFill>
            <a:schemeClr val="bg1"/>
          </a:solidFill>
          <a:ln w="9525">
            <a:solidFill>
              <a:schemeClr val="accent6">
                <a:lumMod val="20000"/>
                <a:lumOff val="80000"/>
              </a:schemeClr>
            </a:solidFill>
          </a:ln>
          <a:effectLst>
            <a:outerShdw dist="35921" dir="2699999" algn="ctr" rotWithShape="0">
              <a:srgbClr val="808080"/>
            </a:outerShdw>
          </a:effectLst>
        </p:spPr>
        <p:txBody>
          <a:bodyPr lIns="89567" tIns="44783" rIns="89567" bIns="44783"/>
          <a:lstStyle/>
          <a:p>
            <a:pPr>
              <a:lnSpc>
                <a:spcPct val="145000"/>
              </a:lnSpc>
              <a:spcBef>
                <a:spcPct val="25000"/>
              </a:spcBef>
              <a:defRPr/>
            </a:pPr>
            <a:r>
              <a:rPr lang="en-US" altLang="zh-CN" sz="1645" noProof="1">
                <a:latin typeface="Times New Roman" panose="02020603050405020304" pitchFamily="18" charset="0"/>
                <a:ea typeface="宋体" panose="02010600030101010101" pitchFamily="2" charset="-122"/>
                <a:sym typeface="+mn-ea"/>
              </a:rPr>
              <a:t>      </a:t>
            </a:r>
            <a:r>
              <a:rPr lang="zh-CN" altLang="en-US" sz="1645" noProof="1">
                <a:latin typeface="Times New Roman" panose="02020603050405020304" pitchFamily="18" charset="0"/>
                <a:ea typeface="宋体" panose="02010600030101010101" pitchFamily="2" charset="-122"/>
                <a:sym typeface="+mn-ea"/>
              </a:rPr>
              <a:t>针对给定的信号处理目的设计出特定系统，以实现对信号以特定的方式进行处理。例如</a:t>
            </a:r>
            <a:r>
              <a:rPr lang="zh-CN" altLang="en-US" sz="1645" i="1" noProof="1">
                <a:solidFill>
                  <a:srgbClr val="FF0000"/>
                </a:solidFill>
                <a:latin typeface="Times New Roman" panose="02020603050405020304" pitchFamily="18" charset="0"/>
                <a:ea typeface="宋体" panose="02010600030101010101" pitchFamily="2" charset="-122"/>
                <a:sym typeface="+mn-ea"/>
              </a:rPr>
              <a:t>滤波器</a:t>
            </a:r>
            <a:r>
              <a:rPr lang="zh-CN" altLang="en-US" sz="1645" noProof="1">
                <a:latin typeface="Times New Roman" panose="02020603050405020304" pitchFamily="18" charset="0"/>
                <a:ea typeface="宋体" panose="02010600030101010101" pitchFamily="2" charset="-122"/>
                <a:sym typeface="+mn-ea"/>
              </a:rPr>
              <a:t>。</a:t>
            </a:r>
          </a:p>
          <a:p>
            <a:pPr>
              <a:lnSpc>
                <a:spcPct val="145000"/>
              </a:lnSpc>
              <a:spcBef>
                <a:spcPct val="25000"/>
              </a:spcBef>
              <a:buFont typeface="Arial" panose="020B0604020202020204" pitchFamily="34" charset="0"/>
              <a:buChar char="•"/>
              <a:defRPr/>
            </a:pPr>
            <a:endParaRPr lang="en-US" altLang="zh-CN" sz="1645" noProof="1">
              <a:latin typeface="Times New Roman" panose="02020603050405020304" pitchFamily="18" charset="0"/>
              <a:ea typeface="宋体" panose="02010600030101010101" pitchFamily="2" charset="-122"/>
              <a:sym typeface="+mn-ea"/>
            </a:endParaRPr>
          </a:p>
        </p:txBody>
      </p:sp>
      <p:sp>
        <p:nvSpPr>
          <p:cNvPr id="1496067" name="Rectangle 3"/>
          <p:cNvSpPr>
            <a:spLocks noGrp="1"/>
          </p:cNvSpPr>
          <p:nvPr>
            <p:ph idx="1"/>
          </p:nvPr>
        </p:nvSpPr>
        <p:spPr>
          <a:xfrm>
            <a:off x="1254918" y="2019300"/>
            <a:ext cx="5692775" cy="661987"/>
          </a:xfrm>
          <a:solidFill>
            <a:schemeClr val="bg1"/>
          </a:solidFill>
          <a:ln>
            <a:solidFill>
              <a:schemeClr val="accent6">
                <a:lumMod val="20000"/>
                <a:lumOff val="80000"/>
              </a:schemeClr>
            </a:solidFill>
          </a:ln>
          <a:effectLst>
            <a:outerShdw dist="35921" dir="2699999" algn="ctr" rotWithShape="0">
              <a:srgbClr val="808080"/>
            </a:outerShdw>
          </a:effectLst>
        </p:spPr>
        <p:txBody>
          <a:bodyPr/>
          <a:lstStyle/>
          <a:p>
            <a:pPr marL="0" indent="0" defTabSz="895350" eaLnBrk="1" hangingPunct="1">
              <a:lnSpc>
                <a:spcPct val="150000"/>
              </a:lnSpc>
              <a:spcBef>
                <a:spcPts val="0"/>
              </a:spcBef>
              <a:buFont typeface="Wingdings" panose="05000000000000000000" pitchFamily="2" charset="2"/>
              <a:buNone/>
              <a:defRPr/>
            </a:pPr>
            <a:r>
              <a:rPr lang="zh-CN" altLang="en-US" sz="1645" noProof="1"/>
              <a:t>    对某特定系统分析其对各种不同输入的响应（输出）。</a:t>
            </a:r>
          </a:p>
        </p:txBody>
      </p:sp>
      <p:sp>
        <p:nvSpPr>
          <p:cNvPr id="11270" name="Rectangle 10"/>
          <p:cNvSpPr>
            <a:spLocks noGrp="1" noChangeArrowheads="1"/>
          </p:cNvSpPr>
          <p:nvPr>
            <p:ph type="title"/>
          </p:nvPr>
        </p:nvSpPr>
        <p:spPr>
          <a:xfrm>
            <a:off x="325438" y="663575"/>
            <a:ext cx="2173287" cy="612775"/>
          </a:xfrm>
        </p:spPr>
        <p:txBody>
          <a:bodyPr/>
          <a:lstStyle/>
          <a:p>
            <a:pPr eaLnBrk="1" hangingPunct="1">
              <a:defRPr/>
            </a:pPr>
            <a:r>
              <a:rPr lang="zh-CN" altLang="en-US" sz="2470">
                <a:solidFill>
                  <a:srgbClr val="FF0000"/>
                </a:solidFill>
                <a:ea typeface="黑体" panose="02010609060101010101" pitchFamily="49" charset="-122"/>
              </a:rPr>
              <a:t>要解决的问题</a:t>
            </a:r>
          </a:p>
        </p:txBody>
      </p:sp>
      <p:sp>
        <p:nvSpPr>
          <p:cNvPr id="11271" name="文本框 1"/>
          <p:cNvSpPr txBox="1">
            <a:spLocks noChangeArrowheads="1"/>
          </p:cNvSpPr>
          <p:nvPr/>
        </p:nvSpPr>
        <p:spPr bwMode="auto">
          <a:xfrm>
            <a:off x="592138" y="3165475"/>
            <a:ext cx="2679096" cy="387798"/>
          </a:xfrm>
          <a:prstGeom prst="rect">
            <a:avLst/>
          </a:prstGeom>
          <a:noFill/>
          <a:ln>
            <a:noFill/>
          </a:ln>
        </p:spPr>
        <p:txBody>
          <a:bodyPr wrap="square">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defRPr/>
            </a:pPr>
            <a:r>
              <a:rPr lang="en-US" altLang="zh-CN" sz="1920" dirty="0">
                <a:solidFill>
                  <a:schemeClr val="accent2"/>
                </a:solidFill>
                <a:latin typeface="Times New Roman" panose="02020603050405020304" pitchFamily="18" charset="0"/>
                <a:ea typeface="宋体" panose="02010600030101010101" pitchFamily="2" charset="-122"/>
              </a:rPr>
              <a:t>4.</a:t>
            </a:r>
            <a:r>
              <a:rPr lang="zh-CN" altLang="en-US" sz="1920" dirty="0">
                <a:solidFill>
                  <a:schemeClr val="accent2"/>
                </a:solidFill>
                <a:latin typeface="Times New Roman" panose="02020603050405020304" pitchFamily="18" charset="0"/>
                <a:ea typeface="宋体" panose="02010600030101010101" pitchFamily="2" charset="-122"/>
              </a:rPr>
              <a:t>系统设计</a:t>
            </a:r>
          </a:p>
        </p:txBody>
      </p:sp>
    </p:spTree>
    <p:custDataLst>
      <p:tags r:id="rId1"/>
    </p:custDataLst>
  </p:cSld>
  <p:clrMapOvr>
    <a:masterClrMapping/>
  </p:clrMapOvr>
  <p:transition spd="med" advTm="62043">
    <p:randomBa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496067">
                                            <p:bg/>
                                          </p:spTgt>
                                        </p:tgtEl>
                                        <p:attrNameLst>
                                          <p:attrName>style.visibility</p:attrName>
                                        </p:attrNameLst>
                                      </p:cBhvr>
                                      <p:to>
                                        <p:strVal val="visible"/>
                                      </p:to>
                                    </p:set>
                                    <p:anim calcmode="lin" valueType="num">
                                      <p:cBhvr>
                                        <p:cTn id="7" dur="1000" fill="hold"/>
                                        <p:tgtEl>
                                          <p:spTgt spid="1496067">
                                            <p:bg/>
                                          </p:spTgt>
                                        </p:tgtEl>
                                        <p:attrNameLst>
                                          <p:attrName>ppt_w</p:attrName>
                                        </p:attrNameLst>
                                      </p:cBhvr>
                                      <p:tavLst>
                                        <p:tav tm="0">
                                          <p:val>
                                            <p:strVal val="#ppt_w*0.70"/>
                                          </p:val>
                                        </p:tav>
                                        <p:tav tm="100000">
                                          <p:val>
                                            <p:strVal val="#ppt_w"/>
                                          </p:val>
                                        </p:tav>
                                      </p:tavLst>
                                    </p:anim>
                                    <p:anim calcmode="lin" valueType="num">
                                      <p:cBhvr>
                                        <p:cTn id="8" dur="1000" fill="hold"/>
                                        <p:tgtEl>
                                          <p:spTgt spid="1496067">
                                            <p:bg/>
                                          </p:spTgt>
                                        </p:tgtEl>
                                        <p:attrNameLst>
                                          <p:attrName>ppt_h</p:attrName>
                                        </p:attrNameLst>
                                      </p:cBhvr>
                                      <p:tavLst>
                                        <p:tav tm="0">
                                          <p:val>
                                            <p:strVal val="#ppt_h"/>
                                          </p:val>
                                        </p:tav>
                                        <p:tav tm="100000">
                                          <p:val>
                                            <p:strVal val="#ppt_h"/>
                                          </p:val>
                                        </p:tav>
                                      </p:tavLst>
                                    </p:anim>
                                    <p:animEffect transition="in" filter="fade">
                                      <p:cBhvr>
                                        <p:cTn id="9" dur="1000"/>
                                        <p:tgtEl>
                                          <p:spTgt spid="1496067">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496067">
                                            <p:txEl>
                                              <p:pRg st="0" end="0"/>
                                            </p:txEl>
                                          </p:spTgt>
                                        </p:tgtEl>
                                        <p:attrNameLst>
                                          <p:attrName>style.visibility</p:attrName>
                                        </p:attrNameLst>
                                      </p:cBhvr>
                                      <p:to>
                                        <p:strVal val="visible"/>
                                      </p:to>
                                    </p:set>
                                    <p:anim calcmode="lin" valueType="num">
                                      <p:cBhvr>
                                        <p:cTn id="12" dur="750" fill="hold"/>
                                        <p:tgtEl>
                                          <p:spTgt spid="1496067">
                                            <p:txEl>
                                              <p:pRg st="0" end="0"/>
                                            </p:txEl>
                                          </p:spTgt>
                                        </p:tgtEl>
                                        <p:attrNameLst>
                                          <p:attrName>ppt_w</p:attrName>
                                        </p:attrNameLst>
                                      </p:cBhvr>
                                      <p:tavLst>
                                        <p:tav tm="0">
                                          <p:val>
                                            <p:strVal val="#ppt_w*0.70"/>
                                          </p:val>
                                        </p:tav>
                                        <p:tav tm="100000">
                                          <p:val>
                                            <p:strVal val="#ppt_w"/>
                                          </p:val>
                                        </p:tav>
                                      </p:tavLst>
                                    </p:anim>
                                    <p:anim calcmode="lin" valueType="num">
                                      <p:cBhvr>
                                        <p:cTn id="13" dur="750" fill="hold"/>
                                        <p:tgtEl>
                                          <p:spTgt spid="1496067">
                                            <p:txEl>
                                              <p:pRg st="0" end="0"/>
                                            </p:txEl>
                                          </p:spTgt>
                                        </p:tgtEl>
                                        <p:attrNameLst>
                                          <p:attrName>ppt_h</p:attrName>
                                        </p:attrNameLst>
                                      </p:cBhvr>
                                      <p:tavLst>
                                        <p:tav tm="0">
                                          <p:val>
                                            <p:strVal val="#ppt_h"/>
                                          </p:val>
                                        </p:tav>
                                        <p:tav tm="100000">
                                          <p:val>
                                            <p:strVal val="#ppt_h"/>
                                          </p:val>
                                        </p:tav>
                                      </p:tavLst>
                                    </p:anim>
                                    <p:animEffect transition="in" filter="fade">
                                      <p:cBhvr>
                                        <p:cTn id="14" dur="750"/>
                                        <p:tgtEl>
                                          <p:spTgt spid="149606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71"/>
                                        </p:tgtEl>
                                        <p:attrNameLst>
                                          <p:attrName>style.visibility</p:attrName>
                                        </p:attrNameLst>
                                      </p:cBhvr>
                                      <p:to>
                                        <p:strVal val="visible"/>
                                      </p:to>
                                    </p:set>
                                  </p:childTnLst>
                                </p:cTn>
                              </p:par>
                            </p:childTnLst>
                          </p:cTn>
                        </p:par>
                        <p:par>
                          <p:cTn id="19" fill="hold">
                            <p:stCondLst>
                              <p:cond delay="0"/>
                            </p:stCondLst>
                            <p:childTnLst>
                              <p:par>
                                <p:cTn id="20" presetID="55" presetClass="entr" presetSubtype="0" fill="hold" grpId="0" nodeType="afterEffect">
                                  <p:stCondLst>
                                    <p:cond delay="0"/>
                                  </p:stCondLst>
                                  <p:childTnLst>
                                    <p:set>
                                      <p:cBhvr>
                                        <p:cTn id="21" dur="1" fill="hold">
                                          <p:stCondLst>
                                            <p:cond delay="0"/>
                                          </p:stCondLst>
                                        </p:cTn>
                                        <p:tgtEl>
                                          <p:spTgt spid="1496073"/>
                                        </p:tgtEl>
                                        <p:attrNameLst>
                                          <p:attrName>style.visibility</p:attrName>
                                        </p:attrNameLst>
                                      </p:cBhvr>
                                      <p:to>
                                        <p:strVal val="visible"/>
                                      </p:to>
                                    </p:set>
                                    <p:anim calcmode="lin" valueType="num">
                                      <p:cBhvr>
                                        <p:cTn id="22" dur="750" fill="hold"/>
                                        <p:tgtEl>
                                          <p:spTgt spid="1496073"/>
                                        </p:tgtEl>
                                        <p:attrNameLst>
                                          <p:attrName>ppt_w</p:attrName>
                                        </p:attrNameLst>
                                      </p:cBhvr>
                                      <p:tavLst>
                                        <p:tav tm="0">
                                          <p:val>
                                            <p:strVal val="#ppt_w*0.70"/>
                                          </p:val>
                                        </p:tav>
                                        <p:tav tm="100000">
                                          <p:val>
                                            <p:strVal val="#ppt_w"/>
                                          </p:val>
                                        </p:tav>
                                      </p:tavLst>
                                    </p:anim>
                                    <p:anim calcmode="lin" valueType="num">
                                      <p:cBhvr>
                                        <p:cTn id="23" dur="750" fill="hold"/>
                                        <p:tgtEl>
                                          <p:spTgt spid="1496073"/>
                                        </p:tgtEl>
                                        <p:attrNameLst>
                                          <p:attrName>ppt_h</p:attrName>
                                        </p:attrNameLst>
                                      </p:cBhvr>
                                      <p:tavLst>
                                        <p:tav tm="0">
                                          <p:val>
                                            <p:strVal val="#ppt_h"/>
                                          </p:val>
                                        </p:tav>
                                        <p:tav tm="100000">
                                          <p:val>
                                            <p:strVal val="#ppt_h"/>
                                          </p:val>
                                        </p:tav>
                                      </p:tavLst>
                                    </p:anim>
                                    <p:animEffect transition="in" filter="fade">
                                      <p:cBhvr>
                                        <p:cTn id="24" dur="750"/>
                                        <p:tgtEl>
                                          <p:spTgt spid="1496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6073" grpId="0" bldLvl="0" animBg="1"/>
      <p:bldP spid="1496067" grpId="0" build="p" animBg="1"/>
      <p:bldP spid="1127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9139" name="Rectangle 3"/>
          <p:cNvSpPr>
            <a:spLocks noGrp="1" noChangeArrowheads="1"/>
          </p:cNvSpPr>
          <p:nvPr>
            <p:ph type="body" idx="1"/>
          </p:nvPr>
        </p:nvSpPr>
        <p:spPr>
          <a:xfrm>
            <a:off x="671512" y="1666875"/>
            <a:ext cx="2311323" cy="414338"/>
          </a:xfrm>
          <a:solidFill>
            <a:schemeClr val="bg1"/>
          </a:solidFill>
          <a:effectLst>
            <a:outerShdw dist="35921" dir="2700000" algn="ctr" rotWithShape="0">
              <a:srgbClr val="808080"/>
            </a:outerShdw>
          </a:effectLst>
        </p:spPr>
        <p:txBody>
          <a:bodyPr/>
          <a:lstStyle/>
          <a:p>
            <a:pPr>
              <a:buFontTx/>
              <a:buNone/>
            </a:pPr>
            <a:r>
              <a:rPr lang="en-US" altLang="zh-CN" sz="2000" b="1" dirty="0">
                <a:solidFill>
                  <a:srgbClr val="FF0000"/>
                </a:solidFill>
              </a:rPr>
              <a:t>1.</a:t>
            </a:r>
            <a:r>
              <a:rPr lang="zh-CN" altLang="en-US" sz="2000" b="1" dirty="0">
                <a:solidFill>
                  <a:srgbClr val="FF0000"/>
                </a:solidFill>
              </a:rPr>
              <a:t>信号预测：</a:t>
            </a:r>
          </a:p>
        </p:txBody>
      </p:sp>
      <p:sp>
        <p:nvSpPr>
          <p:cNvPr id="1499142" name="Rectangle 6"/>
          <p:cNvSpPr>
            <a:spLocks noChangeArrowheads="1"/>
          </p:cNvSpPr>
          <p:nvPr/>
        </p:nvSpPr>
        <p:spPr bwMode="auto">
          <a:xfrm>
            <a:off x="1411288" y="2392363"/>
            <a:ext cx="5334000"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indent="3194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a:solidFill>
                  <a:srgbClr val="6600FF"/>
                </a:solidFill>
                <a:latin typeface="Times New Roman" panose="02020603050405020304" pitchFamily="18" charset="0"/>
                <a:ea typeface="宋体" panose="02010600030101010101" pitchFamily="2" charset="-122"/>
              </a:rPr>
              <a:t>依据信号的过去值预测其将来的变化趋向。</a:t>
            </a:r>
          </a:p>
          <a:p>
            <a:pPr eaLnBrk="1" hangingPunct="1">
              <a:lnSpc>
                <a:spcPct val="85000"/>
              </a:lnSpc>
              <a:spcBef>
                <a:spcPct val="20000"/>
              </a:spcBef>
              <a:buClr>
                <a:schemeClr val="accent2"/>
              </a:buClr>
              <a:buFont typeface="Wingdings" panose="05000000000000000000" pitchFamily="2" charset="2"/>
              <a:buNone/>
            </a:pPr>
            <a:r>
              <a:rPr lang="zh-CN" altLang="en-US" sz="2000">
                <a:solidFill>
                  <a:schemeClr val="accent2"/>
                </a:solidFill>
                <a:latin typeface="Times New Roman" panose="02020603050405020304" pitchFamily="18" charset="0"/>
                <a:ea typeface="宋体" panose="02010600030101010101" pitchFamily="2" charset="-122"/>
              </a:rPr>
              <a:t>             </a:t>
            </a:r>
            <a:r>
              <a:rPr lang="en-US" altLang="zh-CN" sz="2000">
                <a:solidFill>
                  <a:srgbClr val="0000FF"/>
                </a:solidFill>
                <a:latin typeface="Times New Roman" panose="02020603050405020304" pitchFamily="18" charset="0"/>
                <a:ea typeface="宋体" panose="02010600030101010101" pitchFamily="2" charset="-122"/>
              </a:rPr>
              <a:t>--</a:t>
            </a:r>
            <a:r>
              <a:rPr lang="zh-CN" altLang="en-US" sz="2000">
                <a:solidFill>
                  <a:srgbClr val="0000FF"/>
                </a:solidFill>
                <a:latin typeface="Times New Roman" panose="02020603050405020304" pitchFamily="18" charset="0"/>
                <a:ea typeface="宋体" panose="02010600030101010101" pitchFamily="2" charset="-122"/>
              </a:rPr>
              <a:t>时域分析，确定方程</a:t>
            </a:r>
          </a:p>
        </p:txBody>
      </p:sp>
      <p:sp>
        <p:nvSpPr>
          <p:cNvPr id="1499143" name="Rectangle 7"/>
          <p:cNvSpPr>
            <a:spLocks noChangeArrowheads="1"/>
          </p:cNvSpPr>
          <p:nvPr/>
        </p:nvSpPr>
        <p:spPr bwMode="auto">
          <a:xfrm>
            <a:off x="720725" y="3481388"/>
            <a:ext cx="2760301" cy="414337"/>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469900" indent="-469900">
              <a:spcBef>
                <a:spcPct val="20000"/>
              </a:spcBef>
              <a:buClr>
                <a:schemeClr val="accent2"/>
              </a:buClr>
            </a:pPr>
            <a:r>
              <a:rPr lang="en-US" altLang="zh-CN" sz="2000" dirty="0">
                <a:solidFill>
                  <a:srgbClr val="FF0000"/>
                </a:solidFill>
                <a:latin typeface="+mn-lt"/>
                <a:ea typeface="+mn-ea"/>
              </a:rPr>
              <a:t>2. </a:t>
            </a:r>
            <a:r>
              <a:rPr lang="zh-CN" altLang="en-US" sz="2000" dirty="0">
                <a:solidFill>
                  <a:srgbClr val="FF0000"/>
                </a:solidFill>
                <a:latin typeface="+mn-lt"/>
                <a:ea typeface="+mn-ea"/>
              </a:rPr>
              <a:t>信号恢复：</a:t>
            </a:r>
          </a:p>
        </p:txBody>
      </p:sp>
      <p:sp>
        <p:nvSpPr>
          <p:cNvPr id="1499144" name="Rectangle 8"/>
          <p:cNvSpPr>
            <a:spLocks noChangeArrowheads="1"/>
          </p:cNvSpPr>
          <p:nvPr/>
        </p:nvSpPr>
        <p:spPr bwMode="auto">
          <a:xfrm>
            <a:off x="1214438" y="4259263"/>
            <a:ext cx="67643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indent="44005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20000"/>
              </a:spcBef>
              <a:buClr>
                <a:schemeClr val="accent2"/>
              </a:buClr>
              <a:buFont typeface="Wingdings" panose="05000000000000000000" pitchFamily="2" charset="2"/>
              <a:buNone/>
            </a:pPr>
            <a:r>
              <a:rPr lang="zh-CN" altLang="en-US" sz="2000">
                <a:solidFill>
                  <a:srgbClr val="6600FF"/>
                </a:solidFill>
                <a:latin typeface="Times New Roman" panose="02020603050405020304" pitchFamily="18" charset="0"/>
                <a:ea typeface="宋体" panose="02010600030101010101" pitchFamily="2" charset="-122"/>
              </a:rPr>
              <a:t>从受到噪音等某种形式的污损淹没了的污染信号中将有用的信号复原出来。</a:t>
            </a:r>
            <a:endParaRPr lang="zh-CN" altLang="en-US" sz="2000">
              <a:solidFill>
                <a:schemeClr val="accent2"/>
              </a:solidFill>
              <a:latin typeface="Times New Roman" panose="02020603050405020304" pitchFamily="18" charset="0"/>
              <a:ea typeface="宋体" panose="02010600030101010101" pitchFamily="2" charset="-122"/>
            </a:endParaRPr>
          </a:p>
          <a:p>
            <a:pPr eaLnBrk="1" hangingPunct="1">
              <a:lnSpc>
                <a:spcPct val="145000"/>
              </a:lnSpc>
              <a:spcBef>
                <a:spcPct val="20000"/>
              </a:spcBef>
              <a:buClr>
                <a:schemeClr val="accent2"/>
              </a:buClr>
              <a:buFont typeface="Wingdings" panose="05000000000000000000" pitchFamily="2" charset="2"/>
              <a:buNone/>
            </a:pPr>
            <a:r>
              <a:rPr lang="zh-CN" altLang="en-US" sz="2000">
                <a:solidFill>
                  <a:schemeClr val="accent2"/>
                </a:solidFill>
                <a:latin typeface="Times New Roman" panose="02020603050405020304" pitchFamily="18" charset="0"/>
                <a:ea typeface="宋体" panose="02010600030101010101" pitchFamily="2" charset="-122"/>
              </a:rPr>
              <a:t>             </a:t>
            </a:r>
            <a:r>
              <a:rPr lang="en-US" altLang="zh-CN" sz="2000">
                <a:solidFill>
                  <a:srgbClr val="0000FF"/>
                </a:solidFill>
                <a:latin typeface="Times New Roman" panose="02020603050405020304" pitchFamily="18" charset="0"/>
                <a:ea typeface="宋体" panose="02010600030101010101" pitchFamily="2" charset="-122"/>
              </a:rPr>
              <a:t>--</a:t>
            </a:r>
            <a:r>
              <a:rPr lang="zh-CN" altLang="en-US" sz="2000">
                <a:solidFill>
                  <a:srgbClr val="0000FF"/>
                </a:solidFill>
                <a:latin typeface="Times New Roman" panose="02020603050405020304" pitchFamily="18" charset="0"/>
                <a:ea typeface="宋体" panose="02010600030101010101" pitchFamily="2" charset="-122"/>
              </a:rPr>
              <a:t>信号的卷积与解卷积理论</a:t>
            </a:r>
          </a:p>
        </p:txBody>
      </p:sp>
      <p:sp>
        <p:nvSpPr>
          <p:cNvPr id="22535" name="Rectangle 9"/>
          <p:cNvSpPr>
            <a:spLocks noGrp="1" noChangeArrowheads="1"/>
          </p:cNvSpPr>
          <p:nvPr>
            <p:ph type="title"/>
          </p:nvPr>
        </p:nvSpPr>
        <p:spPr>
          <a:xfrm>
            <a:off x="325438" y="525463"/>
            <a:ext cx="2173287" cy="642937"/>
          </a:xfrm>
          <a:noFill/>
        </p:spPr>
        <p:txBody>
          <a:bodyPr/>
          <a:lstStyle/>
          <a:p>
            <a:r>
              <a:rPr lang="zh-CN" altLang="en-US" sz="2500" b="1">
                <a:ea typeface="黑体" panose="02010609060101010101" pitchFamily="49" charset="-122"/>
              </a:rPr>
              <a:t>能解决的问题</a:t>
            </a:r>
          </a:p>
        </p:txBody>
      </p:sp>
      <p:sp>
        <p:nvSpPr>
          <p:cNvPr id="9" name="日期占位符 8"/>
          <p:cNvSpPr>
            <a:spLocks noGrp="1"/>
          </p:cNvSpPr>
          <p:nvPr>
            <p:ph type="dt" sz="quarter" idx="10"/>
          </p:nvPr>
        </p:nvSpPr>
        <p:spPr/>
        <p:txBody>
          <a:bodyPr/>
          <a:lstStyle/>
          <a:p>
            <a:pPr>
              <a:defRPr/>
            </a:pPr>
            <a:fld id="{ADA154B5-BCFF-4B5B-9C85-0ED1EC6B329E}" type="datetime3">
              <a:rPr lang="zh-CN" altLang="en-US"/>
              <a:t>2026年3月4日星期三</a:t>
            </a:fld>
            <a:endParaRPr lang="zh-CN" altLang="en-US"/>
          </a:p>
        </p:txBody>
      </p:sp>
    </p:spTree>
    <p:custDataLst>
      <p:tags r:id="rId1"/>
    </p:custDataLst>
  </p:cSld>
  <p:clrMapOvr>
    <a:masterClrMapping/>
  </p:clrMapOvr>
  <p:transition advTm="854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499139">
                                            <p:bg/>
                                          </p:spTgt>
                                        </p:tgtEl>
                                        <p:attrNameLst>
                                          <p:attrName>style.visibility</p:attrName>
                                        </p:attrNameLst>
                                      </p:cBhvr>
                                      <p:to>
                                        <p:strVal val="visible"/>
                                      </p:to>
                                    </p:set>
                                    <p:anim calcmode="lin" valueType="num">
                                      <p:cBhvr>
                                        <p:cTn id="7" dur="1000" fill="hold"/>
                                        <p:tgtEl>
                                          <p:spTgt spid="1499139">
                                            <p:bg/>
                                          </p:spTgt>
                                        </p:tgtEl>
                                        <p:attrNameLst>
                                          <p:attrName>ppt_w</p:attrName>
                                        </p:attrNameLst>
                                      </p:cBhvr>
                                      <p:tavLst>
                                        <p:tav tm="0">
                                          <p:val>
                                            <p:strVal val="#ppt_w*0.70"/>
                                          </p:val>
                                        </p:tav>
                                        <p:tav tm="100000">
                                          <p:val>
                                            <p:strVal val="#ppt_w"/>
                                          </p:val>
                                        </p:tav>
                                      </p:tavLst>
                                    </p:anim>
                                    <p:anim calcmode="lin" valueType="num">
                                      <p:cBhvr>
                                        <p:cTn id="8" dur="1000" fill="hold"/>
                                        <p:tgtEl>
                                          <p:spTgt spid="1499139">
                                            <p:bg/>
                                          </p:spTgt>
                                        </p:tgtEl>
                                        <p:attrNameLst>
                                          <p:attrName>ppt_h</p:attrName>
                                        </p:attrNameLst>
                                      </p:cBhvr>
                                      <p:tavLst>
                                        <p:tav tm="0">
                                          <p:val>
                                            <p:strVal val="#ppt_h"/>
                                          </p:val>
                                        </p:tav>
                                        <p:tav tm="100000">
                                          <p:val>
                                            <p:strVal val="#ppt_h"/>
                                          </p:val>
                                        </p:tav>
                                      </p:tavLst>
                                    </p:anim>
                                    <p:animEffect transition="in" filter="fade">
                                      <p:cBhvr>
                                        <p:cTn id="9" dur="1000"/>
                                        <p:tgtEl>
                                          <p:spTgt spid="1499139">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499139">
                                            <p:txEl>
                                              <p:pRg st="0" end="0"/>
                                            </p:txEl>
                                          </p:spTgt>
                                        </p:tgtEl>
                                        <p:attrNameLst>
                                          <p:attrName>style.visibility</p:attrName>
                                        </p:attrNameLst>
                                      </p:cBhvr>
                                      <p:to>
                                        <p:strVal val="visible"/>
                                      </p:to>
                                    </p:set>
                                    <p:anim calcmode="lin" valueType="num">
                                      <p:cBhvr>
                                        <p:cTn id="12" dur="1000" fill="hold"/>
                                        <p:tgtEl>
                                          <p:spTgt spid="1499139">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499139">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49913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499142"/>
                                        </p:tgtEl>
                                        <p:attrNameLst>
                                          <p:attrName>style.visibility</p:attrName>
                                        </p:attrNameLst>
                                      </p:cBhvr>
                                      <p:to>
                                        <p:strVal val="visible"/>
                                      </p:to>
                                    </p:set>
                                    <p:anim calcmode="lin" valueType="num">
                                      <p:cBhvr>
                                        <p:cTn id="19" dur="1000" fill="hold"/>
                                        <p:tgtEl>
                                          <p:spTgt spid="1499142"/>
                                        </p:tgtEl>
                                        <p:attrNameLst>
                                          <p:attrName>ppt_w</p:attrName>
                                        </p:attrNameLst>
                                      </p:cBhvr>
                                      <p:tavLst>
                                        <p:tav tm="0">
                                          <p:val>
                                            <p:strVal val="#ppt_w*0.70"/>
                                          </p:val>
                                        </p:tav>
                                        <p:tav tm="100000">
                                          <p:val>
                                            <p:strVal val="#ppt_w"/>
                                          </p:val>
                                        </p:tav>
                                      </p:tavLst>
                                    </p:anim>
                                    <p:anim calcmode="lin" valueType="num">
                                      <p:cBhvr>
                                        <p:cTn id="20" dur="1000" fill="hold"/>
                                        <p:tgtEl>
                                          <p:spTgt spid="1499142"/>
                                        </p:tgtEl>
                                        <p:attrNameLst>
                                          <p:attrName>ppt_h</p:attrName>
                                        </p:attrNameLst>
                                      </p:cBhvr>
                                      <p:tavLst>
                                        <p:tav tm="0">
                                          <p:val>
                                            <p:strVal val="#ppt_h"/>
                                          </p:val>
                                        </p:tav>
                                        <p:tav tm="100000">
                                          <p:val>
                                            <p:strVal val="#ppt_h"/>
                                          </p:val>
                                        </p:tav>
                                      </p:tavLst>
                                    </p:anim>
                                    <p:animEffect transition="in" filter="fade">
                                      <p:cBhvr>
                                        <p:cTn id="21" dur="1000"/>
                                        <p:tgtEl>
                                          <p:spTgt spid="1499142"/>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1499143"/>
                                        </p:tgtEl>
                                        <p:attrNameLst>
                                          <p:attrName>style.visibility</p:attrName>
                                        </p:attrNameLst>
                                      </p:cBhvr>
                                      <p:to>
                                        <p:strVal val="visible"/>
                                      </p:to>
                                    </p:set>
                                    <p:anim calcmode="lin" valueType="num">
                                      <p:cBhvr>
                                        <p:cTn id="24" dur="1000" fill="hold"/>
                                        <p:tgtEl>
                                          <p:spTgt spid="1499143"/>
                                        </p:tgtEl>
                                        <p:attrNameLst>
                                          <p:attrName>ppt_w</p:attrName>
                                        </p:attrNameLst>
                                      </p:cBhvr>
                                      <p:tavLst>
                                        <p:tav tm="0">
                                          <p:val>
                                            <p:strVal val="#ppt_w*0.70"/>
                                          </p:val>
                                        </p:tav>
                                        <p:tav tm="100000">
                                          <p:val>
                                            <p:strVal val="#ppt_w"/>
                                          </p:val>
                                        </p:tav>
                                      </p:tavLst>
                                    </p:anim>
                                    <p:anim calcmode="lin" valueType="num">
                                      <p:cBhvr>
                                        <p:cTn id="25" dur="1000" fill="hold"/>
                                        <p:tgtEl>
                                          <p:spTgt spid="1499143"/>
                                        </p:tgtEl>
                                        <p:attrNameLst>
                                          <p:attrName>ppt_h</p:attrName>
                                        </p:attrNameLst>
                                      </p:cBhvr>
                                      <p:tavLst>
                                        <p:tav tm="0">
                                          <p:val>
                                            <p:strVal val="#ppt_h"/>
                                          </p:val>
                                        </p:tav>
                                        <p:tav tm="100000">
                                          <p:val>
                                            <p:strVal val="#ppt_h"/>
                                          </p:val>
                                        </p:tav>
                                      </p:tavLst>
                                    </p:anim>
                                    <p:animEffect transition="in" filter="fade">
                                      <p:cBhvr>
                                        <p:cTn id="26" dur="1000"/>
                                        <p:tgtEl>
                                          <p:spTgt spid="1499143"/>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1499144"/>
                                        </p:tgtEl>
                                        <p:attrNameLst>
                                          <p:attrName>style.visibility</p:attrName>
                                        </p:attrNameLst>
                                      </p:cBhvr>
                                      <p:to>
                                        <p:strVal val="visible"/>
                                      </p:to>
                                    </p:set>
                                    <p:anim calcmode="lin" valueType="num">
                                      <p:cBhvr>
                                        <p:cTn id="31" dur="1000" fill="hold"/>
                                        <p:tgtEl>
                                          <p:spTgt spid="1499144"/>
                                        </p:tgtEl>
                                        <p:attrNameLst>
                                          <p:attrName>ppt_w</p:attrName>
                                        </p:attrNameLst>
                                      </p:cBhvr>
                                      <p:tavLst>
                                        <p:tav tm="0">
                                          <p:val>
                                            <p:strVal val="#ppt_w*0.70"/>
                                          </p:val>
                                        </p:tav>
                                        <p:tav tm="100000">
                                          <p:val>
                                            <p:strVal val="#ppt_w"/>
                                          </p:val>
                                        </p:tav>
                                      </p:tavLst>
                                    </p:anim>
                                    <p:anim calcmode="lin" valueType="num">
                                      <p:cBhvr>
                                        <p:cTn id="32" dur="1000" fill="hold"/>
                                        <p:tgtEl>
                                          <p:spTgt spid="1499144"/>
                                        </p:tgtEl>
                                        <p:attrNameLst>
                                          <p:attrName>ppt_h</p:attrName>
                                        </p:attrNameLst>
                                      </p:cBhvr>
                                      <p:tavLst>
                                        <p:tav tm="0">
                                          <p:val>
                                            <p:strVal val="#ppt_h"/>
                                          </p:val>
                                        </p:tav>
                                        <p:tav tm="100000">
                                          <p:val>
                                            <p:strVal val="#ppt_h"/>
                                          </p:val>
                                        </p:tav>
                                      </p:tavLst>
                                    </p:anim>
                                    <p:animEffect transition="in" filter="fade">
                                      <p:cBhvr>
                                        <p:cTn id="33" dur="1000"/>
                                        <p:tgtEl>
                                          <p:spTgt spid="1499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9139" grpId="0" build="p" animBg="1"/>
      <p:bldP spid="1499142" grpId="0"/>
      <p:bldP spid="1499143" grpId="0" animBg="1"/>
      <p:bldP spid="149914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
          <p:cNvSpPr txBox="1">
            <a:spLocks noChangeArrowheads="1"/>
          </p:cNvSpPr>
          <p:nvPr/>
        </p:nvSpPr>
        <p:spPr bwMode="auto">
          <a:xfrm>
            <a:off x="0" y="22860"/>
            <a:ext cx="9144000" cy="406400"/>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sz="2400" dirty="0">
                <a:solidFill>
                  <a:schemeClr val="bg1"/>
                </a:solidFill>
                <a:latin typeface="楷体_GB2312" pitchFamily="49" charset="-122"/>
                <a:ea typeface="楷体_GB2312" pitchFamily="49" charset="-122"/>
              </a:rPr>
              <a:t>信号与系统                                                           能解决的问题</a:t>
            </a:r>
          </a:p>
        </p:txBody>
      </p:sp>
      <p:sp>
        <p:nvSpPr>
          <p:cNvPr id="24579" name="Rectangle 5"/>
          <p:cNvSpPr>
            <a:spLocks noChangeArrowheads="1"/>
          </p:cNvSpPr>
          <p:nvPr/>
        </p:nvSpPr>
        <p:spPr bwMode="auto">
          <a:xfrm>
            <a:off x="165100" y="688975"/>
            <a:ext cx="3001963" cy="414338"/>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000" dirty="0">
                <a:solidFill>
                  <a:srgbClr val="FF0000"/>
                </a:solidFill>
                <a:latin typeface="Times New Roman" panose="02020603050405020304" pitchFamily="18" charset="0"/>
                <a:ea typeface="宋体" panose="02010600030101010101" pitchFamily="2" charset="-122"/>
              </a:rPr>
              <a:t>降采样数据插值恢复：</a:t>
            </a:r>
          </a:p>
        </p:txBody>
      </p:sp>
      <p:pic>
        <p:nvPicPr>
          <p:cNvPr id="24580" name="Picture 10" descr="1D规则插值结果图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900" y="1363028"/>
            <a:ext cx="6172200" cy="459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Rectangle 12"/>
          <p:cNvSpPr>
            <a:spLocks noChangeArrowheads="1"/>
          </p:cNvSpPr>
          <p:nvPr/>
        </p:nvSpPr>
        <p:spPr bwMode="auto">
          <a:xfrm>
            <a:off x="2562225" y="6000750"/>
            <a:ext cx="18764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a:solidFill>
                  <a:srgbClr val="FF0000"/>
                </a:solidFill>
                <a:latin typeface="Times New Roman" panose="02020603050405020304" pitchFamily="18" charset="0"/>
                <a:ea typeface="宋体" panose="02010600030101010101" pitchFamily="2" charset="-122"/>
              </a:rPr>
              <a:t>边缘保持插值</a:t>
            </a:r>
          </a:p>
        </p:txBody>
      </p:sp>
      <p:sp>
        <p:nvSpPr>
          <p:cNvPr id="24582" name="Rectangle 13"/>
          <p:cNvSpPr>
            <a:spLocks noChangeArrowheads="1"/>
          </p:cNvSpPr>
          <p:nvPr/>
        </p:nvSpPr>
        <p:spPr bwMode="auto">
          <a:xfrm>
            <a:off x="5799138" y="6010275"/>
            <a:ext cx="18748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a:solidFill>
                  <a:srgbClr val="FF0000"/>
                </a:solidFill>
                <a:latin typeface="Times New Roman" panose="02020603050405020304" pitchFamily="18" charset="0"/>
                <a:ea typeface="宋体" panose="02010600030101010101" pitchFamily="2" charset="-122"/>
              </a:rPr>
              <a:t>线性插值</a:t>
            </a:r>
          </a:p>
        </p:txBody>
      </p:sp>
      <p:sp>
        <p:nvSpPr>
          <p:cNvPr id="8" name="日期占位符 7"/>
          <p:cNvSpPr>
            <a:spLocks noGrp="1"/>
          </p:cNvSpPr>
          <p:nvPr>
            <p:ph type="dt" sz="quarter" idx="10"/>
          </p:nvPr>
        </p:nvSpPr>
        <p:spPr/>
        <p:txBody>
          <a:bodyPr/>
          <a:lstStyle/>
          <a:p>
            <a:pPr>
              <a:defRPr/>
            </a:pPr>
            <a:fld id="{747B5FB5-2152-424B-A3FD-61D9F190020E}" type="datetime3">
              <a:rPr lang="zh-CN" altLang="en-US"/>
              <a:t>2026年3月4日星期三</a:t>
            </a:fld>
            <a:endParaRPr lang="zh-CN" altLang="en-US"/>
          </a:p>
        </p:txBody>
      </p:sp>
    </p:spTree>
  </p:cSld>
  <p:clrMapOvr>
    <a:masterClrMapping/>
  </p:clrMapOvr>
  <p:transition advTm="38383"/>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2pPr>
            <a:lvl3pPr marL="9144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3pPr>
            <a:lvl4pPr marL="13716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4pPr>
            <a:lvl5pPr marL="18288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0EB4F5D8-47D0-48FD-A3AE-705992964145}" type="slidenum">
              <a:rPr lang="en-US" altLang="zh-CN" smtClean="0"/>
              <a:t>14</a:t>
            </a:fld>
            <a:endParaRPr lang="en-US" altLang="zh-CN" sz="1645"/>
          </a:p>
        </p:txBody>
      </p:sp>
      <p:sp>
        <p:nvSpPr>
          <p:cNvPr id="14338" name="Rectangle 2"/>
          <p:cNvSpPr>
            <a:spLocks noGrp="1" noChangeArrowheads="1"/>
          </p:cNvSpPr>
          <p:nvPr>
            <p:ph idx="1"/>
          </p:nvPr>
        </p:nvSpPr>
        <p:spPr>
          <a:xfrm>
            <a:off x="307975" y="831850"/>
            <a:ext cx="3060700" cy="395288"/>
          </a:xfrm>
          <a:solidFill>
            <a:schemeClr val="bg1"/>
          </a:solidFill>
        </p:spPr>
        <p:txBody>
          <a:bodyPr/>
          <a:lstStyle/>
          <a:p>
            <a:pPr algn="ctr" eaLnBrk="1" hangingPunct="1">
              <a:buFontTx/>
              <a:buNone/>
              <a:defRPr/>
            </a:pPr>
            <a:r>
              <a:rPr lang="zh-CN" altLang="en-US" sz="1920">
                <a:solidFill>
                  <a:srgbClr val="FF0000"/>
                </a:solidFill>
              </a:rPr>
              <a:t>降采样数据插值恢复：</a:t>
            </a:r>
          </a:p>
        </p:txBody>
      </p:sp>
      <p:sp>
        <p:nvSpPr>
          <p:cNvPr id="14339" name="Text Box 3"/>
          <p:cNvSpPr txBox="1">
            <a:spLocks noChangeArrowheads="1"/>
          </p:cNvSpPr>
          <p:nvPr/>
        </p:nvSpPr>
        <p:spPr bwMode="auto">
          <a:xfrm>
            <a:off x="75406" y="0"/>
            <a:ext cx="9144000" cy="449262"/>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2330" dirty="0">
                <a:solidFill>
                  <a:schemeClr val="bg1"/>
                </a:solidFill>
                <a:latin typeface="楷体_GB2312" pitchFamily="49" charset="-122"/>
                <a:ea typeface="楷体_GB2312" pitchFamily="49" charset="-122"/>
              </a:rPr>
              <a:t>信号与系统                                                               能解决的问题</a:t>
            </a:r>
          </a:p>
        </p:txBody>
      </p:sp>
      <p:pic>
        <p:nvPicPr>
          <p:cNvPr id="26629"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1227138"/>
            <a:ext cx="8678863" cy="449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757363" y="1617663"/>
            <a:ext cx="2517775" cy="414337"/>
          </a:xfrm>
          <a:prstGeom prst="rect">
            <a:avLst/>
          </a:prstGeom>
          <a:noFill/>
          <a:ln>
            <a:noFill/>
          </a:ln>
          <a:effectLst/>
        </p:spPr>
        <p:txBody>
          <a:bodyPr lIns="89567" tIns="44783" rIns="89567" bIns="44783"/>
          <a:lstStyle>
            <a:lvl1pPr marL="492125" indent="-492125" algn="l" defTabSz="1306195" rtl="0" eaLnBrk="0" fontAlgn="base" hangingPunct="0">
              <a:spcBef>
                <a:spcPct val="20000"/>
              </a:spcBef>
              <a:spcAft>
                <a:spcPct val="0"/>
              </a:spcAft>
              <a:buChar char="•"/>
              <a:defRPr sz="3600" b="1">
                <a:solidFill>
                  <a:schemeClr val="accent2"/>
                </a:solidFill>
                <a:latin typeface="+mn-lt"/>
                <a:ea typeface="+mn-ea"/>
                <a:cs typeface="+mn-cs"/>
              </a:defRPr>
            </a:lvl1pPr>
            <a:lvl2pPr marL="1059180" indent="-405130" algn="l" defTabSz="1306195" rtl="0" eaLnBrk="0" fontAlgn="base" hangingPunct="0">
              <a:spcBef>
                <a:spcPct val="20000"/>
              </a:spcBef>
              <a:spcAft>
                <a:spcPct val="0"/>
              </a:spcAft>
              <a:buChar char="•"/>
              <a:defRPr sz="3000">
                <a:solidFill>
                  <a:schemeClr val="tx1"/>
                </a:solidFill>
                <a:latin typeface="+mn-lt"/>
                <a:ea typeface="+mn-ea"/>
              </a:defRPr>
            </a:lvl2pPr>
            <a:lvl3pPr marL="1631950" indent="-325755" algn="l" defTabSz="1306195" rtl="0" eaLnBrk="0" fontAlgn="base" hangingPunct="0">
              <a:spcBef>
                <a:spcPct val="20000"/>
              </a:spcBef>
              <a:spcAft>
                <a:spcPct val="0"/>
              </a:spcAft>
              <a:buChar char="•"/>
              <a:defRPr sz="3500">
                <a:solidFill>
                  <a:schemeClr val="tx1"/>
                </a:solidFill>
                <a:latin typeface="+mn-lt"/>
                <a:ea typeface="+mn-ea"/>
              </a:defRPr>
            </a:lvl3pPr>
            <a:lvl4pPr marL="2286000" indent="-325755" algn="l" defTabSz="1306195" rtl="0" eaLnBrk="0" fontAlgn="base" hangingPunct="0">
              <a:spcBef>
                <a:spcPct val="20000"/>
              </a:spcBef>
              <a:spcAft>
                <a:spcPct val="0"/>
              </a:spcAft>
              <a:buChar char="–"/>
              <a:defRPr sz="2900">
                <a:solidFill>
                  <a:schemeClr val="tx1"/>
                </a:solidFill>
                <a:latin typeface="+mn-lt"/>
                <a:ea typeface="+mn-ea"/>
              </a:defRPr>
            </a:lvl4pPr>
            <a:lvl5pPr marL="2940050" indent="-327025" algn="l" defTabSz="1306195" rtl="0" eaLnBrk="0" fontAlgn="base" hangingPunct="0">
              <a:spcBef>
                <a:spcPct val="20000"/>
              </a:spcBef>
              <a:spcAft>
                <a:spcPct val="0"/>
              </a:spcAft>
              <a:buChar char="»"/>
              <a:defRPr sz="2900">
                <a:solidFill>
                  <a:schemeClr val="tx1"/>
                </a:solidFill>
                <a:latin typeface="+mn-lt"/>
                <a:ea typeface="+mn-ea"/>
              </a:defRPr>
            </a:lvl5pPr>
            <a:lvl6pPr marL="3397250" indent="-327025" algn="l" defTabSz="1306195" rtl="0" fontAlgn="base">
              <a:spcBef>
                <a:spcPct val="20000"/>
              </a:spcBef>
              <a:spcAft>
                <a:spcPct val="0"/>
              </a:spcAft>
              <a:buChar char="»"/>
              <a:defRPr kumimoji="1" sz="2900">
                <a:solidFill>
                  <a:schemeClr val="tx1"/>
                </a:solidFill>
                <a:latin typeface="+mn-lt"/>
                <a:ea typeface="+mn-ea"/>
              </a:defRPr>
            </a:lvl6pPr>
            <a:lvl7pPr marL="3854450" indent="-327025" algn="l" defTabSz="1306195" rtl="0" fontAlgn="base">
              <a:spcBef>
                <a:spcPct val="20000"/>
              </a:spcBef>
              <a:spcAft>
                <a:spcPct val="0"/>
              </a:spcAft>
              <a:buChar char="»"/>
              <a:defRPr kumimoji="1" sz="2900">
                <a:solidFill>
                  <a:schemeClr val="tx1"/>
                </a:solidFill>
                <a:latin typeface="+mn-lt"/>
                <a:ea typeface="+mn-ea"/>
              </a:defRPr>
            </a:lvl7pPr>
            <a:lvl8pPr marL="4311650" indent="-327025" algn="l" defTabSz="1306195" rtl="0" fontAlgn="base">
              <a:spcBef>
                <a:spcPct val="20000"/>
              </a:spcBef>
              <a:spcAft>
                <a:spcPct val="0"/>
              </a:spcAft>
              <a:buChar char="»"/>
              <a:defRPr kumimoji="1" sz="2900">
                <a:solidFill>
                  <a:schemeClr val="tx1"/>
                </a:solidFill>
                <a:latin typeface="+mn-lt"/>
                <a:ea typeface="+mn-ea"/>
              </a:defRPr>
            </a:lvl8pPr>
            <a:lvl9pPr marL="4768850" indent="-327025" algn="l" defTabSz="1306195" rtl="0" fontAlgn="base">
              <a:spcBef>
                <a:spcPct val="20000"/>
              </a:spcBef>
              <a:spcAft>
                <a:spcPct val="0"/>
              </a:spcAft>
              <a:buChar char="»"/>
              <a:defRPr kumimoji="1" sz="2900">
                <a:solidFill>
                  <a:schemeClr val="tx1"/>
                </a:solidFill>
                <a:latin typeface="+mn-lt"/>
                <a:ea typeface="+mn-ea"/>
              </a:defRPr>
            </a:lvl9pPr>
          </a:lstStyle>
          <a:p>
            <a:pPr algn="ctr" eaLnBrk="1" hangingPunct="1">
              <a:buFontTx/>
              <a:buNone/>
              <a:defRPr/>
            </a:pPr>
            <a:r>
              <a:rPr lang="zh-CN" altLang="en-US" sz="1370" kern="0" dirty="0">
                <a:solidFill>
                  <a:srgbClr val="0070C0"/>
                </a:solidFill>
                <a:sym typeface="+mn-ea"/>
              </a:rPr>
              <a:t>内轮刹车压力原始数据</a:t>
            </a:r>
          </a:p>
        </p:txBody>
      </p:sp>
      <p:sp>
        <p:nvSpPr>
          <p:cNvPr id="7" name="Rectangle 2"/>
          <p:cNvSpPr txBox="1">
            <a:spLocks noChangeArrowheads="1"/>
          </p:cNvSpPr>
          <p:nvPr/>
        </p:nvSpPr>
        <p:spPr bwMode="auto">
          <a:xfrm>
            <a:off x="5953125" y="1617663"/>
            <a:ext cx="2517775" cy="414337"/>
          </a:xfrm>
          <a:prstGeom prst="rect">
            <a:avLst/>
          </a:prstGeom>
          <a:noFill/>
          <a:ln>
            <a:noFill/>
          </a:ln>
          <a:effectLst/>
        </p:spPr>
        <p:txBody>
          <a:bodyPr lIns="89567" tIns="44783" rIns="89567" bIns="44783"/>
          <a:lstStyle>
            <a:lvl1pPr marL="492125" indent="-492125" algn="l" defTabSz="1306195" rtl="0" eaLnBrk="0" fontAlgn="base" hangingPunct="0">
              <a:spcBef>
                <a:spcPct val="20000"/>
              </a:spcBef>
              <a:spcAft>
                <a:spcPct val="0"/>
              </a:spcAft>
              <a:buChar char="•"/>
              <a:defRPr sz="3600" b="1">
                <a:solidFill>
                  <a:schemeClr val="accent2"/>
                </a:solidFill>
                <a:latin typeface="+mn-lt"/>
                <a:ea typeface="+mn-ea"/>
                <a:cs typeface="+mn-cs"/>
              </a:defRPr>
            </a:lvl1pPr>
            <a:lvl2pPr marL="1059180" indent="-405130" algn="l" defTabSz="1306195" rtl="0" eaLnBrk="0" fontAlgn="base" hangingPunct="0">
              <a:spcBef>
                <a:spcPct val="20000"/>
              </a:spcBef>
              <a:spcAft>
                <a:spcPct val="0"/>
              </a:spcAft>
              <a:buChar char="•"/>
              <a:defRPr sz="3000">
                <a:solidFill>
                  <a:schemeClr val="tx1"/>
                </a:solidFill>
                <a:latin typeface="+mn-lt"/>
                <a:ea typeface="+mn-ea"/>
              </a:defRPr>
            </a:lvl2pPr>
            <a:lvl3pPr marL="1631950" indent="-325755" algn="l" defTabSz="1306195" rtl="0" eaLnBrk="0" fontAlgn="base" hangingPunct="0">
              <a:spcBef>
                <a:spcPct val="20000"/>
              </a:spcBef>
              <a:spcAft>
                <a:spcPct val="0"/>
              </a:spcAft>
              <a:buChar char="•"/>
              <a:defRPr sz="3500">
                <a:solidFill>
                  <a:schemeClr val="tx1"/>
                </a:solidFill>
                <a:latin typeface="+mn-lt"/>
                <a:ea typeface="+mn-ea"/>
              </a:defRPr>
            </a:lvl3pPr>
            <a:lvl4pPr marL="2286000" indent="-325755" algn="l" defTabSz="1306195" rtl="0" eaLnBrk="0" fontAlgn="base" hangingPunct="0">
              <a:spcBef>
                <a:spcPct val="20000"/>
              </a:spcBef>
              <a:spcAft>
                <a:spcPct val="0"/>
              </a:spcAft>
              <a:buChar char="–"/>
              <a:defRPr sz="2900">
                <a:solidFill>
                  <a:schemeClr val="tx1"/>
                </a:solidFill>
                <a:latin typeface="+mn-lt"/>
                <a:ea typeface="+mn-ea"/>
              </a:defRPr>
            </a:lvl4pPr>
            <a:lvl5pPr marL="2940050" indent="-327025" algn="l" defTabSz="1306195" rtl="0" eaLnBrk="0" fontAlgn="base" hangingPunct="0">
              <a:spcBef>
                <a:spcPct val="20000"/>
              </a:spcBef>
              <a:spcAft>
                <a:spcPct val="0"/>
              </a:spcAft>
              <a:buChar char="»"/>
              <a:defRPr sz="2900">
                <a:solidFill>
                  <a:schemeClr val="tx1"/>
                </a:solidFill>
                <a:latin typeface="+mn-lt"/>
                <a:ea typeface="+mn-ea"/>
              </a:defRPr>
            </a:lvl5pPr>
            <a:lvl6pPr marL="3397250" indent="-327025" algn="l" defTabSz="1306195" rtl="0" fontAlgn="base">
              <a:spcBef>
                <a:spcPct val="20000"/>
              </a:spcBef>
              <a:spcAft>
                <a:spcPct val="0"/>
              </a:spcAft>
              <a:buChar char="»"/>
              <a:defRPr kumimoji="1" sz="2900">
                <a:solidFill>
                  <a:schemeClr val="tx1"/>
                </a:solidFill>
                <a:latin typeface="+mn-lt"/>
                <a:ea typeface="+mn-ea"/>
              </a:defRPr>
            </a:lvl6pPr>
            <a:lvl7pPr marL="3854450" indent="-327025" algn="l" defTabSz="1306195" rtl="0" fontAlgn="base">
              <a:spcBef>
                <a:spcPct val="20000"/>
              </a:spcBef>
              <a:spcAft>
                <a:spcPct val="0"/>
              </a:spcAft>
              <a:buChar char="»"/>
              <a:defRPr kumimoji="1" sz="2900">
                <a:solidFill>
                  <a:schemeClr val="tx1"/>
                </a:solidFill>
                <a:latin typeface="+mn-lt"/>
                <a:ea typeface="+mn-ea"/>
              </a:defRPr>
            </a:lvl7pPr>
            <a:lvl8pPr marL="4311650" indent="-327025" algn="l" defTabSz="1306195" rtl="0" fontAlgn="base">
              <a:spcBef>
                <a:spcPct val="20000"/>
              </a:spcBef>
              <a:spcAft>
                <a:spcPct val="0"/>
              </a:spcAft>
              <a:buChar char="»"/>
              <a:defRPr kumimoji="1" sz="2900">
                <a:solidFill>
                  <a:schemeClr val="tx1"/>
                </a:solidFill>
                <a:latin typeface="+mn-lt"/>
                <a:ea typeface="+mn-ea"/>
              </a:defRPr>
            </a:lvl8pPr>
            <a:lvl9pPr marL="4768850" indent="-327025" algn="l" defTabSz="1306195" rtl="0" fontAlgn="base">
              <a:spcBef>
                <a:spcPct val="20000"/>
              </a:spcBef>
              <a:spcAft>
                <a:spcPct val="0"/>
              </a:spcAft>
              <a:buChar char="»"/>
              <a:defRPr kumimoji="1" sz="2900">
                <a:solidFill>
                  <a:schemeClr val="tx1"/>
                </a:solidFill>
                <a:latin typeface="+mn-lt"/>
                <a:ea typeface="+mn-ea"/>
              </a:defRPr>
            </a:lvl9pPr>
          </a:lstStyle>
          <a:p>
            <a:pPr algn="ctr" eaLnBrk="1" hangingPunct="1">
              <a:buFontTx/>
              <a:buNone/>
              <a:defRPr/>
            </a:pPr>
            <a:r>
              <a:rPr lang="zh-CN" altLang="en-US" sz="1370" kern="0" dirty="0">
                <a:solidFill>
                  <a:srgbClr val="0070C0"/>
                </a:solidFill>
                <a:sym typeface="+mn-ea"/>
              </a:rPr>
              <a:t>随机抽取后数据</a:t>
            </a:r>
          </a:p>
        </p:txBody>
      </p:sp>
      <p:sp>
        <p:nvSpPr>
          <p:cNvPr id="8" name="Rectangle 2"/>
          <p:cNvSpPr txBox="1">
            <a:spLocks noChangeArrowheads="1"/>
          </p:cNvSpPr>
          <p:nvPr/>
        </p:nvSpPr>
        <p:spPr bwMode="auto">
          <a:xfrm>
            <a:off x="1784350" y="3667125"/>
            <a:ext cx="2517775" cy="415925"/>
          </a:xfrm>
          <a:prstGeom prst="rect">
            <a:avLst/>
          </a:prstGeom>
          <a:noFill/>
          <a:ln>
            <a:noFill/>
          </a:ln>
          <a:effectLst/>
        </p:spPr>
        <p:txBody>
          <a:bodyPr lIns="89567" tIns="44783" rIns="89567" bIns="44783"/>
          <a:lstStyle>
            <a:lvl1pPr marL="492125" indent="-492125" algn="l" defTabSz="1306195" rtl="0" eaLnBrk="0" fontAlgn="base" hangingPunct="0">
              <a:spcBef>
                <a:spcPct val="20000"/>
              </a:spcBef>
              <a:spcAft>
                <a:spcPct val="0"/>
              </a:spcAft>
              <a:buChar char="•"/>
              <a:defRPr sz="3600" b="1">
                <a:solidFill>
                  <a:schemeClr val="accent2"/>
                </a:solidFill>
                <a:latin typeface="+mn-lt"/>
                <a:ea typeface="+mn-ea"/>
                <a:cs typeface="+mn-cs"/>
              </a:defRPr>
            </a:lvl1pPr>
            <a:lvl2pPr marL="1059180" indent="-405130" algn="l" defTabSz="1306195" rtl="0" eaLnBrk="0" fontAlgn="base" hangingPunct="0">
              <a:spcBef>
                <a:spcPct val="20000"/>
              </a:spcBef>
              <a:spcAft>
                <a:spcPct val="0"/>
              </a:spcAft>
              <a:buChar char="•"/>
              <a:defRPr sz="3000">
                <a:solidFill>
                  <a:schemeClr val="tx1"/>
                </a:solidFill>
                <a:latin typeface="+mn-lt"/>
                <a:ea typeface="+mn-ea"/>
              </a:defRPr>
            </a:lvl2pPr>
            <a:lvl3pPr marL="1631950" indent="-325755" algn="l" defTabSz="1306195" rtl="0" eaLnBrk="0" fontAlgn="base" hangingPunct="0">
              <a:spcBef>
                <a:spcPct val="20000"/>
              </a:spcBef>
              <a:spcAft>
                <a:spcPct val="0"/>
              </a:spcAft>
              <a:buChar char="•"/>
              <a:defRPr sz="3500">
                <a:solidFill>
                  <a:schemeClr val="tx1"/>
                </a:solidFill>
                <a:latin typeface="+mn-lt"/>
                <a:ea typeface="+mn-ea"/>
              </a:defRPr>
            </a:lvl3pPr>
            <a:lvl4pPr marL="2286000" indent="-325755" algn="l" defTabSz="1306195" rtl="0" eaLnBrk="0" fontAlgn="base" hangingPunct="0">
              <a:spcBef>
                <a:spcPct val="20000"/>
              </a:spcBef>
              <a:spcAft>
                <a:spcPct val="0"/>
              </a:spcAft>
              <a:buChar char="–"/>
              <a:defRPr sz="2900">
                <a:solidFill>
                  <a:schemeClr val="tx1"/>
                </a:solidFill>
                <a:latin typeface="+mn-lt"/>
                <a:ea typeface="+mn-ea"/>
              </a:defRPr>
            </a:lvl4pPr>
            <a:lvl5pPr marL="2940050" indent="-327025" algn="l" defTabSz="1306195" rtl="0" eaLnBrk="0" fontAlgn="base" hangingPunct="0">
              <a:spcBef>
                <a:spcPct val="20000"/>
              </a:spcBef>
              <a:spcAft>
                <a:spcPct val="0"/>
              </a:spcAft>
              <a:buChar char="»"/>
              <a:defRPr sz="2900">
                <a:solidFill>
                  <a:schemeClr val="tx1"/>
                </a:solidFill>
                <a:latin typeface="+mn-lt"/>
                <a:ea typeface="+mn-ea"/>
              </a:defRPr>
            </a:lvl5pPr>
            <a:lvl6pPr marL="3397250" indent="-327025" algn="l" defTabSz="1306195" rtl="0" fontAlgn="base">
              <a:spcBef>
                <a:spcPct val="20000"/>
              </a:spcBef>
              <a:spcAft>
                <a:spcPct val="0"/>
              </a:spcAft>
              <a:buChar char="»"/>
              <a:defRPr kumimoji="1" sz="2900">
                <a:solidFill>
                  <a:schemeClr val="tx1"/>
                </a:solidFill>
                <a:latin typeface="+mn-lt"/>
                <a:ea typeface="+mn-ea"/>
              </a:defRPr>
            </a:lvl6pPr>
            <a:lvl7pPr marL="3854450" indent="-327025" algn="l" defTabSz="1306195" rtl="0" fontAlgn="base">
              <a:spcBef>
                <a:spcPct val="20000"/>
              </a:spcBef>
              <a:spcAft>
                <a:spcPct val="0"/>
              </a:spcAft>
              <a:buChar char="»"/>
              <a:defRPr kumimoji="1" sz="2900">
                <a:solidFill>
                  <a:schemeClr val="tx1"/>
                </a:solidFill>
                <a:latin typeface="+mn-lt"/>
                <a:ea typeface="+mn-ea"/>
              </a:defRPr>
            </a:lvl7pPr>
            <a:lvl8pPr marL="4311650" indent="-327025" algn="l" defTabSz="1306195" rtl="0" fontAlgn="base">
              <a:spcBef>
                <a:spcPct val="20000"/>
              </a:spcBef>
              <a:spcAft>
                <a:spcPct val="0"/>
              </a:spcAft>
              <a:buChar char="»"/>
              <a:defRPr kumimoji="1" sz="2900">
                <a:solidFill>
                  <a:schemeClr val="tx1"/>
                </a:solidFill>
                <a:latin typeface="+mn-lt"/>
                <a:ea typeface="+mn-ea"/>
              </a:defRPr>
            </a:lvl8pPr>
            <a:lvl9pPr marL="4768850" indent="-327025" algn="l" defTabSz="1306195" rtl="0" fontAlgn="base">
              <a:spcBef>
                <a:spcPct val="20000"/>
              </a:spcBef>
              <a:spcAft>
                <a:spcPct val="0"/>
              </a:spcAft>
              <a:buChar char="»"/>
              <a:defRPr kumimoji="1" sz="2900">
                <a:solidFill>
                  <a:schemeClr val="tx1"/>
                </a:solidFill>
                <a:latin typeface="+mn-lt"/>
                <a:ea typeface="+mn-ea"/>
              </a:defRPr>
            </a:lvl9pPr>
          </a:lstStyle>
          <a:p>
            <a:pPr algn="ctr" eaLnBrk="1" hangingPunct="1">
              <a:buFontTx/>
              <a:buNone/>
              <a:defRPr/>
            </a:pPr>
            <a:r>
              <a:rPr lang="zh-CN" altLang="en-US" sz="1370" kern="0" dirty="0">
                <a:solidFill>
                  <a:srgbClr val="0070C0"/>
                </a:solidFill>
                <a:sym typeface="+mn-ea"/>
              </a:rPr>
              <a:t>插值算法处理后数据</a:t>
            </a:r>
          </a:p>
        </p:txBody>
      </p:sp>
      <p:sp>
        <p:nvSpPr>
          <p:cNvPr id="9" name="Rectangle 2"/>
          <p:cNvSpPr txBox="1">
            <a:spLocks noChangeArrowheads="1"/>
          </p:cNvSpPr>
          <p:nvPr/>
        </p:nvSpPr>
        <p:spPr bwMode="auto">
          <a:xfrm>
            <a:off x="7167563" y="3667125"/>
            <a:ext cx="1289050" cy="419100"/>
          </a:xfrm>
          <a:prstGeom prst="rect">
            <a:avLst/>
          </a:prstGeom>
          <a:noFill/>
          <a:ln>
            <a:noFill/>
          </a:ln>
          <a:effectLst/>
        </p:spPr>
        <p:txBody>
          <a:bodyPr lIns="89567" tIns="44783" rIns="89567" bIns="44783"/>
          <a:lstStyle>
            <a:lvl1pPr marL="492125" indent="-492125" algn="l" defTabSz="1306195" rtl="0" eaLnBrk="0" fontAlgn="base" hangingPunct="0">
              <a:spcBef>
                <a:spcPct val="20000"/>
              </a:spcBef>
              <a:spcAft>
                <a:spcPct val="0"/>
              </a:spcAft>
              <a:buChar char="•"/>
              <a:defRPr sz="3600" b="1">
                <a:solidFill>
                  <a:schemeClr val="accent2"/>
                </a:solidFill>
                <a:latin typeface="+mn-lt"/>
                <a:ea typeface="+mn-ea"/>
                <a:cs typeface="+mn-cs"/>
              </a:defRPr>
            </a:lvl1pPr>
            <a:lvl2pPr marL="1059180" indent="-405130" algn="l" defTabSz="1306195" rtl="0" eaLnBrk="0" fontAlgn="base" hangingPunct="0">
              <a:spcBef>
                <a:spcPct val="20000"/>
              </a:spcBef>
              <a:spcAft>
                <a:spcPct val="0"/>
              </a:spcAft>
              <a:buChar char="•"/>
              <a:defRPr sz="3000">
                <a:solidFill>
                  <a:schemeClr val="tx1"/>
                </a:solidFill>
                <a:latin typeface="+mn-lt"/>
                <a:ea typeface="+mn-ea"/>
              </a:defRPr>
            </a:lvl2pPr>
            <a:lvl3pPr marL="1631950" indent="-325755" algn="l" defTabSz="1306195" rtl="0" eaLnBrk="0" fontAlgn="base" hangingPunct="0">
              <a:spcBef>
                <a:spcPct val="20000"/>
              </a:spcBef>
              <a:spcAft>
                <a:spcPct val="0"/>
              </a:spcAft>
              <a:buChar char="•"/>
              <a:defRPr sz="3500">
                <a:solidFill>
                  <a:schemeClr val="tx1"/>
                </a:solidFill>
                <a:latin typeface="+mn-lt"/>
                <a:ea typeface="+mn-ea"/>
              </a:defRPr>
            </a:lvl3pPr>
            <a:lvl4pPr marL="2286000" indent="-325755" algn="l" defTabSz="1306195" rtl="0" eaLnBrk="0" fontAlgn="base" hangingPunct="0">
              <a:spcBef>
                <a:spcPct val="20000"/>
              </a:spcBef>
              <a:spcAft>
                <a:spcPct val="0"/>
              </a:spcAft>
              <a:buChar char="–"/>
              <a:defRPr sz="2900">
                <a:solidFill>
                  <a:schemeClr val="tx1"/>
                </a:solidFill>
                <a:latin typeface="+mn-lt"/>
                <a:ea typeface="+mn-ea"/>
              </a:defRPr>
            </a:lvl4pPr>
            <a:lvl5pPr marL="2940050" indent="-327025" algn="l" defTabSz="1306195" rtl="0" eaLnBrk="0" fontAlgn="base" hangingPunct="0">
              <a:spcBef>
                <a:spcPct val="20000"/>
              </a:spcBef>
              <a:spcAft>
                <a:spcPct val="0"/>
              </a:spcAft>
              <a:buChar char="»"/>
              <a:defRPr sz="2900">
                <a:solidFill>
                  <a:schemeClr val="tx1"/>
                </a:solidFill>
                <a:latin typeface="+mn-lt"/>
                <a:ea typeface="+mn-ea"/>
              </a:defRPr>
            </a:lvl5pPr>
            <a:lvl6pPr marL="3397250" indent="-327025" algn="l" defTabSz="1306195" rtl="0" fontAlgn="base">
              <a:spcBef>
                <a:spcPct val="20000"/>
              </a:spcBef>
              <a:spcAft>
                <a:spcPct val="0"/>
              </a:spcAft>
              <a:buChar char="»"/>
              <a:defRPr kumimoji="1" sz="2900">
                <a:solidFill>
                  <a:schemeClr val="tx1"/>
                </a:solidFill>
                <a:latin typeface="+mn-lt"/>
                <a:ea typeface="+mn-ea"/>
              </a:defRPr>
            </a:lvl6pPr>
            <a:lvl7pPr marL="3854450" indent="-327025" algn="l" defTabSz="1306195" rtl="0" fontAlgn="base">
              <a:spcBef>
                <a:spcPct val="20000"/>
              </a:spcBef>
              <a:spcAft>
                <a:spcPct val="0"/>
              </a:spcAft>
              <a:buChar char="»"/>
              <a:defRPr kumimoji="1" sz="2900">
                <a:solidFill>
                  <a:schemeClr val="tx1"/>
                </a:solidFill>
                <a:latin typeface="+mn-lt"/>
                <a:ea typeface="+mn-ea"/>
              </a:defRPr>
            </a:lvl7pPr>
            <a:lvl8pPr marL="4311650" indent="-327025" algn="l" defTabSz="1306195" rtl="0" fontAlgn="base">
              <a:spcBef>
                <a:spcPct val="20000"/>
              </a:spcBef>
              <a:spcAft>
                <a:spcPct val="0"/>
              </a:spcAft>
              <a:buChar char="»"/>
              <a:defRPr kumimoji="1" sz="2900">
                <a:solidFill>
                  <a:schemeClr val="tx1"/>
                </a:solidFill>
                <a:latin typeface="+mn-lt"/>
                <a:ea typeface="+mn-ea"/>
              </a:defRPr>
            </a:lvl8pPr>
            <a:lvl9pPr marL="4768850" indent="-327025" algn="l" defTabSz="1306195" rtl="0" fontAlgn="base">
              <a:spcBef>
                <a:spcPct val="20000"/>
              </a:spcBef>
              <a:spcAft>
                <a:spcPct val="0"/>
              </a:spcAft>
              <a:buChar char="»"/>
              <a:defRPr kumimoji="1" sz="2900">
                <a:solidFill>
                  <a:schemeClr val="tx1"/>
                </a:solidFill>
                <a:latin typeface="+mn-lt"/>
                <a:ea typeface="+mn-ea"/>
              </a:defRPr>
            </a:lvl9pPr>
          </a:lstStyle>
          <a:p>
            <a:pPr algn="ctr" eaLnBrk="1" hangingPunct="1">
              <a:buFontTx/>
              <a:buNone/>
              <a:defRPr/>
            </a:pPr>
            <a:r>
              <a:rPr lang="zh-CN" altLang="en-US" sz="1370" kern="0" dirty="0">
                <a:solidFill>
                  <a:srgbClr val="0070C0"/>
                </a:solidFill>
                <a:sym typeface="+mn-ea"/>
              </a:rPr>
              <a:t>误差</a:t>
            </a:r>
          </a:p>
        </p:txBody>
      </p:sp>
    </p:spTree>
  </p:cSld>
  <p:clrMapOvr>
    <a:masterClrMapping/>
  </p:clrMapOvr>
  <p:transition spd="slow" advTm="26563"/>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2pPr>
            <a:lvl3pPr marL="9144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3pPr>
            <a:lvl4pPr marL="13716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4pPr>
            <a:lvl5pPr marL="18288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2870980E-4D20-4E6B-AC4F-3ADB5B29CC7D}" type="slidenum">
              <a:rPr lang="en-US" altLang="zh-CN" smtClean="0">
                <a:latin typeface="+mn-ea"/>
                <a:ea typeface="+mn-ea"/>
              </a:rPr>
              <a:t>15</a:t>
            </a:fld>
            <a:endParaRPr lang="en-US" altLang="zh-CN" sz="1645">
              <a:latin typeface="+mn-ea"/>
              <a:ea typeface="+mn-ea"/>
            </a:endParaRPr>
          </a:p>
        </p:txBody>
      </p:sp>
      <p:sp>
        <p:nvSpPr>
          <p:cNvPr id="18434" name="Rectangle 2"/>
          <p:cNvSpPr>
            <a:spLocks noGrp="1" noChangeArrowheads="1"/>
          </p:cNvSpPr>
          <p:nvPr>
            <p:ph idx="1"/>
          </p:nvPr>
        </p:nvSpPr>
        <p:spPr>
          <a:xfrm>
            <a:off x="687099" y="768783"/>
            <a:ext cx="3074410" cy="395287"/>
          </a:xfrm>
          <a:solidFill>
            <a:schemeClr val="bg1"/>
          </a:solidFill>
          <a:effectLst>
            <a:outerShdw dist="35921" dir="2700000" algn="ctr" rotWithShape="0">
              <a:srgbClr val="808080"/>
            </a:outerShdw>
          </a:effectLst>
        </p:spPr>
        <p:txBody>
          <a:bodyPr/>
          <a:lstStyle/>
          <a:p>
            <a:pPr eaLnBrk="1" hangingPunct="1">
              <a:buFontTx/>
              <a:buNone/>
              <a:defRPr/>
            </a:pPr>
            <a:r>
              <a:rPr lang="en-US" altLang="zh-CN" sz="1920" dirty="0">
                <a:solidFill>
                  <a:srgbClr val="FF0000"/>
                </a:solidFill>
                <a:latin typeface="+mn-ea"/>
              </a:rPr>
              <a:t>3.</a:t>
            </a:r>
            <a:r>
              <a:rPr lang="zh-CN" altLang="en-US" sz="1920" dirty="0">
                <a:solidFill>
                  <a:srgbClr val="FF0000"/>
                </a:solidFill>
                <a:latin typeface="+mn-ea"/>
              </a:rPr>
              <a:t>图象恢复和图象增强：</a:t>
            </a:r>
          </a:p>
        </p:txBody>
      </p:sp>
      <p:sp>
        <p:nvSpPr>
          <p:cNvPr id="18435" name="Text Box 3"/>
          <p:cNvSpPr txBox="1">
            <a:spLocks noChangeArrowheads="1"/>
          </p:cNvSpPr>
          <p:nvPr/>
        </p:nvSpPr>
        <p:spPr bwMode="auto">
          <a:xfrm>
            <a:off x="0" y="-14288"/>
            <a:ext cx="9144000" cy="449263"/>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2330" dirty="0">
                <a:solidFill>
                  <a:schemeClr val="bg1"/>
                </a:solidFill>
                <a:latin typeface="+mn-ea"/>
                <a:ea typeface="+mn-ea"/>
              </a:rPr>
              <a:t>信号与系统                                     能解决的问题</a:t>
            </a:r>
          </a:p>
        </p:txBody>
      </p:sp>
      <p:sp>
        <p:nvSpPr>
          <p:cNvPr id="1503239" name="Rectangle 7"/>
          <p:cNvSpPr>
            <a:spLocks noChangeArrowheads="1"/>
          </p:cNvSpPr>
          <p:nvPr/>
        </p:nvSpPr>
        <p:spPr bwMode="auto">
          <a:xfrm>
            <a:off x="180975" y="1352550"/>
            <a:ext cx="4195763" cy="4838700"/>
          </a:xfrm>
          <a:prstGeom prst="rect">
            <a:avLst/>
          </a:prstGeom>
          <a:noFill/>
          <a:ln w="38100">
            <a:solidFill>
              <a:schemeClr val="tx1"/>
            </a:solidFill>
            <a:miter lim="800000"/>
          </a:ln>
        </p:spPr>
        <p:txBody>
          <a:bodyPr lIns="89567" tIns="44783" rIns="89567" bIns="44783"/>
          <a:lstStyle>
            <a:lvl1pPr indent="457200" defTabSz="1306195" eaLnBrk="0" hangingPunct="0">
              <a:defRPr kumimoji="1" sz="6000">
                <a:solidFill>
                  <a:schemeClr val="tx1"/>
                </a:solidFill>
                <a:latin typeface="宋体" panose="02010600030101010101" pitchFamily="2" charset="-122"/>
                <a:ea typeface="隶书" panose="02010509060101010101" pitchFamily="49" charset="-122"/>
              </a:defRPr>
            </a:lvl1pPr>
            <a:lvl2pPr marL="742950" indent="-285750" defTabSz="1306195" eaLnBrk="0" hangingPunct="0">
              <a:defRPr kumimoji="1" sz="6000">
                <a:solidFill>
                  <a:schemeClr val="tx1"/>
                </a:solidFill>
                <a:latin typeface="宋体" panose="02010600030101010101" pitchFamily="2" charset="-122"/>
                <a:ea typeface="隶书" panose="02010509060101010101" pitchFamily="49" charset="-122"/>
              </a:defRPr>
            </a:lvl2pPr>
            <a:lvl3pPr marL="1143000" indent="-228600" defTabSz="1306195" eaLnBrk="0" hangingPunct="0">
              <a:defRPr kumimoji="1" sz="6000">
                <a:solidFill>
                  <a:schemeClr val="tx1"/>
                </a:solidFill>
                <a:latin typeface="宋体" panose="02010600030101010101" pitchFamily="2" charset="-122"/>
                <a:ea typeface="隶书" panose="02010509060101010101" pitchFamily="49" charset="-122"/>
              </a:defRPr>
            </a:lvl3pPr>
            <a:lvl4pPr marL="1600200" indent="-228600" defTabSz="1306195" eaLnBrk="0" hangingPunct="0">
              <a:defRPr kumimoji="1" sz="6000">
                <a:solidFill>
                  <a:schemeClr val="tx1"/>
                </a:solidFill>
                <a:latin typeface="宋体" panose="02010600030101010101" pitchFamily="2" charset="-122"/>
                <a:ea typeface="隶书" panose="02010509060101010101" pitchFamily="49" charset="-122"/>
              </a:defRPr>
            </a:lvl4pPr>
            <a:lvl5pPr marL="2057400" indent="-228600" defTabSz="1306195" eaLnBrk="0" hangingPunct="0">
              <a:defRPr kumimoji="1" sz="6000">
                <a:solidFill>
                  <a:schemeClr val="tx1"/>
                </a:solidFill>
                <a:latin typeface="宋体" panose="02010600030101010101" pitchFamily="2" charset="-122"/>
                <a:ea typeface="隶书" panose="02010509060101010101" pitchFamily="49" charset="-122"/>
              </a:defRPr>
            </a:lvl5pPr>
            <a:lvl6pPr marL="2514600" indent="-228600" algn="ctr" defTabSz="1306195" eaLnBrk="0" fontAlgn="base" hangingPunct="0">
              <a:spcBef>
                <a:spcPct val="0"/>
              </a:spcBef>
              <a:spcAft>
                <a:spcPct val="0"/>
              </a:spcAft>
              <a:defRPr kumimoji="1" sz="6000">
                <a:solidFill>
                  <a:schemeClr val="tx1"/>
                </a:solidFill>
                <a:latin typeface="宋体" panose="02010600030101010101" pitchFamily="2" charset="-122"/>
                <a:ea typeface="隶书" panose="02010509060101010101" pitchFamily="49" charset="-122"/>
              </a:defRPr>
            </a:lvl6pPr>
            <a:lvl7pPr marL="2971800" indent="-228600" algn="ctr" defTabSz="1306195" eaLnBrk="0" fontAlgn="base" hangingPunct="0">
              <a:spcBef>
                <a:spcPct val="0"/>
              </a:spcBef>
              <a:spcAft>
                <a:spcPct val="0"/>
              </a:spcAft>
              <a:defRPr kumimoji="1" sz="6000">
                <a:solidFill>
                  <a:schemeClr val="tx1"/>
                </a:solidFill>
                <a:latin typeface="宋体" panose="02010600030101010101" pitchFamily="2" charset="-122"/>
                <a:ea typeface="隶书" panose="02010509060101010101" pitchFamily="49" charset="-122"/>
              </a:defRPr>
            </a:lvl7pPr>
            <a:lvl8pPr marL="3429000" indent="-228600" algn="ctr" defTabSz="1306195" eaLnBrk="0" fontAlgn="base" hangingPunct="0">
              <a:spcBef>
                <a:spcPct val="0"/>
              </a:spcBef>
              <a:spcAft>
                <a:spcPct val="0"/>
              </a:spcAft>
              <a:defRPr kumimoji="1" sz="6000">
                <a:solidFill>
                  <a:schemeClr val="tx1"/>
                </a:solidFill>
                <a:latin typeface="宋体" panose="02010600030101010101" pitchFamily="2" charset="-122"/>
                <a:ea typeface="隶书" panose="02010509060101010101" pitchFamily="49" charset="-122"/>
              </a:defRPr>
            </a:lvl8pPr>
            <a:lvl9pPr marL="3886200" indent="-228600" algn="ctr" defTabSz="1306195" eaLnBrk="0" fontAlgn="base" hangingPunct="0">
              <a:spcBef>
                <a:spcPct val="0"/>
              </a:spcBef>
              <a:spcAft>
                <a:spcPct val="0"/>
              </a:spcAft>
              <a:defRPr kumimoji="1" sz="6000">
                <a:solidFill>
                  <a:schemeClr val="tx1"/>
                </a:solidFill>
                <a:latin typeface="宋体" panose="02010600030101010101" pitchFamily="2" charset="-122"/>
                <a:ea typeface="隶书" panose="02010509060101010101" pitchFamily="49" charset="-122"/>
              </a:defRPr>
            </a:lvl9pPr>
          </a:lstStyle>
          <a:p>
            <a:pPr marL="313690" indent="-313690" eaLnBrk="1" hangingPunct="1">
              <a:lnSpc>
                <a:spcPct val="135000"/>
              </a:lnSpc>
              <a:spcBef>
                <a:spcPct val="20000"/>
              </a:spcBef>
              <a:buFont typeface="Wingdings" panose="05000000000000000000" pitchFamily="2" charset="2"/>
              <a:buChar char="l"/>
              <a:defRPr/>
            </a:pPr>
            <a:r>
              <a:rPr lang="zh-CN" altLang="en-US" sz="1645" dirty="0">
                <a:solidFill>
                  <a:srgbClr val="FF0000"/>
                </a:solidFill>
                <a:latin typeface="+mn-ea"/>
                <a:ea typeface="+mn-ea"/>
                <a:sym typeface="+mn-ea"/>
              </a:rPr>
              <a:t>图像恢复是</a:t>
            </a:r>
            <a:r>
              <a:rPr lang="zh-CN" altLang="en-US" sz="1645" dirty="0">
                <a:latin typeface="+mn-ea"/>
                <a:ea typeface="+mn-ea"/>
                <a:sym typeface="+mn-ea"/>
              </a:rPr>
              <a:t>将由于</a:t>
            </a:r>
            <a:r>
              <a:rPr lang="zh-CN" altLang="en-US" sz="1645" dirty="0">
                <a:solidFill>
                  <a:srgbClr val="6600FF"/>
                </a:solidFill>
                <a:latin typeface="+mn-ea"/>
                <a:ea typeface="+mn-ea"/>
                <a:sym typeface="+mn-ea"/>
              </a:rPr>
              <a:t>摄像机与物体相对运动、系统误差、畸变、噪声等各种原因</a:t>
            </a:r>
            <a:r>
              <a:rPr lang="zh-CN" altLang="en-US" sz="1645" dirty="0">
                <a:latin typeface="+mn-ea"/>
                <a:ea typeface="+mn-ea"/>
                <a:sym typeface="+mn-ea"/>
              </a:rPr>
              <a:t>造成的污损图片图象复原出来，以得到清晰的图象</a:t>
            </a:r>
            <a:r>
              <a:rPr lang="zh-CN" altLang="en-US" sz="1645" dirty="0">
                <a:solidFill>
                  <a:srgbClr val="6600FF"/>
                </a:solidFill>
                <a:latin typeface="+mn-ea"/>
                <a:ea typeface="+mn-ea"/>
                <a:sym typeface="+mn-ea"/>
              </a:rPr>
              <a:t>。</a:t>
            </a:r>
            <a:endParaRPr lang="en-US" altLang="zh-CN" sz="1645" dirty="0">
              <a:solidFill>
                <a:srgbClr val="6600FF"/>
              </a:solidFill>
              <a:latin typeface="+mn-ea"/>
              <a:ea typeface="+mn-ea"/>
              <a:sym typeface="+mn-ea"/>
            </a:endParaRPr>
          </a:p>
          <a:p>
            <a:pPr marL="313690" indent="-313690" eaLnBrk="1" hangingPunct="1">
              <a:lnSpc>
                <a:spcPct val="135000"/>
              </a:lnSpc>
              <a:spcBef>
                <a:spcPct val="20000"/>
              </a:spcBef>
              <a:buFont typeface="Wingdings" panose="05000000000000000000" pitchFamily="2" charset="2"/>
              <a:buChar char="l"/>
              <a:defRPr/>
            </a:pPr>
            <a:r>
              <a:rPr lang="zh-CN" altLang="en-US" sz="1645" dirty="0">
                <a:solidFill>
                  <a:srgbClr val="FF0000"/>
                </a:solidFill>
                <a:latin typeface="+mn-ea"/>
                <a:ea typeface="+mn-ea"/>
                <a:sym typeface="+mn-ea"/>
              </a:rPr>
              <a:t>图像增强是指</a:t>
            </a:r>
            <a:r>
              <a:rPr lang="zh-CN" altLang="en-US" sz="1645" dirty="0">
                <a:latin typeface="+mn-ea"/>
                <a:ea typeface="+mn-ea"/>
                <a:sym typeface="+mn-ea"/>
              </a:rPr>
              <a:t>是将</a:t>
            </a:r>
            <a:r>
              <a:rPr lang="zh-CN" altLang="en-US" sz="1645" dirty="0">
                <a:solidFill>
                  <a:srgbClr val="6600FF"/>
                </a:solidFill>
                <a:latin typeface="+mn-ea"/>
                <a:ea typeface="+mn-ea"/>
                <a:sym typeface="+mn-ea"/>
              </a:rPr>
              <a:t>原来不清晰的图像变得清晰或强调某些感兴趣的特征，抑制不感兴趣的特征，使之改善图像质量、丰富信息量，加强图像判读和识别效果的图像处理方法</a:t>
            </a:r>
            <a:r>
              <a:rPr lang="zh-CN" altLang="en-US" sz="1645" dirty="0">
                <a:latin typeface="+mn-ea"/>
                <a:ea typeface="+mn-ea"/>
                <a:sym typeface="+mn-ea"/>
              </a:rPr>
              <a:t>，如边缘轮廓线条、调节图片亮度、对比度等等。</a:t>
            </a:r>
            <a:endParaRPr lang="en-US" altLang="zh-CN" sz="1645" dirty="0">
              <a:latin typeface="+mn-ea"/>
              <a:ea typeface="+mn-ea"/>
              <a:sym typeface="+mn-ea"/>
            </a:endParaRPr>
          </a:p>
          <a:p>
            <a:pPr marL="313690" indent="-313690" eaLnBrk="1" hangingPunct="1">
              <a:lnSpc>
                <a:spcPct val="135000"/>
              </a:lnSpc>
              <a:spcBef>
                <a:spcPct val="20000"/>
              </a:spcBef>
              <a:buFont typeface="Wingdings" panose="05000000000000000000" pitchFamily="2" charset="2"/>
              <a:buChar char="l"/>
              <a:defRPr/>
            </a:pPr>
            <a:r>
              <a:rPr lang="zh-CN" altLang="en-US" sz="1645" dirty="0">
                <a:solidFill>
                  <a:srgbClr val="FF0000"/>
                </a:solidFill>
                <a:latin typeface="+mn-ea"/>
                <a:ea typeface="+mn-ea"/>
                <a:sym typeface="+mn-ea"/>
              </a:rPr>
              <a:t>这时要求以某种特定的处理方式来设计系统</a:t>
            </a:r>
            <a:r>
              <a:rPr lang="zh-CN" altLang="en-US" sz="1645" dirty="0">
                <a:latin typeface="+mn-ea"/>
                <a:ea typeface="+mn-ea"/>
                <a:sym typeface="+mn-ea"/>
              </a:rPr>
              <a:t>。</a:t>
            </a:r>
          </a:p>
          <a:p>
            <a:pPr eaLnBrk="1" hangingPunct="1">
              <a:lnSpc>
                <a:spcPct val="135000"/>
              </a:lnSpc>
              <a:spcBef>
                <a:spcPct val="20000"/>
              </a:spcBef>
              <a:defRPr/>
            </a:pPr>
            <a:r>
              <a:rPr lang="zh-CN" altLang="en-US" sz="1645" dirty="0">
                <a:solidFill>
                  <a:schemeClr val="accent2"/>
                </a:solidFill>
                <a:latin typeface="+mn-ea"/>
                <a:ea typeface="+mn-ea"/>
                <a:sym typeface="+mn-ea"/>
              </a:rPr>
              <a:t>             </a:t>
            </a:r>
            <a:r>
              <a:rPr lang="en-US" altLang="zh-CN" sz="1645" dirty="0">
                <a:solidFill>
                  <a:srgbClr val="0000FF"/>
                </a:solidFill>
                <a:latin typeface="+mn-ea"/>
                <a:ea typeface="+mn-ea"/>
                <a:sym typeface="+mn-ea"/>
              </a:rPr>
              <a:t>--</a:t>
            </a:r>
            <a:r>
              <a:rPr lang="zh-CN" altLang="en-US" sz="1645" dirty="0">
                <a:solidFill>
                  <a:srgbClr val="0000FF"/>
                </a:solidFill>
                <a:latin typeface="+mn-ea"/>
                <a:ea typeface="+mn-ea"/>
                <a:sym typeface="+mn-ea"/>
              </a:rPr>
              <a:t>傅里叶变换，滤波</a:t>
            </a:r>
            <a:endParaRPr lang="en-US" altLang="zh-CN" sz="1645" dirty="0">
              <a:solidFill>
                <a:srgbClr val="0000FF"/>
              </a:solidFill>
              <a:latin typeface="+mn-ea"/>
              <a:ea typeface="+mn-ea"/>
              <a:sym typeface="+mn-ea"/>
            </a:endParaRPr>
          </a:p>
        </p:txBody>
      </p:sp>
      <p:sp>
        <p:nvSpPr>
          <p:cNvPr id="18438" name="Rectangle 18"/>
          <p:cNvSpPr>
            <a:spLocks noChangeArrowheads="1"/>
          </p:cNvSpPr>
          <p:nvPr/>
        </p:nvSpPr>
        <p:spPr bwMode="auto">
          <a:xfrm>
            <a:off x="0" y="4868863"/>
            <a:ext cx="182563" cy="450850"/>
          </a:xfrm>
          <a:prstGeom prst="rect">
            <a:avLst/>
          </a:prstGeom>
          <a:noFill/>
          <a:ln>
            <a:noFill/>
          </a:ln>
        </p:spPr>
        <p:txBody>
          <a:bodyPr wrap="none" lIns="90191" tIns="45096" rIns="90191" bIns="45096" anchor="ctr">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defRPr/>
            </a:pPr>
            <a:r>
              <a:rPr lang="en-US" altLang="zh-CN" sz="685">
                <a:latin typeface="+mn-ea"/>
                <a:ea typeface="+mn-ea"/>
                <a:cs typeface="Times" panose="02020603050405020304" pitchFamily="18" charset="0"/>
              </a:rPr>
              <a:t/>
            </a:r>
            <a:br>
              <a:rPr lang="en-US" altLang="zh-CN" sz="685">
                <a:latin typeface="+mn-ea"/>
                <a:ea typeface="+mn-ea"/>
                <a:cs typeface="Times" panose="02020603050405020304" pitchFamily="18" charset="0"/>
              </a:rPr>
            </a:br>
            <a:endParaRPr lang="en-US" altLang="zh-CN" sz="1645">
              <a:latin typeface="+mn-ea"/>
              <a:ea typeface="+mn-ea"/>
              <a:cs typeface="Times" panose="02020603050405020304" pitchFamily="18" charset="0"/>
            </a:endParaRPr>
          </a:p>
        </p:txBody>
      </p:sp>
      <p:grpSp>
        <p:nvGrpSpPr>
          <p:cNvPr id="3" name="组合 2"/>
          <p:cNvGrpSpPr/>
          <p:nvPr/>
        </p:nvGrpSpPr>
        <p:grpSpPr bwMode="auto">
          <a:xfrm>
            <a:off x="4667250" y="3541713"/>
            <a:ext cx="4068763" cy="2592387"/>
            <a:chOff x="6805992" y="4927312"/>
            <a:chExt cx="5933434" cy="3779633"/>
          </a:xfrm>
        </p:grpSpPr>
        <p:pic>
          <p:nvPicPr>
            <p:cNvPr id="31754" name="图片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5992" y="5028104"/>
              <a:ext cx="2807716" cy="3678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5" name="图片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55644" y="4927312"/>
              <a:ext cx="2883782" cy="3683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 name="图片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2300" y="1303338"/>
            <a:ext cx="4319588"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advTm="527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03239"/>
                                        </p:tgtEl>
                                        <p:attrNameLst>
                                          <p:attrName>style.visibility</p:attrName>
                                        </p:attrNameLst>
                                      </p:cBhvr>
                                      <p:to>
                                        <p:strVal val="visible"/>
                                      </p:to>
                                    </p:set>
                                    <p:anim calcmode="lin" valueType="num">
                                      <p:cBhvr>
                                        <p:cTn id="7" dur="1000" fill="hold"/>
                                        <p:tgtEl>
                                          <p:spTgt spid="1503239"/>
                                        </p:tgtEl>
                                        <p:attrNameLst>
                                          <p:attrName>ppt_w</p:attrName>
                                        </p:attrNameLst>
                                      </p:cBhvr>
                                      <p:tavLst>
                                        <p:tav tm="0">
                                          <p:val>
                                            <p:strVal val="#ppt_w*0.70"/>
                                          </p:val>
                                        </p:tav>
                                        <p:tav tm="100000">
                                          <p:val>
                                            <p:strVal val="#ppt_w"/>
                                          </p:val>
                                        </p:tav>
                                      </p:tavLst>
                                    </p:anim>
                                    <p:anim calcmode="lin" valueType="num">
                                      <p:cBhvr>
                                        <p:cTn id="8" dur="1000" fill="hold"/>
                                        <p:tgtEl>
                                          <p:spTgt spid="1503239"/>
                                        </p:tgtEl>
                                        <p:attrNameLst>
                                          <p:attrName>ppt_h</p:attrName>
                                        </p:attrNameLst>
                                      </p:cBhvr>
                                      <p:tavLst>
                                        <p:tav tm="0">
                                          <p:val>
                                            <p:strVal val="#ppt_h"/>
                                          </p:val>
                                        </p:tav>
                                        <p:tav tm="100000">
                                          <p:val>
                                            <p:strVal val="#ppt_h"/>
                                          </p:val>
                                        </p:tav>
                                      </p:tavLst>
                                    </p:anim>
                                    <p:animEffect transition="in" filter="fade">
                                      <p:cBhvr>
                                        <p:cTn id="9" dur="1000"/>
                                        <p:tgtEl>
                                          <p:spTgt spid="1503239"/>
                                        </p:tgtEl>
                                      </p:cBhvr>
                                    </p:animEffect>
                                  </p:childTnLst>
                                </p:cTn>
                              </p:par>
                            </p:childTnLst>
                          </p:cTn>
                        </p:par>
                        <p:par>
                          <p:cTn id="10" fill="hold">
                            <p:stCondLst>
                              <p:cond delay="1000"/>
                            </p:stCondLst>
                            <p:childTnLst>
                              <p:par>
                                <p:cTn id="11" presetID="6" presetClass="entr" presetSubtype="16" fill="hold" nodeType="afterEffect">
                                  <p:stCondLst>
                                    <p:cond delay="0"/>
                                  </p:stCondLst>
                                  <p:childTnLst>
                                    <p:set>
                                      <p:cBhvr>
                                        <p:cTn id="12" dur="1" fill="hold">
                                          <p:stCondLst>
                                            <p:cond delay="0"/>
                                          </p:stCondLst>
                                        </p:cTn>
                                        <p:tgtEl>
                                          <p:spTgt spid="1503239">
                                            <p:txEl>
                                              <p:pRg st="0" end="0"/>
                                            </p:txEl>
                                          </p:spTgt>
                                        </p:tgtEl>
                                        <p:attrNameLst>
                                          <p:attrName>style.visibility</p:attrName>
                                        </p:attrNameLst>
                                      </p:cBhvr>
                                      <p:to>
                                        <p:strVal val="visible"/>
                                      </p:to>
                                    </p:set>
                                    <p:animEffect transition="in" filter="circle(in)">
                                      <p:cBhvr>
                                        <p:cTn id="13" dur="750"/>
                                        <p:tgtEl>
                                          <p:spTgt spid="1503239">
                                            <p:txEl>
                                              <p:pRg st="0" end="0"/>
                                            </p:txEl>
                                          </p:spTgt>
                                        </p:tgtEl>
                                      </p:cBhvr>
                                    </p:animEffect>
                                  </p:childTnLst>
                                </p:cTn>
                              </p:par>
                            </p:childTnLst>
                          </p:cTn>
                        </p:par>
                        <p:par>
                          <p:cTn id="14" fill="hold">
                            <p:stCondLst>
                              <p:cond delay="2000"/>
                            </p:stCondLst>
                            <p:childTnLst>
                              <p:par>
                                <p:cTn id="15" presetID="16" presetClass="entr" presetSubtype="21"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1503239">
                                            <p:txEl>
                                              <p:pRg st="1" end="1"/>
                                            </p:txEl>
                                          </p:spTgt>
                                        </p:tgtEl>
                                        <p:attrNameLst>
                                          <p:attrName>style.visibility</p:attrName>
                                        </p:attrNameLst>
                                      </p:cBhvr>
                                      <p:to>
                                        <p:strVal val="visible"/>
                                      </p:to>
                                    </p:set>
                                    <p:animEffect transition="in" filter="wheel(1)">
                                      <p:cBhvr>
                                        <p:cTn id="22" dur="500"/>
                                        <p:tgtEl>
                                          <p:spTgt spid="1503239">
                                            <p:txEl>
                                              <p:pRg st="1" end="1"/>
                                            </p:txEl>
                                          </p:spTgt>
                                        </p:tgtEl>
                                      </p:cBhvr>
                                    </p:animEffect>
                                  </p:childTnLst>
                                </p:cTn>
                              </p:par>
                            </p:childTnLst>
                          </p:cTn>
                        </p:par>
                        <p:par>
                          <p:cTn id="23" fill="hold">
                            <p:stCondLst>
                              <p:cond delay="500"/>
                            </p:stCondLst>
                            <p:childTnLst>
                              <p:par>
                                <p:cTn id="24" presetID="21" presetClass="entr" presetSubtype="1"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heel(1)">
                                      <p:cBhvr>
                                        <p:cTn id="26" dur="75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nodeType="clickEffect">
                                  <p:stCondLst>
                                    <p:cond delay="0"/>
                                  </p:stCondLst>
                                  <p:childTnLst>
                                    <p:set>
                                      <p:cBhvr>
                                        <p:cTn id="30" dur="1" fill="hold">
                                          <p:stCondLst>
                                            <p:cond delay="0"/>
                                          </p:stCondLst>
                                        </p:cTn>
                                        <p:tgtEl>
                                          <p:spTgt spid="1503239">
                                            <p:txEl>
                                              <p:pRg st="2" end="2"/>
                                            </p:txEl>
                                          </p:spTgt>
                                        </p:tgtEl>
                                        <p:attrNameLst>
                                          <p:attrName>style.visibility</p:attrName>
                                        </p:attrNameLst>
                                      </p:cBhvr>
                                      <p:to>
                                        <p:strVal val="visible"/>
                                      </p:to>
                                    </p:set>
                                    <p:animEffect transition="in" filter="wheel(1)">
                                      <p:cBhvr>
                                        <p:cTn id="31" dur="500"/>
                                        <p:tgtEl>
                                          <p:spTgt spid="1503239">
                                            <p:txEl>
                                              <p:pRg st="2" end="2"/>
                                            </p:txEl>
                                          </p:spTgt>
                                        </p:tgtEl>
                                      </p:cBhvr>
                                    </p:animEffect>
                                  </p:childTnLst>
                                </p:cTn>
                              </p:par>
                              <p:par>
                                <p:cTn id="32" presetID="21" presetClass="entr" presetSubtype="1" fill="hold" nodeType="withEffect">
                                  <p:stCondLst>
                                    <p:cond delay="0"/>
                                  </p:stCondLst>
                                  <p:childTnLst>
                                    <p:set>
                                      <p:cBhvr>
                                        <p:cTn id="33" dur="1" fill="hold">
                                          <p:stCondLst>
                                            <p:cond delay="0"/>
                                          </p:stCondLst>
                                        </p:cTn>
                                        <p:tgtEl>
                                          <p:spTgt spid="1503239">
                                            <p:txEl>
                                              <p:pRg st="3" end="3"/>
                                            </p:txEl>
                                          </p:spTgt>
                                        </p:tgtEl>
                                        <p:attrNameLst>
                                          <p:attrName>style.visibility</p:attrName>
                                        </p:attrNameLst>
                                      </p:cBhvr>
                                      <p:to>
                                        <p:strVal val="visible"/>
                                      </p:to>
                                    </p:set>
                                    <p:animEffect transition="in" filter="wheel(1)">
                                      <p:cBhvr>
                                        <p:cTn id="34" dur="500"/>
                                        <p:tgtEl>
                                          <p:spTgt spid="15032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323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71438" y="492125"/>
            <a:ext cx="3060700" cy="415925"/>
          </a:xfrm>
          <a:solidFill>
            <a:schemeClr val="bg1"/>
          </a:solidFill>
          <a:effectLst>
            <a:outerShdw dist="35921" dir="2700000" algn="ctr" rotWithShape="0">
              <a:srgbClr val="808080"/>
            </a:outerShdw>
          </a:effectLst>
        </p:spPr>
        <p:txBody>
          <a:bodyPr/>
          <a:lstStyle/>
          <a:p>
            <a:pPr algn="ctr">
              <a:buFontTx/>
              <a:buNone/>
            </a:pPr>
            <a:r>
              <a:rPr lang="en-US" altLang="zh-CN" sz="2000" b="1" dirty="0">
                <a:solidFill>
                  <a:srgbClr val="FF0000"/>
                </a:solidFill>
              </a:rPr>
              <a:t>3</a:t>
            </a:r>
            <a:r>
              <a:rPr lang="zh-CN" altLang="en-US" sz="2000" b="1" dirty="0">
                <a:solidFill>
                  <a:srgbClr val="FF0000"/>
                </a:solidFill>
              </a:rPr>
              <a:t>。图象恢复和图象增强</a:t>
            </a:r>
          </a:p>
        </p:txBody>
      </p:sp>
      <p:sp>
        <p:nvSpPr>
          <p:cNvPr id="33795" name="Text Box 3"/>
          <p:cNvSpPr txBox="1">
            <a:spLocks noChangeArrowheads="1"/>
          </p:cNvSpPr>
          <p:nvPr/>
        </p:nvSpPr>
        <p:spPr bwMode="auto">
          <a:xfrm>
            <a:off x="0" y="0"/>
            <a:ext cx="9144000" cy="458788"/>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a:solidFill>
                  <a:schemeClr val="bg1"/>
                </a:solidFill>
                <a:latin typeface="楷体_GB2312" pitchFamily="49" charset="-122"/>
                <a:ea typeface="楷体_GB2312" pitchFamily="49" charset="-122"/>
              </a:rPr>
              <a:t>信号与系统                            能解决的问题</a:t>
            </a:r>
          </a:p>
        </p:txBody>
      </p:sp>
      <p:sp>
        <p:nvSpPr>
          <p:cNvPr id="33797" name="Rectangle 12"/>
          <p:cNvSpPr>
            <a:spLocks noChangeArrowheads="1"/>
          </p:cNvSpPr>
          <p:nvPr/>
        </p:nvSpPr>
        <p:spPr bwMode="auto">
          <a:xfrm>
            <a:off x="0" y="4945063"/>
            <a:ext cx="1857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2070" tIns="46036" rIns="92070" bIns="46036"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700">
                <a:latin typeface="Times New Roman" panose="02020603050405020304" pitchFamily="18" charset="0"/>
                <a:ea typeface="Times" panose="02020603050405020304" pitchFamily="18" charset="0"/>
                <a:cs typeface="Times New Roman" panose="02020603050405020304" pitchFamily="18" charset="0"/>
              </a:rPr>
              <a:t/>
            </a:r>
            <a:br>
              <a:rPr lang="en-US" altLang="zh-CN" sz="700">
                <a:latin typeface="Times New Roman" panose="02020603050405020304" pitchFamily="18" charset="0"/>
                <a:ea typeface="Times" panose="02020603050405020304" pitchFamily="18" charset="0"/>
                <a:cs typeface="Times New Roman" panose="02020603050405020304" pitchFamily="18" charset="0"/>
              </a:rPr>
            </a:br>
            <a:endParaRPr lang="en-US" altLang="zh-CN" sz="1700">
              <a:latin typeface="Times New Roman" panose="02020603050405020304" pitchFamily="18" charset="0"/>
              <a:ea typeface="Times" panose="02020603050405020304" pitchFamily="18" charset="0"/>
              <a:cs typeface="Times New Roman" panose="02020603050405020304" pitchFamily="18" charset="0"/>
            </a:endParaRPr>
          </a:p>
        </p:txBody>
      </p:sp>
      <p:grpSp>
        <p:nvGrpSpPr>
          <p:cNvPr id="33798" name="Group 19"/>
          <p:cNvGrpSpPr/>
          <p:nvPr/>
        </p:nvGrpSpPr>
        <p:grpSpPr bwMode="auto">
          <a:xfrm>
            <a:off x="3645694" y="339355"/>
            <a:ext cx="2565400" cy="3005137"/>
            <a:chOff x="2567" y="415"/>
            <a:chExt cx="2357" cy="2630"/>
          </a:xfrm>
        </p:grpSpPr>
        <p:pic>
          <p:nvPicPr>
            <p:cNvPr id="33812" name="Picture 6" descr="cameraman原始图"/>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7" y="415"/>
              <a:ext cx="2357" cy="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13" name="Rectangle 14"/>
            <p:cNvSpPr>
              <a:spLocks noChangeArrowheads="1"/>
            </p:cNvSpPr>
            <p:nvPr/>
          </p:nvSpPr>
          <p:spPr bwMode="auto">
            <a:xfrm>
              <a:off x="2749" y="2773"/>
              <a:ext cx="190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400">
                  <a:solidFill>
                    <a:srgbClr val="FF0000"/>
                  </a:solidFill>
                  <a:latin typeface="Times New Roman" panose="02020603050405020304" pitchFamily="18" charset="0"/>
                  <a:ea typeface="宋体" panose="02010600030101010101" pitchFamily="2" charset="-122"/>
                </a:rPr>
                <a:t>256*256 </a:t>
              </a:r>
              <a:r>
                <a:rPr lang="zh-CN" altLang="en-US" sz="1400">
                  <a:solidFill>
                    <a:srgbClr val="FF0000"/>
                  </a:solidFill>
                  <a:latin typeface="Times New Roman" panose="02020603050405020304" pitchFamily="18" charset="0"/>
                  <a:ea typeface="宋体" panose="02010600030101010101" pitchFamily="2" charset="-122"/>
                </a:rPr>
                <a:t>原始图像</a:t>
              </a:r>
            </a:p>
          </p:txBody>
        </p:sp>
      </p:grpSp>
      <p:grpSp>
        <p:nvGrpSpPr>
          <p:cNvPr id="3" name="Group 20"/>
          <p:cNvGrpSpPr/>
          <p:nvPr/>
        </p:nvGrpSpPr>
        <p:grpSpPr bwMode="auto">
          <a:xfrm>
            <a:off x="6423013" y="271994"/>
            <a:ext cx="2073275" cy="3005137"/>
            <a:chOff x="5243" y="415"/>
            <a:chExt cx="1905" cy="2630"/>
          </a:xfrm>
        </p:grpSpPr>
        <p:pic>
          <p:nvPicPr>
            <p:cNvPr id="33810" name="Picture 7" descr="cameraman压缩后图"/>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89" y="415"/>
              <a:ext cx="1560" cy="2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11" name="Rectangle 15"/>
            <p:cNvSpPr>
              <a:spLocks noChangeArrowheads="1"/>
            </p:cNvSpPr>
            <p:nvPr/>
          </p:nvSpPr>
          <p:spPr bwMode="auto">
            <a:xfrm>
              <a:off x="5243" y="2773"/>
              <a:ext cx="190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400">
                  <a:solidFill>
                    <a:srgbClr val="FF0000"/>
                  </a:solidFill>
                  <a:latin typeface="Times New Roman" panose="02020603050405020304" pitchFamily="18" charset="0"/>
                  <a:ea typeface="宋体" panose="02010600030101010101" pitchFamily="2" charset="-122"/>
                </a:rPr>
                <a:t>256* 128 </a:t>
              </a:r>
              <a:r>
                <a:rPr lang="zh-CN" altLang="en-US" sz="1400">
                  <a:solidFill>
                    <a:srgbClr val="FF0000"/>
                  </a:solidFill>
                  <a:latin typeface="Times New Roman" panose="02020603050405020304" pitchFamily="18" charset="0"/>
                  <a:ea typeface="宋体" panose="02010600030101010101" pitchFamily="2" charset="-122"/>
                </a:rPr>
                <a:t>压缩图像</a:t>
              </a:r>
            </a:p>
          </p:txBody>
        </p:sp>
      </p:grpSp>
      <p:grpSp>
        <p:nvGrpSpPr>
          <p:cNvPr id="4" name="Group 21"/>
          <p:cNvGrpSpPr/>
          <p:nvPr/>
        </p:nvGrpSpPr>
        <p:grpSpPr bwMode="auto">
          <a:xfrm>
            <a:off x="279401" y="3324401"/>
            <a:ext cx="2497137" cy="3109913"/>
            <a:chOff x="208" y="3136"/>
            <a:chExt cx="2295" cy="2721"/>
          </a:xfrm>
        </p:grpSpPr>
        <p:pic>
          <p:nvPicPr>
            <p:cNvPr id="33808" name="Picture 8" descr="线性插值后结果"/>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 y="3136"/>
              <a:ext cx="2295" cy="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9" name="Rectangle 16"/>
            <p:cNvSpPr>
              <a:spLocks noChangeArrowheads="1"/>
            </p:cNvSpPr>
            <p:nvPr/>
          </p:nvSpPr>
          <p:spPr bwMode="auto">
            <a:xfrm>
              <a:off x="481" y="5585"/>
              <a:ext cx="190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a:solidFill>
                    <a:srgbClr val="FF0000"/>
                  </a:solidFill>
                  <a:latin typeface="Times New Roman" panose="02020603050405020304" pitchFamily="18" charset="0"/>
                  <a:ea typeface="宋体" panose="02010600030101010101" pitchFamily="2" charset="-122"/>
                </a:rPr>
                <a:t>线性插值所恢复图像</a:t>
              </a:r>
            </a:p>
          </p:txBody>
        </p:sp>
      </p:grpSp>
      <p:grpSp>
        <p:nvGrpSpPr>
          <p:cNvPr id="5" name="Group 22"/>
          <p:cNvGrpSpPr/>
          <p:nvPr/>
        </p:nvGrpSpPr>
        <p:grpSpPr bwMode="auto">
          <a:xfrm>
            <a:off x="2833853" y="3251376"/>
            <a:ext cx="2568575" cy="3182938"/>
            <a:chOff x="2550" y="3156"/>
            <a:chExt cx="2360" cy="2784"/>
          </a:xfrm>
        </p:grpSpPr>
        <p:pic>
          <p:nvPicPr>
            <p:cNvPr id="33806" name="Picture 9" descr="最近邻插值后结果"/>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50" y="3156"/>
              <a:ext cx="2360" cy="2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7" name="Rectangle 17"/>
            <p:cNvSpPr>
              <a:spLocks noChangeArrowheads="1"/>
            </p:cNvSpPr>
            <p:nvPr/>
          </p:nvSpPr>
          <p:spPr bwMode="auto">
            <a:xfrm>
              <a:off x="2806" y="5668"/>
              <a:ext cx="190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a:solidFill>
                    <a:srgbClr val="FF0000"/>
                  </a:solidFill>
                  <a:latin typeface="Times New Roman" panose="02020603050405020304" pitchFamily="18" charset="0"/>
                  <a:ea typeface="宋体" panose="02010600030101010101" pitchFamily="2" charset="-122"/>
                </a:rPr>
                <a:t>最近邻插值所恢复图像</a:t>
              </a:r>
            </a:p>
          </p:txBody>
        </p:sp>
      </p:grpSp>
      <p:grpSp>
        <p:nvGrpSpPr>
          <p:cNvPr id="6" name="Group 23"/>
          <p:cNvGrpSpPr/>
          <p:nvPr/>
        </p:nvGrpSpPr>
        <p:grpSpPr bwMode="auto">
          <a:xfrm>
            <a:off x="5784011" y="3225059"/>
            <a:ext cx="2517775" cy="3181350"/>
            <a:chOff x="5289" y="3133"/>
            <a:chExt cx="2313" cy="2783"/>
          </a:xfrm>
        </p:grpSpPr>
        <p:pic>
          <p:nvPicPr>
            <p:cNvPr id="33804" name="Picture 10" descr="边缘保持方法插值结果"/>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89" y="3133"/>
              <a:ext cx="2297" cy="2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5" name="Rectangle 18"/>
            <p:cNvSpPr>
              <a:spLocks noChangeArrowheads="1"/>
            </p:cNvSpPr>
            <p:nvPr/>
          </p:nvSpPr>
          <p:spPr bwMode="auto">
            <a:xfrm>
              <a:off x="5515" y="5644"/>
              <a:ext cx="208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a:solidFill>
                    <a:srgbClr val="FF0000"/>
                  </a:solidFill>
                  <a:latin typeface="Times New Roman" panose="02020603050405020304" pitchFamily="18" charset="0"/>
                  <a:ea typeface="宋体" panose="02010600030101010101" pitchFamily="2" charset="-122"/>
                </a:rPr>
                <a:t>边缘保持插值所恢复图像</a:t>
              </a:r>
            </a:p>
          </p:txBody>
        </p:sp>
      </p:grpSp>
      <p:sp>
        <p:nvSpPr>
          <p:cNvPr id="22" name="日期占位符 21"/>
          <p:cNvSpPr>
            <a:spLocks noGrp="1"/>
          </p:cNvSpPr>
          <p:nvPr>
            <p:ph type="dt" sz="quarter" idx="10"/>
          </p:nvPr>
        </p:nvSpPr>
        <p:spPr/>
        <p:txBody>
          <a:bodyPr/>
          <a:lstStyle/>
          <a:p>
            <a:pPr>
              <a:defRPr/>
            </a:pPr>
            <a:fld id="{7687A0F7-1DF8-4CD5-B84C-CB2EEB9C8134}" type="datetime3">
              <a:rPr lang="zh-CN" altLang="en-US"/>
              <a:t>2026年3月4日星期三</a:t>
            </a:fld>
            <a:endParaRPr lang="zh-CN" altLang="en-US"/>
          </a:p>
        </p:txBody>
      </p:sp>
    </p:spTree>
    <p:custDataLst>
      <p:tags r:id="rId1"/>
    </p:custDataLst>
  </p:cSld>
  <p:clrMapOvr>
    <a:masterClrMapping/>
  </p:clrMapOvr>
  <p:transition advTm="2837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strVal val="#ppt_w*0.70"/>
                                          </p:val>
                                        </p:tav>
                                        <p:tav tm="100000">
                                          <p:val>
                                            <p:strVal val="#ppt_w"/>
                                          </p:val>
                                        </p:tav>
                                      </p:tavLst>
                                    </p:anim>
                                    <p:anim calcmode="lin" valueType="num">
                                      <p:cBhvr>
                                        <p:cTn id="15" dur="1000" fill="hold"/>
                                        <p:tgtEl>
                                          <p:spTgt spid="4"/>
                                        </p:tgtEl>
                                        <p:attrNameLst>
                                          <p:attrName>ppt_h</p:attrName>
                                        </p:attrNameLst>
                                      </p:cBhvr>
                                      <p:tavLst>
                                        <p:tav tm="0">
                                          <p:val>
                                            <p:strVal val="#ppt_h"/>
                                          </p:val>
                                        </p:tav>
                                        <p:tav tm="100000">
                                          <p:val>
                                            <p:strVal val="#ppt_h"/>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1000" fill="hold"/>
                                        <p:tgtEl>
                                          <p:spTgt spid="5"/>
                                        </p:tgtEl>
                                        <p:attrNameLst>
                                          <p:attrName>ppt_w</p:attrName>
                                        </p:attrNameLst>
                                      </p:cBhvr>
                                      <p:tavLst>
                                        <p:tav tm="0">
                                          <p:val>
                                            <p:strVal val="#ppt_w*0.70"/>
                                          </p:val>
                                        </p:tav>
                                        <p:tav tm="100000">
                                          <p:val>
                                            <p:strVal val="#ppt_w"/>
                                          </p:val>
                                        </p:tav>
                                      </p:tavLst>
                                    </p:anim>
                                    <p:anim calcmode="lin" valueType="num">
                                      <p:cBhvr>
                                        <p:cTn id="22" dur="1000" fill="hold"/>
                                        <p:tgtEl>
                                          <p:spTgt spid="5"/>
                                        </p:tgtEl>
                                        <p:attrNameLst>
                                          <p:attrName>ppt_h</p:attrName>
                                        </p:attrNameLst>
                                      </p:cBhvr>
                                      <p:tavLst>
                                        <p:tav tm="0">
                                          <p:val>
                                            <p:strVal val="#ppt_h"/>
                                          </p:val>
                                        </p:tav>
                                        <p:tav tm="100000">
                                          <p:val>
                                            <p:strVal val="#ppt_h"/>
                                          </p:val>
                                        </p:tav>
                                      </p:tavLst>
                                    </p:anim>
                                    <p:animEffect transition="in" filter="fade">
                                      <p:cBhvr>
                                        <p:cTn id="23" dur="1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1000" fill="hold"/>
                                        <p:tgtEl>
                                          <p:spTgt spid="6"/>
                                        </p:tgtEl>
                                        <p:attrNameLst>
                                          <p:attrName>ppt_w</p:attrName>
                                        </p:attrNameLst>
                                      </p:cBhvr>
                                      <p:tavLst>
                                        <p:tav tm="0">
                                          <p:val>
                                            <p:strVal val="#ppt_w*0.70"/>
                                          </p:val>
                                        </p:tav>
                                        <p:tav tm="100000">
                                          <p:val>
                                            <p:strVal val="#ppt_w"/>
                                          </p:val>
                                        </p:tav>
                                      </p:tavLst>
                                    </p:anim>
                                    <p:anim calcmode="lin" valueType="num">
                                      <p:cBhvr>
                                        <p:cTn id="29" dur="1000" fill="hold"/>
                                        <p:tgtEl>
                                          <p:spTgt spid="6"/>
                                        </p:tgtEl>
                                        <p:attrNameLst>
                                          <p:attrName>ppt_h</p:attrName>
                                        </p:attrNameLst>
                                      </p:cBhvr>
                                      <p:tavLst>
                                        <p:tav tm="0">
                                          <p:val>
                                            <p:strVal val="#ppt_h"/>
                                          </p:val>
                                        </p:tav>
                                        <p:tav tm="100000">
                                          <p:val>
                                            <p:strVal val="#ppt_h"/>
                                          </p:val>
                                        </p:tav>
                                      </p:tavLst>
                                    </p:anim>
                                    <p:animEffect transition="in" filter="fade">
                                      <p:cBhvr>
                                        <p:cTn id="3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p:cNvSpPr txBox="1">
            <a:spLocks noChangeArrowheads="1"/>
          </p:cNvSpPr>
          <p:nvPr/>
        </p:nvSpPr>
        <p:spPr bwMode="auto">
          <a:xfrm>
            <a:off x="0" y="0"/>
            <a:ext cx="9144000" cy="458788"/>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dirty="0">
                <a:solidFill>
                  <a:schemeClr val="bg1"/>
                </a:solidFill>
                <a:latin typeface="楷体_GB2312" pitchFamily="49" charset="-122"/>
                <a:ea typeface="楷体_GB2312" pitchFamily="49" charset="-122"/>
              </a:rPr>
              <a:t>信号与系统                                              能解决的问题</a:t>
            </a:r>
          </a:p>
        </p:txBody>
      </p:sp>
      <p:sp>
        <p:nvSpPr>
          <p:cNvPr id="35843" name="Rectangle 4"/>
          <p:cNvSpPr>
            <a:spLocks noChangeArrowheads="1"/>
          </p:cNvSpPr>
          <p:nvPr/>
        </p:nvSpPr>
        <p:spPr bwMode="auto">
          <a:xfrm>
            <a:off x="195262" y="901700"/>
            <a:ext cx="2158279" cy="4159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000" dirty="0">
                <a:solidFill>
                  <a:srgbClr val="FF0000"/>
                </a:solidFill>
              </a:rPr>
              <a:t>4.</a:t>
            </a:r>
            <a:r>
              <a:rPr lang="zh-CN" altLang="en-US" sz="2000" dirty="0">
                <a:solidFill>
                  <a:srgbClr val="FF0000"/>
                </a:solidFill>
              </a:rPr>
              <a:t>过程控制：</a:t>
            </a:r>
          </a:p>
        </p:txBody>
      </p:sp>
      <p:sp>
        <p:nvSpPr>
          <p:cNvPr id="1589254" name="Rectangle 6"/>
          <p:cNvSpPr>
            <a:spLocks noChangeArrowheads="1"/>
          </p:cNvSpPr>
          <p:nvPr/>
        </p:nvSpPr>
        <p:spPr bwMode="auto">
          <a:xfrm>
            <a:off x="1189673" y="1815465"/>
            <a:ext cx="6764337" cy="4094163"/>
          </a:xfrm>
          <a:prstGeom prst="rect">
            <a:avLst/>
          </a:prstGeom>
          <a:solidFill>
            <a:schemeClr val="bg1"/>
          </a:solidFill>
          <a:ln w="57150">
            <a:solidFill>
              <a:schemeClr val="tx1"/>
            </a:solidFill>
            <a:miter lim="800000"/>
          </a:ln>
          <a:effectLst>
            <a:prstShdw prst="shdw12">
              <a:srgbClr val="808080">
                <a:alpha val="50000"/>
              </a:srgbClr>
            </a:prstShdw>
          </a:effectLst>
        </p:spPr>
        <p:txBody>
          <a:bodyPr lIns="91433" tIns="45716" rIns="91433" bIns="45716"/>
          <a:lstStyle/>
          <a:p>
            <a:pPr marL="449580" indent="-449580" eaLnBrk="1" hangingPunct="1">
              <a:lnSpc>
                <a:spcPct val="150000"/>
              </a:lnSpc>
              <a:spcBef>
                <a:spcPct val="50000"/>
              </a:spcBef>
              <a:buClr>
                <a:schemeClr val="accent2"/>
              </a:buClr>
              <a:buFont typeface="Wingdings" panose="05000000000000000000" pitchFamily="2" charset="2"/>
              <a:buChar char="l"/>
              <a:defRPr/>
            </a:pPr>
            <a:r>
              <a:rPr lang="zh-CN" altLang="en-US" sz="2000" dirty="0">
                <a:latin typeface="+mn-ea"/>
                <a:ea typeface="+mn-ea"/>
              </a:rPr>
              <a:t>一般工业生产过程都是一种系统，但由于设备陈旧等技术原因，它们的效果往往是</a:t>
            </a:r>
            <a:r>
              <a:rPr lang="zh-CN" altLang="en-US" sz="2000" dirty="0">
                <a:solidFill>
                  <a:srgbClr val="FF0000"/>
                </a:solidFill>
                <a:latin typeface="+mn-ea"/>
                <a:ea typeface="+mn-ea"/>
              </a:rPr>
              <a:t>不理想</a:t>
            </a:r>
            <a:r>
              <a:rPr lang="zh-CN" altLang="en-US" sz="2000" dirty="0">
                <a:latin typeface="+mn-ea"/>
                <a:ea typeface="+mn-ea"/>
              </a:rPr>
              <a:t>的，这时就需要对这些已知系统</a:t>
            </a:r>
            <a:r>
              <a:rPr lang="zh-CN" altLang="en-US" sz="2000" dirty="0">
                <a:solidFill>
                  <a:srgbClr val="FF0000"/>
                </a:solidFill>
                <a:latin typeface="+mn-ea"/>
                <a:ea typeface="+mn-ea"/>
              </a:rPr>
              <a:t>进行改善</a:t>
            </a:r>
            <a:r>
              <a:rPr lang="zh-CN" altLang="en-US" sz="2000" dirty="0">
                <a:latin typeface="+mn-ea"/>
                <a:ea typeface="+mn-ea"/>
              </a:rPr>
              <a:t>，以使其实现更佳的系统性能</a:t>
            </a:r>
            <a:r>
              <a:rPr lang="en-US" altLang="zh-CN" sz="2000" dirty="0">
                <a:latin typeface="+mn-ea"/>
                <a:ea typeface="+mn-ea"/>
              </a:rPr>
              <a:t>;</a:t>
            </a:r>
          </a:p>
          <a:p>
            <a:pPr marL="449580" indent="-449580" eaLnBrk="1" hangingPunct="1">
              <a:lnSpc>
                <a:spcPct val="150000"/>
              </a:lnSpc>
              <a:spcBef>
                <a:spcPct val="50000"/>
              </a:spcBef>
              <a:buClr>
                <a:schemeClr val="accent2"/>
              </a:buClr>
              <a:buFont typeface="Wingdings" panose="05000000000000000000" pitchFamily="2" charset="2"/>
              <a:buChar char="l"/>
              <a:defRPr/>
            </a:pPr>
            <a:r>
              <a:rPr lang="zh-CN" altLang="en-US" sz="2000" dirty="0">
                <a:latin typeface="+mn-ea"/>
                <a:ea typeface="+mn-ea"/>
              </a:rPr>
              <a:t>例如化学工厂生产过程控制，</a:t>
            </a:r>
            <a:r>
              <a:rPr lang="zh-CN" altLang="en-US" sz="2000" dirty="0">
                <a:solidFill>
                  <a:srgbClr val="FF0000"/>
                </a:solidFill>
                <a:latin typeface="+mn-ea"/>
                <a:ea typeface="+mn-ea"/>
              </a:rPr>
              <a:t>首先测量</a:t>
            </a:r>
            <a:r>
              <a:rPr lang="zh-CN" altLang="en-US" sz="2000" dirty="0">
                <a:latin typeface="+mn-ea"/>
                <a:ea typeface="+mn-ea"/>
              </a:rPr>
              <a:t>各种物理信号，如温度，湿度、化学成分比等等，然后根据测得的信号，产生一些</a:t>
            </a:r>
            <a:r>
              <a:rPr lang="zh-CN" altLang="en-US" sz="2000" dirty="0">
                <a:solidFill>
                  <a:srgbClr val="FF0000"/>
                </a:solidFill>
                <a:latin typeface="+mn-ea"/>
                <a:ea typeface="+mn-ea"/>
              </a:rPr>
              <a:t>控制信号</a:t>
            </a:r>
            <a:r>
              <a:rPr lang="zh-CN" altLang="en-US" sz="2000" dirty="0">
                <a:latin typeface="+mn-ea"/>
                <a:ea typeface="+mn-ea"/>
              </a:rPr>
              <a:t>去</a:t>
            </a:r>
            <a:r>
              <a:rPr lang="zh-CN" altLang="en-US" sz="2000" dirty="0">
                <a:solidFill>
                  <a:srgbClr val="FF0000"/>
                </a:solidFill>
                <a:latin typeface="+mn-ea"/>
                <a:ea typeface="+mn-ea"/>
              </a:rPr>
              <a:t>调整</a:t>
            </a:r>
            <a:r>
              <a:rPr lang="zh-CN" altLang="en-US" sz="2000" dirty="0">
                <a:latin typeface="+mn-ea"/>
                <a:ea typeface="+mn-ea"/>
              </a:rPr>
              <a:t>正在进行中的生产过程。　</a:t>
            </a:r>
          </a:p>
          <a:p>
            <a:pPr indent="373380" eaLnBrk="1" hangingPunct="1">
              <a:lnSpc>
                <a:spcPct val="150000"/>
              </a:lnSpc>
              <a:spcBef>
                <a:spcPct val="50000"/>
              </a:spcBef>
              <a:buClr>
                <a:schemeClr val="accent2"/>
              </a:buClr>
              <a:buFont typeface="Wingdings" panose="05000000000000000000" pitchFamily="2" charset="2"/>
              <a:buNone/>
              <a:defRPr/>
            </a:pPr>
            <a:r>
              <a:rPr lang="zh-CN" altLang="en-US" sz="2000" dirty="0">
                <a:solidFill>
                  <a:schemeClr val="accent2"/>
                </a:solidFill>
                <a:latin typeface="+mn-ea"/>
                <a:ea typeface="+mn-ea"/>
              </a:rPr>
              <a:t>              </a:t>
            </a:r>
            <a:r>
              <a:rPr lang="en-US" altLang="zh-CN" sz="2000" dirty="0">
                <a:solidFill>
                  <a:srgbClr val="0000FF"/>
                </a:solidFill>
                <a:latin typeface="+mn-ea"/>
                <a:ea typeface="+mn-ea"/>
              </a:rPr>
              <a:t>--</a:t>
            </a:r>
            <a:r>
              <a:rPr lang="zh-CN" altLang="en-US" sz="2000" dirty="0">
                <a:solidFill>
                  <a:srgbClr val="0000FF"/>
                </a:solidFill>
                <a:latin typeface="+mn-ea"/>
                <a:ea typeface="+mn-ea"/>
              </a:rPr>
              <a:t>通过系统函数进行分析</a:t>
            </a:r>
          </a:p>
        </p:txBody>
      </p:sp>
      <p:sp>
        <p:nvSpPr>
          <p:cNvPr id="6" name="日期占位符 5"/>
          <p:cNvSpPr>
            <a:spLocks noGrp="1"/>
          </p:cNvSpPr>
          <p:nvPr>
            <p:ph type="dt" sz="quarter" idx="10"/>
          </p:nvPr>
        </p:nvSpPr>
        <p:spPr/>
        <p:txBody>
          <a:bodyPr/>
          <a:lstStyle/>
          <a:p>
            <a:pPr>
              <a:defRPr/>
            </a:pPr>
            <a:fld id="{36216F10-83FC-448C-B749-AA4323E27ECB}" type="datetime3">
              <a:rPr lang="zh-CN" altLang="en-US"/>
              <a:t>2026年3月4日星期三</a:t>
            </a:fld>
            <a:endParaRPr lang="zh-CN" altLang="en-US"/>
          </a:p>
        </p:txBody>
      </p:sp>
    </p:spTree>
    <p:custDataLst>
      <p:tags r:id="rId1"/>
    </p:custDataLst>
  </p:cSld>
  <p:clrMapOvr>
    <a:masterClrMapping/>
  </p:clrMapOvr>
  <p:transition advTm="5069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89254">
                                            <p:txEl>
                                              <p:pRg st="0" end="0"/>
                                            </p:txEl>
                                          </p:spTgt>
                                        </p:tgtEl>
                                        <p:attrNameLst>
                                          <p:attrName>style.visibility</p:attrName>
                                        </p:attrNameLst>
                                      </p:cBhvr>
                                      <p:to>
                                        <p:strVal val="visible"/>
                                      </p:to>
                                    </p:set>
                                    <p:anim calcmode="lin" valueType="num">
                                      <p:cBhvr>
                                        <p:cTn id="7" dur="1000" fill="hold"/>
                                        <p:tgtEl>
                                          <p:spTgt spid="158925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8925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8925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89254">
                                            <p:txEl>
                                              <p:pRg st="1" end="1"/>
                                            </p:txEl>
                                          </p:spTgt>
                                        </p:tgtEl>
                                        <p:attrNameLst>
                                          <p:attrName>style.visibility</p:attrName>
                                        </p:attrNameLst>
                                      </p:cBhvr>
                                      <p:to>
                                        <p:strVal val="visible"/>
                                      </p:to>
                                    </p:set>
                                    <p:anim calcmode="lin" valueType="num">
                                      <p:cBhvr>
                                        <p:cTn id="14" dur="1000" fill="hold"/>
                                        <p:tgtEl>
                                          <p:spTgt spid="158925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8925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89254">
                                            <p:txEl>
                                              <p:pRg st="1" end="1"/>
                                            </p:txEl>
                                          </p:spTgt>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1589254">
                                            <p:txEl>
                                              <p:pRg st="2" end="2"/>
                                            </p:txEl>
                                          </p:spTgt>
                                        </p:tgtEl>
                                        <p:attrNameLst>
                                          <p:attrName>style.visibility</p:attrName>
                                        </p:attrNameLst>
                                      </p:cBhvr>
                                      <p:to>
                                        <p:strVal val="visible"/>
                                      </p:to>
                                    </p:set>
                                    <p:anim calcmode="lin" valueType="num">
                                      <p:cBhvr>
                                        <p:cTn id="20" dur="1000" fill="hold"/>
                                        <p:tgtEl>
                                          <p:spTgt spid="1589254">
                                            <p:txEl>
                                              <p:pRg st="2" end="2"/>
                                            </p:txEl>
                                          </p:spTgt>
                                        </p:tgtEl>
                                        <p:attrNameLst>
                                          <p:attrName>ppt_w</p:attrName>
                                        </p:attrNameLst>
                                      </p:cBhvr>
                                      <p:tavLst>
                                        <p:tav tm="0">
                                          <p:val>
                                            <p:strVal val="#ppt_w*0.70"/>
                                          </p:val>
                                        </p:tav>
                                        <p:tav tm="100000">
                                          <p:val>
                                            <p:strVal val="#ppt_w"/>
                                          </p:val>
                                        </p:tav>
                                      </p:tavLst>
                                    </p:anim>
                                    <p:anim calcmode="lin" valueType="num">
                                      <p:cBhvr>
                                        <p:cTn id="21" dur="1000" fill="hold"/>
                                        <p:tgtEl>
                                          <p:spTgt spid="1589254">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15892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3"/>
          <p:cNvSpPr txBox="1">
            <a:spLocks noChangeArrowheads="1"/>
          </p:cNvSpPr>
          <p:nvPr/>
        </p:nvSpPr>
        <p:spPr bwMode="auto">
          <a:xfrm>
            <a:off x="0" y="3493"/>
            <a:ext cx="9144000" cy="449262"/>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2330">
                <a:solidFill>
                  <a:schemeClr val="bg1"/>
                </a:solidFill>
                <a:latin typeface="+mn-ea"/>
                <a:ea typeface="+mn-ea"/>
              </a:rPr>
              <a:t>信号与系统                                     能解决的问题</a:t>
            </a:r>
          </a:p>
        </p:txBody>
      </p:sp>
      <p:sp>
        <p:nvSpPr>
          <p:cNvPr id="19460" name="Rectangle 4"/>
          <p:cNvSpPr/>
          <p:nvPr/>
        </p:nvSpPr>
        <p:spPr>
          <a:xfrm>
            <a:off x="216042" y="599295"/>
            <a:ext cx="4188823" cy="395369"/>
          </a:xfrm>
          <a:prstGeom prst="rect">
            <a:avLst/>
          </a:prstGeom>
          <a:solidFill>
            <a:schemeClr val="bg1"/>
          </a:solidFill>
        </p:spPr>
        <p:style>
          <a:lnRef idx="3">
            <a:schemeClr val="lt1"/>
          </a:lnRef>
          <a:fillRef idx="1">
            <a:schemeClr val="accent1"/>
          </a:fillRef>
          <a:effectRef idx="1">
            <a:schemeClr val="accent1"/>
          </a:effectRef>
          <a:fontRef idx="minor">
            <a:schemeClr val="lt1"/>
          </a:fontRef>
        </p:style>
        <p:txBody>
          <a:bodyPr lIns="89567" tIns="44783" rIns="89567" bIns="44783">
            <a:scene3d>
              <a:camera prst="orthographicFront"/>
              <a:lightRig rig="threePt" dir="t"/>
            </a:scene3d>
          </a:bodyPr>
          <a:lstStyle/>
          <a:p>
            <a:pPr marL="337185" indent="-337185" algn="ctr">
              <a:spcBef>
                <a:spcPct val="20000"/>
              </a:spcBef>
              <a:defRPr/>
            </a:pPr>
            <a:r>
              <a:rPr lang="zh-CN" altLang="en-US" sz="1920" noProof="1">
                <a:ln w="22225">
                  <a:solidFill>
                    <a:schemeClr val="accent2"/>
                  </a:solidFill>
                  <a:prstDash val="solid"/>
                </a:ln>
                <a:solidFill>
                  <a:srgbClr val="FF0000"/>
                </a:solidFill>
                <a:latin typeface="+mn-ea"/>
                <a:sym typeface="+mn-ea"/>
              </a:rPr>
              <a:t>过程控制：飞机发动机控制系统</a:t>
            </a:r>
          </a:p>
        </p:txBody>
      </p:sp>
      <p:pic>
        <p:nvPicPr>
          <p:cNvPr id="38916"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1136650"/>
            <a:ext cx="7480300"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4259" name="Rectangle 3"/>
          <p:cNvSpPr>
            <a:spLocks noGrp="1"/>
          </p:cNvSpPr>
          <p:nvPr>
            <p:ph idx="1"/>
          </p:nvPr>
        </p:nvSpPr>
        <p:spPr>
          <a:xfrm>
            <a:off x="200297" y="4150940"/>
            <a:ext cx="3474285" cy="2273808"/>
          </a:xfrm>
          <a:solidFill>
            <a:schemeClr val="bg1">
              <a:alpha val="100000"/>
            </a:schemeClr>
          </a:solidFill>
          <a:ln w="12700">
            <a:miter lim="800000"/>
          </a:ln>
        </p:spPr>
        <p:txBody>
          <a:bodyPr/>
          <a:lstStyle/>
          <a:p>
            <a:pPr eaLnBrk="1" hangingPunct="1">
              <a:lnSpc>
                <a:spcPct val="135000"/>
              </a:lnSpc>
              <a:spcBef>
                <a:spcPts val="0"/>
              </a:spcBef>
              <a:buFont typeface="Wingdings" panose="05000000000000000000" pitchFamily="2" charset="2"/>
              <a:buChar char="l"/>
              <a:defRPr/>
            </a:pPr>
            <a:r>
              <a:rPr lang="zh-CN" altLang="en-US" sz="1920" b="1" noProof="1">
                <a:ln w="22225">
                  <a:solidFill>
                    <a:schemeClr val="accent2"/>
                  </a:solidFill>
                  <a:prstDash val="solid"/>
                </a:ln>
                <a:solidFill>
                  <a:schemeClr val="accent2">
                    <a:lumMod val="40000"/>
                    <a:lumOff val="60000"/>
                  </a:schemeClr>
                </a:solidFill>
                <a:latin typeface="+mn-ea"/>
              </a:rPr>
              <a:t>敏感元件：</a:t>
            </a:r>
            <a:r>
              <a:rPr lang="zh-CN" altLang="en-US" sz="1920" b="1" noProof="1">
                <a:latin typeface="+mn-ea"/>
              </a:rPr>
              <a:t>离心飞重，用于感受发动机的实际转速；</a:t>
            </a:r>
          </a:p>
          <a:p>
            <a:pPr eaLnBrk="1" hangingPunct="1">
              <a:lnSpc>
                <a:spcPct val="135000"/>
              </a:lnSpc>
              <a:spcBef>
                <a:spcPts val="0"/>
              </a:spcBef>
              <a:buFont typeface="Wingdings" panose="05000000000000000000" pitchFamily="2" charset="2"/>
              <a:buChar char="l"/>
              <a:defRPr/>
            </a:pPr>
            <a:r>
              <a:rPr lang="zh-CN" altLang="en-US" sz="1920" b="1" noProof="1">
                <a:ln w="22225">
                  <a:solidFill>
                    <a:schemeClr val="accent2"/>
                  </a:solidFill>
                  <a:prstDash val="solid"/>
                </a:ln>
                <a:solidFill>
                  <a:schemeClr val="accent2">
                    <a:lumMod val="40000"/>
                    <a:lumOff val="60000"/>
                  </a:schemeClr>
                </a:solidFill>
                <a:latin typeface="+mn-ea"/>
              </a:rPr>
              <a:t>指令机构：</a:t>
            </a:r>
            <a:r>
              <a:rPr lang="zh-CN" altLang="en-US" sz="1920" b="1" noProof="1">
                <a:latin typeface="+mn-ea"/>
              </a:rPr>
              <a:t>油门杆，通过转动臂和齿轮等来改变调准弹簧力，确定转速的给定值；</a:t>
            </a:r>
          </a:p>
          <a:p>
            <a:pPr marL="0" indent="0" eaLnBrk="1" hangingPunct="1">
              <a:lnSpc>
                <a:spcPct val="135000"/>
              </a:lnSpc>
              <a:spcBef>
                <a:spcPts val="0"/>
              </a:spcBef>
              <a:buFont typeface="Wingdings" panose="05000000000000000000" pitchFamily="2" charset="2"/>
              <a:buNone/>
              <a:defRPr/>
            </a:pPr>
            <a:endParaRPr lang="zh-CN" altLang="en-US" sz="1920" b="1" noProof="1">
              <a:latin typeface="+mn-ea"/>
            </a:endParaRPr>
          </a:p>
        </p:txBody>
      </p:sp>
      <p:sp>
        <p:nvSpPr>
          <p:cNvPr id="4" name="Rectangle 3"/>
          <p:cNvSpPr>
            <a:spLocks noGrp="1"/>
          </p:cNvSpPr>
          <p:nvPr/>
        </p:nvSpPr>
        <p:spPr>
          <a:xfrm>
            <a:off x="4303776" y="4022925"/>
            <a:ext cx="4343835" cy="2530275"/>
          </a:xfrm>
          <a:prstGeom prst="rect">
            <a:avLst/>
          </a:prstGeom>
          <a:solidFill>
            <a:schemeClr val="bg1">
              <a:alpha val="100000"/>
            </a:schemeClr>
          </a:solidFill>
          <a:ln w="57150">
            <a:noFill/>
            <a:miter lim="800000"/>
          </a:ln>
          <a:effectLst/>
        </p:spPr>
        <p:txBody>
          <a:bodyPr lIns="89567" tIns="44783" rIns="89567" bIns="44783"/>
          <a:lstStyle>
            <a:lvl1pPr marL="492125" indent="-492125" algn="l" defTabSz="1306195" rtl="0" eaLnBrk="0" fontAlgn="base" hangingPunct="0">
              <a:spcBef>
                <a:spcPct val="20000"/>
              </a:spcBef>
              <a:spcAft>
                <a:spcPct val="0"/>
              </a:spcAft>
              <a:buChar char="•"/>
              <a:defRPr sz="3600" b="1">
                <a:solidFill>
                  <a:schemeClr val="accent2"/>
                </a:solidFill>
                <a:latin typeface="+mn-lt"/>
                <a:ea typeface="+mn-ea"/>
                <a:cs typeface="+mn-cs"/>
              </a:defRPr>
            </a:lvl1pPr>
            <a:lvl2pPr marL="1059180" indent="-405130" algn="l" defTabSz="1306195" rtl="0" eaLnBrk="0" fontAlgn="base" hangingPunct="0">
              <a:spcBef>
                <a:spcPct val="20000"/>
              </a:spcBef>
              <a:spcAft>
                <a:spcPct val="0"/>
              </a:spcAft>
              <a:buChar char="•"/>
              <a:defRPr sz="3000">
                <a:solidFill>
                  <a:schemeClr val="tx1"/>
                </a:solidFill>
                <a:latin typeface="+mn-lt"/>
                <a:ea typeface="+mn-ea"/>
              </a:defRPr>
            </a:lvl2pPr>
            <a:lvl3pPr marL="1631950" indent="-325755" algn="l" defTabSz="1306195" rtl="0" eaLnBrk="0" fontAlgn="base" hangingPunct="0">
              <a:spcBef>
                <a:spcPct val="20000"/>
              </a:spcBef>
              <a:spcAft>
                <a:spcPct val="0"/>
              </a:spcAft>
              <a:buChar char="•"/>
              <a:defRPr sz="3500">
                <a:solidFill>
                  <a:schemeClr val="tx1"/>
                </a:solidFill>
                <a:latin typeface="+mn-lt"/>
                <a:ea typeface="+mn-ea"/>
              </a:defRPr>
            </a:lvl3pPr>
            <a:lvl4pPr marL="2286000" indent="-325755" algn="l" defTabSz="1306195" rtl="0" eaLnBrk="0" fontAlgn="base" hangingPunct="0">
              <a:spcBef>
                <a:spcPct val="20000"/>
              </a:spcBef>
              <a:spcAft>
                <a:spcPct val="0"/>
              </a:spcAft>
              <a:buChar char="–"/>
              <a:defRPr sz="2900">
                <a:solidFill>
                  <a:schemeClr val="tx1"/>
                </a:solidFill>
                <a:latin typeface="+mn-lt"/>
                <a:ea typeface="+mn-ea"/>
              </a:defRPr>
            </a:lvl4pPr>
            <a:lvl5pPr marL="2940050" indent="-327025" algn="l" defTabSz="1306195" rtl="0" eaLnBrk="0" fontAlgn="base" hangingPunct="0">
              <a:spcBef>
                <a:spcPct val="20000"/>
              </a:spcBef>
              <a:spcAft>
                <a:spcPct val="0"/>
              </a:spcAft>
              <a:buChar char="»"/>
              <a:defRPr sz="2900">
                <a:solidFill>
                  <a:schemeClr val="tx1"/>
                </a:solidFill>
                <a:latin typeface="+mn-lt"/>
                <a:ea typeface="+mn-ea"/>
              </a:defRPr>
            </a:lvl5pPr>
            <a:lvl6pPr marL="3397250" indent="-327025" algn="l" defTabSz="1306195" rtl="0" fontAlgn="base">
              <a:spcBef>
                <a:spcPct val="20000"/>
              </a:spcBef>
              <a:spcAft>
                <a:spcPct val="0"/>
              </a:spcAft>
              <a:buChar char="»"/>
              <a:defRPr kumimoji="1" sz="2900">
                <a:solidFill>
                  <a:schemeClr val="tx1"/>
                </a:solidFill>
                <a:latin typeface="+mn-lt"/>
                <a:ea typeface="+mn-ea"/>
              </a:defRPr>
            </a:lvl6pPr>
            <a:lvl7pPr marL="3854450" indent="-327025" algn="l" defTabSz="1306195" rtl="0" fontAlgn="base">
              <a:spcBef>
                <a:spcPct val="20000"/>
              </a:spcBef>
              <a:spcAft>
                <a:spcPct val="0"/>
              </a:spcAft>
              <a:buChar char="»"/>
              <a:defRPr kumimoji="1" sz="2900">
                <a:solidFill>
                  <a:schemeClr val="tx1"/>
                </a:solidFill>
                <a:latin typeface="+mn-lt"/>
                <a:ea typeface="+mn-ea"/>
              </a:defRPr>
            </a:lvl7pPr>
            <a:lvl8pPr marL="4311650" indent="-327025" algn="l" defTabSz="1306195" rtl="0" fontAlgn="base">
              <a:spcBef>
                <a:spcPct val="20000"/>
              </a:spcBef>
              <a:spcAft>
                <a:spcPct val="0"/>
              </a:spcAft>
              <a:buChar char="»"/>
              <a:defRPr kumimoji="1" sz="2900">
                <a:solidFill>
                  <a:schemeClr val="tx1"/>
                </a:solidFill>
                <a:latin typeface="+mn-lt"/>
                <a:ea typeface="+mn-ea"/>
              </a:defRPr>
            </a:lvl8pPr>
            <a:lvl9pPr marL="4768850" indent="-327025" algn="l" defTabSz="1306195" rtl="0" fontAlgn="base">
              <a:spcBef>
                <a:spcPct val="20000"/>
              </a:spcBef>
              <a:spcAft>
                <a:spcPct val="0"/>
              </a:spcAft>
              <a:buChar char="»"/>
              <a:defRPr kumimoji="1" sz="2900">
                <a:solidFill>
                  <a:schemeClr val="tx1"/>
                </a:solidFill>
                <a:latin typeface="+mn-lt"/>
                <a:ea typeface="+mn-ea"/>
              </a:defRPr>
            </a:lvl9pPr>
          </a:lstStyle>
          <a:p>
            <a:pPr eaLnBrk="1" hangingPunct="1">
              <a:lnSpc>
                <a:spcPct val="135000"/>
              </a:lnSpc>
              <a:spcBef>
                <a:spcPts val="0"/>
              </a:spcBef>
              <a:buFont typeface="Wingdings" panose="05000000000000000000" pitchFamily="2" charset="2"/>
              <a:buChar char="l"/>
              <a:defRPr/>
            </a:pPr>
            <a:r>
              <a:rPr lang="zh-CN" altLang="en-US" sz="1920" noProof="1">
                <a:ln w="22225">
                  <a:solidFill>
                    <a:schemeClr val="accent2"/>
                  </a:solidFill>
                  <a:prstDash val="solid"/>
                </a:ln>
                <a:solidFill>
                  <a:schemeClr val="accent2">
                    <a:lumMod val="40000"/>
                    <a:lumOff val="60000"/>
                  </a:schemeClr>
                </a:solidFill>
                <a:latin typeface="+mn-ea"/>
                <a:sym typeface="+mn-ea"/>
              </a:rPr>
              <a:t>放大元件：</a:t>
            </a:r>
            <a:r>
              <a:rPr lang="zh-CN" altLang="en-US" sz="1920" noProof="1">
                <a:solidFill>
                  <a:schemeClr val="tx1"/>
                </a:solidFill>
                <a:latin typeface="+mn-ea"/>
                <a:sym typeface="+mn-ea"/>
              </a:rPr>
              <a:t>分油活门，其位置由离心飞重的轴向力与指令机构给定的调准弹簧力比较后的差值决定；</a:t>
            </a:r>
          </a:p>
          <a:p>
            <a:pPr eaLnBrk="1" hangingPunct="1">
              <a:lnSpc>
                <a:spcPct val="135000"/>
              </a:lnSpc>
              <a:spcBef>
                <a:spcPts val="0"/>
              </a:spcBef>
              <a:buFont typeface="Wingdings" panose="05000000000000000000" pitchFamily="2" charset="2"/>
              <a:buChar char="l"/>
              <a:defRPr/>
            </a:pPr>
            <a:r>
              <a:rPr lang="zh-CN" altLang="en-US" sz="1920" noProof="1">
                <a:ln w="22225">
                  <a:solidFill>
                    <a:schemeClr val="accent2"/>
                  </a:solidFill>
                  <a:prstDash val="solid"/>
                </a:ln>
                <a:solidFill>
                  <a:schemeClr val="accent2">
                    <a:lumMod val="40000"/>
                    <a:lumOff val="60000"/>
                  </a:schemeClr>
                </a:solidFill>
                <a:latin typeface="+mn-ea"/>
                <a:sym typeface="+mn-ea"/>
              </a:rPr>
              <a:t>执行元件：</a:t>
            </a:r>
            <a:r>
              <a:rPr lang="zh-CN" altLang="en-US" sz="1920" noProof="1">
                <a:solidFill>
                  <a:schemeClr val="tx1"/>
                </a:solidFill>
                <a:latin typeface="+mn-ea"/>
                <a:sym typeface="+mn-ea"/>
              </a:rPr>
              <a:t>随动活塞，由其控制柱塞泵斜盘的角度，从而改变供油量；</a:t>
            </a:r>
          </a:p>
          <a:p>
            <a:pPr eaLnBrk="1" hangingPunct="1">
              <a:lnSpc>
                <a:spcPct val="135000"/>
              </a:lnSpc>
              <a:spcBef>
                <a:spcPts val="0"/>
              </a:spcBef>
              <a:buFont typeface="Wingdings" panose="05000000000000000000" pitchFamily="2" charset="2"/>
              <a:buChar char="l"/>
              <a:defRPr/>
            </a:pPr>
            <a:r>
              <a:rPr lang="zh-CN" altLang="en-US" sz="1920" noProof="1">
                <a:ln w="22225">
                  <a:solidFill>
                    <a:schemeClr val="accent2"/>
                  </a:solidFill>
                  <a:prstDash val="solid"/>
                </a:ln>
                <a:solidFill>
                  <a:schemeClr val="accent2">
                    <a:lumMod val="40000"/>
                    <a:lumOff val="60000"/>
                  </a:schemeClr>
                </a:solidFill>
                <a:latin typeface="+mn-ea"/>
                <a:sym typeface="+mn-ea"/>
              </a:rPr>
              <a:t>供油元件：</a:t>
            </a:r>
            <a:r>
              <a:rPr lang="zh-CN" altLang="en-US" sz="1920" noProof="1">
                <a:solidFill>
                  <a:schemeClr val="tx1"/>
                </a:solidFill>
                <a:latin typeface="+mn-ea"/>
                <a:sym typeface="+mn-ea"/>
              </a:rPr>
              <a:t>燃油泵；</a:t>
            </a:r>
          </a:p>
        </p:txBody>
      </p:sp>
      <p:cxnSp>
        <p:nvCxnSpPr>
          <p:cNvPr id="38919" name="直接连接符 4"/>
          <p:cNvCxnSpPr>
            <a:cxnSpLocks noChangeShapeType="1"/>
          </p:cNvCxnSpPr>
          <p:nvPr/>
        </p:nvCxnSpPr>
        <p:spPr bwMode="auto">
          <a:xfrm>
            <a:off x="252413" y="3856038"/>
            <a:ext cx="8386762" cy="0"/>
          </a:xfrm>
          <a:prstGeom prst="line">
            <a:avLst/>
          </a:prstGeom>
          <a:noFill/>
          <a:ln w="34925" cap="sq">
            <a:solidFill>
              <a:srgbClr val="00956F"/>
            </a:solidFill>
            <a:prstDash val="lgDash"/>
            <a:round/>
            <a:headEnd type="none" w="sm" len="sm"/>
            <a:tailEnd type="none" w="sm" len="sm"/>
          </a:ln>
          <a:extLst>
            <a:ext uri="{909E8E84-426E-40DD-AFC4-6F175D3DCCD1}">
              <a14:hiddenFill xmlns:a14="http://schemas.microsoft.com/office/drawing/2010/main">
                <a:noFill/>
              </a14:hiddenFill>
            </a:ext>
          </a:extLst>
        </p:spPr>
      </p:cxnSp>
    </p:spTree>
  </p:cSld>
  <p:clrMapOvr>
    <a:masterClrMapping/>
  </p:clrMapOvr>
  <p:transition spd="slow" advTm="2232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000" fill="hold">
                                          <p:stCondLst>
                                            <p:cond delay="0"/>
                                          </p:stCondLst>
                                        </p:cTn>
                                        <p:tgtEl>
                                          <p:spTgt spid="1504259">
                                            <p:txEl>
                                              <p:charRg st="0" end="54"/>
                                            </p:txEl>
                                          </p:spTgt>
                                        </p:tgtEl>
                                        <p:attrNameLst>
                                          <p:attrName>style.visibility</p:attrName>
                                        </p:attrNameLst>
                                      </p:cBhvr>
                                      <p:to>
                                        <p:strVal val="visible"/>
                                      </p:to>
                                    </p:set>
                                    <p:anim calcmode="lin" valueType="num">
                                      <p:cBhvr>
                                        <p:cTn id="7" dur="1000" fill="hold"/>
                                        <p:tgtEl>
                                          <p:spTgt spid="1504259">
                                            <p:txEl>
                                              <p:charRg st="0" end="54"/>
                                            </p:txEl>
                                          </p:spTgt>
                                        </p:tgtEl>
                                        <p:attrNameLst>
                                          <p:attrName>ppt_w</p:attrName>
                                        </p:attrNameLst>
                                      </p:cBhvr>
                                      <p:tavLst>
                                        <p:tav tm="0">
                                          <p:val>
                                            <p:strVal val="#ppt_w*0.70"/>
                                          </p:val>
                                        </p:tav>
                                        <p:tav tm="100000">
                                          <p:val>
                                            <p:strVal val="#ppt_w"/>
                                          </p:val>
                                        </p:tav>
                                      </p:tavLst>
                                    </p:anim>
                                    <p:anim calcmode="lin" valueType="num">
                                      <p:cBhvr>
                                        <p:cTn id="8" dur="1000" fill="hold"/>
                                        <p:tgtEl>
                                          <p:spTgt spid="1504259">
                                            <p:txEl>
                                              <p:charRg st="0" end="54"/>
                                            </p:txEl>
                                          </p:spTgt>
                                        </p:tgtEl>
                                        <p:attrNameLst>
                                          <p:attrName>ppt_h</p:attrName>
                                        </p:attrNameLst>
                                      </p:cBhvr>
                                      <p:tavLst>
                                        <p:tav tm="0">
                                          <p:val>
                                            <p:strVal val="#ppt_h"/>
                                          </p:val>
                                        </p:tav>
                                        <p:tav tm="100000">
                                          <p:val>
                                            <p:strVal val="#ppt_h"/>
                                          </p:val>
                                        </p:tav>
                                      </p:tavLst>
                                    </p:anim>
                                    <p:animEffect transition="in" filter="fade">
                                      <p:cBhvr>
                                        <p:cTn id="9" dur="1000"/>
                                        <p:tgtEl>
                                          <p:spTgt spid="1504259">
                                            <p:txEl>
                                              <p:charRg st="0" end="54"/>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000" fill="hold">
                                          <p:stCondLst>
                                            <p:cond delay="0"/>
                                          </p:stCondLst>
                                        </p:cTn>
                                        <p:tgtEl>
                                          <p:spTgt spid="1504259">
                                            <p:txEl>
                                              <p:charRg st="1" end="1"/>
                                            </p:txEl>
                                          </p:spTgt>
                                        </p:tgtEl>
                                        <p:attrNameLst>
                                          <p:attrName>style.visibility</p:attrName>
                                        </p:attrNameLst>
                                      </p:cBhvr>
                                      <p:to>
                                        <p:strVal val="visible"/>
                                      </p:to>
                                    </p:set>
                                    <p:anim calcmode="lin" valueType="num">
                                      <p:cBhvr>
                                        <p:cTn id="13" dur="1000" fill="hold"/>
                                        <p:tgtEl>
                                          <p:spTgt spid="1504259">
                                            <p:txEl>
                                              <p:char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1504259">
                                            <p:txEl>
                                              <p:charRg st="1" end="1"/>
                                            </p:txEl>
                                          </p:spTgt>
                                        </p:tgtEl>
                                        <p:attrNameLst>
                                          <p:attrName>ppt_h</p:attrName>
                                        </p:attrNameLst>
                                      </p:cBhvr>
                                      <p:tavLst>
                                        <p:tav tm="0">
                                          <p:val>
                                            <p:strVal val="#ppt_h"/>
                                          </p:val>
                                        </p:tav>
                                        <p:tav tm="100000">
                                          <p:val>
                                            <p:strVal val="#ppt_h"/>
                                          </p:val>
                                        </p:tav>
                                      </p:tavLst>
                                    </p:anim>
                                    <p:animEffect transition="in" filter="fade">
                                      <p:cBhvr>
                                        <p:cTn id="15" dur="1000"/>
                                        <p:tgtEl>
                                          <p:spTgt spid="1504259">
                                            <p:txEl>
                                              <p:charRg st="1" end="1"/>
                                            </p:txEl>
                                          </p:spTgt>
                                        </p:tgtEl>
                                      </p:cBhvr>
                                    </p:animEffect>
                                  </p:childTnLst>
                                </p:cTn>
                              </p:par>
                            </p:childTnLst>
                          </p:cTn>
                        </p:par>
                        <p:par>
                          <p:cTn id="16" fill="hold">
                            <p:stCondLst>
                              <p:cond delay="2000"/>
                            </p:stCondLst>
                            <p:childTnLst>
                              <p:par>
                                <p:cTn id="17" presetID="3" presetClass="entr" presetSubtype="10" fill="hold" nodeType="afterEffect">
                                  <p:stCondLst>
                                    <p:cond delay="0"/>
                                  </p:stCondLst>
                                  <p:childTnLst>
                                    <p:set>
                                      <p:cBhvr>
                                        <p:cTn id="18" dur="500" fill="hold">
                                          <p:stCondLst>
                                            <p:cond delay="0"/>
                                          </p:stCondLst>
                                        </p:cTn>
                                        <p:tgtEl>
                                          <p:spTgt spid="4">
                                            <p:txEl>
                                              <p:pRg st="0" end="0"/>
                                            </p:txEl>
                                          </p:spTgt>
                                        </p:tgtEl>
                                        <p:attrNameLst>
                                          <p:attrName>style.visibility</p:attrName>
                                        </p:attrNameLst>
                                      </p:cBhvr>
                                      <p:to>
                                        <p:strVal val="visible"/>
                                      </p:to>
                                    </p:set>
                                    <p:animEffect transition="in" filter="blinds(horizontal)">
                                      <p:cBhvr>
                                        <p:cTn id="19" dur="500"/>
                                        <p:tgtEl>
                                          <p:spTgt spid="4">
                                            <p:txEl>
                                              <p:pRg st="0" end="0"/>
                                            </p:txEl>
                                          </p:spTgt>
                                        </p:tgtEl>
                                      </p:cBhvr>
                                    </p:animEffect>
                                  </p:childTnLst>
                                </p:cTn>
                              </p:par>
                            </p:childTnLst>
                          </p:cTn>
                        </p:par>
                        <p:par>
                          <p:cTn id="20" fill="hold">
                            <p:stCondLst>
                              <p:cond delay="2500"/>
                            </p:stCondLst>
                            <p:childTnLst>
                              <p:par>
                                <p:cTn id="21" presetID="3" presetClass="entr" presetSubtype="10" fill="hold" nodeType="afterEffect">
                                  <p:stCondLst>
                                    <p:cond delay="0"/>
                                  </p:stCondLst>
                                  <p:childTnLst>
                                    <p:set>
                                      <p:cBhvr>
                                        <p:cTn id="22" dur="500" fill="hold">
                                          <p:stCondLst>
                                            <p:cond delay="0"/>
                                          </p:stCondLst>
                                        </p:cTn>
                                        <p:tgtEl>
                                          <p:spTgt spid="4">
                                            <p:txEl>
                                              <p:pRg st="1" end="1"/>
                                            </p:txEl>
                                          </p:spTgt>
                                        </p:tgtEl>
                                        <p:attrNameLst>
                                          <p:attrName>style.visibility</p:attrName>
                                        </p:attrNameLst>
                                      </p:cBhvr>
                                      <p:to>
                                        <p:strVal val="visible"/>
                                      </p:to>
                                    </p:set>
                                    <p:animEffect transition="in" filter="blinds(horizontal)">
                                      <p:cBhvr>
                                        <p:cTn id="23" dur="500"/>
                                        <p:tgtEl>
                                          <p:spTgt spid="4">
                                            <p:txEl>
                                              <p:pRg st="1" end="1"/>
                                            </p:txEl>
                                          </p:spTgt>
                                        </p:tgtEl>
                                      </p:cBhvr>
                                    </p:animEffect>
                                  </p:childTnLst>
                                </p:cTn>
                              </p:par>
                            </p:childTnLst>
                          </p:cTn>
                        </p:par>
                        <p:par>
                          <p:cTn id="24" fill="hold">
                            <p:stCondLst>
                              <p:cond delay="3000"/>
                            </p:stCondLst>
                            <p:childTnLst>
                              <p:par>
                                <p:cTn id="25" presetID="3" presetClass="entr" presetSubtype="10" fill="hold" nodeType="afterEffect">
                                  <p:stCondLst>
                                    <p:cond delay="0"/>
                                  </p:stCondLst>
                                  <p:childTnLst>
                                    <p:set>
                                      <p:cBhvr>
                                        <p:cTn id="26" dur="500" fill="hold">
                                          <p:stCondLst>
                                            <p:cond delay="0"/>
                                          </p:stCondLst>
                                        </p:cTn>
                                        <p:tgtEl>
                                          <p:spTgt spid="4">
                                            <p:txEl>
                                              <p:pRg st="2" end="2"/>
                                            </p:txEl>
                                          </p:spTgt>
                                        </p:tgtEl>
                                        <p:attrNameLst>
                                          <p:attrName>style.visibility</p:attrName>
                                        </p:attrNameLst>
                                      </p:cBhvr>
                                      <p:to>
                                        <p:strVal val="visible"/>
                                      </p:to>
                                    </p:set>
                                    <p:animEffect transition="in" filter="blinds(horizontal)">
                                      <p:cBhvr>
                                        <p:cTn id="2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4259" name="Rectangle 3"/>
          <p:cNvSpPr>
            <a:spLocks noGrp="1" noChangeArrowheads="1"/>
          </p:cNvSpPr>
          <p:nvPr>
            <p:ph type="body" idx="1"/>
          </p:nvPr>
        </p:nvSpPr>
        <p:spPr>
          <a:xfrm>
            <a:off x="772299" y="959627"/>
            <a:ext cx="7575288" cy="5382179"/>
          </a:xfrm>
          <a:solidFill>
            <a:schemeClr val="bg1"/>
          </a:solidFill>
          <a:ln w="57150">
            <a:solidFill>
              <a:schemeClr val="tx1"/>
            </a:solidFill>
            <a:miter lim="800000"/>
          </a:ln>
          <a:effectLst>
            <a:prstShdw prst="shdw12">
              <a:srgbClr val="808080">
                <a:alpha val="50000"/>
              </a:srgbClr>
            </a:prstShdw>
          </a:effectLst>
        </p:spPr>
        <p:txBody>
          <a:bodyPr/>
          <a:lstStyle/>
          <a:p>
            <a:pPr>
              <a:lnSpc>
                <a:spcPct val="185000"/>
              </a:lnSpc>
              <a:spcBef>
                <a:spcPts val="600"/>
              </a:spcBef>
              <a:spcAft>
                <a:spcPts val="600"/>
              </a:spcAft>
              <a:buFont typeface="Wingdings" panose="05000000000000000000" pitchFamily="2" charset="2"/>
              <a:buChar char="l"/>
            </a:pPr>
            <a:r>
              <a:rPr lang="zh-CN" altLang="en-US" sz="2000" b="1" dirty="0"/>
              <a:t>研究信号与系统理论的</a:t>
            </a:r>
            <a:r>
              <a:rPr lang="zh-CN" altLang="en-US" sz="2000" b="1" dirty="0">
                <a:solidFill>
                  <a:srgbClr val="6600FF"/>
                </a:solidFill>
              </a:rPr>
              <a:t>基本概念</a:t>
            </a:r>
            <a:r>
              <a:rPr lang="zh-CN" altLang="en-US" sz="2000" b="1" dirty="0"/>
              <a:t>（信号、线性系统）和</a:t>
            </a:r>
            <a:r>
              <a:rPr lang="zh-CN" altLang="en-US" sz="2000" b="1" dirty="0">
                <a:solidFill>
                  <a:srgbClr val="6600FF"/>
                </a:solidFill>
              </a:rPr>
              <a:t>基本分析方法</a:t>
            </a:r>
            <a:r>
              <a:rPr lang="zh-CN" altLang="en-US" sz="2000" b="1" dirty="0"/>
              <a:t>（傅里叶变换、拉普拉斯变换、卷积、</a:t>
            </a:r>
            <a:r>
              <a:rPr lang="en-US" altLang="zh-CN" sz="2000" b="1" dirty="0"/>
              <a:t>Z</a:t>
            </a:r>
            <a:r>
              <a:rPr lang="zh-CN" altLang="en-US" sz="2000" b="1" dirty="0"/>
              <a:t>变换）。 </a:t>
            </a:r>
          </a:p>
          <a:p>
            <a:pPr>
              <a:lnSpc>
                <a:spcPct val="185000"/>
              </a:lnSpc>
              <a:spcBef>
                <a:spcPts val="600"/>
              </a:spcBef>
              <a:spcAft>
                <a:spcPts val="600"/>
              </a:spcAft>
              <a:buFont typeface="Wingdings" panose="05000000000000000000" pitchFamily="2" charset="2"/>
              <a:buChar char="l"/>
            </a:pPr>
            <a:r>
              <a:rPr lang="zh-CN" altLang="en-US" sz="2000" b="1" dirty="0"/>
              <a:t>我们将按照：</a:t>
            </a:r>
            <a:r>
              <a:rPr lang="zh-CN" altLang="en-US" sz="2000" b="1" dirty="0">
                <a:solidFill>
                  <a:srgbClr val="0000FF"/>
                </a:solidFill>
              </a:rPr>
              <a:t>先连续后离散、先时域后变换域的顺序</a:t>
            </a:r>
            <a:r>
              <a:rPr lang="zh-CN" altLang="en-US" sz="2000" b="1" dirty="0"/>
              <a:t>，讲解系统分析和信号分析的基本方法。</a:t>
            </a:r>
            <a:endParaRPr lang="en-US" altLang="zh-CN" sz="2000" b="1" dirty="0"/>
          </a:p>
          <a:p>
            <a:pPr>
              <a:lnSpc>
                <a:spcPct val="185000"/>
              </a:lnSpc>
              <a:spcBef>
                <a:spcPts val="600"/>
              </a:spcBef>
              <a:spcAft>
                <a:spcPts val="600"/>
              </a:spcAft>
              <a:buFont typeface="Wingdings" panose="05000000000000000000" pitchFamily="2" charset="2"/>
              <a:buChar char="l"/>
            </a:pPr>
            <a:r>
              <a:rPr lang="zh-CN" altLang="en-US" sz="2000" b="1" dirty="0"/>
              <a:t>在每一章按照</a:t>
            </a:r>
            <a:r>
              <a:rPr lang="zh-CN" altLang="en-US" sz="2000" b="1" dirty="0">
                <a:solidFill>
                  <a:srgbClr val="0000FF"/>
                </a:solidFill>
              </a:rPr>
              <a:t>先讲所用到的数学工具</a:t>
            </a:r>
            <a:r>
              <a:rPr lang="zh-CN" altLang="en-US" sz="2000" b="1" dirty="0"/>
              <a:t>，然后</a:t>
            </a:r>
            <a:r>
              <a:rPr lang="zh-CN" altLang="en-US" sz="2000" b="1" dirty="0">
                <a:solidFill>
                  <a:srgbClr val="0000FF"/>
                </a:solidFill>
              </a:rPr>
              <a:t>重点讲解用数学工具如何解决</a:t>
            </a:r>
            <a:r>
              <a:rPr lang="zh-CN" altLang="en-US" sz="2000" b="1" dirty="0"/>
              <a:t>系统分析和信号分析的问题。</a:t>
            </a:r>
            <a:endParaRPr lang="en-US" altLang="zh-CN" sz="2000" b="1" dirty="0"/>
          </a:p>
          <a:p>
            <a:pPr>
              <a:lnSpc>
                <a:spcPct val="185000"/>
              </a:lnSpc>
              <a:spcBef>
                <a:spcPts val="600"/>
              </a:spcBef>
              <a:spcAft>
                <a:spcPts val="600"/>
              </a:spcAft>
              <a:buFont typeface="Wingdings" panose="05000000000000000000" pitchFamily="2" charset="2"/>
              <a:buChar char="l"/>
            </a:pPr>
            <a:r>
              <a:rPr lang="zh-CN" altLang="en-US" sz="2000" b="1" dirty="0"/>
              <a:t>使大家初步认识到如何建立信号与系统的数学模型，经适当的数学分析求解，对所得结果给予物理解释，赋予物理意义。 </a:t>
            </a:r>
            <a:endParaRPr lang="en-US" altLang="zh-CN" sz="2000" b="1" dirty="0"/>
          </a:p>
          <a:p>
            <a:pPr>
              <a:lnSpc>
                <a:spcPct val="185000"/>
              </a:lnSpc>
              <a:spcBef>
                <a:spcPts val="600"/>
              </a:spcBef>
              <a:spcAft>
                <a:spcPts val="600"/>
              </a:spcAft>
              <a:buFont typeface="Wingdings" panose="05000000000000000000" pitchFamily="2" charset="2"/>
              <a:buChar char="l"/>
            </a:pPr>
            <a:endParaRPr lang="zh-CN" altLang="en-US" sz="2000" b="1" dirty="0"/>
          </a:p>
        </p:txBody>
      </p:sp>
      <p:sp>
        <p:nvSpPr>
          <p:cNvPr id="41988" name="Text Box 4"/>
          <p:cNvSpPr txBox="1">
            <a:spLocks noChangeArrowheads="1"/>
          </p:cNvSpPr>
          <p:nvPr/>
        </p:nvSpPr>
        <p:spPr bwMode="auto">
          <a:xfrm>
            <a:off x="0" y="0"/>
            <a:ext cx="9144000" cy="458583"/>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dirty="0">
                <a:solidFill>
                  <a:schemeClr val="bg1"/>
                </a:solidFill>
                <a:latin typeface="楷体_GB2312" pitchFamily="49" charset="-122"/>
                <a:ea typeface="楷体_GB2312" pitchFamily="49" charset="-122"/>
              </a:rPr>
              <a:t>信号与</a:t>
            </a:r>
            <a:r>
              <a:rPr lang="zh-CN" altLang="en-US" dirty="0">
                <a:solidFill>
                  <a:schemeClr val="bg1"/>
                </a:solidFill>
                <a:ea typeface="楷体_GB2312" pitchFamily="49" charset="-122"/>
              </a:rPr>
              <a:t>系统              本门课程的任务与内容组织</a:t>
            </a:r>
          </a:p>
        </p:txBody>
      </p:sp>
      <p:sp>
        <p:nvSpPr>
          <p:cNvPr id="6" name="日期占位符 5"/>
          <p:cNvSpPr>
            <a:spLocks noGrp="1"/>
          </p:cNvSpPr>
          <p:nvPr>
            <p:ph type="dt" sz="quarter" idx="10"/>
          </p:nvPr>
        </p:nvSpPr>
        <p:spPr/>
        <p:txBody>
          <a:bodyPr/>
          <a:lstStyle/>
          <a:p>
            <a:pPr>
              <a:defRPr/>
            </a:pPr>
            <a:fld id="{13BB3E16-2185-4A9E-9D53-405456EF35CF}" type="datetime3">
              <a:rPr lang="zh-CN" altLang="en-US"/>
              <a:t>2026年3月4日星期三</a:t>
            </a:fld>
            <a:endParaRPr lang="zh-CN" altLang="en-US"/>
          </a:p>
        </p:txBody>
      </p:sp>
    </p:spTree>
    <p:custDataLst>
      <p:tags r:id="rId1"/>
    </p:custDataLst>
  </p:cSld>
  <p:clrMapOvr>
    <a:masterClrMapping/>
  </p:clrMapOvr>
  <p:transition advTm="8284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04259">
                                            <p:txEl>
                                              <p:pRg st="0" end="0"/>
                                            </p:txEl>
                                          </p:spTgt>
                                        </p:tgtEl>
                                        <p:attrNameLst>
                                          <p:attrName>style.visibility</p:attrName>
                                        </p:attrNameLst>
                                      </p:cBhvr>
                                      <p:to>
                                        <p:strVal val="visible"/>
                                      </p:to>
                                    </p:set>
                                    <p:anim calcmode="lin" valueType="num">
                                      <p:cBhvr>
                                        <p:cTn id="7" dur="1000" fill="hold"/>
                                        <p:tgtEl>
                                          <p:spTgt spid="150425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0425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0425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04259">
                                            <p:txEl>
                                              <p:pRg st="1" end="1"/>
                                            </p:txEl>
                                          </p:spTgt>
                                        </p:tgtEl>
                                        <p:attrNameLst>
                                          <p:attrName>style.visibility</p:attrName>
                                        </p:attrNameLst>
                                      </p:cBhvr>
                                      <p:to>
                                        <p:strVal val="visible"/>
                                      </p:to>
                                    </p:set>
                                    <p:anim calcmode="lin" valueType="num">
                                      <p:cBhvr>
                                        <p:cTn id="14" dur="1000" fill="hold"/>
                                        <p:tgtEl>
                                          <p:spTgt spid="150425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0425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0425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504259">
                                            <p:txEl>
                                              <p:pRg st="2" end="2"/>
                                            </p:txEl>
                                          </p:spTgt>
                                        </p:tgtEl>
                                        <p:attrNameLst>
                                          <p:attrName>style.visibility</p:attrName>
                                        </p:attrNameLst>
                                      </p:cBhvr>
                                      <p:to>
                                        <p:strVal val="visible"/>
                                      </p:to>
                                    </p:set>
                                    <p:anim calcmode="lin" valueType="num">
                                      <p:cBhvr>
                                        <p:cTn id="21" dur="1000" fill="hold"/>
                                        <p:tgtEl>
                                          <p:spTgt spid="150425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50425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50425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1504259">
                                            <p:txEl>
                                              <p:pRg st="3" end="3"/>
                                            </p:txEl>
                                          </p:spTgt>
                                        </p:tgtEl>
                                        <p:attrNameLst>
                                          <p:attrName>style.visibility</p:attrName>
                                        </p:attrNameLst>
                                      </p:cBhvr>
                                      <p:to>
                                        <p:strVal val="visible"/>
                                      </p:to>
                                    </p:set>
                                    <p:anim calcmode="lin" valueType="num">
                                      <p:cBhvr>
                                        <p:cTn id="28" dur="1000" fill="hold"/>
                                        <p:tgtEl>
                                          <p:spTgt spid="1504259">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504259">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5042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83" name="Rectangle 3"/>
          <p:cNvSpPr>
            <a:spLocks noGrp="1" noChangeArrowheads="1"/>
          </p:cNvSpPr>
          <p:nvPr>
            <p:ph type="body" idx="1"/>
          </p:nvPr>
        </p:nvSpPr>
        <p:spPr>
          <a:xfrm>
            <a:off x="1016000" y="1406525"/>
            <a:ext cx="7270750" cy="779463"/>
          </a:xfrm>
        </p:spPr>
        <p:txBody>
          <a:bodyPr/>
          <a:lstStyle/>
          <a:p>
            <a:pPr marL="0" indent="440055">
              <a:lnSpc>
                <a:spcPct val="130000"/>
              </a:lnSpc>
              <a:spcBef>
                <a:spcPct val="30000"/>
              </a:spcBef>
              <a:buFont typeface="Wingdings" panose="05000000000000000000" pitchFamily="2" charset="2"/>
              <a:buNone/>
            </a:pPr>
            <a:r>
              <a:rPr lang="zh-CN" altLang="en-US" sz="1700" b="1" dirty="0">
                <a:latin typeface="+mn-ea"/>
              </a:rPr>
              <a:t>内容：介绍信号与系统的基本概念及其分类，并对系统分析方法进行一般性介绍。</a:t>
            </a:r>
          </a:p>
        </p:txBody>
      </p:sp>
      <p:sp>
        <p:nvSpPr>
          <p:cNvPr id="44035" name="Text Box 4"/>
          <p:cNvSpPr txBox="1">
            <a:spLocks noChangeArrowheads="1"/>
          </p:cNvSpPr>
          <p:nvPr/>
        </p:nvSpPr>
        <p:spPr bwMode="auto">
          <a:xfrm>
            <a:off x="0" y="0"/>
            <a:ext cx="9144000" cy="458788"/>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a:solidFill>
                  <a:schemeClr val="bg1"/>
                </a:solidFill>
                <a:latin typeface="+mn-ea"/>
                <a:ea typeface="+mn-ea"/>
              </a:rPr>
              <a:t>信号与系统                               章节安排</a:t>
            </a:r>
          </a:p>
        </p:txBody>
      </p:sp>
      <p:sp>
        <p:nvSpPr>
          <p:cNvPr id="44036" name="Rectangle 6"/>
          <p:cNvSpPr>
            <a:spLocks noChangeArrowheads="1"/>
          </p:cNvSpPr>
          <p:nvPr/>
        </p:nvSpPr>
        <p:spPr bwMode="auto">
          <a:xfrm>
            <a:off x="276225" y="930275"/>
            <a:ext cx="2867025" cy="414338"/>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a:solidFill>
                  <a:srgbClr val="FF0000"/>
                </a:solidFill>
                <a:latin typeface="+mn-ea"/>
                <a:ea typeface="+mn-ea"/>
              </a:rPr>
              <a:t>第一章 绪论</a:t>
            </a:r>
          </a:p>
        </p:txBody>
      </p:sp>
      <p:sp>
        <p:nvSpPr>
          <p:cNvPr id="1505287" name="Rectangle 7"/>
          <p:cNvSpPr>
            <a:spLocks noChangeArrowheads="1"/>
          </p:cNvSpPr>
          <p:nvPr/>
        </p:nvSpPr>
        <p:spPr bwMode="auto">
          <a:xfrm>
            <a:off x="377353" y="2141942"/>
            <a:ext cx="4368800" cy="4159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dirty="0">
                <a:solidFill>
                  <a:srgbClr val="FF0000"/>
                </a:solidFill>
                <a:latin typeface="+mn-ea"/>
                <a:ea typeface="+mn-ea"/>
              </a:rPr>
              <a:t>第二章 连续时间系统的时域分析</a:t>
            </a:r>
          </a:p>
        </p:txBody>
      </p:sp>
      <p:sp>
        <p:nvSpPr>
          <p:cNvPr id="1505288" name="Rectangle 8"/>
          <p:cNvSpPr>
            <a:spLocks noChangeArrowheads="1"/>
          </p:cNvSpPr>
          <p:nvPr/>
        </p:nvSpPr>
        <p:spPr bwMode="auto">
          <a:xfrm>
            <a:off x="652617" y="2700525"/>
            <a:ext cx="7454900" cy="3498259"/>
          </a:xfrm>
          <a:prstGeom prst="rect">
            <a:avLst/>
          </a:prstGeom>
          <a:solidFill>
            <a:schemeClr val="bg1"/>
          </a:solidFill>
          <a:ln w="57150">
            <a:solidFill>
              <a:schemeClr val="tx1"/>
            </a:solidFill>
            <a:miter lim="800000"/>
          </a:ln>
          <a:effectLst>
            <a:prstShdw prst="shdw12">
              <a:srgbClr val="808080">
                <a:alpha val="50000"/>
              </a:srgbClr>
            </a:prstShdw>
          </a:effec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5000"/>
              </a:lnSpc>
              <a:spcBef>
                <a:spcPts val="0"/>
              </a:spcBef>
              <a:buClr>
                <a:schemeClr val="accent2"/>
              </a:buClr>
              <a:buFont typeface="Wingdings" panose="05000000000000000000" pitchFamily="2" charset="2"/>
              <a:buChar char="l"/>
            </a:pPr>
            <a:r>
              <a:rPr lang="zh-CN" altLang="en-US" sz="1700" dirty="0">
                <a:solidFill>
                  <a:srgbClr val="FF0000"/>
                </a:solidFill>
                <a:latin typeface="+mn-ea"/>
                <a:ea typeface="+mn-ea"/>
              </a:rPr>
              <a:t>内容：</a:t>
            </a:r>
            <a:endParaRPr lang="en-US" altLang="zh-CN" sz="1700" dirty="0">
              <a:solidFill>
                <a:srgbClr val="FF0000"/>
              </a:solidFill>
              <a:latin typeface="+mn-ea"/>
              <a:ea typeface="+mn-ea"/>
            </a:endParaRPr>
          </a:p>
          <a:p>
            <a:pPr lvl="1" eaLnBrk="1" hangingPunct="1">
              <a:lnSpc>
                <a:spcPct val="155000"/>
              </a:lnSpc>
              <a:spcBef>
                <a:spcPts val="0"/>
              </a:spcBef>
              <a:buClr>
                <a:schemeClr val="accent2"/>
              </a:buClr>
              <a:buFont typeface="Wingdings" panose="05000000000000000000" pitchFamily="2" charset="2"/>
              <a:buChar char="Ø"/>
            </a:pPr>
            <a:r>
              <a:rPr lang="zh-CN" altLang="en-US" sz="1700" dirty="0">
                <a:latin typeface="+mn-ea"/>
                <a:ea typeface="+mn-ea"/>
              </a:rPr>
              <a:t>线性非时变连续系统的描述及解的分类</a:t>
            </a:r>
            <a:r>
              <a:rPr lang="en-US" altLang="zh-CN" sz="1700" dirty="0">
                <a:latin typeface="+mn-ea"/>
                <a:ea typeface="+mn-ea"/>
              </a:rPr>
              <a:t>;</a:t>
            </a:r>
          </a:p>
          <a:p>
            <a:pPr lvl="1" eaLnBrk="1" hangingPunct="1">
              <a:lnSpc>
                <a:spcPct val="155000"/>
              </a:lnSpc>
              <a:spcBef>
                <a:spcPts val="0"/>
              </a:spcBef>
              <a:buClr>
                <a:schemeClr val="accent2"/>
              </a:buClr>
              <a:buFont typeface="Wingdings" panose="05000000000000000000" pitchFamily="2" charset="2"/>
              <a:buChar char="Ø"/>
            </a:pPr>
            <a:r>
              <a:rPr lang="zh-CN" altLang="en-US" sz="1700" dirty="0">
                <a:latin typeface="+mn-ea"/>
                <a:ea typeface="+mn-ea"/>
              </a:rPr>
              <a:t>系统方程的算子表示，系统的零输入响应；</a:t>
            </a:r>
            <a:endParaRPr lang="en-US" altLang="zh-CN" sz="1700" dirty="0">
              <a:latin typeface="+mn-ea"/>
              <a:ea typeface="+mn-ea"/>
            </a:endParaRPr>
          </a:p>
          <a:p>
            <a:pPr lvl="1" eaLnBrk="1" hangingPunct="1">
              <a:lnSpc>
                <a:spcPct val="155000"/>
              </a:lnSpc>
              <a:spcBef>
                <a:spcPts val="0"/>
              </a:spcBef>
              <a:buClr>
                <a:schemeClr val="accent2"/>
              </a:buClr>
              <a:buFont typeface="Wingdings" panose="05000000000000000000" pitchFamily="2" charset="2"/>
              <a:buChar char="Ø"/>
            </a:pPr>
            <a:r>
              <a:rPr lang="zh-CN" altLang="en-US" sz="1700" dirty="0">
                <a:latin typeface="+mn-ea"/>
                <a:ea typeface="+mn-ea"/>
              </a:rPr>
              <a:t>奇异函数，信号的时域分解；叠加积分，卷积的定义及其运算规律，卷积积分的性质和计算方法；</a:t>
            </a:r>
            <a:endParaRPr lang="en-US" altLang="zh-CN" sz="1700" dirty="0">
              <a:latin typeface="+mn-ea"/>
              <a:ea typeface="+mn-ea"/>
            </a:endParaRPr>
          </a:p>
          <a:p>
            <a:pPr lvl="1" eaLnBrk="1" hangingPunct="1">
              <a:lnSpc>
                <a:spcPct val="155000"/>
              </a:lnSpc>
              <a:spcBef>
                <a:spcPts val="0"/>
              </a:spcBef>
              <a:buClr>
                <a:schemeClr val="accent2"/>
              </a:buClr>
              <a:buFont typeface="Wingdings" panose="05000000000000000000" pitchFamily="2" charset="2"/>
              <a:buChar char="Ø"/>
            </a:pPr>
            <a:r>
              <a:rPr lang="zh-CN" altLang="en-US" sz="1700" dirty="0">
                <a:latin typeface="+mn-ea"/>
                <a:ea typeface="+mn-ea"/>
              </a:rPr>
              <a:t>冲激响应和零状态响应的求解；</a:t>
            </a:r>
            <a:endParaRPr lang="en-US" altLang="zh-CN" sz="1700" dirty="0">
              <a:latin typeface="+mn-ea"/>
              <a:ea typeface="+mn-ea"/>
            </a:endParaRPr>
          </a:p>
          <a:p>
            <a:pPr lvl="1" eaLnBrk="1" hangingPunct="1">
              <a:lnSpc>
                <a:spcPct val="155000"/>
              </a:lnSpc>
              <a:spcBef>
                <a:spcPts val="0"/>
              </a:spcBef>
              <a:buClr>
                <a:schemeClr val="accent2"/>
              </a:buClr>
              <a:buFont typeface="Wingdings" panose="05000000000000000000" pitchFamily="2" charset="2"/>
              <a:buChar char="Ø"/>
            </a:pPr>
            <a:r>
              <a:rPr lang="zh-CN" altLang="en-US" sz="1700" dirty="0">
                <a:latin typeface="+mn-ea"/>
                <a:ea typeface="+mn-ea"/>
              </a:rPr>
              <a:t>连续时间系统的时域分析方法。</a:t>
            </a:r>
          </a:p>
          <a:p>
            <a:pPr eaLnBrk="1" hangingPunct="1">
              <a:lnSpc>
                <a:spcPct val="155000"/>
              </a:lnSpc>
              <a:spcBef>
                <a:spcPts val="0"/>
              </a:spcBef>
              <a:buClr>
                <a:schemeClr val="accent2"/>
              </a:buClr>
              <a:buFont typeface="Wingdings" panose="05000000000000000000" pitchFamily="2" charset="2"/>
              <a:buChar char="l"/>
            </a:pPr>
            <a:r>
              <a:rPr lang="zh-CN" altLang="en-US" sz="1700" dirty="0">
                <a:solidFill>
                  <a:schemeClr val="accent2"/>
                </a:solidFill>
                <a:latin typeface="+mn-ea"/>
                <a:ea typeface="+mn-ea"/>
              </a:rPr>
              <a:t> </a:t>
            </a:r>
            <a:r>
              <a:rPr lang="zh-CN" altLang="en-US" sz="1700" dirty="0">
                <a:solidFill>
                  <a:srgbClr val="FF0000"/>
                </a:solidFill>
                <a:latin typeface="+mn-ea"/>
                <a:ea typeface="+mn-ea"/>
              </a:rPr>
              <a:t>重点掌握：</a:t>
            </a:r>
            <a:r>
              <a:rPr lang="zh-CN" altLang="en-US" sz="2000" dirty="0">
                <a:solidFill>
                  <a:schemeClr val="hlink"/>
                </a:solidFill>
                <a:latin typeface="+mn-ea"/>
                <a:ea typeface="+mn-ea"/>
              </a:rPr>
              <a:t>卷积法</a:t>
            </a:r>
            <a:r>
              <a:rPr lang="zh-CN" altLang="en-US" sz="2000" dirty="0">
                <a:latin typeface="+mn-ea"/>
                <a:ea typeface="+mn-ea"/>
              </a:rPr>
              <a:t>及</a:t>
            </a:r>
            <a:r>
              <a:rPr lang="zh-CN" altLang="en-US" sz="2000" dirty="0">
                <a:solidFill>
                  <a:schemeClr val="hlink"/>
                </a:solidFill>
                <a:latin typeface="+mn-ea"/>
                <a:ea typeface="+mn-ea"/>
              </a:rPr>
              <a:t>连续时间系统的时域分析方法</a:t>
            </a:r>
            <a:r>
              <a:rPr lang="zh-CN" altLang="en-US" sz="2000" dirty="0">
                <a:latin typeface="+mn-ea"/>
                <a:ea typeface="+mn-ea"/>
              </a:rPr>
              <a:t>。</a:t>
            </a:r>
          </a:p>
        </p:txBody>
      </p:sp>
      <p:sp>
        <p:nvSpPr>
          <p:cNvPr id="8" name="日期占位符 7"/>
          <p:cNvSpPr>
            <a:spLocks noGrp="1"/>
          </p:cNvSpPr>
          <p:nvPr>
            <p:ph type="dt" sz="quarter" idx="10"/>
          </p:nvPr>
        </p:nvSpPr>
        <p:spPr/>
        <p:txBody>
          <a:bodyPr/>
          <a:lstStyle/>
          <a:p>
            <a:pPr>
              <a:defRPr/>
            </a:pPr>
            <a:fld id="{B1B488CF-51CA-45B2-B053-2D6C5B4969D6}" type="datetime3">
              <a:rPr lang="zh-CN" altLang="en-US">
                <a:latin typeface="+mn-ea"/>
                <a:ea typeface="+mn-ea"/>
              </a:rPr>
              <a:t>2026年3月4日星期三</a:t>
            </a:fld>
            <a:endParaRPr lang="zh-CN" altLang="en-US">
              <a:latin typeface="+mn-ea"/>
              <a:ea typeface="+mn-ea"/>
            </a:endParaRPr>
          </a:p>
        </p:txBody>
      </p:sp>
    </p:spTree>
    <p:custDataLst>
      <p:tags r:id="rId1"/>
    </p:custDataLst>
  </p:cSld>
  <p:clrMapOvr>
    <a:masterClrMapping/>
  </p:clrMapOvr>
  <p:transition advTm="441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05283">
                                            <p:txEl>
                                              <p:pRg st="0" end="0"/>
                                            </p:txEl>
                                          </p:spTgt>
                                        </p:tgtEl>
                                        <p:attrNameLst>
                                          <p:attrName>style.visibility</p:attrName>
                                        </p:attrNameLst>
                                      </p:cBhvr>
                                      <p:to>
                                        <p:strVal val="visible"/>
                                      </p:to>
                                    </p:set>
                                    <p:anim calcmode="lin" valueType="num">
                                      <p:cBhvr>
                                        <p:cTn id="7" dur="1000" fill="hold"/>
                                        <p:tgtEl>
                                          <p:spTgt spid="150528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0528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0528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505287"/>
                                        </p:tgtEl>
                                        <p:attrNameLst>
                                          <p:attrName>style.visibility</p:attrName>
                                        </p:attrNameLst>
                                      </p:cBhvr>
                                      <p:to>
                                        <p:strVal val="visible"/>
                                      </p:to>
                                    </p:set>
                                    <p:animEffect transition="in" filter="blinds(horizontal)">
                                      <p:cBhvr>
                                        <p:cTn id="14" dur="500"/>
                                        <p:tgtEl>
                                          <p:spTgt spid="1505287"/>
                                        </p:tgtEl>
                                      </p:cBhvr>
                                    </p:animEffect>
                                  </p:childTnLst>
                                </p:cTn>
                              </p:par>
                            </p:childTnLst>
                          </p:cTn>
                        </p:par>
                        <p:par>
                          <p:cTn id="15" fill="hold">
                            <p:stCondLst>
                              <p:cond delay="500"/>
                            </p:stCondLst>
                            <p:childTnLst>
                              <p:par>
                                <p:cTn id="16" presetID="55" presetClass="entr" presetSubtype="0" fill="hold" grpId="0" nodeType="afterEffect">
                                  <p:stCondLst>
                                    <p:cond delay="0"/>
                                  </p:stCondLst>
                                  <p:childTnLst>
                                    <p:set>
                                      <p:cBhvr>
                                        <p:cTn id="17" dur="1" fill="hold">
                                          <p:stCondLst>
                                            <p:cond delay="0"/>
                                          </p:stCondLst>
                                        </p:cTn>
                                        <p:tgtEl>
                                          <p:spTgt spid="1505288">
                                            <p:bg/>
                                          </p:spTgt>
                                        </p:tgtEl>
                                        <p:attrNameLst>
                                          <p:attrName>style.visibility</p:attrName>
                                        </p:attrNameLst>
                                      </p:cBhvr>
                                      <p:to>
                                        <p:strVal val="visible"/>
                                      </p:to>
                                    </p:set>
                                    <p:anim calcmode="lin" valueType="num">
                                      <p:cBhvr>
                                        <p:cTn id="18" dur="1000" fill="hold"/>
                                        <p:tgtEl>
                                          <p:spTgt spid="1505288">
                                            <p:bg/>
                                          </p:spTgt>
                                        </p:tgtEl>
                                        <p:attrNameLst>
                                          <p:attrName>ppt_w</p:attrName>
                                        </p:attrNameLst>
                                      </p:cBhvr>
                                      <p:tavLst>
                                        <p:tav tm="0">
                                          <p:val>
                                            <p:strVal val="#ppt_w*0.70"/>
                                          </p:val>
                                        </p:tav>
                                        <p:tav tm="100000">
                                          <p:val>
                                            <p:strVal val="#ppt_w"/>
                                          </p:val>
                                        </p:tav>
                                      </p:tavLst>
                                    </p:anim>
                                    <p:anim calcmode="lin" valueType="num">
                                      <p:cBhvr>
                                        <p:cTn id="19" dur="1000" fill="hold"/>
                                        <p:tgtEl>
                                          <p:spTgt spid="1505288">
                                            <p:bg/>
                                          </p:spTgt>
                                        </p:tgtEl>
                                        <p:attrNameLst>
                                          <p:attrName>ppt_h</p:attrName>
                                        </p:attrNameLst>
                                      </p:cBhvr>
                                      <p:tavLst>
                                        <p:tav tm="0">
                                          <p:val>
                                            <p:strVal val="#ppt_h"/>
                                          </p:val>
                                        </p:tav>
                                        <p:tav tm="100000">
                                          <p:val>
                                            <p:strVal val="#ppt_h"/>
                                          </p:val>
                                        </p:tav>
                                      </p:tavLst>
                                    </p:anim>
                                    <p:animEffect transition="in" filter="fade">
                                      <p:cBhvr>
                                        <p:cTn id="20" dur="1000"/>
                                        <p:tgtEl>
                                          <p:spTgt spid="1505288">
                                            <p:bg/>
                                          </p:spTgt>
                                        </p:tgtEl>
                                      </p:cBhvr>
                                    </p:animEffect>
                                  </p:childTnLst>
                                </p:cTn>
                              </p:par>
                              <p:par>
                                <p:cTn id="21" presetID="55" presetClass="entr" presetSubtype="0" fill="hold" grpId="0" nodeType="withEffect">
                                  <p:stCondLst>
                                    <p:cond delay="0"/>
                                  </p:stCondLst>
                                  <p:childTnLst>
                                    <p:set>
                                      <p:cBhvr>
                                        <p:cTn id="22" dur="1" fill="hold">
                                          <p:stCondLst>
                                            <p:cond delay="0"/>
                                          </p:stCondLst>
                                        </p:cTn>
                                        <p:tgtEl>
                                          <p:spTgt spid="1505288">
                                            <p:txEl>
                                              <p:pRg st="0" end="0"/>
                                            </p:txEl>
                                          </p:spTgt>
                                        </p:tgtEl>
                                        <p:attrNameLst>
                                          <p:attrName>style.visibility</p:attrName>
                                        </p:attrNameLst>
                                      </p:cBhvr>
                                      <p:to>
                                        <p:strVal val="visible"/>
                                      </p:to>
                                    </p:set>
                                    <p:anim calcmode="lin" valueType="num">
                                      <p:cBhvr>
                                        <p:cTn id="23" dur="1000" fill="hold"/>
                                        <p:tgtEl>
                                          <p:spTgt spid="1505288">
                                            <p:txEl>
                                              <p:pRg st="0" end="0"/>
                                            </p:txEl>
                                          </p:spTgt>
                                        </p:tgtEl>
                                        <p:attrNameLst>
                                          <p:attrName>ppt_w</p:attrName>
                                        </p:attrNameLst>
                                      </p:cBhvr>
                                      <p:tavLst>
                                        <p:tav tm="0">
                                          <p:val>
                                            <p:strVal val="#ppt_w*0.70"/>
                                          </p:val>
                                        </p:tav>
                                        <p:tav tm="100000">
                                          <p:val>
                                            <p:strVal val="#ppt_w"/>
                                          </p:val>
                                        </p:tav>
                                      </p:tavLst>
                                    </p:anim>
                                    <p:anim calcmode="lin" valueType="num">
                                      <p:cBhvr>
                                        <p:cTn id="24" dur="1000" fill="hold"/>
                                        <p:tgtEl>
                                          <p:spTgt spid="1505288">
                                            <p:txEl>
                                              <p:pRg st="0" end="0"/>
                                            </p:txEl>
                                          </p:spTgt>
                                        </p:tgtEl>
                                        <p:attrNameLst>
                                          <p:attrName>ppt_h</p:attrName>
                                        </p:attrNameLst>
                                      </p:cBhvr>
                                      <p:tavLst>
                                        <p:tav tm="0">
                                          <p:val>
                                            <p:strVal val="#ppt_h"/>
                                          </p:val>
                                        </p:tav>
                                        <p:tav tm="100000">
                                          <p:val>
                                            <p:strVal val="#ppt_h"/>
                                          </p:val>
                                        </p:tav>
                                      </p:tavLst>
                                    </p:anim>
                                    <p:animEffect transition="in" filter="fade">
                                      <p:cBhvr>
                                        <p:cTn id="25" dur="1000"/>
                                        <p:tgtEl>
                                          <p:spTgt spid="1505288">
                                            <p:txEl>
                                              <p:pRg st="0" end="0"/>
                                            </p:txEl>
                                          </p:spTgt>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1505288">
                                            <p:txEl>
                                              <p:pRg st="1" end="1"/>
                                            </p:txEl>
                                          </p:spTgt>
                                        </p:tgtEl>
                                        <p:attrNameLst>
                                          <p:attrName>style.visibility</p:attrName>
                                        </p:attrNameLst>
                                      </p:cBhvr>
                                      <p:to>
                                        <p:strVal val="visible"/>
                                      </p:to>
                                    </p:set>
                                    <p:anim calcmode="lin" valueType="num">
                                      <p:cBhvr>
                                        <p:cTn id="28" dur="1000" fill="hold"/>
                                        <p:tgtEl>
                                          <p:spTgt spid="1505288">
                                            <p:txEl>
                                              <p:pRg st="1" end="1"/>
                                            </p:txEl>
                                          </p:spTgt>
                                        </p:tgtEl>
                                        <p:attrNameLst>
                                          <p:attrName>ppt_w</p:attrName>
                                        </p:attrNameLst>
                                      </p:cBhvr>
                                      <p:tavLst>
                                        <p:tav tm="0">
                                          <p:val>
                                            <p:strVal val="#ppt_w*0.70"/>
                                          </p:val>
                                        </p:tav>
                                        <p:tav tm="100000">
                                          <p:val>
                                            <p:strVal val="#ppt_w"/>
                                          </p:val>
                                        </p:tav>
                                      </p:tavLst>
                                    </p:anim>
                                    <p:anim calcmode="lin" valueType="num">
                                      <p:cBhvr>
                                        <p:cTn id="29" dur="1000" fill="hold"/>
                                        <p:tgtEl>
                                          <p:spTgt spid="1505288">
                                            <p:txEl>
                                              <p:pRg st="1" end="1"/>
                                            </p:txEl>
                                          </p:spTgt>
                                        </p:tgtEl>
                                        <p:attrNameLst>
                                          <p:attrName>ppt_h</p:attrName>
                                        </p:attrNameLst>
                                      </p:cBhvr>
                                      <p:tavLst>
                                        <p:tav tm="0">
                                          <p:val>
                                            <p:strVal val="#ppt_h"/>
                                          </p:val>
                                        </p:tav>
                                        <p:tav tm="100000">
                                          <p:val>
                                            <p:strVal val="#ppt_h"/>
                                          </p:val>
                                        </p:tav>
                                      </p:tavLst>
                                    </p:anim>
                                    <p:animEffect transition="in" filter="fade">
                                      <p:cBhvr>
                                        <p:cTn id="30" dur="1000"/>
                                        <p:tgtEl>
                                          <p:spTgt spid="1505288">
                                            <p:txEl>
                                              <p:pRg st="1" end="1"/>
                                            </p:txEl>
                                          </p:spTgt>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1505288">
                                            <p:txEl>
                                              <p:pRg st="2" end="2"/>
                                            </p:txEl>
                                          </p:spTgt>
                                        </p:tgtEl>
                                        <p:attrNameLst>
                                          <p:attrName>style.visibility</p:attrName>
                                        </p:attrNameLst>
                                      </p:cBhvr>
                                      <p:to>
                                        <p:strVal val="visible"/>
                                      </p:to>
                                    </p:set>
                                    <p:anim calcmode="lin" valueType="num">
                                      <p:cBhvr>
                                        <p:cTn id="33" dur="1000" fill="hold"/>
                                        <p:tgtEl>
                                          <p:spTgt spid="1505288">
                                            <p:txEl>
                                              <p:pRg st="2" end="2"/>
                                            </p:txEl>
                                          </p:spTgt>
                                        </p:tgtEl>
                                        <p:attrNameLst>
                                          <p:attrName>ppt_w</p:attrName>
                                        </p:attrNameLst>
                                      </p:cBhvr>
                                      <p:tavLst>
                                        <p:tav tm="0">
                                          <p:val>
                                            <p:strVal val="#ppt_w*0.70"/>
                                          </p:val>
                                        </p:tav>
                                        <p:tav tm="100000">
                                          <p:val>
                                            <p:strVal val="#ppt_w"/>
                                          </p:val>
                                        </p:tav>
                                      </p:tavLst>
                                    </p:anim>
                                    <p:anim calcmode="lin" valueType="num">
                                      <p:cBhvr>
                                        <p:cTn id="34" dur="1000" fill="hold"/>
                                        <p:tgtEl>
                                          <p:spTgt spid="1505288">
                                            <p:txEl>
                                              <p:pRg st="2" end="2"/>
                                            </p:txEl>
                                          </p:spTgt>
                                        </p:tgtEl>
                                        <p:attrNameLst>
                                          <p:attrName>ppt_h</p:attrName>
                                        </p:attrNameLst>
                                      </p:cBhvr>
                                      <p:tavLst>
                                        <p:tav tm="0">
                                          <p:val>
                                            <p:strVal val="#ppt_h"/>
                                          </p:val>
                                        </p:tav>
                                        <p:tav tm="100000">
                                          <p:val>
                                            <p:strVal val="#ppt_h"/>
                                          </p:val>
                                        </p:tav>
                                      </p:tavLst>
                                    </p:anim>
                                    <p:animEffect transition="in" filter="fade">
                                      <p:cBhvr>
                                        <p:cTn id="35" dur="1000"/>
                                        <p:tgtEl>
                                          <p:spTgt spid="1505288">
                                            <p:txEl>
                                              <p:pRg st="2" end="2"/>
                                            </p:txEl>
                                          </p:spTgt>
                                        </p:tgtEl>
                                      </p:cBhvr>
                                    </p:animEffect>
                                  </p:childTnLst>
                                </p:cTn>
                              </p:par>
                              <p:par>
                                <p:cTn id="36" presetID="55" presetClass="entr" presetSubtype="0" fill="hold" grpId="0" nodeType="withEffect">
                                  <p:stCondLst>
                                    <p:cond delay="0"/>
                                  </p:stCondLst>
                                  <p:childTnLst>
                                    <p:set>
                                      <p:cBhvr>
                                        <p:cTn id="37" dur="1" fill="hold">
                                          <p:stCondLst>
                                            <p:cond delay="0"/>
                                          </p:stCondLst>
                                        </p:cTn>
                                        <p:tgtEl>
                                          <p:spTgt spid="1505288">
                                            <p:txEl>
                                              <p:pRg st="3" end="3"/>
                                            </p:txEl>
                                          </p:spTgt>
                                        </p:tgtEl>
                                        <p:attrNameLst>
                                          <p:attrName>style.visibility</p:attrName>
                                        </p:attrNameLst>
                                      </p:cBhvr>
                                      <p:to>
                                        <p:strVal val="visible"/>
                                      </p:to>
                                    </p:set>
                                    <p:anim calcmode="lin" valueType="num">
                                      <p:cBhvr>
                                        <p:cTn id="38" dur="1000" fill="hold"/>
                                        <p:tgtEl>
                                          <p:spTgt spid="1505288">
                                            <p:txEl>
                                              <p:pRg st="3" end="3"/>
                                            </p:txEl>
                                          </p:spTgt>
                                        </p:tgtEl>
                                        <p:attrNameLst>
                                          <p:attrName>ppt_w</p:attrName>
                                        </p:attrNameLst>
                                      </p:cBhvr>
                                      <p:tavLst>
                                        <p:tav tm="0">
                                          <p:val>
                                            <p:strVal val="#ppt_w*0.70"/>
                                          </p:val>
                                        </p:tav>
                                        <p:tav tm="100000">
                                          <p:val>
                                            <p:strVal val="#ppt_w"/>
                                          </p:val>
                                        </p:tav>
                                      </p:tavLst>
                                    </p:anim>
                                    <p:anim calcmode="lin" valueType="num">
                                      <p:cBhvr>
                                        <p:cTn id="39" dur="1000" fill="hold"/>
                                        <p:tgtEl>
                                          <p:spTgt spid="1505288">
                                            <p:txEl>
                                              <p:pRg st="3" end="3"/>
                                            </p:txEl>
                                          </p:spTgt>
                                        </p:tgtEl>
                                        <p:attrNameLst>
                                          <p:attrName>ppt_h</p:attrName>
                                        </p:attrNameLst>
                                      </p:cBhvr>
                                      <p:tavLst>
                                        <p:tav tm="0">
                                          <p:val>
                                            <p:strVal val="#ppt_h"/>
                                          </p:val>
                                        </p:tav>
                                        <p:tav tm="100000">
                                          <p:val>
                                            <p:strVal val="#ppt_h"/>
                                          </p:val>
                                        </p:tav>
                                      </p:tavLst>
                                    </p:anim>
                                    <p:animEffect transition="in" filter="fade">
                                      <p:cBhvr>
                                        <p:cTn id="40" dur="1000"/>
                                        <p:tgtEl>
                                          <p:spTgt spid="1505288">
                                            <p:txEl>
                                              <p:pRg st="3" end="3"/>
                                            </p:txEl>
                                          </p:spTgt>
                                        </p:tgtEl>
                                      </p:cBhvr>
                                    </p:animEffect>
                                  </p:childTnLst>
                                </p:cTn>
                              </p:par>
                              <p:par>
                                <p:cTn id="41" presetID="55" presetClass="entr" presetSubtype="0" fill="hold" grpId="0" nodeType="withEffect">
                                  <p:stCondLst>
                                    <p:cond delay="0"/>
                                  </p:stCondLst>
                                  <p:childTnLst>
                                    <p:set>
                                      <p:cBhvr>
                                        <p:cTn id="42" dur="1" fill="hold">
                                          <p:stCondLst>
                                            <p:cond delay="0"/>
                                          </p:stCondLst>
                                        </p:cTn>
                                        <p:tgtEl>
                                          <p:spTgt spid="1505288">
                                            <p:txEl>
                                              <p:pRg st="4" end="4"/>
                                            </p:txEl>
                                          </p:spTgt>
                                        </p:tgtEl>
                                        <p:attrNameLst>
                                          <p:attrName>style.visibility</p:attrName>
                                        </p:attrNameLst>
                                      </p:cBhvr>
                                      <p:to>
                                        <p:strVal val="visible"/>
                                      </p:to>
                                    </p:set>
                                    <p:anim calcmode="lin" valueType="num">
                                      <p:cBhvr>
                                        <p:cTn id="43" dur="1000" fill="hold"/>
                                        <p:tgtEl>
                                          <p:spTgt spid="1505288">
                                            <p:txEl>
                                              <p:pRg st="4" end="4"/>
                                            </p:txEl>
                                          </p:spTgt>
                                        </p:tgtEl>
                                        <p:attrNameLst>
                                          <p:attrName>ppt_w</p:attrName>
                                        </p:attrNameLst>
                                      </p:cBhvr>
                                      <p:tavLst>
                                        <p:tav tm="0">
                                          <p:val>
                                            <p:strVal val="#ppt_w*0.70"/>
                                          </p:val>
                                        </p:tav>
                                        <p:tav tm="100000">
                                          <p:val>
                                            <p:strVal val="#ppt_w"/>
                                          </p:val>
                                        </p:tav>
                                      </p:tavLst>
                                    </p:anim>
                                    <p:anim calcmode="lin" valueType="num">
                                      <p:cBhvr>
                                        <p:cTn id="44" dur="1000" fill="hold"/>
                                        <p:tgtEl>
                                          <p:spTgt spid="1505288">
                                            <p:txEl>
                                              <p:pRg st="4" end="4"/>
                                            </p:txEl>
                                          </p:spTgt>
                                        </p:tgtEl>
                                        <p:attrNameLst>
                                          <p:attrName>ppt_h</p:attrName>
                                        </p:attrNameLst>
                                      </p:cBhvr>
                                      <p:tavLst>
                                        <p:tav tm="0">
                                          <p:val>
                                            <p:strVal val="#ppt_h"/>
                                          </p:val>
                                        </p:tav>
                                        <p:tav tm="100000">
                                          <p:val>
                                            <p:strVal val="#ppt_h"/>
                                          </p:val>
                                        </p:tav>
                                      </p:tavLst>
                                    </p:anim>
                                    <p:animEffect transition="in" filter="fade">
                                      <p:cBhvr>
                                        <p:cTn id="45" dur="1000"/>
                                        <p:tgtEl>
                                          <p:spTgt spid="1505288">
                                            <p:txEl>
                                              <p:pRg st="4" end="4"/>
                                            </p:txEl>
                                          </p:spTgt>
                                        </p:tgtEl>
                                      </p:cBhvr>
                                    </p:animEffect>
                                  </p:childTnLst>
                                </p:cTn>
                              </p:par>
                              <p:par>
                                <p:cTn id="46" presetID="55" presetClass="entr" presetSubtype="0" fill="hold" grpId="0" nodeType="withEffect">
                                  <p:stCondLst>
                                    <p:cond delay="0"/>
                                  </p:stCondLst>
                                  <p:childTnLst>
                                    <p:set>
                                      <p:cBhvr>
                                        <p:cTn id="47" dur="1" fill="hold">
                                          <p:stCondLst>
                                            <p:cond delay="0"/>
                                          </p:stCondLst>
                                        </p:cTn>
                                        <p:tgtEl>
                                          <p:spTgt spid="1505288">
                                            <p:txEl>
                                              <p:pRg st="5" end="5"/>
                                            </p:txEl>
                                          </p:spTgt>
                                        </p:tgtEl>
                                        <p:attrNameLst>
                                          <p:attrName>style.visibility</p:attrName>
                                        </p:attrNameLst>
                                      </p:cBhvr>
                                      <p:to>
                                        <p:strVal val="visible"/>
                                      </p:to>
                                    </p:set>
                                    <p:anim calcmode="lin" valueType="num">
                                      <p:cBhvr>
                                        <p:cTn id="48" dur="1000" fill="hold"/>
                                        <p:tgtEl>
                                          <p:spTgt spid="1505288">
                                            <p:txEl>
                                              <p:pRg st="5" end="5"/>
                                            </p:txEl>
                                          </p:spTgt>
                                        </p:tgtEl>
                                        <p:attrNameLst>
                                          <p:attrName>ppt_w</p:attrName>
                                        </p:attrNameLst>
                                      </p:cBhvr>
                                      <p:tavLst>
                                        <p:tav tm="0">
                                          <p:val>
                                            <p:strVal val="#ppt_w*0.70"/>
                                          </p:val>
                                        </p:tav>
                                        <p:tav tm="100000">
                                          <p:val>
                                            <p:strVal val="#ppt_w"/>
                                          </p:val>
                                        </p:tav>
                                      </p:tavLst>
                                    </p:anim>
                                    <p:anim calcmode="lin" valueType="num">
                                      <p:cBhvr>
                                        <p:cTn id="49" dur="1000" fill="hold"/>
                                        <p:tgtEl>
                                          <p:spTgt spid="1505288">
                                            <p:txEl>
                                              <p:pRg st="5" end="5"/>
                                            </p:txEl>
                                          </p:spTgt>
                                        </p:tgtEl>
                                        <p:attrNameLst>
                                          <p:attrName>ppt_h</p:attrName>
                                        </p:attrNameLst>
                                      </p:cBhvr>
                                      <p:tavLst>
                                        <p:tav tm="0">
                                          <p:val>
                                            <p:strVal val="#ppt_h"/>
                                          </p:val>
                                        </p:tav>
                                        <p:tav tm="100000">
                                          <p:val>
                                            <p:strVal val="#ppt_h"/>
                                          </p:val>
                                        </p:tav>
                                      </p:tavLst>
                                    </p:anim>
                                    <p:animEffect transition="in" filter="fade">
                                      <p:cBhvr>
                                        <p:cTn id="50" dur="1000"/>
                                        <p:tgtEl>
                                          <p:spTgt spid="1505288">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45" presetClass="entr" presetSubtype="0" fill="hold" nodeType="clickEffect">
                                  <p:stCondLst>
                                    <p:cond delay="0"/>
                                  </p:stCondLst>
                                  <p:childTnLst>
                                    <p:set>
                                      <p:cBhvr>
                                        <p:cTn id="54" dur="1" fill="hold">
                                          <p:stCondLst>
                                            <p:cond delay="0"/>
                                          </p:stCondLst>
                                        </p:cTn>
                                        <p:tgtEl>
                                          <p:spTgt spid="1505288">
                                            <p:txEl>
                                              <p:pRg st="6" end="6"/>
                                            </p:txEl>
                                          </p:spTgt>
                                        </p:tgtEl>
                                        <p:attrNameLst>
                                          <p:attrName>style.visibility</p:attrName>
                                        </p:attrNameLst>
                                      </p:cBhvr>
                                      <p:to>
                                        <p:strVal val="visible"/>
                                      </p:to>
                                    </p:set>
                                    <p:animEffect transition="in" filter="fade">
                                      <p:cBhvr>
                                        <p:cTn id="55" dur="750"/>
                                        <p:tgtEl>
                                          <p:spTgt spid="1505288">
                                            <p:txEl>
                                              <p:pRg st="6" end="6"/>
                                            </p:txEl>
                                          </p:spTgt>
                                        </p:tgtEl>
                                      </p:cBhvr>
                                    </p:animEffect>
                                    <p:anim calcmode="lin" valueType="num">
                                      <p:cBhvr>
                                        <p:cTn id="56" dur="750" fill="hold"/>
                                        <p:tgtEl>
                                          <p:spTgt spid="1505288">
                                            <p:txEl>
                                              <p:pRg st="6" end="6"/>
                                            </p:txEl>
                                          </p:spTgt>
                                        </p:tgtEl>
                                        <p:attrNameLst>
                                          <p:attrName>ppt_w</p:attrName>
                                        </p:attrNameLst>
                                      </p:cBhvr>
                                      <p:tavLst>
                                        <p:tav tm="0" fmla="#ppt_w*sin(2.5*pi*$)">
                                          <p:val>
                                            <p:fltVal val="0"/>
                                          </p:val>
                                        </p:tav>
                                        <p:tav tm="100000">
                                          <p:val>
                                            <p:fltVal val="1"/>
                                          </p:val>
                                        </p:tav>
                                      </p:tavLst>
                                    </p:anim>
                                    <p:anim calcmode="lin" valueType="num">
                                      <p:cBhvr>
                                        <p:cTn id="57" dur="750" fill="hold"/>
                                        <p:tgtEl>
                                          <p:spTgt spid="1505288">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283" grpId="0" build="p"/>
      <p:bldP spid="1505287" grpId="0" bldLvl="0" animBg="1"/>
      <p:bldP spid="1505288" grpId="0" uiExpand="1" build="allAtOnce"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3"/>
          <p:cNvSpPr txBox="1">
            <a:spLocks noChangeArrowheads="1"/>
          </p:cNvSpPr>
          <p:nvPr/>
        </p:nvSpPr>
        <p:spPr bwMode="auto">
          <a:xfrm>
            <a:off x="0" y="0"/>
            <a:ext cx="9144000" cy="458788"/>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a:solidFill>
                  <a:schemeClr val="bg1"/>
                </a:solidFill>
                <a:latin typeface="+mn-ea"/>
                <a:ea typeface="+mn-ea"/>
              </a:rPr>
              <a:t>信号与系统                                章节安排</a:t>
            </a:r>
          </a:p>
        </p:txBody>
      </p:sp>
      <p:sp>
        <p:nvSpPr>
          <p:cNvPr id="46083" name="Rectangle 4"/>
          <p:cNvSpPr>
            <a:spLocks noChangeArrowheads="1"/>
          </p:cNvSpPr>
          <p:nvPr/>
        </p:nvSpPr>
        <p:spPr bwMode="auto">
          <a:xfrm>
            <a:off x="0" y="514499"/>
            <a:ext cx="3506788" cy="414337"/>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dirty="0">
                <a:solidFill>
                  <a:srgbClr val="FF0000"/>
                </a:solidFill>
                <a:latin typeface="+mn-ea"/>
                <a:ea typeface="+mn-ea"/>
              </a:rPr>
              <a:t>第三章 连续信号的正交分解</a:t>
            </a:r>
          </a:p>
        </p:txBody>
      </p:sp>
      <p:sp>
        <p:nvSpPr>
          <p:cNvPr id="1514501" name="Rectangle 5"/>
          <p:cNvSpPr>
            <a:spLocks noChangeArrowheads="1"/>
          </p:cNvSpPr>
          <p:nvPr/>
        </p:nvSpPr>
        <p:spPr bwMode="auto">
          <a:xfrm>
            <a:off x="117543" y="3221831"/>
            <a:ext cx="4295775" cy="414337"/>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dirty="0">
                <a:solidFill>
                  <a:srgbClr val="FF0000"/>
                </a:solidFill>
                <a:latin typeface="+mn-ea"/>
                <a:ea typeface="+mn-ea"/>
              </a:rPr>
              <a:t>第五章 连续时间系统的复频域分析</a:t>
            </a:r>
          </a:p>
        </p:txBody>
      </p:sp>
      <p:sp>
        <p:nvSpPr>
          <p:cNvPr id="1514502" name="Rectangle 6"/>
          <p:cNvSpPr>
            <a:spLocks noChangeArrowheads="1"/>
          </p:cNvSpPr>
          <p:nvPr/>
        </p:nvSpPr>
        <p:spPr bwMode="auto">
          <a:xfrm>
            <a:off x="228160" y="3682524"/>
            <a:ext cx="8370317" cy="3020945"/>
          </a:xfrm>
          <a:prstGeom prst="rect">
            <a:avLst/>
          </a:prstGeom>
          <a:solidFill>
            <a:schemeClr val="bg1"/>
          </a:solidFill>
          <a:ln w="57150">
            <a:solidFill>
              <a:schemeClr val="tx1"/>
            </a:solidFill>
            <a:miter lim="800000"/>
          </a:ln>
          <a:effectLst>
            <a:prstShdw prst="shdw12">
              <a:srgbClr val="808080">
                <a:alpha val="50000"/>
              </a:srgbClr>
            </a:prstShdw>
          </a:effec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35000"/>
              </a:lnSpc>
              <a:spcBef>
                <a:spcPts val="0"/>
              </a:spcBef>
              <a:buClr>
                <a:srgbClr val="FF0000"/>
              </a:buClr>
              <a:buFont typeface="Wingdings" panose="05000000000000000000" pitchFamily="2" charset="2"/>
              <a:buChar char="l"/>
            </a:pPr>
            <a:r>
              <a:rPr lang="zh-CN" altLang="en-US" sz="1700" dirty="0">
                <a:solidFill>
                  <a:srgbClr val="FF0000"/>
                </a:solidFill>
                <a:latin typeface="+mn-ea"/>
                <a:ea typeface="+mn-ea"/>
              </a:rPr>
              <a:t>内容：</a:t>
            </a:r>
            <a:endParaRPr lang="en-US" altLang="zh-CN" sz="1700" dirty="0">
              <a:solidFill>
                <a:srgbClr val="FF0000"/>
              </a:solidFill>
              <a:latin typeface="+mn-ea"/>
              <a:ea typeface="+mn-ea"/>
            </a:endParaRPr>
          </a:p>
          <a:p>
            <a:pPr lvl="1" eaLnBrk="1" hangingPunct="1">
              <a:lnSpc>
                <a:spcPct val="135000"/>
              </a:lnSpc>
              <a:spcBef>
                <a:spcPts val="0"/>
              </a:spcBef>
              <a:buClr>
                <a:srgbClr val="FF0000"/>
              </a:buClr>
              <a:buFont typeface="Wingdings" panose="05000000000000000000" pitchFamily="2" charset="2"/>
              <a:buChar char="Ø"/>
            </a:pPr>
            <a:r>
              <a:rPr lang="zh-CN" altLang="en-US" sz="1800" dirty="0">
                <a:latin typeface="+mn-ea"/>
                <a:ea typeface="+mn-ea"/>
              </a:rPr>
              <a:t>拉普拉斯变换与反变换及物理解释，拉普拉斯变换的收敛区；</a:t>
            </a:r>
            <a:endParaRPr lang="en-US" altLang="zh-CN" sz="1800" dirty="0">
              <a:latin typeface="+mn-ea"/>
              <a:ea typeface="+mn-ea"/>
            </a:endParaRPr>
          </a:p>
          <a:p>
            <a:pPr lvl="1" eaLnBrk="1" hangingPunct="1">
              <a:lnSpc>
                <a:spcPct val="135000"/>
              </a:lnSpc>
              <a:spcBef>
                <a:spcPts val="0"/>
              </a:spcBef>
              <a:buClr>
                <a:srgbClr val="FF0000"/>
              </a:buClr>
              <a:buFont typeface="Wingdings" panose="05000000000000000000" pitchFamily="2" charset="2"/>
              <a:buChar char="Ø"/>
            </a:pPr>
            <a:r>
              <a:rPr lang="zh-CN" altLang="en-US" sz="1800" dirty="0">
                <a:latin typeface="+mn-ea"/>
                <a:ea typeface="+mn-ea"/>
              </a:rPr>
              <a:t>常用函数的拉普拉斯变换；拉普拉斯反变换；</a:t>
            </a:r>
            <a:endParaRPr lang="en-US" altLang="zh-CN" sz="1800" dirty="0">
              <a:latin typeface="+mn-ea"/>
              <a:ea typeface="+mn-ea"/>
            </a:endParaRPr>
          </a:p>
          <a:p>
            <a:pPr lvl="1" eaLnBrk="1" hangingPunct="1">
              <a:lnSpc>
                <a:spcPct val="135000"/>
              </a:lnSpc>
              <a:spcBef>
                <a:spcPts val="0"/>
              </a:spcBef>
              <a:buClr>
                <a:srgbClr val="FF0000"/>
              </a:buClr>
              <a:buFont typeface="Wingdings" panose="05000000000000000000" pitchFamily="2" charset="2"/>
              <a:buChar char="Ø"/>
            </a:pPr>
            <a:r>
              <a:rPr lang="zh-CN" altLang="en-US" sz="1800" dirty="0">
                <a:latin typeface="+mn-ea"/>
                <a:ea typeface="+mn-ea"/>
              </a:rPr>
              <a:t>拉普拉斯变换的基本性质</a:t>
            </a:r>
            <a:r>
              <a:rPr lang="en-US" altLang="zh-CN" sz="1800" dirty="0">
                <a:latin typeface="+mn-ea"/>
                <a:ea typeface="+mn-ea"/>
              </a:rPr>
              <a:t>;</a:t>
            </a:r>
          </a:p>
          <a:p>
            <a:pPr lvl="1" eaLnBrk="1" hangingPunct="1">
              <a:lnSpc>
                <a:spcPct val="135000"/>
              </a:lnSpc>
              <a:spcBef>
                <a:spcPts val="0"/>
              </a:spcBef>
              <a:buClr>
                <a:srgbClr val="FF0000"/>
              </a:buClr>
              <a:buFont typeface="Wingdings" panose="05000000000000000000" pitchFamily="2" charset="2"/>
              <a:buChar char="Ø"/>
            </a:pPr>
            <a:r>
              <a:rPr lang="zh-CN" altLang="en-US" sz="1800" dirty="0">
                <a:latin typeface="+mn-ea"/>
                <a:ea typeface="+mn-ea"/>
              </a:rPr>
              <a:t>线性系统的模拟；</a:t>
            </a:r>
            <a:endParaRPr lang="en-US" altLang="zh-CN" sz="1800" dirty="0">
              <a:latin typeface="+mn-ea"/>
              <a:ea typeface="+mn-ea"/>
            </a:endParaRPr>
          </a:p>
          <a:p>
            <a:pPr lvl="1" eaLnBrk="1" hangingPunct="1">
              <a:lnSpc>
                <a:spcPct val="135000"/>
              </a:lnSpc>
              <a:spcBef>
                <a:spcPts val="0"/>
              </a:spcBef>
              <a:buClr>
                <a:srgbClr val="FF0000"/>
              </a:buClr>
              <a:buFont typeface="Wingdings" panose="05000000000000000000" pitchFamily="2" charset="2"/>
              <a:buChar char="Ø"/>
            </a:pPr>
            <a:r>
              <a:rPr lang="zh-CN" altLang="en-US" sz="1800" dirty="0">
                <a:latin typeface="+mn-ea"/>
                <a:ea typeface="+mn-ea"/>
              </a:rPr>
              <a:t>连续时间系统的拉普拉斯变换分析法。</a:t>
            </a:r>
          </a:p>
          <a:p>
            <a:pPr eaLnBrk="1" hangingPunct="1">
              <a:lnSpc>
                <a:spcPct val="135000"/>
              </a:lnSpc>
              <a:spcBef>
                <a:spcPts val="0"/>
              </a:spcBef>
              <a:buClr>
                <a:srgbClr val="FF0000"/>
              </a:buClr>
              <a:buFont typeface="Wingdings" panose="05000000000000000000" pitchFamily="2" charset="2"/>
              <a:buChar char="l"/>
            </a:pPr>
            <a:r>
              <a:rPr lang="zh-CN" altLang="en-US" sz="1700" dirty="0">
                <a:latin typeface="+mn-ea"/>
                <a:ea typeface="+mn-ea"/>
              </a:rPr>
              <a:t> </a:t>
            </a:r>
            <a:r>
              <a:rPr lang="zh-CN" altLang="en-US" sz="1700" dirty="0">
                <a:solidFill>
                  <a:srgbClr val="FF0000"/>
                </a:solidFill>
                <a:latin typeface="+mn-ea"/>
                <a:ea typeface="+mn-ea"/>
              </a:rPr>
              <a:t>重点掌握：</a:t>
            </a:r>
            <a:r>
              <a:rPr lang="zh-CN" altLang="en-US" sz="2000" dirty="0">
                <a:solidFill>
                  <a:schemeClr val="hlink"/>
                </a:solidFill>
                <a:latin typeface="+mn-ea"/>
                <a:ea typeface="+mn-ea"/>
              </a:rPr>
              <a:t>连续时间系统的复频域分析法，理解系统的一个重要概念</a:t>
            </a:r>
            <a:r>
              <a:rPr lang="en-US" altLang="zh-CN" sz="2000" dirty="0">
                <a:solidFill>
                  <a:schemeClr val="hlink"/>
                </a:solidFill>
                <a:latin typeface="+mn-ea"/>
                <a:ea typeface="+mn-ea"/>
              </a:rPr>
              <a:t>—</a:t>
            </a:r>
            <a:r>
              <a:rPr lang="zh-CN" altLang="en-US" sz="2000" dirty="0">
                <a:solidFill>
                  <a:schemeClr val="hlink"/>
                </a:solidFill>
                <a:latin typeface="+mn-ea"/>
                <a:ea typeface="+mn-ea"/>
              </a:rPr>
              <a:t>系统函数。</a:t>
            </a:r>
          </a:p>
        </p:txBody>
      </p:sp>
      <p:sp>
        <p:nvSpPr>
          <p:cNvPr id="1514504" name="Rectangle 8"/>
          <p:cNvSpPr>
            <a:spLocks noGrp="1" noChangeArrowheads="1"/>
          </p:cNvSpPr>
          <p:nvPr>
            <p:ph type="body" idx="1"/>
          </p:nvPr>
        </p:nvSpPr>
        <p:spPr>
          <a:xfrm>
            <a:off x="228160" y="1032480"/>
            <a:ext cx="8272810" cy="2125663"/>
          </a:xfrm>
          <a:solidFill>
            <a:schemeClr val="bg1"/>
          </a:solidFill>
          <a:ln w="57150">
            <a:solidFill>
              <a:schemeClr val="tx1"/>
            </a:solidFill>
            <a:miter lim="800000"/>
          </a:ln>
          <a:effectLst>
            <a:outerShdw dist="35921" dir="2700000" algn="ctr" rotWithShape="0">
              <a:srgbClr val="808080"/>
            </a:outerShdw>
          </a:effectLst>
        </p:spPr>
        <p:txBody>
          <a:bodyPr/>
          <a:lstStyle/>
          <a:p>
            <a:pPr>
              <a:lnSpc>
                <a:spcPct val="135000"/>
              </a:lnSpc>
              <a:spcBef>
                <a:spcPts val="0"/>
              </a:spcBef>
              <a:buFont typeface="Wingdings" panose="05000000000000000000" pitchFamily="2" charset="2"/>
              <a:buChar char="l"/>
            </a:pPr>
            <a:r>
              <a:rPr lang="zh-CN" altLang="en-US" sz="1600" b="1" dirty="0">
                <a:solidFill>
                  <a:srgbClr val="FF0000"/>
                </a:solidFill>
                <a:latin typeface="+mn-ea"/>
              </a:rPr>
              <a:t>内容：</a:t>
            </a:r>
            <a:endParaRPr lang="en-US" altLang="zh-CN" sz="1600" b="1" dirty="0">
              <a:solidFill>
                <a:srgbClr val="FF0000"/>
              </a:solidFill>
              <a:latin typeface="+mn-ea"/>
            </a:endParaRPr>
          </a:p>
          <a:p>
            <a:pPr lvl="1">
              <a:lnSpc>
                <a:spcPct val="135000"/>
              </a:lnSpc>
              <a:spcBef>
                <a:spcPts val="0"/>
              </a:spcBef>
            </a:pPr>
            <a:r>
              <a:rPr lang="zh-CN" altLang="en-US" sz="1600" b="1" dirty="0">
                <a:latin typeface="+mn-ea"/>
              </a:rPr>
              <a:t>信号的分量与分解、正交函数集的概念，信号的傅立叶级数分解；周期信号的频谱分析；</a:t>
            </a:r>
            <a:endParaRPr lang="en-US" altLang="zh-CN" sz="1600" b="1" dirty="0">
              <a:latin typeface="+mn-ea"/>
            </a:endParaRPr>
          </a:p>
          <a:p>
            <a:pPr lvl="1">
              <a:lnSpc>
                <a:spcPct val="135000"/>
              </a:lnSpc>
              <a:spcBef>
                <a:spcPts val="0"/>
              </a:spcBef>
            </a:pPr>
            <a:r>
              <a:rPr lang="zh-CN" altLang="en-US" sz="1600" b="1" dirty="0">
                <a:latin typeface="+mn-ea"/>
              </a:rPr>
              <a:t>非周期信号的频谱分析，常用典型信号的傅立叶变换，掌握傅立叶变换的技巧；</a:t>
            </a:r>
            <a:endParaRPr lang="en-US" altLang="zh-CN" sz="1600" b="1" dirty="0">
              <a:latin typeface="+mn-ea"/>
            </a:endParaRPr>
          </a:p>
          <a:p>
            <a:pPr lvl="1">
              <a:lnSpc>
                <a:spcPct val="135000"/>
              </a:lnSpc>
              <a:spcBef>
                <a:spcPts val="0"/>
              </a:spcBef>
            </a:pPr>
            <a:r>
              <a:rPr lang="zh-CN" altLang="en-US" sz="1600" b="1" dirty="0">
                <a:latin typeface="+mn-ea"/>
              </a:rPr>
              <a:t>傅立叶变换的性质，能量频谱。</a:t>
            </a:r>
          </a:p>
          <a:p>
            <a:pPr>
              <a:lnSpc>
                <a:spcPct val="135000"/>
              </a:lnSpc>
              <a:spcBef>
                <a:spcPts val="0"/>
              </a:spcBef>
              <a:buFont typeface="Wingdings" panose="05000000000000000000" pitchFamily="2" charset="2"/>
              <a:buChar char="l"/>
            </a:pPr>
            <a:r>
              <a:rPr lang="zh-CN" altLang="en-US" sz="1600" b="1" dirty="0">
                <a:latin typeface="+mn-ea"/>
              </a:rPr>
              <a:t> </a:t>
            </a:r>
            <a:r>
              <a:rPr lang="zh-CN" altLang="en-US" sz="1600" b="1" dirty="0">
                <a:solidFill>
                  <a:srgbClr val="FF0000"/>
                </a:solidFill>
                <a:latin typeface="+mn-ea"/>
              </a:rPr>
              <a:t>重点掌握：</a:t>
            </a:r>
            <a:r>
              <a:rPr lang="zh-CN" altLang="en-US" sz="2000" b="1" dirty="0">
                <a:solidFill>
                  <a:schemeClr val="hlink"/>
                </a:solidFill>
                <a:latin typeface="+mn-ea"/>
              </a:rPr>
              <a:t>周期信号的频谱分析和傅立叶变换，了解信号的正交特性</a:t>
            </a:r>
          </a:p>
        </p:txBody>
      </p:sp>
    </p:spTree>
    <p:custDataLst>
      <p:tags r:id="rId1"/>
    </p:custDataLst>
  </p:cSld>
  <p:clrMapOvr>
    <a:masterClrMapping/>
  </p:clrMapOvr>
  <p:transition advTm="7839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14504">
                                            <p:bg/>
                                          </p:spTgt>
                                        </p:tgtEl>
                                        <p:attrNameLst>
                                          <p:attrName>style.visibility</p:attrName>
                                        </p:attrNameLst>
                                      </p:cBhvr>
                                      <p:to>
                                        <p:strVal val="visible"/>
                                      </p:to>
                                    </p:set>
                                    <p:anim calcmode="lin" valueType="num">
                                      <p:cBhvr>
                                        <p:cTn id="7" dur="1000" fill="hold"/>
                                        <p:tgtEl>
                                          <p:spTgt spid="1514504">
                                            <p:bg/>
                                          </p:spTgt>
                                        </p:tgtEl>
                                        <p:attrNameLst>
                                          <p:attrName>ppt_w</p:attrName>
                                        </p:attrNameLst>
                                      </p:cBhvr>
                                      <p:tavLst>
                                        <p:tav tm="0">
                                          <p:val>
                                            <p:strVal val="#ppt_w*0.70"/>
                                          </p:val>
                                        </p:tav>
                                        <p:tav tm="100000">
                                          <p:val>
                                            <p:strVal val="#ppt_w"/>
                                          </p:val>
                                        </p:tav>
                                      </p:tavLst>
                                    </p:anim>
                                    <p:anim calcmode="lin" valueType="num">
                                      <p:cBhvr>
                                        <p:cTn id="8" dur="1000" fill="hold"/>
                                        <p:tgtEl>
                                          <p:spTgt spid="1514504">
                                            <p:bg/>
                                          </p:spTgt>
                                        </p:tgtEl>
                                        <p:attrNameLst>
                                          <p:attrName>ppt_h</p:attrName>
                                        </p:attrNameLst>
                                      </p:cBhvr>
                                      <p:tavLst>
                                        <p:tav tm="0">
                                          <p:val>
                                            <p:strVal val="#ppt_h"/>
                                          </p:val>
                                        </p:tav>
                                        <p:tav tm="100000">
                                          <p:val>
                                            <p:strVal val="#ppt_h"/>
                                          </p:val>
                                        </p:tav>
                                      </p:tavLst>
                                    </p:anim>
                                    <p:animEffect transition="in" filter="fade">
                                      <p:cBhvr>
                                        <p:cTn id="9" dur="1000"/>
                                        <p:tgtEl>
                                          <p:spTgt spid="1514504">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14504">
                                            <p:txEl>
                                              <p:pRg st="0" end="0"/>
                                            </p:txEl>
                                          </p:spTgt>
                                        </p:tgtEl>
                                        <p:attrNameLst>
                                          <p:attrName>style.visibility</p:attrName>
                                        </p:attrNameLst>
                                      </p:cBhvr>
                                      <p:to>
                                        <p:strVal val="visible"/>
                                      </p:to>
                                    </p:set>
                                    <p:anim calcmode="lin" valueType="num">
                                      <p:cBhvr>
                                        <p:cTn id="13" dur="1000" fill="hold"/>
                                        <p:tgtEl>
                                          <p:spTgt spid="1514504">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514504">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514504">
                                            <p:txEl>
                                              <p:pRg st="0" end="0"/>
                                            </p:txEl>
                                          </p:spTgt>
                                        </p:tgtEl>
                                      </p:cBhvr>
                                    </p:animEffect>
                                  </p:childTnLst>
                                </p:cTn>
                              </p:par>
                              <p:par>
                                <p:cTn id="16" presetID="55" presetClass="entr" presetSubtype="0" fill="hold" grpId="0" nodeType="withEffect">
                                  <p:stCondLst>
                                    <p:cond delay="0"/>
                                  </p:stCondLst>
                                  <p:childTnLst>
                                    <p:set>
                                      <p:cBhvr>
                                        <p:cTn id="17" dur="1" fill="hold">
                                          <p:stCondLst>
                                            <p:cond delay="0"/>
                                          </p:stCondLst>
                                        </p:cTn>
                                        <p:tgtEl>
                                          <p:spTgt spid="1514504">
                                            <p:txEl>
                                              <p:pRg st="1" end="1"/>
                                            </p:txEl>
                                          </p:spTgt>
                                        </p:tgtEl>
                                        <p:attrNameLst>
                                          <p:attrName>style.visibility</p:attrName>
                                        </p:attrNameLst>
                                      </p:cBhvr>
                                      <p:to>
                                        <p:strVal val="visible"/>
                                      </p:to>
                                    </p:set>
                                    <p:anim calcmode="lin" valueType="num">
                                      <p:cBhvr>
                                        <p:cTn id="18" dur="1000" fill="hold"/>
                                        <p:tgtEl>
                                          <p:spTgt spid="1514504">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1514504">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1514504">
                                            <p:txEl>
                                              <p:pRg st="1" end="1"/>
                                            </p:txEl>
                                          </p:spTgt>
                                        </p:tgtEl>
                                      </p:cBhvr>
                                    </p:animEffect>
                                  </p:childTnLst>
                                </p:cTn>
                              </p:par>
                              <p:par>
                                <p:cTn id="21" presetID="55" presetClass="entr" presetSubtype="0" fill="hold" grpId="0" nodeType="withEffect">
                                  <p:stCondLst>
                                    <p:cond delay="0"/>
                                  </p:stCondLst>
                                  <p:childTnLst>
                                    <p:set>
                                      <p:cBhvr>
                                        <p:cTn id="22" dur="1" fill="hold">
                                          <p:stCondLst>
                                            <p:cond delay="0"/>
                                          </p:stCondLst>
                                        </p:cTn>
                                        <p:tgtEl>
                                          <p:spTgt spid="1514504">
                                            <p:txEl>
                                              <p:pRg st="2" end="2"/>
                                            </p:txEl>
                                          </p:spTgt>
                                        </p:tgtEl>
                                        <p:attrNameLst>
                                          <p:attrName>style.visibility</p:attrName>
                                        </p:attrNameLst>
                                      </p:cBhvr>
                                      <p:to>
                                        <p:strVal val="visible"/>
                                      </p:to>
                                    </p:set>
                                    <p:anim calcmode="lin" valueType="num">
                                      <p:cBhvr>
                                        <p:cTn id="23" dur="1000" fill="hold"/>
                                        <p:tgtEl>
                                          <p:spTgt spid="1514504">
                                            <p:txEl>
                                              <p:pRg st="2" end="2"/>
                                            </p:txEl>
                                          </p:spTgt>
                                        </p:tgtEl>
                                        <p:attrNameLst>
                                          <p:attrName>ppt_w</p:attrName>
                                        </p:attrNameLst>
                                      </p:cBhvr>
                                      <p:tavLst>
                                        <p:tav tm="0">
                                          <p:val>
                                            <p:strVal val="#ppt_w*0.70"/>
                                          </p:val>
                                        </p:tav>
                                        <p:tav tm="100000">
                                          <p:val>
                                            <p:strVal val="#ppt_w"/>
                                          </p:val>
                                        </p:tav>
                                      </p:tavLst>
                                    </p:anim>
                                    <p:anim calcmode="lin" valueType="num">
                                      <p:cBhvr>
                                        <p:cTn id="24" dur="1000" fill="hold"/>
                                        <p:tgtEl>
                                          <p:spTgt spid="1514504">
                                            <p:txEl>
                                              <p:pRg st="2" end="2"/>
                                            </p:txEl>
                                          </p:spTgt>
                                        </p:tgtEl>
                                        <p:attrNameLst>
                                          <p:attrName>ppt_h</p:attrName>
                                        </p:attrNameLst>
                                      </p:cBhvr>
                                      <p:tavLst>
                                        <p:tav tm="0">
                                          <p:val>
                                            <p:strVal val="#ppt_h"/>
                                          </p:val>
                                        </p:tav>
                                        <p:tav tm="100000">
                                          <p:val>
                                            <p:strVal val="#ppt_h"/>
                                          </p:val>
                                        </p:tav>
                                      </p:tavLst>
                                    </p:anim>
                                    <p:animEffect transition="in" filter="fade">
                                      <p:cBhvr>
                                        <p:cTn id="25" dur="1000"/>
                                        <p:tgtEl>
                                          <p:spTgt spid="1514504">
                                            <p:txEl>
                                              <p:pRg st="2" end="2"/>
                                            </p:txEl>
                                          </p:spTgt>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1514504">
                                            <p:txEl>
                                              <p:pRg st="3" end="3"/>
                                            </p:txEl>
                                          </p:spTgt>
                                        </p:tgtEl>
                                        <p:attrNameLst>
                                          <p:attrName>style.visibility</p:attrName>
                                        </p:attrNameLst>
                                      </p:cBhvr>
                                      <p:to>
                                        <p:strVal val="visible"/>
                                      </p:to>
                                    </p:set>
                                    <p:anim calcmode="lin" valueType="num">
                                      <p:cBhvr>
                                        <p:cTn id="28" dur="1000" fill="hold"/>
                                        <p:tgtEl>
                                          <p:spTgt spid="1514504">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514504">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51450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6" presetClass="entr" presetSubtype="0" fill="hold" nodeType="clickEffect">
                                  <p:stCondLst>
                                    <p:cond delay="0"/>
                                  </p:stCondLst>
                                  <p:childTnLst>
                                    <p:set>
                                      <p:cBhvr>
                                        <p:cTn id="34" dur="1" fill="hold">
                                          <p:stCondLst>
                                            <p:cond delay="0"/>
                                          </p:stCondLst>
                                        </p:cTn>
                                        <p:tgtEl>
                                          <p:spTgt spid="1514504">
                                            <p:txEl>
                                              <p:pRg st="4" end="4"/>
                                            </p:txEl>
                                          </p:spTgt>
                                        </p:tgtEl>
                                        <p:attrNameLst>
                                          <p:attrName>style.visibility</p:attrName>
                                        </p:attrNameLst>
                                      </p:cBhvr>
                                      <p:to>
                                        <p:strVal val="visible"/>
                                      </p:to>
                                    </p:set>
                                    <p:animEffect transition="in" filter="wipe(down)">
                                      <p:cBhvr>
                                        <p:cTn id="35" dur="290">
                                          <p:stCondLst>
                                            <p:cond delay="0"/>
                                          </p:stCondLst>
                                        </p:cTn>
                                        <p:tgtEl>
                                          <p:spTgt spid="1514504">
                                            <p:txEl>
                                              <p:pRg st="4" end="4"/>
                                            </p:txEl>
                                          </p:spTgt>
                                        </p:tgtEl>
                                      </p:cBhvr>
                                    </p:animEffect>
                                    <p:anim calcmode="lin" valueType="num">
                                      <p:cBhvr>
                                        <p:cTn id="36" dur="911" tmFilter="0,0; 0.14,0.36; 0.43,0.73; 0.71,0.91; 1.0,1.0">
                                          <p:stCondLst>
                                            <p:cond delay="0"/>
                                          </p:stCondLst>
                                        </p:cTn>
                                        <p:tgtEl>
                                          <p:spTgt spid="1514504">
                                            <p:txEl>
                                              <p:pRg st="4" end="4"/>
                                            </p:txEl>
                                          </p:spTgt>
                                        </p:tgtEl>
                                        <p:attrNameLst>
                                          <p:attrName>ppt_x</p:attrName>
                                        </p:attrNameLst>
                                      </p:cBhvr>
                                      <p:tavLst>
                                        <p:tav tm="0">
                                          <p:val>
                                            <p:strVal val="#ppt_x-0.25"/>
                                          </p:val>
                                        </p:tav>
                                        <p:tav tm="100000">
                                          <p:val>
                                            <p:strVal val="#ppt_x"/>
                                          </p:val>
                                        </p:tav>
                                      </p:tavLst>
                                    </p:anim>
                                    <p:anim calcmode="lin" valueType="num">
                                      <p:cBhvr>
                                        <p:cTn id="37" dur="332" tmFilter="0.0,0.0; 0.25,0.07; 0.50,0.2; 0.75,0.467; 1.0,1.0">
                                          <p:stCondLst>
                                            <p:cond delay="0"/>
                                          </p:stCondLst>
                                        </p:cTn>
                                        <p:tgtEl>
                                          <p:spTgt spid="1514504">
                                            <p:txEl>
                                              <p:pRg st="4" end="4"/>
                                            </p:txEl>
                                          </p:spTgt>
                                        </p:tgtEl>
                                        <p:attrNameLst>
                                          <p:attrName>ppt_y</p:attrName>
                                        </p:attrNameLst>
                                      </p:cBhvr>
                                      <p:tavLst>
                                        <p:tav tm="0" fmla="#ppt_y-sin(pi*$)/3">
                                          <p:val>
                                            <p:fltVal val="0.5"/>
                                          </p:val>
                                        </p:tav>
                                        <p:tav tm="100000">
                                          <p:val>
                                            <p:fltVal val="1"/>
                                          </p:val>
                                        </p:tav>
                                      </p:tavLst>
                                    </p:anim>
                                    <p:anim calcmode="lin" valueType="num">
                                      <p:cBhvr>
                                        <p:cTn id="38" dur="332" tmFilter="0, 0; 0.125,0.2665; 0.25,0.4; 0.375,0.465; 0.5,0.5;  0.625,0.535; 0.75,0.6; 0.875,0.7335; 1,1">
                                          <p:stCondLst>
                                            <p:cond delay="332"/>
                                          </p:stCondLst>
                                        </p:cTn>
                                        <p:tgtEl>
                                          <p:spTgt spid="1514504">
                                            <p:txEl>
                                              <p:pRg st="4" end="4"/>
                                            </p:txEl>
                                          </p:spTgt>
                                        </p:tgtEl>
                                        <p:attrNameLst>
                                          <p:attrName>ppt_y</p:attrName>
                                        </p:attrNameLst>
                                      </p:cBhvr>
                                      <p:tavLst>
                                        <p:tav tm="0" fmla="#ppt_y-sin(pi*$)/9">
                                          <p:val>
                                            <p:fltVal val="0"/>
                                          </p:val>
                                        </p:tav>
                                        <p:tav tm="100000">
                                          <p:val>
                                            <p:fltVal val="1"/>
                                          </p:val>
                                        </p:tav>
                                      </p:tavLst>
                                    </p:anim>
                                    <p:anim calcmode="lin" valueType="num">
                                      <p:cBhvr>
                                        <p:cTn id="39" dur="166" tmFilter="0, 0; 0.125,0.2665; 0.25,0.4; 0.375,0.465; 0.5,0.5;  0.625,0.535; 0.75,0.6; 0.875,0.7335; 1,1">
                                          <p:stCondLst>
                                            <p:cond delay="662"/>
                                          </p:stCondLst>
                                        </p:cTn>
                                        <p:tgtEl>
                                          <p:spTgt spid="1514504">
                                            <p:txEl>
                                              <p:pRg st="4" end="4"/>
                                            </p:txEl>
                                          </p:spTgt>
                                        </p:tgtEl>
                                        <p:attrNameLst>
                                          <p:attrName>ppt_y</p:attrName>
                                        </p:attrNameLst>
                                      </p:cBhvr>
                                      <p:tavLst>
                                        <p:tav tm="0" fmla="#ppt_y-sin(pi*$)/27">
                                          <p:val>
                                            <p:fltVal val="0"/>
                                          </p:val>
                                        </p:tav>
                                        <p:tav tm="100000">
                                          <p:val>
                                            <p:fltVal val="1"/>
                                          </p:val>
                                        </p:tav>
                                      </p:tavLst>
                                    </p:anim>
                                    <p:anim calcmode="lin" valueType="num">
                                      <p:cBhvr>
                                        <p:cTn id="40" dur="82" tmFilter="0, 0; 0.125,0.2665; 0.25,0.4; 0.375,0.465; 0.5,0.5;  0.625,0.535; 0.75,0.6; 0.875,0.7335; 1,1">
                                          <p:stCondLst>
                                            <p:cond delay="828"/>
                                          </p:stCondLst>
                                        </p:cTn>
                                        <p:tgtEl>
                                          <p:spTgt spid="1514504">
                                            <p:txEl>
                                              <p:pRg st="4" end="4"/>
                                            </p:txEl>
                                          </p:spTgt>
                                        </p:tgtEl>
                                        <p:attrNameLst>
                                          <p:attrName>ppt_y</p:attrName>
                                        </p:attrNameLst>
                                      </p:cBhvr>
                                      <p:tavLst>
                                        <p:tav tm="0" fmla="#ppt_y-sin(pi*$)/81">
                                          <p:val>
                                            <p:fltVal val="0"/>
                                          </p:val>
                                        </p:tav>
                                        <p:tav tm="100000">
                                          <p:val>
                                            <p:fltVal val="1"/>
                                          </p:val>
                                        </p:tav>
                                      </p:tavLst>
                                    </p:anim>
                                    <p:animScale>
                                      <p:cBhvr>
                                        <p:cTn id="41" dur="13">
                                          <p:stCondLst>
                                            <p:cond delay="325"/>
                                          </p:stCondLst>
                                        </p:cTn>
                                        <p:tgtEl>
                                          <p:spTgt spid="1514504">
                                            <p:txEl>
                                              <p:pRg st="4" end="4"/>
                                            </p:txEl>
                                          </p:spTgt>
                                        </p:tgtEl>
                                      </p:cBhvr>
                                      <p:to x="100000" y="60000"/>
                                    </p:animScale>
                                    <p:animScale>
                                      <p:cBhvr>
                                        <p:cTn id="42" dur="83" decel="50000">
                                          <p:stCondLst>
                                            <p:cond delay="338"/>
                                          </p:stCondLst>
                                        </p:cTn>
                                        <p:tgtEl>
                                          <p:spTgt spid="1514504">
                                            <p:txEl>
                                              <p:pRg st="4" end="4"/>
                                            </p:txEl>
                                          </p:spTgt>
                                        </p:tgtEl>
                                      </p:cBhvr>
                                      <p:to x="100000" y="100000"/>
                                    </p:animScale>
                                    <p:animScale>
                                      <p:cBhvr>
                                        <p:cTn id="43" dur="13">
                                          <p:stCondLst>
                                            <p:cond delay="656"/>
                                          </p:stCondLst>
                                        </p:cTn>
                                        <p:tgtEl>
                                          <p:spTgt spid="1514504">
                                            <p:txEl>
                                              <p:pRg st="4" end="4"/>
                                            </p:txEl>
                                          </p:spTgt>
                                        </p:tgtEl>
                                      </p:cBhvr>
                                      <p:to x="100000" y="80000"/>
                                    </p:animScale>
                                    <p:animScale>
                                      <p:cBhvr>
                                        <p:cTn id="44" dur="83" decel="50000">
                                          <p:stCondLst>
                                            <p:cond delay="669"/>
                                          </p:stCondLst>
                                        </p:cTn>
                                        <p:tgtEl>
                                          <p:spTgt spid="1514504">
                                            <p:txEl>
                                              <p:pRg st="4" end="4"/>
                                            </p:txEl>
                                          </p:spTgt>
                                        </p:tgtEl>
                                      </p:cBhvr>
                                      <p:to x="100000" y="100000"/>
                                    </p:animScale>
                                    <p:animScale>
                                      <p:cBhvr>
                                        <p:cTn id="45" dur="13">
                                          <p:stCondLst>
                                            <p:cond delay="821"/>
                                          </p:stCondLst>
                                        </p:cTn>
                                        <p:tgtEl>
                                          <p:spTgt spid="1514504">
                                            <p:txEl>
                                              <p:pRg st="4" end="4"/>
                                            </p:txEl>
                                          </p:spTgt>
                                        </p:tgtEl>
                                      </p:cBhvr>
                                      <p:to x="100000" y="90000"/>
                                    </p:animScale>
                                    <p:animScale>
                                      <p:cBhvr>
                                        <p:cTn id="46" dur="83" decel="50000">
                                          <p:stCondLst>
                                            <p:cond delay="834"/>
                                          </p:stCondLst>
                                        </p:cTn>
                                        <p:tgtEl>
                                          <p:spTgt spid="1514504">
                                            <p:txEl>
                                              <p:pRg st="4" end="4"/>
                                            </p:txEl>
                                          </p:spTgt>
                                        </p:tgtEl>
                                      </p:cBhvr>
                                      <p:to x="100000" y="100000"/>
                                    </p:animScale>
                                    <p:animScale>
                                      <p:cBhvr>
                                        <p:cTn id="47" dur="13">
                                          <p:stCondLst>
                                            <p:cond delay="904"/>
                                          </p:stCondLst>
                                        </p:cTn>
                                        <p:tgtEl>
                                          <p:spTgt spid="1514504">
                                            <p:txEl>
                                              <p:pRg st="4" end="4"/>
                                            </p:txEl>
                                          </p:spTgt>
                                        </p:tgtEl>
                                      </p:cBhvr>
                                      <p:to x="100000" y="95000"/>
                                    </p:animScale>
                                    <p:animScale>
                                      <p:cBhvr>
                                        <p:cTn id="48" dur="83" decel="50000">
                                          <p:stCondLst>
                                            <p:cond delay="917"/>
                                          </p:stCondLst>
                                        </p:cTn>
                                        <p:tgtEl>
                                          <p:spTgt spid="1514504">
                                            <p:txEl>
                                              <p:pRg st="4" end="4"/>
                                            </p:txEl>
                                          </p:spTgt>
                                        </p:tgtEl>
                                      </p:cBhvr>
                                      <p:to x="100000" y="100000"/>
                                    </p:animScale>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514501"/>
                                        </p:tgtEl>
                                        <p:attrNameLst>
                                          <p:attrName>style.visibility</p:attrName>
                                        </p:attrNameLst>
                                      </p:cBhvr>
                                      <p:to>
                                        <p:strVal val="visible"/>
                                      </p:to>
                                    </p:set>
                                    <p:animEffect transition="in" filter="blinds(horizontal)">
                                      <p:cBhvr>
                                        <p:cTn id="53" dur="500"/>
                                        <p:tgtEl>
                                          <p:spTgt spid="1514501"/>
                                        </p:tgtEl>
                                      </p:cBhvr>
                                    </p:animEffect>
                                  </p:childTnLst>
                                </p:cTn>
                              </p:par>
                            </p:childTnLst>
                          </p:cTn>
                        </p:par>
                        <p:par>
                          <p:cTn id="54" fill="hold">
                            <p:stCondLst>
                              <p:cond delay="500"/>
                            </p:stCondLst>
                            <p:childTnLst>
                              <p:par>
                                <p:cTn id="55" presetID="55" presetClass="entr" presetSubtype="0" fill="hold" grpId="0" nodeType="afterEffect">
                                  <p:stCondLst>
                                    <p:cond delay="0"/>
                                  </p:stCondLst>
                                  <p:childTnLst>
                                    <p:set>
                                      <p:cBhvr>
                                        <p:cTn id="56" dur="1" fill="hold">
                                          <p:stCondLst>
                                            <p:cond delay="0"/>
                                          </p:stCondLst>
                                        </p:cTn>
                                        <p:tgtEl>
                                          <p:spTgt spid="1514502">
                                            <p:bg/>
                                          </p:spTgt>
                                        </p:tgtEl>
                                        <p:attrNameLst>
                                          <p:attrName>style.visibility</p:attrName>
                                        </p:attrNameLst>
                                      </p:cBhvr>
                                      <p:to>
                                        <p:strVal val="visible"/>
                                      </p:to>
                                    </p:set>
                                    <p:anim calcmode="lin" valueType="num">
                                      <p:cBhvr>
                                        <p:cTn id="57" dur="1000" fill="hold"/>
                                        <p:tgtEl>
                                          <p:spTgt spid="1514502">
                                            <p:bg/>
                                          </p:spTgt>
                                        </p:tgtEl>
                                        <p:attrNameLst>
                                          <p:attrName>ppt_w</p:attrName>
                                        </p:attrNameLst>
                                      </p:cBhvr>
                                      <p:tavLst>
                                        <p:tav tm="0">
                                          <p:val>
                                            <p:strVal val="#ppt_w*0.70"/>
                                          </p:val>
                                        </p:tav>
                                        <p:tav tm="100000">
                                          <p:val>
                                            <p:strVal val="#ppt_w"/>
                                          </p:val>
                                        </p:tav>
                                      </p:tavLst>
                                    </p:anim>
                                    <p:anim calcmode="lin" valueType="num">
                                      <p:cBhvr>
                                        <p:cTn id="58" dur="1000" fill="hold"/>
                                        <p:tgtEl>
                                          <p:spTgt spid="1514502">
                                            <p:bg/>
                                          </p:spTgt>
                                        </p:tgtEl>
                                        <p:attrNameLst>
                                          <p:attrName>ppt_h</p:attrName>
                                        </p:attrNameLst>
                                      </p:cBhvr>
                                      <p:tavLst>
                                        <p:tav tm="0">
                                          <p:val>
                                            <p:strVal val="#ppt_h"/>
                                          </p:val>
                                        </p:tav>
                                        <p:tav tm="100000">
                                          <p:val>
                                            <p:strVal val="#ppt_h"/>
                                          </p:val>
                                        </p:tav>
                                      </p:tavLst>
                                    </p:anim>
                                    <p:animEffect transition="in" filter="fade">
                                      <p:cBhvr>
                                        <p:cTn id="59" dur="1000"/>
                                        <p:tgtEl>
                                          <p:spTgt spid="1514502">
                                            <p:bg/>
                                          </p:spTgt>
                                        </p:tgtEl>
                                      </p:cBhvr>
                                    </p:animEffect>
                                  </p:childTnLst>
                                </p:cTn>
                              </p:par>
                            </p:childTnLst>
                          </p:cTn>
                        </p:par>
                        <p:par>
                          <p:cTn id="60" fill="hold">
                            <p:stCondLst>
                              <p:cond delay="1500"/>
                            </p:stCondLst>
                            <p:childTnLst>
                              <p:par>
                                <p:cTn id="61" presetID="55" presetClass="entr" presetSubtype="0" fill="hold" grpId="0" nodeType="afterEffect">
                                  <p:stCondLst>
                                    <p:cond delay="0"/>
                                  </p:stCondLst>
                                  <p:childTnLst>
                                    <p:set>
                                      <p:cBhvr>
                                        <p:cTn id="62" dur="1" fill="hold">
                                          <p:stCondLst>
                                            <p:cond delay="0"/>
                                          </p:stCondLst>
                                        </p:cTn>
                                        <p:tgtEl>
                                          <p:spTgt spid="1514502">
                                            <p:txEl>
                                              <p:pRg st="0" end="0"/>
                                            </p:txEl>
                                          </p:spTgt>
                                        </p:tgtEl>
                                        <p:attrNameLst>
                                          <p:attrName>style.visibility</p:attrName>
                                        </p:attrNameLst>
                                      </p:cBhvr>
                                      <p:to>
                                        <p:strVal val="visible"/>
                                      </p:to>
                                    </p:set>
                                    <p:anim calcmode="lin" valueType="num">
                                      <p:cBhvr>
                                        <p:cTn id="63" dur="1000" fill="hold"/>
                                        <p:tgtEl>
                                          <p:spTgt spid="1514502">
                                            <p:txEl>
                                              <p:pRg st="0" end="0"/>
                                            </p:txEl>
                                          </p:spTgt>
                                        </p:tgtEl>
                                        <p:attrNameLst>
                                          <p:attrName>ppt_w</p:attrName>
                                        </p:attrNameLst>
                                      </p:cBhvr>
                                      <p:tavLst>
                                        <p:tav tm="0">
                                          <p:val>
                                            <p:strVal val="#ppt_w*0.70"/>
                                          </p:val>
                                        </p:tav>
                                        <p:tav tm="100000">
                                          <p:val>
                                            <p:strVal val="#ppt_w"/>
                                          </p:val>
                                        </p:tav>
                                      </p:tavLst>
                                    </p:anim>
                                    <p:anim calcmode="lin" valueType="num">
                                      <p:cBhvr>
                                        <p:cTn id="64" dur="1000" fill="hold"/>
                                        <p:tgtEl>
                                          <p:spTgt spid="1514502">
                                            <p:txEl>
                                              <p:pRg st="0" end="0"/>
                                            </p:txEl>
                                          </p:spTgt>
                                        </p:tgtEl>
                                        <p:attrNameLst>
                                          <p:attrName>ppt_h</p:attrName>
                                        </p:attrNameLst>
                                      </p:cBhvr>
                                      <p:tavLst>
                                        <p:tav tm="0">
                                          <p:val>
                                            <p:strVal val="#ppt_h"/>
                                          </p:val>
                                        </p:tav>
                                        <p:tav tm="100000">
                                          <p:val>
                                            <p:strVal val="#ppt_h"/>
                                          </p:val>
                                        </p:tav>
                                      </p:tavLst>
                                    </p:anim>
                                    <p:animEffect transition="in" filter="fade">
                                      <p:cBhvr>
                                        <p:cTn id="65" dur="1000"/>
                                        <p:tgtEl>
                                          <p:spTgt spid="1514502">
                                            <p:txEl>
                                              <p:pRg st="0" end="0"/>
                                            </p:txEl>
                                          </p:spTgt>
                                        </p:tgtEl>
                                      </p:cBhvr>
                                    </p:animEffect>
                                  </p:childTnLst>
                                </p:cTn>
                              </p:par>
                            </p:childTnLst>
                          </p:cTn>
                        </p:par>
                        <p:par>
                          <p:cTn id="66" fill="hold">
                            <p:stCondLst>
                              <p:cond delay="2500"/>
                            </p:stCondLst>
                            <p:childTnLst>
                              <p:par>
                                <p:cTn id="67" presetID="55" presetClass="entr" presetSubtype="0" fill="hold" grpId="0" nodeType="afterEffect">
                                  <p:stCondLst>
                                    <p:cond delay="0"/>
                                  </p:stCondLst>
                                  <p:childTnLst>
                                    <p:set>
                                      <p:cBhvr>
                                        <p:cTn id="68" dur="1" fill="hold">
                                          <p:stCondLst>
                                            <p:cond delay="0"/>
                                          </p:stCondLst>
                                        </p:cTn>
                                        <p:tgtEl>
                                          <p:spTgt spid="1514502">
                                            <p:txEl>
                                              <p:pRg st="1" end="1"/>
                                            </p:txEl>
                                          </p:spTgt>
                                        </p:tgtEl>
                                        <p:attrNameLst>
                                          <p:attrName>style.visibility</p:attrName>
                                        </p:attrNameLst>
                                      </p:cBhvr>
                                      <p:to>
                                        <p:strVal val="visible"/>
                                      </p:to>
                                    </p:set>
                                    <p:anim calcmode="lin" valueType="num">
                                      <p:cBhvr>
                                        <p:cTn id="69" dur="1000" fill="hold"/>
                                        <p:tgtEl>
                                          <p:spTgt spid="1514502">
                                            <p:txEl>
                                              <p:pRg st="1" end="1"/>
                                            </p:txEl>
                                          </p:spTgt>
                                        </p:tgtEl>
                                        <p:attrNameLst>
                                          <p:attrName>ppt_w</p:attrName>
                                        </p:attrNameLst>
                                      </p:cBhvr>
                                      <p:tavLst>
                                        <p:tav tm="0">
                                          <p:val>
                                            <p:strVal val="#ppt_w*0.70"/>
                                          </p:val>
                                        </p:tav>
                                        <p:tav tm="100000">
                                          <p:val>
                                            <p:strVal val="#ppt_w"/>
                                          </p:val>
                                        </p:tav>
                                      </p:tavLst>
                                    </p:anim>
                                    <p:anim calcmode="lin" valueType="num">
                                      <p:cBhvr>
                                        <p:cTn id="70" dur="1000" fill="hold"/>
                                        <p:tgtEl>
                                          <p:spTgt spid="1514502">
                                            <p:txEl>
                                              <p:pRg st="1" end="1"/>
                                            </p:txEl>
                                          </p:spTgt>
                                        </p:tgtEl>
                                        <p:attrNameLst>
                                          <p:attrName>ppt_h</p:attrName>
                                        </p:attrNameLst>
                                      </p:cBhvr>
                                      <p:tavLst>
                                        <p:tav tm="0">
                                          <p:val>
                                            <p:strVal val="#ppt_h"/>
                                          </p:val>
                                        </p:tav>
                                        <p:tav tm="100000">
                                          <p:val>
                                            <p:strVal val="#ppt_h"/>
                                          </p:val>
                                        </p:tav>
                                      </p:tavLst>
                                    </p:anim>
                                    <p:animEffect transition="in" filter="fade">
                                      <p:cBhvr>
                                        <p:cTn id="71" dur="1000"/>
                                        <p:tgtEl>
                                          <p:spTgt spid="1514502">
                                            <p:txEl>
                                              <p:pRg st="1" end="1"/>
                                            </p:txEl>
                                          </p:spTgt>
                                        </p:tgtEl>
                                      </p:cBhvr>
                                    </p:animEffect>
                                  </p:childTnLst>
                                </p:cTn>
                              </p:par>
                              <p:par>
                                <p:cTn id="72" presetID="55" presetClass="entr" presetSubtype="0" fill="hold" grpId="0" nodeType="withEffect">
                                  <p:stCondLst>
                                    <p:cond delay="0"/>
                                  </p:stCondLst>
                                  <p:childTnLst>
                                    <p:set>
                                      <p:cBhvr>
                                        <p:cTn id="73" dur="1" fill="hold">
                                          <p:stCondLst>
                                            <p:cond delay="0"/>
                                          </p:stCondLst>
                                        </p:cTn>
                                        <p:tgtEl>
                                          <p:spTgt spid="1514502">
                                            <p:txEl>
                                              <p:pRg st="2" end="2"/>
                                            </p:txEl>
                                          </p:spTgt>
                                        </p:tgtEl>
                                        <p:attrNameLst>
                                          <p:attrName>style.visibility</p:attrName>
                                        </p:attrNameLst>
                                      </p:cBhvr>
                                      <p:to>
                                        <p:strVal val="visible"/>
                                      </p:to>
                                    </p:set>
                                    <p:anim calcmode="lin" valueType="num">
                                      <p:cBhvr>
                                        <p:cTn id="74" dur="1000" fill="hold"/>
                                        <p:tgtEl>
                                          <p:spTgt spid="1514502">
                                            <p:txEl>
                                              <p:pRg st="2" end="2"/>
                                            </p:txEl>
                                          </p:spTgt>
                                        </p:tgtEl>
                                        <p:attrNameLst>
                                          <p:attrName>ppt_w</p:attrName>
                                        </p:attrNameLst>
                                      </p:cBhvr>
                                      <p:tavLst>
                                        <p:tav tm="0">
                                          <p:val>
                                            <p:strVal val="#ppt_w*0.70"/>
                                          </p:val>
                                        </p:tav>
                                        <p:tav tm="100000">
                                          <p:val>
                                            <p:strVal val="#ppt_w"/>
                                          </p:val>
                                        </p:tav>
                                      </p:tavLst>
                                    </p:anim>
                                    <p:anim calcmode="lin" valueType="num">
                                      <p:cBhvr>
                                        <p:cTn id="75" dur="1000" fill="hold"/>
                                        <p:tgtEl>
                                          <p:spTgt spid="1514502">
                                            <p:txEl>
                                              <p:pRg st="2" end="2"/>
                                            </p:txEl>
                                          </p:spTgt>
                                        </p:tgtEl>
                                        <p:attrNameLst>
                                          <p:attrName>ppt_h</p:attrName>
                                        </p:attrNameLst>
                                      </p:cBhvr>
                                      <p:tavLst>
                                        <p:tav tm="0">
                                          <p:val>
                                            <p:strVal val="#ppt_h"/>
                                          </p:val>
                                        </p:tav>
                                        <p:tav tm="100000">
                                          <p:val>
                                            <p:strVal val="#ppt_h"/>
                                          </p:val>
                                        </p:tav>
                                      </p:tavLst>
                                    </p:anim>
                                    <p:animEffect transition="in" filter="fade">
                                      <p:cBhvr>
                                        <p:cTn id="76" dur="1000"/>
                                        <p:tgtEl>
                                          <p:spTgt spid="1514502">
                                            <p:txEl>
                                              <p:pRg st="2" end="2"/>
                                            </p:txEl>
                                          </p:spTgt>
                                        </p:tgtEl>
                                      </p:cBhvr>
                                    </p:animEffect>
                                  </p:childTnLst>
                                </p:cTn>
                              </p:par>
                              <p:par>
                                <p:cTn id="77" presetID="55" presetClass="entr" presetSubtype="0" fill="hold" grpId="0" nodeType="withEffect">
                                  <p:stCondLst>
                                    <p:cond delay="0"/>
                                  </p:stCondLst>
                                  <p:childTnLst>
                                    <p:set>
                                      <p:cBhvr>
                                        <p:cTn id="78" dur="1" fill="hold">
                                          <p:stCondLst>
                                            <p:cond delay="0"/>
                                          </p:stCondLst>
                                        </p:cTn>
                                        <p:tgtEl>
                                          <p:spTgt spid="1514502">
                                            <p:txEl>
                                              <p:pRg st="3" end="3"/>
                                            </p:txEl>
                                          </p:spTgt>
                                        </p:tgtEl>
                                        <p:attrNameLst>
                                          <p:attrName>style.visibility</p:attrName>
                                        </p:attrNameLst>
                                      </p:cBhvr>
                                      <p:to>
                                        <p:strVal val="visible"/>
                                      </p:to>
                                    </p:set>
                                    <p:anim calcmode="lin" valueType="num">
                                      <p:cBhvr>
                                        <p:cTn id="79" dur="1000" fill="hold"/>
                                        <p:tgtEl>
                                          <p:spTgt spid="1514502">
                                            <p:txEl>
                                              <p:pRg st="3" end="3"/>
                                            </p:txEl>
                                          </p:spTgt>
                                        </p:tgtEl>
                                        <p:attrNameLst>
                                          <p:attrName>ppt_w</p:attrName>
                                        </p:attrNameLst>
                                      </p:cBhvr>
                                      <p:tavLst>
                                        <p:tav tm="0">
                                          <p:val>
                                            <p:strVal val="#ppt_w*0.70"/>
                                          </p:val>
                                        </p:tav>
                                        <p:tav tm="100000">
                                          <p:val>
                                            <p:strVal val="#ppt_w"/>
                                          </p:val>
                                        </p:tav>
                                      </p:tavLst>
                                    </p:anim>
                                    <p:anim calcmode="lin" valueType="num">
                                      <p:cBhvr>
                                        <p:cTn id="80" dur="1000" fill="hold"/>
                                        <p:tgtEl>
                                          <p:spTgt spid="1514502">
                                            <p:txEl>
                                              <p:pRg st="3" end="3"/>
                                            </p:txEl>
                                          </p:spTgt>
                                        </p:tgtEl>
                                        <p:attrNameLst>
                                          <p:attrName>ppt_h</p:attrName>
                                        </p:attrNameLst>
                                      </p:cBhvr>
                                      <p:tavLst>
                                        <p:tav tm="0">
                                          <p:val>
                                            <p:strVal val="#ppt_h"/>
                                          </p:val>
                                        </p:tav>
                                        <p:tav tm="100000">
                                          <p:val>
                                            <p:strVal val="#ppt_h"/>
                                          </p:val>
                                        </p:tav>
                                      </p:tavLst>
                                    </p:anim>
                                    <p:animEffect transition="in" filter="fade">
                                      <p:cBhvr>
                                        <p:cTn id="81" dur="1000"/>
                                        <p:tgtEl>
                                          <p:spTgt spid="1514502">
                                            <p:txEl>
                                              <p:pRg st="3" end="3"/>
                                            </p:txEl>
                                          </p:spTgt>
                                        </p:tgtEl>
                                      </p:cBhvr>
                                    </p:animEffect>
                                  </p:childTnLst>
                                </p:cTn>
                              </p:par>
                              <p:par>
                                <p:cTn id="82" presetID="55" presetClass="entr" presetSubtype="0" fill="hold" grpId="0" nodeType="withEffect">
                                  <p:stCondLst>
                                    <p:cond delay="0"/>
                                  </p:stCondLst>
                                  <p:childTnLst>
                                    <p:set>
                                      <p:cBhvr>
                                        <p:cTn id="83" dur="1" fill="hold">
                                          <p:stCondLst>
                                            <p:cond delay="0"/>
                                          </p:stCondLst>
                                        </p:cTn>
                                        <p:tgtEl>
                                          <p:spTgt spid="1514502">
                                            <p:txEl>
                                              <p:pRg st="4" end="4"/>
                                            </p:txEl>
                                          </p:spTgt>
                                        </p:tgtEl>
                                        <p:attrNameLst>
                                          <p:attrName>style.visibility</p:attrName>
                                        </p:attrNameLst>
                                      </p:cBhvr>
                                      <p:to>
                                        <p:strVal val="visible"/>
                                      </p:to>
                                    </p:set>
                                    <p:anim calcmode="lin" valueType="num">
                                      <p:cBhvr>
                                        <p:cTn id="84" dur="1000" fill="hold"/>
                                        <p:tgtEl>
                                          <p:spTgt spid="1514502">
                                            <p:txEl>
                                              <p:pRg st="4" end="4"/>
                                            </p:txEl>
                                          </p:spTgt>
                                        </p:tgtEl>
                                        <p:attrNameLst>
                                          <p:attrName>ppt_w</p:attrName>
                                        </p:attrNameLst>
                                      </p:cBhvr>
                                      <p:tavLst>
                                        <p:tav tm="0">
                                          <p:val>
                                            <p:strVal val="#ppt_w*0.70"/>
                                          </p:val>
                                        </p:tav>
                                        <p:tav tm="100000">
                                          <p:val>
                                            <p:strVal val="#ppt_w"/>
                                          </p:val>
                                        </p:tav>
                                      </p:tavLst>
                                    </p:anim>
                                    <p:anim calcmode="lin" valueType="num">
                                      <p:cBhvr>
                                        <p:cTn id="85" dur="1000" fill="hold"/>
                                        <p:tgtEl>
                                          <p:spTgt spid="1514502">
                                            <p:txEl>
                                              <p:pRg st="4" end="4"/>
                                            </p:txEl>
                                          </p:spTgt>
                                        </p:tgtEl>
                                        <p:attrNameLst>
                                          <p:attrName>ppt_h</p:attrName>
                                        </p:attrNameLst>
                                      </p:cBhvr>
                                      <p:tavLst>
                                        <p:tav tm="0">
                                          <p:val>
                                            <p:strVal val="#ppt_h"/>
                                          </p:val>
                                        </p:tav>
                                        <p:tav tm="100000">
                                          <p:val>
                                            <p:strVal val="#ppt_h"/>
                                          </p:val>
                                        </p:tav>
                                      </p:tavLst>
                                    </p:anim>
                                    <p:animEffect transition="in" filter="fade">
                                      <p:cBhvr>
                                        <p:cTn id="86" dur="1000"/>
                                        <p:tgtEl>
                                          <p:spTgt spid="1514502">
                                            <p:txEl>
                                              <p:pRg st="4" end="4"/>
                                            </p:txEl>
                                          </p:spTgt>
                                        </p:tgtEl>
                                      </p:cBhvr>
                                    </p:animEffect>
                                  </p:childTnLst>
                                </p:cTn>
                              </p:par>
                              <p:par>
                                <p:cTn id="87" presetID="55" presetClass="entr" presetSubtype="0" fill="hold" grpId="0" nodeType="withEffect">
                                  <p:stCondLst>
                                    <p:cond delay="0"/>
                                  </p:stCondLst>
                                  <p:childTnLst>
                                    <p:set>
                                      <p:cBhvr>
                                        <p:cTn id="88" dur="1" fill="hold">
                                          <p:stCondLst>
                                            <p:cond delay="0"/>
                                          </p:stCondLst>
                                        </p:cTn>
                                        <p:tgtEl>
                                          <p:spTgt spid="1514502">
                                            <p:txEl>
                                              <p:pRg st="5" end="5"/>
                                            </p:txEl>
                                          </p:spTgt>
                                        </p:tgtEl>
                                        <p:attrNameLst>
                                          <p:attrName>style.visibility</p:attrName>
                                        </p:attrNameLst>
                                      </p:cBhvr>
                                      <p:to>
                                        <p:strVal val="visible"/>
                                      </p:to>
                                    </p:set>
                                    <p:anim calcmode="lin" valueType="num">
                                      <p:cBhvr>
                                        <p:cTn id="89" dur="1000" fill="hold"/>
                                        <p:tgtEl>
                                          <p:spTgt spid="1514502">
                                            <p:txEl>
                                              <p:pRg st="5" end="5"/>
                                            </p:txEl>
                                          </p:spTgt>
                                        </p:tgtEl>
                                        <p:attrNameLst>
                                          <p:attrName>ppt_w</p:attrName>
                                        </p:attrNameLst>
                                      </p:cBhvr>
                                      <p:tavLst>
                                        <p:tav tm="0">
                                          <p:val>
                                            <p:strVal val="#ppt_w*0.70"/>
                                          </p:val>
                                        </p:tav>
                                        <p:tav tm="100000">
                                          <p:val>
                                            <p:strVal val="#ppt_w"/>
                                          </p:val>
                                        </p:tav>
                                      </p:tavLst>
                                    </p:anim>
                                    <p:anim calcmode="lin" valueType="num">
                                      <p:cBhvr>
                                        <p:cTn id="90" dur="1000" fill="hold"/>
                                        <p:tgtEl>
                                          <p:spTgt spid="1514502">
                                            <p:txEl>
                                              <p:pRg st="5" end="5"/>
                                            </p:txEl>
                                          </p:spTgt>
                                        </p:tgtEl>
                                        <p:attrNameLst>
                                          <p:attrName>ppt_h</p:attrName>
                                        </p:attrNameLst>
                                      </p:cBhvr>
                                      <p:tavLst>
                                        <p:tav tm="0">
                                          <p:val>
                                            <p:strVal val="#ppt_h"/>
                                          </p:val>
                                        </p:tav>
                                        <p:tav tm="100000">
                                          <p:val>
                                            <p:strVal val="#ppt_h"/>
                                          </p:val>
                                        </p:tav>
                                      </p:tavLst>
                                    </p:anim>
                                    <p:animEffect transition="in" filter="fade">
                                      <p:cBhvr>
                                        <p:cTn id="91" dur="1000"/>
                                        <p:tgtEl>
                                          <p:spTgt spid="1514502">
                                            <p:txEl>
                                              <p:pRg st="5" end="5"/>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53" presetClass="entr" presetSubtype="16" fill="hold" nodeType="clickEffect">
                                  <p:stCondLst>
                                    <p:cond delay="0"/>
                                  </p:stCondLst>
                                  <p:childTnLst>
                                    <p:set>
                                      <p:cBhvr>
                                        <p:cTn id="95" dur="1" fill="hold">
                                          <p:stCondLst>
                                            <p:cond delay="0"/>
                                          </p:stCondLst>
                                        </p:cTn>
                                        <p:tgtEl>
                                          <p:spTgt spid="1514502">
                                            <p:txEl>
                                              <p:pRg st="6" end="6"/>
                                            </p:txEl>
                                          </p:spTgt>
                                        </p:tgtEl>
                                        <p:attrNameLst>
                                          <p:attrName>style.visibility</p:attrName>
                                        </p:attrNameLst>
                                      </p:cBhvr>
                                      <p:to>
                                        <p:strVal val="visible"/>
                                      </p:to>
                                    </p:set>
                                    <p:anim calcmode="lin" valueType="num">
                                      <p:cBhvr>
                                        <p:cTn id="96" dur="500" fill="hold"/>
                                        <p:tgtEl>
                                          <p:spTgt spid="1514502">
                                            <p:txEl>
                                              <p:pRg st="6" end="6"/>
                                            </p:txEl>
                                          </p:spTgt>
                                        </p:tgtEl>
                                        <p:attrNameLst>
                                          <p:attrName>ppt_w</p:attrName>
                                        </p:attrNameLst>
                                      </p:cBhvr>
                                      <p:tavLst>
                                        <p:tav tm="0">
                                          <p:val>
                                            <p:fltVal val="0"/>
                                          </p:val>
                                        </p:tav>
                                        <p:tav tm="100000">
                                          <p:val>
                                            <p:strVal val="#ppt_w"/>
                                          </p:val>
                                        </p:tav>
                                      </p:tavLst>
                                    </p:anim>
                                    <p:anim calcmode="lin" valueType="num">
                                      <p:cBhvr>
                                        <p:cTn id="97" dur="500" fill="hold"/>
                                        <p:tgtEl>
                                          <p:spTgt spid="1514502">
                                            <p:txEl>
                                              <p:pRg st="6" end="6"/>
                                            </p:txEl>
                                          </p:spTgt>
                                        </p:tgtEl>
                                        <p:attrNameLst>
                                          <p:attrName>ppt_h</p:attrName>
                                        </p:attrNameLst>
                                      </p:cBhvr>
                                      <p:tavLst>
                                        <p:tav tm="0">
                                          <p:val>
                                            <p:fltVal val="0"/>
                                          </p:val>
                                        </p:tav>
                                        <p:tav tm="100000">
                                          <p:val>
                                            <p:strVal val="#ppt_h"/>
                                          </p:val>
                                        </p:tav>
                                      </p:tavLst>
                                    </p:anim>
                                    <p:animEffect transition="in" filter="fade">
                                      <p:cBhvr>
                                        <p:cTn id="98" dur="500"/>
                                        <p:tgtEl>
                                          <p:spTgt spid="15145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4501" grpId="0" bldLvl="0" animBg="1"/>
      <p:bldP spid="1514502" grpId="0" uiExpand="1" build="allAtOnce" animBg="1"/>
      <p:bldP spid="1514504"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0" y="0"/>
            <a:ext cx="9144000" cy="458788"/>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a:solidFill>
                  <a:schemeClr val="bg1"/>
                </a:solidFill>
              </a:rPr>
              <a:t>信号与系统                                章节安排</a:t>
            </a:r>
          </a:p>
        </p:txBody>
      </p:sp>
      <p:sp>
        <p:nvSpPr>
          <p:cNvPr id="48131" name="Rectangle 3"/>
          <p:cNvSpPr>
            <a:spLocks noChangeArrowheads="1"/>
          </p:cNvSpPr>
          <p:nvPr/>
        </p:nvSpPr>
        <p:spPr bwMode="auto">
          <a:xfrm>
            <a:off x="165100" y="612775"/>
            <a:ext cx="3900488" cy="414338"/>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dirty="0">
                <a:solidFill>
                  <a:srgbClr val="FF0000"/>
                </a:solidFill>
              </a:rPr>
              <a:t>第六章连续时间系统的系统函数</a:t>
            </a:r>
          </a:p>
        </p:txBody>
      </p:sp>
      <p:sp>
        <p:nvSpPr>
          <p:cNvPr id="1515524" name="Rectangle 4"/>
          <p:cNvSpPr>
            <a:spLocks noChangeArrowheads="1"/>
          </p:cNvSpPr>
          <p:nvPr/>
        </p:nvSpPr>
        <p:spPr bwMode="auto">
          <a:xfrm>
            <a:off x="160338" y="3700463"/>
            <a:ext cx="3900487" cy="4159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000">
                <a:solidFill>
                  <a:srgbClr val="FF0000"/>
                </a:solidFill>
              </a:rPr>
              <a:t>第七章 离散时间系统的时域分析</a:t>
            </a:r>
          </a:p>
        </p:txBody>
      </p:sp>
      <p:sp>
        <p:nvSpPr>
          <p:cNvPr id="1515525" name="Rectangle 5"/>
          <p:cNvSpPr>
            <a:spLocks noChangeArrowheads="1"/>
          </p:cNvSpPr>
          <p:nvPr/>
        </p:nvSpPr>
        <p:spPr bwMode="auto">
          <a:xfrm>
            <a:off x="398899" y="4222750"/>
            <a:ext cx="8478401" cy="2281237"/>
          </a:xfrm>
          <a:prstGeom prst="rect">
            <a:avLst/>
          </a:prstGeom>
          <a:solidFill>
            <a:schemeClr val="bg1"/>
          </a:solidFill>
          <a:ln w="57150">
            <a:solidFill>
              <a:schemeClr val="tx1"/>
            </a:solidFill>
            <a:miter lim="800000"/>
          </a:ln>
          <a:effectLst>
            <a:prstShdw prst="shdw12">
              <a:srgbClr val="808080">
                <a:alpha val="50000"/>
              </a:srgbClr>
            </a:prstShdw>
          </a:effec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60000"/>
              </a:lnSpc>
              <a:spcBef>
                <a:spcPts val="0"/>
              </a:spcBef>
              <a:buClr>
                <a:srgbClr val="FF0000"/>
              </a:buClr>
              <a:buFont typeface="Wingdings" panose="05000000000000000000" pitchFamily="2" charset="2"/>
              <a:buChar char="l"/>
            </a:pPr>
            <a:r>
              <a:rPr lang="zh-CN" altLang="en-US" sz="1800" dirty="0">
                <a:solidFill>
                  <a:srgbClr val="FF0000"/>
                </a:solidFill>
              </a:rPr>
              <a:t>内容：</a:t>
            </a:r>
            <a:endParaRPr lang="en-US" altLang="zh-CN" sz="1800" dirty="0">
              <a:solidFill>
                <a:srgbClr val="FF0000"/>
              </a:solidFill>
            </a:endParaRPr>
          </a:p>
          <a:p>
            <a:pPr lvl="1" eaLnBrk="1" hangingPunct="1">
              <a:lnSpc>
                <a:spcPct val="160000"/>
              </a:lnSpc>
              <a:spcBef>
                <a:spcPts val="0"/>
              </a:spcBef>
              <a:buClr>
                <a:srgbClr val="FF0000"/>
              </a:buClr>
              <a:buFont typeface="Wingdings" panose="05000000000000000000" pitchFamily="2" charset="2"/>
              <a:buChar char="Ø"/>
            </a:pPr>
            <a:r>
              <a:rPr lang="zh-CN" altLang="en-US" sz="1700" dirty="0"/>
              <a:t>离散信号的特性，采样定理，用差分方程对离散时间系统进行描述；</a:t>
            </a:r>
            <a:endParaRPr lang="en-US" altLang="zh-CN" sz="1700" dirty="0"/>
          </a:p>
          <a:p>
            <a:pPr lvl="1" eaLnBrk="1" hangingPunct="1">
              <a:lnSpc>
                <a:spcPct val="160000"/>
              </a:lnSpc>
              <a:spcBef>
                <a:spcPts val="0"/>
              </a:spcBef>
              <a:buClr>
                <a:srgbClr val="FF0000"/>
              </a:buClr>
              <a:buFont typeface="Wingdings" panose="05000000000000000000" pitchFamily="2" charset="2"/>
              <a:buChar char="Ø"/>
            </a:pPr>
            <a:r>
              <a:rPr lang="zh-CN" altLang="en-US" sz="1700" dirty="0"/>
              <a:t>举例讲述离散时间系统的时域分析法；</a:t>
            </a:r>
            <a:endParaRPr lang="en-US" altLang="zh-CN" sz="1700" dirty="0"/>
          </a:p>
          <a:p>
            <a:pPr lvl="1" eaLnBrk="1" hangingPunct="1">
              <a:lnSpc>
                <a:spcPct val="160000"/>
              </a:lnSpc>
              <a:spcBef>
                <a:spcPts val="0"/>
              </a:spcBef>
              <a:buClr>
                <a:srgbClr val="FF0000"/>
              </a:buClr>
              <a:buFont typeface="Wingdings" panose="05000000000000000000" pitchFamily="2" charset="2"/>
              <a:buChar char="Ø"/>
            </a:pPr>
            <a:r>
              <a:rPr lang="zh-CN" altLang="en-US" sz="1700" dirty="0"/>
              <a:t>离散时间系统的模拟，离散时间系统的稳定性判定。</a:t>
            </a:r>
          </a:p>
          <a:p>
            <a:pPr eaLnBrk="1" hangingPunct="1">
              <a:lnSpc>
                <a:spcPct val="160000"/>
              </a:lnSpc>
              <a:spcBef>
                <a:spcPts val="0"/>
              </a:spcBef>
              <a:buClr>
                <a:srgbClr val="FF0000"/>
              </a:buClr>
              <a:buFont typeface="Wingdings" panose="05000000000000000000" pitchFamily="2" charset="2"/>
              <a:buChar char="l"/>
            </a:pPr>
            <a:r>
              <a:rPr lang="zh-CN" altLang="en-US" sz="1800" dirty="0">
                <a:solidFill>
                  <a:srgbClr val="FF0000"/>
                </a:solidFill>
              </a:rPr>
              <a:t>重点掌握：</a:t>
            </a:r>
            <a:r>
              <a:rPr lang="zh-CN" altLang="en-US" sz="2400" dirty="0">
                <a:solidFill>
                  <a:schemeClr val="hlink"/>
                </a:solidFill>
              </a:rPr>
              <a:t>离散时间系统的时域分析方法，采样定理。</a:t>
            </a:r>
          </a:p>
        </p:txBody>
      </p:sp>
      <p:sp>
        <p:nvSpPr>
          <p:cNvPr id="1515526" name="Rectangle 6"/>
          <p:cNvSpPr>
            <a:spLocks noGrp="1" noChangeArrowheads="1"/>
          </p:cNvSpPr>
          <p:nvPr>
            <p:ph type="body" idx="1"/>
          </p:nvPr>
        </p:nvSpPr>
        <p:spPr>
          <a:xfrm>
            <a:off x="398899" y="1042988"/>
            <a:ext cx="8585541" cy="2438400"/>
          </a:xfrm>
          <a:solidFill>
            <a:schemeClr val="bg1"/>
          </a:solidFill>
          <a:ln w="57150">
            <a:solidFill>
              <a:schemeClr val="tx1"/>
            </a:solidFill>
            <a:miter lim="800000"/>
          </a:ln>
          <a:effectLst>
            <a:prstShdw prst="shdw12">
              <a:srgbClr val="808080">
                <a:alpha val="50000"/>
              </a:srgbClr>
            </a:prstShdw>
          </a:effectLst>
        </p:spPr>
        <p:txBody>
          <a:bodyPr/>
          <a:lstStyle/>
          <a:p>
            <a:pPr>
              <a:lnSpc>
                <a:spcPct val="155000"/>
              </a:lnSpc>
              <a:spcBef>
                <a:spcPts val="0"/>
              </a:spcBef>
              <a:buClr>
                <a:srgbClr val="FF0000"/>
              </a:buClr>
              <a:buFont typeface="Wingdings" panose="05000000000000000000" pitchFamily="2" charset="2"/>
              <a:buChar char="l"/>
            </a:pPr>
            <a:r>
              <a:rPr lang="zh-CN" altLang="en-US" sz="1800" b="1" dirty="0">
                <a:solidFill>
                  <a:srgbClr val="FF0000"/>
                </a:solidFill>
                <a:latin typeface="黑体" panose="02010609060101010101" pitchFamily="49" charset="-122"/>
                <a:ea typeface="黑体" panose="02010609060101010101" pitchFamily="49" charset="-122"/>
              </a:rPr>
              <a:t>内容：</a:t>
            </a:r>
            <a:endParaRPr lang="en-US" altLang="zh-CN" sz="1800" b="1" dirty="0">
              <a:solidFill>
                <a:srgbClr val="FF0000"/>
              </a:solidFill>
              <a:latin typeface="黑体" panose="02010609060101010101" pitchFamily="49" charset="-122"/>
              <a:ea typeface="黑体" panose="02010609060101010101" pitchFamily="49" charset="-122"/>
            </a:endParaRPr>
          </a:p>
          <a:p>
            <a:pPr lvl="1">
              <a:lnSpc>
                <a:spcPct val="155000"/>
              </a:lnSpc>
              <a:spcBef>
                <a:spcPts val="0"/>
              </a:spcBef>
              <a:buClr>
                <a:srgbClr val="FF0000"/>
              </a:buClr>
            </a:pPr>
            <a:r>
              <a:rPr lang="zh-CN" altLang="en-US" sz="1600" b="1" dirty="0">
                <a:latin typeface="黑体" panose="02010609060101010101" pitchFamily="49" charset="-122"/>
                <a:ea typeface="黑体" panose="02010609060101010101" pitchFamily="49" charset="-122"/>
              </a:rPr>
              <a:t>系统函数的三种表示法</a:t>
            </a:r>
            <a:r>
              <a:rPr lang="en-US" altLang="zh-CN" sz="1600" b="1" dirty="0">
                <a:latin typeface="黑体" panose="02010609060101010101" pitchFamily="49" charset="-122"/>
                <a:ea typeface="黑体" panose="02010609060101010101" pitchFamily="49" charset="-122"/>
              </a:rPr>
              <a:t>;</a:t>
            </a:r>
          </a:p>
          <a:p>
            <a:pPr lvl="1">
              <a:lnSpc>
                <a:spcPct val="155000"/>
              </a:lnSpc>
              <a:spcBef>
                <a:spcPts val="0"/>
              </a:spcBef>
              <a:buClr>
                <a:srgbClr val="FF0000"/>
              </a:buClr>
            </a:pPr>
            <a:r>
              <a:rPr lang="zh-CN" altLang="en-US" sz="1600" b="1" dirty="0">
                <a:latin typeface="黑体" panose="02010609060101010101" pitchFamily="49" charset="-122"/>
                <a:ea typeface="黑体" panose="02010609060101010101" pitchFamily="49" charset="-122"/>
              </a:rPr>
              <a:t>系统函数极点和零点的分布，系统函数的极、零点分布与系统频率特性间的关系；</a:t>
            </a:r>
            <a:endParaRPr lang="en-US" altLang="zh-CN" sz="1600" b="1" dirty="0">
              <a:latin typeface="黑体" panose="02010609060101010101" pitchFamily="49" charset="-122"/>
              <a:ea typeface="黑体" panose="02010609060101010101" pitchFamily="49" charset="-122"/>
            </a:endParaRPr>
          </a:p>
          <a:p>
            <a:pPr lvl="1">
              <a:lnSpc>
                <a:spcPct val="155000"/>
              </a:lnSpc>
              <a:spcBef>
                <a:spcPts val="0"/>
              </a:spcBef>
              <a:buClr>
                <a:srgbClr val="FF0000"/>
              </a:buClr>
            </a:pPr>
            <a:r>
              <a:rPr lang="zh-CN" altLang="en-US" sz="1600" b="1" dirty="0">
                <a:latin typeface="黑体" panose="02010609060101010101" pitchFamily="49" charset="-122"/>
                <a:ea typeface="黑体" panose="02010609060101010101" pitchFamily="49" charset="-122"/>
              </a:rPr>
              <a:t>波特图；</a:t>
            </a:r>
            <a:endParaRPr lang="en-US" altLang="zh-CN" sz="1600" b="1" dirty="0">
              <a:latin typeface="黑体" panose="02010609060101010101" pitchFamily="49" charset="-122"/>
              <a:ea typeface="黑体" panose="02010609060101010101" pitchFamily="49" charset="-122"/>
            </a:endParaRPr>
          </a:p>
          <a:p>
            <a:pPr lvl="1">
              <a:lnSpc>
                <a:spcPct val="155000"/>
              </a:lnSpc>
              <a:spcBef>
                <a:spcPts val="0"/>
              </a:spcBef>
              <a:buClr>
                <a:srgbClr val="FF0000"/>
              </a:buClr>
            </a:pPr>
            <a:r>
              <a:rPr lang="zh-CN" altLang="en-US" sz="1600" b="1" dirty="0">
                <a:latin typeface="黑体" panose="02010609060101010101" pitchFamily="49" charset="-122"/>
                <a:ea typeface="黑体" panose="02010609060101010101" pitchFamily="49" charset="-122"/>
              </a:rPr>
              <a:t>系统的稳定性，利用罗斯－霍维茨判据。</a:t>
            </a:r>
          </a:p>
          <a:p>
            <a:pPr>
              <a:lnSpc>
                <a:spcPct val="155000"/>
              </a:lnSpc>
              <a:spcBef>
                <a:spcPts val="0"/>
              </a:spcBef>
              <a:buClr>
                <a:srgbClr val="FF0000"/>
              </a:buClr>
              <a:buFont typeface="Wingdings" panose="05000000000000000000" pitchFamily="2" charset="2"/>
              <a:buChar char="l"/>
            </a:pPr>
            <a:r>
              <a:rPr lang="zh-CN" altLang="en-US" sz="1700" b="1" dirty="0">
                <a:solidFill>
                  <a:srgbClr val="FF0000"/>
                </a:solidFill>
                <a:latin typeface="黑体" panose="02010609060101010101" pitchFamily="49" charset="-122"/>
                <a:ea typeface="黑体" panose="02010609060101010101" pitchFamily="49" charset="-122"/>
              </a:rPr>
              <a:t>重点掌握：</a:t>
            </a:r>
            <a:r>
              <a:rPr lang="zh-CN" altLang="en-US" sz="2000" b="1" dirty="0">
                <a:solidFill>
                  <a:schemeClr val="hlink"/>
                </a:solidFill>
                <a:latin typeface="黑体" panose="02010609060101010101" pitchFamily="49" charset="-122"/>
                <a:ea typeface="黑体" panose="02010609060101010101" pitchFamily="49" charset="-122"/>
              </a:rPr>
              <a:t>系统的稳定性判别方法，了解系统函数的表示法。</a:t>
            </a:r>
          </a:p>
        </p:txBody>
      </p:sp>
      <p:sp>
        <p:nvSpPr>
          <p:cNvPr id="8" name="日期占位符 7"/>
          <p:cNvSpPr>
            <a:spLocks noGrp="1"/>
          </p:cNvSpPr>
          <p:nvPr>
            <p:ph type="dt" sz="quarter" idx="10"/>
          </p:nvPr>
        </p:nvSpPr>
        <p:spPr/>
        <p:txBody>
          <a:bodyPr/>
          <a:lstStyle/>
          <a:p>
            <a:pPr>
              <a:defRPr/>
            </a:pPr>
            <a:fld id="{9691F87C-7E25-47E9-984E-7615D26CC837}" type="datetime3">
              <a:rPr lang="zh-CN" altLang="en-US">
                <a:latin typeface="黑体" panose="02010609060101010101" pitchFamily="49" charset="-122"/>
                <a:ea typeface="黑体" panose="02010609060101010101" pitchFamily="49" charset="-122"/>
              </a:rPr>
              <a:t>2026年3月4日星期三</a:t>
            </a:fld>
            <a:endParaRPr lang="zh-CN" altLang="en-US">
              <a:latin typeface="黑体" panose="02010609060101010101" pitchFamily="49" charset="-122"/>
              <a:ea typeface="黑体" panose="02010609060101010101" pitchFamily="49" charset="-122"/>
            </a:endParaRPr>
          </a:p>
        </p:txBody>
      </p:sp>
    </p:spTree>
    <p:custDataLst>
      <p:tags r:id="rId1"/>
    </p:custDataLst>
  </p:cSld>
  <p:clrMapOvr>
    <a:masterClrMapping/>
  </p:clrMapOvr>
  <p:transition advTm="1211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15526">
                                            <p:bg/>
                                          </p:spTgt>
                                        </p:tgtEl>
                                        <p:attrNameLst>
                                          <p:attrName>style.visibility</p:attrName>
                                        </p:attrNameLst>
                                      </p:cBhvr>
                                      <p:to>
                                        <p:strVal val="visible"/>
                                      </p:to>
                                    </p:set>
                                    <p:anim calcmode="lin" valueType="num">
                                      <p:cBhvr>
                                        <p:cTn id="7" dur="1000" fill="hold"/>
                                        <p:tgtEl>
                                          <p:spTgt spid="1515526">
                                            <p:bg/>
                                          </p:spTgt>
                                        </p:tgtEl>
                                        <p:attrNameLst>
                                          <p:attrName>ppt_w</p:attrName>
                                        </p:attrNameLst>
                                      </p:cBhvr>
                                      <p:tavLst>
                                        <p:tav tm="0">
                                          <p:val>
                                            <p:strVal val="#ppt_w*0.70"/>
                                          </p:val>
                                        </p:tav>
                                        <p:tav tm="100000">
                                          <p:val>
                                            <p:strVal val="#ppt_w"/>
                                          </p:val>
                                        </p:tav>
                                      </p:tavLst>
                                    </p:anim>
                                    <p:anim calcmode="lin" valueType="num">
                                      <p:cBhvr>
                                        <p:cTn id="8" dur="1000" fill="hold"/>
                                        <p:tgtEl>
                                          <p:spTgt spid="1515526">
                                            <p:bg/>
                                          </p:spTgt>
                                        </p:tgtEl>
                                        <p:attrNameLst>
                                          <p:attrName>ppt_h</p:attrName>
                                        </p:attrNameLst>
                                      </p:cBhvr>
                                      <p:tavLst>
                                        <p:tav tm="0">
                                          <p:val>
                                            <p:strVal val="#ppt_h"/>
                                          </p:val>
                                        </p:tav>
                                        <p:tav tm="100000">
                                          <p:val>
                                            <p:strVal val="#ppt_h"/>
                                          </p:val>
                                        </p:tav>
                                      </p:tavLst>
                                    </p:anim>
                                    <p:animEffect transition="in" filter="fade">
                                      <p:cBhvr>
                                        <p:cTn id="9" dur="1000"/>
                                        <p:tgtEl>
                                          <p:spTgt spid="1515526">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15526">
                                            <p:txEl>
                                              <p:pRg st="0" end="0"/>
                                            </p:txEl>
                                          </p:spTgt>
                                        </p:tgtEl>
                                        <p:attrNameLst>
                                          <p:attrName>style.visibility</p:attrName>
                                        </p:attrNameLst>
                                      </p:cBhvr>
                                      <p:to>
                                        <p:strVal val="visible"/>
                                      </p:to>
                                    </p:set>
                                    <p:anim calcmode="lin" valueType="num">
                                      <p:cBhvr>
                                        <p:cTn id="13" dur="1000" fill="hold"/>
                                        <p:tgtEl>
                                          <p:spTgt spid="1515526">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515526">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515526">
                                            <p:txEl>
                                              <p:pRg st="0" end="0"/>
                                            </p:txEl>
                                          </p:spTgt>
                                        </p:tgtEl>
                                      </p:cBhvr>
                                    </p:animEffect>
                                  </p:childTnLst>
                                </p:cTn>
                              </p:par>
                              <p:par>
                                <p:cTn id="16" presetID="55" presetClass="entr" presetSubtype="0" fill="hold" grpId="0" nodeType="withEffect">
                                  <p:stCondLst>
                                    <p:cond delay="0"/>
                                  </p:stCondLst>
                                  <p:childTnLst>
                                    <p:set>
                                      <p:cBhvr>
                                        <p:cTn id="17" dur="1" fill="hold">
                                          <p:stCondLst>
                                            <p:cond delay="0"/>
                                          </p:stCondLst>
                                        </p:cTn>
                                        <p:tgtEl>
                                          <p:spTgt spid="1515526">
                                            <p:txEl>
                                              <p:pRg st="1" end="1"/>
                                            </p:txEl>
                                          </p:spTgt>
                                        </p:tgtEl>
                                        <p:attrNameLst>
                                          <p:attrName>style.visibility</p:attrName>
                                        </p:attrNameLst>
                                      </p:cBhvr>
                                      <p:to>
                                        <p:strVal val="visible"/>
                                      </p:to>
                                    </p:set>
                                    <p:anim calcmode="lin" valueType="num">
                                      <p:cBhvr>
                                        <p:cTn id="18" dur="1000" fill="hold"/>
                                        <p:tgtEl>
                                          <p:spTgt spid="1515526">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1515526">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1515526">
                                            <p:txEl>
                                              <p:pRg st="1" end="1"/>
                                            </p:txEl>
                                          </p:spTgt>
                                        </p:tgtEl>
                                      </p:cBhvr>
                                    </p:animEffect>
                                  </p:childTnLst>
                                </p:cTn>
                              </p:par>
                              <p:par>
                                <p:cTn id="21" presetID="55" presetClass="entr" presetSubtype="0" fill="hold" grpId="0" nodeType="withEffect">
                                  <p:stCondLst>
                                    <p:cond delay="0"/>
                                  </p:stCondLst>
                                  <p:childTnLst>
                                    <p:set>
                                      <p:cBhvr>
                                        <p:cTn id="22" dur="1" fill="hold">
                                          <p:stCondLst>
                                            <p:cond delay="0"/>
                                          </p:stCondLst>
                                        </p:cTn>
                                        <p:tgtEl>
                                          <p:spTgt spid="1515526">
                                            <p:txEl>
                                              <p:pRg st="2" end="2"/>
                                            </p:txEl>
                                          </p:spTgt>
                                        </p:tgtEl>
                                        <p:attrNameLst>
                                          <p:attrName>style.visibility</p:attrName>
                                        </p:attrNameLst>
                                      </p:cBhvr>
                                      <p:to>
                                        <p:strVal val="visible"/>
                                      </p:to>
                                    </p:set>
                                    <p:anim calcmode="lin" valueType="num">
                                      <p:cBhvr>
                                        <p:cTn id="23" dur="1000" fill="hold"/>
                                        <p:tgtEl>
                                          <p:spTgt spid="1515526">
                                            <p:txEl>
                                              <p:pRg st="2" end="2"/>
                                            </p:txEl>
                                          </p:spTgt>
                                        </p:tgtEl>
                                        <p:attrNameLst>
                                          <p:attrName>ppt_w</p:attrName>
                                        </p:attrNameLst>
                                      </p:cBhvr>
                                      <p:tavLst>
                                        <p:tav tm="0">
                                          <p:val>
                                            <p:strVal val="#ppt_w*0.70"/>
                                          </p:val>
                                        </p:tav>
                                        <p:tav tm="100000">
                                          <p:val>
                                            <p:strVal val="#ppt_w"/>
                                          </p:val>
                                        </p:tav>
                                      </p:tavLst>
                                    </p:anim>
                                    <p:anim calcmode="lin" valueType="num">
                                      <p:cBhvr>
                                        <p:cTn id="24" dur="1000" fill="hold"/>
                                        <p:tgtEl>
                                          <p:spTgt spid="1515526">
                                            <p:txEl>
                                              <p:pRg st="2" end="2"/>
                                            </p:txEl>
                                          </p:spTgt>
                                        </p:tgtEl>
                                        <p:attrNameLst>
                                          <p:attrName>ppt_h</p:attrName>
                                        </p:attrNameLst>
                                      </p:cBhvr>
                                      <p:tavLst>
                                        <p:tav tm="0">
                                          <p:val>
                                            <p:strVal val="#ppt_h"/>
                                          </p:val>
                                        </p:tav>
                                        <p:tav tm="100000">
                                          <p:val>
                                            <p:strVal val="#ppt_h"/>
                                          </p:val>
                                        </p:tav>
                                      </p:tavLst>
                                    </p:anim>
                                    <p:animEffect transition="in" filter="fade">
                                      <p:cBhvr>
                                        <p:cTn id="25" dur="1000"/>
                                        <p:tgtEl>
                                          <p:spTgt spid="1515526">
                                            <p:txEl>
                                              <p:pRg st="2" end="2"/>
                                            </p:txEl>
                                          </p:spTgt>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1515526">
                                            <p:txEl>
                                              <p:pRg st="3" end="3"/>
                                            </p:txEl>
                                          </p:spTgt>
                                        </p:tgtEl>
                                        <p:attrNameLst>
                                          <p:attrName>style.visibility</p:attrName>
                                        </p:attrNameLst>
                                      </p:cBhvr>
                                      <p:to>
                                        <p:strVal val="visible"/>
                                      </p:to>
                                    </p:set>
                                    <p:anim calcmode="lin" valueType="num">
                                      <p:cBhvr>
                                        <p:cTn id="28" dur="1000" fill="hold"/>
                                        <p:tgtEl>
                                          <p:spTgt spid="1515526">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515526">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515526">
                                            <p:txEl>
                                              <p:pRg st="3" end="3"/>
                                            </p:txEl>
                                          </p:spTgt>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1515526">
                                            <p:txEl>
                                              <p:pRg st="4" end="4"/>
                                            </p:txEl>
                                          </p:spTgt>
                                        </p:tgtEl>
                                        <p:attrNameLst>
                                          <p:attrName>style.visibility</p:attrName>
                                        </p:attrNameLst>
                                      </p:cBhvr>
                                      <p:to>
                                        <p:strVal val="visible"/>
                                      </p:to>
                                    </p:set>
                                    <p:anim calcmode="lin" valueType="num">
                                      <p:cBhvr>
                                        <p:cTn id="33" dur="1000" fill="hold"/>
                                        <p:tgtEl>
                                          <p:spTgt spid="1515526">
                                            <p:txEl>
                                              <p:pRg st="4" end="4"/>
                                            </p:txEl>
                                          </p:spTgt>
                                        </p:tgtEl>
                                        <p:attrNameLst>
                                          <p:attrName>ppt_w</p:attrName>
                                        </p:attrNameLst>
                                      </p:cBhvr>
                                      <p:tavLst>
                                        <p:tav tm="0">
                                          <p:val>
                                            <p:strVal val="#ppt_w*0.70"/>
                                          </p:val>
                                        </p:tav>
                                        <p:tav tm="100000">
                                          <p:val>
                                            <p:strVal val="#ppt_w"/>
                                          </p:val>
                                        </p:tav>
                                      </p:tavLst>
                                    </p:anim>
                                    <p:anim calcmode="lin" valueType="num">
                                      <p:cBhvr>
                                        <p:cTn id="34" dur="1000" fill="hold"/>
                                        <p:tgtEl>
                                          <p:spTgt spid="1515526">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1515526">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5" presetClass="entr" presetSubtype="0" fill="hold" nodeType="clickEffect">
                                  <p:stCondLst>
                                    <p:cond delay="0"/>
                                  </p:stCondLst>
                                  <p:childTnLst>
                                    <p:set>
                                      <p:cBhvr>
                                        <p:cTn id="39" dur="1" fill="hold">
                                          <p:stCondLst>
                                            <p:cond delay="0"/>
                                          </p:stCondLst>
                                        </p:cTn>
                                        <p:tgtEl>
                                          <p:spTgt spid="1515526">
                                            <p:txEl>
                                              <p:pRg st="5" end="5"/>
                                            </p:txEl>
                                          </p:spTgt>
                                        </p:tgtEl>
                                        <p:attrNameLst>
                                          <p:attrName>style.visibility</p:attrName>
                                        </p:attrNameLst>
                                      </p:cBhvr>
                                      <p:to>
                                        <p:strVal val="visible"/>
                                      </p:to>
                                    </p:set>
                                    <p:animEffect transition="in" filter="fade">
                                      <p:cBhvr>
                                        <p:cTn id="40" dur="1250"/>
                                        <p:tgtEl>
                                          <p:spTgt spid="1515526">
                                            <p:txEl>
                                              <p:pRg st="5" end="5"/>
                                            </p:txEl>
                                          </p:spTgt>
                                        </p:tgtEl>
                                      </p:cBhvr>
                                    </p:animEffect>
                                    <p:anim calcmode="lin" valueType="num">
                                      <p:cBhvr>
                                        <p:cTn id="41" dur="1250" fill="hold"/>
                                        <p:tgtEl>
                                          <p:spTgt spid="1515526">
                                            <p:txEl>
                                              <p:pRg st="5" end="5"/>
                                            </p:txEl>
                                          </p:spTgt>
                                        </p:tgtEl>
                                        <p:attrNameLst>
                                          <p:attrName>ppt_w</p:attrName>
                                        </p:attrNameLst>
                                      </p:cBhvr>
                                      <p:tavLst>
                                        <p:tav tm="0" fmla="#ppt_w*sin(2.5*pi*$)">
                                          <p:val>
                                            <p:fltVal val="0"/>
                                          </p:val>
                                        </p:tav>
                                        <p:tav tm="100000">
                                          <p:val>
                                            <p:fltVal val="1"/>
                                          </p:val>
                                        </p:tav>
                                      </p:tavLst>
                                    </p:anim>
                                    <p:anim calcmode="lin" valueType="num">
                                      <p:cBhvr>
                                        <p:cTn id="42" dur="1250" fill="hold"/>
                                        <p:tgtEl>
                                          <p:spTgt spid="1515526">
                                            <p:txEl>
                                              <p:pRg st="5" end="5"/>
                                            </p:txEl>
                                          </p:spTgt>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515524"/>
                                        </p:tgtEl>
                                        <p:attrNameLst>
                                          <p:attrName>style.visibility</p:attrName>
                                        </p:attrNameLst>
                                      </p:cBhvr>
                                      <p:to>
                                        <p:strVal val="visible"/>
                                      </p:to>
                                    </p:set>
                                    <p:animEffect transition="in" filter="blinds(horizontal)">
                                      <p:cBhvr>
                                        <p:cTn id="47" dur="500"/>
                                        <p:tgtEl>
                                          <p:spTgt spid="1515524"/>
                                        </p:tgtEl>
                                      </p:cBhvr>
                                    </p:animEffect>
                                  </p:childTnLst>
                                </p:cTn>
                              </p:par>
                            </p:childTnLst>
                          </p:cTn>
                        </p:par>
                        <p:par>
                          <p:cTn id="48" fill="hold">
                            <p:stCondLst>
                              <p:cond delay="500"/>
                            </p:stCondLst>
                            <p:childTnLst>
                              <p:par>
                                <p:cTn id="49" presetID="55" presetClass="entr" presetSubtype="0" fill="hold" grpId="0" nodeType="afterEffect">
                                  <p:stCondLst>
                                    <p:cond delay="0"/>
                                  </p:stCondLst>
                                  <p:childTnLst>
                                    <p:set>
                                      <p:cBhvr>
                                        <p:cTn id="50" dur="1" fill="hold">
                                          <p:stCondLst>
                                            <p:cond delay="0"/>
                                          </p:stCondLst>
                                        </p:cTn>
                                        <p:tgtEl>
                                          <p:spTgt spid="1515525">
                                            <p:bg/>
                                          </p:spTgt>
                                        </p:tgtEl>
                                        <p:attrNameLst>
                                          <p:attrName>style.visibility</p:attrName>
                                        </p:attrNameLst>
                                      </p:cBhvr>
                                      <p:to>
                                        <p:strVal val="visible"/>
                                      </p:to>
                                    </p:set>
                                    <p:anim calcmode="lin" valueType="num">
                                      <p:cBhvr>
                                        <p:cTn id="51" dur="1000" fill="hold"/>
                                        <p:tgtEl>
                                          <p:spTgt spid="1515525">
                                            <p:bg/>
                                          </p:spTgt>
                                        </p:tgtEl>
                                        <p:attrNameLst>
                                          <p:attrName>ppt_w</p:attrName>
                                        </p:attrNameLst>
                                      </p:cBhvr>
                                      <p:tavLst>
                                        <p:tav tm="0">
                                          <p:val>
                                            <p:strVal val="#ppt_w*0.70"/>
                                          </p:val>
                                        </p:tav>
                                        <p:tav tm="100000">
                                          <p:val>
                                            <p:strVal val="#ppt_w"/>
                                          </p:val>
                                        </p:tav>
                                      </p:tavLst>
                                    </p:anim>
                                    <p:anim calcmode="lin" valueType="num">
                                      <p:cBhvr>
                                        <p:cTn id="52" dur="1000" fill="hold"/>
                                        <p:tgtEl>
                                          <p:spTgt spid="1515525">
                                            <p:bg/>
                                          </p:spTgt>
                                        </p:tgtEl>
                                        <p:attrNameLst>
                                          <p:attrName>ppt_h</p:attrName>
                                        </p:attrNameLst>
                                      </p:cBhvr>
                                      <p:tavLst>
                                        <p:tav tm="0">
                                          <p:val>
                                            <p:strVal val="#ppt_h"/>
                                          </p:val>
                                        </p:tav>
                                        <p:tav tm="100000">
                                          <p:val>
                                            <p:strVal val="#ppt_h"/>
                                          </p:val>
                                        </p:tav>
                                      </p:tavLst>
                                    </p:anim>
                                    <p:animEffect transition="in" filter="fade">
                                      <p:cBhvr>
                                        <p:cTn id="53" dur="1000"/>
                                        <p:tgtEl>
                                          <p:spTgt spid="1515525">
                                            <p:bg/>
                                          </p:spTgt>
                                        </p:tgtEl>
                                      </p:cBhvr>
                                    </p:animEffect>
                                  </p:childTnLst>
                                </p:cTn>
                              </p:par>
                            </p:childTnLst>
                          </p:cTn>
                        </p:par>
                        <p:par>
                          <p:cTn id="54" fill="hold">
                            <p:stCondLst>
                              <p:cond delay="1500"/>
                            </p:stCondLst>
                            <p:childTnLst>
                              <p:par>
                                <p:cTn id="55" presetID="55" presetClass="entr" presetSubtype="0" fill="hold" grpId="0" nodeType="afterEffect">
                                  <p:stCondLst>
                                    <p:cond delay="0"/>
                                  </p:stCondLst>
                                  <p:childTnLst>
                                    <p:set>
                                      <p:cBhvr>
                                        <p:cTn id="56" dur="1" fill="hold">
                                          <p:stCondLst>
                                            <p:cond delay="0"/>
                                          </p:stCondLst>
                                        </p:cTn>
                                        <p:tgtEl>
                                          <p:spTgt spid="1515525">
                                            <p:txEl>
                                              <p:pRg st="0" end="0"/>
                                            </p:txEl>
                                          </p:spTgt>
                                        </p:tgtEl>
                                        <p:attrNameLst>
                                          <p:attrName>style.visibility</p:attrName>
                                        </p:attrNameLst>
                                      </p:cBhvr>
                                      <p:to>
                                        <p:strVal val="visible"/>
                                      </p:to>
                                    </p:set>
                                    <p:anim calcmode="lin" valueType="num">
                                      <p:cBhvr>
                                        <p:cTn id="57" dur="1000" fill="hold"/>
                                        <p:tgtEl>
                                          <p:spTgt spid="1515525">
                                            <p:txEl>
                                              <p:pRg st="0" end="0"/>
                                            </p:txEl>
                                          </p:spTgt>
                                        </p:tgtEl>
                                        <p:attrNameLst>
                                          <p:attrName>ppt_w</p:attrName>
                                        </p:attrNameLst>
                                      </p:cBhvr>
                                      <p:tavLst>
                                        <p:tav tm="0">
                                          <p:val>
                                            <p:strVal val="#ppt_w*0.70"/>
                                          </p:val>
                                        </p:tav>
                                        <p:tav tm="100000">
                                          <p:val>
                                            <p:strVal val="#ppt_w"/>
                                          </p:val>
                                        </p:tav>
                                      </p:tavLst>
                                    </p:anim>
                                    <p:anim calcmode="lin" valueType="num">
                                      <p:cBhvr>
                                        <p:cTn id="58" dur="1000" fill="hold"/>
                                        <p:tgtEl>
                                          <p:spTgt spid="1515525">
                                            <p:txEl>
                                              <p:pRg st="0" end="0"/>
                                            </p:txEl>
                                          </p:spTgt>
                                        </p:tgtEl>
                                        <p:attrNameLst>
                                          <p:attrName>ppt_h</p:attrName>
                                        </p:attrNameLst>
                                      </p:cBhvr>
                                      <p:tavLst>
                                        <p:tav tm="0">
                                          <p:val>
                                            <p:strVal val="#ppt_h"/>
                                          </p:val>
                                        </p:tav>
                                        <p:tav tm="100000">
                                          <p:val>
                                            <p:strVal val="#ppt_h"/>
                                          </p:val>
                                        </p:tav>
                                      </p:tavLst>
                                    </p:anim>
                                    <p:animEffect transition="in" filter="fade">
                                      <p:cBhvr>
                                        <p:cTn id="59" dur="1000"/>
                                        <p:tgtEl>
                                          <p:spTgt spid="1515525">
                                            <p:txEl>
                                              <p:pRg st="0" end="0"/>
                                            </p:txEl>
                                          </p:spTgt>
                                        </p:tgtEl>
                                      </p:cBhvr>
                                    </p:animEffect>
                                  </p:childTnLst>
                                </p:cTn>
                              </p:par>
                              <p:par>
                                <p:cTn id="60" presetID="55" presetClass="entr" presetSubtype="0" fill="hold" grpId="0" nodeType="withEffect">
                                  <p:stCondLst>
                                    <p:cond delay="0"/>
                                  </p:stCondLst>
                                  <p:childTnLst>
                                    <p:set>
                                      <p:cBhvr>
                                        <p:cTn id="61" dur="1" fill="hold">
                                          <p:stCondLst>
                                            <p:cond delay="0"/>
                                          </p:stCondLst>
                                        </p:cTn>
                                        <p:tgtEl>
                                          <p:spTgt spid="1515525">
                                            <p:txEl>
                                              <p:pRg st="1" end="1"/>
                                            </p:txEl>
                                          </p:spTgt>
                                        </p:tgtEl>
                                        <p:attrNameLst>
                                          <p:attrName>style.visibility</p:attrName>
                                        </p:attrNameLst>
                                      </p:cBhvr>
                                      <p:to>
                                        <p:strVal val="visible"/>
                                      </p:to>
                                    </p:set>
                                    <p:anim calcmode="lin" valueType="num">
                                      <p:cBhvr>
                                        <p:cTn id="62" dur="1000" fill="hold"/>
                                        <p:tgtEl>
                                          <p:spTgt spid="1515525">
                                            <p:txEl>
                                              <p:pRg st="1" end="1"/>
                                            </p:txEl>
                                          </p:spTgt>
                                        </p:tgtEl>
                                        <p:attrNameLst>
                                          <p:attrName>ppt_w</p:attrName>
                                        </p:attrNameLst>
                                      </p:cBhvr>
                                      <p:tavLst>
                                        <p:tav tm="0">
                                          <p:val>
                                            <p:strVal val="#ppt_w*0.70"/>
                                          </p:val>
                                        </p:tav>
                                        <p:tav tm="100000">
                                          <p:val>
                                            <p:strVal val="#ppt_w"/>
                                          </p:val>
                                        </p:tav>
                                      </p:tavLst>
                                    </p:anim>
                                    <p:anim calcmode="lin" valueType="num">
                                      <p:cBhvr>
                                        <p:cTn id="63" dur="1000" fill="hold"/>
                                        <p:tgtEl>
                                          <p:spTgt spid="1515525">
                                            <p:txEl>
                                              <p:pRg st="1" end="1"/>
                                            </p:txEl>
                                          </p:spTgt>
                                        </p:tgtEl>
                                        <p:attrNameLst>
                                          <p:attrName>ppt_h</p:attrName>
                                        </p:attrNameLst>
                                      </p:cBhvr>
                                      <p:tavLst>
                                        <p:tav tm="0">
                                          <p:val>
                                            <p:strVal val="#ppt_h"/>
                                          </p:val>
                                        </p:tav>
                                        <p:tav tm="100000">
                                          <p:val>
                                            <p:strVal val="#ppt_h"/>
                                          </p:val>
                                        </p:tav>
                                      </p:tavLst>
                                    </p:anim>
                                    <p:animEffect transition="in" filter="fade">
                                      <p:cBhvr>
                                        <p:cTn id="64" dur="1000"/>
                                        <p:tgtEl>
                                          <p:spTgt spid="1515525">
                                            <p:txEl>
                                              <p:pRg st="1" end="1"/>
                                            </p:txEl>
                                          </p:spTgt>
                                        </p:tgtEl>
                                      </p:cBhvr>
                                    </p:animEffect>
                                  </p:childTnLst>
                                </p:cTn>
                              </p:par>
                              <p:par>
                                <p:cTn id="65" presetID="55" presetClass="entr" presetSubtype="0" fill="hold" grpId="0" nodeType="withEffect">
                                  <p:stCondLst>
                                    <p:cond delay="0"/>
                                  </p:stCondLst>
                                  <p:childTnLst>
                                    <p:set>
                                      <p:cBhvr>
                                        <p:cTn id="66" dur="1" fill="hold">
                                          <p:stCondLst>
                                            <p:cond delay="0"/>
                                          </p:stCondLst>
                                        </p:cTn>
                                        <p:tgtEl>
                                          <p:spTgt spid="1515525">
                                            <p:txEl>
                                              <p:pRg st="2" end="2"/>
                                            </p:txEl>
                                          </p:spTgt>
                                        </p:tgtEl>
                                        <p:attrNameLst>
                                          <p:attrName>style.visibility</p:attrName>
                                        </p:attrNameLst>
                                      </p:cBhvr>
                                      <p:to>
                                        <p:strVal val="visible"/>
                                      </p:to>
                                    </p:set>
                                    <p:anim calcmode="lin" valueType="num">
                                      <p:cBhvr>
                                        <p:cTn id="67" dur="1000" fill="hold"/>
                                        <p:tgtEl>
                                          <p:spTgt spid="1515525">
                                            <p:txEl>
                                              <p:pRg st="2" end="2"/>
                                            </p:txEl>
                                          </p:spTgt>
                                        </p:tgtEl>
                                        <p:attrNameLst>
                                          <p:attrName>ppt_w</p:attrName>
                                        </p:attrNameLst>
                                      </p:cBhvr>
                                      <p:tavLst>
                                        <p:tav tm="0">
                                          <p:val>
                                            <p:strVal val="#ppt_w*0.70"/>
                                          </p:val>
                                        </p:tav>
                                        <p:tav tm="100000">
                                          <p:val>
                                            <p:strVal val="#ppt_w"/>
                                          </p:val>
                                        </p:tav>
                                      </p:tavLst>
                                    </p:anim>
                                    <p:anim calcmode="lin" valueType="num">
                                      <p:cBhvr>
                                        <p:cTn id="68" dur="1000" fill="hold"/>
                                        <p:tgtEl>
                                          <p:spTgt spid="1515525">
                                            <p:txEl>
                                              <p:pRg st="2" end="2"/>
                                            </p:txEl>
                                          </p:spTgt>
                                        </p:tgtEl>
                                        <p:attrNameLst>
                                          <p:attrName>ppt_h</p:attrName>
                                        </p:attrNameLst>
                                      </p:cBhvr>
                                      <p:tavLst>
                                        <p:tav tm="0">
                                          <p:val>
                                            <p:strVal val="#ppt_h"/>
                                          </p:val>
                                        </p:tav>
                                        <p:tav tm="100000">
                                          <p:val>
                                            <p:strVal val="#ppt_h"/>
                                          </p:val>
                                        </p:tav>
                                      </p:tavLst>
                                    </p:anim>
                                    <p:animEffect transition="in" filter="fade">
                                      <p:cBhvr>
                                        <p:cTn id="69" dur="1000"/>
                                        <p:tgtEl>
                                          <p:spTgt spid="1515525">
                                            <p:txEl>
                                              <p:pRg st="2" end="2"/>
                                            </p:txEl>
                                          </p:spTgt>
                                        </p:tgtEl>
                                      </p:cBhvr>
                                    </p:animEffect>
                                  </p:childTnLst>
                                </p:cTn>
                              </p:par>
                              <p:par>
                                <p:cTn id="70" presetID="55" presetClass="entr" presetSubtype="0" fill="hold" grpId="0" nodeType="withEffect">
                                  <p:stCondLst>
                                    <p:cond delay="0"/>
                                  </p:stCondLst>
                                  <p:childTnLst>
                                    <p:set>
                                      <p:cBhvr>
                                        <p:cTn id="71" dur="1" fill="hold">
                                          <p:stCondLst>
                                            <p:cond delay="0"/>
                                          </p:stCondLst>
                                        </p:cTn>
                                        <p:tgtEl>
                                          <p:spTgt spid="1515525">
                                            <p:txEl>
                                              <p:pRg st="3" end="3"/>
                                            </p:txEl>
                                          </p:spTgt>
                                        </p:tgtEl>
                                        <p:attrNameLst>
                                          <p:attrName>style.visibility</p:attrName>
                                        </p:attrNameLst>
                                      </p:cBhvr>
                                      <p:to>
                                        <p:strVal val="visible"/>
                                      </p:to>
                                    </p:set>
                                    <p:anim calcmode="lin" valueType="num">
                                      <p:cBhvr>
                                        <p:cTn id="72" dur="1000" fill="hold"/>
                                        <p:tgtEl>
                                          <p:spTgt spid="1515525">
                                            <p:txEl>
                                              <p:pRg st="3" end="3"/>
                                            </p:txEl>
                                          </p:spTgt>
                                        </p:tgtEl>
                                        <p:attrNameLst>
                                          <p:attrName>ppt_w</p:attrName>
                                        </p:attrNameLst>
                                      </p:cBhvr>
                                      <p:tavLst>
                                        <p:tav tm="0">
                                          <p:val>
                                            <p:strVal val="#ppt_w*0.70"/>
                                          </p:val>
                                        </p:tav>
                                        <p:tav tm="100000">
                                          <p:val>
                                            <p:strVal val="#ppt_w"/>
                                          </p:val>
                                        </p:tav>
                                      </p:tavLst>
                                    </p:anim>
                                    <p:anim calcmode="lin" valueType="num">
                                      <p:cBhvr>
                                        <p:cTn id="73" dur="1000" fill="hold"/>
                                        <p:tgtEl>
                                          <p:spTgt spid="1515525">
                                            <p:txEl>
                                              <p:pRg st="3" end="3"/>
                                            </p:txEl>
                                          </p:spTgt>
                                        </p:tgtEl>
                                        <p:attrNameLst>
                                          <p:attrName>ppt_h</p:attrName>
                                        </p:attrNameLst>
                                      </p:cBhvr>
                                      <p:tavLst>
                                        <p:tav tm="0">
                                          <p:val>
                                            <p:strVal val="#ppt_h"/>
                                          </p:val>
                                        </p:tav>
                                        <p:tav tm="100000">
                                          <p:val>
                                            <p:strVal val="#ppt_h"/>
                                          </p:val>
                                        </p:tav>
                                      </p:tavLst>
                                    </p:anim>
                                    <p:animEffect transition="in" filter="fade">
                                      <p:cBhvr>
                                        <p:cTn id="74" dur="1000"/>
                                        <p:tgtEl>
                                          <p:spTgt spid="1515525">
                                            <p:txEl>
                                              <p:pRg st="3" end="3"/>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1515525">
                                            <p:txEl>
                                              <p:pRg st="4" end="4"/>
                                            </p:txEl>
                                          </p:spTgt>
                                        </p:tgtEl>
                                        <p:attrNameLst>
                                          <p:attrName>style.visibility</p:attrName>
                                        </p:attrNameLst>
                                      </p:cBhvr>
                                      <p:to>
                                        <p:strVal val="visible"/>
                                      </p:to>
                                    </p:set>
                                    <p:anim calcmode="lin" valueType="num">
                                      <p:cBhvr>
                                        <p:cTn id="79" dur="500" fill="hold"/>
                                        <p:tgtEl>
                                          <p:spTgt spid="1515525">
                                            <p:txEl>
                                              <p:pRg st="4" end="4"/>
                                            </p:txEl>
                                          </p:spTgt>
                                        </p:tgtEl>
                                        <p:attrNameLst>
                                          <p:attrName>ppt_w</p:attrName>
                                        </p:attrNameLst>
                                      </p:cBhvr>
                                      <p:tavLst>
                                        <p:tav tm="0">
                                          <p:val>
                                            <p:fltVal val="0"/>
                                          </p:val>
                                        </p:tav>
                                        <p:tav tm="100000">
                                          <p:val>
                                            <p:strVal val="#ppt_w"/>
                                          </p:val>
                                        </p:tav>
                                      </p:tavLst>
                                    </p:anim>
                                    <p:anim calcmode="lin" valueType="num">
                                      <p:cBhvr>
                                        <p:cTn id="80" dur="500" fill="hold"/>
                                        <p:tgtEl>
                                          <p:spTgt spid="1515525">
                                            <p:txEl>
                                              <p:pRg st="4" end="4"/>
                                            </p:txEl>
                                          </p:spTgt>
                                        </p:tgtEl>
                                        <p:attrNameLst>
                                          <p:attrName>ppt_h</p:attrName>
                                        </p:attrNameLst>
                                      </p:cBhvr>
                                      <p:tavLst>
                                        <p:tav tm="0">
                                          <p:val>
                                            <p:fltVal val="0"/>
                                          </p:val>
                                        </p:tav>
                                        <p:tav tm="100000">
                                          <p:val>
                                            <p:strVal val="#ppt_h"/>
                                          </p:val>
                                        </p:tav>
                                      </p:tavLst>
                                    </p:anim>
                                    <p:animEffect transition="in" filter="fade">
                                      <p:cBhvr>
                                        <p:cTn id="81" dur="500"/>
                                        <p:tgtEl>
                                          <p:spTgt spid="15155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24" grpId="0" bldLvl="0" animBg="1"/>
      <p:bldP spid="1515525" grpId="0" uiExpand="1" build="allAtOnce" animBg="1"/>
      <p:bldP spid="1515526"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1427" name="Rectangle 3"/>
          <p:cNvSpPr>
            <a:spLocks noGrp="1" noChangeArrowheads="1"/>
          </p:cNvSpPr>
          <p:nvPr>
            <p:ph type="body" idx="1"/>
          </p:nvPr>
        </p:nvSpPr>
        <p:spPr>
          <a:xfrm>
            <a:off x="720724" y="1925638"/>
            <a:ext cx="7539561" cy="3451225"/>
          </a:xfrm>
          <a:solidFill>
            <a:schemeClr val="bg1"/>
          </a:solidFill>
          <a:ln w="57150">
            <a:solidFill>
              <a:schemeClr val="tx1"/>
            </a:solidFill>
            <a:miter lim="800000"/>
          </a:ln>
          <a:effectLst>
            <a:prstShdw prst="shdw12">
              <a:srgbClr val="808080">
                <a:alpha val="50000"/>
              </a:srgbClr>
            </a:prstShdw>
          </a:effectLst>
        </p:spPr>
        <p:txBody>
          <a:bodyPr/>
          <a:lstStyle/>
          <a:p>
            <a:pPr>
              <a:lnSpc>
                <a:spcPct val="155000"/>
              </a:lnSpc>
              <a:spcBef>
                <a:spcPts val="600"/>
              </a:spcBef>
              <a:buClr>
                <a:srgbClr val="FF0000"/>
              </a:buClr>
              <a:buFont typeface="Wingdings" panose="05000000000000000000" pitchFamily="2" charset="2"/>
              <a:buChar char="l"/>
            </a:pPr>
            <a:r>
              <a:rPr lang="zh-CN" altLang="en-US" sz="2200" b="1" dirty="0">
                <a:solidFill>
                  <a:srgbClr val="FF0000"/>
                </a:solidFill>
                <a:latin typeface="+mn-ea"/>
              </a:rPr>
              <a:t>内容：</a:t>
            </a:r>
            <a:endParaRPr lang="en-US" altLang="zh-CN" sz="2200" b="1" dirty="0">
              <a:solidFill>
                <a:srgbClr val="FF0000"/>
              </a:solidFill>
              <a:latin typeface="+mn-ea"/>
            </a:endParaRPr>
          </a:p>
          <a:p>
            <a:pPr lvl="1">
              <a:lnSpc>
                <a:spcPct val="155000"/>
              </a:lnSpc>
              <a:spcBef>
                <a:spcPts val="600"/>
              </a:spcBef>
              <a:buClr>
                <a:srgbClr val="FF0000"/>
              </a:buClr>
            </a:pPr>
            <a:r>
              <a:rPr lang="zh-CN" altLang="en-US" sz="1800" b="1" dirty="0">
                <a:latin typeface="+mn-ea"/>
              </a:rPr>
              <a:t>离散时间系统的</a:t>
            </a:r>
            <a:r>
              <a:rPr lang="en-US" altLang="zh-CN" sz="1800" b="1" dirty="0">
                <a:latin typeface="+mn-ea"/>
              </a:rPr>
              <a:t>Z</a:t>
            </a:r>
            <a:r>
              <a:rPr lang="zh-CN" altLang="en-US" sz="1800" b="1" dirty="0">
                <a:latin typeface="+mn-ea"/>
              </a:rPr>
              <a:t>变换定义与收敛区，</a:t>
            </a:r>
            <a:endParaRPr lang="en-US" altLang="zh-CN" sz="1800" b="1" dirty="0">
              <a:latin typeface="+mn-ea"/>
            </a:endParaRPr>
          </a:p>
          <a:p>
            <a:pPr lvl="1">
              <a:lnSpc>
                <a:spcPct val="155000"/>
              </a:lnSpc>
              <a:spcBef>
                <a:spcPts val="600"/>
              </a:spcBef>
              <a:buClr>
                <a:srgbClr val="FF0000"/>
              </a:buClr>
            </a:pPr>
            <a:r>
              <a:rPr lang="zh-CN" altLang="en-US" sz="1800" b="1" dirty="0">
                <a:latin typeface="+mn-ea"/>
              </a:rPr>
              <a:t>常见函数的</a:t>
            </a:r>
            <a:r>
              <a:rPr lang="en-US" altLang="zh-CN" sz="1800" b="1" dirty="0">
                <a:latin typeface="+mn-ea"/>
              </a:rPr>
              <a:t>Z</a:t>
            </a:r>
            <a:r>
              <a:rPr lang="zh-CN" altLang="en-US" sz="1800" b="1" dirty="0">
                <a:latin typeface="+mn-ea"/>
              </a:rPr>
              <a:t>变换；</a:t>
            </a:r>
            <a:r>
              <a:rPr lang="en-US" altLang="zh-CN" sz="1800" b="1" dirty="0">
                <a:latin typeface="+mn-ea"/>
              </a:rPr>
              <a:t>Z</a:t>
            </a:r>
            <a:r>
              <a:rPr lang="zh-CN" altLang="en-US" sz="1800" b="1" dirty="0">
                <a:latin typeface="+mn-ea"/>
              </a:rPr>
              <a:t>变换性质，</a:t>
            </a:r>
            <a:r>
              <a:rPr lang="en-US" altLang="zh-CN" sz="1800" b="1" dirty="0">
                <a:latin typeface="+mn-ea"/>
              </a:rPr>
              <a:t>Z</a:t>
            </a:r>
            <a:r>
              <a:rPr lang="zh-CN" altLang="en-US" sz="1800" b="1" dirty="0">
                <a:latin typeface="+mn-ea"/>
              </a:rPr>
              <a:t>反变换；</a:t>
            </a:r>
            <a:endParaRPr lang="en-US" altLang="zh-CN" sz="1800" b="1" dirty="0">
              <a:latin typeface="+mn-ea"/>
            </a:endParaRPr>
          </a:p>
          <a:p>
            <a:pPr lvl="1">
              <a:lnSpc>
                <a:spcPct val="155000"/>
              </a:lnSpc>
              <a:spcBef>
                <a:spcPts val="600"/>
              </a:spcBef>
              <a:buClr>
                <a:srgbClr val="FF0000"/>
              </a:buClr>
            </a:pPr>
            <a:r>
              <a:rPr lang="zh-CN" altLang="en-US" sz="1800" b="1" dirty="0">
                <a:latin typeface="+mn-ea"/>
              </a:rPr>
              <a:t>讲述离散时间系统的</a:t>
            </a:r>
            <a:r>
              <a:rPr lang="en-US" altLang="zh-CN" sz="1800" b="1" dirty="0">
                <a:latin typeface="+mn-ea"/>
              </a:rPr>
              <a:t>Z</a:t>
            </a:r>
            <a:r>
              <a:rPr lang="zh-CN" altLang="en-US" sz="1800" b="1" dirty="0">
                <a:latin typeface="+mn-ea"/>
              </a:rPr>
              <a:t>变换分析法。</a:t>
            </a:r>
          </a:p>
          <a:p>
            <a:pPr>
              <a:lnSpc>
                <a:spcPct val="155000"/>
              </a:lnSpc>
              <a:spcBef>
                <a:spcPts val="600"/>
              </a:spcBef>
              <a:buClr>
                <a:srgbClr val="FF0000"/>
              </a:buClr>
              <a:buFont typeface="Wingdings" panose="05000000000000000000" pitchFamily="2" charset="2"/>
              <a:buChar char="l"/>
            </a:pPr>
            <a:r>
              <a:rPr lang="zh-CN" altLang="en-US" sz="2200" b="1" dirty="0">
                <a:solidFill>
                  <a:srgbClr val="FF0000"/>
                </a:solidFill>
                <a:latin typeface="+mn-ea"/>
              </a:rPr>
              <a:t>重点掌握：</a:t>
            </a:r>
            <a:r>
              <a:rPr lang="zh-CN" altLang="en-US" sz="2200" b="1" dirty="0">
                <a:solidFill>
                  <a:schemeClr val="hlink"/>
                </a:solidFill>
                <a:latin typeface="+mn-ea"/>
              </a:rPr>
              <a:t>离散时间系统的</a:t>
            </a:r>
            <a:r>
              <a:rPr lang="en-US" altLang="zh-CN" sz="2200" b="1" dirty="0">
                <a:solidFill>
                  <a:schemeClr val="hlink"/>
                </a:solidFill>
                <a:latin typeface="+mn-ea"/>
              </a:rPr>
              <a:t>Z</a:t>
            </a:r>
            <a:r>
              <a:rPr lang="zh-CN" altLang="en-US" sz="2200" b="1" dirty="0">
                <a:solidFill>
                  <a:schemeClr val="hlink"/>
                </a:solidFill>
                <a:latin typeface="+mn-ea"/>
              </a:rPr>
              <a:t>变换分析方法</a:t>
            </a:r>
            <a:r>
              <a:rPr lang="en-US" altLang="zh-CN" sz="2200" b="1" dirty="0">
                <a:solidFill>
                  <a:schemeClr val="hlink"/>
                </a:solidFill>
                <a:latin typeface="+mn-ea"/>
              </a:rPr>
              <a:t>,Z</a:t>
            </a:r>
            <a:r>
              <a:rPr lang="zh-CN" altLang="en-US" sz="2200" b="1" dirty="0">
                <a:solidFill>
                  <a:schemeClr val="hlink"/>
                </a:solidFill>
                <a:latin typeface="+mn-ea"/>
              </a:rPr>
              <a:t>变换的基本性质，卷积定理。</a:t>
            </a:r>
          </a:p>
        </p:txBody>
      </p:sp>
      <p:sp>
        <p:nvSpPr>
          <p:cNvPr id="50179" name="Text Box 5"/>
          <p:cNvSpPr txBox="1">
            <a:spLocks noChangeArrowheads="1"/>
          </p:cNvSpPr>
          <p:nvPr/>
        </p:nvSpPr>
        <p:spPr bwMode="auto">
          <a:xfrm>
            <a:off x="0" y="0"/>
            <a:ext cx="9144000" cy="458788"/>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a:solidFill>
                  <a:schemeClr val="bg1"/>
                </a:solidFill>
                <a:latin typeface="+mn-ea"/>
                <a:ea typeface="+mn-ea"/>
              </a:rPr>
              <a:t>信号与系统                               章节安排</a:t>
            </a:r>
          </a:p>
        </p:txBody>
      </p:sp>
      <p:sp>
        <p:nvSpPr>
          <p:cNvPr id="50180" name="Rectangle 6"/>
          <p:cNvSpPr>
            <a:spLocks noChangeArrowheads="1"/>
          </p:cNvSpPr>
          <p:nvPr/>
        </p:nvSpPr>
        <p:spPr bwMode="auto">
          <a:xfrm>
            <a:off x="338138" y="1236663"/>
            <a:ext cx="4244975" cy="4159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000">
                <a:solidFill>
                  <a:srgbClr val="FF0000"/>
                </a:solidFill>
                <a:latin typeface="+mn-ea"/>
                <a:ea typeface="+mn-ea"/>
              </a:rPr>
              <a:t>第八章 离散时间系统的变换域分析</a:t>
            </a:r>
          </a:p>
        </p:txBody>
      </p:sp>
      <p:sp>
        <p:nvSpPr>
          <p:cNvPr id="6" name="日期占位符 5"/>
          <p:cNvSpPr>
            <a:spLocks noGrp="1"/>
          </p:cNvSpPr>
          <p:nvPr>
            <p:ph type="dt" sz="quarter" idx="10"/>
          </p:nvPr>
        </p:nvSpPr>
        <p:spPr/>
        <p:txBody>
          <a:bodyPr/>
          <a:lstStyle/>
          <a:p>
            <a:pPr>
              <a:defRPr/>
            </a:pPr>
            <a:fld id="{C958553F-73A6-4A10-8BDB-B55E0AD09072}" type="datetime3">
              <a:rPr lang="zh-CN" altLang="en-US">
                <a:latin typeface="+mn-ea"/>
                <a:ea typeface="+mn-ea"/>
              </a:rPr>
              <a:t>2026年3月4日星期三</a:t>
            </a:fld>
            <a:endParaRPr lang="zh-CN" altLang="en-US">
              <a:latin typeface="+mn-ea"/>
              <a:ea typeface="+mn-ea"/>
            </a:endParaRPr>
          </a:p>
        </p:txBody>
      </p:sp>
    </p:spTree>
    <p:custDataLst>
      <p:tags r:id="rId1"/>
    </p:custDataLst>
  </p:cSld>
  <p:clrMapOvr>
    <a:masterClrMapping/>
  </p:clrMapOvr>
  <p:transition advTm="2134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11427">
                                            <p:txEl>
                                              <p:pRg st="0" end="0"/>
                                            </p:txEl>
                                          </p:spTgt>
                                        </p:tgtEl>
                                        <p:attrNameLst>
                                          <p:attrName>style.visibility</p:attrName>
                                        </p:attrNameLst>
                                      </p:cBhvr>
                                      <p:to>
                                        <p:strVal val="visible"/>
                                      </p:to>
                                    </p:set>
                                    <p:anim calcmode="lin" valueType="num">
                                      <p:cBhvr>
                                        <p:cTn id="7" dur="1000" fill="hold"/>
                                        <p:tgtEl>
                                          <p:spTgt spid="151142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1142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11427">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11427">
                                            <p:txEl>
                                              <p:pRg st="1" end="1"/>
                                            </p:txEl>
                                          </p:spTgt>
                                        </p:tgtEl>
                                        <p:attrNameLst>
                                          <p:attrName>style.visibility</p:attrName>
                                        </p:attrNameLst>
                                      </p:cBhvr>
                                      <p:to>
                                        <p:strVal val="visible"/>
                                      </p:to>
                                    </p:set>
                                    <p:anim calcmode="lin" valueType="num">
                                      <p:cBhvr>
                                        <p:cTn id="12" dur="1000" fill="hold"/>
                                        <p:tgtEl>
                                          <p:spTgt spid="1511427">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1511427">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1511427">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511427">
                                            <p:txEl>
                                              <p:pRg st="2" end="2"/>
                                            </p:txEl>
                                          </p:spTgt>
                                        </p:tgtEl>
                                        <p:attrNameLst>
                                          <p:attrName>style.visibility</p:attrName>
                                        </p:attrNameLst>
                                      </p:cBhvr>
                                      <p:to>
                                        <p:strVal val="visible"/>
                                      </p:to>
                                    </p:set>
                                    <p:anim calcmode="lin" valueType="num">
                                      <p:cBhvr>
                                        <p:cTn id="17" dur="1000" fill="hold"/>
                                        <p:tgtEl>
                                          <p:spTgt spid="1511427">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1511427">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1511427">
                                            <p:txEl>
                                              <p:pRg st="2" end="2"/>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511427">
                                            <p:txEl>
                                              <p:pRg st="3" end="3"/>
                                            </p:txEl>
                                          </p:spTgt>
                                        </p:tgtEl>
                                        <p:attrNameLst>
                                          <p:attrName>style.visibility</p:attrName>
                                        </p:attrNameLst>
                                      </p:cBhvr>
                                      <p:to>
                                        <p:strVal val="visible"/>
                                      </p:to>
                                    </p:set>
                                    <p:anim calcmode="lin" valueType="num">
                                      <p:cBhvr>
                                        <p:cTn id="22" dur="1000" fill="hold"/>
                                        <p:tgtEl>
                                          <p:spTgt spid="1511427">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1511427">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1511427">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1511427">
                                            <p:txEl>
                                              <p:pRg st="4" end="4"/>
                                            </p:txEl>
                                          </p:spTgt>
                                        </p:tgtEl>
                                        <p:attrNameLst>
                                          <p:attrName>style.visibility</p:attrName>
                                        </p:attrNameLst>
                                      </p:cBhvr>
                                      <p:to>
                                        <p:strVal val="visible"/>
                                      </p:to>
                                    </p:set>
                                    <p:anim calcmode="lin" valueType="num">
                                      <p:cBhvr>
                                        <p:cTn id="29" dur="1000" fill="hold"/>
                                        <p:tgtEl>
                                          <p:spTgt spid="1511427">
                                            <p:txEl>
                                              <p:pRg st="4" end="4"/>
                                            </p:txEl>
                                          </p:spTgt>
                                        </p:tgtEl>
                                        <p:attrNameLst>
                                          <p:attrName>ppt_w</p:attrName>
                                        </p:attrNameLst>
                                      </p:cBhvr>
                                      <p:tavLst>
                                        <p:tav tm="0">
                                          <p:val>
                                            <p:strVal val="#ppt_w*0.70"/>
                                          </p:val>
                                        </p:tav>
                                        <p:tav tm="100000">
                                          <p:val>
                                            <p:strVal val="#ppt_w"/>
                                          </p:val>
                                        </p:tav>
                                      </p:tavLst>
                                    </p:anim>
                                    <p:anim calcmode="lin" valueType="num">
                                      <p:cBhvr>
                                        <p:cTn id="30" dur="1000" fill="hold"/>
                                        <p:tgtEl>
                                          <p:spTgt spid="1511427">
                                            <p:txEl>
                                              <p:pRg st="4" end="4"/>
                                            </p:txEl>
                                          </p:spTgt>
                                        </p:tgtEl>
                                        <p:attrNameLst>
                                          <p:attrName>ppt_h</p:attrName>
                                        </p:attrNameLst>
                                      </p:cBhvr>
                                      <p:tavLst>
                                        <p:tav tm="0">
                                          <p:val>
                                            <p:strVal val="#ppt_h"/>
                                          </p:val>
                                        </p:tav>
                                        <p:tav tm="100000">
                                          <p:val>
                                            <p:strVal val="#ppt_h"/>
                                          </p:val>
                                        </p:tav>
                                      </p:tavLst>
                                    </p:anim>
                                    <p:animEffect transition="in" filter="fade">
                                      <p:cBhvr>
                                        <p:cTn id="31" dur="1000"/>
                                        <p:tgtEl>
                                          <p:spTgt spid="1511427">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1511427">
                                            <p:txEl>
                                              <p:pRg st="4" end="4"/>
                                            </p:txEl>
                                          </p:spTgt>
                                        </p:tgtEl>
                                        <p:attrNameLst>
                                          <p:attrName>style.visibility</p:attrName>
                                        </p:attrNameLst>
                                      </p:cBhvr>
                                      <p:to>
                                        <p:strVal val="visible"/>
                                      </p:to>
                                    </p:set>
                                    <p:anim calcmode="lin" valueType="num">
                                      <p:cBhvr>
                                        <p:cTn id="36" dur="500" fill="hold"/>
                                        <p:tgtEl>
                                          <p:spTgt spid="1511427">
                                            <p:txEl>
                                              <p:pRg st="4" end="4"/>
                                            </p:txEl>
                                          </p:spTgt>
                                        </p:tgtEl>
                                        <p:attrNameLst>
                                          <p:attrName>ppt_w</p:attrName>
                                        </p:attrNameLst>
                                      </p:cBhvr>
                                      <p:tavLst>
                                        <p:tav tm="0">
                                          <p:val>
                                            <p:fltVal val="0"/>
                                          </p:val>
                                        </p:tav>
                                        <p:tav tm="100000">
                                          <p:val>
                                            <p:strVal val="#ppt_w"/>
                                          </p:val>
                                        </p:tav>
                                      </p:tavLst>
                                    </p:anim>
                                    <p:anim calcmode="lin" valueType="num">
                                      <p:cBhvr>
                                        <p:cTn id="37" dur="500" fill="hold"/>
                                        <p:tgtEl>
                                          <p:spTgt spid="1511427">
                                            <p:txEl>
                                              <p:pRg st="4" end="4"/>
                                            </p:txEl>
                                          </p:spTgt>
                                        </p:tgtEl>
                                        <p:attrNameLst>
                                          <p:attrName>ppt_h</p:attrName>
                                        </p:attrNameLst>
                                      </p:cBhvr>
                                      <p:tavLst>
                                        <p:tav tm="0">
                                          <p:val>
                                            <p:fltVal val="0"/>
                                          </p:val>
                                        </p:tav>
                                        <p:tav tm="100000">
                                          <p:val>
                                            <p:strVal val="#ppt_h"/>
                                          </p:val>
                                        </p:tav>
                                      </p:tavLst>
                                    </p:anim>
                                    <p:animEffect transition="in" filter="fade">
                                      <p:cBhvr>
                                        <p:cTn id="38" dur="500"/>
                                        <p:tgtEl>
                                          <p:spTgt spid="15114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142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451" name="Rectangle 3"/>
          <p:cNvSpPr>
            <a:spLocks noGrp="1" noChangeArrowheads="1"/>
          </p:cNvSpPr>
          <p:nvPr>
            <p:ph type="body" idx="1"/>
          </p:nvPr>
        </p:nvSpPr>
        <p:spPr>
          <a:xfrm>
            <a:off x="792163" y="1171575"/>
            <a:ext cx="7328580" cy="4902653"/>
          </a:xfrm>
          <a:solidFill>
            <a:schemeClr val="bg1"/>
          </a:solidFill>
          <a:ln w="57150">
            <a:solidFill>
              <a:schemeClr val="tx1"/>
            </a:solidFill>
            <a:miter lim="800000"/>
          </a:ln>
          <a:effectLst>
            <a:prstShdw prst="shdw12">
              <a:srgbClr val="808080">
                <a:alpha val="50000"/>
              </a:srgbClr>
            </a:prstShdw>
          </a:effectLst>
        </p:spPr>
        <p:txBody>
          <a:bodyPr/>
          <a:lstStyle/>
          <a:p>
            <a:pPr>
              <a:lnSpc>
                <a:spcPct val="145000"/>
              </a:lnSpc>
              <a:spcBef>
                <a:spcPct val="50000"/>
              </a:spcBef>
              <a:buFont typeface="Wingdings" panose="05000000000000000000" pitchFamily="2" charset="2"/>
              <a:buChar char="l"/>
            </a:pPr>
            <a:r>
              <a:rPr lang="zh-CN" altLang="en-US" sz="2000" b="1" dirty="0">
                <a:solidFill>
                  <a:srgbClr val="FF0000"/>
                </a:solidFill>
              </a:rPr>
              <a:t>数学基础知识：</a:t>
            </a:r>
            <a:endParaRPr lang="en-US" altLang="zh-CN" sz="2000" b="1" dirty="0">
              <a:solidFill>
                <a:srgbClr val="FF0000"/>
              </a:solidFill>
            </a:endParaRPr>
          </a:p>
          <a:p>
            <a:pPr lvl="1">
              <a:lnSpc>
                <a:spcPct val="145000"/>
              </a:lnSpc>
              <a:spcBef>
                <a:spcPct val="50000"/>
              </a:spcBef>
            </a:pPr>
            <a:r>
              <a:rPr lang="zh-CN" altLang="en-US" sz="2000" b="1" dirty="0"/>
              <a:t>微分方程差分方程、级数、复变函数、线性代数、积分变换</a:t>
            </a:r>
            <a:r>
              <a:rPr lang="en-US" altLang="zh-CN" sz="2000" b="1" dirty="0"/>
              <a:t>……..</a:t>
            </a:r>
            <a:r>
              <a:rPr lang="zh-CN" altLang="en-US" sz="2000" b="1" dirty="0"/>
              <a:t>   </a:t>
            </a:r>
            <a:endParaRPr lang="en-US" altLang="zh-CN" sz="2000" b="1" dirty="0"/>
          </a:p>
          <a:p>
            <a:pPr lvl="1">
              <a:lnSpc>
                <a:spcPct val="145000"/>
              </a:lnSpc>
              <a:spcBef>
                <a:spcPct val="50000"/>
              </a:spcBef>
            </a:pPr>
            <a:r>
              <a:rPr lang="zh-CN" altLang="en-US" sz="2000" b="1" dirty="0"/>
              <a:t>在应用这些数学工具时，</a:t>
            </a:r>
            <a:r>
              <a:rPr lang="zh-CN" altLang="en-US" sz="2000" b="1" dirty="0">
                <a:solidFill>
                  <a:srgbClr val="0000FF"/>
                </a:solidFill>
              </a:rPr>
              <a:t>注重解决工程问题，加强物理概念的理解。</a:t>
            </a:r>
            <a:endParaRPr lang="en-US" altLang="zh-CN" sz="2000" b="1" dirty="0">
              <a:solidFill>
                <a:srgbClr val="0000FF"/>
              </a:solidFill>
            </a:endParaRPr>
          </a:p>
          <a:p>
            <a:pPr lvl="1">
              <a:lnSpc>
                <a:spcPct val="145000"/>
              </a:lnSpc>
              <a:spcBef>
                <a:spcPct val="50000"/>
              </a:spcBef>
            </a:pPr>
            <a:r>
              <a:rPr lang="zh-CN" altLang="en-US" sz="2000" b="1" dirty="0"/>
              <a:t>注重结论及其物理含义，</a:t>
            </a:r>
            <a:r>
              <a:rPr lang="zh-CN" altLang="en-US" sz="2000" b="1" dirty="0">
                <a:solidFill>
                  <a:srgbClr val="0000FF"/>
                </a:solidFill>
              </a:rPr>
              <a:t>而不注重其数学原义和推导证明。</a:t>
            </a:r>
          </a:p>
          <a:p>
            <a:pPr>
              <a:lnSpc>
                <a:spcPct val="145000"/>
              </a:lnSpc>
              <a:spcBef>
                <a:spcPct val="50000"/>
              </a:spcBef>
              <a:buFont typeface="Wingdings" panose="05000000000000000000" pitchFamily="2" charset="2"/>
              <a:buChar char="l"/>
            </a:pPr>
            <a:r>
              <a:rPr lang="zh-CN" altLang="en-US" sz="2000" b="1" dirty="0">
                <a:solidFill>
                  <a:srgbClr val="FF0000"/>
                </a:solidFill>
              </a:rPr>
              <a:t>电路分析基础：</a:t>
            </a:r>
            <a:r>
              <a:rPr lang="zh-CN" altLang="en-US" sz="2000" b="1" dirty="0"/>
              <a:t>前者（电路）从“电路分析” 角度出发，而本门课则</a:t>
            </a:r>
            <a:r>
              <a:rPr lang="zh-CN" altLang="en-US" sz="2000" b="1" dirty="0">
                <a:solidFill>
                  <a:srgbClr val="0000FF"/>
                </a:solidFill>
              </a:rPr>
              <a:t>从系统角度的</a:t>
            </a:r>
            <a:r>
              <a:rPr lang="zh-CN" altLang="en-US" sz="2000" b="1" dirty="0"/>
              <a:t>观点进行分析。</a:t>
            </a:r>
          </a:p>
        </p:txBody>
      </p:sp>
      <p:sp>
        <p:nvSpPr>
          <p:cNvPr id="52227" name="Text Box 4"/>
          <p:cNvSpPr txBox="1">
            <a:spLocks noChangeArrowheads="1"/>
          </p:cNvSpPr>
          <p:nvPr/>
        </p:nvSpPr>
        <p:spPr bwMode="auto">
          <a:xfrm>
            <a:off x="0" y="0"/>
            <a:ext cx="9144000" cy="458788"/>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a:solidFill>
                  <a:schemeClr val="bg1"/>
                </a:solidFill>
                <a:latin typeface="楷体_GB2312" pitchFamily="49" charset="-122"/>
                <a:ea typeface="楷体_GB2312" pitchFamily="49" charset="-122"/>
              </a:rPr>
              <a:t>信号与系统                                必备知识</a:t>
            </a:r>
          </a:p>
        </p:txBody>
      </p:sp>
      <p:sp>
        <p:nvSpPr>
          <p:cNvPr id="5" name="日期占位符 4"/>
          <p:cNvSpPr>
            <a:spLocks noGrp="1"/>
          </p:cNvSpPr>
          <p:nvPr>
            <p:ph type="dt" sz="quarter" idx="10"/>
          </p:nvPr>
        </p:nvSpPr>
        <p:spPr/>
        <p:txBody>
          <a:bodyPr/>
          <a:lstStyle/>
          <a:p>
            <a:pPr>
              <a:defRPr/>
            </a:pPr>
            <a:fld id="{95E3C060-7A7F-44C3-B40E-3D465E1377C3}" type="datetime3">
              <a:rPr lang="zh-CN" altLang="en-US"/>
              <a:t>2026年3月4日星期三</a:t>
            </a:fld>
            <a:endParaRPr lang="zh-CN" altLang="en-US" dirty="0"/>
          </a:p>
        </p:txBody>
      </p:sp>
    </p:spTree>
    <p:custDataLst>
      <p:tags r:id="rId1"/>
    </p:custDataLst>
  </p:cSld>
  <p:clrMapOvr>
    <a:masterClrMapping/>
  </p:clrMapOvr>
  <p:transition advTm="448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12451">
                                            <p:bg/>
                                          </p:spTgt>
                                        </p:tgtEl>
                                        <p:attrNameLst>
                                          <p:attrName>style.visibility</p:attrName>
                                        </p:attrNameLst>
                                      </p:cBhvr>
                                      <p:to>
                                        <p:strVal val="visible"/>
                                      </p:to>
                                    </p:set>
                                    <p:anim calcmode="lin" valueType="num">
                                      <p:cBhvr>
                                        <p:cTn id="7" dur="1000" fill="hold"/>
                                        <p:tgtEl>
                                          <p:spTgt spid="1512451">
                                            <p:bg/>
                                          </p:spTgt>
                                        </p:tgtEl>
                                        <p:attrNameLst>
                                          <p:attrName>ppt_w</p:attrName>
                                        </p:attrNameLst>
                                      </p:cBhvr>
                                      <p:tavLst>
                                        <p:tav tm="0">
                                          <p:val>
                                            <p:strVal val="#ppt_w*0.70"/>
                                          </p:val>
                                        </p:tav>
                                        <p:tav tm="100000">
                                          <p:val>
                                            <p:strVal val="#ppt_w"/>
                                          </p:val>
                                        </p:tav>
                                      </p:tavLst>
                                    </p:anim>
                                    <p:anim calcmode="lin" valueType="num">
                                      <p:cBhvr>
                                        <p:cTn id="8" dur="1000" fill="hold"/>
                                        <p:tgtEl>
                                          <p:spTgt spid="1512451">
                                            <p:bg/>
                                          </p:spTgt>
                                        </p:tgtEl>
                                        <p:attrNameLst>
                                          <p:attrName>ppt_h</p:attrName>
                                        </p:attrNameLst>
                                      </p:cBhvr>
                                      <p:tavLst>
                                        <p:tav tm="0">
                                          <p:val>
                                            <p:strVal val="#ppt_h"/>
                                          </p:val>
                                        </p:tav>
                                        <p:tav tm="100000">
                                          <p:val>
                                            <p:strVal val="#ppt_h"/>
                                          </p:val>
                                        </p:tav>
                                      </p:tavLst>
                                    </p:anim>
                                    <p:animEffect transition="in" filter="fade">
                                      <p:cBhvr>
                                        <p:cTn id="9" dur="1000"/>
                                        <p:tgtEl>
                                          <p:spTgt spid="1512451">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12451">
                                            <p:txEl>
                                              <p:pRg st="0" end="0"/>
                                            </p:txEl>
                                          </p:spTgt>
                                        </p:tgtEl>
                                        <p:attrNameLst>
                                          <p:attrName>style.visibility</p:attrName>
                                        </p:attrNameLst>
                                      </p:cBhvr>
                                      <p:to>
                                        <p:strVal val="visible"/>
                                      </p:to>
                                    </p:set>
                                    <p:anim calcmode="lin" valueType="num">
                                      <p:cBhvr>
                                        <p:cTn id="13" dur="1000" fill="hold"/>
                                        <p:tgtEl>
                                          <p:spTgt spid="1512451">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512451">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512451">
                                            <p:txEl>
                                              <p:pRg st="0" end="0"/>
                                            </p:txEl>
                                          </p:spTgt>
                                        </p:tgtEl>
                                      </p:cBhvr>
                                    </p:animEffect>
                                  </p:childTnLst>
                                </p:cTn>
                              </p:par>
                              <p:par>
                                <p:cTn id="16" presetID="55" presetClass="entr" presetSubtype="0" fill="hold" grpId="0" nodeType="withEffect">
                                  <p:stCondLst>
                                    <p:cond delay="0"/>
                                  </p:stCondLst>
                                  <p:childTnLst>
                                    <p:set>
                                      <p:cBhvr>
                                        <p:cTn id="17" dur="1" fill="hold">
                                          <p:stCondLst>
                                            <p:cond delay="0"/>
                                          </p:stCondLst>
                                        </p:cTn>
                                        <p:tgtEl>
                                          <p:spTgt spid="1512451">
                                            <p:txEl>
                                              <p:pRg st="1" end="1"/>
                                            </p:txEl>
                                          </p:spTgt>
                                        </p:tgtEl>
                                        <p:attrNameLst>
                                          <p:attrName>style.visibility</p:attrName>
                                        </p:attrNameLst>
                                      </p:cBhvr>
                                      <p:to>
                                        <p:strVal val="visible"/>
                                      </p:to>
                                    </p:set>
                                    <p:anim calcmode="lin" valueType="num">
                                      <p:cBhvr>
                                        <p:cTn id="18" dur="1000" fill="hold"/>
                                        <p:tgtEl>
                                          <p:spTgt spid="1512451">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1512451">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1512451">
                                            <p:txEl>
                                              <p:pRg st="1" end="1"/>
                                            </p:txEl>
                                          </p:spTgt>
                                        </p:tgtEl>
                                      </p:cBhvr>
                                    </p:animEffect>
                                  </p:childTnLst>
                                </p:cTn>
                              </p:par>
                              <p:par>
                                <p:cTn id="21" presetID="55" presetClass="entr" presetSubtype="0" fill="hold" grpId="0" nodeType="withEffect">
                                  <p:stCondLst>
                                    <p:cond delay="0"/>
                                  </p:stCondLst>
                                  <p:childTnLst>
                                    <p:set>
                                      <p:cBhvr>
                                        <p:cTn id="22" dur="1" fill="hold">
                                          <p:stCondLst>
                                            <p:cond delay="0"/>
                                          </p:stCondLst>
                                        </p:cTn>
                                        <p:tgtEl>
                                          <p:spTgt spid="1512451">
                                            <p:txEl>
                                              <p:pRg st="2" end="2"/>
                                            </p:txEl>
                                          </p:spTgt>
                                        </p:tgtEl>
                                        <p:attrNameLst>
                                          <p:attrName>style.visibility</p:attrName>
                                        </p:attrNameLst>
                                      </p:cBhvr>
                                      <p:to>
                                        <p:strVal val="visible"/>
                                      </p:to>
                                    </p:set>
                                    <p:anim calcmode="lin" valueType="num">
                                      <p:cBhvr>
                                        <p:cTn id="23" dur="1000" fill="hold"/>
                                        <p:tgtEl>
                                          <p:spTgt spid="1512451">
                                            <p:txEl>
                                              <p:pRg st="2" end="2"/>
                                            </p:txEl>
                                          </p:spTgt>
                                        </p:tgtEl>
                                        <p:attrNameLst>
                                          <p:attrName>ppt_w</p:attrName>
                                        </p:attrNameLst>
                                      </p:cBhvr>
                                      <p:tavLst>
                                        <p:tav tm="0">
                                          <p:val>
                                            <p:strVal val="#ppt_w*0.70"/>
                                          </p:val>
                                        </p:tav>
                                        <p:tav tm="100000">
                                          <p:val>
                                            <p:strVal val="#ppt_w"/>
                                          </p:val>
                                        </p:tav>
                                      </p:tavLst>
                                    </p:anim>
                                    <p:anim calcmode="lin" valueType="num">
                                      <p:cBhvr>
                                        <p:cTn id="24" dur="1000" fill="hold"/>
                                        <p:tgtEl>
                                          <p:spTgt spid="1512451">
                                            <p:txEl>
                                              <p:pRg st="2" end="2"/>
                                            </p:txEl>
                                          </p:spTgt>
                                        </p:tgtEl>
                                        <p:attrNameLst>
                                          <p:attrName>ppt_h</p:attrName>
                                        </p:attrNameLst>
                                      </p:cBhvr>
                                      <p:tavLst>
                                        <p:tav tm="0">
                                          <p:val>
                                            <p:strVal val="#ppt_h"/>
                                          </p:val>
                                        </p:tav>
                                        <p:tav tm="100000">
                                          <p:val>
                                            <p:strVal val="#ppt_h"/>
                                          </p:val>
                                        </p:tav>
                                      </p:tavLst>
                                    </p:anim>
                                    <p:animEffect transition="in" filter="fade">
                                      <p:cBhvr>
                                        <p:cTn id="25" dur="1000"/>
                                        <p:tgtEl>
                                          <p:spTgt spid="1512451">
                                            <p:txEl>
                                              <p:pRg st="2" end="2"/>
                                            </p:txEl>
                                          </p:spTgt>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1512451">
                                            <p:txEl>
                                              <p:pRg st="3" end="3"/>
                                            </p:txEl>
                                          </p:spTgt>
                                        </p:tgtEl>
                                        <p:attrNameLst>
                                          <p:attrName>style.visibility</p:attrName>
                                        </p:attrNameLst>
                                      </p:cBhvr>
                                      <p:to>
                                        <p:strVal val="visible"/>
                                      </p:to>
                                    </p:set>
                                    <p:anim calcmode="lin" valueType="num">
                                      <p:cBhvr>
                                        <p:cTn id="28" dur="1000" fill="hold"/>
                                        <p:tgtEl>
                                          <p:spTgt spid="1512451">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512451">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51245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1512451">
                                            <p:txEl>
                                              <p:pRg st="4" end="4"/>
                                            </p:txEl>
                                          </p:spTgt>
                                        </p:tgtEl>
                                        <p:attrNameLst>
                                          <p:attrName>style.visibility</p:attrName>
                                        </p:attrNameLst>
                                      </p:cBhvr>
                                      <p:to>
                                        <p:strVal val="visible"/>
                                      </p:to>
                                    </p:set>
                                    <p:anim calcmode="lin" valueType="num">
                                      <p:cBhvr>
                                        <p:cTn id="35" dur="1000" fill="hold"/>
                                        <p:tgtEl>
                                          <p:spTgt spid="1512451">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512451">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5124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2451"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475" name="Rectangle 3"/>
          <p:cNvSpPr>
            <a:spLocks noGrp="1" noChangeArrowheads="1"/>
          </p:cNvSpPr>
          <p:nvPr>
            <p:ph type="body" idx="1"/>
          </p:nvPr>
        </p:nvSpPr>
        <p:spPr>
          <a:xfrm>
            <a:off x="968375" y="1200149"/>
            <a:ext cx="7335838" cy="5084049"/>
          </a:xfrm>
          <a:solidFill>
            <a:schemeClr val="bg1"/>
          </a:solidFill>
          <a:ln w="57150">
            <a:solidFill>
              <a:schemeClr val="tx1"/>
            </a:solidFill>
          </a:ln>
          <a:effectLst>
            <a:prstShdw prst="shdw12">
              <a:srgbClr val="808080">
                <a:alpha val="50000"/>
              </a:srgbClr>
            </a:prstShdw>
          </a:effectLst>
        </p:spPr>
        <p:txBody>
          <a:bodyPr/>
          <a:lstStyle/>
          <a:p>
            <a:pPr>
              <a:buFont typeface="Wingdings" panose="05000000000000000000" pitchFamily="2" charset="2"/>
              <a:buChar char="l"/>
              <a:defRPr/>
            </a:pPr>
            <a:r>
              <a:rPr lang="zh-CN" altLang="en-US" b="1" dirty="0"/>
              <a:t>教材</a:t>
            </a:r>
          </a:p>
          <a:p>
            <a:pPr>
              <a:buFontTx/>
              <a:buNone/>
              <a:defRPr/>
            </a:pPr>
            <a:endParaRPr lang="zh-CN" altLang="en-US" b="1" dirty="0"/>
          </a:p>
          <a:p>
            <a:pPr>
              <a:buFontTx/>
              <a:buNone/>
              <a:defRPr/>
            </a:pPr>
            <a:r>
              <a:rPr lang="en-US" altLang="zh-CN" sz="2200" b="1" dirty="0"/>
              <a:t>《</a:t>
            </a:r>
            <a:r>
              <a:rPr lang="zh-CN" altLang="en-US" sz="2200" b="1" dirty="0"/>
              <a:t>信号与线性系统</a:t>
            </a:r>
            <a:r>
              <a:rPr lang="en-US" altLang="zh-CN" sz="2200" b="1" dirty="0"/>
              <a:t>》 </a:t>
            </a:r>
            <a:r>
              <a:rPr lang="zh-CN" altLang="en-US" sz="2200" b="1" dirty="0"/>
              <a:t>管致中、夏恭恪著  高等教育出版社</a:t>
            </a:r>
            <a:endParaRPr lang="en-US" altLang="zh-CN" sz="2200" b="1" dirty="0"/>
          </a:p>
          <a:p>
            <a:pPr>
              <a:buFontTx/>
              <a:buNone/>
              <a:defRPr/>
            </a:pPr>
            <a:r>
              <a:rPr lang="zh-CN" altLang="en-US" sz="2200" b="1" dirty="0"/>
              <a:t>　慕课堂 ：</a:t>
            </a:r>
            <a:r>
              <a:rPr lang="en-US" altLang="zh-CN" sz="2400" dirty="0">
                <a:solidFill>
                  <a:srgbClr val="0000FF"/>
                </a:solidFill>
              </a:rPr>
              <a:t>https://www.icourse163.org/spoc/course/NWPU-1450802176</a:t>
            </a:r>
            <a:r>
              <a:rPr lang="en-US" altLang="zh-CN" sz="1800" dirty="0">
                <a:solidFill>
                  <a:srgbClr val="0000FF"/>
                </a:solidFill>
              </a:rPr>
              <a:t> </a:t>
            </a:r>
            <a:endParaRPr lang="zh-CN" altLang="en-US" sz="1800" b="1" dirty="0">
              <a:solidFill>
                <a:srgbClr val="0000FF"/>
              </a:solidFill>
            </a:endParaRPr>
          </a:p>
          <a:p>
            <a:pPr>
              <a:buFontTx/>
              <a:buNone/>
              <a:defRPr/>
            </a:pPr>
            <a:endParaRPr lang="zh-CN" altLang="en-US" sz="1800" b="1" dirty="0">
              <a:solidFill>
                <a:srgbClr val="0000FF"/>
              </a:solidFill>
            </a:endParaRPr>
          </a:p>
          <a:p>
            <a:pPr>
              <a:buFont typeface="Wingdings" panose="05000000000000000000" pitchFamily="2" charset="2"/>
              <a:buChar char="l"/>
              <a:defRPr/>
            </a:pPr>
            <a:r>
              <a:rPr lang="zh-CN" altLang="en-US" b="1" dirty="0"/>
              <a:t>参考书</a:t>
            </a:r>
          </a:p>
          <a:p>
            <a:pPr>
              <a:buFontTx/>
              <a:buNone/>
              <a:defRPr/>
            </a:pPr>
            <a:endParaRPr lang="zh-CN" altLang="en-US" b="1" dirty="0"/>
          </a:p>
          <a:p>
            <a:pPr>
              <a:buFontTx/>
              <a:buNone/>
              <a:defRPr/>
            </a:pPr>
            <a:r>
              <a:rPr lang="en-US" altLang="zh-CN" sz="2200" b="1" dirty="0"/>
              <a:t> 《</a:t>
            </a:r>
            <a:r>
              <a:rPr lang="zh-CN" altLang="en-US" sz="2200" b="1" dirty="0"/>
              <a:t>信号与线性系统</a:t>
            </a:r>
            <a:r>
              <a:rPr lang="en-US" altLang="zh-CN" sz="2200" b="1" dirty="0"/>
              <a:t>》  </a:t>
            </a:r>
            <a:r>
              <a:rPr lang="zh-CN" altLang="en-US" sz="2200" b="1" dirty="0"/>
              <a:t>郑君里著  高等教育出版社</a:t>
            </a:r>
            <a:endParaRPr lang="en-US" altLang="zh-CN" sz="2200" b="1" dirty="0"/>
          </a:p>
          <a:p>
            <a:pPr>
              <a:buFontTx/>
              <a:buNone/>
              <a:defRPr/>
            </a:pPr>
            <a:r>
              <a:rPr lang="en-US" altLang="zh-CN" sz="2200" b="1" dirty="0"/>
              <a:t>《</a:t>
            </a:r>
            <a:r>
              <a:rPr lang="en-US" altLang="zh-CN" sz="2200" b="1" dirty="0" err="1"/>
              <a:t>Singnal</a:t>
            </a:r>
            <a:r>
              <a:rPr lang="en-US" altLang="zh-CN" sz="2200" b="1" dirty="0"/>
              <a:t> and System》</a:t>
            </a:r>
            <a:r>
              <a:rPr lang="zh-CN" altLang="en-US" sz="2200" b="1" dirty="0"/>
              <a:t> 奥本海姆</a:t>
            </a:r>
            <a:endParaRPr lang="en-US" altLang="zh-CN" sz="2200" b="1" dirty="0"/>
          </a:p>
          <a:p>
            <a:pPr>
              <a:buFontTx/>
              <a:buNone/>
              <a:defRPr/>
            </a:pPr>
            <a:endParaRPr lang="zh-CN" altLang="en-US" sz="2200" b="1" dirty="0"/>
          </a:p>
        </p:txBody>
      </p:sp>
      <p:sp>
        <p:nvSpPr>
          <p:cNvPr id="54275" name="Text Box 5"/>
          <p:cNvSpPr txBox="1">
            <a:spLocks noChangeArrowheads="1"/>
          </p:cNvSpPr>
          <p:nvPr/>
        </p:nvSpPr>
        <p:spPr bwMode="auto">
          <a:xfrm>
            <a:off x="0" y="0"/>
            <a:ext cx="9144000" cy="458788"/>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a:solidFill>
                  <a:schemeClr val="bg1"/>
                </a:solidFill>
                <a:latin typeface="楷体_GB2312" pitchFamily="49" charset="-122"/>
                <a:ea typeface="楷体_GB2312" pitchFamily="49" charset="-122"/>
              </a:rPr>
              <a:t>信号与系统                            教材及参考书</a:t>
            </a:r>
          </a:p>
        </p:txBody>
      </p:sp>
      <p:sp>
        <p:nvSpPr>
          <p:cNvPr id="5" name="日期占位符 4"/>
          <p:cNvSpPr>
            <a:spLocks noGrp="1"/>
          </p:cNvSpPr>
          <p:nvPr>
            <p:ph type="dt" sz="quarter" idx="10"/>
          </p:nvPr>
        </p:nvSpPr>
        <p:spPr/>
        <p:txBody>
          <a:bodyPr/>
          <a:lstStyle/>
          <a:p>
            <a:pPr>
              <a:defRPr/>
            </a:pPr>
            <a:fld id="{78D02455-9BE4-41D1-A15B-273204420D67}" type="datetime3">
              <a:rPr lang="zh-CN" altLang="en-US"/>
              <a:t>2026年3月4日星期三</a:t>
            </a:fld>
            <a:endParaRPr lang="zh-CN" altLang="en-US"/>
          </a:p>
        </p:txBody>
      </p:sp>
    </p:spTree>
  </p:cSld>
  <p:clrMapOvr>
    <a:masterClrMapping/>
  </p:clrMapOvr>
  <p:transition advTm="58962"/>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ChangeArrowheads="1"/>
          </p:cNvSpPr>
          <p:nvPr/>
        </p:nvSpPr>
        <p:spPr bwMode="auto">
          <a:xfrm>
            <a:off x="1116013" y="785813"/>
            <a:ext cx="6115050" cy="5235575"/>
          </a:xfrm>
          <a:prstGeom prst="rect">
            <a:avLst/>
          </a:prstGeom>
          <a:solidFill>
            <a:schemeClr val="bg1"/>
          </a:solidFill>
          <a:ln w="57150" cap="sq">
            <a:solidFill>
              <a:srgbClr val="FF0000"/>
            </a:solidFill>
            <a:miter lim="800000"/>
            <a:headEnd type="none" w="sm" len="sm"/>
            <a:tailEnd type="none" w="sm" len="sm"/>
          </a:ln>
          <a:effectLst>
            <a:prstShdw prst="shdw12">
              <a:schemeClr val="bg2">
                <a:alpha val="50000"/>
              </a:schemeClr>
            </a:prstShdw>
          </a:effectLst>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60000"/>
              </a:spcBef>
              <a:buClr>
                <a:schemeClr val="accent2"/>
              </a:buClr>
              <a:buFont typeface="Wingdings" panose="05000000000000000000" pitchFamily="2" charset="2"/>
              <a:buNone/>
            </a:pPr>
            <a:r>
              <a:rPr lang="en-US" altLang="zh-CN" sz="2500">
                <a:ea typeface="宋体" panose="02010600030101010101" pitchFamily="2" charset="-122"/>
              </a:rPr>
              <a:t>1.1  </a:t>
            </a:r>
            <a:r>
              <a:rPr lang="zh-CN" altLang="en-US" sz="2500">
                <a:ea typeface="宋体" panose="02010600030101010101" pitchFamily="2" charset="-122"/>
              </a:rPr>
              <a:t>引言</a:t>
            </a:r>
            <a:endParaRPr lang="en-US" altLang="zh-CN" sz="2500">
              <a:ea typeface="宋体" panose="02010600030101010101" pitchFamily="2" charset="-122"/>
            </a:endParaRPr>
          </a:p>
          <a:p>
            <a:pPr eaLnBrk="1" hangingPunct="1">
              <a:lnSpc>
                <a:spcPct val="150000"/>
              </a:lnSpc>
              <a:spcBef>
                <a:spcPct val="60000"/>
              </a:spcBef>
              <a:buClr>
                <a:schemeClr val="accent2"/>
              </a:buClr>
              <a:buFont typeface="Wingdings" panose="05000000000000000000" pitchFamily="2" charset="2"/>
              <a:buNone/>
            </a:pPr>
            <a:r>
              <a:rPr lang="en-US" altLang="zh-CN" sz="2500">
                <a:ea typeface="宋体" panose="02010600030101010101" pitchFamily="2" charset="-122"/>
                <a:hlinkClick r:id="rId3" action="ppaction://hlinksldjump"/>
              </a:rPr>
              <a:t>1.2</a:t>
            </a:r>
            <a:r>
              <a:rPr lang="en-US" altLang="zh-CN" sz="2500">
                <a:ea typeface="宋体" panose="02010600030101010101" pitchFamily="2" charset="-122"/>
              </a:rPr>
              <a:t>  </a:t>
            </a:r>
            <a:r>
              <a:rPr lang="zh-CN" altLang="en-US" sz="2500">
                <a:ea typeface="宋体" panose="02010600030101010101" pitchFamily="2" charset="-122"/>
              </a:rPr>
              <a:t>信号的概念</a:t>
            </a:r>
          </a:p>
          <a:p>
            <a:pPr eaLnBrk="1" hangingPunct="1">
              <a:lnSpc>
                <a:spcPct val="150000"/>
              </a:lnSpc>
              <a:spcBef>
                <a:spcPct val="60000"/>
              </a:spcBef>
              <a:buClr>
                <a:schemeClr val="accent2"/>
              </a:buClr>
              <a:buFont typeface="Wingdings" panose="05000000000000000000" pitchFamily="2" charset="2"/>
              <a:buNone/>
            </a:pPr>
            <a:r>
              <a:rPr lang="en-US" altLang="zh-CN" sz="2500">
                <a:ea typeface="宋体" panose="02010600030101010101" pitchFamily="2" charset="-122"/>
                <a:hlinkClick r:id="rId4" action="ppaction://hlinksldjump"/>
              </a:rPr>
              <a:t>1.3</a:t>
            </a:r>
            <a:r>
              <a:rPr lang="en-US" altLang="zh-CN" sz="2500">
                <a:ea typeface="宋体" panose="02010600030101010101" pitchFamily="2" charset="-122"/>
              </a:rPr>
              <a:t>  </a:t>
            </a:r>
            <a:r>
              <a:rPr lang="zh-CN" altLang="en-US" sz="2500">
                <a:ea typeface="宋体" panose="02010600030101010101" pitchFamily="2" charset="-122"/>
              </a:rPr>
              <a:t>信号的简单处理</a:t>
            </a:r>
          </a:p>
          <a:p>
            <a:pPr eaLnBrk="1" hangingPunct="1">
              <a:lnSpc>
                <a:spcPct val="150000"/>
              </a:lnSpc>
              <a:spcBef>
                <a:spcPct val="60000"/>
              </a:spcBef>
              <a:buClr>
                <a:schemeClr val="accent2"/>
              </a:buClr>
              <a:buFont typeface="Wingdings" panose="05000000000000000000" pitchFamily="2" charset="2"/>
              <a:buNone/>
            </a:pPr>
            <a:r>
              <a:rPr lang="en-US" altLang="zh-CN" sz="2500">
                <a:ea typeface="宋体" panose="02010600030101010101" pitchFamily="2" charset="-122"/>
                <a:hlinkClick r:id="rId5" action="ppaction://hlinksldjump"/>
              </a:rPr>
              <a:t>1.4</a:t>
            </a:r>
            <a:r>
              <a:rPr lang="en-US" altLang="zh-CN" sz="2500">
                <a:ea typeface="宋体" panose="02010600030101010101" pitchFamily="2" charset="-122"/>
              </a:rPr>
              <a:t>  </a:t>
            </a:r>
            <a:r>
              <a:rPr lang="zh-CN" altLang="en-US" sz="2500">
                <a:ea typeface="宋体" panose="02010600030101010101" pitchFamily="2" charset="-122"/>
              </a:rPr>
              <a:t>系统的概念</a:t>
            </a:r>
          </a:p>
          <a:p>
            <a:pPr eaLnBrk="1" hangingPunct="1">
              <a:lnSpc>
                <a:spcPct val="150000"/>
              </a:lnSpc>
              <a:spcBef>
                <a:spcPct val="60000"/>
              </a:spcBef>
              <a:buClr>
                <a:schemeClr val="accent2"/>
              </a:buClr>
              <a:buFont typeface="Wingdings" panose="05000000000000000000" pitchFamily="2" charset="2"/>
              <a:buNone/>
            </a:pPr>
            <a:r>
              <a:rPr lang="en-US" altLang="zh-CN" sz="2500">
                <a:ea typeface="宋体" panose="02010600030101010101" pitchFamily="2" charset="-122"/>
                <a:hlinkClick r:id="rId6" action="ppaction://hlinksldjump"/>
              </a:rPr>
              <a:t>1.5</a:t>
            </a:r>
            <a:r>
              <a:rPr lang="en-US" altLang="zh-CN" sz="2500">
                <a:ea typeface="宋体" panose="02010600030101010101" pitchFamily="2" charset="-122"/>
              </a:rPr>
              <a:t>  </a:t>
            </a:r>
            <a:r>
              <a:rPr lang="zh-CN" altLang="en-US" sz="2500">
                <a:ea typeface="宋体" panose="02010600030101010101" pitchFamily="2" charset="-122"/>
              </a:rPr>
              <a:t>线性时不变系统的分析</a:t>
            </a:r>
            <a:endParaRPr lang="en-US" altLang="zh-CN" sz="2500">
              <a:ea typeface="宋体" panose="02010600030101010101" pitchFamily="2" charset="-122"/>
            </a:endParaRPr>
          </a:p>
          <a:p>
            <a:pPr eaLnBrk="1" hangingPunct="1">
              <a:lnSpc>
                <a:spcPct val="150000"/>
              </a:lnSpc>
              <a:spcBef>
                <a:spcPct val="60000"/>
              </a:spcBef>
              <a:buClr>
                <a:schemeClr val="accent2"/>
              </a:buClr>
              <a:buFont typeface="Wingdings" panose="05000000000000000000" pitchFamily="2" charset="2"/>
              <a:buNone/>
            </a:pPr>
            <a:r>
              <a:rPr lang="en-US" altLang="zh-CN" sz="2500">
                <a:ea typeface="宋体" panose="02010600030101010101" pitchFamily="2" charset="-122"/>
                <a:hlinkClick r:id="rId7" action="ppaction://hlinksldjump"/>
              </a:rPr>
              <a:t>1.6</a:t>
            </a:r>
            <a:r>
              <a:rPr lang="en-US" altLang="zh-CN" sz="2500">
                <a:ea typeface="宋体" panose="02010600030101010101" pitchFamily="2" charset="-122"/>
              </a:rPr>
              <a:t>  </a:t>
            </a:r>
            <a:r>
              <a:rPr lang="zh-CN" altLang="en-US" sz="2500">
                <a:ea typeface="宋体" panose="02010600030101010101" pitchFamily="2" charset="-122"/>
              </a:rPr>
              <a:t>非电系统的分析</a:t>
            </a:r>
          </a:p>
        </p:txBody>
      </p:sp>
      <p:pic>
        <p:nvPicPr>
          <p:cNvPr id="59395" name="Picture 4" descr="Exa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91425" y="414338"/>
            <a:ext cx="1370013"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5"/>
          <p:cNvSpPr>
            <a:spLocks noGrp="1"/>
          </p:cNvSpPr>
          <p:nvPr>
            <p:ph type="dt" sz="quarter" idx="10"/>
          </p:nvPr>
        </p:nvSpPr>
        <p:spPr/>
        <p:txBody>
          <a:bodyPr/>
          <a:lstStyle/>
          <a:p>
            <a:pPr>
              <a:defRPr/>
            </a:pPr>
            <a:fld id="{DB3E662F-7854-4966-BCF4-9B9BD80B9E7C}" type="datetime3">
              <a:rPr lang="zh-CN" altLang="en-US"/>
              <a:t>2026年3月4日星期三</a:t>
            </a:fld>
            <a:endParaRPr lang="zh-CN" altLang="en-US"/>
          </a:p>
        </p:txBody>
      </p:sp>
      <p:pic>
        <p:nvPicPr>
          <p:cNvPr id="59397" name="Picture 4" descr="TN_2">
            <a:hlinkClick r:id="rId9" action="ppaction://hlinksldjump"/>
          </p:cNvPr>
          <p:cNvPicPr>
            <a:picLocks noGrp="1" noChangeAspect="1" noChangeArrowheads="1" noCrop="1"/>
          </p:cNvPicPr>
          <p:nvPr>
            <p:ph sz="half" idx="4294967295"/>
          </p:nvPr>
        </p:nvPicPr>
        <p:blipFill>
          <a:blip r:embed="rId10"/>
          <a:srcRect/>
          <a:stretch>
            <a:fillRect/>
          </a:stretch>
        </p:blipFill>
        <p:spPr>
          <a:xfrm>
            <a:off x="7213600" y="5429250"/>
            <a:ext cx="1930400" cy="1428750"/>
          </a:xfrm>
        </p:spPr>
      </p:pic>
    </p:spTree>
  </p:cSld>
  <p:clrMapOvr>
    <a:masterClrMapping/>
  </p:clrMapOvr>
  <p:transition advTm="1418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77800" y="577850"/>
            <a:ext cx="1860550" cy="693738"/>
          </a:xfrm>
        </p:spPr>
        <p:txBody>
          <a:bodyPr/>
          <a:lstStyle/>
          <a:p>
            <a:r>
              <a:rPr lang="en-US" altLang="zh-CN" sz="2500" b="1">
                <a:solidFill>
                  <a:srgbClr val="FF0000"/>
                </a:solidFill>
              </a:rPr>
              <a:t>§1.1	</a:t>
            </a:r>
            <a:r>
              <a:rPr lang="zh-CN" altLang="en-US" sz="2500" b="1">
                <a:solidFill>
                  <a:srgbClr val="FF0000"/>
                </a:solidFill>
              </a:rPr>
              <a:t>引言</a:t>
            </a:r>
          </a:p>
        </p:txBody>
      </p:sp>
      <p:sp>
        <p:nvSpPr>
          <p:cNvPr id="1519619" name="Rectangle 3"/>
          <p:cNvSpPr>
            <a:spLocks noGrp="1" noChangeArrowheads="1"/>
          </p:cNvSpPr>
          <p:nvPr>
            <p:ph type="body" sz="half" idx="1"/>
          </p:nvPr>
        </p:nvSpPr>
        <p:spPr>
          <a:xfrm>
            <a:off x="1016000" y="1406525"/>
            <a:ext cx="6567488" cy="3992563"/>
          </a:xfrm>
          <a:solidFill>
            <a:schemeClr val="bg1"/>
          </a:solidFill>
          <a:ln w="57150">
            <a:solidFill>
              <a:schemeClr val="tx1"/>
            </a:solidFill>
            <a:miter lim="800000"/>
          </a:ln>
          <a:effectLst>
            <a:prstShdw prst="shdw12">
              <a:srgbClr val="808080">
                <a:alpha val="50000"/>
              </a:srgbClr>
            </a:prstShdw>
          </a:effectLst>
        </p:spPr>
        <p:txBody>
          <a:bodyPr/>
          <a:lstStyle/>
          <a:p>
            <a:pPr marL="412750" indent="-412750">
              <a:lnSpc>
                <a:spcPct val="150000"/>
              </a:lnSpc>
              <a:spcBef>
                <a:spcPct val="50000"/>
              </a:spcBef>
              <a:buFontTx/>
              <a:buAutoNum type="arabicPeriod"/>
            </a:pPr>
            <a:r>
              <a:rPr lang="zh-CN" altLang="en-US" sz="2000" b="1" u="sng">
                <a:solidFill>
                  <a:srgbClr val="6600FF"/>
                </a:solidFill>
                <a:hlinkClick r:id="rId3" action="ppaction://hlinksldjump"/>
              </a:rPr>
              <a:t>信息、消息与信号</a:t>
            </a:r>
            <a:r>
              <a:rPr lang="zh-CN" altLang="en-US" sz="2000" b="1" u="sng">
                <a:hlinkClick r:id="rId3" action="ppaction://hlinksldjump"/>
              </a:rPr>
              <a:t> </a:t>
            </a:r>
            <a:endParaRPr lang="zh-CN" altLang="en-US" sz="2000" b="1" u="sng"/>
          </a:p>
          <a:p>
            <a:pPr marL="412750" indent="-412750">
              <a:lnSpc>
                <a:spcPct val="150000"/>
              </a:lnSpc>
              <a:spcBef>
                <a:spcPct val="50000"/>
              </a:spcBef>
              <a:buFont typeface="Wingdings" panose="05000000000000000000" pitchFamily="2" charset="2"/>
              <a:buChar char="l"/>
            </a:pPr>
            <a:r>
              <a:rPr lang="zh-CN" altLang="en-US" sz="2000" b="1">
                <a:solidFill>
                  <a:srgbClr val="FF0000"/>
                </a:solidFill>
              </a:rPr>
              <a:t>信息</a:t>
            </a:r>
            <a:r>
              <a:rPr lang="zh-CN" altLang="en-US" sz="2000" b="1"/>
              <a:t>是组成客观物质世界的</a:t>
            </a:r>
            <a:r>
              <a:rPr lang="zh-CN" altLang="en-US" sz="2000" b="1">
                <a:solidFill>
                  <a:srgbClr val="FF0000"/>
                </a:solidFill>
              </a:rPr>
              <a:t>三大要素</a:t>
            </a:r>
            <a:r>
              <a:rPr lang="zh-CN" altLang="en-US" sz="2000" b="1"/>
              <a:t>（物质、能源、信息），对其处理和传输具有非常重要的意义；</a:t>
            </a:r>
          </a:p>
          <a:p>
            <a:pPr marL="412750" indent="-412750">
              <a:lnSpc>
                <a:spcPct val="150000"/>
              </a:lnSpc>
              <a:spcBef>
                <a:spcPct val="50000"/>
              </a:spcBef>
              <a:buFont typeface="Wingdings" panose="05000000000000000000" pitchFamily="2" charset="2"/>
              <a:buChar char="l"/>
            </a:pPr>
            <a:r>
              <a:rPr lang="zh-CN" altLang="en-US" sz="2000" b="1">
                <a:solidFill>
                  <a:srgbClr val="FF0000"/>
                </a:solidFill>
              </a:rPr>
              <a:t>信息</a:t>
            </a:r>
            <a:r>
              <a:rPr lang="zh-CN" altLang="en-US" sz="2000" b="1"/>
              <a:t>一般以一定的物理形式表现为</a:t>
            </a:r>
            <a:r>
              <a:rPr lang="zh-CN" altLang="en-US" sz="2000" b="1">
                <a:solidFill>
                  <a:srgbClr val="FF0000"/>
                </a:solidFill>
              </a:rPr>
              <a:t>消息</a:t>
            </a:r>
            <a:r>
              <a:rPr lang="zh-CN" altLang="en-US" sz="2000" b="1"/>
              <a:t>；</a:t>
            </a:r>
          </a:p>
          <a:p>
            <a:pPr marL="412750" indent="-412750">
              <a:lnSpc>
                <a:spcPct val="150000"/>
              </a:lnSpc>
              <a:spcBef>
                <a:spcPct val="50000"/>
              </a:spcBef>
              <a:buFont typeface="Wingdings" panose="05000000000000000000" pitchFamily="2" charset="2"/>
              <a:buChar char="l"/>
            </a:pPr>
            <a:r>
              <a:rPr lang="zh-CN" altLang="en-US" sz="2000" b="1">
                <a:solidFill>
                  <a:srgbClr val="FF0000"/>
                </a:solidFill>
              </a:rPr>
              <a:t>消息</a:t>
            </a:r>
            <a:r>
              <a:rPr lang="zh-CN" altLang="en-US" sz="2000" b="1"/>
              <a:t>一般不便于直接传输，常借助于转换设备转换为便于传输的</a:t>
            </a:r>
            <a:r>
              <a:rPr lang="zh-CN" altLang="en-US" sz="2000" b="1">
                <a:solidFill>
                  <a:srgbClr val="FF0000"/>
                </a:solidFill>
              </a:rPr>
              <a:t>电信号</a:t>
            </a:r>
            <a:r>
              <a:rPr lang="zh-CN" altLang="en-US" sz="2000" b="1"/>
              <a:t>。 </a:t>
            </a:r>
          </a:p>
        </p:txBody>
      </p:sp>
      <p:sp>
        <p:nvSpPr>
          <p:cNvPr id="8" name="日期占位符 7"/>
          <p:cNvSpPr>
            <a:spLocks noGrp="1"/>
          </p:cNvSpPr>
          <p:nvPr>
            <p:ph type="dt" sz="quarter" idx="10"/>
          </p:nvPr>
        </p:nvSpPr>
        <p:spPr/>
        <p:txBody>
          <a:bodyPr/>
          <a:lstStyle/>
          <a:p>
            <a:pPr>
              <a:defRPr/>
            </a:pPr>
            <a:fld id="{F203EA63-AE53-4C65-9644-F06967E45202}" type="datetime3">
              <a:rPr lang="zh-CN" altLang="en-US"/>
              <a:t>2026年3月4日星期三</a:t>
            </a:fld>
            <a:endParaRPr lang="zh-CN" altLang="en-US" dirty="0"/>
          </a:p>
        </p:txBody>
      </p:sp>
    </p:spTree>
  </p:cSld>
  <p:clrMapOvr>
    <a:masterClrMapping/>
  </p:clrMapOvr>
  <p:transition advTm="6164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19619">
                                            <p:txEl>
                                              <p:pRg st="1" end="1"/>
                                            </p:txEl>
                                          </p:spTgt>
                                        </p:tgtEl>
                                        <p:attrNameLst>
                                          <p:attrName>style.visibility</p:attrName>
                                        </p:attrNameLst>
                                      </p:cBhvr>
                                      <p:to>
                                        <p:strVal val="visible"/>
                                      </p:to>
                                    </p:set>
                                    <p:anim calcmode="lin" valueType="num">
                                      <p:cBhvr>
                                        <p:cTn id="7" dur="1000" fill="hold"/>
                                        <p:tgtEl>
                                          <p:spTgt spid="1519619">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519619">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519619">
                                            <p:txEl>
                                              <p:pRg st="1" end="1"/>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519619">
                                            <p:txEl>
                                              <p:pRg st="2" end="2"/>
                                            </p:txEl>
                                          </p:spTgt>
                                        </p:tgtEl>
                                        <p:attrNameLst>
                                          <p:attrName>style.visibility</p:attrName>
                                        </p:attrNameLst>
                                      </p:cBhvr>
                                      <p:to>
                                        <p:strVal val="visible"/>
                                      </p:to>
                                    </p:set>
                                    <p:anim calcmode="lin" valueType="num">
                                      <p:cBhvr>
                                        <p:cTn id="13" dur="1000" fill="hold"/>
                                        <p:tgtEl>
                                          <p:spTgt spid="1519619">
                                            <p:txEl>
                                              <p:pRg st="2" end="2"/>
                                            </p:txEl>
                                          </p:spTgt>
                                        </p:tgtEl>
                                        <p:attrNameLst>
                                          <p:attrName>ppt_w</p:attrName>
                                        </p:attrNameLst>
                                      </p:cBhvr>
                                      <p:tavLst>
                                        <p:tav tm="0">
                                          <p:val>
                                            <p:strVal val="#ppt_w*0.70"/>
                                          </p:val>
                                        </p:tav>
                                        <p:tav tm="100000">
                                          <p:val>
                                            <p:strVal val="#ppt_w"/>
                                          </p:val>
                                        </p:tav>
                                      </p:tavLst>
                                    </p:anim>
                                    <p:anim calcmode="lin" valueType="num">
                                      <p:cBhvr>
                                        <p:cTn id="14" dur="1000" fill="hold"/>
                                        <p:tgtEl>
                                          <p:spTgt spid="1519619">
                                            <p:txEl>
                                              <p:pRg st="2" end="2"/>
                                            </p:txEl>
                                          </p:spTgt>
                                        </p:tgtEl>
                                        <p:attrNameLst>
                                          <p:attrName>ppt_h</p:attrName>
                                        </p:attrNameLst>
                                      </p:cBhvr>
                                      <p:tavLst>
                                        <p:tav tm="0">
                                          <p:val>
                                            <p:strVal val="#ppt_h"/>
                                          </p:val>
                                        </p:tav>
                                        <p:tav tm="100000">
                                          <p:val>
                                            <p:strVal val="#ppt_h"/>
                                          </p:val>
                                        </p:tav>
                                      </p:tavLst>
                                    </p:anim>
                                    <p:animEffect transition="in" filter="fade">
                                      <p:cBhvr>
                                        <p:cTn id="15" dur="1000"/>
                                        <p:tgtEl>
                                          <p:spTgt spid="1519619">
                                            <p:txEl>
                                              <p:pRg st="2" end="2"/>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519619">
                                            <p:txEl>
                                              <p:pRg st="3" end="3"/>
                                            </p:txEl>
                                          </p:spTgt>
                                        </p:tgtEl>
                                        <p:attrNameLst>
                                          <p:attrName>style.visibility</p:attrName>
                                        </p:attrNameLst>
                                      </p:cBhvr>
                                      <p:to>
                                        <p:strVal val="visible"/>
                                      </p:to>
                                    </p:set>
                                    <p:anim calcmode="lin" valueType="num">
                                      <p:cBhvr>
                                        <p:cTn id="19" dur="1000" fill="hold"/>
                                        <p:tgtEl>
                                          <p:spTgt spid="1519619">
                                            <p:txEl>
                                              <p:pRg st="3" end="3"/>
                                            </p:txEl>
                                          </p:spTgt>
                                        </p:tgtEl>
                                        <p:attrNameLst>
                                          <p:attrName>ppt_w</p:attrName>
                                        </p:attrNameLst>
                                      </p:cBhvr>
                                      <p:tavLst>
                                        <p:tav tm="0">
                                          <p:val>
                                            <p:strVal val="#ppt_w*0.70"/>
                                          </p:val>
                                        </p:tav>
                                        <p:tav tm="100000">
                                          <p:val>
                                            <p:strVal val="#ppt_w"/>
                                          </p:val>
                                        </p:tav>
                                      </p:tavLst>
                                    </p:anim>
                                    <p:anim calcmode="lin" valueType="num">
                                      <p:cBhvr>
                                        <p:cTn id="20" dur="1000" fill="hold"/>
                                        <p:tgtEl>
                                          <p:spTgt spid="1519619">
                                            <p:txEl>
                                              <p:pRg st="3" end="3"/>
                                            </p:txEl>
                                          </p:spTgt>
                                        </p:tgtEl>
                                        <p:attrNameLst>
                                          <p:attrName>ppt_h</p:attrName>
                                        </p:attrNameLst>
                                      </p:cBhvr>
                                      <p:tavLst>
                                        <p:tav tm="0">
                                          <p:val>
                                            <p:strVal val="#ppt_h"/>
                                          </p:val>
                                        </p:tav>
                                        <p:tav tm="100000">
                                          <p:val>
                                            <p:strVal val="#ppt_h"/>
                                          </p:val>
                                        </p:tav>
                                      </p:tavLst>
                                    </p:anim>
                                    <p:animEffect transition="in" filter="fade">
                                      <p:cBhvr>
                                        <p:cTn id="21" dur="1000"/>
                                        <p:tgtEl>
                                          <p:spTgt spid="15196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0642" name="Rectangle 2"/>
          <p:cNvSpPr>
            <a:spLocks noGrp="1" noChangeArrowheads="1"/>
          </p:cNvSpPr>
          <p:nvPr>
            <p:ph type="body" idx="4294967295"/>
          </p:nvPr>
        </p:nvSpPr>
        <p:spPr>
          <a:xfrm>
            <a:off x="1263650" y="1458913"/>
            <a:ext cx="6272213" cy="4303712"/>
          </a:xfrm>
          <a:solidFill>
            <a:schemeClr val="bg1"/>
          </a:solidFill>
          <a:ln w="57150">
            <a:solidFill>
              <a:schemeClr val="tx1"/>
            </a:solidFill>
            <a:miter lim="800000"/>
          </a:ln>
          <a:effectLst>
            <a:prstShdw prst="shdw12">
              <a:srgbClr val="808080">
                <a:alpha val="50000"/>
              </a:srgbClr>
            </a:prstShdw>
          </a:effectLst>
        </p:spPr>
        <p:txBody>
          <a:bodyPr/>
          <a:lstStyle/>
          <a:p>
            <a:pPr>
              <a:lnSpc>
                <a:spcPct val="165000"/>
              </a:lnSpc>
              <a:buFontTx/>
              <a:buNone/>
            </a:pPr>
            <a:r>
              <a:rPr lang="zh-CN" altLang="en-US" sz="2000" b="1">
                <a:solidFill>
                  <a:srgbClr val="FF0000"/>
                </a:solidFill>
              </a:rPr>
              <a:t>信息（</a:t>
            </a:r>
            <a:r>
              <a:rPr lang="en-US" altLang="zh-CN" sz="2000" b="1">
                <a:solidFill>
                  <a:srgbClr val="FF0000"/>
                </a:solidFill>
              </a:rPr>
              <a:t>Information)</a:t>
            </a:r>
            <a:r>
              <a:rPr lang="en-US" altLang="zh-CN" sz="2000" b="1"/>
              <a:t>    </a:t>
            </a:r>
          </a:p>
          <a:p>
            <a:pPr>
              <a:lnSpc>
                <a:spcPct val="165000"/>
              </a:lnSpc>
              <a:buFont typeface="Wingdings" panose="05000000000000000000" pitchFamily="2" charset="2"/>
              <a:buChar char="l"/>
            </a:pPr>
            <a:r>
              <a:rPr lang="zh-CN" altLang="en-US" sz="2000" b="1">
                <a:solidFill>
                  <a:srgbClr val="FF0000"/>
                </a:solidFill>
              </a:rPr>
              <a:t>定义：</a:t>
            </a:r>
            <a:r>
              <a:rPr lang="zh-CN" altLang="en-US" sz="2000" b="1"/>
              <a:t>信息是各种事物或过程发出的情报、指令、数据等中包含的表征事物特性的内容。</a:t>
            </a:r>
          </a:p>
          <a:p>
            <a:pPr>
              <a:lnSpc>
                <a:spcPct val="165000"/>
              </a:lnSpc>
              <a:buFont typeface="Wingdings" panose="05000000000000000000" pitchFamily="2" charset="2"/>
              <a:buChar char="l"/>
            </a:pPr>
            <a:r>
              <a:rPr lang="zh-CN" altLang="en-US" sz="2000" b="1">
                <a:solidFill>
                  <a:srgbClr val="FF0000"/>
                </a:solidFill>
              </a:rPr>
              <a:t>信息的特征：</a:t>
            </a:r>
            <a:r>
              <a:rPr lang="zh-CN" altLang="en-US" sz="2000" b="1"/>
              <a:t>可传输性、可转换性、可存贮性、可处理性。</a:t>
            </a:r>
          </a:p>
          <a:p>
            <a:pPr>
              <a:lnSpc>
                <a:spcPct val="165000"/>
              </a:lnSpc>
              <a:buFont typeface="Wingdings" panose="05000000000000000000" pitchFamily="2" charset="2"/>
              <a:buChar char="l"/>
            </a:pPr>
            <a:r>
              <a:rPr lang="zh-CN" altLang="en-US" sz="2000" b="1"/>
              <a:t>我们在日常生活中互相询问、通讯和转告某事件时，</a:t>
            </a:r>
            <a:r>
              <a:rPr lang="zh-CN" altLang="en-US" sz="2000" b="1">
                <a:solidFill>
                  <a:srgbClr val="FF0000"/>
                </a:solidFill>
              </a:rPr>
              <a:t>实质上</a:t>
            </a:r>
            <a:r>
              <a:rPr lang="zh-CN" altLang="en-US" sz="2000" b="1"/>
              <a:t>是在传递着某种信息。</a:t>
            </a:r>
          </a:p>
        </p:txBody>
      </p:sp>
      <p:sp>
        <p:nvSpPr>
          <p:cNvPr id="63491" name="Rectangle 5"/>
          <p:cNvSpPr>
            <a:spLocks noChangeArrowheads="1"/>
          </p:cNvSpPr>
          <p:nvPr/>
        </p:nvSpPr>
        <p:spPr bwMode="auto">
          <a:xfrm>
            <a:off x="177800" y="577850"/>
            <a:ext cx="1860550"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§1.1	</a:t>
            </a:r>
            <a:r>
              <a:rPr lang="zh-CN" altLang="en-US" sz="2500">
                <a:solidFill>
                  <a:srgbClr val="FF0000"/>
                </a:solidFill>
                <a:latin typeface="Times New Roman" panose="02020603050405020304" pitchFamily="18" charset="0"/>
              </a:rPr>
              <a:t>引言</a:t>
            </a:r>
          </a:p>
        </p:txBody>
      </p:sp>
      <p:sp>
        <p:nvSpPr>
          <p:cNvPr id="7" name="日期占位符 6"/>
          <p:cNvSpPr>
            <a:spLocks noGrp="1"/>
          </p:cNvSpPr>
          <p:nvPr>
            <p:ph type="dt" sz="quarter" idx="10"/>
          </p:nvPr>
        </p:nvSpPr>
        <p:spPr/>
        <p:txBody>
          <a:bodyPr/>
          <a:lstStyle/>
          <a:p>
            <a:pPr>
              <a:defRPr/>
            </a:pPr>
            <a:fld id="{A5D3A1BD-9DA3-4ADF-A702-9AB450445FDB}" type="datetime3">
              <a:rPr lang="zh-CN" altLang="en-US"/>
              <a:t>2026年3月4日星期三</a:t>
            </a:fld>
            <a:endParaRPr lang="en-US" altLang="zh-CN"/>
          </a:p>
        </p:txBody>
      </p:sp>
    </p:spTree>
    <p:custDataLst>
      <p:tags r:id="rId1"/>
    </p:custDataLst>
  </p:cSld>
  <p:clrMapOvr>
    <a:masterClrMapping/>
  </p:clrMapOvr>
  <p:transition spd="med" advTm="38485">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20642">
                                            <p:txEl>
                                              <p:pRg st="1" end="1"/>
                                            </p:txEl>
                                          </p:spTgt>
                                        </p:tgtEl>
                                        <p:attrNameLst>
                                          <p:attrName>style.visibility</p:attrName>
                                        </p:attrNameLst>
                                      </p:cBhvr>
                                      <p:to>
                                        <p:strVal val="visible"/>
                                      </p:to>
                                    </p:set>
                                    <p:anim calcmode="lin" valueType="num">
                                      <p:cBhvr>
                                        <p:cTn id="7" dur="1000" fill="hold"/>
                                        <p:tgtEl>
                                          <p:spTgt spid="1520642">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520642">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520642">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20642">
                                            <p:txEl>
                                              <p:pRg st="2" end="2"/>
                                            </p:txEl>
                                          </p:spTgt>
                                        </p:tgtEl>
                                        <p:attrNameLst>
                                          <p:attrName>style.visibility</p:attrName>
                                        </p:attrNameLst>
                                      </p:cBhvr>
                                      <p:to>
                                        <p:strVal val="visible"/>
                                      </p:to>
                                    </p:set>
                                    <p:anim calcmode="lin" valueType="num">
                                      <p:cBhvr>
                                        <p:cTn id="14" dur="1000" fill="hold"/>
                                        <p:tgtEl>
                                          <p:spTgt spid="1520642">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1520642">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152064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520642">
                                            <p:txEl>
                                              <p:pRg st="3" end="3"/>
                                            </p:txEl>
                                          </p:spTgt>
                                        </p:tgtEl>
                                        <p:attrNameLst>
                                          <p:attrName>style.visibility</p:attrName>
                                        </p:attrNameLst>
                                      </p:cBhvr>
                                      <p:to>
                                        <p:strVal val="visible"/>
                                      </p:to>
                                    </p:set>
                                    <p:anim calcmode="lin" valueType="num">
                                      <p:cBhvr>
                                        <p:cTn id="21" dur="1000" fill="hold"/>
                                        <p:tgtEl>
                                          <p:spTgt spid="1520642">
                                            <p:txEl>
                                              <p:pRg st="3" end="3"/>
                                            </p:txEl>
                                          </p:spTgt>
                                        </p:tgtEl>
                                        <p:attrNameLst>
                                          <p:attrName>ppt_w</p:attrName>
                                        </p:attrNameLst>
                                      </p:cBhvr>
                                      <p:tavLst>
                                        <p:tav tm="0">
                                          <p:val>
                                            <p:strVal val="#ppt_w*0.70"/>
                                          </p:val>
                                        </p:tav>
                                        <p:tav tm="100000">
                                          <p:val>
                                            <p:strVal val="#ppt_w"/>
                                          </p:val>
                                        </p:tav>
                                      </p:tavLst>
                                    </p:anim>
                                    <p:anim calcmode="lin" valueType="num">
                                      <p:cBhvr>
                                        <p:cTn id="22" dur="1000" fill="hold"/>
                                        <p:tgtEl>
                                          <p:spTgt spid="1520642">
                                            <p:txEl>
                                              <p:pRg st="3" end="3"/>
                                            </p:txEl>
                                          </p:spTgt>
                                        </p:tgtEl>
                                        <p:attrNameLst>
                                          <p:attrName>ppt_h</p:attrName>
                                        </p:attrNameLst>
                                      </p:cBhvr>
                                      <p:tavLst>
                                        <p:tav tm="0">
                                          <p:val>
                                            <p:strVal val="#ppt_h"/>
                                          </p:val>
                                        </p:tav>
                                        <p:tav tm="100000">
                                          <p:val>
                                            <p:strVal val="#ppt_h"/>
                                          </p:val>
                                        </p:tav>
                                      </p:tavLst>
                                    </p:anim>
                                    <p:animEffect transition="in" filter="fade">
                                      <p:cBhvr>
                                        <p:cTn id="23" dur="1000"/>
                                        <p:tgtEl>
                                          <p:spTgt spid="152064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1666" name="Rectangle 2"/>
          <p:cNvSpPr>
            <a:spLocks noGrp="1" noChangeArrowheads="1"/>
          </p:cNvSpPr>
          <p:nvPr>
            <p:ph type="body" sz="half" idx="1"/>
          </p:nvPr>
        </p:nvSpPr>
        <p:spPr>
          <a:xfrm>
            <a:off x="1263650" y="1666875"/>
            <a:ext cx="6272213" cy="4095750"/>
          </a:xfrm>
          <a:solidFill>
            <a:schemeClr val="bg1"/>
          </a:solidFill>
          <a:ln w="57150">
            <a:solidFill>
              <a:schemeClr val="tx1"/>
            </a:solidFill>
            <a:miter lim="800000"/>
          </a:ln>
          <a:effectLst>
            <a:prstShdw prst="shdw12">
              <a:srgbClr val="808080">
                <a:alpha val="50000"/>
              </a:srgbClr>
            </a:prstShdw>
          </a:effectLst>
        </p:spPr>
        <p:txBody>
          <a:bodyPr/>
          <a:lstStyle/>
          <a:p>
            <a:pPr marL="119380" indent="-119380">
              <a:lnSpc>
                <a:spcPct val="160000"/>
              </a:lnSpc>
              <a:spcBef>
                <a:spcPct val="50000"/>
              </a:spcBef>
              <a:buFont typeface="Wingdings" panose="05000000000000000000" pitchFamily="2" charset="2"/>
              <a:buNone/>
            </a:pPr>
            <a:r>
              <a:rPr lang="zh-CN" altLang="en-US" sz="1700" b="1">
                <a:solidFill>
                  <a:srgbClr val="FF0000"/>
                </a:solidFill>
              </a:rPr>
              <a:t>消息</a:t>
            </a:r>
            <a:r>
              <a:rPr lang="en-US" altLang="zh-CN" sz="1700" b="1">
                <a:solidFill>
                  <a:srgbClr val="FF0000"/>
                </a:solidFill>
              </a:rPr>
              <a:t>(News)</a:t>
            </a:r>
          </a:p>
          <a:p>
            <a:pPr marL="119380" indent="-119380">
              <a:lnSpc>
                <a:spcPct val="160000"/>
              </a:lnSpc>
              <a:spcBef>
                <a:spcPct val="50000"/>
              </a:spcBef>
              <a:buClr>
                <a:srgbClr val="FF0000"/>
              </a:buClr>
              <a:buFont typeface="Wingdings" panose="05000000000000000000" pitchFamily="2" charset="2"/>
              <a:buChar char="l"/>
            </a:pPr>
            <a:r>
              <a:rPr lang="en-US" altLang="zh-CN" sz="1700" b="1"/>
              <a:t> </a:t>
            </a:r>
            <a:r>
              <a:rPr lang="zh-CN" altLang="en-US" sz="1700" b="1">
                <a:solidFill>
                  <a:srgbClr val="FF0000"/>
                </a:solidFill>
              </a:rPr>
              <a:t>严格的说：</a:t>
            </a:r>
            <a:r>
              <a:rPr lang="zh-CN" altLang="en-US" sz="1700" b="1"/>
              <a:t>为了便于信息的传递，通常将信息的</a:t>
            </a:r>
            <a:r>
              <a:rPr lang="zh-CN" altLang="en-US" sz="1700" b="1">
                <a:solidFill>
                  <a:srgbClr val="FF0000"/>
                </a:solidFill>
              </a:rPr>
              <a:t>物理表现形式</a:t>
            </a:r>
            <a:r>
              <a:rPr lang="zh-CN" altLang="en-US" sz="1700" b="1"/>
              <a:t>（如文字、语言、图画等）按一定规则组成</a:t>
            </a:r>
            <a:r>
              <a:rPr lang="zh-CN" altLang="en-US" sz="1700" b="1">
                <a:solidFill>
                  <a:srgbClr val="FF0000"/>
                </a:solidFill>
              </a:rPr>
              <a:t>包含有信息</a:t>
            </a:r>
            <a:r>
              <a:rPr lang="zh-CN" altLang="en-US" sz="1700" b="1"/>
              <a:t>的一组</a:t>
            </a:r>
            <a:r>
              <a:rPr lang="zh-CN" altLang="en-US" sz="1700" b="1">
                <a:solidFill>
                  <a:srgbClr val="FF0000"/>
                </a:solidFill>
              </a:rPr>
              <a:t>约定符号</a:t>
            </a:r>
            <a:r>
              <a:rPr lang="zh-CN" altLang="en-US" sz="1700" b="1"/>
              <a:t>，这种用约定方式组成的符号统称为</a:t>
            </a:r>
            <a:r>
              <a:rPr lang="zh-CN" altLang="en-US" sz="1700" b="1">
                <a:solidFill>
                  <a:srgbClr val="FF0000"/>
                </a:solidFill>
              </a:rPr>
              <a:t>消息</a:t>
            </a:r>
            <a:r>
              <a:rPr lang="zh-CN" altLang="en-US" sz="1700" b="1"/>
              <a:t>。（如文字的约定组合成文章，语言的组合成演讲，图画的组合成电影、电视等，这些都是常见的消息。）</a:t>
            </a:r>
          </a:p>
          <a:p>
            <a:pPr marL="119380" indent="-119380">
              <a:lnSpc>
                <a:spcPct val="160000"/>
              </a:lnSpc>
              <a:spcBef>
                <a:spcPct val="50000"/>
              </a:spcBef>
              <a:buClr>
                <a:srgbClr val="FF0000"/>
              </a:buClr>
              <a:buFont typeface="Wingdings" panose="05000000000000000000" pitchFamily="2" charset="2"/>
              <a:buChar char="l"/>
            </a:pPr>
            <a:r>
              <a:rPr lang="zh-CN" altLang="en-US" sz="1700" b="1"/>
              <a:t> </a:t>
            </a:r>
            <a:r>
              <a:rPr lang="zh-CN" altLang="en-US" sz="1700" b="1">
                <a:solidFill>
                  <a:srgbClr val="FF0000"/>
                </a:solidFill>
              </a:rPr>
              <a:t>可见：</a:t>
            </a:r>
            <a:r>
              <a:rPr lang="zh-CN" altLang="en-US" sz="1700" b="1"/>
              <a:t>任何信息都以</a:t>
            </a:r>
            <a:r>
              <a:rPr lang="zh-CN" altLang="en-US" sz="1700" b="1">
                <a:solidFill>
                  <a:srgbClr val="FF0000"/>
                </a:solidFill>
              </a:rPr>
              <a:t>消息的形式</a:t>
            </a:r>
            <a:r>
              <a:rPr lang="zh-CN" altLang="en-US" sz="1700" b="1"/>
              <a:t>表现出来，任何消息也蕴含着大量的信息</a:t>
            </a:r>
            <a:r>
              <a:rPr lang="zh-CN" altLang="en-US" sz="1700" b="1">
                <a:solidFill>
                  <a:srgbClr val="0000FF"/>
                </a:solidFill>
              </a:rPr>
              <a:t>。</a:t>
            </a:r>
          </a:p>
        </p:txBody>
      </p:sp>
      <p:sp>
        <p:nvSpPr>
          <p:cNvPr id="65539" name="Rectangle 5"/>
          <p:cNvSpPr>
            <a:spLocks noChangeArrowheads="1"/>
          </p:cNvSpPr>
          <p:nvPr/>
        </p:nvSpPr>
        <p:spPr bwMode="auto">
          <a:xfrm>
            <a:off x="177800" y="577850"/>
            <a:ext cx="1860550"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§1.1	</a:t>
            </a:r>
            <a:r>
              <a:rPr lang="zh-CN" altLang="en-US" sz="2500">
                <a:solidFill>
                  <a:srgbClr val="FF0000"/>
                </a:solidFill>
                <a:latin typeface="Times New Roman" panose="02020603050405020304" pitchFamily="18" charset="0"/>
              </a:rPr>
              <a:t>引言</a:t>
            </a:r>
          </a:p>
        </p:txBody>
      </p:sp>
      <p:sp>
        <p:nvSpPr>
          <p:cNvPr id="7" name="日期占位符 6"/>
          <p:cNvSpPr>
            <a:spLocks noGrp="1"/>
          </p:cNvSpPr>
          <p:nvPr>
            <p:ph type="dt" sz="quarter" idx="10"/>
          </p:nvPr>
        </p:nvSpPr>
        <p:spPr/>
        <p:txBody>
          <a:bodyPr/>
          <a:lstStyle/>
          <a:p>
            <a:pPr>
              <a:defRPr/>
            </a:pPr>
            <a:fld id="{46F7D23A-8F5B-4795-BE23-1E2871826EAD}" type="datetime3">
              <a:rPr lang="zh-CN" altLang="en-US"/>
              <a:t>2026年3月4日星期三</a:t>
            </a:fld>
            <a:endParaRPr lang="en-US" altLang="zh-CN" dirty="0"/>
          </a:p>
        </p:txBody>
      </p:sp>
    </p:spTree>
    <p:custDataLst>
      <p:tags r:id="rId1"/>
    </p:custDataLst>
  </p:cSld>
  <p:clrMapOvr>
    <a:masterClrMapping/>
  </p:clrMapOvr>
  <p:transition spd="med" advTm="50469">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21666">
                                            <p:txEl>
                                              <p:pRg st="1" end="1"/>
                                            </p:txEl>
                                          </p:spTgt>
                                        </p:tgtEl>
                                        <p:attrNameLst>
                                          <p:attrName>style.visibility</p:attrName>
                                        </p:attrNameLst>
                                      </p:cBhvr>
                                      <p:to>
                                        <p:strVal val="visible"/>
                                      </p:to>
                                    </p:set>
                                    <p:anim calcmode="lin" valueType="num">
                                      <p:cBhvr>
                                        <p:cTn id="7" dur="1000" fill="hold"/>
                                        <p:tgtEl>
                                          <p:spTgt spid="1521666">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521666">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521666">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21666">
                                            <p:txEl>
                                              <p:pRg st="2" end="2"/>
                                            </p:txEl>
                                          </p:spTgt>
                                        </p:tgtEl>
                                        <p:attrNameLst>
                                          <p:attrName>style.visibility</p:attrName>
                                        </p:attrNameLst>
                                      </p:cBhvr>
                                      <p:to>
                                        <p:strVal val="visible"/>
                                      </p:to>
                                    </p:set>
                                    <p:anim calcmode="lin" valueType="num">
                                      <p:cBhvr>
                                        <p:cTn id="14" dur="1000" fill="hold"/>
                                        <p:tgtEl>
                                          <p:spTgt spid="1521666">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1521666">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15216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2690" name="Rectangle 2"/>
          <p:cNvSpPr>
            <a:spLocks noGrp="1" noChangeArrowheads="1"/>
          </p:cNvSpPr>
          <p:nvPr>
            <p:ph type="body" sz="half" idx="1"/>
          </p:nvPr>
        </p:nvSpPr>
        <p:spPr>
          <a:xfrm>
            <a:off x="473075" y="1055688"/>
            <a:ext cx="8251825" cy="5221287"/>
          </a:xfrm>
          <a:solidFill>
            <a:schemeClr val="bg1"/>
          </a:solidFill>
          <a:ln w="76200">
            <a:solidFill>
              <a:schemeClr val="tx1"/>
            </a:solidFill>
            <a:miter lim="800000"/>
          </a:ln>
          <a:effectLst>
            <a:prstShdw prst="shdw12">
              <a:srgbClr val="808080">
                <a:alpha val="50000"/>
              </a:srgbClr>
            </a:prstShdw>
          </a:effectLst>
        </p:spPr>
        <p:txBody>
          <a:bodyPr/>
          <a:lstStyle/>
          <a:p>
            <a:pPr>
              <a:lnSpc>
                <a:spcPct val="160000"/>
              </a:lnSpc>
              <a:buFontTx/>
              <a:buNone/>
            </a:pPr>
            <a:r>
              <a:rPr lang="zh-CN" altLang="en-US" sz="1700" b="1">
                <a:solidFill>
                  <a:srgbClr val="6600FF"/>
                </a:solidFill>
              </a:rPr>
              <a:t>信号</a:t>
            </a:r>
            <a:r>
              <a:rPr lang="en-US" altLang="zh-CN" sz="1700" b="1">
                <a:solidFill>
                  <a:srgbClr val="6600FF"/>
                </a:solidFill>
              </a:rPr>
              <a:t>(Signal) </a:t>
            </a:r>
          </a:p>
          <a:p>
            <a:pPr>
              <a:lnSpc>
                <a:spcPct val="160000"/>
              </a:lnSpc>
              <a:buFont typeface="Wingdings" panose="05000000000000000000" pitchFamily="2" charset="2"/>
              <a:buChar char="l"/>
            </a:pPr>
            <a:r>
              <a:rPr lang="zh-CN" altLang="en-US" sz="1700" b="1"/>
              <a:t>消息一般</a:t>
            </a:r>
            <a:r>
              <a:rPr lang="zh-CN" altLang="en-US" sz="1700" b="1">
                <a:solidFill>
                  <a:srgbClr val="FF0000"/>
                </a:solidFill>
              </a:rPr>
              <a:t>不便于传输</a:t>
            </a:r>
            <a:r>
              <a:rPr lang="zh-CN" altLang="en-US" sz="1700" b="1"/>
              <a:t>，如文字的消息（书籍、报刊、书信等）只能通过邮局邮寄；语言携带的消息（如讲演、话语等）只能通过空气媒介传播，距离极短；图画、景物也只能身临其境方可领受。</a:t>
            </a:r>
            <a:r>
              <a:rPr lang="zh-CN" altLang="en-US" sz="1700" b="1">
                <a:solidFill>
                  <a:srgbClr val="FF0000"/>
                </a:solidFill>
              </a:rPr>
              <a:t>因此，</a:t>
            </a:r>
            <a:r>
              <a:rPr lang="zh-CN" altLang="en-US" sz="1700" b="1"/>
              <a:t>常借助于一些</a:t>
            </a:r>
            <a:r>
              <a:rPr lang="zh-CN" altLang="en-US" sz="1700" b="1">
                <a:solidFill>
                  <a:srgbClr val="FF0000"/>
                </a:solidFill>
              </a:rPr>
              <a:t>转换设备</a:t>
            </a:r>
            <a:r>
              <a:rPr lang="zh-CN" altLang="en-US" sz="1700" b="1"/>
              <a:t>将欲传递的消息转换成</a:t>
            </a:r>
            <a:r>
              <a:rPr lang="zh-CN" altLang="en-US" sz="1700" b="1">
                <a:solidFill>
                  <a:srgbClr val="FF0000"/>
                </a:solidFill>
              </a:rPr>
              <a:t>一定形式的便于传送的（电）信号</a:t>
            </a:r>
            <a:r>
              <a:rPr lang="zh-CN" altLang="en-US" sz="1700" b="1"/>
              <a:t>。例如：语言消息的表现形式是</a:t>
            </a:r>
            <a:r>
              <a:rPr lang="zh-CN" altLang="en-US" sz="1700" b="1">
                <a:solidFill>
                  <a:srgbClr val="FF0000"/>
                </a:solidFill>
              </a:rPr>
              <a:t>声音信号</a:t>
            </a:r>
            <a:r>
              <a:rPr lang="zh-CN" altLang="en-US" sz="1700" b="1"/>
              <a:t>，图画文字表达的消息（用眼、摄像机等转换为）表现为</a:t>
            </a:r>
            <a:r>
              <a:rPr lang="zh-CN" altLang="en-US" sz="1700" b="1">
                <a:solidFill>
                  <a:srgbClr val="FF0000"/>
                </a:solidFill>
              </a:rPr>
              <a:t>光电信号</a:t>
            </a:r>
            <a:r>
              <a:rPr lang="zh-CN" altLang="en-US" sz="1700" b="1"/>
              <a:t>等等。</a:t>
            </a:r>
          </a:p>
          <a:p>
            <a:pPr>
              <a:lnSpc>
                <a:spcPct val="160000"/>
              </a:lnSpc>
              <a:buFont typeface="Wingdings" panose="05000000000000000000" pitchFamily="2" charset="2"/>
              <a:buChar char="l"/>
            </a:pPr>
            <a:r>
              <a:rPr lang="zh-CN" altLang="en-US" sz="1700" b="1">
                <a:solidFill>
                  <a:srgbClr val="FF0000"/>
                </a:solidFill>
              </a:rPr>
              <a:t>可见：</a:t>
            </a:r>
            <a:r>
              <a:rPr lang="zh-CN" altLang="en-US" sz="1700" b="1"/>
              <a:t>消息是信号的</a:t>
            </a:r>
            <a:r>
              <a:rPr lang="zh-CN" altLang="en-US" sz="1700" b="1">
                <a:solidFill>
                  <a:srgbClr val="FF0000"/>
                </a:solidFill>
              </a:rPr>
              <a:t>具体内容</a:t>
            </a:r>
            <a:r>
              <a:rPr lang="zh-CN" altLang="en-US" sz="1700" b="1"/>
              <a:t>，信号则是消息的便于传送的</a:t>
            </a:r>
            <a:r>
              <a:rPr lang="zh-CN" altLang="en-US" sz="1700" b="1">
                <a:solidFill>
                  <a:srgbClr val="FF0000"/>
                </a:solidFill>
              </a:rPr>
              <a:t>表现形式</a:t>
            </a:r>
            <a:r>
              <a:rPr lang="zh-CN" altLang="en-US" sz="1700" b="1"/>
              <a:t>。</a:t>
            </a:r>
          </a:p>
          <a:p>
            <a:pPr>
              <a:buFont typeface="Wingdings" panose="05000000000000000000" pitchFamily="2" charset="2"/>
              <a:buNone/>
            </a:pPr>
            <a:endParaRPr lang="zh-CN" altLang="en-US" sz="1700" b="1"/>
          </a:p>
          <a:p>
            <a:pPr>
              <a:buFont typeface="Wingdings" panose="05000000000000000000" pitchFamily="2" charset="2"/>
              <a:buNone/>
            </a:pPr>
            <a:r>
              <a:rPr lang="zh-CN" altLang="en-US" sz="2800" b="1"/>
              <a:t>           </a:t>
            </a:r>
            <a:r>
              <a:rPr lang="zh-CN" altLang="en-US" sz="2800" b="1">
                <a:solidFill>
                  <a:srgbClr val="0000FF"/>
                </a:solidFill>
              </a:rPr>
              <a:t>由于电信号的历史源远流长，且非常便于传输，所以电信号应用最为广泛</a:t>
            </a:r>
            <a:r>
              <a:rPr lang="zh-CN" altLang="en-US" sz="1700" b="1">
                <a:solidFill>
                  <a:srgbClr val="0000FF"/>
                </a:solidFill>
              </a:rPr>
              <a:t>。  </a:t>
            </a:r>
          </a:p>
        </p:txBody>
      </p:sp>
      <p:sp>
        <p:nvSpPr>
          <p:cNvPr id="67587" name="Rectangle 5"/>
          <p:cNvSpPr>
            <a:spLocks noChangeArrowheads="1"/>
          </p:cNvSpPr>
          <p:nvPr/>
        </p:nvSpPr>
        <p:spPr bwMode="auto">
          <a:xfrm>
            <a:off x="177800" y="525463"/>
            <a:ext cx="186055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§1.1	</a:t>
            </a:r>
            <a:r>
              <a:rPr lang="zh-CN" altLang="en-US" sz="2500">
                <a:solidFill>
                  <a:srgbClr val="FF0000"/>
                </a:solidFill>
                <a:latin typeface="Times New Roman" panose="02020603050405020304" pitchFamily="18" charset="0"/>
              </a:rPr>
              <a:t>引言</a:t>
            </a:r>
          </a:p>
        </p:txBody>
      </p:sp>
      <p:sp>
        <p:nvSpPr>
          <p:cNvPr id="7" name="日期占位符 6"/>
          <p:cNvSpPr>
            <a:spLocks noGrp="1"/>
          </p:cNvSpPr>
          <p:nvPr>
            <p:ph type="dt" sz="quarter" idx="10"/>
          </p:nvPr>
        </p:nvSpPr>
        <p:spPr/>
        <p:txBody>
          <a:bodyPr/>
          <a:lstStyle/>
          <a:p>
            <a:pPr>
              <a:defRPr/>
            </a:pPr>
            <a:fld id="{E11BF8DC-817E-4569-8EBE-A1A4AE8F4B3B}" type="datetime3">
              <a:rPr lang="zh-CN" altLang="en-US"/>
              <a:t>2026年3月4日星期三</a:t>
            </a:fld>
            <a:endParaRPr lang="zh-CN" altLang="en-US" dirty="0"/>
          </a:p>
        </p:txBody>
      </p:sp>
    </p:spTree>
    <p:custDataLst>
      <p:tags r:id="rId1"/>
    </p:custDataLst>
  </p:cSld>
  <p:clrMapOvr>
    <a:masterClrMapping/>
  </p:clrMapOvr>
  <p:transition advTm="1076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22690">
                                            <p:txEl>
                                              <p:pRg st="1" end="1"/>
                                            </p:txEl>
                                          </p:spTgt>
                                        </p:tgtEl>
                                        <p:attrNameLst>
                                          <p:attrName>style.visibility</p:attrName>
                                        </p:attrNameLst>
                                      </p:cBhvr>
                                      <p:to>
                                        <p:strVal val="visible"/>
                                      </p:to>
                                    </p:set>
                                    <p:anim calcmode="lin" valueType="num">
                                      <p:cBhvr>
                                        <p:cTn id="7" dur="1000" fill="hold"/>
                                        <p:tgtEl>
                                          <p:spTgt spid="1522690">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522690">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522690">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22690">
                                            <p:txEl>
                                              <p:pRg st="2" end="2"/>
                                            </p:txEl>
                                          </p:spTgt>
                                        </p:tgtEl>
                                        <p:attrNameLst>
                                          <p:attrName>style.visibility</p:attrName>
                                        </p:attrNameLst>
                                      </p:cBhvr>
                                      <p:to>
                                        <p:strVal val="visible"/>
                                      </p:to>
                                    </p:set>
                                    <p:anim calcmode="lin" valueType="num">
                                      <p:cBhvr>
                                        <p:cTn id="14" dur="1000" fill="hold"/>
                                        <p:tgtEl>
                                          <p:spTgt spid="1522690">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1522690">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1522690">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522690">
                                            <p:txEl>
                                              <p:pRg st="4" end="4"/>
                                            </p:txEl>
                                          </p:spTgt>
                                        </p:tgtEl>
                                        <p:attrNameLst>
                                          <p:attrName>style.visibility</p:attrName>
                                        </p:attrNameLst>
                                      </p:cBhvr>
                                      <p:to>
                                        <p:strVal val="visible"/>
                                      </p:to>
                                    </p:set>
                                    <p:anim calcmode="lin" valueType="num">
                                      <p:cBhvr>
                                        <p:cTn id="21" dur="1000" fill="hold"/>
                                        <p:tgtEl>
                                          <p:spTgt spid="1522690">
                                            <p:txEl>
                                              <p:pRg st="4" end="4"/>
                                            </p:txEl>
                                          </p:spTgt>
                                        </p:tgtEl>
                                        <p:attrNameLst>
                                          <p:attrName>ppt_w</p:attrName>
                                        </p:attrNameLst>
                                      </p:cBhvr>
                                      <p:tavLst>
                                        <p:tav tm="0">
                                          <p:val>
                                            <p:strVal val="#ppt_w*0.70"/>
                                          </p:val>
                                        </p:tav>
                                        <p:tav tm="100000">
                                          <p:val>
                                            <p:strVal val="#ppt_w"/>
                                          </p:val>
                                        </p:tav>
                                      </p:tavLst>
                                    </p:anim>
                                    <p:anim calcmode="lin" valueType="num">
                                      <p:cBhvr>
                                        <p:cTn id="22" dur="1000" fill="hold"/>
                                        <p:tgtEl>
                                          <p:spTgt spid="1522690">
                                            <p:txEl>
                                              <p:pRg st="4" end="4"/>
                                            </p:txEl>
                                          </p:spTgt>
                                        </p:tgtEl>
                                        <p:attrNameLst>
                                          <p:attrName>ppt_h</p:attrName>
                                        </p:attrNameLst>
                                      </p:cBhvr>
                                      <p:tavLst>
                                        <p:tav tm="0">
                                          <p:val>
                                            <p:strVal val="#ppt_h"/>
                                          </p:val>
                                        </p:tav>
                                        <p:tav tm="100000">
                                          <p:val>
                                            <p:strVal val="#ppt_h"/>
                                          </p:val>
                                        </p:tav>
                                      </p:tavLst>
                                    </p:anim>
                                    <p:animEffect transition="in" filter="fade">
                                      <p:cBhvr>
                                        <p:cTn id="23" dur="1000"/>
                                        <p:tgtEl>
                                          <p:spTgt spid="152269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6787" name="Rectangle 3"/>
          <p:cNvSpPr>
            <a:spLocks noGrp="1" noChangeArrowheads="1"/>
          </p:cNvSpPr>
          <p:nvPr>
            <p:ph type="body" idx="1"/>
          </p:nvPr>
        </p:nvSpPr>
        <p:spPr>
          <a:xfrm>
            <a:off x="671513" y="1303338"/>
            <a:ext cx="7877175" cy="4768850"/>
          </a:xfrm>
          <a:solidFill>
            <a:schemeClr val="bg1"/>
          </a:solidFill>
          <a:ln w="57150">
            <a:solidFill>
              <a:schemeClr val="tx1"/>
            </a:solidFill>
            <a:miter lim="800000"/>
          </a:ln>
          <a:effectLst>
            <a:prstShdw prst="shdw12">
              <a:srgbClr val="808080">
                <a:alpha val="50000"/>
              </a:srgbClr>
            </a:prstShdw>
          </a:effectLst>
        </p:spPr>
        <p:txBody>
          <a:bodyPr/>
          <a:lstStyle/>
          <a:p>
            <a:pPr>
              <a:lnSpc>
                <a:spcPct val="160000"/>
              </a:lnSpc>
              <a:buFontTx/>
              <a:buNone/>
            </a:pPr>
            <a:r>
              <a:rPr lang="en-US" altLang="zh-CN" sz="1700" b="1" dirty="0">
                <a:solidFill>
                  <a:srgbClr val="FF0000"/>
                </a:solidFill>
              </a:rPr>
              <a:t> </a:t>
            </a:r>
            <a:r>
              <a:rPr lang="zh-CN" altLang="en-US" sz="1700" b="1" dirty="0">
                <a:solidFill>
                  <a:srgbClr val="FF0000"/>
                </a:solidFill>
              </a:rPr>
              <a:t>定义：</a:t>
            </a:r>
          </a:p>
          <a:p>
            <a:pPr>
              <a:lnSpc>
                <a:spcPct val="160000"/>
              </a:lnSpc>
              <a:buClr>
                <a:srgbClr val="FF0000"/>
              </a:buClr>
              <a:buFont typeface="Wingdings" panose="05000000000000000000" pitchFamily="2" charset="2"/>
              <a:buChar char="l"/>
            </a:pPr>
            <a:r>
              <a:rPr lang="zh-CN" altLang="en-US" sz="1700" b="1" dirty="0">
                <a:solidFill>
                  <a:srgbClr val="FF0000"/>
                </a:solidFill>
              </a:rPr>
              <a:t>信号</a:t>
            </a:r>
            <a:r>
              <a:rPr lang="zh-CN" altLang="en-US" sz="1700" b="1" dirty="0"/>
              <a:t>是带有信息（如语音、音乐、图像、数据等）的</a:t>
            </a:r>
            <a:r>
              <a:rPr lang="zh-CN" altLang="en-US" sz="1700" b="1" dirty="0">
                <a:solidFill>
                  <a:srgbClr val="FF0000"/>
                </a:solidFill>
              </a:rPr>
              <a:t>随时间（和空间）变化</a:t>
            </a:r>
            <a:r>
              <a:rPr lang="zh-CN" altLang="en-US" sz="1700" b="1" dirty="0"/>
              <a:t>的物理量或物理现象，是随着时间变化的某种物理量；</a:t>
            </a:r>
          </a:p>
          <a:p>
            <a:pPr>
              <a:lnSpc>
                <a:spcPct val="160000"/>
              </a:lnSpc>
              <a:buClr>
                <a:srgbClr val="FF0000"/>
              </a:buClr>
              <a:buFont typeface="Wingdings" panose="05000000000000000000" pitchFamily="2" charset="2"/>
              <a:buChar char="l"/>
            </a:pPr>
            <a:r>
              <a:rPr lang="zh-CN" altLang="en-US" sz="1700" b="1" dirty="0"/>
              <a:t>在数学上，描述信号的基本方法是写出其数学表达式，将信号表示成</a:t>
            </a:r>
            <a:r>
              <a:rPr lang="zh-CN" altLang="en-US" sz="1700" b="1" dirty="0">
                <a:solidFill>
                  <a:srgbClr val="FF0000"/>
                </a:solidFill>
              </a:rPr>
              <a:t>一个或多个变量的函数</a:t>
            </a:r>
            <a:r>
              <a:rPr lang="zh-CN" altLang="en-US" sz="1700" b="1" dirty="0"/>
              <a:t>；</a:t>
            </a:r>
          </a:p>
          <a:p>
            <a:pPr>
              <a:lnSpc>
                <a:spcPct val="160000"/>
              </a:lnSpc>
              <a:buClr>
                <a:srgbClr val="FF0000"/>
              </a:buClr>
              <a:buFont typeface="Wingdings" panose="05000000000000000000" pitchFamily="2" charset="2"/>
              <a:buChar char="l"/>
            </a:pPr>
            <a:r>
              <a:rPr lang="zh-CN" altLang="en-US" sz="1700" b="1" dirty="0"/>
              <a:t>例如，一个语音信号可以表示为声压随着时间变化的函数，一张黑白照片可以表示为亮度随着二维空间变量变化的函数；</a:t>
            </a:r>
          </a:p>
          <a:p>
            <a:pPr>
              <a:lnSpc>
                <a:spcPct val="160000"/>
              </a:lnSpc>
              <a:buClr>
                <a:srgbClr val="FF0000"/>
              </a:buClr>
              <a:buFont typeface="Wingdings" panose="05000000000000000000" pitchFamily="2" charset="2"/>
              <a:buChar char="l"/>
            </a:pPr>
            <a:r>
              <a:rPr lang="zh-CN" altLang="en-US" sz="1700" b="1" dirty="0"/>
              <a:t>在图像处理中则涉及到</a:t>
            </a:r>
            <a:r>
              <a:rPr lang="zh-CN" altLang="en-US" sz="1700" b="1" dirty="0">
                <a:solidFill>
                  <a:srgbClr val="FF0000"/>
                </a:solidFill>
              </a:rPr>
              <a:t>两个变量</a:t>
            </a:r>
            <a:r>
              <a:rPr lang="zh-CN" altLang="en-US" sz="1700" b="1" dirty="0"/>
              <a:t>的函数，在机器人视觉及三维体视学分析中则会用到</a:t>
            </a:r>
            <a:r>
              <a:rPr lang="zh-CN" altLang="en-US" sz="1700" b="1" dirty="0">
                <a:solidFill>
                  <a:srgbClr val="FF0000"/>
                </a:solidFill>
              </a:rPr>
              <a:t>三个变量</a:t>
            </a:r>
            <a:r>
              <a:rPr lang="zh-CN" altLang="en-US" sz="1700" b="1" dirty="0"/>
              <a:t>的函数。</a:t>
            </a:r>
            <a:r>
              <a:rPr lang="zh-CN" altLang="en-US" sz="1700" b="1" dirty="0">
                <a:solidFill>
                  <a:srgbClr val="FF0000"/>
                </a:solidFill>
              </a:rPr>
              <a:t>本书的讨论范围</a:t>
            </a:r>
            <a:r>
              <a:rPr lang="zh-CN" altLang="en-US" sz="1700" b="1" dirty="0"/>
              <a:t>仅限于</a:t>
            </a:r>
            <a:r>
              <a:rPr lang="zh-CN" altLang="en-US" sz="1700" b="1" dirty="0">
                <a:solidFill>
                  <a:srgbClr val="FF0000"/>
                </a:solidFill>
              </a:rPr>
              <a:t>单一变量</a:t>
            </a:r>
            <a:r>
              <a:rPr lang="zh-CN" altLang="en-US" sz="1700" b="1" dirty="0"/>
              <a:t>的函数。 </a:t>
            </a:r>
          </a:p>
        </p:txBody>
      </p:sp>
      <p:sp>
        <p:nvSpPr>
          <p:cNvPr id="69635" name="Rectangle 5"/>
          <p:cNvSpPr>
            <a:spLocks noChangeArrowheads="1"/>
          </p:cNvSpPr>
          <p:nvPr/>
        </p:nvSpPr>
        <p:spPr bwMode="auto">
          <a:xfrm>
            <a:off x="177800" y="525463"/>
            <a:ext cx="34639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6" name="日期占位符 5"/>
          <p:cNvSpPr>
            <a:spLocks noGrp="1"/>
          </p:cNvSpPr>
          <p:nvPr>
            <p:ph type="dt" sz="quarter" idx="10"/>
          </p:nvPr>
        </p:nvSpPr>
        <p:spPr/>
        <p:txBody>
          <a:bodyPr/>
          <a:lstStyle/>
          <a:p>
            <a:pPr>
              <a:defRPr/>
            </a:pPr>
            <a:fld id="{C7C773C7-5B11-4839-939E-5AC41834BDF4}" type="datetime3">
              <a:rPr lang="zh-CN" altLang="en-US"/>
              <a:t>2026年3月4日星期三</a:t>
            </a:fld>
            <a:endParaRPr lang="zh-CN" altLang="en-US"/>
          </a:p>
        </p:txBody>
      </p:sp>
    </p:spTree>
    <p:custDataLst>
      <p:tags r:id="rId1"/>
    </p:custDataLst>
  </p:cSld>
  <p:clrMapOvr>
    <a:masterClrMapping/>
  </p:clrMapOvr>
  <p:transition advTm="9500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26787">
                                            <p:txEl>
                                              <p:pRg st="2" end="2"/>
                                            </p:txEl>
                                          </p:spTgt>
                                        </p:tgtEl>
                                        <p:attrNameLst>
                                          <p:attrName>style.visibility</p:attrName>
                                        </p:attrNameLst>
                                      </p:cBhvr>
                                      <p:to>
                                        <p:strVal val="visible"/>
                                      </p:to>
                                    </p:set>
                                    <p:anim calcmode="lin" valueType="num">
                                      <p:cBhvr>
                                        <p:cTn id="7" dur="1000" fill="hold"/>
                                        <p:tgtEl>
                                          <p:spTgt spid="1526787">
                                            <p:txEl>
                                              <p:pRg st="2" end="2"/>
                                            </p:txEl>
                                          </p:spTgt>
                                        </p:tgtEl>
                                        <p:attrNameLst>
                                          <p:attrName>ppt_w</p:attrName>
                                        </p:attrNameLst>
                                      </p:cBhvr>
                                      <p:tavLst>
                                        <p:tav tm="0">
                                          <p:val>
                                            <p:strVal val="#ppt_w*0.70"/>
                                          </p:val>
                                        </p:tav>
                                        <p:tav tm="100000">
                                          <p:val>
                                            <p:strVal val="#ppt_w"/>
                                          </p:val>
                                        </p:tav>
                                      </p:tavLst>
                                    </p:anim>
                                    <p:anim calcmode="lin" valueType="num">
                                      <p:cBhvr>
                                        <p:cTn id="8" dur="1000" fill="hold"/>
                                        <p:tgtEl>
                                          <p:spTgt spid="1526787">
                                            <p:txEl>
                                              <p:pRg st="2" end="2"/>
                                            </p:txEl>
                                          </p:spTgt>
                                        </p:tgtEl>
                                        <p:attrNameLst>
                                          <p:attrName>ppt_h</p:attrName>
                                        </p:attrNameLst>
                                      </p:cBhvr>
                                      <p:tavLst>
                                        <p:tav tm="0">
                                          <p:val>
                                            <p:strVal val="#ppt_h"/>
                                          </p:val>
                                        </p:tav>
                                        <p:tav tm="100000">
                                          <p:val>
                                            <p:strVal val="#ppt_h"/>
                                          </p:val>
                                        </p:tav>
                                      </p:tavLst>
                                    </p:anim>
                                    <p:animEffect transition="in" filter="fade">
                                      <p:cBhvr>
                                        <p:cTn id="9" dur="1000"/>
                                        <p:tgtEl>
                                          <p:spTgt spid="1526787">
                                            <p:txEl>
                                              <p:pRg st="2" end="2"/>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26787">
                                            <p:txEl>
                                              <p:pRg st="3" end="3"/>
                                            </p:txEl>
                                          </p:spTgt>
                                        </p:tgtEl>
                                        <p:attrNameLst>
                                          <p:attrName>style.visibility</p:attrName>
                                        </p:attrNameLst>
                                      </p:cBhvr>
                                      <p:to>
                                        <p:strVal val="visible"/>
                                      </p:to>
                                    </p:set>
                                    <p:anim calcmode="lin" valueType="num">
                                      <p:cBhvr>
                                        <p:cTn id="14" dur="1000" fill="hold"/>
                                        <p:tgtEl>
                                          <p:spTgt spid="1526787">
                                            <p:txEl>
                                              <p:pRg st="3" end="3"/>
                                            </p:txEl>
                                          </p:spTgt>
                                        </p:tgtEl>
                                        <p:attrNameLst>
                                          <p:attrName>ppt_w</p:attrName>
                                        </p:attrNameLst>
                                      </p:cBhvr>
                                      <p:tavLst>
                                        <p:tav tm="0">
                                          <p:val>
                                            <p:strVal val="#ppt_w*0.70"/>
                                          </p:val>
                                        </p:tav>
                                        <p:tav tm="100000">
                                          <p:val>
                                            <p:strVal val="#ppt_w"/>
                                          </p:val>
                                        </p:tav>
                                      </p:tavLst>
                                    </p:anim>
                                    <p:anim calcmode="lin" valueType="num">
                                      <p:cBhvr>
                                        <p:cTn id="15" dur="1000" fill="hold"/>
                                        <p:tgtEl>
                                          <p:spTgt spid="1526787">
                                            <p:txEl>
                                              <p:pRg st="3" end="3"/>
                                            </p:txEl>
                                          </p:spTgt>
                                        </p:tgtEl>
                                        <p:attrNameLst>
                                          <p:attrName>ppt_h</p:attrName>
                                        </p:attrNameLst>
                                      </p:cBhvr>
                                      <p:tavLst>
                                        <p:tav tm="0">
                                          <p:val>
                                            <p:strVal val="#ppt_h"/>
                                          </p:val>
                                        </p:tav>
                                        <p:tav tm="100000">
                                          <p:val>
                                            <p:strVal val="#ppt_h"/>
                                          </p:val>
                                        </p:tav>
                                      </p:tavLst>
                                    </p:anim>
                                    <p:animEffect transition="in" filter="fade">
                                      <p:cBhvr>
                                        <p:cTn id="16" dur="1000"/>
                                        <p:tgtEl>
                                          <p:spTgt spid="152678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526787">
                                            <p:txEl>
                                              <p:pRg st="4" end="4"/>
                                            </p:txEl>
                                          </p:spTgt>
                                        </p:tgtEl>
                                        <p:attrNameLst>
                                          <p:attrName>style.visibility</p:attrName>
                                        </p:attrNameLst>
                                      </p:cBhvr>
                                      <p:to>
                                        <p:strVal val="visible"/>
                                      </p:to>
                                    </p:set>
                                    <p:anim calcmode="lin" valueType="num">
                                      <p:cBhvr>
                                        <p:cTn id="21" dur="1000" fill="hold"/>
                                        <p:tgtEl>
                                          <p:spTgt spid="1526787">
                                            <p:txEl>
                                              <p:pRg st="4" end="4"/>
                                            </p:txEl>
                                          </p:spTgt>
                                        </p:tgtEl>
                                        <p:attrNameLst>
                                          <p:attrName>ppt_w</p:attrName>
                                        </p:attrNameLst>
                                      </p:cBhvr>
                                      <p:tavLst>
                                        <p:tav tm="0">
                                          <p:val>
                                            <p:strVal val="#ppt_w*0.70"/>
                                          </p:val>
                                        </p:tav>
                                        <p:tav tm="100000">
                                          <p:val>
                                            <p:strVal val="#ppt_w"/>
                                          </p:val>
                                        </p:tav>
                                      </p:tavLst>
                                    </p:anim>
                                    <p:anim calcmode="lin" valueType="num">
                                      <p:cBhvr>
                                        <p:cTn id="22" dur="1000" fill="hold"/>
                                        <p:tgtEl>
                                          <p:spTgt spid="1526787">
                                            <p:txEl>
                                              <p:pRg st="4" end="4"/>
                                            </p:txEl>
                                          </p:spTgt>
                                        </p:tgtEl>
                                        <p:attrNameLst>
                                          <p:attrName>ppt_h</p:attrName>
                                        </p:attrNameLst>
                                      </p:cBhvr>
                                      <p:tavLst>
                                        <p:tav tm="0">
                                          <p:val>
                                            <p:strVal val="#ppt_h"/>
                                          </p:val>
                                        </p:tav>
                                        <p:tav tm="100000">
                                          <p:val>
                                            <p:strVal val="#ppt_h"/>
                                          </p:val>
                                        </p:tav>
                                      </p:tavLst>
                                    </p:anim>
                                    <p:animEffect transition="in" filter="fade">
                                      <p:cBhvr>
                                        <p:cTn id="23" dur="1000"/>
                                        <p:tgtEl>
                                          <p:spTgt spid="15267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811" name="Rectangle 3"/>
          <p:cNvSpPr>
            <a:spLocks noGrp="1" noChangeArrowheads="1"/>
          </p:cNvSpPr>
          <p:nvPr>
            <p:ph type="body" idx="1"/>
          </p:nvPr>
        </p:nvSpPr>
        <p:spPr>
          <a:xfrm>
            <a:off x="1363663" y="1562100"/>
            <a:ext cx="5776912" cy="4044950"/>
          </a:xfrm>
          <a:solidFill>
            <a:schemeClr val="bg1"/>
          </a:solidFill>
          <a:ln w="57150">
            <a:solidFill>
              <a:schemeClr val="tx1"/>
            </a:solidFill>
            <a:miter lim="800000"/>
          </a:ln>
          <a:effectLst>
            <a:prstShdw prst="shdw12">
              <a:srgbClr val="808080">
                <a:alpha val="50000"/>
              </a:srgbClr>
            </a:prstShdw>
          </a:effectLst>
        </p:spPr>
        <p:txBody>
          <a:bodyPr/>
          <a:lstStyle/>
          <a:p>
            <a:pPr marL="440055" lvl="1" indent="-314325">
              <a:lnSpc>
                <a:spcPct val="145000"/>
              </a:lnSpc>
              <a:tabLst>
                <a:tab pos="372745" algn="l"/>
              </a:tabLst>
            </a:pPr>
            <a:r>
              <a:rPr lang="zh-CN" altLang="en-US" sz="2000" b="1">
                <a:solidFill>
                  <a:srgbClr val="0000FF"/>
                </a:solidFill>
              </a:rPr>
              <a:t>信号的描述</a:t>
            </a:r>
          </a:p>
          <a:p>
            <a:pPr marL="440055" lvl="1" indent="-314325">
              <a:lnSpc>
                <a:spcPct val="145000"/>
              </a:lnSpc>
              <a:buFont typeface="Wingdings" panose="05000000000000000000" pitchFamily="2" charset="2"/>
              <a:buChar char="l"/>
              <a:tabLst>
                <a:tab pos="372745" algn="l"/>
              </a:tabLst>
            </a:pPr>
            <a:r>
              <a:rPr lang="zh-CN" altLang="en-US" sz="2000" b="1"/>
              <a:t>物理上： 信号是信息寄寓变化的形式</a:t>
            </a:r>
          </a:p>
          <a:p>
            <a:pPr marL="440055" lvl="1" indent="-314325">
              <a:lnSpc>
                <a:spcPct val="145000"/>
              </a:lnSpc>
              <a:buFont typeface="Wingdings" panose="05000000000000000000" pitchFamily="2" charset="2"/>
              <a:buChar char="l"/>
              <a:tabLst>
                <a:tab pos="372745" algn="l"/>
              </a:tabLst>
            </a:pPr>
            <a:r>
              <a:rPr lang="zh-CN" altLang="en-US" sz="2000" b="1"/>
              <a:t>数学上： 信号是一个或多个变量的函数</a:t>
            </a:r>
          </a:p>
          <a:p>
            <a:pPr marL="440055" lvl="1" indent="-314325">
              <a:lnSpc>
                <a:spcPct val="145000"/>
              </a:lnSpc>
              <a:buFont typeface="Wingdings" panose="05000000000000000000" pitchFamily="2" charset="2"/>
              <a:buChar char="l"/>
              <a:tabLst>
                <a:tab pos="372745" algn="l"/>
              </a:tabLst>
            </a:pPr>
            <a:r>
              <a:rPr lang="zh-CN" altLang="en-US" sz="2000" b="1"/>
              <a:t>形态上：信号表现为一种波形</a:t>
            </a:r>
          </a:p>
          <a:p>
            <a:pPr marL="440055" lvl="1" indent="-314325">
              <a:lnSpc>
                <a:spcPct val="145000"/>
              </a:lnSpc>
              <a:tabLst>
                <a:tab pos="372745" algn="l"/>
              </a:tabLst>
            </a:pPr>
            <a:r>
              <a:rPr lang="zh-CN" altLang="en-US" sz="2000" b="1">
                <a:solidFill>
                  <a:srgbClr val="0000FF"/>
                </a:solidFill>
              </a:rPr>
              <a:t>自变量</a:t>
            </a:r>
          </a:p>
          <a:p>
            <a:pPr marL="440055" lvl="1" indent="-314325">
              <a:lnSpc>
                <a:spcPct val="145000"/>
              </a:lnSpc>
              <a:buFont typeface="Wingdings" panose="05000000000000000000" pitchFamily="2" charset="2"/>
              <a:buChar char="l"/>
              <a:tabLst>
                <a:tab pos="372745" algn="l"/>
              </a:tabLst>
            </a:pPr>
            <a:r>
              <a:rPr lang="zh-CN" altLang="en-US" sz="2000" b="1"/>
              <a:t>时间、位移</a:t>
            </a:r>
          </a:p>
          <a:p>
            <a:pPr marL="440055" lvl="1" indent="-314325">
              <a:lnSpc>
                <a:spcPct val="145000"/>
              </a:lnSpc>
              <a:buFont typeface="Wingdings" panose="05000000000000000000" pitchFamily="2" charset="2"/>
              <a:buChar char="l"/>
              <a:tabLst>
                <a:tab pos="372745" algn="l"/>
              </a:tabLst>
            </a:pPr>
            <a:r>
              <a:rPr lang="zh-CN" altLang="en-US" sz="2000" b="1"/>
              <a:t>频率、幅度、相位</a:t>
            </a:r>
          </a:p>
        </p:txBody>
      </p:sp>
      <p:sp>
        <p:nvSpPr>
          <p:cNvPr id="71683" name="Rectangle 6"/>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6" name="日期占位符 5"/>
          <p:cNvSpPr>
            <a:spLocks noGrp="1"/>
          </p:cNvSpPr>
          <p:nvPr>
            <p:ph type="dt" sz="quarter" idx="10"/>
          </p:nvPr>
        </p:nvSpPr>
        <p:spPr/>
        <p:txBody>
          <a:bodyPr/>
          <a:lstStyle/>
          <a:p>
            <a:pPr>
              <a:defRPr/>
            </a:pPr>
            <a:fld id="{90026FFF-ED70-4D9A-8041-34F8EC463EF5}" type="datetime3">
              <a:rPr lang="zh-CN" altLang="en-US"/>
              <a:t>2026年3月4日星期三</a:t>
            </a:fld>
            <a:endParaRPr lang="zh-CN" altLang="en-US"/>
          </a:p>
        </p:txBody>
      </p:sp>
    </p:spTree>
    <p:custDataLst>
      <p:tags r:id="rId1"/>
    </p:custDataLst>
  </p:cSld>
  <p:clrMapOvr>
    <a:masterClrMapping/>
  </p:clrMapOvr>
  <p:transition advTm="4448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527811">
                                            <p:txEl>
                                              <p:pRg st="1" end="1"/>
                                            </p:txEl>
                                          </p:spTgt>
                                        </p:tgtEl>
                                        <p:attrNameLst>
                                          <p:attrName>style.visibility</p:attrName>
                                        </p:attrNameLst>
                                      </p:cBhvr>
                                      <p:to>
                                        <p:strVal val="visible"/>
                                      </p:to>
                                    </p:set>
                                    <p:anim calcmode="lin" valueType="num">
                                      <p:cBhvr>
                                        <p:cTn id="7" dur="1000" fill="hold"/>
                                        <p:tgtEl>
                                          <p:spTgt spid="1527811">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527811">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527811">
                                            <p:txEl>
                                              <p:pRg st="1" end="1"/>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1527811">
                                            <p:txEl>
                                              <p:pRg st="2" end="2"/>
                                            </p:txEl>
                                          </p:spTgt>
                                        </p:tgtEl>
                                        <p:attrNameLst>
                                          <p:attrName>style.visibility</p:attrName>
                                        </p:attrNameLst>
                                      </p:cBhvr>
                                      <p:to>
                                        <p:strVal val="visible"/>
                                      </p:to>
                                    </p:set>
                                    <p:anim calcmode="lin" valueType="num">
                                      <p:cBhvr>
                                        <p:cTn id="12" dur="1000" fill="hold"/>
                                        <p:tgtEl>
                                          <p:spTgt spid="1527811">
                                            <p:txEl>
                                              <p:pRg st="2" end="2"/>
                                            </p:txEl>
                                          </p:spTgt>
                                        </p:tgtEl>
                                        <p:attrNameLst>
                                          <p:attrName>ppt_w</p:attrName>
                                        </p:attrNameLst>
                                      </p:cBhvr>
                                      <p:tavLst>
                                        <p:tav tm="0">
                                          <p:val>
                                            <p:strVal val="#ppt_w*0.70"/>
                                          </p:val>
                                        </p:tav>
                                        <p:tav tm="100000">
                                          <p:val>
                                            <p:strVal val="#ppt_w"/>
                                          </p:val>
                                        </p:tav>
                                      </p:tavLst>
                                    </p:anim>
                                    <p:anim calcmode="lin" valueType="num">
                                      <p:cBhvr>
                                        <p:cTn id="13" dur="1000" fill="hold"/>
                                        <p:tgtEl>
                                          <p:spTgt spid="1527811">
                                            <p:txEl>
                                              <p:pRg st="2" end="2"/>
                                            </p:txEl>
                                          </p:spTgt>
                                        </p:tgtEl>
                                        <p:attrNameLst>
                                          <p:attrName>ppt_h</p:attrName>
                                        </p:attrNameLst>
                                      </p:cBhvr>
                                      <p:tavLst>
                                        <p:tav tm="0">
                                          <p:val>
                                            <p:strVal val="#ppt_h"/>
                                          </p:val>
                                        </p:tav>
                                        <p:tav tm="100000">
                                          <p:val>
                                            <p:strVal val="#ppt_h"/>
                                          </p:val>
                                        </p:tav>
                                      </p:tavLst>
                                    </p:anim>
                                    <p:animEffect transition="in" filter="fade">
                                      <p:cBhvr>
                                        <p:cTn id="14" dur="1000"/>
                                        <p:tgtEl>
                                          <p:spTgt spid="1527811">
                                            <p:txEl>
                                              <p:pRg st="2" end="2"/>
                                            </p:txEl>
                                          </p:spTgt>
                                        </p:tgtEl>
                                      </p:cBhvr>
                                    </p:animEffect>
                                  </p:childTnLst>
                                </p:cTn>
                              </p:par>
                              <p:par>
                                <p:cTn id="15" presetID="55" presetClass="entr" presetSubtype="0" fill="hold" nodeType="withEffect">
                                  <p:stCondLst>
                                    <p:cond delay="0"/>
                                  </p:stCondLst>
                                  <p:childTnLst>
                                    <p:set>
                                      <p:cBhvr>
                                        <p:cTn id="16" dur="1" fill="hold">
                                          <p:stCondLst>
                                            <p:cond delay="0"/>
                                          </p:stCondLst>
                                        </p:cTn>
                                        <p:tgtEl>
                                          <p:spTgt spid="1527811">
                                            <p:txEl>
                                              <p:pRg st="3" end="3"/>
                                            </p:txEl>
                                          </p:spTgt>
                                        </p:tgtEl>
                                        <p:attrNameLst>
                                          <p:attrName>style.visibility</p:attrName>
                                        </p:attrNameLst>
                                      </p:cBhvr>
                                      <p:to>
                                        <p:strVal val="visible"/>
                                      </p:to>
                                    </p:set>
                                    <p:anim calcmode="lin" valueType="num">
                                      <p:cBhvr>
                                        <p:cTn id="17" dur="1000" fill="hold"/>
                                        <p:tgtEl>
                                          <p:spTgt spid="1527811">
                                            <p:txEl>
                                              <p:pRg st="3" end="3"/>
                                            </p:txEl>
                                          </p:spTgt>
                                        </p:tgtEl>
                                        <p:attrNameLst>
                                          <p:attrName>ppt_w</p:attrName>
                                        </p:attrNameLst>
                                      </p:cBhvr>
                                      <p:tavLst>
                                        <p:tav tm="0">
                                          <p:val>
                                            <p:strVal val="#ppt_w*0.70"/>
                                          </p:val>
                                        </p:tav>
                                        <p:tav tm="100000">
                                          <p:val>
                                            <p:strVal val="#ppt_w"/>
                                          </p:val>
                                        </p:tav>
                                      </p:tavLst>
                                    </p:anim>
                                    <p:anim calcmode="lin" valueType="num">
                                      <p:cBhvr>
                                        <p:cTn id="18" dur="1000" fill="hold"/>
                                        <p:tgtEl>
                                          <p:spTgt spid="1527811">
                                            <p:txEl>
                                              <p:pRg st="3" end="3"/>
                                            </p:txEl>
                                          </p:spTgt>
                                        </p:tgtEl>
                                        <p:attrNameLst>
                                          <p:attrName>ppt_h</p:attrName>
                                        </p:attrNameLst>
                                      </p:cBhvr>
                                      <p:tavLst>
                                        <p:tav tm="0">
                                          <p:val>
                                            <p:strVal val="#ppt_h"/>
                                          </p:val>
                                        </p:tav>
                                        <p:tav tm="100000">
                                          <p:val>
                                            <p:strVal val="#ppt_h"/>
                                          </p:val>
                                        </p:tav>
                                      </p:tavLst>
                                    </p:anim>
                                    <p:animEffect transition="in" filter="fade">
                                      <p:cBhvr>
                                        <p:cTn id="19" dur="1000"/>
                                        <p:tgtEl>
                                          <p:spTgt spid="15278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527811">
                                            <p:txEl>
                                              <p:pRg st="4" end="4"/>
                                            </p:txEl>
                                          </p:spTgt>
                                        </p:tgtEl>
                                        <p:attrNameLst>
                                          <p:attrName>style.visibility</p:attrName>
                                        </p:attrNameLst>
                                      </p:cBhvr>
                                      <p:to>
                                        <p:strVal val="visible"/>
                                      </p:to>
                                    </p:set>
                                    <p:animEffect transition="in" filter="blinds(horizontal)">
                                      <p:cBhvr>
                                        <p:cTn id="24" dur="500"/>
                                        <p:tgtEl>
                                          <p:spTgt spid="1527811">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1527811">
                                            <p:txEl>
                                              <p:pRg st="5" end="5"/>
                                            </p:txEl>
                                          </p:spTgt>
                                        </p:tgtEl>
                                        <p:attrNameLst>
                                          <p:attrName>style.visibility</p:attrName>
                                        </p:attrNameLst>
                                      </p:cBhvr>
                                      <p:to>
                                        <p:strVal val="visible"/>
                                      </p:to>
                                    </p:set>
                                    <p:anim calcmode="lin" valueType="num">
                                      <p:cBhvr>
                                        <p:cTn id="29" dur="1000" fill="hold"/>
                                        <p:tgtEl>
                                          <p:spTgt spid="1527811">
                                            <p:txEl>
                                              <p:pRg st="5" end="5"/>
                                            </p:txEl>
                                          </p:spTgt>
                                        </p:tgtEl>
                                        <p:attrNameLst>
                                          <p:attrName>ppt_w</p:attrName>
                                        </p:attrNameLst>
                                      </p:cBhvr>
                                      <p:tavLst>
                                        <p:tav tm="0">
                                          <p:val>
                                            <p:strVal val="#ppt_w*0.70"/>
                                          </p:val>
                                        </p:tav>
                                        <p:tav tm="100000">
                                          <p:val>
                                            <p:strVal val="#ppt_w"/>
                                          </p:val>
                                        </p:tav>
                                      </p:tavLst>
                                    </p:anim>
                                    <p:anim calcmode="lin" valueType="num">
                                      <p:cBhvr>
                                        <p:cTn id="30" dur="1000" fill="hold"/>
                                        <p:tgtEl>
                                          <p:spTgt spid="1527811">
                                            <p:txEl>
                                              <p:pRg st="5" end="5"/>
                                            </p:txEl>
                                          </p:spTgt>
                                        </p:tgtEl>
                                        <p:attrNameLst>
                                          <p:attrName>ppt_h</p:attrName>
                                        </p:attrNameLst>
                                      </p:cBhvr>
                                      <p:tavLst>
                                        <p:tav tm="0">
                                          <p:val>
                                            <p:strVal val="#ppt_h"/>
                                          </p:val>
                                        </p:tav>
                                        <p:tav tm="100000">
                                          <p:val>
                                            <p:strVal val="#ppt_h"/>
                                          </p:val>
                                        </p:tav>
                                      </p:tavLst>
                                    </p:anim>
                                    <p:animEffect transition="in" filter="fade">
                                      <p:cBhvr>
                                        <p:cTn id="31" dur="1000"/>
                                        <p:tgtEl>
                                          <p:spTgt spid="1527811">
                                            <p:txEl>
                                              <p:pRg st="5" end="5"/>
                                            </p:txEl>
                                          </p:spTgt>
                                        </p:tgtEl>
                                      </p:cBhvr>
                                    </p:animEffect>
                                  </p:childTnLst>
                                </p:cTn>
                              </p:par>
                              <p:par>
                                <p:cTn id="32" presetID="55" presetClass="entr" presetSubtype="0" fill="hold" nodeType="withEffect">
                                  <p:stCondLst>
                                    <p:cond delay="0"/>
                                  </p:stCondLst>
                                  <p:childTnLst>
                                    <p:set>
                                      <p:cBhvr>
                                        <p:cTn id="33" dur="1" fill="hold">
                                          <p:stCondLst>
                                            <p:cond delay="0"/>
                                          </p:stCondLst>
                                        </p:cTn>
                                        <p:tgtEl>
                                          <p:spTgt spid="1527811">
                                            <p:txEl>
                                              <p:pRg st="6" end="6"/>
                                            </p:txEl>
                                          </p:spTgt>
                                        </p:tgtEl>
                                        <p:attrNameLst>
                                          <p:attrName>style.visibility</p:attrName>
                                        </p:attrNameLst>
                                      </p:cBhvr>
                                      <p:to>
                                        <p:strVal val="visible"/>
                                      </p:to>
                                    </p:set>
                                    <p:anim calcmode="lin" valueType="num">
                                      <p:cBhvr>
                                        <p:cTn id="34" dur="1000" fill="hold"/>
                                        <p:tgtEl>
                                          <p:spTgt spid="1527811">
                                            <p:txEl>
                                              <p:pRg st="6" end="6"/>
                                            </p:txEl>
                                          </p:spTgt>
                                        </p:tgtEl>
                                        <p:attrNameLst>
                                          <p:attrName>ppt_w</p:attrName>
                                        </p:attrNameLst>
                                      </p:cBhvr>
                                      <p:tavLst>
                                        <p:tav tm="0">
                                          <p:val>
                                            <p:strVal val="#ppt_w*0.70"/>
                                          </p:val>
                                        </p:tav>
                                        <p:tav tm="100000">
                                          <p:val>
                                            <p:strVal val="#ppt_w"/>
                                          </p:val>
                                        </p:tav>
                                      </p:tavLst>
                                    </p:anim>
                                    <p:anim calcmode="lin" valueType="num">
                                      <p:cBhvr>
                                        <p:cTn id="35" dur="1000" fill="hold"/>
                                        <p:tgtEl>
                                          <p:spTgt spid="1527811">
                                            <p:txEl>
                                              <p:pRg st="6" end="6"/>
                                            </p:txEl>
                                          </p:spTgt>
                                        </p:tgtEl>
                                        <p:attrNameLst>
                                          <p:attrName>ppt_h</p:attrName>
                                        </p:attrNameLst>
                                      </p:cBhvr>
                                      <p:tavLst>
                                        <p:tav tm="0">
                                          <p:val>
                                            <p:strVal val="#ppt_h"/>
                                          </p:val>
                                        </p:tav>
                                        <p:tav tm="100000">
                                          <p:val>
                                            <p:strVal val="#ppt_h"/>
                                          </p:val>
                                        </p:tav>
                                      </p:tavLst>
                                    </p:anim>
                                    <p:animEffect transition="in" filter="fade">
                                      <p:cBhvr>
                                        <p:cTn id="36" dur="1000"/>
                                        <p:tgtEl>
                                          <p:spTgt spid="15278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473075" y="1355725"/>
            <a:ext cx="3951288" cy="573088"/>
          </a:xfrm>
          <a:solidFill>
            <a:srgbClr val="CADAC2"/>
          </a:solidFill>
        </p:spPr>
        <p:txBody>
          <a:bodyPr/>
          <a:lstStyle/>
          <a:p>
            <a:r>
              <a:rPr lang="zh-CN" altLang="en-US" sz="2000" b="1">
                <a:ea typeface="黑体" panose="02010609060101010101" pitchFamily="49" charset="-122"/>
              </a:rPr>
              <a:t>信号的数学描述</a:t>
            </a:r>
            <a:r>
              <a:rPr lang="en-US" altLang="zh-CN" sz="2000" b="1">
                <a:ea typeface="黑体" panose="02010609060101010101" pitchFamily="49" charset="-122"/>
              </a:rPr>
              <a:t>——</a:t>
            </a:r>
            <a:r>
              <a:rPr lang="zh-CN" altLang="en-US" sz="2000" b="1">
                <a:ea typeface="黑体" panose="02010609060101010101" pitchFamily="49" charset="-122"/>
              </a:rPr>
              <a:t>表达式</a:t>
            </a:r>
          </a:p>
        </p:txBody>
      </p:sp>
      <mc:AlternateContent xmlns:mc="http://schemas.openxmlformats.org/markup-compatibility/2006" xmlns:a14="http://schemas.microsoft.com/office/drawing/2010/main">
        <mc:Choice Requires="a14">
          <p:sp>
            <p:nvSpPr>
              <p:cNvPr id="1529859" name="Object 2"/>
              <p:cNvSpPr txBox="1">
                <a:spLocks noGrp="1"/>
              </p:cNvSpPr>
              <p:nvPr>
                <p:ph type="body" idx="1"/>
              </p:nvPr>
            </p:nvSpPr>
            <p:spPr bwMode="auto">
              <a:xfrm>
                <a:off x="711200" y="2087563"/>
                <a:ext cx="7340600" cy="990600"/>
              </a:xfrm>
              <a:prstGeom prst="rect">
                <a:avLst/>
              </a:prstGeom>
              <a:solidFill>
                <a:srgbClr val="FFFFFF"/>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+0.5)</m:t>
                      </m:r>
                    </m:oMath>
                  </m:oMathPara>
                </a14:m>
                <a:endParaRPr lang="zh-CN" altLang="en-US"/>
              </a:p>
            </p:txBody>
          </p:sp>
        </mc:Choice>
        <mc:Fallback xmlns="">
          <p:sp>
            <p:nvSpPr>
              <p:cNvPr id="1529859" name="Object 2"/>
              <p:cNvSpPr txBox="1">
                <a:spLocks noRot="1" noChangeAspect="1" noMove="1" noResize="1" noEditPoints="1" noAdjustHandles="1" noChangeArrowheads="1" noChangeShapeType="1" noTextEdit="1"/>
              </p:cNvSpPr>
              <p:nvPr>
                <p:ph type="body" idx="1"/>
              </p:nvPr>
            </p:nvSpPr>
            <p:spPr bwMode="auto">
              <a:xfrm>
                <a:off x="711200" y="2087563"/>
                <a:ext cx="7340600" cy="990600"/>
              </a:xfrm>
              <a:prstGeom prst="rect">
                <a:avLst/>
              </a:prstGeom>
              <a:blipFill rotWithShape="1">
                <a:blip r:embed="rId3"/>
                <a:stretch>
                  <a:fillRect t="-32" b="32"/>
                </a:stretch>
              </a:blipFill>
              <a:ln>
                <a:noFill/>
              </a:ln>
              <a:effectLst/>
            </p:spPr>
            <p:txBody>
              <a:bodyPr/>
              <a:lstStyle/>
              <a:p>
                <a:r>
                  <a:rPr lang="zh-CN" altLang="en-US">
                    <a:noFill/>
                  </a:rPr>
                  <a:t> </a:t>
                </a:r>
              </a:p>
            </p:txBody>
          </p:sp>
        </mc:Fallback>
      </mc:AlternateContent>
      <p:pic>
        <p:nvPicPr>
          <p:cNvPr id="15298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5025" y="3206750"/>
            <a:ext cx="4679950"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9861" name="Rectangle 5"/>
          <p:cNvSpPr>
            <a:spLocks noChangeArrowheads="1"/>
          </p:cNvSpPr>
          <p:nvPr/>
        </p:nvSpPr>
        <p:spPr bwMode="auto">
          <a:xfrm>
            <a:off x="668338" y="3740150"/>
            <a:ext cx="2303462"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周期</a:t>
            </a:r>
            <a:r>
              <a:rPr lang="en-US" altLang="zh-CN">
                <a:latin typeface="Times New Roman" panose="02020603050405020304" pitchFamily="18" charset="0"/>
                <a:ea typeface="宋体" panose="02010600030101010101" pitchFamily="2" charset="-122"/>
              </a:rPr>
              <a:t>= 2* </a:t>
            </a:r>
            <a:r>
              <a:rPr lang="en-US" altLang="en-US">
                <a:latin typeface="Times New Roman" panose="02020603050405020304" pitchFamily="18" charset="0"/>
                <a:ea typeface="宋体" panose="02010600030101010101" pitchFamily="2" charset="-122"/>
              </a:rPr>
              <a:t>pi</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相位</a:t>
            </a:r>
            <a:r>
              <a:rPr lang="en-US" altLang="zh-CN">
                <a:latin typeface="Times New Roman" panose="02020603050405020304" pitchFamily="18" charset="0"/>
                <a:ea typeface="宋体" panose="02010600030101010101" pitchFamily="2" charset="-122"/>
              </a:rPr>
              <a:t>=  0.5</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幅度</a:t>
            </a:r>
            <a:r>
              <a:rPr lang="en-US" altLang="zh-CN">
                <a:latin typeface="Times New Roman" panose="02020603050405020304" pitchFamily="18" charset="0"/>
                <a:ea typeface="宋体" panose="02010600030101010101" pitchFamily="2" charset="-122"/>
              </a:rPr>
              <a:t>=  </a:t>
            </a:r>
            <a:r>
              <a:rPr lang="en-US" altLang="en-US">
                <a:latin typeface="Times New Roman" panose="02020603050405020304" pitchFamily="18" charset="0"/>
                <a:ea typeface="宋体" panose="02010600030101010101" pitchFamily="2" charset="-122"/>
              </a:rPr>
              <a:t>A</a:t>
            </a:r>
            <a:endParaRPr lang="en-US" altLang="zh-CN">
              <a:latin typeface="Times New Roman" panose="02020603050405020304" pitchFamily="18" charset="0"/>
              <a:ea typeface="宋体" panose="02010600030101010101" pitchFamily="2" charset="-122"/>
            </a:endParaRPr>
          </a:p>
        </p:txBody>
      </p:sp>
      <p:sp>
        <p:nvSpPr>
          <p:cNvPr id="79878" name="Text Box 6"/>
          <p:cNvSpPr txBox="1">
            <a:spLocks noChangeArrowheads="1"/>
          </p:cNvSpPr>
          <p:nvPr/>
        </p:nvSpPr>
        <p:spPr bwMode="auto">
          <a:xfrm>
            <a:off x="8610600" y="2895600"/>
            <a:ext cx="304800"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p:txBody>
      </p:sp>
      <p:sp>
        <p:nvSpPr>
          <p:cNvPr id="79879" name="Rectangle 8"/>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10" name="日期占位符 9"/>
          <p:cNvSpPr>
            <a:spLocks noGrp="1"/>
          </p:cNvSpPr>
          <p:nvPr>
            <p:ph type="dt" sz="quarter" idx="10"/>
          </p:nvPr>
        </p:nvSpPr>
        <p:spPr/>
        <p:txBody>
          <a:bodyPr/>
          <a:lstStyle/>
          <a:p>
            <a:pPr>
              <a:defRPr/>
            </a:pPr>
            <a:fld id="{766DC280-3ECE-4EF7-82A8-664CD72F8DD6}" type="datetime3">
              <a:rPr lang="zh-CN" altLang="en-US"/>
              <a:t>2026年3月4日星期三</a:t>
            </a:fld>
            <a:endParaRPr lang="zh-CN" altLang="en-US"/>
          </a:p>
        </p:txBody>
      </p:sp>
    </p:spTree>
  </p:cSld>
  <p:clrMapOvr>
    <a:masterClrMapping/>
  </p:clrMapOvr>
  <p:transition advTm="3139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29861"/>
                                        </p:tgtEl>
                                        <p:attrNameLst>
                                          <p:attrName>style.visibility</p:attrName>
                                        </p:attrNameLst>
                                      </p:cBhvr>
                                      <p:to>
                                        <p:strVal val="visible"/>
                                      </p:to>
                                    </p:set>
                                    <p:anim calcmode="lin" valueType="num">
                                      <p:cBhvr>
                                        <p:cTn id="7" dur="1000" fill="hold"/>
                                        <p:tgtEl>
                                          <p:spTgt spid="1529861"/>
                                        </p:tgtEl>
                                        <p:attrNameLst>
                                          <p:attrName>ppt_w</p:attrName>
                                        </p:attrNameLst>
                                      </p:cBhvr>
                                      <p:tavLst>
                                        <p:tav tm="0">
                                          <p:val>
                                            <p:strVal val="#ppt_w*0.70"/>
                                          </p:val>
                                        </p:tav>
                                        <p:tav tm="100000">
                                          <p:val>
                                            <p:strVal val="#ppt_w"/>
                                          </p:val>
                                        </p:tav>
                                      </p:tavLst>
                                    </p:anim>
                                    <p:anim calcmode="lin" valueType="num">
                                      <p:cBhvr>
                                        <p:cTn id="8" dur="1000" fill="hold"/>
                                        <p:tgtEl>
                                          <p:spTgt spid="1529861"/>
                                        </p:tgtEl>
                                        <p:attrNameLst>
                                          <p:attrName>ppt_h</p:attrName>
                                        </p:attrNameLst>
                                      </p:cBhvr>
                                      <p:tavLst>
                                        <p:tav tm="0">
                                          <p:val>
                                            <p:strVal val="#ppt_h"/>
                                          </p:val>
                                        </p:tav>
                                        <p:tav tm="100000">
                                          <p:val>
                                            <p:strVal val="#ppt_h"/>
                                          </p:val>
                                        </p:tav>
                                      </p:tavLst>
                                    </p:anim>
                                    <p:animEffect transition="in" filter="fade">
                                      <p:cBhvr>
                                        <p:cTn id="9" dur="1000"/>
                                        <p:tgtEl>
                                          <p:spTgt spid="1529861"/>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529860"/>
                                        </p:tgtEl>
                                        <p:attrNameLst>
                                          <p:attrName>style.visibility</p:attrName>
                                        </p:attrNameLst>
                                      </p:cBhvr>
                                      <p:to>
                                        <p:strVal val="visible"/>
                                      </p:to>
                                    </p:set>
                                    <p:anim calcmode="lin" valueType="num">
                                      <p:cBhvr>
                                        <p:cTn id="13" dur="1000" fill="hold"/>
                                        <p:tgtEl>
                                          <p:spTgt spid="1529860"/>
                                        </p:tgtEl>
                                        <p:attrNameLst>
                                          <p:attrName>ppt_w</p:attrName>
                                        </p:attrNameLst>
                                      </p:cBhvr>
                                      <p:tavLst>
                                        <p:tav tm="0">
                                          <p:val>
                                            <p:strVal val="#ppt_w*0.70"/>
                                          </p:val>
                                        </p:tav>
                                        <p:tav tm="100000">
                                          <p:val>
                                            <p:strVal val="#ppt_w"/>
                                          </p:val>
                                        </p:tav>
                                      </p:tavLst>
                                    </p:anim>
                                    <p:anim calcmode="lin" valueType="num">
                                      <p:cBhvr>
                                        <p:cTn id="14" dur="1000" fill="hold"/>
                                        <p:tgtEl>
                                          <p:spTgt spid="1529860"/>
                                        </p:tgtEl>
                                        <p:attrNameLst>
                                          <p:attrName>ppt_h</p:attrName>
                                        </p:attrNameLst>
                                      </p:cBhvr>
                                      <p:tavLst>
                                        <p:tav tm="0">
                                          <p:val>
                                            <p:strVal val="#ppt_h"/>
                                          </p:val>
                                        </p:tav>
                                        <p:tav tm="100000">
                                          <p:val>
                                            <p:strVal val="#ppt_h"/>
                                          </p:val>
                                        </p:tav>
                                      </p:tavLst>
                                    </p:anim>
                                    <p:animEffect transition="in" filter="fade">
                                      <p:cBhvr>
                                        <p:cTn id="15" dur="1000"/>
                                        <p:tgtEl>
                                          <p:spTgt spid="1529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986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819150" y="1250950"/>
            <a:ext cx="2371725" cy="674688"/>
          </a:xfrm>
          <a:solidFill>
            <a:srgbClr val="CADAC2"/>
          </a:solidFill>
        </p:spPr>
        <p:txBody>
          <a:bodyPr/>
          <a:lstStyle/>
          <a:p>
            <a:r>
              <a:rPr lang="zh-CN" altLang="en-US" sz="1700" b="1"/>
              <a:t>对阻尼振荡的数学描述</a:t>
            </a:r>
          </a:p>
        </p:txBody>
      </p:sp>
      <mc:AlternateContent xmlns:mc="http://schemas.openxmlformats.org/markup-compatibility/2006" xmlns:a14="http://schemas.microsoft.com/office/drawing/2010/main">
        <mc:Choice Requires="a14">
          <p:sp>
            <p:nvSpPr>
              <p:cNvPr id="1531907" name="Object 2"/>
              <p:cNvSpPr txBox="1">
                <a:spLocks noGrp="1"/>
              </p:cNvSpPr>
              <p:nvPr>
                <p:ph type="body" idx="1"/>
              </p:nvPr>
            </p:nvSpPr>
            <p:spPr bwMode="auto">
              <a:xfrm>
                <a:off x="1263650" y="2081213"/>
                <a:ext cx="7054850" cy="1069975"/>
              </a:xfrm>
              <a:prstGeom prst="rect">
                <a:avLst/>
              </a:prstGeom>
              <a:solidFill>
                <a:srgbClr val="FFFFFF"/>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ea typeface="MS Mincho" panose="02020609040205080304" charset="-128"/>
                          <a:cs typeface="Cambria Math" panose="02040503050406030204" pitchFamily="18" charset="0"/>
                        </a:rPr>
                        <m:t>𝑛</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−3</m:t>
                          </m:r>
                          <m:r>
                            <a:rPr lang="en-US" altLang="zh-CN" i="1">
                              <a:solidFill>
                                <a:srgbClr val="000000"/>
                              </a:solidFill>
                              <a:latin typeface="Cambria Math" panose="02040503050406030204" pitchFamily="18" charset="0"/>
                              <a:ea typeface="MS Mincho" panose="02020609040205080304" charset="-128"/>
                              <a:cs typeface="Cambria Math" panose="02040503050406030204" pitchFamily="18" charset="0"/>
                            </a:rPr>
                            <m:t>𝑛</m:t>
                          </m:r>
                        </m:sup>
                      </m:s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en-US" altLang="zh-CN" i="1">
                          <a:solidFill>
                            <a:srgbClr val="000000"/>
                          </a:solidFill>
                          <a:latin typeface="Cambria Math" panose="02040503050406030204" pitchFamily="18" charset="0"/>
                          <a:cs typeface="Cambria Math" panose="02040503050406030204" pitchFamily="18" charset="0"/>
                        </a:rPr>
                        <m:t>𝑛</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31907" name="Object 2"/>
              <p:cNvSpPr txBox="1">
                <a:spLocks noRot="1" noChangeAspect="1" noMove="1" noResize="1" noEditPoints="1" noAdjustHandles="1" noChangeArrowheads="1" noChangeShapeType="1" noTextEdit="1"/>
              </p:cNvSpPr>
              <p:nvPr>
                <p:ph type="body" idx="1"/>
              </p:nvPr>
            </p:nvSpPr>
            <p:spPr bwMode="auto">
              <a:xfrm>
                <a:off x="1263650" y="2081213"/>
                <a:ext cx="7054850" cy="1069975"/>
              </a:xfrm>
              <a:prstGeom prst="rect">
                <a:avLst/>
              </a:prstGeom>
              <a:blipFill rotWithShape="1">
                <a:blip r:embed="rId3"/>
                <a:stretch>
                  <a:fillRect t="-30" b="30"/>
                </a:stretch>
              </a:blipFill>
              <a:ln>
                <a:noFill/>
              </a:ln>
              <a:effectLst/>
            </p:spPr>
            <p:txBody>
              <a:bodyPr/>
              <a:lstStyle/>
              <a:p>
                <a:r>
                  <a:rPr lang="zh-CN" altLang="en-US">
                    <a:noFill/>
                  </a:rPr>
                  <a:t> </a:t>
                </a:r>
              </a:p>
            </p:txBody>
          </p:sp>
        </mc:Fallback>
      </mc:AlternateContent>
      <p:pic>
        <p:nvPicPr>
          <p:cNvPr id="15319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150" y="3324225"/>
            <a:ext cx="6902450" cy="3014663"/>
          </a:xfrm>
          <a:prstGeom prst="rect">
            <a:avLst/>
          </a:prstGeom>
          <a:solidFill>
            <a:srgbClr val="CADAC2"/>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1925" name="Rectangle 6"/>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8" name="日期占位符 7"/>
          <p:cNvSpPr>
            <a:spLocks noGrp="1"/>
          </p:cNvSpPr>
          <p:nvPr>
            <p:ph type="dt" sz="quarter" idx="10"/>
          </p:nvPr>
        </p:nvSpPr>
        <p:spPr>
          <a:xfrm>
            <a:off x="0" y="6415088"/>
            <a:ext cx="1331913" cy="442912"/>
          </a:xfrm>
        </p:spPr>
        <p:txBody>
          <a:bodyPr/>
          <a:lstStyle/>
          <a:p>
            <a:pPr>
              <a:defRPr/>
            </a:pPr>
            <a:fld id="{B6346608-302B-4F03-90D7-1896594A3EEF}" type="datetime3">
              <a:rPr lang="zh-CN" altLang="en-US"/>
              <a:t>2026年3月4日星期三</a:t>
            </a:fld>
            <a:endParaRPr lang="zh-CN" altLang="en-US" dirty="0"/>
          </a:p>
        </p:txBody>
      </p:sp>
      <p:sp>
        <p:nvSpPr>
          <p:cNvPr id="2" name="墨迹 1"/>
          <p:cNvSpPr/>
          <p:nvPr/>
        </p:nvSpPr>
        <p:spPr bwMode="auto">
          <a:xfrm>
            <a:off x="2321640" y="1939320"/>
            <a:ext cx="5651640" cy="4389480"/>
          </a:xfrm>
        </p:spPr>
      </p:sp>
    </p:spTree>
  </p:cSld>
  <p:clrMapOvr>
    <a:masterClrMapping/>
  </p:clrMapOvr>
  <p:transition advTm="2512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1531908"/>
                                        </p:tgtEl>
                                        <p:attrNameLst>
                                          <p:attrName>style.visibility</p:attrName>
                                        </p:attrNameLst>
                                      </p:cBhvr>
                                      <p:to>
                                        <p:strVal val="visible"/>
                                      </p:to>
                                    </p:set>
                                    <p:anim calcmode="lin" valueType="num">
                                      <p:cBhvr>
                                        <p:cTn id="11" dur="1000" fill="hold"/>
                                        <p:tgtEl>
                                          <p:spTgt spid="1531908"/>
                                        </p:tgtEl>
                                        <p:attrNameLst>
                                          <p:attrName>ppt_w</p:attrName>
                                        </p:attrNameLst>
                                      </p:cBhvr>
                                      <p:tavLst>
                                        <p:tav tm="0">
                                          <p:val>
                                            <p:strVal val="#ppt_w*0.70"/>
                                          </p:val>
                                        </p:tav>
                                        <p:tav tm="100000">
                                          <p:val>
                                            <p:strVal val="#ppt_w"/>
                                          </p:val>
                                        </p:tav>
                                      </p:tavLst>
                                    </p:anim>
                                    <p:anim calcmode="lin" valueType="num">
                                      <p:cBhvr>
                                        <p:cTn id="12" dur="1000" fill="hold"/>
                                        <p:tgtEl>
                                          <p:spTgt spid="1531908"/>
                                        </p:tgtEl>
                                        <p:attrNameLst>
                                          <p:attrName>ppt_h</p:attrName>
                                        </p:attrNameLst>
                                      </p:cBhvr>
                                      <p:tavLst>
                                        <p:tav tm="0">
                                          <p:val>
                                            <p:strVal val="#ppt_h"/>
                                          </p:val>
                                        </p:tav>
                                        <p:tav tm="100000">
                                          <p:val>
                                            <p:strVal val="#ppt_h"/>
                                          </p:val>
                                        </p:tav>
                                      </p:tavLst>
                                    </p:anim>
                                    <p:animEffect transition="in" filter="fade">
                                      <p:cBhvr>
                                        <p:cTn id="13" dur="1000"/>
                                        <p:tgtEl>
                                          <p:spTgt spid="1531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77800" y="1200150"/>
            <a:ext cx="3851275" cy="569913"/>
          </a:xfrm>
          <a:solidFill>
            <a:srgbClr val="CADAC2"/>
          </a:solidFill>
        </p:spPr>
        <p:txBody>
          <a:bodyPr/>
          <a:lstStyle/>
          <a:p>
            <a:r>
              <a:rPr lang="zh-CN" altLang="en-US" sz="2200" b="1"/>
              <a:t>一段鸟鸣的声音的时域波形</a:t>
            </a:r>
          </a:p>
        </p:txBody>
      </p:sp>
      <p:pic>
        <p:nvPicPr>
          <p:cNvPr id="83971" name="Picture 3"/>
          <p:cNvPicPr>
            <a:picLocks noGrp="1" noChangeAspect="1" noChangeArrowheads="1"/>
          </p:cNvPicPr>
          <p:nvPr>
            <p:ph type="body" idx="1"/>
          </p:nvPr>
        </p:nvPicPr>
        <p:blipFill>
          <a:blip r:embed="rId4">
            <a:extLst>
              <a:ext uri="{28A0092B-C50C-407E-A947-70E740481C1C}">
                <a14:useLocalDpi xmlns:a14="http://schemas.microsoft.com/office/drawing/2010/main" val="0"/>
              </a:ext>
            </a:extLst>
          </a:blip>
          <a:srcRect/>
          <a:stretch>
            <a:fillRect/>
          </a:stretch>
        </p:blipFill>
        <p:spPr>
          <a:xfrm>
            <a:off x="0" y="2339975"/>
            <a:ext cx="4473575" cy="3121025"/>
          </a:xfrm>
          <a:noFill/>
        </p:spPr>
      </p:pic>
      <p:sp>
        <p:nvSpPr>
          <p:cNvPr id="83972" name="Rectangle 5"/>
          <p:cNvSpPr>
            <a:spLocks noChangeArrowheads="1"/>
          </p:cNvSpPr>
          <p:nvPr/>
        </p:nvSpPr>
        <p:spPr bwMode="auto">
          <a:xfrm>
            <a:off x="177800" y="525463"/>
            <a:ext cx="409416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1533958" name="Rectangle 6"/>
          <p:cNvSpPr>
            <a:spLocks noChangeArrowheads="1"/>
          </p:cNvSpPr>
          <p:nvPr/>
        </p:nvSpPr>
        <p:spPr bwMode="auto">
          <a:xfrm>
            <a:off x="4695825" y="1200150"/>
            <a:ext cx="4448175" cy="654050"/>
          </a:xfrm>
          <a:prstGeom prst="rect">
            <a:avLst/>
          </a:prstGeom>
          <a:solidFill>
            <a:srgbClr val="E6D7B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000">
                <a:solidFill>
                  <a:schemeClr val="accent2"/>
                </a:solidFill>
                <a:latin typeface="Times New Roman" panose="02020603050405020304" pitchFamily="18" charset="0"/>
              </a:rPr>
              <a:t>鸟鸣在不同频率时的幅度分布</a:t>
            </a:r>
            <a:r>
              <a:rPr lang="en-US" altLang="zh-CN" sz="2000">
                <a:solidFill>
                  <a:schemeClr val="accent2"/>
                </a:solidFill>
                <a:latin typeface="Times New Roman" panose="02020603050405020304" pitchFamily="18" charset="0"/>
              </a:rPr>
              <a:t>—</a:t>
            </a:r>
            <a:r>
              <a:rPr lang="zh-CN" altLang="en-US" sz="2000">
                <a:solidFill>
                  <a:schemeClr val="accent2"/>
                </a:solidFill>
                <a:latin typeface="Times New Roman" panose="02020603050405020304" pitchFamily="18" charset="0"/>
              </a:rPr>
              <a:t>频谱</a:t>
            </a:r>
          </a:p>
        </p:txBody>
      </p:sp>
      <p:pic>
        <p:nvPicPr>
          <p:cNvPr id="153395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081213"/>
            <a:ext cx="4572000" cy="385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日期占位符 8"/>
          <p:cNvSpPr>
            <a:spLocks noGrp="1"/>
          </p:cNvSpPr>
          <p:nvPr>
            <p:ph type="dt" sz="quarter" idx="10"/>
          </p:nvPr>
        </p:nvSpPr>
        <p:spPr/>
        <p:txBody>
          <a:bodyPr/>
          <a:lstStyle/>
          <a:p>
            <a:pPr>
              <a:defRPr/>
            </a:pPr>
            <a:fld id="{42E45730-8E3E-4FDC-9068-FD837B1B3A3C}" type="datetime3">
              <a:rPr lang="zh-CN" altLang="en-US"/>
              <a:t>2026年3月4日星期三</a:t>
            </a:fld>
            <a:endParaRPr lang="zh-CN" altLang="en-US"/>
          </a:p>
        </p:txBody>
      </p:sp>
      <p:sp>
        <p:nvSpPr>
          <p:cNvPr id="2" name="墨迹 1"/>
          <p:cNvSpPr/>
          <p:nvPr/>
        </p:nvSpPr>
        <p:spPr bwMode="auto">
          <a:xfrm>
            <a:off x="2403000" y="3976560"/>
            <a:ext cx="4788360" cy="1302480"/>
          </a:xfrm>
        </p:spPr>
      </p:sp>
    </p:spTree>
    <p:custDataLst>
      <p:tags r:id="rId1"/>
    </p:custDataLst>
  </p:cSld>
  <p:clrMapOvr>
    <a:masterClrMapping/>
  </p:clrMapOvr>
  <p:transition advTm="8182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533958"/>
                                        </p:tgtEl>
                                        <p:attrNameLst>
                                          <p:attrName>style.visibility</p:attrName>
                                        </p:attrNameLst>
                                      </p:cBhvr>
                                      <p:to>
                                        <p:strVal val="visible"/>
                                      </p:to>
                                    </p:set>
                                    <p:anim calcmode="lin" valueType="num">
                                      <p:cBhvr>
                                        <p:cTn id="12" dur="1000" fill="hold"/>
                                        <p:tgtEl>
                                          <p:spTgt spid="1533958"/>
                                        </p:tgtEl>
                                        <p:attrNameLst>
                                          <p:attrName>ppt_w</p:attrName>
                                        </p:attrNameLst>
                                      </p:cBhvr>
                                      <p:tavLst>
                                        <p:tav tm="0">
                                          <p:val>
                                            <p:strVal val="#ppt_w*0.70"/>
                                          </p:val>
                                        </p:tav>
                                        <p:tav tm="100000">
                                          <p:val>
                                            <p:strVal val="#ppt_w"/>
                                          </p:val>
                                        </p:tav>
                                      </p:tavLst>
                                    </p:anim>
                                    <p:anim calcmode="lin" valueType="num">
                                      <p:cBhvr>
                                        <p:cTn id="13" dur="1000" fill="hold"/>
                                        <p:tgtEl>
                                          <p:spTgt spid="1533958"/>
                                        </p:tgtEl>
                                        <p:attrNameLst>
                                          <p:attrName>ppt_h</p:attrName>
                                        </p:attrNameLst>
                                      </p:cBhvr>
                                      <p:tavLst>
                                        <p:tav tm="0">
                                          <p:val>
                                            <p:strVal val="#ppt_h"/>
                                          </p:val>
                                        </p:tav>
                                        <p:tav tm="100000">
                                          <p:val>
                                            <p:strVal val="#ppt_h"/>
                                          </p:val>
                                        </p:tav>
                                      </p:tavLst>
                                    </p:anim>
                                    <p:animEffect transition="in" filter="fade">
                                      <p:cBhvr>
                                        <p:cTn id="14" dur="1000"/>
                                        <p:tgtEl>
                                          <p:spTgt spid="1533958"/>
                                        </p:tgtEl>
                                      </p:cBhvr>
                                    </p:animEffect>
                                  </p:childTnLst>
                                </p:cTn>
                              </p:par>
                              <p:par>
                                <p:cTn id="15" presetID="55" presetClass="entr" presetSubtype="0" fill="hold" nodeType="withEffect">
                                  <p:stCondLst>
                                    <p:cond delay="0"/>
                                  </p:stCondLst>
                                  <p:childTnLst>
                                    <p:set>
                                      <p:cBhvr>
                                        <p:cTn id="16" dur="1" fill="hold">
                                          <p:stCondLst>
                                            <p:cond delay="0"/>
                                          </p:stCondLst>
                                        </p:cTn>
                                        <p:tgtEl>
                                          <p:spTgt spid="1533959"/>
                                        </p:tgtEl>
                                        <p:attrNameLst>
                                          <p:attrName>style.visibility</p:attrName>
                                        </p:attrNameLst>
                                      </p:cBhvr>
                                      <p:to>
                                        <p:strVal val="visible"/>
                                      </p:to>
                                    </p:set>
                                    <p:anim calcmode="lin" valueType="num">
                                      <p:cBhvr>
                                        <p:cTn id="17" dur="1000" fill="hold"/>
                                        <p:tgtEl>
                                          <p:spTgt spid="1533959"/>
                                        </p:tgtEl>
                                        <p:attrNameLst>
                                          <p:attrName>ppt_w</p:attrName>
                                        </p:attrNameLst>
                                      </p:cBhvr>
                                      <p:tavLst>
                                        <p:tav tm="0">
                                          <p:val>
                                            <p:strVal val="#ppt_w*0.70"/>
                                          </p:val>
                                        </p:tav>
                                        <p:tav tm="100000">
                                          <p:val>
                                            <p:strVal val="#ppt_w"/>
                                          </p:val>
                                        </p:tav>
                                      </p:tavLst>
                                    </p:anim>
                                    <p:anim calcmode="lin" valueType="num">
                                      <p:cBhvr>
                                        <p:cTn id="18" dur="1000" fill="hold"/>
                                        <p:tgtEl>
                                          <p:spTgt spid="1533959"/>
                                        </p:tgtEl>
                                        <p:attrNameLst>
                                          <p:attrName>ppt_h</p:attrName>
                                        </p:attrNameLst>
                                      </p:cBhvr>
                                      <p:tavLst>
                                        <p:tav tm="0">
                                          <p:val>
                                            <p:strVal val="#ppt_h"/>
                                          </p:val>
                                        </p:tav>
                                        <p:tav tm="100000">
                                          <p:val>
                                            <p:strVal val="#ppt_h"/>
                                          </p:val>
                                        </p:tav>
                                      </p:tavLst>
                                    </p:anim>
                                    <p:animEffect transition="in" filter="fade">
                                      <p:cBhvr>
                                        <p:cTn id="19" dur="1000"/>
                                        <p:tgtEl>
                                          <p:spTgt spid="1533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395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body" sz="half" idx="1"/>
          </p:nvPr>
        </p:nvSpPr>
        <p:spPr>
          <a:xfrm>
            <a:off x="301625" y="1035050"/>
            <a:ext cx="6667500" cy="465138"/>
          </a:xfrm>
          <a:solidFill>
            <a:schemeClr val="bg1"/>
          </a:solidFill>
          <a:effectLst>
            <a:outerShdw dist="35921" dir="2700000" algn="ctr" rotWithShape="0">
              <a:srgbClr val="808080"/>
            </a:outerShdw>
          </a:effectLst>
        </p:spPr>
        <p:txBody>
          <a:bodyPr/>
          <a:lstStyle/>
          <a:p>
            <a:pPr>
              <a:buFontTx/>
              <a:buNone/>
            </a:pPr>
            <a:r>
              <a:rPr lang="zh-CN" altLang="en-US" sz="2000" b="1">
                <a:solidFill>
                  <a:srgbClr val="0000FF"/>
                </a:solidFill>
              </a:rPr>
              <a:t>信号的分类：对于各种信号，可以从不同角度进行分类。</a:t>
            </a:r>
          </a:p>
        </p:txBody>
      </p:sp>
      <p:sp>
        <p:nvSpPr>
          <p:cNvPr id="86019" name="Rectangle 18"/>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86020" name="Rectangle 32"/>
          <p:cNvSpPr>
            <a:spLocks noChangeArrowheads="1"/>
          </p:cNvSpPr>
          <p:nvPr/>
        </p:nvSpPr>
        <p:spPr bwMode="auto">
          <a:xfrm>
            <a:off x="0" y="3014663"/>
            <a:ext cx="2716213"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1700">
                <a:solidFill>
                  <a:srgbClr val="FF33CC"/>
                </a:solidFill>
                <a:latin typeface="Times New Roman" panose="02020603050405020304" pitchFamily="18" charset="0"/>
                <a:ea typeface="宋体" panose="02010600030101010101" pitchFamily="2" charset="-122"/>
              </a:rPr>
              <a:t>按函数值的确定性可分为：</a:t>
            </a:r>
          </a:p>
        </p:txBody>
      </p:sp>
      <p:sp>
        <p:nvSpPr>
          <p:cNvPr id="27" name="日期占位符 26"/>
          <p:cNvSpPr>
            <a:spLocks noGrp="1"/>
          </p:cNvSpPr>
          <p:nvPr>
            <p:ph type="dt" sz="quarter" idx="10"/>
          </p:nvPr>
        </p:nvSpPr>
        <p:spPr/>
        <p:txBody>
          <a:bodyPr/>
          <a:lstStyle/>
          <a:p>
            <a:pPr>
              <a:defRPr/>
            </a:pPr>
            <a:fld id="{FACE6E1F-FDD1-4D8D-A855-2D4E37583ECF}" type="datetime3">
              <a:rPr lang="zh-CN" altLang="en-US"/>
              <a:t>2026年3月4日星期三</a:t>
            </a:fld>
            <a:endParaRPr lang="zh-CN" altLang="en-US" dirty="0"/>
          </a:p>
        </p:txBody>
      </p:sp>
      <p:sp>
        <p:nvSpPr>
          <p:cNvPr id="26" name="AutoShape 5"/>
          <p:cNvSpPr/>
          <p:nvPr/>
        </p:nvSpPr>
        <p:spPr bwMode="auto">
          <a:xfrm>
            <a:off x="2661136" y="2568818"/>
            <a:ext cx="261296" cy="1211258"/>
          </a:xfrm>
          <a:prstGeom prst="leftBrace">
            <a:avLst>
              <a:gd name="adj1" fmla="val 7802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28" name="Text Box 6"/>
          <p:cNvSpPr txBox="1">
            <a:spLocks noChangeArrowheads="1"/>
          </p:cNvSpPr>
          <p:nvPr/>
        </p:nvSpPr>
        <p:spPr bwMode="auto">
          <a:xfrm>
            <a:off x="2909367" y="2505970"/>
            <a:ext cx="1555797" cy="1333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200" dirty="0">
                <a:latin typeface="Times New Roman" panose="02020603050405020304" pitchFamily="18" charset="0"/>
                <a:ea typeface="宋体" panose="02010600030101010101" pitchFamily="2" charset="-122"/>
              </a:rPr>
              <a:t>确定信号</a:t>
            </a:r>
          </a:p>
          <a:p>
            <a:pPr eaLnBrk="1" hangingPunct="1">
              <a:lnSpc>
                <a:spcPct val="85000"/>
              </a:lnSpc>
              <a:spcBef>
                <a:spcPct val="50000"/>
              </a:spcBef>
              <a:buClr>
                <a:schemeClr val="accent2"/>
              </a:buClr>
              <a:buFont typeface="Wingdings" panose="05000000000000000000" pitchFamily="2" charset="2"/>
              <a:buNone/>
            </a:pPr>
            <a:endParaRPr lang="zh-CN" altLang="en-US" sz="2200" dirty="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r>
              <a:rPr lang="zh-CN" altLang="en-US" sz="2200" dirty="0">
                <a:latin typeface="Times New Roman" panose="02020603050405020304" pitchFamily="18" charset="0"/>
                <a:ea typeface="宋体" panose="02010600030101010101" pitchFamily="2" charset="-122"/>
              </a:rPr>
              <a:t>随机信号</a:t>
            </a:r>
          </a:p>
        </p:txBody>
      </p:sp>
      <p:sp>
        <p:nvSpPr>
          <p:cNvPr id="29" name="AutoShape 7"/>
          <p:cNvSpPr/>
          <p:nvPr/>
        </p:nvSpPr>
        <p:spPr bwMode="auto">
          <a:xfrm>
            <a:off x="6763476" y="2271718"/>
            <a:ext cx="145890" cy="666192"/>
          </a:xfrm>
          <a:prstGeom prst="leftBrace">
            <a:avLst>
              <a:gd name="adj1" fmla="val 5569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30" name="Text Box 8"/>
          <p:cNvSpPr txBox="1">
            <a:spLocks noChangeArrowheads="1"/>
          </p:cNvSpPr>
          <p:nvPr/>
        </p:nvSpPr>
        <p:spPr bwMode="auto">
          <a:xfrm>
            <a:off x="6860373" y="2131166"/>
            <a:ext cx="1979313" cy="87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连续时间信号</a:t>
            </a:r>
          </a:p>
          <a:p>
            <a:pPr eaLnBrk="1" hangingPunct="1">
              <a:lnSpc>
                <a:spcPct val="85000"/>
              </a:lnSpc>
              <a:spcBef>
                <a:spcPct val="5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离散时间信号</a:t>
            </a:r>
          </a:p>
        </p:txBody>
      </p:sp>
      <p:sp>
        <p:nvSpPr>
          <p:cNvPr id="31" name="Rectangle 26"/>
          <p:cNvSpPr>
            <a:spLocks noChangeArrowheads="1"/>
          </p:cNvSpPr>
          <p:nvPr/>
        </p:nvSpPr>
        <p:spPr bwMode="auto">
          <a:xfrm>
            <a:off x="4229998" y="2093457"/>
            <a:ext cx="2519324" cy="36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1700" dirty="0">
                <a:solidFill>
                  <a:schemeClr val="hlink"/>
                </a:solidFill>
                <a:latin typeface="Times New Roman" panose="02020603050405020304" pitchFamily="18" charset="0"/>
                <a:ea typeface="宋体" panose="02010600030101010101" pitchFamily="2" charset="-122"/>
              </a:rPr>
              <a:t>按时间是否连续可分为：</a:t>
            </a:r>
          </a:p>
        </p:txBody>
      </p:sp>
      <p:sp>
        <p:nvSpPr>
          <p:cNvPr id="32" name="Line 27"/>
          <p:cNvSpPr>
            <a:spLocks noChangeShapeType="1"/>
          </p:cNvSpPr>
          <p:nvPr/>
        </p:nvSpPr>
        <p:spPr bwMode="auto">
          <a:xfrm>
            <a:off x="4786340" y="2627096"/>
            <a:ext cx="1481763" cy="0"/>
          </a:xfrm>
          <a:prstGeom prst="line">
            <a:avLst/>
          </a:prstGeom>
          <a:noFill/>
          <a:ln w="57150" cap="sq">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sp>
        <p:nvSpPr>
          <p:cNvPr id="33" name="Line 30"/>
          <p:cNvSpPr>
            <a:spLocks noChangeShapeType="1"/>
          </p:cNvSpPr>
          <p:nvPr/>
        </p:nvSpPr>
        <p:spPr bwMode="auto">
          <a:xfrm>
            <a:off x="4364189" y="2873383"/>
            <a:ext cx="1999999" cy="1067278"/>
          </a:xfrm>
          <a:prstGeom prst="line">
            <a:avLst/>
          </a:prstGeom>
          <a:noFill/>
          <a:ln w="5715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sp>
        <p:nvSpPr>
          <p:cNvPr id="34" name="Rectangle 31"/>
          <p:cNvSpPr>
            <a:spLocks noChangeArrowheads="1"/>
          </p:cNvSpPr>
          <p:nvPr/>
        </p:nvSpPr>
        <p:spPr bwMode="auto">
          <a:xfrm>
            <a:off x="4745245" y="3120205"/>
            <a:ext cx="1676646" cy="4936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1700">
                <a:solidFill>
                  <a:srgbClr val="FF0000"/>
                </a:solidFill>
                <a:latin typeface="Times New Roman" panose="02020603050405020304" pitchFamily="18" charset="0"/>
                <a:ea typeface="宋体" panose="02010600030101010101" pitchFamily="2" charset="-122"/>
              </a:rPr>
              <a:t>按函数值的重复性可分为：</a:t>
            </a:r>
          </a:p>
        </p:txBody>
      </p:sp>
      <p:sp>
        <p:nvSpPr>
          <p:cNvPr id="35" name="AutoShape 9"/>
          <p:cNvSpPr/>
          <p:nvPr/>
        </p:nvSpPr>
        <p:spPr bwMode="auto">
          <a:xfrm>
            <a:off x="6646169" y="3568141"/>
            <a:ext cx="183996" cy="801030"/>
          </a:xfrm>
          <a:prstGeom prst="leftBrace">
            <a:avLst>
              <a:gd name="adj1" fmla="val 43649"/>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36" name="Text Box 10"/>
          <p:cNvSpPr txBox="1">
            <a:spLocks noChangeArrowheads="1"/>
          </p:cNvSpPr>
          <p:nvPr/>
        </p:nvSpPr>
        <p:spPr bwMode="auto">
          <a:xfrm>
            <a:off x="6854117" y="3524719"/>
            <a:ext cx="2029395" cy="87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周期性信号</a:t>
            </a:r>
          </a:p>
          <a:p>
            <a:pPr eaLnBrk="1" hangingPunct="1">
              <a:lnSpc>
                <a:spcPct val="85000"/>
              </a:lnSpc>
              <a:spcBef>
                <a:spcPct val="5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非周期性信号</a:t>
            </a:r>
          </a:p>
        </p:txBody>
      </p:sp>
      <p:sp>
        <p:nvSpPr>
          <p:cNvPr id="37" name="AutoShape 11"/>
          <p:cNvSpPr/>
          <p:nvPr/>
        </p:nvSpPr>
        <p:spPr bwMode="auto">
          <a:xfrm>
            <a:off x="2936645" y="4744696"/>
            <a:ext cx="176374" cy="813600"/>
          </a:xfrm>
          <a:prstGeom prst="leftBrace">
            <a:avLst>
              <a:gd name="adj1" fmla="val 5933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38" name="Text Box 12"/>
          <p:cNvSpPr txBox="1">
            <a:spLocks noChangeArrowheads="1"/>
          </p:cNvSpPr>
          <p:nvPr/>
        </p:nvSpPr>
        <p:spPr bwMode="auto">
          <a:xfrm>
            <a:off x="3202295" y="4686418"/>
            <a:ext cx="1494828" cy="87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200" dirty="0">
                <a:latin typeface="Times New Roman" panose="02020603050405020304" pitchFamily="18" charset="0"/>
                <a:ea typeface="宋体" panose="02010600030101010101" pitchFamily="2" charset="-122"/>
              </a:rPr>
              <a:t>能量信号</a:t>
            </a:r>
          </a:p>
          <a:p>
            <a:pPr eaLnBrk="1" hangingPunct="1">
              <a:lnSpc>
                <a:spcPct val="85000"/>
              </a:lnSpc>
              <a:spcBef>
                <a:spcPct val="50000"/>
              </a:spcBef>
              <a:buClr>
                <a:schemeClr val="accent2"/>
              </a:buClr>
              <a:buFont typeface="Wingdings" panose="05000000000000000000" pitchFamily="2" charset="2"/>
              <a:buNone/>
            </a:pPr>
            <a:r>
              <a:rPr lang="zh-CN" altLang="en-US" sz="2200" dirty="0">
                <a:latin typeface="Times New Roman" panose="02020603050405020304" pitchFamily="18" charset="0"/>
                <a:ea typeface="宋体" panose="02010600030101010101" pitchFamily="2" charset="-122"/>
              </a:rPr>
              <a:t>功率信号</a:t>
            </a:r>
          </a:p>
        </p:txBody>
      </p:sp>
      <p:sp>
        <p:nvSpPr>
          <p:cNvPr id="39" name="Rectangle 20"/>
          <p:cNvSpPr>
            <a:spLocks noChangeArrowheads="1"/>
          </p:cNvSpPr>
          <p:nvPr/>
        </p:nvSpPr>
        <p:spPr bwMode="auto">
          <a:xfrm>
            <a:off x="177800" y="4809829"/>
            <a:ext cx="2716384" cy="414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1700" dirty="0">
                <a:solidFill>
                  <a:srgbClr val="FF33CC"/>
                </a:solidFill>
                <a:latin typeface="Times New Roman" panose="02020603050405020304" pitchFamily="18" charset="0"/>
                <a:ea typeface="宋体" panose="02010600030101010101" pitchFamily="2" charset="-122"/>
              </a:rPr>
              <a:t>根据能量特性，可分为：</a:t>
            </a:r>
          </a:p>
        </p:txBody>
      </p:sp>
    </p:spTree>
  </p:cSld>
  <p:clrMapOvr>
    <a:masterClrMapping/>
  </p:clrMapOvr>
  <p:transition advTm="2364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 calcmode="lin" valueType="num">
                                      <p:cBhvr additive="base">
                                        <p:cTn id="27" dur="500" fill="hold"/>
                                        <p:tgtEl>
                                          <p:spTgt spid="33"/>
                                        </p:tgtEl>
                                        <p:attrNameLst>
                                          <p:attrName>ppt_x</p:attrName>
                                        </p:attrNameLst>
                                      </p:cBhvr>
                                      <p:tavLst>
                                        <p:tav tm="0">
                                          <p:val>
                                            <p:strVal val="#ppt_x"/>
                                          </p:val>
                                        </p:tav>
                                        <p:tav tm="100000">
                                          <p:val>
                                            <p:strVal val="#ppt_x"/>
                                          </p:val>
                                        </p:tav>
                                      </p:tavLst>
                                    </p:anim>
                                    <p:anim calcmode="lin" valueType="num">
                                      <p:cBhvr additive="base">
                                        <p:cTn id="28" dur="500" fill="hold"/>
                                        <p:tgtEl>
                                          <p:spTgt spid="3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additive="base">
                                        <p:cTn id="35" dur="500" fill="hold"/>
                                        <p:tgtEl>
                                          <p:spTgt spid="35"/>
                                        </p:tgtEl>
                                        <p:attrNameLst>
                                          <p:attrName>ppt_x</p:attrName>
                                        </p:attrNameLst>
                                      </p:cBhvr>
                                      <p:tavLst>
                                        <p:tav tm="0">
                                          <p:val>
                                            <p:strVal val="#ppt_x"/>
                                          </p:val>
                                        </p:tav>
                                        <p:tav tm="100000">
                                          <p:val>
                                            <p:strVal val="#ppt_x"/>
                                          </p:val>
                                        </p:tav>
                                      </p:tavLst>
                                    </p:anim>
                                    <p:anim calcmode="lin" valueType="num">
                                      <p:cBhvr additive="base">
                                        <p:cTn id="36" dur="500" fill="hold"/>
                                        <p:tgtEl>
                                          <p:spTgt spid="3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additive="base">
                                        <p:cTn id="39" dur="500" fill="hold"/>
                                        <p:tgtEl>
                                          <p:spTgt spid="36"/>
                                        </p:tgtEl>
                                        <p:attrNameLst>
                                          <p:attrName>ppt_x</p:attrName>
                                        </p:attrNameLst>
                                      </p:cBhvr>
                                      <p:tavLst>
                                        <p:tav tm="0">
                                          <p:val>
                                            <p:strVal val="#ppt_x"/>
                                          </p:val>
                                        </p:tav>
                                        <p:tav tm="100000">
                                          <p:val>
                                            <p:strVal val="#ppt_x"/>
                                          </p:val>
                                        </p:tav>
                                      </p:tavLst>
                                    </p:anim>
                                    <p:anim calcmode="lin" valueType="num">
                                      <p:cBhvr additive="base">
                                        <p:cTn id="4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barn(inVertical)">
                                      <p:cBhvr>
                                        <p:cTn id="45" dur="500"/>
                                        <p:tgtEl>
                                          <p:spTgt spid="37"/>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barn(inVertical)">
                                      <p:cBhvr>
                                        <p:cTn id="48" dur="500"/>
                                        <p:tgtEl>
                                          <p:spTgt spid="38"/>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barn(inVertical)">
                                      <p:cBhvr>
                                        <p:cTn id="5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p:bldP spid="29" grpId="0" animBg="1"/>
      <p:bldP spid="30" grpId="0"/>
      <p:bldP spid="31" grpId="0"/>
      <p:bldP spid="32" grpId="0" animBg="1"/>
      <p:bldP spid="33" grpId="0" animBg="1"/>
      <p:bldP spid="34" grpId="0" animBg="1"/>
      <p:bldP spid="35" grpId="0" animBg="1"/>
      <p:bldP spid="36" grpId="0"/>
      <p:bldP spid="37" grpId="0" animBg="1"/>
      <p:bldP spid="38" grpId="0"/>
      <p:bldP spid="3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3189288" y="681038"/>
            <a:ext cx="3357562" cy="674687"/>
          </a:xfrm>
        </p:spPr>
        <p:txBody>
          <a:bodyPr/>
          <a:lstStyle/>
          <a:p>
            <a:r>
              <a:rPr lang="zh-CN" altLang="en-US" sz="2200" b="1">
                <a:solidFill>
                  <a:srgbClr val="0000FF"/>
                </a:solidFill>
                <a:ea typeface="黑体" panose="02010609060101010101" pitchFamily="49" charset="-122"/>
              </a:rPr>
              <a:t>确定信号和随机信号</a:t>
            </a:r>
          </a:p>
        </p:txBody>
      </p:sp>
      <p:sp>
        <p:nvSpPr>
          <p:cNvPr id="1539075" name="Rectangle 3"/>
          <p:cNvSpPr>
            <a:spLocks noGrp="1" noChangeArrowheads="1"/>
          </p:cNvSpPr>
          <p:nvPr>
            <p:ph type="body" sz="half" idx="1"/>
          </p:nvPr>
        </p:nvSpPr>
        <p:spPr>
          <a:xfrm>
            <a:off x="1263650" y="1614488"/>
            <a:ext cx="6861916" cy="2540000"/>
          </a:xfrm>
          <a:ln w="57150">
            <a:solidFill>
              <a:schemeClr val="tx1"/>
            </a:solidFill>
            <a:miter lim="800000"/>
          </a:ln>
        </p:spPr>
        <p:txBody>
          <a:bodyPr/>
          <a:lstStyle/>
          <a:p>
            <a:pPr>
              <a:lnSpc>
                <a:spcPct val="145000"/>
              </a:lnSpc>
              <a:spcBef>
                <a:spcPct val="35000"/>
              </a:spcBef>
              <a:buFont typeface="Wingdings" panose="05000000000000000000" pitchFamily="2" charset="2"/>
              <a:buChar char="l"/>
            </a:pPr>
            <a:r>
              <a:rPr lang="zh-CN" altLang="en-US" sz="1700" b="1"/>
              <a:t>若信号可表示为一个确定的时间函数（或序列），对于给定的某时间值，信号有确定的值，则这种信号称为</a:t>
            </a:r>
            <a:r>
              <a:rPr lang="zh-CN" altLang="en-US" sz="1700" b="1">
                <a:solidFill>
                  <a:srgbClr val="FF0000"/>
                </a:solidFill>
              </a:rPr>
              <a:t>确定信号</a:t>
            </a:r>
            <a:r>
              <a:rPr lang="zh-CN" altLang="en-US" sz="1700" b="1"/>
              <a:t>或又称规则信号。如：乐音。</a:t>
            </a:r>
          </a:p>
          <a:p>
            <a:pPr>
              <a:lnSpc>
                <a:spcPct val="145000"/>
              </a:lnSpc>
              <a:spcBef>
                <a:spcPct val="35000"/>
              </a:spcBef>
              <a:buFont typeface="Wingdings" panose="05000000000000000000" pitchFamily="2" charset="2"/>
              <a:buChar char="l"/>
            </a:pPr>
            <a:r>
              <a:rPr lang="zh-CN" altLang="en-US" sz="1700" b="1"/>
              <a:t>当给定一时间值时，信号的函数值不能确定，而只知道其取某一数值的概率，这时信号称为</a:t>
            </a:r>
            <a:r>
              <a:rPr lang="zh-CN" altLang="en-US" sz="1700" b="1">
                <a:solidFill>
                  <a:srgbClr val="FF0000"/>
                </a:solidFill>
              </a:rPr>
              <a:t>随机信号</a:t>
            </a:r>
            <a:r>
              <a:rPr lang="zh-CN" altLang="en-US" sz="1700" b="1"/>
              <a:t>。如：噪声、干扰。     </a:t>
            </a:r>
          </a:p>
        </p:txBody>
      </p:sp>
      <p:graphicFrame>
        <p:nvGraphicFramePr>
          <p:cNvPr id="1539076" name="Object 2"/>
          <p:cNvGraphicFramePr>
            <a:graphicFrameLocks noGrp="1" noChangeAspect="1"/>
          </p:cNvGraphicFramePr>
          <p:nvPr>
            <p:ph sz="quarter" idx="2"/>
          </p:nvPr>
        </p:nvGraphicFramePr>
        <p:xfrm>
          <a:off x="3167063" y="3860800"/>
          <a:ext cx="5976937" cy="2349500"/>
        </p:xfrm>
        <a:graphic>
          <a:graphicData uri="http://schemas.openxmlformats.org/presentationml/2006/ole">
            <mc:AlternateContent xmlns:mc="http://schemas.openxmlformats.org/markup-compatibility/2006">
              <mc:Choice xmlns:v="urn:schemas-microsoft-com:vml" Requires="v">
                <p:oleObj spid="_x0000_s3094" name="Visio" r:id="rId5" imgW="3496945" imgH="880745" progId="Visio.Drawing.11">
                  <p:embed/>
                </p:oleObj>
              </mc:Choice>
              <mc:Fallback>
                <p:oleObj name="Visio" r:id="rId5" imgW="3496945" imgH="880745" progId="Visio.Drawing.11">
                  <p:embed/>
                  <p:pic>
                    <p:nvPicPr>
                      <p:cNvPr id="0" name="图片 3073"/>
                      <p:cNvPicPr>
                        <a:picLocks noChangeAspect="1" noChangeArrowheads="1"/>
                      </p:cNvPicPr>
                      <p:nvPr/>
                    </p:nvPicPr>
                    <p:blipFill>
                      <a:blip r:embed="rId6">
                        <a:extLst>
                          <a:ext uri="{28A0092B-C50C-407E-A947-70E740481C1C}">
                            <a14:useLocalDpi xmlns:a14="http://schemas.microsoft.com/office/drawing/2010/main" val="0"/>
                          </a:ext>
                        </a:extLst>
                      </a:blip>
                      <a:srcRect t="-3062" r="61281"/>
                      <a:stretch>
                        <a:fillRect/>
                      </a:stretch>
                    </p:blipFill>
                    <p:spPr bwMode="auto">
                      <a:xfrm>
                        <a:off x="3167063" y="3860800"/>
                        <a:ext cx="5976937" cy="234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39077" name="Picture 5"/>
          <p:cNvPicPr>
            <a:picLocks noGrp="1" noChangeAspect="1" noChangeArrowheads="1"/>
          </p:cNvPicPr>
          <p:nvPr>
            <p:ph sz="quarter" idx="3"/>
          </p:nvPr>
        </p:nvPicPr>
        <p:blipFill>
          <a:blip r:embed="rId7" cstate="print">
            <a:extLst>
              <a:ext uri="{28A0092B-C50C-407E-A947-70E740481C1C}">
                <a14:useLocalDpi xmlns:a14="http://schemas.microsoft.com/office/drawing/2010/main" val="0"/>
              </a:ext>
            </a:extLst>
          </a:blip>
          <a:srcRect t="-8501" r="66991" b="18762"/>
          <a:stretch>
            <a:fillRect/>
          </a:stretch>
        </p:blipFill>
        <p:spPr>
          <a:xfrm>
            <a:off x="0" y="3644900"/>
            <a:ext cx="3132138" cy="2636838"/>
          </a:xfrm>
          <a:noFill/>
        </p:spPr>
      </p:pic>
      <p:sp>
        <p:nvSpPr>
          <p:cNvPr id="88070" name="Rectangle 6"/>
          <p:cNvSpPr>
            <a:spLocks noChangeArrowheads="1"/>
          </p:cNvSpPr>
          <p:nvPr/>
        </p:nvSpPr>
        <p:spPr bwMode="auto">
          <a:xfrm>
            <a:off x="971550" y="4005263"/>
            <a:ext cx="39735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latin typeface="Times New Roman" panose="02020603050405020304" pitchFamily="18" charset="0"/>
                <a:ea typeface="宋体" panose="02010600030101010101" pitchFamily="2" charset="-122"/>
              </a:rPr>
              <a:t>        </a:t>
            </a:r>
          </a:p>
        </p:txBody>
      </p:sp>
      <p:sp>
        <p:nvSpPr>
          <p:cNvPr id="88071" name="Rectangle 9"/>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11" name="日期占位符 10"/>
          <p:cNvSpPr>
            <a:spLocks noGrp="1"/>
          </p:cNvSpPr>
          <p:nvPr>
            <p:ph type="dt" sz="quarter" idx="10"/>
          </p:nvPr>
        </p:nvSpPr>
        <p:spPr/>
        <p:txBody>
          <a:bodyPr/>
          <a:lstStyle/>
          <a:p>
            <a:pPr>
              <a:defRPr/>
            </a:pPr>
            <a:fld id="{BFC06E3D-A876-4DD8-88BA-513ED5CAC398}" type="datetime3">
              <a:rPr lang="zh-CN" altLang="en-US"/>
              <a:t>2026年3月4日星期三</a:t>
            </a:fld>
            <a:endParaRPr lang="en-US" altLang="zh-CN" dirty="0"/>
          </a:p>
        </p:txBody>
      </p:sp>
    </p:spTree>
    <p:custDataLst>
      <p:tags r:id="rId2"/>
    </p:custDataLst>
  </p:cSld>
  <p:clrMapOvr>
    <a:masterClrMapping/>
  </p:clrMapOvr>
  <p:transition spd="med" advTm="79146">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39075">
                                            <p:txEl>
                                              <p:pRg st="0" end="0"/>
                                            </p:txEl>
                                          </p:spTgt>
                                        </p:tgtEl>
                                        <p:attrNameLst>
                                          <p:attrName>style.visibility</p:attrName>
                                        </p:attrNameLst>
                                      </p:cBhvr>
                                      <p:to>
                                        <p:strVal val="visible"/>
                                      </p:to>
                                    </p:set>
                                    <p:anim calcmode="lin" valueType="num">
                                      <p:cBhvr>
                                        <p:cTn id="7" dur="1000" fill="hold"/>
                                        <p:tgtEl>
                                          <p:spTgt spid="153907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3907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39075">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539077"/>
                                        </p:tgtEl>
                                        <p:attrNameLst>
                                          <p:attrName>style.visibility</p:attrName>
                                        </p:attrNameLst>
                                      </p:cBhvr>
                                      <p:to>
                                        <p:strVal val="visible"/>
                                      </p:to>
                                    </p:set>
                                    <p:anim calcmode="lin" valueType="num">
                                      <p:cBhvr>
                                        <p:cTn id="13" dur="1000" fill="hold"/>
                                        <p:tgtEl>
                                          <p:spTgt spid="1539077"/>
                                        </p:tgtEl>
                                        <p:attrNameLst>
                                          <p:attrName>ppt_w</p:attrName>
                                        </p:attrNameLst>
                                      </p:cBhvr>
                                      <p:tavLst>
                                        <p:tav tm="0">
                                          <p:val>
                                            <p:strVal val="#ppt_w*0.70"/>
                                          </p:val>
                                        </p:tav>
                                        <p:tav tm="100000">
                                          <p:val>
                                            <p:strVal val="#ppt_w"/>
                                          </p:val>
                                        </p:tav>
                                      </p:tavLst>
                                    </p:anim>
                                    <p:anim calcmode="lin" valueType="num">
                                      <p:cBhvr>
                                        <p:cTn id="14" dur="1000" fill="hold"/>
                                        <p:tgtEl>
                                          <p:spTgt spid="1539077"/>
                                        </p:tgtEl>
                                        <p:attrNameLst>
                                          <p:attrName>ppt_h</p:attrName>
                                        </p:attrNameLst>
                                      </p:cBhvr>
                                      <p:tavLst>
                                        <p:tav tm="0">
                                          <p:val>
                                            <p:strVal val="#ppt_h"/>
                                          </p:val>
                                        </p:tav>
                                        <p:tav tm="100000">
                                          <p:val>
                                            <p:strVal val="#ppt_h"/>
                                          </p:val>
                                        </p:tav>
                                      </p:tavLst>
                                    </p:anim>
                                    <p:animEffect transition="in" filter="fade">
                                      <p:cBhvr>
                                        <p:cTn id="15" dur="1000"/>
                                        <p:tgtEl>
                                          <p:spTgt spid="1539077"/>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1539075">
                                            <p:txEl>
                                              <p:pRg st="1" end="1"/>
                                            </p:txEl>
                                          </p:spTgt>
                                        </p:tgtEl>
                                        <p:attrNameLst>
                                          <p:attrName>style.visibility</p:attrName>
                                        </p:attrNameLst>
                                      </p:cBhvr>
                                      <p:to>
                                        <p:strVal val="visible"/>
                                      </p:to>
                                    </p:set>
                                    <p:anim calcmode="lin" valueType="num">
                                      <p:cBhvr>
                                        <p:cTn id="20" dur="1000" fill="hold"/>
                                        <p:tgtEl>
                                          <p:spTgt spid="1539075">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1539075">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1539075">
                                            <p:txEl>
                                              <p:pRg st="1" end="1"/>
                                            </p:txEl>
                                          </p:spTgt>
                                        </p:tgtEl>
                                      </p:cBhvr>
                                    </p:animEffect>
                                  </p:childTnLst>
                                </p:cTn>
                              </p:par>
                            </p:childTnLst>
                          </p:cTn>
                        </p:par>
                        <p:par>
                          <p:cTn id="23" fill="hold">
                            <p:stCondLst>
                              <p:cond delay="1000"/>
                            </p:stCondLst>
                            <p:childTnLst>
                              <p:par>
                                <p:cTn id="24" presetID="55" presetClass="entr" presetSubtype="0" fill="hold" nodeType="afterEffect">
                                  <p:stCondLst>
                                    <p:cond delay="0"/>
                                  </p:stCondLst>
                                  <p:childTnLst>
                                    <p:set>
                                      <p:cBhvr>
                                        <p:cTn id="25" dur="1" fill="hold">
                                          <p:stCondLst>
                                            <p:cond delay="0"/>
                                          </p:stCondLst>
                                        </p:cTn>
                                        <p:tgtEl>
                                          <p:spTgt spid="1539076"/>
                                        </p:tgtEl>
                                        <p:attrNameLst>
                                          <p:attrName>style.visibility</p:attrName>
                                        </p:attrNameLst>
                                      </p:cBhvr>
                                      <p:to>
                                        <p:strVal val="visible"/>
                                      </p:to>
                                    </p:set>
                                    <p:anim calcmode="lin" valueType="num">
                                      <p:cBhvr>
                                        <p:cTn id="26" dur="1000" fill="hold"/>
                                        <p:tgtEl>
                                          <p:spTgt spid="1539076"/>
                                        </p:tgtEl>
                                        <p:attrNameLst>
                                          <p:attrName>ppt_w</p:attrName>
                                        </p:attrNameLst>
                                      </p:cBhvr>
                                      <p:tavLst>
                                        <p:tav tm="0">
                                          <p:val>
                                            <p:strVal val="#ppt_w*0.70"/>
                                          </p:val>
                                        </p:tav>
                                        <p:tav tm="100000">
                                          <p:val>
                                            <p:strVal val="#ppt_w"/>
                                          </p:val>
                                        </p:tav>
                                      </p:tavLst>
                                    </p:anim>
                                    <p:anim calcmode="lin" valueType="num">
                                      <p:cBhvr>
                                        <p:cTn id="27" dur="1000" fill="hold"/>
                                        <p:tgtEl>
                                          <p:spTgt spid="1539076"/>
                                        </p:tgtEl>
                                        <p:attrNameLst>
                                          <p:attrName>ppt_h</p:attrName>
                                        </p:attrNameLst>
                                      </p:cBhvr>
                                      <p:tavLst>
                                        <p:tav tm="0">
                                          <p:val>
                                            <p:strVal val="#ppt_h"/>
                                          </p:val>
                                        </p:tav>
                                        <p:tav tm="100000">
                                          <p:val>
                                            <p:strVal val="#ppt_h"/>
                                          </p:val>
                                        </p:tav>
                                      </p:tavLst>
                                    </p:anim>
                                    <p:animEffect transition="in" filter="fade">
                                      <p:cBhvr>
                                        <p:cTn id="28" dur="1000"/>
                                        <p:tgtEl>
                                          <p:spTgt spid="1539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866775" y="963613"/>
            <a:ext cx="4197350" cy="441325"/>
          </a:xfrm>
        </p:spPr>
        <p:txBody>
          <a:bodyPr/>
          <a:lstStyle/>
          <a:p>
            <a:r>
              <a:rPr lang="zh-CN" altLang="en-US" sz="2200" b="1">
                <a:solidFill>
                  <a:srgbClr val="0000FF"/>
                </a:solidFill>
                <a:ea typeface="黑体" panose="02010609060101010101" pitchFamily="49" charset="-122"/>
              </a:rPr>
              <a:t>连续时间信号与离散时间信号</a:t>
            </a:r>
          </a:p>
        </p:txBody>
      </p:sp>
      <p:sp>
        <p:nvSpPr>
          <p:cNvPr id="1540099" name="Rectangle 3"/>
          <p:cNvSpPr>
            <a:spLocks noGrp="1" noChangeArrowheads="1"/>
          </p:cNvSpPr>
          <p:nvPr>
            <p:ph type="body" sz="half" idx="1"/>
          </p:nvPr>
        </p:nvSpPr>
        <p:spPr>
          <a:xfrm>
            <a:off x="0" y="1447800"/>
            <a:ext cx="4843463" cy="4665663"/>
          </a:xfrm>
          <a:solidFill>
            <a:schemeClr val="bg1"/>
          </a:solidFill>
          <a:ln w="57150">
            <a:solidFill>
              <a:schemeClr val="tx1"/>
            </a:solidFill>
            <a:miter lim="800000"/>
          </a:ln>
          <a:effectLst>
            <a:outerShdw sy="50000" kx="-2453608" rotWithShape="0">
              <a:srgbClr val="808080">
                <a:alpha val="50000"/>
              </a:srgbClr>
            </a:outerShdw>
          </a:effectLst>
        </p:spPr>
        <p:txBody>
          <a:bodyPr/>
          <a:lstStyle/>
          <a:p>
            <a:pPr>
              <a:lnSpc>
                <a:spcPct val="145000"/>
              </a:lnSpc>
              <a:buFont typeface="Wingdings" panose="05000000000000000000" pitchFamily="2" charset="2"/>
              <a:buChar char="l"/>
            </a:pPr>
            <a:r>
              <a:rPr lang="zh-CN" altLang="en-US" sz="1700" b="1"/>
              <a:t>如果在所讨论的时间间隔内（定义域内），信号所对应的函数只有有限个第一二类间断点，即对于任何时间值（除若干个间断点外），都可给出确定的函数值，此信号就称为连续信号，这里“连续”是指</a:t>
            </a:r>
            <a:r>
              <a:rPr lang="zh-CN" altLang="en-US" sz="1700" b="1">
                <a:solidFill>
                  <a:srgbClr val="FF0000"/>
                </a:solidFill>
              </a:rPr>
              <a:t>函数的定义域时间是连续的</a:t>
            </a:r>
            <a:r>
              <a:rPr lang="zh-CN" altLang="en-US" sz="1700" b="1"/>
              <a:t>，至于信号的值域是可以连续的，也可以是离散的。 </a:t>
            </a:r>
          </a:p>
          <a:p>
            <a:pPr>
              <a:lnSpc>
                <a:spcPct val="145000"/>
              </a:lnSpc>
              <a:buFont typeface="Wingdings" panose="05000000000000000000" pitchFamily="2" charset="2"/>
              <a:buChar char="l"/>
            </a:pPr>
            <a:r>
              <a:rPr lang="zh-CN" altLang="en-US" sz="1700" b="1"/>
              <a:t>与连续信号对应的是离散信号，在一次离散的瞬间才有定义的信号称为离散信号。（这里注意“离散”是指</a:t>
            </a:r>
            <a:r>
              <a:rPr lang="zh-CN" altLang="en-US" sz="1700" b="1">
                <a:solidFill>
                  <a:srgbClr val="FF0000"/>
                </a:solidFill>
              </a:rPr>
              <a:t>函数的定义域时间是离散的</a:t>
            </a:r>
            <a:r>
              <a:rPr lang="zh-CN" altLang="en-US" sz="1700" b="1"/>
              <a:t>，它只取某次规定的值。）</a:t>
            </a:r>
            <a:r>
              <a:rPr lang="zh-CN" altLang="en-US" sz="2200" b="1"/>
              <a:t> </a:t>
            </a:r>
          </a:p>
        </p:txBody>
      </p:sp>
      <p:sp>
        <p:nvSpPr>
          <p:cNvPr id="90116" name="Rectangle 6"/>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grpSp>
        <p:nvGrpSpPr>
          <p:cNvPr id="2" name="Group 17"/>
          <p:cNvGrpSpPr/>
          <p:nvPr/>
        </p:nvGrpSpPr>
        <p:grpSpPr bwMode="auto">
          <a:xfrm>
            <a:off x="5299075" y="3843338"/>
            <a:ext cx="3844925" cy="3014662"/>
            <a:chOff x="4868" y="3363"/>
            <a:chExt cx="3532" cy="2637"/>
          </a:xfrm>
        </p:grpSpPr>
        <p:pic>
          <p:nvPicPr>
            <p:cNvPr id="9012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0" y="3363"/>
              <a:ext cx="2223" cy="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25" name="Picture 10"/>
            <p:cNvPicPr>
              <a:picLocks noChangeAspect="1" noChangeArrowheads="1"/>
            </p:cNvPicPr>
            <p:nvPr/>
          </p:nvPicPr>
          <p:blipFill>
            <a:blip r:embed="rId5">
              <a:biLevel thresh="50000"/>
              <a:grayscl/>
              <a:lum bright="-36000" contrast="42000"/>
              <a:extLst>
                <a:ext uri="{28A0092B-C50C-407E-A947-70E740481C1C}">
                  <a14:useLocalDpi xmlns:a14="http://schemas.microsoft.com/office/drawing/2010/main" val="0"/>
                </a:ext>
              </a:extLst>
            </a:blip>
            <a:srcRect/>
            <a:stretch>
              <a:fillRect/>
            </a:stretch>
          </p:blipFill>
          <p:spPr bwMode="auto">
            <a:xfrm>
              <a:off x="4868" y="4791"/>
              <a:ext cx="2355" cy="1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6" name="Rectangle 13"/>
            <p:cNvSpPr>
              <a:spLocks noChangeArrowheads="1"/>
            </p:cNvSpPr>
            <p:nvPr/>
          </p:nvSpPr>
          <p:spPr bwMode="auto">
            <a:xfrm>
              <a:off x="7069" y="3674"/>
              <a:ext cx="1331" cy="4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000">
                  <a:solidFill>
                    <a:srgbClr val="FF0000"/>
                  </a:solidFill>
                  <a:latin typeface="Times New Roman" panose="02020603050405020304" pitchFamily="18" charset="0"/>
                </a:rPr>
                <a:t>抽样信号</a:t>
              </a:r>
            </a:p>
          </p:txBody>
        </p:sp>
        <p:sp>
          <p:nvSpPr>
            <p:cNvPr id="90127" name="Rectangle 13"/>
            <p:cNvSpPr>
              <a:spLocks noChangeArrowheads="1"/>
            </p:cNvSpPr>
            <p:nvPr/>
          </p:nvSpPr>
          <p:spPr bwMode="auto">
            <a:xfrm>
              <a:off x="7069" y="4896"/>
              <a:ext cx="1331" cy="4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000">
                  <a:solidFill>
                    <a:srgbClr val="FF0000"/>
                  </a:solidFill>
                  <a:latin typeface="Times New Roman" panose="02020603050405020304" pitchFamily="18" charset="0"/>
                </a:rPr>
                <a:t>数字信号</a:t>
              </a:r>
            </a:p>
          </p:txBody>
        </p:sp>
      </p:grpSp>
      <p:grpSp>
        <p:nvGrpSpPr>
          <p:cNvPr id="3" name="Group 16"/>
          <p:cNvGrpSpPr/>
          <p:nvPr/>
        </p:nvGrpSpPr>
        <p:grpSpPr bwMode="auto">
          <a:xfrm>
            <a:off x="5757863" y="1042988"/>
            <a:ext cx="3386137" cy="2705100"/>
            <a:chOff x="5289" y="913"/>
            <a:chExt cx="3111" cy="2366"/>
          </a:xfrm>
        </p:grpSpPr>
        <p:pic>
          <p:nvPicPr>
            <p:cNvPr id="90120" name="Picture 7"/>
            <p:cNvPicPr>
              <a:picLocks noChangeAspect="1" noChangeArrowheads="1"/>
            </p:cNvPicPr>
            <p:nvPr/>
          </p:nvPicPr>
          <p:blipFill>
            <a:blip r:embed="rId6">
              <a:lum bright="-30000" contrast="48000"/>
              <a:extLst>
                <a:ext uri="{28A0092B-C50C-407E-A947-70E740481C1C}">
                  <a14:useLocalDpi xmlns:a14="http://schemas.microsoft.com/office/drawing/2010/main" val="0"/>
                </a:ext>
              </a:extLst>
            </a:blip>
            <a:srcRect/>
            <a:stretch>
              <a:fillRect/>
            </a:stretch>
          </p:blipFill>
          <p:spPr bwMode="auto">
            <a:xfrm>
              <a:off x="5289" y="2138"/>
              <a:ext cx="2222" cy="1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21"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25" y="913"/>
              <a:ext cx="1769"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2" name="Rectangle 14"/>
            <p:cNvSpPr>
              <a:spLocks noChangeArrowheads="1"/>
            </p:cNvSpPr>
            <p:nvPr/>
          </p:nvSpPr>
          <p:spPr bwMode="auto">
            <a:xfrm>
              <a:off x="7129" y="1186"/>
              <a:ext cx="1271" cy="4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000">
                  <a:solidFill>
                    <a:srgbClr val="FF0000"/>
                  </a:solidFill>
                  <a:latin typeface="Times New Roman" panose="02020603050405020304" pitchFamily="18" charset="0"/>
                </a:rPr>
                <a:t>模拟信号</a:t>
              </a:r>
            </a:p>
          </p:txBody>
        </p:sp>
        <p:sp>
          <p:nvSpPr>
            <p:cNvPr id="90123" name="Rectangle 15"/>
            <p:cNvSpPr>
              <a:spLocks noChangeArrowheads="1"/>
            </p:cNvSpPr>
            <p:nvPr/>
          </p:nvSpPr>
          <p:spPr bwMode="auto">
            <a:xfrm>
              <a:off x="7080" y="2260"/>
              <a:ext cx="1320" cy="4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000">
                  <a:solidFill>
                    <a:srgbClr val="FF0000"/>
                  </a:solidFill>
                  <a:latin typeface="Times New Roman" panose="02020603050405020304" pitchFamily="18" charset="0"/>
                </a:rPr>
                <a:t>阶跃信号</a:t>
              </a:r>
            </a:p>
          </p:txBody>
        </p:sp>
      </p:grpSp>
      <p:sp>
        <p:nvSpPr>
          <p:cNvPr id="17" name="日期占位符 16"/>
          <p:cNvSpPr>
            <a:spLocks noGrp="1"/>
          </p:cNvSpPr>
          <p:nvPr>
            <p:ph type="dt" sz="quarter" idx="10"/>
          </p:nvPr>
        </p:nvSpPr>
        <p:spPr/>
        <p:txBody>
          <a:bodyPr/>
          <a:lstStyle/>
          <a:p>
            <a:pPr>
              <a:defRPr/>
            </a:pPr>
            <a:fld id="{DA0C2B9C-CD04-4D0E-8BC3-F057B07EA778}" type="datetime3">
              <a:rPr lang="zh-CN" altLang="en-US"/>
              <a:t>2026年3月4日星期三</a:t>
            </a:fld>
            <a:endParaRPr lang="zh-CN" altLang="en-US" dirty="0"/>
          </a:p>
        </p:txBody>
      </p:sp>
      <p:sp>
        <p:nvSpPr>
          <p:cNvPr id="4" name="墨迹 3"/>
          <p:cNvSpPr/>
          <p:nvPr/>
        </p:nvSpPr>
        <p:spPr bwMode="auto">
          <a:xfrm>
            <a:off x="3379320" y="1428840"/>
            <a:ext cx="4344480" cy="4922640"/>
          </a:xfrm>
        </p:spPr>
      </p:sp>
    </p:spTree>
    <p:custDataLst>
      <p:tags r:id="rId1"/>
    </p:custDataLst>
  </p:cSld>
  <p:clrMapOvr>
    <a:masterClrMapping/>
  </p:clrMapOvr>
  <p:transition advTm="19954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1540099">
                                            <p:txEl>
                                              <p:pRg st="0" end="0"/>
                                            </p:txEl>
                                          </p:spTgt>
                                        </p:tgtEl>
                                        <p:attrNameLst>
                                          <p:attrName>style.visibility</p:attrName>
                                        </p:attrNameLst>
                                      </p:cBhvr>
                                      <p:to>
                                        <p:strVal val="visible"/>
                                      </p:to>
                                    </p:set>
                                    <p:anim calcmode="lin" valueType="num">
                                      <p:cBhvr>
                                        <p:cTn id="11" dur="1000" fill="hold"/>
                                        <p:tgtEl>
                                          <p:spTgt spid="1540099">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1540099">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1540099">
                                            <p:txEl>
                                              <p:pRg st="0" end="0"/>
                                            </p:txEl>
                                          </p:spTgt>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strVal val="#ppt_w*0.70"/>
                                          </p:val>
                                        </p:tav>
                                        <p:tav tm="100000">
                                          <p:val>
                                            <p:strVal val="#ppt_w"/>
                                          </p:val>
                                        </p:tav>
                                      </p:tavLst>
                                    </p:anim>
                                    <p:anim calcmode="lin" valueType="num">
                                      <p:cBhvr>
                                        <p:cTn id="18" dur="1000" fill="hold"/>
                                        <p:tgtEl>
                                          <p:spTgt spid="3"/>
                                        </p:tgtEl>
                                        <p:attrNameLst>
                                          <p:attrName>ppt_h</p:attrName>
                                        </p:attrNameLst>
                                      </p:cBhvr>
                                      <p:tavLst>
                                        <p:tav tm="0">
                                          <p:val>
                                            <p:strVal val="#ppt_h"/>
                                          </p:val>
                                        </p:tav>
                                        <p:tav tm="100000">
                                          <p:val>
                                            <p:strVal val="#ppt_h"/>
                                          </p:val>
                                        </p:tav>
                                      </p:tavLst>
                                    </p:anim>
                                    <p:animEffect transition="in" filter="fade">
                                      <p:cBhvr>
                                        <p:cTn id="19" dur="1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1540099">
                                            <p:txEl>
                                              <p:pRg st="1" end="1"/>
                                            </p:txEl>
                                          </p:spTgt>
                                        </p:tgtEl>
                                        <p:attrNameLst>
                                          <p:attrName>style.visibility</p:attrName>
                                        </p:attrNameLst>
                                      </p:cBhvr>
                                      <p:to>
                                        <p:strVal val="visible"/>
                                      </p:to>
                                    </p:set>
                                    <p:anim calcmode="lin" valueType="num">
                                      <p:cBhvr>
                                        <p:cTn id="24" dur="1000" fill="hold"/>
                                        <p:tgtEl>
                                          <p:spTgt spid="1540099">
                                            <p:txEl>
                                              <p:pRg st="1" end="1"/>
                                            </p:txEl>
                                          </p:spTgt>
                                        </p:tgtEl>
                                        <p:attrNameLst>
                                          <p:attrName>ppt_w</p:attrName>
                                        </p:attrNameLst>
                                      </p:cBhvr>
                                      <p:tavLst>
                                        <p:tav tm="0">
                                          <p:val>
                                            <p:strVal val="#ppt_w*0.70"/>
                                          </p:val>
                                        </p:tav>
                                        <p:tav tm="100000">
                                          <p:val>
                                            <p:strVal val="#ppt_w"/>
                                          </p:val>
                                        </p:tav>
                                      </p:tavLst>
                                    </p:anim>
                                    <p:anim calcmode="lin" valueType="num">
                                      <p:cBhvr>
                                        <p:cTn id="25" dur="1000" fill="hold"/>
                                        <p:tgtEl>
                                          <p:spTgt spid="1540099">
                                            <p:txEl>
                                              <p:pRg st="1" end="1"/>
                                            </p:txEl>
                                          </p:spTgt>
                                        </p:tgtEl>
                                        <p:attrNameLst>
                                          <p:attrName>ppt_h</p:attrName>
                                        </p:attrNameLst>
                                      </p:cBhvr>
                                      <p:tavLst>
                                        <p:tav tm="0">
                                          <p:val>
                                            <p:strVal val="#ppt_h"/>
                                          </p:val>
                                        </p:tav>
                                        <p:tav tm="100000">
                                          <p:val>
                                            <p:strVal val="#ppt_h"/>
                                          </p:val>
                                        </p:tav>
                                      </p:tavLst>
                                    </p:anim>
                                    <p:animEffect transition="in" filter="fade">
                                      <p:cBhvr>
                                        <p:cTn id="26" dur="1000"/>
                                        <p:tgtEl>
                                          <p:spTgt spid="1540099">
                                            <p:txEl>
                                              <p:pRg st="1" end="1"/>
                                            </p:txEl>
                                          </p:spTgt>
                                        </p:tgtEl>
                                      </p:cBhvr>
                                    </p:animEffect>
                                  </p:childTnLst>
                                </p:cTn>
                              </p:par>
                            </p:childTnLst>
                          </p:cTn>
                        </p:par>
                        <p:par>
                          <p:cTn id="27" fill="hold">
                            <p:stCondLst>
                              <p:cond delay="1000"/>
                            </p:stCondLst>
                            <p:childTnLst>
                              <p:par>
                                <p:cTn id="28" presetID="55" presetClass="entr" presetSubtype="0"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1000" fill="hold"/>
                                        <p:tgtEl>
                                          <p:spTgt spid="2"/>
                                        </p:tgtEl>
                                        <p:attrNameLst>
                                          <p:attrName>ppt_w</p:attrName>
                                        </p:attrNameLst>
                                      </p:cBhvr>
                                      <p:tavLst>
                                        <p:tav tm="0">
                                          <p:val>
                                            <p:strVal val="#ppt_w*0.70"/>
                                          </p:val>
                                        </p:tav>
                                        <p:tav tm="100000">
                                          <p:val>
                                            <p:strVal val="#ppt_w"/>
                                          </p:val>
                                        </p:tav>
                                      </p:tavLst>
                                    </p:anim>
                                    <p:anim calcmode="lin" valueType="num">
                                      <p:cBhvr>
                                        <p:cTn id="31" dur="1000" fill="hold"/>
                                        <p:tgtEl>
                                          <p:spTgt spid="2"/>
                                        </p:tgtEl>
                                        <p:attrNameLst>
                                          <p:attrName>ppt_h</p:attrName>
                                        </p:attrNameLst>
                                      </p:cBhvr>
                                      <p:tavLst>
                                        <p:tav tm="0">
                                          <p:val>
                                            <p:strVal val="#ppt_h"/>
                                          </p:val>
                                        </p:tav>
                                        <p:tav tm="100000">
                                          <p:val>
                                            <p:strVal val="#ppt_h"/>
                                          </p:val>
                                        </p:tav>
                                      </p:tavLst>
                                    </p:anim>
                                    <p:animEffect transition="in" filter="fade">
                                      <p:cBhvr>
                                        <p:cTn id="3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866775" y="963613"/>
            <a:ext cx="4197350" cy="441325"/>
          </a:xfrm>
        </p:spPr>
        <p:txBody>
          <a:bodyPr/>
          <a:lstStyle/>
          <a:p>
            <a:r>
              <a:rPr lang="zh-CN" altLang="en-US" sz="2200" b="1">
                <a:solidFill>
                  <a:srgbClr val="0000FF"/>
                </a:solidFill>
                <a:ea typeface="黑体" panose="02010609060101010101" pitchFamily="49" charset="-122"/>
              </a:rPr>
              <a:t>连续时间信号与离散时间信号</a:t>
            </a:r>
          </a:p>
        </p:txBody>
      </p:sp>
      <p:sp>
        <p:nvSpPr>
          <p:cNvPr id="1540099" name="Rectangle 3"/>
          <p:cNvSpPr>
            <a:spLocks noGrp="1" noChangeArrowheads="1"/>
          </p:cNvSpPr>
          <p:nvPr>
            <p:ph type="body" sz="half" idx="1"/>
          </p:nvPr>
        </p:nvSpPr>
        <p:spPr>
          <a:xfrm>
            <a:off x="0" y="1447800"/>
            <a:ext cx="5086350" cy="4819650"/>
          </a:xfrm>
          <a:solidFill>
            <a:schemeClr val="bg1"/>
          </a:solidFill>
          <a:ln w="57150">
            <a:solidFill>
              <a:schemeClr val="tx1"/>
            </a:solidFill>
            <a:miter lim="800000"/>
          </a:ln>
          <a:effectLst>
            <a:outerShdw sy="50000" kx="-2453608" rotWithShape="0">
              <a:srgbClr val="808080">
                <a:alpha val="50000"/>
              </a:srgbClr>
            </a:outerShdw>
          </a:effectLst>
        </p:spPr>
        <p:txBody>
          <a:bodyPr/>
          <a:lstStyle/>
          <a:p>
            <a:pPr marL="2057400" lvl="4" indent="-228600" eaLnBrk="1" hangingPunct="1">
              <a:spcBef>
                <a:spcPct val="0"/>
              </a:spcBef>
            </a:pPr>
            <a:r>
              <a:rPr lang="zh-CN" altLang="en-US" sz="1800" b="1" dirty="0">
                <a:latin typeface="Calibri" panose="020F0502020204030204" pitchFamily="34" charset="0"/>
              </a:rPr>
              <a:t>连续时间信号：</a:t>
            </a:r>
          </a:p>
          <a:p>
            <a:pPr eaLnBrk="1" hangingPunct="1"/>
            <a:r>
              <a:rPr lang="zh-CN" altLang="en-US" sz="1800" b="1" dirty="0"/>
              <a:t>自变量连续可变，信号在自变量的连续值上都有定义。</a:t>
            </a:r>
          </a:p>
          <a:p>
            <a:pPr eaLnBrk="1" hangingPunct="1"/>
            <a:r>
              <a:rPr lang="zh-CN" altLang="en-US" sz="1800" b="1" dirty="0"/>
              <a:t>记做</a:t>
            </a:r>
            <a:r>
              <a:rPr lang="en-US" altLang="en-US" sz="1800" b="1" dirty="0"/>
              <a:t>x(t)</a:t>
            </a:r>
            <a:r>
              <a:rPr lang="zh-CN" altLang="en-US" sz="1800" b="1" dirty="0"/>
              <a:t>。如果是实数，通常对应一些有实际意义物理量，在数学上是一些标量。有时它用复数来表示，因为复数可以描述一个信号的角度或相移，即可以描述一个矢量，用与几何运算中。</a:t>
            </a:r>
          </a:p>
          <a:p>
            <a:pPr algn="ctr" eaLnBrk="1" hangingPunct="1">
              <a:buFont typeface="Wingdings" panose="05000000000000000000" pitchFamily="2" charset="2"/>
              <a:buChar char="u"/>
            </a:pPr>
            <a:r>
              <a:rPr lang="zh-CN" altLang="en-US" sz="1800" b="1" dirty="0"/>
              <a:t>离散时间信号：</a:t>
            </a:r>
          </a:p>
          <a:p>
            <a:pPr eaLnBrk="1" hangingPunct="1"/>
            <a:r>
              <a:rPr lang="zh-CN" altLang="en-US" sz="1800" b="1" dirty="0"/>
              <a:t>自变量取一组离散值，信号仅定义在离散时刻点上，记作</a:t>
            </a:r>
            <a:r>
              <a:rPr lang="en-US" altLang="zh-CN" sz="1800" b="1" dirty="0"/>
              <a:t>x[n]</a:t>
            </a:r>
            <a:r>
              <a:rPr lang="zh-CN" altLang="en-US" sz="1800" b="1" dirty="0"/>
              <a:t>。</a:t>
            </a:r>
          </a:p>
          <a:p>
            <a:pPr eaLnBrk="1" hangingPunct="1"/>
            <a:r>
              <a:rPr lang="en-US" altLang="zh-CN" sz="1800" b="1" dirty="0"/>
              <a:t>n</a:t>
            </a:r>
            <a:r>
              <a:rPr lang="zh-CN" altLang="zh-CN" sz="1800" b="1" dirty="0"/>
              <a:t>只能取整数。在两个整数值之间，没有定义。</a:t>
            </a:r>
            <a:r>
              <a:rPr lang="en-US" altLang="zh-CN" sz="1800" b="1" dirty="0"/>
              <a:t>X[n]</a:t>
            </a:r>
            <a:r>
              <a:rPr lang="zh-CN" altLang="zh-CN" sz="1800" b="1" dirty="0"/>
              <a:t>可以描述自变量本来就是离散的现象，而大多数情况下，它是连续信号经过采样后得到的离散序列。</a:t>
            </a:r>
            <a:endParaRPr lang="zh-CN" altLang="en-US" sz="1800" b="1" dirty="0"/>
          </a:p>
        </p:txBody>
      </p:sp>
      <p:sp>
        <p:nvSpPr>
          <p:cNvPr id="92164" name="Rectangle 6"/>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17" name="日期占位符 16"/>
          <p:cNvSpPr>
            <a:spLocks noGrp="1"/>
          </p:cNvSpPr>
          <p:nvPr>
            <p:ph type="dt" sz="quarter" idx="10"/>
          </p:nvPr>
        </p:nvSpPr>
        <p:spPr/>
        <p:txBody>
          <a:bodyPr/>
          <a:lstStyle/>
          <a:p>
            <a:pPr>
              <a:defRPr/>
            </a:pPr>
            <a:fld id="{411A76EA-8127-41C3-9D7A-5C1C646F5A1A}" type="datetime3">
              <a:rPr lang="zh-CN" altLang="en-US"/>
              <a:t>2026年3月4日星期三</a:t>
            </a:fld>
            <a:endParaRPr lang="zh-CN" altLang="en-US" dirty="0"/>
          </a:p>
        </p:txBody>
      </p:sp>
      <p:graphicFrame>
        <p:nvGraphicFramePr>
          <p:cNvPr id="18" name="表格 17"/>
          <p:cNvGraphicFramePr>
            <a:graphicFrameLocks noGrp="1"/>
          </p:cNvGraphicFramePr>
          <p:nvPr/>
        </p:nvGraphicFramePr>
        <p:xfrm>
          <a:off x="5353050" y="1397000"/>
          <a:ext cx="3790950" cy="4565649"/>
        </p:xfrm>
        <a:graphic>
          <a:graphicData uri="http://schemas.openxmlformats.org/drawingml/2006/table">
            <a:tbl>
              <a:tblPr firstRow="1" bandRow="1">
                <a:tableStyleId>{5C22544A-7EE6-4342-B048-85BDC9FD1C3A}</a:tableStyleId>
              </a:tblPr>
              <a:tblGrid>
                <a:gridCol w="1263650">
                  <a:extLst>
                    <a:ext uri="{9D8B030D-6E8A-4147-A177-3AD203B41FA5}">
                      <a16:colId xmlns:a16="http://schemas.microsoft.com/office/drawing/2014/main" val="20000"/>
                    </a:ext>
                  </a:extLst>
                </a:gridCol>
                <a:gridCol w="1263650">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tblGrid>
              <a:tr h="1521883">
                <a:tc>
                  <a:txBody>
                    <a:bodyPr/>
                    <a:lstStyle/>
                    <a:p>
                      <a:r>
                        <a:rPr lang="zh-CN" altLang="en-US" sz="2400" dirty="0"/>
                        <a:t>    幅值</a:t>
                      </a:r>
                      <a:endParaRPr lang="en-US" altLang="zh-CN" sz="2400" dirty="0"/>
                    </a:p>
                    <a:p>
                      <a:r>
                        <a:rPr lang="en-US" altLang="zh-CN" sz="2400" dirty="0"/>
                        <a:t/>
                      </a:r>
                      <a:br>
                        <a:rPr lang="en-US" altLang="zh-CN" sz="2400" dirty="0"/>
                      </a:br>
                      <a:r>
                        <a:rPr lang="zh-CN" altLang="en-US" sz="2400" dirty="0"/>
                        <a:t>时间</a:t>
                      </a:r>
                    </a:p>
                  </a:txBody>
                  <a:tcPr/>
                </a:tc>
                <a:tc>
                  <a:txBody>
                    <a:bodyPr/>
                    <a:lstStyle/>
                    <a:p>
                      <a:endParaRPr lang="en-US" altLang="zh-CN" sz="2400" dirty="0"/>
                    </a:p>
                    <a:p>
                      <a:r>
                        <a:rPr lang="zh-CN" altLang="en-US" sz="2400" dirty="0"/>
                        <a:t>连续</a:t>
                      </a:r>
                    </a:p>
                  </a:txBody>
                  <a:tcPr/>
                </a:tc>
                <a:tc>
                  <a:txBody>
                    <a:bodyPr/>
                    <a:lstStyle/>
                    <a:p>
                      <a:endParaRPr lang="en-US" altLang="zh-CN" sz="2400" dirty="0"/>
                    </a:p>
                    <a:p>
                      <a:r>
                        <a:rPr lang="zh-CN" altLang="en-US" sz="2400" dirty="0"/>
                        <a:t>离散</a:t>
                      </a:r>
                    </a:p>
                  </a:txBody>
                  <a:tcPr/>
                </a:tc>
                <a:extLst>
                  <a:ext uri="{0D108BD9-81ED-4DB2-BD59-A6C34878D82A}">
                    <a16:rowId xmlns:a16="http://schemas.microsoft.com/office/drawing/2014/main" val="10000"/>
                  </a:ext>
                </a:extLst>
              </a:tr>
              <a:tr h="1521883">
                <a:tc>
                  <a:txBody>
                    <a:bodyPr/>
                    <a:lstStyle/>
                    <a:p>
                      <a:endParaRPr lang="en-US" altLang="zh-CN" sz="2400" dirty="0"/>
                    </a:p>
                    <a:p>
                      <a:r>
                        <a:rPr lang="zh-CN" altLang="en-US" sz="2400" dirty="0"/>
                        <a:t>连续</a:t>
                      </a:r>
                    </a:p>
                  </a:txBody>
                  <a:tcPr/>
                </a:tc>
                <a:tc>
                  <a:txBody>
                    <a:bodyPr/>
                    <a:lstStyle/>
                    <a:p>
                      <a:endParaRPr lang="en-US" altLang="zh-CN" sz="2400" dirty="0"/>
                    </a:p>
                    <a:p>
                      <a:r>
                        <a:rPr lang="zh-CN" altLang="en-US" sz="2400" dirty="0"/>
                        <a:t>模拟信号</a:t>
                      </a:r>
                    </a:p>
                  </a:txBody>
                  <a:tcPr/>
                </a:tc>
                <a:tc>
                  <a:txBody>
                    <a:bodyPr/>
                    <a:lstStyle/>
                    <a:p>
                      <a:endParaRPr lang="en-US" altLang="zh-CN" sz="2400" dirty="0"/>
                    </a:p>
                    <a:p>
                      <a:r>
                        <a:rPr lang="zh-CN" altLang="en-US" sz="2400" dirty="0"/>
                        <a:t>连续阶跃信号</a:t>
                      </a:r>
                    </a:p>
                  </a:txBody>
                  <a:tcPr/>
                </a:tc>
                <a:extLst>
                  <a:ext uri="{0D108BD9-81ED-4DB2-BD59-A6C34878D82A}">
                    <a16:rowId xmlns:a16="http://schemas.microsoft.com/office/drawing/2014/main" val="10001"/>
                  </a:ext>
                </a:extLst>
              </a:tr>
              <a:tr h="1521883">
                <a:tc>
                  <a:txBody>
                    <a:bodyPr/>
                    <a:lstStyle/>
                    <a:p>
                      <a:endParaRPr lang="en-US" altLang="zh-CN" sz="2400" dirty="0"/>
                    </a:p>
                    <a:p>
                      <a:r>
                        <a:rPr lang="zh-CN" altLang="en-US" sz="2400" dirty="0"/>
                        <a:t>离散</a:t>
                      </a:r>
                    </a:p>
                  </a:txBody>
                  <a:tcPr/>
                </a:tc>
                <a:tc>
                  <a:txBody>
                    <a:bodyPr/>
                    <a:lstStyle/>
                    <a:p>
                      <a:endParaRPr lang="en-US" altLang="zh-CN" sz="2400" dirty="0"/>
                    </a:p>
                    <a:p>
                      <a:r>
                        <a:rPr lang="zh-CN" altLang="en-US" sz="2400" dirty="0"/>
                        <a:t>离散序列信号</a:t>
                      </a:r>
                    </a:p>
                  </a:txBody>
                  <a:tcPr/>
                </a:tc>
                <a:tc>
                  <a:txBody>
                    <a:bodyPr/>
                    <a:lstStyle/>
                    <a:p>
                      <a:endParaRPr lang="en-US" altLang="zh-CN" sz="2400" dirty="0"/>
                    </a:p>
                    <a:p>
                      <a:r>
                        <a:rPr lang="zh-CN" altLang="en-US" sz="2400" dirty="0"/>
                        <a:t>数字信号</a:t>
                      </a:r>
                    </a:p>
                  </a:txBody>
                  <a:tcPr/>
                </a:tc>
                <a:extLst>
                  <a:ext uri="{0D108BD9-81ED-4DB2-BD59-A6C34878D82A}">
                    <a16:rowId xmlns:a16="http://schemas.microsoft.com/office/drawing/2014/main" val="10002"/>
                  </a:ext>
                </a:extLst>
              </a:tr>
            </a:tbl>
          </a:graphicData>
        </a:graphic>
      </p:graphicFrame>
      <p:cxnSp>
        <p:nvCxnSpPr>
          <p:cNvPr id="92184" name="直接连接符 19"/>
          <p:cNvCxnSpPr>
            <a:cxnSpLocks noChangeShapeType="1"/>
          </p:cNvCxnSpPr>
          <p:nvPr/>
        </p:nvCxnSpPr>
        <p:spPr bwMode="auto">
          <a:xfrm>
            <a:off x="5353050" y="1371600"/>
            <a:ext cx="1288670" cy="1475634"/>
          </a:xfrm>
          <a:prstGeom prst="line">
            <a:avLst/>
          </a:prstGeom>
          <a:noFill/>
          <a:ln w="19050" algn="ctr">
            <a:solidFill>
              <a:schemeClr val="tx1"/>
            </a:solidFill>
            <a:round/>
            <a:tailEnd type="triangle" w="sm" len="sm"/>
          </a:ln>
          <a:extLst>
            <a:ext uri="{909E8E84-426E-40DD-AFC4-6F175D3DCCD1}">
              <a14:hiddenFill xmlns:a14="http://schemas.microsoft.com/office/drawing/2010/main">
                <a:noFill/>
              </a14:hiddenFill>
            </a:ext>
          </a:extLst>
        </p:spPr>
      </p:cxnSp>
    </p:spTree>
  </p:cSld>
  <p:clrMapOvr>
    <a:masterClrMapping/>
  </p:clrMapOvr>
  <p:transition advTm="1110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40099">
                                            <p:txEl>
                                              <p:pRg st="0" end="0"/>
                                            </p:txEl>
                                          </p:spTgt>
                                        </p:tgtEl>
                                        <p:attrNameLst>
                                          <p:attrName>style.visibility</p:attrName>
                                        </p:attrNameLst>
                                      </p:cBhvr>
                                      <p:to>
                                        <p:strVal val="visible"/>
                                      </p:to>
                                    </p:set>
                                    <p:anim calcmode="lin" valueType="num">
                                      <p:cBhvr>
                                        <p:cTn id="7" dur="1000" fill="hold"/>
                                        <p:tgtEl>
                                          <p:spTgt spid="154009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4009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40099">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540099">
                                            <p:txEl>
                                              <p:pRg st="1" end="1"/>
                                            </p:txEl>
                                          </p:spTgt>
                                        </p:tgtEl>
                                        <p:attrNameLst>
                                          <p:attrName>style.visibility</p:attrName>
                                        </p:attrNameLst>
                                      </p:cBhvr>
                                      <p:to>
                                        <p:strVal val="visible"/>
                                      </p:to>
                                    </p:set>
                                    <p:anim calcmode="lin" valueType="num">
                                      <p:cBhvr>
                                        <p:cTn id="13" dur="1000" fill="hold"/>
                                        <p:tgtEl>
                                          <p:spTgt spid="1540099">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1540099">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1540099">
                                            <p:txEl>
                                              <p:pRg st="1" end="1"/>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540099">
                                            <p:txEl>
                                              <p:pRg st="2" end="2"/>
                                            </p:txEl>
                                          </p:spTgt>
                                        </p:tgtEl>
                                        <p:attrNameLst>
                                          <p:attrName>style.visibility</p:attrName>
                                        </p:attrNameLst>
                                      </p:cBhvr>
                                      <p:to>
                                        <p:strVal val="visible"/>
                                      </p:to>
                                    </p:set>
                                    <p:anim calcmode="lin" valueType="num">
                                      <p:cBhvr>
                                        <p:cTn id="19" dur="1000" fill="hold"/>
                                        <p:tgtEl>
                                          <p:spTgt spid="1540099">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1540099">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154009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1540099">
                                            <p:txEl>
                                              <p:pRg st="3" end="3"/>
                                            </p:txEl>
                                          </p:spTgt>
                                        </p:tgtEl>
                                        <p:attrNameLst>
                                          <p:attrName>style.visibility</p:attrName>
                                        </p:attrNameLst>
                                      </p:cBhvr>
                                      <p:to>
                                        <p:strVal val="visible"/>
                                      </p:to>
                                    </p:set>
                                    <p:anim calcmode="lin" valueType="num">
                                      <p:cBhvr>
                                        <p:cTn id="26" dur="1000" fill="hold"/>
                                        <p:tgtEl>
                                          <p:spTgt spid="1540099">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540099">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540099">
                                            <p:txEl>
                                              <p:pRg st="3" end="3"/>
                                            </p:txEl>
                                          </p:spTgt>
                                        </p:tgtEl>
                                      </p:cBhvr>
                                    </p:animEffect>
                                  </p:childTnLst>
                                </p:cTn>
                              </p:par>
                            </p:childTnLst>
                          </p:cTn>
                        </p:par>
                        <p:par>
                          <p:cTn id="29" fill="hold">
                            <p:stCondLst>
                              <p:cond delay="1000"/>
                            </p:stCondLst>
                            <p:childTnLst>
                              <p:par>
                                <p:cTn id="30" presetID="55" presetClass="entr" presetSubtype="0" fill="hold" nodeType="afterEffect">
                                  <p:stCondLst>
                                    <p:cond delay="0"/>
                                  </p:stCondLst>
                                  <p:childTnLst>
                                    <p:set>
                                      <p:cBhvr>
                                        <p:cTn id="31" dur="1" fill="hold">
                                          <p:stCondLst>
                                            <p:cond delay="0"/>
                                          </p:stCondLst>
                                        </p:cTn>
                                        <p:tgtEl>
                                          <p:spTgt spid="1540099">
                                            <p:txEl>
                                              <p:pRg st="4" end="4"/>
                                            </p:txEl>
                                          </p:spTgt>
                                        </p:tgtEl>
                                        <p:attrNameLst>
                                          <p:attrName>style.visibility</p:attrName>
                                        </p:attrNameLst>
                                      </p:cBhvr>
                                      <p:to>
                                        <p:strVal val="visible"/>
                                      </p:to>
                                    </p:set>
                                    <p:anim calcmode="lin" valueType="num">
                                      <p:cBhvr>
                                        <p:cTn id="32" dur="1000" fill="hold"/>
                                        <p:tgtEl>
                                          <p:spTgt spid="1540099">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1540099">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1540099">
                                            <p:txEl>
                                              <p:pRg st="4" end="4"/>
                                            </p:txEl>
                                          </p:spTgt>
                                        </p:tgtEl>
                                      </p:cBhvr>
                                    </p:animEffect>
                                  </p:childTnLst>
                                </p:cTn>
                              </p:par>
                            </p:childTnLst>
                          </p:cTn>
                        </p:par>
                        <p:par>
                          <p:cTn id="35" fill="hold">
                            <p:stCondLst>
                              <p:cond delay="2000"/>
                            </p:stCondLst>
                            <p:childTnLst>
                              <p:par>
                                <p:cTn id="36" presetID="55" presetClass="entr" presetSubtype="0" fill="hold" nodeType="afterEffect">
                                  <p:stCondLst>
                                    <p:cond delay="0"/>
                                  </p:stCondLst>
                                  <p:childTnLst>
                                    <p:set>
                                      <p:cBhvr>
                                        <p:cTn id="37" dur="1" fill="hold">
                                          <p:stCondLst>
                                            <p:cond delay="0"/>
                                          </p:stCondLst>
                                        </p:cTn>
                                        <p:tgtEl>
                                          <p:spTgt spid="1540099">
                                            <p:txEl>
                                              <p:pRg st="5" end="5"/>
                                            </p:txEl>
                                          </p:spTgt>
                                        </p:tgtEl>
                                        <p:attrNameLst>
                                          <p:attrName>style.visibility</p:attrName>
                                        </p:attrNameLst>
                                      </p:cBhvr>
                                      <p:to>
                                        <p:strVal val="visible"/>
                                      </p:to>
                                    </p:set>
                                    <p:anim calcmode="lin" valueType="num">
                                      <p:cBhvr>
                                        <p:cTn id="38" dur="1000" fill="hold"/>
                                        <p:tgtEl>
                                          <p:spTgt spid="1540099">
                                            <p:txEl>
                                              <p:pRg st="5" end="5"/>
                                            </p:txEl>
                                          </p:spTgt>
                                        </p:tgtEl>
                                        <p:attrNameLst>
                                          <p:attrName>ppt_w</p:attrName>
                                        </p:attrNameLst>
                                      </p:cBhvr>
                                      <p:tavLst>
                                        <p:tav tm="0">
                                          <p:val>
                                            <p:strVal val="#ppt_w*0.70"/>
                                          </p:val>
                                        </p:tav>
                                        <p:tav tm="100000">
                                          <p:val>
                                            <p:strVal val="#ppt_w"/>
                                          </p:val>
                                        </p:tav>
                                      </p:tavLst>
                                    </p:anim>
                                    <p:anim calcmode="lin" valueType="num">
                                      <p:cBhvr>
                                        <p:cTn id="39" dur="1000" fill="hold"/>
                                        <p:tgtEl>
                                          <p:spTgt spid="1540099">
                                            <p:txEl>
                                              <p:pRg st="5" end="5"/>
                                            </p:txEl>
                                          </p:spTgt>
                                        </p:tgtEl>
                                        <p:attrNameLst>
                                          <p:attrName>ppt_h</p:attrName>
                                        </p:attrNameLst>
                                      </p:cBhvr>
                                      <p:tavLst>
                                        <p:tav tm="0">
                                          <p:val>
                                            <p:strVal val="#ppt_h"/>
                                          </p:val>
                                        </p:tav>
                                        <p:tav tm="100000">
                                          <p:val>
                                            <p:strVal val="#ppt_h"/>
                                          </p:val>
                                        </p:tav>
                                      </p:tavLst>
                                    </p:anim>
                                    <p:animEffect transition="in" filter="fade">
                                      <p:cBhvr>
                                        <p:cTn id="40" dur="1000"/>
                                        <p:tgtEl>
                                          <p:spTgt spid="1540099">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218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3138488" y="839788"/>
            <a:ext cx="4098925" cy="465137"/>
          </a:xfrm>
        </p:spPr>
        <p:txBody>
          <a:bodyPr/>
          <a:lstStyle/>
          <a:p>
            <a:r>
              <a:rPr lang="zh-CN" altLang="en-US" sz="2200" b="1">
                <a:solidFill>
                  <a:srgbClr val="0000FF"/>
                </a:solidFill>
                <a:ea typeface="黑体" panose="02010609060101010101" pitchFamily="49" charset="-122"/>
              </a:rPr>
              <a:t>周期性信号与非周期性信号</a:t>
            </a:r>
          </a:p>
        </p:txBody>
      </p:sp>
      <p:sp>
        <p:nvSpPr>
          <p:cNvPr id="1543171" name="Rectangle 3"/>
          <p:cNvSpPr>
            <a:spLocks noGrp="1" noChangeArrowheads="1"/>
          </p:cNvSpPr>
          <p:nvPr>
            <p:ph type="body" sz="half" idx="1"/>
          </p:nvPr>
        </p:nvSpPr>
        <p:spPr>
          <a:xfrm>
            <a:off x="0" y="1406525"/>
            <a:ext cx="4770438" cy="5029200"/>
          </a:xfrm>
          <a:solidFill>
            <a:schemeClr val="bg1"/>
          </a:solidFill>
          <a:ln w="57150">
            <a:solidFill>
              <a:schemeClr val="tx1"/>
            </a:solidFill>
            <a:miter lim="800000"/>
          </a:ln>
          <a:effectLst>
            <a:prstShdw prst="shdw12">
              <a:srgbClr val="808080">
                <a:alpha val="50000"/>
              </a:srgbClr>
            </a:prstShdw>
          </a:effectLst>
        </p:spPr>
        <p:txBody>
          <a:bodyPr/>
          <a:lstStyle/>
          <a:p>
            <a:pPr>
              <a:lnSpc>
                <a:spcPct val="150000"/>
              </a:lnSpc>
              <a:buFont typeface="Wingdings" panose="05000000000000000000" pitchFamily="2" charset="2"/>
              <a:buChar char="l"/>
            </a:pPr>
            <a:r>
              <a:rPr lang="zh-CN" altLang="en-US" sz="1700" b="1">
                <a:solidFill>
                  <a:srgbClr val="FF0000"/>
                </a:solidFill>
              </a:rPr>
              <a:t>周期信号</a:t>
            </a:r>
            <a:r>
              <a:rPr lang="zh-CN" altLang="en-US" sz="1700" b="1"/>
              <a:t>是定义在（－∞，∞）区间，每隔一定时间</a:t>
            </a:r>
            <a:r>
              <a:rPr lang="en-US" altLang="zh-CN" sz="1700" b="1"/>
              <a:t>T</a:t>
            </a:r>
            <a:r>
              <a:rPr lang="zh-CN" altLang="en-US" sz="1700" b="1"/>
              <a:t>或整数</a:t>
            </a:r>
            <a:r>
              <a:rPr lang="en-US" altLang="zh-CN" sz="1700" b="1"/>
              <a:t>K</a:t>
            </a:r>
            <a:r>
              <a:rPr lang="zh-CN" altLang="en-US" sz="1700" b="1"/>
              <a:t>（最小值），按</a:t>
            </a:r>
            <a:r>
              <a:rPr lang="zh-CN" altLang="en-US" sz="1700" b="1">
                <a:solidFill>
                  <a:srgbClr val="FF0000"/>
                </a:solidFill>
              </a:rPr>
              <a:t>相同规律重复变化</a:t>
            </a:r>
            <a:r>
              <a:rPr lang="zh-CN" altLang="en-US" sz="1700" b="1"/>
              <a:t>的信号。</a:t>
            </a:r>
          </a:p>
          <a:p>
            <a:pPr>
              <a:lnSpc>
                <a:spcPct val="150000"/>
              </a:lnSpc>
              <a:buFont typeface="Wingdings" panose="05000000000000000000" pitchFamily="2" charset="2"/>
              <a:buChar char="l"/>
            </a:pPr>
            <a:r>
              <a:rPr lang="zh-CN" altLang="en-US" sz="1700" b="1"/>
              <a:t>它的数字表示可写成：</a:t>
            </a:r>
          </a:p>
          <a:p>
            <a:pPr>
              <a:lnSpc>
                <a:spcPct val="150000"/>
              </a:lnSpc>
              <a:buFont typeface="Wingdings" panose="05000000000000000000" pitchFamily="2" charset="2"/>
              <a:buNone/>
            </a:pPr>
            <a:r>
              <a:rPr lang="zh-CN" altLang="en-US" sz="1700" b="1"/>
              <a:t>     连续信号：</a:t>
            </a:r>
            <a:r>
              <a:rPr lang="en-US" altLang="zh-CN" sz="1700" b="1"/>
              <a:t>f(t)=f(t</a:t>
            </a:r>
            <a:r>
              <a:rPr lang="zh-CN" altLang="en-US" sz="1700" b="1"/>
              <a:t>＋</a:t>
            </a:r>
            <a:r>
              <a:rPr lang="en-US" altLang="zh-CN" sz="1700" b="1"/>
              <a:t>mT)</a:t>
            </a:r>
            <a:r>
              <a:rPr lang="zh-CN" altLang="en-US" sz="1700" b="1"/>
              <a:t>， </a:t>
            </a:r>
            <a:r>
              <a:rPr lang="en-US" altLang="zh-CN" sz="1700" b="1"/>
              <a:t>m=0</a:t>
            </a:r>
            <a:r>
              <a:rPr lang="zh-CN" altLang="en-US" sz="1700" b="1"/>
              <a:t>，</a:t>
            </a:r>
            <a:r>
              <a:rPr lang="en-US" altLang="zh-CN" sz="1700" b="1"/>
              <a:t>±1…</a:t>
            </a:r>
          </a:p>
          <a:p>
            <a:pPr>
              <a:lnSpc>
                <a:spcPct val="150000"/>
              </a:lnSpc>
              <a:buFont typeface="Wingdings" panose="05000000000000000000" pitchFamily="2" charset="2"/>
              <a:buNone/>
            </a:pPr>
            <a:r>
              <a:rPr lang="en-US" altLang="zh-CN" sz="1700" b="1"/>
              <a:t>    </a:t>
            </a:r>
            <a:r>
              <a:rPr lang="zh-CN" altLang="en-US" sz="1700" b="1"/>
              <a:t>离散信号：</a:t>
            </a:r>
            <a:r>
              <a:rPr lang="en-US" altLang="zh-CN" sz="1700" b="1"/>
              <a:t>f[n]=f(n</a:t>
            </a:r>
            <a:r>
              <a:rPr lang="zh-CN" altLang="en-US" sz="1700" b="1"/>
              <a:t>＋</a:t>
            </a:r>
            <a:r>
              <a:rPr lang="en-US" altLang="zh-CN" sz="1700" b="1"/>
              <a:t>mK)</a:t>
            </a:r>
            <a:r>
              <a:rPr lang="zh-CN" altLang="en-US" sz="1700" b="1"/>
              <a:t>，</a:t>
            </a:r>
            <a:r>
              <a:rPr lang="en-US" altLang="zh-CN" sz="1700" b="1"/>
              <a:t>m=0</a:t>
            </a:r>
            <a:r>
              <a:rPr lang="zh-CN" altLang="en-US" sz="1700" b="1"/>
              <a:t>，</a:t>
            </a:r>
            <a:r>
              <a:rPr lang="en-US" altLang="zh-CN" sz="1700" b="1"/>
              <a:t>±1…</a:t>
            </a:r>
            <a:r>
              <a:rPr lang="zh-CN" altLang="en-US" sz="1700" b="1"/>
              <a:t>，满足以上关系式的最小</a:t>
            </a:r>
            <a:r>
              <a:rPr lang="en-US" altLang="zh-CN" sz="1700" b="1"/>
              <a:t>T</a:t>
            </a:r>
            <a:r>
              <a:rPr lang="zh-CN" altLang="en-US" sz="1700" b="1"/>
              <a:t>（或</a:t>
            </a:r>
            <a:r>
              <a:rPr lang="en-US" altLang="zh-CN" sz="1700" b="1"/>
              <a:t>K</a:t>
            </a:r>
            <a:r>
              <a:rPr lang="zh-CN" altLang="en-US" sz="1700" b="1"/>
              <a:t>）值，称为该信号的重复周期，只要给出周期信号在任一周期内的函数式，便可确知它在任一时刻的数值。</a:t>
            </a:r>
          </a:p>
          <a:p>
            <a:pPr>
              <a:lnSpc>
                <a:spcPct val="150000"/>
              </a:lnSpc>
              <a:buFont typeface="Wingdings" panose="05000000000000000000" pitchFamily="2" charset="2"/>
              <a:buChar char="l"/>
            </a:pPr>
            <a:r>
              <a:rPr lang="zh-CN" altLang="en-US" sz="1700" b="1">
                <a:solidFill>
                  <a:srgbClr val="FF0000"/>
                </a:solidFill>
              </a:rPr>
              <a:t>不具有周期性</a:t>
            </a:r>
            <a:r>
              <a:rPr lang="zh-CN" altLang="en-US" sz="1700" b="1"/>
              <a:t>的信号称为</a:t>
            </a:r>
            <a:r>
              <a:rPr lang="zh-CN" altLang="en-US" sz="1700" b="1">
                <a:solidFill>
                  <a:srgbClr val="FF0000"/>
                </a:solidFill>
              </a:rPr>
              <a:t>非周期信号</a:t>
            </a:r>
            <a:r>
              <a:rPr lang="zh-CN" altLang="en-US" sz="1700" b="1"/>
              <a:t>。</a:t>
            </a:r>
            <a:br>
              <a:rPr lang="zh-CN" altLang="en-US" sz="1700" b="1"/>
            </a:br>
            <a:endParaRPr lang="zh-CN" altLang="en-US" sz="1700" b="1"/>
          </a:p>
        </p:txBody>
      </p:sp>
      <p:sp>
        <p:nvSpPr>
          <p:cNvPr id="94212" name="Rectangle 6"/>
          <p:cNvSpPr>
            <a:spLocks noChangeArrowheads="1"/>
          </p:cNvSpPr>
          <p:nvPr/>
        </p:nvSpPr>
        <p:spPr bwMode="auto">
          <a:xfrm>
            <a:off x="74613" y="525463"/>
            <a:ext cx="2819400"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grpSp>
        <p:nvGrpSpPr>
          <p:cNvPr id="2" name="Group 7"/>
          <p:cNvGrpSpPr/>
          <p:nvPr/>
        </p:nvGrpSpPr>
        <p:grpSpPr bwMode="auto">
          <a:xfrm>
            <a:off x="4873625" y="1511300"/>
            <a:ext cx="3887788" cy="2127250"/>
            <a:chOff x="617" y="1231"/>
            <a:chExt cx="3441" cy="1862"/>
          </a:xfrm>
        </p:grpSpPr>
        <p:graphicFrame>
          <p:nvGraphicFramePr>
            <p:cNvPr id="94218" name="Object 2"/>
            <p:cNvGraphicFramePr>
              <a:graphicFrameLocks noChangeAspect="1"/>
            </p:cNvGraphicFramePr>
            <p:nvPr/>
          </p:nvGraphicFramePr>
          <p:xfrm>
            <a:off x="617" y="1231"/>
            <a:ext cx="3441" cy="1549"/>
          </p:xfrm>
          <a:graphic>
            <a:graphicData uri="http://schemas.openxmlformats.org/presentationml/2006/ole">
              <mc:AlternateContent xmlns:mc="http://schemas.openxmlformats.org/markup-compatibility/2006">
                <mc:Choice xmlns:v="urn:schemas-microsoft-com:vml" Requires="v">
                  <p:oleObj spid="_x0000_s4118" name="Visio" r:id="rId5" imgW="2058035" imgH="972820" progId="Visio.Drawing.11">
                    <p:embed/>
                  </p:oleObj>
                </mc:Choice>
                <mc:Fallback>
                  <p:oleObj name="Visio" r:id="rId5" imgW="2058035" imgH="972820" progId="Visio.Drawing.11">
                    <p:embed/>
                    <p:pic>
                      <p:nvPicPr>
                        <p:cNvPr id="0" name="图片 409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 y="1231"/>
                          <a:ext cx="3441" cy="1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9" name="Rectangle 9"/>
            <p:cNvSpPr>
              <a:spLocks noChangeArrowheads="1"/>
            </p:cNvSpPr>
            <p:nvPr/>
          </p:nvSpPr>
          <p:spPr bwMode="auto">
            <a:xfrm>
              <a:off x="1356" y="2749"/>
              <a:ext cx="166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a:latin typeface="Times New Roman" panose="02020603050405020304" pitchFamily="18" charset="0"/>
                  <a:ea typeface="宋体" panose="02010600030101010101" pitchFamily="2" charset="-122"/>
                </a:rPr>
                <a:t>连续周期信号</a:t>
              </a:r>
            </a:p>
          </p:txBody>
        </p:sp>
      </p:grpSp>
      <p:grpSp>
        <p:nvGrpSpPr>
          <p:cNvPr id="3" name="Group 10"/>
          <p:cNvGrpSpPr/>
          <p:nvPr/>
        </p:nvGrpSpPr>
        <p:grpSpPr bwMode="auto">
          <a:xfrm>
            <a:off x="4884738" y="4051300"/>
            <a:ext cx="4049712" cy="2119313"/>
            <a:chOff x="4200" y="1174"/>
            <a:chExt cx="3770" cy="1855"/>
          </a:xfrm>
        </p:grpSpPr>
        <p:pic>
          <p:nvPicPr>
            <p:cNvPr id="94216"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b="11543"/>
            <a:stretch>
              <a:fillRect/>
            </a:stretch>
          </p:blipFill>
          <p:spPr bwMode="auto">
            <a:xfrm>
              <a:off x="4200" y="1174"/>
              <a:ext cx="3770" cy="1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7" name="Rectangle 12"/>
            <p:cNvSpPr>
              <a:spLocks noChangeArrowheads="1"/>
            </p:cNvSpPr>
            <p:nvPr/>
          </p:nvSpPr>
          <p:spPr bwMode="auto">
            <a:xfrm>
              <a:off x="5457" y="2685"/>
              <a:ext cx="166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a:latin typeface="Times New Roman" panose="02020603050405020304" pitchFamily="18" charset="0"/>
                  <a:ea typeface="宋体" panose="02010600030101010101" pitchFamily="2" charset="-122"/>
                </a:rPr>
                <a:t>离散周期信号</a:t>
              </a:r>
            </a:p>
          </p:txBody>
        </p:sp>
      </p:grpSp>
      <p:sp>
        <p:nvSpPr>
          <p:cNvPr id="14" name="日期占位符 13"/>
          <p:cNvSpPr>
            <a:spLocks noGrp="1"/>
          </p:cNvSpPr>
          <p:nvPr>
            <p:ph type="dt" sz="quarter" idx="10"/>
          </p:nvPr>
        </p:nvSpPr>
        <p:spPr>
          <a:xfrm>
            <a:off x="-52388" y="6475413"/>
            <a:ext cx="1422401" cy="382587"/>
          </a:xfrm>
        </p:spPr>
        <p:txBody>
          <a:bodyPr/>
          <a:lstStyle/>
          <a:p>
            <a:pPr>
              <a:defRPr/>
            </a:pPr>
            <a:fld id="{2C074468-53DC-4149-81F0-FE06BDFB2694}" type="datetime3">
              <a:rPr lang="zh-CN" altLang="en-US"/>
              <a:t>2026年3月4日星期三</a:t>
            </a:fld>
            <a:endParaRPr lang="zh-CN" altLang="en-US" dirty="0"/>
          </a:p>
        </p:txBody>
      </p:sp>
    </p:spTree>
    <p:custDataLst>
      <p:tags r:id="rId2"/>
    </p:custDataLst>
  </p:cSld>
  <p:clrMapOvr>
    <a:masterClrMapping/>
  </p:clrMapOvr>
  <p:transition advTm="6088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43171">
                                            <p:txEl>
                                              <p:pRg st="0" end="0"/>
                                            </p:txEl>
                                          </p:spTgt>
                                        </p:tgtEl>
                                        <p:attrNameLst>
                                          <p:attrName>style.visibility</p:attrName>
                                        </p:attrNameLst>
                                      </p:cBhvr>
                                      <p:to>
                                        <p:strVal val="visible"/>
                                      </p:to>
                                    </p:set>
                                    <p:anim calcmode="lin" valueType="num">
                                      <p:cBhvr>
                                        <p:cTn id="7" dur="1000" fill="hold"/>
                                        <p:tgtEl>
                                          <p:spTgt spid="154317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4317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4317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43171">
                                            <p:txEl>
                                              <p:pRg st="1" end="1"/>
                                            </p:txEl>
                                          </p:spTgt>
                                        </p:tgtEl>
                                        <p:attrNameLst>
                                          <p:attrName>style.visibility</p:attrName>
                                        </p:attrNameLst>
                                      </p:cBhvr>
                                      <p:to>
                                        <p:strVal val="visible"/>
                                      </p:to>
                                    </p:set>
                                    <p:anim calcmode="lin" valueType="num">
                                      <p:cBhvr>
                                        <p:cTn id="14" dur="1000" fill="hold"/>
                                        <p:tgtEl>
                                          <p:spTgt spid="1543171">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43171">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43171">
                                            <p:txEl>
                                              <p:pRg st="1" end="1"/>
                                            </p:txEl>
                                          </p:spTgt>
                                        </p:tgtEl>
                                      </p:cBhvr>
                                    </p:animEffect>
                                  </p:childTnLst>
                                </p:cTn>
                              </p:par>
                              <p:par>
                                <p:cTn id="17" presetID="55" presetClass="entr" presetSubtype="0" fill="hold" nodeType="withEffect">
                                  <p:stCondLst>
                                    <p:cond delay="0"/>
                                  </p:stCondLst>
                                  <p:childTnLst>
                                    <p:set>
                                      <p:cBhvr>
                                        <p:cTn id="18" dur="1" fill="hold">
                                          <p:stCondLst>
                                            <p:cond delay="0"/>
                                          </p:stCondLst>
                                        </p:cTn>
                                        <p:tgtEl>
                                          <p:spTgt spid="1543171">
                                            <p:txEl>
                                              <p:pRg st="2" end="2"/>
                                            </p:txEl>
                                          </p:spTgt>
                                        </p:tgtEl>
                                        <p:attrNameLst>
                                          <p:attrName>style.visibility</p:attrName>
                                        </p:attrNameLst>
                                      </p:cBhvr>
                                      <p:to>
                                        <p:strVal val="visible"/>
                                      </p:to>
                                    </p:set>
                                    <p:anim calcmode="lin" valueType="num">
                                      <p:cBhvr>
                                        <p:cTn id="19" dur="1000" fill="hold"/>
                                        <p:tgtEl>
                                          <p:spTgt spid="1543171">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1543171">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1543171">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1543171">
                                            <p:txEl>
                                              <p:pRg st="3" end="3"/>
                                            </p:txEl>
                                          </p:spTgt>
                                        </p:tgtEl>
                                        <p:attrNameLst>
                                          <p:attrName>style.visibility</p:attrName>
                                        </p:attrNameLst>
                                      </p:cBhvr>
                                      <p:to>
                                        <p:strVal val="visible"/>
                                      </p:to>
                                    </p:set>
                                    <p:anim calcmode="lin" valueType="num">
                                      <p:cBhvr>
                                        <p:cTn id="26" dur="1000" fill="hold"/>
                                        <p:tgtEl>
                                          <p:spTgt spid="1543171">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543171">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543171">
                                            <p:txEl>
                                              <p:pRg st="3" end="3"/>
                                            </p:txEl>
                                          </p:spTgt>
                                        </p:tgtEl>
                                      </p:cBhvr>
                                    </p:animEffect>
                                  </p:childTnLst>
                                </p:cTn>
                              </p:par>
                            </p:childTnLst>
                          </p:cTn>
                        </p:par>
                        <p:par>
                          <p:cTn id="29" fill="hold">
                            <p:stCondLst>
                              <p:cond delay="1000"/>
                            </p:stCondLst>
                            <p:childTnLst>
                              <p:par>
                                <p:cTn id="30" presetID="55" presetClass="entr" presetSubtype="0"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1000" fill="hold"/>
                                        <p:tgtEl>
                                          <p:spTgt spid="2"/>
                                        </p:tgtEl>
                                        <p:attrNameLst>
                                          <p:attrName>ppt_w</p:attrName>
                                        </p:attrNameLst>
                                      </p:cBhvr>
                                      <p:tavLst>
                                        <p:tav tm="0">
                                          <p:val>
                                            <p:strVal val="#ppt_w*0.70"/>
                                          </p:val>
                                        </p:tav>
                                        <p:tav tm="100000">
                                          <p:val>
                                            <p:strVal val="#ppt_w"/>
                                          </p:val>
                                        </p:tav>
                                      </p:tavLst>
                                    </p:anim>
                                    <p:anim calcmode="lin" valueType="num">
                                      <p:cBhvr>
                                        <p:cTn id="33" dur="1000" fill="hold"/>
                                        <p:tgtEl>
                                          <p:spTgt spid="2"/>
                                        </p:tgtEl>
                                        <p:attrNameLst>
                                          <p:attrName>ppt_h</p:attrName>
                                        </p:attrNameLst>
                                      </p:cBhvr>
                                      <p:tavLst>
                                        <p:tav tm="0">
                                          <p:val>
                                            <p:strVal val="#ppt_h"/>
                                          </p:val>
                                        </p:tav>
                                        <p:tav tm="100000">
                                          <p:val>
                                            <p:strVal val="#ppt_h"/>
                                          </p:val>
                                        </p:tav>
                                      </p:tavLst>
                                    </p:anim>
                                    <p:animEffect transition="in" filter="fade">
                                      <p:cBhvr>
                                        <p:cTn id="34" dur="1000"/>
                                        <p:tgtEl>
                                          <p:spTgt spid="2"/>
                                        </p:tgtEl>
                                      </p:cBhvr>
                                    </p:animEffect>
                                  </p:childTnLst>
                                </p:cTn>
                              </p:par>
                            </p:childTnLst>
                          </p:cTn>
                        </p:par>
                        <p:par>
                          <p:cTn id="35" fill="hold">
                            <p:stCondLst>
                              <p:cond delay="2000"/>
                            </p:stCondLst>
                            <p:childTnLst>
                              <p:par>
                                <p:cTn id="36" presetID="55" presetClass="entr" presetSubtype="0"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p:cTn id="38" dur="1000" fill="hold"/>
                                        <p:tgtEl>
                                          <p:spTgt spid="3"/>
                                        </p:tgtEl>
                                        <p:attrNameLst>
                                          <p:attrName>ppt_w</p:attrName>
                                        </p:attrNameLst>
                                      </p:cBhvr>
                                      <p:tavLst>
                                        <p:tav tm="0">
                                          <p:val>
                                            <p:strVal val="#ppt_w*0.70"/>
                                          </p:val>
                                        </p:tav>
                                        <p:tav tm="100000">
                                          <p:val>
                                            <p:strVal val="#ppt_w"/>
                                          </p:val>
                                        </p:tav>
                                      </p:tavLst>
                                    </p:anim>
                                    <p:anim calcmode="lin" valueType="num">
                                      <p:cBhvr>
                                        <p:cTn id="39" dur="1000" fill="hold"/>
                                        <p:tgtEl>
                                          <p:spTgt spid="3"/>
                                        </p:tgtEl>
                                        <p:attrNameLst>
                                          <p:attrName>ppt_h</p:attrName>
                                        </p:attrNameLst>
                                      </p:cBhvr>
                                      <p:tavLst>
                                        <p:tav tm="0">
                                          <p:val>
                                            <p:strVal val="#ppt_h"/>
                                          </p:val>
                                        </p:tav>
                                        <p:tav tm="100000">
                                          <p:val>
                                            <p:strVal val="#ppt_h"/>
                                          </p:val>
                                        </p:tav>
                                      </p:tavLst>
                                    </p:anim>
                                    <p:animEffect transition="in" filter="fade">
                                      <p:cBhvr>
                                        <p:cTn id="40" dur="10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nodeType="clickEffect">
                                  <p:stCondLst>
                                    <p:cond delay="0"/>
                                  </p:stCondLst>
                                  <p:childTnLst>
                                    <p:set>
                                      <p:cBhvr>
                                        <p:cTn id="44" dur="1" fill="hold">
                                          <p:stCondLst>
                                            <p:cond delay="0"/>
                                          </p:stCondLst>
                                        </p:cTn>
                                        <p:tgtEl>
                                          <p:spTgt spid="1543171">
                                            <p:txEl>
                                              <p:pRg st="4" end="4"/>
                                            </p:txEl>
                                          </p:spTgt>
                                        </p:tgtEl>
                                        <p:attrNameLst>
                                          <p:attrName>style.visibility</p:attrName>
                                        </p:attrNameLst>
                                      </p:cBhvr>
                                      <p:to>
                                        <p:strVal val="visible"/>
                                      </p:to>
                                    </p:set>
                                    <p:anim calcmode="lin" valueType="num">
                                      <p:cBhvr>
                                        <p:cTn id="45" dur="1000" fill="hold"/>
                                        <p:tgtEl>
                                          <p:spTgt spid="1543171">
                                            <p:txEl>
                                              <p:pRg st="4" end="4"/>
                                            </p:txEl>
                                          </p:spTgt>
                                        </p:tgtEl>
                                        <p:attrNameLst>
                                          <p:attrName>ppt_w</p:attrName>
                                        </p:attrNameLst>
                                      </p:cBhvr>
                                      <p:tavLst>
                                        <p:tav tm="0">
                                          <p:val>
                                            <p:strVal val="#ppt_w*0.70"/>
                                          </p:val>
                                        </p:tav>
                                        <p:tav tm="100000">
                                          <p:val>
                                            <p:strVal val="#ppt_w"/>
                                          </p:val>
                                        </p:tav>
                                      </p:tavLst>
                                    </p:anim>
                                    <p:anim calcmode="lin" valueType="num">
                                      <p:cBhvr>
                                        <p:cTn id="46" dur="1000" fill="hold"/>
                                        <p:tgtEl>
                                          <p:spTgt spid="1543171">
                                            <p:txEl>
                                              <p:pRg st="4" end="4"/>
                                            </p:txEl>
                                          </p:spTgt>
                                        </p:tgtEl>
                                        <p:attrNameLst>
                                          <p:attrName>ppt_h</p:attrName>
                                        </p:attrNameLst>
                                      </p:cBhvr>
                                      <p:tavLst>
                                        <p:tav tm="0">
                                          <p:val>
                                            <p:strVal val="#ppt_h"/>
                                          </p:val>
                                        </p:tav>
                                        <p:tav tm="100000">
                                          <p:val>
                                            <p:strVal val="#ppt_h"/>
                                          </p:val>
                                        </p:tav>
                                      </p:tavLst>
                                    </p:anim>
                                    <p:animEffect transition="in" filter="fade">
                                      <p:cBhvr>
                                        <p:cTn id="47" dur="1000"/>
                                        <p:tgtEl>
                                          <p:spTgt spid="1543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2941638" y="947738"/>
            <a:ext cx="3949700" cy="460375"/>
          </a:xfrm>
        </p:spPr>
        <p:txBody>
          <a:bodyPr/>
          <a:lstStyle/>
          <a:p>
            <a:r>
              <a:rPr lang="zh-CN" altLang="en-US" sz="2200" b="1">
                <a:solidFill>
                  <a:srgbClr val="0000FF"/>
                </a:solidFill>
                <a:ea typeface="黑体" panose="02010609060101010101" pitchFamily="49" charset="-122"/>
              </a:rPr>
              <a:t>周期性信号与非周期性信号</a:t>
            </a:r>
          </a:p>
        </p:txBody>
      </p:sp>
      <p:sp>
        <p:nvSpPr>
          <p:cNvPr id="96259" name="Rectangle 6"/>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1560590" name="Rectangle 14"/>
          <p:cNvSpPr>
            <a:spLocks noGrp="1" noChangeArrowheads="1"/>
          </p:cNvSpPr>
          <p:nvPr>
            <p:ph type="body" sz="half" idx="1"/>
          </p:nvPr>
        </p:nvSpPr>
        <p:spPr>
          <a:xfrm>
            <a:off x="698269" y="1484542"/>
            <a:ext cx="8068887" cy="3475383"/>
          </a:xfrm>
          <a:noFill/>
          <a:ln w="57150">
            <a:solidFill>
              <a:srgbClr val="FF0000"/>
            </a:solidFill>
            <a:miter lim="800000"/>
          </a:ln>
        </p:spPr>
        <p:txBody>
          <a:bodyPr/>
          <a:lstStyle/>
          <a:p>
            <a:pPr marL="0" indent="252730">
              <a:lnSpc>
                <a:spcPct val="180000"/>
              </a:lnSpc>
              <a:spcBef>
                <a:spcPct val="55000"/>
              </a:spcBef>
              <a:buFont typeface="Wingdings" panose="05000000000000000000" pitchFamily="2" charset="2"/>
              <a:buNone/>
            </a:pPr>
            <a:r>
              <a:rPr lang="zh-CN" altLang="en-US" sz="2800" b="1" dirty="0">
                <a:latin typeface="+mn-ea"/>
              </a:rPr>
              <a:t>思考：设</a:t>
            </a:r>
            <a:r>
              <a:rPr lang="en-US" altLang="zh-CN" sz="2800" b="1" dirty="0">
                <a:latin typeface="+mn-ea"/>
              </a:rPr>
              <a:t>f1(t)</a:t>
            </a:r>
            <a:r>
              <a:rPr lang="zh-CN" altLang="en-US" sz="2800" b="1" dirty="0">
                <a:latin typeface="+mn-ea"/>
              </a:rPr>
              <a:t>和</a:t>
            </a:r>
            <a:r>
              <a:rPr lang="en-US" altLang="zh-CN" sz="2800" b="1" dirty="0">
                <a:latin typeface="+mn-ea"/>
              </a:rPr>
              <a:t>f2(t)</a:t>
            </a:r>
            <a:r>
              <a:rPr lang="zh-CN" altLang="en-US" sz="2800" b="1" dirty="0">
                <a:latin typeface="+mn-ea"/>
              </a:rPr>
              <a:t>是基本周期分别为</a:t>
            </a:r>
            <a:r>
              <a:rPr lang="en-US" altLang="zh-CN" sz="2800" b="1" dirty="0">
                <a:latin typeface="+mn-ea"/>
              </a:rPr>
              <a:t>T1</a:t>
            </a:r>
            <a:r>
              <a:rPr lang="zh-CN" altLang="en-US" sz="2800" b="1" dirty="0">
                <a:latin typeface="+mn-ea"/>
              </a:rPr>
              <a:t>和</a:t>
            </a:r>
            <a:r>
              <a:rPr lang="en-US" altLang="zh-CN" sz="2800" b="1" dirty="0">
                <a:latin typeface="+mn-ea"/>
              </a:rPr>
              <a:t>T2</a:t>
            </a:r>
            <a:r>
              <a:rPr lang="zh-CN" altLang="en-US" sz="2800" b="1" dirty="0">
                <a:latin typeface="+mn-ea"/>
              </a:rPr>
              <a:t>的周期信号。如何证明：</a:t>
            </a:r>
            <a:endParaRPr lang="en-US" altLang="zh-CN" sz="2800" b="1" dirty="0">
              <a:latin typeface="+mn-ea"/>
            </a:endParaRPr>
          </a:p>
          <a:p>
            <a:pPr marL="0" indent="252730">
              <a:lnSpc>
                <a:spcPct val="180000"/>
              </a:lnSpc>
              <a:spcBef>
                <a:spcPct val="55000"/>
              </a:spcBef>
              <a:buFont typeface="Wingdings" panose="05000000000000000000" pitchFamily="2" charset="2"/>
              <a:buNone/>
            </a:pPr>
            <a:r>
              <a:rPr lang="en-US" altLang="zh-CN" sz="2800" b="1" dirty="0">
                <a:latin typeface="+mn-ea"/>
              </a:rPr>
              <a:t>f(t)=f1(t)+f2(t)</a:t>
            </a:r>
            <a:r>
              <a:rPr lang="zh-CN" altLang="en-US" sz="2800" b="1" dirty="0">
                <a:latin typeface="+mn-ea"/>
              </a:rPr>
              <a:t>为周期为</a:t>
            </a:r>
            <a:r>
              <a:rPr lang="en-US" altLang="zh-CN" sz="2800" b="1" dirty="0">
                <a:latin typeface="+mn-ea"/>
              </a:rPr>
              <a:t>T</a:t>
            </a:r>
            <a:r>
              <a:rPr lang="zh-CN" altLang="en-US" sz="2800" b="1" dirty="0">
                <a:latin typeface="+mn-ea"/>
              </a:rPr>
              <a:t>的周期信号的条件是，</a:t>
            </a:r>
            <a:r>
              <a:rPr lang="en-US" altLang="zh-CN" sz="2800" b="1" dirty="0">
                <a:latin typeface="+mn-ea"/>
              </a:rPr>
              <a:t>mT1=nT2=T</a:t>
            </a:r>
            <a:r>
              <a:rPr lang="zh-CN" altLang="en-US" sz="2800" b="1" dirty="0">
                <a:latin typeface="+mn-ea"/>
              </a:rPr>
              <a:t>（</a:t>
            </a:r>
            <a:r>
              <a:rPr lang="en-US" altLang="zh-CN" sz="2800" b="1" dirty="0">
                <a:latin typeface="+mn-ea"/>
              </a:rPr>
              <a:t>m</a:t>
            </a:r>
            <a:r>
              <a:rPr lang="zh-CN" altLang="en-US" sz="2800" b="1" dirty="0">
                <a:latin typeface="+mn-ea"/>
              </a:rPr>
              <a:t>，</a:t>
            </a:r>
            <a:r>
              <a:rPr lang="en-US" altLang="zh-CN" sz="2800" b="1" dirty="0">
                <a:latin typeface="+mn-ea"/>
              </a:rPr>
              <a:t>n</a:t>
            </a:r>
            <a:r>
              <a:rPr lang="zh-CN" altLang="en-US" sz="2800" b="1" dirty="0">
                <a:latin typeface="+mn-ea"/>
              </a:rPr>
              <a:t>为正整数）。</a:t>
            </a:r>
            <a:endParaRPr lang="zh-CN" altLang="en-US" sz="2000" b="1" dirty="0">
              <a:latin typeface="+mn-ea"/>
            </a:endParaRPr>
          </a:p>
        </p:txBody>
      </p:sp>
      <p:sp>
        <p:nvSpPr>
          <p:cNvPr id="8" name="日期占位符 7"/>
          <p:cNvSpPr>
            <a:spLocks noGrp="1"/>
          </p:cNvSpPr>
          <p:nvPr>
            <p:ph type="dt" sz="quarter" idx="10"/>
          </p:nvPr>
        </p:nvSpPr>
        <p:spPr/>
        <p:txBody>
          <a:bodyPr/>
          <a:lstStyle/>
          <a:p>
            <a:pPr>
              <a:defRPr/>
            </a:pPr>
            <a:fld id="{B3C66028-C4F8-47BB-BAE9-EA6EA458BEC0}" type="datetime3">
              <a:rPr lang="zh-CN" altLang="en-US"/>
              <a:t>2026年3月4日星期三</a:t>
            </a:fld>
            <a:endParaRPr lang="zh-CN" altLang="en-US" dirty="0"/>
          </a:p>
        </p:txBody>
      </p:sp>
    </p:spTree>
  </p:cSld>
  <p:clrMapOvr>
    <a:masterClrMapping/>
  </p:clrMapOvr>
  <p:transition advTm="17975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60590">
                                            <p:bg/>
                                          </p:spTgt>
                                        </p:tgtEl>
                                        <p:attrNameLst>
                                          <p:attrName>style.visibility</p:attrName>
                                        </p:attrNameLst>
                                      </p:cBhvr>
                                      <p:to>
                                        <p:strVal val="visible"/>
                                      </p:to>
                                    </p:set>
                                    <p:anim calcmode="lin" valueType="num">
                                      <p:cBhvr>
                                        <p:cTn id="7" dur="1000" fill="hold"/>
                                        <p:tgtEl>
                                          <p:spTgt spid="1560590">
                                            <p:bg/>
                                          </p:spTgt>
                                        </p:tgtEl>
                                        <p:attrNameLst>
                                          <p:attrName>ppt_w</p:attrName>
                                        </p:attrNameLst>
                                      </p:cBhvr>
                                      <p:tavLst>
                                        <p:tav tm="0">
                                          <p:val>
                                            <p:strVal val="#ppt_w*0.70"/>
                                          </p:val>
                                        </p:tav>
                                        <p:tav tm="100000">
                                          <p:val>
                                            <p:strVal val="#ppt_w"/>
                                          </p:val>
                                        </p:tav>
                                      </p:tavLst>
                                    </p:anim>
                                    <p:anim calcmode="lin" valueType="num">
                                      <p:cBhvr>
                                        <p:cTn id="8" dur="1000" fill="hold"/>
                                        <p:tgtEl>
                                          <p:spTgt spid="1560590">
                                            <p:bg/>
                                          </p:spTgt>
                                        </p:tgtEl>
                                        <p:attrNameLst>
                                          <p:attrName>ppt_h</p:attrName>
                                        </p:attrNameLst>
                                      </p:cBhvr>
                                      <p:tavLst>
                                        <p:tav tm="0">
                                          <p:val>
                                            <p:strVal val="#ppt_h"/>
                                          </p:val>
                                        </p:tav>
                                        <p:tav tm="100000">
                                          <p:val>
                                            <p:strVal val="#ppt_h"/>
                                          </p:val>
                                        </p:tav>
                                      </p:tavLst>
                                    </p:anim>
                                    <p:animEffect transition="in" filter="fade">
                                      <p:cBhvr>
                                        <p:cTn id="9" dur="1000"/>
                                        <p:tgtEl>
                                          <p:spTgt spid="1560590">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60590">
                                            <p:txEl>
                                              <p:pRg st="0" end="0"/>
                                            </p:txEl>
                                          </p:spTgt>
                                        </p:tgtEl>
                                        <p:attrNameLst>
                                          <p:attrName>style.visibility</p:attrName>
                                        </p:attrNameLst>
                                      </p:cBhvr>
                                      <p:to>
                                        <p:strVal val="visible"/>
                                      </p:to>
                                    </p:set>
                                    <p:anim calcmode="lin" valueType="num">
                                      <p:cBhvr>
                                        <p:cTn id="13" dur="1000" fill="hold"/>
                                        <p:tgtEl>
                                          <p:spTgt spid="1560590">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560590">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56059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560590">
                                            <p:txEl>
                                              <p:pRg st="1" end="1"/>
                                            </p:txEl>
                                          </p:spTgt>
                                        </p:tgtEl>
                                        <p:attrNameLst>
                                          <p:attrName>style.visibility</p:attrName>
                                        </p:attrNameLst>
                                      </p:cBhvr>
                                      <p:to>
                                        <p:strVal val="visible"/>
                                      </p:to>
                                    </p:set>
                                    <p:anim calcmode="lin" valueType="num">
                                      <p:cBhvr>
                                        <p:cTn id="20" dur="1000" fill="hold"/>
                                        <p:tgtEl>
                                          <p:spTgt spid="1560590">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1560590">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156059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0590" grpId="0" uiExpand="1"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2681288" y="715963"/>
            <a:ext cx="5494337" cy="641350"/>
          </a:xfrm>
        </p:spPr>
        <p:txBody>
          <a:bodyPr/>
          <a:lstStyle/>
          <a:p>
            <a:r>
              <a:rPr lang="zh-CN" altLang="en-US" sz="2200" b="1">
                <a:solidFill>
                  <a:srgbClr val="0000FF"/>
                </a:solidFill>
                <a:ea typeface="黑体" panose="02010609060101010101" pitchFamily="49" charset="-122"/>
              </a:rPr>
              <a:t>能量（有限）信号与功率（有限）信号</a:t>
            </a:r>
          </a:p>
        </p:txBody>
      </p:sp>
      <p:sp>
        <p:nvSpPr>
          <p:cNvPr id="1545219" name="Rectangle 3"/>
          <p:cNvSpPr>
            <a:spLocks noGrp="1" noChangeArrowheads="1"/>
          </p:cNvSpPr>
          <p:nvPr>
            <p:ph type="body" sz="half" idx="1"/>
          </p:nvPr>
        </p:nvSpPr>
        <p:spPr>
          <a:xfrm>
            <a:off x="177800" y="1355725"/>
            <a:ext cx="5383213" cy="5070475"/>
          </a:xfrm>
          <a:ln w="57150">
            <a:solidFill>
              <a:srgbClr val="FF0000"/>
            </a:solidFill>
            <a:miter lim="800000"/>
          </a:ln>
        </p:spPr>
        <p:txBody>
          <a:bodyPr/>
          <a:lstStyle/>
          <a:p>
            <a:pPr marL="252730" indent="-252730">
              <a:lnSpc>
                <a:spcPct val="150000"/>
              </a:lnSpc>
              <a:buFont typeface="Wingdings" panose="05000000000000000000" pitchFamily="2" charset="2"/>
              <a:buChar char="l"/>
            </a:pPr>
            <a:r>
              <a:rPr lang="en-US" altLang="zh-CN" sz="1700" b="1" dirty="0"/>
              <a:t> </a:t>
            </a:r>
            <a:r>
              <a:rPr lang="zh-CN" altLang="en-US" sz="1700" b="1" dirty="0"/>
              <a:t>在一定时间间隔里，把信号</a:t>
            </a:r>
            <a:r>
              <a:rPr lang="en-US" altLang="zh-CN" sz="1700" b="1" dirty="0"/>
              <a:t>f(t)</a:t>
            </a:r>
            <a:r>
              <a:rPr lang="zh-CN" altLang="en-US" sz="1700" b="1" dirty="0"/>
              <a:t>施加在一电阻负载上，负载中就消耗一定的信号能量，如电阻取归一化值为</a:t>
            </a:r>
            <a:r>
              <a:rPr lang="en-US" altLang="zh-CN" sz="1700" b="1" dirty="0"/>
              <a:t>1Ω</a:t>
            </a:r>
            <a:r>
              <a:rPr lang="zh-CN" altLang="en-US" sz="1700" b="1" dirty="0"/>
              <a:t>，则信号能量即为信号的平方值</a:t>
            </a:r>
            <a:r>
              <a:rPr lang="en-US" altLang="zh-CN" sz="1700" b="1" dirty="0"/>
              <a:t>f</a:t>
            </a:r>
            <a:r>
              <a:rPr lang="en-US" altLang="zh-CN" sz="1700" b="1" baseline="30000" dirty="0"/>
              <a:t>2</a:t>
            </a:r>
            <a:r>
              <a:rPr lang="en-US" altLang="zh-CN" sz="1700" b="1" dirty="0"/>
              <a:t>(t)</a:t>
            </a:r>
            <a:r>
              <a:rPr lang="zh-CN" altLang="en-US" sz="1700" b="1" dirty="0"/>
              <a:t>在该时间间隔上的积分；</a:t>
            </a:r>
          </a:p>
          <a:p>
            <a:pPr marL="252730" indent="-252730">
              <a:lnSpc>
                <a:spcPct val="150000"/>
              </a:lnSpc>
              <a:buFont typeface="Wingdings" panose="05000000000000000000" pitchFamily="2" charset="2"/>
              <a:buChar char="l"/>
            </a:pPr>
            <a:r>
              <a:rPr lang="zh-CN" altLang="en-US" sz="1700" b="1" dirty="0"/>
              <a:t>把该能量值相对于时间间隔取平均，即为在此时间内信号的平均功率；</a:t>
            </a:r>
          </a:p>
          <a:p>
            <a:pPr marL="252730" indent="-252730">
              <a:lnSpc>
                <a:spcPct val="150000"/>
              </a:lnSpc>
              <a:buFont typeface="Wingdings" panose="05000000000000000000" pitchFamily="2" charset="2"/>
              <a:buChar char="l"/>
            </a:pPr>
            <a:r>
              <a:rPr lang="zh-CN" altLang="en-US" sz="1700" b="1" dirty="0"/>
              <a:t>如果时间间隔无限趋大，则一般信号均属于以下两种情况之一：</a:t>
            </a:r>
          </a:p>
          <a:p>
            <a:pPr marL="252730" indent="-252730">
              <a:lnSpc>
                <a:spcPct val="150000"/>
              </a:lnSpc>
              <a:buFont typeface="Wingdings" panose="05000000000000000000" pitchFamily="2" charset="2"/>
              <a:buNone/>
            </a:pPr>
            <a:r>
              <a:rPr lang="zh-CN" altLang="en-US" sz="1700" b="1" dirty="0"/>
              <a:t>      </a:t>
            </a:r>
            <a:r>
              <a:rPr lang="en-US" altLang="zh-CN" sz="1700" b="1" dirty="0"/>
              <a:t>1</a:t>
            </a:r>
            <a:r>
              <a:rPr lang="zh-CN" altLang="en-US" sz="1700" b="1" dirty="0"/>
              <a:t>）信号总能量（归一化能量）为</a:t>
            </a:r>
            <a:r>
              <a:rPr lang="zh-CN" altLang="en-US" sz="1700" b="1" dirty="0">
                <a:solidFill>
                  <a:srgbClr val="FF0000"/>
                </a:solidFill>
              </a:rPr>
              <a:t>有限值</a:t>
            </a:r>
            <a:r>
              <a:rPr lang="zh-CN" altLang="en-US" sz="1700" b="1" dirty="0"/>
              <a:t>而信号平均功率（归一化能量）为</a:t>
            </a:r>
            <a:r>
              <a:rPr lang="en-US" altLang="zh-CN" sz="1700" b="1" dirty="0">
                <a:solidFill>
                  <a:srgbClr val="FF0000"/>
                </a:solidFill>
              </a:rPr>
              <a:t>0</a:t>
            </a:r>
            <a:r>
              <a:rPr lang="zh-CN" altLang="en-US" sz="1700" b="1" dirty="0">
                <a:solidFill>
                  <a:srgbClr val="FF0000"/>
                </a:solidFill>
              </a:rPr>
              <a:t>，</a:t>
            </a:r>
            <a:r>
              <a:rPr lang="zh-CN" altLang="en-US" sz="1700" b="1" dirty="0"/>
              <a:t>该信号称为</a:t>
            </a:r>
            <a:r>
              <a:rPr lang="zh-CN" altLang="en-US" sz="1700" b="1" dirty="0">
                <a:solidFill>
                  <a:srgbClr val="FF0000"/>
                </a:solidFill>
              </a:rPr>
              <a:t>能量信号；</a:t>
            </a:r>
          </a:p>
          <a:p>
            <a:pPr marL="252730" indent="-252730">
              <a:lnSpc>
                <a:spcPct val="150000"/>
              </a:lnSpc>
              <a:buFont typeface="Wingdings" panose="05000000000000000000" pitchFamily="2" charset="2"/>
              <a:buNone/>
            </a:pPr>
            <a:r>
              <a:rPr lang="zh-CN" altLang="en-US" sz="1700" b="1" dirty="0">
                <a:solidFill>
                  <a:srgbClr val="FF0000"/>
                </a:solidFill>
              </a:rPr>
              <a:t>      </a:t>
            </a:r>
            <a:r>
              <a:rPr lang="en-US" altLang="zh-CN" sz="1700" b="1" dirty="0"/>
              <a:t>2</a:t>
            </a:r>
            <a:r>
              <a:rPr lang="zh-CN" altLang="en-US" sz="1700" b="1" dirty="0"/>
              <a:t>）信号平均功率为</a:t>
            </a:r>
            <a:r>
              <a:rPr lang="zh-CN" altLang="en-US" sz="1700" b="1" dirty="0">
                <a:solidFill>
                  <a:srgbClr val="FF0000"/>
                </a:solidFill>
              </a:rPr>
              <a:t>有限值</a:t>
            </a:r>
            <a:r>
              <a:rPr lang="zh-CN" altLang="en-US" sz="1700" b="1" dirty="0"/>
              <a:t>而信号总能量为</a:t>
            </a:r>
            <a:r>
              <a:rPr lang="zh-CN" altLang="en-US" sz="1700" b="1" dirty="0">
                <a:solidFill>
                  <a:srgbClr val="FF0000"/>
                </a:solidFill>
              </a:rPr>
              <a:t>无限大，</a:t>
            </a:r>
            <a:r>
              <a:rPr lang="zh-CN" altLang="en-US" sz="1700" b="1" dirty="0"/>
              <a:t>该信号称为</a:t>
            </a:r>
            <a:r>
              <a:rPr lang="zh-CN" altLang="en-US" sz="1700" b="1" dirty="0">
                <a:solidFill>
                  <a:srgbClr val="FF0000"/>
                </a:solidFill>
              </a:rPr>
              <a:t>功率信号；</a:t>
            </a:r>
            <a:r>
              <a:rPr lang="zh-CN" altLang="en-US" sz="1700" b="1" dirty="0"/>
              <a:t>         </a:t>
            </a:r>
          </a:p>
        </p:txBody>
      </p:sp>
      <p:sp>
        <p:nvSpPr>
          <p:cNvPr id="98308" name="Rectangle 8"/>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545228" name="Object 2"/>
              <p:cNvSpPr txBox="1">
                <a:spLocks noGrp="1"/>
              </p:cNvSpPr>
              <p:nvPr>
                <p:ph sz="quarter" idx="2"/>
              </p:nvPr>
            </p:nvSpPr>
            <p:spPr bwMode="auto">
              <a:xfrm>
                <a:off x="5818188" y="1476375"/>
                <a:ext cx="2854325" cy="933450"/>
              </a:xfrm>
              <a:prstGeom prst="rect">
                <a:avLst/>
              </a:prstGeom>
              <a:solidFill>
                <a:srgbClr val="CADAC2"/>
              </a:solid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b>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oMath>
                  </m:oMathPara>
                </a14:m>
                <a:endParaRPr lang="zh-CN" altLang="en-US"/>
              </a:p>
            </p:txBody>
          </p:sp>
        </mc:Choice>
        <mc:Fallback xmlns="">
          <p:sp>
            <p:nvSpPr>
              <p:cNvPr id="1545228" name="Object 2"/>
              <p:cNvSpPr txBox="1">
                <a:spLocks noRot="1" noChangeAspect="1" noMove="1" noResize="1" noEditPoints="1" noAdjustHandles="1" noChangeArrowheads="1" noChangeShapeType="1" noTextEdit="1"/>
              </p:cNvSpPr>
              <p:nvPr>
                <p:ph sz="quarter" idx="2"/>
              </p:nvPr>
            </p:nvSpPr>
            <p:spPr bwMode="auto">
              <a:xfrm>
                <a:off x="5818188" y="1476375"/>
                <a:ext cx="2854325" cy="933450"/>
              </a:xfrm>
              <a:prstGeom prst="rect">
                <a:avLst/>
              </a:prstGeom>
              <a:blipFill rotWithShape="1">
                <a:blip r:embed="rId4"/>
                <a:stretch>
                  <a:fillRect l="-11" t="-4082" r="1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45229" name="Object 3"/>
              <p:cNvSpPr txBox="1">
                <a:spLocks noGrp="1"/>
              </p:cNvSpPr>
              <p:nvPr>
                <p:ph sz="quarter" idx="3"/>
              </p:nvPr>
            </p:nvSpPr>
            <p:spPr bwMode="auto">
              <a:xfrm>
                <a:off x="5807075" y="2422525"/>
                <a:ext cx="2863850" cy="1087438"/>
              </a:xfrm>
              <a:prstGeom prst="rect">
                <a:avLst/>
              </a:prstGeom>
              <a:solidFill>
                <a:srgbClr val="CADAC2"/>
              </a:solidFill>
              <a:ln>
                <a:noFill/>
              </a:ln>
              <a:effectLst/>
            </p:spPr>
            <p:txBody>
              <a:bodyPr>
                <a:normAutofit fontScale="70000" lnSpcReduction="20000"/>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𝑇</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b>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oMath>
                  </m:oMathPara>
                </a14:m>
                <a:endParaRPr lang="zh-CN" altLang="en-US"/>
              </a:p>
            </p:txBody>
          </p:sp>
        </mc:Choice>
        <mc:Fallback xmlns="">
          <p:sp>
            <p:nvSpPr>
              <p:cNvPr id="1545229" name="Object 3"/>
              <p:cNvSpPr txBox="1">
                <a:spLocks noRot="1" noChangeAspect="1" noMove="1" noResize="1" noEditPoints="1" noAdjustHandles="1" noChangeArrowheads="1" noChangeShapeType="1" noTextEdit="1"/>
              </p:cNvSpPr>
              <p:nvPr>
                <p:ph sz="quarter" idx="3"/>
              </p:nvPr>
            </p:nvSpPr>
            <p:spPr bwMode="auto">
              <a:xfrm>
                <a:off x="5807075" y="2422525"/>
                <a:ext cx="2863850" cy="1087438"/>
              </a:xfrm>
              <a:prstGeom prst="rect">
                <a:avLst/>
              </a:prstGeom>
              <a:blipFill rotWithShape="1">
                <a:blip r:embed="rId5"/>
                <a:stretch>
                  <a:fillRect t="-4380" b="29"/>
                </a:stretch>
              </a:blipFill>
              <a:ln>
                <a:noFill/>
              </a:ln>
              <a:effectLst/>
            </p:spPr>
            <p:txBody>
              <a:bodyPr/>
              <a:lstStyle/>
              <a:p>
                <a:r>
                  <a:rPr lang="zh-CN" altLang="en-US">
                    <a:noFill/>
                  </a:rPr>
                  <a:t> </a:t>
                </a:r>
              </a:p>
            </p:txBody>
          </p:sp>
        </mc:Fallback>
      </mc:AlternateContent>
      <p:grpSp>
        <p:nvGrpSpPr>
          <p:cNvPr id="2" name="Group 17"/>
          <p:cNvGrpSpPr/>
          <p:nvPr/>
        </p:nvGrpSpPr>
        <p:grpSpPr bwMode="auto">
          <a:xfrm>
            <a:off x="5791200" y="3687763"/>
            <a:ext cx="3179763" cy="2670175"/>
            <a:chOff x="5320" y="3227"/>
            <a:chExt cx="2921" cy="2335"/>
          </a:xfrm>
        </p:grpSpPr>
        <mc:AlternateContent xmlns:mc="http://schemas.openxmlformats.org/markup-compatibility/2006" xmlns:a14="http://schemas.microsoft.com/office/drawing/2010/main">
          <mc:Choice Requires="a14">
            <p:sp>
              <p:nvSpPr>
                <p:cNvPr id="98313" name="Object 4"/>
                <p:cNvSpPr txBox="1"/>
                <p:nvPr/>
              </p:nvSpPr>
              <p:spPr bwMode="auto">
                <a:xfrm>
                  <a:off x="5334" y="3227"/>
                  <a:ext cx="2886" cy="1361"/>
                </a:xfrm>
                <a:prstGeom prst="rect">
                  <a:avLst/>
                </a:prstGeom>
                <a:solidFill>
                  <a:srgbClr val="FFCC66"/>
                </a:solidFill>
                <a:ln>
                  <a:noFill/>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lim>
                            </m:limLow>
                          </m:fName>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b>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e>
                        </m:func>
                      </m:oMath>
                      <m:oMath xmlns:m="http://schemas.openxmlformats.org/officeDocument/2006/math">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oMath>
                    </m:oMathPara>
                  </a14:m>
                  <a:endParaRPr lang="zh-CN" altLang="en-US"/>
                </a:p>
              </p:txBody>
            </p:sp>
          </mc:Choice>
          <mc:Fallback xmlns="">
            <p:sp>
              <p:nvSpPr>
                <p:cNvPr id="98313" name="Object 4"/>
                <p:cNvSpPr txBox="1">
                  <a:spLocks noRot="1" noChangeAspect="1" noMove="1" noResize="1" noEditPoints="1" noAdjustHandles="1" noChangeArrowheads="1" noChangeShapeType="1" noTextEdit="1"/>
                </p:cNvSpPr>
                <p:nvPr/>
              </p:nvSpPr>
              <p:spPr bwMode="auto">
                <a:xfrm>
                  <a:off x="5334" y="3227"/>
                  <a:ext cx="2886" cy="1361"/>
                </a:xfrm>
                <a:prstGeom prst="rect">
                  <a:avLst/>
                </a:prstGeom>
                <a:blipFill rotWithShape="1">
                  <a:blip r:embed="rId6"/>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314" name="Object 5"/>
                <p:cNvSpPr txBox="1"/>
                <p:nvPr/>
              </p:nvSpPr>
              <p:spPr bwMode="auto">
                <a:xfrm>
                  <a:off x="5320" y="4610"/>
                  <a:ext cx="2921" cy="952"/>
                </a:xfrm>
                <a:prstGeom prst="rect">
                  <a:avLst/>
                </a:prstGeom>
                <a:solidFill>
                  <a:srgbClr val="FFCC66"/>
                </a:solid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lim>
                            </m:limLow>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𝑇</m:t>
                                </m:r>
                              </m:den>
                            </m:f>
                          </m:e>
                        </m:func>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b>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oMath>
                    </m:oMathPara>
                  </a14:m>
                  <a:endParaRPr lang="zh-CN" altLang="en-US"/>
                </a:p>
              </p:txBody>
            </p:sp>
          </mc:Choice>
          <mc:Fallback xmlns="">
            <p:sp>
              <p:nvSpPr>
                <p:cNvPr id="98314" name="Object 5"/>
                <p:cNvSpPr txBox="1">
                  <a:spLocks noRot="1" noChangeAspect="1" noMove="1" noResize="1" noEditPoints="1" noAdjustHandles="1" noChangeArrowheads="1" noChangeShapeType="1" noTextEdit="1"/>
                </p:cNvSpPr>
                <p:nvPr/>
              </p:nvSpPr>
              <p:spPr bwMode="auto">
                <a:xfrm>
                  <a:off x="5320" y="4610"/>
                  <a:ext cx="2921" cy="952"/>
                </a:xfrm>
                <a:prstGeom prst="rect">
                  <a:avLst/>
                </a:prstGeom>
                <a:blipFill rotWithShape="1">
                  <a:blip r:embed="rId7"/>
                </a:blipFill>
                <a:ln>
                  <a:noFill/>
                </a:ln>
              </p:spPr>
              <p:txBody>
                <a:bodyPr/>
                <a:lstStyle/>
                <a:p>
                  <a:r>
                    <a:rPr lang="zh-CN" altLang="en-US">
                      <a:noFill/>
                    </a:rPr>
                    <a:t> </a:t>
                  </a:r>
                </a:p>
              </p:txBody>
            </p:sp>
          </mc:Fallback>
        </mc:AlternateContent>
      </p:grpSp>
      <p:sp>
        <p:nvSpPr>
          <p:cNvPr id="13" name="日期占位符 12"/>
          <p:cNvSpPr>
            <a:spLocks noGrp="1"/>
          </p:cNvSpPr>
          <p:nvPr>
            <p:ph type="dt" sz="quarter" idx="10"/>
          </p:nvPr>
        </p:nvSpPr>
        <p:spPr/>
        <p:txBody>
          <a:bodyPr/>
          <a:lstStyle/>
          <a:p>
            <a:pPr>
              <a:defRPr/>
            </a:pPr>
            <a:fld id="{57538DD5-D9DB-46B8-9F0C-462B27A24733}" type="datetime3">
              <a:rPr lang="zh-CN" altLang="en-US"/>
              <a:t>2026年3月4日星期三</a:t>
            </a:fld>
            <a:endParaRPr lang="en-US" altLang="zh-CN" dirty="0"/>
          </a:p>
        </p:txBody>
      </p:sp>
    </p:spTree>
    <p:custDataLst>
      <p:tags r:id="rId1"/>
    </p:custDataLst>
  </p:cSld>
  <p:clrMapOvr>
    <a:masterClrMapping/>
  </p:clrMapOvr>
  <p:transition spd="med" advTm="13944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45219">
                                            <p:txEl>
                                              <p:pRg st="0" end="0"/>
                                            </p:txEl>
                                          </p:spTgt>
                                        </p:tgtEl>
                                        <p:attrNameLst>
                                          <p:attrName>style.visibility</p:attrName>
                                        </p:attrNameLst>
                                      </p:cBhvr>
                                      <p:to>
                                        <p:strVal val="visible"/>
                                      </p:to>
                                    </p:set>
                                    <p:anim calcmode="lin" valueType="num">
                                      <p:cBhvr>
                                        <p:cTn id="7" dur="1000" fill="hold"/>
                                        <p:tgtEl>
                                          <p:spTgt spid="154521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4521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4521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45219">
                                            <p:txEl>
                                              <p:pRg st="1" end="1"/>
                                            </p:txEl>
                                          </p:spTgt>
                                        </p:tgtEl>
                                        <p:attrNameLst>
                                          <p:attrName>style.visibility</p:attrName>
                                        </p:attrNameLst>
                                      </p:cBhvr>
                                      <p:to>
                                        <p:strVal val="visible"/>
                                      </p:to>
                                    </p:set>
                                    <p:anim calcmode="lin" valueType="num">
                                      <p:cBhvr>
                                        <p:cTn id="14" dur="1000" fill="hold"/>
                                        <p:tgtEl>
                                          <p:spTgt spid="154521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4521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4521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545219">
                                            <p:txEl>
                                              <p:pRg st="2" end="2"/>
                                            </p:txEl>
                                          </p:spTgt>
                                        </p:tgtEl>
                                        <p:attrNameLst>
                                          <p:attrName>style.visibility</p:attrName>
                                        </p:attrNameLst>
                                      </p:cBhvr>
                                      <p:to>
                                        <p:strVal val="visible"/>
                                      </p:to>
                                    </p:set>
                                    <p:anim calcmode="lin" valueType="num">
                                      <p:cBhvr>
                                        <p:cTn id="21" dur="1000" fill="hold"/>
                                        <p:tgtEl>
                                          <p:spTgt spid="154521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54521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545219">
                                            <p:txEl>
                                              <p:pRg st="2" end="2"/>
                                            </p:txEl>
                                          </p:spTgt>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1545219">
                                            <p:txEl>
                                              <p:pRg st="3" end="3"/>
                                            </p:txEl>
                                          </p:spTgt>
                                        </p:tgtEl>
                                        <p:attrNameLst>
                                          <p:attrName>style.visibility</p:attrName>
                                        </p:attrNameLst>
                                      </p:cBhvr>
                                      <p:to>
                                        <p:strVal val="visible"/>
                                      </p:to>
                                    </p:set>
                                    <p:anim calcmode="lin" valueType="num">
                                      <p:cBhvr>
                                        <p:cTn id="27" dur="1000" fill="hold"/>
                                        <p:tgtEl>
                                          <p:spTgt spid="1545219">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1545219">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1545219">
                                            <p:txEl>
                                              <p:pRg st="3" end="3"/>
                                            </p:txEl>
                                          </p:spTgt>
                                        </p:tgtEl>
                                      </p:cBhvr>
                                    </p:animEffect>
                                  </p:childTnLst>
                                </p:cTn>
                              </p:par>
                            </p:childTnLst>
                          </p:cTn>
                        </p:par>
                        <p:par>
                          <p:cTn id="30" fill="hold">
                            <p:stCondLst>
                              <p:cond delay="2000"/>
                            </p:stCondLst>
                            <p:childTnLst>
                              <p:par>
                                <p:cTn id="31" presetID="55" presetClass="entr" presetSubtype="0" fill="hold" nodeType="afterEffect">
                                  <p:stCondLst>
                                    <p:cond delay="0"/>
                                  </p:stCondLst>
                                  <p:childTnLst>
                                    <p:set>
                                      <p:cBhvr>
                                        <p:cTn id="32" dur="1" fill="hold">
                                          <p:stCondLst>
                                            <p:cond delay="0"/>
                                          </p:stCondLst>
                                        </p:cTn>
                                        <p:tgtEl>
                                          <p:spTgt spid="1545219">
                                            <p:txEl>
                                              <p:pRg st="4" end="4"/>
                                            </p:txEl>
                                          </p:spTgt>
                                        </p:tgtEl>
                                        <p:attrNameLst>
                                          <p:attrName>style.visibility</p:attrName>
                                        </p:attrNameLst>
                                      </p:cBhvr>
                                      <p:to>
                                        <p:strVal val="visible"/>
                                      </p:to>
                                    </p:set>
                                    <p:anim calcmode="lin" valueType="num">
                                      <p:cBhvr>
                                        <p:cTn id="33" dur="1000" fill="hold"/>
                                        <p:tgtEl>
                                          <p:spTgt spid="1545219">
                                            <p:txEl>
                                              <p:pRg st="4" end="4"/>
                                            </p:txEl>
                                          </p:spTgt>
                                        </p:tgtEl>
                                        <p:attrNameLst>
                                          <p:attrName>ppt_w</p:attrName>
                                        </p:attrNameLst>
                                      </p:cBhvr>
                                      <p:tavLst>
                                        <p:tav tm="0">
                                          <p:val>
                                            <p:strVal val="#ppt_w*0.70"/>
                                          </p:val>
                                        </p:tav>
                                        <p:tav tm="100000">
                                          <p:val>
                                            <p:strVal val="#ppt_w"/>
                                          </p:val>
                                        </p:tav>
                                      </p:tavLst>
                                    </p:anim>
                                    <p:anim calcmode="lin" valueType="num">
                                      <p:cBhvr>
                                        <p:cTn id="34" dur="1000" fill="hold"/>
                                        <p:tgtEl>
                                          <p:spTgt spid="1545219">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1545219">
                                            <p:txEl>
                                              <p:pRg st="4" end="4"/>
                                            </p:txEl>
                                          </p:spTgt>
                                        </p:tgtEl>
                                      </p:cBhvr>
                                    </p:animEffect>
                                  </p:childTnLst>
                                </p:cTn>
                              </p:par>
                            </p:childTnLst>
                          </p:cTn>
                        </p:par>
                        <p:par>
                          <p:cTn id="36" fill="hold">
                            <p:stCondLst>
                              <p:cond delay="3000"/>
                            </p:stCondLst>
                            <p:childTnLst>
                              <p:par>
                                <p:cTn id="37" presetID="55" presetClass="entr" presetSubtype="0"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1000" fill="hold"/>
                                        <p:tgtEl>
                                          <p:spTgt spid="2"/>
                                        </p:tgtEl>
                                        <p:attrNameLst>
                                          <p:attrName>ppt_w</p:attrName>
                                        </p:attrNameLst>
                                      </p:cBhvr>
                                      <p:tavLst>
                                        <p:tav tm="0">
                                          <p:val>
                                            <p:strVal val="#ppt_w*0.70"/>
                                          </p:val>
                                        </p:tav>
                                        <p:tav tm="100000">
                                          <p:val>
                                            <p:strVal val="#ppt_w"/>
                                          </p:val>
                                        </p:tav>
                                      </p:tavLst>
                                    </p:anim>
                                    <p:anim calcmode="lin" valueType="num">
                                      <p:cBhvr>
                                        <p:cTn id="40" dur="1000" fill="hold"/>
                                        <p:tgtEl>
                                          <p:spTgt spid="2"/>
                                        </p:tgtEl>
                                        <p:attrNameLst>
                                          <p:attrName>ppt_h</p:attrName>
                                        </p:attrNameLst>
                                      </p:cBhvr>
                                      <p:tavLst>
                                        <p:tav tm="0">
                                          <p:val>
                                            <p:strVal val="#ppt_h"/>
                                          </p:val>
                                        </p:tav>
                                        <p:tav tm="100000">
                                          <p:val>
                                            <p:strVal val="#ppt_h"/>
                                          </p:val>
                                        </p:tav>
                                      </p:tavLst>
                                    </p:anim>
                                    <p:animEffect transition="in" filter="fade">
                                      <p:cBhvr>
                                        <p:cTn id="4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3040063" y="630238"/>
            <a:ext cx="5184775" cy="776287"/>
          </a:xfrm>
        </p:spPr>
        <p:txBody>
          <a:bodyPr/>
          <a:lstStyle/>
          <a:p>
            <a:r>
              <a:rPr lang="zh-CN" altLang="en-US" sz="2200" b="1">
                <a:solidFill>
                  <a:srgbClr val="0000FF"/>
                </a:solidFill>
                <a:ea typeface="黑体" panose="02010609060101010101" pitchFamily="49" charset="-122"/>
              </a:rPr>
              <a:t>能量（有限）信号与功率（有限）信号</a:t>
            </a:r>
          </a:p>
        </p:txBody>
      </p:sp>
      <p:sp>
        <p:nvSpPr>
          <p:cNvPr id="100355" name="Rectangle 8"/>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1561611" name="Rectangle 11"/>
          <p:cNvSpPr>
            <a:spLocks noChangeArrowheads="1"/>
          </p:cNvSpPr>
          <p:nvPr/>
        </p:nvSpPr>
        <p:spPr bwMode="auto">
          <a:xfrm>
            <a:off x="473075" y="1303338"/>
            <a:ext cx="1581150" cy="493712"/>
          </a:xfrm>
          <a:prstGeom prst="rect">
            <a:avLst/>
          </a:prstGeom>
          <a:solidFill>
            <a:schemeClr val="bg1"/>
          </a:solidFill>
          <a:ln>
            <a:noFill/>
          </a:ln>
          <a:effectLst>
            <a:outerShdw dist="35921" dir="2700000" algn="ctr" rotWithShape="0">
              <a:schemeClr val="bg2">
                <a:alpha val="50000"/>
              </a:schemeClr>
            </a:outerShdw>
          </a:effectLst>
          <a:extLs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lIns="92070" tIns="46036" rIns="92070" bIns="46036">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5000"/>
              </a:lnSpc>
              <a:spcBef>
                <a:spcPct val="20000"/>
              </a:spcBef>
              <a:buClr>
                <a:schemeClr val="accent2"/>
              </a:buClr>
              <a:buFont typeface="Wingdings" panose="05000000000000000000" pitchFamily="2" charset="2"/>
              <a:buNone/>
            </a:pPr>
            <a:r>
              <a:rPr lang="zh-CN" altLang="en-US" sz="2000">
                <a:ea typeface="宋体" panose="02010600030101010101" pitchFamily="2" charset="-122"/>
              </a:rPr>
              <a:t>不难理解：</a:t>
            </a:r>
          </a:p>
        </p:txBody>
      </p:sp>
      <p:sp>
        <p:nvSpPr>
          <p:cNvPr id="1561614" name="Rectangle 14"/>
          <p:cNvSpPr>
            <a:spLocks noChangeArrowheads="1"/>
          </p:cNvSpPr>
          <p:nvPr/>
        </p:nvSpPr>
        <p:spPr bwMode="auto">
          <a:xfrm>
            <a:off x="1312863" y="2443163"/>
            <a:ext cx="6694487" cy="2263775"/>
          </a:xfrm>
          <a:prstGeom prst="rect">
            <a:avLst/>
          </a:prstGeom>
          <a:noFill/>
          <a:ln w="5715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2070" tIns="46036" rIns="92070" bIns="46036">
            <a:spAutoFit/>
          </a:bodyPr>
          <a:lstStyle>
            <a:lvl1pPr marL="373380" indent="-373380">
              <a:defRPr sz="2800" b="1">
                <a:solidFill>
                  <a:schemeClr val="tx1"/>
                </a:solidFill>
                <a:latin typeface="黑体" panose="02010609060101010101" pitchFamily="49" charset="-122"/>
                <a:ea typeface="黑体" panose="02010609060101010101" pitchFamily="49" charset="-122"/>
              </a:defRPr>
            </a:lvl1pPr>
            <a:lvl2pPr marL="830580" indent="-37338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35000"/>
              </a:spcBef>
              <a:buClr>
                <a:schemeClr val="accent2"/>
              </a:buClr>
              <a:buFont typeface="Wingdings" panose="05000000000000000000" pitchFamily="2" charset="2"/>
              <a:buNone/>
            </a:pPr>
            <a:r>
              <a:rPr lang="en-US" altLang="zh-CN" sz="2000">
                <a:ea typeface="宋体" panose="02010600030101010101" pitchFamily="2" charset="-122"/>
              </a:rPr>
              <a:t>1</a:t>
            </a:r>
            <a:r>
              <a:rPr lang="zh-CN" altLang="en-US" sz="2000">
                <a:ea typeface="宋体" panose="02010600030101010101" pitchFamily="2" charset="-122"/>
              </a:rPr>
              <a:t>）在时间间隔无限趋大的情况下：</a:t>
            </a:r>
          </a:p>
          <a:p>
            <a:pPr lvl="1" eaLnBrk="1" hangingPunct="1">
              <a:lnSpc>
                <a:spcPct val="150000"/>
              </a:lnSpc>
              <a:spcBef>
                <a:spcPct val="35000"/>
              </a:spcBef>
              <a:buClr>
                <a:schemeClr val="accent2"/>
              </a:buClr>
              <a:buFont typeface="Wingdings" panose="05000000000000000000" pitchFamily="2" charset="2"/>
              <a:buChar char="l"/>
            </a:pPr>
            <a:r>
              <a:rPr lang="zh-CN" altLang="en-US" sz="2000">
                <a:solidFill>
                  <a:srgbClr val="FF0000"/>
                </a:solidFill>
                <a:ea typeface="宋体" panose="02010600030101010101" pitchFamily="2" charset="-122"/>
              </a:rPr>
              <a:t>周期信号</a:t>
            </a:r>
            <a:r>
              <a:rPr lang="zh-CN" altLang="en-US" sz="2000">
                <a:ea typeface="宋体" panose="02010600030101010101" pitchFamily="2" charset="-122"/>
              </a:rPr>
              <a:t>都是</a:t>
            </a:r>
            <a:r>
              <a:rPr lang="zh-CN" altLang="en-US" sz="2000">
                <a:solidFill>
                  <a:srgbClr val="FF0000"/>
                </a:solidFill>
                <a:ea typeface="宋体" panose="02010600030101010101" pitchFamily="2" charset="-122"/>
              </a:rPr>
              <a:t>功率信号</a:t>
            </a:r>
            <a:r>
              <a:rPr lang="zh-CN" altLang="en-US" sz="2000">
                <a:ea typeface="宋体" panose="02010600030101010101" pitchFamily="2" charset="-122"/>
              </a:rPr>
              <a:t>；</a:t>
            </a:r>
          </a:p>
          <a:p>
            <a:pPr lvl="1" eaLnBrk="1" hangingPunct="1">
              <a:lnSpc>
                <a:spcPct val="150000"/>
              </a:lnSpc>
              <a:spcBef>
                <a:spcPct val="35000"/>
              </a:spcBef>
              <a:buClr>
                <a:schemeClr val="accent2"/>
              </a:buClr>
              <a:buFont typeface="Wingdings" panose="05000000000000000000" pitchFamily="2" charset="2"/>
              <a:buChar char="l"/>
            </a:pPr>
            <a:r>
              <a:rPr lang="zh-CN" altLang="en-US" sz="2000">
                <a:solidFill>
                  <a:srgbClr val="FF0000"/>
                </a:solidFill>
                <a:ea typeface="宋体" panose="02010600030101010101" pitchFamily="2" charset="-122"/>
              </a:rPr>
              <a:t>非周期信号</a:t>
            </a:r>
            <a:r>
              <a:rPr lang="zh-CN" altLang="en-US" sz="2000">
                <a:ea typeface="宋体" panose="02010600030101010101" pitchFamily="2" charset="-122"/>
              </a:rPr>
              <a:t>可以是</a:t>
            </a:r>
            <a:r>
              <a:rPr lang="zh-CN" altLang="en-US" sz="2000">
                <a:solidFill>
                  <a:srgbClr val="FF0000"/>
                </a:solidFill>
                <a:ea typeface="宋体" panose="02010600030101010101" pitchFamily="2" charset="-122"/>
              </a:rPr>
              <a:t>能量信号</a:t>
            </a:r>
            <a:r>
              <a:rPr lang="zh-CN" altLang="en-US" sz="2000">
                <a:ea typeface="宋体" panose="02010600030101010101" pitchFamily="2" charset="-122"/>
              </a:rPr>
              <a:t>，也可以是</a:t>
            </a:r>
            <a:r>
              <a:rPr lang="zh-CN" altLang="en-US" sz="2000">
                <a:solidFill>
                  <a:srgbClr val="FF0000"/>
                </a:solidFill>
                <a:ea typeface="宋体" panose="02010600030101010101" pitchFamily="2" charset="-122"/>
              </a:rPr>
              <a:t>功率信号</a:t>
            </a:r>
            <a:r>
              <a:rPr lang="zh-CN" altLang="en-US" sz="2000">
                <a:ea typeface="宋体" panose="02010600030101010101" pitchFamily="2" charset="-122"/>
              </a:rPr>
              <a:t>；</a:t>
            </a:r>
          </a:p>
          <a:p>
            <a:pPr eaLnBrk="1" hangingPunct="1">
              <a:lnSpc>
                <a:spcPct val="150000"/>
              </a:lnSpc>
              <a:spcBef>
                <a:spcPct val="35000"/>
              </a:spcBef>
              <a:buClr>
                <a:schemeClr val="accent2"/>
              </a:buClr>
              <a:buFont typeface="Wingdings" panose="05000000000000000000" pitchFamily="2" charset="2"/>
              <a:buNone/>
            </a:pPr>
            <a:r>
              <a:rPr lang="en-US" altLang="zh-CN" sz="2000">
                <a:ea typeface="宋体" panose="02010600030101010101" pitchFamily="2" charset="-122"/>
              </a:rPr>
              <a:t>2</a:t>
            </a:r>
            <a:r>
              <a:rPr lang="zh-CN" altLang="en-US" sz="2000">
                <a:ea typeface="宋体" panose="02010600030101010101" pitchFamily="2" charset="-122"/>
              </a:rPr>
              <a:t>）只存在于有限时间内的信号是</a:t>
            </a:r>
            <a:r>
              <a:rPr lang="zh-CN" altLang="en-US" sz="2000">
                <a:solidFill>
                  <a:srgbClr val="0000FF"/>
                </a:solidFill>
                <a:ea typeface="宋体" panose="02010600030101010101" pitchFamily="2" charset="-122"/>
              </a:rPr>
              <a:t>能量信号</a:t>
            </a:r>
            <a:r>
              <a:rPr lang="zh-CN" altLang="en-US" sz="2000">
                <a:ea typeface="宋体" panose="02010600030101010101" pitchFamily="2" charset="-122"/>
              </a:rPr>
              <a:t>。</a:t>
            </a:r>
          </a:p>
        </p:txBody>
      </p:sp>
      <p:sp>
        <p:nvSpPr>
          <p:cNvPr id="9" name="日期占位符 8"/>
          <p:cNvSpPr>
            <a:spLocks noGrp="1"/>
          </p:cNvSpPr>
          <p:nvPr>
            <p:ph type="dt" sz="quarter" idx="10"/>
          </p:nvPr>
        </p:nvSpPr>
        <p:spPr/>
        <p:txBody>
          <a:bodyPr/>
          <a:lstStyle/>
          <a:p>
            <a:pPr>
              <a:defRPr/>
            </a:pPr>
            <a:fld id="{32008FD9-18AB-45E4-A109-B8775F36D314}" type="datetime3">
              <a:rPr lang="zh-CN" altLang="en-US"/>
              <a:t>2026年3月4日星期三</a:t>
            </a:fld>
            <a:endParaRPr lang="en-US" altLang="zh-CN" dirty="0"/>
          </a:p>
        </p:txBody>
      </p:sp>
    </p:spTree>
  </p:cSld>
  <p:clrMapOvr>
    <a:masterClrMapping/>
  </p:clrMapOvr>
  <p:transition spd="med" advTm="47452">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61611"/>
                                        </p:tgtEl>
                                        <p:attrNameLst>
                                          <p:attrName>style.visibility</p:attrName>
                                        </p:attrNameLst>
                                      </p:cBhvr>
                                      <p:to>
                                        <p:strVal val="visible"/>
                                      </p:to>
                                    </p:set>
                                    <p:anim calcmode="lin" valueType="num">
                                      <p:cBhvr>
                                        <p:cTn id="7" dur="1000" fill="hold"/>
                                        <p:tgtEl>
                                          <p:spTgt spid="1561611"/>
                                        </p:tgtEl>
                                        <p:attrNameLst>
                                          <p:attrName>ppt_w</p:attrName>
                                        </p:attrNameLst>
                                      </p:cBhvr>
                                      <p:tavLst>
                                        <p:tav tm="0">
                                          <p:val>
                                            <p:strVal val="#ppt_w*0.70"/>
                                          </p:val>
                                        </p:tav>
                                        <p:tav tm="100000">
                                          <p:val>
                                            <p:strVal val="#ppt_w"/>
                                          </p:val>
                                        </p:tav>
                                      </p:tavLst>
                                    </p:anim>
                                    <p:anim calcmode="lin" valueType="num">
                                      <p:cBhvr>
                                        <p:cTn id="8" dur="1000" fill="hold"/>
                                        <p:tgtEl>
                                          <p:spTgt spid="1561611"/>
                                        </p:tgtEl>
                                        <p:attrNameLst>
                                          <p:attrName>ppt_h</p:attrName>
                                        </p:attrNameLst>
                                      </p:cBhvr>
                                      <p:tavLst>
                                        <p:tav tm="0">
                                          <p:val>
                                            <p:strVal val="#ppt_h"/>
                                          </p:val>
                                        </p:tav>
                                        <p:tav tm="100000">
                                          <p:val>
                                            <p:strVal val="#ppt_h"/>
                                          </p:val>
                                        </p:tav>
                                      </p:tavLst>
                                    </p:anim>
                                    <p:animEffect transition="in" filter="fade">
                                      <p:cBhvr>
                                        <p:cTn id="9" dur="1000"/>
                                        <p:tgtEl>
                                          <p:spTgt spid="1561611"/>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61614"/>
                                        </p:tgtEl>
                                        <p:attrNameLst>
                                          <p:attrName>style.visibility</p:attrName>
                                        </p:attrNameLst>
                                      </p:cBhvr>
                                      <p:to>
                                        <p:strVal val="visible"/>
                                      </p:to>
                                    </p:set>
                                    <p:anim calcmode="lin" valueType="num">
                                      <p:cBhvr>
                                        <p:cTn id="13" dur="1000" fill="hold"/>
                                        <p:tgtEl>
                                          <p:spTgt spid="1561614"/>
                                        </p:tgtEl>
                                        <p:attrNameLst>
                                          <p:attrName>ppt_w</p:attrName>
                                        </p:attrNameLst>
                                      </p:cBhvr>
                                      <p:tavLst>
                                        <p:tav tm="0">
                                          <p:val>
                                            <p:strVal val="#ppt_w*0.70"/>
                                          </p:val>
                                        </p:tav>
                                        <p:tav tm="100000">
                                          <p:val>
                                            <p:strVal val="#ppt_w"/>
                                          </p:val>
                                        </p:tav>
                                      </p:tavLst>
                                    </p:anim>
                                    <p:anim calcmode="lin" valueType="num">
                                      <p:cBhvr>
                                        <p:cTn id="14" dur="1000" fill="hold"/>
                                        <p:tgtEl>
                                          <p:spTgt spid="1561614"/>
                                        </p:tgtEl>
                                        <p:attrNameLst>
                                          <p:attrName>ppt_h</p:attrName>
                                        </p:attrNameLst>
                                      </p:cBhvr>
                                      <p:tavLst>
                                        <p:tav tm="0">
                                          <p:val>
                                            <p:strVal val="#ppt_h"/>
                                          </p:val>
                                        </p:tav>
                                        <p:tav tm="100000">
                                          <p:val>
                                            <p:strVal val="#ppt_h"/>
                                          </p:val>
                                        </p:tav>
                                      </p:tavLst>
                                    </p:anim>
                                    <p:animEffect transition="in" filter="fade">
                                      <p:cBhvr>
                                        <p:cTn id="15" dur="1000"/>
                                        <p:tgtEl>
                                          <p:spTgt spid="1561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1611" grpId="0" animBg="1"/>
      <p:bldP spid="15616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bwMode="auto">
          <a:xfrm>
            <a:off x="968375" y="2495550"/>
            <a:ext cx="7004050" cy="3681413"/>
            <a:chOff x="889" y="2184"/>
            <a:chExt cx="6123" cy="3220"/>
          </a:xfrm>
        </p:grpSpPr>
        <p:sp>
          <p:nvSpPr>
            <p:cNvPr id="102407" name="Rectangle 13"/>
            <p:cNvSpPr>
              <a:spLocks noChangeArrowheads="1"/>
            </p:cNvSpPr>
            <p:nvPr/>
          </p:nvSpPr>
          <p:spPr bwMode="auto">
            <a:xfrm>
              <a:off x="889" y="2184"/>
              <a:ext cx="6123" cy="3220"/>
            </a:xfrm>
            <a:prstGeom prst="rect">
              <a:avLst/>
            </a:prstGeom>
            <a:solidFill>
              <a:srgbClr val="E6D7B6"/>
            </a:solidFill>
            <a:ln w="12700" cap="sq">
              <a:solidFill>
                <a:schemeClr val="tx1"/>
              </a:solidFill>
              <a:miter lim="800000"/>
              <a:headEnd type="none" w="sm" len="sm"/>
              <a:tailEnd type="none" w="sm" len="sm"/>
            </a:ln>
          </p:spPr>
          <p:txBody>
            <a:bodyPr wrap="none" lIns="131529" tIns="65765" rIns="131529" bIns="65765"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mc:AlternateContent xmlns:mc="http://schemas.openxmlformats.org/markup-compatibility/2006" xmlns:a14="http://schemas.microsoft.com/office/drawing/2010/main">
          <mc:Choice Requires="a14">
            <p:sp>
              <p:nvSpPr>
                <p:cNvPr id="102408" name="Object 2"/>
                <p:cNvSpPr txBox="1"/>
                <p:nvPr/>
              </p:nvSpPr>
              <p:spPr bwMode="auto">
                <a:xfrm>
                  <a:off x="1478" y="2320"/>
                  <a:ext cx="4725" cy="1031"/>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m:t>
                                </m:r>
                              </m:lim>
                            </m:limLow>
                          </m:fName>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𝑁</m:t>
                                </m:r>
                              </m:sub>
                              <m:sup>
                                <m:r>
                                  <a:rPr lang="zh-CN" altLang="en-US" i="1">
                                    <a:solidFill>
                                      <a:srgbClr val="000000"/>
                                    </a:solidFill>
                                    <a:latin typeface="Cambria Math" panose="02040503050406030204" pitchFamily="18" charset="0"/>
                                  </a:rPr>
                                  <m:t>𝑁</m:t>
                                </m:r>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e>
                            </m:nary>
                          </m:e>
                        </m:func>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e>
                        </m:nary>
                      </m:oMath>
                    </m:oMathPara>
                  </a14:m>
                  <a:endParaRPr lang="zh-CN" altLang="en-US"/>
                </a:p>
              </p:txBody>
            </p:sp>
          </mc:Choice>
          <mc:Fallback xmlns="">
            <p:sp>
              <p:nvSpPr>
                <p:cNvPr id="102408" name="Object 2"/>
                <p:cNvSpPr txBox="1">
                  <a:spLocks noRot="1" noChangeAspect="1" noMove="1" noResize="1" noEditPoints="1" noAdjustHandles="1" noChangeArrowheads="1" noChangeShapeType="1" noTextEdit="1"/>
                </p:cNvSpPr>
                <p:nvPr/>
              </p:nvSpPr>
              <p:spPr bwMode="auto">
                <a:xfrm>
                  <a:off x="1478" y="2320"/>
                  <a:ext cx="4725" cy="1031"/>
                </a:xfrm>
                <a:prstGeom prst="rect">
                  <a:avLst/>
                </a:prstGeom>
                <a:blipFill rotWithShape="1">
                  <a:blip r:embed="rId3"/>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409" name="Object 3"/>
                <p:cNvSpPr txBox="1"/>
                <p:nvPr/>
              </p:nvSpPr>
              <p:spPr bwMode="auto">
                <a:xfrm>
                  <a:off x="1243" y="3707"/>
                  <a:ext cx="5252" cy="1298"/>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m:t>
                                </m:r>
                              </m:lim>
                            </m:limLow>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+1</m:t>
                                </m:r>
                              </m:den>
                            </m:f>
                          </m:e>
                        </m:func>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𝑁</m:t>
                            </m:r>
                          </m:sub>
                          <m:sup>
                            <m:r>
                              <a:rPr lang="zh-CN" altLang="en-US" i="1">
                                <a:solidFill>
                                  <a:srgbClr val="000000"/>
                                </a:solidFill>
                                <a:latin typeface="Cambria Math" panose="02040503050406030204" pitchFamily="18" charset="0"/>
                              </a:rPr>
                              <m:t>𝑁</m:t>
                            </m:r>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e>
                        </m:nary>
                      </m:oMath>
                    </m:oMathPara>
                  </a14:m>
                  <a:endParaRPr lang="zh-CN" altLang="en-US"/>
                </a:p>
              </p:txBody>
            </p:sp>
          </mc:Choice>
          <mc:Fallback xmlns="">
            <p:sp>
              <p:nvSpPr>
                <p:cNvPr id="102409" name="Object 3"/>
                <p:cNvSpPr txBox="1">
                  <a:spLocks noRot="1" noChangeAspect="1" noMove="1" noResize="1" noEditPoints="1" noAdjustHandles="1" noChangeArrowheads="1" noChangeShapeType="1" noTextEdit="1"/>
                </p:cNvSpPr>
                <p:nvPr/>
              </p:nvSpPr>
              <p:spPr bwMode="auto">
                <a:xfrm>
                  <a:off x="1243" y="3707"/>
                  <a:ext cx="5252" cy="1298"/>
                </a:xfrm>
                <a:prstGeom prst="rect">
                  <a:avLst/>
                </a:prstGeom>
                <a:blipFill rotWithShape="1">
                  <a:blip r:embed="rId4"/>
                </a:blipFill>
                <a:ln>
                  <a:noFill/>
                </a:ln>
              </p:spPr>
              <p:txBody>
                <a:bodyPr/>
                <a:lstStyle/>
                <a:p>
                  <a:r>
                    <a:rPr lang="zh-CN" altLang="en-US">
                      <a:noFill/>
                    </a:rPr>
                    <a:t> </a:t>
                  </a:r>
                </a:p>
              </p:txBody>
            </p:sp>
          </mc:Fallback>
        </mc:AlternateContent>
      </p:grpSp>
      <p:sp>
        <p:nvSpPr>
          <p:cNvPr id="102403" name="Rectangle 9"/>
          <p:cNvSpPr>
            <a:spLocks noGrp="1" noChangeArrowheads="1"/>
          </p:cNvSpPr>
          <p:nvPr>
            <p:ph type="title"/>
          </p:nvPr>
        </p:nvSpPr>
        <p:spPr>
          <a:xfrm>
            <a:off x="3116263" y="642938"/>
            <a:ext cx="5187950" cy="776287"/>
          </a:xfrm>
          <a:noFill/>
        </p:spPr>
        <p:txBody>
          <a:bodyPr/>
          <a:lstStyle/>
          <a:p>
            <a:r>
              <a:rPr lang="zh-CN" altLang="en-US" sz="2200" b="1">
                <a:solidFill>
                  <a:srgbClr val="0000FF"/>
                </a:solidFill>
                <a:ea typeface="黑体" panose="02010609060101010101" pitchFamily="49" charset="-122"/>
              </a:rPr>
              <a:t>能量（有限）信号与功率（有限）信号</a:t>
            </a:r>
          </a:p>
        </p:txBody>
      </p:sp>
      <p:sp>
        <p:nvSpPr>
          <p:cNvPr id="102404" name="Rectangle 11"/>
          <p:cNvSpPr>
            <a:spLocks noChangeArrowheads="1"/>
          </p:cNvSpPr>
          <p:nvPr/>
        </p:nvSpPr>
        <p:spPr bwMode="auto">
          <a:xfrm>
            <a:off x="177800" y="525463"/>
            <a:ext cx="28543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102405" name="Rectangle 12"/>
          <p:cNvSpPr>
            <a:spLocks noChangeArrowheads="1"/>
          </p:cNvSpPr>
          <p:nvPr/>
        </p:nvSpPr>
        <p:spPr bwMode="auto">
          <a:xfrm>
            <a:off x="498475" y="1666875"/>
            <a:ext cx="4359275"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200"/>
              <a:t>能量和平均功率定义</a:t>
            </a:r>
            <a:r>
              <a:rPr lang="en-US" altLang="zh-CN" sz="2200"/>
              <a:t>-</a:t>
            </a:r>
            <a:r>
              <a:rPr lang="zh-CN" altLang="en-US" sz="2200"/>
              <a:t>离散信号</a:t>
            </a:r>
          </a:p>
        </p:txBody>
      </p:sp>
      <p:sp>
        <p:nvSpPr>
          <p:cNvPr id="12" name="日期占位符 11"/>
          <p:cNvSpPr>
            <a:spLocks noGrp="1"/>
          </p:cNvSpPr>
          <p:nvPr>
            <p:ph type="dt" sz="quarter" idx="10"/>
          </p:nvPr>
        </p:nvSpPr>
        <p:spPr>
          <a:xfrm>
            <a:off x="0" y="6538913"/>
            <a:ext cx="1198563" cy="319087"/>
          </a:xfrm>
        </p:spPr>
        <p:txBody>
          <a:bodyPr/>
          <a:lstStyle/>
          <a:p>
            <a:pPr>
              <a:defRPr/>
            </a:pPr>
            <a:fld id="{86B6F4F7-8D57-4BB3-AA60-1F6C789BE62E}" type="datetime3">
              <a:rPr lang="zh-CN" altLang="en-US"/>
              <a:t>2026年3月4日星期三</a:t>
            </a:fld>
            <a:endParaRPr lang="zh-CN" altLang="en-US"/>
          </a:p>
        </p:txBody>
      </p:sp>
    </p:spTree>
  </p:cSld>
  <p:clrMapOvr>
    <a:masterClrMapping/>
  </p:clrMapOvr>
  <p:transition advTm="5694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8002" name="Rectangle 18"/>
          <p:cNvSpPr>
            <a:spLocks noChangeArrowheads="1"/>
          </p:cNvSpPr>
          <p:nvPr/>
        </p:nvSpPr>
        <p:spPr bwMode="auto">
          <a:xfrm>
            <a:off x="4706938" y="2570163"/>
            <a:ext cx="4197350" cy="3162300"/>
          </a:xfrm>
          <a:prstGeom prst="rect">
            <a:avLst/>
          </a:prstGeom>
          <a:solidFill>
            <a:srgbClr val="CADAC2"/>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578001" name="Rectangle 17"/>
          <p:cNvSpPr>
            <a:spLocks noChangeArrowheads="1"/>
          </p:cNvSpPr>
          <p:nvPr/>
        </p:nvSpPr>
        <p:spPr bwMode="auto">
          <a:xfrm>
            <a:off x="275908" y="2333625"/>
            <a:ext cx="4197350" cy="3162300"/>
          </a:xfrm>
          <a:prstGeom prst="rect">
            <a:avLst/>
          </a:prstGeom>
          <a:solidFill>
            <a:srgbClr val="E6D7B6"/>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04453" name="Rectangle 5"/>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§1.2	</a:t>
            </a:r>
            <a:r>
              <a:rPr lang="zh-CN" altLang="en-US" sz="2500">
                <a:solidFill>
                  <a:srgbClr val="FF0000"/>
                </a:solidFill>
                <a:latin typeface="Times New Roman" panose="02020603050405020304" pitchFamily="18" charset="0"/>
              </a:rPr>
              <a:t>信号的概念</a:t>
            </a:r>
            <a:endParaRPr lang="zh-CN" altLang="en-US" sz="2000">
              <a:solidFill>
                <a:srgbClr val="FF0000"/>
              </a:solidFill>
              <a:latin typeface="Times New Roman" panose="02020603050405020304" pitchFamily="18" charset="0"/>
            </a:endParaRPr>
          </a:p>
        </p:txBody>
      </p:sp>
      <p:sp>
        <p:nvSpPr>
          <p:cNvPr id="1577991" name="Rectangle 7"/>
          <p:cNvSpPr>
            <a:spLocks noChangeArrowheads="1"/>
          </p:cNvSpPr>
          <p:nvPr/>
        </p:nvSpPr>
        <p:spPr bwMode="auto">
          <a:xfrm>
            <a:off x="1460500" y="5781675"/>
            <a:ext cx="59753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0" tIns="46036" rIns="92070" bIns="46036">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20000"/>
              </a:spcBef>
              <a:buClr>
                <a:schemeClr val="accent2"/>
              </a:buClr>
              <a:buFont typeface="Wingdings" panose="05000000000000000000" pitchFamily="2" charset="2"/>
              <a:buNone/>
            </a:pPr>
            <a:r>
              <a:rPr lang="en-US" altLang="zh-CN" sz="2500">
                <a:solidFill>
                  <a:srgbClr val="FF0000"/>
                </a:solidFill>
              </a:rPr>
              <a:t>f(t)</a:t>
            </a:r>
            <a:r>
              <a:rPr lang="zh-CN" altLang="en-US" sz="2500">
                <a:solidFill>
                  <a:srgbClr val="FF0000"/>
                </a:solidFill>
              </a:rPr>
              <a:t>既不是能量信号</a:t>
            </a:r>
            <a:r>
              <a:rPr lang="en-US" altLang="zh-CN" sz="2500">
                <a:solidFill>
                  <a:srgbClr val="FF0000"/>
                </a:solidFill>
              </a:rPr>
              <a:t>,</a:t>
            </a:r>
            <a:r>
              <a:rPr lang="zh-CN" altLang="en-US" sz="2500">
                <a:solidFill>
                  <a:srgbClr val="FF0000"/>
                </a:solidFill>
              </a:rPr>
              <a:t>也不是功率信号</a:t>
            </a:r>
          </a:p>
        </p:txBody>
      </p:sp>
      <p:grpSp>
        <p:nvGrpSpPr>
          <p:cNvPr id="104455" name="Group 20"/>
          <p:cNvGrpSpPr/>
          <p:nvPr/>
        </p:nvGrpSpPr>
        <p:grpSpPr bwMode="auto">
          <a:xfrm>
            <a:off x="238397" y="1544722"/>
            <a:ext cx="5629275" cy="625475"/>
            <a:chOff x="548" y="1275"/>
            <a:chExt cx="6260" cy="547"/>
          </a:xfrm>
        </p:grpSpPr>
        <p:sp>
          <p:nvSpPr>
            <p:cNvPr id="104464" name="Rectangle 9"/>
            <p:cNvSpPr>
              <a:spLocks noChangeArrowheads="1"/>
            </p:cNvSpPr>
            <p:nvPr/>
          </p:nvSpPr>
          <p:spPr bwMode="auto">
            <a:xfrm>
              <a:off x="548" y="1275"/>
              <a:ext cx="6260"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31529" tIns="65765" rIns="131529" bIns="65765">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60000"/>
                </a:lnSpc>
                <a:spcBef>
                  <a:spcPct val="20000"/>
                </a:spcBef>
                <a:buClr>
                  <a:schemeClr val="accent2"/>
                </a:buClr>
                <a:buFont typeface="Wingdings" panose="05000000000000000000" pitchFamily="2" charset="2"/>
                <a:buNone/>
              </a:pPr>
              <a:r>
                <a:rPr lang="zh-CN" altLang="en-US" sz="2000">
                  <a:ea typeface="宋体" panose="02010600030101010101" pitchFamily="2" charset="-122"/>
                </a:rPr>
                <a:t>例：         是能量信号还是功率信号？</a:t>
              </a:r>
            </a:p>
          </p:txBody>
        </p:sp>
        <mc:AlternateContent xmlns:mc="http://schemas.openxmlformats.org/markup-compatibility/2006" xmlns:a14="http://schemas.microsoft.com/office/drawing/2010/main">
          <mc:Choice Requires="a14">
            <p:sp>
              <p:nvSpPr>
                <p:cNvPr id="104465" name="Object 8"/>
                <p:cNvSpPr txBox="1"/>
                <p:nvPr/>
              </p:nvSpPr>
              <p:spPr bwMode="auto">
                <a:xfrm>
                  <a:off x="1206" y="1276"/>
                  <a:ext cx="1180" cy="320"/>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4465" name="Object 8"/>
                <p:cNvSpPr txBox="1">
                  <a:spLocks noRot="1" noChangeAspect="1" noMove="1" noResize="1" noEditPoints="1" noAdjustHandles="1" noChangeArrowheads="1" noChangeShapeType="1" noTextEdit="1"/>
                </p:cNvSpPr>
                <p:nvPr/>
              </p:nvSpPr>
              <p:spPr bwMode="auto">
                <a:xfrm>
                  <a:off x="1206" y="1276"/>
                  <a:ext cx="1180" cy="320"/>
                </a:xfrm>
                <a:prstGeom prst="rect">
                  <a:avLst/>
                </a:prstGeom>
                <a:blipFill rotWithShape="1">
                  <a:blip r:embed="rId4"/>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577997" name="Object 2"/>
              <p:cNvSpPr txBox="1"/>
              <p:nvPr/>
            </p:nvSpPr>
            <p:spPr bwMode="auto">
              <a:xfrm>
                <a:off x="461963" y="2504504"/>
                <a:ext cx="2984500" cy="985837"/>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解：</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lim>
                              </m:limLow>
                            </m:fName>
                            <m:e>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sub>
                                <m:sup>
                                  <m:r>
                                    <a:rPr lang="zh-CN" altLang="en-US" i="1">
                                      <a:solidFill>
                                        <a:srgbClr val="000000"/>
                                      </a:solidFill>
                                      <a:latin typeface="Cambria Math" panose="02040503050406030204" pitchFamily="18" charset="0"/>
                                    </a:rPr>
                                    <m:t>𝑎</m:t>
                                  </m:r>
                                </m:sup>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nary>
                            </m:e>
                          </m:func>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oMath>
                  </m:oMathPara>
                </a14:m>
                <a:endParaRPr lang="zh-CN" altLang="en-US" dirty="0"/>
              </a:p>
            </p:txBody>
          </p:sp>
        </mc:Choice>
        <mc:Fallback xmlns="">
          <p:sp>
            <p:nvSpPr>
              <p:cNvPr id="1577997" name="Object 2"/>
              <p:cNvSpPr txBox="1">
                <a:spLocks noRot="1" noChangeAspect="1" noMove="1" noResize="1" noEditPoints="1" noAdjustHandles="1" noChangeArrowheads="1" noChangeShapeType="1" noTextEdit="1"/>
              </p:cNvSpPr>
              <p:nvPr/>
            </p:nvSpPr>
            <p:spPr bwMode="auto">
              <a:xfrm>
                <a:off x="461963" y="2504504"/>
                <a:ext cx="2984500" cy="985837"/>
              </a:xfrm>
              <a:prstGeom prst="rect">
                <a:avLst/>
              </a:prstGeom>
              <a:blipFill rotWithShape="1">
                <a:blip r:embed="rId5"/>
                <a:stretch>
                  <a:fillRect l="-11" t="-2905" r="11" b="3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7998" name="Object 3"/>
              <p:cNvSpPr txBox="1"/>
              <p:nvPr/>
            </p:nvSpPr>
            <p:spPr bwMode="auto">
              <a:xfrm>
                <a:off x="855663" y="3455797"/>
                <a:ext cx="1828800" cy="1893888"/>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lim>
                          </m:limLow>
                        </m:fName>
                        <m:e>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𝑎</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e>
                          </m:nary>
                        </m:e>
                      </m:func>
                      <m:r>
                        <a:rPr lang="zh-CN" altLang="en-US" i="1">
                          <a:solidFill>
                            <a:srgbClr val="000000"/>
                          </a:solidFill>
                          <a:latin typeface="Cambria Math" panose="02040503050406030204" pitchFamily="18" charset="0"/>
                        </a:rPr>
                        <m:t>𝑑𝑡</m:t>
                      </m:r>
                    </m:oMath>
                    <m:oMath xmlns:m="http://schemas.openxmlformats.org/officeDocument/2006/math">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lim>
                          </m:limLow>
                        </m:fName>
                        <m:e>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3</m:t>
                                  </m:r>
                                </m:sup>
                              </m:sSup>
                            </m:num>
                            <m:den>
                              <m:r>
                                <a:rPr lang="zh-CN" altLang="en-US" i="1">
                                  <a:solidFill>
                                    <a:srgbClr val="000000"/>
                                  </a:solidFill>
                                  <a:latin typeface="Cambria Math" panose="02040503050406030204" pitchFamily="18" charset="0"/>
                                </a:rPr>
                                <m:t>3</m:t>
                              </m:r>
                            </m:den>
                          </m:f>
                        </m:e>
                      </m:func>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7998" name="Object 3"/>
              <p:cNvSpPr txBox="1">
                <a:spLocks noRot="1" noChangeAspect="1" noMove="1" noResize="1" noEditPoints="1" noAdjustHandles="1" noChangeArrowheads="1" noChangeShapeType="1" noTextEdit="1"/>
              </p:cNvSpPr>
              <p:nvPr/>
            </p:nvSpPr>
            <p:spPr bwMode="auto">
              <a:xfrm>
                <a:off x="855663" y="3455797"/>
                <a:ext cx="1828800" cy="1893888"/>
              </a:xfrm>
              <a:prstGeom prst="rect">
                <a:avLst/>
              </a:prstGeom>
              <a:blipFill rotWithShape="1">
                <a:blip r:embed="rId6"/>
                <a:stretch>
                  <a:fillRect l="-17" t="-2186" r="17" b="2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8000" name="Object 4"/>
              <p:cNvSpPr txBox="1"/>
              <p:nvPr/>
            </p:nvSpPr>
            <p:spPr bwMode="auto">
              <a:xfrm>
                <a:off x="5565775" y="3570288"/>
                <a:ext cx="2259013" cy="1892300"/>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lim>
                          </m:limLow>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𝑎</m:t>
                              </m:r>
                            </m:den>
                          </m:f>
                        </m:e>
                      </m:func>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𝑎</m:t>
                          </m:r>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e>
                      </m:nary>
                      <m:r>
                        <a:rPr lang="zh-CN" altLang="en-US" i="1">
                          <a:solidFill>
                            <a:srgbClr val="000000"/>
                          </a:solidFill>
                          <a:latin typeface="Cambria Math" panose="02040503050406030204" pitchFamily="18" charset="0"/>
                        </a:rPr>
                        <m:t>𝑑𝑡</m:t>
                      </m:r>
                    </m:oMath>
                    <m:oMath xmlns:m="http://schemas.openxmlformats.org/officeDocument/2006/math">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lim>
                          </m:limLow>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𝑎</m:t>
                              </m:r>
                            </m:den>
                          </m:f>
                        </m:e>
                      </m:fun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3</m:t>
                              </m:r>
                            </m:sup>
                          </m:sSup>
                        </m:num>
                        <m:den>
                          <m:r>
                            <a:rPr lang="zh-CN" altLang="en-US" i="1">
                              <a:solidFill>
                                <a:srgbClr val="000000"/>
                              </a:solidFill>
                              <a:latin typeface="Cambria Math" panose="02040503050406030204" pitchFamily="18" charset="0"/>
                            </a:rPr>
                            <m:t>3</m:t>
                          </m:r>
                        </m:den>
                      </m:f>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8000" name="Object 4"/>
              <p:cNvSpPr txBox="1">
                <a:spLocks noRot="1" noChangeAspect="1" noMove="1" noResize="1" noEditPoints="1" noAdjustHandles="1" noChangeArrowheads="1" noChangeShapeType="1" noTextEdit="1"/>
              </p:cNvSpPr>
              <p:nvPr/>
            </p:nvSpPr>
            <p:spPr bwMode="auto">
              <a:xfrm>
                <a:off x="5565775" y="3570288"/>
                <a:ext cx="2259013" cy="1892300"/>
              </a:xfrm>
              <a:prstGeom prst="rect">
                <a:avLst/>
              </a:prstGeom>
              <a:blipFill rotWithShape="1">
                <a:blip r:embed="rId7"/>
                <a:stretch>
                  <a:fillRect t="-2198" r="14" b="1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8003" name="Object 5"/>
              <p:cNvSpPr txBox="1"/>
              <p:nvPr/>
            </p:nvSpPr>
            <p:spPr bwMode="auto">
              <a:xfrm>
                <a:off x="4903788" y="2727325"/>
                <a:ext cx="2597150" cy="881063"/>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解：</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m:t>
                              </m:r>
                            </m:lim>
                          </m:limLow>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𝑎</m:t>
                              </m:r>
                            </m:den>
                          </m:f>
                        </m:e>
                      </m:func>
                      <m:sSup>
                        <m:sSupPr>
                          <m:ctrlPr>
                            <a:rPr lang="zh-CN" altLang="en-US" i="1">
                              <a:solidFill>
                                <a:srgbClr val="000000"/>
                              </a:solidFill>
                              <a:latin typeface="Cambria Math" panose="02040503050406030204" pitchFamily="18" charset="0"/>
                            </a:rPr>
                          </m:ctrlPr>
                        </m:sSupPr>
                        <m:e>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sub>
                            <m:sup>
                              <m:r>
                                <a:rPr lang="zh-CN" altLang="en-US" i="1">
                                  <a:solidFill>
                                    <a:srgbClr val="000000"/>
                                  </a:solidFill>
                                  <a:latin typeface="Cambria Math" panose="02040503050406030204" pitchFamily="18" charset="0"/>
                                </a:rPr>
                                <m:t>𝑎</m:t>
                              </m:r>
                            </m:sup>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nary>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oMath>
                  </m:oMathPara>
                </a14:m>
                <a:endParaRPr lang="zh-CN" altLang="en-US" dirty="0"/>
              </a:p>
            </p:txBody>
          </p:sp>
        </mc:Choice>
        <mc:Fallback xmlns="">
          <p:sp>
            <p:nvSpPr>
              <p:cNvPr id="1578003" name="Object 5"/>
              <p:cNvSpPr txBox="1">
                <a:spLocks noRot="1" noChangeAspect="1" noMove="1" noResize="1" noEditPoints="1" noAdjustHandles="1" noChangeArrowheads="1" noChangeShapeType="1" noTextEdit="1"/>
              </p:cNvSpPr>
              <p:nvPr/>
            </p:nvSpPr>
            <p:spPr bwMode="auto">
              <a:xfrm>
                <a:off x="4903788" y="2727325"/>
                <a:ext cx="2597150" cy="881063"/>
              </a:xfrm>
              <a:prstGeom prst="rect">
                <a:avLst/>
              </a:prstGeom>
              <a:blipFill rotWithShape="1">
                <a:blip r:embed="rId8"/>
                <a:stretch>
                  <a:fillRect l="-12" t="-2378" r="12" b="36"/>
                </a:stretch>
              </a:blipFill>
              <a:ln>
                <a:noFill/>
              </a:ln>
              <a:effectLst/>
            </p:spPr>
            <p:txBody>
              <a:bodyPr/>
              <a:lstStyle/>
              <a:p>
                <a:r>
                  <a:rPr lang="zh-CN" altLang="en-US">
                    <a:noFill/>
                  </a:rPr>
                  <a:t> </a:t>
                </a:r>
              </a:p>
            </p:txBody>
          </p:sp>
        </mc:Fallback>
      </mc:AlternateContent>
      <p:grpSp>
        <p:nvGrpSpPr>
          <p:cNvPr id="104460" name="Group 21"/>
          <p:cNvGrpSpPr/>
          <p:nvPr/>
        </p:nvGrpSpPr>
        <p:grpSpPr bwMode="auto">
          <a:xfrm>
            <a:off x="5867400" y="0"/>
            <a:ext cx="2913063" cy="2333625"/>
            <a:chOff x="5316" y="3227"/>
            <a:chExt cx="2921" cy="2313"/>
          </a:xfrm>
        </p:grpSpPr>
        <mc:AlternateContent xmlns:mc="http://schemas.openxmlformats.org/markup-compatibility/2006" xmlns:a14="http://schemas.microsoft.com/office/drawing/2010/main">
          <mc:Choice Requires="a14">
            <p:sp>
              <p:nvSpPr>
                <p:cNvPr id="104462" name="Object 6"/>
                <p:cNvSpPr txBox="1"/>
                <p:nvPr/>
              </p:nvSpPr>
              <p:spPr bwMode="auto">
                <a:xfrm>
                  <a:off x="5334" y="3227"/>
                  <a:ext cx="2886" cy="1361"/>
                </a:xfrm>
                <a:prstGeom prst="rect">
                  <a:avLst/>
                </a:prstGeom>
                <a:solidFill>
                  <a:srgbClr val="FFCC66"/>
                </a:solidFill>
                <a:ln>
                  <a:noFill/>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lim>
                            </m:limLow>
                          </m:fName>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b>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e>
                        </m:func>
                      </m:oMath>
                      <m:oMath xmlns:m="http://schemas.openxmlformats.org/officeDocument/2006/math">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oMath>
                    </m:oMathPara>
                  </a14:m>
                  <a:endParaRPr lang="zh-CN" altLang="en-US"/>
                </a:p>
              </p:txBody>
            </p:sp>
          </mc:Choice>
          <mc:Fallback xmlns="">
            <p:sp>
              <p:nvSpPr>
                <p:cNvPr id="104462" name="Object 6"/>
                <p:cNvSpPr txBox="1">
                  <a:spLocks noRot="1" noChangeAspect="1" noMove="1" noResize="1" noEditPoints="1" noAdjustHandles="1" noChangeArrowheads="1" noChangeShapeType="1" noTextEdit="1"/>
                </p:cNvSpPr>
                <p:nvPr/>
              </p:nvSpPr>
              <p:spPr bwMode="auto">
                <a:xfrm>
                  <a:off x="5334" y="3227"/>
                  <a:ext cx="2886" cy="1361"/>
                </a:xfrm>
                <a:prstGeom prst="rect">
                  <a:avLst/>
                </a:prstGeom>
                <a:blipFill rotWithShape="1">
                  <a:blip r:embed="rId9"/>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463" name="Object 7"/>
                <p:cNvSpPr txBox="1"/>
                <p:nvPr/>
              </p:nvSpPr>
              <p:spPr bwMode="auto">
                <a:xfrm>
                  <a:off x="5316" y="4643"/>
                  <a:ext cx="2921" cy="897"/>
                </a:xfrm>
                <a:prstGeom prst="rect">
                  <a:avLst/>
                </a:prstGeom>
                <a:solidFill>
                  <a:srgbClr val="FFCC66"/>
                </a:solidFill>
                <a:ln>
                  <a:noFill/>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lim>
                            </m:limLow>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𝑇</m:t>
                                </m:r>
                              </m:den>
                            </m:f>
                          </m:e>
                        </m:func>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b>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𝑇</m:t>
                                </m:r>
                              </m:num>
                              <m:den>
                                <m:r>
                                  <a:rPr lang="zh-CN" altLang="en-US" i="1">
                                    <a:solidFill>
                                      <a:srgbClr val="000000"/>
                                    </a:solidFill>
                                    <a:latin typeface="Cambria Math" panose="02040503050406030204" pitchFamily="18" charset="0"/>
                                  </a:rPr>
                                  <m:t>2</m:t>
                                </m:r>
                              </m:den>
                            </m:f>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oMath>
                    </m:oMathPara>
                  </a14:m>
                  <a:endParaRPr lang="zh-CN" altLang="en-US"/>
                </a:p>
              </p:txBody>
            </p:sp>
          </mc:Choice>
          <mc:Fallback xmlns="">
            <p:sp>
              <p:nvSpPr>
                <p:cNvPr id="104463" name="Object 7"/>
                <p:cNvSpPr txBox="1">
                  <a:spLocks noRot="1" noChangeAspect="1" noMove="1" noResize="1" noEditPoints="1" noAdjustHandles="1" noChangeArrowheads="1" noChangeShapeType="1" noTextEdit="1"/>
                </p:cNvSpPr>
                <p:nvPr/>
              </p:nvSpPr>
              <p:spPr bwMode="auto">
                <a:xfrm>
                  <a:off x="5316" y="4643"/>
                  <a:ext cx="2921" cy="897"/>
                </a:xfrm>
                <a:prstGeom prst="rect">
                  <a:avLst/>
                </a:prstGeom>
                <a:blipFill rotWithShape="1">
                  <a:blip r:embed="rId10"/>
                </a:blipFill>
                <a:ln>
                  <a:noFill/>
                </a:ln>
              </p:spPr>
              <p:txBody>
                <a:bodyPr/>
                <a:lstStyle/>
                <a:p>
                  <a:r>
                    <a:rPr lang="zh-CN" altLang="en-US">
                      <a:noFill/>
                    </a:rPr>
                    <a:t> </a:t>
                  </a:r>
                </a:p>
              </p:txBody>
            </p:sp>
          </mc:Fallback>
        </mc:AlternateContent>
      </p:grpSp>
      <p:sp>
        <p:nvSpPr>
          <p:cNvPr id="19" name="日期占位符 18"/>
          <p:cNvSpPr>
            <a:spLocks noGrp="1"/>
          </p:cNvSpPr>
          <p:nvPr>
            <p:ph type="dt" sz="quarter" idx="10"/>
          </p:nvPr>
        </p:nvSpPr>
        <p:spPr/>
        <p:txBody>
          <a:bodyPr/>
          <a:lstStyle/>
          <a:p>
            <a:pPr>
              <a:defRPr/>
            </a:pPr>
            <a:fld id="{9BE163B2-B4C9-4259-8407-B5E7B72BBA59}" type="datetime3">
              <a:rPr lang="zh-CN" altLang="en-US"/>
              <a:t>2026年3月4日星期三</a:t>
            </a:fld>
            <a:endParaRPr lang="en-US" altLang="zh-CN" dirty="0"/>
          </a:p>
        </p:txBody>
      </p:sp>
      <mc:AlternateContent xmlns:mc="http://schemas.openxmlformats.org/markup-compatibility/2006" xmlns:a14="http://schemas.microsoft.com/office/drawing/2010/main">
        <mc:Choice Requires="a14">
          <p:sp>
            <p:nvSpPr>
              <p:cNvPr id="17" name="Object 4"/>
              <p:cNvSpPr txBox="1">
                <a:spLocks noGrp="1"/>
              </p:cNvSpPr>
              <p:nvPr>
                <p:ph sz="quarter" idx="2"/>
              </p:nvPr>
            </p:nvSpPr>
            <p:spPr bwMode="auto">
              <a:xfrm>
                <a:off x="3175562" y="-21611"/>
                <a:ext cx="2428240" cy="1416357"/>
              </a:xfrm>
              <a:prstGeom prst="rect">
                <a:avLst/>
              </a:prstGeom>
              <a:noFill/>
              <a:ln>
                <a:noFill/>
              </a:ln>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单位阶跃函数：</m:t>
                      </m:r>
                    </m:oMath>
                    <m:oMath xmlns:m="http://schemas.openxmlformats.org/officeDocument/2006/math">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&amp; 1  </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&gt;0</m:t>
                              </m:r>
                            </m:e>
                            <m:e>
                              <m:r>
                                <a:rPr lang="zh-CN" altLang="en-US" i="1">
                                  <a:solidFill>
                                    <a:srgbClr val="000000"/>
                                  </a:solidFill>
                                  <a:latin typeface="Cambria Math" panose="02040503050406030204" pitchFamily="18" charset="0"/>
                                </a:rPr>
                                <m:t>&amp; 0  </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&lt;0</m:t>
                              </m:r>
                            </m:e>
                          </m:eqArr>
                        </m:e>
                      </m:d>
                    </m:oMath>
                  </m:oMathPara>
                </a14:m>
                <a:endParaRPr lang="zh-CN" altLang="en-US"/>
              </a:p>
            </p:txBody>
          </p:sp>
        </mc:Choice>
        <mc:Fallback xmlns="">
          <p:sp>
            <p:nvSpPr>
              <p:cNvPr id="17" name="Object 4"/>
              <p:cNvSpPr txBox="1">
                <a:spLocks noGrp="1" noRot="1" noChangeAspect="1" noMove="1" noResize="1" noEditPoints="1" noAdjustHandles="1" noChangeArrowheads="1" noChangeShapeType="1" noTextEdit="1"/>
              </p:cNvSpPr>
              <p:nvPr>
                <p:ph sz="quarter" idx="2"/>
              </p:nvPr>
            </p:nvSpPr>
            <p:spPr bwMode="auto">
              <a:xfrm>
                <a:off x="3175562" y="-21611"/>
                <a:ext cx="2428240" cy="1416357"/>
              </a:xfrm>
              <a:prstGeom prst="rect">
                <a:avLst/>
              </a:prstGeom>
              <a:blipFill>
                <a:blip r:embed="rId11"/>
                <a:stretch>
                  <a:fillRect l="-1005"/>
                </a:stretch>
              </a:blipFill>
              <a:ln>
                <a:noFill/>
              </a:ln>
            </p:spPr>
            <p:txBody>
              <a:bodyPr/>
              <a:lstStyle/>
              <a:p>
                <a:r>
                  <a:rPr lang="zh-CN" altLang="en-US">
                    <a:noFill/>
                  </a:rPr>
                  <a:t> </a:t>
                </a:r>
              </a:p>
            </p:txBody>
          </p:sp>
        </mc:Fallback>
      </mc:AlternateContent>
    </p:spTree>
    <p:custDataLst>
      <p:tags r:id="rId1"/>
    </p:custDataLst>
  </p:cSld>
  <p:clrMapOvr>
    <a:masterClrMapping/>
  </p:clrMapOvr>
  <p:transition spd="med" advTm="98640">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78001"/>
                                        </p:tgtEl>
                                        <p:attrNameLst>
                                          <p:attrName>style.visibility</p:attrName>
                                        </p:attrNameLst>
                                      </p:cBhvr>
                                      <p:to>
                                        <p:strVal val="visible"/>
                                      </p:to>
                                    </p:set>
                                    <p:anim calcmode="lin" valueType="num">
                                      <p:cBhvr additive="base">
                                        <p:cTn id="7" dur="500" fill="hold"/>
                                        <p:tgtEl>
                                          <p:spTgt spid="1578001"/>
                                        </p:tgtEl>
                                        <p:attrNameLst>
                                          <p:attrName>ppt_x</p:attrName>
                                        </p:attrNameLst>
                                      </p:cBhvr>
                                      <p:tavLst>
                                        <p:tav tm="0">
                                          <p:val>
                                            <p:strVal val="#ppt_x"/>
                                          </p:val>
                                        </p:tav>
                                        <p:tav tm="100000">
                                          <p:val>
                                            <p:strVal val="#ppt_x"/>
                                          </p:val>
                                        </p:tav>
                                      </p:tavLst>
                                    </p:anim>
                                    <p:anim calcmode="lin" valueType="num">
                                      <p:cBhvr additive="base">
                                        <p:cTn id="8" dur="500" fill="hold"/>
                                        <p:tgtEl>
                                          <p:spTgt spid="157800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7799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7799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578002"/>
                                        </p:tgtEl>
                                        <p:attrNameLst>
                                          <p:attrName>style.visibility</p:attrName>
                                        </p:attrNameLst>
                                      </p:cBhvr>
                                      <p:to>
                                        <p:strVal val="visible"/>
                                      </p:to>
                                    </p:set>
                                    <p:anim calcmode="lin" valueType="num">
                                      <p:cBhvr>
                                        <p:cTn id="21" dur="1000" fill="hold"/>
                                        <p:tgtEl>
                                          <p:spTgt spid="1578002"/>
                                        </p:tgtEl>
                                        <p:attrNameLst>
                                          <p:attrName>ppt_w</p:attrName>
                                        </p:attrNameLst>
                                      </p:cBhvr>
                                      <p:tavLst>
                                        <p:tav tm="0">
                                          <p:val>
                                            <p:strVal val="#ppt_w*0.70"/>
                                          </p:val>
                                        </p:tav>
                                        <p:tav tm="100000">
                                          <p:val>
                                            <p:strVal val="#ppt_w"/>
                                          </p:val>
                                        </p:tav>
                                      </p:tavLst>
                                    </p:anim>
                                    <p:anim calcmode="lin" valueType="num">
                                      <p:cBhvr>
                                        <p:cTn id="22" dur="1000" fill="hold"/>
                                        <p:tgtEl>
                                          <p:spTgt spid="1578002"/>
                                        </p:tgtEl>
                                        <p:attrNameLst>
                                          <p:attrName>ppt_h</p:attrName>
                                        </p:attrNameLst>
                                      </p:cBhvr>
                                      <p:tavLst>
                                        <p:tav tm="0">
                                          <p:val>
                                            <p:strVal val="#ppt_h"/>
                                          </p:val>
                                        </p:tav>
                                        <p:tav tm="100000">
                                          <p:val>
                                            <p:strVal val="#ppt_h"/>
                                          </p:val>
                                        </p:tav>
                                      </p:tavLst>
                                    </p:anim>
                                    <p:animEffect transition="in" filter="fade">
                                      <p:cBhvr>
                                        <p:cTn id="23" dur="1000"/>
                                        <p:tgtEl>
                                          <p:spTgt spid="157800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7800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7800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grpId="0" nodeType="clickEffect">
                                  <p:stCondLst>
                                    <p:cond delay="0"/>
                                  </p:stCondLst>
                                  <p:childTnLst>
                                    <p:set>
                                      <p:cBhvr>
                                        <p:cTn id="35" dur="1" fill="hold">
                                          <p:stCondLst>
                                            <p:cond delay="0"/>
                                          </p:stCondLst>
                                        </p:cTn>
                                        <p:tgtEl>
                                          <p:spTgt spid="1577991"/>
                                        </p:tgtEl>
                                        <p:attrNameLst>
                                          <p:attrName>style.visibility</p:attrName>
                                        </p:attrNameLst>
                                      </p:cBhvr>
                                      <p:to>
                                        <p:strVal val="visible"/>
                                      </p:to>
                                    </p:set>
                                    <p:anim calcmode="lin" valueType="num">
                                      <p:cBhvr>
                                        <p:cTn id="36" dur="1000" fill="hold"/>
                                        <p:tgtEl>
                                          <p:spTgt spid="1577991"/>
                                        </p:tgtEl>
                                        <p:attrNameLst>
                                          <p:attrName>ppt_w</p:attrName>
                                        </p:attrNameLst>
                                      </p:cBhvr>
                                      <p:tavLst>
                                        <p:tav tm="0">
                                          <p:val>
                                            <p:strVal val="#ppt_w*0.70"/>
                                          </p:val>
                                        </p:tav>
                                        <p:tav tm="100000">
                                          <p:val>
                                            <p:strVal val="#ppt_w"/>
                                          </p:val>
                                        </p:tav>
                                      </p:tavLst>
                                    </p:anim>
                                    <p:anim calcmode="lin" valueType="num">
                                      <p:cBhvr>
                                        <p:cTn id="37" dur="1000" fill="hold"/>
                                        <p:tgtEl>
                                          <p:spTgt spid="1577991"/>
                                        </p:tgtEl>
                                        <p:attrNameLst>
                                          <p:attrName>ppt_h</p:attrName>
                                        </p:attrNameLst>
                                      </p:cBhvr>
                                      <p:tavLst>
                                        <p:tav tm="0">
                                          <p:val>
                                            <p:strVal val="#ppt_h"/>
                                          </p:val>
                                        </p:tav>
                                        <p:tav tm="100000">
                                          <p:val>
                                            <p:strVal val="#ppt_h"/>
                                          </p:val>
                                        </p:tav>
                                      </p:tavLst>
                                    </p:anim>
                                    <p:animEffect transition="in" filter="fade">
                                      <p:cBhvr>
                                        <p:cTn id="38" dur="1000"/>
                                        <p:tgtEl>
                                          <p:spTgt spid="1577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8002" grpId="0" animBg="1"/>
      <p:bldP spid="1578001" grpId="0" bldLvl="0" animBg="1"/>
      <p:bldP spid="1577991" grpId="0"/>
      <p:bldP spid="1577997" grpId="0" bldLvl="0" animBg="1"/>
      <p:bldP spid="1577998" grpId="0" bldLvl="0" animBg="1"/>
      <p:bldP spid="1578000" grpId="0"/>
      <p:bldP spid="157800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4338638" y="862013"/>
            <a:ext cx="2566987" cy="517525"/>
          </a:xfrm>
        </p:spPr>
        <p:txBody>
          <a:bodyPr/>
          <a:lstStyle/>
          <a:p>
            <a:r>
              <a:rPr lang="zh-CN" altLang="en-US" sz="2000" b="1">
                <a:solidFill>
                  <a:srgbClr val="0000FF"/>
                </a:solidFill>
                <a:ea typeface="黑体" panose="02010609060101010101" pitchFamily="49" charset="-122"/>
              </a:rPr>
              <a:t>信号的特性</a:t>
            </a:r>
            <a:r>
              <a:rPr lang="en-US" altLang="zh-CN" sz="2000" b="1">
                <a:solidFill>
                  <a:srgbClr val="0000FF"/>
                </a:solidFill>
                <a:ea typeface="黑体" panose="02010609060101010101" pitchFamily="49" charset="-122"/>
              </a:rPr>
              <a:t>**</a:t>
            </a:r>
          </a:p>
        </p:txBody>
      </p:sp>
      <p:sp>
        <p:nvSpPr>
          <p:cNvPr id="1548291" name="Rectangle 3"/>
          <p:cNvSpPr>
            <a:spLocks noGrp="1" noChangeArrowheads="1"/>
          </p:cNvSpPr>
          <p:nvPr>
            <p:ph type="body" sz="half" idx="1"/>
          </p:nvPr>
        </p:nvSpPr>
        <p:spPr>
          <a:xfrm>
            <a:off x="1014413" y="1482725"/>
            <a:ext cx="6962775" cy="4667250"/>
          </a:xfrm>
          <a:ln w="57150">
            <a:solidFill>
              <a:schemeClr val="tx1"/>
            </a:solidFill>
            <a:miter lim="800000"/>
          </a:ln>
        </p:spPr>
        <p:txBody>
          <a:bodyPr/>
          <a:lstStyle/>
          <a:p>
            <a:pPr>
              <a:lnSpc>
                <a:spcPct val="150000"/>
              </a:lnSpc>
              <a:spcBef>
                <a:spcPct val="50000"/>
              </a:spcBef>
              <a:buFont typeface="Wingdings" panose="05000000000000000000" pitchFamily="2" charset="2"/>
              <a:buNone/>
            </a:pPr>
            <a:r>
              <a:rPr lang="zh-CN" altLang="en-US" sz="1700" b="1">
                <a:solidFill>
                  <a:srgbClr val="FF0000"/>
                </a:solidFill>
              </a:rPr>
              <a:t>   信号的基本特性是指时间特性和频率特性</a:t>
            </a:r>
          </a:p>
          <a:p>
            <a:pPr>
              <a:lnSpc>
                <a:spcPct val="150000"/>
              </a:lnSpc>
              <a:spcBef>
                <a:spcPct val="50000"/>
              </a:spcBef>
              <a:buFont typeface="Wingdings" panose="05000000000000000000" pitchFamily="2" charset="2"/>
              <a:buChar char="l"/>
            </a:pPr>
            <a:r>
              <a:rPr lang="zh-CN" altLang="en-US" sz="1700" b="1"/>
              <a:t>时间特性：用信号随时间变化的波形来描述，主要是指信号随时间变化快慢的特性，体现为信号的周期</a:t>
            </a:r>
            <a:r>
              <a:rPr lang="en-US" altLang="zh-CN" sz="1700" b="1"/>
              <a:t>T</a:t>
            </a:r>
            <a:r>
              <a:rPr lang="zh-CN" altLang="en-US" sz="1700" b="1"/>
              <a:t>和信号单个脉冲的持续时间      及上升时间和下降时间的不同；</a:t>
            </a:r>
          </a:p>
          <a:p>
            <a:pPr>
              <a:lnSpc>
                <a:spcPct val="150000"/>
              </a:lnSpc>
              <a:spcBef>
                <a:spcPct val="50000"/>
              </a:spcBef>
              <a:buFont typeface="Wingdings" panose="05000000000000000000" pitchFamily="2" charset="2"/>
              <a:buChar char="l"/>
            </a:pPr>
            <a:endParaRPr lang="zh-CN" altLang="en-US" sz="1700" b="1"/>
          </a:p>
          <a:p>
            <a:pPr>
              <a:lnSpc>
                <a:spcPct val="150000"/>
              </a:lnSpc>
              <a:spcBef>
                <a:spcPct val="50000"/>
              </a:spcBef>
              <a:buFont typeface="Wingdings" panose="05000000000000000000" pitchFamily="2" charset="2"/>
              <a:buChar char="l"/>
            </a:pPr>
            <a:endParaRPr lang="zh-CN" altLang="en-US" sz="1700" b="1"/>
          </a:p>
          <a:p>
            <a:pPr>
              <a:lnSpc>
                <a:spcPct val="150000"/>
              </a:lnSpc>
              <a:spcBef>
                <a:spcPct val="50000"/>
              </a:spcBef>
              <a:buFont typeface="Wingdings" panose="05000000000000000000" pitchFamily="2" charset="2"/>
              <a:buChar char="l"/>
            </a:pPr>
            <a:endParaRPr lang="zh-CN" altLang="en-US" sz="1700" b="1"/>
          </a:p>
          <a:p>
            <a:pPr lvl="2">
              <a:lnSpc>
                <a:spcPct val="150000"/>
              </a:lnSpc>
              <a:spcBef>
                <a:spcPct val="50000"/>
              </a:spcBef>
              <a:buFont typeface="Wingdings" panose="05000000000000000000" pitchFamily="2" charset="2"/>
              <a:buNone/>
            </a:pPr>
            <a:endParaRPr lang="zh-CN" altLang="en-US" sz="1700" b="1"/>
          </a:p>
          <a:p>
            <a:pPr>
              <a:lnSpc>
                <a:spcPct val="150000"/>
              </a:lnSpc>
              <a:spcBef>
                <a:spcPct val="50000"/>
              </a:spcBef>
              <a:buFont typeface="Wingdings" panose="05000000000000000000" pitchFamily="2" charset="2"/>
              <a:buChar char="l"/>
            </a:pPr>
            <a:r>
              <a:rPr lang="zh-CN" altLang="en-US" sz="1700" b="1"/>
              <a:t>频率特性：傅里叶变换                频谱 </a:t>
            </a:r>
          </a:p>
          <a:p>
            <a:pPr>
              <a:lnSpc>
                <a:spcPct val="150000"/>
              </a:lnSpc>
              <a:spcBef>
                <a:spcPct val="50000"/>
              </a:spcBef>
              <a:buFont typeface="Wingdings" panose="05000000000000000000" pitchFamily="2" charset="2"/>
              <a:buChar char="l"/>
            </a:pPr>
            <a:endParaRPr lang="en-US" altLang="zh-CN" sz="1700" b="1"/>
          </a:p>
        </p:txBody>
      </p:sp>
      <p:sp>
        <p:nvSpPr>
          <p:cNvPr id="1548293" name="AutoShape 5"/>
          <p:cNvSpPr>
            <a:spLocks noChangeArrowheads="1"/>
          </p:cNvSpPr>
          <p:nvPr/>
        </p:nvSpPr>
        <p:spPr bwMode="auto">
          <a:xfrm>
            <a:off x="4010025" y="5548313"/>
            <a:ext cx="647700" cy="215900"/>
          </a:xfrm>
          <a:prstGeom prst="rightArrow">
            <a:avLst>
              <a:gd name="adj1" fmla="val 50000"/>
              <a:gd name="adj2" fmla="val 7875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06501" name="Rectangle 8"/>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000">
                <a:solidFill>
                  <a:srgbClr val="FF0000"/>
                </a:solidFill>
              </a:rPr>
              <a:t>§1.2	</a:t>
            </a:r>
            <a:r>
              <a:rPr lang="zh-CN" altLang="en-US" sz="2000">
                <a:solidFill>
                  <a:srgbClr val="FF0000"/>
                </a:solidFill>
              </a:rPr>
              <a:t>信号的概念</a:t>
            </a:r>
          </a:p>
        </p:txBody>
      </p:sp>
      <mc:AlternateContent xmlns:mc="http://schemas.openxmlformats.org/markup-compatibility/2006" xmlns:a14="http://schemas.microsoft.com/office/drawing/2010/main">
        <mc:Choice Requires="a14">
          <p:sp>
            <p:nvSpPr>
              <p:cNvPr id="1548298" name="Object 2"/>
              <p:cNvSpPr txBox="1"/>
              <p:nvPr/>
            </p:nvSpPr>
            <p:spPr bwMode="auto">
              <a:xfrm>
                <a:off x="7237413" y="2754313"/>
                <a:ext cx="225425" cy="260350"/>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𝜏</m:t>
                      </m:r>
                    </m:oMath>
                  </m:oMathPara>
                </a14:m>
                <a:endParaRPr lang="zh-CN" altLang="en-US"/>
              </a:p>
            </p:txBody>
          </p:sp>
        </mc:Choice>
        <mc:Fallback xmlns="">
          <p:sp>
            <p:nvSpPr>
              <p:cNvPr id="1548298" name="Object 2"/>
              <p:cNvSpPr txBox="1">
                <a:spLocks noRot="1" noChangeAspect="1" noMove="1" noResize="1" noEditPoints="1" noAdjustHandles="1" noChangeArrowheads="1" noChangeShapeType="1" noTextEdit="1"/>
              </p:cNvSpPr>
              <p:nvPr/>
            </p:nvSpPr>
            <p:spPr bwMode="auto">
              <a:xfrm>
                <a:off x="7237413" y="2754313"/>
                <a:ext cx="225425" cy="260350"/>
              </a:xfrm>
              <a:prstGeom prst="rect">
                <a:avLst/>
              </a:prstGeom>
              <a:blipFill rotWithShape="1">
                <a:blip r:embed="rId5"/>
                <a:stretch>
                  <a:fillRect l="-141" t="-122" r="141" b="122"/>
                </a:stretch>
              </a:blipFill>
              <a:ln>
                <a:noFill/>
              </a:ln>
              <a:effectLst/>
            </p:spPr>
            <p:txBody>
              <a:bodyPr/>
              <a:lstStyle/>
              <a:p>
                <a:r>
                  <a:rPr lang="zh-CN" altLang="en-US">
                    <a:noFill/>
                  </a:rPr>
                  <a:t> </a:t>
                </a:r>
              </a:p>
            </p:txBody>
          </p:sp>
        </mc:Fallback>
      </mc:AlternateContent>
      <p:graphicFrame>
        <p:nvGraphicFramePr>
          <p:cNvPr id="1548299" name="Object 3"/>
          <p:cNvGraphicFramePr>
            <a:graphicFrameLocks noChangeAspect="1"/>
          </p:cNvGraphicFramePr>
          <p:nvPr/>
        </p:nvGraphicFramePr>
        <p:xfrm>
          <a:off x="4127500" y="3324225"/>
          <a:ext cx="2913063" cy="1931988"/>
        </p:xfrm>
        <a:graphic>
          <a:graphicData uri="http://schemas.openxmlformats.org/presentationml/2006/ole">
            <mc:AlternateContent xmlns:mc="http://schemas.openxmlformats.org/markup-compatibility/2006">
              <mc:Choice xmlns:v="urn:schemas-microsoft-com:vml" Requires="v">
                <p:oleObj spid="_x0000_s5142" name="图片" r:id="rId6" imgW="2968625" imgH="1877695" progId="Word.Picture.8">
                  <p:embed/>
                </p:oleObj>
              </mc:Choice>
              <mc:Fallback>
                <p:oleObj name="图片" r:id="rId6" imgW="2968625" imgH="1877695" progId="Word.Picture.8">
                  <p:embed/>
                  <p:pic>
                    <p:nvPicPr>
                      <p:cNvPr id="0" name="图片 51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7500" y="3324225"/>
                        <a:ext cx="2913063" cy="1931988"/>
                      </a:xfrm>
                      <a:prstGeom prst="rect">
                        <a:avLst/>
                      </a:prstGeom>
                      <a:solidFill>
                        <a:srgbClr val="E6D7B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0"/>
          <p:cNvGrpSpPr/>
          <p:nvPr/>
        </p:nvGrpSpPr>
        <p:grpSpPr bwMode="auto">
          <a:xfrm>
            <a:off x="473075" y="638175"/>
            <a:ext cx="3408363" cy="4140200"/>
            <a:chOff x="435" y="558"/>
            <a:chExt cx="3130" cy="3622"/>
          </a:xfrm>
        </p:grpSpPr>
        <p:pic>
          <p:nvPicPr>
            <p:cNvPr id="106507" name="Picture 15" descr="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5" y="596"/>
              <a:ext cx="3067" cy="1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8" name="Picture 16" descr="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6" y="2488"/>
              <a:ext cx="3099" cy="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9" name="Text Box 17"/>
            <p:cNvSpPr txBox="1">
              <a:spLocks noChangeArrowheads="1"/>
            </p:cNvSpPr>
            <p:nvPr/>
          </p:nvSpPr>
          <p:spPr bwMode="auto">
            <a:xfrm>
              <a:off x="1749" y="558"/>
              <a:ext cx="1066"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脉冲信号振幅谱</a:t>
              </a:r>
            </a:p>
          </p:txBody>
        </p:sp>
        <p:sp>
          <p:nvSpPr>
            <p:cNvPr id="106510" name="Text Box 18"/>
            <p:cNvSpPr txBox="1">
              <a:spLocks noChangeArrowheads="1"/>
            </p:cNvSpPr>
            <p:nvPr/>
          </p:nvSpPr>
          <p:spPr bwMode="auto">
            <a:xfrm>
              <a:off x="2174" y="2626"/>
              <a:ext cx="914"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相位谱</a:t>
              </a:r>
            </a:p>
          </p:txBody>
        </p:sp>
      </p:grpSp>
      <p:sp>
        <p:nvSpPr>
          <p:cNvPr id="16" name="日期占位符 15"/>
          <p:cNvSpPr>
            <a:spLocks noGrp="1"/>
          </p:cNvSpPr>
          <p:nvPr>
            <p:ph type="dt" sz="quarter" idx="10"/>
          </p:nvPr>
        </p:nvSpPr>
        <p:spPr/>
        <p:txBody>
          <a:bodyPr/>
          <a:lstStyle/>
          <a:p>
            <a:pPr>
              <a:defRPr/>
            </a:pPr>
            <a:fld id="{CCC8E1DE-A4A2-4B9C-9EA6-0DD3876EC228}" type="datetime3">
              <a:rPr lang="zh-CN" altLang="en-US"/>
              <a:t>2026年3月4日星期三</a:t>
            </a:fld>
            <a:endParaRPr lang="zh-CN" altLang="en-US" dirty="0"/>
          </a:p>
        </p:txBody>
      </p:sp>
    </p:spTree>
    <p:custDataLst>
      <p:tags r:id="rId2"/>
    </p:custDataLst>
  </p:cSld>
  <p:clrMapOvr>
    <a:masterClrMapping/>
  </p:clrMapOvr>
  <p:transition advTm="11883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48291">
                                            <p:bg/>
                                          </p:spTgt>
                                        </p:tgtEl>
                                        <p:attrNameLst>
                                          <p:attrName>style.visibility</p:attrName>
                                        </p:attrNameLst>
                                      </p:cBhvr>
                                      <p:to>
                                        <p:strVal val="visible"/>
                                      </p:to>
                                    </p:set>
                                    <p:anim calcmode="lin" valueType="num">
                                      <p:cBhvr>
                                        <p:cTn id="7" dur="1000" fill="hold"/>
                                        <p:tgtEl>
                                          <p:spTgt spid="1548291">
                                            <p:bg/>
                                          </p:spTgt>
                                        </p:tgtEl>
                                        <p:attrNameLst>
                                          <p:attrName>ppt_w</p:attrName>
                                        </p:attrNameLst>
                                      </p:cBhvr>
                                      <p:tavLst>
                                        <p:tav tm="0">
                                          <p:val>
                                            <p:strVal val="#ppt_w*0.70"/>
                                          </p:val>
                                        </p:tav>
                                        <p:tav tm="100000">
                                          <p:val>
                                            <p:strVal val="#ppt_w"/>
                                          </p:val>
                                        </p:tav>
                                      </p:tavLst>
                                    </p:anim>
                                    <p:anim calcmode="lin" valueType="num">
                                      <p:cBhvr>
                                        <p:cTn id="8" dur="1000" fill="hold"/>
                                        <p:tgtEl>
                                          <p:spTgt spid="1548291">
                                            <p:bg/>
                                          </p:spTgt>
                                        </p:tgtEl>
                                        <p:attrNameLst>
                                          <p:attrName>ppt_h</p:attrName>
                                        </p:attrNameLst>
                                      </p:cBhvr>
                                      <p:tavLst>
                                        <p:tav tm="0">
                                          <p:val>
                                            <p:strVal val="#ppt_h"/>
                                          </p:val>
                                        </p:tav>
                                        <p:tav tm="100000">
                                          <p:val>
                                            <p:strVal val="#ppt_h"/>
                                          </p:val>
                                        </p:tav>
                                      </p:tavLst>
                                    </p:anim>
                                    <p:animEffect transition="in" filter="fade">
                                      <p:cBhvr>
                                        <p:cTn id="9" dur="1000"/>
                                        <p:tgtEl>
                                          <p:spTgt spid="1548291">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48291">
                                            <p:txEl>
                                              <p:pRg st="0" end="0"/>
                                            </p:txEl>
                                          </p:spTgt>
                                        </p:tgtEl>
                                        <p:attrNameLst>
                                          <p:attrName>style.visibility</p:attrName>
                                        </p:attrNameLst>
                                      </p:cBhvr>
                                      <p:to>
                                        <p:strVal val="visible"/>
                                      </p:to>
                                    </p:set>
                                    <p:anim calcmode="lin" valueType="num">
                                      <p:cBhvr>
                                        <p:cTn id="12" dur="1000" fill="hold"/>
                                        <p:tgtEl>
                                          <p:spTgt spid="1548291">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548291">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548291">
                                            <p:txEl>
                                              <p:pRg st="0" end="0"/>
                                            </p:txEl>
                                          </p:spTgt>
                                        </p:tgtEl>
                                      </p:cBhvr>
                                    </p:animEffect>
                                  </p:childTnLst>
                                </p:cTn>
                              </p:par>
                            </p:childTnLst>
                          </p:cTn>
                        </p:par>
                        <p:par>
                          <p:cTn id="15" fill="hold">
                            <p:stCondLst>
                              <p:cond delay="1000"/>
                            </p:stCondLst>
                            <p:childTnLst>
                              <p:par>
                                <p:cTn id="16" presetID="55" presetClass="entr" presetSubtype="0" fill="hold" grpId="0" nodeType="afterEffect">
                                  <p:stCondLst>
                                    <p:cond delay="0"/>
                                  </p:stCondLst>
                                  <p:childTnLst>
                                    <p:set>
                                      <p:cBhvr>
                                        <p:cTn id="17" dur="1" fill="hold">
                                          <p:stCondLst>
                                            <p:cond delay="0"/>
                                          </p:stCondLst>
                                        </p:cTn>
                                        <p:tgtEl>
                                          <p:spTgt spid="1548291">
                                            <p:txEl>
                                              <p:pRg st="1" end="1"/>
                                            </p:txEl>
                                          </p:spTgt>
                                        </p:tgtEl>
                                        <p:attrNameLst>
                                          <p:attrName>style.visibility</p:attrName>
                                        </p:attrNameLst>
                                      </p:cBhvr>
                                      <p:to>
                                        <p:strVal val="visible"/>
                                      </p:to>
                                    </p:set>
                                    <p:anim calcmode="lin" valueType="num">
                                      <p:cBhvr>
                                        <p:cTn id="18" dur="1000" fill="hold"/>
                                        <p:tgtEl>
                                          <p:spTgt spid="1548291">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1548291">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1548291">
                                            <p:txEl>
                                              <p:pRg st="1" end="1"/>
                                            </p:txEl>
                                          </p:spTgt>
                                        </p:tgtEl>
                                      </p:cBhvr>
                                    </p:animEffect>
                                  </p:childTnLst>
                                </p:cTn>
                              </p:par>
                            </p:childTnLst>
                          </p:cTn>
                        </p:par>
                        <p:par>
                          <p:cTn id="21" fill="hold">
                            <p:stCondLst>
                              <p:cond delay="2000"/>
                            </p:stCondLst>
                            <p:childTnLst>
                              <p:par>
                                <p:cTn id="22" presetID="55" presetClass="entr" presetSubtype="0" fill="hold" nodeType="afterEffect">
                                  <p:stCondLst>
                                    <p:cond delay="0"/>
                                  </p:stCondLst>
                                  <p:childTnLst>
                                    <p:set>
                                      <p:cBhvr>
                                        <p:cTn id="23" dur="1" fill="hold">
                                          <p:stCondLst>
                                            <p:cond delay="0"/>
                                          </p:stCondLst>
                                        </p:cTn>
                                        <p:tgtEl>
                                          <p:spTgt spid="1548299"/>
                                        </p:tgtEl>
                                        <p:attrNameLst>
                                          <p:attrName>style.visibility</p:attrName>
                                        </p:attrNameLst>
                                      </p:cBhvr>
                                      <p:to>
                                        <p:strVal val="visible"/>
                                      </p:to>
                                    </p:set>
                                    <p:anim calcmode="lin" valueType="num">
                                      <p:cBhvr>
                                        <p:cTn id="24" dur="1000" fill="hold"/>
                                        <p:tgtEl>
                                          <p:spTgt spid="1548299"/>
                                        </p:tgtEl>
                                        <p:attrNameLst>
                                          <p:attrName>ppt_w</p:attrName>
                                        </p:attrNameLst>
                                      </p:cBhvr>
                                      <p:tavLst>
                                        <p:tav tm="0">
                                          <p:val>
                                            <p:strVal val="#ppt_w*0.70"/>
                                          </p:val>
                                        </p:tav>
                                        <p:tav tm="100000">
                                          <p:val>
                                            <p:strVal val="#ppt_w"/>
                                          </p:val>
                                        </p:tav>
                                      </p:tavLst>
                                    </p:anim>
                                    <p:anim calcmode="lin" valueType="num">
                                      <p:cBhvr>
                                        <p:cTn id="25" dur="1000" fill="hold"/>
                                        <p:tgtEl>
                                          <p:spTgt spid="1548299"/>
                                        </p:tgtEl>
                                        <p:attrNameLst>
                                          <p:attrName>ppt_h</p:attrName>
                                        </p:attrNameLst>
                                      </p:cBhvr>
                                      <p:tavLst>
                                        <p:tav tm="0">
                                          <p:val>
                                            <p:strVal val="#ppt_h"/>
                                          </p:val>
                                        </p:tav>
                                        <p:tav tm="100000">
                                          <p:val>
                                            <p:strVal val="#ppt_h"/>
                                          </p:val>
                                        </p:tav>
                                      </p:tavLst>
                                    </p:anim>
                                    <p:animEffect transition="in" filter="fade">
                                      <p:cBhvr>
                                        <p:cTn id="26" dur="1000"/>
                                        <p:tgtEl>
                                          <p:spTgt spid="1548299"/>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1548291">
                                            <p:txEl>
                                              <p:pRg st="6" end="6"/>
                                            </p:txEl>
                                          </p:spTgt>
                                        </p:tgtEl>
                                        <p:attrNameLst>
                                          <p:attrName>style.visibility</p:attrName>
                                        </p:attrNameLst>
                                      </p:cBhvr>
                                      <p:to>
                                        <p:strVal val="visible"/>
                                      </p:to>
                                    </p:set>
                                    <p:anim calcmode="lin" valueType="num">
                                      <p:cBhvr>
                                        <p:cTn id="31" dur="1000" fill="hold"/>
                                        <p:tgtEl>
                                          <p:spTgt spid="1548291">
                                            <p:txEl>
                                              <p:pRg st="6" end="6"/>
                                            </p:txEl>
                                          </p:spTgt>
                                        </p:tgtEl>
                                        <p:attrNameLst>
                                          <p:attrName>ppt_w</p:attrName>
                                        </p:attrNameLst>
                                      </p:cBhvr>
                                      <p:tavLst>
                                        <p:tav tm="0">
                                          <p:val>
                                            <p:strVal val="#ppt_w*0.70"/>
                                          </p:val>
                                        </p:tav>
                                        <p:tav tm="100000">
                                          <p:val>
                                            <p:strVal val="#ppt_w"/>
                                          </p:val>
                                        </p:tav>
                                      </p:tavLst>
                                    </p:anim>
                                    <p:anim calcmode="lin" valueType="num">
                                      <p:cBhvr>
                                        <p:cTn id="32" dur="1000" fill="hold"/>
                                        <p:tgtEl>
                                          <p:spTgt spid="1548291">
                                            <p:txEl>
                                              <p:pRg st="6" end="6"/>
                                            </p:txEl>
                                          </p:spTgt>
                                        </p:tgtEl>
                                        <p:attrNameLst>
                                          <p:attrName>ppt_h</p:attrName>
                                        </p:attrNameLst>
                                      </p:cBhvr>
                                      <p:tavLst>
                                        <p:tav tm="0">
                                          <p:val>
                                            <p:strVal val="#ppt_h"/>
                                          </p:val>
                                        </p:tav>
                                        <p:tav tm="100000">
                                          <p:val>
                                            <p:strVal val="#ppt_h"/>
                                          </p:val>
                                        </p:tav>
                                      </p:tavLst>
                                    </p:anim>
                                    <p:animEffect transition="in" filter="fade">
                                      <p:cBhvr>
                                        <p:cTn id="33" dur="1000"/>
                                        <p:tgtEl>
                                          <p:spTgt spid="1548291">
                                            <p:txEl>
                                              <p:pRg st="6" end="6"/>
                                            </p:txEl>
                                          </p:spTgt>
                                        </p:tgtEl>
                                      </p:cBhvr>
                                    </p:animEffect>
                                  </p:childTnLst>
                                </p:cTn>
                              </p:par>
                              <p:par>
                                <p:cTn id="34" presetID="55" presetClass="entr" presetSubtype="0" fill="hold" grpId="0" nodeType="withEffect">
                                  <p:stCondLst>
                                    <p:cond delay="0"/>
                                  </p:stCondLst>
                                  <p:childTnLst>
                                    <p:set>
                                      <p:cBhvr>
                                        <p:cTn id="35" dur="1" fill="hold">
                                          <p:stCondLst>
                                            <p:cond delay="0"/>
                                          </p:stCondLst>
                                        </p:cTn>
                                        <p:tgtEl>
                                          <p:spTgt spid="1548293"/>
                                        </p:tgtEl>
                                        <p:attrNameLst>
                                          <p:attrName>style.visibility</p:attrName>
                                        </p:attrNameLst>
                                      </p:cBhvr>
                                      <p:to>
                                        <p:strVal val="visible"/>
                                      </p:to>
                                    </p:set>
                                    <p:anim calcmode="lin" valueType="num">
                                      <p:cBhvr>
                                        <p:cTn id="36" dur="1000" fill="hold"/>
                                        <p:tgtEl>
                                          <p:spTgt spid="1548293"/>
                                        </p:tgtEl>
                                        <p:attrNameLst>
                                          <p:attrName>ppt_w</p:attrName>
                                        </p:attrNameLst>
                                      </p:cBhvr>
                                      <p:tavLst>
                                        <p:tav tm="0">
                                          <p:val>
                                            <p:strVal val="#ppt_w*0.70"/>
                                          </p:val>
                                        </p:tav>
                                        <p:tav tm="100000">
                                          <p:val>
                                            <p:strVal val="#ppt_w"/>
                                          </p:val>
                                        </p:tav>
                                      </p:tavLst>
                                    </p:anim>
                                    <p:anim calcmode="lin" valueType="num">
                                      <p:cBhvr>
                                        <p:cTn id="37" dur="1000" fill="hold"/>
                                        <p:tgtEl>
                                          <p:spTgt spid="1548293"/>
                                        </p:tgtEl>
                                        <p:attrNameLst>
                                          <p:attrName>ppt_h</p:attrName>
                                        </p:attrNameLst>
                                      </p:cBhvr>
                                      <p:tavLst>
                                        <p:tav tm="0">
                                          <p:val>
                                            <p:strVal val="#ppt_h"/>
                                          </p:val>
                                        </p:tav>
                                        <p:tav tm="100000">
                                          <p:val>
                                            <p:strVal val="#ppt_h"/>
                                          </p:val>
                                        </p:tav>
                                      </p:tavLst>
                                    </p:anim>
                                    <p:animEffect transition="in" filter="fade">
                                      <p:cBhvr>
                                        <p:cTn id="38" dur="1000"/>
                                        <p:tgtEl>
                                          <p:spTgt spid="1548293"/>
                                        </p:tgtEl>
                                      </p:cBhvr>
                                    </p:animEffect>
                                  </p:childTnLst>
                                </p:cTn>
                              </p:par>
                            </p:childTnLst>
                          </p:cTn>
                        </p:par>
                        <p:par>
                          <p:cTn id="39" fill="hold">
                            <p:stCondLst>
                              <p:cond delay="1000"/>
                            </p:stCondLst>
                            <p:childTnLst>
                              <p:par>
                                <p:cTn id="40" presetID="55" presetClass="entr" presetSubtype="0" fill="hold" nodeType="after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1000" fill="hold"/>
                                        <p:tgtEl>
                                          <p:spTgt spid="2"/>
                                        </p:tgtEl>
                                        <p:attrNameLst>
                                          <p:attrName>ppt_w</p:attrName>
                                        </p:attrNameLst>
                                      </p:cBhvr>
                                      <p:tavLst>
                                        <p:tav tm="0">
                                          <p:val>
                                            <p:strVal val="#ppt_w*0.70"/>
                                          </p:val>
                                        </p:tav>
                                        <p:tav tm="100000">
                                          <p:val>
                                            <p:strVal val="#ppt_w"/>
                                          </p:val>
                                        </p:tav>
                                      </p:tavLst>
                                    </p:anim>
                                    <p:anim calcmode="lin" valueType="num">
                                      <p:cBhvr>
                                        <p:cTn id="43" dur="1000" fill="hold"/>
                                        <p:tgtEl>
                                          <p:spTgt spid="2"/>
                                        </p:tgtEl>
                                        <p:attrNameLst>
                                          <p:attrName>ppt_h</p:attrName>
                                        </p:attrNameLst>
                                      </p:cBhvr>
                                      <p:tavLst>
                                        <p:tav tm="0">
                                          <p:val>
                                            <p:strVal val="#ppt_h"/>
                                          </p:val>
                                        </p:tav>
                                        <p:tav tm="100000">
                                          <p:val>
                                            <p:strVal val="#ppt_h"/>
                                          </p:val>
                                        </p:tav>
                                      </p:tavLst>
                                    </p:anim>
                                    <p:animEffect transition="in" filter="fade">
                                      <p:cBhvr>
                                        <p:cTn id="4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8291" grpId="0" build="p" animBg="1"/>
      <p:bldP spid="154829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315" name="Rectangle 3"/>
          <p:cNvSpPr>
            <a:spLocks noGrp="1" noChangeArrowheads="1"/>
          </p:cNvSpPr>
          <p:nvPr>
            <p:ph type="body" sz="half" idx="1"/>
          </p:nvPr>
        </p:nvSpPr>
        <p:spPr>
          <a:xfrm>
            <a:off x="411163" y="1303338"/>
            <a:ext cx="7210425" cy="777875"/>
          </a:xfrm>
        </p:spPr>
        <p:txBody>
          <a:bodyPr/>
          <a:lstStyle/>
          <a:p>
            <a:pPr marL="412750" indent="-412750">
              <a:lnSpc>
                <a:spcPct val="125000"/>
              </a:lnSpc>
              <a:buFontTx/>
              <a:buAutoNum type="alphaLcParenR"/>
            </a:pPr>
            <a:r>
              <a:rPr lang="zh-CN" altLang="en-US" sz="1700" b="1">
                <a:solidFill>
                  <a:srgbClr val="FF0000"/>
                </a:solidFill>
              </a:rPr>
              <a:t>信号的相加与相乘：</a:t>
            </a:r>
            <a:r>
              <a:rPr lang="zh-CN" altLang="en-US" sz="1700" b="1"/>
              <a:t>为两个信号的时间函数相加（乘），反映在波形上则是将两信号相同时刻的函数值相加（乘）；      </a:t>
            </a:r>
          </a:p>
        </p:txBody>
      </p:sp>
      <p:sp>
        <p:nvSpPr>
          <p:cNvPr id="108547" name="Rectangle 6"/>
          <p:cNvSpPr>
            <a:spLocks noChangeArrowheads="1"/>
          </p:cNvSpPr>
          <p:nvPr/>
        </p:nvSpPr>
        <p:spPr bwMode="auto">
          <a:xfrm>
            <a:off x="177800" y="630238"/>
            <a:ext cx="35544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§1.3	</a:t>
            </a:r>
            <a:r>
              <a:rPr lang="zh-CN" altLang="en-US" sz="2500">
                <a:solidFill>
                  <a:srgbClr val="FF0000"/>
                </a:solidFill>
                <a:latin typeface="Times New Roman" panose="02020603050405020304" pitchFamily="18" charset="0"/>
              </a:rPr>
              <a:t>信号的简单处理</a:t>
            </a:r>
            <a:endParaRPr lang="zh-CN" altLang="en-US" sz="2000">
              <a:solidFill>
                <a:srgbClr val="FF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549320" name="Object 2"/>
              <p:cNvSpPr txBox="1"/>
              <p:nvPr/>
            </p:nvSpPr>
            <p:spPr bwMode="auto">
              <a:xfrm>
                <a:off x="1398588" y="2144713"/>
                <a:ext cx="3060700" cy="777875"/>
              </a:xfrm>
              <a:prstGeom prst="rect">
                <a:avLst/>
              </a:prstGeom>
              <a:solidFill>
                <a:srgbClr val="CADAC2"/>
              </a:solid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相加：</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相乘：</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49320" name="Object 2"/>
              <p:cNvSpPr txBox="1">
                <a:spLocks noRot="1" noChangeAspect="1" noMove="1" noResize="1" noEditPoints="1" noAdjustHandles="1" noChangeArrowheads="1" noChangeShapeType="1" noTextEdit="1"/>
              </p:cNvSpPr>
              <p:nvPr/>
            </p:nvSpPr>
            <p:spPr bwMode="auto">
              <a:xfrm>
                <a:off x="1398588" y="2144713"/>
                <a:ext cx="3060700" cy="777875"/>
              </a:xfrm>
              <a:prstGeom prst="rect">
                <a:avLst/>
              </a:prstGeom>
              <a:blipFill rotWithShape="1">
                <a:blip r:embed="rId4"/>
                <a:stretch>
                  <a:fillRect l="-10" t="-41" r="10" b="41"/>
                </a:stretch>
              </a:blipFill>
              <a:ln>
                <a:noFill/>
              </a:ln>
              <a:effectLst/>
            </p:spPr>
            <p:txBody>
              <a:bodyPr/>
              <a:lstStyle/>
              <a:p>
                <a:r>
                  <a:rPr lang="zh-CN" altLang="en-US">
                    <a:noFill/>
                  </a:rPr>
                  <a:t> </a:t>
                </a:r>
              </a:p>
            </p:txBody>
          </p:sp>
        </mc:Fallback>
      </mc:AlternateContent>
      <p:grpSp>
        <p:nvGrpSpPr>
          <p:cNvPr id="2" name="Group 23"/>
          <p:cNvGrpSpPr/>
          <p:nvPr/>
        </p:nvGrpSpPr>
        <p:grpSpPr bwMode="auto">
          <a:xfrm>
            <a:off x="271463" y="2854325"/>
            <a:ext cx="8872537" cy="1517650"/>
            <a:chOff x="726" y="2825"/>
            <a:chExt cx="7394" cy="1329"/>
          </a:xfrm>
        </p:grpSpPr>
        <p:grpSp>
          <p:nvGrpSpPr>
            <p:cNvPr id="108565" name="Group 14"/>
            <p:cNvGrpSpPr/>
            <p:nvPr/>
          </p:nvGrpSpPr>
          <p:grpSpPr bwMode="auto">
            <a:xfrm>
              <a:off x="4491" y="2976"/>
              <a:ext cx="1678" cy="318"/>
              <a:chOff x="4518" y="3091"/>
              <a:chExt cx="1678" cy="318"/>
            </a:xfrm>
          </p:grpSpPr>
          <mc:AlternateContent xmlns:mc="http://schemas.openxmlformats.org/markup-compatibility/2006" xmlns:a14="http://schemas.microsoft.com/office/drawing/2010/main">
            <mc:Choice Requires="a14">
              <p:sp>
                <p:nvSpPr>
                  <p:cNvPr id="108573" name="Object 17"/>
                  <p:cNvSpPr txBox="1"/>
                  <p:nvPr/>
                </p:nvSpPr>
                <p:spPr bwMode="auto">
                  <a:xfrm>
                    <a:off x="4518" y="3091"/>
                    <a:ext cx="454" cy="303"/>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73" name="Object 17"/>
                  <p:cNvSpPr txBox="1">
                    <a:spLocks noRot="1" noChangeAspect="1" noMove="1" noResize="1" noEditPoints="1" noAdjustHandles="1" noChangeArrowheads="1" noChangeShapeType="1" noTextEdit="1"/>
                  </p:cNvSpPr>
                  <p:nvPr/>
                </p:nvSpPr>
                <p:spPr bwMode="auto">
                  <a:xfrm>
                    <a:off x="4518" y="3091"/>
                    <a:ext cx="454" cy="303"/>
                  </a:xfrm>
                  <a:prstGeom prst="rect">
                    <a:avLst/>
                  </a:prstGeom>
                  <a:blipFill rotWithShape="1">
                    <a:blip r:embed="rId5"/>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74" name="Object 18"/>
                  <p:cNvSpPr txBox="1"/>
                  <p:nvPr/>
                </p:nvSpPr>
                <p:spPr bwMode="auto">
                  <a:xfrm>
                    <a:off x="5362" y="3091"/>
                    <a:ext cx="834" cy="318"/>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108574" name="Object 18"/>
                  <p:cNvSpPr txBox="1">
                    <a:spLocks noRot="1" noChangeAspect="1" noMove="1" noResize="1" noEditPoints="1" noAdjustHandles="1" noChangeArrowheads="1" noChangeShapeType="1" noTextEdit="1"/>
                  </p:cNvSpPr>
                  <p:nvPr/>
                </p:nvSpPr>
                <p:spPr bwMode="auto">
                  <a:xfrm>
                    <a:off x="5362" y="3091"/>
                    <a:ext cx="834" cy="318"/>
                  </a:xfrm>
                  <a:prstGeom prst="rect">
                    <a:avLst/>
                  </a:prstGeom>
                  <a:blipFill rotWithShape="1">
                    <a:blip r:embed="rId6"/>
                  </a:blipFill>
                  <a:ln>
                    <a:noFill/>
                  </a:ln>
                  <a:effectLst/>
                </p:spPr>
                <p:txBody>
                  <a:bodyPr/>
                  <a:lstStyle/>
                  <a:p>
                    <a:r>
                      <a:rPr lang="zh-CN" altLang="en-US">
                        <a:noFill/>
                      </a:rPr>
                      <a:t> </a:t>
                    </a:r>
                  </a:p>
                </p:txBody>
              </p:sp>
            </mc:Fallback>
          </mc:AlternateContent>
          <p:sp>
            <p:nvSpPr>
              <p:cNvPr id="108575" name="Line 13"/>
              <p:cNvSpPr>
                <a:spLocks noChangeShapeType="1"/>
              </p:cNvSpPr>
              <p:nvPr/>
            </p:nvSpPr>
            <p:spPr bwMode="auto">
              <a:xfrm>
                <a:off x="5016" y="3227"/>
                <a:ext cx="318" cy="0"/>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grpSp>
        <p:sp>
          <p:nvSpPr>
            <p:cNvPr id="108566" name="Rectangle 9"/>
            <p:cNvSpPr>
              <a:spLocks noChangeArrowheads="1"/>
            </p:cNvSpPr>
            <p:nvPr/>
          </p:nvSpPr>
          <p:spPr bwMode="auto">
            <a:xfrm>
              <a:off x="726" y="2825"/>
              <a:ext cx="7394" cy="1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412750" indent="-412750">
                <a:defRPr sz="2800" b="1">
                  <a:solidFill>
                    <a:schemeClr val="tx1"/>
                  </a:solidFill>
                  <a:latin typeface="黑体" panose="02010609060101010101" pitchFamily="49" charset="-122"/>
                  <a:ea typeface="黑体" panose="02010609060101010101" pitchFamily="49" charset="-122"/>
                </a:defRPr>
              </a:lvl1pPr>
              <a:lvl2pPr marL="869950" indent="-412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20000"/>
                </a:spcBef>
                <a:buClr>
                  <a:schemeClr val="accent2"/>
                </a:buClr>
                <a:buFontTx/>
                <a:buAutoNum type="alphaLcParenR" startAt="2"/>
              </a:pPr>
              <a:r>
                <a:rPr lang="zh-CN" altLang="en-US" sz="2000">
                  <a:solidFill>
                    <a:srgbClr val="FF0000"/>
                  </a:solidFill>
                  <a:latin typeface="Times New Roman" panose="02020603050405020304" pitchFamily="18" charset="0"/>
                  <a:ea typeface="宋体" panose="02010600030101010101" pitchFamily="2" charset="-122"/>
                </a:rPr>
                <a:t>信号的延时：</a:t>
              </a:r>
              <a:r>
                <a:rPr lang="zh-CN" altLang="en-US" sz="2000">
                  <a:latin typeface="Times New Roman" panose="02020603050405020304" pitchFamily="18" charset="0"/>
                  <a:ea typeface="宋体" panose="02010600030101010101" pitchFamily="2" charset="-122"/>
                </a:rPr>
                <a:t>波形沿时间轴的移动</a:t>
              </a:r>
            </a:p>
            <a:p>
              <a:pPr lvl="1" eaLnBrk="1" hangingPunct="1">
                <a:lnSpc>
                  <a:spcPct val="145000"/>
                </a:lnSpc>
                <a:spcBef>
                  <a:spcPct val="20000"/>
                </a:spcBef>
                <a:buClr>
                  <a:schemeClr val="accent2"/>
                </a:buClr>
                <a:buFont typeface="Wingdings" panose="05000000000000000000" pitchFamily="2" charset="2"/>
                <a:buChar char="l"/>
              </a:pPr>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0</a:t>
              </a:r>
              <a:r>
                <a:rPr lang="en-US" altLang="zh-CN" sz="2000">
                  <a:latin typeface="Times New Roman" panose="02020603050405020304" pitchFamily="18" charset="0"/>
                  <a:ea typeface="宋体" panose="02010600030101010101" pitchFamily="2" charset="-122"/>
                </a:rPr>
                <a:t>&gt;0</a:t>
              </a:r>
              <a:r>
                <a:rPr lang="zh-CN" altLang="en-US" sz="2000">
                  <a:latin typeface="Times New Roman" panose="02020603050405020304" pitchFamily="18" charset="0"/>
                  <a:ea typeface="宋体" panose="02010600030101010101" pitchFamily="2" charset="-122"/>
                </a:rPr>
                <a:t>表示信号               滞后于         ，其波形由         波形右移</a:t>
              </a:r>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0</a:t>
              </a:r>
              <a:r>
                <a:rPr lang="zh-CN" altLang="en-US" sz="2000">
                  <a:latin typeface="Times New Roman" panose="02020603050405020304" pitchFamily="18" charset="0"/>
                  <a:ea typeface="宋体" panose="02010600030101010101" pitchFamily="2" charset="-122"/>
                </a:rPr>
                <a:t>得到；</a:t>
              </a:r>
            </a:p>
            <a:p>
              <a:pPr lvl="1" eaLnBrk="1" hangingPunct="1">
                <a:lnSpc>
                  <a:spcPct val="145000"/>
                </a:lnSpc>
                <a:spcBef>
                  <a:spcPct val="20000"/>
                </a:spcBef>
                <a:buClr>
                  <a:schemeClr val="accent2"/>
                </a:buClr>
                <a:buFont typeface="Wingdings" panose="05000000000000000000" pitchFamily="2" charset="2"/>
                <a:buChar char="l"/>
              </a:pPr>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0</a:t>
              </a:r>
              <a:r>
                <a:rPr lang="en-US" altLang="zh-CN" sz="2000">
                  <a:latin typeface="Times New Roman" panose="02020603050405020304" pitchFamily="18" charset="0"/>
                  <a:ea typeface="宋体" panose="02010600030101010101" pitchFamily="2" charset="-122"/>
                </a:rPr>
                <a:t>&lt;0</a:t>
              </a:r>
              <a:r>
                <a:rPr lang="zh-CN" altLang="en-US" sz="2000">
                  <a:latin typeface="Times New Roman" panose="02020603050405020304" pitchFamily="18" charset="0"/>
                  <a:ea typeface="宋体" panose="02010600030101010101" pitchFamily="2" charset="-122"/>
                </a:rPr>
                <a:t>表示信号               超前于         ，其波形由         波形左移</a:t>
              </a:r>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0</a:t>
              </a:r>
              <a:r>
                <a:rPr lang="zh-CN" altLang="en-US" sz="2000">
                  <a:latin typeface="Times New Roman" panose="02020603050405020304" pitchFamily="18" charset="0"/>
                  <a:ea typeface="宋体" panose="02010600030101010101" pitchFamily="2" charset="-122"/>
                </a:rPr>
                <a:t>得到；</a:t>
              </a:r>
            </a:p>
          </p:txBody>
        </p:sp>
        <mc:AlternateContent xmlns:mc="http://schemas.openxmlformats.org/markup-compatibility/2006" xmlns:a14="http://schemas.microsoft.com/office/drawing/2010/main">
          <mc:Choice Requires="a14">
            <p:sp>
              <p:nvSpPr>
                <p:cNvPr id="108567" name="Object 11"/>
                <p:cNvSpPr txBox="1"/>
                <p:nvPr/>
              </p:nvSpPr>
              <p:spPr bwMode="auto">
                <a:xfrm>
                  <a:off x="2800" y="3397"/>
                  <a:ext cx="810" cy="281"/>
                </a:xfrm>
                <a:prstGeom prst="rect">
                  <a:avLst/>
                </a:prstGeom>
                <a:noFill/>
                <a:ln>
                  <a:noFill/>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108567" name="Object 11"/>
                <p:cNvSpPr txBox="1">
                  <a:spLocks noRot="1" noChangeAspect="1" noMove="1" noResize="1" noEditPoints="1" noAdjustHandles="1" noChangeArrowheads="1" noChangeShapeType="1" noTextEdit="1"/>
                </p:cNvSpPr>
                <p:nvPr/>
              </p:nvSpPr>
              <p:spPr bwMode="auto">
                <a:xfrm>
                  <a:off x="2800" y="3397"/>
                  <a:ext cx="810" cy="281"/>
                </a:xfrm>
                <a:prstGeom prst="rect">
                  <a:avLst/>
                </a:prstGeom>
                <a:blipFill rotWithShape="1">
                  <a:blip r:embed="rId7"/>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68" name="Object 12"/>
                <p:cNvSpPr txBox="1"/>
                <p:nvPr/>
              </p:nvSpPr>
              <p:spPr bwMode="auto">
                <a:xfrm>
                  <a:off x="2704" y="3840"/>
                  <a:ext cx="906" cy="314"/>
                </a:xfrm>
                <a:prstGeom prst="rect">
                  <a:avLst/>
                </a:prstGeom>
                <a:noFill/>
                <a:ln>
                  <a:noFill/>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108568" name="Object 12"/>
                <p:cNvSpPr txBox="1">
                  <a:spLocks noRot="1" noChangeAspect="1" noMove="1" noResize="1" noEditPoints="1" noAdjustHandles="1" noChangeArrowheads="1" noChangeShapeType="1" noTextEdit="1"/>
                </p:cNvSpPr>
                <p:nvPr/>
              </p:nvSpPr>
              <p:spPr bwMode="auto">
                <a:xfrm>
                  <a:off x="2704" y="3840"/>
                  <a:ext cx="906" cy="314"/>
                </a:xfrm>
                <a:prstGeom prst="rect">
                  <a:avLst/>
                </a:prstGeom>
                <a:blipFill rotWithShape="1">
                  <a:blip r:embed="rId8"/>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69" name="Object 13"/>
                <p:cNvSpPr txBox="1"/>
                <p:nvPr/>
              </p:nvSpPr>
              <p:spPr bwMode="auto">
                <a:xfrm>
                  <a:off x="4219" y="3412"/>
                  <a:ext cx="505" cy="307"/>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69" name="Object 13"/>
                <p:cNvSpPr txBox="1">
                  <a:spLocks noRot="1" noChangeAspect="1" noMove="1" noResize="1" noEditPoints="1" noAdjustHandles="1" noChangeArrowheads="1" noChangeShapeType="1" noTextEdit="1"/>
                </p:cNvSpPr>
                <p:nvPr/>
              </p:nvSpPr>
              <p:spPr bwMode="auto">
                <a:xfrm>
                  <a:off x="4219" y="3412"/>
                  <a:ext cx="505" cy="307"/>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70" name="Object 14"/>
                <p:cNvSpPr txBox="1"/>
                <p:nvPr/>
              </p:nvSpPr>
              <p:spPr bwMode="auto">
                <a:xfrm>
                  <a:off x="5797" y="3413"/>
                  <a:ext cx="505" cy="307"/>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70" name="Object 14"/>
                <p:cNvSpPr txBox="1">
                  <a:spLocks noRot="1" noChangeAspect="1" noMove="1" noResize="1" noEditPoints="1" noAdjustHandles="1" noChangeArrowheads="1" noChangeShapeType="1" noTextEdit="1"/>
                </p:cNvSpPr>
                <p:nvPr/>
              </p:nvSpPr>
              <p:spPr bwMode="auto">
                <a:xfrm>
                  <a:off x="5797" y="3413"/>
                  <a:ext cx="505" cy="307"/>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71" name="Object 15"/>
                <p:cNvSpPr txBox="1"/>
                <p:nvPr/>
              </p:nvSpPr>
              <p:spPr bwMode="auto">
                <a:xfrm>
                  <a:off x="4170" y="3847"/>
                  <a:ext cx="505" cy="307"/>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71" name="Object 15"/>
                <p:cNvSpPr txBox="1">
                  <a:spLocks noRot="1" noChangeAspect="1" noMove="1" noResize="1" noEditPoints="1" noAdjustHandles="1" noChangeArrowheads="1" noChangeShapeType="1" noTextEdit="1"/>
                </p:cNvSpPr>
                <p:nvPr/>
              </p:nvSpPr>
              <p:spPr bwMode="auto">
                <a:xfrm>
                  <a:off x="4170" y="3847"/>
                  <a:ext cx="505" cy="307"/>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72" name="Object 16"/>
                <p:cNvSpPr txBox="1"/>
                <p:nvPr/>
              </p:nvSpPr>
              <p:spPr bwMode="auto">
                <a:xfrm>
                  <a:off x="5708" y="3834"/>
                  <a:ext cx="505" cy="307"/>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72" name="Object 16"/>
                <p:cNvSpPr txBox="1">
                  <a:spLocks noRot="1" noChangeAspect="1" noMove="1" noResize="1" noEditPoints="1" noAdjustHandles="1" noChangeArrowheads="1" noChangeShapeType="1" noTextEdit="1"/>
                </p:cNvSpPr>
                <p:nvPr/>
              </p:nvSpPr>
              <p:spPr bwMode="auto">
                <a:xfrm>
                  <a:off x="5708" y="3834"/>
                  <a:ext cx="505" cy="307"/>
                </a:xfrm>
                <a:prstGeom prst="rect">
                  <a:avLst/>
                </a:prstGeom>
                <a:blipFill rotWithShape="1">
                  <a:blip r:embed="rId9"/>
                </a:blipFill>
                <a:ln>
                  <a:noFill/>
                </a:ln>
                <a:effectLst/>
              </p:spPr>
              <p:txBody>
                <a:bodyPr/>
                <a:lstStyle/>
                <a:p>
                  <a:r>
                    <a:rPr lang="zh-CN" altLang="en-US">
                      <a:noFill/>
                    </a:rPr>
                    <a:t> </a:t>
                  </a:r>
                </a:p>
              </p:txBody>
            </p:sp>
          </mc:Fallback>
        </mc:AlternateContent>
      </p:grpSp>
      <p:grpSp>
        <p:nvGrpSpPr>
          <p:cNvPr id="4" name="Group 37"/>
          <p:cNvGrpSpPr/>
          <p:nvPr/>
        </p:nvGrpSpPr>
        <p:grpSpPr bwMode="auto">
          <a:xfrm>
            <a:off x="201613" y="4595813"/>
            <a:ext cx="5160962" cy="468312"/>
            <a:chOff x="556" y="4021"/>
            <a:chExt cx="4326" cy="409"/>
          </a:xfrm>
        </p:grpSpPr>
        <p:sp>
          <p:nvSpPr>
            <p:cNvPr id="108560" name="Rectangle 10"/>
            <p:cNvSpPr>
              <a:spLocks noChangeArrowheads="1"/>
            </p:cNvSpPr>
            <p:nvPr/>
          </p:nvSpPr>
          <p:spPr bwMode="auto">
            <a:xfrm>
              <a:off x="556" y="4021"/>
              <a:ext cx="3152"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412750" indent="-4127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Tx/>
                <a:buAutoNum type="alphaLcParenR" startAt="3"/>
              </a:pPr>
              <a:r>
                <a:rPr lang="en-US" altLang="zh-CN" sz="2000">
                  <a:latin typeface="Times New Roman" panose="02020603050405020304" pitchFamily="18" charset="0"/>
                  <a:ea typeface="宋体" panose="02010600030101010101" pitchFamily="2" charset="-122"/>
                </a:rPr>
                <a:t> </a:t>
              </a:r>
              <a:r>
                <a:rPr lang="zh-CN" altLang="en-US" sz="2000">
                  <a:solidFill>
                    <a:srgbClr val="FF0000"/>
                  </a:solidFill>
                  <a:latin typeface="Times New Roman" panose="02020603050405020304" pitchFamily="18" charset="0"/>
                  <a:ea typeface="宋体" panose="02010600030101010101" pitchFamily="2" charset="-122"/>
                </a:rPr>
                <a:t>信号的尺度变换与反褶</a:t>
              </a:r>
            </a:p>
          </p:txBody>
        </p:sp>
        <p:grpSp>
          <p:nvGrpSpPr>
            <p:cNvPr id="108561" name="Group 28"/>
            <p:cNvGrpSpPr/>
            <p:nvPr/>
          </p:nvGrpSpPr>
          <p:grpSpPr bwMode="auto">
            <a:xfrm>
              <a:off x="3656" y="4089"/>
              <a:ext cx="1226" cy="281"/>
              <a:chOff x="5742" y="4089"/>
              <a:chExt cx="1226" cy="281"/>
            </a:xfrm>
          </p:grpSpPr>
          <mc:AlternateContent xmlns:mc="http://schemas.openxmlformats.org/markup-compatibility/2006" xmlns:a14="http://schemas.microsoft.com/office/drawing/2010/main">
            <mc:Choice Requires="a14">
              <p:sp>
                <p:nvSpPr>
                  <p:cNvPr id="108562" name="Object 9"/>
                  <p:cNvSpPr txBox="1"/>
                  <p:nvPr/>
                </p:nvSpPr>
                <p:spPr bwMode="auto">
                  <a:xfrm>
                    <a:off x="5742" y="4089"/>
                    <a:ext cx="408" cy="272"/>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62" name="Object 9"/>
                  <p:cNvSpPr txBox="1">
                    <a:spLocks noRot="1" noChangeAspect="1" noMove="1" noResize="1" noEditPoints="1" noAdjustHandles="1" noChangeArrowheads="1" noChangeShapeType="1" noTextEdit="1"/>
                  </p:cNvSpPr>
                  <p:nvPr/>
                </p:nvSpPr>
                <p:spPr bwMode="auto">
                  <a:xfrm>
                    <a:off x="5742" y="4089"/>
                    <a:ext cx="408" cy="272"/>
                  </a:xfrm>
                  <a:prstGeom prst="rect">
                    <a:avLst/>
                  </a:prstGeom>
                  <a:blipFill rotWithShape="1">
                    <a:blip r:embed="rId10"/>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63" name="Object 10"/>
                  <p:cNvSpPr txBox="1"/>
                  <p:nvPr/>
                </p:nvSpPr>
                <p:spPr bwMode="auto">
                  <a:xfrm>
                    <a:off x="6423" y="4089"/>
                    <a:ext cx="545" cy="281"/>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63" name="Object 10"/>
                  <p:cNvSpPr txBox="1">
                    <a:spLocks noRot="1" noChangeAspect="1" noMove="1" noResize="1" noEditPoints="1" noAdjustHandles="1" noChangeArrowheads="1" noChangeShapeType="1" noTextEdit="1"/>
                  </p:cNvSpPr>
                  <p:nvPr/>
                </p:nvSpPr>
                <p:spPr bwMode="auto">
                  <a:xfrm>
                    <a:off x="6423" y="4089"/>
                    <a:ext cx="545" cy="281"/>
                  </a:xfrm>
                  <a:prstGeom prst="rect">
                    <a:avLst/>
                  </a:prstGeom>
                  <a:blipFill rotWithShape="1">
                    <a:blip r:embed="rId11"/>
                  </a:blipFill>
                  <a:ln>
                    <a:noFill/>
                  </a:ln>
                  <a:effectLst/>
                </p:spPr>
                <p:txBody>
                  <a:bodyPr/>
                  <a:lstStyle/>
                  <a:p>
                    <a:r>
                      <a:rPr lang="zh-CN" altLang="en-US">
                        <a:noFill/>
                      </a:rPr>
                      <a:t> </a:t>
                    </a:r>
                  </a:p>
                </p:txBody>
              </p:sp>
            </mc:Fallback>
          </mc:AlternateContent>
          <p:sp>
            <p:nvSpPr>
              <p:cNvPr id="108564" name="Line 27"/>
              <p:cNvSpPr>
                <a:spLocks noChangeShapeType="1"/>
              </p:cNvSpPr>
              <p:nvPr/>
            </p:nvSpPr>
            <p:spPr bwMode="auto">
              <a:xfrm>
                <a:off x="6150" y="4225"/>
                <a:ext cx="318"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grpSp>
      </p:grpSp>
      <p:grpSp>
        <p:nvGrpSpPr>
          <p:cNvPr id="6" name="Group 36"/>
          <p:cNvGrpSpPr/>
          <p:nvPr/>
        </p:nvGrpSpPr>
        <p:grpSpPr bwMode="auto">
          <a:xfrm>
            <a:off x="868363" y="5102225"/>
            <a:ext cx="7410450" cy="1349375"/>
            <a:chOff x="1116" y="4497"/>
            <a:chExt cx="6486" cy="1180"/>
          </a:xfrm>
        </p:grpSpPr>
        <p:sp>
          <p:nvSpPr>
            <p:cNvPr id="108553" name="Rectangle 24"/>
            <p:cNvSpPr>
              <a:spLocks noChangeArrowheads="1"/>
            </p:cNvSpPr>
            <p:nvPr/>
          </p:nvSpPr>
          <p:spPr bwMode="auto">
            <a:xfrm>
              <a:off x="1116" y="4497"/>
              <a:ext cx="6486" cy="1180"/>
            </a:xfrm>
            <a:prstGeom prst="rect">
              <a:avLst/>
            </a:prstGeom>
            <a:solidFill>
              <a:srgbClr val="EEE4C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412750" indent="-4127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Char char="l"/>
              </a:pPr>
              <a:r>
                <a:rPr lang="zh-CN" altLang="en-US" sz="2000">
                  <a:latin typeface="Times New Roman" panose="02020603050405020304" pitchFamily="18" charset="0"/>
                  <a:ea typeface="宋体" panose="02010600030101010101" pitchFamily="2" charset="-122"/>
                </a:rPr>
                <a:t>若</a:t>
              </a:r>
              <a:r>
                <a:rPr lang="en-US" altLang="zh-CN" sz="2000">
                  <a:latin typeface="Times New Roman" panose="02020603050405020304" pitchFamily="18" charset="0"/>
                  <a:ea typeface="宋体" panose="02010600030101010101" pitchFamily="2" charset="-122"/>
                </a:rPr>
                <a:t>a&gt;1,</a:t>
              </a:r>
              <a:r>
                <a:rPr lang="zh-CN" altLang="en-US" sz="2000">
                  <a:latin typeface="Times New Roman" panose="02020603050405020304" pitchFamily="18" charset="0"/>
                  <a:ea typeface="宋体" panose="02010600030101010101" pitchFamily="2" charset="-122"/>
                </a:rPr>
                <a:t>则表示信号        是由       沿时间轴压缩而得到的；</a:t>
              </a:r>
            </a:p>
            <a:p>
              <a:pPr eaLnBrk="1" hangingPunct="1">
                <a:lnSpc>
                  <a:spcPct val="85000"/>
                </a:lnSpc>
                <a:spcBef>
                  <a:spcPct val="20000"/>
                </a:spcBef>
                <a:buClr>
                  <a:schemeClr val="accent2"/>
                </a:buClr>
                <a:buFont typeface="Wingdings" panose="05000000000000000000" pitchFamily="2" charset="2"/>
                <a:buChar char="l"/>
              </a:pPr>
              <a:r>
                <a:rPr lang="zh-CN" altLang="en-US" sz="2000">
                  <a:latin typeface="Times New Roman" panose="02020603050405020304" pitchFamily="18" charset="0"/>
                  <a:ea typeface="宋体" panose="02010600030101010101" pitchFamily="2" charset="-122"/>
                </a:rPr>
                <a:t>若</a:t>
              </a:r>
              <a:r>
                <a:rPr lang="en-US" altLang="zh-CN" sz="2000">
                  <a:latin typeface="Times New Roman" panose="02020603050405020304" pitchFamily="18" charset="0"/>
                  <a:ea typeface="宋体" panose="02010600030101010101" pitchFamily="2" charset="-122"/>
                </a:rPr>
                <a:t>0&lt;a&lt;1</a:t>
              </a:r>
              <a:r>
                <a:rPr lang="zh-CN" altLang="en-US" sz="2000">
                  <a:latin typeface="Times New Roman" panose="02020603050405020304" pitchFamily="18" charset="0"/>
                  <a:ea typeface="宋体" panose="02010600030101010101" pitchFamily="2" charset="-122"/>
                </a:rPr>
                <a:t>，则表示信号        是由      沿时间轴扩展而得到的；</a:t>
              </a:r>
            </a:p>
            <a:p>
              <a:pPr eaLnBrk="1" hangingPunct="1">
                <a:lnSpc>
                  <a:spcPct val="85000"/>
                </a:lnSpc>
                <a:spcBef>
                  <a:spcPct val="20000"/>
                </a:spcBef>
                <a:buClr>
                  <a:schemeClr val="accent2"/>
                </a:buClr>
                <a:buFont typeface="Wingdings" panose="05000000000000000000" pitchFamily="2" charset="2"/>
                <a:buChar char="l"/>
              </a:pPr>
              <a:r>
                <a:rPr lang="zh-CN" altLang="en-US" sz="2000">
                  <a:latin typeface="Times New Roman" panose="02020603050405020304" pitchFamily="18" charset="0"/>
                  <a:ea typeface="宋体" panose="02010600030101010101" pitchFamily="2" charset="-122"/>
                </a:rPr>
                <a:t>若</a:t>
              </a:r>
              <a:r>
                <a:rPr lang="en-US" altLang="zh-CN" sz="2000">
                  <a:latin typeface="Times New Roman" panose="02020603050405020304" pitchFamily="18" charset="0"/>
                  <a:ea typeface="宋体" panose="02010600030101010101" pitchFamily="2" charset="-122"/>
                </a:rPr>
                <a:t>a=-1</a:t>
              </a:r>
              <a:r>
                <a:rPr lang="zh-CN" altLang="en-US" sz="2000">
                  <a:latin typeface="Times New Roman" panose="02020603050405020304" pitchFamily="18" charset="0"/>
                  <a:ea typeface="宋体" panose="02010600030101010101" pitchFamily="2" charset="-122"/>
                </a:rPr>
                <a:t>，则表示信号        是由      沿纵轴反褶而得到的</a:t>
              </a:r>
            </a:p>
          </p:txBody>
        </p:sp>
        <mc:AlternateContent xmlns:mc="http://schemas.openxmlformats.org/markup-compatibility/2006" xmlns:a14="http://schemas.microsoft.com/office/drawing/2010/main">
          <mc:Choice Requires="a14">
            <p:sp>
              <p:nvSpPr>
                <p:cNvPr id="108554" name="Object 3"/>
                <p:cNvSpPr txBox="1"/>
                <p:nvPr/>
              </p:nvSpPr>
              <p:spPr bwMode="auto">
                <a:xfrm>
                  <a:off x="4283" y="4542"/>
                  <a:ext cx="352" cy="235"/>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54" name="Object 3"/>
                <p:cNvSpPr txBox="1">
                  <a:spLocks noRot="1" noChangeAspect="1" noMove="1" noResize="1" noEditPoints="1" noAdjustHandles="1" noChangeArrowheads="1" noChangeShapeType="1" noTextEdit="1"/>
                </p:cNvSpPr>
                <p:nvPr/>
              </p:nvSpPr>
              <p:spPr bwMode="auto">
                <a:xfrm>
                  <a:off x="4283" y="4542"/>
                  <a:ext cx="352" cy="235"/>
                </a:xfrm>
                <a:prstGeom prst="rect">
                  <a:avLst/>
                </a:prstGeom>
                <a:blipFill rotWithShape="1">
                  <a:blip r:embed="rId12"/>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55" name="Object 4"/>
                <p:cNvSpPr txBox="1"/>
                <p:nvPr/>
              </p:nvSpPr>
              <p:spPr bwMode="auto">
                <a:xfrm>
                  <a:off x="3365" y="4531"/>
                  <a:ext cx="448" cy="281"/>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55" name="Object 4"/>
                <p:cNvSpPr txBox="1">
                  <a:spLocks noRot="1" noChangeAspect="1" noMove="1" noResize="1" noEditPoints="1" noAdjustHandles="1" noChangeArrowheads="1" noChangeShapeType="1" noTextEdit="1"/>
                </p:cNvSpPr>
                <p:nvPr/>
              </p:nvSpPr>
              <p:spPr bwMode="auto">
                <a:xfrm>
                  <a:off x="3365" y="4531"/>
                  <a:ext cx="448" cy="281"/>
                </a:xfrm>
                <a:prstGeom prst="rect">
                  <a:avLst/>
                </a:prstGeom>
                <a:blipFill rotWithShape="1">
                  <a:blip r:embed="rId13"/>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56" name="Object 5"/>
                <p:cNvSpPr txBox="1"/>
                <p:nvPr/>
              </p:nvSpPr>
              <p:spPr bwMode="auto">
                <a:xfrm>
                  <a:off x="3789" y="4821"/>
                  <a:ext cx="347" cy="229"/>
                </a:xfrm>
                <a:prstGeom prst="rect">
                  <a:avLst/>
                </a:prstGeom>
                <a:noFill/>
                <a:ln>
                  <a:noFill/>
                </a:ln>
                <a:effectLst/>
              </p:spPr>
              <p:txBody>
                <a:bodyPr>
                  <a:normAutofit fontScale="3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56" name="Object 5"/>
                <p:cNvSpPr txBox="1">
                  <a:spLocks noRot="1" noChangeAspect="1" noMove="1" noResize="1" noEditPoints="1" noAdjustHandles="1" noChangeArrowheads="1" noChangeShapeType="1" noTextEdit="1"/>
                </p:cNvSpPr>
                <p:nvPr/>
              </p:nvSpPr>
              <p:spPr bwMode="auto">
                <a:xfrm>
                  <a:off x="3789" y="4821"/>
                  <a:ext cx="347" cy="229"/>
                </a:xfrm>
                <a:prstGeom prst="rect">
                  <a:avLst/>
                </a:prstGeom>
                <a:blipFill rotWithShape="1">
                  <a:blip r:embed="rId14"/>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57" name="Object 6"/>
                <p:cNvSpPr txBox="1"/>
                <p:nvPr/>
              </p:nvSpPr>
              <p:spPr bwMode="auto">
                <a:xfrm>
                  <a:off x="4608" y="4851"/>
                  <a:ext cx="352" cy="235"/>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57" name="Object 6"/>
                <p:cNvSpPr txBox="1">
                  <a:spLocks noRot="1" noChangeAspect="1" noMove="1" noResize="1" noEditPoints="1" noAdjustHandles="1" noChangeArrowheads="1" noChangeShapeType="1" noTextEdit="1"/>
                </p:cNvSpPr>
                <p:nvPr/>
              </p:nvSpPr>
              <p:spPr bwMode="auto">
                <a:xfrm>
                  <a:off x="4608" y="4851"/>
                  <a:ext cx="352" cy="235"/>
                </a:xfrm>
                <a:prstGeom prst="rect">
                  <a:avLst/>
                </a:prstGeom>
                <a:blipFill rotWithShape="1">
                  <a:blip r:embed="rId12"/>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58" name="Object 7"/>
                <p:cNvSpPr txBox="1"/>
                <p:nvPr/>
              </p:nvSpPr>
              <p:spPr bwMode="auto">
                <a:xfrm>
                  <a:off x="3550" y="5039"/>
                  <a:ext cx="448" cy="318"/>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58" name="Object 7"/>
                <p:cNvSpPr txBox="1">
                  <a:spLocks noRot="1" noChangeAspect="1" noMove="1" noResize="1" noEditPoints="1" noAdjustHandles="1" noChangeArrowheads="1" noChangeShapeType="1" noTextEdit="1"/>
                </p:cNvSpPr>
                <p:nvPr/>
              </p:nvSpPr>
              <p:spPr bwMode="auto">
                <a:xfrm>
                  <a:off x="3550" y="5039"/>
                  <a:ext cx="448" cy="318"/>
                </a:xfrm>
                <a:prstGeom prst="rect">
                  <a:avLst/>
                </a:prstGeom>
                <a:blipFill rotWithShape="1">
                  <a:blip r:embed="rId15"/>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559" name="Object 8"/>
                <p:cNvSpPr txBox="1"/>
                <p:nvPr/>
              </p:nvSpPr>
              <p:spPr bwMode="auto">
                <a:xfrm>
                  <a:off x="4472" y="5104"/>
                  <a:ext cx="352" cy="235"/>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08559" name="Object 8"/>
                <p:cNvSpPr txBox="1">
                  <a:spLocks noRot="1" noChangeAspect="1" noMove="1" noResize="1" noEditPoints="1" noAdjustHandles="1" noChangeArrowheads="1" noChangeShapeType="1" noTextEdit="1"/>
                </p:cNvSpPr>
                <p:nvPr/>
              </p:nvSpPr>
              <p:spPr bwMode="auto">
                <a:xfrm>
                  <a:off x="4472" y="5104"/>
                  <a:ext cx="352" cy="235"/>
                </a:xfrm>
                <a:prstGeom prst="rect">
                  <a:avLst/>
                </a:prstGeom>
                <a:blipFill rotWithShape="1">
                  <a:blip r:embed="rId12"/>
                </a:blipFill>
                <a:ln>
                  <a:noFill/>
                </a:ln>
                <a:effectLst/>
              </p:spPr>
              <p:txBody>
                <a:bodyPr/>
                <a:lstStyle/>
                <a:p>
                  <a:r>
                    <a:rPr lang="zh-CN" altLang="en-US">
                      <a:noFill/>
                    </a:rPr>
                    <a:t> </a:t>
                  </a:r>
                </a:p>
              </p:txBody>
            </p:sp>
          </mc:Fallback>
        </mc:AlternateContent>
      </p:grpSp>
      <p:sp>
        <p:nvSpPr>
          <p:cNvPr id="34" name="日期占位符 33"/>
          <p:cNvSpPr>
            <a:spLocks noGrp="1"/>
          </p:cNvSpPr>
          <p:nvPr>
            <p:ph type="dt" sz="quarter" idx="10"/>
          </p:nvPr>
        </p:nvSpPr>
        <p:spPr/>
        <p:txBody>
          <a:bodyPr/>
          <a:lstStyle/>
          <a:p>
            <a:pPr>
              <a:defRPr/>
            </a:pPr>
            <a:fld id="{05F1D164-52B5-4155-88D0-2D68CA1B6ADA}" type="datetime3">
              <a:rPr lang="zh-CN" altLang="en-US"/>
              <a:t>2026年3月4日星期三</a:t>
            </a:fld>
            <a:endParaRPr lang="zh-CN" altLang="en-US" dirty="0"/>
          </a:p>
        </p:txBody>
      </p:sp>
    </p:spTree>
    <p:custDataLst>
      <p:tags r:id="rId1"/>
    </p:custDataLst>
  </p:cSld>
  <p:clrMapOvr>
    <a:masterClrMapping/>
  </p:clrMapOvr>
  <p:transition advTm="12038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49315">
                                            <p:txEl>
                                              <p:pRg st="0" end="0"/>
                                            </p:txEl>
                                          </p:spTgt>
                                        </p:tgtEl>
                                        <p:attrNameLst>
                                          <p:attrName>style.visibility</p:attrName>
                                        </p:attrNameLst>
                                      </p:cBhvr>
                                      <p:to>
                                        <p:strVal val="visible"/>
                                      </p:to>
                                    </p:set>
                                    <p:anim calcmode="lin" valueType="num">
                                      <p:cBhvr>
                                        <p:cTn id="7" dur="1000" fill="hold"/>
                                        <p:tgtEl>
                                          <p:spTgt spid="154931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4931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4931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1000" fill="hold"/>
                                        <p:tgtEl>
                                          <p:spTgt spid="4"/>
                                        </p:tgtEl>
                                        <p:attrNameLst>
                                          <p:attrName>ppt_w</p:attrName>
                                        </p:attrNameLst>
                                      </p:cBhvr>
                                      <p:tavLst>
                                        <p:tav tm="0">
                                          <p:val>
                                            <p:strVal val="#ppt_w*0.70"/>
                                          </p:val>
                                        </p:tav>
                                        <p:tav tm="100000">
                                          <p:val>
                                            <p:strVal val="#ppt_w"/>
                                          </p:val>
                                        </p:tav>
                                      </p:tavLst>
                                    </p:anim>
                                    <p:anim calcmode="lin" valueType="num">
                                      <p:cBhvr>
                                        <p:cTn id="22" dur="1000" fill="hold"/>
                                        <p:tgtEl>
                                          <p:spTgt spid="4"/>
                                        </p:tgtEl>
                                        <p:attrNameLst>
                                          <p:attrName>ppt_h</p:attrName>
                                        </p:attrNameLst>
                                      </p:cBhvr>
                                      <p:tavLst>
                                        <p:tav tm="0">
                                          <p:val>
                                            <p:strVal val="#ppt_h"/>
                                          </p:val>
                                        </p:tav>
                                        <p:tav tm="100000">
                                          <p:val>
                                            <p:strVal val="#ppt_h"/>
                                          </p:val>
                                        </p:tav>
                                      </p:tavLst>
                                    </p:anim>
                                    <p:animEffect transition="in" filter="fade">
                                      <p:cBhvr>
                                        <p:cTn id="23" dur="1000"/>
                                        <p:tgtEl>
                                          <p:spTgt spid="4"/>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000" fill="hold"/>
                                        <p:tgtEl>
                                          <p:spTgt spid="6"/>
                                        </p:tgtEl>
                                        <p:attrNameLst>
                                          <p:attrName>ppt_w</p:attrName>
                                        </p:attrNameLst>
                                      </p:cBhvr>
                                      <p:tavLst>
                                        <p:tav tm="0">
                                          <p:val>
                                            <p:strVal val="#ppt_w*0.70"/>
                                          </p:val>
                                        </p:tav>
                                        <p:tav tm="100000">
                                          <p:val>
                                            <p:strVal val="#ppt_w"/>
                                          </p:val>
                                        </p:tav>
                                      </p:tavLst>
                                    </p:anim>
                                    <p:anim calcmode="lin" valueType="num">
                                      <p:cBhvr>
                                        <p:cTn id="28" dur="1000" fill="hold"/>
                                        <p:tgtEl>
                                          <p:spTgt spid="6"/>
                                        </p:tgtEl>
                                        <p:attrNameLst>
                                          <p:attrName>ppt_h</p:attrName>
                                        </p:attrNameLst>
                                      </p:cBhvr>
                                      <p:tavLst>
                                        <p:tav tm="0">
                                          <p:val>
                                            <p:strVal val="#ppt_h"/>
                                          </p:val>
                                        </p:tav>
                                        <p:tav tm="100000">
                                          <p:val>
                                            <p:strVal val="#ppt_h"/>
                                          </p:val>
                                        </p:tav>
                                      </p:tavLst>
                                    </p:anim>
                                    <p:animEffect transition="in" filter="fade">
                                      <p:cBhvr>
                                        <p:cTn id="2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931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678" name="Rectangle 6"/>
          <p:cNvSpPr>
            <a:spLocks noChangeArrowheads="1"/>
          </p:cNvSpPr>
          <p:nvPr/>
        </p:nvSpPr>
        <p:spPr bwMode="auto">
          <a:xfrm>
            <a:off x="322263" y="1111250"/>
            <a:ext cx="5954712" cy="1244600"/>
          </a:xfrm>
          <a:prstGeom prst="rect">
            <a:avLst/>
          </a:prstGeom>
          <a:solidFill>
            <a:srgbClr val="FFFFFF"/>
          </a:solidFill>
          <a:ln w="57150">
            <a:solidFill>
              <a:schemeClr val="hlink"/>
            </a:solidFill>
            <a:miter lim="800000"/>
          </a:ln>
          <a:effectLst>
            <a:prstShdw prst="shdw11">
              <a:srgbClr val="808080">
                <a:alpha val="50000"/>
              </a:srgbClr>
            </a:prstShdw>
          </a:effec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例：给定信号</a:t>
            </a:r>
            <a:r>
              <a:rPr lang="en-US" altLang="zh-CN" sz="1700">
                <a:latin typeface="Times New Roman" panose="02020603050405020304" pitchFamily="18" charset="0"/>
                <a:ea typeface="宋体" panose="02010600030101010101" pitchFamily="2" charset="-122"/>
              </a:rPr>
              <a:t>f(t) </a:t>
            </a:r>
            <a:r>
              <a:rPr lang="zh-CN" altLang="en-US" sz="1700">
                <a:latin typeface="Times New Roman" panose="02020603050405020304" pitchFamily="18" charset="0"/>
                <a:ea typeface="宋体" panose="02010600030101010101" pitchFamily="2" charset="-122"/>
              </a:rPr>
              <a:t>如图</a:t>
            </a:r>
            <a:r>
              <a:rPr lang="en-US" altLang="zh-CN" sz="1700">
                <a:latin typeface="Times New Roman" panose="02020603050405020304" pitchFamily="18" charset="0"/>
                <a:ea typeface="宋体" panose="02010600030101010101" pitchFamily="2" charset="-122"/>
              </a:rPr>
              <a:t>1</a:t>
            </a:r>
            <a:r>
              <a:rPr lang="zh-CN" altLang="en-US" sz="1700">
                <a:latin typeface="Times New Roman" panose="02020603050405020304" pitchFamily="18" charset="0"/>
                <a:ea typeface="宋体" panose="02010600030101010101" pitchFamily="2" charset="-122"/>
              </a:rPr>
              <a:t>所示，试画出下列信号的波形。</a:t>
            </a:r>
          </a:p>
          <a:p>
            <a:pPr eaLnBrk="1" hangingPunct="1">
              <a:lnSpc>
                <a:spcPct val="145000"/>
              </a:lnSpc>
              <a:spcBef>
                <a:spcPct val="40000"/>
              </a:spcBef>
              <a:buClr>
                <a:schemeClr val="accent2"/>
              </a:buClr>
              <a:buFont typeface="Wingdings" panose="05000000000000000000" pitchFamily="2" charset="2"/>
              <a:buNone/>
            </a:pPr>
            <a:r>
              <a:rPr lang="en-US" altLang="zh-CN" sz="1700">
                <a:latin typeface="Times New Roman" panose="02020603050405020304" pitchFamily="18" charset="0"/>
                <a:ea typeface="宋体" panose="02010600030101010101" pitchFamily="2" charset="-122"/>
              </a:rPr>
              <a:t>1</a:t>
            </a:r>
            <a:r>
              <a:rPr lang="zh-CN" altLang="en-US" sz="1700">
                <a:latin typeface="Times New Roman" panose="02020603050405020304" pitchFamily="18" charset="0"/>
                <a:ea typeface="宋体" panose="02010600030101010101" pitchFamily="2" charset="-122"/>
              </a:rPr>
              <a:t>）</a:t>
            </a:r>
            <a:r>
              <a:rPr lang="en-US" altLang="zh-CN" sz="1700">
                <a:latin typeface="Times New Roman" panose="02020603050405020304" pitchFamily="18" charset="0"/>
                <a:ea typeface="宋体" panose="02010600030101010101" pitchFamily="2" charset="-122"/>
              </a:rPr>
              <a:t>f(t-2) </a:t>
            </a:r>
            <a:r>
              <a:rPr lang="zh-CN" altLang="en-US" sz="1700">
                <a:latin typeface="Times New Roman" panose="02020603050405020304" pitchFamily="18" charset="0"/>
                <a:ea typeface="宋体" panose="02010600030101010101" pitchFamily="2" charset="-122"/>
              </a:rPr>
              <a:t>；</a:t>
            </a:r>
            <a:r>
              <a:rPr lang="en-US" altLang="zh-CN" sz="1700">
                <a:latin typeface="Times New Roman" panose="02020603050405020304" pitchFamily="18" charset="0"/>
                <a:ea typeface="宋体" panose="02010600030101010101" pitchFamily="2" charset="-122"/>
              </a:rPr>
              <a:t>   2) f(2t);   3) f(t/2);    4)  f(-t+1);     5)  -f(t)</a:t>
            </a:r>
          </a:p>
        </p:txBody>
      </p:sp>
      <p:sp>
        <p:nvSpPr>
          <p:cNvPr id="110595" name="Rectangle 8"/>
          <p:cNvSpPr>
            <a:spLocks noChangeArrowheads="1"/>
          </p:cNvSpPr>
          <p:nvPr/>
        </p:nvSpPr>
        <p:spPr bwMode="auto">
          <a:xfrm>
            <a:off x="177800" y="577850"/>
            <a:ext cx="35544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§1.3	</a:t>
            </a:r>
            <a:r>
              <a:rPr lang="zh-CN" altLang="en-US" sz="2500">
                <a:solidFill>
                  <a:srgbClr val="FF0000"/>
                </a:solidFill>
                <a:latin typeface="Times New Roman" panose="02020603050405020304" pitchFamily="18" charset="0"/>
              </a:rPr>
              <a:t>信号的简单处理</a:t>
            </a:r>
            <a:endParaRPr lang="zh-CN" altLang="en-US" sz="2000">
              <a:solidFill>
                <a:srgbClr val="FF0000"/>
              </a:solidFill>
              <a:latin typeface="Times New Roman" panose="02020603050405020304" pitchFamily="18" charset="0"/>
            </a:endParaRPr>
          </a:p>
        </p:txBody>
      </p:sp>
      <p:graphicFrame>
        <p:nvGraphicFramePr>
          <p:cNvPr id="1564682" name="Object 2"/>
          <p:cNvGraphicFramePr>
            <a:graphicFrameLocks noChangeAspect="1"/>
          </p:cNvGraphicFramePr>
          <p:nvPr/>
        </p:nvGraphicFramePr>
        <p:xfrm>
          <a:off x="6230938" y="471488"/>
          <a:ext cx="2913062" cy="2073275"/>
        </p:xfrm>
        <a:graphic>
          <a:graphicData uri="http://schemas.openxmlformats.org/presentationml/2006/ole">
            <mc:AlternateContent xmlns:mc="http://schemas.openxmlformats.org/markup-compatibility/2006">
              <mc:Choice xmlns:v="urn:schemas-microsoft-com:vml" Requires="v">
                <p:oleObj spid="_x0000_s6216" name="图片" r:id="rId5" imgW="2740025" imgH="1877695" progId="Word.Picture.8">
                  <p:embed/>
                </p:oleObj>
              </mc:Choice>
              <mc:Fallback>
                <p:oleObj name="图片" r:id="rId5" imgW="2740025" imgH="1877695" progId="Word.Picture.8">
                  <p:embed/>
                  <p:pic>
                    <p:nvPicPr>
                      <p:cNvPr id="0" name="图片 61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0938" y="471488"/>
                        <a:ext cx="2913062" cy="2073275"/>
                      </a:xfrm>
                      <a:prstGeom prst="rect">
                        <a:avLst/>
                      </a:prstGeom>
                      <a:solidFill>
                        <a:srgbClr val="E6D7B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64684" name="Object 3"/>
          <p:cNvGraphicFramePr>
            <a:graphicFrameLocks noChangeAspect="1"/>
          </p:cNvGraphicFramePr>
          <p:nvPr/>
        </p:nvGraphicFramePr>
        <p:xfrm>
          <a:off x="273050" y="2419350"/>
          <a:ext cx="2817813" cy="2073275"/>
        </p:xfrm>
        <a:graphic>
          <a:graphicData uri="http://schemas.openxmlformats.org/presentationml/2006/ole">
            <mc:AlternateContent xmlns:mc="http://schemas.openxmlformats.org/markup-compatibility/2006">
              <mc:Choice xmlns:v="urn:schemas-microsoft-com:vml" Requires="v">
                <p:oleObj spid="_x0000_s6217" name="图片" r:id="rId7" imgW="2740025" imgH="1877695" progId="Word.Picture.8">
                  <p:embed/>
                </p:oleObj>
              </mc:Choice>
              <mc:Fallback>
                <p:oleObj name="图片" r:id="rId7" imgW="2740025" imgH="1877695" progId="Word.Picture.8">
                  <p:embed/>
                  <p:pic>
                    <p:nvPicPr>
                      <p:cNvPr id="0" name="图片 61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3050" y="2419350"/>
                        <a:ext cx="2817813" cy="2073275"/>
                      </a:xfrm>
                      <a:prstGeom prst="rect">
                        <a:avLst/>
                      </a:prstGeom>
                      <a:solidFill>
                        <a:srgbClr val="E6D7B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64685" name="Object 4"/>
          <p:cNvGraphicFramePr>
            <a:graphicFrameLocks noChangeAspect="1"/>
          </p:cNvGraphicFramePr>
          <p:nvPr/>
        </p:nvGraphicFramePr>
        <p:xfrm>
          <a:off x="3114675" y="2443163"/>
          <a:ext cx="3071813" cy="2073275"/>
        </p:xfrm>
        <a:graphic>
          <a:graphicData uri="http://schemas.openxmlformats.org/presentationml/2006/ole">
            <mc:AlternateContent xmlns:mc="http://schemas.openxmlformats.org/markup-compatibility/2006">
              <mc:Choice xmlns:v="urn:schemas-microsoft-com:vml" Requires="v">
                <p:oleObj spid="_x0000_s6218" name="图片" r:id="rId9" imgW="2740025" imgH="1877695" progId="Word.Picture.8">
                  <p:embed/>
                </p:oleObj>
              </mc:Choice>
              <mc:Fallback>
                <p:oleObj name="图片" r:id="rId9" imgW="2740025" imgH="1877695" progId="Word.Picture.8">
                  <p:embed/>
                  <p:pic>
                    <p:nvPicPr>
                      <p:cNvPr id="0" name="图片 61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4675" y="2443163"/>
                        <a:ext cx="3071813" cy="207327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64688" name="Object 6"/>
          <p:cNvGraphicFramePr>
            <a:graphicFrameLocks noChangeAspect="1"/>
          </p:cNvGraphicFramePr>
          <p:nvPr/>
        </p:nvGraphicFramePr>
        <p:xfrm>
          <a:off x="1228725" y="4784725"/>
          <a:ext cx="2913063" cy="2073275"/>
        </p:xfrm>
        <a:graphic>
          <a:graphicData uri="http://schemas.openxmlformats.org/presentationml/2006/ole">
            <mc:AlternateContent xmlns:mc="http://schemas.openxmlformats.org/markup-compatibility/2006">
              <mc:Choice xmlns:v="urn:schemas-microsoft-com:vml" Requires="v">
                <p:oleObj spid="_x0000_s6219" name="图片" r:id="rId11" imgW="2740025" imgH="1877695" progId="Word.Picture.8">
                  <p:embed/>
                </p:oleObj>
              </mc:Choice>
              <mc:Fallback>
                <p:oleObj name="图片" r:id="rId11" imgW="2740025" imgH="1877695" progId="Word.Picture.8">
                  <p:embed/>
                  <p:pic>
                    <p:nvPicPr>
                      <p:cNvPr id="0" name="图片 61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8725" y="4784725"/>
                        <a:ext cx="2913063" cy="207327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64689" name="Object 7"/>
          <p:cNvGraphicFramePr>
            <a:graphicFrameLocks noChangeAspect="1"/>
          </p:cNvGraphicFramePr>
          <p:nvPr/>
        </p:nvGraphicFramePr>
        <p:xfrm>
          <a:off x="6230938" y="4784725"/>
          <a:ext cx="2913062" cy="2073275"/>
        </p:xfrm>
        <a:graphic>
          <a:graphicData uri="http://schemas.openxmlformats.org/presentationml/2006/ole">
            <mc:AlternateContent xmlns:mc="http://schemas.openxmlformats.org/markup-compatibility/2006">
              <mc:Choice xmlns:v="urn:schemas-microsoft-com:vml" Requires="v">
                <p:oleObj spid="_x0000_s6220" name="图片" r:id="rId13" imgW="2740025" imgH="1877695" progId="Word.Picture.8">
                  <p:embed/>
                </p:oleObj>
              </mc:Choice>
              <mc:Fallback>
                <p:oleObj name="图片" r:id="rId13" imgW="2740025" imgH="1877695" progId="Word.Picture.8">
                  <p:embed/>
                  <p:pic>
                    <p:nvPicPr>
                      <p:cNvPr id="0" name="图片 61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30938" y="4784725"/>
                        <a:ext cx="2913062" cy="2073275"/>
                      </a:xfrm>
                      <a:prstGeom prst="rect">
                        <a:avLst/>
                      </a:prstGeom>
                      <a:solidFill>
                        <a:srgbClr val="FAA2F6"/>
                      </a:solidFill>
                      <a:ln w="9525">
                        <a:solidFill>
                          <a:srgbClr val="FF0000"/>
                        </a:solidFill>
                        <a:miter lim="800000"/>
                        <a:headEnd/>
                        <a:tailEnd/>
                      </a:ln>
                    </p:spPr>
                  </p:pic>
                </p:oleObj>
              </mc:Fallback>
            </mc:AlternateContent>
          </a:graphicData>
        </a:graphic>
      </p:graphicFrame>
      <p:sp>
        <p:nvSpPr>
          <p:cNvPr id="13" name="日期占位符 12"/>
          <p:cNvSpPr>
            <a:spLocks noGrp="1"/>
          </p:cNvSpPr>
          <p:nvPr>
            <p:ph type="dt" sz="quarter" idx="10"/>
          </p:nvPr>
        </p:nvSpPr>
        <p:spPr/>
        <p:txBody>
          <a:bodyPr/>
          <a:lstStyle/>
          <a:p>
            <a:pPr>
              <a:defRPr/>
            </a:pPr>
            <a:fld id="{BE68FA78-F2C3-467E-B564-6C4610FEFF80}" type="datetime3">
              <a:rPr lang="zh-CN" altLang="en-US"/>
              <a:t>2026年3月4日星期三</a:t>
            </a:fld>
            <a:endParaRPr lang="en-US" altLang="zh-CN" dirty="0"/>
          </a:p>
        </p:txBody>
      </p:sp>
      <p:graphicFrame>
        <p:nvGraphicFramePr>
          <p:cNvPr id="1564686" name="Object 5"/>
          <p:cNvGraphicFramePr>
            <a:graphicFrameLocks noChangeAspect="1"/>
          </p:cNvGraphicFramePr>
          <p:nvPr/>
        </p:nvGraphicFramePr>
        <p:xfrm>
          <a:off x="6230938" y="2411413"/>
          <a:ext cx="2913062" cy="2071687"/>
        </p:xfrm>
        <a:graphic>
          <a:graphicData uri="http://schemas.openxmlformats.org/presentationml/2006/ole">
            <mc:AlternateContent xmlns:mc="http://schemas.openxmlformats.org/markup-compatibility/2006">
              <mc:Choice xmlns:v="urn:schemas-microsoft-com:vml" Requires="v">
                <p:oleObj spid="_x0000_s6221" name="Picture" r:id="rId15" imgW="2740025" imgH="1875790" progId="Word.Picture.8">
                  <p:embed/>
                </p:oleObj>
              </mc:Choice>
              <mc:Fallback>
                <p:oleObj name="Picture" r:id="rId15" imgW="2740025" imgH="1875790" progId="Word.Picture.8">
                  <p:embed/>
                  <p:pic>
                    <p:nvPicPr>
                      <p:cNvPr id="0" name="图片 61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30938" y="2411413"/>
                        <a:ext cx="2913062" cy="2071687"/>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9" name="矩形 13"/>
          <p:cNvSpPr>
            <a:spLocks noChangeArrowheads="1"/>
          </p:cNvSpPr>
          <p:nvPr/>
        </p:nvSpPr>
        <p:spPr bwMode="auto">
          <a:xfrm>
            <a:off x="614363" y="4454525"/>
            <a:ext cx="10382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700">
                <a:solidFill>
                  <a:srgbClr val="0000FF"/>
                </a:solidFill>
                <a:latin typeface="Times New Roman" panose="02020603050405020304" pitchFamily="18" charset="0"/>
                <a:ea typeface="宋体" panose="02010600030101010101" pitchFamily="2" charset="-122"/>
              </a:rPr>
              <a:t>1</a:t>
            </a:r>
            <a:r>
              <a:rPr lang="zh-CN" altLang="en-US" sz="1700">
                <a:solidFill>
                  <a:srgbClr val="0000FF"/>
                </a:solidFill>
                <a:latin typeface="Times New Roman" panose="02020603050405020304" pitchFamily="18" charset="0"/>
                <a:ea typeface="宋体" panose="02010600030101010101" pitchFamily="2" charset="-122"/>
              </a:rPr>
              <a:t>）</a:t>
            </a:r>
            <a:r>
              <a:rPr lang="en-US" altLang="zh-CN" sz="1700">
                <a:solidFill>
                  <a:srgbClr val="0000FF"/>
                </a:solidFill>
                <a:latin typeface="Times New Roman" panose="02020603050405020304" pitchFamily="18" charset="0"/>
                <a:ea typeface="宋体" panose="02010600030101010101" pitchFamily="2" charset="-122"/>
              </a:rPr>
              <a:t>f(t-2) </a:t>
            </a:r>
            <a:endParaRPr lang="zh-CN" altLang="en-US">
              <a:solidFill>
                <a:srgbClr val="0000FF"/>
              </a:solidFill>
            </a:endParaRPr>
          </a:p>
        </p:txBody>
      </p:sp>
      <p:sp>
        <p:nvSpPr>
          <p:cNvPr id="12" name="矩形 11"/>
          <p:cNvSpPr>
            <a:spLocks noChangeArrowheads="1"/>
          </p:cNvSpPr>
          <p:nvPr/>
        </p:nvSpPr>
        <p:spPr bwMode="auto">
          <a:xfrm>
            <a:off x="3954463" y="4465638"/>
            <a:ext cx="995362"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000">
                <a:solidFill>
                  <a:srgbClr val="0000FF"/>
                </a:solidFill>
                <a:latin typeface="Times New Roman" panose="02020603050405020304" pitchFamily="18" charset="0"/>
                <a:ea typeface="宋体" panose="02010600030101010101" pitchFamily="2" charset="-122"/>
              </a:rPr>
              <a:t>2) f(2t) </a:t>
            </a:r>
            <a:endParaRPr lang="zh-CN" altLang="en-US" sz="2000">
              <a:solidFill>
                <a:srgbClr val="0000FF"/>
              </a:solidFill>
            </a:endParaRPr>
          </a:p>
        </p:txBody>
      </p:sp>
      <p:sp>
        <p:nvSpPr>
          <p:cNvPr id="14" name="矩形 13"/>
          <p:cNvSpPr>
            <a:spLocks noChangeArrowheads="1"/>
          </p:cNvSpPr>
          <p:nvPr/>
        </p:nvSpPr>
        <p:spPr bwMode="auto">
          <a:xfrm>
            <a:off x="7332663" y="4486275"/>
            <a:ext cx="9334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700">
                <a:solidFill>
                  <a:srgbClr val="0000FF"/>
                </a:solidFill>
                <a:latin typeface="Times New Roman" panose="02020603050405020304" pitchFamily="18" charset="0"/>
                <a:ea typeface="宋体" panose="02010600030101010101" pitchFamily="2" charset="-122"/>
              </a:rPr>
              <a:t>3) f(t/2) </a:t>
            </a:r>
            <a:endParaRPr lang="zh-CN" altLang="en-US">
              <a:solidFill>
                <a:srgbClr val="0000FF"/>
              </a:solidFill>
            </a:endParaRPr>
          </a:p>
        </p:txBody>
      </p:sp>
      <p:sp>
        <p:nvSpPr>
          <p:cNvPr id="15" name="矩形 14"/>
          <p:cNvSpPr>
            <a:spLocks noChangeArrowheads="1"/>
          </p:cNvSpPr>
          <p:nvPr/>
        </p:nvSpPr>
        <p:spPr bwMode="auto">
          <a:xfrm>
            <a:off x="211138" y="5345113"/>
            <a:ext cx="112395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800">
                <a:solidFill>
                  <a:srgbClr val="0000FF"/>
                </a:solidFill>
                <a:latin typeface="Times New Roman" panose="02020603050405020304" pitchFamily="18" charset="0"/>
                <a:ea typeface="宋体" panose="02010600030101010101" pitchFamily="2" charset="-122"/>
              </a:rPr>
              <a:t>4)  f(-t+1)</a:t>
            </a:r>
            <a:endParaRPr lang="zh-CN" altLang="en-US" sz="1800">
              <a:solidFill>
                <a:srgbClr val="0000FF"/>
              </a:solidFill>
            </a:endParaRPr>
          </a:p>
        </p:txBody>
      </p:sp>
      <p:sp>
        <p:nvSpPr>
          <p:cNvPr id="16" name="矩形 15"/>
          <p:cNvSpPr>
            <a:spLocks noChangeArrowheads="1"/>
          </p:cNvSpPr>
          <p:nvPr/>
        </p:nvSpPr>
        <p:spPr bwMode="auto">
          <a:xfrm>
            <a:off x="5187950" y="5432425"/>
            <a:ext cx="87788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800">
                <a:solidFill>
                  <a:srgbClr val="0000FF"/>
                </a:solidFill>
                <a:latin typeface="Times New Roman" panose="02020603050405020304" pitchFamily="18" charset="0"/>
                <a:ea typeface="宋体" panose="02010600030101010101" pitchFamily="2" charset="-122"/>
              </a:rPr>
              <a:t>5)  -f(t)</a:t>
            </a:r>
            <a:endParaRPr lang="zh-CN" altLang="en-US" sz="1800">
              <a:solidFill>
                <a:srgbClr val="0000FF"/>
              </a:solidFill>
            </a:endParaRPr>
          </a:p>
        </p:txBody>
      </p:sp>
    </p:spTree>
    <p:custDataLst>
      <p:tags r:id="rId2"/>
    </p:custDataLst>
  </p:cSld>
  <p:clrMapOvr>
    <a:masterClrMapping/>
  </p:clrMapOvr>
  <p:transition spd="med" advTm="140366">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64678">
                                            <p:bg/>
                                          </p:spTgt>
                                        </p:tgtEl>
                                        <p:attrNameLst>
                                          <p:attrName>style.visibility</p:attrName>
                                        </p:attrNameLst>
                                      </p:cBhvr>
                                      <p:to>
                                        <p:strVal val="visible"/>
                                      </p:to>
                                    </p:set>
                                    <p:anim calcmode="lin" valueType="num">
                                      <p:cBhvr>
                                        <p:cTn id="7" dur="1000" fill="hold"/>
                                        <p:tgtEl>
                                          <p:spTgt spid="1564678">
                                            <p:bg/>
                                          </p:spTgt>
                                        </p:tgtEl>
                                        <p:attrNameLst>
                                          <p:attrName>ppt_w</p:attrName>
                                        </p:attrNameLst>
                                      </p:cBhvr>
                                      <p:tavLst>
                                        <p:tav tm="0">
                                          <p:val>
                                            <p:strVal val="#ppt_w*0.70"/>
                                          </p:val>
                                        </p:tav>
                                        <p:tav tm="100000">
                                          <p:val>
                                            <p:strVal val="#ppt_w"/>
                                          </p:val>
                                        </p:tav>
                                      </p:tavLst>
                                    </p:anim>
                                    <p:anim calcmode="lin" valueType="num">
                                      <p:cBhvr>
                                        <p:cTn id="8" dur="1000" fill="hold"/>
                                        <p:tgtEl>
                                          <p:spTgt spid="1564678">
                                            <p:bg/>
                                          </p:spTgt>
                                        </p:tgtEl>
                                        <p:attrNameLst>
                                          <p:attrName>ppt_h</p:attrName>
                                        </p:attrNameLst>
                                      </p:cBhvr>
                                      <p:tavLst>
                                        <p:tav tm="0">
                                          <p:val>
                                            <p:strVal val="#ppt_h"/>
                                          </p:val>
                                        </p:tav>
                                        <p:tav tm="100000">
                                          <p:val>
                                            <p:strVal val="#ppt_h"/>
                                          </p:val>
                                        </p:tav>
                                      </p:tavLst>
                                    </p:anim>
                                    <p:animEffect transition="in" filter="fade">
                                      <p:cBhvr>
                                        <p:cTn id="9" dur="1000"/>
                                        <p:tgtEl>
                                          <p:spTgt spid="1564678">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64678">
                                            <p:txEl>
                                              <p:pRg st="0" end="0"/>
                                            </p:txEl>
                                          </p:spTgt>
                                        </p:tgtEl>
                                        <p:attrNameLst>
                                          <p:attrName>style.visibility</p:attrName>
                                        </p:attrNameLst>
                                      </p:cBhvr>
                                      <p:to>
                                        <p:strVal val="visible"/>
                                      </p:to>
                                    </p:set>
                                    <p:anim calcmode="lin" valueType="num">
                                      <p:cBhvr>
                                        <p:cTn id="12" dur="1000" fill="hold"/>
                                        <p:tgtEl>
                                          <p:spTgt spid="1564678">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564678">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56467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64678">
                                            <p:txEl>
                                              <p:pRg st="1" end="1"/>
                                            </p:txEl>
                                          </p:spTgt>
                                        </p:tgtEl>
                                        <p:attrNameLst>
                                          <p:attrName>style.visibility</p:attrName>
                                        </p:attrNameLst>
                                      </p:cBhvr>
                                      <p:to>
                                        <p:strVal val="visible"/>
                                      </p:to>
                                    </p:set>
                                    <p:anim calcmode="lin" valueType="num">
                                      <p:cBhvr additive="base">
                                        <p:cTn id="19" dur="500" fill="hold"/>
                                        <p:tgtEl>
                                          <p:spTgt spid="156467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4678">
                                            <p:txEl>
                                              <p:pRg st="1" end="1"/>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55" presetClass="entr" presetSubtype="0" fill="hold" nodeType="afterEffect">
                                  <p:stCondLst>
                                    <p:cond delay="0"/>
                                  </p:stCondLst>
                                  <p:childTnLst>
                                    <p:set>
                                      <p:cBhvr>
                                        <p:cTn id="23" dur="1" fill="hold">
                                          <p:stCondLst>
                                            <p:cond delay="0"/>
                                          </p:stCondLst>
                                        </p:cTn>
                                        <p:tgtEl>
                                          <p:spTgt spid="1564682"/>
                                        </p:tgtEl>
                                        <p:attrNameLst>
                                          <p:attrName>style.visibility</p:attrName>
                                        </p:attrNameLst>
                                      </p:cBhvr>
                                      <p:to>
                                        <p:strVal val="visible"/>
                                      </p:to>
                                    </p:set>
                                    <p:anim calcmode="lin" valueType="num">
                                      <p:cBhvr>
                                        <p:cTn id="24" dur="1000" fill="hold"/>
                                        <p:tgtEl>
                                          <p:spTgt spid="1564682"/>
                                        </p:tgtEl>
                                        <p:attrNameLst>
                                          <p:attrName>ppt_w</p:attrName>
                                        </p:attrNameLst>
                                      </p:cBhvr>
                                      <p:tavLst>
                                        <p:tav tm="0">
                                          <p:val>
                                            <p:strVal val="#ppt_w*0.70"/>
                                          </p:val>
                                        </p:tav>
                                        <p:tav tm="100000">
                                          <p:val>
                                            <p:strVal val="#ppt_w"/>
                                          </p:val>
                                        </p:tav>
                                      </p:tavLst>
                                    </p:anim>
                                    <p:anim calcmode="lin" valueType="num">
                                      <p:cBhvr>
                                        <p:cTn id="25" dur="1000" fill="hold"/>
                                        <p:tgtEl>
                                          <p:spTgt spid="1564682"/>
                                        </p:tgtEl>
                                        <p:attrNameLst>
                                          <p:attrName>ppt_h</p:attrName>
                                        </p:attrNameLst>
                                      </p:cBhvr>
                                      <p:tavLst>
                                        <p:tav tm="0">
                                          <p:val>
                                            <p:strVal val="#ppt_h"/>
                                          </p:val>
                                        </p:tav>
                                        <p:tav tm="100000">
                                          <p:val>
                                            <p:strVal val="#ppt_h"/>
                                          </p:val>
                                        </p:tav>
                                      </p:tavLst>
                                    </p:anim>
                                    <p:animEffect transition="in" filter="fade">
                                      <p:cBhvr>
                                        <p:cTn id="26" dur="1000"/>
                                        <p:tgtEl>
                                          <p:spTgt spid="156468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299"/>
                                        </p:tgtEl>
                                        <p:attrNameLst>
                                          <p:attrName>style.visibility</p:attrName>
                                        </p:attrNameLst>
                                      </p:cBhvr>
                                      <p:to>
                                        <p:strVal val="visible"/>
                                      </p:to>
                                    </p:set>
                                    <p:animEffect transition="in" filter="blinds(horizontal)">
                                      <p:cBhvr>
                                        <p:cTn id="31" dur="500"/>
                                        <p:tgtEl>
                                          <p:spTgt spid="12299"/>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1564684"/>
                                        </p:tgtEl>
                                        <p:attrNameLst>
                                          <p:attrName>style.visibility</p:attrName>
                                        </p:attrNameLst>
                                      </p:cBhvr>
                                      <p:to>
                                        <p:strVal val="visible"/>
                                      </p:to>
                                    </p:set>
                                    <p:anim calcmode="lin" valueType="num">
                                      <p:cBhvr>
                                        <p:cTn id="36" dur="1000" fill="hold"/>
                                        <p:tgtEl>
                                          <p:spTgt spid="1564684"/>
                                        </p:tgtEl>
                                        <p:attrNameLst>
                                          <p:attrName>ppt_w</p:attrName>
                                        </p:attrNameLst>
                                      </p:cBhvr>
                                      <p:tavLst>
                                        <p:tav tm="0">
                                          <p:val>
                                            <p:strVal val="#ppt_w*0.70"/>
                                          </p:val>
                                        </p:tav>
                                        <p:tav tm="100000">
                                          <p:val>
                                            <p:strVal val="#ppt_w"/>
                                          </p:val>
                                        </p:tav>
                                      </p:tavLst>
                                    </p:anim>
                                    <p:anim calcmode="lin" valueType="num">
                                      <p:cBhvr>
                                        <p:cTn id="37" dur="1000" fill="hold"/>
                                        <p:tgtEl>
                                          <p:spTgt spid="1564684"/>
                                        </p:tgtEl>
                                        <p:attrNameLst>
                                          <p:attrName>ppt_h</p:attrName>
                                        </p:attrNameLst>
                                      </p:cBhvr>
                                      <p:tavLst>
                                        <p:tav tm="0">
                                          <p:val>
                                            <p:strVal val="#ppt_h"/>
                                          </p:val>
                                        </p:tav>
                                        <p:tav tm="100000">
                                          <p:val>
                                            <p:strVal val="#ppt_h"/>
                                          </p:val>
                                        </p:tav>
                                      </p:tavLst>
                                    </p:anim>
                                    <p:animEffect transition="in" filter="fade">
                                      <p:cBhvr>
                                        <p:cTn id="38" dur="1000"/>
                                        <p:tgtEl>
                                          <p:spTgt spid="156468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nodeType="clickEffect">
                                  <p:stCondLst>
                                    <p:cond delay="0"/>
                                  </p:stCondLst>
                                  <p:childTnLst>
                                    <p:set>
                                      <p:cBhvr>
                                        <p:cTn id="47" dur="1" fill="hold">
                                          <p:stCondLst>
                                            <p:cond delay="0"/>
                                          </p:stCondLst>
                                        </p:cTn>
                                        <p:tgtEl>
                                          <p:spTgt spid="1564685"/>
                                        </p:tgtEl>
                                        <p:attrNameLst>
                                          <p:attrName>style.visibility</p:attrName>
                                        </p:attrNameLst>
                                      </p:cBhvr>
                                      <p:to>
                                        <p:strVal val="visible"/>
                                      </p:to>
                                    </p:set>
                                    <p:anim calcmode="lin" valueType="num">
                                      <p:cBhvr>
                                        <p:cTn id="48" dur="1000" fill="hold"/>
                                        <p:tgtEl>
                                          <p:spTgt spid="1564685"/>
                                        </p:tgtEl>
                                        <p:attrNameLst>
                                          <p:attrName>ppt_w</p:attrName>
                                        </p:attrNameLst>
                                      </p:cBhvr>
                                      <p:tavLst>
                                        <p:tav tm="0">
                                          <p:val>
                                            <p:strVal val="#ppt_w*0.70"/>
                                          </p:val>
                                        </p:tav>
                                        <p:tav tm="100000">
                                          <p:val>
                                            <p:strVal val="#ppt_w"/>
                                          </p:val>
                                        </p:tav>
                                      </p:tavLst>
                                    </p:anim>
                                    <p:anim calcmode="lin" valueType="num">
                                      <p:cBhvr>
                                        <p:cTn id="49" dur="1000" fill="hold"/>
                                        <p:tgtEl>
                                          <p:spTgt spid="1564685"/>
                                        </p:tgtEl>
                                        <p:attrNameLst>
                                          <p:attrName>ppt_h</p:attrName>
                                        </p:attrNameLst>
                                      </p:cBhvr>
                                      <p:tavLst>
                                        <p:tav tm="0">
                                          <p:val>
                                            <p:strVal val="#ppt_h"/>
                                          </p:val>
                                        </p:tav>
                                        <p:tav tm="100000">
                                          <p:val>
                                            <p:strVal val="#ppt_h"/>
                                          </p:val>
                                        </p:tav>
                                      </p:tavLst>
                                    </p:anim>
                                    <p:animEffect transition="in" filter="fade">
                                      <p:cBhvr>
                                        <p:cTn id="50" dur="1000"/>
                                        <p:tgtEl>
                                          <p:spTgt spid="1564685"/>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55" presetClass="entr" presetSubtype="0" fill="hold" nodeType="clickEffect">
                                  <p:stCondLst>
                                    <p:cond delay="0"/>
                                  </p:stCondLst>
                                  <p:childTnLst>
                                    <p:set>
                                      <p:cBhvr>
                                        <p:cTn id="60" dur="1" fill="hold">
                                          <p:stCondLst>
                                            <p:cond delay="0"/>
                                          </p:stCondLst>
                                        </p:cTn>
                                        <p:tgtEl>
                                          <p:spTgt spid="1564686"/>
                                        </p:tgtEl>
                                        <p:attrNameLst>
                                          <p:attrName>style.visibility</p:attrName>
                                        </p:attrNameLst>
                                      </p:cBhvr>
                                      <p:to>
                                        <p:strVal val="visible"/>
                                      </p:to>
                                    </p:set>
                                    <p:anim calcmode="lin" valueType="num">
                                      <p:cBhvr>
                                        <p:cTn id="61" dur="1000" fill="hold"/>
                                        <p:tgtEl>
                                          <p:spTgt spid="1564686"/>
                                        </p:tgtEl>
                                        <p:attrNameLst>
                                          <p:attrName>ppt_w</p:attrName>
                                        </p:attrNameLst>
                                      </p:cBhvr>
                                      <p:tavLst>
                                        <p:tav tm="0">
                                          <p:val>
                                            <p:strVal val="#ppt_w*0.70"/>
                                          </p:val>
                                        </p:tav>
                                        <p:tav tm="100000">
                                          <p:val>
                                            <p:strVal val="#ppt_w"/>
                                          </p:val>
                                        </p:tav>
                                      </p:tavLst>
                                    </p:anim>
                                    <p:anim calcmode="lin" valueType="num">
                                      <p:cBhvr>
                                        <p:cTn id="62" dur="1000" fill="hold"/>
                                        <p:tgtEl>
                                          <p:spTgt spid="1564686"/>
                                        </p:tgtEl>
                                        <p:attrNameLst>
                                          <p:attrName>ppt_h</p:attrName>
                                        </p:attrNameLst>
                                      </p:cBhvr>
                                      <p:tavLst>
                                        <p:tav tm="0">
                                          <p:val>
                                            <p:strVal val="#ppt_h"/>
                                          </p:val>
                                        </p:tav>
                                        <p:tav tm="100000">
                                          <p:val>
                                            <p:strVal val="#ppt_h"/>
                                          </p:val>
                                        </p:tav>
                                      </p:tavLst>
                                    </p:anim>
                                    <p:animEffect transition="in" filter="fade">
                                      <p:cBhvr>
                                        <p:cTn id="63" dur="1000"/>
                                        <p:tgtEl>
                                          <p:spTgt spid="1564686"/>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blinds(horizontal)">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55" presetClass="entr" presetSubtype="0" fill="hold" nodeType="clickEffect">
                                  <p:stCondLst>
                                    <p:cond delay="0"/>
                                  </p:stCondLst>
                                  <p:childTnLst>
                                    <p:set>
                                      <p:cBhvr>
                                        <p:cTn id="72" dur="1" fill="hold">
                                          <p:stCondLst>
                                            <p:cond delay="0"/>
                                          </p:stCondLst>
                                        </p:cTn>
                                        <p:tgtEl>
                                          <p:spTgt spid="1564688"/>
                                        </p:tgtEl>
                                        <p:attrNameLst>
                                          <p:attrName>style.visibility</p:attrName>
                                        </p:attrNameLst>
                                      </p:cBhvr>
                                      <p:to>
                                        <p:strVal val="visible"/>
                                      </p:to>
                                    </p:set>
                                    <p:anim calcmode="lin" valueType="num">
                                      <p:cBhvr>
                                        <p:cTn id="73" dur="1000" fill="hold"/>
                                        <p:tgtEl>
                                          <p:spTgt spid="1564688"/>
                                        </p:tgtEl>
                                        <p:attrNameLst>
                                          <p:attrName>ppt_w</p:attrName>
                                        </p:attrNameLst>
                                      </p:cBhvr>
                                      <p:tavLst>
                                        <p:tav tm="0">
                                          <p:val>
                                            <p:strVal val="#ppt_w*0.70"/>
                                          </p:val>
                                        </p:tav>
                                        <p:tav tm="100000">
                                          <p:val>
                                            <p:strVal val="#ppt_w"/>
                                          </p:val>
                                        </p:tav>
                                      </p:tavLst>
                                    </p:anim>
                                    <p:anim calcmode="lin" valueType="num">
                                      <p:cBhvr>
                                        <p:cTn id="74" dur="1000" fill="hold"/>
                                        <p:tgtEl>
                                          <p:spTgt spid="1564688"/>
                                        </p:tgtEl>
                                        <p:attrNameLst>
                                          <p:attrName>ppt_h</p:attrName>
                                        </p:attrNameLst>
                                      </p:cBhvr>
                                      <p:tavLst>
                                        <p:tav tm="0">
                                          <p:val>
                                            <p:strVal val="#ppt_h"/>
                                          </p:val>
                                        </p:tav>
                                        <p:tav tm="100000">
                                          <p:val>
                                            <p:strVal val="#ppt_h"/>
                                          </p:val>
                                        </p:tav>
                                      </p:tavLst>
                                    </p:anim>
                                    <p:animEffect transition="in" filter="fade">
                                      <p:cBhvr>
                                        <p:cTn id="75" dur="1000"/>
                                        <p:tgtEl>
                                          <p:spTgt spid="1564688"/>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blinds(horizontal)">
                                      <p:cBhvr>
                                        <p:cTn id="80" dur="500"/>
                                        <p:tgtEl>
                                          <p:spTgt spid="16"/>
                                        </p:tgtEl>
                                      </p:cBhvr>
                                    </p:animEffect>
                                  </p:childTnLst>
                                </p:cTn>
                              </p:par>
                            </p:childTnLst>
                          </p:cTn>
                        </p:par>
                      </p:childTnLst>
                    </p:cTn>
                  </p:par>
                  <p:par>
                    <p:cTn id="81" fill="hold">
                      <p:stCondLst>
                        <p:cond delay="indefinite"/>
                      </p:stCondLst>
                      <p:childTnLst>
                        <p:par>
                          <p:cTn id="82" fill="hold">
                            <p:stCondLst>
                              <p:cond delay="0"/>
                            </p:stCondLst>
                            <p:childTnLst>
                              <p:par>
                                <p:cTn id="83" presetID="55" presetClass="entr" presetSubtype="0" fill="hold" nodeType="clickEffect">
                                  <p:stCondLst>
                                    <p:cond delay="0"/>
                                  </p:stCondLst>
                                  <p:childTnLst>
                                    <p:set>
                                      <p:cBhvr>
                                        <p:cTn id="84" dur="1" fill="hold">
                                          <p:stCondLst>
                                            <p:cond delay="0"/>
                                          </p:stCondLst>
                                        </p:cTn>
                                        <p:tgtEl>
                                          <p:spTgt spid="1564689"/>
                                        </p:tgtEl>
                                        <p:attrNameLst>
                                          <p:attrName>style.visibility</p:attrName>
                                        </p:attrNameLst>
                                      </p:cBhvr>
                                      <p:to>
                                        <p:strVal val="visible"/>
                                      </p:to>
                                    </p:set>
                                    <p:anim calcmode="lin" valueType="num">
                                      <p:cBhvr>
                                        <p:cTn id="85" dur="1000" fill="hold"/>
                                        <p:tgtEl>
                                          <p:spTgt spid="1564689"/>
                                        </p:tgtEl>
                                        <p:attrNameLst>
                                          <p:attrName>ppt_w</p:attrName>
                                        </p:attrNameLst>
                                      </p:cBhvr>
                                      <p:tavLst>
                                        <p:tav tm="0">
                                          <p:val>
                                            <p:strVal val="#ppt_w*0.70"/>
                                          </p:val>
                                        </p:tav>
                                        <p:tav tm="100000">
                                          <p:val>
                                            <p:strVal val="#ppt_w"/>
                                          </p:val>
                                        </p:tav>
                                      </p:tavLst>
                                    </p:anim>
                                    <p:anim calcmode="lin" valueType="num">
                                      <p:cBhvr>
                                        <p:cTn id="86" dur="1000" fill="hold"/>
                                        <p:tgtEl>
                                          <p:spTgt spid="1564689"/>
                                        </p:tgtEl>
                                        <p:attrNameLst>
                                          <p:attrName>ppt_h</p:attrName>
                                        </p:attrNameLst>
                                      </p:cBhvr>
                                      <p:tavLst>
                                        <p:tav tm="0">
                                          <p:val>
                                            <p:strVal val="#ppt_h"/>
                                          </p:val>
                                        </p:tav>
                                        <p:tav tm="100000">
                                          <p:val>
                                            <p:strVal val="#ppt_h"/>
                                          </p:val>
                                        </p:tav>
                                      </p:tavLst>
                                    </p:anim>
                                    <p:animEffect transition="in" filter="fade">
                                      <p:cBhvr>
                                        <p:cTn id="87" dur="1000"/>
                                        <p:tgtEl>
                                          <p:spTgt spid="1564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4678" grpId="0" build="allAtOnce" animBg="1"/>
      <p:bldP spid="12299" grpId="0"/>
      <p:bldP spid="12" grpId="0"/>
      <p:bldP spid="14" grpId="0"/>
      <p:bldP spid="15" grpId="0"/>
      <p:bldP spid="1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0" y="630238"/>
            <a:ext cx="3121025" cy="569912"/>
          </a:xfrm>
          <a:noFill/>
        </p:spPr>
        <p:txBody>
          <a:bodyPr/>
          <a:lstStyle/>
          <a:p>
            <a:r>
              <a:rPr lang="zh-CN" altLang="en-US" sz="3400" b="1"/>
              <a:t>信号运算</a:t>
            </a:r>
          </a:p>
        </p:txBody>
      </p:sp>
      <p:graphicFrame>
        <p:nvGraphicFramePr>
          <p:cNvPr id="1605635" name="Object 2"/>
          <p:cNvGraphicFramePr>
            <a:graphicFrameLocks noGrp="1" noChangeAspect="1"/>
          </p:cNvGraphicFramePr>
          <p:nvPr>
            <p:ph sz="half" idx="1"/>
          </p:nvPr>
        </p:nvGraphicFramePr>
        <p:xfrm>
          <a:off x="4627563" y="1587500"/>
          <a:ext cx="3200400" cy="2136775"/>
        </p:xfrm>
        <a:graphic>
          <a:graphicData uri="http://schemas.openxmlformats.org/presentationml/2006/ole">
            <mc:AlternateContent xmlns:mc="http://schemas.openxmlformats.org/markup-compatibility/2006">
              <mc:Choice xmlns:v="urn:schemas-microsoft-com:vml" Requires="v">
                <p:oleObj spid="_x0000_s7220" name="Visio" r:id="rId5" imgW="6927850" imgH="4636770" progId="Visio.Drawing.11">
                  <p:embed/>
                </p:oleObj>
              </mc:Choice>
              <mc:Fallback>
                <p:oleObj name="Visio" r:id="rId5" imgW="6927850" imgH="4636770" progId="Visio.Drawing.11">
                  <p:embed/>
                  <p:pic>
                    <p:nvPicPr>
                      <p:cNvPr id="0" name="图片 7169"/>
                      <p:cNvPicPr>
                        <a:picLocks noChangeAspect="1" noChangeArrowheads="1"/>
                      </p:cNvPicPr>
                      <p:nvPr/>
                    </p:nvPicPr>
                    <p:blipFill>
                      <a:blip r:embed="rId6">
                        <a:extLst>
                          <a:ext uri="{28A0092B-C50C-407E-A947-70E740481C1C}">
                            <a14:useLocalDpi xmlns:a14="http://schemas.microsoft.com/office/drawing/2010/main" val="0"/>
                          </a:ext>
                        </a:extLst>
                      </a:blip>
                      <a:srcRect l="18611" t="26875" r="30489" b="7578"/>
                      <a:stretch>
                        <a:fillRect/>
                      </a:stretch>
                    </p:blipFill>
                    <p:spPr bwMode="auto">
                      <a:xfrm>
                        <a:off x="4627563" y="1587500"/>
                        <a:ext cx="3200400" cy="213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2644" name="Object 3"/>
              <p:cNvSpPr txBox="1">
                <a:spLocks noGrp="1"/>
              </p:cNvSpPr>
              <p:nvPr>
                <p:ph sz="quarter" idx="2"/>
              </p:nvPr>
            </p:nvSpPr>
            <p:spPr bwMode="auto">
              <a:xfrm>
                <a:off x="6227763" y="1506538"/>
                <a:ext cx="696912" cy="323850"/>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2644" name="Object 3"/>
              <p:cNvSpPr txBox="1">
                <a:spLocks noRot="1" noChangeAspect="1" noMove="1" noResize="1" noEditPoints="1" noAdjustHandles="1" noChangeArrowheads="1" noChangeShapeType="1" noTextEdit="1"/>
              </p:cNvSpPr>
              <p:nvPr>
                <p:ph sz="quarter" idx="2"/>
              </p:nvPr>
            </p:nvSpPr>
            <p:spPr bwMode="auto">
              <a:xfrm>
                <a:off x="6227763" y="1506538"/>
                <a:ext cx="696912" cy="323850"/>
              </a:xfrm>
              <a:prstGeom prst="rect">
                <a:avLst/>
              </a:prstGeom>
              <a:blipFill rotWithShape="1">
                <a:blip r:embed="rId7"/>
                <a:stretch>
                  <a:fillRect l="-46" t="-98" b="9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645" name="Object 5"/>
              <p:cNvSpPr txBox="1"/>
              <p:nvPr/>
            </p:nvSpPr>
            <p:spPr bwMode="auto">
              <a:xfrm>
                <a:off x="5895010" y="3805237"/>
                <a:ext cx="1009650" cy="425450"/>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2645" name="Object 5"/>
              <p:cNvSpPr txBox="1">
                <a:spLocks noRot="1" noChangeAspect="1" noMove="1" noResize="1" noEditPoints="1" noAdjustHandles="1" noChangeArrowheads="1" noChangeShapeType="1" noTextEdit="1"/>
              </p:cNvSpPr>
              <p:nvPr/>
            </p:nvSpPr>
            <p:spPr bwMode="auto">
              <a:xfrm>
                <a:off x="5895010" y="3805237"/>
                <a:ext cx="1009650" cy="425450"/>
              </a:xfrm>
              <a:prstGeom prst="rect">
                <a:avLst/>
              </a:prstGeom>
              <a:blipFill rotWithShape="1">
                <a:blip r:embed="rId8"/>
                <a:stretch>
                  <a:fillRect l="-30" t="-75" r="30" b="75"/>
                </a:stretch>
              </a:blipFill>
              <a:ln>
                <a:noFill/>
              </a:ln>
              <a:effectLst/>
            </p:spPr>
            <p:txBody>
              <a:bodyPr/>
              <a:lstStyle/>
              <a:p>
                <a:r>
                  <a:rPr lang="zh-CN" altLang="en-US">
                    <a:noFill/>
                  </a:rPr>
                  <a:t> </a:t>
                </a:r>
              </a:p>
            </p:txBody>
          </p:sp>
        </mc:Fallback>
      </mc:AlternateContent>
      <p:graphicFrame>
        <p:nvGraphicFramePr>
          <p:cNvPr id="1605639" name="Object 6"/>
          <p:cNvGraphicFramePr>
            <a:graphicFrameLocks noChangeAspect="1"/>
          </p:cNvGraphicFramePr>
          <p:nvPr/>
        </p:nvGraphicFramePr>
        <p:xfrm>
          <a:off x="659375" y="4138612"/>
          <a:ext cx="1802273" cy="2262188"/>
        </p:xfrm>
        <a:graphic>
          <a:graphicData uri="http://schemas.openxmlformats.org/presentationml/2006/ole">
            <mc:AlternateContent xmlns:mc="http://schemas.openxmlformats.org/markup-compatibility/2006">
              <mc:Choice xmlns:v="urn:schemas-microsoft-com:vml" Requires="v">
                <p:oleObj spid="_x0000_s7221" name="Visio" r:id="rId9" imgW="6927850" imgH="4636770" progId="Visio.Drawing.11">
                  <p:embed/>
                </p:oleObj>
              </mc:Choice>
              <mc:Fallback>
                <p:oleObj name="Visio" r:id="rId9" imgW="6927850" imgH="4636770" progId="Visio.Drawing.11">
                  <p:embed/>
                  <p:pic>
                    <p:nvPicPr>
                      <p:cNvPr id="0" name="图片 7170"/>
                      <p:cNvPicPr>
                        <a:picLocks noChangeAspect="1" noChangeArrowheads="1"/>
                      </p:cNvPicPr>
                      <p:nvPr/>
                    </p:nvPicPr>
                    <p:blipFill>
                      <a:blip r:embed="rId10">
                        <a:extLst>
                          <a:ext uri="{28A0092B-C50C-407E-A947-70E740481C1C}">
                            <a14:useLocalDpi xmlns:a14="http://schemas.microsoft.com/office/drawing/2010/main" val="0"/>
                          </a:ext>
                        </a:extLst>
                      </a:blip>
                      <a:srcRect l="18611" t="26875" r="30489" b="7578"/>
                      <a:stretch>
                        <a:fillRect/>
                      </a:stretch>
                    </p:blipFill>
                    <p:spPr bwMode="auto">
                      <a:xfrm>
                        <a:off x="659375" y="4138612"/>
                        <a:ext cx="1802273" cy="2262188"/>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12647" name="Object 7"/>
              <p:cNvSpPr txBox="1"/>
              <p:nvPr/>
            </p:nvSpPr>
            <p:spPr bwMode="auto">
              <a:xfrm>
                <a:off x="379623" y="4005263"/>
                <a:ext cx="1254125" cy="425450"/>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(2−3</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2647" name="Object 7"/>
              <p:cNvSpPr txBox="1">
                <a:spLocks noRot="1" noChangeAspect="1" noMove="1" noResize="1" noEditPoints="1" noAdjustHandles="1" noChangeArrowheads="1" noChangeShapeType="1" noTextEdit="1"/>
              </p:cNvSpPr>
              <p:nvPr/>
            </p:nvSpPr>
            <p:spPr bwMode="auto">
              <a:xfrm>
                <a:off x="379623" y="4005263"/>
                <a:ext cx="1254125" cy="425450"/>
              </a:xfrm>
              <a:prstGeom prst="rect">
                <a:avLst/>
              </a:prstGeom>
              <a:blipFill rotWithShape="1">
                <a:blip r:embed="rId11"/>
                <a:stretch>
                  <a:fillRect l="-42" t="-75" r="42" b="75"/>
                </a:stretch>
              </a:blipFill>
              <a:ln>
                <a:noFill/>
              </a:ln>
              <a:effectLst/>
            </p:spPr>
            <p:txBody>
              <a:bodyPr/>
              <a:lstStyle/>
              <a:p>
                <a:r>
                  <a:rPr lang="zh-CN" altLang="en-US">
                    <a:noFill/>
                  </a:rPr>
                  <a:t> </a:t>
                </a:r>
              </a:p>
            </p:txBody>
          </p:sp>
        </mc:Fallback>
      </mc:AlternateContent>
      <p:graphicFrame>
        <p:nvGraphicFramePr>
          <p:cNvPr id="112648" name="Object 8"/>
          <p:cNvGraphicFramePr>
            <a:graphicFrameLocks noGrp="1" noChangeAspect="1"/>
          </p:cNvGraphicFramePr>
          <p:nvPr>
            <p:ph sz="quarter" idx="3"/>
          </p:nvPr>
        </p:nvGraphicFramePr>
        <p:xfrm>
          <a:off x="523875" y="1562100"/>
          <a:ext cx="3168650" cy="2293938"/>
        </p:xfrm>
        <a:graphic>
          <a:graphicData uri="http://schemas.openxmlformats.org/presentationml/2006/ole">
            <mc:AlternateContent xmlns:mc="http://schemas.openxmlformats.org/markup-compatibility/2006">
              <mc:Choice xmlns:v="urn:schemas-microsoft-com:vml" Requires="v">
                <p:oleObj spid="_x0000_s7222" name="Visio" r:id="rId12" imgW="6927850" imgH="4636770" progId="Visio.Drawing.11">
                  <p:embed/>
                </p:oleObj>
              </mc:Choice>
              <mc:Fallback>
                <p:oleObj name="Visio" r:id="rId12" imgW="6927850" imgH="4636770" progId="Visio.Drawing.11">
                  <p:embed/>
                  <p:pic>
                    <p:nvPicPr>
                      <p:cNvPr id="0" name="图片 7171"/>
                      <p:cNvPicPr>
                        <a:picLocks noChangeAspect="1" noChangeArrowheads="1"/>
                      </p:cNvPicPr>
                      <p:nvPr/>
                    </p:nvPicPr>
                    <p:blipFill>
                      <a:blip r:embed="rId13">
                        <a:extLst>
                          <a:ext uri="{28A0092B-C50C-407E-A947-70E740481C1C}">
                            <a14:useLocalDpi xmlns:a14="http://schemas.microsoft.com/office/drawing/2010/main" val="0"/>
                          </a:ext>
                        </a:extLst>
                      </a:blip>
                      <a:srcRect l="18611" t="26875" r="30489" b="7578"/>
                      <a:stretch>
                        <a:fillRect/>
                      </a:stretch>
                    </p:blipFill>
                    <p:spPr bwMode="auto">
                      <a:xfrm>
                        <a:off x="523875" y="1562100"/>
                        <a:ext cx="3168650" cy="229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2649" name="Object 9"/>
              <p:cNvSpPr txBox="1"/>
              <p:nvPr/>
            </p:nvSpPr>
            <p:spPr bwMode="auto">
              <a:xfrm>
                <a:off x="2300288" y="927100"/>
                <a:ext cx="5945187" cy="452438"/>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已知信号</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如下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画出信号</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(2−3</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的波形</m:t>
                      </m:r>
                    </m:oMath>
                  </m:oMathPara>
                </a14:m>
                <a:endParaRPr lang="zh-CN" altLang="en-US"/>
              </a:p>
            </p:txBody>
          </p:sp>
        </mc:Choice>
        <mc:Fallback xmlns="">
          <p:sp>
            <p:nvSpPr>
              <p:cNvPr id="112649" name="Object 9"/>
              <p:cNvSpPr txBox="1">
                <a:spLocks noRot="1" noChangeAspect="1" noMove="1" noResize="1" noEditPoints="1" noAdjustHandles="1" noChangeArrowheads="1" noChangeShapeType="1" noTextEdit="1"/>
              </p:cNvSpPr>
              <p:nvPr/>
            </p:nvSpPr>
            <p:spPr bwMode="auto">
              <a:xfrm>
                <a:off x="2300288" y="927100"/>
                <a:ext cx="5945187" cy="452438"/>
              </a:xfrm>
              <a:prstGeom prst="rect">
                <a:avLst/>
              </a:prstGeom>
              <a:blipFill rotWithShape="1">
                <a:blip r:embed="rId14"/>
                <a:stretch>
                  <a:fillRect l="-5" b="70"/>
                </a:stretch>
              </a:blipFill>
              <a:ln>
                <a:noFill/>
              </a:ln>
              <a:effectLst/>
            </p:spPr>
            <p:txBody>
              <a:bodyPr/>
              <a:lstStyle/>
              <a:p>
                <a:r>
                  <a:rPr lang="zh-CN" altLang="en-US">
                    <a:noFill/>
                  </a:rPr>
                  <a:t> </a:t>
                </a:r>
              </a:p>
            </p:txBody>
          </p:sp>
        </mc:Fallback>
      </mc:AlternateContent>
      <p:graphicFrame>
        <p:nvGraphicFramePr>
          <p:cNvPr id="1605637" name="Object 4"/>
          <p:cNvGraphicFramePr>
            <a:graphicFrameLocks noChangeAspect="1"/>
          </p:cNvGraphicFramePr>
          <p:nvPr/>
        </p:nvGraphicFramePr>
        <p:xfrm>
          <a:off x="5458074" y="3952875"/>
          <a:ext cx="1397000" cy="2447925"/>
        </p:xfrm>
        <a:graphic>
          <a:graphicData uri="http://schemas.openxmlformats.org/presentationml/2006/ole">
            <mc:AlternateContent xmlns:mc="http://schemas.openxmlformats.org/markup-compatibility/2006">
              <mc:Choice xmlns:v="urn:schemas-microsoft-com:vml" Requires="v">
                <p:oleObj spid="_x0000_s7223" name="Visio" r:id="rId15" imgW="6927850" imgH="4636770" progId="Visio.Drawing.11">
                  <p:embed/>
                </p:oleObj>
              </mc:Choice>
              <mc:Fallback>
                <p:oleObj name="Visio" r:id="rId15" imgW="6927850" imgH="4636770" progId="Visio.Drawing.11">
                  <p:embed/>
                  <p:pic>
                    <p:nvPicPr>
                      <p:cNvPr id="0" name="图片 7172"/>
                      <p:cNvPicPr>
                        <a:picLocks noChangeAspect="1" noChangeArrowheads="1"/>
                      </p:cNvPicPr>
                      <p:nvPr/>
                    </p:nvPicPr>
                    <p:blipFill>
                      <a:blip r:embed="rId16">
                        <a:extLst>
                          <a:ext uri="{28A0092B-C50C-407E-A947-70E740481C1C}">
                            <a14:useLocalDpi xmlns:a14="http://schemas.microsoft.com/office/drawing/2010/main" val="0"/>
                          </a:ext>
                        </a:extLst>
                      </a:blip>
                      <a:srcRect l="18611" t="26875" r="30489" b="7578"/>
                      <a:stretch>
                        <a:fillRect/>
                      </a:stretch>
                    </p:blipFill>
                    <p:spPr bwMode="auto">
                      <a:xfrm>
                        <a:off x="5458074" y="3952875"/>
                        <a:ext cx="1397000" cy="244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日期占位符 10"/>
          <p:cNvSpPr>
            <a:spLocks noGrp="1"/>
          </p:cNvSpPr>
          <p:nvPr>
            <p:ph type="dt" sz="quarter" idx="10"/>
          </p:nvPr>
        </p:nvSpPr>
        <p:spPr/>
        <p:txBody>
          <a:bodyPr/>
          <a:lstStyle/>
          <a:p>
            <a:pPr>
              <a:defRPr/>
            </a:pPr>
            <a:fld id="{1DCF127C-EF46-4A0A-B177-F050F4A7796A}" type="datetime3">
              <a:rPr lang="zh-CN" altLang="en-US"/>
              <a:t>2026年3月4日星期三</a:t>
            </a:fld>
            <a:endParaRPr lang="en-US" altLang="zh-CN" dirty="0"/>
          </a:p>
        </p:txBody>
      </p:sp>
      <p:sp>
        <p:nvSpPr>
          <p:cNvPr id="4" name="箭头: 右 3"/>
          <p:cNvSpPr/>
          <p:nvPr/>
        </p:nvSpPr>
        <p:spPr bwMode="auto">
          <a:xfrm>
            <a:off x="3583015" y="1987036"/>
            <a:ext cx="1576929" cy="443255"/>
          </a:xfrm>
          <a:prstGeom prst="rightArrow">
            <a:avLst/>
          </a:prstGeom>
          <a:ln>
            <a:headEnd type="none" w="med" len="med"/>
            <a:tailEnd type="triangle" w="sm" len="s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r>
              <a:rPr kumimoji="0" lang="zh-CN" altLang="en-US" sz="1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先反折</a:t>
            </a:r>
          </a:p>
        </p:txBody>
      </p:sp>
      <p:sp>
        <p:nvSpPr>
          <p:cNvPr id="8" name="箭头: 下 7"/>
          <p:cNvSpPr/>
          <p:nvPr/>
        </p:nvSpPr>
        <p:spPr bwMode="auto">
          <a:xfrm>
            <a:off x="7341597" y="3543129"/>
            <a:ext cx="448516" cy="1474180"/>
          </a:xfrm>
          <a:prstGeom prst="downArrow">
            <a:avLst/>
          </a:prstGeom>
          <a:ln>
            <a:headEnd type="none" w="med" len="med"/>
            <a:tailEnd type="triangle" w="sm" len="s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R="0"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r>
              <a:rPr kumimoji="0" lang="zh-CN" altLang="en-US" sz="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再压缩</a:t>
            </a:r>
            <a:endParaRPr kumimoji="0" lang="en-US" altLang="zh-CN" sz="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523875" marR="0" indent="-1047750"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endParaRPr lang="en-US" altLang="zh-CN" sz="800" dirty="0">
              <a:solidFill>
                <a:schemeClr val="tx1"/>
              </a:solidFill>
              <a:latin typeface="黑体" panose="02010609060101010101" pitchFamily="49" charset="-122"/>
              <a:ea typeface="黑体" panose="02010609060101010101" pitchFamily="49" charset="-122"/>
            </a:endParaRPr>
          </a:p>
          <a:p>
            <a:pPr marL="367030" marR="0" indent="-187325"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endParaRPr kumimoji="0" lang="en-US" altLang="zh-CN" sz="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367030" marR="0" indent="-187325"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endParaRPr lang="en-US" altLang="zh-CN" sz="800" dirty="0">
              <a:solidFill>
                <a:schemeClr val="tx1"/>
              </a:solidFill>
              <a:latin typeface="黑体" panose="02010609060101010101" pitchFamily="49" charset="-122"/>
              <a:ea typeface="黑体" panose="02010609060101010101" pitchFamily="49" charset="-122"/>
            </a:endParaRPr>
          </a:p>
          <a:p>
            <a:pPr marL="367030" marR="0" indent="-187325"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endParaRPr kumimoji="0" lang="zh-CN" altLang="en-US" sz="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20" name="箭头: 右 19"/>
          <p:cNvSpPr/>
          <p:nvPr/>
        </p:nvSpPr>
        <p:spPr bwMode="auto">
          <a:xfrm flipH="1">
            <a:off x="3052632" y="5074272"/>
            <a:ext cx="1385639" cy="443255"/>
          </a:xfrm>
          <a:prstGeom prst="rightArrow">
            <a:avLst/>
          </a:prstGeom>
          <a:ln>
            <a:headEnd type="none" w="med" len="med"/>
            <a:tailEnd type="triangle" w="sm" len="s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r>
              <a:rPr lang="zh-CN" altLang="en-US" sz="1000" dirty="0">
                <a:solidFill>
                  <a:schemeClr val="tx1"/>
                </a:solidFill>
                <a:latin typeface="黑体" panose="02010609060101010101" pitchFamily="49" charset="-122"/>
                <a:ea typeface="黑体" panose="02010609060101010101" pitchFamily="49" charset="-122"/>
              </a:rPr>
              <a:t>最后平移</a:t>
            </a:r>
            <a:endParaRPr kumimoji="0" lang="zh-CN" altLang="en-US" sz="1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Tree>
    <p:custDataLst>
      <p:tags r:id="rId2"/>
    </p:custDataLst>
  </p:cSld>
  <p:clrMapOvr>
    <a:masterClrMapping/>
  </p:clrMapOvr>
  <p:transition spd="med" advTm="66769">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55" presetClass="entr" presetSubtype="0" fill="hold" nodeType="afterEffect">
                                  <p:stCondLst>
                                    <p:cond delay="0"/>
                                  </p:stCondLst>
                                  <p:childTnLst>
                                    <p:set>
                                      <p:cBhvr>
                                        <p:cTn id="9" dur="1" fill="hold">
                                          <p:stCondLst>
                                            <p:cond delay="0"/>
                                          </p:stCondLst>
                                        </p:cTn>
                                        <p:tgtEl>
                                          <p:spTgt spid="1605635"/>
                                        </p:tgtEl>
                                        <p:attrNameLst>
                                          <p:attrName>style.visibility</p:attrName>
                                        </p:attrNameLst>
                                      </p:cBhvr>
                                      <p:to>
                                        <p:strVal val="visible"/>
                                      </p:to>
                                    </p:set>
                                    <p:anim calcmode="lin" valueType="num">
                                      <p:cBhvr>
                                        <p:cTn id="10" dur="1000" fill="hold"/>
                                        <p:tgtEl>
                                          <p:spTgt spid="1605635"/>
                                        </p:tgtEl>
                                        <p:attrNameLst>
                                          <p:attrName>ppt_w</p:attrName>
                                        </p:attrNameLst>
                                      </p:cBhvr>
                                      <p:tavLst>
                                        <p:tav tm="0">
                                          <p:val>
                                            <p:strVal val="#ppt_w*0.70"/>
                                          </p:val>
                                        </p:tav>
                                        <p:tav tm="100000">
                                          <p:val>
                                            <p:strVal val="#ppt_w"/>
                                          </p:val>
                                        </p:tav>
                                      </p:tavLst>
                                    </p:anim>
                                    <p:anim calcmode="lin" valueType="num">
                                      <p:cBhvr>
                                        <p:cTn id="11" dur="1000" fill="hold"/>
                                        <p:tgtEl>
                                          <p:spTgt spid="1605635"/>
                                        </p:tgtEl>
                                        <p:attrNameLst>
                                          <p:attrName>ppt_h</p:attrName>
                                        </p:attrNameLst>
                                      </p:cBhvr>
                                      <p:tavLst>
                                        <p:tav tm="0">
                                          <p:val>
                                            <p:strVal val="#ppt_h"/>
                                          </p:val>
                                        </p:tav>
                                        <p:tav tm="100000">
                                          <p:val>
                                            <p:strVal val="#ppt_h"/>
                                          </p:val>
                                        </p:tav>
                                      </p:tavLst>
                                    </p:anim>
                                    <p:animEffect transition="in" filter="fade">
                                      <p:cBhvr>
                                        <p:cTn id="12" dur="1000"/>
                                        <p:tgtEl>
                                          <p:spTgt spid="160563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55" presetClass="entr" presetSubtype="0" fill="hold" nodeType="afterEffect">
                                  <p:stCondLst>
                                    <p:cond delay="0"/>
                                  </p:stCondLst>
                                  <p:childTnLst>
                                    <p:set>
                                      <p:cBhvr>
                                        <p:cTn id="19" dur="1" fill="hold">
                                          <p:stCondLst>
                                            <p:cond delay="0"/>
                                          </p:stCondLst>
                                        </p:cTn>
                                        <p:tgtEl>
                                          <p:spTgt spid="1605637"/>
                                        </p:tgtEl>
                                        <p:attrNameLst>
                                          <p:attrName>style.visibility</p:attrName>
                                        </p:attrNameLst>
                                      </p:cBhvr>
                                      <p:to>
                                        <p:strVal val="visible"/>
                                      </p:to>
                                    </p:set>
                                    <p:anim calcmode="lin" valueType="num">
                                      <p:cBhvr>
                                        <p:cTn id="20" dur="1000" fill="hold"/>
                                        <p:tgtEl>
                                          <p:spTgt spid="1605637"/>
                                        </p:tgtEl>
                                        <p:attrNameLst>
                                          <p:attrName>ppt_w</p:attrName>
                                        </p:attrNameLst>
                                      </p:cBhvr>
                                      <p:tavLst>
                                        <p:tav tm="0">
                                          <p:val>
                                            <p:strVal val="#ppt_w*0.70"/>
                                          </p:val>
                                        </p:tav>
                                        <p:tav tm="100000">
                                          <p:val>
                                            <p:strVal val="#ppt_w"/>
                                          </p:val>
                                        </p:tav>
                                      </p:tavLst>
                                    </p:anim>
                                    <p:anim calcmode="lin" valueType="num">
                                      <p:cBhvr>
                                        <p:cTn id="21" dur="1000" fill="hold"/>
                                        <p:tgtEl>
                                          <p:spTgt spid="1605637"/>
                                        </p:tgtEl>
                                        <p:attrNameLst>
                                          <p:attrName>ppt_h</p:attrName>
                                        </p:attrNameLst>
                                      </p:cBhvr>
                                      <p:tavLst>
                                        <p:tav tm="0">
                                          <p:val>
                                            <p:strVal val="#ppt_h"/>
                                          </p:val>
                                        </p:tav>
                                        <p:tav tm="100000">
                                          <p:val>
                                            <p:strVal val="#ppt_h"/>
                                          </p:val>
                                        </p:tav>
                                      </p:tavLst>
                                    </p:anim>
                                    <p:animEffect transition="in" filter="fade">
                                      <p:cBhvr>
                                        <p:cTn id="22" dur="1000"/>
                                        <p:tgtEl>
                                          <p:spTgt spid="160563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1605639"/>
                                        </p:tgtEl>
                                        <p:attrNameLst>
                                          <p:attrName>style.visibility</p:attrName>
                                        </p:attrNameLst>
                                      </p:cBhvr>
                                      <p:to>
                                        <p:strVal val="visible"/>
                                      </p:to>
                                    </p:set>
                                    <p:anim calcmode="lin" valueType="num">
                                      <p:cBhvr>
                                        <p:cTn id="31" dur="1000" fill="hold"/>
                                        <p:tgtEl>
                                          <p:spTgt spid="1605639"/>
                                        </p:tgtEl>
                                        <p:attrNameLst>
                                          <p:attrName>ppt_w</p:attrName>
                                        </p:attrNameLst>
                                      </p:cBhvr>
                                      <p:tavLst>
                                        <p:tav tm="0">
                                          <p:val>
                                            <p:strVal val="#ppt_w*0.70"/>
                                          </p:val>
                                        </p:tav>
                                        <p:tav tm="100000">
                                          <p:val>
                                            <p:strVal val="#ppt_w"/>
                                          </p:val>
                                        </p:tav>
                                      </p:tavLst>
                                    </p:anim>
                                    <p:anim calcmode="lin" valueType="num">
                                      <p:cBhvr>
                                        <p:cTn id="32" dur="1000" fill="hold"/>
                                        <p:tgtEl>
                                          <p:spTgt spid="1605639"/>
                                        </p:tgtEl>
                                        <p:attrNameLst>
                                          <p:attrName>ppt_h</p:attrName>
                                        </p:attrNameLst>
                                      </p:cBhvr>
                                      <p:tavLst>
                                        <p:tav tm="0">
                                          <p:val>
                                            <p:strVal val="#ppt_h"/>
                                          </p:val>
                                        </p:tav>
                                        <p:tav tm="100000">
                                          <p:val>
                                            <p:strVal val="#ppt_h"/>
                                          </p:val>
                                        </p:tav>
                                      </p:tavLst>
                                    </p:anim>
                                    <p:animEffect transition="in" filter="fade">
                                      <p:cBhvr>
                                        <p:cTn id="33" dur="1000"/>
                                        <p:tgtEl>
                                          <p:spTgt spid="1605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2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4690" name="Object 2"/>
              <p:cNvSpPr txBox="1">
                <a:spLocks noGrp="1"/>
              </p:cNvSpPr>
              <p:nvPr>
                <p:ph sz="quarter" idx="2"/>
              </p:nvPr>
            </p:nvSpPr>
            <p:spPr bwMode="auto">
              <a:xfrm>
                <a:off x="7304344" y="1362868"/>
                <a:ext cx="1087438" cy="398463"/>
              </a:xfrm>
              <a:prstGeom prst="rect">
                <a:avLst/>
              </a:prstGeom>
              <a:no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4690" name="Object 2"/>
              <p:cNvSpPr txBox="1">
                <a:spLocks noRot="1" noChangeAspect="1" noMove="1" noResize="1" noEditPoints="1" noAdjustHandles="1" noChangeArrowheads="1" noChangeShapeType="1" noTextEdit="1"/>
              </p:cNvSpPr>
              <p:nvPr>
                <p:ph sz="quarter" idx="2"/>
              </p:nvPr>
            </p:nvSpPr>
            <p:spPr bwMode="auto">
              <a:xfrm>
                <a:off x="7304344" y="1362868"/>
                <a:ext cx="1087438" cy="398463"/>
              </a:xfrm>
              <a:prstGeom prst="rect">
                <a:avLst/>
              </a:prstGeom>
              <a:blipFill rotWithShape="1">
                <a:blip r:embed="rId5"/>
                <a:stretch>
                  <a:fillRect l="-53" t="-40" r="24" b="119"/>
                </a:stretch>
              </a:blipFill>
              <a:ln>
                <a:noFill/>
              </a:ln>
              <a:effectLst/>
            </p:spPr>
            <p:txBody>
              <a:bodyPr/>
              <a:lstStyle/>
              <a:p>
                <a:r>
                  <a:rPr lang="zh-CN" altLang="en-US">
                    <a:noFill/>
                  </a:rPr>
                  <a:t> </a:t>
                </a:r>
              </a:p>
            </p:txBody>
          </p:sp>
        </mc:Fallback>
      </mc:AlternateContent>
      <p:graphicFrame>
        <p:nvGraphicFramePr>
          <p:cNvPr id="114691" name="Object 3"/>
          <p:cNvGraphicFramePr>
            <a:graphicFrameLocks noGrp="1" noChangeAspect="1"/>
          </p:cNvGraphicFramePr>
          <p:nvPr>
            <p:ph sz="quarter" idx="3"/>
          </p:nvPr>
        </p:nvGraphicFramePr>
        <p:xfrm>
          <a:off x="696913" y="1562100"/>
          <a:ext cx="3060700" cy="2014538"/>
        </p:xfrm>
        <a:graphic>
          <a:graphicData uri="http://schemas.openxmlformats.org/presentationml/2006/ole">
            <mc:AlternateContent xmlns:mc="http://schemas.openxmlformats.org/markup-compatibility/2006">
              <mc:Choice xmlns:v="urn:schemas-microsoft-com:vml" Requires="v">
                <p:oleObj spid="_x0000_s8244" name="Visio" r:id="rId6" imgW="6927850" imgH="4636770" progId="Visio.Drawing.11">
                  <p:embed/>
                </p:oleObj>
              </mc:Choice>
              <mc:Fallback>
                <p:oleObj name="Visio" r:id="rId6" imgW="6927850" imgH="4636770" progId="Visio.Drawing.11">
                  <p:embed/>
                  <p:pic>
                    <p:nvPicPr>
                      <p:cNvPr id="0" name="图片 8193"/>
                      <p:cNvPicPr>
                        <a:picLocks noChangeAspect="1" noChangeArrowheads="1"/>
                      </p:cNvPicPr>
                      <p:nvPr/>
                    </p:nvPicPr>
                    <p:blipFill>
                      <a:blip r:embed="rId7">
                        <a:extLst>
                          <a:ext uri="{28A0092B-C50C-407E-A947-70E740481C1C}">
                            <a14:useLocalDpi xmlns:a14="http://schemas.microsoft.com/office/drawing/2010/main" val="0"/>
                          </a:ext>
                        </a:extLst>
                      </a:blip>
                      <a:srcRect l="18611" t="26875" r="30489" b="7578"/>
                      <a:stretch>
                        <a:fillRect/>
                      </a:stretch>
                    </p:blipFill>
                    <p:spPr bwMode="auto">
                      <a:xfrm>
                        <a:off x="696913" y="1562100"/>
                        <a:ext cx="3060700" cy="201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4692" name="Object 4"/>
              <p:cNvSpPr txBox="1"/>
              <p:nvPr/>
            </p:nvSpPr>
            <p:spPr bwMode="auto">
              <a:xfrm>
                <a:off x="6232093" y="3718400"/>
                <a:ext cx="1119187" cy="444500"/>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4692" name="Object 4"/>
              <p:cNvSpPr txBox="1">
                <a:spLocks noRot="1" noChangeAspect="1" noMove="1" noResize="1" noEditPoints="1" noAdjustHandles="1" noChangeArrowheads="1" noChangeShapeType="1" noTextEdit="1"/>
              </p:cNvSpPr>
              <p:nvPr/>
            </p:nvSpPr>
            <p:spPr bwMode="auto">
              <a:xfrm>
                <a:off x="6232093" y="3718400"/>
                <a:ext cx="1119187" cy="444500"/>
              </a:xfrm>
              <a:prstGeom prst="rect">
                <a:avLst/>
              </a:prstGeom>
              <a:blipFill rotWithShape="1">
                <a:blip r:embed="rId8"/>
                <a:stretch>
                  <a:fillRect l="-18" t="-107" r="46" b="107"/>
                </a:stretch>
              </a:blipFill>
              <a:ln>
                <a:noFill/>
              </a:ln>
              <a:effectLst/>
            </p:spPr>
            <p:txBody>
              <a:bodyPr/>
              <a:lstStyle/>
              <a:p>
                <a:r>
                  <a:rPr lang="zh-CN" altLang="en-US">
                    <a:noFill/>
                  </a:rPr>
                  <a:t> </a:t>
                </a:r>
              </a:p>
            </p:txBody>
          </p:sp>
        </mc:Fallback>
      </mc:AlternateContent>
      <p:graphicFrame>
        <p:nvGraphicFramePr>
          <p:cNvPr id="1606661" name="Object 5"/>
          <p:cNvGraphicFramePr>
            <a:graphicFrameLocks noChangeAspect="1"/>
          </p:cNvGraphicFramePr>
          <p:nvPr/>
        </p:nvGraphicFramePr>
        <p:xfrm>
          <a:off x="1141299" y="3831430"/>
          <a:ext cx="1640229" cy="2449513"/>
        </p:xfrm>
        <a:graphic>
          <a:graphicData uri="http://schemas.openxmlformats.org/presentationml/2006/ole">
            <mc:AlternateContent xmlns:mc="http://schemas.openxmlformats.org/markup-compatibility/2006">
              <mc:Choice xmlns:v="urn:schemas-microsoft-com:vml" Requires="v">
                <p:oleObj spid="_x0000_s8245" name="Visio" r:id="rId9" imgW="6927850" imgH="4636770" progId="Visio.Drawing.11">
                  <p:embed/>
                </p:oleObj>
              </mc:Choice>
              <mc:Fallback>
                <p:oleObj name="Visio" r:id="rId9" imgW="6927850" imgH="4636770" progId="Visio.Drawing.11">
                  <p:embed/>
                  <p:pic>
                    <p:nvPicPr>
                      <p:cNvPr id="0" name="图片 8194"/>
                      <p:cNvPicPr>
                        <a:picLocks noChangeAspect="1" noChangeArrowheads="1"/>
                      </p:cNvPicPr>
                      <p:nvPr/>
                    </p:nvPicPr>
                    <p:blipFill>
                      <a:blip r:embed="rId10">
                        <a:extLst>
                          <a:ext uri="{28A0092B-C50C-407E-A947-70E740481C1C}">
                            <a14:useLocalDpi xmlns:a14="http://schemas.microsoft.com/office/drawing/2010/main" val="0"/>
                          </a:ext>
                        </a:extLst>
                      </a:blip>
                      <a:srcRect l="18611" t="26875" r="30489" b="7578"/>
                      <a:stretch>
                        <a:fillRect/>
                      </a:stretch>
                    </p:blipFill>
                    <p:spPr bwMode="auto">
                      <a:xfrm>
                        <a:off x="1141299" y="3831430"/>
                        <a:ext cx="1640229" cy="2449513"/>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14694" name="Object 6"/>
              <p:cNvSpPr txBox="1"/>
              <p:nvPr/>
            </p:nvSpPr>
            <p:spPr bwMode="auto">
              <a:xfrm>
                <a:off x="1269015" y="3772880"/>
                <a:ext cx="1254125" cy="423863"/>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(2−3</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4694" name="Object 6"/>
              <p:cNvSpPr txBox="1">
                <a:spLocks noRot="1" noChangeAspect="1" noMove="1" noResize="1" noEditPoints="1" noAdjustHandles="1" noChangeArrowheads="1" noChangeShapeType="1" noTextEdit="1"/>
              </p:cNvSpPr>
              <p:nvPr/>
            </p:nvSpPr>
            <p:spPr bwMode="auto">
              <a:xfrm>
                <a:off x="1269015" y="3772880"/>
                <a:ext cx="1254125" cy="423863"/>
              </a:xfrm>
              <a:prstGeom prst="rect">
                <a:avLst/>
              </a:prstGeom>
              <a:blipFill rotWithShape="1">
                <a:blip r:embed="rId11"/>
                <a:stretch>
                  <a:fillRect l="-23" t="-81" r="23" b="7"/>
                </a:stretch>
              </a:blipFill>
              <a:ln>
                <a:noFill/>
              </a:ln>
              <a:effectLst/>
            </p:spPr>
            <p:txBody>
              <a:bodyPr/>
              <a:lstStyle/>
              <a:p>
                <a:r>
                  <a:rPr lang="zh-CN" altLang="en-US">
                    <a:noFill/>
                  </a:rPr>
                  <a:t> </a:t>
                </a:r>
              </a:p>
            </p:txBody>
          </p:sp>
        </mc:Fallback>
      </mc:AlternateContent>
      <p:graphicFrame>
        <p:nvGraphicFramePr>
          <p:cNvPr id="1606664" name="Object 7"/>
          <p:cNvGraphicFramePr>
            <a:graphicFrameLocks noChangeAspect="1"/>
          </p:cNvGraphicFramePr>
          <p:nvPr/>
        </p:nvGraphicFramePr>
        <p:xfrm>
          <a:off x="5559425" y="1666875"/>
          <a:ext cx="2667000" cy="1930400"/>
        </p:xfrm>
        <a:graphic>
          <a:graphicData uri="http://schemas.openxmlformats.org/presentationml/2006/ole">
            <mc:AlternateContent xmlns:mc="http://schemas.openxmlformats.org/markup-compatibility/2006">
              <mc:Choice xmlns:v="urn:schemas-microsoft-com:vml" Requires="v">
                <p:oleObj spid="_x0000_s8246" name="Visio" r:id="rId12" imgW="6927850" imgH="4636770" progId="Visio.Drawing.11">
                  <p:embed/>
                </p:oleObj>
              </mc:Choice>
              <mc:Fallback>
                <p:oleObj name="Visio" r:id="rId12" imgW="6927850" imgH="4636770" progId="Visio.Drawing.11">
                  <p:embed/>
                  <p:pic>
                    <p:nvPicPr>
                      <p:cNvPr id="0" name="图片 8195"/>
                      <p:cNvPicPr>
                        <a:picLocks noChangeAspect="1" noChangeArrowheads="1"/>
                      </p:cNvPicPr>
                      <p:nvPr/>
                    </p:nvPicPr>
                    <p:blipFill>
                      <a:blip r:embed="rId13">
                        <a:extLst>
                          <a:ext uri="{28A0092B-C50C-407E-A947-70E740481C1C}">
                            <a14:useLocalDpi xmlns:a14="http://schemas.microsoft.com/office/drawing/2010/main" val="0"/>
                          </a:ext>
                        </a:extLst>
                      </a:blip>
                      <a:srcRect l="18611" t="26875" r="30489" b="7578"/>
                      <a:stretch>
                        <a:fillRect/>
                      </a:stretch>
                    </p:blipFill>
                    <p:spPr bwMode="auto">
                      <a:xfrm>
                        <a:off x="5559425" y="1666875"/>
                        <a:ext cx="2667000" cy="193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06665" name="Object 8"/>
          <p:cNvGraphicFramePr>
            <a:graphicFrameLocks noChangeAspect="1"/>
          </p:cNvGraphicFramePr>
          <p:nvPr/>
        </p:nvGraphicFramePr>
        <p:xfrm>
          <a:off x="6371774" y="3949700"/>
          <a:ext cx="2663825" cy="2241550"/>
        </p:xfrm>
        <a:graphic>
          <a:graphicData uri="http://schemas.openxmlformats.org/presentationml/2006/ole">
            <mc:AlternateContent xmlns:mc="http://schemas.openxmlformats.org/markup-compatibility/2006">
              <mc:Choice xmlns:v="urn:schemas-microsoft-com:vml" Requires="v">
                <p:oleObj spid="_x0000_s8247" name="Visio" r:id="rId14" imgW="6927850" imgH="4636770" progId="Visio.Drawing.11">
                  <p:embed/>
                </p:oleObj>
              </mc:Choice>
              <mc:Fallback>
                <p:oleObj name="Visio" r:id="rId14" imgW="6927850" imgH="4636770" progId="Visio.Drawing.11">
                  <p:embed/>
                  <p:pic>
                    <p:nvPicPr>
                      <p:cNvPr id="0" name="图片 8196"/>
                      <p:cNvPicPr>
                        <a:picLocks noChangeAspect="1" noChangeArrowheads="1"/>
                      </p:cNvPicPr>
                      <p:nvPr/>
                    </p:nvPicPr>
                    <p:blipFill>
                      <a:blip r:embed="rId15">
                        <a:extLst>
                          <a:ext uri="{28A0092B-C50C-407E-A947-70E740481C1C}">
                            <a14:useLocalDpi xmlns:a14="http://schemas.microsoft.com/office/drawing/2010/main" val="0"/>
                          </a:ext>
                        </a:extLst>
                      </a:blip>
                      <a:srcRect l="18611" t="26875" r="30489" b="7578"/>
                      <a:stretch>
                        <a:fillRect/>
                      </a:stretch>
                    </p:blipFill>
                    <p:spPr bwMode="auto">
                      <a:xfrm>
                        <a:off x="6371774" y="3949700"/>
                        <a:ext cx="2663825" cy="224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4697" name="Object 9"/>
              <p:cNvSpPr txBox="1">
                <a:spLocks noGrp="1"/>
              </p:cNvSpPr>
              <p:nvPr>
                <p:ph sz="half" idx="1"/>
              </p:nvPr>
            </p:nvSpPr>
            <p:spPr bwMode="auto">
              <a:xfrm>
                <a:off x="374650" y="681038"/>
                <a:ext cx="6519863" cy="501650"/>
              </a:xfrm>
              <a:prstGeom prst="rect">
                <a:avLst/>
              </a:prstGeom>
              <a:solidFill>
                <a:schemeClr val="bg1"/>
              </a:solidFill>
              <a:ln>
                <a:noFill/>
              </a:ln>
              <a:effectLst>
                <a:outerShdw dist="35921" dir="2700000" algn="ctr" rotWithShape="0">
                  <a:schemeClr val="bg2"/>
                </a:outerShdw>
              </a:effectLst>
            </p:spPr>
            <p:txBody>
              <a:bodyPr>
                <a:normAutofit fontScale="77500" lnSpcReduction="20000"/>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已知信号</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如下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画出信号</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(2−3</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的波形</m:t>
                      </m:r>
                    </m:oMath>
                  </m:oMathPara>
                </a14:m>
                <a:endParaRPr lang="zh-CN" altLang="en-US"/>
              </a:p>
            </p:txBody>
          </p:sp>
        </mc:Choice>
        <mc:Fallback xmlns="">
          <p:sp>
            <p:nvSpPr>
              <p:cNvPr id="114697" name="Object 9"/>
              <p:cNvSpPr txBox="1">
                <a:spLocks noRot="1" noChangeAspect="1" noMove="1" noResize="1" noEditPoints="1" noAdjustHandles="1" noChangeArrowheads="1" noChangeShapeType="1" noTextEdit="1"/>
              </p:cNvSpPr>
              <p:nvPr>
                <p:ph sz="half" idx="1"/>
              </p:nvPr>
            </p:nvSpPr>
            <p:spPr bwMode="auto">
              <a:xfrm>
                <a:off x="374650" y="681038"/>
                <a:ext cx="6519863" cy="501650"/>
              </a:xfrm>
              <a:prstGeom prst="rect">
                <a:avLst/>
              </a:prstGeom>
              <a:blipFill rotWithShape="1">
                <a:blip r:embed="rId16"/>
                <a:stretch>
                  <a:fillRect t="-63" r="-385" b="-5000"/>
                </a:stretch>
              </a:blipFill>
              <a:ln>
                <a:noFill/>
              </a:ln>
              <a:effectLst>
                <a:outerShdw dist="35921" dir="2700000" algn="ctr" rotWithShape="0">
                  <a:schemeClr val="bg2"/>
                </a:outerShdw>
              </a:effectLst>
            </p:spPr>
            <p:txBody>
              <a:bodyPr/>
              <a:lstStyle/>
              <a:p>
                <a:r>
                  <a:rPr lang="zh-CN" altLang="en-US">
                    <a:noFill/>
                  </a:rPr>
                  <a:t> </a:t>
                </a:r>
              </a:p>
            </p:txBody>
          </p:sp>
        </mc:Fallback>
      </mc:AlternateContent>
      <p:sp>
        <p:nvSpPr>
          <p:cNvPr id="12" name="日期占位符 11"/>
          <p:cNvSpPr>
            <a:spLocks noGrp="1"/>
          </p:cNvSpPr>
          <p:nvPr>
            <p:ph type="dt" sz="quarter" idx="10"/>
          </p:nvPr>
        </p:nvSpPr>
        <p:spPr/>
        <p:txBody>
          <a:bodyPr/>
          <a:lstStyle/>
          <a:p>
            <a:pPr>
              <a:defRPr/>
            </a:pPr>
            <a:fld id="{C3E4CAC3-5902-4F55-8F7A-94DF2DA4DBE0}" type="datetime3">
              <a:rPr lang="zh-CN" altLang="en-US"/>
              <a:t>2026年3月4日星期三</a:t>
            </a:fld>
            <a:endParaRPr lang="en-US" altLang="zh-CN" dirty="0"/>
          </a:p>
        </p:txBody>
      </p:sp>
      <p:sp>
        <p:nvSpPr>
          <p:cNvPr id="11" name="箭头: 右 10"/>
          <p:cNvSpPr/>
          <p:nvPr/>
        </p:nvSpPr>
        <p:spPr bwMode="auto">
          <a:xfrm flipH="1">
            <a:off x="3580939" y="4587042"/>
            <a:ext cx="1851743" cy="443255"/>
          </a:xfrm>
          <a:prstGeom prst="rightArrow">
            <a:avLst/>
          </a:prstGeom>
          <a:ln>
            <a:headEnd type="none" w="med" len="med"/>
            <a:tailEnd type="triangle" w="sm" len="s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r>
              <a:rPr lang="zh-CN" altLang="en-US" sz="1000" dirty="0">
                <a:solidFill>
                  <a:schemeClr val="tx1"/>
                </a:solidFill>
                <a:latin typeface="黑体" panose="02010609060101010101" pitchFamily="49" charset="-122"/>
                <a:ea typeface="黑体" panose="02010609060101010101" pitchFamily="49" charset="-122"/>
              </a:rPr>
              <a:t>最后压缩</a:t>
            </a:r>
            <a:endParaRPr kumimoji="0" lang="zh-CN" altLang="en-US" sz="1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13" name="箭头: 下 12"/>
          <p:cNvSpPr/>
          <p:nvPr/>
        </p:nvSpPr>
        <p:spPr bwMode="auto">
          <a:xfrm>
            <a:off x="8330787" y="3535230"/>
            <a:ext cx="448516" cy="1273440"/>
          </a:xfrm>
          <a:prstGeom prst="downArrow">
            <a:avLst/>
          </a:prstGeom>
          <a:ln>
            <a:headEnd type="none" w="med" len="med"/>
            <a:tailEnd type="triangle" w="sm" len="s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R="0"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r>
              <a:rPr kumimoji="0" lang="zh-CN" altLang="en-US" sz="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再反折</a:t>
            </a:r>
            <a:endParaRPr lang="en-US" altLang="zh-CN" sz="800" dirty="0">
              <a:solidFill>
                <a:schemeClr val="tx1"/>
              </a:solidFill>
              <a:latin typeface="黑体" panose="02010609060101010101" pitchFamily="49" charset="-122"/>
              <a:ea typeface="黑体" panose="02010609060101010101" pitchFamily="49" charset="-122"/>
            </a:endParaRPr>
          </a:p>
          <a:p>
            <a:pPr marL="367030" marR="0" indent="-187325"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endParaRPr kumimoji="0" lang="en-US" altLang="zh-CN" sz="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367030" marR="0" indent="-187325"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endParaRPr lang="en-US" altLang="zh-CN" sz="800" dirty="0">
              <a:solidFill>
                <a:schemeClr val="tx1"/>
              </a:solidFill>
              <a:latin typeface="黑体" panose="02010609060101010101" pitchFamily="49" charset="-122"/>
              <a:ea typeface="黑体" panose="02010609060101010101" pitchFamily="49" charset="-122"/>
            </a:endParaRPr>
          </a:p>
          <a:p>
            <a:pPr marL="367030" marR="0" indent="-187325" algn="ctr" defTabSz="914400" rtl="0" eaLnBrk="1" fontAlgn="base" latinLnBrk="0" hangingPunct="1">
              <a:lnSpc>
                <a:spcPct val="150000"/>
              </a:lnSpc>
              <a:spcBef>
                <a:spcPts val="0"/>
              </a:spcBef>
              <a:spcAft>
                <a:spcPct val="0"/>
              </a:spcAft>
              <a:buClr>
                <a:schemeClr val="accent2"/>
              </a:buClr>
              <a:buSzTx/>
              <a:buFont typeface="Wingdings" panose="05000000000000000000" pitchFamily="2" charset="2"/>
              <a:buNone/>
            </a:pPr>
            <a:endParaRPr kumimoji="0" lang="zh-CN" altLang="en-US" sz="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14" name="箭头: 右 13"/>
          <p:cNvSpPr/>
          <p:nvPr/>
        </p:nvSpPr>
        <p:spPr bwMode="auto">
          <a:xfrm>
            <a:off x="3584576" y="1693178"/>
            <a:ext cx="1446285" cy="443255"/>
          </a:xfrm>
          <a:prstGeom prst="rightArrow">
            <a:avLst/>
          </a:prstGeom>
          <a:ln>
            <a:headEnd type="none" w="med" len="med"/>
            <a:tailEnd type="triangle" w="sm" len="s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r>
              <a:rPr lang="zh-CN" altLang="en-US" sz="1000" dirty="0">
                <a:solidFill>
                  <a:schemeClr val="tx1"/>
                </a:solidFill>
                <a:latin typeface="黑体" panose="02010609060101010101" pitchFamily="49" charset="-122"/>
                <a:ea typeface="黑体" panose="02010609060101010101" pitchFamily="49" charset="-122"/>
              </a:rPr>
              <a:t>先平移</a:t>
            </a:r>
            <a:endParaRPr kumimoji="0" lang="zh-CN" altLang="en-US" sz="1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Tree>
    <p:custDataLst>
      <p:tags r:id="rId2"/>
    </p:custDataLst>
  </p:cSld>
  <p:clrMapOvr>
    <a:masterClrMapping/>
  </p:clrMapOvr>
  <p:transition spd="med" advTm="24863">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1606664"/>
                                        </p:tgtEl>
                                        <p:attrNameLst>
                                          <p:attrName>style.visibility</p:attrName>
                                        </p:attrNameLst>
                                      </p:cBhvr>
                                      <p:to>
                                        <p:strVal val="visible"/>
                                      </p:to>
                                    </p:set>
                                    <p:anim calcmode="lin" valueType="num">
                                      <p:cBhvr>
                                        <p:cTn id="11" dur="1000" fill="hold"/>
                                        <p:tgtEl>
                                          <p:spTgt spid="1606664"/>
                                        </p:tgtEl>
                                        <p:attrNameLst>
                                          <p:attrName>ppt_w</p:attrName>
                                        </p:attrNameLst>
                                      </p:cBhvr>
                                      <p:tavLst>
                                        <p:tav tm="0">
                                          <p:val>
                                            <p:strVal val="#ppt_w*0.70"/>
                                          </p:val>
                                        </p:tav>
                                        <p:tav tm="100000">
                                          <p:val>
                                            <p:strVal val="#ppt_w"/>
                                          </p:val>
                                        </p:tav>
                                      </p:tavLst>
                                    </p:anim>
                                    <p:anim calcmode="lin" valueType="num">
                                      <p:cBhvr>
                                        <p:cTn id="12" dur="1000" fill="hold"/>
                                        <p:tgtEl>
                                          <p:spTgt spid="1606664"/>
                                        </p:tgtEl>
                                        <p:attrNameLst>
                                          <p:attrName>ppt_h</p:attrName>
                                        </p:attrNameLst>
                                      </p:cBhvr>
                                      <p:tavLst>
                                        <p:tav tm="0">
                                          <p:val>
                                            <p:strVal val="#ppt_h"/>
                                          </p:val>
                                        </p:tav>
                                        <p:tav tm="100000">
                                          <p:val>
                                            <p:strVal val="#ppt_h"/>
                                          </p:val>
                                        </p:tav>
                                      </p:tavLst>
                                    </p:anim>
                                    <p:animEffect transition="in" filter="fade">
                                      <p:cBhvr>
                                        <p:cTn id="13" dur="1000"/>
                                        <p:tgtEl>
                                          <p:spTgt spid="160666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606665"/>
                                        </p:tgtEl>
                                        <p:attrNameLst>
                                          <p:attrName>style.visibility</p:attrName>
                                        </p:attrNameLst>
                                      </p:cBhvr>
                                      <p:to>
                                        <p:strVal val="visible"/>
                                      </p:to>
                                    </p:set>
                                    <p:anim calcmode="lin" valueType="num">
                                      <p:cBhvr>
                                        <p:cTn id="22" dur="1000" fill="hold"/>
                                        <p:tgtEl>
                                          <p:spTgt spid="1606665"/>
                                        </p:tgtEl>
                                        <p:attrNameLst>
                                          <p:attrName>ppt_w</p:attrName>
                                        </p:attrNameLst>
                                      </p:cBhvr>
                                      <p:tavLst>
                                        <p:tav tm="0">
                                          <p:val>
                                            <p:strVal val="#ppt_w*0.70"/>
                                          </p:val>
                                        </p:tav>
                                        <p:tav tm="100000">
                                          <p:val>
                                            <p:strVal val="#ppt_w"/>
                                          </p:val>
                                        </p:tav>
                                      </p:tavLst>
                                    </p:anim>
                                    <p:anim calcmode="lin" valueType="num">
                                      <p:cBhvr>
                                        <p:cTn id="23" dur="1000" fill="hold"/>
                                        <p:tgtEl>
                                          <p:spTgt spid="1606665"/>
                                        </p:tgtEl>
                                        <p:attrNameLst>
                                          <p:attrName>ppt_h</p:attrName>
                                        </p:attrNameLst>
                                      </p:cBhvr>
                                      <p:tavLst>
                                        <p:tav tm="0">
                                          <p:val>
                                            <p:strVal val="#ppt_h"/>
                                          </p:val>
                                        </p:tav>
                                        <p:tav tm="100000">
                                          <p:val>
                                            <p:strVal val="#ppt_h"/>
                                          </p:val>
                                        </p:tav>
                                      </p:tavLst>
                                    </p:anim>
                                    <p:animEffect transition="in" filter="fade">
                                      <p:cBhvr>
                                        <p:cTn id="24" dur="1000"/>
                                        <p:tgtEl>
                                          <p:spTgt spid="160666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1606661"/>
                                        </p:tgtEl>
                                        <p:attrNameLst>
                                          <p:attrName>style.visibility</p:attrName>
                                        </p:attrNameLst>
                                      </p:cBhvr>
                                      <p:to>
                                        <p:strVal val="visible"/>
                                      </p:to>
                                    </p:set>
                                    <p:anim calcmode="lin" valueType="num">
                                      <p:cBhvr>
                                        <p:cTn id="33" dur="1000" fill="hold"/>
                                        <p:tgtEl>
                                          <p:spTgt spid="1606661"/>
                                        </p:tgtEl>
                                        <p:attrNameLst>
                                          <p:attrName>ppt_w</p:attrName>
                                        </p:attrNameLst>
                                      </p:cBhvr>
                                      <p:tavLst>
                                        <p:tav tm="0">
                                          <p:val>
                                            <p:strVal val="#ppt_w*0.70"/>
                                          </p:val>
                                        </p:tav>
                                        <p:tav tm="100000">
                                          <p:val>
                                            <p:strVal val="#ppt_w"/>
                                          </p:val>
                                        </p:tav>
                                      </p:tavLst>
                                    </p:anim>
                                    <p:anim calcmode="lin" valueType="num">
                                      <p:cBhvr>
                                        <p:cTn id="34" dur="1000" fill="hold"/>
                                        <p:tgtEl>
                                          <p:spTgt spid="1606661"/>
                                        </p:tgtEl>
                                        <p:attrNameLst>
                                          <p:attrName>ppt_h</p:attrName>
                                        </p:attrNameLst>
                                      </p:cBhvr>
                                      <p:tavLst>
                                        <p:tav tm="0">
                                          <p:val>
                                            <p:strVal val="#ppt_h"/>
                                          </p:val>
                                        </p:tav>
                                        <p:tav tm="100000">
                                          <p:val>
                                            <p:strVal val="#ppt_h"/>
                                          </p:val>
                                        </p:tav>
                                      </p:tavLst>
                                    </p:anim>
                                    <p:animEffect transition="in" filter="fade">
                                      <p:cBhvr>
                                        <p:cTn id="35" dur="1000"/>
                                        <p:tgtEl>
                                          <p:spTgt spid="1606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2pPr>
            <a:lvl3pPr marL="9144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3pPr>
            <a:lvl4pPr marL="13716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4pPr>
            <a:lvl5pPr marL="1828800" algn="l" rtl="0" eaLnBrk="0" fontAlgn="base" hangingPunct="0">
              <a:spcBef>
                <a:spcPct val="0"/>
              </a:spcBef>
              <a:spcAft>
                <a:spcPct val="0"/>
              </a:spcAft>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2869FF86-3BA0-4AD2-9DF4-0A2682CF464E}" type="slidenum">
              <a:rPr lang="en-US" altLang="zh-CN" smtClean="0"/>
              <a:t>51</a:t>
            </a:fld>
            <a:endParaRPr lang="en-US" altLang="zh-CN" sz="1645"/>
          </a:p>
        </p:txBody>
      </p:sp>
      <p:sp>
        <p:nvSpPr>
          <p:cNvPr id="1516547" name="Rectangle 3"/>
          <p:cNvSpPr>
            <a:spLocks noGrp="1" noChangeArrowheads="1"/>
          </p:cNvSpPr>
          <p:nvPr>
            <p:ph idx="1"/>
          </p:nvPr>
        </p:nvSpPr>
        <p:spPr>
          <a:xfrm>
            <a:off x="40005" y="725805"/>
            <a:ext cx="9037983" cy="5751195"/>
          </a:xfrm>
          <a:ln w="57150">
            <a:solidFill>
              <a:schemeClr val="tx1"/>
            </a:solidFill>
            <a:miter lim="800000"/>
          </a:ln>
        </p:spPr>
        <p:txBody>
          <a:bodyPr/>
          <a:lstStyle/>
          <a:p>
            <a:pPr eaLnBrk="1" hangingPunct="1">
              <a:lnSpc>
                <a:spcPct val="160000"/>
              </a:lnSpc>
              <a:buFont typeface="Wingdings" panose="05000000000000000000" pitchFamily="2" charset="2"/>
              <a:buChar char="l"/>
              <a:defRPr/>
            </a:pPr>
            <a:r>
              <a:rPr lang="zh-CN" altLang="en-US" sz="2195" dirty="0">
                <a:hlinkClick r:id="rId3" action="ppaction://hlinkfile"/>
              </a:rPr>
              <a:t>分组情况</a:t>
            </a:r>
            <a:endParaRPr lang="en-US" altLang="zh-CN" sz="2195" dirty="0"/>
          </a:p>
          <a:p>
            <a:pPr lvl="1" eaLnBrk="1" hangingPunct="1">
              <a:lnSpc>
                <a:spcPct val="200000"/>
              </a:lnSpc>
              <a:defRPr/>
            </a:pPr>
            <a:r>
              <a:rPr lang="zh-CN" altLang="en-US" sz="1800" b="1" dirty="0"/>
              <a:t>第</a:t>
            </a:r>
            <a:r>
              <a:rPr lang="en-US" altLang="zh-CN" sz="1800" b="1" dirty="0"/>
              <a:t>1</a:t>
            </a:r>
            <a:r>
              <a:rPr lang="zh-CN" altLang="en-US" sz="1800" b="1" dirty="0"/>
              <a:t>组：</a:t>
            </a:r>
            <a:r>
              <a:rPr lang="en-US" altLang="zh-CN" sz="1800" b="1" dirty="0"/>
              <a:t>2021300099刘入菲~2023301053</a:t>
            </a:r>
            <a:r>
              <a:rPr lang="zh-CN" altLang="en-US" sz="1800" b="1" dirty="0"/>
              <a:t>黄知远</a:t>
            </a:r>
            <a:r>
              <a:rPr lang="zh-CN" altLang="en-US" sz="1800" b="1" dirty="0">
                <a:solidFill>
                  <a:srgbClr val="0000FF"/>
                </a:solidFill>
              </a:rPr>
              <a:t> （序号</a:t>
            </a:r>
            <a:r>
              <a:rPr lang="en-US" altLang="zh-CN" sz="1800" b="1" dirty="0">
                <a:solidFill>
                  <a:srgbClr val="0000FF"/>
                </a:solidFill>
              </a:rPr>
              <a:t>1~45</a:t>
            </a:r>
            <a:r>
              <a:rPr lang="zh-CN" altLang="en-US" sz="1800" b="1" dirty="0">
                <a:solidFill>
                  <a:srgbClr val="0000FF"/>
                </a:solidFill>
              </a:rPr>
              <a:t>） </a:t>
            </a:r>
            <a:r>
              <a:rPr lang="zh-CN" altLang="en-US" sz="1800" b="1" dirty="0"/>
              <a:t>，  </a:t>
            </a:r>
            <a:r>
              <a:rPr lang="zh-CN" altLang="en-US" sz="1800" b="1" dirty="0">
                <a:solidFill>
                  <a:srgbClr val="FF0000"/>
                </a:solidFill>
              </a:rPr>
              <a:t>组长：</a:t>
            </a:r>
            <a:r>
              <a:rPr lang="en-US" altLang="zh-CN" sz="1800" b="1" dirty="0">
                <a:solidFill>
                  <a:srgbClr val="FF0000"/>
                </a:solidFill>
              </a:rPr>
              <a:t>202330094</a:t>
            </a:r>
            <a:r>
              <a:rPr lang="zh-CN" altLang="en-US" sz="1800" b="1" dirty="0">
                <a:solidFill>
                  <a:srgbClr val="FF0000"/>
                </a:solidFill>
              </a:rPr>
              <a:t>，蒋亦洵</a:t>
            </a:r>
            <a:r>
              <a:rPr lang="en-US" sz="1800" b="1" dirty="0">
                <a:solidFill>
                  <a:srgbClr val="FF0000"/>
                </a:solidFill>
              </a:rPr>
              <a:t> </a:t>
            </a:r>
            <a:r>
              <a:rPr lang="zh-CN" altLang="en-US" sz="1800" b="1" dirty="0"/>
              <a:t>，助教老师：</a:t>
            </a:r>
            <a:r>
              <a:rPr lang="zh-CN" altLang="en-US" sz="1800" b="1" dirty="0">
                <a:solidFill>
                  <a:srgbClr val="FF0000"/>
                </a:solidFill>
                <a:cs typeface="+mn-ea"/>
              </a:rPr>
              <a:t>原何娴，18391433778</a:t>
            </a:r>
          </a:p>
          <a:p>
            <a:pPr lvl="1" eaLnBrk="1" hangingPunct="1">
              <a:lnSpc>
                <a:spcPct val="200000"/>
              </a:lnSpc>
              <a:defRPr/>
            </a:pPr>
            <a:r>
              <a:rPr lang="zh-CN" altLang="en-US" sz="1800" b="1" dirty="0">
                <a:cs typeface="+mn-ea"/>
              </a:rPr>
              <a:t>第</a:t>
            </a:r>
            <a:r>
              <a:rPr lang="en-US" altLang="zh-CN" sz="1800" b="1" dirty="0"/>
              <a:t>2</a:t>
            </a:r>
            <a:r>
              <a:rPr lang="zh-CN" altLang="en-US" sz="1800" b="1" dirty="0"/>
              <a:t>组：</a:t>
            </a:r>
            <a:r>
              <a:rPr lang="en-US" altLang="zh-CN" sz="1800" b="1" dirty="0"/>
              <a:t> 2023301319</a:t>
            </a:r>
            <a:r>
              <a:rPr lang="zh-CN" altLang="en-US" sz="1800" b="1" dirty="0"/>
              <a:t>时宗磊</a:t>
            </a:r>
            <a:r>
              <a:rPr lang="en-US" altLang="zh-CN" sz="1800" b="1" dirty="0"/>
              <a:t>~2023302661</a:t>
            </a:r>
            <a:r>
              <a:rPr lang="zh-CN" altLang="en-US" sz="1800" b="1" dirty="0"/>
              <a:t>刘泽同</a:t>
            </a:r>
            <a:r>
              <a:rPr lang="zh-CN" altLang="en-US" sz="1800" b="1" dirty="0">
                <a:solidFill>
                  <a:srgbClr val="0000FF"/>
                </a:solidFill>
              </a:rPr>
              <a:t>（序号</a:t>
            </a:r>
            <a:r>
              <a:rPr lang="en-US" altLang="zh-CN" sz="1800" b="1" dirty="0">
                <a:solidFill>
                  <a:srgbClr val="0000FF"/>
                </a:solidFill>
              </a:rPr>
              <a:t>46~87</a:t>
            </a:r>
            <a:r>
              <a:rPr lang="zh-CN" altLang="en-US" sz="1800" b="1" dirty="0">
                <a:solidFill>
                  <a:srgbClr val="0000FF"/>
                </a:solidFill>
              </a:rPr>
              <a:t>） </a:t>
            </a:r>
            <a:r>
              <a:rPr lang="zh-CN" altLang="en-US" sz="1800" b="1" dirty="0"/>
              <a:t>，</a:t>
            </a:r>
          </a:p>
          <a:p>
            <a:pPr marL="471170" lvl="1" indent="0" eaLnBrk="1" hangingPunct="1">
              <a:lnSpc>
                <a:spcPct val="200000"/>
              </a:lnSpc>
              <a:buNone/>
              <a:defRPr/>
            </a:pPr>
            <a:r>
              <a:rPr lang="zh-CN" altLang="en-US" sz="1800" b="1" dirty="0"/>
              <a:t>  </a:t>
            </a:r>
            <a:r>
              <a:rPr lang="en-US" altLang="zh-CN" sz="1800" b="1" dirty="0"/>
              <a:t>  </a:t>
            </a:r>
            <a:r>
              <a:rPr lang="en-US" altLang="zh-CN" sz="1800" b="1" dirty="0">
                <a:solidFill>
                  <a:srgbClr val="FF0000"/>
                </a:solidFill>
              </a:rPr>
              <a:t> </a:t>
            </a:r>
            <a:r>
              <a:rPr lang="zh-CN" altLang="en-US" sz="1800" b="1" dirty="0">
                <a:solidFill>
                  <a:srgbClr val="FF0000"/>
                </a:solidFill>
              </a:rPr>
              <a:t>组长：2023302657，王文豪</a:t>
            </a:r>
            <a:r>
              <a:rPr lang="zh-CN" altLang="en-US" sz="1800" b="1" dirty="0"/>
              <a:t>，助教老师：</a:t>
            </a:r>
            <a:r>
              <a:rPr lang="zh-CN" altLang="en-US" sz="1800" b="1" dirty="0">
                <a:solidFill>
                  <a:srgbClr val="FF0000"/>
                </a:solidFill>
              </a:rPr>
              <a:t>倪宇星，15534944799</a:t>
            </a:r>
          </a:p>
          <a:p>
            <a:pPr lvl="1" eaLnBrk="1" hangingPunct="1">
              <a:lnSpc>
                <a:spcPct val="200000"/>
              </a:lnSpc>
              <a:buFont typeface="Wingdings" panose="05000000000000000000" charset="0"/>
              <a:buChar char="Ø"/>
              <a:defRPr/>
            </a:pPr>
            <a:r>
              <a:rPr lang="zh-CN" altLang="en-US" sz="1800" b="1" dirty="0">
                <a:cs typeface="+mn-ea"/>
              </a:rPr>
              <a:t>第</a:t>
            </a:r>
            <a:r>
              <a:rPr lang="en-US" altLang="zh-CN" sz="1800" b="1" dirty="0"/>
              <a:t>3</a:t>
            </a:r>
            <a:r>
              <a:rPr lang="zh-CN" altLang="en-US" sz="1800" b="1" dirty="0"/>
              <a:t>组：</a:t>
            </a:r>
            <a:r>
              <a:rPr lang="en-US" altLang="zh-CN" sz="1800" b="1" dirty="0"/>
              <a:t> 2023302663</a:t>
            </a:r>
            <a:r>
              <a:rPr lang="zh-CN" altLang="en-US" sz="1800" b="1" dirty="0"/>
              <a:t>黄英浩</a:t>
            </a:r>
            <a:r>
              <a:rPr lang="en-US" altLang="zh-CN" sz="1800" b="1" dirty="0"/>
              <a:t>~ 2023303619</a:t>
            </a:r>
            <a:r>
              <a:rPr lang="zh-CN" altLang="en-US" sz="1800" b="1" dirty="0"/>
              <a:t>包济畅</a:t>
            </a:r>
            <a:r>
              <a:rPr lang="zh-CN" altLang="en-US" sz="1800" b="1" dirty="0">
                <a:solidFill>
                  <a:srgbClr val="0000FF"/>
                </a:solidFill>
              </a:rPr>
              <a:t>（序号</a:t>
            </a:r>
            <a:r>
              <a:rPr lang="en-US" altLang="zh-CN" sz="1800" b="1" dirty="0">
                <a:solidFill>
                  <a:srgbClr val="0000FF"/>
                </a:solidFill>
              </a:rPr>
              <a:t>88~129</a:t>
            </a:r>
            <a:r>
              <a:rPr lang="zh-CN" altLang="en-US" sz="1800" b="1" dirty="0">
                <a:solidFill>
                  <a:srgbClr val="0000FF"/>
                </a:solidFill>
              </a:rPr>
              <a:t>） </a:t>
            </a:r>
            <a:r>
              <a:rPr lang="zh-CN" altLang="en-US" sz="1800" b="1" dirty="0"/>
              <a:t>，</a:t>
            </a:r>
          </a:p>
          <a:p>
            <a:pPr marL="471170" lvl="1" algn="l" eaLnBrk="1" hangingPunct="1">
              <a:lnSpc>
                <a:spcPct val="200000"/>
              </a:lnSpc>
              <a:buSzTx/>
              <a:buNone/>
              <a:defRPr/>
            </a:pPr>
            <a:r>
              <a:rPr lang="zh-CN" altLang="en-US" sz="1800" b="1" dirty="0"/>
              <a:t> </a:t>
            </a:r>
            <a:r>
              <a:rPr lang="en-US" altLang="zh-CN" sz="1800" b="1" dirty="0"/>
              <a:t>   </a:t>
            </a:r>
            <a:r>
              <a:rPr lang="en-US" altLang="zh-CN" sz="1800" b="1" dirty="0">
                <a:solidFill>
                  <a:srgbClr val="FF0000"/>
                </a:solidFill>
              </a:rPr>
              <a:t> </a:t>
            </a:r>
            <a:r>
              <a:rPr lang="zh-CN" altLang="en-US" sz="1800" b="1" dirty="0">
                <a:solidFill>
                  <a:srgbClr val="FF0000"/>
                </a:solidFill>
              </a:rPr>
              <a:t> </a:t>
            </a:r>
            <a:r>
              <a:rPr lang="en-US" altLang="zh-CN" sz="1800" b="1" dirty="0">
                <a:solidFill>
                  <a:srgbClr val="FF0000"/>
                </a:solidFill>
              </a:rPr>
              <a:t>     </a:t>
            </a:r>
            <a:r>
              <a:rPr lang="zh-CN" altLang="en-US" sz="1800" b="1" dirty="0">
                <a:solidFill>
                  <a:srgbClr val="FF0000"/>
                </a:solidFill>
              </a:rPr>
              <a:t>组长：2023302782，赵张阳</a:t>
            </a:r>
            <a:r>
              <a:rPr lang="zh-CN" altLang="en-US" sz="1800" b="1" dirty="0"/>
              <a:t>，助教老师：</a:t>
            </a:r>
            <a:r>
              <a:rPr lang="zh-CN" altLang="en-US" sz="1800" b="1" dirty="0">
                <a:solidFill>
                  <a:srgbClr val="FF0000"/>
                </a:solidFill>
                <a:cs typeface="+mn-ea"/>
              </a:rPr>
              <a:t>王雅妮，13238433214</a:t>
            </a:r>
            <a:endParaRPr lang="zh-CN" altLang="en-US" sz="1800" b="1" dirty="0">
              <a:solidFill>
                <a:srgbClr val="FF0000"/>
              </a:solidFill>
              <a:cs typeface="+mn-ea"/>
              <a:sym typeface="+mn-ea"/>
            </a:endParaRPr>
          </a:p>
          <a:p>
            <a:pPr lvl="1" eaLnBrk="1" hangingPunct="1">
              <a:lnSpc>
                <a:spcPct val="200000"/>
              </a:lnSpc>
              <a:defRPr/>
            </a:pPr>
            <a:r>
              <a:rPr lang="zh-CN" altLang="en-US" sz="2200" b="1" dirty="0">
                <a:solidFill>
                  <a:srgbClr val="0000FF"/>
                </a:solidFill>
              </a:rPr>
              <a:t>每组课代表都建立各自的</a:t>
            </a:r>
            <a:r>
              <a:rPr lang="en-US" altLang="zh-CN" sz="2200" b="1" dirty="0">
                <a:solidFill>
                  <a:srgbClr val="0000FF"/>
                </a:solidFill>
              </a:rPr>
              <a:t>QQ</a:t>
            </a:r>
            <a:r>
              <a:rPr lang="zh-CN" altLang="en-US" sz="2200" b="1" dirty="0">
                <a:solidFill>
                  <a:srgbClr val="0000FF"/>
                </a:solidFill>
              </a:rPr>
              <a:t>群，请同学加入相应的群，提交作业或讨论问题。</a:t>
            </a:r>
            <a:endParaRPr lang="en-US" altLang="zh-CN" sz="2200" b="1" dirty="0">
              <a:solidFill>
                <a:srgbClr val="0000FF"/>
              </a:solidFill>
            </a:endParaRPr>
          </a:p>
        </p:txBody>
      </p:sp>
      <p:sp>
        <p:nvSpPr>
          <p:cNvPr id="30725" name="Text Box 6"/>
          <p:cNvSpPr txBox="1">
            <a:spLocks noChangeArrowheads="1"/>
          </p:cNvSpPr>
          <p:nvPr/>
        </p:nvSpPr>
        <p:spPr bwMode="auto">
          <a:xfrm>
            <a:off x="0" y="-6350"/>
            <a:ext cx="9144000" cy="633095"/>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0" tIns="0" rIns="0" bIns="0">
            <a:spAutoFit/>
          </a:bodyPr>
          <a:lstStyle>
            <a:lvl1pPr>
              <a:defRPr sz="6000">
                <a:solidFill>
                  <a:schemeClr val="tx1"/>
                </a:solidFill>
                <a:latin typeface="宋体" panose="02010600030101010101" pitchFamily="2" charset="-122"/>
                <a:ea typeface="隶书" panose="02010509060101010101" pitchFamily="49" charset="-122"/>
              </a:defRPr>
            </a:lvl1pPr>
            <a:lvl2pPr marL="742950" indent="-285750">
              <a:defRPr sz="6000">
                <a:solidFill>
                  <a:schemeClr val="tx1"/>
                </a:solidFill>
                <a:latin typeface="宋体" panose="02010600030101010101" pitchFamily="2" charset="-122"/>
                <a:ea typeface="隶书" panose="02010509060101010101" pitchFamily="49" charset="-122"/>
              </a:defRPr>
            </a:lvl2pPr>
            <a:lvl3pPr marL="1143000" indent="-228600">
              <a:defRPr sz="6000">
                <a:solidFill>
                  <a:schemeClr val="tx1"/>
                </a:solidFill>
                <a:latin typeface="宋体" panose="02010600030101010101" pitchFamily="2" charset="-122"/>
                <a:ea typeface="隶书" panose="02010509060101010101" pitchFamily="49" charset="-122"/>
              </a:defRPr>
            </a:lvl3pPr>
            <a:lvl4pPr marL="1600200" indent="-228600">
              <a:defRPr sz="6000">
                <a:solidFill>
                  <a:schemeClr val="tx1"/>
                </a:solidFill>
                <a:latin typeface="宋体" panose="02010600030101010101" pitchFamily="2" charset="-122"/>
                <a:ea typeface="隶书" panose="02010509060101010101" pitchFamily="49" charset="-122"/>
              </a:defRPr>
            </a:lvl4pPr>
            <a:lvl5pPr marL="2057400" indent="-228600">
              <a:defRPr sz="6000">
                <a:solidFill>
                  <a:schemeClr val="tx1"/>
                </a:solidFill>
                <a:latin typeface="宋体" panose="02010600030101010101" pitchFamily="2" charset="-122"/>
                <a:ea typeface="隶书" panose="02010509060101010101" pitchFamily="49" charset="-122"/>
              </a:defRPr>
            </a:lvl5pPr>
            <a:lvl6pPr marL="25146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6pPr>
            <a:lvl7pPr marL="29718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7pPr>
            <a:lvl8pPr marL="34290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8pPr>
            <a:lvl9pPr marL="3886200" indent="-228600" eaLnBrk="0" fontAlgn="base" hangingPunct="0">
              <a:spcBef>
                <a:spcPct val="0"/>
              </a:spcBef>
              <a:spcAft>
                <a:spcPct val="0"/>
              </a:spcAft>
              <a:defRPr sz="6000">
                <a:solidFill>
                  <a:schemeClr val="tx1"/>
                </a:solidFill>
                <a:latin typeface="宋体" panose="02010600030101010101" pitchFamily="2" charset="-122"/>
                <a:ea typeface="隶书" panose="02010509060101010101" pitchFamily="49" charset="-122"/>
              </a:defRPr>
            </a:lvl9pPr>
          </a:lstStyle>
          <a:p>
            <a:pPr>
              <a:spcBef>
                <a:spcPct val="50000"/>
              </a:spcBef>
              <a:buFont typeface="Arial" panose="020B0604020202020204" pitchFamily="34" charset="0"/>
              <a:buNone/>
              <a:defRPr/>
            </a:pPr>
            <a:r>
              <a:rPr lang="zh-CN" altLang="en-US" sz="2330" dirty="0">
                <a:solidFill>
                  <a:srgbClr val="FFFFFF"/>
                </a:solidFill>
                <a:latin typeface="楷体_GB2312" pitchFamily="49" charset="-122"/>
                <a:ea typeface="楷体_GB2312" pitchFamily="49" charset="-122"/>
              </a:rPr>
              <a:t>信号与系统</a:t>
            </a:r>
            <a:r>
              <a:rPr lang="zh-CN" altLang="en-US" sz="4115" dirty="0">
                <a:solidFill>
                  <a:srgbClr val="FFFFFF"/>
                </a:solidFill>
              </a:rPr>
              <a:t>              </a:t>
            </a:r>
            <a:r>
              <a:rPr lang="en-US" altLang="zh-CN" sz="4115" dirty="0">
                <a:solidFill>
                  <a:srgbClr val="FFFFFF"/>
                </a:solidFill>
              </a:rPr>
              <a:t>    </a:t>
            </a:r>
            <a:r>
              <a:rPr lang="zh-CN" altLang="en-US" sz="2330" dirty="0">
                <a:solidFill>
                  <a:srgbClr val="FFFFFF"/>
                </a:solidFill>
                <a:ea typeface="楷体_GB2312" pitchFamily="49" charset="-122"/>
              </a:rPr>
              <a:t>助教老师与课程代表</a:t>
            </a:r>
            <a:endParaRPr lang="zh-CN" altLang="en-US" sz="2330" dirty="0">
              <a:solidFill>
                <a:srgbClr val="FFFFFF"/>
              </a:solidFill>
              <a:latin typeface="楷体_GB2312" pitchFamily="49" charset="-122"/>
              <a:ea typeface="楷体_GB2312" pitchFamily="49" charset="-122"/>
            </a:endParaRPr>
          </a:p>
        </p:txBody>
      </p:sp>
    </p:spTree>
    <p:custDataLst>
      <p:tags r:id="rId1"/>
    </p:custDataLst>
  </p:cSld>
  <p:clrMapOvr>
    <a:masterClrMapping/>
  </p:clrMapOvr>
  <p:transition advTm="4254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16547">
                                            <p:bg/>
                                          </p:spTgt>
                                        </p:tgtEl>
                                        <p:attrNameLst>
                                          <p:attrName>style.visibility</p:attrName>
                                        </p:attrNameLst>
                                      </p:cBhvr>
                                      <p:to>
                                        <p:strVal val="visible"/>
                                      </p:to>
                                    </p:set>
                                    <p:anim calcmode="lin" valueType="num">
                                      <p:cBhvr>
                                        <p:cTn id="7" dur="1000" fill="hold"/>
                                        <p:tgtEl>
                                          <p:spTgt spid="1516547">
                                            <p:bg/>
                                          </p:spTgt>
                                        </p:tgtEl>
                                        <p:attrNameLst>
                                          <p:attrName>ppt_w</p:attrName>
                                        </p:attrNameLst>
                                      </p:cBhvr>
                                      <p:tavLst>
                                        <p:tav tm="0">
                                          <p:val>
                                            <p:strVal val="#ppt_w*0.70"/>
                                          </p:val>
                                        </p:tav>
                                        <p:tav tm="100000">
                                          <p:val>
                                            <p:strVal val="#ppt_w"/>
                                          </p:val>
                                        </p:tav>
                                      </p:tavLst>
                                    </p:anim>
                                    <p:anim calcmode="lin" valueType="num">
                                      <p:cBhvr>
                                        <p:cTn id="8" dur="1000" fill="hold"/>
                                        <p:tgtEl>
                                          <p:spTgt spid="1516547">
                                            <p:bg/>
                                          </p:spTgt>
                                        </p:tgtEl>
                                        <p:attrNameLst>
                                          <p:attrName>ppt_h</p:attrName>
                                        </p:attrNameLst>
                                      </p:cBhvr>
                                      <p:tavLst>
                                        <p:tav tm="0">
                                          <p:val>
                                            <p:strVal val="#ppt_h"/>
                                          </p:val>
                                        </p:tav>
                                        <p:tav tm="100000">
                                          <p:val>
                                            <p:strVal val="#ppt_h"/>
                                          </p:val>
                                        </p:tav>
                                      </p:tavLst>
                                    </p:anim>
                                    <p:animEffect transition="in" filter="fade">
                                      <p:cBhvr>
                                        <p:cTn id="9" dur="1000"/>
                                        <p:tgtEl>
                                          <p:spTgt spid="1516547">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16547">
                                            <p:txEl>
                                              <p:pRg st="0" end="0"/>
                                            </p:txEl>
                                          </p:spTgt>
                                        </p:tgtEl>
                                        <p:attrNameLst>
                                          <p:attrName>style.visibility</p:attrName>
                                        </p:attrNameLst>
                                      </p:cBhvr>
                                      <p:to>
                                        <p:strVal val="visible"/>
                                      </p:to>
                                    </p:set>
                                    <p:anim calcmode="lin" valueType="num">
                                      <p:cBhvr>
                                        <p:cTn id="12" dur="1000" fill="hold"/>
                                        <p:tgtEl>
                                          <p:spTgt spid="1516547">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516547">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516547">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516547">
                                            <p:txEl>
                                              <p:pRg st="1" end="1"/>
                                            </p:txEl>
                                          </p:spTgt>
                                        </p:tgtEl>
                                        <p:attrNameLst>
                                          <p:attrName>style.visibility</p:attrName>
                                        </p:attrNameLst>
                                      </p:cBhvr>
                                      <p:to>
                                        <p:strVal val="visible"/>
                                      </p:to>
                                    </p:set>
                                    <p:anim calcmode="lin" valueType="num">
                                      <p:cBhvr>
                                        <p:cTn id="17" dur="1000" fill="hold"/>
                                        <p:tgtEl>
                                          <p:spTgt spid="1516547">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1516547">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1516547">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516547">
                                            <p:txEl>
                                              <p:pRg st="2" end="2"/>
                                            </p:txEl>
                                          </p:spTgt>
                                        </p:tgtEl>
                                        <p:attrNameLst>
                                          <p:attrName>style.visibility</p:attrName>
                                        </p:attrNameLst>
                                      </p:cBhvr>
                                      <p:to>
                                        <p:strVal val="visible"/>
                                      </p:to>
                                    </p:set>
                                    <p:anim calcmode="lin" valueType="num">
                                      <p:cBhvr>
                                        <p:cTn id="22" dur="1000" fill="hold"/>
                                        <p:tgtEl>
                                          <p:spTgt spid="1516547">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1516547">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1516547">
                                            <p:txEl>
                                              <p:pRg st="2" end="2"/>
                                            </p:txEl>
                                          </p:spTgt>
                                        </p:tgtEl>
                                      </p:cBhvr>
                                    </p:animEffect>
                                  </p:childTnLst>
                                </p:cTn>
                              </p:par>
                              <p:par>
                                <p:cTn id="25" presetID="55" presetClass="entr" presetSubtype="0" fill="hold" nodeType="withEffect">
                                  <p:stCondLst>
                                    <p:cond delay="0"/>
                                  </p:stCondLst>
                                  <p:childTnLst>
                                    <p:set>
                                      <p:cBhvr>
                                        <p:cTn id="26" dur="1" fill="hold">
                                          <p:stCondLst>
                                            <p:cond delay="0"/>
                                          </p:stCondLst>
                                        </p:cTn>
                                        <p:tgtEl>
                                          <p:spTgt spid="1516547">
                                            <p:txEl>
                                              <p:pRg st="3" end="3"/>
                                            </p:txEl>
                                          </p:spTgt>
                                        </p:tgtEl>
                                        <p:attrNameLst>
                                          <p:attrName>style.visibility</p:attrName>
                                        </p:attrNameLst>
                                      </p:cBhvr>
                                      <p:to>
                                        <p:strVal val="visible"/>
                                      </p:to>
                                    </p:set>
                                    <p:anim calcmode="lin" valueType="num">
                                      <p:cBhvr>
                                        <p:cTn id="27" dur="1000" fill="hold"/>
                                        <p:tgtEl>
                                          <p:spTgt spid="1516547">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1516547">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1516547">
                                            <p:txEl>
                                              <p:pRg st="3" end="3"/>
                                            </p:txEl>
                                          </p:spTgt>
                                        </p:tgtEl>
                                      </p:cBhvr>
                                    </p:animEffect>
                                  </p:childTnLst>
                                </p:cTn>
                              </p:par>
                              <p:par>
                                <p:cTn id="30" presetID="55" presetClass="entr" presetSubtype="0" fill="hold" nodeType="withEffect">
                                  <p:stCondLst>
                                    <p:cond delay="0"/>
                                  </p:stCondLst>
                                  <p:childTnLst>
                                    <p:set>
                                      <p:cBhvr>
                                        <p:cTn id="31" dur="1" fill="hold">
                                          <p:stCondLst>
                                            <p:cond delay="0"/>
                                          </p:stCondLst>
                                        </p:cTn>
                                        <p:tgtEl>
                                          <p:spTgt spid="1516547">
                                            <p:txEl>
                                              <p:pRg st="4" end="4"/>
                                            </p:txEl>
                                          </p:spTgt>
                                        </p:tgtEl>
                                        <p:attrNameLst>
                                          <p:attrName>style.visibility</p:attrName>
                                        </p:attrNameLst>
                                      </p:cBhvr>
                                      <p:to>
                                        <p:strVal val="visible"/>
                                      </p:to>
                                    </p:set>
                                    <p:anim calcmode="lin" valueType="num">
                                      <p:cBhvr>
                                        <p:cTn id="32" dur="1000" fill="hold"/>
                                        <p:tgtEl>
                                          <p:spTgt spid="1516547">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1516547">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1516547">
                                            <p:txEl>
                                              <p:pRg st="4" end="4"/>
                                            </p:txEl>
                                          </p:spTgt>
                                        </p:tgtEl>
                                      </p:cBhvr>
                                    </p:animEffect>
                                  </p:childTnLst>
                                </p:cTn>
                              </p:par>
                              <p:par>
                                <p:cTn id="35" presetID="12" presetClass="entr" presetSubtype="4" fill="hold" nodeType="withEffect">
                                  <p:stCondLst>
                                    <p:cond delay="0"/>
                                  </p:stCondLst>
                                  <p:childTnLst>
                                    <p:set>
                                      <p:cBhvr>
                                        <p:cTn id="36" dur="1" fill="hold">
                                          <p:stCondLst>
                                            <p:cond delay="0"/>
                                          </p:stCondLst>
                                        </p:cTn>
                                        <p:tgtEl>
                                          <p:spTgt spid="1516547">
                                            <p:txEl>
                                              <p:pRg st="5" end="5"/>
                                            </p:txEl>
                                          </p:spTgt>
                                        </p:tgtEl>
                                        <p:attrNameLst>
                                          <p:attrName>style.visibility</p:attrName>
                                        </p:attrNameLst>
                                      </p:cBhvr>
                                      <p:to>
                                        <p:strVal val="visible"/>
                                      </p:to>
                                    </p:set>
                                    <p:anim calcmode="lin" valueType="num">
                                      <p:cBhvr additive="base">
                                        <p:cTn id="37" dur="500"/>
                                        <p:tgtEl>
                                          <p:spTgt spid="151654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151654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165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6547" grpId="0" build="p"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77800" y="577850"/>
            <a:ext cx="1860550" cy="693738"/>
          </a:xfrm>
        </p:spPr>
        <p:txBody>
          <a:bodyPr/>
          <a:lstStyle/>
          <a:p>
            <a:r>
              <a:rPr lang="zh-CN" altLang="en-US" sz="2500" b="1">
                <a:solidFill>
                  <a:srgbClr val="FF0000"/>
                </a:solidFill>
              </a:rPr>
              <a:t>回顾</a:t>
            </a:r>
          </a:p>
        </p:txBody>
      </p:sp>
      <p:sp>
        <p:nvSpPr>
          <p:cNvPr id="1519619" name="Rectangle 3"/>
          <p:cNvSpPr>
            <a:spLocks noGrp="1" noChangeArrowheads="1"/>
          </p:cNvSpPr>
          <p:nvPr>
            <p:ph type="body" sz="half" idx="1"/>
          </p:nvPr>
        </p:nvSpPr>
        <p:spPr>
          <a:xfrm>
            <a:off x="1016000" y="1406525"/>
            <a:ext cx="6567488" cy="3992563"/>
          </a:xfrm>
          <a:solidFill>
            <a:schemeClr val="bg1"/>
          </a:solidFill>
          <a:ln w="57150">
            <a:solidFill>
              <a:schemeClr val="tx1"/>
            </a:solidFill>
            <a:miter lim="800000"/>
          </a:ln>
          <a:effectLst>
            <a:prstShdw prst="shdw12">
              <a:srgbClr val="808080">
                <a:alpha val="50000"/>
              </a:srgbClr>
            </a:prstShdw>
          </a:effectLst>
        </p:spPr>
        <p:txBody>
          <a:bodyPr/>
          <a:lstStyle/>
          <a:p>
            <a:pPr marL="0" indent="0">
              <a:lnSpc>
                <a:spcPct val="150000"/>
              </a:lnSpc>
              <a:spcBef>
                <a:spcPct val="50000"/>
              </a:spcBef>
              <a:buFont typeface="Wingdings" panose="05000000000000000000" pitchFamily="2" charset="2"/>
              <a:buNone/>
              <a:defRPr/>
            </a:pPr>
            <a:r>
              <a:rPr lang="zh-CN" altLang="en-US" sz="2000" b="1" u="sng" dirty="0">
                <a:solidFill>
                  <a:srgbClr val="6600FF"/>
                </a:solidFill>
                <a:hlinkClick r:id="rId3" action="ppaction://hlinksldjump"/>
              </a:rPr>
              <a:t>信息、消息与信号</a:t>
            </a:r>
            <a:r>
              <a:rPr lang="zh-CN" altLang="en-US" sz="2000" b="1" u="sng" dirty="0">
                <a:hlinkClick r:id="rId3" action="ppaction://hlinksldjump"/>
              </a:rPr>
              <a:t> </a:t>
            </a:r>
            <a:endParaRPr lang="zh-CN" altLang="en-US" sz="2000" b="1" u="sng" dirty="0"/>
          </a:p>
          <a:p>
            <a:pPr marL="412750" indent="-412750">
              <a:lnSpc>
                <a:spcPct val="150000"/>
              </a:lnSpc>
              <a:spcBef>
                <a:spcPct val="50000"/>
              </a:spcBef>
              <a:buFont typeface="Wingdings" panose="05000000000000000000" pitchFamily="2" charset="2"/>
              <a:buChar char="l"/>
              <a:defRPr/>
            </a:pPr>
            <a:r>
              <a:rPr lang="zh-CN" altLang="en-US" sz="2000" b="1" dirty="0">
                <a:solidFill>
                  <a:srgbClr val="FF0000"/>
                </a:solidFill>
              </a:rPr>
              <a:t>信息</a:t>
            </a:r>
            <a:r>
              <a:rPr lang="zh-CN" altLang="en-US" sz="2000" b="1" dirty="0"/>
              <a:t>是组成客观物质世界的</a:t>
            </a:r>
            <a:r>
              <a:rPr lang="zh-CN" altLang="en-US" sz="2000" b="1" dirty="0">
                <a:solidFill>
                  <a:srgbClr val="FF0000"/>
                </a:solidFill>
              </a:rPr>
              <a:t>三大要素</a:t>
            </a:r>
            <a:r>
              <a:rPr lang="zh-CN" altLang="en-US" sz="2000" b="1" dirty="0"/>
              <a:t>（物质、能源、信息），对其处理和传输具有非常重要的意义；</a:t>
            </a:r>
          </a:p>
          <a:p>
            <a:pPr marL="412750" indent="-412750">
              <a:lnSpc>
                <a:spcPct val="150000"/>
              </a:lnSpc>
              <a:spcBef>
                <a:spcPct val="50000"/>
              </a:spcBef>
              <a:buFont typeface="Wingdings" panose="05000000000000000000" pitchFamily="2" charset="2"/>
              <a:buChar char="l"/>
              <a:defRPr/>
            </a:pPr>
            <a:r>
              <a:rPr lang="zh-CN" altLang="en-US" sz="2000" b="1" dirty="0">
                <a:solidFill>
                  <a:srgbClr val="FF0000"/>
                </a:solidFill>
              </a:rPr>
              <a:t>信息</a:t>
            </a:r>
            <a:r>
              <a:rPr lang="zh-CN" altLang="en-US" sz="2000" b="1" dirty="0"/>
              <a:t>一般以一定的物理形式表现为</a:t>
            </a:r>
            <a:r>
              <a:rPr lang="zh-CN" altLang="en-US" sz="2000" b="1" dirty="0">
                <a:solidFill>
                  <a:srgbClr val="FF0000"/>
                </a:solidFill>
              </a:rPr>
              <a:t>消息</a:t>
            </a:r>
            <a:r>
              <a:rPr lang="zh-CN" altLang="en-US" sz="2000" b="1" dirty="0"/>
              <a:t>；</a:t>
            </a:r>
          </a:p>
          <a:p>
            <a:pPr marL="412750" indent="-412750">
              <a:lnSpc>
                <a:spcPct val="150000"/>
              </a:lnSpc>
              <a:spcBef>
                <a:spcPct val="50000"/>
              </a:spcBef>
              <a:buFont typeface="Wingdings" panose="05000000000000000000" pitchFamily="2" charset="2"/>
              <a:buChar char="l"/>
              <a:defRPr/>
            </a:pPr>
            <a:r>
              <a:rPr lang="zh-CN" altLang="en-US" sz="2000" b="1" dirty="0">
                <a:solidFill>
                  <a:srgbClr val="FF0000"/>
                </a:solidFill>
              </a:rPr>
              <a:t>消息</a:t>
            </a:r>
            <a:r>
              <a:rPr lang="zh-CN" altLang="en-US" sz="2000" b="1" dirty="0"/>
              <a:t>一般不便于直接传输，常借助于转换设备转换为便于传输的</a:t>
            </a:r>
            <a:r>
              <a:rPr lang="zh-CN" altLang="en-US" sz="2000" b="1" dirty="0">
                <a:solidFill>
                  <a:srgbClr val="FF0000"/>
                </a:solidFill>
              </a:rPr>
              <a:t>电信号</a:t>
            </a:r>
            <a:r>
              <a:rPr lang="zh-CN" altLang="en-US" sz="2000" b="1" dirty="0"/>
              <a:t>。 </a:t>
            </a:r>
          </a:p>
        </p:txBody>
      </p:sp>
      <p:sp>
        <p:nvSpPr>
          <p:cNvPr id="8" name="日期占位符 7"/>
          <p:cNvSpPr>
            <a:spLocks noGrp="1"/>
          </p:cNvSpPr>
          <p:nvPr>
            <p:ph type="dt" sz="quarter" idx="10"/>
          </p:nvPr>
        </p:nvSpPr>
        <p:spPr/>
        <p:txBody>
          <a:bodyPr/>
          <a:lstStyle/>
          <a:p>
            <a:pPr>
              <a:defRPr/>
            </a:pPr>
            <a:fld id="{F203EA63-AE53-4C65-9644-F06967E45202}" type="datetime3">
              <a:rPr lang="zh-CN" altLang="en-US"/>
              <a:t>2026年3月4日星期三</a:t>
            </a:fld>
            <a:endParaRPr lang="zh-CN" altLang="en-US" dirty="0"/>
          </a:p>
        </p:txBody>
      </p:sp>
    </p:spTree>
  </p:cSld>
  <p:clrMapOvr>
    <a:masterClrMapping/>
  </p:clrMapOvr>
  <p:transition advTm="2379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19619">
                                            <p:txEl>
                                              <p:pRg st="1" end="1"/>
                                            </p:txEl>
                                          </p:spTgt>
                                        </p:tgtEl>
                                        <p:attrNameLst>
                                          <p:attrName>style.visibility</p:attrName>
                                        </p:attrNameLst>
                                      </p:cBhvr>
                                      <p:to>
                                        <p:strVal val="visible"/>
                                      </p:to>
                                    </p:set>
                                    <p:anim calcmode="lin" valueType="num">
                                      <p:cBhvr>
                                        <p:cTn id="7" dur="1000" fill="hold"/>
                                        <p:tgtEl>
                                          <p:spTgt spid="1519619">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519619">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519619">
                                            <p:txEl>
                                              <p:pRg st="1" end="1"/>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519619">
                                            <p:txEl>
                                              <p:pRg st="2" end="2"/>
                                            </p:txEl>
                                          </p:spTgt>
                                        </p:tgtEl>
                                        <p:attrNameLst>
                                          <p:attrName>style.visibility</p:attrName>
                                        </p:attrNameLst>
                                      </p:cBhvr>
                                      <p:to>
                                        <p:strVal val="visible"/>
                                      </p:to>
                                    </p:set>
                                    <p:anim calcmode="lin" valueType="num">
                                      <p:cBhvr>
                                        <p:cTn id="13" dur="1000" fill="hold"/>
                                        <p:tgtEl>
                                          <p:spTgt spid="1519619">
                                            <p:txEl>
                                              <p:pRg st="2" end="2"/>
                                            </p:txEl>
                                          </p:spTgt>
                                        </p:tgtEl>
                                        <p:attrNameLst>
                                          <p:attrName>ppt_w</p:attrName>
                                        </p:attrNameLst>
                                      </p:cBhvr>
                                      <p:tavLst>
                                        <p:tav tm="0">
                                          <p:val>
                                            <p:strVal val="#ppt_w*0.70"/>
                                          </p:val>
                                        </p:tav>
                                        <p:tav tm="100000">
                                          <p:val>
                                            <p:strVal val="#ppt_w"/>
                                          </p:val>
                                        </p:tav>
                                      </p:tavLst>
                                    </p:anim>
                                    <p:anim calcmode="lin" valueType="num">
                                      <p:cBhvr>
                                        <p:cTn id="14" dur="1000" fill="hold"/>
                                        <p:tgtEl>
                                          <p:spTgt spid="1519619">
                                            <p:txEl>
                                              <p:pRg st="2" end="2"/>
                                            </p:txEl>
                                          </p:spTgt>
                                        </p:tgtEl>
                                        <p:attrNameLst>
                                          <p:attrName>ppt_h</p:attrName>
                                        </p:attrNameLst>
                                      </p:cBhvr>
                                      <p:tavLst>
                                        <p:tav tm="0">
                                          <p:val>
                                            <p:strVal val="#ppt_h"/>
                                          </p:val>
                                        </p:tav>
                                        <p:tav tm="100000">
                                          <p:val>
                                            <p:strVal val="#ppt_h"/>
                                          </p:val>
                                        </p:tav>
                                      </p:tavLst>
                                    </p:anim>
                                    <p:animEffect transition="in" filter="fade">
                                      <p:cBhvr>
                                        <p:cTn id="15" dur="1000"/>
                                        <p:tgtEl>
                                          <p:spTgt spid="1519619">
                                            <p:txEl>
                                              <p:pRg st="2" end="2"/>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519619">
                                            <p:txEl>
                                              <p:pRg st="3" end="3"/>
                                            </p:txEl>
                                          </p:spTgt>
                                        </p:tgtEl>
                                        <p:attrNameLst>
                                          <p:attrName>style.visibility</p:attrName>
                                        </p:attrNameLst>
                                      </p:cBhvr>
                                      <p:to>
                                        <p:strVal val="visible"/>
                                      </p:to>
                                    </p:set>
                                    <p:anim calcmode="lin" valueType="num">
                                      <p:cBhvr>
                                        <p:cTn id="19" dur="1000" fill="hold"/>
                                        <p:tgtEl>
                                          <p:spTgt spid="1519619">
                                            <p:txEl>
                                              <p:pRg st="3" end="3"/>
                                            </p:txEl>
                                          </p:spTgt>
                                        </p:tgtEl>
                                        <p:attrNameLst>
                                          <p:attrName>ppt_w</p:attrName>
                                        </p:attrNameLst>
                                      </p:cBhvr>
                                      <p:tavLst>
                                        <p:tav tm="0">
                                          <p:val>
                                            <p:strVal val="#ppt_w*0.70"/>
                                          </p:val>
                                        </p:tav>
                                        <p:tav tm="100000">
                                          <p:val>
                                            <p:strVal val="#ppt_w"/>
                                          </p:val>
                                        </p:tav>
                                      </p:tavLst>
                                    </p:anim>
                                    <p:anim calcmode="lin" valueType="num">
                                      <p:cBhvr>
                                        <p:cTn id="20" dur="1000" fill="hold"/>
                                        <p:tgtEl>
                                          <p:spTgt spid="1519619">
                                            <p:txEl>
                                              <p:pRg st="3" end="3"/>
                                            </p:txEl>
                                          </p:spTgt>
                                        </p:tgtEl>
                                        <p:attrNameLst>
                                          <p:attrName>ppt_h</p:attrName>
                                        </p:attrNameLst>
                                      </p:cBhvr>
                                      <p:tavLst>
                                        <p:tav tm="0">
                                          <p:val>
                                            <p:strVal val="#ppt_h"/>
                                          </p:val>
                                        </p:tav>
                                        <p:tav tm="100000">
                                          <p:val>
                                            <p:strVal val="#ppt_h"/>
                                          </p:val>
                                        </p:tav>
                                      </p:tavLst>
                                    </p:anim>
                                    <p:animEffect transition="in" filter="fade">
                                      <p:cBhvr>
                                        <p:cTn id="21" dur="1000"/>
                                        <p:tgtEl>
                                          <p:spTgt spid="15196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811" name="Rectangle 3"/>
          <p:cNvSpPr>
            <a:spLocks noGrp="1" noChangeArrowheads="1"/>
          </p:cNvSpPr>
          <p:nvPr>
            <p:ph type="body" idx="1"/>
          </p:nvPr>
        </p:nvSpPr>
        <p:spPr>
          <a:xfrm>
            <a:off x="1363663" y="1562100"/>
            <a:ext cx="5776912" cy="4044950"/>
          </a:xfrm>
          <a:solidFill>
            <a:schemeClr val="bg1"/>
          </a:solidFill>
          <a:ln w="57150">
            <a:solidFill>
              <a:schemeClr val="tx1"/>
            </a:solidFill>
            <a:miter lim="800000"/>
          </a:ln>
          <a:effectLst>
            <a:prstShdw prst="shdw12">
              <a:srgbClr val="808080">
                <a:alpha val="50000"/>
              </a:srgbClr>
            </a:prstShdw>
          </a:effectLst>
        </p:spPr>
        <p:txBody>
          <a:bodyPr/>
          <a:lstStyle/>
          <a:p>
            <a:pPr marL="440055" lvl="1" indent="-314325">
              <a:lnSpc>
                <a:spcPct val="145000"/>
              </a:lnSpc>
              <a:tabLst>
                <a:tab pos="372745" algn="l"/>
              </a:tabLst>
            </a:pPr>
            <a:r>
              <a:rPr lang="zh-CN" altLang="en-US" sz="2000" b="1">
                <a:solidFill>
                  <a:srgbClr val="0000FF"/>
                </a:solidFill>
              </a:rPr>
              <a:t>信号的描述</a:t>
            </a:r>
          </a:p>
          <a:p>
            <a:pPr marL="440055" lvl="1" indent="-314325">
              <a:lnSpc>
                <a:spcPct val="145000"/>
              </a:lnSpc>
              <a:buFont typeface="Wingdings" panose="05000000000000000000" pitchFamily="2" charset="2"/>
              <a:buChar char="l"/>
              <a:tabLst>
                <a:tab pos="372745" algn="l"/>
              </a:tabLst>
            </a:pPr>
            <a:r>
              <a:rPr lang="zh-CN" altLang="en-US" sz="2000" b="1"/>
              <a:t>物理上： 信号是信息寄寓变化的形式</a:t>
            </a:r>
          </a:p>
          <a:p>
            <a:pPr marL="440055" lvl="1" indent="-314325">
              <a:lnSpc>
                <a:spcPct val="145000"/>
              </a:lnSpc>
              <a:buFont typeface="Wingdings" panose="05000000000000000000" pitchFamily="2" charset="2"/>
              <a:buChar char="l"/>
              <a:tabLst>
                <a:tab pos="372745" algn="l"/>
              </a:tabLst>
            </a:pPr>
            <a:r>
              <a:rPr lang="zh-CN" altLang="en-US" sz="2000" b="1"/>
              <a:t>数学上： 信号是一个或多个变量的函数</a:t>
            </a:r>
          </a:p>
          <a:p>
            <a:pPr marL="440055" lvl="1" indent="-314325">
              <a:lnSpc>
                <a:spcPct val="145000"/>
              </a:lnSpc>
              <a:buFont typeface="Wingdings" panose="05000000000000000000" pitchFamily="2" charset="2"/>
              <a:buChar char="l"/>
              <a:tabLst>
                <a:tab pos="372745" algn="l"/>
              </a:tabLst>
            </a:pPr>
            <a:r>
              <a:rPr lang="zh-CN" altLang="en-US" sz="2000" b="1"/>
              <a:t>形态上：信号表现为一种波形</a:t>
            </a:r>
          </a:p>
          <a:p>
            <a:pPr marL="440055" lvl="1" indent="-314325">
              <a:lnSpc>
                <a:spcPct val="145000"/>
              </a:lnSpc>
              <a:tabLst>
                <a:tab pos="372745" algn="l"/>
              </a:tabLst>
            </a:pPr>
            <a:r>
              <a:rPr lang="zh-CN" altLang="en-US" sz="2000" b="1">
                <a:solidFill>
                  <a:srgbClr val="0000FF"/>
                </a:solidFill>
              </a:rPr>
              <a:t>自变量</a:t>
            </a:r>
          </a:p>
          <a:p>
            <a:pPr marL="440055" lvl="1" indent="-314325">
              <a:lnSpc>
                <a:spcPct val="145000"/>
              </a:lnSpc>
              <a:buFont typeface="Wingdings" panose="05000000000000000000" pitchFamily="2" charset="2"/>
              <a:buChar char="l"/>
              <a:tabLst>
                <a:tab pos="372745" algn="l"/>
              </a:tabLst>
            </a:pPr>
            <a:r>
              <a:rPr lang="zh-CN" altLang="en-US" sz="2000" b="1"/>
              <a:t>时间、位移</a:t>
            </a:r>
          </a:p>
          <a:p>
            <a:pPr marL="440055" lvl="1" indent="-314325">
              <a:lnSpc>
                <a:spcPct val="145000"/>
              </a:lnSpc>
              <a:buFont typeface="Wingdings" panose="05000000000000000000" pitchFamily="2" charset="2"/>
              <a:buChar char="l"/>
              <a:tabLst>
                <a:tab pos="372745" algn="l"/>
              </a:tabLst>
            </a:pPr>
            <a:r>
              <a:rPr lang="zh-CN" altLang="en-US" sz="2000" b="1"/>
              <a:t>频率、幅度、相位</a:t>
            </a:r>
          </a:p>
        </p:txBody>
      </p:sp>
      <p:sp>
        <p:nvSpPr>
          <p:cNvPr id="77827" name="Rectangle 6"/>
          <p:cNvSpPr>
            <a:spLocks noChangeArrowheads="1"/>
          </p:cNvSpPr>
          <p:nvPr/>
        </p:nvSpPr>
        <p:spPr bwMode="auto">
          <a:xfrm>
            <a:off x="177800" y="525463"/>
            <a:ext cx="27162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000">
                <a:solidFill>
                  <a:srgbClr val="FF0000"/>
                </a:solidFill>
                <a:latin typeface="Times New Roman" panose="02020603050405020304" pitchFamily="18" charset="0"/>
              </a:rPr>
              <a:t>回顾</a:t>
            </a:r>
          </a:p>
        </p:txBody>
      </p:sp>
      <p:sp>
        <p:nvSpPr>
          <p:cNvPr id="6" name="日期占位符 5"/>
          <p:cNvSpPr>
            <a:spLocks noGrp="1"/>
          </p:cNvSpPr>
          <p:nvPr>
            <p:ph type="dt" sz="quarter" idx="10"/>
          </p:nvPr>
        </p:nvSpPr>
        <p:spPr/>
        <p:txBody>
          <a:bodyPr/>
          <a:lstStyle/>
          <a:p>
            <a:pPr>
              <a:defRPr/>
            </a:pPr>
            <a:fld id="{90026FFF-ED70-4D9A-8041-34F8EC463EF5}" type="datetime3">
              <a:rPr lang="zh-CN" altLang="en-US"/>
              <a:t>2026年3月4日星期三</a:t>
            </a:fld>
            <a:endParaRPr lang="zh-CN" altLang="en-US"/>
          </a:p>
        </p:txBody>
      </p:sp>
    </p:spTree>
    <p:custDataLst>
      <p:tags r:id="rId1"/>
    </p:custDataLst>
  </p:cSld>
  <p:clrMapOvr>
    <a:masterClrMapping/>
  </p:clrMapOvr>
  <p:transition advTm="214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527811">
                                            <p:txEl>
                                              <p:pRg st="1" end="1"/>
                                            </p:txEl>
                                          </p:spTgt>
                                        </p:tgtEl>
                                        <p:attrNameLst>
                                          <p:attrName>style.visibility</p:attrName>
                                        </p:attrNameLst>
                                      </p:cBhvr>
                                      <p:to>
                                        <p:strVal val="visible"/>
                                      </p:to>
                                    </p:set>
                                    <p:anim calcmode="lin" valueType="num">
                                      <p:cBhvr>
                                        <p:cTn id="7" dur="1000" fill="hold"/>
                                        <p:tgtEl>
                                          <p:spTgt spid="1527811">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527811">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527811">
                                            <p:txEl>
                                              <p:pRg st="1" end="1"/>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1527811">
                                            <p:txEl>
                                              <p:pRg st="2" end="2"/>
                                            </p:txEl>
                                          </p:spTgt>
                                        </p:tgtEl>
                                        <p:attrNameLst>
                                          <p:attrName>style.visibility</p:attrName>
                                        </p:attrNameLst>
                                      </p:cBhvr>
                                      <p:to>
                                        <p:strVal val="visible"/>
                                      </p:to>
                                    </p:set>
                                    <p:anim calcmode="lin" valueType="num">
                                      <p:cBhvr>
                                        <p:cTn id="12" dur="1000" fill="hold"/>
                                        <p:tgtEl>
                                          <p:spTgt spid="1527811">
                                            <p:txEl>
                                              <p:pRg st="2" end="2"/>
                                            </p:txEl>
                                          </p:spTgt>
                                        </p:tgtEl>
                                        <p:attrNameLst>
                                          <p:attrName>ppt_w</p:attrName>
                                        </p:attrNameLst>
                                      </p:cBhvr>
                                      <p:tavLst>
                                        <p:tav tm="0">
                                          <p:val>
                                            <p:strVal val="#ppt_w*0.70"/>
                                          </p:val>
                                        </p:tav>
                                        <p:tav tm="100000">
                                          <p:val>
                                            <p:strVal val="#ppt_w"/>
                                          </p:val>
                                        </p:tav>
                                      </p:tavLst>
                                    </p:anim>
                                    <p:anim calcmode="lin" valueType="num">
                                      <p:cBhvr>
                                        <p:cTn id="13" dur="1000" fill="hold"/>
                                        <p:tgtEl>
                                          <p:spTgt spid="1527811">
                                            <p:txEl>
                                              <p:pRg st="2" end="2"/>
                                            </p:txEl>
                                          </p:spTgt>
                                        </p:tgtEl>
                                        <p:attrNameLst>
                                          <p:attrName>ppt_h</p:attrName>
                                        </p:attrNameLst>
                                      </p:cBhvr>
                                      <p:tavLst>
                                        <p:tav tm="0">
                                          <p:val>
                                            <p:strVal val="#ppt_h"/>
                                          </p:val>
                                        </p:tav>
                                        <p:tav tm="100000">
                                          <p:val>
                                            <p:strVal val="#ppt_h"/>
                                          </p:val>
                                        </p:tav>
                                      </p:tavLst>
                                    </p:anim>
                                    <p:animEffect transition="in" filter="fade">
                                      <p:cBhvr>
                                        <p:cTn id="14" dur="1000"/>
                                        <p:tgtEl>
                                          <p:spTgt spid="1527811">
                                            <p:txEl>
                                              <p:pRg st="2" end="2"/>
                                            </p:txEl>
                                          </p:spTgt>
                                        </p:tgtEl>
                                      </p:cBhvr>
                                    </p:animEffect>
                                  </p:childTnLst>
                                </p:cTn>
                              </p:par>
                              <p:par>
                                <p:cTn id="15" presetID="55" presetClass="entr" presetSubtype="0" fill="hold" nodeType="withEffect">
                                  <p:stCondLst>
                                    <p:cond delay="0"/>
                                  </p:stCondLst>
                                  <p:childTnLst>
                                    <p:set>
                                      <p:cBhvr>
                                        <p:cTn id="16" dur="1" fill="hold">
                                          <p:stCondLst>
                                            <p:cond delay="0"/>
                                          </p:stCondLst>
                                        </p:cTn>
                                        <p:tgtEl>
                                          <p:spTgt spid="1527811">
                                            <p:txEl>
                                              <p:pRg st="3" end="3"/>
                                            </p:txEl>
                                          </p:spTgt>
                                        </p:tgtEl>
                                        <p:attrNameLst>
                                          <p:attrName>style.visibility</p:attrName>
                                        </p:attrNameLst>
                                      </p:cBhvr>
                                      <p:to>
                                        <p:strVal val="visible"/>
                                      </p:to>
                                    </p:set>
                                    <p:anim calcmode="lin" valueType="num">
                                      <p:cBhvr>
                                        <p:cTn id="17" dur="1000" fill="hold"/>
                                        <p:tgtEl>
                                          <p:spTgt spid="1527811">
                                            <p:txEl>
                                              <p:pRg st="3" end="3"/>
                                            </p:txEl>
                                          </p:spTgt>
                                        </p:tgtEl>
                                        <p:attrNameLst>
                                          <p:attrName>ppt_w</p:attrName>
                                        </p:attrNameLst>
                                      </p:cBhvr>
                                      <p:tavLst>
                                        <p:tav tm="0">
                                          <p:val>
                                            <p:strVal val="#ppt_w*0.70"/>
                                          </p:val>
                                        </p:tav>
                                        <p:tav tm="100000">
                                          <p:val>
                                            <p:strVal val="#ppt_w"/>
                                          </p:val>
                                        </p:tav>
                                      </p:tavLst>
                                    </p:anim>
                                    <p:anim calcmode="lin" valueType="num">
                                      <p:cBhvr>
                                        <p:cTn id="18" dur="1000" fill="hold"/>
                                        <p:tgtEl>
                                          <p:spTgt spid="1527811">
                                            <p:txEl>
                                              <p:pRg st="3" end="3"/>
                                            </p:txEl>
                                          </p:spTgt>
                                        </p:tgtEl>
                                        <p:attrNameLst>
                                          <p:attrName>ppt_h</p:attrName>
                                        </p:attrNameLst>
                                      </p:cBhvr>
                                      <p:tavLst>
                                        <p:tav tm="0">
                                          <p:val>
                                            <p:strVal val="#ppt_h"/>
                                          </p:val>
                                        </p:tav>
                                        <p:tav tm="100000">
                                          <p:val>
                                            <p:strVal val="#ppt_h"/>
                                          </p:val>
                                        </p:tav>
                                      </p:tavLst>
                                    </p:anim>
                                    <p:animEffect transition="in" filter="fade">
                                      <p:cBhvr>
                                        <p:cTn id="19" dur="1000"/>
                                        <p:tgtEl>
                                          <p:spTgt spid="15278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527811">
                                            <p:txEl>
                                              <p:pRg st="4" end="4"/>
                                            </p:txEl>
                                          </p:spTgt>
                                        </p:tgtEl>
                                        <p:attrNameLst>
                                          <p:attrName>style.visibility</p:attrName>
                                        </p:attrNameLst>
                                      </p:cBhvr>
                                      <p:to>
                                        <p:strVal val="visible"/>
                                      </p:to>
                                    </p:set>
                                    <p:animEffect transition="in" filter="blinds(horizontal)">
                                      <p:cBhvr>
                                        <p:cTn id="24" dur="500"/>
                                        <p:tgtEl>
                                          <p:spTgt spid="1527811">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1527811">
                                            <p:txEl>
                                              <p:pRg st="5" end="5"/>
                                            </p:txEl>
                                          </p:spTgt>
                                        </p:tgtEl>
                                        <p:attrNameLst>
                                          <p:attrName>style.visibility</p:attrName>
                                        </p:attrNameLst>
                                      </p:cBhvr>
                                      <p:to>
                                        <p:strVal val="visible"/>
                                      </p:to>
                                    </p:set>
                                    <p:anim calcmode="lin" valueType="num">
                                      <p:cBhvr>
                                        <p:cTn id="29" dur="1000" fill="hold"/>
                                        <p:tgtEl>
                                          <p:spTgt spid="1527811">
                                            <p:txEl>
                                              <p:pRg st="5" end="5"/>
                                            </p:txEl>
                                          </p:spTgt>
                                        </p:tgtEl>
                                        <p:attrNameLst>
                                          <p:attrName>ppt_w</p:attrName>
                                        </p:attrNameLst>
                                      </p:cBhvr>
                                      <p:tavLst>
                                        <p:tav tm="0">
                                          <p:val>
                                            <p:strVal val="#ppt_w*0.70"/>
                                          </p:val>
                                        </p:tav>
                                        <p:tav tm="100000">
                                          <p:val>
                                            <p:strVal val="#ppt_w"/>
                                          </p:val>
                                        </p:tav>
                                      </p:tavLst>
                                    </p:anim>
                                    <p:anim calcmode="lin" valueType="num">
                                      <p:cBhvr>
                                        <p:cTn id="30" dur="1000" fill="hold"/>
                                        <p:tgtEl>
                                          <p:spTgt spid="1527811">
                                            <p:txEl>
                                              <p:pRg st="5" end="5"/>
                                            </p:txEl>
                                          </p:spTgt>
                                        </p:tgtEl>
                                        <p:attrNameLst>
                                          <p:attrName>ppt_h</p:attrName>
                                        </p:attrNameLst>
                                      </p:cBhvr>
                                      <p:tavLst>
                                        <p:tav tm="0">
                                          <p:val>
                                            <p:strVal val="#ppt_h"/>
                                          </p:val>
                                        </p:tav>
                                        <p:tav tm="100000">
                                          <p:val>
                                            <p:strVal val="#ppt_h"/>
                                          </p:val>
                                        </p:tav>
                                      </p:tavLst>
                                    </p:anim>
                                    <p:animEffect transition="in" filter="fade">
                                      <p:cBhvr>
                                        <p:cTn id="31" dur="1000"/>
                                        <p:tgtEl>
                                          <p:spTgt spid="1527811">
                                            <p:txEl>
                                              <p:pRg st="5" end="5"/>
                                            </p:txEl>
                                          </p:spTgt>
                                        </p:tgtEl>
                                      </p:cBhvr>
                                    </p:animEffect>
                                  </p:childTnLst>
                                </p:cTn>
                              </p:par>
                              <p:par>
                                <p:cTn id="32" presetID="55" presetClass="entr" presetSubtype="0" fill="hold" nodeType="withEffect">
                                  <p:stCondLst>
                                    <p:cond delay="0"/>
                                  </p:stCondLst>
                                  <p:childTnLst>
                                    <p:set>
                                      <p:cBhvr>
                                        <p:cTn id="33" dur="1" fill="hold">
                                          <p:stCondLst>
                                            <p:cond delay="0"/>
                                          </p:stCondLst>
                                        </p:cTn>
                                        <p:tgtEl>
                                          <p:spTgt spid="1527811">
                                            <p:txEl>
                                              <p:pRg st="6" end="6"/>
                                            </p:txEl>
                                          </p:spTgt>
                                        </p:tgtEl>
                                        <p:attrNameLst>
                                          <p:attrName>style.visibility</p:attrName>
                                        </p:attrNameLst>
                                      </p:cBhvr>
                                      <p:to>
                                        <p:strVal val="visible"/>
                                      </p:to>
                                    </p:set>
                                    <p:anim calcmode="lin" valueType="num">
                                      <p:cBhvr>
                                        <p:cTn id="34" dur="1000" fill="hold"/>
                                        <p:tgtEl>
                                          <p:spTgt spid="1527811">
                                            <p:txEl>
                                              <p:pRg st="6" end="6"/>
                                            </p:txEl>
                                          </p:spTgt>
                                        </p:tgtEl>
                                        <p:attrNameLst>
                                          <p:attrName>ppt_w</p:attrName>
                                        </p:attrNameLst>
                                      </p:cBhvr>
                                      <p:tavLst>
                                        <p:tav tm="0">
                                          <p:val>
                                            <p:strVal val="#ppt_w*0.70"/>
                                          </p:val>
                                        </p:tav>
                                        <p:tav tm="100000">
                                          <p:val>
                                            <p:strVal val="#ppt_w"/>
                                          </p:val>
                                        </p:tav>
                                      </p:tavLst>
                                    </p:anim>
                                    <p:anim calcmode="lin" valueType="num">
                                      <p:cBhvr>
                                        <p:cTn id="35" dur="1000" fill="hold"/>
                                        <p:tgtEl>
                                          <p:spTgt spid="1527811">
                                            <p:txEl>
                                              <p:pRg st="6" end="6"/>
                                            </p:txEl>
                                          </p:spTgt>
                                        </p:tgtEl>
                                        <p:attrNameLst>
                                          <p:attrName>ppt_h</p:attrName>
                                        </p:attrNameLst>
                                      </p:cBhvr>
                                      <p:tavLst>
                                        <p:tav tm="0">
                                          <p:val>
                                            <p:strVal val="#ppt_h"/>
                                          </p:val>
                                        </p:tav>
                                        <p:tav tm="100000">
                                          <p:val>
                                            <p:strVal val="#ppt_h"/>
                                          </p:val>
                                        </p:tav>
                                      </p:tavLst>
                                    </p:anim>
                                    <p:animEffect transition="in" filter="fade">
                                      <p:cBhvr>
                                        <p:cTn id="36" dur="1000"/>
                                        <p:tgtEl>
                                          <p:spTgt spid="15278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315" name="Rectangle 3"/>
          <p:cNvSpPr>
            <a:spLocks noGrp="1" noChangeArrowheads="1"/>
          </p:cNvSpPr>
          <p:nvPr>
            <p:ph type="body" sz="half" idx="1"/>
          </p:nvPr>
        </p:nvSpPr>
        <p:spPr>
          <a:xfrm>
            <a:off x="411163" y="1303338"/>
            <a:ext cx="7210425" cy="777875"/>
          </a:xfrm>
        </p:spPr>
        <p:txBody>
          <a:bodyPr/>
          <a:lstStyle/>
          <a:p>
            <a:pPr marL="412750" indent="-412750">
              <a:lnSpc>
                <a:spcPct val="125000"/>
              </a:lnSpc>
              <a:buFontTx/>
              <a:buAutoNum type="alphaLcParenR"/>
            </a:pPr>
            <a:r>
              <a:rPr lang="zh-CN" altLang="en-US" sz="1700" b="1">
                <a:solidFill>
                  <a:srgbClr val="FF0000"/>
                </a:solidFill>
              </a:rPr>
              <a:t>信号的相加与相乘：</a:t>
            </a:r>
            <a:r>
              <a:rPr lang="zh-CN" altLang="en-US" sz="1700" b="1"/>
              <a:t>为两个信号的时间函数相加（乘），反映在波形上则是将两信号相同时刻的函数值相加（乘）；      </a:t>
            </a:r>
          </a:p>
        </p:txBody>
      </p:sp>
      <p:sp>
        <p:nvSpPr>
          <p:cNvPr id="118787" name="Rectangle 6"/>
          <p:cNvSpPr>
            <a:spLocks noChangeArrowheads="1"/>
          </p:cNvSpPr>
          <p:nvPr/>
        </p:nvSpPr>
        <p:spPr bwMode="auto">
          <a:xfrm>
            <a:off x="177800" y="630238"/>
            <a:ext cx="4529138"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回顾：：信号的简单处理</a:t>
            </a:r>
            <a:endParaRPr lang="zh-CN" altLang="en-US" sz="2000">
              <a:solidFill>
                <a:srgbClr val="FF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549320" name="Object 2"/>
              <p:cNvSpPr txBox="1"/>
              <p:nvPr/>
            </p:nvSpPr>
            <p:spPr bwMode="auto">
              <a:xfrm>
                <a:off x="1398588" y="2144713"/>
                <a:ext cx="3060700" cy="777875"/>
              </a:xfrm>
              <a:prstGeom prst="rect">
                <a:avLst/>
              </a:prstGeom>
              <a:solidFill>
                <a:srgbClr val="CADAC2"/>
              </a:solid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相加：</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相乘：</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49320" name="Object 2"/>
              <p:cNvSpPr txBox="1">
                <a:spLocks noRot="1" noChangeAspect="1" noMove="1" noResize="1" noEditPoints="1" noAdjustHandles="1" noChangeArrowheads="1" noChangeShapeType="1" noTextEdit="1"/>
              </p:cNvSpPr>
              <p:nvPr/>
            </p:nvSpPr>
            <p:spPr bwMode="auto">
              <a:xfrm>
                <a:off x="1398588" y="2144713"/>
                <a:ext cx="3060700" cy="777875"/>
              </a:xfrm>
              <a:prstGeom prst="rect">
                <a:avLst/>
              </a:prstGeom>
              <a:blipFill rotWithShape="1">
                <a:blip r:embed="rId4"/>
                <a:stretch>
                  <a:fillRect l="-10" t="-41" r="10" b="41"/>
                </a:stretch>
              </a:blipFill>
              <a:ln>
                <a:noFill/>
              </a:ln>
              <a:effectLst/>
            </p:spPr>
            <p:txBody>
              <a:bodyPr/>
              <a:lstStyle/>
              <a:p>
                <a:r>
                  <a:rPr lang="zh-CN" altLang="en-US">
                    <a:noFill/>
                  </a:rPr>
                  <a:t> </a:t>
                </a:r>
              </a:p>
            </p:txBody>
          </p:sp>
        </mc:Fallback>
      </mc:AlternateContent>
      <p:grpSp>
        <p:nvGrpSpPr>
          <p:cNvPr id="2" name="Group 23"/>
          <p:cNvGrpSpPr/>
          <p:nvPr/>
        </p:nvGrpSpPr>
        <p:grpSpPr bwMode="auto">
          <a:xfrm>
            <a:off x="271463" y="2854325"/>
            <a:ext cx="8872537" cy="1517650"/>
            <a:chOff x="726" y="2825"/>
            <a:chExt cx="7394" cy="1329"/>
          </a:xfrm>
        </p:grpSpPr>
        <p:grpSp>
          <p:nvGrpSpPr>
            <p:cNvPr id="118805" name="Group 14"/>
            <p:cNvGrpSpPr/>
            <p:nvPr/>
          </p:nvGrpSpPr>
          <p:grpSpPr bwMode="auto">
            <a:xfrm>
              <a:off x="4491" y="2976"/>
              <a:ext cx="1678" cy="318"/>
              <a:chOff x="4518" y="3091"/>
              <a:chExt cx="1678" cy="318"/>
            </a:xfrm>
          </p:grpSpPr>
          <mc:AlternateContent xmlns:mc="http://schemas.openxmlformats.org/markup-compatibility/2006" xmlns:a14="http://schemas.microsoft.com/office/drawing/2010/main">
            <mc:Choice Requires="a14">
              <p:sp>
                <p:nvSpPr>
                  <p:cNvPr id="118813" name="Object 17"/>
                  <p:cNvSpPr txBox="1"/>
                  <p:nvPr/>
                </p:nvSpPr>
                <p:spPr bwMode="auto">
                  <a:xfrm>
                    <a:off x="4518" y="3091"/>
                    <a:ext cx="454" cy="303"/>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813" name="Object 17"/>
                  <p:cNvSpPr txBox="1">
                    <a:spLocks noRot="1" noChangeAspect="1" noMove="1" noResize="1" noEditPoints="1" noAdjustHandles="1" noChangeArrowheads="1" noChangeShapeType="1" noTextEdit="1"/>
                  </p:cNvSpPr>
                  <p:nvPr/>
                </p:nvSpPr>
                <p:spPr bwMode="auto">
                  <a:xfrm>
                    <a:off x="4518" y="3091"/>
                    <a:ext cx="454" cy="303"/>
                  </a:xfrm>
                  <a:prstGeom prst="rect">
                    <a:avLst/>
                  </a:prstGeom>
                  <a:blipFill rotWithShape="1">
                    <a:blip r:embed="rId5"/>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814" name="Object 18"/>
                  <p:cNvSpPr txBox="1"/>
                  <p:nvPr/>
                </p:nvSpPr>
                <p:spPr bwMode="auto">
                  <a:xfrm>
                    <a:off x="5362" y="3091"/>
                    <a:ext cx="834" cy="318"/>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118814" name="Object 18"/>
                  <p:cNvSpPr txBox="1">
                    <a:spLocks noRot="1" noChangeAspect="1" noMove="1" noResize="1" noEditPoints="1" noAdjustHandles="1" noChangeArrowheads="1" noChangeShapeType="1" noTextEdit="1"/>
                  </p:cNvSpPr>
                  <p:nvPr/>
                </p:nvSpPr>
                <p:spPr bwMode="auto">
                  <a:xfrm>
                    <a:off x="5362" y="3091"/>
                    <a:ext cx="834" cy="318"/>
                  </a:xfrm>
                  <a:prstGeom prst="rect">
                    <a:avLst/>
                  </a:prstGeom>
                  <a:blipFill rotWithShape="1">
                    <a:blip r:embed="rId6"/>
                  </a:blipFill>
                  <a:ln>
                    <a:noFill/>
                  </a:ln>
                  <a:effectLst/>
                </p:spPr>
                <p:txBody>
                  <a:bodyPr/>
                  <a:lstStyle/>
                  <a:p>
                    <a:r>
                      <a:rPr lang="zh-CN" altLang="en-US">
                        <a:noFill/>
                      </a:rPr>
                      <a:t> </a:t>
                    </a:r>
                  </a:p>
                </p:txBody>
              </p:sp>
            </mc:Fallback>
          </mc:AlternateContent>
          <p:sp>
            <p:nvSpPr>
              <p:cNvPr id="118815" name="Line 13"/>
              <p:cNvSpPr>
                <a:spLocks noChangeShapeType="1"/>
              </p:cNvSpPr>
              <p:nvPr/>
            </p:nvSpPr>
            <p:spPr bwMode="auto">
              <a:xfrm>
                <a:off x="5016" y="3227"/>
                <a:ext cx="318" cy="0"/>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grpSp>
        <p:sp>
          <p:nvSpPr>
            <p:cNvPr id="118806" name="Rectangle 9"/>
            <p:cNvSpPr>
              <a:spLocks noChangeArrowheads="1"/>
            </p:cNvSpPr>
            <p:nvPr/>
          </p:nvSpPr>
          <p:spPr bwMode="auto">
            <a:xfrm>
              <a:off x="726" y="2825"/>
              <a:ext cx="7394" cy="1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412750" indent="-412750">
                <a:defRPr sz="2800" b="1">
                  <a:solidFill>
                    <a:schemeClr val="tx1"/>
                  </a:solidFill>
                  <a:latin typeface="黑体" panose="02010609060101010101" pitchFamily="49" charset="-122"/>
                  <a:ea typeface="黑体" panose="02010609060101010101" pitchFamily="49" charset="-122"/>
                </a:defRPr>
              </a:lvl1pPr>
              <a:lvl2pPr marL="869950" indent="-412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20000"/>
                </a:spcBef>
                <a:buClr>
                  <a:schemeClr val="accent2"/>
                </a:buClr>
                <a:buFontTx/>
                <a:buAutoNum type="alphaLcParenR" startAt="2"/>
              </a:pPr>
              <a:r>
                <a:rPr lang="zh-CN" altLang="en-US" sz="2000">
                  <a:solidFill>
                    <a:srgbClr val="FF0000"/>
                  </a:solidFill>
                  <a:latin typeface="Times New Roman" panose="02020603050405020304" pitchFamily="18" charset="0"/>
                  <a:ea typeface="宋体" panose="02010600030101010101" pitchFamily="2" charset="-122"/>
                </a:rPr>
                <a:t>信号的延时：</a:t>
              </a:r>
              <a:r>
                <a:rPr lang="zh-CN" altLang="en-US" sz="2000">
                  <a:latin typeface="Times New Roman" panose="02020603050405020304" pitchFamily="18" charset="0"/>
                  <a:ea typeface="宋体" panose="02010600030101010101" pitchFamily="2" charset="-122"/>
                </a:rPr>
                <a:t>波形沿时间轴的移动</a:t>
              </a:r>
            </a:p>
            <a:p>
              <a:pPr lvl="1" eaLnBrk="1" hangingPunct="1">
                <a:lnSpc>
                  <a:spcPct val="145000"/>
                </a:lnSpc>
                <a:spcBef>
                  <a:spcPct val="20000"/>
                </a:spcBef>
                <a:buClr>
                  <a:schemeClr val="accent2"/>
                </a:buClr>
                <a:buFont typeface="Wingdings" panose="05000000000000000000" pitchFamily="2" charset="2"/>
                <a:buChar char="l"/>
              </a:pPr>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0</a:t>
              </a:r>
              <a:r>
                <a:rPr lang="en-US" altLang="zh-CN" sz="2000">
                  <a:latin typeface="Times New Roman" panose="02020603050405020304" pitchFamily="18" charset="0"/>
                  <a:ea typeface="宋体" panose="02010600030101010101" pitchFamily="2" charset="-122"/>
                </a:rPr>
                <a:t>&gt;0</a:t>
              </a:r>
              <a:r>
                <a:rPr lang="zh-CN" altLang="en-US" sz="2000">
                  <a:latin typeface="Times New Roman" panose="02020603050405020304" pitchFamily="18" charset="0"/>
                  <a:ea typeface="宋体" panose="02010600030101010101" pitchFamily="2" charset="-122"/>
                </a:rPr>
                <a:t>表示信号               滞后于         ，其波形由         波形右移</a:t>
              </a:r>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0</a:t>
              </a:r>
              <a:r>
                <a:rPr lang="zh-CN" altLang="en-US" sz="2000">
                  <a:latin typeface="Times New Roman" panose="02020603050405020304" pitchFamily="18" charset="0"/>
                  <a:ea typeface="宋体" panose="02010600030101010101" pitchFamily="2" charset="-122"/>
                </a:rPr>
                <a:t>得到；</a:t>
              </a:r>
            </a:p>
            <a:p>
              <a:pPr lvl="1" eaLnBrk="1" hangingPunct="1">
                <a:lnSpc>
                  <a:spcPct val="145000"/>
                </a:lnSpc>
                <a:spcBef>
                  <a:spcPct val="20000"/>
                </a:spcBef>
                <a:buClr>
                  <a:schemeClr val="accent2"/>
                </a:buClr>
                <a:buFont typeface="Wingdings" panose="05000000000000000000" pitchFamily="2" charset="2"/>
                <a:buChar char="l"/>
              </a:pPr>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0</a:t>
              </a:r>
              <a:r>
                <a:rPr lang="en-US" altLang="zh-CN" sz="2000">
                  <a:latin typeface="Times New Roman" panose="02020603050405020304" pitchFamily="18" charset="0"/>
                  <a:ea typeface="宋体" panose="02010600030101010101" pitchFamily="2" charset="-122"/>
                </a:rPr>
                <a:t>&lt;0</a:t>
              </a:r>
              <a:r>
                <a:rPr lang="zh-CN" altLang="en-US" sz="2000">
                  <a:latin typeface="Times New Roman" panose="02020603050405020304" pitchFamily="18" charset="0"/>
                  <a:ea typeface="宋体" panose="02010600030101010101" pitchFamily="2" charset="-122"/>
                </a:rPr>
                <a:t>表示信号               超前于         ，其波形由         波形左移</a:t>
              </a:r>
              <a:r>
                <a:rPr lang="en-US" altLang="zh-CN" sz="2000">
                  <a:latin typeface="Times New Roman" panose="02020603050405020304" pitchFamily="18" charset="0"/>
                  <a:ea typeface="宋体" panose="02010600030101010101" pitchFamily="2" charset="-122"/>
                </a:rPr>
                <a:t>t</a:t>
              </a:r>
              <a:r>
                <a:rPr lang="en-US" altLang="zh-CN" sz="2000" baseline="-25000">
                  <a:latin typeface="Times New Roman" panose="02020603050405020304" pitchFamily="18" charset="0"/>
                  <a:ea typeface="宋体" panose="02010600030101010101" pitchFamily="2" charset="-122"/>
                </a:rPr>
                <a:t>0</a:t>
              </a:r>
              <a:r>
                <a:rPr lang="zh-CN" altLang="en-US" sz="2000">
                  <a:latin typeface="Times New Roman" panose="02020603050405020304" pitchFamily="18" charset="0"/>
                  <a:ea typeface="宋体" panose="02010600030101010101" pitchFamily="2" charset="-122"/>
                </a:rPr>
                <a:t>得到；</a:t>
              </a:r>
            </a:p>
          </p:txBody>
        </p:sp>
        <mc:AlternateContent xmlns:mc="http://schemas.openxmlformats.org/markup-compatibility/2006" xmlns:a14="http://schemas.microsoft.com/office/drawing/2010/main">
          <mc:Choice Requires="a14">
            <p:sp>
              <p:nvSpPr>
                <p:cNvPr id="118807" name="Object 11"/>
                <p:cNvSpPr txBox="1"/>
                <p:nvPr/>
              </p:nvSpPr>
              <p:spPr bwMode="auto">
                <a:xfrm>
                  <a:off x="2800" y="3397"/>
                  <a:ext cx="810" cy="281"/>
                </a:xfrm>
                <a:prstGeom prst="rect">
                  <a:avLst/>
                </a:prstGeom>
                <a:noFill/>
                <a:ln>
                  <a:noFill/>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118807" name="Object 11"/>
                <p:cNvSpPr txBox="1">
                  <a:spLocks noRot="1" noChangeAspect="1" noMove="1" noResize="1" noEditPoints="1" noAdjustHandles="1" noChangeArrowheads="1" noChangeShapeType="1" noTextEdit="1"/>
                </p:cNvSpPr>
                <p:nvPr/>
              </p:nvSpPr>
              <p:spPr bwMode="auto">
                <a:xfrm>
                  <a:off x="2800" y="3397"/>
                  <a:ext cx="810" cy="281"/>
                </a:xfrm>
                <a:prstGeom prst="rect">
                  <a:avLst/>
                </a:prstGeom>
                <a:blipFill rotWithShape="1">
                  <a:blip r:embed="rId7"/>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808" name="Object 12"/>
                <p:cNvSpPr txBox="1"/>
                <p:nvPr/>
              </p:nvSpPr>
              <p:spPr bwMode="auto">
                <a:xfrm>
                  <a:off x="2704" y="3840"/>
                  <a:ext cx="906" cy="314"/>
                </a:xfrm>
                <a:prstGeom prst="rect">
                  <a:avLst/>
                </a:prstGeom>
                <a:noFill/>
                <a:ln>
                  <a:noFill/>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118808" name="Object 12"/>
                <p:cNvSpPr txBox="1">
                  <a:spLocks noRot="1" noChangeAspect="1" noMove="1" noResize="1" noEditPoints="1" noAdjustHandles="1" noChangeArrowheads="1" noChangeShapeType="1" noTextEdit="1"/>
                </p:cNvSpPr>
                <p:nvPr/>
              </p:nvSpPr>
              <p:spPr bwMode="auto">
                <a:xfrm>
                  <a:off x="2704" y="3840"/>
                  <a:ext cx="906" cy="314"/>
                </a:xfrm>
                <a:prstGeom prst="rect">
                  <a:avLst/>
                </a:prstGeom>
                <a:blipFill rotWithShape="1">
                  <a:blip r:embed="rId8"/>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809" name="Object 13"/>
                <p:cNvSpPr txBox="1"/>
                <p:nvPr/>
              </p:nvSpPr>
              <p:spPr bwMode="auto">
                <a:xfrm>
                  <a:off x="4219" y="3412"/>
                  <a:ext cx="505" cy="307"/>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809" name="Object 13"/>
                <p:cNvSpPr txBox="1">
                  <a:spLocks noRot="1" noChangeAspect="1" noMove="1" noResize="1" noEditPoints="1" noAdjustHandles="1" noChangeArrowheads="1" noChangeShapeType="1" noTextEdit="1"/>
                </p:cNvSpPr>
                <p:nvPr/>
              </p:nvSpPr>
              <p:spPr bwMode="auto">
                <a:xfrm>
                  <a:off x="4219" y="3412"/>
                  <a:ext cx="505" cy="307"/>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810" name="Object 14"/>
                <p:cNvSpPr txBox="1"/>
                <p:nvPr/>
              </p:nvSpPr>
              <p:spPr bwMode="auto">
                <a:xfrm>
                  <a:off x="5797" y="3413"/>
                  <a:ext cx="505" cy="307"/>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810" name="Object 14"/>
                <p:cNvSpPr txBox="1">
                  <a:spLocks noRot="1" noChangeAspect="1" noMove="1" noResize="1" noEditPoints="1" noAdjustHandles="1" noChangeArrowheads="1" noChangeShapeType="1" noTextEdit="1"/>
                </p:cNvSpPr>
                <p:nvPr/>
              </p:nvSpPr>
              <p:spPr bwMode="auto">
                <a:xfrm>
                  <a:off x="5797" y="3413"/>
                  <a:ext cx="505" cy="307"/>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811" name="Object 15"/>
                <p:cNvSpPr txBox="1"/>
                <p:nvPr/>
              </p:nvSpPr>
              <p:spPr bwMode="auto">
                <a:xfrm>
                  <a:off x="4170" y="3847"/>
                  <a:ext cx="505" cy="307"/>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811" name="Object 15"/>
                <p:cNvSpPr txBox="1">
                  <a:spLocks noRot="1" noChangeAspect="1" noMove="1" noResize="1" noEditPoints="1" noAdjustHandles="1" noChangeArrowheads="1" noChangeShapeType="1" noTextEdit="1"/>
                </p:cNvSpPr>
                <p:nvPr/>
              </p:nvSpPr>
              <p:spPr bwMode="auto">
                <a:xfrm>
                  <a:off x="4170" y="3847"/>
                  <a:ext cx="505" cy="307"/>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812" name="Object 16"/>
                <p:cNvSpPr txBox="1"/>
                <p:nvPr/>
              </p:nvSpPr>
              <p:spPr bwMode="auto">
                <a:xfrm>
                  <a:off x="5708" y="3834"/>
                  <a:ext cx="505" cy="307"/>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812" name="Object 16"/>
                <p:cNvSpPr txBox="1">
                  <a:spLocks noRot="1" noChangeAspect="1" noMove="1" noResize="1" noEditPoints="1" noAdjustHandles="1" noChangeArrowheads="1" noChangeShapeType="1" noTextEdit="1"/>
                </p:cNvSpPr>
                <p:nvPr/>
              </p:nvSpPr>
              <p:spPr bwMode="auto">
                <a:xfrm>
                  <a:off x="5708" y="3834"/>
                  <a:ext cx="505" cy="307"/>
                </a:xfrm>
                <a:prstGeom prst="rect">
                  <a:avLst/>
                </a:prstGeom>
                <a:blipFill rotWithShape="1">
                  <a:blip r:embed="rId9"/>
                </a:blipFill>
                <a:ln>
                  <a:noFill/>
                </a:ln>
                <a:effectLst/>
              </p:spPr>
              <p:txBody>
                <a:bodyPr/>
                <a:lstStyle/>
                <a:p>
                  <a:r>
                    <a:rPr lang="zh-CN" altLang="en-US">
                      <a:noFill/>
                    </a:rPr>
                    <a:t> </a:t>
                  </a:r>
                </a:p>
              </p:txBody>
            </p:sp>
          </mc:Fallback>
        </mc:AlternateContent>
      </p:grpSp>
      <p:grpSp>
        <p:nvGrpSpPr>
          <p:cNvPr id="4" name="Group 37"/>
          <p:cNvGrpSpPr/>
          <p:nvPr/>
        </p:nvGrpSpPr>
        <p:grpSpPr bwMode="auto">
          <a:xfrm>
            <a:off x="201613" y="4595813"/>
            <a:ext cx="5160962" cy="468312"/>
            <a:chOff x="556" y="4021"/>
            <a:chExt cx="4326" cy="409"/>
          </a:xfrm>
        </p:grpSpPr>
        <p:sp>
          <p:nvSpPr>
            <p:cNvPr id="118800" name="Rectangle 10"/>
            <p:cNvSpPr>
              <a:spLocks noChangeArrowheads="1"/>
            </p:cNvSpPr>
            <p:nvPr/>
          </p:nvSpPr>
          <p:spPr bwMode="auto">
            <a:xfrm>
              <a:off x="556" y="4021"/>
              <a:ext cx="3152"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412750" indent="-4127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Tx/>
                <a:buAutoNum type="alphaLcParenR" startAt="3"/>
              </a:pPr>
              <a:r>
                <a:rPr lang="en-US" altLang="zh-CN" sz="2000">
                  <a:latin typeface="Times New Roman" panose="02020603050405020304" pitchFamily="18" charset="0"/>
                  <a:ea typeface="宋体" panose="02010600030101010101" pitchFamily="2" charset="-122"/>
                </a:rPr>
                <a:t> </a:t>
              </a:r>
              <a:r>
                <a:rPr lang="zh-CN" altLang="en-US" sz="2000">
                  <a:solidFill>
                    <a:srgbClr val="FF0000"/>
                  </a:solidFill>
                  <a:latin typeface="Times New Roman" panose="02020603050405020304" pitchFamily="18" charset="0"/>
                  <a:ea typeface="宋体" panose="02010600030101010101" pitchFamily="2" charset="-122"/>
                </a:rPr>
                <a:t>信号的尺度变换与反褶</a:t>
              </a:r>
            </a:p>
          </p:txBody>
        </p:sp>
        <p:grpSp>
          <p:nvGrpSpPr>
            <p:cNvPr id="118801" name="Group 28"/>
            <p:cNvGrpSpPr/>
            <p:nvPr/>
          </p:nvGrpSpPr>
          <p:grpSpPr bwMode="auto">
            <a:xfrm>
              <a:off x="3656" y="4089"/>
              <a:ext cx="1226" cy="281"/>
              <a:chOff x="5742" y="4089"/>
              <a:chExt cx="1226" cy="281"/>
            </a:xfrm>
          </p:grpSpPr>
          <mc:AlternateContent xmlns:mc="http://schemas.openxmlformats.org/markup-compatibility/2006" xmlns:a14="http://schemas.microsoft.com/office/drawing/2010/main">
            <mc:Choice Requires="a14">
              <p:sp>
                <p:nvSpPr>
                  <p:cNvPr id="118802" name="Object 9"/>
                  <p:cNvSpPr txBox="1"/>
                  <p:nvPr/>
                </p:nvSpPr>
                <p:spPr bwMode="auto">
                  <a:xfrm>
                    <a:off x="5742" y="4089"/>
                    <a:ext cx="408" cy="272"/>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802" name="Object 9"/>
                  <p:cNvSpPr txBox="1">
                    <a:spLocks noRot="1" noChangeAspect="1" noMove="1" noResize="1" noEditPoints="1" noAdjustHandles="1" noChangeArrowheads="1" noChangeShapeType="1" noTextEdit="1"/>
                  </p:cNvSpPr>
                  <p:nvPr/>
                </p:nvSpPr>
                <p:spPr bwMode="auto">
                  <a:xfrm>
                    <a:off x="5742" y="4089"/>
                    <a:ext cx="408" cy="272"/>
                  </a:xfrm>
                  <a:prstGeom prst="rect">
                    <a:avLst/>
                  </a:prstGeom>
                  <a:blipFill rotWithShape="1">
                    <a:blip r:embed="rId10"/>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803" name="Object 10"/>
                  <p:cNvSpPr txBox="1"/>
                  <p:nvPr/>
                </p:nvSpPr>
                <p:spPr bwMode="auto">
                  <a:xfrm>
                    <a:off x="6423" y="4089"/>
                    <a:ext cx="545" cy="281"/>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803" name="Object 10"/>
                  <p:cNvSpPr txBox="1">
                    <a:spLocks noRot="1" noChangeAspect="1" noMove="1" noResize="1" noEditPoints="1" noAdjustHandles="1" noChangeArrowheads="1" noChangeShapeType="1" noTextEdit="1"/>
                  </p:cNvSpPr>
                  <p:nvPr/>
                </p:nvSpPr>
                <p:spPr bwMode="auto">
                  <a:xfrm>
                    <a:off x="6423" y="4089"/>
                    <a:ext cx="545" cy="281"/>
                  </a:xfrm>
                  <a:prstGeom prst="rect">
                    <a:avLst/>
                  </a:prstGeom>
                  <a:blipFill rotWithShape="1">
                    <a:blip r:embed="rId11"/>
                  </a:blipFill>
                  <a:ln>
                    <a:noFill/>
                  </a:ln>
                  <a:effectLst/>
                </p:spPr>
                <p:txBody>
                  <a:bodyPr/>
                  <a:lstStyle/>
                  <a:p>
                    <a:r>
                      <a:rPr lang="zh-CN" altLang="en-US">
                        <a:noFill/>
                      </a:rPr>
                      <a:t> </a:t>
                    </a:r>
                  </a:p>
                </p:txBody>
              </p:sp>
            </mc:Fallback>
          </mc:AlternateContent>
          <p:sp>
            <p:nvSpPr>
              <p:cNvPr id="118804" name="Line 27"/>
              <p:cNvSpPr>
                <a:spLocks noChangeShapeType="1"/>
              </p:cNvSpPr>
              <p:nvPr/>
            </p:nvSpPr>
            <p:spPr bwMode="auto">
              <a:xfrm>
                <a:off x="6150" y="4225"/>
                <a:ext cx="318"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grpSp>
      </p:grpSp>
      <p:grpSp>
        <p:nvGrpSpPr>
          <p:cNvPr id="6" name="Group 36"/>
          <p:cNvGrpSpPr/>
          <p:nvPr/>
        </p:nvGrpSpPr>
        <p:grpSpPr bwMode="auto">
          <a:xfrm>
            <a:off x="868363" y="5102225"/>
            <a:ext cx="7410450" cy="1349375"/>
            <a:chOff x="1116" y="4497"/>
            <a:chExt cx="6486" cy="1180"/>
          </a:xfrm>
        </p:grpSpPr>
        <p:sp>
          <p:nvSpPr>
            <p:cNvPr id="118793" name="Rectangle 24"/>
            <p:cNvSpPr>
              <a:spLocks noChangeArrowheads="1"/>
            </p:cNvSpPr>
            <p:nvPr/>
          </p:nvSpPr>
          <p:spPr bwMode="auto">
            <a:xfrm>
              <a:off x="1116" y="4497"/>
              <a:ext cx="6486" cy="1180"/>
            </a:xfrm>
            <a:prstGeom prst="rect">
              <a:avLst/>
            </a:prstGeom>
            <a:solidFill>
              <a:srgbClr val="EEE4C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412750" indent="-4127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Char char="l"/>
              </a:pPr>
              <a:r>
                <a:rPr lang="zh-CN" altLang="en-US" sz="2000">
                  <a:latin typeface="Times New Roman" panose="02020603050405020304" pitchFamily="18" charset="0"/>
                  <a:ea typeface="宋体" panose="02010600030101010101" pitchFamily="2" charset="-122"/>
                </a:rPr>
                <a:t>若</a:t>
              </a:r>
              <a:r>
                <a:rPr lang="en-US" altLang="zh-CN" sz="2000">
                  <a:latin typeface="Times New Roman" panose="02020603050405020304" pitchFamily="18" charset="0"/>
                  <a:ea typeface="宋体" panose="02010600030101010101" pitchFamily="2" charset="-122"/>
                </a:rPr>
                <a:t>a&gt;1,</a:t>
              </a:r>
              <a:r>
                <a:rPr lang="zh-CN" altLang="en-US" sz="2000">
                  <a:latin typeface="Times New Roman" panose="02020603050405020304" pitchFamily="18" charset="0"/>
                  <a:ea typeface="宋体" panose="02010600030101010101" pitchFamily="2" charset="-122"/>
                </a:rPr>
                <a:t>则表示信号        是由       沿时间轴压缩而得到的；</a:t>
              </a:r>
            </a:p>
            <a:p>
              <a:pPr eaLnBrk="1" hangingPunct="1">
                <a:lnSpc>
                  <a:spcPct val="85000"/>
                </a:lnSpc>
                <a:spcBef>
                  <a:spcPct val="20000"/>
                </a:spcBef>
                <a:buClr>
                  <a:schemeClr val="accent2"/>
                </a:buClr>
                <a:buFont typeface="Wingdings" panose="05000000000000000000" pitchFamily="2" charset="2"/>
                <a:buChar char="l"/>
              </a:pPr>
              <a:r>
                <a:rPr lang="zh-CN" altLang="en-US" sz="2000">
                  <a:latin typeface="Times New Roman" panose="02020603050405020304" pitchFamily="18" charset="0"/>
                  <a:ea typeface="宋体" panose="02010600030101010101" pitchFamily="2" charset="-122"/>
                </a:rPr>
                <a:t>若</a:t>
              </a:r>
              <a:r>
                <a:rPr lang="en-US" altLang="zh-CN" sz="2000">
                  <a:latin typeface="Times New Roman" panose="02020603050405020304" pitchFamily="18" charset="0"/>
                  <a:ea typeface="宋体" panose="02010600030101010101" pitchFamily="2" charset="-122"/>
                </a:rPr>
                <a:t>0&lt;a&lt;1</a:t>
              </a:r>
              <a:r>
                <a:rPr lang="zh-CN" altLang="en-US" sz="2000">
                  <a:latin typeface="Times New Roman" panose="02020603050405020304" pitchFamily="18" charset="0"/>
                  <a:ea typeface="宋体" panose="02010600030101010101" pitchFamily="2" charset="-122"/>
                </a:rPr>
                <a:t>，则表示信号        是由      沿时间轴扩展而得到的；</a:t>
              </a:r>
            </a:p>
            <a:p>
              <a:pPr eaLnBrk="1" hangingPunct="1">
                <a:lnSpc>
                  <a:spcPct val="85000"/>
                </a:lnSpc>
                <a:spcBef>
                  <a:spcPct val="20000"/>
                </a:spcBef>
                <a:buClr>
                  <a:schemeClr val="accent2"/>
                </a:buClr>
                <a:buFont typeface="Wingdings" panose="05000000000000000000" pitchFamily="2" charset="2"/>
                <a:buChar char="l"/>
              </a:pPr>
              <a:r>
                <a:rPr lang="zh-CN" altLang="en-US" sz="2000">
                  <a:latin typeface="Times New Roman" panose="02020603050405020304" pitchFamily="18" charset="0"/>
                  <a:ea typeface="宋体" panose="02010600030101010101" pitchFamily="2" charset="-122"/>
                </a:rPr>
                <a:t>若</a:t>
              </a:r>
              <a:r>
                <a:rPr lang="en-US" altLang="zh-CN" sz="2000">
                  <a:latin typeface="Times New Roman" panose="02020603050405020304" pitchFamily="18" charset="0"/>
                  <a:ea typeface="宋体" panose="02010600030101010101" pitchFamily="2" charset="-122"/>
                </a:rPr>
                <a:t>a=-1</a:t>
              </a:r>
              <a:r>
                <a:rPr lang="zh-CN" altLang="en-US" sz="2000">
                  <a:latin typeface="Times New Roman" panose="02020603050405020304" pitchFamily="18" charset="0"/>
                  <a:ea typeface="宋体" panose="02010600030101010101" pitchFamily="2" charset="-122"/>
                </a:rPr>
                <a:t>，则表示信号        是由      沿纵轴反褶而得到的</a:t>
              </a:r>
            </a:p>
          </p:txBody>
        </p:sp>
        <mc:AlternateContent xmlns:mc="http://schemas.openxmlformats.org/markup-compatibility/2006" xmlns:a14="http://schemas.microsoft.com/office/drawing/2010/main">
          <mc:Choice Requires="a14">
            <p:sp>
              <p:nvSpPr>
                <p:cNvPr id="118794" name="Object 3"/>
                <p:cNvSpPr txBox="1"/>
                <p:nvPr/>
              </p:nvSpPr>
              <p:spPr bwMode="auto">
                <a:xfrm>
                  <a:off x="4283" y="4542"/>
                  <a:ext cx="352" cy="235"/>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794" name="Object 3"/>
                <p:cNvSpPr txBox="1">
                  <a:spLocks noRot="1" noChangeAspect="1" noMove="1" noResize="1" noEditPoints="1" noAdjustHandles="1" noChangeArrowheads="1" noChangeShapeType="1" noTextEdit="1"/>
                </p:cNvSpPr>
                <p:nvPr/>
              </p:nvSpPr>
              <p:spPr bwMode="auto">
                <a:xfrm>
                  <a:off x="4283" y="4542"/>
                  <a:ext cx="352" cy="235"/>
                </a:xfrm>
                <a:prstGeom prst="rect">
                  <a:avLst/>
                </a:prstGeom>
                <a:blipFill rotWithShape="1">
                  <a:blip r:embed="rId12"/>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795" name="Object 4"/>
                <p:cNvSpPr txBox="1"/>
                <p:nvPr/>
              </p:nvSpPr>
              <p:spPr bwMode="auto">
                <a:xfrm>
                  <a:off x="3365" y="4531"/>
                  <a:ext cx="448" cy="281"/>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795" name="Object 4"/>
                <p:cNvSpPr txBox="1">
                  <a:spLocks noRot="1" noChangeAspect="1" noMove="1" noResize="1" noEditPoints="1" noAdjustHandles="1" noChangeArrowheads="1" noChangeShapeType="1" noTextEdit="1"/>
                </p:cNvSpPr>
                <p:nvPr/>
              </p:nvSpPr>
              <p:spPr bwMode="auto">
                <a:xfrm>
                  <a:off x="3365" y="4531"/>
                  <a:ext cx="448" cy="281"/>
                </a:xfrm>
                <a:prstGeom prst="rect">
                  <a:avLst/>
                </a:prstGeom>
                <a:blipFill rotWithShape="1">
                  <a:blip r:embed="rId13"/>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796" name="Object 5"/>
                <p:cNvSpPr txBox="1"/>
                <p:nvPr/>
              </p:nvSpPr>
              <p:spPr bwMode="auto">
                <a:xfrm>
                  <a:off x="3789" y="4821"/>
                  <a:ext cx="347" cy="229"/>
                </a:xfrm>
                <a:prstGeom prst="rect">
                  <a:avLst/>
                </a:prstGeom>
                <a:noFill/>
                <a:ln>
                  <a:noFill/>
                </a:ln>
                <a:effectLst/>
              </p:spPr>
              <p:txBody>
                <a:bodyPr>
                  <a:normAutofit fontScale="3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796" name="Object 5"/>
                <p:cNvSpPr txBox="1">
                  <a:spLocks noRot="1" noChangeAspect="1" noMove="1" noResize="1" noEditPoints="1" noAdjustHandles="1" noChangeArrowheads="1" noChangeShapeType="1" noTextEdit="1"/>
                </p:cNvSpPr>
                <p:nvPr/>
              </p:nvSpPr>
              <p:spPr bwMode="auto">
                <a:xfrm>
                  <a:off x="3789" y="4821"/>
                  <a:ext cx="347" cy="229"/>
                </a:xfrm>
                <a:prstGeom prst="rect">
                  <a:avLst/>
                </a:prstGeom>
                <a:blipFill rotWithShape="1">
                  <a:blip r:embed="rId14"/>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797" name="Object 6"/>
                <p:cNvSpPr txBox="1"/>
                <p:nvPr/>
              </p:nvSpPr>
              <p:spPr bwMode="auto">
                <a:xfrm>
                  <a:off x="4608" y="4851"/>
                  <a:ext cx="352" cy="235"/>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797" name="Object 6"/>
                <p:cNvSpPr txBox="1">
                  <a:spLocks noRot="1" noChangeAspect="1" noMove="1" noResize="1" noEditPoints="1" noAdjustHandles="1" noChangeArrowheads="1" noChangeShapeType="1" noTextEdit="1"/>
                </p:cNvSpPr>
                <p:nvPr/>
              </p:nvSpPr>
              <p:spPr bwMode="auto">
                <a:xfrm>
                  <a:off x="4608" y="4851"/>
                  <a:ext cx="352" cy="235"/>
                </a:xfrm>
                <a:prstGeom prst="rect">
                  <a:avLst/>
                </a:prstGeom>
                <a:blipFill rotWithShape="1">
                  <a:blip r:embed="rId12"/>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798" name="Object 7"/>
                <p:cNvSpPr txBox="1"/>
                <p:nvPr/>
              </p:nvSpPr>
              <p:spPr bwMode="auto">
                <a:xfrm>
                  <a:off x="3550" y="5039"/>
                  <a:ext cx="448" cy="318"/>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798" name="Object 7"/>
                <p:cNvSpPr txBox="1">
                  <a:spLocks noRot="1" noChangeAspect="1" noMove="1" noResize="1" noEditPoints="1" noAdjustHandles="1" noChangeArrowheads="1" noChangeShapeType="1" noTextEdit="1"/>
                </p:cNvSpPr>
                <p:nvPr/>
              </p:nvSpPr>
              <p:spPr bwMode="auto">
                <a:xfrm>
                  <a:off x="3550" y="5039"/>
                  <a:ext cx="448" cy="318"/>
                </a:xfrm>
                <a:prstGeom prst="rect">
                  <a:avLst/>
                </a:prstGeom>
                <a:blipFill rotWithShape="1">
                  <a:blip r:embed="rId15"/>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799" name="Object 8"/>
                <p:cNvSpPr txBox="1"/>
                <p:nvPr/>
              </p:nvSpPr>
              <p:spPr bwMode="auto">
                <a:xfrm>
                  <a:off x="4472" y="5104"/>
                  <a:ext cx="352" cy="235"/>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8799" name="Object 8"/>
                <p:cNvSpPr txBox="1">
                  <a:spLocks noRot="1" noChangeAspect="1" noMove="1" noResize="1" noEditPoints="1" noAdjustHandles="1" noChangeArrowheads="1" noChangeShapeType="1" noTextEdit="1"/>
                </p:cNvSpPr>
                <p:nvPr/>
              </p:nvSpPr>
              <p:spPr bwMode="auto">
                <a:xfrm>
                  <a:off x="4472" y="5104"/>
                  <a:ext cx="352" cy="235"/>
                </a:xfrm>
                <a:prstGeom prst="rect">
                  <a:avLst/>
                </a:prstGeom>
                <a:blipFill rotWithShape="1">
                  <a:blip r:embed="rId12"/>
                </a:blipFill>
                <a:ln>
                  <a:noFill/>
                </a:ln>
                <a:effectLst/>
              </p:spPr>
              <p:txBody>
                <a:bodyPr/>
                <a:lstStyle/>
                <a:p>
                  <a:r>
                    <a:rPr lang="zh-CN" altLang="en-US">
                      <a:noFill/>
                    </a:rPr>
                    <a:t> </a:t>
                  </a:r>
                </a:p>
              </p:txBody>
            </p:sp>
          </mc:Fallback>
        </mc:AlternateContent>
      </p:grpSp>
      <p:sp>
        <p:nvSpPr>
          <p:cNvPr id="34" name="日期占位符 33"/>
          <p:cNvSpPr>
            <a:spLocks noGrp="1"/>
          </p:cNvSpPr>
          <p:nvPr>
            <p:ph type="dt" sz="quarter" idx="10"/>
          </p:nvPr>
        </p:nvSpPr>
        <p:spPr/>
        <p:txBody>
          <a:bodyPr/>
          <a:lstStyle/>
          <a:p>
            <a:pPr>
              <a:defRPr/>
            </a:pPr>
            <a:fld id="{05F1D164-52B5-4155-88D0-2D68CA1B6ADA}" type="datetime3">
              <a:rPr lang="zh-CN" altLang="en-US"/>
              <a:t>2026年3月4日星期三</a:t>
            </a:fld>
            <a:endParaRPr lang="zh-CN" altLang="en-US" dirty="0"/>
          </a:p>
        </p:txBody>
      </p:sp>
    </p:spTree>
    <p:custDataLst>
      <p:tags r:id="rId1"/>
    </p:custDataLst>
  </p:cSld>
  <p:clrMapOvr>
    <a:masterClrMapping/>
  </p:clrMapOvr>
  <p:transition advTm="19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49315">
                                            <p:txEl>
                                              <p:pRg st="0" end="0"/>
                                            </p:txEl>
                                          </p:spTgt>
                                        </p:tgtEl>
                                        <p:attrNameLst>
                                          <p:attrName>style.visibility</p:attrName>
                                        </p:attrNameLst>
                                      </p:cBhvr>
                                      <p:to>
                                        <p:strVal val="visible"/>
                                      </p:to>
                                    </p:set>
                                    <p:anim calcmode="lin" valueType="num">
                                      <p:cBhvr>
                                        <p:cTn id="7" dur="1000" fill="hold"/>
                                        <p:tgtEl>
                                          <p:spTgt spid="154931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4931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4931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1000" fill="hold"/>
                                        <p:tgtEl>
                                          <p:spTgt spid="4"/>
                                        </p:tgtEl>
                                        <p:attrNameLst>
                                          <p:attrName>ppt_w</p:attrName>
                                        </p:attrNameLst>
                                      </p:cBhvr>
                                      <p:tavLst>
                                        <p:tav tm="0">
                                          <p:val>
                                            <p:strVal val="#ppt_w*0.70"/>
                                          </p:val>
                                        </p:tav>
                                        <p:tav tm="100000">
                                          <p:val>
                                            <p:strVal val="#ppt_w"/>
                                          </p:val>
                                        </p:tav>
                                      </p:tavLst>
                                    </p:anim>
                                    <p:anim calcmode="lin" valueType="num">
                                      <p:cBhvr>
                                        <p:cTn id="22" dur="1000" fill="hold"/>
                                        <p:tgtEl>
                                          <p:spTgt spid="4"/>
                                        </p:tgtEl>
                                        <p:attrNameLst>
                                          <p:attrName>ppt_h</p:attrName>
                                        </p:attrNameLst>
                                      </p:cBhvr>
                                      <p:tavLst>
                                        <p:tav tm="0">
                                          <p:val>
                                            <p:strVal val="#ppt_h"/>
                                          </p:val>
                                        </p:tav>
                                        <p:tav tm="100000">
                                          <p:val>
                                            <p:strVal val="#ppt_h"/>
                                          </p:val>
                                        </p:tav>
                                      </p:tavLst>
                                    </p:anim>
                                    <p:animEffect transition="in" filter="fade">
                                      <p:cBhvr>
                                        <p:cTn id="23" dur="1000"/>
                                        <p:tgtEl>
                                          <p:spTgt spid="4"/>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000" fill="hold"/>
                                        <p:tgtEl>
                                          <p:spTgt spid="6"/>
                                        </p:tgtEl>
                                        <p:attrNameLst>
                                          <p:attrName>ppt_w</p:attrName>
                                        </p:attrNameLst>
                                      </p:cBhvr>
                                      <p:tavLst>
                                        <p:tav tm="0">
                                          <p:val>
                                            <p:strVal val="#ppt_w*0.70"/>
                                          </p:val>
                                        </p:tav>
                                        <p:tav tm="100000">
                                          <p:val>
                                            <p:strVal val="#ppt_w"/>
                                          </p:val>
                                        </p:tav>
                                      </p:tavLst>
                                    </p:anim>
                                    <p:anim calcmode="lin" valueType="num">
                                      <p:cBhvr>
                                        <p:cTn id="28" dur="1000" fill="hold"/>
                                        <p:tgtEl>
                                          <p:spTgt spid="6"/>
                                        </p:tgtEl>
                                        <p:attrNameLst>
                                          <p:attrName>ppt_h</p:attrName>
                                        </p:attrNameLst>
                                      </p:cBhvr>
                                      <p:tavLst>
                                        <p:tav tm="0">
                                          <p:val>
                                            <p:strVal val="#ppt_h"/>
                                          </p:val>
                                        </p:tav>
                                        <p:tav tm="100000">
                                          <p:val>
                                            <p:strVal val="#ppt_h"/>
                                          </p:val>
                                        </p:tav>
                                      </p:tavLst>
                                    </p:anim>
                                    <p:animEffect transition="in" filter="fade">
                                      <p:cBhvr>
                                        <p:cTn id="2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9315"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body" sz="half" idx="1"/>
          </p:nvPr>
        </p:nvSpPr>
        <p:spPr>
          <a:xfrm>
            <a:off x="127000" y="714375"/>
            <a:ext cx="7496175" cy="465138"/>
          </a:xfrm>
          <a:solidFill>
            <a:schemeClr val="bg1"/>
          </a:solidFill>
          <a:effectLst>
            <a:outerShdw dist="35921" dir="2700000" algn="ctr" rotWithShape="0">
              <a:srgbClr val="808080"/>
            </a:outerShdw>
          </a:effectLst>
        </p:spPr>
        <p:txBody>
          <a:bodyPr/>
          <a:lstStyle/>
          <a:p>
            <a:pPr>
              <a:buFontTx/>
              <a:buNone/>
            </a:pPr>
            <a:r>
              <a:rPr lang="zh-CN" altLang="en-US" sz="2000" b="1">
                <a:solidFill>
                  <a:srgbClr val="FF0000"/>
                </a:solidFill>
              </a:rPr>
              <a:t>回顾：信号的分类</a:t>
            </a:r>
          </a:p>
        </p:txBody>
      </p:sp>
      <p:sp>
        <p:nvSpPr>
          <p:cNvPr id="27" name="日期占位符 26"/>
          <p:cNvSpPr>
            <a:spLocks noGrp="1"/>
          </p:cNvSpPr>
          <p:nvPr>
            <p:ph type="dt" sz="quarter" idx="10"/>
          </p:nvPr>
        </p:nvSpPr>
        <p:spPr/>
        <p:txBody>
          <a:bodyPr/>
          <a:lstStyle/>
          <a:p>
            <a:pPr>
              <a:defRPr/>
            </a:pPr>
            <a:fld id="{FACE6E1F-FDD1-4D8D-A855-2D4E37583ECF}" type="datetime3">
              <a:rPr lang="zh-CN" altLang="en-US"/>
              <a:t>2026年3月4日星期三</a:t>
            </a:fld>
            <a:endParaRPr lang="zh-CN" altLang="en-US" dirty="0"/>
          </a:p>
        </p:txBody>
      </p:sp>
      <p:sp>
        <p:nvSpPr>
          <p:cNvPr id="26" name="Rectangle 32"/>
          <p:cNvSpPr>
            <a:spLocks noChangeArrowheads="1"/>
          </p:cNvSpPr>
          <p:nvPr/>
        </p:nvSpPr>
        <p:spPr bwMode="auto">
          <a:xfrm>
            <a:off x="0" y="3014663"/>
            <a:ext cx="2716213"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1700">
                <a:solidFill>
                  <a:srgbClr val="FF33CC"/>
                </a:solidFill>
                <a:latin typeface="Times New Roman" panose="02020603050405020304" pitchFamily="18" charset="0"/>
                <a:ea typeface="宋体" panose="02010600030101010101" pitchFamily="2" charset="-122"/>
              </a:rPr>
              <a:t>按函数值的确定性可分为：</a:t>
            </a:r>
          </a:p>
        </p:txBody>
      </p:sp>
      <p:sp>
        <p:nvSpPr>
          <p:cNvPr id="28" name="AutoShape 5"/>
          <p:cNvSpPr/>
          <p:nvPr/>
        </p:nvSpPr>
        <p:spPr bwMode="auto">
          <a:xfrm>
            <a:off x="2661136" y="2568818"/>
            <a:ext cx="261296" cy="1211258"/>
          </a:xfrm>
          <a:prstGeom prst="leftBrace">
            <a:avLst>
              <a:gd name="adj1" fmla="val 7802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29" name="Text Box 6"/>
          <p:cNvSpPr txBox="1">
            <a:spLocks noChangeArrowheads="1"/>
          </p:cNvSpPr>
          <p:nvPr/>
        </p:nvSpPr>
        <p:spPr bwMode="auto">
          <a:xfrm>
            <a:off x="2909367" y="2505970"/>
            <a:ext cx="1555797" cy="1333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200" dirty="0">
                <a:latin typeface="Times New Roman" panose="02020603050405020304" pitchFamily="18" charset="0"/>
                <a:ea typeface="宋体" panose="02010600030101010101" pitchFamily="2" charset="-122"/>
              </a:rPr>
              <a:t>确定信号</a:t>
            </a:r>
          </a:p>
          <a:p>
            <a:pPr eaLnBrk="1" hangingPunct="1">
              <a:lnSpc>
                <a:spcPct val="85000"/>
              </a:lnSpc>
              <a:spcBef>
                <a:spcPct val="50000"/>
              </a:spcBef>
              <a:buClr>
                <a:schemeClr val="accent2"/>
              </a:buClr>
              <a:buFont typeface="Wingdings" panose="05000000000000000000" pitchFamily="2" charset="2"/>
              <a:buNone/>
            </a:pPr>
            <a:endParaRPr lang="zh-CN" altLang="en-US" sz="2200" dirty="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r>
              <a:rPr lang="zh-CN" altLang="en-US" sz="2200" dirty="0">
                <a:latin typeface="Times New Roman" panose="02020603050405020304" pitchFamily="18" charset="0"/>
                <a:ea typeface="宋体" panose="02010600030101010101" pitchFamily="2" charset="-122"/>
              </a:rPr>
              <a:t>随机信号</a:t>
            </a:r>
          </a:p>
        </p:txBody>
      </p:sp>
      <p:sp>
        <p:nvSpPr>
          <p:cNvPr id="30" name="AutoShape 7"/>
          <p:cNvSpPr/>
          <p:nvPr/>
        </p:nvSpPr>
        <p:spPr bwMode="auto">
          <a:xfrm>
            <a:off x="6763476" y="2271718"/>
            <a:ext cx="145890" cy="666192"/>
          </a:xfrm>
          <a:prstGeom prst="leftBrace">
            <a:avLst>
              <a:gd name="adj1" fmla="val 5569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31" name="Text Box 8"/>
          <p:cNvSpPr txBox="1">
            <a:spLocks noChangeArrowheads="1"/>
          </p:cNvSpPr>
          <p:nvPr/>
        </p:nvSpPr>
        <p:spPr bwMode="auto">
          <a:xfrm>
            <a:off x="6860373" y="2131166"/>
            <a:ext cx="1979313" cy="87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连续时间信号</a:t>
            </a:r>
          </a:p>
          <a:p>
            <a:pPr eaLnBrk="1" hangingPunct="1">
              <a:lnSpc>
                <a:spcPct val="85000"/>
              </a:lnSpc>
              <a:spcBef>
                <a:spcPct val="5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离散时间信号</a:t>
            </a:r>
          </a:p>
        </p:txBody>
      </p:sp>
      <p:sp>
        <p:nvSpPr>
          <p:cNvPr id="32" name="Rectangle 26"/>
          <p:cNvSpPr>
            <a:spLocks noChangeArrowheads="1"/>
          </p:cNvSpPr>
          <p:nvPr/>
        </p:nvSpPr>
        <p:spPr bwMode="auto">
          <a:xfrm>
            <a:off x="4229998" y="2093457"/>
            <a:ext cx="2519324" cy="36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1700" dirty="0">
                <a:solidFill>
                  <a:schemeClr val="hlink"/>
                </a:solidFill>
                <a:latin typeface="Times New Roman" panose="02020603050405020304" pitchFamily="18" charset="0"/>
                <a:ea typeface="宋体" panose="02010600030101010101" pitchFamily="2" charset="-122"/>
              </a:rPr>
              <a:t>按时间是否连续可分为：</a:t>
            </a:r>
          </a:p>
        </p:txBody>
      </p:sp>
      <p:sp>
        <p:nvSpPr>
          <p:cNvPr id="33" name="Line 27"/>
          <p:cNvSpPr>
            <a:spLocks noChangeShapeType="1"/>
          </p:cNvSpPr>
          <p:nvPr/>
        </p:nvSpPr>
        <p:spPr bwMode="auto">
          <a:xfrm>
            <a:off x="4786340" y="2627096"/>
            <a:ext cx="1481763" cy="0"/>
          </a:xfrm>
          <a:prstGeom prst="line">
            <a:avLst/>
          </a:prstGeom>
          <a:noFill/>
          <a:ln w="57150" cap="sq">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sp>
        <p:nvSpPr>
          <p:cNvPr id="34" name="Line 30"/>
          <p:cNvSpPr>
            <a:spLocks noChangeShapeType="1"/>
          </p:cNvSpPr>
          <p:nvPr/>
        </p:nvSpPr>
        <p:spPr bwMode="auto">
          <a:xfrm>
            <a:off x="4364189" y="2873383"/>
            <a:ext cx="1999999" cy="1067278"/>
          </a:xfrm>
          <a:prstGeom prst="line">
            <a:avLst/>
          </a:prstGeom>
          <a:noFill/>
          <a:ln w="5715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sp>
        <p:nvSpPr>
          <p:cNvPr id="35" name="Rectangle 31"/>
          <p:cNvSpPr>
            <a:spLocks noChangeArrowheads="1"/>
          </p:cNvSpPr>
          <p:nvPr/>
        </p:nvSpPr>
        <p:spPr bwMode="auto">
          <a:xfrm>
            <a:off x="4745245" y="3120205"/>
            <a:ext cx="1676646" cy="4936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1700">
                <a:solidFill>
                  <a:srgbClr val="FF0000"/>
                </a:solidFill>
                <a:latin typeface="Times New Roman" panose="02020603050405020304" pitchFamily="18" charset="0"/>
                <a:ea typeface="宋体" panose="02010600030101010101" pitchFamily="2" charset="-122"/>
              </a:rPr>
              <a:t>按函数值的重复性可分为：</a:t>
            </a:r>
          </a:p>
        </p:txBody>
      </p:sp>
      <p:sp>
        <p:nvSpPr>
          <p:cNvPr id="36" name="AutoShape 9"/>
          <p:cNvSpPr/>
          <p:nvPr/>
        </p:nvSpPr>
        <p:spPr bwMode="auto">
          <a:xfrm>
            <a:off x="6646169" y="3568141"/>
            <a:ext cx="183996" cy="801030"/>
          </a:xfrm>
          <a:prstGeom prst="leftBrace">
            <a:avLst>
              <a:gd name="adj1" fmla="val 43649"/>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37" name="Text Box 10"/>
          <p:cNvSpPr txBox="1">
            <a:spLocks noChangeArrowheads="1"/>
          </p:cNvSpPr>
          <p:nvPr/>
        </p:nvSpPr>
        <p:spPr bwMode="auto">
          <a:xfrm>
            <a:off x="6854117" y="3524719"/>
            <a:ext cx="2029395" cy="87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周期性信号</a:t>
            </a:r>
          </a:p>
          <a:p>
            <a:pPr eaLnBrk="1" hangingPunct="1">
              <a:lnSpc>
                <a:spcPct val="85000"/>
              </a:lnSpc>
              <a:spcBef>
                <a:spcPct val="5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非周期性信号</a:t>
            </a:r>
          </a:p>
        </p:txBody>
      </p:sp>
      <p:sp>
        <p:nvSpPr>
          <p:cNvPr id="38" name="AutoShape 11"/>
          <p:cNvSpPr/>
          <p:nvPr/>
        </p:nvSpPr>
        <p:spPr bwMode="auto">
          <a:xfrm>
            <a:off x="2936645" y="4744696"/>
            <a:ext cx="176374" cy="813600"/>
          </a:xfrm>
          <a:prstGeom prst="leftBrace">
            <a:avLst>
              <a:gd name="adj1" fmla="val 5933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39" name="Text Box 12"/>
          <p:cNvSpPr txBox="1">
            <a:spLocks noChangeArrowheads="1"/>
          </p:cNvSpPr>
          <p:nvPr/>
        </p:nvSpPr>
        <p:spPr bwMode="auto">
          <a:xfrm>
            <a:off x="3202295" y="4686418"/>
            <a:ext cx="1494828" cy="87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200" dirty="0">
                <a:latin typeface="Times New Roman" panose="02020603050405020304" pitchFamily="18" charset="0"/>
                <a:ea typeface="宋体" panose="02010600030101010101" pitchFamily="2" charset="-122"/>
              </a:rPr>
              <a:t>能量信号</a:t>
            </a:r>
          </a:p>
          <a:p>
            <a:pPr eaLnBrk="1" hangingPunct="1">
              <a:lnSpc>
                <a:spcPct val="85000"/>
              </a:lnSpc>
              <a:spcBef>
                <a:spcPct val="50000"/>
              </a:spcBef>
              <a:buClr>
                <a:schemeClr val="accent2"/>
              </a:buClr>
              <a:buFont typeface="Wingdings" panose="05000000000000000000" pitchFamily="2" charset="2"/>
              <a:buNone/>
            </a:pPr>
            <a:r>
              <a:rPr lang="zh-CN" altLang="en-US" sz="2200" dirty="0">
                <a:latin typeface="Times New Roman" panose="02020603050405020304" pitchFamily="18" charset="0"/>
                <a:ea typeface="宋体" panose="02010600030101010101" pitchFamily="2" charset="-122"/>
              </a:rPr>
              <a:t>功率信号</a:t>
            </a:r>
          </a:p>
        </p:txBody>
      </p:sp>
      <p:sp>
        <p:nvSpPr>
          <p:cNvPr id="40" name="Rectangle 20"/>
          <p:cNvSpPr>
            <a:spLocks noChangeArrowheads="1"/>
          </p:cNvSpPr>
          <p:nvPr/>
        </p:nvSpPr>
        <p:spPr bwMode="auto">
          <a:xfrm>
            <a:off x="177800" y="4809829"/>
            <a:ext cx="2716384" cy="414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1700" dirty="0">
                <a:solidFill>
                  <a:srgbClr val="FF33CC"/>
                </a:solidFill>
                <a:latin typeface="Times New Roman" panose="02020603050405020304" pitchFamily="18" charset="0"/>
                <a:ea typeface="宋体" panose="02010600030101010101" pitchFamily="2" charset="-122"/>
              </a:rPr>
              <a:t>根据能量特性，可分为：</a:t>
            </a:r>
          </a:p>
        </p:txBody>
      </p:sp>
    </p:spTree>
  </p:cSld>
  <p:clrMapOvr>
    <a:masterClrMapping/>
  </p:clrMapOvr>
  <p:transition advTm="2295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500" fill="hold"/>
                                        <p:tgtEl>
                                          <p:spTgt spid="34"/>
                                        </p:tgtEl>
                                        <p:attrNameLst>
                                          <p:attrName>ppt_x</p:attrName>
                                        </p:attrNameLst>
                                      </p:cBhvr>
                                      <p:tavLst>
                                        <p:tav tm="0">
                                          <p:val>
                                            <p:strVal val="#ppt_x"/>
                                          </p:val>
                                        </p:tav>
                                        <p:tav tm="100000">
                                          <p:val>
                                            <p:strVal val="#ppt_x"/>
                                          </p:val>
                                        </p:tav>
                                      </p:tavLst>
                                    </p:anim>
                                    <p:anim calcmode="lin" valueType="num">
                                      <p:cBhvr additive="base">
                                        <p:cTn id="28" dur="500" fill="hold"/>
                                        <p:tgtEl>
                                          <p:spTgt spid="3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 calcmode="lin" valueType="num">
                                      <p:cBhvr additive="base">
                                        <p:cTn id="31" dur="500" fill="hold"/>
                                        <p:tgtEl>
                                          <p:spTgt spid="35"/>
                                        </p:tgtEl>
                                        <p:attrNameLst>
                                          <p:attrName>ppt_x</p:attrName>
                                        </p:attrNameLst>
                                      </p:cBhvr>
                                      <p:tavLst>
                                        <p:tav tm="0">
                                          <p:val>
                                            <p:strVal val="#ppt_x"/>
                                          </p:val>
                                        </p:tav>
                                        <p:tav tm="100000">
                                          <p:val>
                                            <p:strVal val="#ppt_x"/>
                                          </p:val>
                                        </p:tav>
                                      </p:tavLst>
                                    </p:anim>
                                    <p:anim calcmode="lin" valueType="num">
                                      <p:cBhvr additive="base">
                                        <p:cTn id="32" dur="500" fill="hold"/>
                                        <p:tgtEl>
                                          <p:spTgt spid="3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ppt_x"/>
                                          </p:val>
                                        </p:tav>
                                        <p:tav tm="100000">
                                          <p:val>
                                            <p:strVal val="#ppt_x"/>
                                          </p:val>
                                        </p:tav>
                                      </p:tavLst>
                                    </p:anim>
                                    <p:anim calcmode="lin" valueType="num">
                                      <p:cBhvr additive="base">
                                        <p:cTn id="36" dur="500" fill="hold"/>
                                        <p:tgtEl>
                                          <p:spTgt spid="3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 calcmode="lin" valueType="num">
                                      <p:cBhvr additive="base">
                                        <p:cTn id="39" dur="500" fill="hold"/>
                                        <p:tgtEl>
                                          <p:spTgt spid="37"/>
                                        </p:tgtEl>
                                        <p:attrNameLst>
                                          <p:attrName>ppt_x</p:attrName>
                                        </p:attrNameLst>
                                      </p:cBhvr>
                                      <p:tavLst>
                                        <p:tav tm="0">
                                          <p:val>
                                            <p:strVal val="#ppt_x"/>
                                          </p:val>
                                        </p:tav>
                                        <p:tav tm="100000">
                                          <p:val>
                                            <p:strVal val="#ppt_x"/>
                                          </p:val>
                                        </p:tav>
                                      </p:tavLst>
                                    </p:anim>
                                    <p:anim calcmode="lin" valueType="num">
                                      <p:cBhvr additive="base">
                                        <p:cTn id="4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barn(inVertical)">
                                      <p:cBhvr>
                                        <p:cTn id="45" dur="500"/>
                                        <p:tgtEl>
                                          <p:spTgt spid="38"/>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barn(inVertical)">
                                      <p:cBhvr>
                                        <p:cTn id="48" dur="500"/>
                                        <p:tgtEl>
                                          <p:spTgt spid="39"/>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barn(inVertical)">
                                      <p:cBhvr>
                                        <p:cTn id="5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p:bldP spid="30" grpId="0" animBg="1"/>
      <p:bldP spid="31" grpId="0"/>
      <p:bldP spid="32" grpId="0"/>
      <p:bldP spid="33" grpId="0" animBg="1"/>
      <p:bldP spid="34" grpId="0" animBg="1"/>
      <p:bldP spid="35" grpId="0" animBg="1"/>
      <p:bldP spid="36" grpId="0" animBg="1"/>
      <p:bldP spid="37" grpId="0"/>
      <p:bldP spid="38" grpId="0" animBg="1"/>
      <p:bldP spid="39" grpId="0"/>
      <p:bldP spid="4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0339" name="Rectangle 3"/>
          <p:cNvSpPr>
            <a:spLocks noGrp="1" noChangeArrowheads="1"/>
          </p:cNvSpPr>
          <p:nvPr>
            <p:ph type="body" sz="half" idx="1"/>
          </p:nvPr>
        </p:nvSpPr>
        <p:spPr>
          <a:xfrm>
            <a:off x="622300" y="1200150"/>
            <a:ext cx="985838" cy="622300"/>
          </a:xfrm>
        </p:spPr>
        <p:txBody>
          <a:bodyPr/>
          <a:lstStyle/>
          <a:p>
            <a:pPr marL="758825" indent="-758825">
              <a:lnSpc>
                <a:spcPct val="145000"/>
              </a:lnSpc>
              <a:buFont typeface="Wingdings" panose="05000000000000000000" pitchFamily="2" charset="2"/>
              <a:buNone/>
            </a:pPr>
            <a:r>
              <a:rPr lang="zh-CN" altLang="en-US" sz="2000" b="1">
                <a:solidFill>
                  <a:srgbClr val="FF0000"/>
                </a:solidFill>
              </a:rPr>
              <a:t>定义：</a:t>
            </a:r>
            <a:endParaRPr lang="zh-CN" altLang="en-US" sz="2000" b="1"/>
          </a:p>
        </p:txBody>
      </p:sp>
      <p:grpSp>
        <p:nvGrpSpPr>
          <p:cNvPr id="2" name="Group 4"/>
          <p:cNvGrpSpPr/>
          <p:nvPr/>
        </p:nvGrpSpPr>
        <p:grpSpPr bwMode="auto">
          <a:xfrm>
            <a:off x="2201863" y="2838450"/>
            <a:ext cx="4878387" cy="1914525"/>
            <a:chOff x="1156" y="2296"/>
            <a:chExt cx="2890" cy="1548"/>
          </a:xfrm>
        </p:grpSpPr>
        <p:pic>
          <p:nvPicPr>
            <p:cNvPr id="120842" name="Picture 5" descr="7"/>
            <p:cNvPicPr>
              <a:picLocks noChangeAspect="1" noChangeArrowheads="1"/>
            </p:cNvPicPr>
            <p:nvPr/>
          </p:nvPicPr>
          <p:blipFill>
            <a:blip r:embed="rId4">
              <a:biLevel thresh="50000"/>
              <a:grayscl/>
              <a:lum bright="-6000" contrast="12000"/>
              <a:extLst>
                <a:ext uri="{28A0092B-C50C-407E-A947-70E740481C1C}">
                  <a14:useLocalDpi xmlns:a14="http://schemas.microsoft.com/office/drawing/2010/main" val="0"/>
                </a:ext>
              </a:extLst>
            </a:blip>
            <a:srcRect/>
            <a:stretch>
              <a:fillRect/>
            </a:stretch>
          </p:blipFill>
          <p:spPr bwMode="auto">
            <a:xfrm>
              <a:off x="1431" y="3116"/>
              <a:ext cx="2494"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43" name="Text Box 6"/>
            <p:cNvSpPr txBox="1">
              <a:spLocks noChangeArrowheads="1"/>
            </p:cNvSpPr>
            <p:nvPr/>
          </p:nvSpPr>
          <p:spPr bwMode="auto">
            <a:xfrm>
              <a:off x="2018" y="3566"/>
              <a:ext cx="1860"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系统的方框图</a:t>
              </a:r>
            </a:p>
          </p:txBody>
        </p:sp>
        <p:sp>
          <p:nvSpPr>
            <p:cNvPr id="120844" name="AutoShape 7"/>
            <p:cNvSpPr/>
            <p:nvPr/>
          </p:nvSpPr>
          <p:spPr bwMode="auto">
            <a:xfrm>
              <a:off x="1156" y="2341"/>
              <a:ext cx="681" cy="545"/>
            </a:xfrm>
            <a:prstGeom prst="borderCallout3">
              <a:avLst>
                <a:gd name="adj1" fmla="val 13213"/>
                <a:gd name="adj2" fmla="val -7046"/>
                <a:gd name="adj3" fmla="val 13213"/>
                <a:gd name="adj4" fmla="val -100292"/>
                <a:gd name="adj5" fmla="val 85870"/>
                <a:gd name="adj6" fmla="val -100292"/>
                <a:gd name="adj7" fmla="val 135963"/>
                <a:gd name="adj8" fmla="val 2041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130622" tIns="65311" rIns="130622" bIns="65311"/>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400">
                  <a:solidFill>
                    <a:srgbClr val="0000FF"/>
                  </a:solidFill>
                  <a:latin typeface="Times New Roman" panose="02020603050405020304" pitchFamily="18" charset="0"/>
                  <a:ea typeface="宋体" panose="02010600030101010101" pitchFamily="2" charset="-122"/>
                </a:rPr>
                <a:t>(</a:t>
              </a:r>
              <a:r>
                <a:rPr lang="zh-CN" altLang="en-US" sz="2400">
                  <a:solidFill>
                    <a:srgbClr val="0000FF"/>
                  </a:solidFill>
                  <a:latin typeface="Times New Roman" panose="02020603050405020304" pitchFamily="18" charset="0"/>
                  <a:ea typeface="宋体" panose="02010600030101010101" pitchFamily="2" charset="-122"/>
                </a:rPr>
                <a:t>输入</a:t>
              </a:r>
              <a:r>
                <a:rPr lang="en-US" altLang="zh-CN" sz="2400">
                  <a:solidFill>
                    <a:srgbClr val="0000FF"/>
                  </a:solidFill>
                  <a:latin typeface="Times New Roman" panose="02020603050405020304" pitchFamily="18" charset="0"/>
                  <a:ea typeface="宋体" panose="02010600030101010101" pitchFamily="2" charset="-122"/>
                </a:rPr>
                <a:t>)</a:t>
              </a:r>
              <a:r>
                <a:rPr lang="zh-CN" altLang="en-US" sz="2400">
                  <a:solidFill>
                    <a:srgbClr val="0000FF"/>
                  </a:solidFill>
                  <a:latin typeface="Times New Roman" panose="02020603050405020304" pitchFamily="18" charset="0"/>
                  <a:ea typeface="宋体" panose="02010600030101010101" pitchFamily="2" charset="-122"/>
                </a:rPr>
                <a:t>激励</a:t>
              </a:r>
            </a:p>
          </p:txBody>
        </p:sp>
        <p:sp>
          <p:nvSpPr>
            <p:cNvPr id="120845" name="AutoShape 8"/>
            <p:cNvSpPr/>
            <p:nvPr/>
          </p:nvSpPr>
          <p:spPr bwMode="auto">
            <a:xfrm>
              <a:off x="3243" y="2296"/>
              <a:ext cx="803" cy="499"/>
            </a:xfrm>
            <a:prstGeom prst="borderCallout3">
              <a:avLst>
                <a:gd name="adj1" fmla="val 14431"/>
                <a:gd name="adj2" fmla="val 105977"/>
                <a:gd name="adj3" fmla="val 14431"/>
                <a:gd name="adj4" fmla="val 173102"/>
                <a:gd name="adj5" fmla="val 108014"/>
                <a:gd name="adj6" fmla="val 173102"/>
                <a:gd name="adj7" fmla="val 156111"/>
                <a:gd name="adj8" fmla="val 98505"/>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130622" tIns="65311" rIns="130622" bIns="65311"/>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400">
                  <a:solidFill>
                    <a:srgbClr val="33CC33"/>
                  </a:solidFill>
                  <a:latin typeface="Times New Roman" panose="02020603050405020304" pitchFamily="18" charset="0"/>
                  <a:ea typeface="宋体" panose="02010600030101010101" pitchFamily="2" charset="-122"/>
                </a:rPr>
                <a:t>(</a:t>
              </a:r>
              <a:r>
                <a:rPr lang="zh-CN" altLang="en-US" sz="2400">
                  <a:solidFill>
                    <a:srgbClr val="33CC33"/>
                  </a:solidFill>
                  <a:latin typeface="Times New Roman" panose="02020603050405020304" pitchFamily="18" charset="0"/>
                  <a:ea typeface="宋体" panose="02010600030101010101" pitchFamily="2" charset="-122"/>
                </a:rPr>
                <a:t>输出</a:t>
              </a:r>
              <a:r>
                <a:rPr lang="en-US" altLang="zh-CN" sz="2400">
                  <a:solidFill>
                    <a:srgbClr val="33CC33"/>
                  </a:solidFill>
                  <a:latin typeface="Times New Roman" panose="02020603050405020304" pitchFamily="18" charset="0"/>
                  <a:ea typeface="宋体" panose="02010600030101010101" pitchFamily="2" charset="-122"/>
                </a:rPr>
                <a:t>)</a:t>
              </a:r>
              <a:r>
                <a:rPr lang="zh-CN" altLang="en-US" sz="2400">
                  <a:solidFill>
                    <a:srgbClr val="33CC33"/>
                  </a:solidFill>
                  <a:latin typeface="Times New Roman" panose="02020603050405020304" pitchFamily="18" charset="0"/>
                  <a:ea typeface="宋体" panose="02010600030101010101" pitchFamily="2" charset="-122"/>
                </a:rPr>
                <a:t>响应</a:t>
              </a:r>
            </a:p>
            <a:p>
              <a:pPr algn="ctr" eaLnBrk="1" hangingPunct="1">
                <a:lnSpc>
                  <a:spcPct val="85000"/>
                </a:lnSpc>
                <a:spcBef>
                  <a:spcPct val="20000"/>
                </a:spcBef>
                <a:buClr>
                  <a:schemeClr val="accent2"/>
                </a:buClr>
                <a:buFont typeface="Wingdings" panose="05000000000000000000" pitchFamily="2" charset="2"/>
                <a:buNone/>
              </a:pPr>
              <a:endParaRPr lang="en-US" altLang="zh-CN" sz="2400">
                <a:solidFill>
                  <a:srgbClr val="33CC33"/>
                </a:solidFill>
                <a:latin typeface="Times New Roman" panose="02020603050405020304" pitchFamily="18" charset="0"/>
                <a:ea typeface="宋体" panose="02010600030101010101" pitchFamily="2" charset="-122"/>
              </a:endParaRPr>
            </a:p>
          </p:txBody>
        </p:sp>
      </p:grpSp>
      <p:sp>
        <p:nvSpPr>
          <p:cNvPr id="1550345" name="Text Box 9"/>
          <p:cNvSpPr txBox="1">
            <a:spLocks noChangeArrowheads="1"/>
          </p:cNvSpPr>
          <p:nvPr/>
        </p:nvSpPr>
        <p:spPr bwMode="auto">
          <a:xfrm>
            <a:off x="476250" y="4856163"/>
            <a:ext cx="7904163"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en-US" altLang="zh-CN" sz="2000">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系统的功能和特性就是通过由怎样的</a:t>
            </a:r>
            <a:r>
              <a:rPr lang="zh-CN" altLang="en-US" sz="2000">
                <a:solidFill>
                  <a:srgbClr val="FF0000"/>
                </a:solidFill>
                <a:latin typeface="Times New Roman" panose="02020603050405020304" pitchFamily="18" charset="0"/>
                <a:ea typeface="宋体" panose="02010600030101010101" pitchFamily="2" charset="-122"/>
              </a:rPr>
              <a:t>激励</a:t>
            </a:r>
            <a:r>
              <a:rPr lang="zh-CN" altLang="en-US" sz="2000">
                <a:latin typeface="Times New Roman" panose="02020603050405020304" pitchFamily="18" charset="0"/>
                <a:ea typeface="宋体" panose="02010600030101010101" pitchFamily="2" charset="-122"/>
              </a:rPr>
              <a:t>产生怎样的</a:t>
            </a:r>
            <a:r>
              <a:rPr lang="zh-CN" altLang="en-US" sz="2000">
                <a:solidFill>
                  <a:srgbClr val="FF0000"/>
                </a:solidFill>
                <a:latin typeface="Times New Roman" panose="02020603050405020304" pitchFamily="18" charset="0"/>
                <a:ea typeface="宋体" panose="02010600030101010101" pitchFamily="2" charset="-122"/>
              </a:rPr>
              <a:t>响应</a:t>
            </a:r>
            <a:r>
              <a:rPr lang="zh-CN" altLang="en-US" sz="2000">
                <a:latin typeface="Times New Roman" panose="02020603050405020304" pitchFamily="18" charset="0"/>
                <a:ea typeface="宋体" panose="02010600030101010101" pitchFamily="2" charset="-122"/>
              </a:rPr>
              <a:t>来体现的。</a:t>
            </a:r>
          </a:p>
        </p:txBody>
      </p:sp>
      <p:sp>
        <p:nvSpPr>
          <p:cNvPr id="120837" name="Rectangle 11"/>
          <p:cNvSpPr>
            <a:spLocks noChangeArrowheads="1"/>
          </p:cNvSpPr>
          <p:nvPr/>
        </p:nvSpPr>
        <p:spPr bwMode="auto">
          <a:xfrm>
            <a:off x="177800" y="630238"/>
            <a:ext cx="35544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50349" name="Rectangle 13"/>
          <p:cNvSpPr>
            <a:spLocks noChangeArrowheads="1"/>
          </p:cNvSpPr>
          <p:nvPr/>
        </p:nvSpPr>
        <p:spPr bwMode="auto">
          <a:xfrm>
            <a:off x="1511300" y="1095375"/>
            <a:ext cx="7410450" cy="935038"/>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indent="3733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20000"/>
              </a:spcBef>
              <a:buClr>
                <a:schemeClr val="accent2"/>
              </a:buClr>
              <a:buFont typeface="Wingdings" panose="05000000000000000000" pitchFamily="2" charset="2"/>
              <a:buNone/>
            </a:pPr>
            <a:r>
              <a:rPr lang="zh-CN" altLang="en-US" sz="1700">
                <a:solidFill>
                  <a:srgbClr val="0000FF"/>
                </a:solidFill>
                <a:latin typeface="Times New Roman" panose="02020603050405020304" pitchFamily="18" charset="0"/>
                <a:ea typeface="宋体" panose="02010600030101010101" pitchFamily="2" charset="-122"/>
              </a:rPr>
              <a:t>由若干相互关联，相互作用的单元组成的具有某种特定功能以用来达到某些特定目的的有机整体。</a:t>
            </a:r>
          </a:p>
        </p:txBody>
      </p:sp>
      <p:sp>
        <p:nvSpPr>
          <p:cNvPr id="1550350" name="Rectangle 14"/>
          <p:cNvSpPr>
            <a:spLocks noChangeArrowheads="1"/>
          </p:cNvSpPr>
          <p:nvPr/>
        </p:nvSpPr>
        <p:spPr bwMode="auto">
          <a:xfrm>
            <a:off x="868363" y="2133600"/>
            <a:ext cx="37036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2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系统的功能，可以用下图来表示：</a:t>
            </a:r>
          </a:p>
        </p:txBody>
      </p:sp>
      <p:sp>
        <p:nvSpPr>
          <p:cNvPr id="14" name="日期占位符 13"/>
          <p:cNvSpPr>
            <a:spLocks noGrp="1"/>
          </p:cNvSpPr>
          <p:nvPr>
            <p:ph type="dt" sz="quarter" idx="10"/>
          </p:nvPr>
        </p:nvSpPr>
        <p:spPr>
          <a:xfrm>
            <a:off x="0" y="6475413"/>
            <a:ext cx="1492250" cy="382587"/>
          </a:xfrm>
        </p:spPr>
        <p:txBody>
          <a:bodyPr/>
          <a:lstStyle/>
          <a:p>
            <a:pPr>
              <a:defRPr/>
            </a:pPr>
            <a:fld id="{478B7187-9927-47FD-9181-D520CB29F910}" type="datetime3">
              <a:rPr lang="zh-CN" altLang="en-US"/>
              <a:t>2026年3月4日星期三</a:t>
            </a:fld>
            <a:r>
              <a:rPr lang="en-US" altLang="zh-CN"/>
              <a:t>**</a:t>
            </a:r>
            <a:endParaRPr lang="zh-CN" altLang="en-US" dirty="0"/>
          </a:p>
        </p:txBody>
      </p:sp>
      <p:sp>
        <p:nvSpPr>
          <p:cNvPr id="13" name="Rectangle 13"/>
          <p:cNvSpPr>
            <a:spLocks noChangeArrowheads="1"/>
          </p:cNvSpPr>
          <p:nvPr/>
        </p:nvSpPr>
        <p:spPr bwMode="auto">
          <a:xfrm>
            <a:off x="63500" y="5389563"/>
            <a:ext cx="9017000" cy="1385887"/>
          </a:xfrm>
          <a:prstGeom prst="rect">
            <a:avLst/>
          </a:prstGeom>
          <a:solidFill>
            <a:schemeClr val="bg1"/>
          </a:solidFill>
          <a:ln w="9525">
            <a:solidFill>
              <a:srgbClr val="000000"/>
            </a:solidFill>
            <a:miter lim="800000"/>
          </a:ln>
          <a:effectLst>
            <a:outerShdw dist="35921" dir="2700000" algn="ctr" rotWithShape="0">
              <a:srgbClr val="808080"/>
            </a:outerShdw>
          </a:effectLst>
        </p:spPr>
        <p:txBody>
          <a:bodyPr lIns="130618" tIns="65309" rIns="130618" bIns="65309"/>
          <a:lstStyle>
            <a:lvl1pPr indent="533400" defTabSz="1306195">
              <a:spcBef>
                <a:spcPct val="20000"/>
              </a:spcBef>
              <a:buChar char="•"/>
              <a:defRPr kumimoji="1" sz="3600" b="1">
                <a:solidFill>
                  <a:schemeClr val="accent2"/>
                </a:solidFill>
                <a:latin typeface="Times New Roman" panose="02020603050405020304" pitchFamily="18" charset="0"/>
                <a:ea typeface="宋体" panose="02010600030101010101" pitchFamily="2" charset="-122"/>
              </a:defRPr>
            </a:lvl1pPr>
            <a:lvl2pPr marL="742950" indent="-285750" defTabSz="1306195">
              <a:spcBef>
                <a:spcPct val="20000"/>
              </a:spcBef>
              <a:defRPr kumimoji="1" sz="3000">
                <a:solidFill>
                  <a:schemeClr val="tx1"/>
                </a:solidFill>
                <a:latin typeface="Times New Roman" panose="02020603050405020304" pitchFamily="18" charset="0"/>
                <a:ea typeface="宋体" panose="02010600030101010101" pitchFamily="2" charset="-122"/>
              </a:defRPr>
            </a:lvl2pPr>
            <a:lvl3pPr marL="1143000" indent="-228600" defTabSz="1306195">
              <a:spcBef>
                <a:spcPct val="20000"/>
              </a:spcBef>
              <a:buChar char="•"/>
              <a:defRPr kumimoji="1" sz="3500">
                <a:solidFill>
                  <a:schemeClr val="tx1"/>
                </a:solidFill>
                <a:latin typeface="Times New Roman" panose="02020603050405020304" pitchFamily="18" charset="0"/>
                <a:ea typeface="宋体" panose="02010600030101010101" pitchFamily="2" charset="-122"/>
              </a:defRPr>
            </a:lvl3pPr>
            <a:lvl4pPr marL="1600200" indent="-228600" defTabSz="1306195">
              <a:spcBef>
                <a:spcPct val="20000"/>
              </a:spcBef>
              <a:buChar char="–"/>
              <a:defRPr kumimoji="1" sz="2900">
                <a:solidFill>
                  <a:schemeClr val="tx1"/>
                </a:solidFill>
                <a:latin typeface="Times New Roman" panose="02020603050405020304" pitchFamily="18" charset="0"/>
                <a:ea typeface="宋体" panose="02010600030101010101" pitchFamily="2" charset="-122"/>
              </a:defRPr>
            </a:lvl4pPr>
            <a:lvl5pPr marL="2057400" indent="-228600" defTabSz="1306195">
              <a:spcBef>
                <a:spcPct val="20000"/>
              </a:spcBef>
              <a:buChar char="»"/>
              <a:defRPr kumimoji="1" sz="2900">
                <a:solidFill>
                  <a:schemeClr val="tx1"/>
                </a:solidFill>
                <a:latin typeface="Times New Roman" panose="02020603050405020304" pitchFamily="18" charset="0"/>
                <a:ea typeface="宋体" panose="02010600030101010101" pitchFamily="2" charset="-122"/>
              </a:defRPr>
            </a:lvl5pPr>
            <a:lvl6pPr marL="2514600" indent="-228600" defTabSz="1306195" eaLnBrk="0" fontAlgn="base" hangingPunct="0">
              <a:spcBef>
                <a:spcPct val="20000"/>
              </a:spcBef>
              <a:spcAft>
                <a:spcPct val="0"/>
              </a:spcAft>
              <a:buChar char="»"/>
              <a:defRPr kumimoji="1" sz="2900">
                <a:solidFill>
                  <a:schemeClr val="tx1"/>
                </a:solidFill>
                <a:latin typeface="Times New Roman" panose="02020603050405020304" pitchFamily="18" charset="0"/>
                <a:ea typeface="宋体" panose="02010600030101010101" pitchFamily="2" charset="-122"/>
              </a:defRPr>
            </a:lvl6pPr>
            <a:lvl7pPr marL="2971800" indent="-228600" defTabSz="1306195" eaLnBrk="0" fontAlgn="base" hangingPunct="0">
              <a:spcBef>
                <a:spcPct val="20000"/>
              </a:spcBef>
              <a:spcAft>
                <a:spcPct val="0"/>
              </a:spcAft>
              <a:buChar char="»"/>
              <a:defRPr kumimoji="1" sz="2900">
                <a:solidFill>
                  <a:schemeClr val="tx1"/>
                </a:solidFill>
                <a:latin typeface="Times New Roman" panose="02020603050405020304" pitchFamily="18" charset="0"/>
                <a:ea typeface="宋体" panose="02010600030101010101" pitchFamily="2" charset="-122"/>
              </a:defRPr>
            </a:lvl7pPr>
            <a:lvl8pPr marL="3429000" indent="-228600" defTabSz="1306195" eaLnBrk="0" fontAlgn="base" hangingPunct="0">
              <a:spcBef>
                <a:spcPct val="20000"/>
              </a:spcBef>
              <a:spcAft>
                <a:spcPct val="0"/>
              </a:spcAft>
              <a:buChar char="»"/>
              <a:defRPr kumimoji="1" sz="2900">
                <a:solidFill>
                  <a:schemeClr val="tx1"/>
                </a:solidFill>
                <a:latin typeface="Times New Roman" panose="02020603050405020304" pitchFamily="18" charset="0"/>
                <a:ea typeface="宋体" panose="02010600030101010101" pitchFamily="2" charset="-122"/>
              </a:defRPr>
            </a:lvl8pPr>
            <a:lvl9pPr marL="3886200" indent="-228600" defTabSz="1306195" eaLnBrk="0" fontAlgn="base" hangingPunct="0">
              <a:spcBef>
                <a:spcPct val="20000"/>
              </a:spcBef>
              <a:spcAft>
                <a:spcPct val="0"/>
              </a:spcAft>
              <a:buChar char="»"/>
              <a:defRPr kumimoji="1" sz="2900">
                <a:solidFill>
                  <a:schemeClr val="tx1"/>
                </a:solidFill>
                <a:latin typeface="Times New Roman" panose="02020603050405020304" pitchFamily="18" charset="0"/>
                <a:ea typeface="宋体" panose="02010600030101010101" pitchFamily="2" charset="-122"/>
              </a:defRPr>
            </a:lvl9pPr>
          </a:lstStyle>
          <a:p>
            <a:pPr>
              <a:lnSpc>
                <a:spcPct val="145000"/>
              </a:lnSpc>
              <a:buFont typeface="Wingdings" panose="05000000000000000000" pitchFamily="2" charset="2"/>
              <a:buChar char="l"/>
              <a:defRPr/>
            </a:pPr>
            <a:r>
              <a:rPr lang="zh-CN" altLang="en-US" sz="1800" dirty="0">
                <a:solidFill>
                  <a:schemeClr val="tx1"/>
                </a:solidFill>
                <a:sym typeface="+mn-ea"/>
              </a:rPr>
              <a:t>“信号”与“系统”的概念</a:t>
            </a:r>
            <a:r>
              <a:rPr lang="zh-CN" altLang="en-US" sz="1800" dirty="0">
                <a:solidFill>
                  <a:srgbClr val="FF0000"/>
                </a:solidFill>
                <a:sym typeface="+mn-ea"/>
              </a:rPr>
              <a:t>紧密相联</a:t>
            </a:r>
            <a:r>
              <a:rPr lang="zh-CN" altLang="en-US" sz="1800" dirty="0">
                <a:solidFill>
                  <a:schemeClr val="tx1"/>
                </a:solidFill>
                <a:sym typeface="+mn-ea"/>
              </a:rPr>
              <a:t>；</a:t>
            </a:r>
            <a:endParaRPr lang="en-US" altLang="zh-CN" sz="1800" dirty="0">
              <a:solidFill>
                <a:schemeClr val="tx1"/>
              </a:solidFill>
              <a:sym typeface="+mn-ea"/>
            </a:endParaRPr>
          </a:p>
          <a:p>
            <a:pPr>
              <a:lnSpc>
                <a:spcPct val="145000"/>
              </a:lnSpc>
              <a:buFont typeface="Wingdings" panose="05000000000000000000" pitchFamily="2" charset="2"/>
              <a:buChar char="l"/>
              <a:defRPr/>
            </a:pPr>
            <a:r>
              <a:rPr lang="zh-CN" altLang="en-US" sz="1800" dirty="0">
                <a:solidFill>
                  <a:schemeClr val="tx1"/>
                </a:solidFill>
                <a:sym typeface="+mn-ea"/>
              </a:rPr>
              <a:t>信号在系统中</a:t>
            </a:r>
            <a:r>
              <a:rPr lang="zh-CN" altLang="en-US" sz="1800" dirty="0">
                <a:solidFill>
                  <a:srgbClr val="FF0000"/>
                </a:solidFill>
                <a:sym typeface="+mn-ea"/>
              </a:rPr>
              <a:t>按照一定规律</a:t>
            </a:r>
            <a:r>
              <a:rPr lang="zh-CN" altLang="en-US" sz="1800" dirty="0">
                <a:solidFill>
                  <a:schemeClr val="tx1"/>
                </a:solidFill>
                <a:sym typeface="+mn-ea"/>
              </a:rPr>
              <a:t>变化；</a:t>
            </a:r>
            <a:endParaRPr lang="en-US" altLang="zh-CN" sz="1800" dirty="0">
              <a:solidFill>
                <a:schemeClr val="tx1"/>
              </a:solidFill>
              <a:sym typeface="+mn-ea"/>
            </a:endParaRPr>
          </a:p>
          <a:p>
            <a:pPr marL="528955" indent="-528955">
              <a:lnSpc>
                <a:spcPct val="145000"/>
              </a:lnSpc>
              <a:buFont typeface="Wingdings" panose="05000000000000000000" pitchFamily="2" charset="2"/>
              <a:buChar char="l"/>
              <a:defRPr/>
            </a:pPr>
            <a:r>
              <a:rPr lang="zh-CN" altLang="en-US" sz="1800" dirty="0">
                <a:solidFill>
                  <a:schemeClr val="tx1"/>
                </a:solidFill>
                <a:sym typeface="+mn-ea"/>
              </a:rPr>
              <a:t>系统在输入信号的驱动下，对其进行“</a:t>
            </a:r>
            <a:r>
              <a:rPr lang="zh-CN" altLang="en-US" sz="1800" dirty="0">
                <a:solidFill>
                  <a:srgbClr val="FF0000"/>
                </a:solidFill>
                <a:sym typeface="+mn-ea"/>
              </a:rPr>
              <a:t>加工</a:t>
            </a:r>
            <a:r>
              <a:rPr lang="zh-CN" altLang="en-US" sz="1800" dirty="0">
                <a:solidFill>
                  <a:schemeClr val="tx1"/>
                </a:solidFill>
                <a:sym typeface="+mn-ea"/>
              </a:rPr>
              <a:t>”，“</a:t>
            </a:r>
            <a:r>
              <a:rPr lang="zh-CN" altLang="en-US" sz="1800" dirty="0">
                <a:solidFill>
                  <a:srgbClr val="FF0000"/>
                </a:solidFill>
                <a:sym typeface="+mn-ea"/>
              </a:rPr>
              <a:t>处理</a:t>
            </a:r>
            <a:r>
              <a:rPr lang="zh-CN" altLang="en-US" sz="1800" dirty="0">
                <a:solidFill>
                  <a:schemeClr val="tx1"/>
                </a:solidFill>
                <a:sym typeface="+mn-ea"/>
              </a:rPr>
              <a:t>”，并发送输出信号；</a:t>
            </a:r>
          </a:p>
        </p:txBody>
      </p:sp>
    </p:spTree>
    <p:custDataLst>
      <p:tags r:id="rId1"/>
    </p:custDataLst>
  </p:cSld>
  <p:clrMapOvr>
    <a:masterClrMapping/>
  </p:clrMapOvr>
  <p:transition advTm="11567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50339">
                                            <p:txEl>
                                              <p:pRg st="0" end="0"/>
                                            </p:txEl>
                                          </p:spTgt>
                                        </p:tgtEl>
                                        <p:attrNameLst>
                                          <p:attrName>style.visibility</p:attrName>
                                        </p:attrNameLst>
                                      </p:cBhvr>
                                      <p:to>
                                        <p:strVal val="visible"/>
                                      </p:to>
                                    </p:set>
                                    <p:anim calcmode="lin" valueType="num">
                                      <p:cBhvr>
                                        <p:cTn id="7" dur="1000" fill="hold"/>
                                        <p:tgtEl>
                                          <p:spTgt spid="15503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503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50339">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50349">
                                            <p:bg/>
                                          </p:spTgt>
                                        </p:tgtEl>
                                        <p:attrNameLst>
                                          <p:attrName>style.visibility</p:attrName>
                                        </p:attrNameLst>
                                      </p:cBhvr>
                                      <p:to>
                                        <p:strVal val="visible"/>
                                      </p:to>
                                    </p:set>
                                    <p:anim calcmode="lin" valueType="num">
                                      <p:cBhvr>
                                        <p:cTn id="12" dur="1000" fill="hold"/>
                                        <p:tgtEl>
                                          <p:spTgt spid="1550349">
                                            <p:bg/>
                                          </p:spTgt>
                                        </p:tgtEl>
                                        <p:attrNameLst>
                                          <p:attrName>ppt_w</p:attrName>
                                        </p:attrNameLst>
                                      </p:cBhvr>
                                      <p:tavLst>
                                        <p:tav tm="0">
                                          <p:val>
                                            <p:strVal val="#ppt_w*0.70"/>
                                          </p:val>
                                        </p:tav>
                                        <p:tav tm="100000">
                                          <p:val>
                                            <p:strVal val="#ppt_w"/>
                                          </p:val>
                                        </p:tav>
                                      </p:tavLst>
                                    </p:anim>
                                    <p:anim calcmode="lin" valueType="num">
                                      <p:cBhvr>
                                        <p:cTn id="13" dur="1000" fill="hold"/>
                                        <p:tgtEl>
                                          <p:spTgt spid="1550349">
                                            <p:bg/>
                                          </p:spTgt>
                                        </p:tgtEl>
                                        <p:attrNameLst>
                                          <p:attrName>ppt_h</p:attrName>
                                        </p:attrNameLst>
                                      </p:cBhvr>
                                      <p:tavLst>
                                        <p:tav tm="0">
                                          <p:val>
                                            <p:strVal val="#ppt_h"/>
                                          </p:val>
                                        </p:tav>
                                        <p:tav tm="100000">
                                          <p:val>
                                            <p:strVal val="#ppt_h"/>
                                          </p:val>
                                        </p:tav>
                                      </p:tavLst>
                                    </p:anim>
                                    <p:animEffect transition="in" filter="fade">
                                      <p:cBhvr>
                                        <p:cTn id="14" dur="1000"/>
                                        <p:tgtEl>
                                          <p:spTgt spid="1550349">
                                            <p:bg/>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550349">
                                            <p:txEl>
                                              <p:pRg st="0" end="0"/>
                                            </p:txEl>
                                          </p:spTgt>
                                        </p:tgtEl>
                                        <p:attrNameLst>
                                          <p:attrName>style.visibility</p:attrName>
                                        </p:attrNameLst>
                                      </p:cBhvr>
                                      <p:to>
                                        <p:strVal val="visible"/>
                                      </p:to>
                                    </p:set>
                                    <p:anim calcmode="lin" valueType="num">
                                      <p:cBhvr>
                                        <p:cTn id="17" dur="1000" fill="hold"/>
                                        <p:tgtEl>
                                          <p:spTgt spid="1550349">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1550349">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155034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1550350">
                                            <p:txEl>
                                              <p:pRg st="0" end="0"/>
                                            </p:txEl>
                                          </p:spTgt>
                                        </p:tgtEl>
                                        <p:attrNameLst>
                                          <p:attrName>style.visibility</p:attrName>
                                        </p:attrNameLst>
                                      </p:cBhvr>
                                      <p:to>
                                        <p:strVal val="visible"/>
                                      </p:to>
                                    </p:set>
                                    <p:anim calcmode="lin" valueType="num">
                                      <p:cBhvr>
                                        <p:cTn id="24" dur="1000" fill="hold"/>
                                        <p:tgtEl>
                                          <p:spTgt spid="1550350">
                                            <p:txEl>
                                              <p:pRg st="0" end="0"/>
                                            </p:txEl>
                                          </p:spTgt>
                                        </p:tgtEl>
                                        <p:attrNameLst>
                                          <p:attrName>ppt_w</p:attrName>
                                        </p:attrNameLst>
                                      </p:cBhvr>
                                      <p:tavLst>
                                        <p:tav tm="0">
                                          <p:val>
                                            <p:strVal val="#ppt_w*0.70"/>
                                          </p:val>
                                        </p:tav>
                                        <p:tav tm="100000">
                                          <p:val>
                                            <p:strVal val="#ppt_w"/>
                                          </p:val>
                                        </p:tav>
                                      </p:tavLst>
                                    </p:anim>
                                    <p:anim calcmode="lin" valueType="num">
                                      <p:cBhvr>
                                        <p:cTn id="25" dur="1000" fill="hold"/>
                                        <p:tgtEl>
                                          <p:spTgt spid="1550350">
                                            <p:txEl>
                                              <p:pRg st="0" end="0"/>
                                            </p:txEl>
                                          </p:spTgt>
                                        </p:tgtEl>
                                        <p:attrNameLst>
                                          <p:attrName>ppt_h</p:attrName>
                                        </p:attrNameLst>
                                      </p:cBhvr>
                                      <p:tavLst>
                                        <p:tav tm="0">
                                          <p:val>
                                            <p:strVal val="#ppt_h"/>
                                          </p:val>
                                        </p:tav>
                                        <p:tav tm="100000">
                                          <p:val>
                                            <p:strVal val="#ppt_h"/>
                                          </p:val>
                                        </p:tav>
                                      </p:tavLst>
                                    </p:anim>
                                    <p:animEffect transition="in" filter="fade">
                                      <p:cBhvr>
                                        <p:cTn id="26" dur="1000"/>
                                        <p:tgtEl>
                                          <p:spTgt spid="1550350">
                                            <p:txEl>
                                              <p:pRg st="0" end="0"/>
                                            </p:txEl>
                                          </p:spTgt>
                                        </p:tgtEl>
                                      </p:cBhvr>
                                    </p:animEffect>
                                  </p:childTnLst>
                                </p:cTn>
                              </p:par>
                            </p:childTnLst>
                          </p:cTn>
                        </p:par>
                        <p:par>
                          <p:cTn id="27" fill="hold">
                            <p:stCondLst>
                              <p:cond delay="1000"/>
                            </p:stCondLst>
                            <p:childTnLst>
                              <p:par>
                                <p:cTn id="28" presetID="55" presetClass="entr" presetSubtype="0"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1000" fill="hold"/>
                                        <p:tgtEl>
                                          <p:spTgt spid="2"/>
                                        </p:tgtEl>
                                        <p:attrNameLst>
                                          <p:attrName>ppt_w</p:attrName>
                                        </p:attrNameLst>
                                      </p:cBhvr>
                                      <p:tavLst>
                                        <p:tav tm="0">
                                          <p:val>
                                            <p:strVal val="#ppt_w*0.70"/>
                                          </p:val>
                                        </p:tav>
                                        <p:tav tm="100000">
                                          <p:val>
                                            <p:strVal val="#ppt_w"/>
                                          </p:val>
                                        </p:tav>
                                      </p:tavLst>
                                    </p:anim>
                                    <p:anim calcmode="lin" valueType="num">
                                      <p:cBhvr>
                                        <p:cTn id="31" dur="1000" fill="hold"/>
                                        <p:tgtEl>
                                          <p:spTgt spid="2"/>
                                        </p:tgtEl>
                                        <p:attrNameLst>
                                          <p:attrName>ppt_h</p:attrName>
                                        </p:attrNameLst>
                                      </p:cBhvr>
                                      <p:tavLst>
                                        <p:tav tm="0">
                                          <p:val>
                                            <p:strVal val="#ppt_h"/>
                                          </p:val>
                                        </p:tav>
                                        <p:tav tm="100000">
                                          <p:val>
                                            <p:strVal val="#ppt_h"/>
                                          </p:val>
                                        </p:tav>
                                      </p:tavLst>
                                    </p:anim>
                                    <p:animEffect transition="in" filter="fade">
                                      <p:cBhvr>
                                        <p:cTn id="32" dur="1000"/>
                                        <p:tgtEl>
                                          <p:spTgt spid="2"/>
                                        </p:tgtEl>
                                      </p:cBhvr>
                                    </p:animEffect>
                                  </p:childTnLst>
                                </p:cTn>
                              </p:par>
                            </p:childTnLst>
                          </p:cTn>
                        </p:par>
                        <p:par>
                          <p:cTn id="33" fill="hold">
                            <p:stCondLst>
                              <p:cond delay="2000"/>
                            </p:stCondLst>
                            <p:childTnLst>
                              <p:par>
                                <p:cTn id="34" presetID="55" presetClass="entr" presetSubtype="0" fill="hold" grpId="0" nodeType="afterEffect">
                                  <p:stCondLst>
                                    <p:cond delay="0"/>
                                  </p:stCondLst>
                                  <p:childTnLst>
                                    <p:set>
                                      <p:cBhvr>
                                        <p:cTn id="35" dur="1" fill="hold">
                                          <p:stCondLst>
                                            <p:cond delay="0"/>
                                          </p:stCondLst>
                                        </p:cTn>
                                        <p:tgtEl>
                                          <p:spTgt spid="1550345"/>
                                        </p:tgtEl>
                                        <p:attrNameLst>
                                          <p:attrName>style.visibility</p:attrName>
                                        </p:attrNameLst>
                                      </p:cBhvr>
                                      <p:to>
                                        <p:strVal val="visible"/>
                                      </p:to>
                                    </p:set>
                                    <p:anim calcmode="lin" valueType="num">
                                      <p:cBhvr>
                                        <p:cTn id="36" dur="1000" fill="hold"/>
                                        <p:tgtEl>
                                          <p:spTgt spid="1550345"/>
                                        </p:tgtEl>
                                        <p:attrNameLst>
                                          <p:attrName>ppt_w</p:attrName>
                                        </p:attrNameLst>
                                      </p:cBhvr>
                                      <p:tavLst>
                                        <p:tav tm="0">
                                          <p:val>
                                            <p:strVal val="#ppt_w*0.70"/>
                                          </p:val>
                                        </p:tav>
                                        <p:tav tm="100000">
                                          <p:val>
                                            <p:strVal val="#ppt_w"/>
                                          </p:val>
                                        </p:tav>
                                      </p:tavLst>
                                    </p:anim>
                                    <p:anim calcmode="lin" valueType="num">
                                      <p:cBhvr>
                                        <p:cTn id="37" dur="1000" fill="hold"/>
                                        <p:tgtEl>
                                          <p:spTgt spid="1550345"/>
                                        </p:tgtEl>
                                        <p:attrNameLst>
                                          <p:attrName>ppt_h</p:attrName>
                                        </p:attrNameLst>
                                      </p:cBhvr>
                                      <p:tavLst>
                                        <p:tav tm="0">
                                          <p:val>
                                            <p:strVal val="#ppt_h"/>
                                          </p:val>
                                        </p:tav>
                                        <p:tav tm="100000">
                                          <p:val>
                                            <p:strVal val="#ppt_h"/>
                                          </p:val>
                                        </p:tav>
                                      </p:tavLst>
                                    </p:anim>
                                    <p:animEffect transition="in" filter="fade">
                                      <p:cBhvr>
                                        <p:cTn id="38" dur="1000"/>
                                        <p:tgtEl>
                                          <p:spTgt spid="1550345"/>
                                        </p:tgtEl>
                                      </p:cBhvr>
                                    </p:animEffect>
                                  </p:childTnLst>
                                </p:cTn>
                              </p:par>
                              <p:par>
                                <p:cTn id="39" presetID="55" presetClass="entr" presetSubtype="0" fill="hold" grpId="0" nodeType="withEffect">
                                  <p:stCondLst>
                                    <p:cond delay="0"/>
                                  </p:stCondLst>
                                  <p:childTnLst>
                                    <p:set>
                                      <p:cBhvr>
                                        <p:cTn id="40" dur="1" fill="hold">
                                          <p:stCondLst>
                                            <p:cond delay="0"/>
                                          </p:stCondLst>
                                        </p:cTn>
                                        <p:tgtEl>
                                          <p:spTgt spid="13">
                                            <p:bg/>
                                          </p:spTgt>
                                        </p:tgtEl>
                                        <p:attrNameLst>
                                          <p:attrName>style.visibility</p:attrName>
                                        </p:attrNameLst>
                                      </p:cBhvr>
                                      <p:to>
                                        <p:strVal val="visible"/>
                                      </p:to>
                                    </p:set>
                                    <p:anim calcmode="lin" valueType="num">
                                      <p:cBhvr>
                                        <p:cTn id="41" dur="1000" fill="hold"/>
                                        <p:tgtEl>
                                          <p:spTgt spid="13">
                                            <p:bg/>
                                          </p:spTgt>
                                        </p:tgtEl>
                                        <p:attrNameLst>
                                          <p:attrName>ppt_w</p:attrName>
                                        </p:attrNameLst>
                                      </p:cBhvr>
                                      <p:tavLst>
                                        <p:tav tm="0">
                                          <p:val>
                                            <p:strVal val="#ppt_w*0.70"/>
                                          </p:val>
                                        </p:tav>
                                        <p:tav tm="100000">
                                          <p:val>
                                            <p:strVal val="#ppt_w"/>
                                          </p:val>
                                        </p:tav>
                                      </p:tavLst>
                                    </p:anim>
                                    <p:anim calcmode="lin" valueType="num">
                                      <p:cBhvr>
                                        <p:cTn id="42" dur="1000" fill="hold"/>
                                        <p:tgtEl>
                                          <p:spTgt spid="13">
                                            <p:bg/>
                                          </p:spTgt>
                                        </p:tgtEl>
                                        <p:attrNameLst>
                                          <p:attrName>ppt_h</p:attrName>
                                        </p:attrNameLst>
                                      </p:cBhvr>
                                      <p:tavLst>
                                        <p:tav tm="0">
                                          <p:val>
                                            <p:strVal val="#ppt_h"/>
                                          </p:val>
                                        </p:tav>
                                        <p:tav tm="100000">
                                          <p:val>
                                            <p:strVal val="#ppt_h"/>
                                          </p:val>
                                        </p:tav>
                                      </p:tavLst>
                                    </p:anim>
                                    <p:animEffect transition="in" filter="fade">
                                      <p:cBhvr>
                                        <p:cTn id="43" dur="1000"/>
                                        <p:tgtEl>
                                          <p:spTgt spid="13">
                                            <p:bg/>
                                          </p:spTgt>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 calcmode="lin" valueType="num">
                                      <p:cBhvr>
                                        <p:cTn id="48" dur="500" fill="hold"/>
                                        <p:tgtEl>
                                          <p:spTgt spid="13">
                                            <p:txEl>
                                              <p:pRg st="0" end="0"/>
                                            </p:txEl>
                                          </p:spTgt>
                                        </p:tgtEl>
                                        <p:attrNameLst>
                                          <p:attrName>ppt_w</p:attrName>
                                        </p:attrNameLst>
                                      </p:cBhvr>
                                      <p:tavLst>
                                        <p:tav tm="0">
                                          <p:val>
                                            <p:strVal val="#ppt_w*0.70"/>
                                          </p:val>
                                        </p:tav>
                                        <p:tav tm="100000">
                                          <p:val>
                                            <p:strVal val="#ppt_w"/>
                                          </p:val>
                                        </p:tav>
                                      </p:tavLst>
                                    </p:anim>
                                    <p:anim calcmode="lin" valueType="num">
                                      <p:cBhvr>
                                        <p:cTn id="49" dur="500" fill="hold"/>
                                        <p:tgtEl>
                                          <p:spTgt spid="13">
                                            <p:txEl>
                                              <p:pRg st="0" end="0"/>
                                            </p:txEl>
                                          </p:spTgt>
                                        </p:tgtEl>
                                        <p:attrNameLst>
                                          <p:attrName>ppt_h</p:attrName>
                                        </p:attrNameLst>
                                      </p:cBhvr>
                                      <p:tavLst>
                                        <p:tav tm="0">
                                          <p:val>
                                            <p:strVal val="#ppt_h"/>
                                          </p:val>
                                        </p:tav>
                                        <p:tav tm="100000">
                                          <p:val>
                                            <p:strVal val="#ppt_h"/>
                                          </p:val>
                                        </p:tav>
                                      </p:tavLst>
                                    </p:anim>
                                    <p:animEffect transition="in" filter="fade">
                                      <p:cBhvr>
                                        <p:cTn id="50" dur="500"/>
                                        <p:tgtEl>
                                          <p:spTgt spid="13">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grpId="0" nodeType="clickEffect">
                                  <p:stCondLst>
                                    <p:cond delay="0"/>
                                  </p:stCondLst>
                                  <p:childTnLst>
                                    <p:set>
                                      <p:cBhvr>
                                        <p:cTn id="54" dur="1" fill="hold">
                                          <p:stCondLst>
                                            <p:cond delay="0"/>
                                          </p:stCondLst>
                                        </p:cTn>
                                        <p:tgtEl>
                                          <p:spTgt spid="13">
                                            <p:txEl>
                                              <p:pRg st="1" end="1"/>
                                            </p:txEl>
                                          </p:spTgt>
                                        </p:tgtEl>
                                        <p:attrNameLst>
                                          <p:attrName>style.visibility</p:attrName>
                                        </p:attrNameLst>
                                      </p:cBhvr>
                                      <p:to>
                                        <p:strVal val="visible"/>
                                      </p:to>
                                    </p:set>
                                    <p:anim calcmode="lin" valueType="num">
                                      <p:cBhvr>
                                        <p:cTn id="55" dur="1000" fill="hold"/>
                                        <p:tgtEl>
                                          <p:spTgt spid="13">
                                            <p:txEl>
                                              <p:pRg st="1" end="1"/>
                                            </p:txEl>
                                          </p:spTgt>
                                        </p:tgtEl>
                                        <p:attrNameLst>
                                          <p:attrName>ppt_w</p:attrName>
                                        </p:attrNameLst>
                                      </p:cBhvr>
                                      <p:tavLst>
                                        <p:tav tm="0">
                                          <p:val>
                                            <p:strVal val="#ppt_w*0.70"/>
                                          </p:val>
                                        </p:tav>
                                        <p:tav tm="100000">
                                          <p:val>
                                            <p:strVal val="#ppt_w"/>
                                          </p:val>
                                        </p:tav>
                                      </p:tavLst>
                                    </p:anim>
                                    <p:anim calcmode="lin" valueType="num">
                                      <p:cBhvr>
                                        <p:cTn id="56" dur="1000" fill="hold"/>
                                        <p:tgtEl>
                                          <p:spTgt spid="13">
                                            <p:txEl>
                                              <p:pRg st="1" end="1"/>
                                            </p:txEl>
                                          </p:spTgt>
                                        </p:tgtEl>
                                        <p:attrNameLst>
                                          <p:attrName>ppt_h</p:attrName>
                                        </p:attrNameLst>
                                      </p:cBhvr>
                                      <p:tavLst>
                                        <p:tav tm="0">
                                          <p:val>
                                            <p:strVal val="#ppt_h"/>
                                          </p:val>
                                        </p:tav>
                                        <p:tav tm="100000">
                                          <p:val>
                                            <p:strVal val="#ppt_h"/>
                                          </p:val>
                                        </p:tav>
                                      </p:tavLst>
                                    </p:anim>
                                    <p:animEffect transition="in" filter="fade">
                                      <p:cBhvr>
                                        <p:cTn id="57" dur="1000"/>
                                        <p:tgtEl>
                                          <p:spTgt spid="1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5" presetClass="entr" presetSubtype="0" fill="hold" grpId="0" nodeType="clickEffect">
                                  <p:stCondLst>
                                    <p:cond delay="0"/>
                                  </p:stCondLst>
                                  <p:childTnLst>
                                    <p:set>
                                      <p:cBhvr>
                                        <p:cTn id="61" dur="1" fill="hold">
                                          <p:stCondLst>
                                            <p:cond delay="0"/>
                                          </p:stCondLst>
                                        </p:cTn>
                                        <p:tgtEl>
                                          <p:spTgt spid="13">
                                            <p:txEl>
                                              <p:pRg st="2" end="2"/>
                                            </p:txEl>
                                          </p:spTgt>
                                        </p:tgtEl>
                                        <p:attrNameLst>
                                          <p:attrName>style.visibility</p:attrName>
                                        </p:attrNameLst>
                                      </p:cBhvr>
                                      <p:to>
                                        <p:strVal val="visible"/>
                                      </p:to>
                                    </p:set>
                                    <p:anim calcmode="lin" valueType="num">
                                      <p:cBhvr>
                                        <p:cTn id="62" dur="1000" fill="hold"/>
                                        <p:tgtEl>
                                          <p:spTgt spid="13">
                                            <p:txEl>
                                              <p:pRg st="2" end="2"/>
                                            </p:txEl>
                                          </p:spTgt>
                                        </p:tgtEl>
                                        <p:attrNameLst>
                                          <p:attrName>ppt_w</p:attrName>
                                        </p:attrNameLst>
                                      </p:cBhvr>
                                      <p:tavLst>
                                        <p:tav tm="0">
                                          <p:val>
                                            <p:strVal val="#ppt_w*0.70"/>
                                          </p:val>
                                        </p:tav>
                                        <p:tav tm="100000">
                                          <p:val>
                                            <p:strVal val="#ppt_w"/>
                                          </p:val>
                                        </p:tav>
                                      </p:tavLst>
                                    </p:anim>
                                    <p:anim calcmode="lin" valueType="num">
                                      <p:cBhvr>
                                        <p:cTn id="63" dur="1000" fill="hold"/>
                                        <p:tgtEl>
                                          <p:spTgt spid="13">
                                            <p:txEl>
                                              <p:pRg st="2" end="2"/>
                                            </p:txEl>
                                          </p:spTgt>
                                        </p:tgtEl>
                                        <p:attrNameLst>
                                          <p:attrName>ppt_h</p:attrName>
                                        </p:attrNameLst>
                                      </p:cBhvr>
                                      <p:tavLst>
                                        <p:tav tm="0">
                                          <p:val>
                                            <p:strVal val="#ppt_h"/>
                                          </p:val>
                                        </p:tav>
                                        <p:tav tm="100000">
                                          <p:val>
                                            <p:strVal val="#ppt_h"/>
                                          </p:val>
                                        </p:tav>
                                      </p:tavLst>
                                    </p:anim>
                                    <p:animEffect transition="in" filter="fade">
                                      <p:cBhvr>
                                        <p:cTn id="64" dur="10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0339" grpId="0" build="p"/>
      <p:bldP spid="1550345" grpId="0"/>
      <p:bldP spid="1550349" grpId="0" build="p" animBg="1"/>
      <p:bldP spid="1550350" grpId="0" build="p"/>
      <p:bldP spid="13" grpId="0" build="p"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Grp="1" noChangeArrowheads="1"/>
          </p:cNvSpPr>
          <p:nvPr>
            <p:ph type="body" sz="half" idx="1"/>
          </p:nvPr>
        </p:nvSpPr>
        <p:spPr>
          <a:xfrm>
            <a:off x="868363" y="1406525"/>
            <a:ext cx="1630362" cy="463550"/>
          </a:xfrm>
          <a:solidFill>
            <a:srgbClr val="E6D7B6"/>
          </a:solidFill>
          <a:effectLst>
            <a:outerShdw dist="35921" dir="2700000" algn="ctr" rotWithShape="0">
              <a:srgbClr val="808080"/>
            </a:outerShdw>
          </a:effectLst>
        </p:spPr>
        <p:txBody>
          <a:bodyPr/>
          <a:lstStyle/>
          <a:p>
            <a:pPr>
              <a:buFontTx/>
              <a:buNone/>
            </a:pPr>
            <a:r>
              <a:rPr lang="zh-CN" altLang="en-US" sz="2200"/>
              <a:t>系统的分类</a:t>
            </a:r>
          </a:p>
        </p:txBody>
      </p:sp>
      <p:sp>
        <p:nvSpPr>
          <p:cNvPr id="122883" name="AutoShape 4"/>
          <p:cNvSpPr/>
          <p:nvPr/>
        </p:nvSpPr>
        <p:spPr bwMode="auto">
          <a:xfrm>
            <a:off x="1508125" y="2595563"/>
            <a:ext cx="200025" cy="833437"/>
          </a:xfrm>
          <a:prstGeom prst="leftBrace">
            <a:avLst>
              <a:gd name="adj1" fmla="val 43769"/>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2884" name="Text Box 5"/>
          <p:cNvSpPr txBox="1">
            <a:spLocks noChangeArrowheads="1"/>
          </p:cNvSpPr>
          <p:nvPr/>
        </p:nvSpPr>
        <p:spPr bwMode="auto">
          <a:xfrm>
            <a:off x="1708150" y="2420938"/>
            <a:ext cx="2449513"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dirty="0">
                <a:latin typeface="Times New Roman" panose="02020603050405020304" pitchFamily="18" charset="0"/>
                <a:ea typeface="宋体" panose="02010600030101010101" pitchFamily="2" charset="-122"/>
              </a:rPr>
              <a:t>线性系统</a:t>
            </a:r>
          </a:p>
          <a:p>
            <a:pPr eaLnBrk="1" hangingPunct="1">
              <a:lnSpc>
                <a:spcPct val="85000"/>
              </a:lnSpc>
              <a:spcBef>
                <a:spcPct val="50000"/>
              </a:spcBef>
              <a:buClr>
                <a:schemeClr val="accent2"/>
              </a:buClr>
              <a:buFont typeface="Wingdings" panose="05000000000000000000" pitchFamily="2" charset="2"/>
              <a:buNone/>
            </a:pPr>
            <a:r>
              <a:rPr lang="zh-CN" altLang="en-US" dirty="0">
                <a:latin typeface="Times New Roman" panose="02020603050405020304" pitchFamily="18" charset="0"/>
                <a:ea typeface="宋体" panose="02010600030101010101" pitchFamily="2" charset="-122"/>
              </a:rPr>
              <a:t>非线性系统</a:t>
            </a:r>
          </a:p>
        </p:txBody>
      </p:sp>
      <p:sp>
        <p:nvSpPr>
          <p:cNvPr id="122885" name="AutoShape 6"/>
          <p:cNvSpPr/>
          <p:nvPr/>
        </p:nvSpPr>
        <p:spPr bwMode="auto">
          <a:xfrm>
            <a:off x="5153025" y="2495550"/>
            <a:ext cx="230188" cy="850900"/>
          </a:xfrm>
          <a:prstGeom prst="leftBrace">
            <a:avLst>
              <a:gd name="adj1" fmla="val 43725"/>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2886" name="Text Box 7"/>
          <p:cNvSpPr txBox="1">
            <a:spLocks noChangeArrowheads="1"/>
          </p:cNvSpPr>
          <p:nvPr/>
        </p:nvSpPr>
        <p:spPr bwMode="auto">
          <a:xfrm>
            <a:off x="5291138" y="2338388"/>
            <a:ext cx="2449512"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时不变系统</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时变系统</a:t>
            </a:r>
          </a:p>
        </p:txBody>
      </p:sp>
      <p:sp>
        <p:nvSpPr>
          <p:cNvPr id="122887" name="AutoShape 8"/>
          <p:cNvSpPr/>
          <p:nvPr/>
        </p:nvSpPr>
        <p:spPr bwMode="auto">
          <a:xfrm>
            <a:off x="1544638" y="4189413"/>
            <a:ext cx="130175" cy="822325"/>
          </a:xfrm>
          <a:prstGeom prst="leftBrace">
            <a:avLst>
              <a:gd name="adj1" fmla="val 4378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2888" name="Text Box 9"/>
          <p:cNvSpPr txBox="1">
            <a:spLocks noChangeArrowheads="1"/>
          </p:cNvSpPr>
          <p:nvPr/>
        </p:nvSpPr>
        <p:spPr bwMode="auto">
          <a:xfrm>
            <a:off x="1674813" y="4003675"/>
            <a:ext cx="2449512"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连续时间系统</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离散时间系统</a:t>
            </a:r>
          </a:p>
        </p:txBody>
      </p:sp>
      <p:sp>
        <p:nvSpPr>
          <p:cNvPr id="122889" name="AutoShape 10"/>
          <p:cNvSpPr/>
          <p:nvPr/>
        </p:nvSpPr>
        <p:spPr bwMode="auto">
          <a:xfrm>
            <a:off x="5251450" y="4127500"/>
            <a:ext cx="139700" cy="812800"/>
          </a:xfrm>
          <a:prstGeom prst="leftBrace">
            <a:avLst>
              <a:gd name="adj1" fmla="val 5896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2890" name="Text Box 11"/>
          <p:cNvSpPr txBox="1">
            <a:spLocks noChangeArrowheads="1"/>
          </p:cNvSpPr>
          <p:nvPr/>
        </p:nvSpPr>
        <p:spPr bwMode="auto">
          <a:xfrm>
            <a:off x="5480050" y="3994150"/>
            <a:ext cx="2162175"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因果系统</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非因果系统</a:t>
            </a:r>
          </a:p>
        </p:txBody>
      </p:sp>
      <p:sp>
        <p:nvSpPr>
          <p:cNvPr id="122891" name="Oval 12">
            <a:hlinkClick r:id="rId3" action="ppaction://hlinksldjump"/>
          </p:cNvPr>
          <p:cNvSpPr>
            <a:spLocks noChangeArrowheads="1"/>
          </p:cNvSpPr>
          <p:nvPr/>
        </p:nvSpPr>
        <p:spPr bwMode="auto">
          <a:xfrm>
            <a:off x="901700" y="2781300"/>
            <a:ext cx="504825" cy="5048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5" tIns="45718" rIns="91435" bIns="45718"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3200" dirty="0">
                <a:latin typeface="Times New Roman" panose="02020603050405020304" pitchFamily="18" charset="0"/>
                <a:ea typeface="宋体" panose="02010600030101010101" pitchFamily="2" charset="-122"/>
                <a:hlinkClick r:id="rId4" action="ppaction://hlinksldjump"/>
              </a:rPr>
              <a:t>1</a:t>
            </a:r>
            <a:endParaRPr lang="en-US" altLang="zh-CN" sz="3200" dirty="0">
              <a:latin typeface="Times New Roman" panose="02020603050405020304" pitchFamily="18" charset="0"/>
              <a:ea typeface="宋体" panose="02010600030101010101" pitchFamily="2" charset="-122"/>
            </a:endParaRPr>
          </a:p>
        </p:txBody>
      </p:sp>
      <p:sp>
        <p:nvSpPr>
          <p:cNvPr id="122892" name="Oval 13"/>
          <p:cNvSpPr>
            <a:spLocks noChangeArrowheads="1"/>
          </p:cNvSpPr>
          <p:nvPr/>
        </p:nvSpPr>
        <p:spPr bwMode="auto">
          <a:xfrm>
            <a:off x="4484688" y="2698750"/>
            <a:ext cx="504825" cy="5048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5" tIns="45718" rIns="91435" bIns="45718"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3200" dirty="0">
                <a:latin typeface="Times New Roman" panose="02020603050405020304" pitchFamily="18" charset="0"/>
                <a:ea typeface="宋体" panose="02010600030101010101" pitchFamily="2" charset="-122"/>
                <a:hlinkClick r:id="rId5" action="ppaction://hlinksldjump"/>
              </a:rPr>
              <a:t>2</a:t>
            </a:r>
            <a:endParaRPr lang="en-US" altLang="zh-CN" sz="3200" dirty="0">
              <a:latin typeface="Times New Roman" panose="02020603050405020304" pitchFamily="18" charset="0"/>
              <a:ea typeface="宋体" panose="02010600030101010101" pitchFamily="2" charset="-122"/>
            </a:endParaRPr>
          </a:p>
        </p:txBody>
      </p:sp>
      <p:sp>
        <p:nvSpPr>
          <p:cNvPr id="122893" name="Oval 14"/>
          <p:cNvSpPr>
            <a:spLocks noChangeArrowheads="1"/>
          </p:cNvSpPr>
          <p:nvPr/>
        </p:nvSpPr>
        <p:spPr bwMode="auto">
          <a:xfrm>
            <a:off x="908050" y="4338638"/>
            <a:ext cx="504825" cy="5048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5" tIns="45718" rIns="91435" bIns="45718"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3200" dirty="0">
                <a:latin typeface="Times New Roman" panose="02020603050405020304" pitchFamily="18" charset="0"/>
                <a:ea typeface="宋体" panose="02010600030101010101" pitchFamily="2" charset="-122"/>
                <a:hlinkClick r:id="rId6" action="ppaction://hlinksldjump"/>
              </a:rPr>
              <a:t>3</a:t>
            </a:r>
            <a:endParaRPr lang="en-US" altLang="zh-CN" sz="3200" dirty="0">
              <a:latin typeface="Times New Roman" panose="02020603050405020304" pitchFamily="18" charset="0"/>
              <a:ea typeface="宋体" panose="02010600030101010101" pitchFamily="2" charset="-122"/>
            </a:endParaRPr>
          </a:p>
        </p:txBody>
      </p:sp>
      <p:sp>
        <p:nvSpPr>
          <p:cNvPr id="122894" name="Oval 15"/>
          <p:cNvSpPr>
            <a:spLocks noChangeArrowheads="1"/>
          </p:cNvSpPr>
          <p:nvPr/>
        </p:nvSpPr>
        <p:spPr bwMode="auto">
          <a:xfrm>
            <a:off x="4502150" y="4292600"/>
            <a:ext cx="504825" cy="5048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5" tIns="45718" rIns="91435" bIns="45718"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3200" dirty="0">
                <a:latin typeface="Times New Roman" panose="02020603050405020304" pitchFamily="18" charset="0"/>
                <a:ea typeface="宋体" panose="02010600030101010101" pitchFamily="2" charset="-122"/>
                <a:hlinkClick r:id="rId7" action="ppaction://hlinksldjump"/>
              </a:rPr>
              <a:t>4</a:t>
            </a:r>
            <a:endParaRPr lang="en-US" altLang="zh-CN" sz="3200" dirty="0">
              <a:latin typeface="Times New Roman" panose="02020603050405020304" pitchFamily="18" charset="0"/>
              <a:ea typeface="宋体" panose="02010600030101010101" pitchFamily="2" charset="-122"/>
            </a:endParaRPr>
          </a:p>
        </p:txBody>
      </p:sp>
      <p:sp>
        <p:nvSpPr>
          <p:cNvPr id="122895" name="Text Box 17"/>
          <p:cNvSpPr txBox="1">
            <a:spLocks noChangeArrowheads="1"/>
          </p:cNvSpPr>
          <p:nvPr/>
        </p:nvSpPr>
        <p:spPr bwMode="auto">
          <a:xfrm>
            <a:off x="0" y="0"/>
            <a:ext cx="9144000" cy="406261"/>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zh-CN" altLang="en-US" sz="2400" dirty="0">
                <a:solidFill>
                  <a:schemeClr val="bg1"/>
                </a:solidFill>
                <a:latin typeface="楷体_GB2312" pitchFamily="49" charset="-122"/>
                <a:ea typeface="楷体_GB2312" pitchFamily="49" charset="-122"/>
              </a:rPr>
              <a:t>信号与系统                                      第一章绪论</a:t>
            </a:r>
          </a:p>
        </p:txBody>
      </p:sp>
      <p:sp>
        <p:nvSpPr>
          <p:cNvPr id="122896" name="Rectangle 18"/>
          <p:cNvSpPr>
            <a:spLocks noChangeArrowheads="1"/>
          </p:cNvSpPr>
          <p:nvPr/>
        </p:nvSpPr>
        <p:spPr bwMode="auto">
          <a:xfrm>
            <a:off x="177800" y="630238"/>
            <a:ext cx="35544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9" name="日期占位符 18"/>
          <p:cNvSpPr>
            <a:spLocks noGrp="1"/>
          </p:cNvSpPr>
          <p:nvPr>
            <p:ph type="dt" sz="quarter" idx="10"/>
          </p:nvPr>
        </p:nvSpPr>
        <p:spPr/>
        <p:txBody>
          <a:bodyPr/>
          <a:lstStyle/>
          <a:p>
            <a:pPr>
              <a:defRPr/>
            </a:pPr>
            <a:fld id="{9E416F86-C864-4DF9-9895-5FBF30723348}" type="datetime3">
              <a:rPr lang="zh-CN" altLang="en-US"/>
              <a:t>2026年3月4日星期三</a:t>
            </a:fld>
            <a:endParaRPr lang="zh-CN" altLang="en-US" dirty="0"/>
          </a:p>
        </p:txBody>
      </p:sp>
    </p:spTree>
  </p:cSld>
  <p:clrMapOvr>
    <a:masterClrMapping/>
  </p:clrMapOvr>
  <p:transition advTm="3010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228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8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28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22892"/>
                                        </p:tgtEl>
                                        <p:attrNameLst>
                                          <p:attrName>style.visibility</p:attrName>
                                        </p:attrNameLst>
                                      </p:cBhvr>
                                      <p:to>
                                        <p:strVal val="visible"/>
                                      </p:to>
                                    </p:set>
                                    <p:anim calcmode="lin" valueType="num">
                                      <p:cBhvr additive="base">
                                        <p:cTn id="15" dur="500" fill="hold"/>
                                        <p:tgtEl>
                                          <p:spTgt spid="122892"/>
                                        </p:tgtEl>
                                        <p:attrNameLst>
                                          <p:attrName>ppt_x</p:attrName>
                                        </p:attrNameLst>
                                      </p:cBhvr>
                                      <p:tavLst>
                                        <p:tav tm="0">
                                          <p:val>
                                            <p:strVal val="#ppt_x"/>
                                          </p:val>
                                        </p:tav>
                                        <p:tav tm="100000">
                                          <p:val>
                                            <p:strVal val="#ppt_x"/>
                                          </p:val>
                                        </p:tav>
                                      </p:tavLst>
                                    </p:anim>
                                    <p:anim calcmode="lin" valueType="num">
                                      <p:cBhvr additive="base">
                                        <p:cTn id="16" dur="500" fill="hold"/>
                                        <p:tgtEl>
                                          <p:spTgt spid="12289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2885"/>
                                        </p:tgtEl>
                                        <p:attrNameLst>
                                          <p:attrName>style.visibility</p:attrName>
                                        </p:attrNameLst>
                                      </p:cBhvr>
                                      <p:to>
                                        <p:strVal val="visible"/>
                                      </p:to>
                                    </p:set>
                                    <p:anim calcmode="lin" valueType="num">
                                      <p:cBhvr additive="base">
                                        <p:cTn id="19" dur="500" fill="hold"/>
                                        <p:tgtEl>
                                          <p:spTgt spid="122885"/>
                                        </p:tgtEl>
                                        <p:attrNameLst>
                                          <p:attrName>ppt_x</p:attrName>
                                        </p:attrNameLst>
                                      </p:cBhvr>
                                      <p:tavLst>
                                        <p:tav tm="0">
                                          <p:val>
                                            <p:strVal val="#ppt_x"/>
                                          </p:val>
                                        </p:tav>
                                        <p:tav tm="100000">
                                          <p:val>
                                            <p:strVal val="#ppt_x"/>
                                          </p:val>
                                        </p:tav>
                                      </p:tavLst>
                                    </p:anim>
                                    <p:anim calcmode="lin" valueType="num">
                                      <p:cBhvr additive="base">
                                        <p:cTn id="20" dur="500" fill="hold"/>
                                        <p:tgtEl>
                                          <p:spTgt spid="12288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2886"/>
                                        </p:tgtEl>
                                        <p:attrNameLst>
                                          <p:attrName>style.visibility</p:attrName>
                                        </p:attrNameLst>
                                      </p:cBhvr>
                                      <p:to>
                                        <p:strVal val="visible"/>
                                      </p:to>
                                    </p:set>
                                    <p:anim calcmode="lin" valueType="num">
                                      <p:cBhvr additive="base">
                                        <p:cTn id="23" dur="500" fill="hold"/>
                                        <p:tgtEl>
                                          <p:spTgt spid="122886"/>
                                        </p:tgtEl>
                                        <p:attrNameLst>
                                          <p:attrName>ppt_x</p:attrName>
                                        </p:attrNameLst>
                                      </p:cBhvr>
                                      <p:tavLst>
                                        <p:tav tm="0">
                                          <p:val>
                                            <p:strVal val="#ppt_x"/>
                                          </p:val>
                                        </p:tav>
                                        <p:tav tm="100000">
                                          <p:val>
                                            <p:strVal val="#ppt_x"/>
                                          </p:val>
                                        </p:tav>
                                      </p:tavLst>
                                    </p:anim>
                                    <p:anim calcmode="lin" valueType="num">
                                      <p:cBhvr additive="base">
                                        <p:cTn id="24" dur="500" fill="hold"/>
                                        <p:tgtEl>
                                          <p:spTgt spid="12288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2893"/>
                                        </p:tgtEl>
                                        <p:attrNameLst>
                                          <p:attrName>style.visibility</p:attrName>
                                        </p:attrNameLst>
                                      </p:cBhvr>
                                      <p:to>
                                        <p:strVal val="visible"/>
                                      </p:to>
                                    </p:set>
                                    <p:animEffect transition="in" filter="fade">
                                      <p:cBhvr>
                                        <p:cTn id="29" dur="500"/>
                                        <p:tgtEl>
                                          <p:spTgt spid="12289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2888"/>
                                        </p:tgtEl>
                                        <p:attrNameLst>
                                          <p:attrName>style.visibility</p:attrName>
                                        </p:attrNameLst>
                                      </p:cBhvr>
                                      <p:to>
                                        <p:strVal val="visible"/>
                                      </p:to>
                                    </p:set>
                                    <p:animEffect transition="in" filter="fade">
                                      <p:cBhvr>
                                        <p:cTn id="32" dur="500"/>
                                        <p:tgtEl>
                                          <p:spTgt spid="12288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2887"/>
                                        </p:tgtEl>
                                        <p:attrNameLst>
                                          <p:attrName>style.visibility</p:attrName>
                                        </p:attrNameLst>
                                      </p:cBhvr>
                                      <p:to>
                                        <p:strVal val="visible"/>
                                      </p:to>
                                    </p:set>
                                    <p:animEffect transition="in" filter="fade">
                                      <p:cBhvr>
                                        <p:cTn id="35" dur="500"/>
                                        <p:tgtEl>
                                          <p:spTgt spid="122887"/>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22894"/>
                                        </p:tgtEl>
                                        <p:attrNameLst>
                                          <p:attrName>style.visibility</p:attrName>
                                        </p:attrNameLst>
                                      </p:cBhvr>
                                      <p:to>
                                        <p:strVal val="visible"/>
                                      </p:to>
                                    </p:set>
                                    <p:animEffect transition="in" filter="fade">
                                      <p:cBhvr>
                                        <p:cTn id="40" dur="1000"/>
                                        <p:tgtEl>
                                          <p:spTgt spid="122894"/>
                                        </p:tgtEl>
                                      </p:cBhvr>
                                    </p:animEffect>
                                    <p:anim calcmode="lin" valueType="num">
                                      <p:cBhvr>
                                        <p:cTn id="41" dur="1000" fill="hold"/>
                                        <p:tgtEl>
                                          <p:spTgt spid="122894"/>
                                        </p:tgtEl>
                                        <p:attrNameLst>
                                          <p:attrName>ppt_x</p:attrName>
                                        </p:attrNameLst>
                                      </p:cBhvr>
                                      <p:tavLst>
                                        <p:tav tm="0">
                                          <p:val>
                                            <p:strVal val="#ppt_x"/>
                                          </p:val>
                                        </p:tav>
                                        <p:tav tm="100000">
                                          <p:val>
                                            <p:strVal val="#ppt_x"/>
                                          </p:val>
                                        </p:tav>
                                      </p:tavLst>
                                    </p:anim>
                                    <p:anim calcmode="lin" valueType="num">
                                      <p:cBhvr>
                                        <p:cTn id="42" dur="1000" fill="hold"/>
                                        <p:tgtEl>
                                          <p:spTgt spid="122894"/>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22889"/>
                                        </p:tgtEl>
                                        <p:attrNameLst>
                                          <p:attrName>style.visibility</p:attrName>
                                        </p:attrNameLst>
                                      </p:cBhvr>
                                      <p:to>
                                        <p:strVal val="visible"/>
                                      </p:to>
                                    </p:set>
                                    <p:animEffect transition="in" filter="fade">
                                      <p:cBhvr>
                                        <p:cTn id="45" dur="1000"/>
                                        <p:tgtEl>
                                          <p:spTgt spid="122889"/>
                                        </p:tgtEl>
                                      </p:cBhvr>
                                    </p:animEffect>
                                    <p:anim calcmode="lin" valueType="num">
                                      <p:cBhvr>
                                        <p:cTn id="46" dur="1000" fill="hold"/>
                                        <p:tgtEl>
                                          <p:spTgt spid="122889"/>
                                        </p:tgtEl>
                                        <p:attrNameLst>
                                          <p:attrName>ppt_x</p:attrName>
                                        </p:attrNameLst>
                                      </p:cBhvr>
                                      <p:tavLst>
                                        <p:tav tm="0">
                                          <p:val>
                                            <p:strVal val="#ppt_x"/>
                                          </p:val>
                                        </p:tav>
                                        <p:tav tm="100000">
                                          <p:val>
                                            <p:strVal val="#ppt_x"/>
                                          </p:val>
                                        </p:tav>
                                      </p:tavLst>
                                    </p:anim>
                                    <p:anim calcmode="lin" valueType="num">
                                      <p:cBhvr>
                                        <p:cTn id="47" dur="1000" fill="hold"/>
                                        <p:tgtEl>
                                          <p:spTgt spid="122889"/>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22890"/>
                                        </p:tgtEl>
                                        <p:attrNameLst>
                                          <p:attrName>style.visibility</p:attrName>
                                        </p:attrNameLst>
                                      </p:cBhvr>
                                      <p:to>
                                        <p:strVal val="visible"/>
                                      </p:to>
                                    </p:set>
                                    <p:animEffect transition="in" filter="fade">
                                      <p:cBhvr>
                                        <p:cTn id="50" dur="1000"/>
                                        <p:tgtEl>
                                          <p:spTgt spid="122890"/>
                                        </p:tgtEl>
                                      </p:cBhvr>
                                    </p:animEffect>
                                    <p:anim calcmode="lin" valueType="num">
                                      <p:cBhvr>
                                        <p:cTn id="51" dur="1000" fill="hold"/>
                                        <p:tgtEl>
                                          <p:spTgt spid="122890"/>
                                        </p:tgtEl>
                                        <p:attrNameLst>
                                          <p:attrName>ppt_x</p:attrName>
                                        </p:attrNameLst>
                                      </p:cBhvr>
                                      <p:tavLst>
                                        <p:tav tm="0">
                                          <p:val>
                                            <p:strVal val="#ppt_x"/>
                                          </p:val>
                                        </p:tav>
                                        <p:tav tm="100000">
                                          <p:val>
                                            <p:strVal val="#ppt_x"/>
                                          </p:val>
                                        </p:tav>
                                      </p:tavLst>
                                    </p:anim>
                                    <p:anim calcmode="lin" valueType="num">
                                      <p:cBhvr>
                                        <p:cTn id="52" dur="1000" fill="hold"/>
                                        <p:tgtEl>
                                          <p:spTgt spid="1228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animBg="1"/>
      <p:bldP spid="122884" grpId="0"/>
      <p:bldP spid="122885" grpId="0" animBg="1"/>
      <p:bldP spid="122886" grpId="0"/>
      <p:bldP spid="122887" grpId="0" animBg="1"/>
      <p:bldP spid="122888" grpId="0"/>
      <p:bldP spid="122889" grpId="0" animBg="1"/>
      <p:bldP spid="122890" grpId="0"/>
      <p:bldP spid="122891" grpId="0" animBg="1"/>
      <p:bldP spid="122892" grpId="0" animBg="1"/>
      <p:bldP spid="122893" grpId="0" animBg="1"/>
      <p:bldP spid="12289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4176713" y="733425"/>
            <a:ext cx="2517775" cy="538163"/>
          </a:xfrm>
        </p:spPr>
        <p:txBody>
          <a:bodyPr/>
          <a:lstStyle/>
          <a:p>
            <a:r>
              <a:rPr lang="zh-CN" altLang="en-US" sz="1700" b="1">
                <a:solidFill>
                  <a:srgbClr val="0000FF"/>
                </a:solidFill>
                <a:ea typeface="黑体" panose="02010609060101010101" pitchFamily="49" charset="-122"/>
              </a:rPr>
              <a:t>线性系统和非线性系统</a:t>
            </a:r>
          </a:p>
        </p:txBody>
      </p:sp>
      <p:sp>
        <p:nvSpPr>
          <p:cNvPr id="1552387" name="Rectangle 3"/>
          <p:cNvSpPr>
            <a:spLocks noGrp="1" noChangeArrowheads="1"/>
          </p:cNvSpPr>
          <p:nvPr>
            <p:ph type="body" sz="half" idx="1"/>
          </p:nvPr>
        </p:nvSpPr>
        <p:spPr>
          <a:xfrm>
            <a:off x="622300" y="1822450"/>
            <a:ext cx="7408516" cy="2333625"/>
          </a:xfrm>
          <a:solidFill>
            <a:srgbClr val="E6D7B6"/>
          </a:solidFill>
          <a:ln w="57150">
            <a:solidFill>
              <a:schemeClr val="tx1"/>
            </a:solidFill>
            <a:miter lim="800000"/>
          </a:ln>
          <a:effectLst>
            <a:prstShdw prst="shdw12">
              <a:srgbClr val="808080">
                <a:alpha val="50000"/>
              </a:srgbClr>
            </a:prstShdw>
          </a:effectLst>
        </p:spPr>
        <p:txBody>
          <a:bodyPr/>
          <a:lstStyle/>
          <a:p>
            <a:pPr>
              <a:lnSpc>
                <a:spcPct val="150000"/>
              </a:lnSpc>
              <a:buFontTx/>
              <a:buNone/>
            </a:pPr>
            <a:r>
              <a:rPr lang="en-US" altLang="zh-CN" sz="1700" b="1" dirty="0"/>
              <a:t>1</a:t>
            </a:r>
            <a:r>
              <a:rPr lang="zh-CN" altLang="en-US" sz="1700" b="1" dirty="0"/>
              <a:t>）齐次性    </a:t>
            </a:r>
          </a:p>
          <a:p>
            <a:pPr>
              <a:lnSpc>
                <a:spcPct val="150000"/>
              </a:lnSpc>
              <a:buFontTx/>
              <a:buNone/>
            </a:pPr>
            <a:r>
              <a:rPr lang="zh-CN" altLang="en-US" sz="1700" b="1" dirty="0"/>
              <a:t>      若系统</a:t>
            </a:r>
            <a:r>
              <a:rPr lang="en-US" altLang="zh-CN" sz="1700" b="1" dirty="0"/>
              <a:t>e(t)→r(t)</a:t>
            </a:r>
            <a:r>
              <a:rPr lang="zh-CN" altLang="en-US" sz="1700" b="1" dirty="0"/>
              <a:t>有</a:t>
            </a:r>
            <a:r>
              <a:rPr lang="en-US" altLang="zh-CN" sz="1700" b="1" dirty="0" err="1"/>
              <a:t>ke</a:t>
            </a:r>
            <a:r>
              <a:rPr lang="en-US" altLang="zh-CN" sz="1700" b="1" dirty="0"/>
              <a:t>(t)→</a:t>
            </a:r>
            <a:r>
              <a:rPr lang="en-US" altLang="zh-CN" sz="1700" b="1" dirty="0" err="1"/>
              <a:t>kr</a:t>
            </a:r>
            <a:r>
              <a:rPr lang="en-US" altLang="zh-CN" sz="1700" b="1" dirty="0"/>
              <a:t>(t)</a:t>
            </a:r>
            <a:r>
              <a:rPr lang="zh-CN" altLang="en-US" sz="1700" b="1" dirty="0"/>
              <a:t>则称该系统满足齐次性。</a:t>
            </a:r>
          </a:p>
          <a:p>
            <a:pPr>
              <a:lnSpc>
                <a:spcPct val="150000"/>
              </a:lnSpc>
              <a:buFontTx/>
              <a:buNone/>
            </a:pPr>
            <a:r>
              <a:rPr lang="en-US" altLang="zh-CN" sz="1700" b="1" dirty="0"/>
              <a:t>2</a:t>
            </a:r>
            <a:r>
              <a:rPr lang="zh-CN" altLang="en-US" sz="1700" b="1" dirty="0"/>
              <a:t>）叠加性</a:t>
            </a:r>
            <a:br>
              <a:rPr lang="zh-CN" altLang="en-US" sz="1700" b="1" dirty="0"/>
            </a:br>
            <a:r>
              <a:rPr lang="zh-CN" altLang="en-US" sz="1700" b="1" dirty="0"/>
              <a:t>     若系统关系有</a:t>
            </a:r>
            <a:r>
              <a:rPr lang="en-US" altLang="zh-CN" sz="1700" b="1" dirty="0"/>
              <a:t>e</a:t>
            </a:r>
            <a:r>
              <a:rPr lang="en-US" altLang="zh-CN" sz="1700" b="1" baseline="-25000" dirty="0"/>
              <a:t>1</a:t>
            </a:r>
            <a:r>
              <a:rPr lang="en-US" altLang="zh-CN" sz="1700" b="1" dirty="0"/>
              <a:t>(t)→r</a:t>
            </a:r>
            <a:r>
              <a:rPr lang="en-US" altLang="zh-CN" sz="1700" b="1" baseline="-25000" dirty="0"/>
              <a:t>1</a:t>
            </a:r>
            <a:r>
              <a:rPr lang="en-US" altLang="zh-CN" sz="1700" b="1" dirty="0"/>
              <a:t>(t)</a:t>
            </a:r>
            <a:r>
              <a:rPr lang="zh-CN" altLang="en-US" sz="1700" b="1" dirty="0"/>
              <a:t>且</a:t>
            </a:r>
            <a:r>
              <a:rPr lang="en-US" altLang="zh-CN" sz="1700" b="1" dirty="0"/>
              <a:t>e</a:t>
            </a:r>
            <a:r>
              <a:rPr lang="en-US" altLang="zh-CN" sz="1700" b="1" baseline="-25000" dirty="0"/>
              <a:t>2</a:t>
            </a:r>
            <a:r>
              <a:rPr lang="en-US" altLang="zh-CN" sz="1700" b="1" dirty="0"/>
              <a:t>(t)→r</a:t>
            </a:r>
            <a:r>
              <a:rPr lang="en-US" altLang="zh-CN" sz="1700" b="1" baseline="-25000" dirty="0"/>
              <a:t>2</a:t>
            </a:r>
            <a:r>
              <a:rPr lang="en-US" altLang="zh-CN" sz="1700" b="1" dirty="0"/>
              <a:t>(t)</a:t>
            </a:r>
            <a:r>
              <a:rPr lang="zh-CN" altLang="en-US" sz="1700" b="1" dirty="0"/>
              <a:t>时</a:t>
            </a:r>
            <a:endParaRPr lang="en-US" altLang="zh-CN" sz="1700" b="1" dirty="0"/>
          </a:p>
          <a:p>
            <a:pPr>
              <a:lnSpc>
                <a:spcPct val="150000"/>
              </a:lnSpc>
              <a:buFontTx/>
              <a:buNone/>
            </a:pPr>
            <a:r>
              <a:rPr lang="en-US" altLang="zh-CN" sz="1700" b="1" dirty="0"/>
              <a:t>       </a:t>
            </a:r>
            <a:r>
              <a:rPr lang="zh-CN" altLang="en-US" sz="1700" b="1" dirty="0"/>
              <a:t>有</a:t>
            </a:r>
            <a:r>
              <a:rPr lang="en-US" altLang="zh-CN" sz="1700" b="1" dirty="0"/>
              <a:t>e</a:t>
            </a:r>
            <a:r>
              <a:rPr lang="en-US" altLang="zh-CN" sz="1700" b="1" baseline="-25000" dirty="0"/>
              <a:t>1</a:t>
            </a:r>
            <a:r>
              <a:rPr lang="en-US" altLang="zh-CN" sz="1700" b="1" dirty="0"/>
              <a:t>(t)</a:t>
            </a:r>
            <a:r>
              <a:rPr lang="zh-CN" altLang="en-US" sz="1700" b="1" dirty="0"/>
              <a:t>＋</a:t>
            </a:r>
            <a:r>
              <a:rPr lang="en-US" altLang="zh-CN" sz="1700" b="1" dirty="0"/>
              <a:t>e</a:t>
            </a:r>
            <a:r>
              <a:rPr lang="en-US" altLang="zh-CN" sz="1700" b="1" baseline="-25000" dirty="0"/>
              <a:t>2</a:t>
            </a:r>
            <a:r>
              <a:rPr lang="en-US" altLang="zh-CN" sz="1700" b="1" dirty="0"/>
              <a:t>(t)→r</a:t>
            </a:r>
            <a:r>
              <a:rPr lang="en-US" altLang="zh-CN" sz="1700" b="1" baseline="-25000" dirty="0"/>
              <a:t>1</a:t>
            </a:r>
            <a:r>
              <a:rPr lang="en-US" altLang="zh-CN" sz="1700" b="1" dirty="0"/>
              <a:t>(t)</a:t>
            </a:r>
            <a:r>
              <a:rPr lang="zh-CN" altLang="en-US" sz="1700" b="1" dirty="0"/>
              <a:t>＋</a:t>
            </a:r>
            <a:r>
              <a:rPr lang="en-US" altLang="zh-CN" sz="1700" b="1" dirty="0"/>
              <a:t>r</a:t>
            </a:r>
            <a:r>
              <a:rPr lang="en-US" altLang="zh-CN" sz="1700" b="1" baseline="-25000" dirty="0"/>
              <a:t>2</a:t>
            </a:r>
            <a:r>
              <a:rPr lang="en-US" altLang="zh-CN" sz="1700" b="1" dirty="0"/>
              <a:t>(t) </a:t>
            </a:r>
            <a:r>
              <a:rPr lang="zh-CN" altLang="en-US" sz="1700" b="1" dirty="0"/>
              <a:t>， 则称该系统满足迭加性。 </a:t>
            </a:r>
          </a:p>
        </p:txBody>
      </p:sp>
      <p:sp>
        <p:nvSpPr>
          <p:cNvPr id="124932" name="Rectangle 7"/>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52392" name="Rectangle 8"/>
          <p:cNvSpPr>
            <a:spLocks noChangeArrowheads="1"/>
          </p:cNvSpPr>
          <p:nvPr/>
        </p:nvSpPr>
        <p:spPr bwMode="auto">
          <a:xfrm>
            <a:off x="573087" y="4362450"/>
            <a:ext cx="7457729" cy="1845247"/>
          </a:xfrm>
          <a:prstGeom prst="rect">
            <a:avLst/>
          </a:prstGeom>
          <a:solidFill>
            <a:srgbClr val="FFFFFF"/>
          </a:solidFill>
          <a:ln w="57150">
            <a:solidFill>
              <a:schemeClr val="hlink"/>
            </a:solidFill>
            <a:miter lim="800000"/>
          </a:ln>
          <a:effectLst>
            <a:prstShdw prst="shdw11">
              <a:srgbClr val="808080">
                <a:alpha val="50000"/>
              </a:srgbClr>
            </a:prstShdw>
          </a:effec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Char char="l"/>
            </a:pPr>
            <a:r>
              <a:rPr lang="zh-CN" altLang="en-US" sz="1700" dirty="0">
                <a:latin typeface="Times New Roman" panose="02020603050405020304" pitchFamily="18" charset="0"/>
                <a:ea typeface="宋体" panose="02010600030101010101" pitchFamily="2" charset="-122"/>
              </a:rPr>
              <a:t>具有</a:t>
            </a:r>
            <a:r>
              <a:rPr lang="zh-CN" altLang="en-US" sz="1700" dirty="0">
                <a:solidFill>
                  <a:srgbClr val="FF0000"/>
                </a:solidFill>
                <a:latin typeface="Times New Roman" panose="02020603050405020304" pitchFamily="18" charset="0"/>
                <a:ea typeface="宋体" panose="02010600030101010101" pitchFamily="2" charset="-122"/>
              </a:rPr>
              <a:t>叠加性</a:t>
            </a:r>
            <a:r>
              <a:rPr lang="zh-CN" altLang="en-US" sz="1700" dirty="0">
                <a:latin typeface="Times New Roman" panose="02020603050405020304" pitchFamily="18" charset="0"/>
                <a:ea typeface="宋体" panose="02010600030101010101" pitchFamily="2" charset="-122"/>
              </a:rPr>
              <a:t>与</a:t>
            </a:r>
            <a:r>
              <a:rPr lang="zh-CN" altLang="en-US" sz="1700" dirty="0">
                <a:solidFill>
                  <a:srgbClr val="FF0000"/>
                </a:solidFill>
                <a:latin typeface="Times New Roman" panose="02020603050405020304" pitchFamily="18" charset="0"/>
                <a:ea typeface="宋体" panose="02010600030101010101" pitchFamily="2" charset="-122"/>
              </a:rPr>
              <a:t>齐次性</a:t>
            </a:r>
            <a:r>
              <a:rPr lang="zh-CN" altLang="en-US" sz="1700" dirty="0">
                <a:latin typeface="Times New Roman" panose="02020603050405020304" pitchFamily="18" charset="0"/>
                <a:ea typeface="宋体" panose="02010600030101010101" pitchFamily="2" charset="-122"/>
              </a:rPr>
              <a:t>的系统称为</a:t>
            </a:r>
            <a:r>
              <a:rPr lang="zh-CN" altLang="en-US" sz="1700" dirty="0">
                <a:solidFill>
                  <a:srgbClr val="FF0000"/>
                </a:solidFill>
                <a:latin typeface="Times New Roman" panose="02020603050405020304" pitchFamily="18" charset="0"/>
                <a:ea typeface="宋体" panose="02010600030101010101" pitchFamily="2" charset="-122"/>
              </a:rPr>
              <a:t>线性系统</a:t>
            </a:r>
            <a:r>
              <a:rPr lang="zh-CN" altLang="en-US" sz="1700" dirty="0">
                <a:latin typeface="Times New Roman" panose="02020603050405020304" pitchFamily="18" charset="0"/>
                <a:ea typeface="宋体" panose="02010600030101010101" pitchFamily="2" charset="-122"/>
              </a:rPr>
              <a:t>，即： </a:t>
            </a:r>
            <a:r>
              <a:rPr lang="en-US" altLang="zh-CN" sz="1700" dirty="0">
                <a:latin typeface="Times New Roman" panose="02020603050405020304" pitchFamily="18" charset="0"/>
                <a:ea typeface="宋体" panose="02010600030101010101" pitchFamily="2" charset="-122"/>
              </a:rPr>
              <a:t>e</a:t>
            </a:r>
            <a:r>
              <a:rPr lang="en-US" altLang="zh-CN" sz="1700" baseline="-25000" dirty="0">
                <a:latin typeface="Times New Roman" panose="02020603050405020304" pitchFamily="18" charset="0"/>
                <a:ea typeface="宋体" panose="02010600030101010101" pitchFamily="2" charset="-122"/>
              </a:rPr>
              <a:t>1</a:t>
            </a:r>
            <a:r>
              <a:rPr lang="en-US" altLang="zh-CN" sz="1700" dirty="0">
                <a:latin typeface="Times New Roman" panose="02020603050405020304" pitchFamily="18" charset="0"/>
                <a:ea typeface="宋体" panose="02010600030101010101" pitchFamily="2" charset="-122"/>
              </a:rPr>
              <a:t>(t)→r</a:t>
            </a:r>
            <a:r>
              <a:rPr lang="en-US" altLang="zh-CN" sz="1700" baseline="-25000" dirty="0">
                <a:latin typeface="Times New Roman" panose="02020603050405020304" pitchFamily="18" charset="0"/>
                <a:ea typeface="宋体" panose="02010600030101010101" pitchFamily="2" charset="-122"/>
              </a:rPr>
              <a:t>1</a:t>
            </a:r>
            <a:r>
              <a:rPr lang="en-US" altLang="zh-CN" sz="1700" dirty="0">
                <a:latin typeface="Times New Roman" panose="02020603050405020304" pitchFamily="18" charset="0"/>
                <a:ea typeface="宋体" panose="02010600030101010101" pitchFamily="2" charset="-122"/>
              </a:rPr>
              <a:t>(t)</a:t>
            </a:r>
            <a:r>
              <a:rPr lang="zh-CN" altLang="en-US" sz="1700" dirty="0">
                <a:latin typeface="Times New Roman" panose="02020603050405020304" pitchFamily="18" charset="0"/>
                <a:ea typeface="宋体" panose="02010600030101010101" pitchFamily="2" charset="-122"/>
              </a:rPr>
              <a:t>且</a:t>
            </a:r>
            <a:r>
              <a:rPr lang="en-US" altLang="zh-CN" sz="1700" dirty="0">
                <a:latin typeface="Times New Roman" panose="02020603050405020304" pitchFamily="18" charset="0"/>
                <a:ea typeface="宋体" panose="02010600030101010101" pitchFamily="2" charset="-122"/>
              </a:rPr>
              <a:t>e</a:t>
            </a:r>
            <a:r>
              <a:rPr lang="en-US" altLang="zh-CN" sz="1700" baseline="-25000" dirty="0">
                <a:latin typeface="Times New Roman" panose="02020603050405020304" pitchFamily="18" charset="0"/>
                <a:ea typeface="宋体" panose="02010600030101010101" pitchFamily="2" charset="-122"/>
              </a:rPr>
              <a:t>2</a:t>
            </a:r>
            <a:r>
              <a:rPr lang="en-US" altLang="zh-CN" sz="1700" dirty="0">
                <a:latin typeface="Times New Roman" panose="02020603050405020304" pitchFamily="18" charset="0"/>
                <a:ea typeface="宋体" panose="02010600030101010101" pitchFamily="2" charset="-122"/>
              </a:rPr>
              <a:t>(t)→r</a:t>
            </a:r>
            <a:r>
              <a:rPr lang="en-US" altLang="zh-CN" sz="1700" baseline="-25000" dirty="0">
                <a:latin typeface="Times New Roman" panose="02020603050405020304" pitchFamily="18" charset="0"/>
                <a:ea typeface="宋体" panose="02010600030101010101" pitchFamily="2" charset="-122"/>
              </a:rPr>
              <a:t>2</a:t>
            </a:r>
            <a:r>
              <a:rPr lang="en-US" altLang="zh-CN" sz="1700" dirty="0">
                <a:latin typeface="Times New Roman" panose="02020603050405020304" pitchFamily="18" charset="0"/>
                <a:ea typeface="宋体" panose="02010600030101010101" pitchFamily="2" charset="-122"/>
              </a:rPr>
              <a:t>(t)</a:t>
            </a:r>
            <a:r>
              <a:rPr lang="zh-CN" altLang="en-US" sz="1700" dirty="0">
                <a:latin typeface="Times New Roman" panose="02020603050405020304" pitchFamily="18" charset="0"/>
                <a:ea typeface="宋体" panose="02010600030101010101" pitchFamily="2" charset="-122"/>
              </a:rPr>
              <a:t>时 ，有</a:t>
            </a:r>
            <a:r>
              <a:rPr lang="en-US" altLang="zh-CN" sz="1700" dirty="0">
                <a:latin typeface="Times New Roman" panose="02020603050405020304" pitchFamily="18" charset="0"/>
                <a:ea typeface="宋体" panose="02010600030101010101" pitchFamily="2" charset="-122"/>
              </a:rPr>
              <a:t>k</a:t>
            </a:r>
            <a:r>
              <a:rPr lang="en-US" altLang="zh-CN" sz="1700" baseline="-25000" dirty="0">
                <a:latin typeface="Times New Roman" panose="02020603050405020304" pitchFamily="18" charset="0"/>
                <a:ea typeface="宋体" panose="02010600030101010101" pitchFamily="2" charset="-122"/>
              </a:rPr>
              <a:t>1</a:t>
            </a:r>
            <a:r>
              <a:rPr lang="en-US" altLang="zh-CN" sz="1700" dirty="0">
                <a:latin typeface="Times New Roman" panose="02020603050405020304" pitchFamily="18" charset="0"/>
                <a:ea typeface="宋体" panose="02010600030101010101" pitchFamily="2" charset="-122"/>
              </a:rPr>
              <a:t> e</a:t>
            </a:r>
            <a:r>
              <a:rPr lang="en-US" altLang="zh-CN" sz="1700" baseline="-25000" dirty="0">
                <a:latin typeface="Times New Roman" panose="02020603050405020304" pitchFamily="18" charset="0"/>
                <a:ea typeface="宋体" panose="02010600030101010101" pitchFamily="2" charset="-122"/>
              </a:rPr>
              <a:t>1</a:t>
            </a:r>
            <a:r>
              <a:rPr lang="en-US" altLang="zh-CN" sz="1700" dirty="0">
                <a:latin typeface="Times New Roman" panose="02020603050405020304" pitchFamily="18" charset="0"/>
                <a:ea typeface="宋体" panose="02010600030101010101" pitchFamily="2" charset="-122"/>
              </a:rPr>
              <a:t>(t)</a:t>
            </a:r>
            <a:r>
              <a:rPr lang="zh-CN" altLang="en-US" sz="1700" dirty="0">
                <a:latin typeface="Times New Roman" panose="02020603050405020304" pitchFamily="18" charset="0"/>
                <a:ea typeface="宋体" panose="02010600030101010101" pitchFamily="2" charset="-122"/>
              </a:rPr>
              <a:t>＋</a:t>
            </a:r>
            <a:r>
              <a:rPr lang="en-US" altLang="zh-CN" sz="1700" dirty="0">
                <a:latin typeface="Times New Roman" panose="02020603050405020304" pitchFamily="18" charset="0"/>
                <a:ea typeface="宋体" panose="02010600030101010101" pitchFamily="2" charset="-122"/>
              </a:rPr>
              <a:t>k</a:t>
            </a:r>
            <a:r>
              <a:rPr lang="en-US" altLang="zh-CN" sz="1700" baseline="-25000" dirty="0">
                <a:latin typeface="Times New Roman" panose="02020603050405020304" pitchFamily="18" charset="0"/>
                <a:ea typeface="宋体" panose="02010600030101010101" pitchFamily="2" charset="-122"/>
              </a:rPr>
              <a:t>2</a:t>
            </a:r>
            <a:r>
              <a:rPr lang="en-US" altLang="zh-CN" sz="1700" dirty="0">
                <a:latin typeface="Times New Roman" panose="02020603050405020304" pitchFamily="18" charset="0"/>
                <a:ea typeface="宋体" panose="02010600030101010101" pitchFamily="2" charset="-122"/>
              </a:rPr>
              <a:t> e</a:t>
            </a:r>
            <a:r>
              <a:rPr lang="en-US" altLang="zh-CN" sz="1700" baseline="-25000" dirty="0">
                <a:latin typeface="Times New Roman" panose="02020603050405020304" pitchFamily="18" charset="0"/>
                <a:ea typeface="宋体" panose="02010600030101010101" pitchFamily="2" charset="-122"/>
              </a:rPr>
              <a:t>2</a:t>
            </a:r>
            <a:r>
              <a:rPr lang="en-US" altLang="zh-CN" sz="1700" dirty="0">
                <a:latin typeface="Times New Roman" panose="02020603050405020304" pitchFamily="18" charset="0"/>
                <a:ea typeface="宋体" panose="02010600030101010101" pitchFamily="2" charset="-122"/>
              </a:rPr>
              <a:t>(t)→k</a:t>
            </a:r>
            <a:r>
              <a:rPr lang="en-US" altLang="zh-CN" sz="1700" baseline="-25000" dirty="0">
                <a:latin typeface="Times New Roman" panose="02020603050405020304" pitchFamily="18" charset="0"/>
                <a:ea typeface="宋体" panose="02010600030101010101" pitchFamily="2" charset="-122"/>
              </a:rPr>
              <a:t>1</a:t>
            </a:r>
            <a:r>
              <a:rPr lang="en-US" altLang="zh-CN" sz="1700" dirty="0">
                <a:latin typeface="Times New Roman" panose="02020603050405020304" pitchFamily="18" charset="0"/>
                <a:ea typeface="宋体" panose="02010600030101010101" pitchFamily="2" charset="-122"/>
              </a:rPr>
              <a:t>r</a:t>
            </a:r>
            <a:r>
              <a:rPr lang="en-US" altLang="zh-CN" sz="1700" baseline="-25000" dirty="0">
                <a:latin typeface="Times New Roman" panose="02020603050405020304" pitchFamily="18" charset="0"/>
                <a:ea typeface="宋体" panose="02010600030101010101" pitchFamily="2" charset="-122"/>
              </a:rPr>
              <a:t>1</a:t>
            </a:r>
            <a:r>
              <a:rPr lang="en-US" altLang="zh-CN" sz="1700" dirty="0">
                <a:latin typeface="Times New Roman" panose="02020603050405020304" pitchFamily="18" charset="0"/>
                <a:ea typeface="宋体" panose="02010600030101010101" pitchFamily="2" charset="-122"/>
              </a:rPr>
              <a:t>(t)</a:t>
            </a:r>
            <a:r>
              <a:rPr lang="zh-CN" altLang="en-US" sz="1700" dirty="0">
                <a:latin typeface="Times New Roman" panose="02020603050405020304" pitchFamily="18" charset="0"/>
                <a:ea typeface="宋体" panose="02010600030101010101" pitchFamily="2" charset="-122"/>
              </a:rPr>
              <a:t>＋</a:t>
            </a:r>
            <a:r>
              <a:rPr lang="en-US" altLang="zh-CN" sz="1700" dirty="0">
                <a:latin typeface="Times New Roman" panose="02020603050405020304" pitchFamily="18" charset="0"/>
                <a:ea typeface="宋体" panose="02010600030101010101" pitchFamily="2" charset="-122"/>
              </a:rPr>
              <a:t>k</a:t>
            </a:r>
            <a:r>
              <a:rPr lang="en-US" altLang="zh-CN" sz="1700" baseline="-25000" dirty="0">
                <a:latin typeface="Times New Roman" panose="02020603050405020304" pitchFamily="18" charset="0"/>
                <a:ea typeface="宋体" panose="02010600030101010101" pitchFamily="2" charset="-122"/>
              </a:rPr>
              <a:t>2</a:t>
            </a:r>
            <a:r>
              <a:rPr lang="en-US" altLang="zh-CN" sz="1700" dirty="0">
                <a:latin typeface="Times New Roman" panose="02020603050405020304" pitchFamily="18" charset="0"/>
                <a:ea typeface="宋体" panose="02010600030101010101" pitchFamily="2" charset="-122"/>
              </a:rPr>
              <a:t>r</a:t>
            </a:r>
            <a:r>
              <a:rPr lang="en-US" altLang="zh-CN" sz="1700" baseline="-25000" dirty="0">
                <a:latin typeface="Times New Roman" panose="02020603050405020304" pitchFamily="18" charset="0"/>
                <a:ea typeface="宋体" panose="02010600030101010101" pitchFamily="2" charset="-122"/>
              </a:rPr>
              <a:t>2</a:t>
            </a:r>
            <a:r>
              <a:rPr lang="en-US" altLang="zh-CN" sz="1700" dirty="0">
                <a:latin typeface="Times New Roman" panose="02020603050405020304" pitchFamily="18" charset="0"/>
                <a:ea typeface="宋体" panose="02010600030101010101" pitchFamily="2" charset="-122"/>
              </a:rPr>
              <a:t>(t)  </a:t>
            </a:r>
            <a:r>
              <a:rPr lang="zh-CN" altLang="en-US" sz="1700" dirty="0">
                <a:latin typeface="Times New Roman" panose="02020603050405020304" pitchFamily="18" charset="0"/>
                <a:ea typeface="宋体" panose="02010600030101010101" pitchFamily="2" charset="-122"/>
              </a:rPr>
              <a:t>。</a:t>
            </a:r>
          </a:p>
          <a:p>
            <a:pPr eaLnBrk="1" hangingPunct="1">
              <a:lnSpc>
                <a:spcPct val="145000"/>
              </a:lnSpc>
              <a:spcBef>
                <a:spcPct val="40000"/>
              </a:spcBef>
              <a:buClr>
                <a:schemeClr val="accent2"/>
              </a:buClr>
              <a:buFont typeface="Wingdings" panose="05000000000000000000" pitchFamily="2" charset="2"/>
              <a:buChar char="l"/>
            </a:pPr>
            <a:r>
              <a:rPr lang="zh-CN" altLang="en-US" sz="1700" dirty="0">
                <a:latin typeface="Times New Roman" panose="02020603050405020304" pitchFamily="18" charset="0"/>
                <a:ea typeface="宋体" panose="02010600030101010101" pitchFamily="2" charset="-122"/>
              </a:rPr>
              <a:t>相应地，不具有叠加性与齐次性的系统称为</a:t>
            </a:r>
            <a:r>
              <a:rPr lang="zh-CN" altLang="en-US" sz="1700" dirty="0">
                <a:solidFill>
                  <a:srgbClr val="FF0000"/>
                </a:solidFill>
                <a:latin typeface="Times New Roman" panose="02020603050405020304" pitchFamily="18" charset="0"/>
                <a:ea typeface="宋体" panose="02010600030101010101" pitchFamily="2" charset="-122"/>
              </a:rPr>
              <a:t>非线性系统</a:t>
            </a:r>
            <a:r>
              <a:rPr lang="zh-CN" altLang="en-US" sz="1700" dirty="0">
                <a:latin typeface="Times New Roman" panose="02020603050405020304" pitchFamily="18" charset="0"/>
                <a:ea typeface="宋体" panose="02010600030101010101" pitchFamily="2" charset="-122"/>
              </a:rPr>
              <a:t>。</a:t>
            </a:r>
          </a:p>
          <a:p>
            <a:pPr eaLnBrk="1" hangingPunct="1">
              <a:lnSpc>
                <a:spcPct val="145000"/>
              </a:lnSpc>
              <a:spcBef>
                <a:spcPct val="40000"/>
              </a:spcBef>
              <a:buClr>
                <a:schemeClr val="accent2"/>
              </a:buClr>
              <a:buFont typeface="Wingdings" panose="05000000000000000000" pitchFamily="2" charset="2"/>
              <a:buChar char="l"/>
            </a:pPr>
            <a:r>
              <a:rPr lang="zh-CN" altLang="en-US" sz="1700" dirty="0">
                <a:latin typeface="Times New Roman" panose="02020603050405020304" pitchFamily="18" charset="0"/>
                <a:ea typeface="宋体" panose="02010600030101010101" pitchFamily="2" charset="-122"/>
              </a:rPr>
              <a:t>一般来说：线性系统由线性元件组成，非线性系统中则含有非线性元件。</a:t>
            </a:r>
          </a:p>
        </p:txBody>
      </p:sp>
      <p:sp>
        <p:nvSpPr>
          <p:cNvPr id="124934" name="Rectangle 9"/>
          <p:cNvSpPr>
            <a:spLocks noChangeArrowheads="1"/>
          </p:cNvSpPr>
          <p:nvPr/>
        </p:nvSpPr>
        <p:spPr bwMode="auto">
          <a:xfrm>
            <a:off x="819150" y="1200150"/>
            <a:ext cx="2517775"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700">
                <a:solidFill>
                  <a:schemeClr val="accent2"/>
                </a:solidFill>
                <a:latin typeface="Times New Roman" panose="02020603050405020304" pitchFamily="18" charset="0"/>
              </a:rPr>
              <a:t>系统的齐次性和叠加性</a:t>
            </a:r>
          </a:p>
        </p:txBody>
      </p:sp>
      <p:sp>
        <p:nvSpPr>
          <p:cNvPr id="10" name="日期占位符 9"/>
          <p:cNvSpPr>
            <a:spLocks noGrp="1"/>
          </p:cNvSpPr>
          <p:nvPr>
            <p:ph type="dt" sz="quarter" idx="10"/>
          </p:nvPr>
        </p:nvSpPr>
        <p:spPr/>
        <p:txBody>
          <a:bodyPr/>
          <a:lstStyle/>
          <a:p>
            <a:pPr>
              <a:defRPr/>
            </a:pPr>
            <a:fld id="{ACD6A22A-333E-47C2-A9D2-0169DC0AD396}" type="datetime3">
              <a:rPr lang="zh-CN" altLang="en-US"/>
              <a:t>2026年3月4日星期三</a:t>
            </a:fld>
            <a:endParaRPr lang="en-US" altLang="zh-CN" dirty="0"/>
          </a:p>
        </p:txBody>
      </p:sp>
    </p:spTree>
    <p:custDataLst>
      <p:tags r:id="rId1"/>
    </p:custDataLst>
  </p:cSld>
  <p:clrMapOvr>
    <a:masterClrMapping/>
  </p:clrMapOvr>
  <p:transition spd="med" advTm="257164">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52387">
                                            <p:bg/>
                                          </p:spTgt>
                                        </p:tgtEl>
                                        <p:attrNameLst>
                                          <p:attrName>style.visibility</p:attrName>
                                        </p:attrNameLst>
                                      </p:cBhvr>
                                      <p:to>
                                        <p:strVal val="visible"/>
                                      </p:to>
                                    </p:set>
                                    <p:anim calcmode="lin" valueType="num">
                                      <p:cBhvr>
                                        <p:cTn id="7" dur="1000" fill="hold"/>
                                        <p:tgtEl>
                                          <p:spTgt spid="1552387">
                                            <p:bg/>
                                          </p:spTgt>
                                        </p:tgtEl>
                                        <p:attrNameLst>
                                          <p:attrName>ppt_w</p:attrName>
                                        </p:attrNameLst>
                                      </p:cBhvr>
                                      <p:tavLst>
                                        <p:tav tm="0">
                                          <p:val>
                                            <p:strVal val="#ppt_w*0.70"/>
                                          </p:val>
                                        </p:tav>
                                        <p:tav tm="100000">
                                          <p:val>
                                            <p:strVal val="#ppt_w"/>
                                          </p:val>
                                        </p:tav>
                                      </p:tavLst>
                                    </p:anim>
                                    <p:anim calcmode="lin" valueType="num">
                                      <p:cBhvr>
                                        <p:cTn id="8" dur="1000" fill="hold"/>
                                        <p:tgtEl>
                                          <p:spTgt spid="1552387">
                                            <p:bg/>
                                          </p:spTgt>
                                        </p:tgtEl>
                                        <p:attrNameLst>
                                          <p:attrName>ppt_h</p:attrName>
                                        </p:attrNameLst>
                                      </p:cBhvr>
                                      <p:tavLst>
                                        <p:tav tm="0">
                                          <p:val>
                                            <p:strVal val="#ppt_h"/>
                                          </p:val>
                                        </p:tav>
                                        <p:tav tm="100000">
                                          <p:val>
                                            <p:strVal val="#ppt_h"/>
                                          </p:val>
                                        </p:tav>
                                      </p:tavLst>
                                    </p:anim>
                                    <p:animEffect transition="in" filter="fade">
                                      <p:cBhvr>
                                        <p:cTn id="9" dur="1000"/>
                                        <p:tgtEl>
                                          <p:spTgt spid="1552387">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52387">
                                            <p:txEl>
                                              <p:pRg st="0" end="0"/>
                                            </p:txEl>
                                          </p:spTgt>
                                        </p:tgtEl>
                                        <p:attrNameLst>
                                          <p:attrName>style.visibility</p:attrName>
                                        </p:attrNameLst>
                                      </p:cBhvr>
                                      <p:to>
                                        <p:strVal val="visible"/>
                                      </p:to>
                                    </p:set>
                                    <p:anim calcmode="lin" valueType="num">
                                      <p:cBhvr>
                                        <p:cTn id="13" dur="1000" fill="hold"/>
                                        <p:tgtEl>
                                          <p:spTgt spid="1552387">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552387">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552387">
                                            <p:txEl>
                                              <p:pRg st="0" end="0"/>
                                            </p:txEl>
                                          </p:spTgt>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1552387">
                                            <p:txEl>
                                              <p:pRg st="1" end="1"/>
                                            </p:txEl>
                                          </p:spTgt>
                                        </p:tgtEl>
                                        <p:attrNameLst>
                                          <p:attrName>style.visibility</p:attrName>
                                        </p:attrNameLst>
                                      </p:cBhvr>
                                      <p:to>
                                        <p:strVal val="visible"/>
                                      </p:to>
                                    </p:set>
                                    <p:anim calcmode="lin" valueType="num">
                                      <p:cBhvr>
                                        <p:cTn id="19" dur="1000" fill="hold"/>
                                        <p:tgtEl>
                                          <p:spTgt spid="1552387">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1552387">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1552387">
                                            <p:txEl>
                                              <p:pRg st="1" end="1"/>
                                            </p:txEl>
                                          </p:spTgt>
                                        </p:tgtEl>
                                      </p:cBhvr>
                                    </p:animEffect>
                                  </p:childTnLst>
                                </p:cTn>
                              </p:par>
                            </p:childTnLst>
                          </p:cTn>
                        </p:par>
                        <p:par>
                          <p:cTn id="22" fill="hold">
                            <p:stCondLst>
                              <p:cond delay="3000"/>
                            </p:stCondLst>
                            <p:childTnLst>
                              <p:par>
                                <p:cTn id="23" presetID="55" presetClass="entr" presetSubtype="0" fill="hold" grpId="0" nodeType="afterEffect">
                                  <p:stCondLst>
                                    <p:cond delay="0"/>
                                  </p:stCondLst>
                                  <p:childTnLst>
                                    <p:set>
                                      <p:cBhvr>
                                        <p:cTn id="24" dur="1" fill="hold">
                                          <p:stCondLst>
                                            <p:cond delay="0"/>
                                          </p:stCondLst>
                                        </p:cTn>
                                        <p:tgtEl>
                                          <p:spTgt spid="1552387">
                                            <p:txEl>
                                              <p:pRg st="2" end="2"/>
                                            </p:txEl>
                                          </p:spTgt>
                                        </p:tgtEl>
                                        <p:attrNameLst>
                                          <p:attrName>style.visibility</p:attrName>
                                        </p:attrNameLst>
                                      </p:cBhvr>
                                      <p:to>
                                        <p:strVal val="visible"/>
                                      </p:to>
                                    </p:set>
                                    <p:anim calcmode="lin" valueType="num">
                                      <p:cBhvr>
                                        <p:cTn id="25" dur="1000" fill="hold"/>
                                        <p:tgtEl>
                                          <p:spTgt spid="1552387">
                                            <p:txEl>
                                              <p:pRg st="2" end="2"/>
                                            </p:txEl>
                                          </p:spTgt>
                                        </p:tgtEl>
                                        <p:attrNameLst>
                                          <p:attrName>ppt_w</p:attrName>
                                        </p:attrNameLst>
                                      </p:cBhvr>
                                      <p:tavLst>
                                        <p:tav tm="0">
                                          <p:val>
                                            <p:strVal val="#ppt_w*0.70"/>
                                          </p:val>
                                        </p:tav>
                                        <p:tav tm="100000">
                                          <p:val>
                                            <p:strVal val="#ppt_w"/>
                                          </p:val>
                                        </p:tav>
                                      </p:tavLst>
                                    </p:anim>
                                    <p:anim calcmode="lin" valueType="num">
                                      <p:cBhvr>
                                        <p:cTn id="26" dur="1000" fill="hold"/>
                                        <p:tgtEl>
                                          <p:spTgt spid="1552387">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1552387">
                                            <p:txEl>
                                              <p:pRg st="2" end="2"/>
                                            </p:txEl>
                                          </p:spTgt>
                                        </p:tgtEl>
                                      </p:cBhvr>
                                    </p:animEffect>
                                  </p:childTnLst>
                                </p:cTn>
                              </p:par>
                            </p:childTnLst>
                          </p:cTn>
                        </p:par>
                        <p:par>
                          <p:cTn id="28" fill="hold">
                            <p:stCondLst>
                              <p:cond delay="4000"/>
                            </p:stCondLst>
                            <p:childTnLst>
                              <p:par>
                                <p:cTn id="29" presetID="55" presetClass="entr" presetSubtype="0" fill="hold" grpId="0" nodeType="afterEffect">
                                  <p:stCondLst>
                                    <p:cond delay="0"/>
                                  </p:stCondLst>
                                  <p:childTnLst>
                                    <p:set>
                                      <p:cBhvr>
                                        <p:cTn id="30" dur="1" fill="hold">
                                          <p:stCondLst>
                                            <p:cond delay="0"/>
                                          </p:stCondLst>
                                        </p:cTn>
                                        <p:tgtEl>
                                          <p:spTgt spid="1552387">
                                            <p:txEl>
                                              <p:pRg st="3" end="3"/>
                                            </p:txEl>
                                          </p:spTgt>
                                        </p:tgtEl>
                                        <p:attrNameLst>
                                          <p:attrName>style.visibility</p:attrName>
                                        </p:attrNameLst>
                                      </p:cBhvr>
                                      <p:to>
                                        <p:strVal val="visible"/>
                                      </p:to>
                                    </p:set>
                                    <p:anim calcmode="lin" valueType="num">
                                      <p:cBhvr>
                                        <p:cTn id="31" dur="1000" fill="hold"/>
                                        <p:tgtEl>
                                          <p:spTgt spid="1552387">
                                            <p:txEl>
                                              <p:pRg st="3" end="3"/>
                                            </p:txEl>
                                          </p:spTgt>
                                        </p:tgtEl>
                                        <p:attrNameLst>
                                          <p:attrName>ppt_w</p:attrName>
                                        </p:attrNameLst>
                                      </p:cBhvr>
                                      <p:tavLst>
                                        <p:tav tm="0">
                                          <p:val>
                                            <p:strVal val="#ppt_w*0.70"/>
                                          </p:val>
                                        </p:tav>
                                        <p:tav tm="100000">
                                          <p:val>
                                            <p:strVal val="#ppt_w"/>
                                          </p:val>
                                        </p:tav>
                                      </p:tavLst>
                                    </p:anim>
                                    <p:anim calcmode="lin" valueType="num">
                                      <p:cBhvr>
                                        <p:cTn id="32" dur="1000" fill="hold"/>
                                        <p:tgtEl>
                                          <p:spTgt spid="1552387">
                                            <p:txEl>
                                              <p:pRg st="3" end="3"/>
                                            </p:txEl>
                                          </p:spTgt>
                                        </p:tgtEl>
                                        <p:attrNameLst>
                                          <p:attrName>ppt_h</p:attrName>
                                        </p:attrNameLst>
                                      </p:cBhvr>
                                      <p:tavLst>
                                        <p:tav tm="0">
                                          <p:val>
                                            <p:strVal val="#ppt_h"/>
                                          </p:val>
                                        </p:tav>
                                        <p:tav tm="100000">
                                          <p:val>
                                            <p:strVal val="#ppt_h"/>
                                          </p:val>
                                        </p:tav>
                                      </p:tavLst>
                                    </p:anim>
                                    <p:animEffect transition="in" filter="fade">
                                      <p:cBhvr>
                                        <p:cTn id="33" dur="1000"/>
                                        <p:tgtEl>
                                          <p:spTgt spid="1552387">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grpId="0" nodeType="clickEffect">
                                  <p:stCondLst>
                                    <p:cond delay="0"/>
                                  </p:stCondLst>
                                  <p:childTnLst>
                                    <p:set>
                                      <p:cBhvr>
                                        <p:cTn id="37" dur="1" fill="hold">
                                          <p:stCondLst>
                                            <p:cond delay="0"/>
                                          </p:stCondLst>
                                        </p:cTn>
                                        <p:tgtEl>
                                          <p:spTgt spid="1552392"/>
                                        </p:tgtEl>
                                        <p:attrNameLst>
                                          <p:attrName>style.visibility</p:attrName>
                                        </p:attrNameLst>
                                      </p:cBhvr>
                                      <p:to>
                                        <p:strVal val="visible"/>
                                      </p:to>
                                    </p:set>
                                    <p:anim calcmode="lin" valueType="num">
                                      <p:cBhvr>
                                        <p:cTn id="38" dur="1000" fill="hold"/>
                                        <p:tgtEl>
                                          <p:spTgt spid="1552392"/>
                                        </p:tgtEl>
                                        <p:attrNameLst>
                                          <p:attrName>ppt_w</p:attrName>
                                        </p:attrNameLst>
                                      </p:cBhvr>
                                      <p:tavLst>
                                        <p:tav tm="0">
                                          <p:val>
                                            <p:strVal val="#ppt_w*0.70"/>
                                          </p:val>
                                        </p:tav>
                                        <p:tav tm="100000">
                                          <p:val>
                                            <p:strVal val="#ppt_w"/>
                                          </p:val>
                                        </p:tav>
                                      </p:tavLst>
                                    </p:anim>
                                    <p:anim calcmode="lin" valueType="num">
                                      <p:cBhvr>
                                        <p:cTn id="39" dur="1000" fill="hold"/>
                                        <p:tgtEl>
                                          <p:spTgt spid="1552392"/>
                                        </p:tgtEl>
                                        <p:attrNameLst>
                                          <p:attrName>ppt_h</p:attrName>
                                        </p:attrNameLst>
                                      </p:cBhvr>
                                      <p:tavLst>
                                        <p:tav tm="0">
                                          <p:val>
                                            <p:strVal val="#ppt_h"/>
                                          </p:val>
                                        </p:tav>
                                        <p:tav tm="100000">
                                          <p:val>
                                            <p:strVal val="#ppt_h"/>
                                          </p:val>
                                        </p:tav>
                                      </p:tavLst>
                                    </p:anim>
                                    <p:animEffect transition="in" filter="fade">
                                      <p:cBhvr>
                                        <p:cTn id="40" dur="1000"/>
                                        <p:tgtEl>
                                          <p:spTgt spid="1552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2387" grpId="0" build="p" animBg="1"/>
      <p:bldP spid="155239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4225925" y="803275"/>
            <a:ext cx="2517775" cy="538163"/>
          </a:xfrm>
        </p:spPr>
        <p:txBody>
          <a:bodyPr/>
          <a:lstStyle/>
          <a:p>
            <a:r>
              <a:rPr lang="zh-CN" altLang="en-US" sz="1700" b="1">
                <a:solidFill>
                  <a:srgbClr val="0000FF"/>
                </a:solidFill>
                <a:ea typeface="黑体" panose="02010609060101010101" pitchFamily="49" charset="-122"/>
              </a:rPr>
              <a:t>线性系统和非线性系统</a:t>
            </a:r>
          </a:p>
        </p:txBody>
      </p:sp>
      <p:sp>
        <p:nvSpPr>
          <p:cNvPr id="126979" name="Rectangle 6"/>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62631" name="Rectangle 7"/>
          <p:cNvSpPr>
            <a:spLocks noChangeArrowheads="1"/>
          </p:cNvSpPr>
          <p:nvPr/>
        </p:nvSpPr>
        <p:spPr bwMode="auto">
          <a:xfrm>
            <a:off x="227013" y="1250950"/>
            <a:ext cx="35544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例：判断下列系统是否为线性系统</a:t>
            </a:r>
          </a:p>
        </p:txBody>
      </p:sp>
      <mc:AlternateContent xmlns:mc="http://schemas.openxmlformats.org/markup-compatibility/2006" xmlns:a14="http://schemas.microsoft.com/office/drawing/2010/main">
        <mc:Choice Requires="a14">
          <p:sp>
            <p:nvSpPr>
              <p:cNvPr id="1562635" name="Object 2"/>
              <p:cNvSpPr txBox="1"/>
              <p:nvPr/>
            </p:nvSpPr>
            <p:spPr bwMode="auto">
              <a:xfrm>
                <a:off x="198438" y="1895475"/>
                <a:ext cx="2517775" cy="4310063"/>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(7)</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oMath>
                  </m:oMathPara>
                </a14:m>
                <a:endParaRPr lang="zh-CN" altLang="en-US"/>
              </a:p>
            </p:txBody>
          </p:sp>
        </mc:Choice>
        <mc:Fallback xmlns="">
          <p:sp>
            <p:nvSpPr>
              <p:cNvPr id="1562635" name="Object 2"/>
              <p:cNvSpPr txBox="1">
                <a:spLocks noRot="1" noChangeAspect="1" noMove="1" noResize="1" noEditPoints="1" noAdjustHandles="1" noChangeArrowheads="1" noChangeShapeType="1" noTextEdit="1"/>
              </p:cNvSpPr>
              <p:nvPr/>
            </p:nvSpPr>
            <p:spPr bwMode="auto">
              <a:xfrm>
                <a:off x="198438" y="1895475"/>
                <a:ext cx="2517775" cy="4310063"/>
              </a:xfrm>
              <a:prstGeom prst="rect">
                <a:avLst/>
              </a:prstGeom>
              <a:blipFill rotWithShape="1">
                <a:blip r:embed="rId4"/>
                <a:stretch>
                  <a:fillRect l="-13" r="-996" b="-582"/>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2636" name="Object 3"/>
              <p:cNvSpPr txBox="1"/>
              <p:nvPr/>
            </p:nvSpPr>
            <p:spPr bwMode="auto">
              <a:xfrm>
                <a:off x="4225925" y="1562100"/>
                <a:ext cx="2319338" cy="830263"/>
              </a:xfrm>
              <a:prstGeom prst="rect">
                <a:avLst/>
              </a:prstGeom>
              <a:solidFill>
                <a:srgbClr val="CADAC2"/>
              </a:solidFill>
              <a:ln>
                <a:noFill/>
              </a:ln>
              <a:effectLst>
                <a:outerShdw dist="35921" dir="2700000" algn="ctr" rotWithShape="0">
                  <a:srgbClr val="808080"/>
                </a:outerShdw>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62636" name="Object 3"/>
              <p:cNvSpPr txBox="1">
                <a:spLocks noRot="1" noChangeAspect="1" noMove="1" noResize="1" noEditPoints="1" noAdjustHandles="1" noChangeArrowheads="1" noChangeShapeType="1" noTextEdit="1"/>
              </p:cNvSpPr>
              <p:nvPr/>
            </p:nvSpPr>
            <p:spPr bwMode="auto">
              <a:xfrm>
                <a:off x="4225925" y="1562100"/>
                <a:ext cx="2319338" cy="830263"/>
              </a:xfrm>
              <a:prstGeom prst="rect">
                <a:avLst/>
              </a:prstGeom>
              <a:blipFill rotWithShape="1">
                <a:blip r:embed="rId5"/>
                <a:stretch>
                  <a:fillRect t="-994" r="-1081" b="-3021"/>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62637" name="Rectangle 13"/>
          <p:cNvSpPr>
            <a:spLocks noChangeArrowheads="1"/>
          </p:cNvSpPr>
          <p:nvPr/>
        </p:nvSpPr>
        <p:spPr bwMode="auto">
          <a:xfrm>
            <a:off x="3683000" y="2598738"/>
            <a:ext cx="4740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a:solidFill>
                  <a:srgbClr val="FF0000"/>
                </a:solidFill>
                <a:latin typeface="Times New Roman" panose="02020603050405020304" pitchFamily="18" charset="0"/>
                <a:ea typeface="宋体" panose="02010600030101010101" pitchFamily="2" charset="-122"/>
              </a:rPr>
              <a:t>解：设 </a:t>
            </a:r>
            <a:r>
              <a:rPr lang="en-US" altLang="zh-CN" sz="2200">
                <a:solidFill>
                  <a:srgbClr val="FF0000"/>
                </a:solidFill>
                <a:latin typeface="Times New Roman" panose="02020603050405020304" pitchFamily="18" charset="0"/>
                <a:ea typeface="宋体" panose="02010600030101010101" pitchFamily="2" charset="-122"/>
              </a:rPr>
              <a:t>e(t)= k</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 e</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(t)</a:t>
            </a:r>
            <a:r>
              <a:rPr lang="zh-CN" altLang="en-US" sz="2200">
                <a:solidFill>
                  <a:srgbClr val="FF0000"/>
                </a:solidFill>
                <a:latin typeface="Times New Roman" panose="02020603050405020304" pitchFamily="18" charset="0"/>
                <a:ea typeface="宋体" panose="02010600030101010101" pitchFamily="2" charset="-122"/>
              </a:rPr>
              <a:t>＋</a:t>
            </a:r>
            <a:r>
              <a:rPr lang="en-US" altLang="zh-CN" sz="2200">
                <a:solidFill>
                  <a:srgbClr val="FF0000"/>
                </a:solidFill>
                <a:latin typeface="Times New Roman" panose="02020603050405020304" pitchFamily="18" charset="0"/>
                <a:ea typeface="宋体" panose="02010600030101010101" pitchFamily="2" charset="-122"/>
              </a:rPr>
              <a:t>k</a:t>
            </a:r>
            <a:r>
              <a:rPr lang="en-US" altLang="zh-CN" sz="2200" baseline="-25000">
                <a:solidFill>
                  <a:srgbClr val="FF0000"/>
                </a:solidFill>
                <a:latin typeface="Times New Roman" panose="02020603050405020304" pitchFamily="18" charset="0"/>
                <a:ea typeface="宋体" panose="02010600030101010101" pitchFamily="2" charset="-122"/>
              </a:rPr>
              <a:t>2</a:t>
            </a:r>
            <a:r>
              <a:rPr lang="en-US" altLang="zh-CN" sz="2200">
                <a:solidFill>
                  <a:srgbClr val="FF0000"/>
                </a:solidFill>
                <a:latin typeface="Times New Roman" panose="02020603050405020304" pitchFamily="18" charset="0"/>
                <a:ea typeface="宋体" panose="02010600030101010101" pitchFamily="2" charset="-122"/>
              </a:rPr>
              <a:t> e</a:t>
            </a:r>
            <a:r>
              <a:rPr lang="en-US" altLang="zh-CN" sz="2200" baseline="-25000">
                <a:solidFill>
                  <a:srgbClr val="FF0000"/>
                </a:solidFill>
                <a:latin typeface="Times New Roman" panose="02020603050405020304" pitchFamily="18" charset="0"/>
                <a:ea typeface="宋体" panose="02010600030101010101" pitchFamily="2" charset="-122"/>
              </a:rPr>
              <a:t>2</a:t>
            </a:r>
            <a:r>
              <a:rPr lang="en-US" altLang="zh-CN" sz="2200">
                <a:solidFill>
                  <a:srgbClr val="FF0000"/>
                </a:solidFill>
                <a:latin typeface="Times New Roman" panose="02020603050405020304" pitchFamily="18" charset="0"/>
                <a:ea typeface="宋体" panose="02010600030101010101" pitchFamily="2" charset="-122"/>
              </a:rPr>
              <a:t>(t)</a:t>
            </a:r>
            <a:r>
              <a:rPr lang="zh-CN" altLang="en-US" sz="2200">
                <a:solidFill>
                  <a:srgbClr val="FF0000"/>
                </a:solidFill>
                <a:latin typeface="Times New Roman" panose="02020603050405020304" pitchFamily="18" charset="0"/>
                <a:ea typeface="宋体" panose="02010600030101010101" pitchFamily="2" charset="-122"/>
              </a:rPr>
              <a:t>，则有：</a:t>
            </a:r>
          </a:p>
        </p:txBody>
      </p:sp>
      <mc:AlternateContent xmlns:mc="http://schemas.openxmlformats.org/markup-compatibility/2006" xmlns:a14="http://schemas.microsoft.com/office/drawing/2010/main">
        <mc:Choice Requires="a14">
          <p:sp>
            <p:nvSpPr>
              <p:cNvPr id="1562639" name="Object 4"/>
              <p:cNvSpPr txBox="1"/>
              <p:nvPr/>
            </p:nvSpPr>
            <p:spPr bwMode="auto">
              <a:xfrm>
                <a:off x="3979863" y="3324225"/>
                <a:ext cx="4148137" cy="1141413"/>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62639" name="Object 4"/>
              <p:cNvSpPr txBox="1">
                <a:spLocks noRot="1" noChangeAspect="1" noMove="1" noResize="1" noEditPoints="1" noAdjustHandles="1" noChangeArrowheads="1" noChangeShapeType="1" noTextEdit="1"/>
              </p:cNvSpPr>
              <p:nvPr/>
            </p:nvSpPr>
            <p:spPr bwMode="auto">
              <a:xfrm>
                <a:off x="3979863" y="3324225"/>
                <a:ext cx="4148137" cy="1141413"/>
              </a:xfrm>
              <a:prstGeom prst="rect">
                <a:avLst/>
              </a:prstGeom>
              <a:blipFill rotWithShape="1">
                <a:blip r:embed="rId6"/>
                <a:stretch>
                  <a:fillRect l="-8" b="2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2640" name="Object 5"/>
              <p:cNvSpPr txBox="1"/>
              <p:nvPr/>
            </p:nvSpPr>
            <p:spPr bwMode="auto">
              <a:xfrm>
                <a:off x="4670425" y="4776788"/>
                <a:ext cx="3160713" cy="62547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62640" name="Object 5"/>
              <p:cNvSpPr txBox="1">
                <a:spLocks noRot="1" noChangeAspect="1" noMove="1" noResize="1" noEditPoints="1" noAdjustHandles="1" noChangeArrowheads="1" noChangeShapeType="1" noTextEdit="1"/>
              </p:cNvSpPr>
              <p:nvPr/>
            </p:nvSpPr>
            <p:spPr bwMode="auto">
              <a:xfrm>
                <a:off x="4670425" y="4776788"/>
                <a:ext cx="3160713" cy="625475"/>
              </a:xfrm>
              <a:prstGeom prst="rect">
                <a:avLst/>
              </a:prstGeom>
              <a:blipFill rotWithShape="1">
                <a:blip r:embed="rId7"/>
                <a:stretch>
                  <a:fillRect t="-51" r="10" b="51"/>
                </a:stretch>
              </a:blipFill>
              <a:ln>
                <a:noFill/>
              </a:ln>
              <a:effectLst/>
            </p:spPr>
            <p:txBody>
              <a:bodyPr/>
              <a:lstStyle/>
              <a:p>
                <a:r>
                  <a:rPr lang="zh-CN" altLang="en-US">
                    <a:noFill/>
                  </a:rPr>
                  <a:t> </a:t>
                </a:r>
              </a:p>
            </p:txBody>
          </p:sp>
        </mc:Fallback>
      </mc:AlternateContent>
      <p:sp>
        <p:nvSpPr>
          <p:cNvPr id="1562641" name="Rectangle 17"/>
          <p:cNvSpPr>
            <a:spLocks noChangeArrowheads="1"/>
          </p:cNvSpPr>
          <p:nvPr/>
        </p:nvSpPr>
        <p:spPr bwMode="auto">
          <a:xfrm>
            <a:off x="4324350" y="5710238"/>
            <a:ext cx="36464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所以，该系统是线性的</a:t>
            </a:r>
          </a:p>
        </p:txBody>
      </p:sp>
      <p:sp>
        <p:nvSpPr>
          <p:cNvPr id="14" name="日期占位符 13"/>
          <p:cNvSpPr>
            <a:spLocks noGrp="1"/>
          </p:cNvSpPr>
          <p:nvPr>
            <p:ph type="dt" sz="quarter" idx="10"/>
          </p:nvPr>
        </p:nvSpPr>
        <p:spPr/>
        <p:txBody>
          <a:bodyPr/>
          <a:lstStyle/>
          <a:p>
            <a:pPr>
              <a:defRPr/>
            </a:pPr>
            <a:fld id="{28945DC4-8FC9-4AEF-A4D0-6296C0BC74D9}" type="datetime3">
              <a:rPr lang="zh-CN" altLang="en-US"/>
              <a:t>2026年3月4日星期三</a:t>
            </a:fld>
            <a:endParaRPr lang="en-US" altLang="zh-CN" dirty="0"/>
          </a:p>
        </p:txBody>
      </p:sp>
    </p:spTree>
    <p:custDataLst>
      <p:tags r:id="rId1"/>
    </p:custDataLst>
  </p:cSld>
  <p:clrMapOvr>
    <a:masterClrMapping/>
  </p:clrMapOvr>
  <p:transition spd="med" advTm="86184">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62631"/>
                                        </p:tgtEl>
                                        <p:attrNameLst>
                                          <p:attrName>style.visibility</p:attrName>
                                        </p:attrNameLst>
                                      </p:cBhvr>
                                      <p:to>
                                        <p:strVal val="visible"/>
                                      </p:to>
                                    </p:set>
                                    <p:anim calcmode="lin" valueType="num">
                                      <p:cBhvr>
                                        <p:cTn id="7" dur="1000" fill="hold"/>
                                        <p:tgtEl>
                                          <p:spTgt spid="1562631"/>
                                        </p:tgtEl>
                                        <p:attrNameLst>
                                          <p:attrName>ppt_w</p:attrName>
                                        </p:attrNameLst>
                                      </p:cBhvr>
                                      <p:tavLst>
                                        <p:tav tm="0">
                                          <p:val>
                                            <p:strVal val="#ppt_w*0.70"/>
                                          </p:val>
                                        </p:tav>
                                        <p:tav tm="100000">
                                          <p:val>
                                            <p:strVal val="#ppt_w"/>
                                          </p:val>
                                        </p:tav>
                                      </p:tavLst>
                                    </p:anim>
                                    <p:anim calcmode="lin" valueType="num">
                                      <p:cBhvr>
                                        <p:cTn id="8" dur="1000" fill="hold"/>
                                        <p:tgtEl>
                                          <p:spTgt spid="1562631"/>
                                        </p:tgtEl>
                                        <p:attrNameLst>
                                          <p:attrName>ppt_h</p:attrName>
                                        </p:attrNameLst>
                                      </p:cBhvr>
                                      <p:tavLst>
                                        <p:tav tm="0">
                                          <p:val>
                                            <p:strVal val="#ppt_h"/>
                                          </p:val>
                                        </p:tav>
                                        <p:tav tm="100000">
                                          <p:val>
                                            <p:strVal val="#ppt_h"/>
                                          </p:val>
                                        </p:tav>
                                      </p:tavLst>
                                    </p:anim>
                                    <p:animEffect transition="in" filter="fade">
                                      <p:cBhvr>
                                        <p:cTn id="9" dur="1000"/>
                                        <p:tgtEl>
                                          <p:spTgt spid="156263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62637"/>
                                        </p:tgtEl>
                                        <p:attrNameLst>
                                          <p:attrName>style.visibility</p:attrName>
                                        </p:attrNameLst>
                                      </p:cBhvr>
                                      <p:to>
                                        <p:strVal val="visible"/>
                                      </p:to>
                                    </p:set>
                                    <p:anim calcmode="lin" valueType="num">
                                      <p:cBhvr>
                                        <p:cTn id="14" dur="1000" fill="hold"/>
                                        <p:tgtEl>
                                          <p:spTgt spid="1562637"/>
                                        </p:tgtEl>
                                        <p:attrNameLst>
                                          <p:attrName>ppt_w</p:attrName>
                                        </p:attrNameLst>
                                      </p:cBhvr>
                                      <p:tavLst>
                                        <p:tav tm="0">
                                          <p:val>
                                            <p:strVal val="#ppt_w*0.70"/>
                                          </p:val>
                                        </p:tav>
                                        <p:tav tm="100000">
                                          <p:val>
                                            <p:strVal val="#ppt_w"/>
                                          </p:val>
                                        </p:tav>
                                      </p:tavLst>
                                    </p:anim>
                                    <p:anim calcmode="lin" valueType="num">
                                      <p:cBhvr>
                                        <p:cTn id="15" dur="1000" fill="hold"/>
                                        <p:tgtEl>
                                          <p:spTgt spid="1562637"/>
                                        </p:tgtEl>
                                        <p:attrNameLst>
                                          <p:attrName>ppt_h</p:attrName>
                                        </p:attrNameLst>
                                      </p:cBhvr>
                                      <p:tavLst>
                                        <p:tav tm="0">
                                          <p:val>
                                            <p:strVal val="#ppt_h"/>
                                          </p:val>
                                        </p:tav>
                                        <p:tav tm="100000">
                                          <p:val>
                                            <p:strVal val="#ppt_h"/>
                                          </p:val>
                                        </p:tav>
                                      </p:tavLst>
                                    </p:anim>
                                    <p:animEffect transition="in" filter="fade">
                                      <p:cBhvr>
                                        <p:cTn id="16" dur="1000"/>
                                        <p:tgtEl>
                                          <p:spTgt spid="156263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626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626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1562641"/>
                                        </p:tgtEl>
                                        <p:attrNameLst>
                                          <p:attrName>style.visibility</p:attrName>
                                        </p:attrNameLst>
                                      </p:cBhvr>
                                      <p:to>
                                        <p:strVal val="visible"/>
                                      </p:to>
                                    </p:set>
                                    <p:anim calcmode="lin" valueType="num">
                                      <p:cBhvr>
                                        <p:cTn id="29" dur="1000" fill="hold"/>
                                        <p:tgtEl>
                                          <p:spTgt spid="1562641"/>
                                        </p:tgtEl>
                                        <p:attrNameLst>
                                          <p:attrName>ppt_w</p:attrName>
                                        </p:attrNameLst>
                                      </p:cBhvr>
                                      <p:tavLst>
                                        <p:tav tm="0">
                                          <p:val>
                                            <p:strVal val="#ppt_w*0.70"/>
                                          </p:val>
                                        </p:tav>
                                        <p:tav tm="100000">
                                          <p:val>
                                            <p:strVal val="#ppt_w"/>
                                          </p:val>
                                        </p:tav>
                                      </p:tavLst>
                                    </p:anim>
                                    <p:anim calcmode="lin" valueType="num">
                                      <p:cBhvr>
                                        <p:cTn id="30" dur="1000" fill="hold"/>
                                        <p:tgtEl>
                                          <p:spTgt spid="1562641"/>
                                        </p:tgtEl>
                                        <p:attrNameLst>
                                          <p:attrName>ppt_h</p:attrName>
                                        </p:attrNameLst>
                                      </p:cBhvr>
                                      <p:tavLst>
                                        <p:tav tm="0">
                                          <p:val>
                                            <p:strVal val="#ppt_h"/>
                                          </p:val>
                                        </p:tav>
                                        <p:tav tm="100000">
                                          <p:val>
                                            <p:strVal val="#ppt_h"/>
                                          </p:val>
                                        </p:tav>
                                      </p:tavLst>
                                    </p:anim>
                                    <p:animEffect transition="in" filter="fade">
                                      <p:cBhvr>
                                        <p:cTn id="31" dur="1000"/>
                                        <p:tgtEl>
                                          <p:spTgt spid="1562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2631" grpId="0"/>
      <p:bldP spid="1562637" grpId="0"/>
      <p:bldP spid="1562639" grpId="0"/>
      <p:bldP spid="1562640" grpId="0"/>
      <p:bldP spid="156264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4225925" y="777875"/>
            <a:ext cx="2517775" cy="538163"/>
          </a:xfrm>
        </p:spPr>
        <p:txBody>
          <a:bodyPr/>
          <a:lstStyle/>
          <a:p>
            <a:r>
              <a:rPr lang="zh-CN" altLang="en-US" sz="1700" b="1">
                <a:solidFill>
                  <a:srgbClr val="0000FF"/>
                </a:solidFill>
                <a:ea typeface="黑体" panose="02010609060101010101" pitchFamily="49" charset="-122"/>
              </a:rPr>
              <a:t>线性系统和非线性系统</a:t>
            </a:r>
          </a:p>
        </p:txBody>
      </p:sp>
      <p:sp>
        <p:nvSpPr>
          <p:cNvPr id="129027"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65702"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例：判断下列系统是否为线性系统</a:t>
            </a:r>
          </a:p>
        </p:txBody>
      </p:sp>
      <mc:AlternateContent xmlns:mc="http://schemas.openxmlformats.org/markup-compatibility/2006" xmlns:a14="http://schemas.microsoft.com/office/drawing/2010/main">
        <mc:Choice Requires="a14">
          <p:sp>
            <p:nvSpPr>
              <p:cNvPr id="1565703" name="Object 2"/>
              <p:cNvSpPr txBox="1"/>
              <p:nvPr/>
            </p:nvSpPr>
            <p:spPr bwMode="auto">
              <a:xfrm>
                <a:off x="198438" y="1895475"/>
                <a:ext cx="2517775" cy="4310063"/>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(7)</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oMath>
                  </m:oMathPara>
                </a14:m>
                <a:endParaRPr lang="zh-CN" altLang="en-US"/>
              </a:p>
            </p:txBody>
          </p:sp>
        </mc:Choice>
        <mc:Fallback xmlns="">
          <p:sp>
            <p:nvSpPr>
              <p:cNvPr id="1565703" name="Object 2"/>
              <p:cNvSpPr txBox="1">
                <a:spLocks noRot="1" noChangeAspect="1" noMove="1" noResize="1" noEditPoints="1" noAdjustHandles="1" noChangeArrowheads="1" noChangeShapeType="1" noTextEdit="1"/>
              </p:cNvSpPr>
              <p:nvPr/>
            </p:nvSpPr>
            <p:spPr bwMode="auto">
              <a:xfrm>
                <a:off x="198438" y="1895475"/>
                <a:ext cx="2517775" cy="4310063"/>
              </a:xfrm>
              <a:prstGeom prst="rect">
                <a:avLst/>
              </a:prstGeom>
              <a:blipFill rotWithShape="1">
                <a:blip r:embed="rId4"/>
                <a:stretch>
                  <a:fillRect l="-13" r="-996" b="-582"/>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65705" name="Rectangle 9"/>
          <p:cNvSpPr>
            <a:spLocks noChangeArrowheads="1"/>
          </p:cNvSpPr>
          <p:nvPr/>
        </p:nvSpPr>
        <p:spPr bwMode="auto">
          <a:xfrm>
            <a:off x="3011497" y="2495550"/>
            <a:ext cx="593406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dirty="0">
                <a:solidFill>
                  <a:srgbClr val="FF0000"/>
                </a:solidFill>
                <a:latin typeface="Times New Roman" panose="02020603050405020304" pitchFamily="18" charset="0"/>
                <a:ea typeface="宋体" panose="02010600030101010101" pitchFamily="2" charset="-122"/>
              </a:rPr>
              <a:t>解：设 </a:t>
            </a:r>
            <a:r>
              <a:rPr lang="en-US" altLang="zh-CN" sz="2200" dirty="0">
                <a:solidFill>
                  <a:srgbClr val="FF0000"/>
                </a:solidFill>
                <a:latin typeface="Times New Roman" panose="02020603050405020304" pitchFamily="18" charset="0"/>
                <a:ea typeface="宋体" panose="02010600030101010101" pitchFamily="2" charset="-122"/>
              </a:rPr>
              <a:t>e(t)= [k</a:t>
            </a:r>
            <a:r>
              <a:rPr lang="en-US" altLang="zh-CN" sz="2200" baseline="-25000" dirty="0">
                <a:solidFill>
                  <a:srgbClr val="FF0000"/>
                </a:solidFill>
                <a:latin typeface="Times New Roman" panose="02020603050405020304" pitchFamily="18" charset="0"/>
                <a:ea typeface="宋体" panose="02010600030101010101" pitchFamily="2" charset="-122"/>
              </a:rPr>
              <a:t>1</a:t>
            </a:r>
            <a:r>
              <a:rPr lang="en-US" altLang="zh-CN" sz="2200" dirty="0">
                <a:solidFill>
                  <a:srgbClr val="FF0000"/>
                </a:solidFill>
                <a:latin typeface="Times New Roman" panose="02020603050405020304" pitchFamily="18" charset="0"/>
                <a:ea typeface="宋体" panose="02010600030101010101" pitchFamily="2" charset="-122"/>
              </a:rPr>
              <a:t> e</a:t>
            </a:r>
            <a:r>
              <a:rPr lang="en-US" altLang="zh-CN" sz="2200" baseline="-25000" dirty="0">
                <a:solidFill>
                  <a:srgbClr val="FF0000"/>
                </a:solidFill>
                <a:latin typeface="Times New Roman" panose="02020603050405020304" pitchFamily="18" charset="0"/>
                <a:ea typeface="宋体" panose="02010600030101010101" pitchFamily="2" charset="-122"/>
              </a:rPr>
              <a:t>1</a:t>
            </a:r>
            <a:r>
              <a:rPr lang="en-US" altLang="zh-CN" sz="2200" dirty="0">
                <a:solidFill>
                  <a:srgbClr val="FF0000"/>
                </a:solidFill>
                <a:latin typeface="Times New Roman" panose="02020603050405020304" pitchFamily="18" charset="0"/>
                <a:ea typeface="宋体" panose="02010600030101010101" pitchFamily="2" charset="-122"/>
              </a:rPr>
              <a:t>(t)</a:t>
            </a:r>
            <a:r>
              <a:rPr lang="zh-CN" altLang="en-US" sz="2200" dirty="0">
                <a:solidFill>
                  <a:srgbClr val="FF0000"/>
                </a:solidFill>
                <a:latin typeface="Times New Roman" panose="02020603050405020304" pitchFamily="18" charset="0"/>
                <a:ea typeface="宋体" panose="02010600030101010101" pitchFamily="2" charset="-122"/>
              </a:rPr>
              <a:t>＋</a:t>
            </a:r>
            <a:r>
              <a:rPr lang="en-US" altLang="zh-CN" sz="2200" dirty="0">
                <a:solidFill>
                  <a:srgbClr val="FF0000"/>
                </a:solidFill>
                <a:latin typeface="Times New Roman" panose="02020603050405020304" pitchFamily="18" charset="0"/>
                <a:ea typeface="宋体" panose="02010600030101010101" pitchFamily="2" charset="-122"/>
              </a:rPr>
              <a:t>k</a:t>
            </a:r>
            <a:r>
              <a:rPr lang="en-US" altLang="zh-CN" sz="2200" baseline="-25000" dirty="0">
                <a:solidFill>
                  <a:srgbClr val="FF0000"/>
                </a:solidFill>
                <a:latin typeface="Times New Roman" panose="02020603050405020304" pitchFamily="18" charset="0"/>
                <a:ea typeface="宋体" panose="02010600030101010101" pitchFamily="2" charset="-122"/>
              </a:rPr>
              <a:t>2</a:t>
            </a:r>
            <a:r>
              <a:rPr lang="en-US" altLang="zh-CN" sz="2200" dirty="0">
                <a:solidFill>
                  <a:srgbClr val="FF0000"/>
                </a:solidFill>
                <a:latin typeface="Times New Roman" panose="02020603050405020304" pitchFamily="18" charset="0"/>
                <a:ea typeface="宋体" panose="02010600030101010101" pitchFamily="2" charset="-122"/>
              </a:rPr>
              <a:t> e</a:t>
            </a:r>
            <a:r>
              <a:rPr lang="en-US" altLang="zh-CN" sz="2200" baseline="-25000" dirty="0">
                <a:solidFill>
                  <a:srgbClr val="FF0000"/>
                </a:solidFill>
                <a:latin typeface="Times New Roman" panose="02020603050405020304" pitchFamily="18" charset="0"/>
                <a:ea typeface="宋体" panose="02010600030101010101" pitchFamily="2" charset="-122"/>
              </a:rPr>
              <a:t>2</a:t>
            </a:r>
            <a:r>
              <a:rPr lang="en-US" altLang="zh-CN" sz="2200" dirty="0">
                <a:solidFill>
                  <a:srgbClr val="FF0000"/>
                </a:solidFill>
                <a:latin typeface="Times New Roman" panose="02020603050405020304" pitchFamily="18" charset="0"/>
                <a:ea typeface="宋体" panose="02010600030101010101" pitchFamily="2" charset="-122"/>
              </a:rPr>
              <a:t>(t)]</a:t>
            </a:r>
            <a:r>
              <a:rPr lang="el-GR" altLang="zh-CN" sz="2200" dirty="0">
                <a:solidFill>
                  <a:srgbClr val="FF0000"/>
                </a:solidFill>
                <a:latin typeface="Times New Roman" panose="02020603050405020304" pitchFamily="18" charset="0"/>
                <a:ea typeface="宋体" panose="02010600030101010101" pitchFamily="2" charset="-122"/>
              </a:rPr>
              <a:t>ε</a:t>
            </a:r>
            <a:r>
              <a:rPr lang="en-US" altLang="zh-CN" sz="2200" dirty="0">
                <a:solidFill>
                  <a:srgbClr val="FF0000"/>
                </a:solidFill>
                <a:latin typeface="Times New Roman" panose="02020603050405020304" pitchFamily="18" charset="0"/>
                <a:ea typeface="宋体" panose="02010600030101010101" pitchFamily="2" charset="-122"/>
              </a:rPr>
              <a:t>(t)</a:t>
            </a:r>
            <a:r>
              <a:rPr lang="zh-CN" altLang="en-US" sz="2200" dirty="0">
                <a:solidFill>
                  <a:srgbClr val="FF0000"/>
                </a:solidFill>
                <a:latin typeface="Times New Roman" panose="02020603050405020304" pitchFamily="18" charset="0"/>
                <a:ea typeface="宋体" panose="02010600030101010101" pitchFamily="2" charset="-122"/>
              </a:rPr>
              <a:t>，则有：</a:t>
            </a:r>
          </a:p>
        </p:txBody>
      </p:sp>
      <mc:AlternateContent xmlns:mc="http://schemas.openxmlformats.org/markup-compatibility/2006" xmlns:a14="http://schemas.microsoft.com/office/drawing/2010/main">
        <mc:Choice Requires="a14">
          <p:sp>
            <p:nvSpPr>
              <p:cNvPr id="1565707" name="Object 3"/>
              <p:cNvSpPr txBox="1"/>
              <p:nvPr/>
            </p:nvSpPr>
            <p:spPr bwMode="auto">
              <a:xfrm>
                <a:off x="4621213" y="4518025"/>
                <a:ext cx="3159125" cy="627063"/>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65707" name="Object 3"/>
              <p:cNvSpPr txBox="1">
                <a:spLocks noRot="1" noChangeAspect="1" noMove="1" noResize="1" noEditPoints="1" noAdjustHandles="1" noChangeArrowheads="1" noChangeShapeType="1" noTextEdit="1"/>
              </p:cNvSpPr>
              <p:nvPr/>
            </p:nvSpPr>
            <p:spPr bwMode="auto">
              <a:xfrm>
                <a:off x="4621213" y="4518025"/>
                <a:ext cx="3159125" cy="627063"/>
              </a:xfrm>
              <a:prstGeom prst="rect">
                <a:avLst/>
              </a:prstGeom>
              <a:blipFill rotWithShape="1">
                <a:blip r:embed="rId5"/>
                <a:stretch>
                  <a:fillRect l="-10" r="10" b="51"/>
                </a:stretch>
              </a:blipFill>
              <a:ln>
                <a:noFill/>
              </a:ln>
              <a:effectLst/>
            </p:spPr>
            <p:txBody>
              <a:bodyPr/>
              <a:lstStyle/>
              <a:p>
                <a:r>
                  <a:rPr lang="zh-CN" altLang="en-US">
                    <a:noFill/>
                  </a:rPr>
                  <a:t> </a:t>
                </a:r>
              </a:p>
            </p:txBody>
          </p:sp>
        </mc:Fallback>
      </mc:AlternateContent>
      <p:sp>
        <p:nvSpPr>
          <p:cNvPr id="1565708" name="Rectangle 12"/>
          <p:cNvSpPr>
            <a:spLocks noChangeArrowheads="1"/>
          </p:cNvSpPr>
          <p:nvPr/>
        </p:nvSpPr>
        <p:spPr bwMode="auto">
          <a:xfrm>
            <a:off x="4324350" y="5710238"/>
            <a:ext cx="37322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所以，该系统是线性的</a:t>
            </a:r>
          </a:p>
        </p:txBody>
      </p:sp>
      <mc:AlternateContent xmlns:mc="http://schemas.openxmlformats.org/markup-compatibility/2006" xmlns:a14="http://schemas.microsoft.com/office/drawing/2010/main">
        <mc:Choice Requires="a14">
          <p:sp>
            <p:nvSpPr>
              <p:cNvPr id="1565709" name="Object 4"/>
              <p:cNvSpPr txBox="1"/>
              <p:nvPr/>
            </p:nvSpPr>
            <p:spPr bwMode="auto">
              <a:xfrm>
                <a:off x="4127500" y="1614488"/>
                <a:ext cx="3160713" cy="569912"/>
              </a:xfrm>
              <a:prstGeom prst="rect">
                <a:avLst/>
              </a:prstGeom>
              <a:solidFill>
                <a:srgbClr val="CADAC2"/>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65709" name="Object 4"/>
              <p:cNvSpPr txBox="1">
                <a:spLocks noRot="1" noChangeAspect="1" noMove="1" noResize="1" noEditPoints="1" noAdjustHandles="1" noChangeArrowheads="1" noChangeShapeType="1" noTextEdit="1"/>
              </p:cNvSpPr>
              <p:nvPr/>
            </p:nvSpPr>
            <p:spPr bwMode="auto">
              <a:xfrm>
                <a:off x="4127500" y="1614488"/>
                <a:ext cx="3160713" cy="569912"/>
              </a:xfrm>
              <a:prstGeom prst="rect">
                <a:avLst/>
              </a:prstGeom>
              <a:blipFill rotWithShape="1">
                <a:blip r:embed="rId6"/>
                <a:stretch>
                  <a:fillRect t="-56" r="1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5710" name="Object 5"/>
              <p:cNvSpPr txBox="1"/>
              <p:nvPr/>
            </p:nvSpPr>
            <p:spPr bwMode="auto">
              <a:xfrm>
                <a:off x="3781425" y="3429000"/>
                <a:ext cx="4986338" cy="63500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65710" name="Object 5"/>
              <p:cNvSpPr txBox="1">
                <a:spLocks noRot="1" noChangeAspect="1" noMove="1" noResize="1" noEditPoints="1" noAdjustHandles="1" noChangeArrowheads="1" noChangeShapeType="1" noTextEdit="1"/>
              </p:cNvSpPr>
              <p:nvPr/>
            </p:nvSpPr>
            <p:spPr bwMode="auto">
              <a:xfrm>
                <a:off x="3781425" y="3429000"/>
                <a:ext cx="4986338" cy="635000"/>
              </a:xfrm>
              <a:prstGeom prst="rect">
                <a:avLst/>
              </a:prstGeom>
              <a:blipFill rotWithShape="1">
                <a:blip r:embed="rId7"/>
                <a:stretch>
                  <a:fillRect r="6"/>
                </a:stretch>
              </a:blipFill>
              <a:ln>
                <a:noFill/>
              </a:ln>
              <a:effectLst/>
            </p:spPr>
            <p:txBody>
              <a:bodyPr/>
              <a:lstStyle/>
              <a:p>
                <a:r>
                  <a:rPr lang="zh-CN" altLang="en-US">
                    <a:noFill/>
                  </a:rPr>
                  <a:t> </a:t>
                </a:r>
              </a:p>
            </p:txBody>
          </p:sp>
        </mc:Fallback>
      </mc:AlternateContent>
      <p:sp>
        <p:nvSpPr>
          <p:cNvPr id="14" name="日期占位符 13"/>
          <p:cNvSpPr>
            <a:spLocks noGrp="1"/>
          </p:cNvSpPr>
          <p:nvPr>
            <p:ph type="dt" sz="quarter" idx="10"/>
          </p:nvPr>
        </p:nvSpPr>
        <p:spPr/>
        <p:txBody>
          <a:bodyPr/>
          <a:lstStyle/>
          <a:p>
            <a:pPr>
              <a:defRPr/>
            </a:pPr>
            <a:fld id="{C684AFA2-E48F-4284-B76A-871A29C460B4}" type="datetime3">
              <a:rPr lang="zh-CN" altLang="en-US"/>
              <a:t>2026年3月4日星期三</a:t>
            </a:fld>
            <a:endParaRPr lang="en-US" altLang="zh-CN" dirty="0"/>
          </a:p>
        </p:txBody>
      </p:sp>
    </p:spTree>
    <p:custDataLst>
      <p:tags r:id="rId1"/>
    </p:custDataLst>
  </p:cSld>
  <p:clrMapOvr>
    <a:masterClrMapping/>
  </p:clrMapOvr>
  <p:transition spd="med" advTm="62025">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65702"/>
                                        </p:tgtEl>
                                        <p:attrNameLst>
                                          <p:attrName>style.visibility</p:attrName>
                                        </p:attrNameLst>
                                      </p:cBhvr>
                                      <p:to>
                                        <p:strVal val="visible"/>
                                      </p:to>
                                    </p:set>
                                    <p:anim calcmode="lin" valueType="num">
                                      <p:cBhvr>
                                        <p:cTn id="7" dur="1000" fill="hold"/>
                                        <p:tgtEl>
                                          <p:spTgt spid="1565702"/>
                                        </p:tgtEl>
                                        <p:attrNameLst>
                                          <p:attrName>ppt_w</p:attrName>
                                        </p:attrNameLst>
                                      </p:cBhvr>
                                      <p:tavLst>
                                        <p:tav tm="0">
                                          <p:val>
                                            <p:strVal val="#ppt_w*0.70"/>
                                          </p:val>
                                        </p:tav>
                                        <p:tav tm="100000">
                                          <p:val>
                                            <p:strVal val="#ppt_w"/>
                                          </p:val>
                                        </p:tav>
                                      </p:tavLst>
                                    </p:anim>
                                    <p:anim calcmode="lin" valueType="num">
                                      <p:cBhvr>
                                        <p:cTn id="8" dur="1000" fill="hold"/>
                                        <p:tgtEl>
                                          <p:spTgt spid="1565702"/>
                                        </p:tgtEl>
                                        <p:attrNameLst>
                                          <p:attrName>ppt_h</p:attrName>
                                        </p:attrNameLst>
                                      </p:cBhvr>
                                      <p:tavLst>
                                        <p:tav tm="0">
                                          <p:val>
                                            <p:strVal val="#ppt_h"/>
                                          </p:val>
                                        </p:tav>
                                        <p:tav tm="100000">
                                          <p:val>
                                            <p:strVal val="#ppt_h"/>
                                          </p:val>
                                        </p:tav>
                                      </p:tavLst>
                                    </p:anim>
                                    <p:animEffect transition="in" filter="fade">
                                      <p:cBhvr>
                                        <p:cTn id="9" dur="1000"/>
                                        <p:tgtEl>
                                          <p:spTgt spid="156570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65705"/>
                                        </p:tgtEl>
                                        <p:attrNameLst>
                                          <p:attrName>style.visibility</p:attrName>
                                        </p:attrNameLst>
                                      </p:cBhvr>
                                      <p:to>
                                        <p:strVal val="visible"/>
                                      </p:to>
                                    </p:set>
                                    <p:anim calcmode="lin" valueType="num">
                                      <p:cBhvr>
                                        <p:cTn id="14" dur="1000" fill="hold"/>
                                        <p:tgtEl>
                                          <p:spTgt spid="1565705"/>
                                        </p:tgtEl>
                                        <p:attrNameLst>
                                          <p:attrName>ppt_w</p:attrName>
                                        </p:attrNameLst>
                                      </p:cBhvr>
                                      <p:tavLst>
                                        <p:tav tm="0">
                                          <p:val>
                                            <p:strVal val="#ppt_w*0.70"/>
                                          </p:val>
                                        </p:tav>
                                        <p:tav tm="100000">
                                          <p:val>
                                            <p:strVal val="#ppt_w"/>
                                          </p:val>
                                        </p:tav>
                                      </p:tavLst>
                                    </p:anim>
                                    <p:anim calcmode="lin" valueType="num">
                                      <p:cBhvr>
                                        <p:cTn id="15" dur="1000" fill="hold"/>
                                        <p:tgtEl>
                                          <p:spTgt spid="1565705"/>
                                        </p:tgtEl>
                                        <p:attrNameLst>
                                          <p:attrName>ppt_h</p:attrName>
                                        </p:attrNameLst>
                                      </p:cBhvr>
                                      <p:tavLst>
                                        <p:tav tm="0">
                                          <p:val>
                                            <p:strVal val="#ppt_h"/>
                                          </p:val>
                                        </p:tav>
                                        <p:tav tm="100000">
                                          <p:val>
                                            <p:strVal val="#ppt_h"/>
                                          </p:val>
                                        </p:tav>
                                      </p:tavLst>
                                    </p:anim>
                                    <p:animEffect transition="in" filter="fade">
                                      <p:cBhvr>
                                        <p:cTn id="16" dur="1000"/>
                                        <p:tgtEl>
                                          <p:spTgt spid="156570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565710"/>
                                        </p:tgtEl>
                                        <p:attrNameLst>
                                          <p:attrName>style.visibility</p:attrName>
                                        </p:attrNameLst>
                                      </p:cBhvr>
                                      <p:to>
                                        <p:strVal val="visible"/>
                                      </p:to>
                                    </p:set>
                                    <p:anim calcmode="lin" valueType="num">
                                      <p:cBhvr additive="base">
                                        <p:cTn id="21" dur="500" fill="hold"/>
                                        <p:tgtEl>
                                          <p:spTgt spid="1565710"/>
                                        </p:tgtEl>
                                        <p:attrNameLst>
                                          <p:attrName>ppt_x</p:attrName>
                                        </p:attrNameLst>
                                      </p:cBhvr>
                                      <p:tavLst>
                                        <p:tav tm="0">
                                          <p:val>
                                            <p:strVal val="#ppt_x"/>
                                          </p:val>
                                        </p:tav>
                                        <p:tav tm="100000">
                                          <p:val>
                                            <p:strVal val="#ppt_x"/>
                                          </p:val>
                                        </p:tav>
                                      </p:tavLst>
                                    </p:anim>
                                    <p:anim calcmode="lin" valueType="num">
                                      <p:cBhvr additive="base">
                                        <p:cTn id="22" dur="500" fill="hold"/>
                                        <p:tgtEl>
                                          <p:spTgt spid="15657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65707"/>
                                        </p:tgtEl>
                                        <p:attrNameLst>
                                          <p:attrName>style.visibility</p:attrName>
                                        </p:attrNameLst>
                                      </p:cBhvr>
                                      <p:to>
                                        <p:strVal val="visible"/>
                                      </p:to>
                                    </p:set>
                                    <p:anim calcmode="lin" valueType="num">
                                      <p:cBhvr additive="base">
                                        <p:cTn id="27" dur="500" fill="hold"/>
                                        <p:tgtEl>
                                          <p:spTgt spid="1565707"/>
                                        </p:tgtEl>
                                        <p:attrNameLst>
                                          <p:attrName>ppt_x</p:attrName>
                                        </p:attrNameLst>
                                      </p:cBhvr>
                                      <p:tavLst>
                                        <p:tav tm="0">
                                          <p:val>
                                            <p:strVal val="#ppt_x"/>
                                          </p:val>
                                        </p:tav>
                                        <p:tav tm="100000">
                                          <p:val>
                                            <p:strVal val="#ppt_x"/>
                                          </p:val>
                                        </p:tav>
                                      </p:tavLst>
                                    </p:anim>
                                    <p:anim calcmode="lin" valueType="num">
                                      <p:cBhvr additive="base">
                                        <p:cTn id="28" dur="500" fill="hold"/>
                                        <p:tgtEl>
                                          <p:spTgt spid="156570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1565708"/>
                                        </p:tgtEl>
                                        <p:attrNameLst>
                                          <p:attrName>style.visibility</p:attrName>
                                        </p:attrNameLst>
                                      </p:cBhvr>
                                      <p:to>
                                        <p:strVal val="visible"/>
                                      </p:to>
                                    </p:set>
                                    <p:anim calcmode="lin" valueType="num">
                                      <p:cBhvr>
                                        <p:cTn id="33" dur="1000" fill="hold"/>
                                        <p:tgtEl>
                                          <p:spTgt spid="1565708"/>
                                        </p:tgtEl>
                                        <p:attrNameLst>
                                          <p:attrName>ppt_w</p:attrName>
                                        </p:attrNameLst>
                                      </p:cBhvr>
                                      <p:tavLst>
                                        <p:tav tm="0">
                                          <p:val>
                                            <p:strVal val="#ppt_w*0.70"/>
                                          </p:val>
                                        </p:tav>
                                        <p:tav tm="100000">
                                          <p:val>
                                            <p:strVal val="#ppt_w"/>
                                          </p:val>
                                        </p:tav>
                                      </p:tavLst>
                                    </p:anim>
                                    <p:anim calcmode="lin" valueType="num">
                                      <p:cBhvr>
                                        <p:cTn id="34" dur="1000" fill="hold"/>
                                        <p:tgtEl>
                                          <p:spTgt spid="1565708"/>
                                        </p:tgtEl>
                                        <p:attrNameLst>
                                          <p:attrName>ppt_h</p:attrName>
                                        </p:attrNameLst>
                                      </p:cBhvr>
                                      <p:tavLst>
                                        <p:tav tm="0">
                                          <p:val>
                                            <p:strVal val="#ppt_h"/>
                                          </p:val>
                                        </p:tav>
                                        <p:tav tm="100000">
                                          <p:val>
                                            <p:strVal val="#ppt_h"/>
                                          </p:val>
                                        </p:tav>
                                      </p:tavLst>
                                    </p:anim>
                                    <p:animEffect transition="in" filter="fade">
                                      <p:cBhvr>
                                        <p:cTn id="35" dur="1000"/>
                                        <p:tgtEl>
                                          <p:spTgt spid="1565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5702" grpId="0"/>
      <p:bldP spid="1565705" grpId="0"/>
      <p:bldP spid="1565707" grpId="0"/>
      <p:bldP spid="1565708" grpId="0"/>
      <p:bldP spid="156571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189413" y="765175"/>
            <a:ext cx="2517775" cy="538163"/>
          </a:xfrm>
        </p:spPr>
        <p:txBody>
          <a:bodyPr/>
          <a:lstStyle/>
          <a:p>
            <a:r>
              <a:rPr lang="zh-CN" altLang="en-US" sz="1700" b="1">
                <a:solidFill>
                  <a:srgbClr val="0000FF"/>
                </a:solidFill>
                <a:ea typeface="黑体" panose="02010609060101010101" pitchFamily="49" charset="-122"/>
              </a:rPr>
              <a:t>线性系统和非线性系统</a:t>
            </a:r>
          </a:p>
        </p:txBody>
      </p:sp>
      <p:sp>
        <p:nvSpPr>
          <p:cNvPr id="131075"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66726"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例：判断下列系统是否为线性系统</a:t>
            </a:r>
          </a:p>
        </p:txBody>
      </p:sp>
      <mc:AlternateContent xmlns:mc="http://schemas.openxmlformats.org/markup-compatibility/2006" xmlns:a14="http://schemas.microsoft.com/office/drawing/2010/main">
        <mc:Choice Requires="a14">
          <p:sp>
            <p:nvSpPr>
              <p:cNvPr id="1566727" name="Object 2"/>
              <p:cNvSpPr txBox="1"/>
              <p:nvPr/>
            </p:nvSpPr>
            <p:spPr bwMode="auto">
              <a:xfrm>
                <a:off x="198438" y="1895475"/>
                <a:ext cx="2517775" cy="4310063"/>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(7)</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oMath>
                  </m:oMathPara>
                </a14:m>
                <a:endParaRPr lang="zh-CN" altLang="en-US"/>
              </a:p>
            </p:txBody>
          </p:sp>
        </mc:Choice>
        <mc:Fallback xmlns="">
          <p:sp>
            <p:nvSpPr>
              <p:cNvPr id="1566727" name="Object 2"/>
              <p:cNvSpPr txBox="1">
                <a:spLocks noRot="1" noChangeAspect="1" noMove="1" noResize="1" noEditPoints="1" noAdjustHandles="1" noChangeArrowheads="1" noChangeShapeType="1" noTextEdit="1"/>
              </p:cNvSpPr>
              <p:nvPr/>
            </p:nvSpPr>
            <p:spPr bwMode="auto">
              <a:xfrm>
                <a:off x="198438" y="1895475"/>
                <a:ext cx="2517775" cy="4310063"/>
              </a:xfrm>
              <a:prstGeom prst="rect">
                <a:avLst/>
              </a:prstGeom>
              <a:blipFill rotWithShape="1">
                <a:blip r:embed="rId4"/>
                <a:stretch>
                  <a:fillRect l="-13" r="-996" b="-582"/>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66728" name="Rectangle 8"/>
          <p:cNvSpPr>
            <a:spLocks noChangeArrowheads="1"/>
          </p:cNvSpPr>
          <p:nvPr/>
        </p:nvSpPr>
        <p:spPr bwMode="auto">
          <a:xfrm>
            <a:off x="3584575" y="2392363"/>
            <a:ext cx="474027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a:solidFill>
                  <a:srgbClr val="FF0000"/>
                </a:solidFill>
                <a:latin typeface="Times New Roman" panose="02020603050405020304" pitchFamily="18" charset="0"/>
                <a:ea typeface="宋体" panose="02010600030101010101" pitchFamily="2" charset="-122"/>
              </a:rPr>
              <a:t>解：设 </a:t>
            </a:r>
            <a:r>
              <a:rPr lang="en-US" altLang="zh-CN" sz="2200">
                <a:solidFill>
                  <a:srgbClr val="FF0000"/>
                </a:solidFill>
                <a:latin typeface="Times New Roman" panose="02020603050405020304" pitchFamily="18" charset="0"/>
                <a:ea typeface="宋体" panose="02010600030101010101" pitchFamily="2" charset="-122"/>
              </a:rPr>
              <a:t>e(t)= k</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 e</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(t)</a:t>
            </a:r>
            <a:r>
              <a:rPr lang="zh-CN" altLang="en-US" sz="2200">
                <a:solidFill>
                  <a:srgbClr val="FF0000"/>
                </a:solidFill>
                <a:latin typeface="Times New Roman" panose="02020603050405020304" pitchFamily="18" charset="0"/>
                <a:ea typeface="宋体" panose="02010600030101010101" pitchFamily="2" charset="-122"/>
              </a:rPr>
              <a:t>＋</a:t>
            </a:r>
            <a:r>
              <a:rPr lang="en-US" altLang="zh-CN" sz="2200">
                <a:solidFill>
                  <a:srgbClr val="FF0000"/>
                </a:solidFill>
                <a:latin typeface="Times New Roman" panose="02020603050405020304" pitchFamily="18" charset="0"/>
                <a:ea typeface="宋体" panose="02010600030101010101" pitchFamily="2" charset="-122"/>
              </a:rPr>
              <a:t>k</a:t>
            </a:r>
            <a:r>
              <a:rPr lang="en-US" altLang="zh-CN" sz="2200" baseline="-25000">
                <a:solidFill>
                  <a:srgbClr val="FF0000"/>
                </a:solidFill>
                <a:latin typeface="Times New Roman" panose="02020603050405020304" pitchFamily="18" charset="0"/>
                <a:ea typeface="宋体" panose="02010600030101010101" pitchFamily="2" charset="-122"/>
              </a:rPr>
              <a:t>2</a:t>
            </a:r>
            <a:r>
              <a:rPr lang="en-US" altLang="zh-CN" sz="2200">
                <a:solidFill>
                  <a:srgbClr val="FF0000"/>
                </a:solidFill>
                <a:latin typeface="Times New Roman" panose="02020603050405020304" pitchFamily="18" charset="0"/>
                <a:ea typeface="宋体" panose="02010600030101010101" pitchFamily="2" charset="-122"/>
              </a:rPr>
              <a:t> e</a:t>
            </a:r>
            <a:r>
              <a:rPr lang="en-US" altLang="zh-CN" sz="2200" baseline="-25000">
                <a:solidFill>
                  <a:srgbClr val="FF0000"/>
                </a:solidFill>
                <a:latin typeface="Times New Roman" panose="02020603050405020304" pitchFamily="18" charset="0"/>
                <a:ea typeface="宋体" panose="02010600030101010101" pitchFamily="2" charset="-122"/>
              </a:rPr>
              <a:t>2</a:t>
            </a:r>
            <a:r>
              <a:rPr lang="en-US" altLang="zh-CN" sz="2200">
                <a:solidFill>
                  <a:srgbClr val="FF0000"/>
                </a:solidFill>
                <a:latin typeface="Times New Roman" panose="02020603050405020304" pitchFamily="18" charset="0"/>
                <a:ea typeface="宋体" panose="02010600030101010101" pitchFamily="2" charset="-122"/>
              </a:rPr>
              <a:t>(t)</a:t>
            </a:r>
            <a:r>
              <a:rPr lang="zh-CN" altLang="en-US" sz="2200">
                <a:solidFill>
                  <a:srgbClr val="FF0000"/>
                </a:solidFill>
                <a:latin typeface="Times New Roman" panose="02020603050405020304" pitchFamily="18" charset="0"/>
                <a:ea typeface="宋体" panose="02010600030101010101" pitchFamily="2" charset="-122"/>
              </a:rPr>
              <a:t>，则有：</a:t>
            </a:r>
          </a:p>
        </p:txBody>
      </p:sp>
      <mc:AlternateContent xmlns:mc="http://schemas.openxmlformats.org/markup-compatibility/2006" xmlns:a14="http://schemas.microsoft.com/office/drawing/2010/main">
        <mc:Choice Requires="a14">
          <p:sp>
            <p:nvSpPr>
              <p:cNvPr id="1566729" name="Object 3"/>
              <p:cNvSpPr txBox="1"/>
              <p:nvPr/>
            </p:nvSpPr>
            <p:spPr bwMode="auto">
              <a:xfrm>
                <a:off x="3535363" y="4932363"/>
                <a:ext cx="3159125" cy="62547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66729" name="Object 3"/>
              <p:cNvSpPr txBox="1">
                <a:spLocks noRot="1" noChangeAspect="1" noMove="1" noResize="1" noEditPoints="1" noAdjustHandles="1" noChangeArrowheads="1" noChangeShapeType="1" noTextEdit="1"/>
              </p:cNvSpPr>
              <p:nvPr/>
            </p:nvSpPr>
            <p:spPr bwMode="auto">
              <a:xfrm>
                <a:off x="3535363" y="4932363"/>
                <a:ext cx="3159125" cy="625475"/>
              </a:xfrm>
              <a:prstGeom prst="rect">
                <a:avLst/>
              </a:prstGeom>
              <a:blipFill rotWithShape="1">
                <a:blip r:embed="rId5"/>
                <a:stretch>
                  <a:fillRect l="-10" t="-51" r="10" b="51"/>
                </a:stretch>
              </a:blipFill>
              <a:ln>
                <a:noFill/>
              </a:ln>
              <a:effectLst/>
            </p:spPr>
            <p:txBody>
              <a:bodyPr/>
              <a:lstStyle/>
              <a:p>
                <a:r>
                  <a:rPr lang="zh-CN" altLang="en-US">
                    <a:noFill/>
                  </a:rPr>
                  <a:t> </a:t>
                </a:r>
              </a:p>
            </p:txBody>
          </p:sp>
        </mc:Fallback>
      </mc:AlternateContent>
      <p:sp>
        <p:nvSpPr>
          <p:cNvPr id="1566730" name="Rectangle 10"/>
          <p:cNvSpPr>
            <a:spLocks noChangeArrowheads="1"/>
          </p:cNvSpPr>
          <p:nvPr/>
        </p:nvSpPr>
        <p:spPr bwMode="auto">
          <a:xfrm>
            <a:off x="4324350" y="5710238"/>
            <a:ext cx="40163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所以，该系统是非线性的</a:t>
            </a:r>
          </a:p>
        </p:txBody>
      </p:sp>
      <mc:AlternateContent xmlns:mc="http://schemas.openxmlformats.org/markup-compatibility/2006" xmlns:a14="http://schemas.microsoft.com/office/drawing/2010/main">
        <mc:Choice Requires="a14">
          <p:sp>
            <p:nvSpPr>
              <p:cNvPr id="1566731" name="Object 4"/>
              <p:cNvSpPr txBox="1"/>
              <p:nvPr/>
            </p:nvSpPr>
            <p:spPr bwMode="auto">
              <a:xfrm>
                <a:off x="3756025" y="1614488"/>
                <a:ext cx="3903663" cy="569912"/>
              </a:xfrm>
              <a:prstGeom prst="rect">
                <a:avLst/>
              </a:prstGeom>
              <a:solidFill>
                <a:srgbClr val="CADAC2"/>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66731" name="Object 4"/>
              <p:cNvSpPr txBox="1">
                <a:spLocks noRot="1" noChangeAspect="1" noMove="1" noResize="1" noEditPoints="1" noAdjustHandles="1" noChangeArrowheads="1" noChangeShapeType="1" noTextEdit="1"/>
              </p:cNvSpPr>
              <p:nvPr/>
            </p:nvSpPr>
            <p:spPr bwMode="auto">
              <a:xfrm>
                <a:off x="3756025" y="1614488"/>
                <a:ext cx="3903663" cy="569912"/>
              </a:xfrm>
              <a:prstGeom prst="rect">
                <a:avLst/>
              </a:prstGeom>
              <a:blipFill rotWithShape="1">
                <a:blip r:embed="rId6"/>
                <a:stretch>
                  <a:fillRect t="-56" r="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6732" name="Object 5"/>
              <p:cNvSpPr txBox="1"/>
              <p:nvPr/>
            </p:nvSpPr>
            <p:spPr bwMode="auto">
              <a:xfrm>
                <a:off x="3189288" y="3273425"/>
                <a:ext cx="5210175" cy="604838"/>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66732" name="Object 5"/>
              <p:cNvSpPr txBox="1">
                <a:spLocks noRot="1" noChangeAspect="1" noMove="1" noResize="1" noEditPoints="1" noAdjustHandles="1" noChangeArrowheads="1" noChangeShapeType="1" noTextEdit="1"/>
              </p:cNvSpPr>
              <p:nvPr/>
            </p:nvSpPr>
            <p:spPr bwMode="auto">
              <a:xfrm>
                <a:off x="3189288" y="3273425"/>
                <a:ext cx="5210175" cy="604838"/>
              </a:xfrm>
              <a:prstGeom prst="rect">
                <a:avLst/>
              </a:prstGeom>
              <a:blipFill rotWithShape="1">
                <a:blip r:embed="rId7"/>
                <a:stretch>
                  <a:fillRect l="-6" r="6" b="5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6733" name="Object 6"/>
              <p:cNvSpPr txBox="1"/>
              <p:nvPr/>
            </p:nvSpPr>
            <p:spPr bwMode="auto">
              <a:xfrm>
                <a:off x="3548063" y="4154488"/>
                <a:ext cx="5257800" cy="569912"/>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66733" name="Object 6"/>
              <p:cNvSpPr txBox="1">
                <a:spLocks noRot="1" noChangeAspect="1" noMove="1" noResize="1" noEditPoints="1" noAdjustHandles="1" noChangeArrowheads="1" noChangeShapeType="1" noTextEdit="1"/>
              </p:cNvSpPr>
              <p:nvPr/>
            </p:nvSpPr>
            <p:spPr bwMode="auto">
              <a:xfrm>
                <a:off x="3548063" y="4154488"/>
                <a:ext cx="5257800" cy="569912"/>
              </a:xfrm>
              <a:prstGeom prst="rect">
                <a:avLst/>
              </a:prstGeom>
              <a:blipFill rotWithShape="1">
                <a:blip r:embed="rId8"/>
                <a:stretch>
                  <a:fillRect l="-6" t="-56" r="6"/>
                </a:stretch>
              </a:blipFill>
              <a:ln>
                <a:noFill/>
              </a:ln>
              <a:effectLst/>
            </p:spPr>
            <p:txBody>
              <a:bodyPr/>
              <a:lstStyle/>
              <a:p>
                <a:r>
                  <a:rPr lang="zh-CN" altLang="en-US">
                    <a:noFill/>
                  </a:rPr>
                  <a:t> </a:t>
                </a:r>
              </a:p>
            </p:txBody>
          </p:sp>
        </mc:Fallback>
      </mc:AlternateContent>
      <p:sp>
        <p:nvSpPr>
          <p:cNvPr id="15" name="日期占位符 14"/>
          <p:cNvSpPr>
            <a:spLocks noGrp="1"/>
          </p:cNvSpPr>
          <p:nvPr>
            <p:ph type="dt" sz="quarter" idx="10"/>
          </p:nvPr>
        </p:nvSpPr>
        <p:spPr/>
        <p:txBody>
          <a:bodyPr/>
          <a:lstStyle/>
          <a:p>
            <a:pPr>
              <a:defRPr/>
            </a:pPr>
            <a:fld id="{5517EEFE-319C-4949-886D-C40F91E7CE54}" type="datetime3">
              <a:rPr lang="zh-CN" altLang="en-US"/>
              <a:t>2026年3月4日星期三</a:t>
            </a:fld>
            <a:endParaRPr lang="en-US" altLang="zh-CN" dirty="0"/>
          </a:p>
        </p:txBody>
      </p:sp>
    </p:spTree>
    <p:custDataLst>
      <p:tags r:id="rId1"/>
    </p:custDataLst>
  </p:cSld>
  <p:clrMapOvr>
    <a:masterClrMapping/>
  </p:clrMapOvr>
  <p:transition spd="med" advTm="66397">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66726"/>
                                        </p:tgtEl>
                                        <p:attrNameLst>
                                          <p:attrName>style.visibility</p:attrName>
                                        </p:attrNameLst>
                                      </p:cBhvr>
                                      <p:to>
                                        <p:strVal val="visible"/>
                                      </p:to>
                                    </p:set>
                                    <p:anim calcmode="lin" valueType="num">
                                      <p:cBhvr>
                                        <p:cTn id="7" dur="1000" fill="hold"/>
                                        <p:tgtEl>
                                          <p:spTgt spid="1566726"/>
                                        </p:tgtEl>
                                        <p:attrNameLst>
                                          <p:attrName>ppt_w</p:attrName>
                                        </p:attrNameLst>
                                      </p:cBhvr>
                                      <p:tavLst>
                                        <p:tav tm="0">
                                          <p:val>
                                            <p:strVal val="#ppt_w*0.70"/>
                                          </p:val>
                                        </p:tav>
                                        <p:tav tm="100000">
                                          <p:val>
                                            <p:strVal val="#ppt_w"/>
                                          </p:val>
                                        </p:tav>
                                      </p:tavLst>
                                    </p:anim>
                                    <p:anim calcmode="lin" valueType="num">
                                      <p:cBhvr>
                                        <p:cTn id="8" dur="1000" fill="hold"/>
                                        <p:tgtEl>
                                          <p:spTgt spid="1566726"/>
                                        </p:tgtEl>
                                        <p:attrNameLst>
                                          <p:attrName>ppt_h</p:attrName>
                                        </p:attrNameLst>
                                      </p:cBhvr>
                                      <p:tavLst>
                                        <p:tav tm="0">
                                          <p:val>
                                            <p:strVal val="#ppt_h"/>
                                          </p:val>
                                        </p:tav>
                                        <p:tav tm="100000">
                                          <p:val>
                                            <p:strVal val="#ppt_h"/>
                                          </p:val>
                                        </p:tav>
                                      </p:tavLst>
                                    </p:anim>
                                    <p:animEffect transition="in" filter="fade">
                                      <p:cBhvr>
                                        <p:cTn id="9" dur="1000"/>
                                        <p:tgtEl>
                                          <p:spTgt spid="1566726"/>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66728"/>
                                        </p:tgtEl>
                                        <p:attrNameLst>
                                          <p:attrName>style.visibility</p:attrName>
                                        </p:attrNameLst>
                                      </p:cBhvr>
                                      <p:to>
                                        <p:strVal val="visible"/>
                                      </p:to>
                                    </p:set>
                                    <p:anim calcmode="lin" valueType="num">
                                      <p:cBhvr>
                                        <p:cTn id="13" dur="1000" fill="hold"/>
                                        <p:tgtEl>
                                          <p:spTgt spid="1566728"/>
                                        </p:tgtEl>
                                        <p:attrNameLst>
                                          <p:attrName>ppt_w</p:attrName>
                                        </p:attrNameLst>
                                      </p:cBhvr>
                                      <p:tavLst>
                                        <p:tav tm="0">
                                          <p:val>
                                            <p:strVal val="#ppt_w*0.70"/>
                                          </p:val>
                                        </p:tav>
                                        <p:tav tm="100000">
                                          <p:val>
                                            <p:strVal val="#ppt_w"/>
                                          </p:val>
                                        </p:tav>
                                      </p:tavLst>
                                    </p:anim>
                                    <p:anim calcmode="lin" valueType="num">
                                      <p:cBhvr>
                                        <p:cTn id="14" dur="1000" fill="hold"/>
                                        <p:tgtEl>
                                          <p:spTgt spid="1566728"/>
                                        </p:tgtEl>
                                        <p:attrNameLst>
                                          <p:attrName>ppt_h</p:attrName>
                                        </p:attrNameLst>
                                      </p:cBhvr>
                                      <p:tavLst>
                                        <p:tav tm="0">
                                          <p:val>
                                            <p:strVal val="#ppt_h"/>
                                          </p:val>
                                        </p:tav>
                                        <p:tav tm="100000">
                                          <p:val>
                                            <p:strVal val="#ppt_h"/>
                                          </p:val>
                                        </p:tav>
                                      </p:tavLst>
                                    </p:anim>
                                    <p:animEffect transition="in" filter="fade">
                                      <p:cBhvr>
                                        <p:cTn id="15" dur="1000"/>
                                        <p:tgtEl>
                                          <p:spTgt spid="156672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56673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6673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566729"/>
                                        </p:tgtEl>
                                        <p:attrNameLst>
                                          <p:attrName>style.visibility</p:attrName>
                                        </p:attrNameLst>
                                      </p:cBhvr>
                                      <p:to>
                                        <p:strVal val="visible"/>
                                      </p:to>
                                    </p:set>
                                    <p:anim calcmode="lin" valueType="num">
                                      <p:cBhvr additive="base">
                                        <p:cTn id="28" dur="500" fill="hold"/>
                                        <p:tgtEl>
                                          <p:spTgt spid="1566729"/>
                                        </p:tgtEl>
                                        <p:attrNameLst>
                                          <p:attrName>ppt_x</p:attrName>
                                        </p:attrNameLst>
                                      </p:cBhvr>
                                      <p:tavLst>
                                        <p:tav tm="0">
                                          <p:val>
                                            <p:strVal val="#ppt_x"/>
                                          </p:val>
                                        </p:tav>
                                        <p:tav tm="100000">
                                          <p:val>
                                            <p:strVal val="#ppt_x"/>
                                          </p:val>
                                        </p:tav>
                                      </p:tavLst>
                                    </p:anim>
                                    <p:anim calcmode="lin" valueType="num">
                                      <p:cBhvr additive="base">
                                        <p:cTn id="29" dur="500" fill="hold"/>
                                        <p:tgtEl>
                                          <p:spTgt spid="1566729"/>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1566730"/>
                                        </p:tgtEl>
                                        <p:attrNameLst>
                                          <p:attrName>style.visibility</p:attrName>
                                        </p:attrNameLst>
                                      </p:cBhvr>
                                      <p:to>
                                        <p:strVal val="visible"/>
                                      </p:to>
                                    </p:set>
                                    <p:anim calcmode="lin" valueType="num">
                                      <p:cBhvr>
                                        <p:cTn id="34" dur="1000" fill="hold"/>
                                        <p:tgtEl>
                                          <p:spTgt spid="1566730"/>
                                        </p:tgtEl>
                                        <p:attrNameLst>
                                          <p:attrName>ppt_w</p:attrName>
                                        </p:attrNameLst>
                                      </p:cBhvr>
                                      <p:tavLst>
                                        <p:tav tm="0">
                                          <p:val>
                                            <p:strVal val="#ppt_w*0.70"/>
                                          </p:val>
                                        </p:tav>
                                        <p:tav tm="100000">
                                          <p:val>
                                            <p:strVal val="#ppt_w"/>
                                          </p:val>
                                        </p:tav>
                                      </p:tavLst>
                                    </p:anim>
                                    <p:anim calcmode="lin" valueType="num">
                                      <p:cBhvr>
                                        <p:cTn id="35" dur="1000" fill="hold"/>
                                        <p:tgtEl>
                                          <p:spTgt spid="1566730"/>
                                        </p:tgtEl>
                                        <p:attrNameLst>
                                          <p:attrName>ppt_h</p:attrName>
                                        </p:attrNameLst>
                                      </p:cBhvr>
                                      <p:tavLst>
                                        <p:tav tm="0">
                                          <p:val>
                                            <p:strVal val="#ppt_h"/>
                                          </p:val>
                                        </p:tav>
                                        <p:tav tm="100000">
                                          <p:val>
                                            <p:strVal val="#ppt_h"/>
                                          </p:val>
                                        </p:tav>
                                      </p:tavLst>
                                    </p:anim>
                                    <p:animEffect transition="in" filter="fade">
                                      <p:cBhvr>
                                        <p:cTn id="36" dur="1000"/>
                                        <p:tgtEl>
                                          <p:spTgt spid="1566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26" grpId="0"/>
      <p:bldP spid="1566728" grpId="0"/>
      <p:bldP spid="1566729" grpId="0"/>
      <p:bldP spid="1566730" grpId="0"/>
      <p:bldP spid="1566732" grpId="0"/>
      <p:bldP spid="156673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4194175" y="800100"/>
            <a:ext cx="2517775" cy="538163"/>
          </a:xfrm>
        </p:spPr>
        <p:txBody>
          <a:bodyPr/>
          <a:lstStyle/>
          <a:p>
            <a:r>
              <a:rPr lang="zh-CN" altLang="en-US" sz="1700" b="1">
                <a:solidFill>
                  <a:srgbClr val="0000FF"/>
                </a:solidFill>
                <a:ea typeface="黑体" panose="02010609060101010101" pitchFamily="49" charset="-122"/>
              </a:rPr>
              <a:t>线性系统和非线性系统</a:t>
            </a:r>
          </a:p>
        </p:txBody>
      </p:sp>
      <p:sp>
        <p:nvSpPr>
          <p:cNvPr id="133123"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67750"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例：判断下列系统是否为线性系统</a:t>
            </a:r>
          </a:p>
        </p:txBody>
      </p:sp>
      <mc:AlternateContent xmlns:mc="http://schemas.openxmlformats.org/markup-compatibility/2006" xmlns:a14="http://schemas.microsoft.com/office/drawing/2010/main">
        <mc:Choice Requires="a14">
          <p:sp>
            <p:nvSpPr>
              <p:cNvPr id="1567751" name="Object 2"/>
              <p:cNvSpPr txBox="1"/>
              <p:nvPr/>
            </p:nvSpPr>
            <p:spPr bwMode="auto">
              <a:xfrm>
                <a:off x="198438" y="1895475"/>
                <a:ext cx="2517775" cy="4310063"/>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(7)</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oMath>
                  </m:oMathPara>
                </a14:m>
                <a:endParaRPr lang="zh-CN" altLang="en-US"/>
              </a:p>
            </p:txBody>
          </p:sp>
        </mc:Choice>
        <mc:Fallback xmlns="">
          <p:sp>
            <p:nvSpPr>
              <p:cNvPr id="1567751" name="Object 2"/>
              <p:cNvSpPr txBox="1">
                <a:spLocks noRot="1" noChangeAspect="1" noMove="1" noResize="1" noEditPoints="1" noAdjustHandles="1" noChangeArrowheads="1" noChangeShapeType="1" noTextEdit="1"/>
              </p:cNvSpPr>
              <p:nvPr/>
            </p:nvSpPr>
            <p:spPr bwMode="auto">
              <a:xfrm>
                <a:off x="198438" y="1895475"/>
                <a:ext cx="2517775" cy="4310063"/>
              </a:xfrm>
              <a:prstGeom prst="rect">
                <a:avLst/>
              </a:prstGeom>
              <a:blipFill rotWithShape="1">
                <a:blip r:embed="rId4"/>
                <a:stretch>
                  <a:fillRect l="-13" r="-996" b="-582"/>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67752" name="Rectangle 8"/>
          <p:cNvSpPr>
            <a:spLocks noChangeArrowheads="1"/>
          </p:cNvSpPr>
          <p:nvPr/>
        </p:nvSpPr>
        <p:spPr bwMode="auto">
          <a:xfrm>
            <a:off x="3140075" y="2392363"/>
            <a:ext cx="54324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ea typeface="宋体" panose="02010600030101010101" pitchFamily="2" charset="-122"/>
              </a:rPr>
              <a:t>解：设 </a:t>
            </a:r>
            <a:r>
              <a:rPr lang="en-US" altLang="zh-CN" sz="2500">
                <a:solidFill>
                  <a:srgbClr val="FF0000"/>
                </a:solidFill>
                <a:latin typeface="Times New Roman" panose="02020603050405020304" pitchFamily="18" charset="0"/>
                <a:ea typeface="宋体" panose="02010600030101010101" pitchFamily="2" charset="-122"/>
              </a:rPr>
              <a:t>e(t)= k</a:t>
            </a:r>
            <a:r>
              <a:rPr lang="en-US" altLang="zh-CN" sz="2500" baseline="-25000">
                <a:solidFill>
                  <a:srgbClr val="FF0000"/>
                </a:solidFill>
                <a:latin typeface="Times New Roman" panose="02020603050405020304" pitchFamily="18" charset="0"/>
                <a:ea typeface="宋体" panose="02010600030101010101" pitchFamily="2" charset="-122"/>
              </a:rPr>
              <a:t>1</a:t>
            </a:r>
            <a:r>
              <a:rPr lang="en-US" altLang="zh-CN" sz="2500">
                <a:solidFill>
                  <a:srgbClr val="FF0000"/>
                </a:solidFill>
                <a:latin typeface="Times New Roman" panose="02020603050405020304" pitchFamily="18" charset="0"/>
                <a:ea typeface="宋体" panose="02010600030101010101" pitchFamily="2" charset="-122"/>
              </a:rPr>
              <a:t> e</a:t>
            </a:r>
            <a:r>
              <a:rPr lang="en-US" altLang="zh-CN" sz="2500" baseline="-25000">
                <a:solidFill>
                  <a:srgbClr val="FF0000"/>
                </a:solidFill>
                <a:latin typeface="Times New Roman" panose="02020603050405020304" pitchFamily="18" charset="0"/>
                <a:ea typeface="宋体" panose="02010600030101010101" pitchFamily="2" charset="-122"/>
              </a:rPr>
              <a:t>1</a:t>
            </a:r>
            <a:r>
              <a:rPr lang="en-US" altLang="zh-CN" sz="2500">
                <a:solidFill>
                  <a:srgbClr val="FF0000"/>
                </a:solidFill>
                <a:latin typeface="Times New Roman" panose="02020603050405020304" pitchFamily="18" charset="0"/>
                <a:ea typeface="宋体" panose="02010600030101010101" pitchFamily="2" charset="-122"/>
              </a:rPr>
              <a:t>(t)</a:t>
            </a:r>
            <a:r>
              <a:rPr lang="zh-CN" altLang="en-US" sz="2500">
                <a:solidFill>
                  <a:srgbClr val="FF0000"/>
                </a:solidFill>
                <a:latin typeface="Times New Roman" panose="02020603050405020304" pitchFamily="18" charset="0"/>
                <a:ea typeface="宋体" panose="02010600030101010101" pitchFamily="2" charset="-122"/>
              </a:rPr>
              <a:t>＋</a:t>
            </a:r>
            <a:r>
              <a:rPr lang="en-US" altLang="zh-CN" sz="2500">
                <a:solidFill>
                  <a:srgbClr val="FF0000"/>
                </a:solidFill>
                <a:latin typeface="Times New Roman" panose="02020603050405020304" pitchFamily="18" charset="0"/>
                <a:ea typeface="宋体" panose="02010600030101010101" pitchFamily="2" charset="-122"/>
              </a:rPr>
              <a:t>k</a:t>
            </a:r>
            <a:r>
              <a:rPr lang="en-US" altLang="zh-CN" sz="2500" baseline="-25000">
                <a:solidFill>
                  <a:srgbClr val="FF0000"/>
                </a:solidFill>
                <a:latin typeface="Times New Roman" panose="02020603050405020304" pitchFamily="18" charset="0"/>
                <a:ea typeface="宋体" panose="02010600030101010101" pitchFamily="2" charset="-122"/>
              </a:rPr>
              <a:t>2</a:t>
            </a:r>
            <a:r>
              <a:rPr lang="en-US" altLang="zh-CN" sz="2500">
                <a:solidFill>
                  <a:srgbClr val="FF0000"/>
                </a:solidFill>
                <a:latin typeface="Times New Roman" panose="02020603050405020304" pitchFamily="18" charset="0"/>
                <a:ea typeface="宋体" panose="02010600030101010101" pitchFamily="2" charset="-122"/>
              </a:rPr>
              <a:t> e</a:t>
            </a:r>
            <a:r>
              <a:rPr lang="en-US" altLang="zh-CN" sz="2500" baseline="-25000">
                <a:solidFill>
                  <a:srgbClr val="FF0000"/>
                </a:solidFill>
                <a:latin typeface="Times New Roman" panose="02020603050405020304" pitchFamily="18" charset="0"/>
                <a:ea typeface="宋体" panose="02010600030101010101" pitchFamily="2" charset="-122"/>
              </a:rPr>
              <a:t>2</a:t>
            </a:r>
            <a:r>
              <a:rPr lang="en-US" altLang="zh-CN" sz="2500">
                <a:solidFill>
                  <a:srgbClr val="FF0000"/>
                </a:solidFill>
                <a:latin typeface="Times New Roman" panose="02020603050405020304" pitchFamily="18" charset="0"/>
                <a:ea typeface="宋体" panose="02010600030101010101" pitchFamily="2" charset="-122"/>
              </a:rPr>
              <a:t>(t)</a:t>
            </a:r>
            <a:r>
              <a:rPr lang="zh-CN" altLang="en-US" sz="2500">
                <a:solidFill>
                  <a:srgbClr val="FF0000"/>
                </a:solidFill>
                <a:latin typeface="Times New Roman" panose="02020603050405020304" pitchFamily="18" charset="0"/>
                <a:ea typeface="宋体" panose="02010600030101010101" pitchFamily="2" charset="-122"/>
              </a:rPr>
              <a:t>，则有：</a:t>
            </a:r>
          </a:p>
        </p:txBody>
      </p:sp>
      <mc:AlternateContent xmlns:mc="http://schemas.openxmlformats.org/markup-compatibility/2006" xmlns:a14="http://schemas.microsoft.com/office/drawing/2010/main">
        <mc:Choice Requires="a14">
          <p:sp>
            <p:nvSpPr>
              <p:cNvPr id="1567753" name="Object 3"/>
              <p:cNvSpPr txBox="1"/>
              <p:nvPr/>
            </p:nvSpPr>
            <p:spPr bwMode="auto">
              <a:xfrm>
                <a:off x="4029075" y="4570413"/>
                <a:ext cx="3159125" cy="62547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67753" name="Object 3"/>
              <p:cNvSpPr txBox="1">
                <a:spLocks noRot="1" noChangeAspect="1" noMove="1" noResize="1" noEditPoints="1" noAdjustHandles="1" noChangeArrowheads="1" noChangeShapeType="1" noTextEdit="1"/>
              </p:cNvSpPr>
              <p:nvPr/>
            </p:nvSpPr>
            <p:spPr bwMode="auto">
              <a:xfrm>
                <a:off x="4029075" y="4570413"/>
                <a:ext cx="3159125" cy="625475"/>
              </a:xfrm>
              <a:prstGeom prst="rect">
                <a:avLst/>
              </a:prstGeom>
              <a:blipFill rotWithShape="1">
                <a:blip r:embed="rId5"/>
                <a:stretch>
                  <a:fillRect t="-51" b="51"/>
                </a:stretch>
              </a:blipFill>
              <a:ln>
                <a:noFill/>
              </a:ln>
              <a:effectLst/>
            </p:spPr>
            <p:txBody>
              <a:bodyPr/>
              <a:lstStyle/>
              <a:p>
                <a:r>
                  <a:rPr lang="zh-CN" altLang="en-US">
                    <a:noFill/>
                  </a:rPr>
                  <a:t> </a:t>
                </a:r>
              </a:p>
            </p:txBody>
          </p:sp>
        </mc:Fallback>
      </mc:AlternateContent>
      <p:sp>
        <p:nvSpPr>
          <p:cNvPr id="1567754" name="Rectangle 10"/>
          <p:cNvSpPr>
            <a:spLocks noChangeArrowheads="1"/>
          </p:cNvSpPr>
          <p:nvPr/>
        </p:nvSpPr>
        <p:spPr bwMode="auto">
          <a:xfrm>
            <a:off x="4324350" y="5607050"/>
            <a:ext cx="36544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所以，该系统是线性的</a:t>
            </a:r>
          </a:p>
        </p:txBody>
      </p:sp>
      <mc:AlternateContent xmlns:mc="http://schemas.openxmlformats.org/markup-compatibility/2006" xmlns:a14="http://schemas.microsoft.com/office/drawing/2010/main">
        <mc:Choice Requires="a14">
          <p:sp>
            <p:nvSpPr>
              <p:cNvPr id="1567756" name="Object 4"/>
              <p:cNvSpPr txBox="1"/>
              <p:nvPr/>
            </p:nvSpPr>
            <p:spPr bwMode="auto">
              <a:xfrm>
                <a:off x="3386138" y="3533775"/>
                <a:ext cx="4492625" cy="633413"/>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m:t>
                      </m:r>
                      <m:r>
                        <m:rPr>
                          <m:nor/>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m:t>
                      </m:r>
                      <m:r>
                        <m:rPr>
                          <m:nor/>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67756" name="Object 4"/>
              <p:cNvSpPr txBox="1">
                <a:spLocks noRot="1" noChangeAspect="1" noMove="1" noResize="1" noEditPoints="1" noAdjustHandles="1" noChangeArrowheads="1" noChangeShapeType="1" noTextEdit="1"/>
              </p:cNvSpPr>
              <p:nvPr/>
            </p:nvSpPr>
            <p:spPr bwMode="auto">
              <a:xfrm>
                <a:off x="3386138" y="3533775"/>
                <a:ext cx="4492625" cy="633413"/>
              </a:xfrm>
              <a:prstGeom prst="rect">
                <a:avLst/>
              </a:prstGeom>
              <a:blipFill rotWithShape="1">
                <a:blip r:embed="rId6"/>
                <a:stretch>
                  <a:fillRect l="-7" r="7" b="5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7758" name="Object 5"/>
              <p:cNvSpPr txBox="1"/>
              <p:nvPr/>
            </p:nvSpPr>
            <p:spPr bwMode="auto">
              <a:xfrm>
                <a:off x="3932238" y="1495425"/>
                <a:ext cx="3305175" cy="600075"/>
              </a:xfrm>
              <a:prstGeom prst="rect">
                <a:avLst/>
              </a:prstGeom>
              <a:solidFill>
                <a:srgbClr val="CADAC2"/>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67758" name="Object 5"/>
              <p:cNvSpPr txBox="1">
                <a:spLocks noRot="1" noChangeAspect="1" noMove="1" noResize="1" noEditPoints="1" noAdjustHandles="1" noChangeArrowheads="1" noChangeShapeType="1" noTextEdit="1"/>
              </p:cNvSpPr>
              <p:nvPr/>
            </p:nvSpPr>
            <p:spPr bwMode="auto">
              <a:xfrm>
                <a:off x="3932238" y="1495425"/>
                <a:ext cx="3305175" cy="600075"/>
              </a:xfrm>
              <a:prstGeom prst="rect">
                <a:avLst/>
              </a:prstGeom>
              <a:blipFill rotWithShape="1">
                <a:blip r:embed="rId7"/>
                <a:stretch>
                  <a:fillRect l="-10" r="-759" b="-4127"/>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4" name="日期占位符 13"/>
          <p:cNvSpPr>
            <a:spLocks noGrp="1"/>
          </p:cNvSpPr>
          <p:nvPr>
            <p:ph type="dt" sz="quarter" idx="10"/>
          </p:nvPr>
        </p:nvSpPr>
        <p:spPr/>
        <p:txBody>
          <a:bodyPr/>
          <a:lstStyle/>
          <a:p>
            <a:pPr>
              <a:defRPr/>
            </a:pPr>
            <a:fld id="{129ED35C-F760-435E-A88C-4203BEA0953D}" type="datetime3">
              <a:rPr lang="zh-CN" altLang="en-US"/>
              <a:t>2026年3月4日星期三</a:t>
            </a:fld>
            <a:endParaRPr lang="en-US" altLang="zh-CN" dirty="0"/>
          </a:p>
        </p:txBody>
      </p:sp>
    </p:spTree>
    <p:custDataLst>
      <p:tags r:id="rId1"/>
    </p:custDataLst>
  </p:cSld>
  <p:clrMapOvr>
    <a:masterClrMapping/>
  </p:clrMapOvr>
  <p:transition spd="med" advTm="45167">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67750"/>
                                        </p:tgtEl>
                                        <p:attrNameLst>
                                          <p:attrName>style.visibility</p:attrName>
                                        </p:attrNameLst>
                                      </p:cBhvr>
                                      <p:to>
                                        <p:strVal val="visible"/>
                                      </p:to>
                                    </p:set>
                                    <p:anim calcmode="lin" valueType="num">
                                      <p:cBhvr>
                                        <p:cTn id="7" dur="1000" fill="hold"/>
                                        <p:tgtEl>
                                          <p:spTgt spid="1567750"/>
                                        </p:tgtEl>
                                        <p:attrNameLst>
                                          <p:attrName>ppt_w</p:attrName>
                                        </p:attrNameLst>
                                      </p:cBhvr>
                                      <p:tavLst>
                                        <p:tav tm="0">
                                          <p:val>
                                            <p:strVal val="#ppt_w*0.70"/>
                                          </p:val>
                                        </p:tav>
                                        <p:tav tm="100000">
                                          <p:val>
                                            <p:strVal val="#ppt_w"/>
                                          </p:val>
                                        </p:tav>
                                      </p:tavLst>
                                    </p:anim>
                                    <p:anim calcmode="lin" valueType="num">
                                      <p:cBhvr>
                                        <p:cTn id="8" dur="1000" fill="hold"/>
                                        <p:tgtEl>
                                          <p:spTgt spid="1567750"/>
                                        </p:tgtEl>
                                        <p:attrNameLst>
                                          <p:attrName>ppt_h</p:attrName>
                                        </p:attrNameLst>
                                      </p:cBhvr>
                                      <p:tavLst>
                                        <p:tav tm="0">
                                          <p:val>
                                            <p:strVal val="#ppt_h"/>
                                          </p:val>
                                        </p:tav>
                                        <p:tav tm="100000">
                                          <p:val>
                                            <p:strVal val="#ppt_h"/>
                                          </p:val>
                                        </p:tav>
                                      </p:tavLst>
                                    </p:anim>
                                    <p:animEffect transition="in" filter="fade">
                                      <p:cBhvr>
                                        <p:cTn id="9" dur="1000"/>
                                        <p:tgtEl>
                                          <p:spTgt spid="156775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67752"/>
                                        </p:tgtEl>
                                        <p:attrNameLst>
                                          <p:attrName>style.visibility</p:attrName>
                                        </p:attrNameLst>
                                      </p:cBhvr>
                                      <p:to>
                                        <p:strVal val="visible"/>
                                      </p:to>
                                    </p:set>
                                    <p:anim calcmode="lin" valueType="num">
                                      <p:cBhvr>
                                        <p:cTn id="14" dur="1000" fill="hold"/>
                                        <p:tgtEl>
                                          <p:spTgt spid="1567752"/>
                                        </p:tgtEl>
                                        <p:attrNameLst>
                                          <p:attrName>ppt_w</p:attrName>
                                        </p:attrNameLst>
                                      </p:cBhvr>
                                      <p:tavLst>
                                        <p:tav tm="0">
                                          <p:val>
                                            <p:strVal val="#ppt_w*0.70"/>
                                          </p:val>
                                        </p:tav>
                                        <p:tav tm="100000">
                                          <p:val>
                                            <p:strVal val="#ppt_w"/>
                                          </p:val>
                                        </p:tav>
                                      </p:tavLst>
                                    </p:anim>
                                    <p:anim calcmode="lin" valueType="num">
                                      <p:cBhvr>
                                        <p:cTn id="15" dur="1000" fill="hold"/>
                                        <p:tgtEl>
                                          <p:spTgt spid="1567752"/>
                                        </p:tgtEl>
                                        <p:attrNameLst>
                                          <p:attrName>ppt_h</p:attrName>
                                        </p:attrNameLst>
                                      </p:cBhvr>
                                      <p:tavLst>
                                        <p:tav tm="0">
                                          <p:val>
                                            <p:strVal val="#ppt_h"/>
                                          </p:val>
                                        </p:tav>
                                        <p:tav tm="100000">
                                          <p:val>
                                            <p:strVal val="#ppt_h"/>
                                          </p:val>
                                        </p:tav>
                                      </p:tavLst>
                                    </p:anim>
                                    <p:animEffect transition="in" filter="fade">
                                      <p:cBhvr>
                                        <p:cTn id="16" dur="1000"/>
                                        <p:tgtEl>
                                          <p:spTgt spid="156775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677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677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1567754"/>
                                        </p:tgtEl>
                                        <p:attrNameLst>
                                          <p:attrName>style.visibility</p:attrName>
                                        </p:attrNameLst>
                                      </p:cBhvr>
                                      <p:to>
                                        <p:strVal val="visible"/>
                                      </p:to>
                                    </p:set>
                                    <p:anim calcmode="lin" valueType="num">
                                      <p:cBhvr>
                                        <p:cTn id="29" dur="1000" fill="hold"/>
                                        <p:tgtEl>
                                          <p:spTgt spid="1567754"/>
                                        </p:tgtEl>
                                        <p:attrNameLst>
                                          <p:attrName>ppt_w</p:attrName>
                                        </p:attrNameLst>
                                      </p:cBhvr>
                                      <p:tavLst>
                                        <p:tav tm="0">
                                          <p:val>
                                            <p:strVal val="#ppt_w*0.70"/>
                                          </p:val>
                                        </p:tav>
                                        <p:tav tm="100000">
                                          <p:val>
                                            <p:strVal val="#ppt_w"/>
                                          </p:val>
                                        </p:tav>
                                      </p:tavLst>
                                    </p:anim>
                                    <p:anim calcmode="lin" valueType="num">
                                      <p:cBhvr>
                                        <p:cTn id="30" dur="1000" fill="hold"/>
                                        <p:tgtEl>
                                          <p:spTgt spid="1567754"/>
                                        </p:tgtEl>
                                        <p:attrNameLst>
                                          <p:attrName>ppt_h</p:attrName>
                                        </p:attrNameLst>
                                      </p:cBhvr>
                                      <p:tavLst>
                                        <p:tav tm="0">
                                          <p:val>
                                            <p:strVal val="#ppt_h"/>
                                          </p:val>
                                        </p:tav>
                                        <p:tav tm="100000">
                                          <p:val>
                                            <p:strVal val="#ppt_h"/>
                                          </p:val>
                                        </p:tav>
                                      </p:tavLst>
                                    </p:anim>
                                    <p:animEffect transition="in" filter="fade">
                                      <p:cBhvr>
                                        <p:cTn id="31" dur="1000"/>
                                        <p:tgtEl>
                                          <p:spTgt spid="1567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750" grpId="0"/>
      <p:bldP spid="1567752" grpId="0"/>
      <p:bldP spid="1567753" grpId="0"/>
      <p:bldP spid="1567754" grpId="0"/>
      <p:bldP spid="156775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4225925" y="784225"/>
            <a:ext cx="2517775" cy="538163"/>
          </a:xfrm>
        </p:spPr>
        <p:txBody>
          <a:bodyPr/>
          <a:lstStyle/>
          <a:p>
            <a:r>
              <a:rPr lang="zh-CN" altLang="en-US" sz="1700" b="1">
                <a:solidFill>
                  <a:srgbClr val="0000FF"/>
                </a:solidFill>
                <a:ea typeface="黑体" panose="02010609060101010101" pitchFamily="49" charset="-122"/>
              </a:rPr>
              <a:t>线性系统和非线性系统</a:t>
            </a:r>
          </a:p>
        </p:txBody>
      </p:sp>
      <p:sp>
        <p:nvSpPr>
          <p:cNvPr id="135171"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68774"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例：判断下列系统是否为线性系统</a:t>
            </a:r>
          </a:p>
        </p:txBody>
      </p:sp>
      <mc:AlternateContent xmlns:mc="http://schemas.openxmlformats.org/markup-compatibility/2006" xmlns:a14="http://schemas.microsoft.com/office/drawing/2010/main">
        <mc:Choice Requires="a14">
          <p:sp>
            <p:nvSpPr>
              <p:cNvPr id="1568775" name="Object 2"/>
              <p:cNvSpPr txBox="1"/>
              <p:nvPr/>
            </p:nvSpPr>
            <p:spPr bwMode="auto">
              <a:xfrm>
                <a:off x="198438" y="1895475"/>
                <a:ext cx="2517775" cy="4310063"/>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(7)</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oMath>
                  </m:oMathPara>
                </a14:m>
                <a:endParaRPr lang="zh-CN" altLang="en-US" dirty="0"/>
              </a:p>
            </p:txBody>
          </p:sp>
        </mc:Choice>
        <mc:Fallback xmlns="">
          <p:sp>
            <p:nvSpPr>
              <p:cNvPr id="1568775" name="Object 2"/>
              <p:cNvSpPr txBox="1">
                <a:spLocks noRot="1" noChangeAspect="1" noMove="1" noResize="1" noEditPoints="1" noAdjustHandles="1" noChangeArrowheads="1" noChangeShapeType="1" noTextEdit="1"/>
              </p:cNvSpPr>
              <p:nvPr/>
            </p:nvSpPr>
            <p:spPr bwMode="auto">
              <a:xfrm>
                <a:off x="198438" y="1895475"/>
                <a:ext cx="2517775" cy="4310063"/>
              </a:xfrm>
              <a:prstGeom prst="rect">
                <a:avLst/>
              </a:prstGeom>
              <a:blipFill rotWithShape="1">
                <a:blip r:embed="rId4"/>
                <a:stretch>
                  <a:fillRect l="-13" r="-996" b="-582"/>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68776" name="Rectangle 8"/>
          <p:cNvSpPr>
            <a:spLocks noChangeArrowheads="1"/>
          </p:cNvSpPr>
          <p:nvPr/>
        </p:nvSpPr>
        <p:spPr bwMode="auto">
          <a:xfrm>
            <a:off x="3584575" y="2392363"/>
            <a:ext cx="474027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a:solidFill>
                  <a:srgbClr val="FF0000"/>
                </a:solidFill>
                <a:latin typeface="Times New Roman" panose="02020603050405020304" pitchFamily="18" charset="0"/>
                <a:ea typeface="宋体" panose="02010600030101010101" pitchFamily="2" charset="-122"/>
              </a:rPr>
              <a:t>解：设 </a:t>
            </a:r>
            <a:r>
              <a:rPr lang="en-US" altLang="zh-CN" sz="2200">
                <a:solidFill>
                  <a:srgbClr val="FF0000"/>
                </a:solidFill>
                <a:latin typeface="Times New Roman" panose="02020603050405020304" pitchFamily="18" charset="0"/>
                <a:ea typeface="宋体" panose="02010600030101010101" pitchFamily="2" charset="-122"/>
              </a:rPr>
              <a:t>e(t)= k</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 e</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(t)</a:t>
            </a:r>
            <a:r>
              <a:rPr lang="zh-CN" altLang="en-US" sz="2200">
                <a:solidFill>
                  <a:srgbClr val="FF0000"/>
                </a:solidFill>
                <a:latin typeface="Times New Roman" panose="02020603050405020304" pitchFamily="18" charset="0"/>
                <a:ea typeface="宋体" panose="02010600030101010101" pitchFamily="2" charset="-122"/>
              </a:rPr>
              <a:t>＋</a:t>
            </a:r>
            <a:r>
              <a:rPr lang="en-US" altLang="zh-CN" sz="2200">
                <a:solidFill>
                  <a:srgbClr val="FF0000"/>
                </a:solidFill>
                <a:latin typeface="Times New Roman" panose="02020603050405020304" pitchFamily="18" charset="0"/>
                <a:ea typeface="宋体" panose="02010600030101010101" pitchFamily="2" charset="-122"/>
              </a:rPr>
              <a:t>k</a:t>
            </a:r>
            <a:r>
              <a:rPr lang="en-US" altLang="zh-CN" sz="2200" baseline="-25000">
                <a:solidFill>
                  <a:srgbClr val="FF0000"/>
                </a:solidFill>
                <a:latin typeface="Times New Roman" panose="02020603050405020304" pitchFamily="18" charset="0"/>
                <a:ea typeface="宋体" panose="02010600030101010101" pitchFamily="2" charset="-122"/>
              </a:rPr>
              <a:t>2</a:t>
            </a:r>
            <a:r>
              <a:rPr lang="en-US" altLang="zh-CN" sz="2200">
                <a:solidFill>
                  <a:srgbClr val="FF0000"/>
                </a:solidFill>
                <a:latin typeface="Times New Roman" panose="02020603050405020304" pitchFamily="18" charset="0"/>
                <a:ea typeface="宋体" panose="02010600030101010101" pitchFamily="2" charset="-122"/>
              </a:rPr>
              <a:t> e</a:t>
            </a:r>
            <a:r>
              <a:rPr lang="en-US" altLang="zh-CN" sz="2200" baseline="-25000">
                <a:solidFill>
                  <a:srgbClr val="FF0000"/>
                </a:solidFill>
                <a:latin typeface="Times New Roman" panose="02020603050405020304" pitchFamily="18" charset="0"/>
                <a:ea typeface="宋体" panose="02010600030101010101" pitchFamily="2" charset="-122"/>
              </a:rPr>
              <a:t>2</a:t>
            </a:r>
            <a:r>
              <a:rPr lang="en-US" altLang="zh-CN" sz="2200">
                <a:solidFill>
                  <a:srgbClr val="FF0000"/>
                </a:solidFill>
                <a:latin typeface="Times New Roman" panose="02020603050405020304" pitchFamily="18" charset="0"/>
                <a:ea typeface="宋体" panose="02010600030101010101" pitchFamily="2" charset="-122"/>
              </a:rPr>
              <a:t>(t)</a:t>
            </a:r>
            <a:r>
              <a:rPr lang="zh-CN" altLang="en-US" sz="2200">
                <a:solidFill>
                  <a:srgbClr val="FF0000"/>
                </a:solidFill>
                <a:latin typeface="Times New Roman" panose="02020603050405020304" pitchFamily="18" charset="0"/>
                <a:ea typeface="宋体" panose="02010600030101010101" pitchFamily="2" charset="-122"/>
              </a:rPr>
              <a:t>，则有：</a:t>
            </a:r>
          </a:p>
        </p:txBody>
      </p:sp>
      <mc:AlternateContent xmlns:mc="http://schemas.openxmlformats.org/markup-compatibility/2006" xmlns:a14="http://schemas.microsoft.com/office/drawing/2010/main">
        <mc:Choice Requires="a14">
          <p:sp>
            <p:nvSpPr>
              <p:cNvPr id="1568777" name="Object 3"/>
              <p:cNvSpPr txBox="1"/>
              <p:nvPr/>
            </p:nvSpPr>
            <p:spPr bwMode="auto">
              <a:xfrm>
                <a:off x="4324350" y="4518025"/>
                <a:ext cx="3160713" cy="627063"/>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68777" name="Object 3"/>
              <p:cNvSpPr txBox="1">
                <a:spLocks noRot="1" noChangeAspect="1" noMove="1" noResize="1" noEditPoints="1" noAdjustHandles="1" noChangeArrowheads="1" noChangeShapeType="1" noTextEdit="1"/>
              </p:cNvSpPr>
              <p:nvPr/>
            </p:nvSpPr>
            <p:spPr bwMode="auto">
              <a:xfrm>
                <a:off x="4324350" y="4518025"/>
                <a:ext cx="3160713" cy="627063"/>
              </a:xfrm>
              <a:prstGeom prst="rect">
                <a:avLst/>
              </a:prstGeom>
              <a:blipFill rotWithShape="1">
                <a:blip r:embed="rId5"/>
                <a:stretch>
                  <a:fillRect r="10" b="51"/>
                </a:stretch>
              </a:blipFill>
              <a:ln>
                <a:noFill/>
              </a:ln>
              <a:effectLst/>
            </p:spPr>
            <p:txBody>
              <a:bodyPr/>
              <a:lstStyle/>
              <a:p>
                <a:r>
                  <a:rPr lang="zh-CN" altLang="en-US">
                    <a:noFill/>
                  </a:rPr>
                  <a:t> </a:t>
                </a:r>
              </a:p>
            </p:txBody>
          </p:sp>
        </mc:Fallback>
      </mc:AlternateContent>
      <p:sp>
        <p:nvSpPr>
          <p:cNvPr id="1568778" name="Rectangle 10"/>
          <p:cNvSpPr>
            <a:spLocks noChangeArrowheads="1"/>
          </p:cNvSpPr>
          <p:nvPr/>
        </p:nvSpPr>
        <p:spPr bwMode="auto">
          <a:xfrm>
            <a:off x="4029075" y="5554663"/>
            <a:ext cx="36544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所以，该系统是线性的</a:t>
            </a:r>
          </a:p>
        </p:txBody>
      </p:sp>
      <mc:AlternateContent xmlns:mc="http://schemas.openxmlformats.org/markup-compatibility/2006" xmlns:a14="http://schemas.microsoft.com/office/drawing/2010/main">
        <mc:Choice Requires="a14">
          <p:sp>
            <p:nvSpPr>
              <p:cNvPr id="1568782" name="Object 4"/>
              <p:cNvSpPr txBox="1"/>
              <p:nvPr/>
            </p:nvSpPr>
            <p:spPr bwMode="auto">
              <a:xfrm>
                <a:off x="4029075" y="1458913"/>
                <a:ext cx="2716213" cy="1000125"/>
              </a:xfrm>
              <a:prstGeom prst="rect">
                <a:avLst/>
              </a:prstGeom>
              <a:solidFill>
                <a:srgbClr val="CADAC2"/>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Para>
                </a14:m>
                <a:endParaRPr lang="zh-CN" altLang="en-US" dirty="0"/>
              </a:p>
            </p:txBody>
          </p:sp>
        </mc:Choice>
        <mc:Fallback xmlns="">
          <p:sp>
            <p:nvSpPr>
              <p:cNvPr id="1568782" name="Object 4"/>
              <p:cNvSpPr txBox="1">
                <a:spLocks noRot="1" noChangeAspect="1" noMove="1" noResize="1" noEditPoints="1" noAdjustHandles="1" noChangeArrowheads="1" noChangeShapeType="1" noTextEdit="1"/>
              </p:cNvSpPr>
              <p:nvPr/>
            </p:nvSpPr>
            <p:spPr bwMode="auto">
              <a:xfrm>
                <a:off x="4029075" y="1458913"/>
                <a:ext cx="2716213" cy="1000125"/>
              </a:xfrm>
              <a:prstGeom prst="rect">
                <a:avLst/>
              </a:prstGeom>
              <a:blipFill rotWithShape="1">
                <a:blip r:embed="rId6"/>
                <a:stretch>
                  <a:fillRect t="-3143" r="-923" b="-2508"/>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8783" name="Object 5"/>
              <p:cNvSpPr txBox="1"/>
              <p:nvPr/>
            </p:nvSpPr>
            <p:spPr bwMode="auto">
              <a:xfrm>
                <a:off x="3683000" y="3117850"/>
                <a:ext cx="4538663" cy="1093788"/>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b="1" i="0" smtClean="0">
                          <a:solidFill>
                            <a:srgbClr val="000000"/>
                          </a:solidFill>
                          <a:effectLst/>
                          <a:latin typeface="Cambria Math" panose="02040503050406030204" pitchFamily="18" charset="0"/>
                        </a:rPr>
                        <m:t>𝐫</m:t>
                      </m:r>
                      <m:r>
                        <a:rPr lang="zh-CN" altLang="en-US" b="1" i="0" smtClean="0">
                          <a:solidFill>
                            <a:srgbClr val="000000"/>
                          </a:solidFill>
                          <a:effectLst/>
                          <a:latin typeface="Cambria Math" panose="02040503050406030204" pitchFamily="18" charset="0"/>
                        </a:rPr>
                        <m:t>(</m:t>
                      </m:r>
                      <m:r>
                        <a:rPr lang="zh-CN" altLang="en-US" b="1" i="0" smtClean="0">
                          <a:solidFill>
                            <a:srgbClr val="000000"/>
                          </a:solidFill>
                          <a:effectLst/>
                          <a:latin typeface="Cambria Math" panose="02040503050406030204" pitchFamily="18" charset="0"/>
                        </a:rPr>
                        <m:t>𝐭</m:t>
                      </m:r>
                      <m:r>
                        <a:rPr lang="zh-CN" altLang="en-US" b="1" i="0" smtClean="0">
                          <a:solidFill>
                            <a:srgbClr val="000000"/>
                          </a:solidFill>
                          <a:effectLst/>
                          <a:latin typeface="Cambria Math" panose="02040503050406030204" pitchFamily="18" charset="0"/>
                        </a:rPr>
                        <m:t>)=</m:t>
                      </m:r>
                      <m:nary>
                        <m:naryPr>
                          <m:limLoc m:val="undOvr"/>
                          <m:ctrlPr>
                            <a:rPr lang="zh-CN" altLang="en-US" i="1">
                              <a:solidFill>
                                <a:srgbClr val="000000"/>
                              </a:solidFill>
                              <a:effectLst/>
                              <a:latin typeface="Cambria Math" panose="02040503050406030204" pitchFamily="18" charset="0"/>
                            </a:rPr>
                          </m:ctrlPr>
                        </m:naryPr>
                        <m:sub>
                          <m:r>
                            <a:rPr lang="zh-CN" altLang="en-US" b="1" i="0">
                              <a:solidFill>
                                <a:srgbClr val="000000"/>
                              </a:solidFill>
                              <a:effectLst/>
                              <a:latin typeface="Cambria Math" panose="02040503050406030204" pitchFamily="18" charset="0"/>
                            </a:rPr>
                            <m:t>−∞</m:t>
                          </m:r>
                        </m:sub>
                        <m:sup>
                          <m:r>
                            <a:rPr lang="zh-CN" altLang="en-US" b="1" i="0">
                              <a:solidFill>
                                <a:srgbClr val="000000"/>
                              </a:solidFill>
                              <a:effectLst/>
                              <a:latin typeface="Cambria Math" panose="02040503050406030204" pitchFamily="18" charset="0"/>
                            </a:rPr>
                            <m:t>𝐭</m:t>
                          </m:r>
                        </m:sup>
                        <m:e>
                          <m:r>
                            <a:rPr lang="zh-CN" altLang="en-US" b="1" i="0">
                              <a:solidFill>
                                <a:srgbClr val="000000"/>
                              </a:solidFill>
                              <a:effectLst/>
                              <a:latin typeface="Cambria Math" panose="02040503050406030204" pitchFamily="18" charset="0"/>
                            </a:rPr>
                            <m:t>[</m:t>
                          </m:r>
                          <m:sSub>
                            <m:sSubPr>
                              <m:ctrlPr>
                                <a:rPr lang="zh-CN" altLang="en-US" i="1">
                                  <a:solidFill>
                                    <a:srgbClr val="000000"/>
                                  </a:solidFill>
                                  <a:effectLst/>
                                  <a:latin typeface="Cambria Math" panose="02040503050406030204" pitchFamily="18" charset="0"/>
                                </a:rPr>
                              </m:ctrlPr>
                            </m:sSubPr>
                            <m:e>
                              <m:r>
                                <a:rPr lang="zh-CN" altLang="en-US" b="1" i="0">
                                  <a:solidFill>
                                    <a:srgbClr val="000000"/>
                                  </a:solidFill>
                                  <a:effectLst/>
                                  <a:latin typeface="Cambria Math" panose="02040503050406030204" pitchFamily="18" charset="0"/>
                                </a:rPr>
                                <m:t>𝐤</m:t>
                              </m:r>
                            </m:e>
                            <m:sub>
                              <m:r>
                                <a:rPr lang="zh-CN" altLang="en-US" b="1" i="0">
                                  <a:solidFill>
                                    <a:srgbClr val="000000"/>
                                  </a:solidFill>
                                  <a:effectLst/>
                                  <a:latin typeface="Cambria Math" panose="02040503050406030204" pitchFamily="18" charset="0"/>
                                </a:rPr>
                                <m:t>𝟏</m:t>
                              </m:r>
                            </m:sub>
                          </m:sSub>
                          <m:sSub>
                            <m:sSubPr>
                              <m:ctrlPr>
                                <a:rPr lang="zh-CN" altLang="en-US" i="1">
                                  <a:solidFill>
                                    <a:srgbClr val="000000"/>
                                  </a:solidFill>
                                  <a:effectLst/>
                                  <a:latin typeface="Cambria Math" panose="02040503050406030204" pitchFamily="18" charset="0"/>
                                </a:rPr>
                              </m:ctrlPr>
                            </m:sSubPr>
                            <m:e>
                              <m:r>
                                <a:rPr lang="zh-CN" altLang="en-US" b="1" i="0">
                                  <a:solidFill>
                                    <a:srgbClr val="000000"/>
                                  </a:solidFill>
                                  <a:effectLst/>
                                  <a:latin typeface="Cambria Math" panose="02040503050406030204" pitchFamily="18" charset="0"/>
                                </a:rPr>
                                <m:t>𝐞</m:t>
                              </m:r>
                            </m:e>
                            <m:sub>
                              <m:r>
                                <a:rPr lang="zh-CN" altLang="en-US" b="1" i="0">
                                  <a:solidFill>
                                    <a:srgbClr val="000000"/>
                                  </a:solidFill>
                                  <a:effectLst/>
                                  <a:latin typeface="Cambria Math" panose="02040503050406030204" pitchFamily="18" charset="0"/>
                                </a:rPr>
                                <m:t>𝟏</m:t>
                              </m:r>
                            </m:sub>
                          </m:sSub>
                          <m:r>
                            <a:rPr lang="zh-CN" altLang="en-US" b="1" i="0">
                              <a:solidFill>
                                <a:srgbClr val="000000"/>
                              </a:solidFill>
                              <a:effectLst/>
                              <a:latin typeface="Cambria Math" panose="02040503050406030204" pitchFamily="18" charset="0"/>
                            </a:rPr>
                            <m:t>(</m:t>
                          </m:r>
                          <m:r>
                            <a:rPr lang="zh-CN" altLang="en-US" b="1" i="0">
                              <a:solidFill>
                                <a:srgbClr val="000000"/>
                              </a:solidFill>
                              <a:effectLst/>
                              <a:latin typeface="Cambria Math" panose="02040503050406030204" pitchFamily="18" charset="0"/>
                            </a:rPr>
                            <m:t>𝛕</m:t>
                          </m:r>
                          <m:r>
                            <a:rPr lang="zh-CN" altLang="en-US" b="1" i="0">
                              <a:solidFill>
                                <a:srgbClr val="000000"/>
                              </a:solidFill>
                              <a:effectLst/>
                              <a:latin typeface="Cambria Math" panose="02040503050406030204" pitchFamily="18" charset="0"/>
                            </a:rPr>
                            <m:t>)+</m:t>
                          </m:r>
                          <m:sSub>
                            <m:sSubPr>
                              <m:ctrlPr>
                                <a:rPr lang="zh-CN" altLang="en-US" i="1">
                                  <a:solidFill>
                                    <a:srgbClr val="000000"/>
                                  </a:solidFill>
                                  <a:effectLst/>
                                  <a:latin typeface="Cambria Math" panose="02040503050406030204" pitchFamily="18" charset="0"/>
                                </a:rPr>
                              </m:ctrlPr>
                            </m:sSubPr>
                            <m:e>
                              <m:r>
                                <a:rPr lang="zh-CN" altLang="en-US" b="1" i="0">
                                  <a:solidFill>
                                    <a:srgbClr val="000000"/>
                                  </a:solidFill>
                                  <a:effectLst/>
                                  <a:latin typeface="Cambria Math" panose="02040503050406030204" pitchFamily="18" charset="0"/>
                                </a:rPr>
                                <m:t>𝐤</m:t>
                              </m:r>
                            </m:e>
                            <m:sub>
                              <m:r>
                                <a:rPr lang="zh-CN" altLang="en-US" b="1" i="0">
                                  <a:solidFill>
                                    <a:srgbClr val="000000"/>
                                  </a:solidFill>
                                  <a:effectLst/>
                                  <a:latin typeface="Cambria Math" panose="02040503050406030204" pitchFamily="18" charset="0"/>
                                </a:rPr>
                                <m:t>𝟐</m:t>
                              </m:r>
                            </m:sub>
                          </m:sSub>
                          <m:sSub>
                            <m:sSubPr>
                              <m:ctrlPr>
                                <a:rPr lang="zh-CN" altLang="en-US" i="1">
                                  <a:solidFill>
                                    <a:srgbClr val="000000"/>
                                  </a:solidFill>
                                  <a:effectLst/>
                                  <a:latin typeface="Cambria Math" panose="02040503050406030204" pitchFamily="18" charset="0"/>
                                </a:rPr>
                              </m:ctrlPr>
                            </m:sSubPr>
                            <m:e>
                              <m:r>
                                <a:rPr lang="zh-CN" altLang="en-US" b="1" i="0">
                                  <a:solidFill>
                                    <a:srgbClr val="000000"/>
                                  </a:solidFill>
                                  <a:effectLst/>
                                  <a:latin typeface="Cambria Math" panose="02040503050406030204" pitchFamily="18" charset="0"/>
                                </a:rPr>
                                <m:t>𝐞</m:t>
                              </m:r>
                            </m:e>
                            <m:sub>
                              <m:r>
                                <a:rPr lang="zh-CN" altLang="en-US" b="1" i="0">
                                  <a:solidFill>
                                    <a:srgbClr val="000000"/>
                                  </a:solidFill>
                                  <a:effectLst/>
                                  <a:latin typeface="Cambria Math" panose="02040503050406030204" pitchFamily="18" charset="0"/>
                                </a:rPr>
                                <m:t>𝟐</m:t>
                              </m:r>
                            </m:sub>
                          </m:sSub>
                          <m:r>
                            <a:rPr lang="zh-CN" altLang="en-US" b="1" i="0">
                              <a:solidFill>
                                <a:srgbClr val="000000"/>
                              </a:solidFill>
                              <a:effectLst/>
                              <a:latin typeface="Cambria Math" panose="02040503050406030204" pitchFamily="18" charset="0"/>
                            </a:rPr>
                            <m:t>(</m:t>
                          </m:r>
                          <m:r>
                            <a:rPr lang="zh-CN" altLang="en-US" b="1" i="0">
                              <a:solidFill>
                                <a:srgbClr val="000000"/>
                              </a:solidFill>
                              <a:effectLst/>
                              <a:latin typeface="Cambria Math" panose="02040503050406030204" pitchFamily="18" charset="0"/>
                            </a:rPr>
                            <m:t>𝛕</m:t>
                          </m:r>
                          <m:r>
                            <a:rPr lang="zh-CN" altLang="en-US" b="1" i="0">
                              <a:solidFill>
                                <a:srgbClr val="000000"/>
                              </a:solidFill>
                              <a:effectLst/>
                              <a:latin typeface="Cambria Math" panose="02040503050406030204" pitchFamily="18" charset="0"/>
                            </a:rPr>
                            <m:t>)]</m:t>
                          </m:r>
                          <m:r>
                            <a:rPr lang="zh-CN" altLang="en-US" b="1" i="0">
                              <a:solidFill>
                                <a:srgbClr val="000000"/>
                              </a:solidFill>
                              <a:effectLst/>
                              <a:latin typeface="Cambria Math" panose="02040503050406030204" pitchFamily="18" charset="0"/>
                            </a:rPr>
                            <m:t>𝐝</m:t>
                          </m:r>
                          <m:r>
                            <a:rPr lang="zh-CN" altLang="en-US" b="1" i="0">
                              <a:solidFill>
                                <a:srgbClr val="000000"/>
                              </a:solidFill>
                              <a:effectLst/>
                              <a:latin typeface="Cambria Math" panose="02040503050406030204" pitchFamily="18" charset="0"/>
                            </a:rPr>
                            <m:t>𝛕</m:t>
                          </m:r>
                        </m:e>
                      </m:nary>
                    </m:oMath>
                  </m:oMathPara>
                </a14:m>
                <a:endParaRPr lang="zh-CN" altLang="en-US" dirty="0">
                  <a:effectLst/>
                </a:endParaRPr>
              </a:p>
            </p:txBody>
          </p:sp>
        </mc:Choice>
        <mc:Fallback xmlns="">
          <p:sp>
            <p:nvSpPr>
              <p:cNvPr id="1568783" name="Object 5"/>
              <p:cNvSpPr txBox="1">
                <a:spLocks noRot="1" noChangeAspect="1" noMove="1" noResize="1" noEditPoints="1" noAdjustHandles="1" noChangeArrowheads="1" noChangeShapeType="1" noTextEdit="1"/>
              </p:cNvSpPr>
              <p:nvPr/>
            </p:nvSpPr>
            <p:spPr bwMode="auto">
              <a:xfrm>
                <a:off x="3683000" y="3117850"/>
                <a:ext cx="4538663" cy="1093788"/>
              </a:xfrm>
              <a:prstGeom prst="rect">
                <a:avLst/>
              </a:prstGeom>
              <a:blipFill rotWithShape="1">
                <a:blip r:embed="rId7"/>
                <a:stretch>
                  <a:fillRect t="-3657" r="7" b="29"/>
                </a:stretch>
              </a:blipFill>
              <a:ln>
                <a:noFill/>
              </a:ln>
              <a:effectLst/>
            </p:spPr>
            <p:txBody>
              <a:bodyPr/>
              <a:lstStyle/>
              <a:p>
                <a:r>
                  <a:rPr lang="zh-CN" altLang="en-US">
                    <a:noFill/>
                  </a:rPr>
                  <a:t> </a:t>
                </a:r>
              </a:p>
            </p:txBody>
          </p:sp>
        </mc:Fallback>
      </mc:AlternateContent>
      <p:sp>
        <p:nvSpPr>
          <p:cNvPr id="14" name="日期占位符 13"/>
          <p:cNvSpPr>
            <a:spLocks noGrp="1"/>
          </p:cNvSpPr>
          <p:nvPr>
            <p:ph type="dt" sz="quarter" idx="10"/>
          </p:nvPr>
        </p:nvSpPr>
        <p:spPr/>
        <p:txBody>
          <a:bodyPr/>
          <a:lstStyle/>
          <a:p>
            <a:pPr>
              <a:defRPr/>
            </a:pPr>
            <a:fld id="{51B7E64C-B41C-45E7-BA41-A9198F811057}" type="datetime3">
              <a:rPr lang="zh-CN" altLang="en-US"/>
              <a:t>2026年3月4日星期三</a:t>
            </a:fld>
            <a:endParaRPr lang="en-US" altLang="zh-CN" dirty="0"/>
          </a:p>
        </p:txBody>
      </p:sp>
    </p:spTree>
    <p:custDataLst>
      <p:tags r:id="rId1"/>
    </p:custDataLst>
  </p:cSld>
  <p:clrMapOvr>
    <a:masterClrMapping/>
  </p:clrMapOvr>
  <p:transition spd="med" advTm="5165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68774"/>
                                        </p:tgtEl>
                                        <p:attrNameLst>
                                          <p:attrName>style.visibility</p:attrName>
                                        </p:attrNameLst>
                                      </p:cBhvr>
                                      <p:to>
                                        <p:strVal val="visible"/>
                                      </p:to>
                                    </p:set>
                                    <p:anim calcmode="lin" valueType="num">
                                      <p:cBhvr>
                                        <p:cTn id="7" dur="1000" fill="hold"/>
                                        <p:tgtEl>
                                          <p:spTgt spid="1568774"/>
                                        </p:tgtEl>
                                        <p:attrNameLst>
                                          <p:attrName>ppt_w</p:attrName>
                                        </p:attrNameLst>
                                      </p:cBhvr>
                                      <p:tavLst>
                                        <p:tav tm="0">
                                          <p:val>
                                            <p:strVal val="#ppt_w*0.70"/>
                                          </p:val>
                                        </p:tav>
                                        <p:tav tm="100000">
                                          <p:val>
                                            <p:strVal val="#ppt_w"/>
                                          </p:val>
                                        </p:tav>
                                      </p:tavLst>
                                    </p:anim>
                                    <p:anim calcmode="lin" valueType="num">
                                      <p:cBhvr>
                                        <p:cTn id="8" dur="1000" fill="hold"/>
                                        <p:tgtEl>
                                          <p:spTgt spid="1568774"/>
                                        </p:tgtEl>
                                        <p:attrNameLst>
                                          <p:attrName>ppt_h</p:attrName>
                                        </p:attrNameLst>
                                      </p:cBhvr>
                                      <p:tavLst>
                                        <p:tav tm="0">
                                          <p:val>
                                            <p:strVal val="#ppt_h"/>
                                          </p:val>
                                        </p:tav>
                                        <p:tav tm="100000">
                                          <p:val>
                                            <p:strVal val="#ppt_h"/>
                                          </p:val>
                                        </p:tav>
                                      </p:tavLst>
                                    </p:anim>
                                    <p:animEffect transition="in" filter="fade">
                                      <p:cBhvr>
                                        <p:cTn id="9" dur="1000"/>
                                        <p:tgtEl>
                                          <p:spTgt spid="156877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68776"/>
                                        </p:tgtEl>
                                        <p:attrNameLst>
                                          <p:attrName>style.visibility</p:attrName>
                                        </p:attrNameLst>
                                      </p:cBhvr>
                                      <p:to>
                                        <p:strVal val="visible"/>
                                      </p:to>
                                    </p:set>
                                    <p:anim calcmode="lin" valueType="num">
                                      <p:cBhvr>
                                        <p:cTn id="14" dur="1000" fill="hold"/>
                                        <p:tgtEl>
                                          <p:spTgt spid="1568776"/>
                                        </p:tgtEl>
                                        <p:attrNameLst>
                                          <p:attrName>ppt_w</p:attrName>
                                        </p:attrNameLst>
                                      </p:cBhvr>
                                      <p:tavLst>
                                        <p:tav tm="0">
                                          <p:val>
                                            <p:strVal val="#ppt_w*0.70"/>
                                          </p:val>
                                        </p:tav>
                                        <p:tav tm="100000">
                                          <p:val>
                                            <p:strVal val="#ppt_w"/>
                                          </p:val>
                                        </p:tav>
                                      </p:tavLst>
                                    </p:anim>
                                    <p:anim calcmode="lin" valueType="num">
                                      <p:cBhvr>
                                        <p:cTn id="15" dur="1000" fill="hold"/>
                                        <p:tgtEl>
                                          <p:spTgt spid="1568776"/>
                                        </p:tgtEl>
                                        <p:attrNameLst>
                                          <p:attrName>ppt_h</p:attrName>
                                        </p:attrNameLst>
                                      </p:cBhvr>
                                      <p:tavLst>
                                        <p:tav tm="0">
                                          <p:val>
                                            <p:strVal val="#ppt_h"/>
                                          </p:val>
                                        </p:tav>
                                        <p:tav tm="100000">
                                          <p:val>
                                            <p:strVal val="#ppt_h"/>
                                          </p:val>
                                        </p:tav>
                                      </p:tavLst>
                                    </p:anim>
                                    <p:animEffect transition="in" filter="fade">
                                      <p:cBhvr>
                                        <p:cTn id="16" dur="1000"/>
                                        <p:tgtEl>
                                          <p:spTgt spid="156877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568783"/>
                                        </p:tgtEl>
                                        <p:attrNameLst>
                                          <p:attrName>style.visibility</p:attrName>
                                        </p:attrNameLst>
                                      </p:cBhvr>
                                      <p:to>
                                        <p:strVal val="visible"/>
                                      </p:to>
                                    </p:set>
                                    <p:anim calcmode="lin" valueType="num">
                                      <p:cBhvr additive="base">
                                        <p:cTn id="21" dur="500" fill="hold"/>
                                        <p:tgtEl>
                                          <p:spTgt spid="1568783"/>
                                        </p:tgtEl>
                                        <p:attrNameLst>
                                          <p:attrName>ppt_x</p:attrName>
                                        </p:attrNameLst>
                                      </p:cBhvr>
                                      <p:tavLst>
                                        <p:tav tm="0">
                                          <p:val>
                                            <p:strVal val="#ppt_x"/>
                                          </p:val>
                                        </p:tav>
                                        <p:tav tm="100000">
                                          <p:val>
                                            <p:strVal val="#ppt_x"/>
                                          </p:val>
                                        </p:tav>
                                      </p:tavLst>
                                    </p:anim>
                                    <p:anim calcmode="lin" valueType="num">
                                      <p:cBhvr additive="base">
                                        <p:cTn id="22" dur="500" fill="hold"/>
                                        <p:tgtEl>
                                          <p:spTgt spid="156878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68777"/>
                                        </p:tgtEl>
                                        <p:attrNameLst>
                                          <p:attrName>style.visibility</p:attrName>
                                        </p:attrNameLst>
                                      </p:cBhvr>
                                      <p:to>
                                        <p:strVal val="visible"/>
                                      </p:to>
                                    </p:set>
                                    <p:anim calcmode="lin" valueType="num">
                                      <p:cBhvr additive="base">
                                        <p:cTn id="27" dur="500" fill="hold"/>
                                        <p:tgtEl>
                                          <p:spTgt spid="1568777"/>
                                        </p:tgtEl>
                                        <p:attrNameLst>
                                          <p:attrName>ppt_x</p:attrName>
                                        </p:attrNameLst>
                                      </p:cBhvr>
                                      <p:tavLst>
                                        <p:tav tm="0">
                                          <p:val>
                                            <p:strVal val="#ppt_x"/>
                                          </p:val>
                                        </p:tav>
                                        <p:tav tm="100000">
                                          <p:val>
                                            <p:strVal val="#ppt_x"/>
                                          </p:val>
                                        </p:tav>
                                      </p:tavLst>
                                    </p:anim>
                                    <p:anim calcmode="lin" valueType="num">
                                      <p:cBhvr additive="base">
                                        <p:cTn id="28" dur="500" fill="hold"/>
                                        <p:tgtEl>
                                          <p:spTgt spid="156877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1568778"/>
                                        </p:tgtEl>
                                        <p:attrNameLst>
                                          <p:attrName>style.visibility</p:attrName>
                                        </p:attrNameLst>
                                      </p:cBhvr>
                                      <p:to>
                                        <p:strVal val="visible"/>
                                      </p:to>
                                    </p:set>
                                    <p:anim calcmode="lin" valueType="num">
                                      <p:cBhvr>
                                        <p:cTn id="33" dur="1000" fill="hold"/>
                                        <p:tgtEl>
                                          <p:spTgt spid="1568778"/>
                                        </p:tgtEl>
                                        <p:attrNameLst>
                                          <p:attrName>ppt_w</p:attrName>
                                        </p:attrNameLst>
                                      </p:cBhvr>
                                      <p:tavLst>
                                        <p:tav tm="0">
                                          <p:val>
                                            <p:strVal val="#ppt_w*0.70"/>
                                          </p:val>
                                        </p:tav>
                                        <p:tav tm="100000">
                                          <p:val>
                                            <p:strVal val="#ppt_w"/>
                                          </p:val>
                                        </p:tav>
                                      </p:tavLst>
                                    </p:anim>
                                    <p:anim calcmode="lin" valueType="num">
                                      <p:cBhvr>
                                        <p:cTn id="34" dur="1000" fill="hold"/>
                                        <p:tgtEl>
                                          <p:spTgt spid="1568778"/>
                                        </p:tgtEl>
                                        <p:attrNameLst>
                                          <p:attrName>ppt_h</p:attrName>
                                        </p:attrNameLst>
                                      </p:cBhvr>
                                      <p:tavLst>
                                        <p:tav tm="0">
                                          <p:val>
                                            <p:strVal val="#ppt_h"/>
                                          </p:val>
                                        </p:tav>
                                        <p:tav tm="100000">
                                          <p:val>
                                            <p:strVal val="#ppt_h"/>
                                          </p:val>
                                        </p:tav>
                                      </p:tavLst>
                                    </p:anim>
                                    <p:animEffect transition="in" filter="fade">
                                      <p:cBhvr>
                                        <p:cTn id="35" dur="1000"/>
                                        <p:tgtEl>
                                          <p:spTgt spid="1568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8774" grpId="0"/>
      <p:bldP spid="1568776" grpId="0"/>
      <p:bldP spid="1568777" grpId="0"/>
      <p:bldP spid="1568778" grpId="0"/>
      <p:bldP spid="156878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4225925" y="769938"/>
            <a:ext cx="2517775" cy="538162"/>
          </a:xfrm>
        </p:spPr>
        <p:txBody>
          <a:bodyPr/>
          <a:lstStyle/>
          <a:p>
            <a:r>
              <a:rPr lang="zh-CN" altLang="en-US" sz="1700" b="1">
                <a:solidFill>
                  <a:srgbClr val="0000FF"/>
                </a:solidFill>
                <a:ea typeface="黑体" panose="02010609060101010101" pitchFamily="49" charset="-122"/>
              </a:rPr>
              <a:t>线性系统和非线性系统</a:t>
            </a:r>
          </a:p>
        </p:txBody>
      </p:sp>
      <p:sp>
        <p:nvSpPr>
          <p:cNvPr id="137219"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69798"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例：判断下列系统是否为线性系统</a:t>
            </a:r>
          </a:p>
        </p:txBody>
      </p:sp>
      <mc:AlternateContent xmlns:mc="http://schemas.openxmlformats.org/markup-compatibility/2006" xmlns:a14="http://schemas.microsoft.com/office/drawing/2010/main">
        <mc:Choice Requires="a14">
          <p:sp>
            <p:nvSpPr>
              <p:cNvPr id="1569799" name="Object 2"/>
              <p:cNvSpPr txBox="1"/>
              <p:nvPr/>
            </p:nvSpPr>
            <p:spPr bwMode="auto">
              <a:xfrm>
                <a:off x="198438" y="1895475"/>
                <a:ext cx="2517775" cy="4310063"/>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(7)</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oMath>
                  </m:oMathPara>
                </a14:m>
                <a:endParaRPr lang="zh-CN" altLang="en-US"/>
              </a:p>
            </p:txBody>
          </p:sp>
        </mc:Choice>
        <mc:Fallback xmlns="">
          <p:sp>
            <p:nvSpPr>
              <p:cNvPr id="1569799" name="Object 2"/>
              <p:cNvSpPr txBox="1">
                <a:spLocks noRot="1" noChangeAspect="1" noMove="1" noResize="1" noEditPoints="1" noAdjustHandles="1" noChangeArrowheads="1" noChangeShapeType="1" noTextEdit="1"/>
              </p:cNvSpPr>
              <p:nvPr/>
            </p:nvSpPr>
            <p:spPr bwMode="auto">
              <a:xfrm>
                <a:off x="198438" y="1895475"/>
                <a:ext cx="2517775" cy="4310063"/>
              </a:xfrm>
              <a:prstGeom prst="rect">
                <a:avLst/>
              </a:prstGeom>
              <a:blipFill rotWithShape="1">
                <a:blip r:embed="rId4"/>
                <a:stretch>
                  <a:fillRect l="-13" r="-996" b="-582"/>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69800" name="Rectangle 8"/>
          <p:cNvSpPr>
            <a:spLocks noChangeArrowheads="1"/>
          </p:cNvSpPr>
          <p:nvPr/>
        </p:nvSpPr>
        <p:spPr bwMode="auto">
          <a:xfrm>
            <a:off x="3584575" y="2392363"/>
            <a:ext cx="474027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a:solidFill>
                  <a:srgbClr val="FF0000"/>
                </a:solidFill>
                <a:latin typeface="Times New Roman" panose="02020603050405020304" pitchFamily="18" charset="0"/>
                <a:ea typeface="宋体" panose="02010600030101010101" pitchFamily="2" charset="-122"/>
              </a:rPr>
              <a:t>解：设 </a:t>
            </a:r>
            <a:r>
              <a:rPr lang="en-US" altLang="zh-CN" sz="2200">
                <a:solidFill>
                  <a:srgbClr val="FF0000"/>
                </a:solidFill>
                <a:latin typeface="Times New Roman" panose="02020603050405020304" pitchFamily="18" charset="0"/>
                <a:ea typeface="宋体" panose="02010600030101010101" pitchFamily="2" charset="-122"/>
              </a:rPr>
              <a:t>e(t)= k</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 e</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(t)</a:t>
            </a:r>
            <a:r>
              <a:rPr lang="zh-CN" altLang="en-US" sz="2200">
                <a:solidFill>
                  <a:srgbClr val="FF0000"/>
                </a:solidFill>
                <a:latin typeface="Times New Roman" panose="02020603050405020304" pitchFamily="18" charset="0"/>
                <a:ea typeface="宋体" panose="02010600030101010101" pitchFamily="2" charset="-122"/>
              </a:rPr>
              <a:t>＋</a:t>
            </a:r>
            <a:r>
              <a:rPr lang="en-US" altLang="zh-CN" sz="2200">
                <a:solidFill>
                  <a:srgbClr val="FF0000"/>
                </a:solidFill>
                <a:latin typeface="Times New Roman" panose="02020603050405020304" pitchFamily="18" charset="0"/>
                <a:ea typeface="宋体" panose="02010600030101010101" pitchFamily="2" charset="-122"/>
              </a:rPr>
              <a:t>k</a:t>
            </a:r>
            <a:r>
              <a:rPr lang="en-US" altLang="zh-CN" sz="2200" baseline="-25000">
                <a:solidFill>
                  <a:srgbClr val="FF0000"/>
                </a:solidFill>
                <a:latin typeface="Times New Roman" panose="02020603050405020304" pitchFamily="18" charset="0"/>
                <a:ea typeface="宋体" panose="02010600030101010101" pitchFamily="2" charset="-122"/>
              </a:rPr>
              <a:t>2</a:t>
            </a:r>
            <a:r>
              <a:rPr lang="en-US" altLang="zh-CN" sz="2200">
                <a:solidFill>
                  <a:srgbClr val="FF0000"/>
                </a:solidFill>
                <a:latin typeface="Times New Roman" panose="02020603050405020304" pitchFamily="18" charset="0"/>
                <a:ea typeface="宋体" panose="02010600030101010101" pitchFamily="2" charset="-122"/>
              </a:rPr>
              <a:t> e</a:t>
            </a:r>
            <a:r>
              <a:rPr lang="en-US" altLang="zh-CN" sz="2200" baseline="-25000">
                <a:solidFill>
                  <a:srgbClr val="FF0000"/>
                </a:solidFill>
                <a:latin typeface="Times New Roman" panose="02020603050405020304" pitchFamily="18" charset="0"/>
                <a:ea typeface="宋体" panose="02010600030101010101" pitchFamily="2" charset="-122"/>
              </a:rPr>
              <a:t>2</a:t>
            </a:r>
            <a:r>
              <a:rPr lang="en-US" altLang="zh-CN" sz="2200">
                <a:solidFill>
                  <a:srgbClr val="FF0000"/>
                </a:solidFill>
                <a:latin typeface="Times New Roman" panose="02020603050405020304" pitchFamily="18" charset="0"/>
                <a:ea typeface="宋体" panose="02010600030101010101" pitchFamily="2" charset="-122"/>
              </a:rPr>
              <a:t>(t)</a:t>
            </a:r>
            <a:r>
              <a:rPr lang="zh-CN" altLang="en-US" sz="2200">
                <a:solidFill>
                  <a:srgbClr val="FF0000"/>
                </a:solidFill>
                <a:latin typeface="Times New Roman" panose="02020603050405020304" pitchFamily="18" charset="0"/>
                <a:ea typeface="宋体" panose="02010600030101010101" pitchFamily="2" charset="-122"/>
              </a:rPr>
              <a:t>，则有：</a:t>
            </a:r>
          </a:p>
        </p:txBody>
      </p:sp>
      <mc:AlternateContent xmlns:mc="http://schemas.openxmlformats.org/markup-compatibility/2006" xmlns:a14="http://schemas.microsoft.com/office/drawing/2010/main">
        <mc:Choice Requires="a14">
          <p:sp>
            <p:nvSpPr>
              <p:cNvPr id="1569801" name="Object 3"/>
              <p:cNvSpPr txBox="1"/>
              <p:nvPr/>
            </p:nvSpPr>
            <p:spPr bwMode="auto">
              <a:xfrm>
                <a:off x="4324350" y="4673600"/>
                <a:ext cx="3160713" cy="627063"/>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69801" name="Object 3"/>
              <p:cNvSpPr txBox="1">
                <a:spLocks noRot="1" noChangeAspect="1" noMove="1" noResize="1" noEditPoints="1" noAdjustHandles="1" noChangeArrowheads="1" noChangeShapeType="1" noTextEdit="1"/>
              </p:cNvSpPr>
              <p:nvPr/>
            </p:nvSpPr>
            <p:spPr bwMode="auto">
              <a:xfrm>
                <a:off x="4324350" y="4673600"/>
                <a:ext cx="3160713" cy="627063"/>
              </a:xfrm>
              <a:prstGeom prst="rect">
                <a:avLst/>
              </a:prstGeom>
              <a:blipFill rotWithShape="1">
                <a:blip r:embed="rId5"/>
                <a:stretch>
                  <a:fillRect r="10" b="51"/>
                </a:stretch>
              </a:blipFill>
              <a:ln>
                <a:noFill/>
              </a:ln>
              <a:effectLst/>
            </p:spPr>
            <p:txBody>
              <a:bodyPr/>
              <a:lstStyle/>
              <a:p>
                <a:r>
                  <a:rPr lang="zh-CN" altLang="en-US">
                    <a:noFill/>
                  </a:rPr>
                  <a:t> </a:t>
                </a:r>
              </a:p>
            </p:txBody>
          </p:sp>
        </mc:Fallback>
      </mc:AlternateContent>
      <p:sp>
        <p:nvSpPr>
          <p:cNvPr id="1569802" name="Rectangle 10"/>
          <p:cNvSpPr>
            <a:spLocks noChangeArrowheads="1"/>
          </p:cNvSpPr>
          <p:nvPr/>
        </p:nvSpPr>
        <p:spPr bwMode="auto">
          <a:xfrm>
            <a:off x="4324350" y="5710238"/>
            <a:ext cx="36544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所以，该系统是线性的</a:t>
            </a:r>
          </a:p>
        </p:txBody>
      </p:sp>
      <mc:AlternateContent xmlns:mc="http://schemas.openxmlformats.org/markup-compatibility/2006" xmlns:a14="http://schemas.microsoft.com/office/drawing/2010/main">
        <mc:Choice Requires="a14">
          <p:sp>
            <p:nvSpPr>
              <p:cNvPr id="1569808" name="Object 4"/>
              <p:cNvSpPr txBox="1"/>
              <p:nvPr/>
            </p:nvSpPr>
            <p:spPr bwMode="auto">
              <a:xfrm>
                <a:off x="4078288" y="1355725"/>
                <a:ext cx="3605212" cy="838200"/>
              </a:xfrm>
              <a:prstGeom prst="rect">
                <a:avLst/>
              </a:prstGeom>
              <a:solidFill>
                <a:srgbClr val="CADAC2"/>
              </a:solidFill>
              <a:ln>
                <a:noFill/>
              </a:ln>
              <a:effectLst>
                <a:outerShdw dist="35921" dir="2700000" algn="ctr" rotWithShape="0">
                  <a:srgbClr val="808080"/>
                </a:outerShdw>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Para>
                </a14:m>
                <a:endParaRPr lang="zh-CN" altLang="en-US"/>
              </a:p>
            </p:txBody>
          </p:sp>
        </mc:Choice>
        <mc:Fallback xmlns="">
          <p:sp>
            <p:nvSpPr>
              <p:cNvPr id="1569808" name="Object 4"/>
              <p:cNvSpPr txBox="1">
                <a:spLocks noRot="1" noChangeAspect="1" noMove="1" noResize="1" noEditPoints="1" noAdjustHandles="1" noChangeArrowheads="1" noChangeShapeType="1" noTextEdit="1"/>
              </p:cNvSpPr>
              <p:nvPr/>
            </p:nvSpPr>
            <p:spPr bwMode="auto">
              <a:xfrm>
                <a:off x="4078288" y="1355725"/>
                <a:ext cx="3605212" cy="838200"/>
              </a:xfrm>
              <a:prstGeom prst="rect">
                <a:avLst/>
              </a:prstGeom>
              <a:blipFill rotWithShape="1">
                <a:blip r:embed="rId6"/>
                <a:stretch>
                  <a:fillRect l="-9" t="-2348" r="-687" b="-2955"/>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9809" name="Object 5"/>
              <p:cNvSpPr txBox="1"/>
              <p:nvPr/>
            </p:nvSpPr>
            <p:spPr bwMode="auto">
              <a:xfrm>
                <a:off x="3633788" y="3170238"/>
                <a:ext cx="4537075" cy="1093787"/>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b="1" i="1">
                          <a:solidFill>
                            <a:srgbClr val="000000"/>
                          </a:solidFill>
                          <a:latin typeface="Cambria Math" panose="02040503050406030204" pitchFamily="18" charset="0"/>
                        </a:rPr>
                        <m:t>𝒓</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𝒕</m:t>
                      </m:r>
                      <m:r>
                        <a:rPr lang="zh-CN" altLang="en-US" b="1"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b="1" i="1">
                              <a:solidFill>
                                <a:srgbClr val="000000"/>
                              </a:solidFill>
                              <a:latin typeface="Cambria Math" panose="02040503050406030204" pitchFamily="18" charset="0"/>
                            </a:rPr>
                            <m:t>−∞</m:t>
                          </m:r>
                        </m:sub>
                        <m:sup>
                          <m:r>
                            <a:rPr lang="zh-CN" altLang="en-US" b="1" i="1">
                              <a:solidFill>
                                <a:srgbClr val="000000"/>
                              </a:solidFill>
                              <a:latin typeface="Cambria Math" panose="02040503050406030204" pitchFamily="18" charset="0"/>
                            </a:rPr>
                            <m:t>𝟓</m:t>
                          </m:r>
                          <m:r>
                            <a:rPr lang="zh-CN" altLang="en-US" b="1" i="1">
                              <a:solidFill>
                                <a:srgbClr val="000000"/>
                              </a:solidFill>
                              <a:latin typeface="Cambria Math" panose="02040503050406030204" pitchFamily="18" charset="0"/>
                            </a:rPr>
                            <m:t>𝒕</m:t>
                          </m:r>
                        </m:sup>
                        <m:e>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𝒌</m:t>
                              </m:r>
                            </m:e>
                            <m:sub>
                              <m:r>
                                <a:rPr lang="zh-CN" altLang="en-US" b="1" i="1">
                                  <a:solidFill>
                                    <a:srgbClr val="000000"/>
                                  </a:solidFill>
                                  <a:latin typeface="Cambria Math" panose="02040503050406030204" pitchFamily="18" charset="0"/>
                                </a:rPr>
                                <m:t>𝟏</m:t>
                              </m:r>
                            </m:sub>
                          </m:sSub>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𝒆</m:t>
                              </m:r>
                            </m:e>
                            <m:sub>
                              <m:r>
                                <a:rPr lang="zh-CN" altLang="en-US" b="1" i="1">
                                  <a:solidFill>
                                    <a:srgbClr val="000000"/>
                                  </a:solidFill>
                                  <a:latin typeface="Cambria Math" panose="02040503050406030204" pitchFamily="18" charset="0"/>
                                </a:rPr>
                                <m:t>𝟏</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𝝉</m:t>
                          </m:r>
                          <m:r>
                            <a:rPr lang="zh-CN" altLang="en-US" b="1"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𝒌</m:t>
                              </m:r>
                            </m:e>
                            <m:sub>
                              <m:r>
                                <a:rPr lang="zh-CN" altLang="en-US" b="1" i="1">
                                  <a:solidFill>
                                    <a:srgbClr val="000000"/>
                                  </a:solidFill>
                                  <a:latin typeface="Cambria Math" panose="02040503050406030204" pitchFamily="18" charset="0"/>
                                </a:rPr>
                                <m:t>𝟐</m:t>
                              </m:r>
                            </m:sub>
                          </m:sSub>
                          <m:sSub>
                            <m:sSubPr>
                              <m:ctrlPr>
                                <a:rPr lang="zh-CN" altLang="en-US"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𝒆</m:t>
                              </m:r>
                            </m:e>
                            <m:sub>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𝝉</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𝒅</m:t>
                          </m:r>
                          <m:r>
                            <a:rPr lang="zh-CN" altLang="en-US" b="1" i="1">
                              <a:solidFill>
                                <a:srgbClr val="000000"/>
                              </a:solidFill>
                              <a:latin typeface="Cambria Math" panose="02040503050406030204" pitchFamily="18" charset="0"/>
                            </a:rPr>
                            <m:t>𝝉</m:t>
                          </m:r>
                        </m:e>
                      </m:nary>
                    </m:oMath>
                  </m:oMathPara>
                </a14:m>
                <a:endParaRPr lang="zh-CN" altLang="en-US" i="1" dirty="0"/>
              </a:p>
            </p:txBody>
          </p:sp>
        </mc:Choice>
        <mc:Fallback xmlns="">
          <p:sp>
            <p:nvSpPr>
              <p:cNvPr id="1569809" name="Object 5"/>
              <p:cNvSpPr txBox="1">
                <a:spLocks noRot="1" noChangeAspect="1" noMove="1" noResize="1" noEditPoints="1" noAdjustHandles="1" noChangeArrowheads="1" noChangeShapeType="1" noTextEdit="1"/>
              </p:cNvSpPr>
              <p:nvPr/>
            </p:nvSpPr>
            <p:spPr bwMode="auto">
              <a:xfrm>
                <a:off x="3633788" y="3170238"/>
                <a:ext cx="4537075" cy="1093787"/>
              </a:xfrm>
              <a:prstGeom prst="rect">
                <a:avLst/>
              </a:prstGeom>
              <a:blipFill rotWithShape="1">
                <a:blip r:embed="rId7"/>
                <a:stretch>
                  <a:fillRect l="-7" t="-3861" r="7"/>
                </a:stretch>
              </a:blipFill>
              <a:ln>
                <a:noFill/>
              </a:ln>
              <a:effectLst/>
            </p:spPr>
            <p:txBody>
              <a:bodyPr/>
              <a:lstStyle/>
              <a:p>
                <a:r>
                  <a:rPr lang="zh-CN" altLang="en-US">
                    <a:noFill/>
                  </a:rPr>
                  <a:t> </a:t>
                </a:r>
              </a:p>
            </p:txBody>
          </p:sp>
        </mc:Fallback>
      </mc:AlternateContent>
      <p:sp>
        <p:nvSpPr>
          <p:cNvPr id="14" name="日期占位符 13"/>
          <p:cNvSpPr>
            <a:spLocks noGrp="1"/>
          </p:cNvSpPr>
          <p:nvPr>
            <p:ph type="dt" sz="quarter" idx="10"/>
          </p:nvPr>
        </p:nvSpPr>
        <p:spPr/>
        <p:txBody>
          <a:bodyPr/>
          <a:lstStyle/>
          <a:p>
            <a:pPr>
              <a:defRPr/>
            </a:pPr>
            <a:fld id="{13841F21-C4BA-471E-829A-F8B555F6209B}" type="datetime3">
              <a:rPr lang="zh-CN" altLang="en-US"/>
              <a:t>2026年3月4日星期三</a:t>
            </a:fld>
            <a:endParaRPr lang="en-US" altLang="zh-CN" dirty="0"/>
          </a:p>
        </p:txBody>
      </p:sp>
    </p:spTree>
    <p:custDataLst>
      <p:tags r:id="rId1"/>
    </p:custDataLst>
  </p:cSld>
  <p:clrMapOvr>
    <a:masterClrMapping/>
  </p:clrMapOvr>
  <p:transition spd="med" advTm="24455">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69798"/>
                                        </p:tgtEl>
                                        <p:attrNameLst>
                                          <p:attrName>style.visibility</p:attrName>
                                        </p:attrNameLst>
                                      </p:cBhvr>
                                      <p:to>
                                        <p:strVal val="visible"/>
                                      </p:to>
                                    </p:set>
                                    <p:anim calcmode="lin" valueType="num">
                                      <p:cBhvr>
                                        <p:cTn id="7" dur="1000" fill="hold"/>
                                        <p:tgtEl>
                                          <p:spTgt spid="1569798"/>
                                        </p:tgtEl>
                                        <p:attrNameLst>
                                          <p:attrName>ppt_w</p:attrName>
                                        </p:attrNameLst>
                                      </p:cBhvr>
                                      <p:tavLst>
                                        <p:tav tm="0">
                                          <p:val>
                                            <p:strVal val="#ppt_w*0.70"/>
                                          </p:val>
                                        </p:tav>
                                        <p:tav tm="100000">
                                          <p:val>
                                            <p:strVal val="#ppt_w"/>
                                          </p:val>
                                        </p:tav>
                                      </p:tavLst>
                                    </p:anim>
                                    <p:anim calcmode="lin" valueType="num">
                                      <p:cBhvr>
                                        <p:cTn id="8" dur="1000" fill="hold"/>
                                        <p:tgtEl>
                                          <p:spTgt spid="1569798"/>
                                        </p:tgtEl>
                                        <p:attrNameLst>
                                          <p:attrName>ppt_h</p:attrName>
                                        </p:attrNameLst>
                                      </p:cBhvr>
                                      <p:tavLst>
                                        <p:tav tm="0">
                                          <p:val>
                                            <p:strVal val="#ppt_h"/>
                                          </p:val>
                                        </p:tav>
                                        <p:tav tm="100000">
                                          <p:val>
                                            <p:strVal val="#ppt_h"/>
                                          </p:val>
                                        </p:tav>
                                      </p:tavLst>
                                    </p:anim>
                                    <p:animEffect transition="in" filter="fade">
                                      <p:cBhvr>
                                        <p:cTn id="9" dur="1000"/>
                                        <p:tgtEl>
                                          <p:spTgt spid="1569798"/>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69800"/>
                                        </p:tgtEl>
                                        <p:attrNameLst>
                                          <p:attrName>style.visibility</p:attrName>
                                        </p:attrNameLst>
                                      </p:cBhvr>
                                      <p:to>
                                        <p:strVal val="visible"/>
                                      </p:to>
                                    </p:set>
                                    <p:anim calcmode="lin" valueType="num">
                                      <p:cBhvr>
                                        <p:cTn id="14" dur="1000" fill="hold"/>
                                        <p:tgtEl>
                                          <p:spTgt spid="1569800"/>
                                        </p:tgtEl>
                                        <p:attrNameLst>
                                          <p:attrName>ppt_w</p:attrName>
                                        </p:attrNameLst>
                                      </p:cBhvr>
                                      <p:tavLst>
                                        <p:tav tm="0">
                                          <p:val>
                                            <p:strVal val="#ppt_w*0.70"/>
                                          </p:val>
                                        </p:tav>
                                        <p:tav tm="100000">
                                          <p:val>
                                            <p:strVal val="#ppt_w"/>
                                          </p:val>
                                        </p:tav>
                                      </p:tavLst>
                                    </p:anim>
                                    <p:anim calcmode="lin" valueType="num">
                                      <p:cBhvr>
                                        <p:cTn id="15" dur="1000" fill="hold"/>
                                        <p:tgtEl>
                                          <p:spTgt spid="1569800"/>
                                        </p:tgtEl>
                                        <p:attrNameLst>
                                          <p:attrName>ppt_h</p:attrName>
                                        </p:attrNameLst>
                                      </p:cBhvr>
                                      <p:tavLst>
                                        <p:tav tm="0">
                                          <p:val>
                                            <p:strVal val="#ppt_h"/>
                                          </p:val>
                                        </p:tav>
                                        <p:tav tm="100000">
                                          <p:val>
                                            <p:strVal val="#ppt_h"/>
                                          </p:val>
                                        </p:tav>
                                      </p:tavLst>
                                    </p:anim>
                                    <p:animEffect transition="in" filter="fade">
                                      <p:cBhvr>
                                        <p:cTn id="16" dur="1000"/>
                                        <p:tgtEl>
                                          <p:spTgt spid="156980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6980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69801"/>
                                        </p:tgtEl>
                                        <p:attrNameLst>
                                          <p:attrName>style.visibility</p:attrName>
                                        </p:attrNameLst>
                                      </p:cBhvr>
                                      <p:to>
                                        <p:strVal val="visible"/>
                                      </p:to>
                                    </p:set>
                                    <p:animEffect transition="in" filter="fade">
                                      <p:cBhvr>
                                        <p:cTn id="25" dur="500"/>
                                        <p:tgtEl>
                                          <p:spTgt spid="1569801"/>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1569802"/>
                                        </p:tgtEl>
                                        <p:attrNameLst>
                                          <p:attrName>style.visibility</p:attrName>
                                        </p:attrNameLst>
                                      </p:cBhvr>
                                      <p:to>
                                        <p:strVal val="visible"/>
                                      </p:to>
                                    </p:set>
                                    <p:anim calcmode="lin" valueType="num">
                                      <p:cBhvr>
                                        <p:cTn id="30" dur="1000" fill="hold"/>
                                        <p:tgtEl>
                                          <p:spTgt spid="1569802"/>
                                        </p:tgtEl>
                                        <p:attrNameLst>
                                          <p:attrName>ppt_w</p:attrName>
                                        </p:attrNameLst>
                                      </p:cBhvr>
                                      <p:tavLst>
                                        <p:tav tm="0">
                                          <p:val>
                                            <p:strVal val="#ppt_w*0.70"/>
                                          </p:val>
                                        </p:tav>
                                        <p:tav tm="100000">
                                          <p:val>
                                            <p:strVal val="#ppt_w"/>
                                          </p:val>
                                        </p:tav>
                                      </p:tavLst>
                                    </p:anim>
                                    <p:anim calcmode="lin" valueType="num">
                                      <p:cBhvr>
                                        <p:cTn id="31" dur="1000" fill="hold"/>
                                        <p:tgtEl>
                                          <p:spTgt spid="1569802"/>
                                        </p:tgtEl>
                                        <p:attrNameLst>
                                          <p:attrName>ppt_h</p:attrName>
                                        </p:attrNameLst>
                                      </p:cBhvr>
                                      <p:tavLst>
                                        <p:tav tm="0">
                                          <p:val>
                                            <p:strVal val="#ppt_h"/>
                                          </p:val>
                                        </p:tav>
                                        <p:tav tm="100000">
                                          <p:val>
                                            <p:strVal val="#ppt_h"/>
                                          </p:val>
                                        </p:tav>
                                      </p:tavLst>
                                    </p:anim>
                                    <p:animEffect transition="in" filter="fade">
                                      <p:cBhvr>
                                        <p:cTn id="32" dur="1000"/>
                                        <p:tgtEl>
                                          <p:spTgt spid="1569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9798" grpId="0"/>
      <p:bldP spid="1569800" grpId="0"/>
      <p:bldP spid="1569801" grpId="0"/>
      <p:bldP spid="1569802" grpId="0"/>
      <p:bldP spid="156980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4194175" y="769938"/>
            <a:ext cx="2517775" cy="538162"/>
          </a:xfrm>
        </p:spPr>
        <p:txBody>
          <a:bodyPr/>
          <a:lstStyle/>
          <a:p>
            <a:r>
              <a:rPr lang="zh-CN" altLang="en-US" sz="1700" b="1">
                <a:solidFill>
                  <a:srgbClr val="0000FF"/>
                </a:solidFill>
                <a:ea typeface="黑体" panose="02010609060101010101" pitchFamily="49" charset="-122"/>
              </a:rPr>
              <a:t>线性系统和非线性系统</a:t>
            </a:r>
          </a:p>
        </p:txBody>
      </p:sp>
      <p:sp>
        <p:nvSpPr>
          <p:cNvPr id="139267"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en-US" altLang="zh-CN" sz="2000">
              <a:solidFill>
                <a:srgbClr val="FF0000"/>
              </a:solidFill>
              <a:latin typeface="Times New Roman" panose="02020603050405020304" pitchFamily="18" charset="0"/>
            </a:endParaRPr>
          </a:p>
        </p:txBody>
      </p:sp>
      <p:sp>
        <p:nvSpPr>
          <p:cNvPr id="1570822"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例：判断下列系统是否为线性系统</a:t>
            </a:r>
          </a:p>
        </p:txBody>
      </p:sp>
      <mc:AlternateContent xmlns:mc="http://schemas.openxmlformats.org/markup-compatibility/2006" xmlns:a14="http://schemas.microsoft.com/office/drawing/2010/main">
        <mc:Choice Requires="a14">
          <p:sp>
            <p:nvSpPr>
              <p:cNvPr id="1570823" name="Object 2"/>
              <p:cNvSpPr txBox="1"/>
              <p:nvPr/>
            </p:nvSpPr>
            <p:spPr bwMode="auto">
              <a:xfrm>
                <a:off x="198438" y="1895475"/>
                <a:ext cx="2517775" cy="4310063"/>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(7)</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oMath>
                  </m:oMathPara>
                </a14:m>
                <a:endParaRPr lang="zh-CN" altLang="en-US"/>
              </a:p>
            </p:txBody>
          </p:sp>
        </mc:Choice>
        <mc:Fallback xmlns="">
          <p:sp>
            <p:nvSpPr>
              <p:cNvPr id="1570823" name="Object 2"/>
              <p:cNvSpPr txBox="1">
                <a:spLocks noRot="1" noChangeAspect="1" noMove="1" noResize="1" noEditPoints="1" noAdjustHandles="1" noChangeArrowheads="1" noChangeShapeType="1" noTextEdit="1"/>
              </p:cNvSpPr>
              <p:nvPr/>
            </p:nvSpPr>
            <p:spPr bwMode="auto">
              <a:xfrm>
                <a:off x="198438" y="1895475"/>
                <a:ext cx="2517775" cy="4310063"/>
              </a:xfrm>
              <a:prstGeom prst="rect">
                <a:avLst/>
              </a:prstGeom>
              <a:blipFill rotWithShape="1">
                <a:blip r:embed="rId4"/>
                <a:stretch>
                  <a:fillRect l="-13" r="-996" b="-582"/>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70824" name="Rectangle 8"/>
          <p:cNvSpPr>
            <a:spLocks noChangeArrowheads="1"/>
          </p:cNvSpPr>
          <p:nvPr/>
        </p:nvSpPr>
        <p:spPr bwMode="auto">
          <a:xfrm>
            <a:off x="2894013" y="2184400"/>
            <a:ext cx="59245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dirty="0">
                <a:solidFill>
                  <a:srgbClr val="FF0000"/>
                </a:solidFill>
                <a:latin typeface="Times New Roman" panose="02020603050405020304" pitchFamily="18" charset="0"/>
                <a:ea typeface="宋体" panose="02010600030101010101" pitchFamily="2" charset="-122"/>
              </a:rPr>
              <a:t>解：</a:t>
            </a:r>
            <a:r>
              <a:rPr lang="zh-CN" altLang="en-US" sz="1700" dirty="0">
                <a:latin typeface="Times New Roman" panose="02020603050405020304" pitchFamily="18" charset="0"/>
                <a:ea typeface="宋体" panose="02010600030101010101" pitchFamily="2" charset="-122"/>
              </a:rPr>
              <a:t>设系统在激励</a:t>
            </a:r>
            <a:r>
              <a:rPr lang="en-US" altLang="zh-CN" sz="1700" dirty="0">
                <a:solidFill>
                  <a:srgbClr val="FF0000"/>
                </a:solidFill>
                <a:latin typeface="Times New Roman" panose="02020603050405020304" pitchFamily="18" charset="0"/>
                <a:ea typeface="宋体" panose="02010600030101010101" pitchFamily="2" charset="-122"/>
              </a:rPr>
              <a:t>e</a:t>
            </a:r>
            <a:r>
              <a:rPr lang="en-US" altLang="zh-CN" sz="1700" baseline="-25000" dirty="0">
                <a:solidFill>
                  <a:srgbClr val="FF0000"/>
                </a:solidFill>
                <a:latin typeface="Times New Roman" panose="02020603050405020304" pitchFamily="18" charset="0"/>
                <a:ea typeface="宋体" panose="02010600030101010101" pitchFamily="2" charset="-122"/>
              </a:rPr>
              <a:t>1</a:t>
            </a:r>
            <a:r>
              <a:rPr lang="en-US" altLang="zh-CN" sz="1700" dirty="0">
                <a:solidFill>
                  <a:srgbClr val="FF0000"/>
                </a:solidFill>
                <a:latin typeface="Times New Roman" panose="02020603050405020304" pitchFamily="18" charset="0"/>
                <a:ea typeface="宋体" panose="02010600030101010101" pitchFamily="2" charset="-122"/>
              </a:rPr>
              <a:t>(t)</a:t>
            </a:r>
            <a:r>
              <a:rPr lang="zh-CN" altLang="en-US" sz="1700" dirty="0">
                <a:solidFill>
                  <a:srgbClr val="FF0000"/>
                </a:solidFill>
                <a:latin typeface="Times New Roman" panose="02020603050405020304" pitchFamily="18" charset="0"/>
                <a:ea typeface="宋体" panose="02010600030101010101" pitchFamily="2" charset="-122"/>
              </a:rPr>
              <a:t>、 </a:t>
            </a:r>
            <a:r>
              <a:rPr lang="en-US" altLang="zh-CN" sz="1700" dirty="0">
                <a:solidFill>
                  <a:srgbClr val="FF0000"/>
                </a:solidFill>
                <a:latin typeface="Times New Roman" panose="02020603050405020304" pitchFamily="18" charset="0"/>
                <a:ea typeface="宋体" panose="02010600030101010101" pitchFamily="2" charset="-122"/>
              </a:rPr>
              <a:t>e</a:t>
            </a:r>
            <a:r>
              <a:rPr lang="en-US" altLang="zh-CN" sz="1700" baseline="-25000" dirty="0">
                <a:solidFill>
                  <a:srgbClr val="FF0000"/>
                </a:solidFill>
                <a:latin typeface="Times New Roman" panose="02020603050405020304" pitchFamily="18" charset="0"/>
                <a:ea typeface="宋体" panose="02010600030101010101" pitchFamily="2" charset="-122"/>
              </a:rPr>
              <a:t>2</a:t>
            </a:r>
            <a:r>
              <a:rPr lang="en-US" altLang="zh-CN" sz="1700" dirty="0">
                <a:solidFill>
                  <a:srgbClr val="FF0000"/>
                </a:solidFill>
                <a:latin typeface="Times New Roman" panose="02020603050405020304" pitchFamily="18" charset="0"/>
                <a:ea typeface="宋体" panose="02010600030101010101" pitchFamily="2" charset="-122"/>
              </a:rPr>
              <a:t>(t)</a:t>
            </a:r>
            <a:r>
              <a:rPr lang="zh-CN" altLang="en-US" sz="1700" dirty="0">
                <a:latin typeface="Times New Roman" panose="02020603050405020304" pitchFamily="18" charset="0"/>
                <a:ea typeface="宋体" panose="02010600030101010101" pitchFamily="2" charset="-122"/>
              </a:rPr>
              <a:t>作用下的响应分别为</a:t>
            </a:r>
            <a:r>
              <a:rPr lang="en-US" altLang="zh-CN" sz="1700" dirty="0">
                <a:solidFill>
                  <a:srgbClr val="FF0000"/>
                </a:solidFill>
                <a:latin typeface="Times New Roman" panose="02020603050405020304" pitchFamily="18" charset="0"/>
                <a:ea typeface="宋体" panose="02010600030101010101" pitchFamily="2" charset="-122"/>
              </a:rPr>
              <a:t>r</a:t>
            </a:r>
            <a:r>
              <a:rPr lang="en-US" altLang="zh-CN" sz="1700" baseline="-25000" dirty="0">
                <a:solidFill>
                  <a:srgbClr val="FF0000"/>
                </a:solidFill>
                <a:latin typeface="Times New Roman" panose="02020603050405020304" pitchFamily="18" charset="0"/>
                <a:ea typeface="宋体" panose="02010600030101010101" pitchFamily="2" charset="-122"/>
              </a:rPr>
              <a:t>1</a:t>
            </a:r>
            <a:r>
              <a:rPr lang="en-US" altLang="zh-CN" sz="1700" dirty="0">
                <a:solidFill>
                  <a:srgbClr val="FF0000"/>
                </a:solidFill>
                <a:latin typeface="Times New Roman" panose="02020603050405020304" pitchFamily="18" charset="0"/>
                <a:ea typeface="宋体" panose="02010600030101010101" pitchFamily="2" charset="-122"/>
              </a:rPr>
              <a:t>(t)</a:t>
            </a:r>
            <a:r>
              <a:rPr lang="zh-CN" altLang="en-US" sz="1700" dirty="0">
                <a:solidFill>
                  <a:srgbClr val="FF0000"/>
                </a:solidFill>
                <a:latin typeface="Times New Roman" panose="02020603050405020304" pitchFamily="18" charset="0"/>
                <a:ea typeface="宋体" panose="02010600030101010101" pitchFamily="2" charset="-122"/>
              </a:rPr>
              <a:t>、</a:t>
            </a:r>
            <a:r>
              <a:rPr lang="en-US" altLang="zh-CN" sz="1700" dirty="0">
                <a:solidFill>
                  <a:srgbClr val="FF0000"/>
                </a:solidFill>
                <a:latin typeface="Times New Roman" panose="02020603050405020304" pitchFamily="18" charset="0"/>
                <a:ea typeface="宋体" panose="02010600030101010101" pitchFamily="2" charset="-122"/>
              </a:rPr>
              <a:t>r</a:t>
            </a:r>
            <a:r>
              <a:rPr lang="en-US" altLang="zh-CN" sz="1700" baseline="-25000" dirty="0">
                <a:solidFill>
                  <a:srgbClr val="FF0000"/>
                </a:solidFill>
                <a:latin typeface="Times New Roman" panose="02020603050405020304" pitchFamily="18" charset="0"/>
                <a:ea typeface="宋体" panose="02010600030101010101" pitchFamily="2" charset="-122"/>
              </a:rPr>
              <a:t>2</a:t>
            </a:r>
            <a:r>
              <a:rPr lang="en-US" altLang="zh-CN" sz="1700" dirty="0">
                <a:solidFill>
                  <a:srgbClr val="FF0000"/>
                </a:solidFill>
                <a:latin typeface="Times New Roman" panose="02020603050405020304" pitchFamily="18" charset="0"/>
                <a:ea typeface="宋体" panose="02010600030101010101" pitchFamily="2" charset="-122"/>
              </a:rPr>
              <a:t>(t)</a:t>
            </a:r>
            <a:r>
              <a:rPr lang="zh-CN" altLang="en-US" sz="1700" dirty="0">
                <a:solidFill>
                  <a:srgbClr val="FF0000"/>
                </a:solidFill>
                <a:latin typeface="Times New Roman" panose="02020603050405020304" pitchFamily="18" charset="0"/>
                <a:ea typeface="宋体" panose="02010600030101010101" pitchFamily="2" charset="-122"/>
              </a:rPr>
              <a:t>，</a:t>
            </a:r>
            <a:r>
              <a:rPr lang="zh-CN" altLang="en-US" sz="1700" dirty="0">
                <a:latin typeface="Times New Roman" panose="02020603050405020304" pitchFamily="18" charset="0"/>
                <a:ea typeface="宋体" panose="02010600030101010101" pitchFamily="2" charset="-122"/>
              </a:rPr>
              <a:t>又假设系统在 </a:t>
            </a:r>
            <a:r>
              <a:rPr lang="en-US" altLang="zh-CN" sz="1700" dirty="0">
                <a:solidFill>
                  <a:srgbClr val="FF0000"/>
                </a:solidFill>
                <a:latin typeface="Times New Roman" panose="02020603050405020304" pitchFamily="18" charset="0"/>
                <a:ea typeface="宋体" panose="02010600030101010101" pitchFamily="2" charset="-122"/>
              </a:rPr>
              <a:t>e(t)= k</a:t>
            </a:r>
            <a:r>
              <a:rPr lang="en-US" altLang="zh-CN" sz="1700" baseline="-25000" dirty="0">
                <a:solidFill>
                  <a:srgbClr val="FF0000"/>
                </a:solidFill>
                <a:latin typeface="Times New Roman" panose="02020603050405020304" pitchFamily="18" charset="0"/>
                <a:ea typeface="宋体" panose="02010600030101010101" pitchFamily="2" charset="-122"/>
              </a:rPr>
              <a:t>1</a:t>
            </a:r>
            <a:r>
              <a:rPr lang="en-US" altLang="zh-CN" sz="1700" dirty="0">
                <a:solidFill>
                  <a:srgbClr val="FF0000"/>
                </a:solidFill>
                <a:latin typeface="Times New Roman" panose="02020603050405020304" pitchFamily="18" charset="0"/>
                <a:ea typeface="宋体" panose="02010600030101010101" pitchFamily="2" charset="-122"/>
              </a:rPr>
              <a:t> e</a:t>
            </a:r>
            <a:r>
              <a:rPr lang="en-US" altLang="zh-CN" sz="1700" baseline="-25000" dirty="0">
                <a:solidFill>
                  <a:srgbClr val="FF0000"/>
                </a:solidFill>
                <a:latin typeface="Times New Roman" panose="02020603050405020304" pitchFamily="18" charset="0"/>
                <a:ea typeface="宋体" panose="02010600030101010101" pitchFamily="2" charset="-122"/>
              </a:rPr>
              <a:t>1</a:t>
            </a:r>
            <a:r>
              <a:rPr lang="en-US" altLang="zh-CN" sz="1700" dirty="0">
                <a:solidFill>
                  <a:srgbClr val="FF0000"/>
                </a:solidFill>
                <a:latin typeface="Times New Roman" panose="02020603050405020304" pitchFamily="18" charset="0"/>
                <a:ea typeface="宋体" panose="02010600030101010101" pitchFamily="2" charset="-122"/>
              </a:rPr>
              <a:t>(t)</a:t>
            </a:r>
            <a:r>
              <a:rPr lang="zh-CN" altLang="en-US" sz="1700" dirty="0">
                <a:solidFill>
                  <a:srgbClr val="FF0000"/>
                </a:solidFill>
                <a:latin typeface="Times New Roman" panose="02020603050405020304" pitchFamily="18" charset="0"/>
                <a:ea typeface="宋体" panose="02010600030101010101" pitchFamily="2" charset="-122"/>
              </a:rPr>
              <a:t>＋</a:t>
            </a:r>
            <a:r>
              <a:rPr lang="en-US" altLang="zh-CN" sz="1700" dirty="0">
                <a:solidFill>
                  <a:srgbClr val="FF0000"/>
                </a:solidFill>
                <a:latin typeface="Times New Roman" panose="02020603050405020304" pitchFamily="18" charset="0"/>
                <a:ea typeface="宋体" panose="02010600030101010101" pitchFamily="2" charset="-122"/>
              </a:rPr>
              <a:t>k</a:t>
            </a:r>
            <a:r>
              <a:rPr lang="en-US" altLang="zh-CN" sz="1700" baseline="-25000" dirty="0">
                <a:solidFill>
                  <a:srgbClr val="FF0000"/>
                </a:solidFill>
                <a:latin typeface="Times New Roman" panose="02020603050405020304" pitchFamily="18" charset="0"/>
                <a:ea typeface="宋体" panose="02010600030101010101" pitchFamily="2" charset="-122"/>
              </a:rPr>
              <a:t>2</a:t>
            </a:r>
            <a:r>
              <a:rPr lang="en-US" altLang="zh-CN" sz="1700" dirty="0">
                <a:solidFill>
                  <a:srgbClr val="FF0000"/>
                </a:solidFill>
                <a:latin typeface="Times New Roman" panose="02020603050405020304" pitchFamily="18" charset="0"/>
                <a:ea typeface="宋体" panose="02010600030101010101" pitchFamily="2" charset="-122"/>
              </a:rPr>
              <a:t> e</a:t>
            </a:r>
            <a:r>
              <a:rPr lang="en-US" altLang="zh-CN" sz="1700" baseline="-25000" dirty="0">
                <a:solidFill>
                  <a:srgbClr val="FF0000"/>
                </a:solidFill>
                <a:latin typeface="Times New Roman" panose="02020603050405020304" pitchFamily="18" charset="0"/>
                <a:ea typeface="宋体" panose="02010600030101010101" pitchFamily="2" charset="-122"/>
              </a:rPr>
              <a:t>2</a:t>
            </a:r>
            <a:r>
              <a:rPr lang="en-US" altLang="zh-CN" sz="1700" dirty="0">
                <a:solidFill>
                  <a:srgbClr val="FF0000"/>
                </a:solidFill>
                <a:latin typeface="Times New Roman" panose="02020603050405020304" pitchFamily="18" charset="0"/>
                <a:ea typeface="宋体" panose="02010600030101010101" pitchFamily="2" charset="-122"/>
              </a:rPr>
              <a:t>(t)</a:t>
            </a:r>
            <a:r>
              <a:rPr lang="zh-CN" altLang="en-US" sz="1700" dirty="0">
                <a:latin typeface="Times New Roman" panose="02020603050405020304" pitchFamily="18" charset="0"/>
                <a:ea typeface="宋体" panose="02010600030101010101" pitchFamily="2" charset="-122"/>
              </a:rPr>
              <a:t>作用下的响应为： </a:t>
            </a:r>
            <a:r>
              <a:rPr lang="en-US" altLang="zh-CN" sz="1700" dirty="0">
                <a:solidFill>
                  <a:srgbClr val="FF0000"/>
                </a:solidFill>
                <a:latin typeface="Times New Roman" panose="02020603050405020304" pitchFamily="18" charset="0"/>
                <a:ea typeface="宋体" panose="02010600030101010101" pitchFamily="2" charset="-122"/>
              </a:rPr>
              <a:t>r(t)= k</a:t>
            </a:r>
            <a:r>
              <a:rPr lang="en-US" altLang="zh-CN" sz="1700" baseline="-25000" dirty="0">
                <a:solidFill>
                  <a:srgbClr val="FF0000"/>
                </a:solidFill>
                <a:latin typeface="Times New Roman" panose="02020603050405020304" pitchFamily="18" charset="0"/>
                <a:ea typeface="宋体" panose="02010600030101010101" pitchFamily="2" charset="-122"/>
              </a:rPr>
              <a:t>1</a:t>
            </a:r>
            <a:r>
              <a:rPr lang="en-US" altLang="zh-CN" sz="1700" dirty="0">
                <a:solidFill>
                  <a:srgbClr val="FF0000"/>
                </a:solidFill>
                <a:latin typeface="Times New Roman" panose="02020603050405020304" pitchFamily="18" charset="0"/>
                <a:ea typeface="宋体" panose="02010600030101010101" pitchFamily="2" charset="-122"/>
              </a:rPr>
              <a:t> r</a:t>
            </a:r>
            <a:r>
              <a:rPr lang="en-US" altLang="zh-CN" sz="1700" baseline="-25000" dirty="0">
                <a:solidFill>
                  <a:srgbClr val="FF0000"/>
                </a:solidFill>
                <a:latin typeface="Times New Roman" panose="02020603050405020304" pitchFamily="18" charset="0"/>
                <a:ea typeface="宋体" panose="02010600030101010101" pitchFamily="2" charset="-122"/>
              </a:rPr>
              <a:t>1</a:t>
            </a:r>
            <a:r>
              <a:rPr lang="en-US" altLang="zh-CN" sz="1700" dirty="0">
                <a:solidFill>
                  <a:srgbClr val="FF0000"/>
                </a:solidFill>
                <a:latin typeface="Times New Roman" panose="02020603050405020304" pitchFamily="18" charset="0"/>
                <a:ea typeface="宋体" panose="02010600030101010101" pitchFamily="2" charset="-122"/>
              </a:rPr>
              <a:t>(t)</a:t>
            </a:r>
            <a:r>
              <a:rPr lang="zh-CN" altLang="en-US" sz="1700" dirty="0">
                <a:solidFill>
                  <a:srgbClr val="FF0000"/>
                </a:solidFill>
                <a:latin typeface="Times New Roman" panose="02020603050405020304" pitchFamily="18" charset="0"/>
                <a:ea typeface="宋体" panose="02010600030101010101" pitchFamily="2" charset="-122"/>
              </a:rPr>
              <a:t>＋</a:t>
            </a:r>
            <a:r>
              <a:rPr lang="en-US" altLang="zh-CN" sz="1700" dirty="0">
                <a:solidFill>
                  <a:srgbClr val="FF0000"/>
                </a:solidFill>
                <a:latin typeface="Times New Roman" panose="02020603050405020304" pitchFamily="18" charset="0"/>
                <a:ea typeface="宋体" panose="02010600030101010101" pitchFamily="2" charset="-122"/>
              </a:rPr>
              <a:t>k</a:t>
            </a:r>
            <a:r>
              <a:rPr lang="en-US" altLang="zh-CN" sz="1700" baseline="-25000" dirty="0">
                <a:solidFill>
                  <a:srgbClr val="FF0000"/>
                </a:solidFill>
                <a:latin typeface="Times New Roman" panose="02020603050405020304" pitchFamily="18" charset="0"/>
                <a:ea typeface="宋体" panose="02010600030101010101" pitchFamily="2" charset="-122"/>
              </a:rPr>
              <a:t>2</a:t>
            </a:r>
            <a:r>
              <a:rPr lang="en-US" altLang="zh-CN" sz="1700" dirty="0">
                <a:solidFill>
                  <a:srgbClr val="FF0000"/>
                </a:solidFill>
                <a:latin typeface="Times New Roman" panose="02020603050405020304" pitchFamily="18" charset="0"/>
                <a:ea typeface="宋体" panose="02010600030101010101" pitchFamily="2" charset="-122"/>
              </a:rPr>
              <a:t> r</a:t>
            </a:r>
            <a:r>
              <a:rPr lang="en-US" altLang="zh-CN" sz="1700" baseline="-25000" dirty="0">
                <a:solidFill>
                  <a:srgbClr val="FF0000"/>
                </a:solidFill>
                <a:latin typeface="Times New Roman" panose="02020603050405020304" pitchFamily="18" charset="0"/>
                <a:ea typeface="宋体" panose="02010600030101010101" pitchFamily="2" charset="-122"/>
              </a:rPr>
              <a:t>2</a:t>
            </a:r>
            <a:r>
              <a:rPr lang="en-US" altLang="zh-CN" sz="1700" dirty="0">
                <a:solidFill>
                  <a:srgbClr val="FF0000"/>
                </a:solidFill>
                <a:latin typeface="Times New Roman" panose="02020603050405020304" pitchFamily="18" charset="0"/>
                <a:ea typeface="宋体" panose="02010600030101010101" pitchFamily="2" charset="-122"/>
              </a:rPr>
              <a:t>(t)</a:t>
            </a:r>
            <a:r>
              <a:rPr lang="zh-CN" altLang="en-US" sz="1700" dirty="0">
                <a:solidFill>
                  <a:srgbClr val="FF0000"/>
                </a:solidFill>
                <a:latin typeface="Times New Roman" panose="02020603050405020304" pitchFamily="18" charset="0"/>
                <a:ea typeface="宋体" panose="02010600030101010101" pitchFamily="2" charset="-122"/>
              </a:rPr>
              <a:t>，</a:t>
            </a:r>
            <a:r>
              <a:rPr lang="zh-CN" altLang="en-US" sz="1700" dirty="0">
                <a:latin typeface="Times New Roman" panose="02020603050405020304" pitchFamily="18" charset="0"/>
                <a:ea typeface="宋体" panose="02010600030101010101" pitchFamily="2" charset="-122"/>
              </a:rPr>
              <a:t>代入上等式。得：</a:t>
            </a:r>
          </a:p>
        </p:txBody>
      </p:sp>
      <mc:AlternateContent xmlns:mc="http://schemas.openxmlformats.org/markup-compatibility/2006" xmlns:a14="http://schemas.microsoft.com/office/drawing/2010/main">
        <mc:Choice Requires="a14">
          <p:sp>
            <p:nvSpPr>
              <p:cNvPr id="1570825" name="Object 3"/>
              <p:cNvSpPr txBox="1"/>
              <p:nvPr/>
            </p:nvSpPr>
            <p:spPr bwMode="auto">
              <a:xfrm>
                <a:off x="4037088" y="4811235"/>
                <a:ext cx="4127500" cy="466725"/>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0825" name="Object 3"/>
              <p:cNvSpPr txBox="1">
                <a:spLocks noRot="1" noChangeAspect="1" noMove="1" noResize="1" noEditPoints="1" noAdjustHandles="1" noChangeArrowheads="1" noChangeShapeType="1" noTextEdit="1"/>
              </p:cNvSpPr>
              <p:nvPr/>
            </p:nvSpPr>
            <p:spPr bwMode="auto">
              <a:xfrm>
                <a:off x="4037088" y="4811235"/>
                <a:ext cx="4127500" cy="466725"/>
              </a:xfrm>
              <a:prstGeom prst="rect">
                <a:avLst/>
              </a:prstGeom>
              <a:blipFill rotWithShape="1">
                <a:blip r:embed="rId5"/>
                <a:stretch>
                  <a:fillRect l="-10" t="-102" r="10" b="102"/>
                </a:stretch>
              </a:blipFill>
              <a:ln>
                <a:noFill/>
              </a:ln>
              <a:effectLst/>
            </p:spPr>
            <p:txBody>
              <a:bodyPr/>
              <a:lstStyle/>
              <a:p>
                <a:r>
                  <a:rPr lang="zh-CN" altLang="en-US">
                    <a:noFill/>
                  </a:rPr>
                  <a:t> </a:t>
                </a:r>
              </a:p>
            </p:txBody>
          </p:sp>
        </mc:Fallback>
      </mc:AlternateContent>
      <p:sp>
        <p:nvSpPr>
          <p:cNvPr id="1570826" name="Rectangle 10"/>
          <p:cNvSpPr>
            <a:spLocks noChangeArrowheads="1"/>
          </p:cNvSpPr>
          <p:nvPr/>
        </p:nvSpPr>
        <p:spPr bwMode="auto">
          <a:xfrm>
            <a:off x="3732213" y="5815013"/>
            <a:ext cx="3862387"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所以，该系统是非线性的</a:t>
            </a:r>
          </a:p>
        </p:txBody>
      </p:sp>
      <mc:AlternateContent xmlns:mc="http://schemas.openxmlformats.org/markup-compatibility/2006" xmlns:a14="http://schemas.microsoft.com/office/drawing/2010/main">
        <mc:Choice Requires="a14">
          <p:sp>
            <p:nvSpPr>
              <p:cNvPr id="1570827" name="Object 4"/>
              <p:cNvSpPr txBox="1"/>
              <p:nvPr/>
            </p:nvSpPr>
            <p:spPr bwMode="auto">
              <a:xfrm>
                <a:off x="3552031" y="3533775"/>
                <a:ext cx="3802062" cy="465138"/>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右边</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e</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5</m:t>
                      </m:r>
                    </m:oMath>
                  </m:oMathPara>
                </a14:m>
                <a:endParaRPr lang="zh-CN" altLang="en-US" dirty="0"/>
              </a:p>
            </p:txBody>
          </p:sp>
        </mc:Choice>
        <mc:Fallback xmlns="">
          <p:sp>
            <p:nvSpPr>
              <p:cNvPr id="1570827" name="Object 4"/>
              <p:cNvSpPr txBox="1">
                <a:spLocks noRot="1" noChangeAspect="1" noMove="1" noResize="1" noEditPoints="1" noAdjustHandles="1" noChangeArrowheads="1" noChangeShapeType="1" noTextEdit="1"/>
              </p:cNvSpPr>
              <p:nvPr/>
            </p:nvSpPr>
            <p:spPr bwMode="auto">
              <a:xfrm>
                <a:off x="3552031" y="3533775"/>
                <a:ext cx="3802062" cy="465138"/>
              </a:xfrm>
              <a:prstGeom prst="rect">
                <a:avLst/>
              </a:prstGeom>
              <a:blipFill rotWithShape="1">
                <a:blip r:embed="rId6"/>
                <a:stretch>
                  <a:fillRect l="-13" r="4" b="6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0828" name="Object 5"/>
              <p:cNvSpPr txBox="1"/>
              <p:nvPr/>
            </p:nvSpPr>
            <p:spPr bwMode="auto">
              <a:xfrm>
                <a:off x="3512139" y="4052888"/>
                <a:ext cx="5177398" cy="925987"/>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左边</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0828" name="Object 5"/>
              <p:cNvSpPr txBox="1">
                <a:spLocks noRot="1" noChangeAspect="1" noMove="1" noResize="1" noEditPoints="1" noAdjustHandles="1" noChangeArrowheads="1" noChangeShapeType="1" noTextEdit="1"/>
              </p:cNvSpPr>
              <p:nvPr/>
            </p:nvSpPr>
            <p:spPr bwMode="auto">
              <a:xfrm>
                <a:off x="3512139" y="4052888"/>
                <a:ext cx="5177398" cy="925987"/>
              </a:xfrm>
              <a:prstGeom prst="rect">
                <a:avLst/>
              </a:prstGeom>
              <a:blipFill rotWithShape="1">
                <a:blip r:embed="rId7"/>
                <a:stretch>
                  <a:fillRect l="-11" t="-103" r="4" b="5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0832" name="Object 6"/>
              <p:cNvSpPr txBox="1"/>
              <p:nvPr/>
            </p:nvSpPr>
            <p:spPr bwMode="auto">
              <a:xfrm>
                <a:off x="3929063" y="1355725"/>
                <a:ext cx="3851275" cy="725488"/>
              </a:xfrm>
              <a:prstGeom prst="rect">
                <a:avLst/>
              </a:prstGeom>
              <a:solidFill>
                <a:srgbClr val="CADAC2"/>
              </a:solidFill>
              <a:ln>
                <a:noFill/>
              </a:ln>
              <a:effectLst>
                <a:outerShdw dist="35921" dir="2700000" algn="ctr" rotWithShape="0">
                  <a:srgbClr val="808080"/>
                </a:outerShdw>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(7)</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)+5</m:t>
                      </m:r>
                    </m:oMath>
                  </m:oMathPara>
                </a14:m>
                <a:endParaRPr lang="zh-CN" altLang="en-US"/>
              </a:p>
            </p:txBody>
          </p:sp>
        </mc:Choice>
        <mc:Fallback xmlns="">
          <p:sp>
            <p:nvSpPr>
              <p:cNvPr id="1570832" name="Object 6"/>
              <p:cNvSpPr txBox="1">
                <a:spLocks noRot="1" noChangeAspect="1" noMove="1" noResize="1" noEditPoints="1" noAdjustHandles="1" noChangeArrowheads="1" noChangeShapeType="1" noTextEdit="1"/>
              </p:cNvSpPr>
              <p:nvPr/>
            </p:nvSpPr>
            <p:spPr bwMode="auto">
              <a:xfrm>
                <a:off x="3929063" y="1355725"/>
                <a:ext cx="3851275" cy="725488"/>
              </a:xfrm>
              <a:prstGeom prst="rect">
                <a:avLst/>
              </a:prstGeom>
              <a:blipFill rotWithShape="1">
                <a:blip r:embed="rId8"/>
                <a:stretch>
                  <a:fillRect l="-8" t="-525" r="-651" b="-3457"/>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 name="日期占位符 14"/>
          <p:cNvSpPr>
            <a:spLocks noGrp="1"/>
          </p:cNvSpPr>
          <p:nvPr>
            <p:ph type="dt" sz="quarter" idx="10"/>
          </p:nvPr>
        </p:nvSpPr>
        <p:spPr/>
        <p:txBody>
          <a:bodyPr/>
          <a:lstStyle/>
          <a:p>
            <a:pPr>
              <a:defRPr/>
            </a:pPr>
            <a:fld id="{3E065AF7-1B5D-4CE2-8CE1-AE747AE3D397}" type="datetime3">
              <a:rPr lang="zh-CN" altLang="en-US"/>
              <a:t>2026年3月4日星期三</a:t>
            </a:fld>
            <a:endParaRPr lang="en-US" altLang="zh-CN" dirty="0"/>
          </a:p>
        </p:txBody>
      </p:sp>
      <p:sp>
        <p:nvSpPr>
          <p:cNvPr id="2" name="墨迹 1"/>
          <p:cNvSpPr/>
          <p:nvPr/>
        </p:nvSpPr>
        <p:spPr bwMode="auto">
          <a:xfrm>
            <a:off x="7691400" y="1580040"/>
            <a:ext cx="235080" cy="309240"/>
          </a:xfrm>
        </p:spPr>
      </p:sp>
      <mc:AlternateContent xmlns:mc="http://schemas.openxmlformats.org/markup-compatibility/2006" xmlns:a14="http://schemas.microsoft.com/office/drawing/2010/main">
        <mc:Choice Requires="a14">
          <p:sp>
            <p:nvSpPr>
              <p:cNvPr id="16" name="文本框 15"/>
              <p:cNvSpPr txBox="1"/>
              <p:nvPr/>
            </p:nvSpPr>
            <p:spPr>
              <a:xfrm>
                <a:off x="2266836" y="5291793"/>
                <a:ext cx="461032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FF0000"/>
                          </a:solidFill>
                          <a:latin typeface="Cambria Math" panose="02040503050406030204" pitchFamily="18" charset="0"/>
                        </a:rPr>
                        <m:t>右边</m:t>
                      </m:r>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左边</m:t>
                      </m:r>
                    </m:oMath>
                  </m:oMathPara>
                </a14:m>
                <a:endParaRPr lang="zh-CN" altLang="en-US" dirty="0">
                  <a:solidFill>
                    <a:srgbClr val="FF0000"/>
                  </a:solidFill>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2266836" y="5291793"/>
                <a:ext cx="4610328" cy="523220"/>
              </a:xfrm>
              <a:prstGeom prst="rect">
                <a:avLst/>
              </a:prstGeom>
              <a:blipFill rotWithShape="1">
                <a:blip r:embed="rId9"/>
                <a:stretch>
                  <a:fillRect l="-11" t="-65" r="2" b="61"/>
                </a:stretch>
              </a:blipFill>
            </p:spPr>
            <p:txBody>
              <a:bodyPr/>
              <a:lstStyle/>
              <a:p>
                <a:r>
                  <a:rPr lang="zh-CN" altLang="en-US">
                    <a:noFill/>
                  </a:rPr>
                  <a:t> </a:t>
                </a:r>
              </a:p>
            </p:txBody>
          </p:sp>
        </mc:Fallback>
      </mc:AlternateContent>
    </p:spTree>
    <p:custDataLst>
      <p:tags r:id="rId1"/>
    </p:custDataLst>
  </p:cSld>
  <p:clrMapOvr>
    <a:masterClrMapping/>
  </p:clrMapOvr>
  <p:transition spd="med" advTm="14340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grpId="0" nodeType="withEffect">
                                  <p:stCondLst>
                                    <p:cond delay="0"/>
                                  </p:stCondLst>
                                  <p:childTnLst>
                                    <p:set>
                                      <p:cBhvr>
                                        <p:cTn id="9" dur="1" fill="hold">
                                          <p:stCondLst>
                                            <p:cond delay="0"/>
                                          </p:stCondLst>
                                        </p:cTn>
                                        <p:tgtEl>
                                          <p:spTgt spid="1570822"/>
                                        </p:tgtEl>
                                        <p:attrNameLst>
                                          <p:attrName>style.visibility</p:attrName>
                                        </p:attrNameLst>
                                      </p:cBhvr>
                                      <p:to>
                                        <p:strVal val="visible"/>
                                      </p:to>
                                    </p:set>
                                    <p:anim calcmode="lin" valueType="num">
                                      <p:cBhvr>
                                        <p:cTn id="10" dur="1000" fill="hold"/>
                                        <p:tgtEl>
                                          <p:spTgt spid="1570822"/>
                                        </p:tgtEl>
                                        <p:attrNameLst>
                                          <p:attrName>ppt_w</p:attrName>
                                        </p:attrNameLst>
                                      </p:cBhvr>
                                      <p:tavLst>
                                        <p:tav tm="0">
                                          <p:val>
                                            <p:strVal val="#ppt_w*0.70"/>
                                          </p:val>
                                        </p:tav>
                                        <p:tav tm="100000">
                                          <p:val>
                                            <p:strVal val="#ppt_w"/>
                                          </p:val>
                                        </p:tav>
                                      </p:tavLst>
                                    </p:anim>
                                    <p:anim calcmode="lin" valueType="num">
                                      <p:cBhvr>
                                        <p:cTn id="11" dur="1000" fill="hold"/>
                                        <p:tgtEl>
                                          <p:spTgt spid="1570822"/>
                                        </p:tgtEl>
                                        <p:attrNameLst>
                                          <p:attrName>ppt_h</p:attrName>
                                        </p:attrNameLst>
                                      </p:cBhvr>
                                      <p:tavLst>
                                        <p:tav tm="0">
                                          <p:val>
                                            <p:strVal val="#ppt_h"/>
                                          </p:val>
                                        </p:tav>
                                        <p:tav tm="100000">
                                          <p:val>
                                            <p:strVal val="#ppt_h"/>
                                          </p:val>
                                        </p:tav>
                                      </p:tavLst>
                                    </p:anim>
                                    <p:animEffect transition="in" filter="fade">
                                      <p:cBhvr>
                                        <p:cTn id="12" dur="1000"/>
                                        <p:tgtEl>
                                          <p:spTgt spid="1570822"/>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1570824"/>
                                        </p:tgtEl>
                                        <p:attrNameLst>
                                          <p:attrName>style.visibility</p:attrName>
                                        </p:attrNameLst>
                                      </p:cBhvr>
                                      <p:to>
                                        <p:strVal val="visible"/>
                                      </p:to>
                                    </p:set>
                                    <p:anim calcmode="lin" valueType="num">
                                      <p:cBhvr>
                                        <p:cTn id="17" dur="1000" fill="hold"/>
                                        <p:tgtEl>
                                          <p:spTgt spid="1570824"/>
                                        </p:tgtEl>
                                        <p:attrNameLst>
                                          <p:attrName>ppt_w</p:attrName>
                                        </p:attrNameLst>
                                      </p:cBhvr>
                                      <p:tavLst>
                                        <p:tav tm="0">
                                          <p:val>
                                            <p:strVal val="#ppt_w*0.70"/>
                                          </p:val>
                                        </p:tav>
                                        <p:tav tm="100000">
                                          <p:val>
                                            <p:strVal val="#ppt_w"/>
                                          </p:val>
                                        </p:tav>
                                      </p:tavLst>
                                    </p:anim>
                                    <p:anim calcmode="lin" valueType="num">
                                      <p:cBhvr>
                                        <p:cTn id="18" dur="1000" fill="hold"/>
                                        <p:tgtEl>
                                          <p:spTgt spid="1570824"/>
                                        </p:tgtEl>
                                        <p:attrNameLst>
                                          <p:attrName>ppt_h</p:attrName>
                                        </p:attrNameLst>
                                      </p:cBhvr>
                                      <p:tavLst>
                                        <p:tav tm="0">
                                          <p:val>
                                            <p:strVal val="#ppt_h"/>
                                          </p:val>
                                        </p:tav>
                                        <p:tav tm="100000">
                                          <p:val>
                                            <p:strVal val="#ppt_h"/>
                                          </p:val>
                                        </p:tav>
                                      </p:tavLst>
                                    </p:anim>
                                    <p:animEffect transition="in" filter="fade">
                                      <p:cBhvr>
                                        <p:cTn id="19" dur="1000"/>
                                        <p:tgtEl>
                                          <p:spTgt spid="157082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7082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570828"/>
                                        </p:tgtEl>
                                        <p:attrNameLst>
                                          <p:attrName>style.visibility</p:attrName>
                                        </p:attrNameLst>
                                      </p:cBhvr>
                                      <p:to>
                                        <p:strVal val="visible"/>
                                      </p:to>
                                    </p:set>
                                    <p:anim calcmode="lin" valueType="num">
                                      <p:cBhvr additive="base">
                                        <p:cTn id="28" dur="500" fill="hold"/>
                                        <p:tgtEl>
                                          <p:spTgt spid="1570828"/>
                                        </p:tgtEl>
                                        <p:attrNameLst>
                                          <p:attrName>ppt_x</p:attrName>
                                        </p:attrNameLst>
                                      </p:cBhvr>
                                      <p:tavLst>
                                        <p:tav tm="0">
                                          <p:val>
                                            <p:strVal val="#ppt_x"/>
                                          </p:val>
                                        </p:tav>
                                        <p:tav tm="100000">
                                          <p:val>
                                            <p:strVal val="#ppt_x"/>
                                          </p:val>
                                        </p:tav>
                                      </p:tavLst>
                                    </p:anim>
                                    <p:anim calcmode="lin" valueType="num">
                                      <p:cBhvr additive="base">
                                        <p:cTn id="29" dur="500" fill="hold"/>
                                        <p:tgtEl>
                                          <p:spTgt spid="1570828"/>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4" fill="hold" grpId="0" nodeType="afterEffect">
                                  <p:stCondLst>
                                    <p:cond delay="0"/>
                                  </p:stCondLst>
                                  <p:childTnLst>
                                    <p:set>
                                      <p:cBhvr>
                                        <p:cTn id="32" dur="1" fill="hold">
                                          <p:stCondLst>
                                            <p:cond delay="0"/>
                                          </p:stCondLst>
                                        </p:cTn>
                                        <p:tgtEl>
                                          <p:spTgt spid="1570825"/>
                                        </p:tgtEl>
                                        <p:attrNameLst>
                                          <p:attrName>style.visibility</p:attrName>
                                        </p:attrNameLst>
                                      </p:cBhvr>
                                      <p:to>
                                        <p:strVal val="visible"/>
                                      </p:to>
                                    </p:set>
                                    <p:anim calcmode="lin" valueType="num">
                                      <p:cBhvr additive="base">
                                        <p:cTn id="33" dur="500" fill="hold"/>
                                        <p:tgtEl>
                                          <p:spTgt spid="1570825"/>
                                        </p:tgtEl>
                                        <p:attrNameLst>
                                          <p:attrName>ppt_x</p:attrName>
                                        </p:attrNameLst>
                                      </p:cBhvr>
                                      <p:tavLst>
                                        <p:tav tm="0">
                                          <p:val>
                                            <p:strVal val="#ppt_x"/>
                                          </p:val>
                                        </p:tav>
                                        <p:tav tm="100000">
                                          <p:val>
                                            <p:strVal val="#ppt_x"/>
                                          </p:val>
                                        </p:tav>
                                      </p:tavLst>
                                    </p:anim>
                                    <p:anim calcmode="lin" valueType="num">
                                      <p:cBhvr additive="base">
                                        <p:cTn id="34" dur="500" fill="hold"/>
                                        <p:tgtEl>
                                          <p:spTgt spid="157082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barn(inVertical)">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grpId="0" nodeType="clickEffect">
                                  <p:stCondLst>
                                    <p:cond delay="0"/>
                                  </p:stCondLst>
                                  <p:childTnLst>
                                    <p:set>
                                      <p:cBhvr>
                                        <p:cTn id="43" dur="1" fill="hold">
                                          <p:stCondLst>
                                            <p:cond delay="0"/>
                                          </p:stCondLst>
                                        </p:cTn>
                                        <p:tgtEl>
                                          <p:spTgt spid="1570826"/>
                                        </p:tgtEl>
                                        <p:attrNameLst>
                                          <p:attrName>style.visibility</p:attrName>
                                        </p:attrNameLst>
                                      </p:cBhvr>
                                      <p:to>
                                        <p:strVal val="visible"/>
                                      </p:to>
                                    </p:set>
                                    <p:anim calcmode="lin" valueType="num">
                                      <p:cBhvr>
                                        <p:cTn id="44" dur="1000" fill="hold"/>
                                        <p:tgtEl>
                                          <p:spTgt spid="1570826"/>
                                        </p:tgtEl>
                                        <p:attrNameLst>
                                          <p:attrName>ppt_w</p:attrName>
                                        </p:attrNameLst>
                                      </p:cBhvr>
                                      <p:tavLst>
                                        <p:tav tm="0">
                                          <p:val>
                                            <p:strVal val="#ppt_w*0.70"/>
                                          </p:val>
                                        </p:tav>
                                        <p:tav tm="100000">
                                          <p:val>
                                            <p:strVal val="#ppt_w"/>
                                          </p:val>
                                        </p:tav>
                                      </p:tavLst>
                                    </p:anim>
                                    <p:anim calcmode="lin" valueType="num">
                                      <p:cBhvr>
                                        <p:cTn id="45" dur="1000" fill="hold"/>
                                        <p:tgtEl>
                                          <p:spTgt spid="1570826"/>
                                        </p:tgtEl>
                                        <p:attrNameLst>
                                          <p:attrName>ppt_h</p:attrName>
                                        </p:attrNameLst>
                                      </p:cBhvr>
                                      <p:tavLst>
                                        <p:tav tm="0">
                                          <p:val>
                                            <p:strVal val="#ppt_h"/>
                                          </p:val>
                                        </p:tav>
                                        <p:tav tm="100000">
                                          <p:val>
                                            <p:strVal val="#ppt_h"/>
                                          </p:val>
                                        </p:tav>
                                      </p:tavLst>
                                    </p:anim>
                                    <p:animEffect transition="in" filter="fade">
                                      <p:cBhvr>
                                        <p:cTn id="46" dur="1000"/>
                                        <p:tgtEl>
                                          <p:spTgt spid="1570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0822" grpId="0"/>
      <p:bldP spid="1570824" grpId="0"/>
      <p:bldP spid="1570825" grpId="0"/>
      <p:bldP spid="1570826" grpId="0"/>
      <p:bldP spid="1570827" grpId="0"/>
      <p:bldP spid="1570828" grpId="0"/>
      <p:bldP spid="1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4176713" y="795338"/>
            <a:ext cx="2517775" cy="538162"/>
          </a:xfrm>
        </p:spPr>
        <p:txBody>
          <a:bodyPr/>
          <a:lstStyle/>
          <a:p>
            <a:r>
              <a:rPr lang="zh-CN" altLang="en-US" sz="1700" b="1">
                <a:solidFill>
                  <a:srgbClr val="0000FF"/>
                </a:solidFill>
                <a:ea typeface="黑体" panose="02010609060101010101" pitchFamily="49" charset="-122"/>
              </a:rPr>
              <a:t>线性系统和非线性系统</a:t>
            </a:r>
          </a:p>
        </p:txBody>
      </p:sp>
      <p:sp>
        <p:nvSpPr>
          <p:cNvPr id="141315" name="Rectangle 6"/>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latin typeface="Times New Roman" panose="02020603050405020304" pitchFamily="18" charset="0"/>
              </a:rPr>
              <a:t>§1.4	</a:t>
            </a:r>
            <a:r>
              <a:rPr lang="zh-CN" altLang="en-US" sz="2500">
                <a:solidFill>
                  <a:srgbClr val="FF0000"/>
                </a:solidFill>
                <a:latin typeface="Times New Roman" panose="02020603050405020304" pitchFamily="18" charset="0"/>
              </a:rPr>
              <a:t>系统的概念</a:t>
            </a:r>
            <a:endParaRPr lang="zh-CN" altLang="en-US" sz="2000">
              <a:solidFill>
                <a:srgbClr val="FF0000"/>
              </a:solidFill>
              <a:latin typeface="Times New Roman" panose="02020603050405020304" pitchFamily="18" charset="0"/>
            </a:endParaRPr>
          </a:p>
        </p:txBody>
      </p:sp>
      <p:sp>
        <p:nvSpPr>
          <p:cNvPr id="1584135" name="Rectangle 7"/>
          <p:cNvSpPr>
            <a:spLocks noChangeArrowheads="1"/>
          </p:cNvSpPr>
          <p:nvPr/>
        </p:nvSpPr>
        <p:spPr bwMode="auto">
          <a:xfrm>
            <a:off x="720725" y="1873250"/>
            <a:ext cx="7702550" cy="4198938"/>
          </a:xfrm>
          <a:prstGeom prst="rect">
            <a:avLst/>
          </a:prstGeom>
          <a:solidFill>
            <a:srgbClr val="FFFFFF"/>
          </a:solidFill>
          <a:ln w="57150">
            <a:solidFill>
              <a:schemeClr val="hlink"/>
            </a:solidFill>
            <a:miter lim="800000"/>
          </a:ln>
          <a:effectLst>
            <a:prstShdw prst="shdw11">
              <a:srgbClr val="808080">
                <a:alpha val="50000"/>
              </a:srgbClr>
            </a:prstShdw>
          </a:effec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Char char="l"/>
            </a:pPr>
            <a:r>
              <a:rPr lang="zh-CN" altLang="en-US" sz="2000">
                <a:latin typeface="Times New Roman" panose="02020603050405020304" pitchFamily="18" charset="0"/>
                <a:ea typeface="宋体" panose="02010600030101010101" pitchFamily="2" charset="-122"/>
              </a:rPr>
              <a:t>对于初始状态不为零的系统，如将初始状态视为独立于信号源的产生响应的因素，则运用</a:t>
            </a:r>
            <a:r>
              <a:rPr lang="zh-CN" altLang="en-US" sz="2000">
                <a:solidFill>
                  <a:srgbClr val="FF0000"/>
                </a:solidFill>
                <a:latin typeface="Times New Roman" panose="02020603050405020304" pitchFamily="18" charset="0"/>
                <a:ea typeface="宋体" panose="02010600030101010101" pitchFamily="2" charset="-122"/>
              </a:rPr>
              <a:t>叠加性，</a:t>
            </a:r>
            <a:r>
              <a:rPr lang="zh-CN" altLang="en-US" sz="2000">
                <a:latin typeface="Times New Roman" panose="02020603050405020304" pitchFamily="18" charset="0"/>
                <a:ea typeface="宋体" panose="02010600030101010101" pitchFamily="2" charset="-122"/>
              </a:rPr>
              <a:t>系统的全响应将可分为</a:t>
            </a:r>
            <a:r>
              <a:rPr lang="zh-CN" altLang="en-US" sz="2000">
                <a:solidFill>
                  <a:srgbClr val="FF0000"/>
                </a:solidFill>
                <a:latin typeface="Times New Roman" panose="02020603050405020304" pitchFamily="18" charset="0"/>
                <a:ea typeface="宋体" panose="02010600030101010101" pitchFamily="2" charset="-122"/>
              </a:rPr>
              <a:t>零输入响应</a:t>
            </a:r>
            <a:r>
              <a:rPr lang="zh-CN" altLang="en-US" sz="2000">
                <a:latin typeface="Times New Roman" panose="02020603050405020304" pitchFamily="18" charset="0"/>
                <a:ea typeface="宋体" panose="02010600030101010101" pitchFamily="2" charset="-122"/>
              </a:rPr>
              <a:t>与</a:t>
            </a:r>
            <a:r>
              <a:rPr lang="zh-CN" altLang="en-US" sz="2000">
                <a:solidFill>
                  <a:srgbClr val="FF0000"/>
                </a:solidFill>
                <a:latin typeface="Times New Roman" panose="02020603050405020304" pitchFamily="18" charset="0"/>
                <a:ea typeface="宋体" panose="02010600030101010101" pitchFamily="2" charset="-122"/>
              </a:rPr>
              <a:t>零状态响应</a:t>
            </a:r>
            <a:r>
              <a:rPr lang="zh-CN" altLang="en-US" sz="2000">
                <a:latin typeface="Times New Roman" panose="02020603050405020304" pitchFamily="18" charset="0"/>
                <a:ea typeface="宋体" panose="02010600030101010101" pitchFamily="2" charset="-122"/>
              </a:rPr>
              <a:t>两部分，</a:t>
            </a:r>
            <a:r>
              <a:rPr lang="zh-CN" altLang="en-US" sz="2000">
                <a:solidFill>
                  <a:srgbClr val="FF0000"/>
                </a:solidFill>
                <a:latin typeface="Times New Roman" panose="02020603050405020304" pitchFamily="18" charset="0"/>
                <a:ea typeface="宋体" panose="02010600030101010101" pitchFamily="2" charset="-122"/>
              </a:rPr>
              <a:t>即：</a:t>
            </a:r>
          </a:p>
          <a:p>
            <a:pPr eaLnBrk="1" hangingPunct="1">
              <a:lnSpc>
                <a:spcPct val="145000"/>
              </a:lnSpc>
              <a:spcBef>
                <a:spcPct val="40000"/>
              </a:spcBef>
              <a:buClr>
                <a:schemeClr val="accent2"/>
              </a:buClr>
              <a:buFont typeface="Wingdings" panose="05000000000000000000" pitchFamily="2" charset="2"/>
              <a:buNone/>
            </a:pPr>
            <a:r>
              <a:rPr lang="zh-CN" altLang="en-US" sz="2000">
                <a:latin typeface="Times New Roman" panose="02020603050405020304" pitchFamily="18" charset="0"/>
                <a:ea typeface="宋体" panose="02010600030101010101" pitchFamily="2" charset="-122"/>
              </a:rPr>
              <a:t>                               </a:t>
            </a:r>
            <a:r>
              <a:rPr lang="en-US" altLang="zh-CN" sz="2000"/>
              <a:t>r(t)=r</a:t>
            </a:r>
            <a:r>
              <a:rPr lang="en-US" altLang="zh-CN" sz="2000" baseline="-25000"/>
              <a:t>zi</a:t>
            </a:r>
            <a:r>
              <a:rPr lang="en-US" altLang="zh-CN" sz="2000"/>
              <a:t>(t)+r</a:t>
            </a:r>
            <a:r>
              <a:rPr lang="en-US" altLang="zh-CN" sz="2000" baseline="-25000"/>
              <a:t>zs</a:t>
            </a:r>
            <a:r>
              <a:rPr lang="en-US" altLang="zh-CN" sz="2000"/>
              <a:t>(t)</a:t>
            </a:r>
          </a:p>
          <a:p>
            <a:pPr eaLnBrk="1" hangingPunct="1">
              <a:lnSpc>
                <a:spcPct val="145000"/>
              </a:lnSpc>
              <a:spcBef>
                <a:spcPct val="40000"/>
              </a:spcBef>
              <a:buClr>
                <a:schemeClr val="accent2"/>
              </a:buClr>
              <a:buFont typeface="Wingdings" panose="05000000000000000000" pitchFamily="2" charset="2"/>
              <a:buChar char="l"/>
            </a:pPr>
            <a:r>
              <a:rPr lang="en-US" altLang="zh-CN" sz="2000">
                <a:ea typeface="宋体" panose="02010600030101010101" pitchFamily="2" charset="-122"/>
              </a:rPr>
              <a:t>r</a:t>
            </a:r>
            <a:r>
              <a:rPr lang="en-US" altLang="zh-CN" sz="2000" baseline="-25000">
                <a:ea typeface="宋体" panose="02010600030101010101" pitchFamily="2" charset="-122"/>
              </a:rPr>
              <a:t>zi</a:t>
            </a:r>
            <a:r>
              <a:rPr lang="en-US" altLang="zh-CN" sz="2000">
                <a:ea typeface="宋体" panose="02010600030101010101" pitchFamily="2" charset="-122"/>
              </a:rPr>
              <a:t>(t)</a:t>
            </a:r>
            <a:r>
              <a:rPr lang="zh-CN" altLang="en-US" sz="2000">
                <a:ea typeface="宋体" panose="02010600030101010101" pitchFamily="2" charset="-122"/>
              </a:rPr>
              <a:t>为外加激励为零时由初始状态单独作用产生的响应，称为系统的</a:t>
            </a:r>
            <a:r>
              <a:rPr lang="zh-CN" altLang="en-US" sz="2000">
                <a:solidFill>
                  <a:srgbClr val="FF0000"/>
                </a:solidFill>
                <a:latin typeface="Times New Roman" panose="02020603050405020304" pitchFamily="18" charset="0"/>
                <a:ea typeface="宋体" panose="02010600030101010101" pitchFamily="2" charset="-122"/>
              </a:rPr>
              <a:t>零输入响应；</a:t>
            </a:r>
            <a:endParaRPr lang="zh-CN" altLang="en-US" sz="2000">
              <a:ea typeface="宋体" panose="02010600030101010101" pitchFamily="2" charset="-122"/>
            </a:endParaRPr>
          </a:p>
          <a:p>
            <a:pPr eaLnBrk="1" hangingPunct="1">
              <a:lnSpc>
                <a:spcPct val="145000"/>
              </a:lnSpc>
              <a:spcBef>
                <a:spcPct val="40000"/>
              </a:spcBef>
              <a:buClr>
                <a:schemeClr val="accent2"/>
              </a:buClr>
              <a:buFont typeface="Wingdings" panose="05000000000000000000" pitchFamily="2" charset="2"/>
              <a:buChar char="l"/>
            </a:pPr>
            <a:r>
              <a:rPr lang="en-US" altLang="zh-CN" sz="2000"/>
              <a:t>r</a:t>
            </a:r>
            <a:r>
              <a:rPr lang="en-US" altLang="zh-CN" sz="2000" baseline="-25000"/>
              <a:t>zs</a:t>
            </a:r>
            <a:r>
              <a:rPr lang="en-US" altLang="zh-CN" sz="2000"/>
              <a:t>(t)</a:t>
            </a:r>
            <a:r>
              <a:rPr lang="zh-CN" altLang="en-US" sz="2000"/>
              <a:t>为</a:t>
            </a:r>
            <a:r>
              <a:rPr lang="zh-CN" altLang="en-US" sz="2000">
                <a:ea typeface="宋体" panose="02010600030101010101" pitchFamily="2" charset="-122"/>
              </a:rPr>
              <a:t>初始状态为零时由外加激励单独作用产生的响应，称为系统的</a:t>
            </a:r>
            <a:r>
              <a:rPr lang="zh-CN" altLang="en-US" sz="2000">
                <a:solidFill>
                  <a:srgbClr val="FF0000"/>
                </a:solidFill>
                <a:latin typeface="Times New Roman" panose="02020603050405020304" pitchFamily="18" charset="0"/>
                <a:ea typeface="宋体" panose="02010600030101010101" pitchFamily="2" charset="-122"/>
              </a:rPr>
              <a:t>零状态响应；</a:t>
            </a:r>
          </a:p>
        </p:txBody>
      </p:sp>
      <p:sp>
        <p:nvSpPr>
          <p:cNvPr id="141317" name="Rectangle 8"/>
          <p:cNvSpPr>
            <a:spLocks noChangeArrowheads="1"/>
          </p:cNvSpPr>
          <p:nvPr/>
        </p:nvSpPr>
        <p:spPr bwMode="auto">
          <a:xfrm>
            <a:off x="473075" y="1095375"/>
            <a:ext cx="2517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700">
                <a:solidFill>
                  <a:schemeClr val="accent2"/>
                </a:solidFill>
                <a:latin typeface="Times New Roman" panose="02020603050405020304" pitchFamily="18" charset="0"/>
              </a:rPr>
              <a:t>系统的齐次性和叠加性</a:t>
            </a:r>
          </a:p>
        </p:txBody>
      </p:sp>
      <p:sp>
        <p:nvSpPr>
          <p:cNvPr id="8" name="日期占位符 7"/>
          <p:cNvSpPr>
            <a:spLocks noGrp="1"/>
          </p:cNvSpPr>
          <p:nvPr>
            <p:ph type="dt" sz="quarter" idx="10"/>
          </p:nvPr>
        </p:nvSpPr>
        <p:spPr/>
        <p:txBody>
          <a:bodyPr/>
          <a:lstStyle/>
          <a:p>
            <a:pPr>
              <a:defRPr/>
            </a:pPr>
            <a:fld id="{DB347067-5F25-426A-B53A-212BBF480DFA}" type="datetime3">
              <a:rPr lang="zh-CN" altLang="en-US"/>
              <a:t>2026年3月4日星期三</a:t>
            </a:fld>
            <a:endParaRPr lang="en-US" altLang="zh-CN" dirty="0"/>
          </a:p>
        </p:txBody>
      </p:sp>
    </p:spTree>
    <p:custDataLst>
      <p:tags r:id="rId1"/>
    </p:custDataLst>
  </p:cSld>
  <p:clrMapOvr>
    <a:masterClrMapping/>
  </p:clrMapOvr>
  <p:transition spd="med" advTm="244633">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1584135">
                                            <p:txEl>
                                              <p:pRg st="0" end="0"/>
                                            </p:txEl>
                                          </p:spTgt>
                                        </p:tgtEl>
                                        <p:attrNameLst>
                                          <p:attrName>style.visibility</p:attrName>
                                        </p:attrNameLst>
                                      </p:cBhvr>
                                      <p:to>
                                        <p:strVal val="visible"/>
                                      </p:to>
                                    </p:set>
                                    <p:anim calcmode="lin" valueType="num">
                                      <p:cBhvr>
                                        <p:cTn id="7" dur="1000" fill="hold"/>
                                        <p:tgtEl>
                                          <p:spTgt spid="158413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8413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84135">
                                            <p:txEl>
                                              <p:pRg st="0" end="0"/>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1584135">
                                            <p:txEl>
                                              <p:pRg st="1" end="1"/>
                                            </p:txEl>
                                          </p:spTgt>
                                        </p:tgtEl>
                                        <p:attrNameLst>
                                          <p:attrName>style.visibility</p:attrName>
                                        </p:attrNameLst>
                                      </p:cBhvr>
                                      <p:to>
                                        <p:strVal val="visible"/>
                                      </p:to>
                                    </p:set>
                                    <p:anim calcmode="lin" valueType="num">
                                      <p:cBhvr>
                                        <p:cTn id="12" dur="1000" fill="hold"/>
                                        <p:tgtEl>
                                          <p:spTgt spid="1584135">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1584135">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158413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584135">
                                            <p:txEl>
                                              <p:pRg st="2" end="2"/>
                                            </p:txEl>
                                          </p:spTgt>
                                        </p:tgtEl>
                                        <p:attrNameLst>
                                          <p:attrName>style.visibility</p:attrName>
                                        </p:attrNameLst>
                                      </p:cBhvr>
                                      <p:to>
                                        <p:strVal val="visible"/>
                                      </p:to>
                                    </p:set>
                                    <p:anim calcmode="lin" valueType="num">
                                      <p:cBhvr>
                                        <p:cTn id="19" dur="1000" fill="hold"/>
                                        <p:tgtEl>
                                          <p:spTgt spid="1584135">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1584135">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158413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1584135">
                                            <p:txEl>
                                              <p:pRg st="3" end="3"/>
                                            </p:txEl>
                                          </p:spTgt>
                                        </p:tgtEl>
                                        <p:attrNameLst>
                                          <p:attrName>style.visibility</p:attrName>
                                        </p:attrNameLst>
                                      </p:cBhvr>
                                      <p:to>
                                        <p:strVal val="visible"/>
                                      </p:to>
                                    </p:set>
                                    <p:anim calcmode="lin" valueType="num">
                                      <p:cBhvr>
                                        <p:cTn id="26" dur="1000" fill="hold"/>
                                        <p:tgtEl>
                                          <p:spTgt spid="1584135">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584135">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5841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83113" name="Object 3"/>
              <p:cNvSpPr txBox="1"/>
              <p:nvPr/>
            </p:nvSpPr>
            <p:spPr bwMode="auto">
              <a:xfrm>
                <a:off x="1604544" y="3510755"/>
                <a:ext cx="5006975" cy="512763"/>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𝑧𝑖</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𝑧𝑠</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)=3</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83113" name="Object 3"/>
              <p:cNvSpPr txBox="1">
                <a:spLocks noRot="1" noChangeAspect="1" noMove="1" noResize="1" noEditPoints="1" noAdjustHandles="1" noChangeArrowheads="1" noChangeShapeType="1" noTextEdit="1"/>
              </p:cNvSpPr>
              <p:nvPr/>
            </p:nvSpPr>
            <p:spPr bwMode="auto">
              <a:xfrm>
                <a:off x="1604544" y="3510755"/>
                <a:ext cx="5006975" cy="512763"/>
              </a:xfrm>
              <a:prstGeom prst="rect">
                <a:avLst/>
              </a:prstGeom>
              <a:blipFill rotWithShape="1">
                <a:blip r:embed="rId4"/>
                <a:stretch>
                  <a:fillRect l="-11" t="-93" r="11" b="3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3114" name="Object 4"/>
              <p:cNvSpPr txBox="1"/>
              <p:nvPr/>
            </p:nvSpPr>
            <p:spPr bwMode="auto">
              <a:xfrm>
                <a:off x="2538991" y="4848222"/>
                <a:ext cx="3209925" cy="577853"/>
              </a:xfrm>
              <a:prstGeom prst="rect">
                <a:avLst/>
              </a:prstGeom>
              <a:solidFill>
                <a:srgbClr val="FFCC66"/>
              </a:solid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𝑧𝑠</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sup>
                      </m:sSup>
                    </m:oMath>
                  </m:oMathPara>
                </a14:m>
                <a:endParaRPr lang="zh-CN" altLang="en-US" dirty="0"/>
              </a:p>
            </p:txBody>
          </p:sp>
        </mc:Choice>
        <mc:Fallback xmlns="">
          <p:sp>
            <p:nvSpPr>
              <p:cNvPr id="1583114" name="Object 4"/>
              <p:cNvSpPr txBox="1">
                <a:spLocks noRot="1" noChangeAspect="1" noMove="1" noResize="1" noEditPoints="1" noAdjustHandles="1" noChangeArrowheads="1" noChangeShapeType="1" noTextEdit="1"/>
              </p:cNvSpPr>
              <p:nvPr/>
            </p:nvSpPr>
            <p:spPr bwMode="auto">
              <a:xfrm>
                <a:off x="2538991" y="4848222"/>
                <a:ext cx="3209925" cy="577853"/>
              </a:xfrm>
              <a:prstGeom prst="rect">
                <a:avLst/>
              </a:prstGeom>
              <a:blipFill rotWithShape="1">
                <a:blip r:embed="rId5"/>
                <a:stretch>
                  <a:fillRect l="-8" t="-109" r="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3115" name="Object 5"/>
              <p:cNvSpPr txBox="1"/>
              <p:nvPr/>
            </p:nvSpPr>
            <p:spPr bwMode="auto">
              <a:xfrm>
                <a:off x="769938" y="6021388"/>
                <a:ext cx="7208837" cy="542925"/>
              </a:xfrm>
              <a:prstGeom prst="rect">
                <a:avLst/>
              </a:prstGeom>
              <a:solidFill>
                <a:srgbClr val="FFFF00"/>
              </a:solid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𝑧𝑖</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𝑧𝑠</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)=4</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&gt;0</m:t>
                      </m:r>
                    </m:oMath>
                  </m:oMathPara>
                </a14:m>
                <a:endParaRPr lang="zh-CN" altLang="en-US"/>
              </a:p>
            </p:txBody>
          </p:sp>
        </mc:Choice>
        <mc:Fallback xmlns="">
          <p:sp>
            <p:nvSpPr>
              <p:cNvPr id="1583115" name="Object 5"/>
              <p:cNvSpPr txBox="1">
                <a:spLocks noRot="1" noChangeAspect="1" noMove="1" noResize="1" noEditPoints="1" noAdjustHandles="1" noChangeArrowheads="1" noChangeShapeType="1" noTextEdit="1"/>
              </p:cNvSpPr>
              <p:nvPr/>
            </p:nvSpPr>
            <p:spPr bwMode="auto">
              <a:xfrm>
                <a:off x="769938" y="6021388"/>
                <a:ext cx="7208837" cy="542925"/>
              </a:xfrm>
              <a:prstGeom prst="rect">
                <a:avLst/>
              </a:prstGeom>
              <a:blipFill rotWithShape="1">
                <a:blip r:embed="rId6"/>
                <a:stretch>
                  <a:fillRect l="-4" t="-59" b="59"/>
                </a:stretch>
              </a:blipFill>
              <a:ln>
                <a:noFill/>
              </a:ln>
              <a:effectLst/>
            </p:spPr>
            <p:txBody>
              <a:bodyPr/>
              <a:lstStyle/>
              <a:p>
                <a:r>
                  <a:rPr lang="zh-CN" altLang="en-US">
                    <a:noFill/>
                  </a:rPr>
                  <a:t> </a:t>
                </a:r>
              </a:p>
            </p:txBody>
          </p:sp>
        </mc:Fallback>
      </mc:AlternateContent>
      <p:sp>
        <p:nvSpPr>
          <p:cNvPr id="1583116" name="Rectangle 12"/>
          <p:cNvSpPr>
            <a:spLocks noChangeArrowheads="1"/>
          </p:cNvSpPr>
          <p:nvPr/>
        </p:nvSpPr>
        <p:spPr bwMode="auto">
          <a:xfrm>
            <a:off x="520700" y="1795463"/>
            <a:ext cx="774722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000" dirty="0">
                <a:solidFill>
                  <a:srgbClr val="FF0000"/>
                </a:solidFill>
                <a:latin typeface="Times New Roman" panose="02020603050405020304" pitchFamily="18" charset="0"/>
              </a:rPr>
              <a:t>解：设系统的零输入响应为</a:t>
            </a:r>
            <a:r>
              <a:rPr lang="en-US" altLang="zh-CN" sz="2000" dirty="0" err="1">
                <a:solidFill>
                  <a:srgbClr val="FF0000"/>
                </a:solidFill>
                <a:latin typeface="Times New Roman" panose="02020603050405020304" pitchFamily="18" charset="0"/>
              </a:rPr>
              <a:t>r</a:t>
            </a:r>
            <a:r>
              <a:rPr lang="en-US" altLang="zh-CN" sz="2000" baseline="-25000" dirty="0" err="1">
                <a:solidFill>
                  <a:srgbClr val="FF0000"/>
                </a:solidFill>
                <a:latin typeface="Times New Roman" panose="02020603050405020304" pitchFamily="18" charset="0"/>
              </a:rPr>
              <a:t>zi</a:t>
            </a:r>
            <a:r>
              <a:rPr lang="en-US" altLang="zh-CN" sz="2000" dirty="0">
                <a:solidFill>
                  <a:srgbClr val="FF0000"/>
                </a:solidFill>
                <a:latin typeface="Times New Roman" panose="02020603050405020304" pitchFamily="18" charset="0"/>
              </a:rPr>
              <a:t>(t),</a:t>
            </a:r>
            <a:r>
              <a:rPr lang="zh-CN" altLang="en-US" sz="2000" dirty="0">
                <a:solidFill>
                  <a:srgbClr val="FF0000"/>
                </a:solidFill>
                <a:latin typeface="Times New Roman" panose="02020603050405020304" pitchFamily="18" charset="0"/>
              </a:rPr>
              <a:t>当激励为</a:t>
            </a:r>
            <a:r>
              <a:rPr lang="en-US" altLang="zh-CN" sz="2000" dirty="0">
                <a:solidFill>
                  <a:srgbClr val="FF0000"/>
                </a:solidFill>
                <a:latin typeface="Times New Roman" panose="02020603050405020304" pitchFamily="18" charset="0"/>
              </a:rPr>
              <a:t>e(t)</a:t>
            </a:r>
            <a:r>
              <a:rPr lang="zh-CN" altLang="en-US" sz="2000" dirty="0">
                <a:solidFill>
                  <a:srgbClr val="FF0000"/>
                </a:solidFill>
                <a:latin typeface="Times New Roman" panose="02020603050405020304" pitchFamily="18" charset="0"/>
              </a:rPr>
              <a:t>时的零状态响应为</a:t>
            </a:r>
            <a:r>
              <a:rPr lang="en-US" altLang="zh-CN" sz="2000" dirty="0" err="1">
                <a:solidFill>
                  <a:srgbClr val="FF0000"/>
                </a:solidFill>
                <a:latin typeface="Times New Roman" panose="02020603050405020304" pitchFamily="18" charset="0"/>
              </a:rPr>
              <a:t>r</a:t>
            </a:r>
            <a:r>
              <a:rPr lang="en-US" altLang="zh-CN" sz="2000" baseline="-25000" dirty="0" err="1">
                <a:solidFill>
                  <a:srgbClr val="FF0000"/>
                </a:solidFill>
                <a:latin typeface="Times New Roman" panose="02020603050405020304" pitchFamily="18" charset="0"/>
              </a:rPr>
              <a:t>zs</a:t>
            </a:r>
            <a:r>
              <a:rPr lang="en-US" altLang="zh-CN" sz="2000" dirty="0">
                <a:solidFill>
                  <a:srgbClr val="FF0000"/>
                </a:solidFill>
                <a:latin typeface="Times New Roman" panose="02020603050405020304" pitchFamily="18" charset="0"/>
              </a:rPr>
              <a:t>(t),</a:t>
            </a:r>
            <a:r>
              <a:rPr lang="zh-CN" altLang="en-US" sz="2000" dirty="0">
                <a:solidFill>
                  <a:srgbClr val="FF0000"/>
                </a:solidFill>
                <a:latin typeface="Times New Roman" panose="02020603050405020304" pitchFamily="18" charset="0"/>
              </a:rPr>
              <a:t>则有：</a:t>
            </a:r>
          </a:p>
        </p:txBody>
      </p:sp>
      <p:sp>
        <p:nvSpPr>
          <p:cNvPr id="1583117" name="Rectangle 13"/>
          <p:cNvSpPr>
            <a:spLocks noChangeArrowheads="1"/>
          </p:cNvSpPr>
          <p:nvPr/>
        </p:nvSpPr>
        <p:spPr bwMode="auto">
          <a:xfrm>
            <a:off x="1165225" y="5451475"/>
            <a:ext cx="3752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dirty="0">
                <a:solidFill>
                  <a:srgbClr val="FF0000"/>
                </a:solidFill>
                <a:latin typeface="SimSun-ExtB" panose="02010609060101010101" pitchFamily="49" charset="-122"/>
                <a:ea typeface="SimSun-ExtB" panose="02010609060101010101" pitchFamily="49" charset="-122"/>
              </a:rPr>
              <a:t>激励为</a:t>
            </a:r>
            <a:r>
              <a:rPr lang="en-US" altLang="zh-CN" sz="1700" dirty="0">
                <a:solidFill>
                  <a:srgbClr val="FF0000"/>
                </a:solidFill>
                <a:latin typeface="SimSun-ExtB" panose="02010609060101010101" pitchFamily="49" charset="-122"/>
                <a:ea typeface="SimSun-ExtB" panose="02010609060101010101" pitchFamily="49" charset="-122"/>
              </a:rPr>
              <a:t>3e(t)</a:t>
            </a:r>
            <a:r>
              <a:rPr lang="zh-CN" altLang="en-US" sz="1700" dirty="0">
                <a:solidFill>
                  <a:srgbClr val="FF0000"/>
                </a:solidFill>
                <a:latin typeface="SimSun-ExtB" panose="02010609060101010101" pitchFamily="49" charset="-122"/>
                <a:ea typeface="SimSun-ExtB" panose="02010609060101010101" pitchFamily="49" charset="-122"/>
              </a:rPr>
              <a:t>时系统全响应为：</a:t>
            </a:r>
          </a:p>
        </p:txBody>
      </p:sp>
      <mc:AlternateContent xmlns:mc="http://schemas.openxmlformats.org/markup-compatibility/2006" xmlns:a14="http://schemas.microsoft.com/office/drawing/2010/main">
        <mc:Choice Requires="a14">
          <p:sp>
            <p:nvSpPr>
              <p:cNvPr id="143368" name="Object 6"/>
              <p:cNvSpPr txBox="1">
                <a:spLocks noGrp="1"/>
              </p:cNvSpPr>
              <p:nvPr>
                <p:ph/>
              </p:nvPr>
            </p:nvSpPr>
            <p:spPr bwMode="auto">
              <a:xfrm>
                <a:off x="84584" y="504827"/>
                <a:ext cx="8867775" cy="1153316"/>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sz="1800" i="1">
                          <a:solidFill>
                            <a:srgbClr val="000000"/>
                          </a:solidFill>
                          <a:latin typeface="Cambria Math" panose="02040503050406030204" pitchFamily="18" charset="0"/>
                        </a:rPr>
                        <m:t>例：一线性系统具有非零的初始状态，已知</m:t>
                      </m:r>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当</m:t>
                          </m:r>
                        </m:e>
                        <m:sup/>
                      </m:sSup>
                      <m:r>
                        <a:rPr lang="zh-CN" altLang="en-US" sz="1800" i="1">
                          <a:solidFill>
                            <a:srgbClr val="000000"/>
                          </a:solidFill>
                          <a:latin typeface="Cambria Math" panose="02040503050406030204" pitchFamily="18" charset="0"/>
                        </a:rPr>
                        <m:t>激励为</m:t>
                      </m:r>
                      <m:r>
                        <a:rPr lang="zh-CN" altLang="en-US" sz="1800" i="1" smtClean="0">
                          <a:solidFill>
                            <a:srgbClr val="FF0000"/>
                          </a:solidFill>
                          <a:latin typeface="Cambria Math" panose="02040503050406030204" pitchFamily="18" charset="0"/>
                        </a:rPr>
                        <m:t>𝑒</m:t>
                      </m:r>
                      <m:r>
                        <a:rPr lang="zh-CN" altLang="en-US" sz="1800" i="1" smtClean="0">
                          <a:solidFill>
                            <a:srgbClr val="FF0000"/>
                          </a:solidFill>
                          <a:latin typeface="Cambria Math" panose="02040503050406030204" pitchFamily="18" charset="0"/>
                        </a:rPr>
                        <m:t>(</m:t>
                      </m:r>
                      <m:r>
                        <a:rPr lang="zh-CN" altLang="en-US" sz="1800" i="1" smtClean="0">
                          <a:solidFill>
                            <a:srgbClr val="FF0000"/>
                          </a:solidFill>
                          <a:latin typeface="Cambria Math" panose="02040503050406030204" pitchFamily="18" charset="0"/>
                        </a:rPr>
                        <m:t>𝑡</m:t>
                      </m:r>
                      <m:r>
                        <a:rPr lang="zh-CN" altLang="en-US" sz="1800" i="1" smtClean="0">
                          <a:solidFill>
                            <a:srgbClr val="FF0000"/>
                          </a:solidFill>
                          <a:latin typeface="Cambria Math" panose="02040503050406030204" pitchFamily="18" charset="0"/>
                        </a:rPr>
                        <m:t>)</m:t>
                      </m:r>
                      <m:r>
                        <a:rPr lang="zh-CN" altLang="en-US" sz="1800" i="1">
                          <a:solidFill>
                            <a:srgbClr val="000000"/>
                          </a:solidFill>
                          <a:latin typeface="Cambria Math" panose="02040503050406030204" pitchFamily="18" charset="0"/>
                        </a:rPr>
                        <m:t>时系统的全响应</m:t>
                      </m:r>
                    </m:oMath>
                    <m:oMath xmlns:m="http://schemas.openxmlformats.org/officeDocument/2006/math">
                      <m:sSub>
                        <m:sSubPr>
                          <m:ctrlPr>
                            <a:rPr lang="zh-CN" altLang="en-US" sz="1800" i="1" smtClean="0">
                              <a:solidFill>
                                <a:srgbClr val="FF0000"/>
                              </a:solidFill>
                              <a:latin typeface="Cambria Math" panose="02040503050406030204" pitchFamily="18" charset="0"/>
                            </a:rPr>
                          </m:ctrlPr>
                        </m:sSubPr>
                        <m:e>
                          <m:r>
                            <a:rPr lang="zh-CN" altLang="en-US" sz="1800" i="1">
                              <a:solidFill>
                                <a:srgbClr val="FF0000"/>
                              </a:solidFill>
                              <a:latin typeface="Cambria Math" panose="02040503050406030204" pitchFamily="18" charset="0"/>
                            </a:rPr>
                            <m:t>𝑟</m:t>
                          </m:r>
                        </m:e>
                        <m:sub>
                          <m:r>
                            <a:rPr lang="zh-CN" altLang="en-US" sz="1800" i="1">
                              <a:solidFill>
                                <a:srgbClr val="FF0000"/>
                              </a:solidFill>
                              <a:latin typeface="Cambria Math" panose="02040503050406030204" pitchFamily="18" charset="0"/>
                            </a:rPr>
                            <m:t>1</m:t>
                          </m:r>
                        </m:sub>
                      </m:sSub>
                      <m:r>
                        <a:rPr lang="zh-CN" altLang="en-US" sz="1800" i="1">
                          <a:solidFill>
                            <a:srgbClr val="FF0000"/>
                          </a:solidFill>
                          <a:latin typeface="Cambria Math" panose="02040503050406030204" pitchFamily="18" charset="0"/>
                        </a:rPr>
                        <m:t>(</m:t>
                      </m:r>
                      <m:r>
                        <a:rPr lang="zh-CN" altLang="en-US" sz="1800" i="1">
                          <a:solidFill>
                            <a:srgbClr val="FF0000"/>
                          </a:solidFill>
                          <a:latin typeface="Cambria Math" panose="02040503050406030204" pitchFamily="18" charset="0"/>
                        </a:rPr>
                        <m:t>𝑡</m:t>
                      </m:r>
                      <m:r>
                        <a:rPr lang="zh-CN" altLang="en-US" sz="1800" i="1">
                          <a:solidFill>
                            <a:srgbClr val="FF0000"/>
                          </a:solidFill>
                          <a:latin typeface="Cambria Math" panose="02040503050406030204" pitchFamily="18" charset="0"/>
                        </a:rPr>
                        <m:t>)=</m:t>
                      </m:r>
                      <m:sSup>
                        <m:sSupPr>
                          <m:ctrlPr>
                            <a:rPr lang="zh-CN" altLang="en-US" sz="1800" i="1">
                              <a:solidFill>
                                <a:srgbClr val="FF0000"/>
                              </a:solidFill>
                              <a:latin typeface="Cambria Math" panose="02040503050406030204" pitchFamily="18" charset="0"/>
                            </a:rPr>
                          </m:ctrlPr>
                        </m:sSupPr>
                        <m:e>
                          <m:r>
                            <a:rPr lang="zh-CN" altLang="en-US" sz="1800" i="1">
                              <a:solidFill>
                                <a:srgbClr val="FF0000"/>
                              </a:solidFill>
                              <a:latin typeface="Cambria Math" panose="02040503050406030204" pitchFamily="18" charset="0"/>
                            </a:rPr>
                            <m:t>𝑒</m:t>
                          </m:r>
                        </m:e>
                        <m:sup>
                          <m:r>
                            <a:rPr lang="zh-CN" altLang="en-US" sz="1800" i="1">
                              <a:solidFill>
                                <a:srgbClr val="FF0000"/>
                              </a:solidFill>
                              <a:latin typeface="Cambria Math" panose="02040503050406030204" pitchFamily="18" charset="0"/>
                            </a:rPr>
                            <m:t>−</m:t>
                          </m:r>
                          <m:r>
                            <a:rPr lang="zh-CN" altLang="en-US" sz="1800" i="1">
                              <a:solidFill>
                                <a:srgbClr val="FF0000"/>
                              </a:solidFill>
                              <a:latin typeface="Cambria Math" panose="02040503050406030204" pitchFamily="18" charset="0"/>
                            </a:rPr>
                            <m:t>𝑡</m:t>
                          </m:r>
                        </m:sup>
                      </m:sSup>
                      <m:r>
                        <a:rPr lang="zh-CN" altLang="en-US" sz="1800" i="1">
                          <a:solidFill>
                            <a:srgbClr val="FF0000"/>
                          </a:solidFill>
                          <a:latin typeface="Cambria Math" panose="02040503050406030204" pitchFamily="18" charset="0"/>
                        </a:rPr>
                        <m:t>+2</m:t>
                      </m:r>
                      <m:func>
                        <m:funcPr>
                          <m:ctrlPr>
                            <a:rPr lang="zh-CN" altLang="en-US" sz="1800" i="1">
                              <a:solidFill>
                                <a:srgbClr val="FF0000"/>
                              </a:solidFill>
                              <a:latin typeface="Cambria Math" panose="02040503050406030204" pitchFamily="18" charset="0"/>
                            </a:rPr>
                          </m:ctrlPr>
                        </m:funcPr>
                        <m:fName>
                          <m:r>
                            <m:rPr>
                              <m:sty m:val="p"/>
                            </m:rPr>
                            <a:rPr lang="zh-CN" altLang="en-US" sz="1800" i="0">
                              <a:solidFill>
                                <a:srgbClr val="FF0000"/>
                              </a:solidFill>
                              <a:latin typeface="Cambria Math" panose="02040503050406030204" pitchFamily="18" charset="0"/>
                            </a:rPr>
                            <m:t>cos</m:t>
                          </m:r>
                        </m:fName>
                        <m:e>
                          <m:r>
                            <a:rPr lang="zh-CN" altLang="en-US" sz="1800" i="1">
                              <a:solidFill>
                                <a:srgbClr val="FF0000"/>
                              </a:solidFill>
                              <a:latin typeface="Cambria Math" panose="02040503050406030204" pitchFamily="18" charset="0"/>
                            </a:rPr>
                            <m:t>(</m:t>
                          </m:r>
                        </m:e>
                      </m:func>
                      <m:r>
                        <a:rPr lang="zh-CN" altLang="en-US" sz="1800" i="1">
                          <a:solidFill>
                            <a:srgbClr val="FF0000"/>
                          </a:solidFill>
                          <a:latin typeface="Cambria Math" panose="02040503050406030204" pitchFamily="18" charset="0"/>
                        </a:rPr>
                        <m:t>𝜋</m:t>
                      </m:r>
                      <m:r>
                        <a:rPr lang="zh-CN" altLang="en-US" sz="1800" i="1">
                          <a:solidFill>
                            <a:srgbClr val="FF0000"/>
                          </a:solidFill>
                          <a:latin typeface="Cambria Math" panose="02040503050406030204" pitchFamily="18" charset="0"/>
                        </a:rPr>
                        <m:t>𝑡</m:t>
                      </m:r>
                      <m:r>
                        <a:rPr lang="zh-CN" altLang="en-US" sz="1800" i="1">
                          <a:solidFill>
                            <a:srgbClr val="FF0000"/>
                          </a:solidFill>
                          <a:latin typeface="Cambria Math" panose="02040503050406030204" pitchFamily="18" charset="0"/>
                        </a:rPr>
                        <m:t>),</m:t>
                      </m:r>
                      <m:r>
                        <a:rPr lang="zh-CN" altLang="en-US" sz="1800" i="1">
                          <a:solidFill>
                            <a:srgbClr val="000000"/>
                          </a:solidFill>
                          <a:latin typeface="Cambria Math" panose="02040503050406030204" pitchFamily="18" charset="0"/>
                        </a:rPr>
                        <m:t>𝑡</m:t>
                      </m:r>
                      <m:r>
                        <a:rPr lang="zh-CN" altLang="en-US" sz="1800" i="1">
                          <a:solidFill>
                            <a:srgbClr val="000000"/>
                          </a:solidFill>
                          <a:latin typeface="Cambria Math" panose="02040503050406030204" pitchFamily="18" charset="0"/>
                        </a:rPr>
                        <m:t>&gt;0</m:t>
                      </m:r>
                      <m:r>
                        <a:rPr lang="zh-CN" altLang="en-US" sz="1800" i="1">
                          <a:solidFill>
                            <a:srgbClr val="000000"/>
                          </a:solidFill>
                          <a:latin typeface="Cambria Math" panose="02040503050406030204" pitchFamily="18" charset="0"/>
                        </a:rPr>
                        <m:t>，若初始状态不变，激励为</m:t>
                      </m:r>
                      <m:r>
                        <a:rPr lang="zh-CN" altLang="en-US" sz="1800" i="1" smtClean="0">
                          <a:solidFill>
                            <a:srgbClr val="FF0000"/>
                          </a:solidFill>
                          <a:latin typeface="Cambria Math" panose="02040503050406030204" pitchFamily="18" charset="0"/>
                        </a:rPr>
                        <m:t>2</m:t>
                      </m:r>
                      <m:r>
                        <a:rPr lang="zh-CN" altLang="en-US" sz="1800" i="1" smtClean="0">
                          <a:solidFill>
                            <a:srgbClr val="FF0000"/>
                          </a:solidFill>
                          <a:latin typeface="Cambria Math" panose="02040503050406030204" pitchFamily="18" charset="0"/>
                        </a:rPr>
                        <m:t>𝑒</m:t>
                      </m:r>
                      <m:r>
                        <a:rPr lang="zh-CN" altLang="en-US" sz="1800" i="1" smtClean="0">
                          <a:solidFill>
                            <a:srgbClr val="FF0000"/>
                          </a:solidFill>
                          <a:latin typeface="Cambria Math" panose="02040503050406030204" pitchFamily="18" charset="0"/>
                        </a:rPr>
                        <m:t>(</m:t>
                      </m:r>
                      <m:r>
                        <a:rPr lang="zh-CN" altLang="en-US" sz="1800" i="1" smtClean="0">
                          <a:solidFill>
                            <a:srgbClr val="FF0000"/>
                          </a:solidFill>
                          <a:latin typeface="Cambria Math" panose="02040503050406030204" pitchFamily="18" charset="0"/>
                        </a:rPr>
                        <m:t>𝑡</m:t>
                      </m:r>
                      <m:r>
                        <a:rPr lang="zh-CN" altLang="en-US" sz="1800" i="1" smtClean="0">
                          <a:solidFill>
                            <a:srgbClr val="FF0000"/>
                          </a:solidFill>
                          <a:latin typeface="Cambria Math" panose="02040503050406030204" pitchFamily="18" charset="0"/>
                        </a:rPr>
                        <m:t>)</m:t>
                      </m:r>
                      <m:r>
                        <a:rPr lang="zh-CN" altLang="en-US" sz="1800" i="1">
                          <a:solidFill>
                            <a:srgbClr val="000000"/>
                          </a:solidFill>
                          <a:latin typeface="Cambria Math" panose="02040503050406030204" pitchFamily="18" charset="0"/>
                        </a:rPr>
                        <m:t>时系统全响应为</m:t>
                      </m:r>
                    </m:oMath>
                    <m:oMath xmlns:m="http://schemas.openxmlformats.org/officeDocument/2006/math">
                      <m:sSub>
                        <m:sSubPr>
                          <m:ctrlPr>
                            <a:rPr lang="zh-CN" altLang="en-US" sz="1800" i="1" smtClean="0">
                              <a:solidFill>
                                <a:srgbClr val="FF0000"/>
                              </a:solidFill>
                              <a:latin typeface="Cambria Math" panose="02040503050406030204" pitchFamily="18" charset="0"/>
                            </a:rPr>
                          </m:ctrlPr>
                        </m:sSubPr>
                        <m:e>
                          <m:r>
                            <a:rPr lang="zh-CN" altLang="en-US" sz="1800" i="1">
                              <a:solidFill>
                                <a:srgbClr val="FF0000"/>
                              </a:solidFill>
                              <a:latin typeface="Cambria Math" panose="02040503050406030204" pitchFamily="18" charset="0"/>
                            </a:rPr>
                            <m:t>𝑟</m:t>
                          </m:r>
                        </m:e>
                        <m:sub>
                          <m:r>
                            <a:rPr lang="zh-CN" altLang="en-US" sz="1800" i="1">
                              <a:solidFill>
                                <a:srgbClr val="FF0000"/>
                              </a:solidFill>
                              <a:latin typeface="Cambria Math" panose="02040503050406030204" pitchFamily="18" charset="0"/>
                            </a:rPr>
                            <m:t>2</m:t>
                          </m:r>
                        </m:sub>
                      </m:sSub>
                      <m:r>
                        <a:rPr lang="zh-CN" altLang="en-US" sz="1800" i="1">
                          <a:solidFill>
                            <a:srgbClr val="FF0000"/>
                          </a:solidFill>
                          <a:latin typeface="Cambria Math" panose="02040503050406030204" pitchFamily="18" charset="0"/>
                        </a:rPr>
                        <m:t>(</m:t>
                      </m:r>
                      <m:r>
                        <a:rPr lang="zh-CN" altLang="en-US" sz="1800" i="1">
                          <a:solidFill>
                            <a:srgbClr val="FF0000"/>
                          </a:solidFill>
                          <a:latin typeface="Cambria Math" panose="02040503050406030204" pitchFamily="18" charset="0"/>
                        </a:rPr>
                        <m:t>𝑡</m:t>
                      </m:r>
                      <m:r>
                        <a:rPr lang="zh-CN" altLang="en-US" sz="1800" i="1">
                          <a:solidFill>
                            <a:srgbClr val="FF0000"/>
                          </a:solidFill>
                          <a:latin typeface="Cambria Math" panose="02040503050406030204" pitchFamily="18" charset="0"/>
                        </a:rPr>
                        <m:t>)=3</m:t>
                      </m:r>
                      <m:func>
                        <m:funcPr>
                          <m:ctrlPr>
                            <a:rPr lang="zh-CN" altLang="en-US" sz="1800" i="1">
                              <a:solidFill>
                                <a:srgbClr val="FF0000"/>
                              </a:solidFill>
                              <a:latin typeface="Cambria Math" panose="02040503050406030204" pitchFamily="18" charset="0"/>
                            </a:rPr>
                          </m:ctrlPr>
                        </m:funcPr>
                        <m:fName>
                          <m:r>
                            <m:rPr>
                              <m:sty m:val="p"/>
                            </m:rPr>
                            <a:rPr lang="zh-CN" altLang="en-US" sz="1800" i="0">
                              <a:solidFill>
                                <a:srgbClr val="FF0000"/>
                              </a:solidFill>
                              <a:latin typeface="Cambria Math" panose="02040503050406030204" pitchFamily="18" charset="0"/>
                            </a:rPr>
                            <m:t>cos</m:t>
                          </m:r>
                        </m:fName>
                        <m:e>
                          <m:r>
                            <a:rPr lang="zh-CN" altLang="en-US" sz="1800" i="1">
                              <a:solidFill>
                                <a:srgbClr val="FF0000"/>
                              </a:solidFill>
                              <a:latin typeface="Cambria Math" panose="02040503050406030204" pitchFamily="18" charset="0"/>
                            </a:rPr>
                            <m:t>(</m:t>
                          </m:r>
                        </m:e>
                      </m:func>
                      <m:r>
                        <a:rPr lang="zh-CN" altLang="en-US" sz="1800" i="1">
                          <a:solidFill>
                            <a:srgbClr val="FF0000"/>
                          </a:solidFill>
                          <a:latin typeface="Cambria Math" panose="02040503050406030204" pitchFamily="18" charset="0"/>
                        </a:rPr>
                        <m:t>𝜋</m:t>
                      </m:r>
                      <m:r>
                        <a:rPr lang="zh-CN" altLang="en-US" sz="1800" i="1">
                          <a:solidFill>
                            <a:srgbClr val="FF0000"/>
                          </a:solidFill>
                          <a:latin typeface="Cambria Math" panose="02040503050406030204" pitchFamily="18" charset="0"/>
                        </a:rPr>
                        <m:t>𝑡</m:t>
                      </m:r>
                      <m:r>
                        <a:rPr lang="zh-CN" altLang="en-US" sz="1800" i="1">
                          <a:solidFill>
                            <a:srgbClr val="FF0000"/>
                          </a:solidFill>
                          <a:latin typeface="Cambria Math" panose="02040503050406030204" pitchFamily="18" charset="0"/>
                        </a:rPr>
                        <m:t>),</m:t>
                      </m:r>
                      <m:r>
                        <a:rPr lang="zh-CN" altLang="en-US" sz="1800" i="1">
                          <a:solidFill>
                            <a:srgbClr val="FF0000"/>
                          </a:solidFill>
                          <a:latin typeface="Cambria Math" panose="02040503050406030204" pitchFamily="18" charset="0"/>
                        </a:rPr>
                        <m:t>𝑡</m:t>
                      </m:r>
                      <m:r>
                        <a:rPr lang="zh-CN" altLang="en-US" sz="1800" i="1">
                          <a:solidFill>
                            <a:srgbClr val="FF0000"/>
                          </a:solidFill>
                          <a:latin typeface="Cambria Math" panose="02040503050406030204" pitchFamily="18" charset="0"/>
                        </a:rPr>
                        <m:t>&gt;0</m:t>
                      </m:r>
                      <m:r>
                        <a:rPr lang="zh-CN" altLang="en-US" sz="1800" i="1">
                          <a:solidFill>
                            <a:srgbClr val="FF0000"/>
                          </a:solidFill>
                          <a:latin typeface="Cambria Math" panose="02040503050406030204" pitchFamily="18" charset="0"/>
                        </a:rPr>
                        <m:t>，求在同样初始条件下，激励为</m:t>
                      </m:r>
                      <m:r>
                        <a:rPr lang="zh-CN" altLang="en-US" sz="1800" i="1">
                          <a:solidFill>
                            <a:srgbClr val="000000"/>
                          </a:solidFill>
                          <a:latin typeface="Cambria Math" panose="02040503050406030204" pitchFamily="18" charset="0"/>
                        </a:rPr>
                        <m:t>3</m:t>
                      </m:r>
                      <m:r>
                        <a:rPr lang="zh-CN" altLang="en-US" sz="1800" i="1">
                          <a:solidFill>
                            <a:srgbClr val="000000"/>
                          </a:solidFill>
                          <a:latin typeface="Cambria Math" panose="02040503050406030204" pitchFamily="18" charset="0"/>
                        </a:rPr>
                        <m:t>𝑒</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𝑡</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时系统全响应。</m:t>
                      </m:r>
                    </m:oMath>
                  </m:oMathPara>
                </a14:m>
                <a:endParaRPr lang="zh-CN" altLang="en-US" sz="1800" dirty="0"/>
              </a:p>
            </p:txBody>
          </p:sp>
        </mc:Choice>
        <mc:Fallback xmlns="">
          <p:sp>
            <p:nvSpPr>
              <p:cNvPr id="143368" name="Object 6"/>
              <p:cNvSpPr txBox="1">
                <a:spLocks noRot="1" noChangeAspect="1" noMove="1" noResize="1" noEditPoints="1" noAdjustHandles="1" noChangeArrowheads="1" noChangeShapeType="1" noTextEdit="1"/>
              </p:cNvSpPr>
              <p:nvPr>
                <p:ph/>
              </p:nvPr>
            </p:nvSpPr>
            <p:spPr bwMode="auto">
              <a:xfrm>
                <a:off x="84584" y="504827"/>
                <a:ext cx="8867775" cy="1153316"/>
              </a:xfrm>
              <a:prstGeom prst="rect">
                <a:avLst/>
              </a:prstGeom>
              <a:blipFill rotWithShape="1">
                <a:blip r:embed="rId7"/>
                <a:stretch>
                  <a:fillRect l="-1" r="1" b="14"/>
                </a:stretch>
              </a:blipFill>
              <a:ln>
                <a:noFill/>
              </a:ln>
              <a:effectLst/>
            </p:spPr>
            <p:txBody>
              <a:bodyPr/>
              <a:lstStyle/>
              <a:p>
                <a:r>
                  <a:rPr lang="zh-CN" altLang="en-US">
                    <a:noFill/>
                  </a:rPr>
                  <a:t> </a:t>
                </a:r>
              </a:p>
            </p:txBody>
          </p:sp>
        </mc:Fallback>
      </mc:AlternateContent>
      <p:sp>
        <p:nvSpPr>
          <p:cNvPr id="12" name="日期占位符 11"/>
          <p:cNvSpPr>
            <a:spLocks noGrp="1"/>
          </p:cNvSpPr>
          <p:nvPr>
            <p:ph type="dt" sz="quarter" idx="10"/>
          </p:nvPr>
        </p:nvSpPr>
        <p:spPr/>
        <p:txBody>
          <a:bodyPr/>
          <a:lstStyle/>
          <a:p>
            <a:pPr>
              <a:defRPr/>
            </a:pPr>
            <a:fld id="{9EA56E45-D75D-4299-93A2-9B26FE74B2E8}" type="datetime3">
              <a:rPr lang="zh-CN" altLang="en-US"/>
              <a:t>2026年3月4日星期三</a:t>
            </a:fld>
            <a:endParaRPr lang="zh-CN" altLang="en-US"/>
          </a:p>
        </p:txBody>
      </p:sp>
      <p:grpSp>
        <p:nvGrpSpPr>
          <p:cNvPr id="3" name="组合 2"/>
          <p:cNvGrpSpPr/>
          <p:nvPr/>
        </p:nvGrpSpPr>
        <p:grpSpPr>
          <a:xfrm>
            <a:off x="1593432" y="2847178"/>
            <a:ext cx="7023680" cy="580216"/>
            <a:chOff x="1593432" y="2847178"/>
            <a:chExt cx="7023680" cy="580216"/>
          </a:xfrm>
        </p:grpSpPr>
        <mc:AlternateContent xmlns:mc="http://schemas.openxmlformats.org/markup-compatibility/2006" xmlns:a14="http://schemas.microsoft.com/office/drawing/2010/main">
          <mc:Choice Requires="a14">
            <p:sp>
              <p:nvSpPr>
                <p:cNvPr id="1583112" name="Object 2"/>
                <p:cNvSpPr txBox="1"/>
                <p:nvPr/>
              </p:nvSpPr>
              <p:spPr bwMode="auto">
                <a:xfrm>
                  <a:off x="1593432" y="2847178"/>
                  <a:ext cx="5029200" cy="501650"/>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𝑧𝑖</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𝑧𝑠</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83112" name="Object 2"/>
                <p:cNvSpPr txBox="1">
                  <a:spLocks noRot="1" noChangeAspect="1" noMove="1" noResize="1" noEditPoints="1" noAdjustHandles="1" noChangeArrowheads="1" noChangeShapeType="1" noTextEdit="1"/>
                </p:cNvSpPr>
                <p:nvPr/>
              </p:nvSpPr>
              <p:spPr bwMode="auto">
                <a:xfrm>
                  <a:off x="1593432" y="2847178"/>
                  <a:ext cx="5029200" cy="501650"/>
                </a:xfrm>
                <a:prstGeom prst="rect">
                  <a:avLst/>
                </a:prstGeom>
                <a:blipFill rotWithShape="1">
                  <a:blip r:embed="rId8"/>
                </a:blipFill>
                <a:ln>
                  <a:noFill/>
                </a:ln>
                <a:effectLst/>
              </p:spPr>
              <p:txBody>
                <a:bodyPr/>
                <a:lstStyle/>
                <a:p>
                  <a:r>
                    <a:rPr lang="zh-CN" altLang="en-US">
                      <a:noFill/>
                    </a:rPr>
                    <a:t> </a:t>
                  </a:r>
                </a:p>
              </p:txBody>
            </p:sp>
          </mc:Fallback>
        </mc:AlternateContent>
        <p:sp>
          <p:nvSpPr>
            <p:cNvPr id="143371" name="矩形 14"/>
            <p:cNvSpPr>
              <a:spLocks noChangeArrowheads="1"/>
            </p:cNvSpPr>
            <p:nvPr/>
          </p:nvSpPr>
          <p:spPr bwMode="auto">
            <a:xfrm>
              <a:off x="7531262" y="2968606"/>
              <a:ext cx="10858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dirty="0"/>
                <a:t>（</a:t>
              </a:r>
              <a:r>
                <a:rPr lang="en-US" altLang="zh-CN" dirty="0"/>
                <a:t>1</a:t>
              </a:r>
              <a:r>
                <a:rPr lang="zh-CN" altLang="en-US" dirty="0"/>
                <a:t>）</a:t>
              </a:r>
            </a:p>
          </p:txBody>
        </p:sp>
      </p:grpSp>
      <p:sp>
        <p:nvSpPr>
          <p:cNvPr id="143372" name="矩形 15"/>
          <p:cNvSpPr>
            <a:spLocks noChangeArrowheads="1"/>
          </p:cNvSpPr>
          <p:nvPr/>
        </p:nvSpPr>
        <p:spPr bwMode="auto">
          <a:xfrm>
            <a:off x="7485775" y="3537742"/>
            <a:ext cx="10858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dirty="0"/>
              <a:t>（</a:t>
            </a:r>
            <a:r>
              <a:rPr lang="en-US" altLang="zh-CN" dirty="0"/>
              <a:t>2</a:t>
            </a:r>
            <a:r>
              <a:rPr lang="zh-CN" altLang="en-US" dirty="0"/>
              <a:t>）</a:t>
            </a:r>
          </a:p>
        </p:txBody>
      </p:sp>
      <p:sp>
        <p:nvSpPr>
          <p:cNvPr id="17" name="矩形 16"/>
          <p:cNvSpPr>
            <a:spLocks noChangeArrowheads="1"/>
          </p:cNvSpPr>
          <p:nvPr/>
        </p:nvSpPr>
        <p:spPr bwMode="auto">
          <a:xfrm>
            <a:off x="520700" y="4446588"/>
            <a:ext cx="1931988"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800">
                <a:solidFill>
                  <a:srgbClr val="0000FF"/>
                </a:solidFill>
              </a:rPr>
              <a:t>2</a:t>
            </a:r>
            <a:r>
              <a:rPr lang="zh-CN" altLang="en-US" sz="1800">
                <a:solidFill>
                  <a:srgbClr val="0000FF"/>
                </a:solidFill>
              </a:rPr>
              <a:t>*（</a:t>
            </a:r>
            <a:r>
              <a:rPr lang="en-US" altLang="zh-CN" sz="1800">
                <a:solidFill>
                  <a:srgbClr val="0000FF"/>
                </a:solidFill>
              </a:rPr>
              <a:t>1</a:t>
            </a:r>
            <a:r>
              <a:rPr lang="zh-CN" altLang="en-US" sz="1800">
                <a:solidFill>
                  <a:srgbClr val="0000FF"/>
                </a:solidFill>
              </a:rPr>
              <a:t>）</a:t>
            </a:r>
            <a:r>
              <a:rPr lang="en-US" altLang="zh-CN" sz="1800">
                <a:solidFill>
                  <a:srgbClr val="0000FF"/>
                </a:solidFill>
              </a:rPr>
              <a:t>-</a:t>
            </a:r>
            <a:r>
              <a:rPr lang="zh-CN" altLang="en-US" sz="1800">
                <a:solidFill>
                  <a:srgbClr val="0000FF"/>
                </a:solidFill>
              </a:rPr>
              <a:t>（</a:t>
            </a:r>
            <a:r>
              <a:rPr lang="en-US" altLang="zh-CN" sz="1800">
                <a:solidFill>
                  <a:srgbClr val="0000FF"/>
                </a:solidFill>
              </a:rPr>
              <a:t>2</a:t>
            </a:r>
            <a:r>
              <a:rPr lang="zh-CN" altLang="en-US" sz="1800">
                <a:solidFill>
                  <a:srgbClr val="0000FF"/>
                </a:solidFill>
              </a:rPr>
              <a:t>）得</a:t>
            </a:r>
          </a:p>
        </p:txBody>
      </p:sp>
      <p:sp>
        <p:nvSpPr>
          <p:cNvPr id="18" name="矩形 17"/>
          <p:cNvSpPr>
            <a:spLocks noChangeArrowheads="1"/>
          </p:cNvSpPr>
          <p:nvPr/>
        </p:nvSpPr>
        <p:spPr bwMode="auto">
          <a:xfrm>
            <a:off x="744119" y="4846313"/>
            <a:ext cx="169862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800" dirty="0">
                <a:solidFill>
                  <a:srgbClr val="0000FF"/>
                </a:solidFill>
              </a:rPr>
              <a:t>（</a:t>
            </a:r>
            <a:r>
              <a:rPr lang="en-US" altLang="zh-CN" sz="1800" dirty="0">
                <a:solidFill>
                  <a:srgbClr val="0000FF"/>
                </a:solidFill>
              </a:rPr>
              <a:t>2</a:t>
            </a:r>
            <a:r>
              <a:rPr lang="zh-CN" altLang="en-US" sz="1800" dirty="0">
                <a:solidFill>
                  <a:srgbClr val="0000FF"/>
                </a:solidFill>
              </a:rPr>
              <a:t>）</a:t>
            </a:r>
            <a:r>
              <a:rPr lang="en-US" altLang="zh-CN" sz="1800" dirty="0">
                <a:solidFill>
                  <a:srgbClr val="0000FF"/>
                </a:solidFill>
              </a:rPr>
              <a:t>-</a:t>
            </a:r>
            <a:r>
              <a:rPr lang="zh-CN" altLang="en-US" sz="1800" dirty="0">
                <a:solidFill>
                  <a:srgbClr val="0000FF"/>
                </a:solidFill>
              </a:rPr>
              <a:t>（</a:t>
            </a:r>
            <a:r>
              <a:rPr lang="en-US" altLang="zh-CN" sz="1800" dirty="0">
                <a:solidFill>
                  <a:srgbClr val="0000FF"/>
                </a:solidFill>
              </a:rPr>
              <a:t>1</a:t>
            </a:r>
            <a:r>
              <a:rPr lang="zh-CN" altLang="en-US" sz="1800" dirty="0">
                <a:solidFill>
                  <a:srgbClr val="0000FF"/>
                </a:solidFill>
              </a:rPr>
              <a:t>）得</a:t>
            </a:r>
          </a:p>
        </p:txBody>
      </p:sp>
      <mc:AlternateContent xmlns:mc="http://schemas.openxmlformats.org/markup-compatibility/2006" xmlns:a14="http://schemas.microsoft.com/office/drawing/2010/main">
        <mc:Choice Requires="a14">
          <p:sp>
            <p:nvSpPr>
              <p:cNvPr id="15" name="文本框 14"/>
              <p:cNvSpPr txBox="1"/>
              <p:nvPr/>
            </p:nvSpPr>
            <p:spPr>
              <a:xfrm>
                <a:off x="2538991" y="4237623"/>
                <a:ext cx="4234139" cy="523220"/>
              </a:xfrm>
              <a:prstGeom prst="rect">
                <a:avLst/>
              </a:prstGeom>
              <a:solidFill>
                <a:srgbClr val="FFC000"/>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𝑧𝑖</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sup>
                      </m:sSup>
                      <m:r>
                        <a:rPr lang="en-US" altLang="zh-CN" b="1" i="1" smtClean="0">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2538991" y="4237623"/>
                <a:ext cx="4234139" cy="523220"/>
              </a:xfrm>
              <a:prstGeom prst="rect">
                <a:avLst/>
              </a:prstGeom>
              <a:blipFill rotWithShape="1">
                <a:blip r:embed="rId9"/>
                <a:stretch>
                  <a:fillRect l="-6" t="-51" r="5" b="47"/>
                </a:stretch>
              </a:blipFill>
            </p:spPr>
            <p:txBody>
              <a:bodyPr/>
              <a:lstStyle/>
              <a:p>
                <a:r>
                  <a:rPr lang="zh-CN" altLang="en-US">
                    <a:noFill/>
                  </a:rPr>
                  <a:t> </a:t>
                </a:r>
              </a:p>
            </p:txBody>
          </p:sp>
        </mc:Fallback>
      </mc:AlternateContent>
    </p:spTree>
    <p:custDataLst>
      <p:tags r:id="rId1"/>
    </p:custDataLst>
  </p:cSld>
  <p:clrMapOvr>
    <a:masterClrMapping/>
  </p:clrMapOvr>
  <p:transition advTm="13664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583116"/>
                                        </p:tgtEl>
                                        <p:attrNameLst>
                                          <p:attrName>style.visibility</p:attrName>
                                        </p:attrNameLst>
                                      </p:cBhvr>
                                      <p:to>
                                        <p:strVal val="visible"/>
                                      </p:to>
                                    </p:set>
                                    <p:anim calcmode="lin" valueType="num">
                                      <p:cBhvr>
                                        <p:cTn id="7" dur="1000" fill="hold"/>
                                        <p:tgtEl>
                                          <p:spTgt spid="1583116"/>
                                        </p:tgtEl>
                                        <p:attrNameLst>
                                          <p:attrName>ppt_w</p:attrName>
                                        </p:attrNameLst>
                                      </p:cBhvr>
                                      <p:tavLst>
                                        <p:tav tm="0">
                                          <p:val>
                                            <p:strVal val="#ppt_w*0.70"/>
                                          </p:val>
                                        </p:tav>
                                        <p:tav tm="100000">
                                          <p:val>
                                            <p:strVal val="#ppt_w"/>
                                          </p:val>
                                        </p:tav>
                                      </p:tavLst>
                                    </p:anim>
                                    <p:anim calcmode="lin" valueType="num">
                                      <p:cBhvr>
                                        <p:cTn id="8" dur="1000" fill="hold"/>
                                        <p:tgtEl>
                                          <p:spTgt spid="1583116"/>
                                        </p:tgtEl>
                                        <p:attrNameLst>
                                          <p:attrName>ppt_h</p:attrName>
                                        </p:attrNameLst>
                                      </p:cBhvr>
                                      <p:tavLst>
                                        <p:tav tm="0">
                                          <p:val>
                                            <p:strVal val="#ppt_h"/>
                                          </p:val>
                                        </p:tav>
                                        <p:tav tm="100000">
                                          <p:val>
                                            <p:strVal val="#ppt_h"/>
                                          </p:val>
                                        </p:tav>
                                      </p:tavLst>
                                    </p:anim>
                                    <p:animEffect transition="in" filter="fade">
                                      <p:cBhvr>
                                        <p:cTn id="9" dur="1000"/>
                                        <p:tgtEl>
                                          <p:spTgt spid="158311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83113"/>
                                        </p:tgtEl>
                                        <p:attrNameLst>
                                          <p:attrName>style.visibility</p:attrName>
                                        </p:attrNameLst>
                                      </p:cBhvr>
                                      <p:to>
                                        <p:strVal val="visible"/>
                                      </p:to>
                                    </p:set>
                                    <p:anim calcmode="lin" valueType="num">
                                      <p:cBhvr additive="base">
                                        <p:cTn id="18" dur="500" fill="hold"/>
                                        <p:tgtEl>
                                          <p:spTgt spid="1583113"/>
                                        </p:tgtEl>
                                        <p:attrNameLst>
                                          <p:attrName>ppt_x</p:attrName>
                                        </p:attrNameLst>
                                      </p:cBhvr>
                                      <p:tavLst>
                                        <p:tav tm="0">
                                          <p:val>
                                            <p:strVal val="#ppt_x"/>
                                          </p:val>
                                        </p:tav>
                                        <p:tav tm="100000">
                                          <p:val>
                                            <p:strVal val="#ppt_x"/>
                                          </p:val>
                                        </p:tav>
                                      </p:tavLst>
                                    </p:anim>
                                    <p:anim calcmode="lin" valueType="num">
                                      <p:cBhvr additive="base">
                                        <p:cTn id="19" dur="500" fill="hold"/>
                                        <p:tgtEl>
                                          <p:spTgt spid="1583113"/>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43372"/>
                                        </p:tgtEl>
                                        <p:attrNameLst>
                                          <p:attrName>style.visibility</p:attrName>
                                        </p:attrNameLst>
                                      </p:cBhvr>
                                      <p:to>
                                        <p:strVal val="visible"/>
                                      </p:to>
                                    </p:set>
                                    <p:anim calcmode="lin" valueType="num">
                                      <p:cBhvr additive="base">
                                        <p:cTn id="22" dur="500" fill="hold"/>
                                        <p:tgtEl>
                                          <p:spTgt spid="143372"/>
                                        </p:tgtEl>
                                        <p:attrNameLst>
                                          <p:attrName>ppt_x</p:attrName>
                                        </p:attrNameLst>
                                      </p:cBhvr>
                                      <p:tavLst>
                                        <p:tav tm="0">
                                          <p:val>
                                            <p:strVal val="#ppt_x"/>
                                          </p:val>
                                        </p:tav>
                                        <p:tav tm="100000">
                                          <p:val>
                                            <p:strVal val="#ppt_x"/>
                                          </p:val>
                                        </p:tav>
                                      </p:tavLst>
                                    </p:anim>
                                    <p:anim calcmode="lin" valueType="num">
                                      <p:cBhvr additive="base">
                                        <p:cTn id="23" dur="500" fill="hold"/>
                                        <p:tgtEl>
                                          <p:spTgt spid="14337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500" fill="hold"/>
                                        <p:tgtEl>
                                          <p:spTgt spid="17"/>
                                        </p:tgtEl>
                                        <p:attrNameLst>
                                          <p:attrName>ppt_x</p:attrName>
                                        </p:attrNameLst>
                                      </p:cBhvr>
                                      <p:tavLst>
                                        <p:tav tm="0">
                                          <p:val>
                                            <p:strVal val="#ppt_x"/>
                                          </p:val>
                                        </p:tav>
                                        <p:tav tm="100000">
                                          <p:val>
                                            <p:strVal val="#ppt_x"/>
                                          </p:val>
                                        </p:tav>
                                      </p:tavLst>
                                    </p:anim>
                                    <p:anim calcmode="lin" valueType="num">
                                      <p:cBhvr additive="base">
                                        <p:cTn id="29" dur="500" fill="hold"/>
                                        <p:tgtEl>
                                          <p:spTgt spid="17"/>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childTnLst>
                          </p:cTn>
                        </p:par>
                        <p:par>
                          <p:cTn id="41" fill="hold">
                            <p:stCondLst>
                              <p:cond delay="500"/>
                            </p:stCondLst>
                            <p:childTnLst>
                              <p:par>
                                <p:cTn id="42" presetID="2" presetClass="entr" presetSubtype="4" fill="hold" grpId="0" nodeType="afterEffect">
                                  <p:stCondLst>
                                    <p:cond delay="0"/>
                                  </p:stCondLst>
                                  <p:childTnLst>
                                    <p:set>
                                      <p:cBhvr>
                                        <p:cTn id="43" dur="1" fill="hold">
                                          <p:stCondLst>
                                            <p:cond delay="0"/>
                                          </p:stCondLst>
                                        </p:cTn>
                                        <p:tgtEl>
                                          <p:spTgt spid="1583114"/>
                                        </p:tgtEl>
                                        <p:attrNameLst>
                                          <p:attrName>style.visibility</p:attrName>
                                        </p:attrNameLst>
                                      </p:cBhvr>
                                      <p:to>
                                        <p:strVal val="visible"/>
                                      </p:to>
                                    </p:set>
                                    <p:anim calcmode="lin" valueType="num">
                                      <p:cBhvr additive="base">
                                        <p:cTn id="44" dur="500" fill="hold"/>
                                        <p:tgtEl>
                                          <p:spTgt spid="1583114"/>
                                        </p:tgtEl>
                                        <p:attrNameLst>
                                          <p:attrName>ppt_x</p:attrName>
                                        </p:attrNameLst>
                                      </p:cBhvr>
                                      <p:tavLst>
                                        <p:tav tm="0">
                                          <p:val>
                                            <p:strVal val="#ppt_x"/>
                                          </p:val>
                                        </p:tav>
                                        <p:tav tm="100000">
                                          <p:val>
                                            <p:strVal val="#ppt_x"/>
                                          </p:val>
                                        </p:tav>
                                      </p:tavLst>
                                    </p:anim>
                                    <p:anim calcmode="lin" valueType="num">
                                      <p:cBhvr additive="base">
                                        <p:cTn id="45" dur="500" fill="hold"/>
                                        <p:tgtEl>
                                          <p:spTgt spid="1583114"/>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5" presetClass="entr" presetSubtype="0" fill="hold" grpId="0" nodeType="clickEffect">
                                  <p:stCondLst>
                                    <p:cond delay="0"/>
                                  </p:stCondLst>
                                  <p:childTnLst>
                                    <p:set>
                                      <p:cBhvr>
                                        <p:cTn id="49" dur="1" fill="hold">
                                          <p:stCondLst>
                                            <p:cond delay="0"/>
                                          </p:stCondLst>
                                        </p:cTn>
                                        <p:tgtEl>
                                          <p:spTgt spid="1583117"/>
                                        </p:tgtEl>
                                        <p:attrNameLst>
                                          <p:attrName>style.visibility</p:attrName>
                                        </p:attrNameLst>
                                      </p:cBhvr>
                                      <p:to>
                                        <p:strVal val="visible"/>
                                      </p:to>
                                    </p:set>
                                    <p:anim calcmode="lin" valueType="num">
                                      <p:cBhvr>
                                        <p:cTn id="50" dur="1000" fill="hold"/>
                                        <p:tgtEl>
                                          <p:spTgt spid="1583117"/>
                                        </p:tgtEl>
                                        <p:attrNameLst>
                                          <p:attrName>ppt_w</p:attrName>
                                        </p:attrNameLst>
                                      </p:cBhvr>
                                      <p:tavLst>
                                        <p:tav tm="0">
                                          <p:val>
                                            <p:strVal val="#ppt_w*0.70"/>
                                          </p:val>
                                        </p:tav>
                                        <p:tav tm="100000">
                                          <p:val>
                                            <p:strVal val="#ppt_w"/>
                                          </p:val>
                                        </p:tav>
                                      </p:tavLst>
                                    </p:anim>
                                    <p:anim calcmode="lin" valueType="num">
                                      <p:cBhvr>
                                        <p:cTn id="51" dur="1000" fill="hold"/>
                                        <p:tgtEl>
                                          <p:spTgt spid="1583117"/>
                                        </p:tgtEl>
                                        <p:attrNameLst>
                                          <p:attrName>ppt_h</p:attrName>
                                        </p:attrNameLst>
                                      </p:cBhvr>
                                      <p:tavLst>
                                        <p:tav tm="0">
                                          <p:val>
                                            <p:strVal val="#ppt_h"/>
                                          </p:val>
                                        </p:tav>
                                        <p:tav tm="100000">
                                          <p:val>
                                            <p:strVal val="#ppt_h"/>
                                          </p:val>
                                        </p:tav>
                                      </p:tavLst>
                                    </p:anim>
                                    <p:animEffect transition="in" filter="fade">
                                      <p:cBhvr>
                                        <p:cTn id="52" dur="1000"/>
                                        <p:tgtEl>
                                          <p:spTgt spid="1583117"/>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583115"/>
                                        </p:tgtEl>
                                        <p:attrNameLst>
                                          <p:attrName>style.visibility</p:attrName>
                                        </p:attrNameLst>
                                      </p:cBhvr>
                                      <p:to>
                                        <p:strVal val="visible"/>
                                      </p:to>
                                    </p:set>
                                    <p:anim calcmode="lin" valueType="num">
                                      <p:cBhvr additive="base">
                                        <p:cTn id="57" dur="500" fill="hold"/>
                                        <p:tgtEl>
                                          <p:spTgt spid="1583115"/>
                                        </p:tgtEl>
                                        <p:attrNameLst>
                                          <p:attrName>ppt_x</p:attrName>
                                        </p:attrNameLst>
                                      </p:cBhvr>
                                      <p:tavLst>
                                        <p:tav tm="0">
                                          <p:val>
                                            <p:strVal val="#ppt_x"/>
                                          </p:val>
                                        </p:tav>
                                        <p:tav tm="100000">
                                          <p:val>
                                            <p:strVal val="#ppt_x"/>
                                          </p:val>
                                        </p:tav>
                                      </p:tavLst>
                                    </p:anim>
                                    <p:anim calcmode="lin" valueType="num">
                                      <p:cBhvr additive="base">
                                        <p:cTn id="58" dur="500" fill="hold"/>
                                        <p:tgtEl>
                                          <p:spTgt spid="15831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3113" grpId="0"/>
      <p:bldP spid="1583114" grpId="0" animBg="1"/>
      <p:bldP spid="1583115" grpId="0" animBg="1"/>
      <p:bldP spid="1583116" grpId="0"/>
      <p:bldP spid="1583117" grpId="0"/>
      <p:bldP spid="143372" grpId="0"/>
      <p:bldP spid="17" grpId="0"/>
      <p:bldP spid="18" grpId="0"/>
      <p:bldP spid="1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3666217" y="699975"/>
            <a:ext cx="3554413" cy="673100"/>
          </a:xfrm>
        </p:spPr>
        <p:txBody>
          <a:bodyPr/>
          <a:lstStyle/>
          <a:p>
            <a:r>
              <a:rPr lang="zh-CN" altLang="en-US" sz="2200" b="1" dirty="0">
                <a:solidFill>
                  <a:srgbClr val="0000FF"/>
                </a:solidFill>
                <a:ea typeface="黑体" panose="02010609060101010101" pitchFamily="49" charset="-122"/>
              </a:rPr>
              <a:t>时不变系统与时变系统</a:t>
            </a:r>
          </a:p>
        </p:txBody>
      </p:sp>
      <p:sp>
        <p:nvSpPr>
          <p:cNvPr id="1553411" name="Rectangle 3"/>
          <p:cNvSpPr>
            <a:spLocks noGrp="1" noChangeArrowheads="1"/>
          </p:cNvSpPr>
          <p:nvPr>
            <p:ph type="body" sz="half" idx="1"/>
          </p:nvPr>
        </p:nvSpPr>
        <p:spPr>
          <a:xfrm>
            <a:off x="734559" y="1459593"/>
            <a:ext cx="7925254" cy="4840514"/>
          </a:xfrm>
          <a:solidFill>
            <a:srgbClr val="FFFFFF"/>
          </a:solidFill>
          <a:ln w="57150">
            <a:solidFill>
              <a:schemeClr val="tx1"/>
            </a:solidFill>
            <a:miter lim="800000"/>
          </a:ln>
          <a:effectLst>
            <a:prstShdw prst="shdw12">
              <a:srgbClr val="808080">
                <a:alpha val="50000"/>
              </a:srgbClr>
            </a:prstShdw>
          </a:effectLst>
        </p:spPr>
        <p:txBody>
          <a:bodyPr/>
          <a:lstStyle/>
          <a:p>
            <a:pPr>
              <a:lnSpc>
                <a:spcPct val="145000"/>
              </a:lnSpc>
              <a:spcBef>
                <a:spcPct val="45000"/>
              </a:spcBef>
              <a:buFont typeface="Wingdings" panose="05000000000000000000" pitchFamily="2" charset="2"/>
              <a:buChar char="l"/>
            </a:pPr>
            <a:r>
              <a:rPr lang="zh-CN" altLang="en-US" sz="1700" b="1" dirty="0"/>
              <a:t>如果在零状态条件下，系统输出响应的形状不随输入激励施加的时间不同而改变，则该系统为</a:t>
            </a:r>
            <a:r>
              <a:rPr lang="zh-CN" altLang="en-US" sz="1700" b="1" dirty="0">
                <a:solidFill>
                  <a:srgbClr val="FF0000"/>
                </a:solidFill>
              </a:rPr>
              <a:t>时不变系统</a:t>
            </a:r>
            <a:r>
              <a:rPr lang="zh-CN" altLang="en-US" sz="1700" b="1" dirty="0"/>
              <a:t>。否则，为</a:t>
            </a:r>
            <a:r>
              <a:rPr lang="zh-CN" altLang="en-US" sz="1700" b="1" dirty="0">
                <a:solidFill>
                  <a:srgbClr val="FF0000"/>
                </a:solidFill>
              </a:rPr>
              <a:t>时变系统</a:t>
            </a:r>
            <a:r>
              <a:rPr lang="zh-CN" altLang="en-US" sz="1700" b="1" dirty="0"/>
              <a:t>。</a:t>
            </a:r>
          </a:p>
          <a:p>
            <a:pPr>
              <a:lnSpc>
                <a:spcPct val="145000"/>
              </a:lnSpc>
              <a:spcBef>
                <a:spcPct val="45000"/>
              </a:spcBef>
              <a:buFont typeface="Wingdings" panose="05000000000000000000" pitchFamily="2" charset="2"/>
              <a:buChar char="l"/>
            </a:pPr>
            <a:r>
              <a:rPr lang="zh-CN" altLang="en-US" sz="1700" b="1" dirty="0"/>
              <a:t>用符号表示就是</a:t>
            </a:r>
            <a:r>
              <a:rPr lang="en-US" altLang="zh-CN" sz="1700" b="1" dirty="0"/>
              <a:t>:</a:t>
            </a:r>
            <a:br>
              <a:rPr lang="en-US" altLang="zh-CN" sz="1700" b="1" dirty="0"/>
            </a:br>
            <a:r>
              <a:rPr lang="en-US" altLang="zh-CN" sz="1700" b="1" dirty="0"/>
              <a:t>        </a:t>
            </a:r>
            <a:r>
              <a:rPr lang="en-US" altLang="zh-CN" sz="1700" b="1" dirty="0">
                <a:solidFill>
                  <a:srgbClr val="FF0000"/>
                </a:solidFill>
              </a:rPr>
              <a:t> </a:t>
            </a:r>
            <a:r>
              <a:rPr lang="zh-CN" altLang="en-US" sz="1700" b="1" dirty="0">
                <a:solidFill>
                  <a:srgbClr val="FF0000"/>
                </a:solidFill>
              </a:rPr>
              <a:t>若：</a:t>
            </a:r>
            <a:r>
              <a:rPr lang="zh-CN" altLang="en-US" sz="1700" b="1" dirty="0"/>
              <a:t>  </a:t>
            </a:r>
            <a:r>
              <a:rPr lang="en-US" altLang="zh-CN" sz="1700" b="1" dirty="0"/>
              <a:t>e(t)→r(t) </a:t>
            </a:r>
          </a:p>
          <a:p>
            <a:pPr>
              <a:lnSpc>
                <a:spcPct val="145000"/>
              </a:lnSpc>
              <a:spcBef>
                <a:spcPct val="45000"/>
              </a:spcBef>
              <a:buFont typeface="Wingdings" panose="05000000000000000000" pitchFamily="2" charset="2"/>
              <a:buNone/>
            </a:pPr>
            <a:r>
              <a:rPr lang="en-US" altLang="zh-CN" sz="1700" b="1" dirty="0"/>
              <a:t>               </a:t>
            </a:r>
            <a:r>
              <a:rPr lang="zh-CN" altLang="en-US" sz="1700" b="1" dirty="0">
                <a:solidFill>
                  <a:srgbClr val="FF0000"/>
                </a:solidFill>
              </a:rPr>
              <a:t>则：</a:t>
            </a:r>
            <a:r>
              <a:rPr lang="zh-CN" altLang="en-US" sz="1700" b="1" dirty="0"/>
              <a:t>  </a:t>
            </a:r>
            <a:r>
              <a:rPr lang="en-US" altLang="zh-CN" sz="1700" b="1" dirty="0"/>
              <a:t>e(t-t</a:t>
            </a:r>
            <a:r>
              <a:rPr lang="en-US" altLang="zh-CN" sz="1700" b="1" baseline="-25000" dirty="0"/>
              <a:t>0</a:t>
            </a:r>
            <a:r>
              <a:rPr lang="en-US" altLang="zh-CN" sz="1700" b="1" dirty="0"/>
              <a:t>)→r(t-t</a:t>
            </a:r>
            <a:r>
              <a:rPr lang="en-US" altLang="zh-CN" sz="1700" b="1" baseline="-25000" dirty="0"/>
              <a:t>0</a:t>
            </a:r>
            <a:r>
              <a:rPr lang="en-US" altLang="zh-CN" sz="1700" b="1" dirty="0"/>
              <a:t>) </a:t>
            </a:r>
          </a:p>
          <a:p>
            <a:pPr>
              <a:lnSpc>
                <a:spcPct val="145000"/>
              </a:lnSpc>
              <a:spcBef>
                <a:spcPct val="45000"/>
              </a:spcBef>
              <a:buFont typeface="Wingdings" panose="05000000000000000000" pitchFamily="2" charset="2"/>
              <a:buChar char="l"/>
            </a:pPr>
            <a:r>
              <a:rPr lang="zh-CN" altLang="en-US" sz="1700" b="1" dirty="0"/>
              <a:t>线性时不变系统：</a:t>
            </a:r>
          </a:p>
          <a:p>
            <a:pPr>
              <a:lnSpc>
                <a:spcPct val="145000"/>
              </a:lnSpc>
              <a:spcBef>
                <a:spcPct val="45000"/>
              </a:spcBef>
              <a:buFont typeface="Wingdings" panose="05000000000000000000" pitchFamily="2" charset="2"/>
              <a:buNone/>
            </a:pPr>
            <a:r>
              <a:rPr lang="zh-CN" altLang="en-US" sz="1700" b="1" dirty="0">
                <a:solidFill>
                  <a:srgbClr val="FF0000"/>
                </a:solidFill>
              </a:rPr>
              <a:t>               若：</a:t>
            </a:r>
            <a:r>
              <a:rPr lang="zh-CN" altLang="en-US" sz="1700" b="1" dirty="0"/>
              <a:t>  </a:t>
            </a:r>
            <a:r>
              <a:rPr lang="en-US" altLang="zh-CN" sz="1700" b="1" dirty="0"/>
              <a:t>e</a:t>
            </a:r>
            <a:r>
              <a:rPr lang="en-US" altLang="zh-CN" sz="1700" b="1" baseline="-25000" dirty="0"/>
              <a:t>1</a:t>
            </a:r>
            <a:r>
              <a:rPr lang="en-US" altLang="zh-CN" sz="1700" b="1" dirty="0"/>
              <a:t>(t) → r</a:t>
            </a:r>
            <a:r>
              <a:rPr lang="en-US" altLang="zh-CN" sz="1700" b="1" baseline="-25000" dirty="0"/>
              <a:t>1</a:t>
            </a:r>
            <a:r>
              <a:rPr lang="en-US" altLang="zh-CN" sz="1700" b="1" dirty="0"/>
              <a:t>(t)</a:t>
            </a:r>
            <a:r>
              <a:rPr lang="zh-CN" altLang="en-US" sz="1700" b="1" dirty="0"/>
              <a:t>， </a:t>
            </a:r>
            <a:r>
              <a:rPr lang="en-US" altLang="zh-CN" sz="1700" b="1" dirty="0"/>
              <a:t>e</a:t>
            </a:r>
            <a:r>
              <a:rPr lang="en-US" altLang="zh-CN" sz="1700" b="1" baseline="-25000" dirty="0"/>
              <a:t>2</a:t>
            </a:r>
            <a:r>
              <a:rPr lang="en-US" altLang="zh-CN" sz="1700" b="1" dirty="0"/>
              <a:t>(t)→r</a:t>
            </a:r>
            <a:r>
              <a:rPr lang="en-US" altLang="zh-CN" sz="1700" b="1" baseline="-25000" dirty="0"/>
              <a:t>2</a:t>
            </a:r>
            <a:r>
              <a:rPr lang="en-US" altLang="zh-CN" sz="1700" b="1" dirty="0"/>
              <a:t>(t) </a:t>
            </a:r>
          </a:p>
          <a:p>
            <a:pPr>
              <a:lnSpc>
                <a:spcPct val="145000"/>
              </a:lnSpc>
              <a:spcBef>
                <a:spcPct val="45000"/>
              </a:spcBef>
              <a:buFont typeface="Wingdings" panose="05000000000000000000" pitchFamily="2" charset="2"/>
              <a:buNone/>
            </a:pPr>
            <a:r>
              <a:rPr lang="en-US" altLang="zh-CN" sz="1700" b="1" dirty="0"/>
              <a:t>               </a:t>
            </a:r>
            <a:r>
              <a:rPr lang="zh-CN" altLang="en-US" sz="1700" b="1" dirty="0">
                <a:solidFill>
                  <a:srgbClr val="FF0000"/>
                </a:solidFill>
              </a:rPr>
              <a:t>则：</a:t>
            </a:r>
            <a:r>
              <a:rPr lang="zh-CN" altLang="en-US" sz="1700" b="1" dirty="0"/>
              <a:t>  </a:t>
            </a:r>
            <a:r>
              <a:rPr lang="en-US" altLang="zh-CN" sz="1700" b="1" dirty="0"/>
              <a:t>k</a:t>
            </a:r>
            <a:r>
              <a:rPr lang="en-US" altLang="zh-CN" sz="1700" b="1" baseline="-25000" dirty="0"/>
              <a:t>1</a:t>
            </a:r>
            <a:r>
              <a:rPr lang="en-US" altLang="zh-CN" sz="1700" b="1" dirty="0"/>
              <a:t>e</a:t>
            </a:r>
            <a:r>
              <a:rPr lang="en-US" altLang="zh-CN" sz="1700" b="1" baseline="-25000" dirty="0"/>
              <a:t>1</a:t>
            </a:r>
            <a:r>
              <a:rPr lang="en-US" altLang="zh-CN" sz="1700" b="1" dirty="0"/>
              <a:t>(t-t</a:t>
            </a:r>
            <a:r>
              <a:rPr lang="en-US" altLang="zh-CN" sz="1700" b="1" baseline="-25000" dirty="0"/>
              <a:t>1</a:t>
            </a:r>
            <a:r>
              <a:rPr lang="en-US" altLang="zh-CN" sz="1700" b="1" dirty="0"/>
              <a:t>)+ k</a:t>
            </a:r>
            <a:r>
              <a:rPr lang="en-US" altLang="zh-CN" sz="1700" b="1" baseline="-25000" dirty="0"/>
              <a:t>2</a:t>
            </a:r>
            <a:r>
              <a:rPr lang="en-US" altLang="zh-CN" sz="1700" b="1" dirty="0"/>
              <a:t>e</a:t>
            </a:r>
            <a:r>
              <a:rPr lang="en-US" altLang="zh-CN" sz="1700" b="1" baseline="-25000" dirty="0"/>
              <a:t>2</a:t>
            </a:r>
            <a:r>
              <a:rPr lang="en-US" altLang="zh-CN" sz="1700" b="1" dirty="0"/>
              <a:t>(t-t</a:t>
            </a:r>
            <a:r>
              <a:rPr lang="en-US" altLang="zh-CN" sz="1700" b="1" baseline="-25000" dirty="0"/>
              <a:t>2</a:t>
            </a:r>
            <a:r>
              <a:rPr lang="en-US" altLang="zh-CN" sz="1700" b="1" dirty="0"/>
              <a:t>) → k</a:t>
            </a:r>
            <a:r>
              <a:rPr lang="en-US" altLang="zh-CN" sz="1700" b="1" baseline="-25000" dirty="0"/>
              <a:t>1</a:t>
            </a:r>
            <a:r>
              <a:rPr lang="en-US" altLang="zh-CN" sz="1700" b="1" dirty="0"/>
              <a:t>r</a:t>
            </a:r>
            <a:r>
              <a:rPr lang="en-US" altLang="zh-CN" sz="1700" b="1" baseline="-25000" dirty="0"/>
              <a:t>1</a:t>
            </a:r>
            <a:r>
              <a:rPr lang="en-US" altLang="zh-CN" sz="1700" b="1" dirty="0"/>
              <a:t>(t-t</a:t>
            </a:r>
            <a:r>
              <a:rPr lang="en-US" altLang="zh-CN" sz="1700" b="1" baseline="-25000" dirty="0"/>
              <a:t>1</a:t>
            </a:r>
            <a:r>
              <a:rPr lang="en-US" altLang="zh-CN" sz="1700" b="1" dirty="0"/>
              <a:t>)+ k</a:t>
            </a:r>
            <a:r>
              <a:rPr lang="en-US" altLang="zh-CN" sz="1700" b="1" baseline="-25000" dirty="0"/>
              <a:t>2</a:t>
            </a:r>
            <a:r>
              <a:rPr lang="en-US" altLang="zh-CN" sz="1700" b="1" dirty="0"/>
              <a:t>r</a:t>
            </a:r>
            <a:r>
              <a:rPr lang="en-US" altLang="zh-CN" sz="1700" b="1" baseline="-25000" dirty="0"/>
              <a:t>2</a:t>
            </a:r>
            <a:r>
              <a:rPr lang="en-US" altLang="zh-CN" sz="1700" b="1" dirty="0"/>
              <a:t>(t-t</a:t>
            </a:r>
            <a:r>
              <a:rPr lang="en-US" altLang="zh-CN" sz="1700" b="1" baseline="-25000" dirty="0"/>
              <a:t>2</a:t>
            </a:r>
            <a:r>
              <a:rPr lang="en-US" altLang="zh-CN" sz="1700" b="1" dirty="0"/>
              <a:t>) </a:t>
            </a:r>
          </a:p>
          <a:p>
            <a:pPr>
              <a:lnSpc>
                <a:spcPct val="145000"/>
              </a:lnSpc>
              <a:spcBef>
                <a:spcPct val="45000"/>
              </a:spcBef>
              <a:buFont typeface="Wingdings" panose="05000000000000000000" pitchFamily="2" charset="2"/>
              <a:buChar char="l"/>
            </a:pPr>
            <a:r>
              <a:rPr lang="zh-CN" altLang="en-US" sz="2000" b="1" dirty="0">
                <a:solidFill>
                  <a:srgbClr val="FF0000"/>
                </a:solidFill>
              </a:rPr>
              <a:t>时不变系统</a:t>
            </a:r>
            <a:r>
              <a:rPr lang="zh-CN" altLang="en-US" sz="2000" b="1" dirty="0"/>
              <a:t>用</a:t>
            </a:r>
            <a:r>
              <a:rPr lang="zh-CN" altLang="en-US" sz="2000" b="1" dirty="0">
                <a:solidFill>
                  <a:srgbClr val="FF0000"/>
                </a:solidFill>
              </a:rPr>
              <a:t>常系数</a:t>
            </a:r>
            <a:r>
              <a:rPr lang="zh-CN" altLang="en-US" sz="2000" b="1" dirty="0"/>
              <a:t>微（差）分方程的数学模型描述。</a:t>
            </a:r>
            <a:endParaRPr lang="en-US" altLang="zh-CN" sz="2000" b="1" dirty="0"/>
          </a:p>
          <a:p>
            <a:pPr>
              <a:lnSpc>
                <a:spcPct val="145000"/>
              </a:lnSpc>
              <a:spcBef>
                <a:spcPct val="45000"/>
              </a:spcBef>
              <a:buFont typeface="Wingdings" panose="05000000000000000000" pitchFamily="2" charset="2"/>
              <a:buChar char="l"/>
            </a:pPr>
            <a:r>
              <a:rPr lang="zh-CN" altLang="en-US" sz="2000" b="1" dirty="0">
                <a:solidFill>
                  <a:srgbClr val="FF0000"/>
                </a:solidFill>
              </a:rPr>
              <a:t>时变系统</a:t>
            </a:r>
            <a:r>
              <a:rPr lang="zh-CN" altLang="en-US" sz="2000" b="1" dirty="0"/>
              <a:t>用</a:t>
            </a:r>
            <a:r>
              <a:rPr lang="zh-CN" altLang="en-US" sz="2000" b="1" dirty="0">
                <a:solidFill>
                  <a:srgbClr val="FF0000"/>
                </a:solidFill>
              </a:rPr>
              <a:t>变系数</a:t>
            </a:r>
            <a:r>
              <a:rPr lang="zh-CN" altLang="en-US" sz="2000" b="1" dirty="0"/>
              <a:t>微（差）分方程的数学模型描述</a:t>
            </a:r>
          </a:p>
        </p:txBody>
      </p:sp>
      <p:sp>
        <p:nvSpPr>
          <p:cNvPr id="145412" name="Rectangle 6"/>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8" name="日期占位符 7"/>
          <p:cNvSpPr>
            <a:spLocks noGrp="1"/>
          </p:cNvSpPr>
          <p:nvPr>
            <p:ph type="dt" sz="quarter" idx="10"/>
          </p:nvPr>
        </p:nvSpPr>
        <p:spPr/>
        <p:txBody>
          <a:bodyPr/>
          <a:lstStyle/>
          <a:p>
            <a:pPr>
              <a:defRPr/>
            </a:pPr>
            <a:fld id="{A5A3346E-0B19-40A6-AD57-CED5383E46A2}" type="datetime3">
              <a:rPr lang="zh-CN" altLang="en-US"/>
              <a:t>2026年3月4日星期三</a:t>
            </a:fld>
            <a:endParaRPr lang="zh-CN" altLang="en-US" dirty="0"/>
          </a:p>
        </p:txBody>
      </p:sp>
    </p:spTree>
    <p:custDataLst>
      <p:tags r:id="rId1"/>
    </p:custDataLst>
  </p:cSld>
  <p:clrMapOvr>
    <a:masterClrMapping/>
  </p:clrMapOvr>
  <p:transition advTm="26257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1553411">
                                            <p:txEl>
                                              <p:pRg st="0" end="0"/>
                                            </p:txEl>
                                          </p:spTgt>
                                        </p:tgtEl>
                                        <p:attrNameLst>
                                          <p:attrName>style.visibility</p:attrName>
                                        </p:attrNameLst>
                                      </p:cBhvr>
                                      <p:to>
                                        <p:strVal val="visible"/>
                                      </p:to>
                                    </p:set>
                                    <p:anim calcmode="lin" valueType="num">
                                      <p:cBhvr>
                                        <p:cTn id="7" dur="1000" fill="hold"/>
                                        <p:tgtEl>
                                          <p:spTgt spid="155341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5341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5341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53411">
                                            <p:txEl>
                                              <p:pRg st="1" end="1"/>
                                            </p:txEl>
                                          </p:spTgt>
                                        </p:tgtEl>
                                        <p:attrNameLst>
                                          <p:attrName>style.visibility</p:attrName>
                                        </p:attrNameLst>
                                      </p:cBhvr>
                                      <p:to>
                                        <p:strVal val="visible"/>
                                      </p:to>
                                    </p:set>
                                    <p:anim calcmode="lin" valueType="num">
                                      <p:cBhvr>
                                        <p:cTn id="14" dur="1000" fill="hold"/>
                                        <p:tgtEl>
                                          <p:spTgt spid="1553411">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53411">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53411">
                                            <p:txEl>
                                              <p:pRg st="1" end="1"/>
                                            </p:txEl>
                                          </p:spTgt>
                                        </p:tgtEl>
                                      </p:cBhvr>
                                    </p:animEffect>
                                  </p:childTnLst>
                                </p:cTn>
                              </p:par>
                              <p:par>
                                <p:cTn id="17" presetID="55" presetClass="entr" presetSubtype="0" fill="hold" nodeType="withEffect">
                                  <p:stCondLst>
                                    <p:cond delay="0"/>
                                  </p:stCondLst>
                                  <p:childTnLst>
                                    <p:set>
                                      <p:cBhvr>
                                        <p:cTn id="18" dur="1" fill="hold">
                                          <p:stCondLst>
                                            <p:cond delay="0"/>
                                          </p:stCondLst>
                                        </p:cTn>
                                        <p:tgtEl>
                                          <p:spTgt spid="1553411">
                                            <p:txEl>
                                              <p:pRg st="2" end="2"/>
                                            </p:txEl>
                                          </p:spTgt>
                                        </p:tgtEl>
                                        <p:attrNameLst>
                                          <p:attrName>style.visibility</p:attrName>
                                        </p:attrNameLst>
                                      </p:cBhvr>
                                      <p:to>
                                        <p:strVal val="visible"/>
                                      </p:to>
                                    </p:set>
                                    <p:anim calcmode="lin" valueType="num">
                                      <p:cBhvr>
                                        <p:cTn id="19" dur="1000" fill="hold"/>
                                        <p:tgtEl>
                                          <p:spTgt spid="1553411">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1553411">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1553411">
                                            <p:txEl>
                                              <p:pRg st="2" end="2"/>
                                            </p:txEl>
                                          </p:spTgt>
                                        </p:tgtEl>
                                      </p:cBhvr>
                                    </p:animEffect>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1553411">
                                            <p:txEl>
                                              <p:pRg st="3" end="3"/>
                                            </p:txEl>
                                          </p:spTgt>
                                        </p:tgtEl>
                                        <p:attrNameLst>
                                          <p:attrName>style.visibility</p:attrName>
                                        </p:attrNameLst>
                                      </p:cBhvr>
                                      <p:to>
                                        <p:strVal val="visible"/>
                                      </p:to>
                                    </p:set>
                                    <p:anim calcmode="lin" valueType="num">
                                      <p:cBhvr>
                                        <p:cTn id="25" dur="1000" fill="hold"/>
                                        <p:tgtEl>
                                          <p:spTgt spid="1553411">
                                            <p:txEl>
                                              <p:pRg st="3" end="3"/>
                                            </p:txEl>
                                          </p:spTgt>
                                        </p:tgtEl>
                                        <p:attrNameLst>
                                          <p:attrName>ppt_w</p:attrName>
                                        </p:attrNameLst>
                                      </p:cBhvr>
                                      <p:tavLst>
                                        <p:tav tm="0">
                                          <p:val>
                                            <p:strVal val="#ppt_w*0.70"/>
                                          </p:val>
                                        </p:tav>
                                        <p:tav tm="100000">
                                          <p:val>
                                            <p:strVal val="#ppt_w"/>
                                          </p:val>
                                        </p:tav>
                                      </p:tavLst>
                                    </p:anim>
                                    <p:anim calcmode="lin" valueType="num">
                                      <p:cBhvr>
                                        <p:cTn id="26" dur="1000" fill="hold"/>
                                        <p:tgtEl>
                                          <p:spTgt spid="1553411">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155341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1553411">
                                            <p:txEl>
                                              <p:pRg st="4" end="4"/>
                                            </p:txEl>
                                          </p:spTgt>
                                        </p:tgtEl>
                                        <p:attrNameLst>
                                          <p:attrName>style.visibility</p:attrName>
                                        </p:attrNameLst>
                                      </p:cBhvr>
                                      <p:to>
                                        <p:strVal val="visible"/>
                                      </p:to>
                                    </p:set>
                                    <p:anim calcmode="lin" valueType="num">
                                      <p:cBhvr>
                                        <p:cTn id="32" dur="1000" fill="hold"/>
                                        <p:tgtEl>
                                          <p:spTgt spid="1553411">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1553411">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1553411">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1553411">
                                            <p:txEl>
                                              <p:pRg st="5" end="5"/>
                                            </p:txEl>
                                          </p:spTgt>
                                        </p:tgtEl>
                                        <p:attrNameLst>
                                          <p:attrName>style.visibility</p:attrName>
                                        </p:attrNameLst>
                                      </p:cBhvr>
                                      <p:to>
                                        <p:strVal val="visible"/>
                                      </p:to>
                                    </p:set>
                                    <p:anim calcmode="lin" valueType="num">
                                      <p:cBhvr>
                                        <p:cTn id="39" dur="1000" fill="hold"/>
                                        <p:tgtEl>
                                          <p:spTgt spid="1553411">
                                            <p:txEl>
                                              <p:pRg st="5" end="5"/>
                                            </p:txEl>
                                          </p:spTgt>
                                        </p:tgtEl>
                                        <p:attrNameLst>
                                          <p:attrName>ppt_w</p:attrName>
                                        </p:attrNameLst>
                                      </p:cBhvr>
                                      <p:tavLst>
                                        <p:tav tm="0">
                                          <p:val>
                                            <p:strVal val="#ppt_w*0.70"/>
                                          </p:val>
                                        </p:tav>
                                        <p:tav tm="100000">
                                          <p:val>
                                            <p:strVal val="#ppt_w"/>
                                          </p:val>
                                        </p:tav>
                                      </p:tavLst>
                                    </p:anim>
                                    <p:anim calcmode="lin" valueType="num">
                                      <p:cBhvr>
                                        <p:cTn id="40" dur="1000" fill="hold"/>
                                        <p:tgtEl>
                                          <p:spTgt spid="1553411">
                                            <p:txEl>
                                              <p:pRg st="5" end="5"/>
                                            </p:txEl>
                                          </p:spTgt>
                                        </p:tgtEl>
                                        <p:attrNameLst>
                                          <p:attrName>ppt_h</p:attrName>
                                        </p:attrNameLst>
                                      </p:cBhvr>
                                      <p:tavLst>
                                        <p:tav tm="0">
                                          <p:val>
                                            <p:strVal val="#ppt_h"/>
                                          </p:val>
                                        </p:tav>
                                        <p:tav tm="100000">
                                          <p:val>
                                            <p:strVal val="#ppt_h"/>
                                          </p:val>
                                        </p:tav>
                                      </p:tavLst>
                                    </p:anim>
                                    <p:animEffect transition="in" filter="fade">
                                      <p:cBhvr>
                                        <p:cTn id="41" dur="1000"/>
                                        <p:tgtEl>
                                          <p:spTgt spid="1553411">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1553411">
                                            <p:txEl>
                                              <p:pRg st="6" end="6"/>
                                            </p:txEl>
                                          </p:spTgt>
                                        </p:tgtEl>
                                        <p:attrNameLst>
                                          <p:attrName>style.visibility</p:attrName>
                                        </p:attrNameLst>
                                      </p:cBhvr>
                                      <p:to>
                                        <p:strVal val="visible"/>
                                      </p:to>
                                    </p:set>
                                    <p:anim calcmode="lin" valueType="num">
                                      <p:cBhvr>
                                        <p:cTn id="46" dur="1000" fill="hold"/>
                                        <p:tgtEl>
                                          <p:spTgt spid="1553411">
                                            <p:txEl>
                                              <p:pRg st="6" end="6"/>
                                            </p:txEl>
                                          </p:spTgt>
                                        </p:tgtEl>
                                        <p:attrNameLst>
                                          <p:attrName>ppt_w</p:attrName>
                                        </p:attrNameLst>
                                      </p:cBhvr>
                                      <p:tavLst>
                                        <p:tav tm="0">
                                          <p:val>
                                            <p:strVal val="#ppt_w*0.70"/>
                                          </p:val>
                                        </p:tav>
                                        <p:tav tm="100000">
                                          <p:val>
                                            <p:strVal val="#ppt_w"/>
                                          </p:val>
                                        </p:tav>
                                      </p:tavLst>
                                    </p:anim>
                                    <p:anim calcmode="lin" valueType="num">
                                      <p:cBhvr>
                                        <p:cTn id="47" dur="1000" fill="hold"/>
                                        <p:tgtEl>
                                          <p:spTgt spid="1553411">
                                            <p:txEl>
                                              <p:pRg st="6" end="6"/>
                                            </p:txEl>
                                          </p:spTgt>
                                        </p:tgtEl>
                                        <p:attrNameLst>
                                          <p:attrName>ppt_h</p:attrName>
                                        </p:attrNameLst>
                                      </p:cBhvr>
                                      <p:tavLst>
                                        <p:tav tm="0">
                                          <p:val>
                                            <p:strVal val="#ppt_h"/>
                                          </p:val>
                                        </p:tav>
                                        <p:tav tm="100000">
                                          <p:val>
                                            <p:strVal val="#ppt_h"/>
                                          </p:val>
                                        </p:tav>
                                      </p:tavLst>
                                    </p:anim>
                                    <p:animEffect transition="in" filter="fade">
                                      <p:cBhvr>
                                        <p:cTn id="48" dur="1000"/>
                                        <p:tgtEl>
                                          <p:spTgt spid="1553411">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nodeType="clickEffect">
                                  <p:stCondLst>
                                    <p:cond delay="0"/>
                                  </p:stCondLst>
                                  <p:childTnLst>
                                    <p:set>
                                      <p:cBhvr>
                                        <p:cTn id="52" dur="1" fill="hold">
                                          <p:stCondLst>
                                            <p:cond delay="0"/>
                                          </p:stCondLst>
                                        </p:cTn>
                                        <p:tgtEl>
                                          <p:spTgt spid="1553411">
                                            <p:txEl>
                                              <p:pRg st="7" end="7"/>
                                            </p:txEl>
                                          </p:spTgt>
                                        </p:tgtEl>
                                        <p:attrNameLst>
                                          <p:attrName>style.visibility</p:attrName>
                                        </p:attrNameLst>
                                      </p:cBhvr>
                                      <p:to>
                                        <p:strVal val="visible"/>
                                      </p:to>
                                    </p:set>
                                    <p:anim calcmode="lin" valueType="num">
                                      <p:cBhvr>
                                        <p:cTn id="53" dur="1000" fill="hold"/>
                                        <p:tgtEl>
                                          <p:spTgt spid="1553411">
                                            <p:txEl>
                                              <p:pRg st="7" end="7"/>
                                            </p:txEl>
                                          </p:spTgt>
                                        </p:tgtEl>
                                        <p:attrNameLst>
                                          <p:attrName>ppt_w</p:attrName>
                                        </p:attrNameLst>
                                      </p:cBhvr>
                                      <p:tavLst>
                                        <p:tav tm="0">
                                          <p:val>
                                            <p:strVal val="#ppt_w*0.70"/>
                                          </p:val>
                                        </p:tav>
                                        <p:tav tm="100000">
                                          <p:val>
                                            <p:strVal val="#ppt_w"/>
                                          </p:val>
                                        </p:tav>
                                      </p:tavLst>
                                    </p:anim>
                                    <p:anim calcmode="lin" valueType="num">
                                      <p:cBhvr>
                                        <p:cTn id="54" dur="1000" fill="hold"/>
                                        <p:tgtEl>
                                          <p:spTgt spid="1553411">
                                            <p:txEl>
                                              <p:pRg st="7" end="7"/>
                                            </p:txEl>
                                          </p:spTgt>
                                        </p:tgtEl>
                                        <p:attrNameLst>
                                          <p:attrName>ppt_h</p:attrName>
                                        </p:attrNameLst>
                                      </p:cBhvr>
                                      <p:tavLst>
                                        <p:tav tm="0">
                                          <p:val>
                                            <p:strVal val="#ppt_h"/>
                                          </p:val>
                                        </p:tav>
                                        <p:tav tm="100000">
                                          <p:val>
                                            <p:strVal val="#ppt_h"/>
                                          </p:val>
                                        </p:tav>
                                      </p:tavLst>
                                    </p:anim>
                                    <p:animEffect transition="in" filter="fade">
                                      <p:cBhvr>
                                        <p:cTn id="55" dur="1000"/>
                                        <p:tgtEl>
                                          <p:spTgt spid="15534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4210050" y="800100"/>
            <a:ext cx="2517775" cy="538163"/>
          </a:xfrm>
        </p:spPr>
        <p:txBody>
          <a:bodyPr/>
          <a:lstStyle/>
          <a:p>
            <a:r>
              <a:rPr lang="zh-CN" altLang="en-US" sz="1700" b="1">
                <a:solidFill>
                  <a:srgbClr val="0000FF"/>
                </a:solidFill>
                <a:ea typeface="黑体" panose="02010609060101010101" pitchFamily="49" charset="-122"/>
              </a:rPr>
              <a:t>时变系统和时不变系统</a:t>
            </a:r>
          </a:p>
        </p:txBody>
      </p:sp>
      <p:sp>
        <p:nvSpPr>
          <p:cNvPr id="147459"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1572870"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例：判断下列系统是否为时不变系统</a:t>
            </a:r>
          </a:p>
        </p:txBody>
      </p:sp>
      <mc:AlternateContent xmlns:mc="http://schemas.openxmlformats.org/markup-compatibility/2006" xmlns:a14="http://schemas.microsoft.com/office/drawing/2010/main">
        <mc:Choice Requires="a14">
          <p:sp>
            <p:nvSpPr>
              <p:cNvPr id="1572871" name="Object 2"/>
              <p:cNvSpPr txBox="1"/>
              <p:nvPr/>
            </p:nvSpPr>
            <p:spPr bwMode="auto">
              <a:xfrm>
                <a:off x="300038" y="2379663"/>
                <a:ext cx="2963330" cy="2355850"/>
              </a:xfrm>
              <a:prstGeom prst="rect">
                <a:avLst/>
              </a:prstGeom>
              <a:solidFill>
                <a:srgbClr val="E6D7B6"/>
              </a:solidFill>
              <a:ln>
                <a:noFill/>
              </a:ln>
              <a:effectLst>
                <a:outerShdw dist="35921" dir="2700000" algn="ctr" rotWithShape="0">
                  <a:srgbClr val="808080"/>
                </a:outerShdw>
              </a:effectLst>
            </p:spPr>
            <p:txBody>
              <a:bodyPr>
                <a:normAutofit fontScale="925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2871" name="Object 2"/>
              <p:cNvSpPr txBox="1">
                <a:spLocks noRot="1" noChangeAspect="1" noMove="1" noResize="1" noEditPoints="1" noAdjustHandles="1" noChangeArrowheads="1" noChangeShapeType="1" noTextEdit="1"/>
              </p:cNvSpPr>
              <p:nvPr/>
            </p:nvSpPr>
            <p:spPr bwMode="auto">
              <a:xfrm>
                <a:off x="300038" y="2379663"/>
                <a:ext cx="2963330" cy="2355850"/>
              </a:xfrm>
              <a:prstGeom prst="rect">
                <a:avLst/>
              </a:prstGeom>
              <a:blipFill rotWithShape="1">
                <a:blip r:embed="rId4"/>
                <a:stretch>
                  <a:fillRect l="-11" t="-13" r="-854" b="-1065"/>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2872" name="Object 3"/>
              <p:cNvSpPr txBox="1"/>
              <p:nvPr/>
            </p:nvSpPr>
            <p:spPr bwMode="auto">
              <a:xfrm>
                <a:off x="4225925" y="1562100"/>
                <a:ext cx="2319338" cy="830263"/>
              </a:xfrm>
              <a:prstGeom prst="rect">
                <a:avLst/>
              </a:prstGeom>
              <a:solidFill>
                <a:srgbClr val="CADAC2"/>
              </a:solidFill>
              <a:ln>
                <a:noFill/>
              </a:ln>
              <a:effectLst>
                <a:outerShdw dist="35921" dir="2700000" algn="ctr" rotWithShape="0">
                  <a:srgbClr val="808080"/>
                </a:outerShdw>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72872" name="Object 3"/>
              <p:cNvSpPr txBox="1">
                <a:spLocks noRot="1" noChangeAspect="1" noMove="1" noResize="1" noEditPoints="1" noAdjustHandles="1" noChangeArrowheads="1" noChangeShapeType="1" noTextEdit="1"/>
              </p:cNvSpPr>
              <p:nvPr/>
            </p:nvSpPr>
            <p:spPr bwMode="auto">
              <a:xfrm>
                <a:off x="4225925" y="1562100"/>
                <a:ext cx="2319338" cy="830263"/>
              </a:xfrm>
              <a:prstGeom prst="rect">
                <a:avLst/>
              </a:prstGeom>
              <a:blipFill rotWithShape="1">
                <a:blip r:embed="rId5"/>
                <a:stretch>
                  <a:fillRect t="-994" r="-1081" b="-3021"/>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72873" name="Rectangle 9"/>
          <p:cNvSpPr>
            <a:spLocks noChangeArrowheads="1"/>
          </p:cNvSpPr>
          <p:nvPr/>
        </p:nvSpPr>
        <p:spPr bwMode="auto">
          <a:xfrm>
            <a:off x="3683000" y="2598738"/>
            <a:ext cx="4740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a:solidFill>
                  <a:srgbClr val="FF0000"/>
                </a:solidFill>
                <a:latin typeface="Times New Roman" panose="02020603050405020304" pitchFamily="18" charset="0"/>
                <a:ea typeface="宋体" panose="02010600030101010101" pitchFamily="2" charset="-122"/>
              </a:rPr>
              <a:t>解：当输入 </a:t>
            </a:r>
            <a:r>
              <a:rPr lang="en-US" altLang="zh-CN" sz="2200">
                <a:solidFill>
                  <a:srgbClr val="FF0000"/>
                </a:solidFill>
                <a:latin typeface="Times New Roman" panose="02020603050405020304" pitchFamily="18" charset="0"/>
                <a:ea typeface="宋体" panose="02010600030101010101" pitchFamily="2" charset="-122"/>
              </a:rPr>
              <a:t>e </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(t)= e(t-t</a:t>
            </a:r>
            <a:r>
              <a:rPr lang="en-US" altLang="zh-CN" sz="2200" baseline="-25000">
                <a:solidFill>
                  <a:srgbClr val="FF0000"/>
                </a:solidFill>
                <a:latin typeface="Times New Roman" panose="02020603050405020304" pitchFamily="18" charset="0"/>
                <a:ea typeface="宋体" panose="02010600030101010101" pitchFamily="2" charset="-122"/>
              </a:rPr>
              <a:t>0</a:t>
            </a:r>
            <a:r>
              <a:rPr lang="en-US" altLang="zh-CN" sz="2200">
                <a:solidFill>
                  <a:srgbClr val="FF0000"/>
                </a:solidFill>
                <a:latin typeface="Times New Roman" panose="02020603050405020304" pitchFamily="18" charset="0"/>
                <a:ea typeface="宋体" panose="02010600030101010101" pitchFamily="2" charset="-122"/>
              </a:rPr>
              <a:t>) </a:t>
            </a:r>
            <a:r>
              <a:rPr lang="zh-CN" altLang="en-US" sz="2200">
                <a:solidFill>
                  <a:srgbClr val="FF0000"/>
                </a:solidFill>
                <a:latin typeface="Times New Roman" panose="02020603050405020304" pitchFamily="18" charset="0"/>
                <a:ea typeface="宋体" panose="02010600030101010101" pitchFamily="2" charset="-122"/>
              </a:rPr>
              <a:t>时：</a:t>
            </a:r>
          </a:p>
        </p:txBody>
      </p:sp>
      <mc:AlternateContent xmlns:mc="http://schemas.openxmlformats.org/markup-compatibility/2006" xmlns:a14="http://schemas.microsoft.com/office/drawing/2010/main">
        <mc:Choice Requires="a14">
          <p:sp>
            <p:nvSpPr>
              <p:cNvPr id="1572874" name="Object 4"/>
              <p:cNvSpPr txBox="1"/>
              <p:nvPr/>
            </p:nvSpPr>
            <p:spPr bwMode="auto">
              <a:xfrm>
                <a:off x="4067175" y="3382963"/>
                <a:ext cx="1216633" cy="92075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oMath>
                  </m:oMathPara>
                </a14:m>
                <a:endParaRPr lang="zh-CN" altLang="en-US" dirty="0"/>
              </a:p>
            </p:txBody>
          </p:sp>
        </mc:Choice>
        <mc:Fallback xmlns="">
          <p:sp>
            <p:nvSpPr>
              <p:cNvPr id="1572874" name="Object 4"/>
              <p:cNvSpPr txBox="1">
                <a:spLocks noRot="1" noChangeAspect="1" noMove="1" noResize="1" noEditPoints="1" noAdjustHandles="1" noChangeArrowheads="1" noChangeShapeType="1" noTextEdit="1"/>
              </p:cNvSpPr>
              <p:nvPr/>
            </p:nvSpPr>
            <p:spPr bwMode="auto">
              <a:xfrm>
                <a:off x="4067175" y="3382963"/>
                <a:ext cx="1216633" cy="920750"/>
              </a:xfrm>
              <a:prstGeom prst="rect">
                <a:avLst/>
              </a:prstGeom>
              <a:blipFill rotWithShape="1">
                <a:blip r:embed="rId6"/>
                <a:stretch>
                  <a:fillRect t="-35" r="50" b="3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2875" name="Object 5"/>
              <p:cNvSpPr txBox="1"/>
              <p:nvPr/>
            </p:nvSpPr>
            <p:spPr bwMode="auto">
              <a:xfrm>
                <a:off x="4670425" y="4673600"/>
                <a:ext cx="1874838" cy="66357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2875" name="Object 5"/>
              <p:cNvSpPr txBox="1">
                <a:spLocks noRot="1" noChangeAspect="1" noMove="1" noResize="1" noEditPoints="1" noAdjustHandles="1" noChangeArrowheads="1" noChangeShapeType="1" noTextEdit="1"/>
              </p:cNvSpPr>
              <p:nvPr/>
            </p:nvSpPr>
            <p:spPr bwMode="auto">
              <a:xfrm>
                <a:off x="4670425" y="4673600"/>
                <a:ext cx="1874838" cy="663575"/>
              </a:xfrm>
              <a:prstGeom prst="rect">
                <a:avLst/>
              </a:prstGeom>
              <a:blipFill rotWithShape="1">
                <a:blip r:embed="rId7"/>
                <a:stretch>
                  <a:fillRect r="17"/>
                </a:stretch>
              </a:blipFill>
              <a:ln>
                <a:noFill/>
              </a:ln>
              <a:effectLst/>
            </p:spPr>
            <p:txBody>
              <a:bodyPr/>
              <a:lstStyle/>
              <a:p>
                <a:r>
                  <a:rPr lang="zh-CN" altLang="en-US">
                    <a:noFill/>
                  </a:rPr>
                  <a:t> </a:t>
                </a:r>
              </a:p>
            </p:txBody>
          </p:sp>
        </mc:Fallback>
      </mc:AlternateContent>
      <p:sp>
        <p:nvSpPr>
          <p:cNvPr id="1572876" name="Rectangle 12"/>
          <p:cNvSpPr>
            <a:spLocks noChangeArrowheads="1"/>
          </p:cNvSpPr>
          <p:nvPr/>
        </p:nvSpPr>
        <p:spPr bwMode="auto">
          <a:xfrm>
            <a:off x="4029075" y="5502275"/>
            <a:ext cx="38020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所以，该系统是时不变的</a:t>
            </a:r>
          </a:p>
        </p:txBody>
      </p:sp>
      <p:sp>
        <p:nvSpPr>
          <p:cNvPr id="1572877" name="Rectangle 13"/>
          <p:cNvSpPr>
            <a:spLocks noChangeArrowheads="1"/>
          </p:cNvSpPr>
          <p:nvPr/>
        </p:nvSpPr>
        <p:spPr bwMode="auto">
          <a:xfrm>
            <a:off x="5283808" y="3429000"/>
            <a:ext cx="118427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en-US" altLang="zh-CN" sz="2500" dirty="0">
                <a:solidFill>
                  <a:srgbClr val="FF0000"/>
                </a:solidFill>
              </a:rPr>
              <a:t>e(t-t</a:t>
            </a:r>
            <a:r>
              <a:rPr lang="en-US" altLang="zh-CN" sz="2500" baseline="-25000" dirty="0">
                <a:solidFill>
                  <a:srgbClr val="FF0000"/>
                </a:solidFill>
              </a:rPr>
              <a:t>0</a:t>
            </a:r>
            <a:r>
              <a:rPr lang="en-US" altLang="zh-CN" sz="2500" dirty="0">
                <a:solidFill>
                  <a:srgbClr val="FF0000"/>
                </a:solidFill>
              </a:rPr>
              <a:t>)</a:t>
            </a:r>
          </a:p>
        </p:txBody>
      </p:sp>
      <p:sp>
        <p:nvSpPr>
          <p:cNvPr id="15" name="日期占位符 14"/>
          <p:cNvSpPr>
            <a:spLocks noGrp="1"/>
          </p:cNvSpPr>
          <p:nvPr>
            <p:ph type="dt" sz="quarter" idx="10"/>
          </p:nvPr>
        </p:nvSpPr>
        <p:spPr/>
        <p:txBody>
          <a:bodyPr/>
          <a:lstStyle/>
          <a:p>
            <a:pPr>
              <a:defRPr/>
            </a:pPr>
            <a:fld id="{334B8341-9804-474C-89A1-080121A20613}" type="datetime3">
              <a:rPr lang="zh-CN" altLang="en-US"/>
              <a:t>2026年3月4日星期三</a:t>
            </a:fld>
            <a:endParaRPr lang="en-US" altLang="zh-CN" dirty="0"/>
          </a:p>
        </p:txBody>
      </p:sp>
    </p:spTree>
    <p:custDataLst>
      <p:tags r:id="rId1"/>
    </p:custDataLst>
  </p:cSld>
  <p:clrMapOvr>
    <a:masterClrMapping/>
  </p:clrMapOvr>
  <p:transition spd="med" advTm="5289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72870"/>
                                        </p:tgtEl>
                                        <p:attrNameLst>
                                          <p:attrName>style.visibility</p:attrName>
                                        </p:attrNameLst>
                                      </p:cBhvr>
                                      <p:to>
                                        <p:strVal val="visible"/>
                                      </p:to>
                                    </p:set>
                                    <p:anim calcmode="lin" valueType="num">
                                      <p:cBhvr>
                                        <p:cTn id="7" dur="1000" fill="hold"/>
                                        <p:tgtEl>
                                          <p:spTgt spid="1572870"/>
                                        </p:tgtEl>
                                        <p:attrNameLst>
                                          <p:attrName>ppt_w</p:attrName>
                                        </p:attrNameLst>
                                      </p:cBhvr>
                                      <p:tavLst>
                                        <p:tav tm="0">
                                          <p:val>
                                            <p:strVal val="#ppt_w*0.70"/>
                                          </p:val>
                                        </p:tav>
                                        <p:tav tm="100000">
                                          <p:val>
                                            <p:strVal val="#ppt_w"/>
                                          </p:val>
                                        </p:tav>
                                      </p:tavLst>
                                    </p:anim>
                                    <p:anim calcmode="lin" valueType="num">
                                      <p:cBhvr>
                                        <p:cTn id="8" dur="1000" fill="hold"/>
                                        <p:tgtEl>
                                          <p:spTgt spid="1572870"/>
                                        </p:tgtEl>
                                        <p:attrNameLst>
                                          <p:attrName>ppt_h</p:attrName>
                                        </p:attrNameLst>
                                      </p:cBhvr>
                                      <p:tavLst>
                                        <p:tav tm="0">
                                          <p:val>
                                            <p:strVal val="#ppt_h"/>
                                          </p:val>
                                        </p:tav>
                                        <p:tav tm="100000">
                                          <p:val>
                                            <p:strVal val="#ppt_h"/>
                                          </p:val>
                                        </p:tav>
                                      </p:tavLst>
                                    </p:anim>
                                    <p:animEffect transition="in" filter="fade">
                                      <p:cBhvr>
                                        <p:cTn id="9" dur="1000"/>
                                        <p:tgtEl>
                                          <p:spTgt spid="1572870"/>
                                        </p:tgtEl>
                                      </p:cBhvr>
                                    </p:animEffec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1572871"/>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157287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572873"/>
                                        </p:tgtEl>
                                        <p:attrNameLst>
                                          <p:attrName>style.visibility</p:attrName>
                                        </p:attrNameLst>
                                      </p:cBhvr>
                                      <p:to>
                                        <p:strVal val="visible"/>
                                      </p:to>
                                    </p:set>
                                    <p:anim calcmode="lin" valueType="num">
                                      <p:cBhvr>
                                        <p:cTn id="20" dur="1000" fill="hold"/>
                                        <p:tgtEl>
                                          <p:spTgt spid="1572873"/>
                                        </p:tgtEl>
                                        <p:attrNameLst>
                                          <p:attrName>ppt_w</p:attrName>
                                        </p:attrNameLst>
                                      </p:cBhvr>
                                      <p:tavLst>
                                        <p:tav tm="0">
                                          <p:val>
                                            <p:strVal val="#ppt_w*0.70"/>
                                          </p:val>
                                        </p:tav>
                                        <p:tav tm="100000">
                                          <p:val>
                                            <p:strVal val="#ppt_w"/>
                                          </p:val>
                                        </p:tav>
                                      </p:tavLst>
                                    </p:anim>
                                    <p:anim calcmode="lin" valueType="num">
                                      <p:cBhvr>
                                        <p:cTn id="21" dur="1000" fill="hold"/>
                                        <p:tgtEl>
                                          <p:spTgt spid="1572873"/>
                                        </p:tgtEl>
                                        <p:attrNameLst>
                                          <p:attrName>ppt_h</p:attrName>
                                        </p:attrNameLst>
                                      </p:cBhvr>
                                      <p:tavLst>
                                        <p:tav tm="0">
                                          <p:val>
                                            <p:strVal val="#ppt_h"/>
                                          </p:val>
                                        </p:tav>
                                        <p:tav tm="100000">
                                          <p:val>
                                            <p:strVal val="#ppt_h"/>
                                          </p:val>
                                        </p:tav>
                                      </p:tavLst>
                                    </p:anim>
                                    <p:animEffect transition="in" filter="fade">
                                      <p:cBhvr>
                                        <p:cTn id="22" dur="1000"/>
                                        <p:tgtEl>
                                          <p:spTgt spid="157287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72874">
                                            <p:txEl>
                                              <p:pRg st="0" end="0"/>
                                            </p:txEl>
                                          </p:spTgt>
                                        </p:tgtEl>
                                        <p:attrNameLst>
                                          <p:attrName>style.visibility</p:attrName>
                                        </p:attrNameLst>
                                      </p:cBhvr>
                                      <p:to>
                                        <p:strVal val="visible"/>
                                      </p:to>
                                    </p:set>
                                  </p:childTnLst>
                                </p:cTn>
                              </p:par>
                              <p:par>
                                <p:cTn id="27" presetID="55" presetClass="entr" presetSubtype="0" fill="hold" grpId="0" nodeType="withEffect">
                                  <p:stCondLst>
                                    <p:cond delay="0"/>
                                  </p:stCondLst>
                                  <p:childTnLst>
                                    <p:set>
                                      <p:cBhvr>
                                        <p:cTn id="28" dur="1" fill="hold">
                                          <p:stCondLst>
                                            <p:cond delay="0"/>
                                          </p:stCondLst>
                                        </p:cTn>
                                        <p:tgtEl>
                                          <p:spTgt spid="1572877"/>
                                        </p:tgtEl>
                                        <p:attrNameLst>
                                          <p:attrName>style.visibility</p:attrName>
                                        </p:attrNameLst>
                                      </p:cBhvr>
                                      <p:to>
                                        <p:strVal val="visible"/>
                                      </p:to>
                                    </p:set>
                                    <p:anim calcmode="lin" valueType="num">
                                      <p:cBhvr>
                                        <p:cTn id="29" dur="1000" fill="hold"/>
                                        <p:tgtEl>
                                          <p:spTgt spid="1572877"/>
                                        </p:tgtEl>
                                        <p:attrNameLst>
                                          <p:attrName>ppt_w</p:attrName>
                                        </p:attrNameLst>
                                      </p:cBhvr>
                                      <p:tavLst>
                                        <p:tav tm="0">
                                          <p:val>
                                            <p:strVal val="#ppt_w*0.70"/>
                                          </p:val>
                                        </p:tav>
                                        <p:tav tm="100000">
                                          <p:val>
                                            <p:strVal val="#ppt_w"/>
                                          </p:val>
                                        </p:tav>
                                      </p:tavLst>
                                    </p:anim>
                                    <p:anim calcmode="lin" valueType="num">
                                      <p:cBhvr>
                                        <p:cTn id="30" dur="1000" fill="hold"/>
                                        <p:tgtEl>
                                          <p:spTgt spid="1572877"/>
                                        </p:tgtEl>
                                        <p:attrNameLst>
                                          <p:attrName>ppt_h</p:attrName>
                                        </p:attrNameLst>
                                      </p:cBhvr>
                                      <p:tavLst>
                                        <p:tav tm="0">
                                          <p:val>
                                            <p:strVal val="#ppt_h"/>
                                          </p:val>
                                        </p:tav>
                                        <p:tav tm="100000">
                                          <p:val>
                                            <p:strVal val="#ppt_h"/>
                                          </p:val>
                                        </p:tav>
                                      </p:tavLst>
                                    </p:anim>
                                    <p:animEffect transition="in" filter="fade">
                                      <p:cBhvr>
                                        <p:cTn id="31" dur="1000"/>
                                        <p:tgtEl>
                                          <p:spTgt spid="1572877"/>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7287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grpId="0" nodeType="clickEffect">
                                  <p:stCondLst>
                                    <p:cond delay="0"/>
                                  </p:stCondLst>
                                  <p:childTnLst>
                                    <p:set>
                                      <p:cBhvr>
                                        <p:cTn id="39" dur="1" fill="hold">
                                          <p:stCondLst>
                                            <p:cond delay="0"/>
                                          </p:stCondLst>
                                        </p:cTn>
                                        <p:tgtEl>
                                          <p:spTgt spid="1572876"/>
                                        </p:tgtEl>
                                        <p:attrNameLst>
                                          <p:attrName>style.visibility</p:attrName>
                                        </p:attrNameLst>
                                      </p:cBhvr>
                                      <p:to>
                                        <p:strVal val="visible"/>
                                      </p:to>
                                    </p:set>
                                    <p:anim calcmode="lin" valueType="num">
                                      <p:cBhvr>
                                        <p:cTn id="40" dur="1000" fill="hold"/>
                                        <p:tgtEl>
                                          <p:spTgt spid="1572876"/>
                                        </p:tgtEl>
                                        <p:attrNameLst>
                                          <p:attrName>ppt_w</p:attrName>
                                        </p:attrNameLst>
                                      </p:cBhvr>
                                      <p:tavLst>
                                        <p:tav tm="0">
                                          <p:val>
                                            <p:strVal val="#ppt_w*0.70"/>
                                          </p:val>
                                        </p:tav>
                                        <p:tav tm="100000">
                                          <p:val>
                                            <p:strVal val="#ppt_w"/>
                                          </p:val>
                                        </p:tav>
                                      </p:tavLst>
                                    </p:anim>
                                    <p:anim calcmode="lin" valueType="num">
                                      <p:cBhvr>
                                        <p:cTn id="41" dur="1000" fill="hold"/>
                                        <p:tgtEl>
                                          <p:spTgt spid="1572876"/>
                                        </p:tgtEl>
                                        <p:attrNameLst>
                                          <p:attrName>ppt_h</p:attrName>
                                        </p:attrNameLst>
                                      </p:cBhvr>
                                      <p:tavLst>
                                        <p:tav tm="0">
                                          <p:val>
                                            <p:strVal val="#ppt_h"/>
                                          </p:val>
                                        </p:tav>
                                        <p:tav tm="100000">
                                          <p:val>
                                            <p:strVal val="#ppt_h"/>
                                          </p:val>
                                        </p:tav>
                                      </p:tavLst>
                                    </p:anim>
                                    <p:animEffect transition="in" filter="fade">
                                      <p:cBhvr>
                                        <p:cTn id="42" dur="1000"/>
                                        <p:tgtEl>
                                          <p:spTgt spid="1572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2870" grpId="0"/>
      <p:bldP spid="1572871" grpId="0" animBg="1"/>
      <p:bldP spid="1572872" grpId="0" animBg="1"/>
      <p:bldP spid="1572873" grpId="0"/>
      <p:bldP spid="1572875" grpId="0"/>
      <p:bldP spid="1572876" grpId="0"/>
      <p:bldP spid="157287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225925" y="630238"/>
            <a:ext cx="2517775" cy="538162"/>
          </a:xfrm>
        </p:spPr>
        <p:txBody>
          <a:bodyPr/>
          <a:lstStyle/>
          <a:p>
            <a:r>
              <a:rPr lang="zh-CN" altLang="en-US" sz="1700">
                <a:ea typeface="黑体" panose="02010609060101010101" pitchFamily="49" charset="-122"/>
              </a:rPr>
              <a:t>时变系统和时不变系统</a:t>
            </a:r>
          </a:p>
        </p:txBody>
      </p:sp>
      <p:sp>
        <p:nvSpPr>
          <p:cNvPr id="149507"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1573894"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例：判断下列系统是否为时不变系统</a:t>
            </a:r>
          </a:p>
        </p:txBody>
      </p:sp>
      <mc:AlternateContent xmlns:mc="http://schemas.openxmlformats.org/markup-compatibility/2006" xmlns:a14="http://schemas.microsoft.com/office/drawing/2010/main">
        <mc:Choice Requires="a14">
          <p:sp>
            <p:nvSpPr>
              <p:cNvPr id="1573897" name="Object 2"/>
              <p:cNvSpPr txBox="1"/>
              <p:nvPr/>
            </p:nvSpPr>
            <p:spPr bwMode="auto">
              <a:xfrm>
                <a:off x="5065713" y="3635375"/>
                <a:ext cx="2389187" cy="6635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e</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t</m:t>
                      </m:r>
                      <m:r>
                        <m:rPr>
                          <m:nor/>
                        </m:rP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3897" name="Object 2"/>
              <p:cNvSpPr txBox="1">
                <a:spLocks noRot="1" noChangeAspect="1" noMove="1" noResize="1" noEditPoints="1" noAdjustHandles="1" noChangeArrowheads="1" noChangeShapeType="1" noTextEdit="1"/>
              </p:cNvSpPr>
              <p:nvPr/>
            </p:nvSpPr>
            <p:spPr bwMode="auto">
              <a:xfrm>
                <a:off x="5065713" y="3635375"/>
                <a:ext cx="2389187" cy="663575"/>
              </a:xfrm>
              <a:prstGeom prst="rect">
                <a:avLst/>
              </a:prstGeom>
              <a:blipFill rotWithShape="1">
                <a:blip r:embed="rId3"/>
                <a:stretch>
                  <a:fillRect l="-13"/>
                </a:stretch>
              </a:blipFill>
              <a:ln>
                <a:noFill/>
              </a:ln>
              <a:effectLst/>
            </p:spPr>
            <p:txBody>
              <a:bodyPr/>
              <a:lstStyle/>
              <a:p>
                <a:r>
                  <a:rPr lang="zh-CN" altLang="en-US">
                    <a:noFill/>
                  </a:rPr>
                  <a:t> </a:t>
                </a:r>
              </a:p>
            </p:txBody>
          </p:sp>
        </mc:Fallback>
      </mc:AlternateContent>
      <p:sp>
        <p:nvSpPr>
          <p:cNvPr id="1573898" name="Rectangle 10"/>
          <p:cNvSpPr>
            <a:spLocks noChangeArrowheads="1"/>
          </p:cNvSpPr>
          <p:nvPr/>
        </p:nvSpPr>
        <p:spPr bwMode="auto">
          <a:xfrm>
            <a:off x="3683000" y="5724525"/>
            <a:ext cx="40513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所以，该系统是时变的</a:t>
            </a:r>
          </a:p>
        </p:txBody>
      </p:sp>
      <mc:AlternateContent xmlns:mc="http://schemas.openxmlformats.org/markup-compatibility/2006" xmlns:a14="http://schemas.microsoft.com/office/drawing/2010/main">
        <mc:Choice Requires="a14">
          <p:sp>
            <p:nvSpPr>
              <p:cNvPr id="1573899" name="Object 3"/>
              <p:cNvSpPr txBox="1"/>
              <p:nvPr/>
            </p:nvSpPr>
            <p:spPr bwMode="auto">
              <a:xfrm>
                <a:off x="4127500" y="1614488"/>
                <a:ext cx="3160713" cy="569912"/>
              </a:xfrm>
              <a:prstGeom prst="rect">
                <a:avLst/>
              </a:prstGeom>
              <a:solidFill>
                <a:srgbClr val="CADAC2"/>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73899" name="Object 3"/>
              <p:cNvSpPr txBox="1">
                <a:spLocks noRot="1" noChangeAspect="1" noMove="1" noResize="1" noEditPoints="1" noAdjustHandles="1" noChangeArrowheads="1" noChangeShapeType="1" noTextEdit="1"/>
              </p:cNvSpPr>
              <p:nvPr/>
            </p:nvSpPr>
            <p:spPr bwMode="auto">
              <a:xfrm>
                <a:off x="4127500" y="1614488"/>
                <a:ext cx="3160713" cy="569912"/>
              </a:xfrm>
              <a:prstGeom prst="rect">
                <a:avLst/>
              </a:prstGeom>
              <a:blipFill rotWithShape="1">
                <a:blip r:embed="rId4"/>
                <a:stretch>
                  <a:fillRect t="-56" r="1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3900" name="Object 4"/>
              <p:cNvSpPr txBox="1"/>
              <p:nvPr/>
            </p:nvSpPr>
            <p:spPr bwMode="auto">
              <a:xfrm>
                <a:off x="4621212" y="3024188"/>
                <a:ext cx="2737791" cy="6381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𝑟</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e</m:t>
                          </m:r>
                        </m:e>
                        <m:sub>
                          <m:r>
                            <a:rPr lang="zh-CN" altLang="en-US" sz="2400" i="0">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𝜀</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t</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1573900" name="Object 4"/>
              <p:cNvSpPr txBox="1">
                <a:spLocks noRot="1" noChangeAspect="1" noMove="1" noResize="1" noEditPoints="1" noAdjustHandles="1" noChangeArrowheads="1" noChangeShapeType="1" noTextEdit="1"/>
              </p:cNvSpPr>
              <p:nvPr/>
            </p:nvSpPr>
            <p:spPr bwMode="auto">
              <a:xfrm>
                <a:off x="4621212" y="3024188"/>
                <a:ext cx="2737791" cy="638175"/>
              </a:xfrm>
              <a:prstGeom prst="rect">
                <a:avLst/>
              </a:prstGeom>
              <a:blipFill rotWithShape="1">
                <a:blip r:embed="rId5"/>
                <a:stretch>
                  <a:fillRect l="-12" t="-50" r="23" b="5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3901" name="Object 5"/>
              <p:cNvSpPr txBox="1"/>
              <p:nvPr/>
            </p:nvSpPr>
            <p:spPr bwMode="auto">
              <a:xfrm>
                <a:off x="349249" y="2587625"/>
                <a:ext cx="3160513" cy="2592150"/>
              </a:xfrm>
              <a:prstGeom prst="rect">
                <a:avLst/>
              </a:prstGeom>
              <a:solidFill>
                <a:srgbClr val="E6D7B6"/>
              </a:solidFill>
              <a:ln>
                <a:noFill/>
              </a:ln>
              <a:effectLst>
                <a:outerShdw dist="35921" dir="2700000" algn="ctr" rotWithShape="0">
                  <a:srgbClr val="808080"/>
                </a:outerShdw>
              </a:effectLst>
            </p:spPr>
            <p:txBody>
              <a:bodyPr>
                <a:normAutofit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3901" name="Object 5"/>
              <p:cNvSpPr txBox="1">
                <a:spLocks noRot="1" noChangeAspect="1" noMove="1" noResize="1" noEditPoints="1" noAdjustHandles="1" noChangeArrowheads="1" noChangeShapeType="1" noTextEdit="1"/>
              </p:cNvSpPr>
              <p:nvPr/>
            </p:nvSpPr>
            <p:spPr bwMode="auto">
              <a:xfrm>
                <a:off x="349249" y="2587625"/>
                <a:ext cx="3160513" cy="2592150"/>
              </a:xfrm>
              <a:prstGeom prst="rect">
                <a:avLst/>
              </a:prstGeom>
              <a:blipFill rotWithShape="1">
                <a:blip r:embed="rId6"/>
                <a:stretch>
                  <a:fillRect l="-20" r="-800" b="-977"/>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73902" name="Rectangle 14"/>
          <p:cNvSpPr>
            <a:spLocks noChangeArrowheads="1"/>
          </p:cNvSpPr>
          <p:nvPr/>
        </p:nvSpPr>
        <p:spPr bwMode="auto">
          <a:xfrm>
            <a:off x="3683000" y="2287588"/>
            <a:ext cx="4246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a:solidFill>
                  <a:srgbClr val="FF0000"/>
                </a:solidFill>
                <a:latin typeface="Times New Roman" panose="02020603050405020304" pitchFamily="18" charset="0"/>
                <a:ea typeface="宋体" panose="02010600030101010101" pitchFamily="2" charset="-122"/>
              </a:rPr>
              <a:t>解：当输入 </a:t>
            </a:r>
            <a:r>
              <a:rPr lang="en-US" altLang="zh-CN" sz="2200">
                <a:solidFill>
                  <a:srgbClr val="FF0000"/>
                </a:solidFill>
                <a:latin typeface="Times New Roman" panose="02020603050405020304" pitchFamily="18" charset="0"/>
                <a:ea typeface="宋体" panose="02010600030101010101" pitchFamily="2" charset="-122"/>
              </a:rPr>
              <a:t>e </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(t)= e(t-t</a:t>
            </a:r>
            <a:r>
              <a:rPr lang="en-US" altLang="zh-CN" sz="2200" baseline="-25000">
                <a:solidFill>
                  <a:srgbClr val="FF0000"/>
                </a:solidFill>
                <a:latin typeface="Times New Roman" panose="02020603050405020304" pitchFamily="18" charset="0"/>
                <a:ea typeface="宋体" panose="02010600030101010101" pitchFamily="2" charset="-122"/>
              </a:rPr>
              <a:t>0</a:t>
            </a:r>
            <a:r>
              <a:rPr lang="en-US" altLang="zh-CN" sz="2200">
                <a:solidFill>
                  <a:srgbClr val="FF0000"/>
                </a:solidFill>
                <a:latin typeface="Times New Roman" panose="02020603050405020304" pitchFamily="18" charset="0"/>
                <a:ea typeface="宋体" panose="02010600030101010101" pitchFamily="2" charset="-122"/>
              </a:rPr>
              <a:t>) </a:t>
            </a:r>
            <a:r>
              <a:rPr lang="zh-CN" altLang="en-US" sz="2200">
                <a:solidFill>
                  <a:srgbClr val="FF0000"/>
                </a:solidFill>
                <a:latin typeface="Times New Roman" panose="02020603050405020304" pitchFamily="18" charset="0"/>
                <a:ea typeface="宋体" panose="02010600030101010101" pitchFamily="2" charset="-122"/>
              </a:rPr>
              <a:t>时：</a:t>
            </a:r>
          </a:p>
        </p:txBody>
      </p:sp>
      <mc:AlternateContent xmlns:mc="http://schemas.openxmlformats.org/markup-compatibility/2006" xmlns:a14="http://schemas.microsoft.com/office/drawing/2010/main">
        <mc:Choice Requires="a14">
          <p:sp>
            <p:nvSpPr>
              <p:cNvPr id="1573903" name="Object 6"/>
              <p:cNvSpPr txBox="1"/>
              <p:nvPr/>
            </p:nvSpPr>
            <p:spPr bwMode="auto">
              <a:xfrm>
                <a:off x="5114925" y="4362450"/>
                <a:ext cx="3051175" cy="6619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e</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t</m:t>
                      </m:r>
                      <m:r>
                        <m:rPr>
                          <m:nor/>
                        </m:rP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t</m:t>
                      </m:r>
                      <m:r>
                        <m:rPr>
                          <m:nor/>
                        </m:rP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3903" name="Object 6"/>
              <p:cNvSpPr txBox="1">
                <a:spLocks noRot="1" noChangeAspect="1" noMove="1" noResize="1" noEditPoints="1" noAdjustHandles="1" noChangeArrowheads="1" noChangeShapeType="1" noTextEdit="1"/>
              </p:cNvSpPr>
              <p:nvPr/>
            </p:nvSpPr>
            <p:spPr bwMode="auto">
              <a:xfrm>
                <a:off x="5114925" y="4362450"/>
                <a:ext cx="3051175" cy="661988"/>
              </a:xfrm>
              <a:prstGeom prst="rect">
                <a:avLst/>
              </a:prstGeom>
              <a:blipFill rotWithShape="1">
                <a:blip r:embed="rId7"/>
                <a:stretch>
                  <a:fillRect b="4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3904" name="Object 7"/>
              <p:cNvSpPr txBox="1"/>
              <p:nvPr/>
            </p:nvSpPr>
            <p:spPr bwMode="auto">
              <a:xfrm>
                <a:off x="5114925" y="5087938"/>
                <a:ext cx="1690688" cy="6635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r</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t</m:t>
                      </m:r>
                      <m:r>
                        <m:rPr>
                          <m:nor/>
                        </m:rP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3904" name="Object 7"/>
              <p:cNvSpPr txBox="1">
                <a:spLocks noRot="1" noChangeAspect="1" noMove="1" noResize="1" noEditPoints="1" noAdjustHandles="1" noChangeArrowheads="1" noChangeShapeType="1" noTextEdit="1"/>
              </p:cNvSpPr>
              <p:nvPr/>
            </p:nvSpPr>
            <p:spPr bwMode="auto">
              <a:xfrm>
                <a:off x="5114925" y="5087938"/>
                <a:ext cx="1690688" cy="663575"/>
              </a:xfrm>
              <a:prstGeom prst="rect">
                <a:avLst/>
              </a:prstGeom>
              <a:blipFill rotWithShape="1">
                <a:blip r:embed="rId8"/>
                <a:stretch>
                  <a:fillRect t="-48" r="19" b="48"/>
                </a:stretch>
              </a:blipFill>
              <a:ln>
                <a:noFill/>
              </a:ln>
              <a:effectLst/>
            </p:spPr>
            <p:txBody>
              <a:bodyPr/>
              <a:lstStyle/>
              <a:p>
                <a:r>
                  <a:rPr lang="zh-CN" altLang="en-US">
                    <a:noFill/>
                  </a:rPr>
                  <a:t> </a:t>
                </a:r>
              </a:p>
            </p:txBody>
          </p:sp>
        </mc:Fallback>
      </mc:AlternateContent>
      <p:sp>
        <p:nvSpPr>
          <p:cNvPr id="15" name="日期占位符 14"/>
          <p:cNvSpPr>
            <a:spLocks noGrp="1"/>
          </p:cNvSpPr>
          <p:nvPr>
            <p:ph type="dt" sz="quarter" idx="10"/>
          </p:nvPr>
        </p:nvSpPr>
        <p:spPr/>
        <p:txBody>
          <a:bodyPr/>
          <a:lstStyle/>
          <a:p>
            <a:pPr>
              <a:defRPr/>
            </a:pPr>
            <a:fld id="{015BCA95-8539-4644-B2A1-AAC3ADEB36BF}" type="datetime3">
              <a:rPr lang="zh-CN" altLang="en-US"/>
              <a:t>2026年3月4日星期三</a:t>
            </a:fld>
            <a:endParaRPr lang="en-US" altLang="zh-CN" dirty="0"/>
          </a:p>
        </p:txBody>
      </p:sp>
    </p:spTree>
    <p:custDataLst>
      <p:tags r:id="rId1"/>
    </p:custDataLst>
  </p:cSld>
  <p:clrMapOvr>
    <a:masterClrMapping/>
  </p:clrMapOvr>
  <p:transition spd="med" advTm="71055">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73894"/>
                                        </p:tgtEl>
                                        <p:attrNameLst>
                                          <p:attrName>style.visibility</p:attrName>
                                        </p:attrNameLst>
                                      </p:cBhvr>
                                      <p:to>
                                        <p:strVal val="visible"/>
                                      </p:to>
                                    </p:set>
                                    <p:anim calcmode="lin" valueType="num">
                                      <p:cBhvr>
                                        <p:cTn id="7" dur="1000" fill="hold"/>
                                        <p:tgtEl>
                                          <p:spTgt spid="1573894"/>
                                        </p:tgtEl>
                                        <p:attrNameLst>
                                          <p:attrName>ppt_w</p:attrName>
                                        </p:attrNameLst>
                                      </p:cBhvr>
                                      <p:tavLst>
                                        <p:tav tm="0">
                                          <p:val>
                                            <p:strVal val="#ppt_w*0.70"/>
                                          </p:val>
                                        </p:tav>
                                        <p:tav tm="100000">
                                          <p:val>
                                            <p:strVal val="#ppt_w"/>
                                          </p:val>
                                        </p:tav>
                                      </p:tavLst>
                                    </p:anim>
                                    <p:anim calcmode="lin" valueType="num">
                                      <p:cBhvr>
                                        <p:cTn id="8" dur="1000" fill="hold"/>
                                        <p:tgtEl>
                                          <p:spTgt spid="1573894"/>
                                        </p:tgtEl>
                                        <p:attrNameLst>
                                          <p:attrName>ppt_h</p:attrName>
                                        </p:attrNameLst>
                                      </p:cBhvr>
                                      <p:tavLst>
                                        <p:tav tm="0">
                                          <p:val>
                                            <p:strVal val="#ppt_h"/>
                                          </p:val>
                                        </p:tav>
                                        <p:tav tm="100000">
                                          <p:val>
                                            <p:strVal val="#ppt_h"/>
                                          </p:val>
                                        </p:tav>
                                      </p:tavLst>
                                    </p:anim>
                                    <p:animEffect transition="in" filter="fade">
                                      <p:cBhvr>
                                        <p:cTn id="9" dur="1000"/>
                                        <p:tgtEl>
                                          <p:spTgt spid="1573894"/>
                                        </p:tgtEl>
                                      </p:cBhvr>
                                    </p:animEffec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1573899"/>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157390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573902"/>
                                        </p:tgtEl>
                                        <p:attrNameLst>
                                          <p:attrName>style.visibility</p:attrName>
                                        </p:attrNameLst>
                                      </p:cBhvr>
                                      <p:to>
                                        <p:strVal val="visible"/>
                                      </p:to>
                                    </p:set>
                                    <p:anim calcmode="lin" valueType="num">
                                      <p:cBhvr>
                                        <p:cTn id="20" dur="1000" fill="hold"/>
                                        <p:tgtEl>
                                          <p:spTgt spid="1573902"/>
                                        </p:tgtEl>
                                        <p:attrNameLst>
                                          <p:attrName>ppt_w</p:attrName>
                                        </p:attrNameLst>
                                      </p:cBhvr>
                                      <p:tavLst>
                                        <p:tav tm="0">
                                          <p:val>
                                            <p:strVal val="#ppt_w*0.70"/>
                                          </p:val>
                                        </p:tav>
                                        <p:tav tm="100000">
                                          <p:val>
                                            <p:strVal val="#ppt_w"/>
                                          </p:val>
                                        </p:tav>
                                      </p:tavLst>
                                    </p:anim>
                                    <p:anim calcmode="lin" valueType="num">
                                      <p:cBhvr>
                                        <p:cTn id="21" dur="1000" fill="hold"/>
                                        <p:tgtEl>
                                          <p:spTgt spid="1573902"/>
                                        </p:tgtEl>
                                        <p:attrNameLst>
                                          <p:attrName>ppt_h</p:attrName>
                                        </p:attrNameLst>
                                      </p:cBhvr>
                                      <p:tavLst>
                                        <p:tav tm="0">
                                          <p:val>
                                            <p:strVal val="#ppt_h"/>
                                          </p:val>
                                        </p:tav>
                                        <p:tav tm="100000">
                                          <p:val>
                                            <p:strVal val="#ppt_h"/>
                                          </p:val>
                                        </p:tav>
                                      </p:tavLst>
                                    </p:anim>
                                    <p:animEffect transition="in" filter="fade">
                                      <p:cBhvr>
                                        <p:cTn id="22" dur="1000"/>
                                        <p:tgtEl>
                                          <p:spTgt spid="157390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73900"/>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157389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57390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7390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1573898"/>
                                        </p:tgtEl>
                                        <p:attrNameLst>
                                          <p:attrName>style.visibility</p:attrName>
                                        </p:attrNameLst>
                                      </p:cBhvr>
                                      <p:to>
                                        <p:strVal val="visible"/>
                                      </p:to>
                                    </p:set>
                                    <p:anim calcmode="lin" valueType="num">
                                      <p:cBhvr>
                                        <p:cTn id="42" dur="1000" fill="hold"/>
                                        <p:tgtEl>
                                          <p:spTgt spid="1573898"/>
                                        </p:tgtEl>
                                        <p:attrNameLst>
                                          <p:attrName>ppt_w</p:attrName>
                                        </p:attrNameLst>
                                      </p:cBhvr>
                                      <p:tavLst>
                                        <p:tav tm="0">
                                          <p:val>
                                            <p:strVal val="#ppt_w*0.70"/>
                                          </p:val>
                                        </p:tav>
                                        <p:tav tm="100000">
                                          <p:val>
                                            <p:strVal val="#ppt_w"/>
                                          </p:val>
                                        </p:tav>
                                      </p:tavLst>
                                    </p:anim>
                                    <p:anim calcmode="lin" valueType="num">
                                      <p:cBhvr>
                                        <p:cTn id="43" dur="1000" fill="hold"/>
                                        <p:tgtEl>
                                          <p:spTgt spid="1573898"/>
                                        </p:tgtEl>
                                        <p:attrNameLst>
                                          <p:attrName>ppt_h</p:attrName>
                                        </p:attrNameLst>
                                      </p:cBhvr>
                                      <p:tavLst>
                                        <p:tav tm="0">
                                          <p:val>
                                            <p:strVal val="#ppt_h"/>
                                          </p:val>
                                        </p:tav>
                                        <p:tav tm="100000">
                                          <p:val>
                                            <p:strVal val="#ppt_h"/>
                                          </p:val>
                                        </p:tav>
                                      </p:tavLst>
                                    </p:anim>
                                    <p:animEffect transition="in" filter="fade">
                                      <p:cBhvr>
                                        <p:cTn id="44" dur="1000"/>
                                        <p:tgtEl>
                                          <p:spTgt spid="1573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3894" grpId="0"/>
      <p:bldP spid="1573897" grpId="0"/>
      <p:bldP spid="1573898" grpId="0"/>
      <p:bldP spid="1573899" grpId="0" animBg="1"/>
      <p:bldP spid="1573900" grpId="0"/>
      <p:bldP spid="1573901" grpId="0" animBg="1"/>
      <p:bldP spid="1573902" grpId="0"/>
      <p:bldP spid="1573903" grpId="0"/>
      <p:bldP spid="157390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27C8A6B2-D094-48E1-9C0A-ADD302788664}" type="datetime3">
              <a:rPr lang="zh-CN" altLang="en-US" smtClean="0"/>
              <a:t>2026年3月4日星期三</a:t>
            </a:fld>
            <a:endParaRPr lang="en-US" altLang="zh-CN"/>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11466"/>
            <a:ext cx="9144000" cy="6097219"/>
          </a:xfrm>
          <a:prstGeom prst="rect">
            <a:avLst/>
          </a:prstGeom>
        </p:spPr>
      </p:pic>
    </p:spTree>
  </p:cSld>
  <p:clrMapOvr>
    <a:masterClrMapping/>
  </p:clrMapOvr>
  <p:transition spd="med">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4225925" y="754063"/>
            <a:ext cx="2517775" cy="538162"/>
          </a:xfrm>
        </p:spPr>
        <p:txBody>
          <a:bodyPr/>
          <a:lstStyle/>
          <a:p>
            <a:r>
              <a:rPr lang="zh-CN" altLang="en-US" sz="1700" b="1">
                <a:solidFill>
                  <a:srgbClr val="0000FF"/>
                </a:solidFill>
                <a:ea typeface="黑体" panose="02010609060101010101" pitchFamily="49" charset="-122"/>
              </a:rPr>
              <a:t>时变系统和时不变系统</a:t>
            </a:r>
          </a:p>
        </p:txBody>
      </p:sp>
      <p:pic>
        <p:nvPicPr>
          <p:cNvPr id="150531" name="Picture 3" descr="back">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7988" y="6421438"/>
            <a:ext cx="1116012"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2"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1571846"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例：判断下列系统是否为时不变系统</a:t>
            </a:r>
          </a:p>
        </p:txBody>
      </p:sp>
      <p:sp>
        <p:nvSpPr>
          <p:cNvPr id="1571850" name="Rectangle 10"/>
          <p:cNvSpPr>
            <a:spLocks noChangeArrowheads="1"/>
          </p:cNvSpPr>
          <p:nvPr/>
        </p:nvSpPr>
        <p:spPr bwMode="auto">
          <a:xfrm>
            <a:off x="3494088" y="5610225"/>
            <a:ext cx="36544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所以，该系统是时变的</a:t>
            </a:r>
          </a:p>
        </p:txBody>
      </p:sp>
      <mc:AlternateContent xmlns:mc="http://schemas.openxmlformats.org/markup-compatibility/2006" xmlns:a14="http://schemas.microsoft.com/office/drawing/2010/main">
        <mc:Choice Requires="a14">
          <p:sp>
            <p:nvSpPr>
              <p:cNvPr id="1571851" name="Object 2"/>
              <p:cNvSpPr txBox="1"/>
              <p:nvPr/>
            </p:nvSpPr>
            <p:spPr bwMode="auto">
              <a:xfrm>
                <a:off x="4314825" y="1741488"/>
                <a:ext cx="2143125" cy="433387"/>
              </a:xfrm>
              <a:prstGeom prst="rect">
                <a:avLst/>
              </a:prstGeom>
              <a:solidFill>
                <a:srgbClr val="CADAC2"/>
              </a:solidFill>
              <a:ln>
                <a:noFill/>
              </a:ln>
              <a:effectLst>
                <a:outerShdw dist="35921" dir="2700000" algn="ctr" rotWithShape="0">
                  <a:srgbClr val="808080"/>
                </a:outerShdw>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71851" name="Object 2"/>
              <p:cNvSpPr txBox="1">
                <a:spLocks noRot="1" noChangeAspect="1" noMove="1" noResize="1" noEditPoints="1" noAdjustHandles="1" noChangeArrowheads="1" noChangeShapeType="1" noTextEdit="1"/>
              </p:cNvSpPr>
              <p:nvPr/>
            </p:nvSpPr>
            <p:spPr bwMode="auto">
              <a:xfrm>
                <a:off x="4314825" y="1741488"/>
                <a:ext cx="2143125" cy="433387"/>
              </a:xfrm>
              <a:prstGeom prst="rect">
                <a:avLst/>
              </a:prstGeom>
              <a:blipFill rotWithShape="1">
                <a:blip r:embed="rId5"/>
                <a:stretch>
                  <a:fillRect t="-73" r="-1156" b="-5714"/>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1852" name="Object 3"/>
              <p:cNvSpPr txBox="1"/>
              <p:nvPr/>
            </p:nvSpPr>
            <p:spPr bwMode="auto">
              <a:xfrm>
                <a:off x="4443413" y="3257550"/>
                <a:ext cx="4097337" cy="636588"/>
              </a:xfrm>
              <a:prstGeom prst="rect">
                <a:avLst/>
              </a:prstGeom>
              <a:solidFill>
                <a:schemeClr val="bg1"/>
              </a:solid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𝑒</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71852" name="Object 3"/>
              <p:cNvSpPr txBox="1">
                <a:spLocks noRot="1" noChangeAspect="1" noMove="1" noResize="1" noEditPoints="1" noAdjustHandles="1" noChangeArrowheads="1" noChangeShapeType="1" noTextEdit="1"/>
              </p:cNvSpPr>
              <p:nvPr/>
            </p:nvSpPr>
            <p:spPr bwMode="auto">
              <a:xfrm>
                <a:off x="4443413" y="3257550"/>
                <a:ext cx="4097337" cy="636588"/>
              </a:xfrm>
              <a:prstGeom prst="rect">
                <a:avLst/>
              </a:prstGeom>
              <a:blipFill rotWithShape="1">
                <a:blip r:embed="rId6"/>
                <a:stretch>
                  <a:fillRect l="-8" b="5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1853" name="Object 4"/>
              <p:cNvSpPr txBox="1"/>
              <p:nvPr/>
            </p:nvSpPr>
            <p:spPr bwMode="auto">
              <a:xfrm>
                <a:off x="300037" y="2847975"/>
                <a:ext cx="2629327" cy="2621999"/>
              </a:xfrm>
              <a:prstGeom prst="rect">
                <a:avLst/>
              </a:prstGeom>
              <a:solidFill>
                <a:srgbClr val="E6D7B6"/>
              </a:solidFill>
              <a:ln>
                <a:noFill/>
              </a:ln>
              <a:effectLst>
                <a:outerShdw dist="35921" dir="2700000" algn="ctr" rotWithShape="0">
                  <a:srgbClr val="808080"/>
                </a:outerShdw>
              </a:effectLst>
            </p:spPr>
            <p:txBody>
              <a:bodyPr>
                <a:normAutofit fontScale="85000" lnSpcReduction="20000"/>
              </a:bodyPr>
              <a:lstStyle/>
              <a:p>
                <a:pPr/>
                <a14:m>
                  <m:oMathPara xmlns:m="http://schemas.openxmlformats.org/officeDocument/2006/math">
                    <m:oMathParaPr>
                      <m:jc m:val="left"/>
                    </m:oMathParaPr>
                    <m:oMath xmlns:m="http://schemas.openxmlformats.org/officeDocument/2006/math">
                      <m:d>
                        <m:dPr>
                          <m:ctrlPr>
                            <a:rPr lang="zh-CN" altLang="en-US" i="1" smtClean="0">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𝑟</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𝑒</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1853" name="Object 4"/>
              <p:cNvSpPr txBox="1">
                <a:spLocks noRot="1" noChangeAspect="1" noMove="1" noResize="1" noEditPoints="1" noAdjustHandles="1" noChangeArrowheads="1" noChangeShapeType="1" noTextEdit="1"/>
              </p:cNvSpPr>
              <p:nvPr/>
            </p:nvSpPr>
            <p:spPr bwMode="auto">
              <a:xfrm>
                <a:off x="300037" y="2847975"/>
                <a:ext cx="2629327" cy="2621999"/>
              </a:xfrm>
              <a:prstGeom prst="rect">
                <a:avLst/>
              </a:prstGeom>
              <a:blipFill rotWithShape="1">
                <a:blip r:embed="rId7"/>
                <a:stretch>
                  <a:fillRect l="-12" t="-509" r="-962" b="-966"/>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71854" name="Rectangle 14"/>
          <p:cNvSpPr>
            <a:spLocks noChangeArrowheads="1"/>
          </p:cNvSpPr>
          <p:nvPr/>
        </p:nvSpPr>
        <p:spPr bwMode="auto">
          <a:xfrm>
            <a:off x="3683000" y="2547938"/>
            <a:ext cx="4246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a:solidFill>
                  <a:srgbClr val="FF0000"/>
                </a:solidFill>
                <a:latin typeface="Times New Roman" panose="02020603050405020304" pitchFamily="18" charset="0"/>
                <a:ea typeface="宋体" panose="02010600030101010101" pitchFamily="2" charset="-122"/>
              </a:rPr>
              <a:t>解：当输入 </a:t>
            </a:r>
            <a:r>
              <a:rPr lang="en-US" altLang="zh-CN" sz="2200">
                <a:solidFill>
                  <a:srgbClr val="FF0000"/>
                </a:solidFill>
                <a:latin typeface="Times New Roman" panose="02020603050405020304" pitchFamily="18" charset="0"/>
                <a:ea typeface="宋体" panose="02010600030101010101" pitchFamily="2" charset="-122"/>
              </a:rPr>
              <a:t>e </a:t>
            </a:r>
            <a:r>
              <a:rPr lang="en-US" altLang="zh-CN" sz="2200" baseline="-25000">
                <a:solidFill>
                  <a:srgbClr val="FF0000"/>
                </a:solidFill>
                <a:latin typeface="Times New Roman" panose="02020603050405020304" pitchFamily="18" charset="0"/>
                <a:ea typeface="宋体" panose="02010600030101010101" pitchFamily="2" charset="-122"/>
              </a:rPr>
              <a:t>1</a:t>
            </a:r>
            <a:r>
              <a:rPr lang="en-US" altLang="zh-CN" sz="2200">
                <a:solidFill>
                  <a:srgbClr val="FF0000"/>
                </a:solidFill>
                <a:latin typeface="Times New Roman" panose="02020603050405020304" pitchFamily="18" charset="0"/>
                <a:ea typeface="宋体" panose="02010600030101010101" pitchFamily="2" charset="-122"/>
              </a:rPr>
              <a:t>(t)= e(t-t</a:t>
            </a:r>
            <a:r>
              <a:rPr lang="en-US" altLang="zh-CN" sz="2200" baseline="-25000">
                <a:solidFill>
                  <a:srgbClr val="FF0000"/>
                </a:solidFill>
                <a:latin typeface="Times New Roman" panose="02020603050405020304" pitchFamily="18" charset="0"/>
                <a:ea typeface="宋体" panose="02010600030101010101" pitchFamily="2" charset="-122"/>
              </a:rPr>
              <a:t>0</a:t>
            </a:r>
            <a:r>
              <a:rPr lang="en-US" altLang="zh-CN" sz="2200">
                <a:solidFill>
                  <a:srgbClr val="FF0000"/>
                </a:solidFill>
                <a:latin typeface="Times New Roman" panose="02020603050405020304" pitchFamily="18" charset="0"/>
                <a:ea typeface="宋体" panose="02010600030101010101" pitchFamily="2" charset="-122"/>
              </a:rPr>
              <a:t>) </a:t>
            </a:r>
            <a:r>
              <a:rPr lang="zh-CN" altLang="en-US" sz="2200">
                <a:solidFill>
                  <a:srgbClr val="FF0000"/>
                </a:solidFill>
                <a:latin typeface="Times New Roman" panose="02020603050405020304" pitchFamily="18" charset="0"/>
                <a:ea typeface="宋体" panose="02010600030101010101" pitchFamily="2" charset="-122"/>
              </a:rPr>
              <a:t>时：</a:t>
            </a:r>
          </a:p>
        </p:txBody>
      </p:sp>
      <mc:AlternateContent xmlns:mc="http://schemas.openxmlformats.org/markup-compatibility/2006" xmlns:a14="http://schemas.microsoft.com/office/drawing/2010/main">
        <mc:Choice Requires="a14">
          <p:sp>
            <p:nvSpPr>
              <p:cNvPr id="1571855" name="Object 5"/>
              <p:cNvSpPr txBox="1"/>
              <p:nvPr/>
            </p:nvSpPr>
            <p:spPr bwMode="auto">
              <a:xfrm>
                <a:off x="4819650" y="4103688"/>
                <a:ext cx="2913063" cy="62071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1855" name="Object 5"/>
              <p:cNvSpPr txBox="1">
                <a:spLocks noRot="1" noChangeAspect="1" noMove="1" noResize="1" noEditPoints="1" noAdjustHandles="1" noChangeArrowheads="1" noChangeShapeType="1" noTextEdit="1"/>
              </p:cNvSpPr>
              <p:nvPr/>
            </p:nvSpPr>
            <p:spPr bwMode="auto">
              <a:xfrm>
                <a:off x="4819650" y="4103688"/>
                <a:ext cx="2913063" cy="620712"/>
              </a:xfrm>
              <a:prstGeom prst="rect">
                <a:avLst/>
              </a:prstGeom>
              <a:blipFill rotWithShape="1">
                <a:blip r:embed="rId8"/>
                <a:stretch>
                  <a:fillRect t="-51" r="1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1856" name="Object 6"/>
              <p:cNvSpPr txBox="1"/>
              <p:nvPr/>
            </p:nvSpPr>
            <p:spPr bwMode="auto">
              <a:xfrm>
                <a:off x="4967288" y="5087938"/>
                <a:ext cx="1690687" cy="6635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r</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t</m:t>
                      </m:r>
                      <m:r>
                        <m:rPr>
                          <m:nor/>
                        </m:rP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71856" name="Object 6"/>
              <p:cNvSpPr txBox="1">
                <a:spLocks noRot="1" noChangeAspect="1" noMove="1" noResize="1" noEditPoints="1" noAdjustHandles="1" noChangeArrowheads="1" noChangeShapeType="1" noTextEdit="1"/>
              </p:cNvSpPr>
              <p:nvPr/>
            </p:nvSpPr>
            <p:spPr bwMode="auto">
              <a:xfrm>
                <a:off x="4967288" y="5087938"/>
                <a:ext cx="1690687" cy="663575"/>
              </a:xfrm>
              <a:prstGeom prst="rect">
                <a:avLst/>
              </a:prstGeom>
              <a:blipFill rotWithShape="1">
                <a:blip r:embed="rId9"/>
                <a:stretch>
                  <a:fillRect l="-19" t="-48" b="48"/>
                </a:stretch>
              </a:blipFill>
              <a:ln>
                <a:noFill/>
              </a:ln>
              <a:effectLst/>
            </p:spPr>
            <p:txBody>
              <a:bodyPr/>
              <a:lstStyle/>
              <a:p>
                <a:r>
                  <a:rPr lang="zh-CN" altLang="en-US">
                    <a:noFill/>
                  </a:rPr>
                  <a:t> </a:t>
                </a:r>
              </a:p>
            </p:txBody>
          </p:sp>
        </mc:Fallback>
      </mc:AlternateContent>
      <p:sp>
        <p:nvSpPr>
          <p:cNvPr id="15" name="日期占位符 14"/>
          <p:cNvSpPr>
            <a:spLocks noGrp="1"/>
          </p:cNvSpPr>
          <p:nvPr>
            <p:ph type="dt" sz="quarter" idx="10"/>
          </p:nvPr>
        </p:nvSpPr>
        <p:spPr/>
        <p:txBody>
          <a:bodyPr/>
          <a:lstStyle/>
          <a:p>
            <a:pPr>
              <a:defRPr/>
            </a:pPr>
            <a:fld id="{AB364E18-5404-494C-A211-91DDA759A519}" type="datetime3">
              <a:rPr lang="zh-CN" altLang="en-US"/>
              <a:t>2026年3月4日星期三</a:t>
            </a:fld>
            <a:endParaRPr lang="en-US" altLang="zh-CN" dirty="0"/>
          </a:p>
        </p:txBody>
      </p:sp>
    </p:spTree>
    <p:custDataLst>
      <p:tags r:id="rId1"/>
    </p:custDataLst>
  </p:cSld>
  <p:clrMapOvr>
    <a:masterClrMapping/>
  </p:clrMapOvr>
  <p:transition spd="med" advTm="5368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57185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71851"/>
                                        </p:tgtEl>
                                        <p:attrNameLst>
                                          <p:attrName>style.visibility</p:attrName>
                                        </p:attrNameLst>
                                      </p:cBhvr>
                                      <p:to>
                                        <p:strVal val="visible"/>
                                      </p:to>
                                    </p:set>
                                  </p:childTnLst>
                                </p:cTn>
                              </p:par>
                              <p:par>
                                <p:cTn id="10" presetID="55" presetClass="entr" presetSubtype="0" fill="hold" grpId="0" nodeType="withEffect">
                                  <p:stCondLst>
                                    <p:cond delay="0"/>
                                  </p:stCondLst>
                                  <p:childTnLst>
                                    <p:set>
                                      <p:cBhvr>
                                        <p:cTn id="11" dur="1" fill="hold">
                                          <p:stCondLst>
                                            <p:cond delay="0"/>
                                          </p:stCondLst>
                                        </p:cTn>
                                        <p:tgtEl>
                                          <p:spTgt spid="1571846"/>
                                        </p:tgtEl>
                                        <p:attrNameLst>
                                          <p:attrName>style.visibility</p:attrName>
                                        </p:attrNameLst>
                                      </p:cBhvr>
                                      <p:to>
                                        <p:strVal val="visible"/>
                                      </p:to>
                                    </p:set>
                                    <p:anim calcmode="lin" valueType="num">
                                      <p:cBhvr>
                                        <p:cTn id="12" dur="1000" fill="hold"/>
                                        <p:tgtEl>
                                          <p:spTgt spid="1571846"/>
                                        </p:tgtEl>
                                        <p:attrNameLst>
                                          <p:attrName>ppt_w</p:attrName>
                                        </p:attrNameLst>
                                      </p:cBhvr>
                                      <p:tavLst>
                                        <p:tav tm="0">
                                          <p:val>
                                            <p:strVal val="#ppt_w*0.70"/>
                                          </p:val>
                                        </p:tav>
                                        <p:tav tm="100000">
                                          <p:val>
                                            <p:strVal val="#ppt_w"/>
                                          </p:val>
                                        </p:tav>
                                      </p:tavLst>
                                    </p:anim>
                                    <p:anim calcmode="lin" valueType="num">
                                      <p:cBhvr>
                                        <p:cTn id="13" dur="1000" fill="hold"/>
                                        <p:tgtEl>
                                          <p:spTgt spid="1571846"/>
                                        </p:tgtEl>
                                        <p:attrNameLst>
                                          <p:attrName>ppt_h</p:attrName>
                                        </p:attrNameLst>
                                      </p:cBhvr>
                                      <p:tavLst>
                                        <p:tav tm="0">
                                          <p:val>
                                            <p:strVal val="#ppt_h"/>
                                          </p:val>
                                        </p:tav>
                                        <p:tav tm="100000">
                                          <p:val>
                                            <p:strVal val="#ppt_h"/>
                                          </p:val>
                                        </p:tav>
                                      </p:tavLst>
                                    </p:anim>
                                    <p:animEffect transition="in" filter="fade">
                                      <p:cBhvr>
                                        <p:cTn id="14" dur="1000"/>
                                        <p:tgtEl>
                                          <p:spTgt spid="1571846"/>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571854"/>
                                        </p:tgtEl>
                                        <p:attrNameLst>
                                          <p:attrName>style.visibility</p:attrName>
                                        </p:attrNameLst>
                                      </p:cBhvr>
                                      <p:to>
                                        <p:strVal val="visible"/>
                                      </p:to>
                                    </p:set>
                                    <p:anim calcmode="lin" valueType="num">
                                      <p:cBhvr>
                                        <p:cTn id="19" dur="1000" fill="hold"/>
                                        <p:tgtEl>
                                          <p:spTgt spid="1571854"/>
                                        </p:tgtEl>
                                        <p:attrNameLst>
                                          <p:attrName>ppt_w</p:attrName>
                                        </p:attrNameLst>
                                      </p:cBhvr>
                                      <p:tavLst>
                                        <p:tav tm="0">
                                          <p:val>
                                            <p:strVal val="#ppt_w*0.70"/>
                                          </p:val>
                                        </p:tav>
                                        <p:tav tm="100000">
                                          <p:val>
                                            <p:strVal val="#ppt_w"/>
                                          </p:val>
                                        </p:tav>
                                      </p:tavLst>
                                    </p:anim>
                                    <p:anim calcmode="lin" valueType="num">
                                      <p:cBhvr>
                                        <p:cTn id="20" dur="1000" fill="hold"/>
                                        <p:tgtEl>
                                          <p:spTgt spid="1571854"/>
                                        </p:tgtEl>
                                        <p:attrNameLst>
                                          <p:attrName>ppt_h</p:attrName>
                                        </p:attrNameLst>
                                      </p:cBhvr>
                                      <p:tavLst>
                                        <p:tav tm="0">
                                          <p:val>
                                            <p:strVal val="#ppt_h"/>
                                          </p:val>
                                        </p:tav>
                                        <p:tav tm="100000">
                                          <p:val>
                                            <p:strVal val="#ppt_h"/>
                                          </p:val>
                                        </p:tav>
                                      </p:tavLst>
                                    </p:anim>
                                    <p:animEffect transition="in" filter="fade">
                                      <p:cBhvr>
                                        <p:cTn id="21" dur="1000"/>
                                        <p:tgtEl>
                                          <p:spTgt spid="157185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7185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571855"/>
                                        </p:tgtEl>
                                        <p:attrNameLst>
                                          <p:attrName>style.visibility</p:attrName>
                                        </p:attrNameLst>
                                      </p:cBhvr>
                                      <p:to>
                                        <p:strVal val="visible"/>
                                      </p:to>
                                    </p:set>
                                    <p:anim calcmode="lin" valueType="num">
                                      <p:cBhvr additive="base">
                                        <p:cTn id="30" dur="500" fill="hold"/>
                                        <p:tgtEl>
                                          <p:spTgt spid="1571855"/>
                                        </p:tgtEl>
                                        <p:attrNameLst>
                                          <p:attrName>ppt_x</p:attrName>
                                        </p:attrNameLst>
                                      </p:cBhvr>
                                      <p:tavLst>
                                        <p:tav tm="0">
                                          <p:val>
                                            <p:strVal val="#ppt_x"/>
                                          </p:val>
                                        </p:tav>
                                        <p:tav tm="100000">
                                          <p:val>
                                            <p:strVal val="#ppt_x"/>
                                          </p:val>
                                        </p:tav>
                                      </p:tavLst>
                                    </p:anim>
                                    <p:anim calcmode="lin" valueType="num">
                                      <p:cBhvr additive="base">
                                        <p:cTn id="31" dur="500" fill="hold"/>
                                        <p:tgtEl>
                                          <p:spTgt spid="1571855"/>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15718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grpId="0" nodeType="clickEffect">
                                  <p:stCondLst>
                                    <p:cond delay="0"/>
                                  </p:stCondLst>
                                  <p:childTnLst>
                                    <p:set>
                                      <p:cBhvr>
                                        <p:cTn id="38" dur="1" fill="hold">
                                          <p:stCondLst>
                                            <p:cond delay="0"/>
                                          </p:stCondLst>
                                        </p:cTn>
                                        <p:tgtEl>
                                          <p:spTgt spid="1571850"/>
                                        </p:tgtEl>
                                        <p:attrNameLst>
                                          <p:attrName>style.visibility</p:attrName>
                                        </p:attrNameLst>
                                      </p:cBhvr>
                                      <p:to>
                                        <p:strVal val="visible"/>
                                      </p:to>
                                    </p:set>
                                    <p:anim calcmode="lin" valueType="num">
                                      <p:cBhvr>
                                        <p:cTn id="39" dur="1000" fill="hold"/>
                                        <p:tgtEl>
                                          <p:spTgt spid="1571850"/>
                                        </p:tgtEl>
                                        <p:attrNameLst>
                                          <p:attrName>ppt_w</p:attrName>
                                        </p:attrNameLst>
                                      </p:cBhvr>
                                      <p:tavLst>
                                        <p:tav tm="0">
                                          <p:val>
                                            <p:strVal val="#ppt_w*0.70"/>
                                          </p:val>
                                        </p:tav>
                                        <p:tav tm="100000">
                                          <p:val>
                                            <p:strVal val="#ppt_w"/>
                                          </p:val>
                                        </p:tav>
                                      </p:tavLst>
                                    </p:anim>
                                    <p:anim calcmode="lin" valueType="num">
                                      <p:cBhvr>
                                        <p:cTn id="40" dur="1000" fill="hold"/>
                                        <p:tgtEl>
                                          <p:spTgt spid="1571850"/>
                                        </p:tgtEl>
                                        <p:attrNameLst>
                                          <p:attrName>ppt_h</p:attrName>
                                        </p:attrNameLst>
                                      </p:cBhvr>
                                      <p:tavLst>
                                        <p:tav tm="0">
                                          <p:val>
                                            <p:strVal val="#ppt_h"/>
                                          </p:val>
                                        </p:tav>
                                        <p:tav tm="100000">
                                          <p:val>
                                            <p:strVal val="#ppt_h"/>
                                          </p:val>
                                        </p:tav>
                                      </p:tavLst>
                                    </p:anim>
                                    <p:animEffect transition="in" filter="fade">
                                      <p:cBhvr>
                                        <p:cTn id="41" dur="1000"/>
                                        <p:tgtEl>
                                          <p:spTgt spid="1571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1846" grpId="0"/>
      <p:bldP spid="1571850" grpId="0"/>
      <p:bldP spid="1571851" grpId="0" animBg="1"/>
      <p:bldP spid="1571852" grpId="0" animBg="1"/>
      <p:bldP spid="1571853" grpId="0" animBg="1"/>
      <p:bldP spid="1571854" grpId="0"/>
      <p:bldP spid="1571855" grpId="0"/>
      <p:bldP spid="157185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3486150" y="738188"/>
            <a:ext cx="4816475" cy="569912"/>
          </a:xfrm>
        </p:spPr>
        <p:txBody>
          <a:bodyPr/>
          <a:lstStyle/>
          <a:p>
            <a:r>
              <a:rPr lang="zh-CN" altLang="en-US" sz="2000" b="1">
                <a:solidFill>
                  <a:srgbClr val="0000FF"/>
                </a:solidFill>
                <a:ea typeface="黑体" panose="02010609060101010101" pitchFamily="49" charset="-122"/>
              </a:rPr>
              <a:t>连续时间系统与离散时间系统</a:t>
            </a:r>
          </a:p>
        </p:txBody>
      </p:sp>
      <p:sp>
        <p:nvSpPr>
          <p:cNvPr id="1554435" name="Rectangle 3"/>
          <p:cNvSpPr>
            <a:spLocks noGrp="1" noChangeArrowheads="1"/>
          </p:cNvSpPr>
          <p:nvPr>
            <p:ph type="body" idx="1"/>
          </p:nvPr>
        </p:nvSpPr>
        <p:spPr>
          <a:xfrm>
            <a:off x="277813" y="1514475"/>
            <a:ext cx="8519737" cy="5065713"/>
          </a:xfrm>
          <a:solidFill>
            <a:srgbClr val="FFFFFF"/>
          </a:solidFill>
          <a:ln w="76200">
            <a:solidFill>
              <a:schemeClr val="tx1"/>
            </a:solidFill>
          </a:ln>
          <a:effectLst>
            <a:prstShdw prst="shdw12">
              <a:srgbClr val="808080">
                <a:alpha val="50000"/>
              </a:srgbClr>
            </a:prstShdw>
          </a:effectLst>
        </p:spPr>
        <p:txBody>
          <a:bodyPr/>
          <a:lstStyle/>
          <a:p>
            <a:pPr>
              <a:lnSpc>
                <a:spcPct val="145000"/>
              </a:lnSpc>
              <a:spcBef>
                <a:spcPct val="40000"/>
              </a:spcBef>
              <a:buFont typeface="Wingdings" panose="05000000000000000000" pitchFamily="2" charset="2"/>
              <a:buChar char="l"/>
              <a:defRPr/>
            </a:pPr>
            <a:r>
              <a:rPr lang="zh-CN" altLang="en-US" sz="2100" b="1" dirty="0"/>
              <a:t>当系统的</a:t>
            </a:r>
            <a:r>
              <a:rPr lang="zh-CN" altLang="en-US" sz="2100" b="1" dirty="0">
                <a:solidFill>
                  <a:srgbClr val="FF0000"/>
                </a:solidFill>
              </a:rPr>
              <a:t>输入和输出</a:t>
            </a:r>
            <a:r>
              <a:rPr lang="zh-CN" altLang="en-US" sz="2100" b="1" dirty="0"/>
              <a:t>都是</a:t>
            </a:r>
            <a:r>
              <a:rPr lang="zh-CN" altLang="en-US" sz="2100" b="1" dirty="0">
                <a:solidFill>
                  <a:srgbClr val="0000FF"/>
                </a:solidFill>
              </a:rPr>
              <a:t>连续（时间）信号</a:t>
            </a:r>
            <a:r>
              <a:rPr lang="zh-CN" altLang="en-US" sz="2100" b="1" dirty="0"/>
              <a:t>时，则该系统称为</a:t>
            </a:r>
            <a:r>
              <a:rPr lang="zh-CN" altLang="en-US" sz="2100" b="1" dirty="0">
                <a:solidFill>
                  <a:srgbClr val="FF0000"/>
                </a:solidFill>
              </a:rPr>
              <a:t>连续（时间）系统</a:t>
            </a:r>
            <a:r>
              <a:rPr lang="zh-CN" altLang="en-US" sz="2100" b="1" dirty="0"/>
              <a:t>，相应地，当系统</a:t>
            </a:r>
            <a:r>
              <a:rPr lang="zh-CN" altLang="en-US" sz="2100" b="1" dirty="0">
                <a:solidFill>
                  <a:srgbClr val="FF0000"/>
                </a:solidFill>
              </a:rPr>
              <a:t>输入和输出</a:t>
            </a:r>
            <a:r>
              <a:rPr lang="zh-CN" altLang="en-US" sz="2100" b="1" dirty="0"/>
              <a:t>都是</a:t>
            </a:r>
            <a:r>
              <a:rPr lang="zh-CN" altLang="en-US" sz="2100" b="1" dirty="0">
                <a:solidFill>
                  <a:srgbClr val="0000FF"/>
                </a:solidFill>
              </a:rPr>
              <a:t>离散（时间）信号</a:t>
            </a:r>
            <a:r>
              <a:rPr lang="zh-CN" altLang="en-US" sz="2100" b="1" dirty="0"/>
              <a:t>时，则该系统称为</a:t>
            </a:r>
            <a:r>
              <a:rPr lang="zh-CN" altLang="en-US" sz="2100" b="1" dirty="0">
                <a:solidFill>
                  <a:srgbClr val="FF0000"/>
                </a:solidFill>
              </a:rPr>
              <a:t>离散（时间）系统</a:t>
            </a:r>
            <a:r>
              <a:rPr lang="zh-CN" altLang="en-US" sz="2100" b="1" dirty="0"/>
              <a:t>。</a:t>
            </a:r>
          </a:p>
          <a:p>
            <a:pPr>
              <a:lnSpc>
                <a:spcPct val="145000"/>
              </a:lnSpc>
              <a:spcBef>
                <a:spcPct val="40000"/>
              </a:spcBef>
              <a:buFont typeface="Wingdings" panose="05000000000000000000" pitchFamily="2" charset="2"/>
              <a:buChar char="l"/>
              <a:defRPr/>
            </a:pPr>
            <a:r>
              <a:rPr lang="zh-CN" altLang="en-US" sz="2100" b="1" dirty="0"/>
              <a:t>一个计算机则是典型的离散系统。</a:t>
            </a:r>
          </a:p>
          <a:p>
            <a:pPr>
              <a:lnSpc>
                <a:spcPct val="145000"/>
              </a:lnSpc>
              <a:spcBef>
                <a:spcPct val="40000"/>
              </a:spcBef>
              <a:buFont typeface="Wingdings" panose="05000000000000000000" pitchFamily="2" charset="2"/>
              <a:buChar char="l"/>
              <a:defRPr/>
            </a:pPr>
            <a:r>
              <a:rPr lang="zh-CN" altLang="en-US" sz="2100" b="1" dirty="0"/>
              <a:t>连续系统的数学模型是</a:t>
            </a:r>
            <a:r>
              <a:rPr lang="zh-CN" altLang="en-US" sz="2100" b="1" dirty="0">
                <a:solidFill>
                  <a:srgbClr val="FF0000"/>
                </a:solidFill>
              </a:rPr>
              <a:t>微分方程</a:t>
            </a:r>
            <a:r>
              <a:rPr lang="zh-CN" altLang="en-US" sz="2100" b="1" dirty="0"/>
              <a:t>，而离散系统的数学模型是</a:t>
            </a:r>
            <a:r>
              <a:rPr lang="zh-CN" altLang="en-US" sz="2100" b="1" dirty="0">
                <a:solidFill>
                  <a:srgbClr val="FF0000"/>
                </a:solidFill>
              </a:rPr>
              <a:t>差分方程</a:t>
            </a:r>
            <a:r>
              <a:rPr lang="zh-CN" altLang="en-US" sz="2100" b="1" dirty="0"/>
              <a:t>。</a:t>
            </a:r>
          </a:p>
          <a:p>
            <a:pPr>
              <a:lnSpc>
                <a:spcPct val="145000"/>
              </a:lnSpc>
              <a:spcBef>
                <a:spcPct val="40000"/>
              </a:spcBef>
              <a:buFont typeface="Wingdings" panose="05000000000000000000" pitchFamily="2" charset="2"/>
              <a:buChar char="l"/>
              <a:defRPr/>
            </a:pPr>
            <a:r>
              <a:rPr lang="zh-CN" altLang="en-US" sz="2100" b="1" dirty="0"/>
              <a:t>连续时间系统和离散时间系统都可以是</a:t>
            </a:r>
            <a:r>
              <a:rPr lang="zh-CN" altLang="en-US" sz="2100" b="1" dirty="0">
                <a:solidFill>
                  <a:srgbClr val="FF0000"/>
                </a:solidFill>
              </a:rPr>
              <a:t>线性的或非线性</a:t>
            </a:r>
            <a:r>
              <a:rPr lang="zh-CN" altLang="en-US" sz="2100" b="1" dirty="0"/>
              <a:t>的，同时也可以是</a:t>
            </a:r>
            <a:r>
              <a:rPr lang="zh-CN" altLang="en-US" sz="2100" b="1" dirty="0">
                <a:solidFill>
                  <a:srgbClr val="FF0000"/>
                </a:solidFill>
              </a:rPr>
              <a:t>时不变或时变</a:t>
            </a:r>
            <a:r>
              <a:rPr lang="zh-CN" altLang="en-US" sz="2100" b="1" dirty="0"/>
              <a:t>的。</a:t>
            </a:r>
          </a:p>
          <a:p>
            <a:pPr marL="0" indent="0">
              <a:spcBef>
                <a:spcPts val="0"/>
              </a:spcBef>
              <a:buFont typeface="Wingdings" panose="05000000000000000000" pitchFamily="2" charset="2"/>
              <a:buNone/>
              <a:defRPr/>
            </a:pPr>
            <a:r>
              <a:rPr lang="zh-CN" altLang="en-US" sz="2100" b="1" dirty="0"/>
              <a:t>           </a:t>
            </a:r>
            <a:r>
              <a:rPr lang="zh-CN" altLang="en-US" sz="2800" b="1" dirty="0"/>
              <a:t>本门课只研究</a:t>
            </a:r>
            <a:r>
              <a:rPr lang="zh-CN" altLang="en-US" sz="2800" b="1" dirty="0">
                <a:solidFill>
                  <a:srgbClr val="0000FF"/>
                </a:solidFill>
              </a:rPr>
              <a:t>集中参数线性时不变</a:t>
            </a:r>
            <a:r>
              <a:rPr lang="zh-CN" altLang="en-US" sz="2800" b="1" dirty="0">
                <a:solidFill>
                  <a:srgbClr val="FF3300"/>
                </a:solidFill>
              </a:rPr>
              <a:t>连续时间系统和离散时间系统</a:t>
            </a:r>
            <a:r>
              <a:rPr lang="zh-CN" altLang="en-US" sz="2800" b="1" dirty="0"/>
              <a:t>。</a:t>
            </a:r>
          </a:p>
        </p:txBody>
      </p:sp>
      <p:sp>
        <p:nvSpPr>
          <p:cNvPr id="151556" name="Text Box 4"/>
          <p:cNvSpPr txBox="1">
            <a:spLocks noChangeArrowheads="1"/>
          </p:cNvSpPr>
          <p:nvPr/>
        </p:nvSpPr>
        <p:spPr bwMode="auto">
          <a:xfrm>
            <a:off x="7397750" y="1065213"/>
            <a:ext cx="53340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p:txBody>
      </p:sp>
      <p:sp>
        <p:nvSpPr>
          <p:cNvPr id="151558" name="Rectangle 7"/>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9" name="日期占位符 8"/>
          <p:cNvSpPr>
            <a:spLocks noGrp="1"/>
          </p:cNvSpPr>
          <p:nvPr>
            <p:ph type="dt" sz="quarter" idx="10"/>
          </p:nvPr>
        </p:nvSpPr>
        <p:spPr/>
        <p:txBody>
          <a:bodyPr/>
          <a:lstStyle/>
          <a:p>
            <a:pPr>
              <a:defRPr/>
            </a:pPr>
            <a:fld id="{FC81769F-E391-46CE-A348-354D5FCB77B3}" type="datetime3">
              <a:rPr lang="zh-CN" altLang="en-US"/>
              <a:t>2026年3月4日星期三</a:t>
            </a:fld>
            <a:endParaRPr lang="zh-CN" altLang="en-US"/>
          </a:p>
        </p:txBody>
      </p:sp>
    </p:spTree>
  </p:cSld>
  <p:clrMapOvr>
    <a:masterClrMapping/>
  </p:clrMapOvr>
  <p:transition advTm="22192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54435">
                                            <p:txEl>
                                              <p:pRg st="0" end="0"/>
                                            </p:txEl>
                                          </p:spTgt>
                                        </p:tgtEl>
                                        <p:attrNameLst>
                                          <p:attrName>style.visibility</p:attrName>
                                        </p:attrNameLst>
                                      </p:cBhvr>
                                      <p:to>
                                        <p:strVal val="visible"/>
                                      </p:to>
                                    </p:set>
                                    <p:anim calcmode="lin" valueType="num">
                                      <p:cBhvr>
                                        <p:cTn id="7" dur="1000" fill="hold"/>
                                        <p:tgtEl>
                                          <p:spTgt spid="155443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5443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5443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54435">
                                            <p:txEl>
                                              <p:pRg st="1" end="1"/>
                                            </p:txEl>
                                          </p:spTgt>
                                        </p:tgtEl>
                                        <p:attrNameLst>
                                          <p:attrName>style.visibility</p:attrName>
                                        </p:attrNameLst>
                                      </p:cBhvr>
                                      <p:to>
                                        <p:strVal val="visible"/>
                                      </p:to>
                                    </p:set>
                                    <p:anim calcmode="lin" valueType="num">
                                      <p:cBhvr>
                                        <p:cTn id="14" dur="1000" fill="hold"/>
                                        <p:tgtEl>
                                          <p:spTgt spid="1554435">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54435">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5443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554435">
                                            <p:txEl>
                                              <p:pRg st="2" end="2"/>
                                            </p:txEl>
                                          </p:spTgt>
                                        </p:tgtEl>
                                        <p:attrNameLst>
                                          <p:attrName>style.visibility</p:attrName>
                                        </p:attrNameLst>
                                      </p:cBhvr>
                                      <p:to>
                                        <p:strVal val="visible"/>
                                      </p:to>
                                    </p:set>
                                    <p:anim calcmode="lin" valueType="num">
                                      <p:cBhvr>
                                        <p:cTn id="21" dur="1000" fill="hold"/>
                                        <p:tgtEl>
                                          <p:spTgt spid="1554435">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554435">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55443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1554435">
                                            <p:txEl>
                                              <p:pRg st="3" end="3"/>
                                            </p:txEl>
                                          </p:spTgt>
                                        </p:tgtEl>
                                        <p:attrNameLst>
                                          <p:attrName>style.visibility</p:attrName>
                                        </p:attrNameLst>
                                      </p:cBhvr>
                                      <p:to>
                                        <p:strVal val="visible"/>
                                      </p:to>
                                    </p:set>
                                    <p:anim calcmode="lin" valueType="num">
                                      <p:cBhvr>
                                        <p:cTn id="28" dur="1000" fill="hold"/>
                                        <p:tgtEl>
                                          <p:spTgt spid="1554435">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554435">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55443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1554435">
                                            <p:txEl>
                                              <p:pRg st="4" end="4"/>
                                            </p:txEl>
                                          </p:spTgt>
                                        </p:tgtEl>
                                        <p:attrNameLst>
                                          <p:attrName>style.visibility</p:attrName>
                                        </p:attrNameLst>
                                      </p:cBhvr>
                                      <p:to>
                                        <p:strVal val="visible"/>
                                      </p:to>
                                    </p:set>
                                    <p:anim calcmode="lin" valueType="num">
                                      <p:cBhvr>
                                        <p:cTn id="35" dur="1000" fill="hold"/>
                                        <p:tgtEl>
                                          <p:spTgt spid="1554435">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554435">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5544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3865563" y="903288"/>
            <a:ext cx="2913062" cy="517525"/>
          </a:xfrm>
        </p:spPr>
        <p:txBody>
          <a:bodyPr/>
          <a:lstStyle/>
          <a:p>
            <a:r>
              <a:rPr lang="zh-CN" altLang="en-US" sz="2000" b="1">
                <a:solidFill>
                  <a:srgbClr val="0000FF"/>
                </a:solidFill>
                <a:ea typeface="黑体" panose="02010609060101010101" pitchFamily="49" charset="-122"/>
              </a:rPr>
              <a:t>因果系统和非因果系统</a:t>
            </a:r>
          </a:p>
        </p:txBody>
      </p:sp>
      <p:sp>
        <p:nvSpPr>
          <p:cNvPr id="1556483" name="Rectangle 3"/>
          <p:cNvSpPr>
            <a:spLocks noGrp="1" noChangeArrowheads="1"/>
          </p:cNvSpPr>
          <p:nvPr>
            <p:ph type="body" sz="half" idx="1"/>
          </p:nvPr>
        </p:nvSpPr>
        <p:spPr>
          <a:xfrm>
            <a:off x="917575" y="1666875"/>
            <a:ext cx="7421563" cy="3990975"/>
          </a:xfrm>
          <a:solidFill>
            <a:srgbClr val="FFFFFF"/>
          </a:solidFill>
          <a:ln w="57150">
            <a:solidFill>
              <a:schemeClr val="tx1"/>
            </a:solidFill>
            <a:miter lim="800000"/>
          </a:ln>
          <a:effectLst>
            <a:prstShdw prst="shdw12">
              <a:srgbClr val="808080">
                <a:alpha val="50000"/>
              </a:srgbClr>
            </a:prstShdw>
          </a:effectLst>
        </p:spPr>
        <p:txBody>
          <a:bodyPr/>
          <a:lstStyle/>
          <a:p>
            <a:pPr>
              <a:lnSpc>
                <a:spcPct val="150000"/>
              </a:lnSpc>
              <a:spcBef>
                <a:spcPct val="55000"/>
              </a:spcBef>
              <a:buFont typeface="Wingdings" panose="05000000000000000000" pitchFamily="2" charset="2"/>
              <a:buChar char="l"/>
            </a:pPr>
            <a:r>
              <a:rPr lang="zh-CN" altLang="en-US" sz="2000" b="1"/>
              <a:t>如果一个系统必须有输入（激励）才会有输出（响应）（</a:t>
            </a:r>
            <a:r>
              <a:rPr lang="zh-CN" altLang="en-US" sz="2000" b="1">
                <a:solidFill>
                  <a:srgbClr val="FF0000"/>
                </a:solidFill>
              </a:rPr>
              <a:t>系统的响应不出现在激励之前</a:t>
            </a:r>
            <a:r>
              <a:rPr lang="zh-CN" altLang="en-US" sz="2000" b="1"/>
              <a:t>）则该系统为</a:t>
            </a:r>
            <a:r>
              <a:rPr lang="zh-CN" altLang="en-US" sz="2000" b="1">
                <a:solidFill>
                  <a:srgbClr val="FF0000"/>
                </a:solidFill>
              </a:rPr>
              <a:t>因果系统</a:t>
            </a:r>
            <a:r>
              <a:rPr lang="zh-CN" altLang="en-US" sz="2000" b="1"/>
              <a:t>。</a:t>
            </a:r>
          </a:p>
          <a:p>
            <a:pPr>
              <a:lnSpc>
                <a:spcPct val="145000"/>
              </a:lnSpc>
              <a:spcBef>
                <a:spcPct val="45000"/>
              </a:spcBef>
              <a:buFont typeface="Wingdings" panose="05000000000000000000" pitchFamily="2" charset="2"/>
              <a:buNone/>
            </a:pPr>
            <a:r>
              <a:rPr lang="zh-CN" altLang="en-US" sz="2000" b="1">
                <a:solidFill>
                  <a:srgbClr val="FF0000"/>
                </a:solidFill>
              </a:rPr>
              <a:t>                 若：</a:t>
            </a:r>
            <a:r>
              <a:rPr lang="zh-CN" altLang="en-US" sz="2000" b="1"/>
              <a:t>  </a:t>
            </a:r>
            <a:r>
              <a:rPr lang="en-US" altLang="zh-CN" sz="2000" b="1"/>
              <a:t>e(t) = 0</a:t>
            </a:r>
            <a:r>
              <a:rPr lang="zh-CN" altLang="en-US" sz="2000" b="1"/>
              <a:t>，</a:t>
            </a:r>
            <a:r>
              <a:rPr lang="en-US" altLang="zh-CN" sz="2000" b="1"/>
              <a:t>t&lt; t</a:t>
            </a:r>
            <a:r>
              <a:rPr lang="en-US" altLang="zh-CN" sz="2000" b="1" baseline="-25000"/>
              <a:t>0</a:t>
            </a:r>
            <a:endParaRPr lang="en-US" altLang="zh-CN" sz="2000" b="1"/>
          </a:p>
          <a:p>
            <a:pPr>
              <a:lnSpc>
                <a:spcPct val="145000"/>
              </a:lnSpc>
              <a:spcBef>
                <a:spcPct val="45000"/>
              </a:spcBef>
              <a:buFont typeface="Wingdings" panose="05000000000000000000" pitchFamily="2" charset="2"/>
              <a:buNone/>
            </a:pPr>
            <a:r>
              <a:rPr lang="en-US" altLang="zh-CN" sz="2000" b="1"/>
              <a:t>                 </a:t>
            </a:r>
            <a:r>
              <a:rPr lang="zh-CN" altLang="en-US" sz="2000" b="1">
                <a:solidFill>
                  <a:srgbClr val="FF0000"/>
                </a:solidFill>
              </a:rPr>
              <a:t>则：</a:t>
            </a:r>
            <a:r>
              <a:rPr lang="zh-CN" altLang="en-US" sz="2000" b="1"/>
              <a:t>  </a:t>
            </a:r>
            <a:r>
              <a:rPr lang="en-US" altLang="zh-CN" sz="2000" b="1"/>
              <a:t>r(t) = 0</a:t>
            </a:r>
            <a:r>
              <a:rPr lang="zh-CN" altLang="en-US" sz="2000" b="1"/>
              <a:t>，</a:t>
            </a:r>
            <a:r>
              <a:rPr lang="en-US" altLang="zh-CN" sz="2000" b="1"/>
              <a:t>t&lt; t</a:t>
            </a:r>
            <a:r>
              <a:rPr lang="en-US" altLang="zh-CN" sz="2000" b="1" baseline="-25000"/>
              <a:t>0</a:t>
            </a:r>
            <a:endParaRPr lang="en-US" altLang="zh-CN" sz="2000" b="1"/>
          </a:p>
          <a:p>
            <a:pPr>
              <a:lnSpc>
                <a:spcPct val="145000"/>
              </a:lnSpc>
              <a:spcBef>
                <a:spcPct val="45000"/>
              </a:spcBef>
              <a:buFont typeface="Wingdings" panose="05000000000000000000" pitchFamily="2" charset="2"/>
              <a:buChar char="l"/>
            </a:pPr>
            <a:r>
              <a:rPr lang="zh-CN" altLang="en-US" sz="2000" b="1"/>
              <a:t>若系统</a:t>
            </a:r>
            <a:r>
              <a:rPr lang="zh-CN" altLang="en-US" sz="2000" b="1">
                <a:solidFill>
                  <a:srgbClr val="FF0000"/>
                </a:solidFill>
              </a:rPr>
              <a:t>某一时刻的输出</a:t>
            </a:r>
            <a:r>
              <a:rPr lang="zh-CN" altLang="en-US" sz="2000" b="1"/>
              <a:t>只取决于</a:t>
            </a:r>
            <a:r>
              <a:rPr lang="zh-CN" altLang="en-US" sz="2000" b="1">
                <a:solidFill>
                  <a:srgbClr val="FF0000"/>
                </a:solidFill>
              </a:rPr>
              <a:t>当前时刻及其在此之前的输入</a:t>
            </a:r>
            <a:r>
              <a:rPr lang="zh-CN" altLang="en-US" sz="2000" b="1"/>
              <a:t>，则系统是</a:t>
            </a:r>
            <a:r>
              <a:rPr lang="zh-CN" altLang="en-US" sz="2000" b="1">
                <a:solidFill>
                  <a:srgbClr val="FF0000"/>
                </a:solidFill>
              </a:rPr>
              <a:t>因果</a:t>
            </a:r>
            <a:r>
              <a:rPr lang="zh-CN" altLang="en-US" sz="2000" b="1"/>
              <a:t>的。</a:t>
            </a:r>
          </a:p>
          <a:p>
            <a:pPr>
              <a:lnSpc>
                <a:spcPct val="150000"/>
              </a:lnSpc>
              <a:spcBef>
                <a:spcPct val="55000"/>
              </a:spcBef>
              <a:buFont typeface="Wingdings" panose="05000000000000000000" pitchFamily="2" charset="2"/>
              <a:buChar char="l"/>
            </a:pPr>
            <a:r>
              <a:rPr lang="zh-CN" altLang="en-US" sz="2000" b="1"/>
              <a:t>非因果系统在物理上是不可实现。</a:t>
            </a:r>
          </a:p>
        </p:txBody>
      </p:sp>
      <p:sp>
        <p:nvSpPr>
          <p:cNvPr id="153604" name="Rectangle 6"/>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7" name="日期占位符 6"/>
          <p:cNvSpPr>
            <a:spLocks noGrp="1"/>
          </p:cNvSpPr>
          <p:nvPr>
            <p:ph type="dt" sz="quarter" idx="10"/>
          </p:nvPr>
        </p:nvSpPr>
        <p:spPr/>
        <p:txBody>
          <a:bodyPr/>
          <a:lstStyle/>
          <a:p>
            <a:pPr>
              <a:defRPr/>
            </a:pPr>
            <a:fld id="{C0E33A12-0EDC-44A5-A9E4-94E34EC449C3}" type="datetime3">
              <a:rPr lang="zh-CN" altLang="en-US"/>
              <a:t>2026年3月4日星期三</a:t>
            </a:fld>
            <a:endParaRPr lang="en-US" altLang="zh-CN" dirty="0"/>
          </a:p>
        </p:txBody>
      </p:sp>
    </p:spTree>
    <p:custDataLst>
      <p:tags r:id="rId1"/>
    </p:custDataLst>
  </p:cSld>
  <p:clrMapOvr>
    <a:masterClrMapping/>
  </p:clrMapOvr>
  <p:transition spd="med" advTm="125787">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56483">
                                            <p:bg/>
                                          </p:spTgt>
                                        </p:tgtEl>
                                        <p:attrNameLst>
                                          <p:attrName>style.visibility</p:attrName>
                                        </p:attrNameLst>
                                      </p:cBhvr>
                                      <p:to>
                                        <p:strVal val="visible"/>
                                      </p:to>
                                    </p:set>
                                    <p:anim calcmode="lin" valueType="num">
                                      <p:cBhvr>
                                        <p:cTn id="7" dur="1000" fill="hold"/>
                                        <p:tgtEl>
                                          <p:spTgt spid="1556483">
                                            <p:bg/>
                                          </p:spTgt>
                                        </p:tgtEl>
                                        <p:attrNameLst>
                                          <p:attrName>ppt_w</p:attrName>
                                        </p:attrNameLst>
                                      </p:cBhvr>
                                      <p:tavLst>
                                        <p:tav tm="0">
                                          <p:val>
                                            <p:strVal val="#ppt_w*0.70"/>
                                          </p:val>
                                        </p:tav>
                                        <p:tav tm="100000">
                                          <p:val>
                                            <p:strVal val="#ppt_w"/>
                                          </p:val>
                                        </p:tav>
                                      </p:tavLst>
                                    </p:anim>
                                    <p:anim calcmode="lin" valueType="num">
                                      <p:cBhvr>
                                        <p:cTn id="8" dur="1000" fill="hold"/>
                                        <p:tgtEl>
                                          <p:spTgt spid="1556483">
                                            <p:bg/>
                                          </p:spTgt>
                                        </p:tgtEl>
                                        <p:attrNameLst>
                                          <p:attrName>ppt_h</p:attrName>
                                        </p:attrNameLst>
                                      </p:cBhvr>
                                      <p:tavLst>
                                        <p:tav tm="0">
                                          <p:val>
                                            <p:strVal val="#ppt_h"/>
                                          </p:val>
                                        </p:tav>
                                        <p:tav tm="100000">
                                          <p:val>
                                            <p:strVal val="#ppt_h"/>
                                          </p:val>
                                        </p:tav>
                                      </p:tavLst>
                                    </p:anim>
                                    <p:animEffect transition="in" filter="fade">
                                      <p:cBhvr>
                                        <p:cTn id="9" dur="1000"/>
                                        <p:tgtEl>
                                          <p:spTgt spid="1556483">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56483">
                                            <p:txEl>
                                              <p:pRg st="0" end="0"/>
                                            </p:txEl>
                                          </p:spTgt>
                                        </p:tgtEl>
                                        <p:attrNameLst>
                                          <p:attrName>style.visibility</p:attrName>
                                        </p:attrNameLst>
                                      </p:cBhvr>
                                      <p:to>
                                        <p:strVal val="visible"/>
                                      </p:to>
                                    </p:set>
                                    <p:anim calcmode="lin" valueType="num">
                                      <p:cBhvr>
                                        <p:cTn id="13" dur="1000" fill="hold"/>
                                        <p:tgtEl>
                                          <p:spTgt spid="1556483">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556483">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55648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556483">
                                            <p:txEl>
                                              <p:pRg st="1" end="1"/>
                                            </p:txEl>
                                          </p:spTgt>
                                        </p:tgtEl>
                                        <p:attrNameLst>
                                          <p:attrName>style.visibility</p:attrName>
                                        </p:attrNameLst>
                                      </p:cBhvr>
                                      <p:to>
                                        <p:strVal val="visible"/>
                                      </p:to>
                                    </p:set>
                                    <p:anim calcmode="lin" valueType="num">
                                      <p:cBhvr>
                                        <p:cTn id="20" dur="1000" fill="hold"/>
                                        <p:tgtEl>
                                          <p:spTgt spid="1556483">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1556483">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155648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1556483">
                                            <p:txEl>
                                              <p:pRg st="2" end="2"/>
                                            </p:txEl>
                                          </p:spTgt>
                                        </p:tgtEl>
                                        <p:attrNameLst>
                                          <p:attrName>style.visibility</p:attrName>
                                        </p:attrNameLst>
                                      </p:cBhvr>
                                      <p:to>
                                        <p:strVal val="visible"/>
                                      </p:to>
                                    </p:set>
                                    <p:anim calcmode="lin" valueType="num">
                                      <p:cBhvr>
                                        <p:cTn id="27" dur="1000" fill="hold"/>
                                        <p:tgtEl>
                                          <p:spTgt spid="1556483">
                                            <p:txEl>
                                              <p:pRg st="2" end="2"/>
                                            </p:txEl>
                                          </p:spTgt>
                                        </p:tgtEl>
                                        <p:attrNameLst>
                                          <p:attrName>ppt_w</p:attrName>
                                        </p:attrNameLst>
                                      </p:cBhvr>
                                      <p:tavLst>
                                        <p:tav tm="0">
                                          <p:val>
                                            <p:strVal val="#ppt_w*0.70"/>
                                          </p:val>
                                        </p:tav>
                                        <p:tav tm="100000">
                                          <p:val>
                                            <p:strVal val="#ppt_w"/>
                                          </p:val>
                                        </p:tav>
                                      </p:tavLst>
                                    </p:anim>
                                    <p:anim calcmode="lin" valueType="num">
                                      <p:cBhvr>
                                        <p:cTn id="28" dur="1000" fill="hold"/>
                                        <p:tgtEl>
                                          <p:spTgt spid="1556483">
                                            <p:txEl>
                                              <p:pRg st="2" end="2"/>
                                            </p:txEl>
                                          </p:spTgt>
                                        </p:tgtEl>
                                        <p:attrNameLst>
                                          <p:attrName>ppt_h</p:attrName>
                                        </p:attrNameLst>
                                      </p:cBhvr>
                                      <p:tavLst>
                                        <p:tav tm="0">
                                          <p:val>
                                            <p:strVal val="#ppt_h"/>
                                          </p:val>
                                        </p:tav>
                                        <p:tav tm="100000">
                                          <p:val>
                                            <p:strVal val="#ppt_h"/>
                                          </p:val>
                                        </p:tav>
                                      </p:tavLst>
                                    </p:anim>
                                    <p:animEffect transition="in" filter="fade">
                                      <p:cBhvr>
                                        <p:cTn id="29" dur="1000"/>
                                        <p:tgtEl>
                                          <p:spTgt spid="155648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1556483">
                                            <p:txEl>
                                              <p:pRg st="3" end="3"/>
                                            </p:txEl>
                                          </p:spTgt>
                                        </p:tgtEl>
                                        <p:attrNameLst>
                                          <p:attrName>style.visibility</p:attrName>
                                        </p:attrNameLst>
                                      </p:cBhvr>
                                      <p:to>
                                        <p:strVal val="visible"/>
                                      </p:to>
                                    </p:set>
                                    <p:anim calcmode="lin" valueType="num">
                                      <p:cBhvr>
                                        <p:cTn id="34" dur="1000" fill="hold"/>
                                        <p:tgtEl>
                                          <p:spTgt spid="1556483">
                                            <p:txEl>
                                              <p:pRg st="3" end="3"/>
                                            </p:txEl>
                                          </p:spTgt>
                                        </p:tgtEl>
                                        <p:attrNameLst>
                                          <p:attrName>ppt_w</p:attrName>
                                        </p:attrNameLst>
                                      </p:cBhvr>
                                      <p:tavLst>
                                        <p:tav tm="0">
                                          <p:val>
                                            <p:strVal val="#ppt_w*0.70"/>
                                          </p:val>
                                        </p:tav>
                                        <p:tav tm="100000">
                                          <p:val>
                                            <p:strVal val="#ppt_w"/>
                                          </p:val>
                                        </p:tav>
                                      </p:tavLst>
                                    </p:anim>
                                    <p:anim calcmode="lin" valueType="num">
                                      <p:cBhvr>
                                        <p:cTn id="35" dur="1000" fill="hold"/>
                                        <p:tgtEl>
                                          <p:spTgt spid="1556483">
                                            <p:txEl>
                                              <p:pRg st="3" end="3"/>
                                            </p:txEl>
                                          </p:spTgt>
                                        </p:tgtEl>
                                        <p:attrNameLst>
                                          <p:attrName>ppt_h</p:attrName>
                                        </p:attrNameLst>
                                      </p:cBhvr>
                                      <p:tavLst>
                                        <p:tav tm="0">
                                          <p:val>
                                            <p:strVal val="#ppt_h"/>
                                          </p:val>
                                        </p:tav>
                                        <p:tav tm="100000">
                                          <p:val>
                                            <p:strVal val="#ppt_h"/>
                                          </p:val>
                                        </p:tav>
                                      </p:tavLst>
                                    </p:anim>
                                    <p:animEffect transition="in" filter="fade">
                                      <p:cBhvr>
                                        <p:cTn id="36" dur="1000"/>
                                        <p:tgtEl>
                                          <p:spTgt spid="155648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grpId="0" nodeType="clickEffect">
                                  <p:stCondLst>
                                    <p:cond delay="0"/>
                                  </p:stCondLst>
                                  <p:childTnLst>
                                    <p:set>
                                      <p:cBhvr>
                                        <p:cTn id="40" dur="1" fill="hold">
                                          <p:stCondLst>
                                            <p:cond delay="0"/>
                                          </p:stCondLst>
                                        </p:cTn>
                                        <p:tgtEl>
                                          <p:spTgt spid="1556483">
                                            <p:txEl>
                                              <p:pRg st="4" end="4"/>
                                            </p:txEl>
                                          </p:spTgt>
                                        </p:tgtEl>
                                        <p:attrNameLst>
                                          <p:attrName>style.visibility</p:attrName>
                                        </p:attrNameLst>
                                      </p:cBhvr>
                                      <p:to>
                                        <p:strVal val="visible"/>
                                      </p:to>
                                    </p:set>
                                    <p:anim calcmode="lin" valueType="num">
                                      <p:cBhvr>
                                        <p:cTn id="41" dur="1000" fill="hold"/>
                                        <p:tgtEl>
                                          <p:spTgt spid="1556483">
                                            <p:txEl>
                                              <p:pRg st="4" end="4"/>
                                            </p:txEl>
                                          </p:spTgt>
                                        </p:tgtEl>
                                        <p:attrNameLst>
                                          <p:attrName>ppt_w</p:attrName>
                                        </p:attrNameLst>
                                      </p:cBhvr>
                                      <p:tavLst>
                                        <p:tav tm="0">
                                          <p:val>
                                            <p:strVal val="#ppt_w*0.70"/>
                                          </p:val>
                                        </p:tav>
                                        <p:tav tm="100000">
                                          <p:val>
                                            <p:strVal val="#ppt_w"/>
                                          </p:val>
                                        </p:tav>
                                      </p:tavLst>
                                    </p:anim>
                                    <p:anim calcmode="lin" valueType="num">
                                      <p:cBhvr>
                                        <p:cTn id="42" dur="1000" fill="hold"/>
                                        <p:tgtEl>
                                          <p:spTgt spid="1556483">
                                            <p:txEl>
                                              <p:pRg st="4" end="4"/>
                                            </p:txEl>
                                          </p:spTgt>
                                        </p:tgtEl>
                                        <p:attrNameLst>
                                          <p:attrName>ppt_h</p:attrName>
                                        </p:attrNameLst>
                                      </p:cBhvr>
                                      <p:tavLst>
                                        <p:tav tm="0">
                                          <p:val>
                                            <p:strVal val="#ppt_h"/>
                                          </p:val>
                                        </p:tav>
                                        <p:tav tm="100000">
                                          <p:val>
                                            <p:strVal val="#ppt_h"/>
                                          </p:val>
                                        </p:tav>
                                      </p:tavLst>
                                    </p:anim>
                                    <p:animEffect transition="in" filter="fade">
                                      <p:cBhvr>
                                        <p:cTn id="43" dur="1000"/>
                                        <p:tgtEl>
                                          <p:spTgt spid="1556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483" grpId="0" build="p"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2264410" y="799783"/>
            <a:ext cx="2517775" cy="538162"/>
          </a:xfrm>
        </p:spPr>
        <p:txBody>
          <a:bodyPr/>
          <a:lstStyle/>
          <a:p>
            <a:r>
              <a:rPr lang="zh-CN" altLang="en-US" sz="1800" b="1">
                <a:solidFill>
                  <a:srgbClr val="0000FF"/>
                </a:solidFill>
                <a:ea typeface="黑体" panose="02010609060101010101" pitchFamily="49" charset="-122"/>
              </a:rPr>
              <a:t>因果系统和非因果系统</a:t>
            </a:r>
          </a:p>
        </p:txBody>
      </p:sp>
      <p:sp>
        <p:nvSpPr>
          <p:cNvPr id="155651"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1576966"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例：判断下列系统是否为因果系统</a:t>
            </a:r>
          </a:p>
        </p:txBody>
      </p:sp>
      <mc:AlternateContent xmlns:mc="http://schemas.openxmlformats.org/markup-compatibility/2006" xmlns:a14="http://schemas.microsoft.com/office/drawing/2010/main">
        <mc:Choice Requires="a14">
          <p:sp>
            <p:nvSpPr>
              <p:cNvPr id="1576967" name="Object 2"/>
              <p:cNvSpPr txBox="1"/>
              <p:nvPr/>
            </p:nvSpPr>
            <p:spPr bwMode="auto">
              <a:xfrm>
                <a:off x="358489" y="2585243"/>
                <a:ext cx="2882977" cy="2181225"/>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Para>
                </a14:m>
                <a:endParaRPr lang="zh-CN" altLang="en-US" dirty="0"/>
              </a:p>
            </p:txBody>
          </p:sp>
        </mc:Choice>
        <mc:Fallback xmlns="">
          <p:sp>
            <p:nvSpPr>
              <p:cNvPr id="1576967" name="Object 2"/>
              <p:cNvSpPr txBox="1">
                <a:spLocks noRot="1" noChangeAspect="1" noMove="1" noResize="1" noEditPoints="1" noAdjustHandles="1" noChangeArrowheads="1" noChangeShapeType="1" noTextEdit="1"/>
              </p:cNvSpPr>
              <p:nvPr/>
            </p:nvSpPr>
            <p:spPr bwMode="auto">
              <a:xfrm>
                <a:off x="358489" y="2585243"/>
                <a:ext cx="2882977" cy="2181225"/>
              </a:xfrm>
              <a:prstGeom prst="rect">
                <a:avLst/>
              </a:prstGeom>
              <a:blipFill rotWithShape="1">
                <a:blip r:embed="rId3"/>
                <a:stretch>
                  <a:fillRect l="-12" t="-7" r="-866" b="-1157"/>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76968" name="Rectangle 8"/>
          <p:cNvSpPr>
            <a:spLocks noChangeArrowheads="1"/>
          </p:cNvSpPr>
          <p:nvPr/>
        </p:nvSpPr>
        <p:spPr bwMode="auto">
          <a:xfrm>
            <a:off x="3881438" y="2392363"/>
            <a:ext cx="449262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ea typeface="宋体" panose="02010600030101010101" pitchFamily="2" charset="-122"/>
              </a:rPr>
              <a:t>解：若</a:t>
            </a:r>
            <a:r>
              <a:rPr lang="en-US" altLang="zh-CN" sz="2500">
                <a:solidFill>
                  <a:srgbClr val="FF0000"/>
                </a:solidFill>
                <a:latin typeface="Times New Roman" panose="02020603050405020304" pitchFamily="18" charset="0"/>
                <a:ea typeface="宋体" panose="02010600030101010101" pitchFamily="2" charset="-122"/>
              </a:rPr>
              <a:t>t&lt; t</a:t>
            </a:r>
            <a:r>
              <a:rPr lang="en-US" altLang="zh-CN" sz="2500" baseline="-25000">
                <a:solidFill>
                  <a:srgbClr val="FF0000"/>
                </a:solidFill>
                <a:latin typeface="Times New Roman" panose="02020603050405020304" pitchFamily="18" charset="0"/>
                <a:ea typeface="宋体" panose="02010600030101010101" pitchFamily="2" charset="-122"/>
              </a:rPr>
              <a:t>0</a:t>
            </a:r>
            <a:r>
              <a:rPr lang="zh-CN" altLang="en-US" sz="2500">
                <a:solidFill>
                  <a:srgbClr val="FF0000"/>
                </a:solidFill>
                <a:latin typeface="Times New Roman" panose="02020603050405020304" pitchFamily="18" charset="0"/>
                <a:ea typeface="宋体" panose="02010600030101010101" pitchFamily="2" charset="-122"/>
              </a:rPr>
              <a:t>时，</a:t>
            </a:r>
            <a:r>
              <a:rPr lang="en-US" altLang="zh-CN" sz="2500">
                <a:solidFill>
                  <a:srgbClr val="FF0000"/>
                </a:solidFill>
                <a:latin typeface="Times New Roman" panose="02020603050405020304" pitchFamily="18" charset="0"/>
                <a:ea typeface="宋体" panose="02010600030101010101" pitchFamily="2" charset="-122"/>
              </a:rPr>
              <a:t>e(t) = 0,</a:t>
            </a:r>
            <a:r>
              <a:rPr lang="zh-CN" altLang="en-US" sz="2500">
                <a:solidFill>
                  <a:srgbClr val="FF0000"/>
                </a:solidFill>
                <a:latin typeface="Times New Roman" panose="02020603050405020304" pitchFamily="18" charset="0"/>
                <a:ea typeface="宋体" panose="02010600030101010101" pitchFamily="2" charset="-122"/>
              </a:rPr>
              <a:t>则有：</a:t>
            </a:r>
          </a:p>
        </p:txBody>
      </p:sp>
      <p:sp>
        <p:nvSpPr>
          <p:cNvPr id="1576970" name="Rectangle 10"/>
          <p:cNvSpPr>
            <a:spLocks noChangeArrowheads="1"/>
          </p:cNvSpPr>
          <p:nvPr/>
        </p:nvSpPr>
        <p:spPr bwMode="auto">
          <a:xfrm>
            <a:off x="4275138" y="4570413"/>
            <a:ext cx="36607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所以，该系统是因果的</a:t>
            </a:r>
          </a:p>
        </p:txBody>
      </p:sp>
      <mc:AlternateContent xmlns:mc="http://schemas.openxmlformats.org/markup-compatibility/2006" xmlns:a14="http://schemas.microsoft.com/office/drawing/2010/main">
        <mc:Choice Requires="a14">
          <p:sp>
            <p:nvSpPr>
              <p:cNvPr id="1576971" name="Object 3"/>
              <p:cNvSpPr txBox="1"/>
              <p:nvPr/>
            </p:nvSpPr>
            <p:spPr bwMode="auto">
              <a:xfrm>
                <a:off x="4183063" y="1614488"/>
                <a:ext cx="3049587" cy="569912"/>
              </a:xfrm>
              <a:prstGeom prst="rect">
                <a:avLst/>
              </a:prstGeom>
              <a:solidFill>
                <a:srgbClr val="CADAC2"/>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76971" name="Object 3"/>
              <p:cNvSpPr txBox="1">
                <a:spLocks noRot="1" noChangeAspect="1" noMove="1" noResize="1" noEditPoints="1" noAdjustHandles="1" noChangeArrowheads="1" noChangeShapeType="1" noTextEdit="1"/>
              </p:cNvSpPr>
              <p:nvPr/>
            </p:nvSpPr>
            <p:spPr bwMode="auto">
              <a:xfrm>
                <a:off x="4183063" y="1614488"/>
                <a:ext cx="3049587" cy="569912"/>
              </a:xfrm>
              <a:prstGeom prst="rect">
                <a:avLst/>
              </a:prstGeom>
              <a:blipFill rotWithShape="1">
                <a:blip r:embed="rId4"/>
                <a:stretch>
                  <a:fillRect l="-10" t="-5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6972" name="Object 4"/>
              <p:cNvSpPr txBox="1"/>
              <p:nvPr/>
            </p:nvSpPr>
            <p:spPr bwMode="auto">
              <a:xfrm>
                <a:off x="5135880" y="3338195"/>
                <a:ext cx="1287780" cy="442595"/>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1576972" name="Object 4"/>
              <p:cNvSpPr txBox="1">
                <a:spLocks noRot="1" noChangeAspect="1" noMove="1" noResize="1" noEditPoints="1" noAdjustHandles="1" noChangeArrowheads="1" noChangeShapeType="1" noTextEdit="1"/>
              </p:cNvSpPr>
              <p:nvPr/>
            </p:nvSpPr>
            <p:spPr bwMode="auto">
              <a:xfrm>
                <a:off x="5135880" y="3338195"/>
                <a:ext cx="1287780" cy="442595"/>
              </a:xfrm>
              <a:prstGeom prst="rect">
                <a:avLst/>
              </a:prstGeom>
              <a:blipFill rotWithShape="1">
                <a:blip r:embed="rId5"/>
                <a:stretch>
                  <a:fillRect/>
                </a:stretch>
              </a:blipFill>
              <a:ln>
                <a:noFill/>
              </a:ln>
              <a:effectLst/>
            </p:spPr>
            <p:txBody>
              <a:bodyPr/>
              <a:lstStyle/>
              <a:p>
                <a:r>
                  <a:rPr lang="zh-CN" altLang="en-US">
                    <a:noFill/>
                  </a:rPr>
                  <a:t> </a:t>
                </a:r>
              </a:p>
            </p:txBody>
          </p:sp>
        </mc:Fallback>
      </mc:AlternateContent>
      <p:sp>
        <p:nvSpPr>
          <p:cNvPr id="12" name="日期占位符 11"/>
          <p:cNvSpPr>
            <a:spLocks noGrp="1"/>
          </p:cNvSpPr>
          <p:nvPr>
            <p:ph type="dt" sz="quarter" idx="10"/>
          </p:nvPr>
        </p:nvSpPr>
        <p:spPr/>
        <p:txBody>
          <a:bodyPr/>
          <a:lstStyle/>
          <a:p>
            <a:pPr>
              <a:defRPr/>
            </a:pPr>
            <a:fld id="{B857CF99-E4B0-4A16-8C1B-BBA00234FB2A}" type="datetime3">
              <a:rPr lang="zh-CN" altLang="en-US"/>
              <a:t>2026年3月4日星期三</a:t>
            </a:fld>
            <a:endParaRPr lang="en-US" altLang="zh-CN" dirty="0"/>
          </a:p>
        </p:txBody>
      </p:sp>
    </p:spTree>
    <p:custDataLst>
      <p:tags r:id="rId1"/>
    </p:custDataLst>
  </p:cSld>
  <p:clrMapOvr>
    <a:masterClrMapping/>
  </p:clrMapOvr>
  <p:transition spd="med" advTm="56213">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7696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7696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57697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1576968"/>
                                        </p:tgtEl>
                                        <p:attrNameLst>
                                          <p:attrName>style.visibility</p:attrName>
                                        </p:attrNameLst>
                                      </p:cBhvr>
                                      <p:to>
                                        <p:strVal val="visible"/>
                                      </p:to>
                                    </p:set>
                                    <p:anim calcmode="lin" valueType="num">
                                      <p:cBhvr>
                                        <p:cTn id="18" dur="1000" fill="hold"/>
                                        <p:tgtEl>
                                          <p:spTgt spid="1576968"/>
                                        </p:tgtEl>
                                        <p:attrNameLst>
                                          <p:attrName>ppt_w</p:attrName>
                                        </p:attrNameLst>
                                      </p:cBhvr>
                                      <p:tavLst>
                                        <p:tav tm="0">
                                          <p:val>
                                            <p:strVal val="#ppt_w*0.70"/>
                                          </p:val>
                                        </p:tav>
                                        <p:tav tm="100000">
                                          <p:val>
                                            <p:strVal val="#ppt_w"/>
                                          </p:val>
                                        </p:tav>
                                      </p:tavLst>
                                    </p:anim>
                                    <p:anim calcmode="lin" valueType="num">
                                      <p:cBhvr>
                                        <p:cTn id="19" dur="1000" fill="hold"/>
                                        <p:tgtEl>
                                          <p:spTgt spid="1576968"/>
                                        </p:tgtEl>
                                        <p:attrNameLst>
                                          <p:attrName>ppt_h</p:attrName>
                                        </p:attrNameLst>
                                      </p:cBhvr>
                                      <p:tavLst>
                                        <p:tav tm="0">
                                          <p:val>
                                            <p:strVal val="#ppt_h"/>
                                          </p:val>
                                        </p:tav>
                                        <p:tav tm="100000">
                                          <p:val>
                                            <p:strVal val="#ppt_h"/>
                                          </p:val>
                                        </p:tav>
                                      </p:tavLst>
                                    </p:anim>
                                    <p:animEffect transition="in" filter="fade">
                                      <p:cBhvr>
                                        <p:cTn id="20" dur="1000"/>
                                        <p:tgtEl>
                                          <p:spTgt spid="1576968"/>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76972">
                                            <p:txEl>
                                              <p:pRg st="0" end="0"/>
                                            </p:txEl>
                                          </p:spTgt>
                                        </p:tgtEl>
                                        <p:attrNameLst>
                                          <p:attrName>style.visibility</p:attrName>
                                        </p:attrNameLst>
                                      </p:cBhvr>
                                      <p:to>
                                        <p:strVal val="visible"/>
                                      </p:to>
                                    </p:set>
                                    <p:anim calcmode="lin" valueType="num">
                                      <p:cBhvr additive="base">
                                        <p:cTn id="25" dur="500" fill="hold"/>
                                        <p:tgtEl>
                                          <p:spTgt spid="1576972">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769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1576970"/>
                                        </p:tgtEl>
                                        <p:attrNameLst>
                                          <p:attrName>style.visibility</p:attrName>
                                        </p:attrNameLst>
                                      </p:cBhvr>
                                      <p:to>
                                        <p:strVal val="visible"/>
                                      </p:to>
                                    </p:set>
                                    <p:anim calcmode="lin" valueType="num">
                                      <p:cBhvr>
                                        <p:cTn id="31" dur="1000" fill="hold"/>
                                        <p:tgtEl>
                                          <p:spTgt spid="1576970"/>
                                        </p:tgtEl>
                                        <p:attrNameLst>
                                          <p:attrName>ppt_w</p:attrName>
                                        </p:attrNameLst>
                                      </p:cBhvr>
                                      <p:tavLst>
                                        <p:tav tm="0">
                                          <p:val>
                                            <p:strVal val="#ppt_w*0.70"/>
                                          </p:val>
                                        </p:tav>
                                        <p:tav tm="100000">
                                          <p:val>
                                            <p:strVal val="#ppt_w"/>
                                          </p:val>
                                        </p:tav>
                                      </p:tavLst>
                                    </p:anim>
                                    <p:anim calcmode="lin" valueType="num">
                                      <p:cBhvr>
                                        <p:cTn id="32" dur="1000" fill="hold"/>
                                        <p:tgtEl>
                                          <p:spTgt spid="1576970"/>
                                        </p:tgtEl>
                                        <p:attrNameLst>
                                          <p:attrName>ppt_h</p:attrName>
                                        </p:attrNameLst>
                                      </p:cBhvr>
                                      <p:tavLst>
                                        <p:tav tm="0">
                                          <p:val>
                                            <p:strVal val="#ppt_h"/>
                                          </p:val>
                                        </p:tav>
                                        <p:tav tm="100000">
                                          <p:val>
                                            <p:strVal val="#ppt_h"/>
                                          </p:val>
                                        </p:tav>
                                      </p:tavLst>
                                    </p:anim>
                                    <p:animEffect transition="in" filter="fade">
                                      <p:cBhvr>
                                        <p:cTn id="33" dur="1000"/>
                                        <p:tgtEl>
                                          <p:spTgt spid="1576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66" grpId="0"/>
      <p:bldP spid="1576967" grpId="0" animBg="1"/>
      <p:bldP spid="1576967" grpId="1" animBg="1"/>
      <p:bldP spid="1576968" grpId="0"/>
      <p:bldP spid="1576970" grpId="0"/>
      <p:bldP spid="1576971" grpId="0" animBg="1"/>
      <p:bldP spid="1576971" grpId="1" animBg="1"/>
      <p:bldP spid="1576972"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4102100" y="769938"/>
            <a:ext cx="2825750" cy="538162"/>
          </a:xfrm>
        </p:spPr>
        <p:txBody>
          <a:bodyPr/>
          <a:lstStyle/>
          <a:p>
            <a:r>
              <a:rPr lang="zh-CN" altLang="en-US" sz="2000" b="1">
                <a:solidFill>
                  <a:srgbClr val="0000FF"/>
                </a:solidFill>
                <a:ea typeface="黑体" panose="02010609060101010101" pitchFamily="49" charset="-122"/>
              </a:rPr>
              <a:t>因果系统和非因果系统</a:t>
            </a:r>
          </a:p>
        </p:txBody>
      </p:sp>
      <p:sp>
        <p:nvSpPr>
          <p:cNvPr id="156675"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1574918"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例：判断下列系统是否为因果系统</a:t>
            </a:r>
          </a:p>
        </p:txBody>
      </p:sp>
      <p:sp>
        <p:nvSpPr>
          <p:cNvPr id="1574922" name="Rectangle 10"/>
          <p:cNvSpPr>
            <a:spLocks noChangeArrowheads="1"/>
          </p:cNvSpPr>
          <p:nvPr/>
        </p:nvSpPr>
        <p:spPr bwMode="auto">
          <a:xfrm>
            <a:off x="4225925" y="4465638"/>
            <a:ext cx="40005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所以，该系统是非因果的</a:t>
            </a:r>
          </a:p>
        </p:txBody>
      </p:sp>
      <mc:AlternateContent xmlns:mc="http://schemas.openxmlformats.org/markup-compatibility/2006" xmlns:a14="http://schemas.microsoft.com/office/drawing/2010/main">
        <mc:Choice Requires="a14">
          <p:sp>
            <p:nvSpPr>
              <p:cNvPr id="1574924" name="Object 2"/>
              <p:cNvSpPr txBox="1"/>
              <p:nvPr/>
            </p:nvSpPr>
            <p:spPr bwMode="auto">
              <a:xfrm>
                <a:off x="3932238" y="1495425"/>
                <a:ext cx="3305175" cy="600075"/>
              </a:xfrm>
              <a:prstGeom prst="rect">
                <a:avLst/>
              </a:prstGeom>
              <a:solidFill>
                <a:srgbClr val="CADAC2"/>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574924" name="Object 2"/>
              <p:cNvSpPr txBox="1">
                <a:spLocks noRot="1" noChangeAspect="1" noMove="1" noResize="1" noEditPoints="1" noAdjustHandles="1" noChangeArrowheads="1" noChangeShapeType="1" noTextEdit="1"/>
              </p:cNvSpPr>
              <p:nvPr/>
            </p:nvSpPr>
            <p:spPr bwMode="auto">
              <a:xfrm>
                <a:off x="3932238" y="1495425"/>
                <a:ext cx="3305175" cy="600075"/>
              </a:xfrm>
              <a:prstGeom prst="rect">
                <a:avLst/>
              </a:prstGeom>
              <a:blipFill rotWithShape="1">
                <a:blip r:embed="rId3"/>
                <a:stretch>
                  <a:fillRect l="-10" r="-759" b="-4127"/>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74926" name="Rectangle 14"/>
          <p:cNvSpPr>
            <a:spLocks noChangeArrowheads="1"/>
          </p:cNvSpPr>
          <p:nvPr/>
        </p:nvSpPr>
        <p:spPr bwMode="auto">
          <a:xfrm>
            <a:off x="3683000" y="2909888"/>
            <a:ext cx="449421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latin typeface="Times New Roman" panose="02020603050405020304" pitchFamily="18" charset="0"/>
                <a:ea typeface="宋体" panose="02010600030101010101" pitchFamily="2" charset="-122"/>
              </a:rPr>
              <a:t>解：若</a:t>
            </a:r>
            <a:r>
              <a:rPr lang="en-US" altLang="zh-CN" sz="2500">
                <a:latin typeface="Times New Roman" panose="02020603050405020304" pitchFamily="18" charset="0"/>
                <a:ea typeface="宋体" panose="02010600030101010101" pitchFamily="2" charset="-122"/>
              </a:rPr>
              <a:t>t= 0</a:t>
            </a:r>
            <a:r>
              <a:rPr lang="zh-CN" altLang="en-US" sz="2500">
                <a:latin typeface="Times New Roman" panose="02020603050405020304" pitchFamily="18" charset="0"/>
                <a:ea typeface="宋体" panose="02010600030101010101" pitchFamily="2" charset="-122"/>
              </a:rPr>
              <a:t>时，</a:t>
            </a:r>
            <a:r>
              <a:rPr lang="en-US" altLang="zh-CN" sz="2500">
                <a:latin typeface="Times New Roman" panose="02020603050405020304" pitchFamily="18" charset="0"/>
                <a:ea typeface="宋体" panose="02010600030101010101" pitchFamily="2" charset="-122"/>
              </a:rPr>
              <a:t>r(0)=e(1)</a:t>
            </a:r>
          </a:p>
        </p:txBody>
      </p:sp>
      <p:sp>
        <p:nvSpPr>
          <p:cNvPr id="12" name="日期占位符 11"/>
          <p:cNvSpPr>
            <a:spLocks noGrp="1"/>
          </p:cNvSpPr>
          <p:nvPr>
            <p:ph type="dt" sz="quarter" idx="10"/>
          </p:nvPr>
        </p:nvSpPr>
        <p:spPr/>
        <p:txBody>
          <a:bodyPr/>
          <a:lstStyle/>
          <a:p>
            <a:pPr>
              <a:defRPr/>
            </a:pPr>
            <a:fld id="{C089FBDD-6A0D-4ED3-B60B-0A84BEB2C73E}" type="datetime3">
              <a:rPr lang="zh-CN" altLang="en-US"/>
              <a:t>2026年3月4日星期三</a:t>
            </a:fld>
            <a:endParaRPr lang="en-US" altLang="zh-CN" dirty="0"/>
          </a:p>
        </p:txBody>
      </p:sp>
      <mc:AlternateContent xmlns:mc="http://schemas.openxmlformats.org/markup-compatibility/2006" xmlns:a14="http://schemas.microsoft.com/office/drawing/2010/main">
        <mc:Choice Requires="a14">
          <p:sp>
            <p:nvSpPr>
              <p:cNvPr id="10" name="Object 2"/>
              <p:cNvSpPr txBox="1"/>
              <p:nvPr/>
            </p:nvSpPr>
            <p:spPr bwMode="auto">
              <a:xfrm>
                <a:off x="358489" y="2585243"/>
                <a:ext cx="2882977" cy="2200300"/>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Para>
                </a14:m>
                <a:endParaRPr lang="zh-CN" altLang="en-US" dirty="0"/>
              </a:p>
            </p:txBody>
          </p:sp>
        </mc:Choice>
        <mc:Fallback xmlns="">
          <p:sp>
            <p:nvSpPr>
              <p:cNvPr id="10" name="Object 2"/>
              <p:cNvSpPr txBox="1">
                <a:spLocks noRot="1" noChangeAspect="1" noMove="1" noResize="1" noEditPoints="1" noAdjustHandles="1" noChangeArrowheads="1" noChangeShapeType="1" noTextEdit="1"/>
              </p:cNvSpPr>
              <p:nvPr/>
            </p:nvSpPr>
            <p:spPr bwMode="auto">
              <a:xfrm>
                <a:off x="358489" y="2585243"/>
                <a:ext cx="2882977" cy="2200300"/>
              </a:xfrm>
              <a:prstGeom prst="rect">
                <a:avLst/>
              </a:prstGeom>
              <a:blipFill rotWithShape="1">
                <a:blip r:embed="rId4"/>
                <a:stretch>
                  <a:fillRect l="-12" t="-7" r="-866" b="-1146"/>
                </a:stretch>
              </a:blipFill>
              <a:ln>
                <a:noFill/>
              </a:ln>
              <a:effectLst>
                <a:outerShdw dist="35921" dir="2700000" algn="ctr" rotWithShape="0">
                  <a:srgbClr val="808080"/>
                </a:outerShdw>
              </a:effectLst>
            </p:spPr>
            <p:txBody>
              <a:bodyPr/>
              <a:lstStyle/>
              <a:p>
                <a:r>
                  <a:rPr lang="zh-CN" altLang="en-US">
                    <a:noFill/>
                  </a:rPr>
                  <a:t> </a:t>
                </a:r>
              </a:p>
            </p:txBody>
          </p:sp>
        </mc:Fallback>
      </mc:AlternateContent>
    </p:spTree>
    <p:custDataLst>
      <p:tags r:id="rId1"/>
    </p:custDataLst>
  </p:cSld>
  <p:clrMapOvr>
    <a:masterClrMapping/>
  </p:clrMapOvr>
  <p:transition spd="med" advTm="4680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74918"/>
                                        </p:tgtEl>
                                        <p:attrNameLst>
                                          <p:attrName>style.visibility</p:attrName>
                                        </p:attrNameLst>
                                      </p:cBhvr>
                                      <p:to>
                                        <p:strVal val="visible"/>
                                      </p:to>
                                    </p:set>
                                    <p:anim calcmode="lin" valueType="num">
                                      <p:cBhvr>
                                        <p:cTn id="7" dur="1000" fill="hold"/>
                                        <p:tgtEl>
                                          <p:spTgt spid="1574918"/>
                                        </p:tgtEl>
                                        <p:attrNameLst>
                                          <p:attrName>ppt_w</p:attrName>
                                        </p:attrNameLst>
                                      </p:cBhvr>
                                      <p:tavLst>
                                        <p:tav tm="0">
                                          <p:val>
                                            <p:strVal val="#ppt_w*0.70"/>
                                          </p:val>
                                        </p:tav>
                                        <p:tav tm="100000">
                                          <p:val>
                                            <p:strVal val="#ppt_w"/>
                                          </p:val>
                                        </p:tav>
                                      </p:tavLst>
                                    </p:anim>
                                    <p:anim calcmode="lin" valueType="num">
                                      <p:cBhvr>
                                        <p:cTn id="8" dur="1000" fill="hold"/>
                                        <p:tgtEl>
                                          <p:spTgt spid="1574918"/>
                                        </p:tgtEl>
                                        <p:attrNameLst>
                                          <p:attrName>ppt_h</p:attrName>
                                        </p:attrNameLst>
                                      </p:cBhvr>
                                      <p:tavLst>
                                        <p:tav tm="0">
                                          <p:val>
                                            <p:strVal val="#ppt_h"/>
                                          </p:val>
                                        </p:tav>
                                        <p:tav tm="100000">
                                          <p:val>
                                            <p:strVal val="#ppt_h"/>
                                          </p:val>
                                        </p:tav>
                                      </p:tavLst>
                                    </p:anim>
                                    <p:animEffect transition="in" filter="fade">
                                      <p:cBhvr>
                                        <p:cTn id="9" dur="1000"/>
                                        <p:tgtEl>
                                          <p:spTgt spid="1574918"/>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74926"/>
                                        </p:tgtEl>
                                        <p:attrNameLst>
                                          <p:attrName>style.visibility</p:attrName>
                                        </p:attrNameLst>
                                      </p:cBhvr>
                                      <p:to>
                                        <p:strVal val="visible"/>
                                      </p:to>
                                    </p:set>
                                    <p:anim calcmode="lin" valueType="num">
                                      <p:cBhvr>
                                        <p:cTn id="14" dur="1000" fill="hold"/>
                                        <p:tgtEl>
                                          <p:spTgt spid="1574926"/>
                                        </p:tgtEl>
                                        <p:attrNameLst>
                                          <p:attrName>ppt_w</p:attrName>
                                        </p:attrNameLst>
                                      </p:cBhvr>
                                      <p:tavLst>
                                        <p:tav tm="0">
                                          <p:val>
                                            <p:strVal val="#ppt_w*0.70"/>
                                          </p:val>
                                        </p:tav>
                                        <p:tav tm="100000">
                                          <p:val>
                                            <p:strVal val="#ppt_w"/>
                                          </p:val>
                                        </p:tav>
                                      </p:tavLst>
                                    </p:anim>
                                    <p:anim calcmode="lin" valueType="num">
                                      <p:cBhvr>
                                        <p:cTn id="15" dur="1000" fill="hold"/>
                                        <p:tgtEl>
                                          <p:spTgt spid="1574926"/>
                                        </p:tgtEl>
                                        <p:attrNameLst>
                                          <p:attrName>ppt_h</p:attrName>
                                        </p:attrNameLst>
                                      </p:cBhvr>
                                      <p:tavLst>
                                        <p:tav tm="0">
                                          <p:val>
                                            <p:strVal val="#ppt_h"/>
                                          </p:val>
                                        </p:tav>
                                        <p:tav tm="100000">
                                          <p:val>
                                            <p:strVal val="#ppt_h"/>
                                          </p:val>
                                        </p:tav>
                                      </p:tavLst>
                                    </p:anim>
                                    <p:animEffect transition="in" filter="fade">
                                      <p:cBhvr>
                                        <p:cTn id="16" dur="1000"/>
                                        <p:tgtEl>
                                          <p:spTgt spid="157492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574922"/>
                                        </p:tgtEl>
                                        <p:attrNameLst>
                                          <p:attrName>style.visibility</p:attrName>
                                        </p:attrNameLst>
                                      </p:cBhvr>
                                      <p:to>
                                        <p:strVal val="visible"/>
                                      </p:to>
                                    </p:set>
                                    <p:anim calcmode="lin" valueType="num">
                                      <p:cBhvr>
                                        <p:cTn id="21" dur="1000" fill="hold"/>
                                        <p:tgtEl>
                                          <p:spTgt spid="1574922"/>
                                        </p:tgtEl>
                                        <p:attrNameLst>
                                          <p:attrName>ppt_w</p:attrName>
                                        </p:attrNameLst>
                                      </p:cBhvr>
                                      <p:tavLst>
                                        <p:tav tm="0">
                                          <p:val>
                                            <p:strVal val="#ppt_w*0.70"/>
                                          </p:val>
                                        </p:tav>
                                        <p:tav tm="100000">
                                          <p:val>
                                            <p:strVal val="#ppt_w"/>
                                          </p:val>
                                        </p:tav>
                                      </p:tavLst>
                                    </p:anim>
                                    <p:anim calcmode="lin" valueType="num">
                                      <p:cBhvr>
                                        <p:cTn id="22" dur="1000" fill="hold"/>
                                        <p:tgtEl>
                                          <p:spTgt spid="1574922"/>
                                        </p:tgtEl>
                                        <p:attrNameLst>
                                          <p:attrName>ppt_h</p:attrName>
                                        </p:attrNameLst>
                                      </p:cBhvr>
                                      <p:tavLst>
                                        <p:tav tm="0">
                                          <p:val>
                                            <p:strVal val="#ppt_h"/>
                                          </p:val>
                                        </p:tav>
                                        <p:tav tm="100000">
                                          <p:val>
                                            <p:strVal val="#ppt_h"/>
                                          </p:val>
                                        </p:tav>
                                      </p:tavLst>
                                    </p:anim>
                                    <p:animEffect transition="in" filter="fade">
                                      <p:cBhvr>
                                        <p:cTn id="23" dur="1000"/>
                                        <p:tgtEl>
                                          <p:spTgt spid="1574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4918" grpId="0"/>
      <p:bldP spid="1574922" grpId="0"/>
      <p:bldP spid="157492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4225925" y="800100"/>
            <a:ext cx="2825750" cy="538163"/>
          </a:xfrm>
        </p:spPr>
        <p:txBody>
          <a:bodyPr/>
          <a:lstStyle/>
          <a:p>
            <a:r>
              <a:rPr lang="zh-CN" altLang="en-US" sz="2000" b="1">
                <a:solidFill>
                  <a:srgbClr val="0000FF"/>
                </a:solidFill>
                <a:ea typeface="黑体" panose="02010609060101010101" pitchFamily="49" charset="-122"/>
              </a:rPr>
              <a:t>因果系统和非因果系统</a:t>
            </a:r>
          </a:p>
        </p:txBody>
      </p:sp>
      <p:sp>
        <p:nvSpPr>
          <p:cNvPr id="157700" name="Rectangle 5"/>
          <p:cNvSpPr>
            <a:spLocks noChangeArrowheads="1"/>
          </p:cNvSpPr>
          <p:nvPr/>
        </p:nvSpPr>
        <p:spPr bwMode="auto">
          <a:xfrm>
            <a:off x="177800" y="577850"/>
            <a:ext cx="30114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§1.4	</a:t>
            </a:r>
            <a:r>
              <a:rPr lang="zh-CN" altLang="en-US" sz="2500">
                <a:solidFill>
                  <a:srgbClr val="FF0000"/>
                </a:solidFill>
              </a:rPr>
              <a:t>系统的概念</a:t>
            </a:r>
            <a:endParaRPr lang="zh-CN" altLang="en-US" sz="2000">
              <a:solidFill>
                <a:srgbClr val="FF0000"/>
              </a:solidFill>
            </a:endParaRPr>
          </a:p>
        </p:txBody>
      </p:sp>
      <p:sp>
        <p:nvSpPr>
          <p:cNvPr id="1575942" name="Rectangle 6"/>
          <p:cNvSpPr>
            <a:spLocks noChangeArrowheads="1"/>
          </p:cNvSpPr>
          <p:nvPr/>
        </p:nvSpPr>
        <p:spPr bwMode="auto">
          <a:xfrm>
            <a:off x="227013" y="1250950"/>
            <a:ext cx="3800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例：判断下列系统是否为因果系统</a:t>
            </a:r>
          </a:p>
        </p:txBody>
      </p:sp>
      <p:sp>
        <p:nvSpPr>
          <p:cNvPr id="1575944" name="Rectangle 8"/>
          <p:cNvSpPr>
            <a:spLocks noChangeArrowheads="1"/>
          </p:cNvSpPr>
          <p:nvPr/>
        </p:nvSpPr>
        <p:spPr bwMode="auto">
          <a:xfrm>
            <a:off x="3584575" y="2859088"/>
            <a:ext cx="488791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200">
                <a:latin typeface="Times New Roman" panose="02020603050405020304" pitchFamily="18" charset="0"/>
                <a:ea typeface="宋体" panose="02010600030101010101" pitchFamily="2" charset="-122"/>
              </a:rPr>
              <a:t>解：由上式可知，</a:t>
            </a:r>
            <a:r>
              <a:rPr lang="en-US" altLang="zh-CN" sz="2200">
                <a:latin typeface="Times New Roman" panose="02020603050405020304" pitchFamily="18" charset="0"/>
                <a:ea typeface="宋体" panose="02010600030101010101" pitchFamily="2" charset="-122"/>
              </a:rPr>
              <a:t>r(t)</a:t>
            </a:r>
            <a:r>
              <a:rPr lang="zh-CN" altLang="en-US" sz="2200">
                <a:latin typeface="Times New Roman" panose="02020603050405020304" pitchFamily="18" charset="0"/>
                <a:ea typeface="宋体" panose="02010600030101010101" pitchFamily="2" charset="-122"/>
              </a:rPr>
              <a:t>与未来的输入</a:t>
            </a:r>
            <a:r>
              <a:rPr lang="en-US" altLang="zh-CN" sz="2200">
                <a:latin typeface="Times New Roman" panose="02020603050405020304" pitchFamily="18" charset="0"/>
                <a:ea typeface="宋体" panose="02010600030101010101" pitchFamily="2" charset="-122"/>
              </a:rPr>
              <a:t>e(5t)</a:t>
            </a:r>
            <a:r>
              <a:rPr lang="zh-CN" altLang="en-US" sz="2200">
                <a:latin typeface="Times New Roman" panose="02020603050405020304" pitchFamily="18" charset="0"/>
                <a:ea typeface="宋体" panose="02010600030101010101" pitchFamily="2" charset="-122"/>
              </a:rPr>
              <a:t>有关。</a:t>
            </a:r>
          </a:p>
        </p:txBody>
      </p:sp>
      <p:sp>
        <p:nvSpPr>
          <p:cNvPr id="1575946" name="Rectangle 10"/>
          <p:cNvSpPr>
            <a:spLocks noChangeArrowheads="1"/>
          </p:cNvSpPr>
          <p:nvPr/>
        </p:nvSpPr>
        <p:spPr bwMode="auto">
          <a:xfrm>
            <a:off x="4324350" y="4673600"/>
            <a:ext cx="39020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None/>
            </a:pPr>
            <a:r>
              <a:rPr lang="zh-CN" altLang="en-US" sz="2500">
                <a:solidFill>
                  <a:srgbClr val="FF0000"/>
                </a:solidFill>
                <a:latin typeface="Times New Roman" panose="02020603050405020304" pitchFamily="18" charset="0"/>
              </a:rPr>
              <a:t>所以，该系统是非因果的</a:t>
            </a:r>
          </a:p>
        </p:txBody>
      </p:sp>
      <mc:AlternateContent xmlns:mc="http://schemas.openxmlformats.org/markup-compatibility/2006" xmlns:a14="http://schemas.microsoft.com/office/drawing/2010/main">
        <mc:Choice Requires="a14">
          <p:sp>
            <p:nvSpPr>
              <p:cNvPr id="1575947" name="Object 2"/>
              <p:cNvSpPr txBox="1"/>
              <p:nvPr/>
            </p:nvSpPr>
            <p:spPr bwMode="auto">
              <a:xfrm>
                <a:off x="3957638" y="1665288"/>
                <a:ext cx="3848100" cy="728662"/>
              </a:xfrm>
              <a:prstGeom prst="rect">
                <a:avLst/>
              </a:prstGeom>
              <a:solidFill>
                <a:srgbClr val="CADAC2"/>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Para>
                </a14:m>
                <a:endParaRPr lang="zh-CN" altLang="en-US"/>
              </a:p>
            </p:txBody>
          </p:sp>
        </mc:Choice>
        <mc:Fallback xmlns="">
          <p:sp>
            <p:nvSpPr>
              <p:cNvPr id="1575947" name="Object 2"/>
              <p:cNvSpPr txBox="1">
                <a:spLocks noRot="1" noChangeAspect="1" noMove="1" noResize="1" noEditPoints="1" noAdjustHandles="1" noChangeArrowheads="1" noChangeShapeType="1" noTextEdit="1"/>
              </p:cNvSpPr>
              <p:nvPr/>
            </p:nvSpPr>
            <p:spPr bwMode="auto">
              <a:xfrm>
                <a:off x="3957638" y="1665288"/>
                <a:ext cx="3848100" cy="728662"/>
              </a:xfrm>
              <a:prstGeom prst="rect">
                <a:avLst/>
              </a:prstGeom>
              <a:blipFill rotWithShape="1">
                <a:blip r:embed="rId3"/>
                <a:stretch>
                  <a:fillRect l="-8" t="-1525" r="-652" b="-3399"/>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2" name="日期占位符 11"/>
          <p:cNvSpPr>
            <a:spLocks noGrp="1"/>
          </p:cNvSpPr>
          <p:nvPr>
            <p:ph type="dt" sz="quarter" idx="10"/>
          </p:nvPr>
        </p:nvSpPr>
        <p:spPr/>
        <p:txBody>
          <a:bodyPr/>
          <a:lstStyle/>
          <a:p>
            <a:pPr>
              <a:defRPr/>
            </a:pPr>
            <a:fld id="{0F893194-BE5D-4D56-9A7C-8F265FE25EE1}" type="datetime3">
              <a:rPr lang="zh-CN" altLang="en-US"/>
              <a:t>2026年3月4日星期三</a:t>
            </a:fld>
            <a:endParaRPr lang="en-US" altLang="zh-CN" dirty="0"/>
          </a:p>
        </p:txBody>
      </p:sp>
      <mc:AlternateContent xmlns:mc="http://schemas.openxmlformats.org/markup-compatibility/2006" xmlns:a14="http://schemas.microsoft.com/office/drawing/2010/main">
        <mc:Choice Requires="a14">
          <p:sp>
            <p:nvSpPr>
              <p:cNvPr id="10" name="Object 2"/>
              <p:cNvSpPr txBox="1"/>
              <p:nvPr/>
            </p:nvSpPr>
            <p:spPr bwMode="auto">
              <a:xfrm>
                <a:off x="358489" y="2585243"/>
                <a:ext cx="2882977" cy="2181225"/>
              </a:xfrm>
              <a:prstGeom prst="rect">
                <a:avLst/>
              </a:prstGeom>
              <a:solidFill>
                <a:srgbClr val="E6D7B6"/>
              </a:solidFill>
              <a:ln>
                <a:noFill/>
              </a:ln>
              <a:effectLst>
                <a:outerShdw dist="35921" dir="2700000" algn="ctr" rotWithShape="0">
                  <a:srgbClr val="808080"/>
                </a:outerShdw>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Para>
                </a14:m>
                <a:endParaRPr lang="zh-CN" altLang="en-US" dirty="0"/>
              </a:p>
            </p:txBody>
          </p:sp>
        </mc:Choice>
        <mc:Fallback xmlns="">
          <p:sp>
            <p:nvSpPr>
              <p:cNvPr id="10" name="Object 2"/>
              <p:cNvSpPr txBox="1">
                <a:spLocks noRot="1" noChangeAspect="1" noMove="1" noResize="1" noEditPoints="1" noAdjustHandles="1" noChangeArrowheads="1" noChangeShapeType="1" noTextEdit="1"/>
              </p:cNvSpPr>
              <p:nvPr/>
            </p:nvSpPr>
            <p:spPr bwMode="auto">
              <a:xfrm>
                <a:off x="358489" y="2585243"/>
                <a:ext cx="2882977" cy="2181225"/>
              </a:xfrm>
              <a:prstGeom prst="rect">
                <a:avLst/>
              </a:prstGeom>
              <a:blipFill rotWithShape="1">
                <a:blip r:embed="rId4"/>
                <a:stretch>
                  <a:fillRect l="-12" t="-7" r="-866" b="-1157"/>
                </a:stretch>
              </a:blipFill>
              <a:ln>
                <a:noFill/>
              </a:ln>
              <a:effectLst>
                <a:outerShdw dist="35921" dir="2700000" algn="ctr" rotWithShape="0">
                  <a:srgbClr val="808080"/>
                </a:outerShdw>
              </a:effectLst>
            </p:spPr>
            <p:txBody>
              <a:bodyPr/>
              <a:lstStyle/>
              <a:p>
                <a:r>
                  <a:rPr lang="zh-CN" altLang="en-US">
                    <a:noFill/>
                  </a:rPr>
                  <a:t> </a:t>
                </a:r>
              </a:p>
            </p:txBody>
          </p:sp>
        </mc:Fallback>
      </mc:AlternateContent>
    </p:spTree>
    <p:custDataLst>
      <p:tags r:id="rId1"/>
    </p:custDataLst>
  </p:cSld>
  <p:clrMapOvr>
    <a:masterClrMapping/>
  </p:clrMapOvr>
  <p:transition spd="med" advTm="339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75942"/>
                                        </p:tgtEl>
                                        <p:attrNameLst>
                                          <p:attrName>style.visibility</p:attrName>
                                        </p:attrNameLst>
                                      </p:cBhvr>
                                      <p:to>
                                        <p:strVal val="visible"/>
                                      </p:to>
                                    </p:set>
                                    <p:anim calcmode="lin" valueType="num">
                                      <p:cBhvr>
                                        <p:cTn id="7" dur="1000" fill="hold"/>
                                        <p:tgtEl>
                                          <p:spTgt spid="1575942"/>
                                        </p:tgtEl>
                                        <p:attrNameLst>
                                          <p:attrName>ppt_w</p:attrName>
                                        </p:attrNameLst>
                                      </p:cBhvr>
                                      <p:tavLst>
                                        <p:tav tm="0">
                                          <p:val>
                                            <p:strVal val="#ppt_w*0.70"/>
                                          </p:val>
                                        </p:tav>
                                        <p:tav tm="100000">
                                          <p:val>
                                            <p:strVal val="#ppt_w"/>
                                          </p:val>
                                        </p:tav>
                                      </p:tavLst>
                                    </p:anim>
                                    <p:anim calcmode="lin" valueType="num">
                                      <p:cBhvr>
                                        <p:cTn id="8" dur="1000" fill="hold"/>
                                        <p:tgtEl>
                                          <p:spTgt spid="1575942"/>
                                        </p:tgtEl>
                                        <p:attrNameLst>
                                          <p:attrName>ppt_h</p:attrName>
                                        </p:attrNameLst>
                                      </p:cBhvr>
                                      <p:tavLst>
                                        <p:tav tm="0">
                                          <p:val>
                                            <p:strVal val="#ppt_h"/>
                                          </p:val>
                                        </p:tav>
                                        <p:tav tm="100000">
                                          <p:val>
                                            <p:strVal val="#ppt_h"/>
                                          </p:val>
                                        </p:tav>
                                      </p:tavLst>
                                    </p:anim>
                                    <p:animEffect transition="in" filter="fade">
                                      <p:cBhvr>
                                        <p:cTn id="9" dur="1000"/>
                                        <p:tgtEl>
                                          <p:spTgt spid="157594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75944"/>
                                        </p:tgtEl>
                                        <p:attrNameLst>
                                          <p:attrName>style.visibility</p:attrName>
                                        </p:attrNameLst>
                                      </p:cBhvr>
                                      <p:to>
                                        <p:strVal val="visible"/>
                                      </p:to>
                                    </p:set>
                                    <p:anim calcmode="lin" valueType="num">
                                      <p:cBhvr>
                                        <p:cTn id="14" dur="1000" fill="hold"/>
                                        <p:tgtEl>
                                          <p:spTgt spid="1575944"/>
                                        </p:tgtEl>
                                        <p:attrNameLst>
                                          <p:attrName>ppt_w</p:attrName>
                                        </p:attrNameLst>
                                      </p:cBhvr>
                                      <p:tavLst>
                                        <p:tav tm="0">
                                          <p:val>
                                            <p:strVal val="#ppt_w*0.70"/>
                                          </p:val>
                                        </p:tav>
                                        <p:tav tm="100000">
                                          <p:val>
                                            <p:strVal val="#ppt_w"/>
                                          </p:val>
                                        </p:tav>
                                      </p:tavLst>
                                    </p:anim>
                                    <p:anim calcmode="lin" valueType="num">
                                      <p:cBhvr>
                                        <p:cTn id="15" dur="1000" fill="hold"/>
                                        <p:tgtEl>
                                          <p:spTgt spid="1575944"/>
                                        </p:tgtEl>
                                        <p:attrNameLst>
                                          <p:attrName>ppt_h</p:attrName>
                                        </p:attrNameLst>
                                      </p:cBhvr>
                                      <p:tavLst>
                                        <p:tav tm="0">
                                          <p:val>
                                            <p:strVal val="#ppt_h"/>
                                          </p:val>
                                        </p:tav>
                                        <p:tav tm="100000">
                                          <p:val>
                                            <p:strVal val="#ppt_h"/>
                                          </p:val>
                                        </p:tav>
                                      </p:tavLst>
                                    </p:anim>
                                    <p:animEffect transition="in" filter="fade">
                                      <p:cBhvr>
                                        <p:cTn id="16" dur="1000"/>
                                        <p:tgtEl>
                                          <p:spTgt spid="1575944"/>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575946"/>
                                        </p:tgtEl>
                                        <p:attrNameLst>
                                          <p:attrName>style.visibility</p:attrName>
                                        </p:attrNameLst>
                                      </p:cBhvr>
                                      <p:to>
                                        <p:strVal val="visible"/>
                                      </p:to>
                                    </p:set>
                                    <p:anim calcmode="lin" valueType="num">
                                      <p:cBhvr>
                                        <p:cTn id="21" dur="1000" fill="hold"/>
                                        <p:tgtEl>
                                          <p:spTgt spid="1575946"/>
                                        </p:tgtEl>
                                        <p:attrNameLst>
                                          <p:attrName>ppt_w</p:attrName>
                                        </p:attrNameLst>
                                      </p:cBhvr>
                                      <p:tavLst>
                                        <p:tav tm="0">
                                          <p:val>
                                            <p:strVal val="#ppt_w*0.70"/>
                                          </p:val>
                                        </p:tav>
                                        <p:tav tm="100000">
                                          <p:val>
                                            <p:strVal val="#ppt_w"/>
                                          </p:val>
                                        </p:tav>
                                      </p:tavLst>
                                    </p:anim>
                                    <p:anim calcmode="lin" valueType="num">
                                      <p:cBhvr>
                                        <p:cTn id="22" dur="1000" fill="hold"/>
                                        <p:tgtEl>
                                          <p:spTgt spid="1575946"/>
                                        </p:tgtEl>
                                        <p:attrNameLst>
                                          <p:attrName>ppt_h</p:attrName>
                                        </p:attrNameLst>
                                      </p:cBhvr>
                                      <p:tavLst>
                                        <p:tav tm="0">
                                          <p:val>
                                            <p:strVal val="#ppt_h"/>
                                          </p:val>
                                        </p:tav>
                                        <p:tav tm="100000">
                                          <p:val>
                                            <p:strVal val="#ppt_h"/>
                                          </p:val>
                                        </p:tav>
                                      </p:tavLst>
                                    </p:anim>
                                    <p:animEffect transition="in" filter="fade">
                                      <p:cBhvr>
                                        <p:cTn id="23" dur="1000"/>
                                        <p:tgtEl>
                                          <p:spTgt spid="1575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5942" grpId="0"/>
      <p:bldP spid="1575944" grpId="0"/>
      <p:bldP spid="157594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0339" name="Rectangle 3"/>
          <p:cNvSpPr>
            <a:spLocks noGrp="1" noChangeArrowheads="1"/>
          </p:cNvSpPr>
          <p:nvPr>
            <p:ph type="body" sz="half" idx="1"/>
          </p:nvPr>
        </p:nvSpPr>
        <p:spPr>
          <a:xfrm>
            <a:off x="622300" y="1200150"/>
            <a:ext cx="985838" cy="622300"/>
          </a:xfrm>
        </p:spPr>
        <p:txBody>
          <a:bodyPr/>
          <a:lstStyle/>
          <a:p>
            <a:pPr marL="758825" indent="-758825">
              <a:lnSpc>
                <a:spcPct val="145000"/>
              </a:lnSpc>
              <a:buFont typeface="Wingdings" panose="05000000000000000000" pitchFamily="2" charset="2"/>
              <a:buNone/>
            </a:pPr>
            <a:r>
              <a:rPr lang="zh-CN" altLang="en-US" sz="2000" b="1">
                <a:solidFill>
                  <a:srgbClr val="FF0000"/>
                </a:solidFill>
              </a:rPr>
              <a:t>定义：</a:t>
            </a:r>
            <a:endParaRPr lang="zh-CN" altLang="en-US" sz="2000" b="1"/>
          </a:p>
        </p:txBody>
      </p:sp>
      <p:grpSp>
        <p:nvGrpSpPr>
          <p:cNvPr id="2" name="Group 4"/>
          <p:cNvGrpSpPr/>
          <p:nvPr/>
        </p:nvGrpSpPr>
        <p:grpSpPr bwMode="auto">
          <a:xfrm>
            <a:off x="2201863" y="2838450"/>
            <a:ext cx="4878387" cy="1914525"/>
            <a:chOff x="1156" y="2296"/>
            <a:chExt cx="2890" cy="1548"/>
          </a:xfrm>
        </p:grpSpPr>
        <p:pic>
          <p:nvPicPr>
            <p:cNvPr id="120842" name="Picture 5" descr="7"/>
            <p:cNvPicPr>
              <a:picLocks noChangeAspect="1" noChangeArrowheads="1"/>
            </p:cNvPicPr>
            <p:nvPr/>
          </p:nvPicPr>
          <p:blipFill>
            <a:blip r:embed="rId4">
              <a:biLevel thresh="50000"/>
              <a:grayscl/>
              <a:lum bright="-6000" contrast="12000"/>
              <a:extLst>
                <a:ext uri="{28A0092B-C50C-407E-A947-70E740481C1C}">
                  <a14:useLocalDpi xmlns:a14="http://schemas.microsoft.com/office/drawing/2010/main" val="0"/>
                </a:ext>
              </a:extLst>
            </a:blip>
            <a:srcRect/>
            <a:stretch>
              <a:fillRect/>
            </a:stretch>
          </p:blipFill>
          <p:spPr bwMode="auto">
            <a:xfrm>
              <a:off x="1431" y="3116"/>
              <a:ext cx="2494"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43" name="Text Box 6"/>
            <p:cNvSpPr txBox="1">
              <a:spLocks noChangeArrowheads="1"/>
            </p:cNvSpPr>
            <p:nvPr/>
          </p:nvSpPr>
          <p:spPr bwMode="auto">
            <a:xfrm>
              <a:off x="2018" y="3566"/>
              <a:ext cx="1860"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系统的方框图</a:t>
              </a:r>
            </a:p>
          </p:txBody>
        </p:sp>
        <p:sp>
          <p:nvSpPr>
            <p:cNvPr id="120844" name="AutoShape 7"/>
            <p:cNvSpPr/>
            <p:nvPr/>
          </p:nvSpPr>
          <p:spPr bwMode="auto">
            <a:xfrm>
              <a:off x="1156" y="2341"/>
              <a:ext cx="681" cy="545"/>
            </a:xfrm>
            <a:prstGeom prst="borderCallout3">
              <a:avLst>
                <a:gd name="adj1" fmla="val 13213"/>
                <a:gd name="adj2" fmla="val -7046"/>
                <a:gd name="adj3" fmla="val 13213"/>
                <a:gd name="adj4" fmla="val -100292"/>
                <a:gd name="adj5" fmla="val 85870"/>
                <a:gd name="adj6" fmla="val -100292"/>
                <a:gd name="adj7" fmla="val 135963"/>
                <a:gd name="adj8" fmla="val 2041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130622" tIns="65311" rIns="130622" bIns="65311"/>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400">
                  <a:solidFill>
                    <a:srgbClr val="0000FF"/>
                  </a:solidFill>
                  <a:latin typeface="Times New Roman" panose="02020603050405020304" pitchFamily="18" charset="0"/>
                  <a:ea typeface="宋体" panose="02010600030101010101" pitchFamily="2" charset="-122"/>
                </a:rPr>
                <a:t>(</a:t>
              </a:r>
              <a:r>
                <a:rPr lang="zh-CN" altLang="en-US" sz="2400">
                  <a:solidFill>
                    <a:srgbClr val="0000FF"/>
                  </a:solidFill>
                  <a:latin typeface="Times New Roman" panose="02020603050405020304" pitchFamily="18" charset="0"/>
                  <a:ea typeface="宋体" panose="02010600030101010101" pitchFamily="2" charset="-122"/>
                </a:rPr>
                <a:t>输入</a:t>
              </a:r>
              <a:r>
                <a:rPr lang="en-US" altLang="zh-CN" sz="2400">
                  <a:solidFill>
                    <a:srgbClr val="0000FF"/>
                  </a:solidFill>
                  <a:latin typeface="Times New Roman" panose="02020603050405020304" pitchFamily="18" charset="0"/>
                  <a:ea typeface="宋体" panose="02010600030101010101" pitchFamily="2" charset="-122"/>
                </a:rPr>
                <a:t>)</a:t>
              </a:r>
              <a:r>
                <a:rPr lang="zh-CN" altLang="en-US" sz="2400">
                  <a:solidFill>
                    <a:srgbClr val="0000FF"/>
                  </a:solidFill>
                  <a:latin typeface="Times New Roman" panose="02020603050405020304" pitchFamily="18" charset="0"/>
                  <a:ea typeface="宋体" panose="02010600030101010101" pitchFamily="2" charset="-122"/>
                </a:rPr>
                <a:t>激励</a:t>
              </a:r>
            </a:p>
          </p:txBody>
        </p:sp>
        <p:sp>
          <p:nvSpPr>
            <p:cNvPr id="120845" name="AutoShape 8"/>
            <p:cNvSpPr/>
            <p:nvPr/>
          </p:nvSpPr>
          <p:spPr bwMode="auto">
            <a:xfrm>
              <a:off x="3243" y="2296"/>
              <a:ext cx="803" cy="499"/>
            </a:xfrm>
            <a:prstGeom prst="borderCallout3">
              <a:avLst>
                <a:gd name="adj1" fmla="val 14431"/>
                <a:gd name="adj2" fmla="val 105977"/>
                <a:gd name="adj3" fmla="val 14431"/>
                <a:gd name="adj4" fmla="val 173102"/>
                <a:gd name="adj5" fmla="val 108014"/>
                <a:gd name="adj6" fmla="val 173102"/>
                <a:gd name="adj7" fmla="val 156111"/>
                <a:gd name="adj8" fmla="val 98505"/>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130622" tIns="65311" rIns="130622" bIns="65311"/>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400">
                  <a:solidFill>
                    <a:srgbClr val="33CC33"/>
                  </a:solidFill>
                  <a:latin typeface="Times New Roman" panose="02020603050405020304" pitchFamily="18" charset="0"/>
                  <a:ea typeface="宋体" panose="02010600030101010101" pitchFamily="2" charset="-122"/>
                </a:rPr>
                <a:t>(</a:t>
              </a:r>
              <a:r>
                <a:rPr lang="zh-CN" altLang="en-US" sz="2400">
                  <a:solidFill>
                    <a:srgbClr val="33CC33"/>
                  </a:solidFill>
                  <a:latin typeface="Times New Roman" panose="02020603050405020304" pitchFamily="18" charset="0"/>
                  <a:ea typeface="宋体" panose="02010600030101010101" pitchFamily="2" charset="-122"/>
                </a:rPr>
                <a:t>输出</a:t>
              </a:r>
              <a:r>
                <a:rPr lang="en-US" altLang="zh-CN" sz="2400">
                  <a:solidFill>
                    <a:srgbClr val="33CC33"/>
                  </a:solidFill>
                  <a:latin typeface="Times New Roman" panose="02020603050405020304" pitchFamily="18" charset="0"/>
                  <a:ea typeface="宋体" panose="02010600030101010101" pitchFamily="2" charset="-122"/>
                </a:rPr>
                <a:t>)</a:t>
              </a:r>
              <a:r>
                <a:rPr lang="zh-CN" altLang="en-US" sz="2400">
                  <a:solidFill>
                    <a:srgbClr val="33CC33"/>
                  </a:solidFill>
                  <a:latin typeface="Times New Roman" panose="02020603050405020304" pitchFamily="18" charset="0"/>
                  <a:ea typeface="宋体" panose="02010600030101010101" pitchFamily="2" charset="-122"/>
                </a:rPr>
                <a:t>响应</a:t>
              </a:r>
            </a:p>
            <a:p>
              <a:pPr algn="ctr" eaLnBrk="1" hangingPunct="1">
                <a:lnSpc>
                  <a:spcPct val="85000"/>
                </a:lnSpc>
                <a:spcBef>
                  <a:spcPct val="20000"/>
                </a:spcBef>
                <a:buClr>
                  <a:schemeClr val="accent2"/>
                </a:buClr>
                <a:buFont typeface="Wingdings" panose="05000000000000000000" pitchFamily="2" charset="2"/>
                <a:buNone/>
              </a:pPr>
              <a:endParaRPr lang="en-US" altLang="zh-CN" sz="2400">
                <a:solidFill>
                  <a:srgbClr val="33CC33"/>
                </a:solidFill>
                <a:latin typeface="Times New Roman" panose="02020603050405020304" pitchFamily="18" charset="0"/>
                <a:ea typeface="宋体" panose="02010600030101010101" pitchFamily="2" charset="-122"/>
              </a:endParaRPr>
            </a:p>
          </p:txBody>
        </p:sp>
      </p:grpSp>
      <p:sp>
        <p:nvSpPr>
          <p:cNvPr id="1550345" name="Text Box 9"/>
          <p:cNvSpPr txBox="1">
            <a:spLocks noChangeArrowheads="1"/>
          </p:cNvSpPr>
          <p:nvPr/>
        </p:nvSpPr>
        <p:spPr bwMode="auto">
          <a:xfrm>
            <a:off x="476250" y="4856163"/>
            <a:ext cx="7904163"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en-US" altLang="zh-CN" sz="2000">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系统的功能和特性就是通过由怎样的</a:t>
            </a:r>
            <a:r>
              <a:rPr lang="zh-CN" altLang="en-US" sz="2000">
                <a:solidFill>
                  <a:srgbClr val="FF0000"/>
                </a:solidFill>
                <a:latin typeface="Times New Roman" panose="02020603050405020304" pitchFamily="18" charset="0"/>
                <a:ea typeface="宋体" panose="02010600030101010101" pitchFamily="2" charset="-122"/>
              </a:rPr>
              <a:t>激励</a:t>
            </a:r>
            <a:r>
              <a:rPr lang="zh-CN" altLang="en-US" sz="2000">
                <a:latin typeface="Times New Roman" panose="02020603050405020304" pitchFamily="18" charset="0"/>
                <a:ea typeface="宋体" panose="02010600030101010101" pitchFamily="2" charset="-122"/>
              </a:rPr>
              <a:t>产生怎样的</a:t>
            </a:r>
            <a:r>
              <a:rPr lang="zh-CN" altLang="en-US" sz="2000">
                <a:solidFill>
                  <a:srgbClr val="FF0000"/>
                </a:solidFill>
                <a:latin typeface="Times New Roman" panose="02020603050405020304" pitchFamily="18" charset="0"/>
                <a:ea typeface="宋体" panose="02010600030101010101" pitchFamily="2" charset="-122"/>
              </a:rPr>
              <a:t>响应</a:t>
            </a:r>
            <a:r>
              <a:rPr lang="zh-CN" altLang="en-US" sz="2000">
                <a:latin typeface="Times New Roman" panose="02020603050405020304" pitchFamily="18" charset="0"/>
                <a:ea typeface="宋体" panose="02010600030101010101" pitchFamily="2" charset="-122"/>
              </a:rPr>
              <a:t>来体现的。</a:t>
            </a:r>
          </a:p>
        </p:txBody>
      </p:sp>
      <p:sp>
        <p:nvSpPr>
          <p:cNvPr id="120837" name="Rectangle 11"/>
          <p:cNvSpPr>
            <a:spLocks noChangeArrowheads="1"/>
          </p:cNvSpPr>
          <p:nvPr/>
        </p:nvSpPr>
        <p:spPr bwMode="auto">
          <a:xfrm>
            <a:off x="177800" y="630238"/>
            <a:ext cx="35544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500" dirty="0">
                <a:solidFill>
                  <a:srgbClr val="FF0000"/>
                </a:solidFill>
                <a:latin typeface="Times New Roman" panose="02020603050405020304" pitchFamily="18" charset="0"/>
              </a:rPr>
              <a:t>回顾</a:t>
            </a:r>
            <a:r>
              <a:rPr lang="en-US" altLang="zh-CN" sz="2500" dirty="0">
                <a:solidFill>
                  <a:srgbClr val="FF0000"/>
                </a:solidFill>
                <a:latin typeface="Times New Roman" panose="02020603050405020304" pitchFamily="18" charset="0"/>
              </a:rPr>
              <a:t>	</a:t>
            </a:r>
            <a:r>
              <a:rPr lang="zh-CN" altLang="en-US" sz="2500" dirty="0">
                <a:solidFill>
                  <a:srgbClr val="FF0000"/>
                </a:solidFill>
                <a:latin typeface="Times New Roman" panose="02020603050405020304" pitchFamily="18" charset="0"/>
              </a:rPr>
              <a:t>系统的概念</a:t>
            </a:r>
            <a:endParaRPr lang="zh-CN" altLang="en-US" sz="2000" dirty="0">
              <a:solidFill>
                <a:srgbClr val="FF0000"/>
              </a:solidFill>
              <a:latin typeface="Times New Roman" panose="02020603050405020304" pitchFamily="18" charset="0"/>
            </a:endParaRPr>
          </a:p>
        </p:txBody>
      </p:sp>
      <p:sp>
        <p:nvSpPr>
          <p:cNvPr id="1550349" name="Rectangle 13"/>
          <p:cNvSpPr>
            <a:spLocks noChangeArrowheads="1"/>
          </p:cNvSpPr>
          <p:nvPr/>
        </p:nvSpPr>
        <p:spPr bwMode="auto">
          <a:xfrm>
            <a:off x="1511300" y="1095375"/>
            <a:ext cx="7410450" cy="935038"/>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indent="3733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20000"/>
              </a:spcBef>
              <a:buClr>
                <a:schemeClr val="accent2"/>
              </a:buClr>
              <a:buFont typeface="Wingdings" panose="05000000000000000000" pitchFamily="2" charset="2"/>
              <a:buNone/>
            </a:pPr>
            <a:r>
              <a:rPr lang="zh-CN" altLang="en-US" sz="1700">
                <a:solidFill>
                  <a:srgbClr val="0000FF"/>
                </a:solidFill>
                <a:latin typeface="Times New Roman" panose="02020603050405020304" pitchFamily="18" charset="0"/>
                <a:ea typeface="宋体" panose="02010600030101010101" pitchFamily="2" charset="-122"/>
              </a:rPr>
              <a:t>由若干相互关联，相互作用的单元组成的具有某种特定功能以用来达到某些特定目的的有机整体。</a:t>
            </a:r>
          </a:p>
        </p:txBody>
      </p:sp>
      <p:sp>
        <p:nvSpPr>
          <p:cNvPr id="1550350" name="Rectangle 14"/>
          <p:cNvSpPr>
            <a:spLocks noChangeArrowheads="1"/>
          </p:cNvSpPr>
          <p:nvPr/>
        </p:nvSpPr>
        <p:spPr bwMode="auto">
          <a:xfrm>
            <a:off x="868363" y="2133600"/>
            <a:ext cx="37036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20000"/>
              </a:spcBef>
              <a:buClr>
                <a:schemeClr val="accent2"/>
              </a:buClr>
              <a:buFont typeface="Wingdings" panose="05000000000000000000" pitchFamily="2" charset="2"/>
              <a:buNone/>
            </a:pPr>
            <a:r>
              <a:rPr lang="zh-CN" altLang="en-US" sz="1700">
                <a:latin typeface="Times New Roman" panose="02020603050405020304" pitchFamily="18" charset="0"/>
                <a:ea typeface="宋体" panose="02010600030101010101" pitchFamily="2" charset="-122"/>
              </a:rPr>
              <a:t>系统的功能，可以用下图来表示：</a:t>
            </a:r>
          </a:p>
        </p:txBody>
      </p:sp>
      <p:sp>
        <p:nvSpPr>
          <p:cNvPr id="14" name="日期占位符 13"/>
          <p:cNvSpPr>
            <a:spLocks noGrp="1"/>
          </p:cNvSpPr>
          <p:nvPr>
            <p:ph type="dt" sz="quarter" idx="10"/>
          </p:nvPr>
        </p:nvSpPr>
        <p:spPr>
          <a:xfrm>
            <a:off x="0" y="6475413"/>
            <a:ext cx="1492250" cy="382587"/>
          </a:xfrm>
        </p:spPr>
        <p:txBody>
          <a:bodyPr/>
          <a:lstStyle/>
          <a:p>
            <a:pPr>
              <a:defRPr/>
            </a:pPr>
            <a:fld id="{478B7187-9927-47FD-9181-D520CB29F910}" type="datetime3">
              <a:rPr lang="zh-CN" altLang="en-US"/>
              <a:t>2026年3月4日星期三</a:t>
            </a:fld>
            <a:r>
              <a:rPr lang="en-US" altLang="zh-CN"/>
              <a:t>**</a:t>
            </a:r>
            <a:endParaRPr lang="zh-CN" altLang="en-US" dirty="0"/>
          </a:p>
        </p:txBody>
      </p:sp>
      <p:sp>
        <p:nvSpPr>
          <p:cNvPr id="13" name="Rectangle 13"/>
          <p:cNvSpPr>
            <a:spLocks noChangeArrowheads="1"/>
          </p:cNvSpPr>
          <p:nvPr/>
        </p:nvSpPr>
        <p:spPr bwMode="auto">
          <a:xfrm>
            <a:off x="63500" y="5389563"/>
            <a:ext cx="9017000" cy="1385887"/>
          </a:xfrm>
          <a:prstGeom prst="rect">
            <a:avLst/>
          </a:prstGeom>
          <a:solidFill>
            <a:schemeClr val="bg1"/>
          </a:solidFill>
          <a:ln w="9525">
            <a:solidFill>
              <a:srgbClr val="000000"/>
            </a:solidFill>
            <a:miter lim="800000"/>
          </a:ln>
          <a:effectLst>
            <a:outerShdw dist="35921" dir="2700000" algn="ctr" rotWithShape="0">
              <a:srgbClr val="808080"/>
            </a:outerShdw>
          </a:effectLst>
        </p:spPr>
        <p:txBody>
          <a:bodyPr lIns="130618" tIns="65309" rIns="130618" bIns="65309"/>
          <a:lstStyle>
            <a:lvl1pPr indent="533400" defTabSz="1306195">
              <a:spcBef>
                <a:spcPct val="20000"/>
              </a:spcBef>
              <a:buChar char="•"/>
              <a:defRPr kumimoji="1" sz="3600" b="1">
                <a:solidFill>
                  <a:schemeClr val="accent2"/>
                </a:solidFill>
                <a:latin typeface="Times New Roman" panose="02020603050405020304" pitchFamily="18" charset="0"/>
                <a:ea typeface="宋体" panose="02010600030101010101" pitchFamily="2" charset="-122"/>
              </a:defRPr>
            </a:lvl1pPr>
            <a:lvl2pPr marL="742950" indent="-285750" defTabSz="1306195">
              <a:spcBef>
                <a:spcPct val="20000"/>
              </a:spcBef>
              <a:defRPr kumimoji="1" sz="3000">
                <a:solidFill>
                  <a:schemeClr val="tx1"/>
                </a:solidFill>
                <a:latin typeface="Times New Roman" panose="02020603050405020304" pitchFamily="18" charset="0"/>
                <a:ea typeface="宋体" panose="02010600030101010101" pitchFamily="2" charset="-122"/>
              </a:defRPr>
            </a:lvl2pPr>
            <a:lvl3pPr marL="1143000" indent="-228600" defTabSz="1306195">
              <a:spcBef>
                <a:spcPct val="20000"/>
              </a:spcBef>
              <a:buChar char="•"/>
              <a:defRPr kumimoji="1" sz="3500">
                <a:solidFill>
                  <a:schemeClr val="tx1"/>
                </a:solidFill>
                <a:latin typeface="Times New Roman" panose="02020603050405020304" pitchFamily="18" charset="0"/>
                <a:ea typeface="宋体" panose="02010600030101010101" pitchFamily="2" charset="-122"/>
              </a:defRPr>
            </a:lvl3pPr>
            <a:lvl4pPr marL="1600200" indent="-228600" defTabSz="1306195">
              <a:spcBef>
                <a:spcPct val="20000"/>
              </a:spcBef>
              <a:buChar char="–"/>
              <a:defRPr kumimoji="1" sz="2900">
                <a:solidFill>
                  <a:schemeClr val="tx1"/>
                </a:solidFill>
                <a:latin typeface="Times New Roman" panose="02020603050405020304" pitchFamily="18" charset="0"/>
                <a:ea typeface="宋体" panose="02010600030101010101" pitchFamily="2" charset="-122"/>
              </a:defRPr>
            </a:lvl4pPr>
            <a:lvl5pPr marL="2057400" indent="-228600" defTabSz="1306195">
              <a:spcBef>
                <a:spcPct val="20000"/>
              </a:spcBef>
              <a:buChar char="»"/>
              <a:defRPr kumimoji="1" sz="2900">
                <a:solidFill>
                  <a:schemeClr val="tx1"/>
                </a:solidFill>
                <a:latin typeface="Times New Roman" panose="02020603050405020304" pitchFamily="18" charset="0"/>
                <a:ea typeface="宋体" panose="02010600030101010101" pitchFamily="2" charset="-122"/>
              </a:defRPr>
            </a:lvl5pPr>
            <a:lvl6pPr marL="2514600" indent="-228600" defTabSz="1306195" eaLnBrk="0" fontAlgn="base" hangingPunct="0">
              <a:spcBef>
                <a:spcPct val="20000"/>
              </a:spcBef>
              <a:spcAft>
                <a:spcPct val="0"/>
              </a:spcAft>
              <a:buChar char="»"/>
              <a:defRPr kumimoji="1" sz="2900">
                <a:solidFill>
                  <a:schemeClr val="tx1"/>
                </a:solidFill>
                <a:latin typeface="Times New Roman" panose="02020603050405020304" pitchFamily="18" charset="0"/>
                <a:ea typeface="宋体" panose="02010600030101010101" pitchFamily="2" charset="-122"/>
              </a:defRPr>
            </a:lvl6pPr>
            <a:lvl7pPr marL="2971800" indent="-228600" defTabSz="1306195" eaLnBrk="0" fontAlgn="base" hangingPunct="0">
              <a:spcBef>
                <a:spcPct val="20000"/>
              </a:spcBef>
              <a:spcAft>
                <a:spcPct val="0"/>
              </a:spcAft>
              <a:buChar char="»"/>
              <a:defRPr kumimoji="1" sz="2900">
                <a:solidFill>
                  <a:schemeClr val="tx1"/>
                </a:solidFill>
                <a:latin typeface="Times New Roman" panose="02020603050405020304" pitchFamily="18" charset="0"/>
                <a:ea typeface="宋体" panose="02010600030101010101" pitchFamily="2" charset="-122"/>
              </a:defRPr>
            </a:lvl7pPr>
            <a:lvl8pPr marL="3429000" indent="-228600" defTabSz="1306195" eaLnBrk="0" fontAlgn="base" hangingPunct="0">
              <a:spcBef>
                <a:spcPct val="20000"/>
              </a:spcBef>
              <a:spcAft>
                <a:spcPct val="0"/>
              </a:spcAft>
              <a:buChar char="»"/>
              <a:defRPr kumimoji="1" sz="2900">
                <a:solidFill>
                  <a:schemeClr val="tx1"/>
                </a:solidFill>
                <a:latin typeface="Times New Roman" panose="02020603050405020304" pitchFamily="18" charset="0"/>
                <a:ea typeface="宋体" panose="02010600030101010101" pitchFamily="2" charset="-122"/>
              </a:defRPr>
            </a:lvl8pPr>
            <a:lvl9pPr marL="3886200" indent="-228600" defTabSz="1306195" eaLnBrk="0" fontAlgn="base" hangingPunct="0">
              <a:spcBef>
                <a:spcPct val="20000"/>
              </a:spcBef>
              <a:spcAft>
                <a:spcPct val="0"/>
              </a:spcAft>
              <a:buChar char="»"/>
              <a:defRPr kumimoji="1" sz="2900">
                <a:solidFill>
                  <a:schemeClr val="tx1"/>
                </a:solidFill>
                <a:latin typeface="Times New Roman" panose="02020603050405020304" pitchFamily="18" charset="0"/>
                <a:ea typeface="宋体" panose="02010600030101010101" pitchFamily="2" charset="-122"/>
              </a:defRPr>
            </a:lvl9pPr>
          </a:lstStyle>
          <a:p>
            <a:pPr>
              <a:lnSpc>
                <a:spcPct val="145000"/>
              </a:lnSpc>
              <a:buFont typeface="Wingdings" panose="05000000000000000000" pitchFamily="2" charset="2"/>
              <a:buChar char="l"/>
              <a:defRPr/>
            </a:pPr>
            <a:r>
              <a:rPr lang="zh-CN" altLang="en-US" sz="1800" dirty="0">
                <a:solidFill>
                  <a:schemeClr val="tx1"/>
                </a:solidFill>
                <a:sym typeface="+mn-ea"/>
              </a:rPr>
              <a:t>“信号”与“系统”的概念</a:t>
            </a:r>
            <a:r>
              <a:rPr lang="zh-CN" altLang="en-US" sz="1800" dirty="0">
                <a:solidFill>
                  <a:srgbClr val="FF0000"/>
                </a:solidFill>
                <a:sym typeface="+mn-ea"/>
              </a:rPr>
              <a:t>紧密相联</a:t>
            </a:r>
            <a:r>
              <a:rPr lang="zh-CN" altLang="en-US" sz="1800" dirty="0">
                <a:solidFill>
                  <a:schemeClr val="tx1"/>
                </a:solidFill>
                <a:sym typeface="+mn-ea"/>
              </a:rPr>
              <a:t>；</a:t>
            </a:r>
            <a:endParaRPr lang="en-US" altLang="zh-CN" sz="1800" dirty="0">
              <a:solidFill>
                <a:schemeClr val="tx1"/>
              </a:solidFill>
              <a:sym typeface="+mn-ea"/>
            </a:endParaRPr>
          </a:p>
          <a:p>
            <a:pPr>
              <a:lnSpc>
                <a:spcPct val="145000"/>
              </a:lnSpc>
              <a:buFont typeface="Wingdings" panose="05000000000000000000" pitchFamily="2" charset="2"/>
              <a:buChar char="l"/>
              <a:defRPr/>
            </a:pPr>
            <a:r>
              <a:rPr lang="zh-CN" altLang="en-US" sz="1800" dirty="0">
                <a:solidFill>
                  <a:schemeClr val="tx1"/>
                </a:solidFill>
                <a:sym typeface="+mn-ea"/>
              </a:rPr>
              <a:t>信号在系统中</a:t>
            </a:r>
            <a:r>
              <a:rPr lang="zh-CN" altLang="en-US" sz="1800" dirty="0">
                <a:solidFill>
                  <a:srgbClr val="FF0000"/>
                </a:solidFill>
                <a:sym typeface="+mn-ea"/>
              </a:rPr>
              <a:t>按照一定规律</a:t>
            </a:r>
            <a:r>
              <a:rPr lang="zh-CN" altLang="en-US" sz="1800" dirty="0">
                <a:solidFill>
                  <a:schemeClr val="tx1"/>
                </a:solidFill>
                <a:sym typeface="+mn-ea"/>
              </a:rPr>
              <a:t>变化；</a:t>
            </a:r>
            <a:endParaRPr lang="en-US" altLang="zh-CN" sz="1800" dirty="0">
              <a:solidFill>
                <a:schemeClr val="tx1"/>
              </a:solidFill>
              <a:sym typeface="+mn-ea"/>
            </a:endParaRPr>
          </a:p>
          <a:p>
            <a:pPr marL="528955" indent="-528955">
              <a:lnSpc>
                <a:spcPct val="145000"/>
              </a:lnSpc>
              <a:buFont typeface="Wingdings" panose="05000000000000000000" pitchFamily="2" charset="2"/>
              <a:buChar char="l"/>
              <a:defRPr/>
            </a:pPr>
            <a:r>
              <a:rPr lang="zh-CN" altLang="en-US" sz="1800" dirty="0">
                <a:solidFill>
                  <a:schemeClr val="tx1"/>
                </a:solidFill>
                <a:sym typeface="+mn-ea"/>
              </a:rPr>
              <a:t>系统在输入信号的驱动下，对其进行“</a:t>
            </a:r>
            <a:r>
              <a:rPr lang="zh-CN" altLang="en-US" sz="1800" dirty="0">
                <a:solidFill>
                  <a:srgbClr val="FF0000"/>
                </a:solidFill>
                <a:sym typeface="+mn-ea"/>
              </a:rPr>
              <a:t>加工</a:t>
            </a:r>
            <a:r>
              <a:rPr lang="zh-CN" altLang="en-US" sz="1800" dirty="0">
                <a:solidFill>
                  <a:schemeClr val="tx1"/>
                </a:solidFill>
                <a:sym typeface="+mn-ea"/>
              </a:rPr>
              <a:t>”，“</a:t>
            </a:r>
            <a:r>
              <a:rPr lang="zh-CN" altLang="en-US" sz="1800" dirty="0">
                <a:solidFill>
                  <a:srgbClr val="FF0000"/>
                </a:solidFill>
                <a:sym typeface="+mn-ea"/>
              </a:rPr>
              <a:t>处理</a:t>
            </a:r>
            <a:r>
              <a:rPr lang="zh-CN" altLang="en-US" sz="1800" dirty="0">
                <a:solidFill>
                  <a:schemeClr val="tx1"/>
                </a:solidFill>
                <a:sym typeface="+mn-ea"/>
              </a:rPr>
              <a:t>”，并发送输出信号；</a:t>
            </a:r>
          </a:p>
        </p:txBody>
      </p:sp>
    </p:spTree>
    <p:custDataLst>
      <p:tags r:id="rId1"/>
    </p:custDataLst>
  </p:cSld>
  <p:clrMapOvr>
    <a:masterClrMapping/>
  </p:clrMapOvr>
  <p:transition advTm="4106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50339">
                                            <p:txEl>
                                              <p:pRg st="0" end="0"/>
                                            </p:txEl>
                                          </p:spTgt>
                                        </p:tgtEl>
                                        <p:attrNameLst>
                                          <p:attrName>style.visibility</p:attrName>
                                        </p:attrNameLst>
                                      </p:cBhvr>
                                      <p:to>
                                        <p:strVal val="visible"/>
                                      </p:to>
                                    </p:set>
                                    <p:anim calcmode="lin" valueType="num">
                                      <p:cBhvr>
                                        <p:cTn id="7" dur="1000" fill="hold"/>
                                        <p:tgtEl>
                                          <p:spTgt spid="15503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503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50339">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50349">
                                            <p:bg/>
                                          </p:spTgt>
                                        </p:tgtEl>
                                        <p:attrNameLst>
                                          <p:attrName>style.visibility</p:attrName>
                                        </p:attrNameLst>
                                      </p:cBhvr>
                                      <p:to>
                                        <p:strVal val="visible"/>
                                      </p:to>
                                    </p:set>
                                    <p:anim calcmode="lin" valueType="num">
                                      <p:cBhvr>
                                        <p:cTn id="12" dur="1000" fill="hold"/>
                                        <p:tgtEl>
                                          <p:spTgt spid="1550349">
                                            <p:bg/>
                                          </p:spTgt>
                                        </p:tgtEl>
                                        <p:attrNameLst>
                                          <p:attrName>ppt_w</p:attrName>
                                        </p:attrNameLst>
                                      </p:cBhvr>
                                      <p:tavLst>
                                        <p:tav tm="0">
                                          <p:val>
                                            <p:strVal val="#ppt_w*0.70"/>
                                          </p:val>
                                        </p:tav>
                                        <p:tav tm="100000">
                                          <p:val>
                                            <p:strVal val="#ppt_w"/>
                                          </p:val>
                                        </p:tav>
                                      </p:tavLst>
                                    </p:anim>
                                    <p:anim calcmode="lin" valueType="num">
                                      <p:cBhvr>
                                        <p:cTn id="13" dur="1000" fill="hold"/>
                                        <p:tgtEl>
                                          <p:spTgt spid="1550349">
                                            <p:bg/>
                                          </p:spTgt>
                                        </p:tgtEl>
                                        <p:attrNameLst>
                                          <p:attrName>ppt_h</p:attrName>
                                        </p:attrNameLst>
                                      </p:cBhvr>
                                      <p:tavLst>
                                        <p:tav tm="0">
                                          <p:val>
                                            <p:strVal val="#ppt_h"/>
                                          </p:val>
                                        </p:tav>
                                        <p:tav tm="100000">
                                          <p:val>
                                            <p:strVal val="#ppt_h"/>
                                          </p:val>
                                        </p:tav>
                                      </p:tavLst>
                                    </p:anim>
                                    <p:animEffect transition="in" filter="fade">
                                      <p:cBhvr>
                                        <p:cTn id="14" dur="1000"/>
                                        <p:tgtEl>
                                          <p:spTgt spid="1550349">
                                            <p:bg/>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550349">
                                            <p:txEl>
                                              <p:pRg st="0" end="0"/>
                                            </p:txEl>
                                          </p:spTgt>
                                        </p:tgtEl>
                                        <p:attrNameLst>
                                          <p:attrName>style.visibility</p:attrName>
                                        </p:attrNameLst>
                                      </p:cBhvr>
                                      <p:to>
                                        <p:strVal val="visible"/>
                                      </p:to>
                                    </p:set>
                                    <p:anim calcmode="lin" valueType="num">
                                      <p:cBhvr>
                                        <p:cTn id="17" dur="1000" fill="hold"/>
                                        <p:tgtEl>
                                          <p:spTgt spid="1550349">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1550349">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155034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1550350">
                                            <p:txEl>
                                              <p:pRg st="0" end="0"/>
                                            </p:txEl>
                                          </p:spTgt>
                                        </p:tgtEl>
                                        <p:attrNameLst>
                                          <p:attrName>style.visibility</p:attrName>
                                        </p:attrNameLst>
                                      </p:cBhvr>
                                      <p:to>
                                        <p:strVal val="visible"/>
                                      </p:to>
                                    </p:set>
                                    <p:anim calcmode="lin" valueType="num">
                                      <p:cBhvr>
                                        <p:cTn id="24" dur="1000" fill="hold"/>
                                        <p:tgtEl>
                                          <p:spTgt spid="1550350">
                                            <p:txEl>
                                              <p:pRg st="0" end="0"/>
                                            </p:txEl>
                                          </p:spTgt>
                                        </p:tgtEl>
                                        <p:attrNameLst>
                                          <p:attrName>ppt_w</p:attrName>
                                        </p:attrNameLst>
                                      </p:cBhvr>
                                      <p:tavLst>
                                        <p:tav tm="0">
                                          <p:val>
                                            <p:strVal val="#ppt_w*0.70"/>
                                          </p:val>
                                        </p:tav>
                                        <p:tav tm="100000">
                                          <p:val>
                                            <p:strVal val="#ppt_w"/>
                                          </p:val>
                                        </p:tav>
                                      </p:tavLst>
                                    </p:anim>
                                    <p:anim calcmode="lin" valueType="num">
                                      <p:cBhvr>
                                        <p:cTn id="25" dur="1000" fill="hold"/>
                                        <p:tgtEl>
                                          <p:spTgt spid="1550350">
                                            <p:txEl>
                                              <p:pRg st="0" end="0"/>
                                            </p:txEl>
                                          </p:spTgt>
                                        </p:tgtEl>
                                        <p:attrNameLst>
                                          <p:attrName>ppt_h</p:attrName>
                                        </p:attrNameLst>
                                      </p:cBhvr>
                                      <p:tavLst>
                                        <p:tav tm="0">
                                          <p:val>
                                            <p:strVal val="#ppt_h"/>
                                          </p:val>
                                        </p:tav>
                                        <p:tav tm="100000">
                                          <p:val>
                                            <p:strVal val="#ppt_h"/>
                                          </p:val>
                                        </p:tav>
                                      </p:tavLst>
                                    </p:anim>
                                    <p:animEffect transition="in" filter="fade">
                                      <p:cBhvr>
                                        <p:cTn id="26" dur="1000"/>
                                        <p:tgtEl>
                                          <p:spTgt spid="1550350">
                                            <p:txEl>
                                              <p:pRg st="0" end="0"/>
                                            </p:txEl>
                                          </p:spTgt>
                                        </p:tgtEl>
                                      </p:cBhvr>
                                    </p:animEffect>
                                  </p:childTnLst>
                                </p:cTn>
                              </p:par>
                            </p:childTnLst>
                          </p:cTn>
                        </p:par>
                        <p:par>
                          <p:cTn id="27" fill="hold">
                            <p:stCondLst>
                              <p:cond delay="1000"/>
                            </p:stCondLst>
                            <p:childTnLst>
                              <p:par>
                                <p:cTn id="28" presetID="55" presetClass="entr" presetSubtype="0"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1000" fill="hold"/>
                                        <p:tgtEl>
                                          <p:spTgt spid="2"/>
                                        </p:tgtEl>
                                        <p:attrNameLst>
                                          <p:attrName>ppt_w</p:attrName>
                                        </p:attrNameLst>
                                      </p:cBhvr>
                                      <p:tavLst>
                                        <p:tav tm="0">
                                          <p:val>
                                            <p:strVal val="#ppt_w*0.70"/>
                                          </p:val>
                                        </p:tav>
                                        <p:tav tm="100000">
                                          <p:val>
                                            <p:strVal val="#ppt_w"/>
                                          </p:val>
                                        </p:tav>
                                      </p:tavLst>
                                    </p:anim>
                                    <p:anim calcmode="lin" valueType="num">
                                      <p:cBhvr>
                                        <p:cTn id="31" dur="1000" fill="hold"/>
                                        <p:tgtEl>
                                          <p:spTgt spid="2"/>
                                        </p:tgtEl>
                                        <p:attrNameLst>
                                          <p:attrName>ppt_h</p:attrName>
                                        </p:attrNameLst>
                                      </p:cBhvr>
                                      <p:tavLst>
                                        <p:tav tm="0">
                                          <p:val>
                                            <p:strVal val="#ppt_h"/>
                                          </p:val>
                                        </p:tav>
                                        <p:tav tm="100000">
                                          <p:val>
                                            <p:strVal val="#ppt_h"/>
                                          </p:val>
                                        </p:tav>
                                      </p:tavLst>
                                    </p:anim>
                                    <p:animEffect transition="in" filter="fade">
                                      <p:cBhvr>
                                        <p:cTn id="32" dur="1000"/>
                                        <p:tgtEl>
                                          <p:spTgt spid="2"/>
                                        </p:tgtEl>
                                      </p:cBhvr>
                                    </p:animEffect>
                                  </p:childTnLst>
                                </p:cTn>
                              </p:par>
                            </p:childTnLst>
                          </p:cTn>
                        </p:par>
                        <p:par>
                          <p:cTn id="33" fill="hold">
                            <p:stCondLst>
                              <p:cond delay="2000"/>
                            </p:stCondLst>
                            <p:childTnLst>
                              <p:par>
                                <p:cTn id="34" presetID="55" presetClass="entr" presetSubtype="0" fill="hold" grpId="0" nodeType="afterEffect">
                                  <p:stCondLst>
                                    <p:cond delay="0"/>
                                  </p:stCondLst>
                                  <p:childTnLst>
                                    <p:set>
                                      <p:cBhvr>
                                        <p:cTn id="35" dur="1" fill="hold">
                                          <p:stCondLst>
                                            <p:cond delay="0"/>
                                          </p:stCondLst>
                                        </p:cTn>
                                        <p:tgtEl>
                                          <p:spTgt spid="1550345"/>
                                        </p:tgtEl>
                                        <p:attrNameLst>
                                          <p:attrName>style.visibility</p:attrName>
                                        </p:attrNameLst>
                                      </p:cBhvr>
                                      <p:to>
                                        <p:strVal val="visible"/>
                                      </p:to>
                                    </p:set>
                                    <p:anim calcmode="lin" valueType="num">
                                      <p:cBhvr>
                                        <p:cTn id="36" dur="1000" fill="hold"/>
                                        <p:tgtEl>
                                          <p:spTgt spid="1550345"/>
                                        </p:tgtEl>
                                        <p:attrNameLst>
                                          <p:attrName>ppt_w</p:attrName>
                                        </p:attrNameLst>
                                      </p:cBhvr>
                                      <p:tavLst>
                                        <p:tav tm="0">
                                          <p:val>
                                            <p:strVal val="#ppt_w*0.70"/>
                                          </p:val>
                                        </p:tav>
                                        <p:tav tm="100000">
                                          <p:val>
                                            <p:strVal val="#ppt_w"/>
                                          </p:val>
                                        </p:tav>
                                      </p:tavLst>
                                    </p:anim>
                                    <p:anim calcmode="lin" valueType="num">
                                      <p:cBhvr>
                                        <p:cTn id="37" dur="1000" fill="hold"/>
                                        <p:tgtEl>
                                          <p:spTgt spid="1550345"/>
                                        </p:tgtEl>
                                        <p:attrNameLst>
                                          <p:attrName>ppt_h</p:attrName>
                                        </p:attrNameLst>
                                      </p:cBhvr>
                                      <p:tavLst>
                                        <p:tav tm="0">
                                          <p:val>
                                            <p:strVal val="#ppt_h"/>
                                          </p:val>
                                        </p:tav>
                                        <p:tav tm="100000">
                                          <p:val>
                                            <p:strVal val="#ppt_h"/>
                                          </p:val>
                                        </p:tav>
                                      </p:tavLst>
                                    </p:anim>
                                    <p:animEffect transition="in" filter="fade">
                                      <p:cBhvr>
                                        <p:cTn id="38" dur="1000"/>
                                        <p:tgtEl>
                                          <p:spTgt spid="1550345"/>
                                        </p:tgtEl>
                                      </p:cBhvr>
                                    </p:animEffect>
                                  </p:childTnLst>
                                </p:cTn>
                              </p:par>
                              <p:par>
                                <p:cTn id="39" presetID="55" presetClass="entr" presetSubtype="0" fill="hold" grpId="0" nodeType="withEffect">
                                  <p:stCondLst>
                                    <p:cond delay="0"/>
                                  </p:stCondLst>
                                  <p:childTnLst>
                                    <p:set>
                                      <p:cBhvr>
                                        <p:cTn id="40" dur="1" fill="hold">
                                          <p:stCondLst>
                                            <p:cond delay="0"/>
                                          </p:stCondLst>
                                        </p:cTn>
                                        <p:tgtEl>
                                          <p:spTgt spid="13">
                                            <p:bg/>
                                          </p:spTgt>
                                        </p:tgtEl>
                                        <p:attrNameLst>
                                          <p:attrName>style.visibility</p:attrName>
                                        </p:attrNameLst>
                                      </p:cBhvr>
                                      <p:to>
                                        <p:strVal val="visible"/>
                                      </p:to>
                                    </p:set>
                                    <p:anim calcmode="lin" valueType="num">
                                      <p:cBhvr>
                                        <p:cTn id="41" dur="1000" fill="hold"/>
                                        <p:tgtEl>
                                          <p:spTgt spid="13">
                                            <p:bg/>
                                          </p:spTgt>
                                        </p:tgtEl>
                                        <p:attrNameLst>
                                          <p:attrName>ppt_w</p:attrName>
                                        </p:attrNameLst>
                                      </p:cBhvr>
                                      <p:tavLst>
                                        <p:tav tm="0">
                                          <p:val>
                                            <p:strVal val="#ppt_w*0.70"/>
                                          </p:val>
                                        </p:tav>
                                        <p:tav tm="100000">
                                          <p:val>
                                            <p:strVal val="#ppt_w"/>
                                          </p:val>
                                        </p:tav>
                                      </p:tavLst>
                                    </p:anim>
                                    <p:anim calcmode="lin" valueType="num">
                                      <p:cBhvr>
                                        <p:cTn id="42" dur="1000" fill="hold"/>
                                        <p:tgtEl>
                                          <p:spTgt spid="13">
                                            <p:bg/>
                                          </p:spTgt>
                                        </p:tgtEl>
                                        <p:attrNameLst>
                                          <p:attrName>ppt_h</p:attrName>
                                        </p:attrNameLst>
                                      </p:cBhvr>
                                      <p:tavLst>
                                        <p:tav tm="0">
                                          <p:val>
                                            <p:strVal val="#ppt_h"/>
                                          </p:val>
                                        </p:tav>
                                        <p:tav tm="100000">
                                          <p:val>
                                            <p:strVal val="#ppt_h"/>
                                          </p:val>
                                        </p:tav>
                                      </p:tavLst>
                                    </p:anim>
                                    <p:animEffect transition="in" filter="fade">
                                      <p:cBhvr>
                                        <p:cTn id="43" dur="1000"/>
                                        <p:tgtEl>
                                          <p:spTgt spid="13">
                                            <p:bg/>
                                          </p:spTgt>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 calcmode="lin" valueType="num">
                                      <p:cBhvr>
                                        <p:cTn id="48" dur="500" fill="hold"/>
                                        <p:tgtEl>
                                          <p:spTgt spid="13">
                                            <p:txEl>
                                              <p:pRg st="0" end="0"/>
                                            </p:txEl>
                                          </p:spTgt>
                                        </p:tgtEl>
                                        <p:attrNameLst>
                                          <p:attrName>ppt_w</p:attrName>
                                        </p:attrNameLst>
                                      </p:cBhvr>
                                      <p:tavLst>
                                        <p:tav tm="0">
                                          <p:val>
                                            <p:strVal val="#ppt_w*0.70"/>
                                          </p:val>
                                        </p:tav>
                                        <p:tav tm="100000">
                                          <p:val>
                                            <p:strVal val="#ppt_w"/>
                                          </p:val>
                                        </p:tav>
                                      </p:tavLst>
                                    </p:anim>
                                    <p:anim calcmode="lin" valueType="num">
                                      <p:cBhvr>
                                        <p:cTn id="49" dur="500" fill="hold"/>
                                        <p:tgtEl>
                                          <p:spTgt spid="13">
                                            <p:txEl>
                                              <p:pRg st="0" end="0"/>
                                            </p:txEl>
                                          </p:spTgt>
                                        </p:tgtEl>
                                        <p:attrNameLst>
                                          <p:attrName>ppt_h</p:attrName>
                                        </p:attrNameLst>
                                      </p:cBhvr>
                                      <p:tavLst>
                                        <p:tav tm="0">
                                          <p:val>
                                            <p:strVal val="#ppt_h"/>
                                          </p:val>
                                        </p:tav>
                                        <p:tav tm="100000">
                                          <p:val>
                                            <p:strVal val="#ppt_h"/>
                                          </p:val>
                                        </p:tav>
                                      </p:tavLst>
                                    </p:anim>
                                    <p:animEffect transition="in" filter="fade">
                                      <p:cBhvr>
                                        <p:cTn id="50" dur="500"/>
                                        <p:tgtEl>
                                          <p:spTgt spid="13">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grpId="0" nodeType="clickEffect">
                                  <p:stCondLst>
                                    <p:cond delay="0"/>
                                  </p:stCondLst>
                                  <p:childTnLst>
                                    <p:set>
                                      <p:cBhvr>
                                        <p:cTn id="54" dur="1" fill="hold">
                                          <p:stCondLst>
                                            <p:cond delay="0"/>
                                          </p:stCondLst>
                                        </p:cTn>
                                        <p:tgtEl>
                                          <p:spTgt spid="13">
                                            <p:txEl>
                                              <p:pRg st="1" end="1"/>
                                            </p:txEl>
                                          </p:spTgt>
                                        </p:tgtEl>
                                        <p:attrNameLst>
                                          <p:attrName>style.visibility</p:attrName>
                                        </p:attrNameLst>
                                      </p:cBhvr>
                                      <p:to>
                                        <p:strVal val="visible"/>
                                      </p:to>
                                    </p:set>
                                    <p:anim calcmode="lin" valueType="num">
                                      <p:cBhvr>
                                        <p:cTn id="55" dur="1000" fill="hold"/>
                                        <p:tgtEl>
                                          <p:spTgt spid="13">
                                            <p:txEl>
                                              <p:pRg st="1" end="1"/>
                                            </p:txEl>
                                          </p:spTgt>
                                        </p:tgtEl>
                                        <p:attrNameLst>
                                          <p:attrName>ppt_w</p:attrName>
                                        </p:attrNameLst>
                                      </p:cBhvr>
                                      <p:tavLst>
                                        <p:tav tm="0">
                                          <p:val>
                                            <p:strVal val="#ppt_w*0.70"/>
                                          </p:val>
                                        </p:tav>
                                        <p:tav tm="100000">
                                          <p:val>
                                            <p:strVal val="#ppt_w"/>
                                          </p:val>
                                        </p:tav>
                                      </p:tavLst>
                                    </p:anim>
                                    <p:anim calcmode="lin" valueType="num">
                                      <p:cBhvr>
                                        <p:cTn id="56" dur="1000" fill="hold"/>
                                        <p:tgtEl>
                                          <p:spTgt spid="13">
                                            <p:txEl>
                                              <p:pRg st="1" end="1"/>
                                            </p:txEl>
                                          </p:spTgt>
                                        </p:tgtEl>
                                        <p:attrNameLst>
                                          <p:attrName>ppt_h</p:attrName>
                                        </p:attrNameLst>
                                      </p:cBhvr>
                                      <p:tavLst>
                                        <p:tav tm="0">
                                          <p:val>
                                            <p:strVal val="#ppt_h"/>
                                          </p:val>
                                        </p:tav>
                                        <p:tav tm="100000">
                                          <p:val>
                                            <p:strVal val="#ppt_h"/>
                                          </p:val>
                                        </p:tav>
                                      </p:tavLst>
                                    </p:anim>
                                    <p:animEffect transition="in" filter="fade">
                                      <p:cBhvr>
                                        <p:cTn id="57" dur="1000"/>
                                        <p:tgtEl>
                                          <p:spTgt spid="1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5" presetClass="entr" presetSubtype="0" fill="hold" grpId="0" nodeType="clickEffect">
                                  <p:stCondLst>
                                    <p:cond delay="0"/>
                                  </p:stCondLst>
                                  <p:childTnLst>
                                    <p:set>
                                      <p:cBhvr>
                                        <p:cTn id="61" dur="1" fill="hold">
                                          <p:stCondLst>
                                            <p:cond delay="0"/>
                                          </p:stCondLst>
                                        </p:cTn>
                                        <p:tgtEl>
                                          <p:spTgt spid="13">
                                            <p:txEl>
                                              <p:pRg st="2" end="2"/>
                                            </p:txEl>
                                          </p:spTgt>
                                        </p:tgtEl>
                                        <p:attrNameLst>
                                          <p:attrName>style.visibility</p:attrName>
                                        </p:attrNameLst>
                                      </p:cBhvr>
                                      <p:to>
                                        <p:strVal val="visible"/>
                                      </p:to>
                                    </p:set>
                                    <p:anim calcmode="lin" valueType="num">
                                      <p:cBhvr>
                                        <p:cTn id="62" dur="1000" fill="hold"/>
                                        <p:tgtEl>
                                          <p:spTgt spid="13">
                                            <p:txEl>
                                              <p:pRg st="2" end="2"/>
                                            </p:txEl>
                                          </p:spTgt>
                                        </p:tgtEl>
                                        <p:attrNameLst>
                                          <p:attrName>ppt_w</p:attrName>
                                        </p:attrNameLst>
                                      </p:cBhvr>
                                      <p:tavLst>
                                        <p:tav tm="0">
                                          <p:val>
                                            <p:strVal val="#ppt_w*0.70"/>
                                          </p:val>
                                        </p:tav>
                                        <p:tav tm="100000">
                                          <p:val>
                                            <p:strVal val="#ppt_w"/>
                                          </p:val>
                                        </p:tav>
                                      </p:tavLst>
                                    </p:anim>
                                    <p:anim calcmode="lin" valueType="num">
                                      <p:cBhvr>
                                        <p:cTn id="63" dur="1000" fill="hold"/>
                                        <p:tgtEl>
                                          <p:spTgt spid="13">
                                            <p:txEl>
                                              <p:pRg st="2" end="2"/>
                                            </p:txEl>
                                          </p:spTgt>
                                        </p:tgtEl>
                                        <p:attrNameLst>
                                          <p:attrName>ppt_h</p:attrName>
                                        </p:attrNameLst>
                                      </p:cBhvr>
                                      <p:tavLst>
                                        <p:tav tm="0">
                                          <p:val>
                                            <p:strVal val="#ppt_h"/>
                                          </p:val>
                                        </p:tav>
                                        <p:tav tm="100000">
                                          <p:val>
                                            <p:strVal val="#ppt_h"/>
                                          </p:val>
                                        </p:tav>
                                      </p:tavLst>
                                    </p:anim>
                                    <p:animEffect transition="in" filter="fade">
                                      <p:cBhvr>
                                        <p:cTn id="64" dur="10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0339" grpId="0" build="p"/>
      <p:bldP spid="1550345" grpId="0"/>
      <p:bldP spid="1550349" grpId="0" build="p" animBg="1"/>
      <p:bldP spid="1550350" grpId="0" build="p"/>
      <p:bldP spid="13" grpId="0" build="p"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AutoShape 4"/>
          <p:cNvSpPr/>
          <p:nvPr/>
        </p:nvSpPr>
        <p:spPr bwMode="auto">
          <a:xfrm>
            <a:off x="1508125" y="2595563"/>
            <a:ext cx="200025" cy="833437"/>
          </a:xfrm>
          <a:prstGeom prst="leftBrace">
            <a:avLst>
              <a:gd name="adj1" fmla="val 43769"/>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2884" name="Text Box 5"/>
          <p:cNvSpPr txBox="1">
            <a:spLocks noChangeArrowheads="1"/>
          </p:cNvSpPr>
          <p:nvPr/>
        </p:nvSpPr>
        <p:spPr bwMode="auto">
          <a:xfrm>
            <a:off x="1708150" y="2420938"/>
            <a:ext cx="2449513"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线性系统</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非线性系统</a:t>
            </a:r>
          </a:p>
        </p:txBody>
      </p:sp>
      <p:sp>
        <p:nvSpPr>
          <p:cNvPr id="122885" name="AutoShape 6"/>
          <p:cNvSpPr/>
          <p:nvPr/>
        </p:nvSpPr>
        <p:spPr bwMode="auto">
          <a:xfrm>
            <a:off x="5153025" y="2495550"/>
            <a:ext cx="230188" cy="850900"/>
          </a:xfrm>
          <a:prstGeom prst="leftBrace">
            <a:avLst>
              <a:gd name="adj1" fmla="val 43725"/>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2886" name="Text Box 7"/>
          <p:cNvSpPr txBox="1">
            <a:spLocks noChangeArrowheads="1"/>
          </p:cNvSpPr>
          <p:nvPr/>
        </p:nvSpPr>
        <p:spPr bwMode="auto">
          <a:xfrm>
            <a:off x="5291138" y="2338388"/>
            <a:ext cx="2449512"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时不变系统</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时变系统</a:t>
            </a:r>
          </a:p>
        </p:txBody>
      </p:sp>
      <p:sp>
        <p:nvSpPr>
          <p:cNvPr id="122887" name="AutoShape 8"/>
          <p:cNvSpPr/>
          <p:nvPr/>
        </p:nvSpPr>
        <p:spPr bwMode="auto">
          <a:xfrm>
            <a:off x="1544638" y="4189413"/>
            <a:ext cx="130175" cy="822325"/>
          </a:xfrm>
          <a:prstGeom prst="leftBrace">
            <a:avLst>
              <a:gd name="adj1" fmla="val 4378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2888" name="Text Box 9"/>
          <p:cNvSpPr txBox="1">
            <a:spLocks noChangeArrowheads="1"/>
          </p:cNvSpPr>
          <p:nvPr/>
        </p:nvSpPr>
        <p:spPr bwMode="auto">
          <a:xfrm>
            <a:off x="1674813" y="4003675"/>
            <a:ext cx="2449512"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连续时间系统</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离散时间系统</a:t>
            </a:r>
          </a:p>
        </p:txBody>
      </p:sp>
      <p:sp>
        <p:nvSpPr>
          <p:cNvPr id="122889" name="AutoShape 10"/>
          <p:cNvSpPr/>
          <p:nvPr/>
        </p:nvSpPr>
        <p:spPr bwMode="auto">
          <a:xfrm>
            <a:off x="5251450" y="4127500"/>
            <a:ext cx="139700" cy="812800"/>
          </a:xfrm>
          <a:prstGeom prst="leftBrace">
            <a:avLst>
              <a:gd name="adj1" fmla="val 5896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64008" tIns="32004" rIns="64008" bIns="32004"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2890" name="Text Box 11"/>
          <p:cNvSpPr txBox="1">
            <a:spLocks noChangeArrowheads="1"/>
          </p:cNvSpPr>
          <p:nvPr/>
        </p:nvSpPr>
        <p:spPr bwMode="auto">
          <a:xfrm>
            <a:off x="5480050" y="3994150"/>
            <a:ext cx="2162175"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因果系统</a:t>
            </a:r>
          </a:p>
          <a:p>
            <a:pPr eaLnBrk="1" hangingPunct="1">
              <a:lnSpc>
                <a:spcPct val="85000"/>
              </a:lnSpc>
              <a:spcBef>
                <a:spcPct val="50000"/>
              </a:spcBef>
              <a:buClr>
                <a:schemeClr val="accent2"/>
              </a:buClr>
              <a:buFont typeface="Wingdings" panose="05000000000000000000" pitchFamily="2" charset="2"/>
              <a:buNone/>
            </a:pPr>
            <a:r>
              <a:rPr lang="zh-CN" altLang="en-US">
                <a:latin typeface="Times New Roman" panose="02020603050405020304" pitchFamily="18" charset="0"/>
                <a:ea typeface="宋体" panose="02010600030101010101" pitchFamily="2" charset="-122"/>
              </a:rPr>
              <a:t>非因果系统</a:t>
            </a:r>
          </a:p>
        </p:txBody>
      </p:sp>
      <p:sp>
        <p:nvSpPr>
          <p:cNvPr id="122891" name="Oval 12">
            <a:hlinkClick r:id="rId3" action="ppaction://hlinksldjump"/>
          </p:cNvPr>
          <p:cNvSpPr>
            <a:spLocks noChangeArrowheads="1"/>
          </p:cNvSpPr>
          <p:nvPr/>
        </p:nvSpPr>
        <p:spPr bwMode="auto">
          <a:xfrm>
            <a:off x="901700" y="2781300"/>
            <a:ext cx="504825" cy="5048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5" tIns="45718" rIns="91435" bIns="45718"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3200">
                <a:latin typeface="Times New Roman" panose="02020603050405020304" pitchFamily="18" charset="0"/>
                <a:ea typeface="宋体" panose="02010600030101010101" pitchFamily="2" charset="-122"/>
                <a:hlinkClick r:id="rId4" action="ppaction://hlinksldjump"/>
              </a:rPr>
              <a:t>1</a:t>
            </a:r>
            <a:endParaRPr lang="en-US" altLang="zh-CN" sz="3200">
              <a:latin typeface="Times New Roman" panose="02020603050405020304" pitchFamily="18" charset="0"/>
              <a:ea typeface="宋体" panose="02010600030101010101" pitchFamily="2" charset="-122"/>
            </a:endParaRPr>
          </a:p>
        </p:txBody>
      </p:sp>
      <p:sp>
        <p:nvSpPr>
          <p:cNvPr id="122892" name="Oval 13"/>
          <p:cNvSpPr>
            <a:spLocks noChangeArrowheads="1"/>
          </p:cNvSpPr>
          <p:nvPr/>
        </p:nvSpPr>
        <p:spPr bwMode="auto">
          <a:xfrm>
            <a:off x="4484688" y="2698750"/>
            <a:ext cx="504825" cy="5048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5" tIns="45718" rIns="91435" bIns="45718"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3200">
                <a:latin typeface="Times New Roman" panose="02020603050405020304" pitchFamily="18" charset="0"/>
                <a:ea typeface="宋体" panose="02010600030101010101" pitchFamily="2" charset="-122"/>
                <a:hlinkClick r:id="rId5" action="ppaction://hlinksldjump"/>
              </a:rPr>
              <a:t>2</a:t>
            </a:r>
            <a:endParaRPr lang="en-US" altLang="zh-CN" sz="3200">
              <a:latin typeface="Times New Roman" panose="02020603050405020304" pitchFamily="18" charset="0"/>
              <a:ea typeface="宋体" panose="02010600030101010101" pitchFamily="2" charset="-122"/>
            </a:endParaRPr>
          </a:p>
        </p:txBody>
      </p:sp>
      <p:sp>
        <p:nvSpPr>
          <p:cNvPr id="122893" name="Oval 14"/>
          <p:cNvSpPr>
            <a:spLocks noChangeArrowheads="1"/>
          </p:cNvSpPr>
          <p:nvPr/>
        </p:nvSpPr>
        <p:spPr bwMode="auto">
          <a:xfrm>
            <a:off x="908050" y="4338638"/>
            <a:ext cx="504825" cy="5048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5" tIns="45718" rIns="91435" bIns="45718"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3200">
                <a:latin typeface="Times New Roman" panose="02020603050405020304" pitchFamily="18" charset="0"/>
                <a:ea typeface="宋体" panose="02010600030101010101" pitchFamily="2" charset="-122"/>
                <a:hlinkClick r:id="rId6" action="ppaction://hlinksldjump"/>
              </a:rPr>
              <a:t>3</a:t>
            </a:r>
            <a:endParaRPr lang="en-US" altLang="zh-CN" sz="3200">
              <a:latin typeface="Times New Roman" panose="02020603050405020304" pitchFamily="18" charset="0"/>
              <a:ea typeface="宋体" panose="02010600030101010101" pitchFamily="2" charset="-122"/>
            </a:endParaRPr>
          </a:p>
        </p:txBody>
      </p:sp>
      <p:sp>
        <p:nvSpPr>
          <p:cNvPr id="122894" name="Oval 15"/>
          <p:cNvSpPr>
            <a:spLocks noChangeArrowheads="1"/>
          </p:cNvSpPr>
          <p:nvPr/>
        </p:nvSpPr>
        <p:spPr bwMode="auto">
          <a:xfrm>
            <a:off x="4502150" y="4292600"/>
            <a:ext cx="504825" cy="5048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1435" tIns="45718" rIns="91435" bIns="45718"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3200">
                <a:latin typeface="Times New Roman" panose="02020603050405020304" pitchFamily="18" charset="0"/>
                <a:ea typeface="宋体" panose="02010600030101010101" pitchFamily="2" charset="-122"/>
                <a:hlinkClick r:id="rId7" action="ppaction://hlinksldjump"/>
              </a:rPr>
              <a:t>4</a:t>
            </a:r>
            <a:endParaRPr lang="en-US" altLang="zh-CN" sz="3200">
              <a:latin typeface="Times New Roman" panose="02020603050405020304" pitchFamily="18" charset="0"/>
              <a:ea typeface="宋体" panose="02010600030101010101" pitchFamily="2" charset="-122"/>
            </a:endParaRPr>
          </a:p>
        </p:txBody>
      </p:sp>
      <p:sp>
        <p:nvSpPr>
          <p:cNvPr id="122895" name="Text Box 17"/>
          <p:cNvSpPr txBox="1">
            <a:spLocks noChangeArrowheads="1"/>
          </p:cNvSpPr>
          <p:nvPr/>
        </p:nvSpPr>
        <p:spPr bwMode="auto">
          <a:xfrm>
            <a:off x="0" y="0"/>
            <a:ext cx="9144000" cy="403225"/>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en-US" altLang="zh-CN" sz="1800">
                <a:solidFill>
                  <a:schemeClr val="bg1"/>
                </a:solidFill>
                <a:latin typeface="Verdana" panose="020B0604030504040204" pitchFamily="34" charset="0"/>
                <a:ea typeface="宋体" panose="02010600030101010101" pitchFamily="2" charset="-122"/>
              </a:rPr>
              <a:t>  </a:t>
            </a:r>
            <a:r>
              <a:rPr lang="zh-CN" altLang="en-US" sz="2400">
                <a:solidFill>
                  <a:schemeClr val="bg1"/>
                </a:solidFill>
                <a:latin typeface="楷体_GB2312" pitchFamily="49" charset="-122"/>
                <a:ea typeface="楷体_GB2312" pitchFamily="49" charset="-122"/>
              </a:rPr>
              <a:t>信号与系统                                     第一章绪论</a:t>
            </a:r>
          </a:p>
        </p:txBody>
      </p:sp>
      <p:sp>
        <p:nvSpPr>
          <p:cNvPr id="122896" name="Rectangle 18"/>
          <p:cNvSpPr>
            <a:spLocks noChangeArrowheads="1"/>
          </p:cNvSpPr>
          <p:nvPr/>
        </p:nvSpPr>
        <p:spPr bwMode="auto">
          <a:xfrm>
            <a:off x="177800" y="630238"/>
            <a:ext cx="355441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2500" dirty="0">
                <a:solidFill>
                  <a:srgbClr val="FF0000"/>
                </a:solidFill>
                <a:latin typeface="Times New Roman" panose="02020603050405020304" pitchFamily="18" charset="0"/>
              </a:rPr>
              <a:t>回顾</a:t>
            </a:r>
            <a:r>
              <a:rPr lang="en-US" altLang="zh-CN" sz="2500" dirty="0">
                <a:solidFill>
                  <a:srgbClr val="FF0000"/>
                </a:solidFill>
                <a:latin typeface="Times New Roman" panose="02020603050405020304" pitchFamily="18" charset="0"/>
              </a:rPr>
              <a:t>	</a:t>
            </a:r>
            <a:r>
              <a:rPr lang="zh-CN" altLang="en-US" sz="2500" dirty="0">
                <a:solidFill>
                  <a:srgbClr val="FF0000"/>
                </a:solidFill>
                <a:latin typeface="Times New Roman" panose="02020603050405020304" pitchFamily="18" charset="0"/>
              </a:rPr>
              <a:t>系统的分类</a:t>
            </a:r>
            <a:endParaRPr lang="zh-CN" altLang="en-US" sz="2000" dirty="0">
              <a:solidFill>
                <a:srgbClr val="FF0000"/>
              </a:solidFill>
              <a:latin typeface="Times New Roman" panose="02020603050405020304" pitchFamily="18" charset="0"/>
            </a:endParaRPr>
          </a:p>
        </p:txBody>
      </p:sp>
      <p:sp>
        <p:nvSpPr>
          <p:cNvPr id="19" name="日期占位符 18"/>
          <p:cNvSpPr>
            <a:spLocks noGrp="1"/>
          </p:cNvSpPr>
          <p:nvPr>
            <p:ph type="dt" sz="quarter" idx="10"/>
          </p:nvPr>
        </p:nvSpPr>
        <p:spPr/>
        <p:txBody>
          <a:bodyPr/>
          <a:lstStyle/>
          <a:p>
            <a:pPr>
              <a:defRPr/>
            </a:pPr>
            <a:fld id="{9E416F86-C864-4DF9-9895-5FBF30723348}" type="datetime3">
              <a:rPr lang="zh-CN" altLang="en-US"/>
              <a:t>2026年3月4日星期三</a:t>
            </a:fld>
            <a:endParaRPr lang="zh-CN" altLang="en-US" dirty="0"/>
          </a:p>
        </p:txBody>
      </p:sp>
    </p:spTree>
  </p:cSld>
  <p:clrMapOvr>
    <a:masterClrMapping/>
  </p:clrMapOvr>
  <p:transition advTm="16109"/>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2387" name="Rectangle 3"/>
          <p:cNvSpPr>
            <a:spLocks noGrp="1" noChangeArrowheads="1"/>
          </p:cNvSpPr>
          <p:nvPr>
            <p:ph type="body" sz="half" idx="1"/>
          </p:nvPr>
        </p:nvSpPr>
        <p:spPr>
          <a:xfrm>
            <a:off x="622299" y="1256393"/>
            <a:ext cx="7699830" cy="2172607"/>
          </a:xfrm>
          <a:solidFill>
            <a:srgbClr val="E6D7B6"/>
          </a:solidFill>
          <a:ln w="57150">
            <a:solidFill>
              <a:schemeClr val="tx1"/>
            </a:solidFill>
            <a:miter lim="800000"/>
          </a:ln>
          <a:effectLst>
            <a:prstShdw prst="shdw12">
              <a:srgbClr val="808080">
                <a:alpha val="50000"/>
              </a:srgbClr>
            </a:prstShdw>
          </a:effectLst>
        </p:spPr>
        <p:txBody>
          <a:bodyPr/>
          <a:lstStyle/>
          <a:p>
            <a:pPr>
              <a:lnSpc>
                <a:spcPct val="150000"/>
              </a:lnSpc>
              <a:buFontTx/>
              <a:buNone/>
            </a:pPr>
            <a:r>
              <a:rPr lang="en-US" altLang="zh-CN" sz="1700" b="1" dirty="0"/>
              <a:t>1</a:t>
            </a:r>
            <a:r>
              <a:rPr lang="zh-CN" altLang="en-US" sz="1700" b="1" dirty="0"/>
              <a:t>）齐次性    </a:t>
            </a:r>
          </a:p>
          <a:p>
            <a:pPr>
              <a:lnSpc>
                <a:spcPct val="150000"/>
              </a:lnSpc>
              <a:buFontTx/>
              <a:buNone/>
            </a:pPr>
            <a:r>
              <a:rPr lang="zh-CN" altLang="en-US" sz="1700" b="1" dirty="0"/>
              <a:t>      若系统</a:t>
            </a:r>
            <a:r>
              <a:rPr lang="en-US" altLang="zh-CN" sz="1700" b="1" dirty="0"/>
              <a:t>e(t)→r(t)</a:t>
            </a:r>
            <a:r>
              <a:rPr lang="zh-CN" altLang="en-US" sz="1700" b="1" dirty="0"/>
              <a:t>有</a:t>
            </a:r>
            <a:r>
              <a:rPr lang="en-US" altLang="zh-CN" sz="1700" b="1" dirty="0" err="1"/>
              <a:t>ke</a:t>
            </a:r>
            <a:r>
              <a:rPr lang="en-US" altLang="zh-CN" sz="1700" b="1" dirty="0"/>
              <a:t>(t)→</a:t>
            </a:r>
            <a:r>
              <a:rPr lang="en-US" altLang="zh-CN" sz="1700" b="1" dirty="0" err="1"/>
              <a:t>kr</a:t>
            </a:r>
            <a:r>
              <a:rPr lang="en-US" altLang="zh-CN" sz="1700" b="1" dirty="0"/>
              <a:t>(t)</a:t>
            </a:r>
            <a:r>
              <a:rPr lang="zh-CN" altLang="en-US" sz="1700" b="1" dirty="0"/>
              <a:t>则称该系统满足齐次性。</a:t>
            </a:r>
          </a:p>
          <a:p>
            <a:pPr>
              <a:lnSpc>
                <a:spcPct val="150000"/>
              </a:lnSpc>
              <a:buFontTx/>
              <a:buNone/>
            </a:pPr>
            <a:r>
              <a:rPr lang="en-US" altLang="zh-CN" sz="1700" b="1" dirty="0"/>
              <a:t>2</a:t>
            </a:r>
            <a:r>
              <a:rPr lang="zh-CN" altLang="en-US" sz="1700" b="1" dirty="0"/>
              <a:t>）叠加性</a:t>
            </a:r>
            <a:br>
              <a:rPr lang="zh-CN" altLang="en-US" sz="1700" b="1" dirty="0"/>
            </a:br>
            <a:r>
              <a:rPr lang="zh-CN" altLang="en-US" sz="1700" b="1" dirty="0"/>
              <a:t>     若系统关系有</a:t>
            </a:r>
            <a:r>
              <a:rPr lang="en-US" altLang="zh-CN" sz="1700" b="1" dirty="0"/>
              <a:t>e</a:t>
            </a:r>
            <a:r>
              <a:rPr lang="en-US" altLang="zh-CN" sz="1700" b="1" baseline="-25000" dirty="0"/>
              <a:t>1</a:t>
            </a:r>
            <a:r>
              <a:rPr lang="en-US" altLang="zh-CN" sz="1700" b="1" dirty="0"/>
              <a:t>(t)→r</a:t>
            </a:r>
            <a:r>
              <a:rPr lang="en-US" altLang="zh-CN" sz="1700" b="1" baseline="-25000" dirty="0"/>
              <a:t>1</a:t>
            </a:r>
            <a:r>
              <a:rPr lang="en-US" altLang="zh-CN" sz="1700" b="1" dirty="0"/>
              <a:t>(t)</a:t>
            </a:r>
            <a:r>
              <a:rPr lang="zh-CN" altLang="en-US" sz="1700" b="1" dirty="0"/>
              <a:t>且</a:t>
            </a:r>
            <a:r>
              <a:rPr lang="en-US" altLang="zh-CN" sz="1700" b="1" dirty="0"/>
              <a:t>e</a:t>
            </a:r>
            <a:r>
              <a:rPr lang="en-US" altLang="zh-CN" sz="1700" b="1" baseline="-25000" dirty="0"/>
              <a:t>2</a:t>
            </a:r>
            <a:r>
              <a:rPr lang="en-US" altLang="zh-CN" sz="1700" b="1" dirty="0"/>
              <a:t>→r</a:t>
            </a:r>
            <a:r>
              <a:rPr lang="en-US" altLang="zh-CN" sz="1700" b="1" baseline="-25000" dirty="0"/>
              <a:t>2</a:t>
            </a:r>
            <a:r>
              <a:rPr lang="en-US" altLang="zh-CN" sz="1700" b="1" dirty="0"/>
              <a:t>(t)</a:t>
            </a:r>
            <a:r>
              <a:rPr lang="zh-CN" altLang="en-US" sz="1700" b="1" dirty="0"/>
              <a:t>时有</a:t>
            </a:r>
            <a:r>
              <a:rPr lang="en-US" altLang="zh-CN" sz="1700" b="1" dirty="0"/>
              <a:t>e</a:t>
            </a:r>
            <a:r>
              <a:rPr lang="en-US" altLang="zh-CN" sz="1700" b="1" baseline="-25000" dirty="0"/>
              <a:t>1</a:t>
            </a:r>
            <a:r>
              <a:rPr lang="en-US" altLang="zh-CN" sz="1700" b="1" dirty="0"/>
              <a:t>(t)</a:t>
            </a:r>
            <a:r>
              <a:rPr lang="zh-CN" altLang="en-US" sz="1700" b="1" dirty="0"/>
              <a:t>＋</a:t>
            </a:r>
            <a:r>
              <a:rPr lang="en-US" altLang="zh-CN" sz="1700" b="1" dirty="0"/>
              <a:t>e</a:t>
            </a:r>
            <a:r>
              <a:rPr lang="en-US" altLang="zh-CN" sz="1700" b="1" baseline="-25000" dirty="0"/>
              <a:t>2</a:t>
            </a:r>
            <a:r>
              <a:rPr lang="en-US" altLang="zh-CN" sz="1700" b="1" dirty="0"/>
              <a:t>(t)→r</a:t>
            </a:r>
            <a:r>
              <a:rPr lang="en-US" altLang="zh-CN" sz="1700" b="1" baseline="-25000" dirty="0"/>
              <a:t>1</a:t>
            </a:r>
            <a:r>
              <a:rPr lang="en-US" altLang="zh-CN" sz="1700" b="1" dirty="0"/>
              <a:t>(t)</a:t>
            </a:r>
            <a:r>
              <a:rPr lang="zh-CN" altLang="en-US" sz="1700" b="1" dirty="0"/>
              <a:t>＋</a:t>
            </a:r>
            <a:r>
              <a:rPr lang="en-US" altLang="zh-CN" sz="1700" b="1" dirty="0"/>
              <a:t>r</a:t>
            </a:r>
            <a:r>
              <a:rPr lang="en-US" altLang="zh-CN" sz="1700" b="1" baseline="-25000" dirty="0"/>
              <a:t>2</a:t>
            </a:r>
            <a:r>
              <a:rPr lang="en-US" altLang="zh-CN" sz="1700" b="1" dirty="0"/>
              <a:t>(t) </a:t>
            </a:r>
            <a:r>
              <a:rPr lang="zh-CN" altLang="en-US" sz="1700" b="1" dirty="0"/>
              <a:t>， 则称该系统满足迭加性。 </a:t>
            </a:r>
          </a:p>
        </p:txBody>
      </p:sp>
      <p:sp>
        <p:nvSpPr>
          <p:cNvPr id="124932" name="Rectangle 7"/>
          <p:cNvSpPr>
            <a:spLocks noChangeArrowheads="1"/>
          </p:cNvSpPr>
          <p:nvPr/>
        </p:nvSpPr>
        <p:spPr bwMode="auto">
          <a:xfrm>
            <a:off x="177800" y="577850"/>
            <a:ext cx="5145314"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500" dirty="0">
                <a:solidFill>
                  <a:srgbClr val="FF0000"/>
                </a:solidFill>
                <a:latin typeface="Times New Roman" panose="02020603050405020304" pitchFamily="18" charset="0"/>
              </a:rPr>
              <a:t>回顾</a:t>
            </a:r>
            <a:r>
              <a:rPr lang="en-US" altLang="zh-CN" sz="2500" dirty="0">
                <a:solidFill>
                  <a:srgbClr val="FF0000"/>
                </a:solidFill>
                <a:latin typeface="Times New Roman" panose="02020603050405020304" pitchFamily="18" charset="0"/>
              </a:rPr>
              <a:t>	</a:t>
            </a:r>
            <a:r>
              <a:rPr lang="zh-CN" altLang="en-US" dirty="0">
                <a:solidFill>
                  <a:srgbClr val="0000FF"/>
                </a:solidFill>
              </a:rPr>
              <a:t>线性系统和非线性系统</a:t>
            </a:r>
            <a:endParaRPr lang="zh-CN" altLang="en-US" sz="2000" dirty="0">
              <a:solidFill>
                <a:srgbClr val="FF0000"/>
              </a:solidFill>
              <a:latin typeface="Times New Roman" panose="02020603050405020304" pitchFamily="18" charset="0"/>
            </a:endParaRPr>
          </a:p>
        </p:txBody>
      </p:sp>
      <p:sp>
        <p:nvSpPr>
          <p:cNvPr id="1552392" name="Rectangle 8"/>
          <p:cNvSpPr>
            <a:spLocks noChangeArrowheads="1"/>
          </p:cNvSpPr>
          <p:nvPr/>
        </p:nvSpPr>
        <p:spPr bwMode="auto">
          <a:xfrm>
            <a:off x="580343" y="3566974"/>
            <a:ext cx="7741786" cy="1435012"/>
          </a:xfrm>
          <a:prstGeom prst="rect">
            <a:avLst/>
          </a:prstGeom>
          <a:solidFill>
            <a:srgbClr val="FFFFFF"/>
          </a:solidFill>
          <a:ln w="57150">
            <a:solidFill>
              <a:schemeClr val="hlink"/>
            </a:solidFill>
            <a:miter lim="800000"/>
          </a:ln>
          <a:effectLst>
            <a:prstShdw prst="shdw11">
              <a:srgbClr val="808080">
                <a:alpha val="50000"/>
              </a:srgbClr>
            </a:prstShdw>
          </a:effec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Char char="l"/>
            </a:pPr>
            <a:r>
              <a:rPr lang="zh-CN" altLang="en-US" sz="1700" dirty="0">
                <a:latin typeface="+mn-ea"/>
                <a:ea typeface="+mn-ea"/>
              </a:rPr>
              <a:t>具有</a:t>
            </a:r>
            <a:r>
              <a:rPr lang="zh-CN" altLang="en-US" sz="1700" dirty="0">
                <a:solidFill>
                  <a:srgbClr val="FF0000"/>
                </a:solidFill>
                <a:latin typeface="+mn-ea"/>
                <a:ea typeface="+mn-ea"/>
              </a:rPr>
              <a:t>叠加性</a:t>
            </a:r>
            <a:r>
              <a:rPr lang="zh-CN" altLang="en-US" sz="1700" dirty="0">
                <a:latin typeface="+mn-ea"/>
                <a:ea typeface="+mn-ea"/>
              </a:rPr>
              <a:t>与</a:t>
            </a:r>
            <a:r>
              <a:rPr lang="zh-CN" altLang="en-US" sz="1700" dirty="0">
                <a:solidFill>
                  <a:srgbClr val="FF0000"/>
                </a:solidFill>
                <a:latin typeface="+mn-ea"/>
                <a:ea typeface="+mn-ea"/>
              </a:rPr>
              <a:t>齐次性</a:t>
            </a:r>
            <a:r>
              <a:rPr lang="zh-CN" altLang="en-US" sz="1700" dirty="0">
                <a:latin typeface="+mn-ea"/>
                <a:ea typeface="+mn-ea"/>
              </a:rPr>
              <a:t>的系统称为</a:t>
            </a:r>
            <a:r>
              <a:rPr lang="zh-CN" altLang="en-US" sz="1700" dirty="0">
                <a:solidFill>
                  <a:srgbClr val="FF0000"/>
                </a:solidFill>
                <a:latin typeface="+mn-ea"/>
                <a:ea typeface="+mn-ea"/>
              </a:rPr>
              <a:t>线性系统</a:t>
            </a:r>
            <a:r>
              <a:rPr lang="zh-CN" altLang="en-US" sz="1700" dirty="0">
                <a:latin typeface="+mn-ea"/>
                <a:ea typeface="+mn-ea"/>
              </a:rPr>
              <a:t>，即： </a:t>
            </a:r>
            <a:r>
              <a:rPr lang="en-US" altLang="zh-CN" sz="1700" dirty="0">
                <a:latin typeface="+mn-ea"/>
                <a:ea typeface="+mn-ea"/>
              </a:rPr>
              <a:t>e</a:t>
            </a:r>
            <a:r>
              <a:rPr lang="en-US" altLang="zh-CN" sz="1700" baseline="-25000" dirty="0">
                <a:latin typeface="+mn-ea"/>
                <a:ea typeface="+mn-ea"/>
              </a:rPr>
              <a:t>1</a:t>
            </a:r>
            <a:r>
              <a:rPr lang="en-US" altLang="zh-CN" sz="1700" dirty="0">
                <a:latin typeface="+mn-ea"/>
                <a:ea typeface="+mn-ea"/>
              </a:rPr>
              <a:t>(t)→r</a:t>
            </a:r>
            <a:r>
              <a:rPr lang="en-US" altLang="zh-CN" sz="1700" baseline="-25000" dirty="0">
                <a:latin typeface="+mn-ea"/>
                <a:ea typeface="+mn-ea"/>
              </a:rPr>
              <a:t>1</a:t>
            </a:r>
            <a:r>
              <a:rPr lang="en-US" altLang="zh-CN" sz="1700" dirty="0">
                <a:latin typeface="+mn-ea"/>
                <a:ea typeface="+mn-ea"/>
              </a:rPr>
              <a:t>(t)</a:t>
            </a:r>
            <a:r>
              <a:rPr lang="zh-CN" altLang="en-US" sz="1700" dirty="0">
                <a:latin typeface="+mn-ea"/>
                <a:ea typeface="+mn-ea"/>
              </a:rPr>
              <a:t>且</a:t>
            </a:r>
            <a:r>
              <a:rPr lang="en-US" altLang="zh-CN" sz="1700" dirty="0">
                <a:latin typeface="+mn-ea"/>
                <a:ea typeface="+mn-ea"/>
              </a:rPr>
              <a:t>e</a:t>
            </a:r>
            <a:r>
              <a:rPr lang="en-US" altLang="zh-CN" sz="1700" baseline="-25000" dirty="0">
                <a:latin typeface="+mn-ea"/>
                <a:ea typeface="+mn-ea"/>
              </a:rPr>
              <a:t>2</a:t>
            </a:r>
            <a:r>
              <a:rPr lang="en-US" altLang="zh-CN" sz="1700" dirty="0">
                <a:latin typeface="+mn-ea"/>
                <a:ea typeface="+mn-ea"/>
              </a:rPr>
              <a:t>(t)→r</a:t>
            </a:r>
            <a:r>
              <a:rPr lang="en-US" altLang="zh-CN" sz="1700" baseline="-25000" dirty="0">
                <a:latin typeface="+mn-ea"/>
                <a:ea typeface="+mn-ea"/>
              </a:rPr>
              <a:t>2</a:t>
            </a:r>
            <a:r>
              <a:rPr lang="en-US" altLang="zh-CN" sz="1700" dirty="0">
                <a:latin typeface="+mn-ea"/>
                <a:ea typeface="+mn-ea"/>
              </a:rPr>
              <a:t>(t)</a:t>
            </a:r>
            <a:r>
              <a:rPr lang="zh-CN" altLang="en-US" sz="1700" dirty="0">
                <a:latin typeface="+mn-ea"/>
                <a:ea typeface="+mn-ea"/>
              </a:rPr>
              <a:t>时 ，有</a:t>
            </a:r>
            <a:r>
              <a:rPr lang="en-US" altLang="zh-CN" sz="1700" dirty="0">
                <a:latin typeface="+mn-ea"/>
                <a:ea typeface="+mn-ea"/>
              </a:rPr>
              <a:t>k</a:t>
            </a:r>
            <a:r>
              <a:rPr lang="en-US" altLang="zh-CN" sz="1700" baseline="-25000" dirty="0">
                <a:latin typeface="+mn-ea"/>
                <a:ea typeface="+mn-ea"/>
              </a:rPr>
              <a:t>1</a:t>
            </a:r>
            <a:r>
              <a:rPr lang="en-US" altLang="zh-CN" sz="1700" dirty="0">
                <a:latin typeface="+mn-ea"/>
                <a:ea typeface="+mn-ea"/>
              </a:rPr>
              <a:t> e</a:t>
            </a:r>
            <a:r>
              <a:rPr lang="en-US" altLang="zh-CN" sz="1700" baseline="-25000" dirty="0">
                <a:latin typeface="+mn-ea"/>
                <a:ea typeface="+mn-ea"/>
              </a:rPr>
              <a:t>1</a:t>
            </a:r>
            <a:r>
              <a:rPr lang="en-US" altLang="zh-CN" sz="1700" dirty="0">
                <a:latin typeface="+mn-ea"/>
                <a:ea typeface="+mn-ea"/>
              </a:rPr>
              <a:t>(t)</a:t>
            </a:r>
            <a:r>
              <a:rPr lang="zh-CN" altLang="en-US" sz="1700" dirty="0">
                <a:latin typeface="+mn-ea"/>
                <a:ea typeface="+mn-ea"/>
              </a:rPr>
              <a:t>＋</a:t>
            </a:r>
            <a:r>
              <a:rPr lang="en-US" altLang="zh-CN" sz="1700" dirty="0">
                <a:latin typeface="+mn-ea"/>
                <a:ea typeface="+mn-ea"/>
              </a:rPr>
              <a:t>k</a:t>
            </a:r>
            <a:r>
              <a:rPr lang="en-US" altLang="zh-CN" sz="1700" baseline="-25000" dirty="0">
                <a:latin typeface="+mn-ea"/>
                <a:ea typeface="+mn-ea"/>
              </a:rPr>
              <a:t>2</a:t>
            </a:r>
            <a:r>
              <a:rPr lang="en-US" altLang="zh-CN" sz="1700" dirty="0">
                <a:latin typeface="+mn-ea"/>
                <a:ea typeface="+mn-ea"/>
              </a:rPr>
              <a:t> e</a:t>
            </a:r>
            <a:r>
              <a:rPr lang="en-US" altLang="zh-CN" sz="1700" baseline="-25000" dirty="0">
                <a:latin typeface="+mn-ea"/>
                <a:ea typeface="+mn-ea"/>
              </a:rPr>
              <a:t>2</a:t>
            </a:r>
            <a:r>
              <a:rPr lang="en-US" altLang="zh-CN" sz="1700" dirty="0">
                <a:latin typeface="+mn-ea"/>
                <a:ea typeface="+mn-ea"/>
              </a:rPr>
              <a:t>(t)→k</a:t>
            </a:r>
            <a:r>
              <a:rPr lang="en-US" altLang="zh-CN" sz="1700" baseline="-25000" dirty="0">
                <a:latin typeface="+mn-ea"/>
                <a:ea typeface="+mn-ea"/>
              </a:rPr>
              <a:t>1</a:t>
            </a:r>
            <a:r>
              <a:rPr lang="en-US" altLang="zh-CN" sz="1700" dirty="0">
                <a:latin typeface="+mn-ea"/>
                <a:ea typeface="+mn-ea"/>
              </a:rPr>
              <a:t>r</a:t>
            </a:r>
            <a:r>
              <a:rPr lang="en-US" altLang="zh-CN" sz="1700" baseline="-25000" dirty="0">
                <a:latin typeface="+mn-ea"/>
                <a:ea typeface="+mn-ea"/>
              </a:rPr>
              <a:t>1</a:t>
            </a:r>
            <a:r>
              <a:rPr lang="en-US" altLang="zh-CN" sz="1700" dirty="0">
                <a:latin typeface="+mn-ea"/>
                <a:ea typeface="+mn-ea"/>
              </a:rPr>
              <a:t>(t)</a:t>
            </a:r>
            <a:r>
              <a:rPr lang="zh-CN" altLang="en-US" sz="1700" dirty="0">
                <a:latin typeface="+mn-ea"/>
                <a:ea typeface="+mn-ea"/>
              </a:rPr>
              <a:t>＋</a:t>
            </a:r>
            <a:r>
              <a:rPr lang="en-US" altLang="zh-CN" sz="1700" dirty="0">
                <a:latin typeface="+mn-ea"/>
                <a:ea typeface="+mn-ea"/>
              </a:rPr>
              <a:t>k</a:t>
            </a:r>
            <a:r>
              <a:rPr lang="en-US" altLang="zh-CN" sz="1700" baseline="-25000" dirty="0">
                <a:latin typeface="+mn-ea"/>
                <a:ea typeface="+mn-ea"/>
              </a:rPr>
              <a:t>2</a:t>
            </a:r>
            <a:r>
              <a:rPr lang="en-US" altLang="zh-CN" sz="1700" dirty="0">
                <a:latin typeface="+mn-ea"/>
                <a:ea typeface="+mn-ea"/>
              </a:rPr>
              <a:t>r</a:t>
            </a:r>
            <a:r>
              <a:rPr lang="en-US" altLang="zh-CN" sz="1700" baseline="-25000" dirty="0">
                <a:latin typeface="+mn-ea"/>
                <a:ea typeface="+mn-ea"/>
              </a:rPr>
              <a:t>2</a:t>
            </a:r>
            <a:r>
              <a:rPr lang="en-US" altLang="zh-CN" sz="1700" dirty="0">
                <a:latin typeface="+mn-ea"/>
                <a:ea typeface="+mn-ea"/>
              </a:rPr>
              <a:t>(t)  </a:t>
            </a:r>
            <a:r>
              <a:rPr lang="zh-CN" altLang="en-US" sz="1700" dirty="0">
                <a:latin typeface="+mn-ea"/>
                <a:ea typeface="+mn-ea"/>
              </a:rPr>
              <a:t>。</a:t>
            </a:r>
          </a:p>
          <a:p>
            <a:pPr eaLnBrk="1" hangingPunct="1">
              <a:lnSpc>
                <a:spcPct val="145000"/>
              </a:lnSpc>
              <a:spcBef>
                <a:spcPct val="40000"/>
              </a:spcBef>
              <a:buClr>
                <a:schemeClr val="accent2"/>
              </a:buClr>
              <a:buFont typeface="Wingdings" panose="05000000000000000000" pitchFamily="2" charset="2"/>
              <a:buChar char="l"/>
            </a:pPr>
            <a:r>
              <a:rPr lang="zh-CN" altLang="en-US" sz="1700" dirty="0">
                <a:latin typeface="+mn-ea"/>
                <a:ea typeface="+mn-ea"/>
              </a:rPr>
              <a:t>相应地，不具有叠加性与齐次性的系统称为</a:t>
            </a:r>
            <a:r>
              <a:rPr lang="zh-CN" altLang="en-US" sz="1700" dirty="0">
                <a:solidFill>
                  <a:srgbClr val="FF0000"/>
                </a:solidFill>
                <a:latin typeface="+mn-ea"/>
                <a:ea typeface="+mn-ea"/>
              </a:rPr>
              <a:t>非线性系统</a:t>
            </a:r>
            <a:r>
              <a:rPr lang="zh-CN" altLang="en-US" sz="1700" dirty="0">
                <a:latin typeface="+mn-ea"/>
                <a:ea typeface="+mn-ea"/>
              </a:rPr>
              <a:t>。</a:t>
            </a:r>
          </a:p>
        </p:txBody>
      </p:sp>
      <p:sp>
        <p:nvSpPr>
          <p:cNvPr id="10" name="日期占位符 9"/>
          <p:cNvSpPr>
            <a:spLocks noGrp="1"/>
          </p:cNvSpPr>
          <p:nvPr>
            <p:ph type="dt" sz="quarter" idx="10"/>
          </p:nvPr>
        </p:nvSpPr>
        <p:spPr/>
        <p:txBody>
          <a:bodyPr/>
          <a:lstStyle/>
          <a:p>
            <a:pPr>
              <a:defRPr/>
            </a:pPr>
            <a:fld id="{ACD6A22A-333E-47C2-A9D2-0169DC0AD396}" type="datetime3">
              <a:rPr lang="zh-CN" altLang="en-US"/>
              <a:t>2026年3月4日星期三</a:t>
            </a:fld>
            <a:endParaRPr lang="en-US" altLang="zh-CN" dirty="0"/>
          </a:p>
        </p:txBody>
      </p:sp>
      <p:sp>
        <p:nvSpPr>
          <p:cNvPr id="8" name="Rectangle 8"/>
          <p:cNvSpPr>
            <a:spLocks noChangeArrowheads="1"/>
          </p:cNvSpPr>
          <p:nvPr/>
        </p:nvSpPr>
        <p:spPr bwMode="auto">
          <a:xfrm>
            <a:off x="622299" y="5181429"/>
            <a:ext cx="7741786" cy="1622142"/>
          </a:xfrm>
          <a:prstGeom prst="rect">
            <a:avLst/>
          </a:prstGeom>
          <a:solidFill>
            <a:srgbClr val="FFFFFF"/>
          </a:solidFill>
          <a:ln w="57150">
            <a:solidFill>
              <a:srgbClr val="FF0000"/>
            </a:solidFill>
            <a:miter lim="800000"/>
          </a:ln>
          <a:effectLst>
            <a:prstShdw prst="shdw11">
              <a:srgbClr val="808080">
                <a:alpha val="50000"/>
              </a:srgbClr>
            </a:prstShdw>
          </a:effectLst>
        </p:spPr>
        <p:txBody>
          <a:bodyPr lIns="91433" tIns="45716" rIns="91433" bIns="45716"/>
          <a:lstStyle>
            <a:lvl1pPr marL="344805" indent="-3448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5000"/>
              </a:lnSpc>
              <a:spcBef>
                <a:spcPct val="40000"/>
              </a:spcBef>
              <a:buClr>
                <a:schemeClr val="accent2"/>
              </a:buClr>
              <a:buFont typeface="Wingdings" panose="05000000000000000000" pitchFamily="2" charset="2"/>
              <a:buChar char="l"/>
            </a:pPr>
            <a:r>
              <a:rPr lang="zh-CN" altLang="en-US" sz="2000" dirty="0">
                <a:solidFill>
                  <a:srgbClr val="FF0000"/>
                </a:solidFill>
                <a:latin typeface="+mn-ea"/>
                <a:ea typeface="+mn-ea"/>
              </a:rPr>
              <a:t>线性系统</a:t>
            </a:r>
            <a:r>
              <a:rPr lang="zh-CN" altLang="en-US" sz="2000" dirty="0">
                <a:latin typeface="+mn-ea"/>
                <a:ea typeface="+mn-ea"/>
              </a:rPr>
              <a:t>由线性元件组成，用</a:t>
            </a:r>
            <a:r>
              <a:rPr lang="zh-CN" altLang="en-US" sz="2000" dirty="0">
                <a:solidFill>
                  <a:srgbClr val="FF0000"/>
                </a:solidFill>
                <a:latin typeface="+mn-ea"/>
                <a:ea typeface="+mn-ea"/>
              </a:rPr>
              <a:t>常微（差）分方程</a:t>
            </a:r>
            <a:r>
              <a:rPr lang="zh-CN" altLang="en-US" sz="2000" dirty="0">
                <a:latin typeface="+mn-ea"/>
                <a:ea typeface="+mn-ea"/>
              </a:rPr>
              <a:t>的数学模型描述</a:t>
            </a:r>
            <a:endParaRPr lang="en-US" altLang="zh-CN" sz="2000" dirty="0">
              <a:latin typeface="+mn-ea"/>
              <a:ea typeface="+mn-ea"/>
            </a:endParaRPr>
          </a:p>
          <a:p>
            <a:pPr eaLnBrk="1" hangingPunct="1">
              <a:lnSpc>
                <a:spcPct val="145000"/>
              </a:lnSpc>
              <a:spcBef>
                <a:spcPct val="40000"/>
              </a:spcBef>
              <a:buClr>
                <a:schemeClr val="accent2"/>
              </a:buClr>
              <a:buFont typeface="Wingdings" panose="05000000000000000000" pitchFamily="2" charset="2"/>
              <a:buChar char="l"/>
            </a:pPr>
            <a:r>
              <a:rPr lang="zh-CN" altLang="en-US" sz="2000" dirty="0">
                <a:solidFill>
                  <a:srgbClr val="FF0000"/>
                </a:solidFill>
                <a:latin typeface="+mn-ea"/>
                <a:ea typeface="+mn-ea"/>
              </a:rPr>
              <a:t>非线性系统</a:t>
            </a:r>
            <a:r>
              <a:rPr lang="zh-CN" altLang="en-US" sz="2000" dirty="0">
                <a:latin typeface="+mn-ea"/>
                <a:ea typeface="+mn-ea"/>
              </a:rPr>
              <a:t>中则含有非线性元件，用</a:t>
            </a:r>
            <a:r>
              <a:rPr lang="zh-CN" altLang="en-US" sz="2000" dirty="0">
                <a:solidFill>
                  <a:srgbClr val="FF0000"/>
                </a:solidFill>
                <a:latin typeface="+mn-ea"/>
                <a:ea typeface="+mn-ea"/>
              </a:rPr>
              <a:t>偏微（差）分方程</a:t>
            </a:r>
            <a:r>
              <a:rPr lang="zh-CN" altLang="en-US" sz="2000" dirty="0">
                <a:latin typeface="+mn-ea"/>
                <a:ea typeface="+mn-ea"/>
              </a:rPr>
              <a:t>的数学模型描述</a:t>
            </a:r>
          </a:p>
        </p:txBody>
      </p:sp>
    </p:spTree>
    <p:custDataLst>
      <p:tags r:id="rId1"/>
    </p:custDataLst>
  </p:cSld>
  <p:clrMapOvr>
    <a:masterClrMapping/>
  </p:clrMapOvr>
  <p:transition spd="med" advTm="71129">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52387">
                                            <p:bg/>
                                          </p:spTgt>
                                        </p:tgtEl>
                                        <p:attrNameLst>
                                          <p:attrName>style.visibility</p:attrName>
                                        </p:attrNameLst>
                                      </p:cBhvr>
                                      <p:to>
                                        <p:strVal val="visible"/>
                                      </p:to>
                                    </p:set>
                                    <p:anim calcmode="lin" valueType="num">
                                      <p:cBhvr>
                                        <p:cTn id="7" dur="1000" fill="hold"/>
                                        <p:tgtEl>
                                          <p:spTgt spid="1552387">
                                            <p:bg/>
                                          </p:spTgt>
                                        </p:tgtEl>
                                        <p:attrNameLst>
                                          <p:attrName>ppt_w</p:attrName>
                                        </p:attrNameLst>
                                      </p:cBhvr>
                                      <p:tavLst>
                                        <p:tav tm="0">
                                          <p:val>
                                            <p:strVal val="#ppt_w*0.70"/>
                                          </p:val>
                                        </p:tav>
                                        <p:tav tm="100000">
                                          <p:val>
                                            <p:strVal val="#ppt_w"/>
                                          </p:val>
                                        </p:tav>
                                      </p:tavLst>
                                    </p:anim>
                                    <p:anim calcmode="lin" valueType="num">
                                      <p:cBhvr>
                                        <p:cTn id="8" dur="1000" fill="hold"/>
                                        <p:tgtEl>
                                          <p:spTgt spid="1552387">
                                            <p:bg/>
                                          </p:spTgt>
                                        </p:tgtEl>
                                        <p:attrNameLst>
                                          <p:attrName>ppt_h</p:attrName>
                                        </p:attrNameLst>
                                      </p:cBhvr>
                                      <p:tavLst>
                                        <p:tav tm="0">
                                          <p:val>
                                            <p:strVal val="#ppt_h"/>
                                          </p:val>
                                        </p:tav>
                                        <p:tav tm="100000">
                                          <p:val>
                                            <p:strVal val="#ppt_h"/>
                                          </p:val>
                                        </p:tav>
                                      </p:tavLst>
                                    </p:anim>
                                    <p:animEffect transition="in" filter="fade">
                                      <p:cBhvr>
                                        <p:cTn id="9" dur="1000"/>
                                        <p:tgtEl>
                                          <p:spTgt spid="1552387">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52387">
                                            <p:txEl>
                                              <p:pRg st="0" end="0"/>
                                            </p:txEl>
                                          </p:spTgt>
                                        </p:tgtEl>
                                        <p:attrNameLst>
                                          <p:attrName>style.visibility</p:attrName>
                                        </p:attrNameLst>
                                      </p:cBhvr>
                                      <p:to>
                                        <p:strVal val="visible"/>
                                      </p:to>
                                    </p:set>
                                    <p:anim calcmode="lin" valueType="num">
                                      <p:cBhvr>
                                        <p:cTn id="13" dur="1000" fill="hold"/>
                                        <p:tgtEl>
                                          <p:spTgt spid="1552387">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552387">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552387">
                                            <p:txEl>
                                              <p:pRg st="0" end="0"/>
                                            </p:txEl>
                                          </p:spTgt>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1552387">
                                            <p:txEl>
                                              <p:pRg st="1" end="1"/>
                                            </p:txEl>
                                          </p:spTgt>
                                        </p:tgtEl>
                                        <p:attrNameLst>
                                          <p:attrName>style.visibility</p:attrName>
                                        </p:attrNameLst>
                                      </p:cBhvr>
                                      <p:to>
                                        <p:strVal val="visible"/>
                                      </p:to>
                                    </p:set>
                                    <p:anim calcmode="lin" valueType="num">
                                      <p:cBhvr>
                                        <p:cTn id="19" dur="1000" fill="hold"/>
                                        <p:tgtEl>
                                          <p:spTgt spid="1552387">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1552387">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1552387">
                                            <p:txEl>
                                              <p:pRg st="1" end="1"/>
                                            </p:txEl>
                                          </p:spTgt>
                                        </p:tgtEl>
                                      </p:cBhvr>
                                    </p:animEffect>
                                  </p:childTnLst>
                                </p:cTn>
                              </p:par>
                            </p:childTnLst>
                          </p:cTn>
                        </p:par>
                        <p:par>
                          <p:cTn id="22" fill="hold">
                            <p:stCondLst>
                              <p:cond delay="3000"/>
                            </p:stCondLst>
                            <p:childTnLst>
                              <p:par>
                                <p:cTn id="23" presetID="55" presetClass="entr" presetSubtype="0" fill="hold" grpId="0" nodeType="afterEffect">
                                  <p:stCondLst>
                                    <p:cond delay="0"/>
                                  </p:stCondLst>
                                  <p:childTnLst>
                                    <p:set>
                                      <p:cBhvr>
                                        <p:cTn id="24" dur="1" fill="hold">
                                          <p:stCondLst>
                                            <p:cond delay="0"/>
                                          </p:stCondLst>
                                        </p:cTn>
                                        <p:tgtEl>
                                          <p:spTgt spid="1552387">
                                            <p:txEl>
                                              <p:pRg st="2" end="2"/>
                                            </p:txEl>
                                          </p:spTgt>
                                        </p:tgtEl>
                                        <p:attrNameLst>
                                          <p:attrName>style.visibility</p:attrName>
                                        </p:attrNameLst>
                                      </p:cBhvr>
                                      <p:to>
                                        <p:strVal val="visible"/>
                                      </p:to>
                                    </p:set>
                                    <p:anim calcmode="lin" valueType="num">
                                      <p:cBhvr>
                                        <p:cTn id="25" dur="1000" fill="hold"/>
                                        <p:tgtEl>
                                          <p:spTgt spid="1552387">
                                            <p:txEl>
                                              <p:pRg st="2" end="2"/>
                                            </p:txEl>
                                          </p:spTgt>
                                        </p:tgtEl>
                                        <p:attrNameLst>
                                          <p:attrName>ppt_w</p:attrName>
                                        </p:attrNameLst>
                                      </p:cBhvr>
                                      <p:tavLst>
                                        <p:tav tm="0">
                                          <p:val>
                                            <p:strVal val="#ppt_w*0.70"/>
                                          </p:val>
                                        </p:tav>
                                        <p:tav tm="100000">
                                          <p:val>
                                            <p:strVal val="#ppt_w"/>
                                          </p:val>
                                        </p:tav>
                                      </p:tavLst>
                                    </p:anim>
                                    <p:anim calcmode="lin" valueType="num">
                                      <p:cBhvr>
                                        <p:cTn id="26" dur="1000" fill="hold"/>
                                        <p:tgtEl>
                                          <p:spTgt spid="1552387">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155238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childTnLst>
                                    <p:set>
                                      <p:cBhvr>
                                        <p:cTn id="31" dur="1" fill="hold">
                                          <p:stCondLst>
                                            <p:cond delay="0"/>
                                          </p:stCondLst>
                                        </p:cTn>
                                        <p:tgtEl>
                                          <p:spTgt spid="1552392"/>
                                        </p:tgtEl>
                                        <p:attrNameLst>
                                          <p:attrName>style.visibility</p:attrName>
                                        </p:attrNameLst>
                                      </p:cBhvr>
                                      <p:to>
                                        <p:strVal val="visible"/>
                                      </p:to>
                                    </p:set>
                                    <p:anim calcmode="lin" valueType="num">
                                      <p:cBhvr>
                                        <p:cTn id="32" dur="1000" fill="hold"/>
                                        <p:tgtEl>
                                          <p:spTgt spid="1552392"/>
                                        </p:tgtEl>
                                        <p:attrNameLst>
                                          <p:attrName>ppt_w</p:attrName>
                                        </p:attrNameLst>
                                      </p:cBhvr>
                                      <p:tavLst>
                                        <p:tav tm="0">
                                          <p:val>
                                            <p:strVal val="#ppt_w*0.70"/>
                                          </p:val>
                                        </p:tav>
                                        <p:tav tm="100000">
                                          <p:val>
                                            <p:strVal val="#ppt_w"/>
                                          </p:val>
                                        </p:tav>
                                      </p:tavLst>
                                    </p:anim>
                                    <p:anim calcmode="lin" valueType="num">
                                      <p:cBhvr>
                                        <p:cTn id="33" dur="1000" fill="hold"/>
                                        <p:tgtEl>
                                          <p:spTgt spid="1552392"/>
                                        </p:tgtEl>
                                        <p:attrNameLst>
                                          <p:attrName>ppt_h</p:attrName>
                                        </p:attrNameLst>
                                      </p:cBhvr>
                                      <p:tavLst>
                                        <p:tav tm="0">
                                          <p:val>
                                            <p:strVal val="#ppt_h"/>
                                          </p:val>
                                        </p:tav>
                                        <p:tav tm="100000">
                                          <p:val>
                                            <p:strVal val="#ppt_h"/>
                                          </p:val>
                                        </p:tav>
                                      </p:tavLst>
                                    </p:anim>
                                    <p:animEffect transition="in" filter="fade">
                                      <p:cBhvr>
                                        <p:cTn id="34" dur="1000"/>
                                        <p:tgtEl>
                                          <p:spTgt spid="1552392"/>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1000" fill="hold"/>
                                        <p:tgtEl>
                                          <p:spTgt spid="8"/>
                                        </p:tgtEl>
                                        <p:attrNameLst>
                                          <p:attrName>ppt_w</p:attrName>
                                        </p:attrNameLst>
                                      </p:cBhvr>
                                      <p:tavLst>
                                        <p:tav tm="0">
                                          <p:val>
                                            <p:strVal val="#ppt_w*0.70"/>
                                          </p:val>
                                        </p:tav>
                                        <p:tav tm="100000">
                                          <p:val>
                                            <p:strVal val="#ppt_w"/>
                                          </p:val>
                                        </p:tav>
                                      </p:tavLst>
                                    </p:anim>
                                    <p:anim calcmode="lin" valueType="num">
                                      <p:cBhvr>
                                        <p:cTn id="40" dur="1000" fill="hold"/>
                                        <p:tgtEl>
                                          <p:spTgt spid="8"/>
                                        </p:tgtEl>
                                        <p:attrNameLst>
                                          <p:attrName>ppt_h</p:attrName>
                                        </p:attrNameLst>
                                      </p:cBhvr>
                                      <p:tavLst>
                                        <p:tav tm="0">
                                          <p:val>
                                            <p:strVal val="#ppt_h"/>
                                          </p:val>
                                        </p:tav>
                                        <p:tav tm="100000">
                                          <p:val>
                                            <p:strVal val="#ppt_h"/>
                                          </p:val>
                                        </p:tav>
                                      </p:tavLst>
                                    </p:anim>
                                    <p:animEffect transition="in" filter="fade">
                                      <p:cBhvr>
                                        <p:cTn id="41" dur="10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8">
                                            <p:txEl>
                                              <p:pRg st="1" end="1"/>
                                            </p:txEl>
                                          </p:spTgt>
                                        </p:tgtEl>
                                        <p:attrNameLst>
                                          <p:attrName>style.visibility</p:attrName>
                                        </p:attrNameLst>
                                      </p:cBhvr>
                                      <p:to>
                                        <p:strVal val="visible"/>
                                      </p:to>
                                    </p:set>
                                    <p:animEffect transition="in" filter="barn(inVertical)">
                                      <p:cBhvr>
                                        <p:cTn id="46"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2387" grpId="0" build="p" animBg="1"/>
      <p:bldP spid="1552392" grpId="0" animBg="1"/>
      <p:bldP spid="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170386" y="575026"/>
            <a:ext cx="7129758" cy="673100"/>
          </a:xfrm>
        </p:spPr>
        <p:txBody>
          <a:bodyPr/>
          <a:lstStyle/>
          <a:p>
            <a:r>
              <a:rPr lang="zh-CN" altLang="en-US" sz="3200" b="1" dirty="0">
                <a:solidFill>
                  <a:srgbClr val="FF0000"/>
                </a:solidFill>
                <a:latin typeface="Times New Roman" panose="02020603050405020304" pitchFamily="18" charset="0"/>
              </a:rPr>
              <a:t>回顾  </a:t>
            </a:r>
            <a:r>
              <a:rPr lang="zh-CN" altLang="en-US" sz="2800" b="1" dirty="0">
                <a:solidFill>
                  <a:srgbClr val="0000FF"/>
                </a:solidFill>
                <a:ea typeface="黑体" panose="02010609060101010101" pitchFamily="49" charset="-122"/>
              </a:rPr>
              <a:t>时不变系统与时变系统</a:t>
            </a:r>
          </a:p>
        </p:txBody>
      </p:sp>
      <p:sp>
        <p:nvSpPr>
          <p:cNvPr id="1553411" name="Rectangle 3"/>
          <p:cNvSpPr>
            <a:spLocks noGrp="1" noChangeArrowheads="1"/>
          </p:cNvSpPr>
          <p:nvPr>
            <p:ph type="body" sz="half" idx="1"/>
          </p:nvPr>
        </p:nvSpPr>
        <p:spPr>
          <a:xfrm>
            <a:off x="700482" y="1595901"/>
            <a:ext cx="7925254" cy="4840514"/>
          </a:xfrm>
          <a:solidFill>
            <a:srgbClr val="FFFFFF"/>
          </a:solidFill>
          <a:ln w="57150">
            <a:solidFill>
              <a:schemeClr val="tx1"/>
            </a:solidFill>
            <a:miter lim="800000"/>
          </a:ln>
          <a:effectLst>
            <a:prstShdw prst="shdw12">
              <a:srgbClr val="808080">
                <a:alpha val="50000"/>
              </a:srgbClr>
            </a:prstShdw>
          </a:effectLst>
        </p:spPr>
        <p:txBody>
          <a:bodyPr/>
          <a:lstStyle/>
          <a:p>
            <a:pPr>
              <a:lnSpc>
                <a:spcPct val="145000"/>
              </a:lnSpc>
              <a:spcBef>
                <a:spcPct val="45000"/>
              </a:spcBef>
              <a:buFont typeface="Wingdings" panose="05000000000000000000" pitchFamily="2" charset="2"/>
              <a:buChar char="l"/>
            </a:pPr>
            <a:r>
              <a:rPr lang="zh-CN" altLang="en-US" sz="1700" b="1" dirty="0"/>
              <a:t>如果在零状态条件下，系统输出响应的形状不随输入激励施加的时间不同而改变，则该系统为</a:t>
            </a:r>
            <a:r>
              <a:rPr lang="zh-CN" altLang="en-US" sz="1700" b="1" dirty="0">
                <a:solidFill>
                  <a:srgbClr val="FF0000"/>
                </a:solidFill>
              </a:rPr>
              <a:t>时不变系统</a:t>
            </a:r>
            <a:r>
              <a:rPr lang="zh-CN" altLang="en-US" sz="1700" b="1" dirty="0"/>
              <a:t>。否则，为</a:t>
            </a:r>
            <a:r>
              <a:rPr lang="zh-CN" altLang="en-US" sz="1700" b="1" dirty="0">
                <a:solidFill>
                  <a:srgbClr val="FF0000"/>
                </a:solidFill>
              </a:rPr>
              <a:t>时变系统</a:t>
            </a:r>
            <a:r>
              <a:rPr lang="zh-CN" altLang="en-US" sz="1700" b="1" dirty="0"/>
              <a:t>。</a:t>
            </a:r>
          </a:p>
          <a:p>
            <a:pPr>
              <a:lnSpc>
                <a:spcPct val="145000"/>
              </a:lnSpc>
              <a:spcBef>
                <a:spcPct val="45000"/>
              </a:spcBef>
              <a:buFont typeface="Wingdings" panose="05000000000000000000" pitchFamily="2" charset="2"/>
              <a:buChar char="l"/>
            </a:pPr>
            <a:r>
              <a:rPr lang="zh-CN" altLang="en-US" sz="1700" b="1" dirty="0"/>
              <a:t>用符号表示就是</a:t>
            </a:r>
            <a:r>
              <a:rPr lang="en-US" altLang="zh-CN" sz="1700" b="1" dirty="0"/>
              <a:t>:</a:t>
            </a:r>
            <a:br>
              <a:rPr lang="en-US" altLang="zh-CN" sz="1700" b="1" dirty="0"/>
            </a:br>
            <a:r>
              <a:rPr lang="en-US" altLang="zh-CN" sz="1700" b="1" dirty="0"/>
              <a:t>        </a:t>
            </a:r>
            <a:r>
              <a:rPr lang="en-US" altLang="zh-CN" sz="1700" b="1" dirty="0">
                <a:solidFill>
                  <a:srgbClr val="FF0000"/>
                </a:solidFill>
              </a:rPr>
              <a:t> </a:t>
            </a:r>
            <a:r>
              <a:rPr lang="zh-CN" altLang="en-US" sz="1700" b="1" dirty="0">
                <a:solidFill>
                  <a:srgbClr val="FF0000"/>
                </a:solidFill>
              </a:rPr>
              <a:t>若：</a:t>
            </a:r>
            <a:r>
              <a:rPr lang="zh-CN" altLang="en-US" sz="1700" b="1" dirty="0"/>
              <a:t>  </a:t>
            </a:r>
            <a:r>
              <a:rPr lang="en-US" altLang="zh-CN" sz="1700" b="1" dirty="0"/>
              <a:t>e(t)→r(t) </a:t>
            </a:r>
          </a:p>
          <a:p>
            <a:pPr>
              <a:lnSpc>
                <a:spcPct val="145000"/>
              </a:lnSpc>
              <a:spcBef>
                <a:spcPct val="45000"/>
              </a:spcBef>
              <a:buFont typeface="Wingdings" panose="05000000000000000000" pitchFamily="2" charset="2"/>
              <a:buNone/>
            </a:pPr>
            <a:r>
              <a:rPr lang="en-US" altLang="zh-CN" sz="1700" b="1" dirty="0"/>
              <a:t>               </a:t>
            </a:r>
            <a:r>
              <a:rPr lang="zh-CN" altLang="en-US" sz="1700" b="1" dirty="0">
                <a:solidFill>
                  <a:srgbClr val="FF0000"/>
                </a:solidFill>
              </a:rPr>
              <a:t>则：</a:t>
            </a:r>
            <a:r>
              <a:rPr lang="zh-CN" altLang="en-US" sz="1700" b="1" dirty="0"/>
              <a:t>  </a:t>
            </a:r>
            <a:r>
              <a:rPr lang="en-US" altLang="zh-CN" sz="1700" b="1" dirty="0"/>
              <a:t>e(t-t</a:t>
            </a:r>
            <a:r>
              <a:rPr lang="en-US" altLang="zh-CN" sz="1700" b="1" baseline="-25000" dirty="0"/>
              <a:t>0</a:t>
            </a:r>
            <a:r>
              <a:rPr lang="en-US" altLang="zh-CN" sz="1700" b="1" dirty="0"/>
              <a:t>)→r(t-t</a:t>
            </a:r>
            <a:r>
              <a:rPr lang="en-US" altLang="zh-CN" sz="1700" b="1" baseline="-25000" dirty="0"/>
              <a:t>0</a:t>
            </a:r>
            <a:r>
              <a:rPr lang="en-US" altLang="zh-CN" sz="1700" b="1" dirty="0"/>
              <a:t>) </a:t>
            </a:r>
          </a:p>
          <a:p>
            <a:pPr>
              <a:lnSpc>
                <a:spcPct val="145000"/>
              </a:lnSpc>
              <a:spcBef>
                <a:spcPct val="45000"/>
              </a:spcBef>
              <a:buFont typeface="Wingdings" panose="05000000000000000000" pitchFamily="2" charset="2"/>
              <a:buChar char="l"/>
            </a:pPr>
            <a:r>
              <a:rPr lang="zh-CN" altLang="en-US" sz="1700" b="1" dirty="0"/>
              <a:t>线性时不变系统：</a:t>
            </a:r>
          </a:p>
          <a:p>
            <a:pPr>
              <a:lnSpc>
                <a:spcPct val="145000"/>
              </a:lnSpc>
              <a:spcBef>
                <a:spcPct val="45000"/>
              </a:spcBef>
              <a:buFont typeface="Wingdings" panose="05000000000000000000" pitchFamily="2" charset="2"/>
              <a:buNone/>
            </a:pPr>
            <a:r>
              <a:rPr lang="zh-CN" altLang="en-US" sz="1700" b="1" dirty="0">
                <a:solidFill>
                  <a:srgbClr val="FF0000"/>
                </a:solidFill>
              </a:rPr>
              <a:t>               若：</a:t>
            </a:r>
            <a:r>
              <a:rPr lang="zh-CN" altLang="en-US" sz="1700" b="1" dirty="0"/>
              <a:t>  </a:t>
            </a:r>
            <a:r>
              <a:rPr lang="en-US" altLang="zh-CN" sz="1700" b="1" dirty="0"/>
              <a:t>e</a:t>
            </a:r>
            <a:r>
              <a:rPr lang="en-US" altLang="zh-CN" sz="1700" b="1" baseline="-25000" dirty="0"/>
              <a:t>1</a:t>
            </a:r>
            <a:r>
              <a:rPr lang="en-US" altLang="zh-CN" sz="1700" b="1" dirty="0"/>
              <a:t>(t) → r</a:t>
            </a:r>
            <a:r>
              <a:rPr lang="en-US" altLang="zh-CN" sz="1700" b="1" baseline="-25000" dirty="0"/>
              <a:t>1</a:t>
            </a:r>
            <a:r>
              <a:rPr lang="en-US" altLang="zh-CN" sz="1700" b="1" dirty="0"/>
              <a:t>(t)</a:t>
            </a:r>
            <a:r>
              <a:rPr lang="zh-CN" altLang="en-US" sz="1700" b="1" dirty="0"/>
              <a:t>， </a:t>
            </a:r>
            <a:r>
              <a:rPr lang="en-US" altLang="zh-CN" sz="1700" b="1" dirty="0"/>
              <a:t>e</a:t>
            </a:r>
            <a:r>
              <a:rPr lang="en-US" altLang="zh-CN" sz="1700" b="1" baseline="-25000" dirty="0"/>
              <a:t>2</a:t>
            </a:r>
            <a:r>
              <a:rPr lang="en-US" altLang="zh-CN" sz="1700" b="1" dirty="0"/>
              <a:t>(t)→r</a:t>
            </a:r>
            <a:r>
              <a:rPr lang="en-US" altLang="zh-CN" sz="1700" b="1" baseline="-25000" dirty="0"/>
              <a:t>2</a:t>
            </a:r>
            <a:r>
              <a:rPr lang="en-US" altLang="zh-CN" sz="1700" b="1" dirty="0"/>
              <a:t>(t) </a:t>
            </a:r>
          </a:p>
          <a:p>
            <a:pPr>
              <a:lnSpc>
                <a:spcPct val="145000"/>
              </a:lnSpc>
              <a:spcBef>
                <a:spcPct val="45000"/>
              </a:spcBef>
              <a:buFont typeface="Wingdings" panose="05000000000000000000" pitchFamily="2" charset="2"/>
              <a:buNone/>
            </a:pPr>
            <a:r>
              <a:rPr lang="en-US" altLang="zh-CN" sz="1700" b="1" dirty="0"/>
              <a:t>               </a:t>
            </a:r>
            <a:r>
              <a:rPr lang="zh-CN" altLang="en-US" sz="1700" b="1" dirty="0">
                <a:solidFill>
                  <a:srgbClr val="FF0000"/>
                </a:solidFill>
              </a:rPr>
              <a:t>则：</a:t>
            </a:r>
            <a:r>
              <a:rPr lang="zh-CN" altLang="en-US" sz="1700" b="1" dirty="0"/>
              <a:t>  </a:t>
            </a:r>
            <a:r>
              <a:rPr lang="en-US" altLang="zh-CN" sz="1700" b="1" dirty="0"/>
              <a:t>k</a:t>
            </a:r>
            <a:r>
              <a:rPr lang="en-US" altLang="zh-CN" sz="1700" b="1" baseline="-25000" dirty="0"/>
              <a:t>1</a:t>
            </a:r>
            <a:r>
              <a:rPr lang="en-US" altLang="zh-CN" sz="1700" b="1" dirty="0"/>
              <a:t>e</a:t>
            </a:r>
            <a:r>
              <a:rPr lang="en-US" altLang="zh-CN" sz="1700" b="1" baseline="-25000" dirty="0"/>
              <a:t>1</a:t>
            </a:r>
            <a:r>
              <a:rPr lang="en-US" altLang="zh-CN" sz="1700" b="1" dirty="0"/>
              <a:t>(t-t</a:t>
            </a:r>
            <a:r>
              <a:rPr lang="en-US" altLang="zh-CN" sz="1700" b="1" baseline="-25000" dirty="0"/>
              <a:t>1</a:t>
            </a:r>
            <a:r>
              <a:rPr lang="en-US" altLang="zh-CN" sz="1700" b="1" dirty="0"/>
              <a:t>)+ k</a:t>
            </a:r>
            <a:r>
              <a:rPr lang="en-US" altLang="zh-CN" sz="1700" b="1" baseline="-25000" dirty="0"/>
              <a:t>2</a:t>
            </a:r>
            <a:r>
              <a:rPr lang="en-US" altLang="zh-CN" sz="1700" b="1" dirty="0"/>
              <a:t>e</a:t>
            </a:r>
            <a:r>
              <a:rPr lang="en-US" altLang="zh-CN" sz="1700" b="1" baseline="-25000" dirty="0"/>
              <a:t>2</a:t>
            </a:r>
            <a:r>
              <a:rPr lang="en-US" altLang="zh-CN" sz="1700" b="1" dirty="0"/>
              <a:t>(t-t</a:t>
            </a:r>
            <a:r>
              <a:rPr lang="en-US" altLang="zh-CN" sz="1700" b="1" baseline="-25000" dirty="0"/>
              <a:t>2</a:t>
            </a:r>
            <a:r>
              <a:rPr lang="en-US" altLang="zh-CN" sz="1700" b="1" dirty="0"/>
              <a:t>) → k</a:t>
            </a:r>
            <a:r>
              <a:rPr lang="en-US" altLang="zh-CN" sz="1700" b="1" baseline="-25000" dirty="0"/>
              <a:t>1</a:t>
            </a:r>
            <a:r>
              <a:rPr lang="en-US" altLang="zh-CN" sz="1700" b="1" dirty="0"/>
              <a:t>r</a:t>
            </a:r>
            <a:r>
              <a:rPr lang="en-US" altLang="zh-CN" sz="1700" b="1" baseline="-25000" dirty="0"/>
              <a:t>1</a:t>
            </a:r>
            <a:r>
              <a:rPr lang="en-US" altLang="zh-CN" sz="1700" b="1" dirty="0"/>
              <a:t>(t-t</a:t>
            </a:r>
            <a:r>
              <a:rPr lang="en-US" altLang="zh-CN" sz="1700" b="1" baseline="-25000" dirty="0"/>
              <a:t>1</a:t>
            </a:r>
            <a:r>
              <a:rPr lang="en-US" altLang="zh-CN" sz="1700" b="1" dirty="0"/>
              <a:t>)+ k</a:t>
            </a:r>
            <a:r>
              <a:rPr lang="en-US" altLang="zh-CN" sz="1700" b="1" baseline="-25000" dirty="0"/>
              <a:t>2</a:t>
            </a:r>
            <a:r>
              <a:rPr lang="en-US" altLang="zh-CN" sz="1700" b="1" dirty="0"/>
              <a:t>r</a:t>
            </a:r>
            <a:r>
              <a:rPr lang="en-US" altLang="zh-CN" sz="1700" b="1" baseline="-25000" dirty="0"/>
              <a:t>2</a:t>
            </a:r>
            <a:r>
              <a:rPr lang="en-US" altLang="zh-CN" sz="1700" b="1" dirty="0"/>
              <a:t>(t-t</a:t>
            </a:r>
            <a:r>
              <a:rPr lang="en-US" altLang="zh-CN" sz="1700" b="1" baseline="-25000" dirty="0"/>
              <a:t>2</a:t>
            </a:r>
            <a:r>
              <a:rPr lang="en-US" altLang="zh-CN" sz="1700" b="1" dirty="0"/>
              <a:t>) </a:t>
            </a:r>
          </a:p>
          <a:p>
            <a:pPr>
              <a:lnSpc>
                <a:spcPct val="145000"/>
              </a:lnSpc>
              <a:spcBef>
                <a:spcPct val="45000"/>
              </a:spcBef>
              <a:buFont typeface="Wingdings" panose="05000000000000000000" pitchFamily="2" charset="2"/>
              <a:buChar char="l"/>
            </a:pPr>
            <a:r>
              <a:rPr lang="zh-CN" altLang="en-US" sz="2000" b="1" dirty="0">
                <a:solidFill>
                  <a:srgbClr val="FF0000"/>
                </a:solidFill>
              </a:rPr>
              <a:t>时不变系统</a:t>
            </a:r>
            <a:r>
              <a:rPr lang="zh-CN" altLang="en-US" sz="2000" b="1" dirty="0"/>
              <a:t>用</a:t>
            </a:r>
            <a:r>
              <a:rPr lang="zh-CN" altLang="en-US" sz="2000" b="1" dirty="0">
                <a:solidFill>
                  <a:srgbClr val="FF0000"/>
                </a:solidFill>
              </a:rPr>
              <a:t>常系数</a:t>
            </a:r>
            <a:r>
              <a:rPr lang="zh-CN" altLang="en-US" sz="2000" b="1" dirty="0"/>
              <a:t>微（差）分方程的数学模型描述。</a:t>
            </a:r>
            <a:endParaRPr lang="en-US" altLang="zh-CN" sz="2000" b="1" dirty="0"/>
          </a:p>
          <a:p>
            <a:pPr>
              <a:lnSpc>
                <a:spcPct val="145000"/>
              </a:lnSpc>
              <a:spcBef>
                <a:spcPct val="45000"/>
              </a:spcBef>
              <a:buFont typeface="Wingdings" panose="05000000000000000000" pitchFamily="2" charset="2"/>
              <a:buChar char="l"/>
            </a:pPr>
            <a:r>
              <a:rPr lang="zh-CN" altLang="en-US" sz="2000" b="1" dirty="0">
                <a:solidFill>
                  <a:srgbClr val="FF0000"/>
                </a:solidFill>
              </a:rPr>
              <a:t>时变系统</a:t>
            </a:r>
            <a:r>
              <a:rPr lang="zh-CN" altLang="en-US" sz="2000" b="1" dirty="0"/>
              <a:t>用</a:t>
            </a:r>
            <a:r>
              <a:rPr lang="zh-CN" altLang="en-US" sz="2000" b="1" dirty="0">
                <a:solidFill>
                  <a:srgbClr val="FF0000"/>
                </a:solidFill>
              </a:rPr>
              <a:t>变系数</a:t>
            </a:r>
            <a:r>
              <a:rPr lang="zh-CN" altLang="en-US" sz="2000" b="1" dirty="0"/>
              <a:t>微（差）分方程的数学模型描述</a:t>
            </a:r>
          </a:p>
        </p:txBody>
      </p:sp>
      <p:sp>
        <p:nvSpPr>
          <p:cNvPr id="8" name="日期占位符 7"/>
          <p:cNvSpPr>
            <a:spLocks noGrp="1"/>
          </p:cNvSpPr>
          <p:nvPr>
            <p:ph type="dt" sz="quarter" idx="10"/>
          </p:nvPr>
        </p:nvSpPr>
        <p:spPr/>
        <p:txBody>
          <a:bodyPr/>
          <a:lstStyle/>
          <a:p>
            <a:pPr>
              <a:defRPr/>
            </a:pPr>
            <a:fld id="{A5A3346E-0B19-40A6-AD57-CED5383E46A2}" type="datetime3">
              <a:rPr lang="zh-CN" altLang="en-US"/>
              <a:t>2026年3月4日星期三</a:t>
            </a:fld>
            <a:endParaRPr lang="zh-CN" altLang="en-US" dirty="0"/>
          </a:p>
        </p:txBody>
      </p:sp>
    </p:spTree>
    <p:custDataLst>
      <p:tags r:id="rId1"/>
    </p:custDataLst>
  </p:cSld>
  <p:clrMapOvr>
    <a:masterClrMapping/>
  </p:clrMapOvr>
  <p:transition advTm="26257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1553411">
                                            <p:txEl>
                                              <p:pRg st="0" end="0"/>
                                            </p:txEl>
                                          </p:spTgt>
                                        </p:tgtEl>
                                        <p:attrNameLst>
                                          <p:attrName>style.visibility</p:attrName>
                                        </p:attrNameLst>
                                      </p:cBhvr>
                                      <p:to>
                                        <p:strVal val="visible"/>
                                      </p:to>
                                    </p:set>
                                    <p:anim calcmode="lin" valueType="num">
                                      <p:cBhvr>
                                        <p:cTn id="7" dur="1000" fill="hold"/>
                                        <p:tgtEl>
                                          <p:spTgt spid="155341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5341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5341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53411">
                                            <p:txEl>
                                              <p:pRg st="1" end="1"/>
                                            </p:txEl>
                                          </p:spTgt>
                                        </p:tgtEl>
                                        <p:attrNameLst>
                                          <p:attrName>style.visibility</p:attrName>
                                        </p:attrNameLst>
                                      </p:cBhvr>
                                      <p:to>
                                        <p:strVal val="visible"/>
                                      </p:to>
                                    </p:set>
                                    <p:anim calcmode="lin" valueType="num">
                                      <p:cBhvr>
                                        <p:cTn id="14" dur="1000" fill="hold"/>
                                        <p:tgtEl>
                                          <p:spTgt spid="1553411">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53411">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53411">
                                            <p:txEl>
                                              <p:pRg st="1" end="1"/>
                                            </p:txEl>
                                          </p:spTgt>
                                        </p:tgtEl>
                                      </p:cBhvr>
                                    </p:animEffect>
                                  </p:childTnLst>
                                </p:cTn>
                              </p:par>
                              <p:par>
                                <p:cTn id="17" presetID="55" presetClass="entr" presetSubtype="0" fill="hold" nodeType="withEffect">
                                  <p:stCondLst>
                                    <p:cond delay="0"/>
                                  </p:stCondLst>
                                  <p:childTnLst>
                                    <p:set>
                                      <p:cBhvr>
                                        <p:cTn id="18" dur="1" fill="hold">
                                          <p:stCondLst>
                                            <p:cond delay="0"/>
                                          </p:stCondLst>
                                        </p:cTn>
                                        <p:tgtEl>
                                          <p:spTgt spid="1553411">
                                            <p:txEl>
                                              <p:pRg st="2" end="2"/>
                                            </p:txEl>
                                          </p:spTgt>
                                        </p:tgtEl>
                                        <p:attrNameLst>
                                          <p:attrName>style.visibility</p:attrName>
                                        </p:attrNameLst>
                                      </p:cBhvr>
                                      <p:to>
                                        <p:strVal val="visible"/>
                                      </p:to>
                                    </p:set>
                                    <p:anim calcmode="lin" valueType="num">
                                      <p:cBhvr>
                                        <p:cTn id="19" dur="1000" fill="hold"/>
                                        <p:tgtEl>
                                          <p:spTgt spid="1553411">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1553411">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1553411">
                                            <p:txEl>
                                              <p:pRg st="2" end="2"/>
                                            </p:txEl>
                                          </p:spTgt>
                                        </p:tgtEl>
                                      </p:cBhvr>
                                    </p:animEffect>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1553411">
                                            <p:txEl>
                                              <p:pRg st="3" end="3"/>
                                            </p:txEl>
                                          </p:spTgt>
                                        </p:tgtEl>
                                        <p:attrNameLst>
                                          <p:attrName>style.visibility</p:attrName>
                                        </p:attrNameLst>
                                      </p:cBhvr>
                                      <p:to>
                                        <p:strVal val="visible"/>
                                      </p:to>
                                    </p:set>
                                    <p:anim calcmode="lin" valueType="num">
                                      <p:cBhvr>
                                        <p:cTn id="25" dur="1000" fill="hold"/>
                                        <p:tgtEl>
                                          <p:spTgt spid="1553411">
                                            <p:txEl>
                                              <p:pRg st="3" end="3"/>
                                            </p:txEl>
                                          </p:spTgt>
                                        </p:tgtEl>
                                        <p:attrNameLst>
                                          <p:attrName>ppt_w</p:attrName>
                                        </p:attrNameLst>
                                      </p:cBhvr>
                                      <p:tavLst>
                                        <p:tav tm="0">
                                          <p:val>
                                            <p:strVal val="#ppt_w*0.70"/>
                                          </p:val>
                                        </p:tav>
                                        <p:tav tm="100000">
                                          <p:val>
                                            <p:strVal val="#ppt_w"/>
                                          </p:val>
                                        </p:tav>
                                      </p:tavLst>
                                    </p:anim>
                                    <p:anim calcmode="lin" valueType="num">
                                      <p:cBhvr>
                                        <p:cTn id="26" dur="1000" fill="hold"/>
                                        <p:tgtEl>
                                          <p:spTgt spid="1553411">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155341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1553411">
                                            <p:txEl>
                                              <p:pRg st="4" end="4"/>
                                            </p:txEl>
                                          </p:spTgt>
                                        </p:tgtEl>
                                        <p:attrNameLst>
                                          <p:attrName>style.visibility</p:attrName>
                                        </p:attrNameLst>
                                      </p:cBhvr>
                                      <p:to>
                                        <p:strVal val="visible"/>
                                      </p:to>
                                    </p:set>
                                    <p:anim calcmode="lin" valueType="num">
                                      <p:cBhvr>
                                        <p:cTn id="32" dur="1000" fill="hold"/>
                                        <p:tgtEl>
                                          <p:spTgt spid="1553411">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1553411">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1553411">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1553411">
                                            <p:txEl>
                                              <p:pRg st="5" end="5"/>
                                            </p:txEl>
                                          </p:spTgt>
                                        </p:tgtEl>
                                        <p:attrNameLst>
                                          <p:attrName>style.visibility</p:attrName>
                                        </p:attrNameLst>
                                      </p:cBhvr>
                                      <p:to>
                                        <p:strVal val="visible"/>
                                      </p:to>
                                    </p:set>
                                    <p:anim calcmode="lin" valueType="num">
                                      <p:cBhvr>
                                        <p:cTn id="39" dur="1000" fill="hold"/>
                                        <p:tgtEl>
                                          <p:spTgt spid="1553411">
                                            <p:txEl>
                                              <p:pRg st="5" end="5"/>
                                            </p:txEl>
                                          </p:spTgt>
                                        </p:tgtEl>
                                        <p:attrNameLst>
                                          <p:attrName>ppt_w</p:attrName>
                                        </p:attrNameLst>
                                      </p:cBhvr>
                                      <p:tavLst>
                                        <p:tav tm="0">
                                          <p:val>
                                            <p:strVal val="#ppt_w*0.70"/>
                                          </p:val>
                                        </p:tav>
                                        <p:tav tm="100000">
                                          <p:val>
                                            <p:strVal val="#ppt_w"/>
                                          </p:val>
                                        </p:tav>
                                      </p:tavLst>
                                    </p:anim>
                                    <p:anim calcmode="lin" valueType="num">
                                      <p:cBhvr>
                                        <p:cTn id="40" dur="1000" fill="hold"/>
                                        <p:tgtEl>
                                          <p:spTgt spid="1553411">
                                            <p:txEl>
                                              <p:pRg st="5" end="5"/>
                                            </p:txEl>
                                          </p:spTgt>
                                        </p:tgtEl>
                                        <p:attrNameLst>
                                          <p:attrName>ppt_h</p:attrName>
                                        </p:attrNameLst>
                                      </p:cBhvr>
                                      <p:tavLst>
                                        <p:tav tm="0">
                                          <p:val>
                                            <p:strVal val="#ppt_h"/>
                                          </p:val>
                                        </p:tav>
                                        <p:tav tm="100000">
                                          <p:val>
                                            <p:strVal val="#ppt_h"/>
                                          </p:val>
                                        </p:tav>
                                      </p:tavLst>
                                    </p:anim>
                                    <p:animEffect transition="in" filter="fade">
                                      <p:cBhvr>
                                        <p:cTn id="41" dur="1000"/>
                                        <p:tgtEl>
                                          <p:spTgt spid="1553411">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1553411">
                                            <p:txEl>
                                              <p:pRg st="6" end="6"/>
                                            </p:txEl>
                                          </p:spTgt>
                                        </p:tgtEl>
                                        <p:attrNameLst>
                                          <p:attrName>style.visibility</p:attrName>
                                        </p:attrNameLst>
                                      </p:cBhvr>
                                      <p:to>
                                        <p:strVal val="visible"/>
                                      </p:to>
                                    </p:set>
                                    <p:anim calcmode="lin" valueType="num">
                                      <p:cBhvr>
                                        <p:cTn id="46" dur="1000" fill="hold"/>
                                        <p:tgtEl>
                                          <p:spTgt spid="1553411">
                                            <p:txEl>
                                              <p:pRg st="6" end="6"/>
                                            </p:txEl>
                                          </p:spTgt>
                                        </p:tgtEl>
                                        <p:attrNameLst>
                                          <p:attrName>ppt_w</p:attrName>
                                        </p:attrNameLst>
                                      </p:cBhvr>
                                      <p:tavLst>
                                        <p:tav tm="0">
                                          <p:val>
                                            <p:strVal val="#ppt_w*0.70"/>
                                          </p:val>
                                        </p:tav>
                                        <p:tav tm="100000">
                                          <p:val>
                                            <p:strVal val="#ppt_w"/>
                                          </p:val>
                                        </p:tav>
                                      </p:tavLst>
                                    </p:anim>
                                    <p:anim calcmode="lin" valueType="num">
                                      <p:cBhvr>
                                        <p:cTn id="47" dur="1000" fill="hold"/>
                                        <p:tgtEl>
                                          <p:spTgt spid="1553411">
                                            <p:txEl>
                                              <p:pRg st="6" end="6"/>
                                            </p:txEl>
                                          </p:spTgt>
                                        </p:tgtEl>
                                        <p:attrNameLst>
                                          <p:attrName>ppt_h</p:attrName>
                                        </p:attrNameLst>
                                      </p:cBhvr>
                                      <p:tavLst>
                                        <p:tav tm="0">
                                          <p:val>
                                            <p:strVal val="#ppt_h"/>
                                          </p:val>
                                        </p:tav>
                                        <p:tav tm="100000">
                                          <p:val>
                                            <p:strVal val="#ppt_h"/>
                                          </p:val>
                                        </p:tav>
                                      </p:tavLst>
                                    </p:anim>
                                    <p:animEffect transition="in" filter="fade">
                                      <p:cBhvr>
                                        <p:cTn id="48" dur="1000"/>
                                        <p:tgtEl>
                                          <p:spTgt spid="1553411">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nodeType="clickEffect">
                                  <p:stCondLst>
                                    <p:cond delay="0"/>
                                  </p:stCondLst>
                                  <p:childTnLst>
                                    <p:set>
                                      <p:cBhvr>
                                        <p:cTn id="52" dur="1" fill="hold">
                                          <p:stCondLst>
                                            <p:cond delay="0"/>
                                          </p:stCondLst>
                                        </p:cTn>
                                        <p:tgtEl>
                                          <p:spTgt spid="1553411">
                                            <p:txEl>
                                              <p:pRg st="7" end="7"/>
                                            </p:txEl>
                                          </p:spTgt>
                                        </p:tgtEl>
                                        <p:attrNameLst>
                                          <p:attrName>style.visibility</p:attrName>
                                        </p:attrNameLst>
                                      </p:cBhvr>
                                      <p:to>
                                        <p:strVal val="visible"/>
                                      </p:to>
                                    </p:set>
                                    <p:anim calcmode="lin" valueType="num">
                                      <p:cBhvr>
                                        <p:cTn id="53" dur="1000" fill="hold"/>
                                        <p:tgtEl>
                                          <p:spTgt spid="1553411">
                                            <p:txEl>
                                              <p:pRg st="7" end="7"/>
                                            </p:txEl>
                                          </p:spTgt>
                                        </p:tgtEl>
                                        <p:attrNameLst>
                                          <p:attrName>ppt_w</p:attrName>
                                        </p:attrNameLst>
                                      </p:cBhvr>
                                      <p:tavLst>
                                        <p:tav tm="0">
                                          <p:val>
                                            <p:strVal val="#ppt_w*0.70"/>
                                          </p:val>
                                        </p:tav>
                                        <p:tav tm="100000">
                                          <p:val>
                                            <p:strVal val="#ppt_w"/>
                                          </p:val>
                                        </p:tav>
                                      </p:tavLst>
                                    </p:anim>
                                    <p:anim calcmode="lin" valueType="num">
                                      <p:cBhvr>
                                        <p:cTn id="54" dur="1000" fill="hold"/>
                                        <p:tgtEl>
                                          <p:spTgt spid="1553411">
                                            <p:txEl>
                                              <p:pRg st="7" end="7"/>
                                            </p:txEl>
                                          </p:spTgt>
                                        </p:tgtEl>
                                        <p:attrNameLst>
                                          <p:attrName>ppt_h</p:attrName>
                                        </p:attrNameLst>
                                      </p:cBhvr>
                                      <p:tavLst>
                                        <p:tav tm="0">
                                          <p:val>
                                            <p:strVal val="#ppt_h"/>
                                          </p:val>
                                        </p:tav>
                                        <p:tav tm="100000">
                                          <p:val>
                                            <p:strVal val="#ppt_h"/>
                                          </p:val>
                                        </p:tav>
                                      </p:tavLst>
                                    </p:anim>
                                    <p:animEffect transition="in" filter="fade">
                                      <p:cBhvr>
                                        <p:cTn id="55" dur="1000"/>
                                        <p:tgtEl>
                                          <p:spTgt spid="15534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368103" y="666751"/>
            <a:ext cx="5743042" cy="569912"/>
          </a:xfrm>
        </p:spPr>
        <p:txBody>
          <a:bodyPr/>
          <a:lstStyle/>
          <a:p>
            <a:r>
              <a:rPr lang="zh-CN" altLang="en-US" sz="2400" b="1" dirty="0">
                <a:solidFill>
                  <a:srgbClr val="FF0000"/>
                </a:solidFill>
                <a:latin typeface="Times New Roman" panose="02020603050405020304" pitchFamily="18" charset="0"/>
              </a:rPr>
              <a:t>回顾  </a:t>
            </a:r>
            <a:r>
              <a:rPr lang="zh-CN" altLang="en-US" sz="2400" b="1" dirty="0">
                <a:solidFill>
                  <a:srgbClr val="0000FF"/>
                </a:solidFill>
                <a:ea typeface="黑体" panose="02010609060101010101" pitchFamily="49" charset="-122"/>
              </a:rPr>
              <a:t>连续时间系统与离散时间系统</a:t>
            </a:r>
          </a:p>
        </p:txBody>
      </p:sp>
      <p:sp>
        <p:nvSpPr>
          <p:cNvPr id="1554435" name="Rectangle 3"/>
          <p:cNvSpPr>
            <a:spLocks noGrp="1" noChangeArrowheads="1"/>
          </p:cNvSpPr>
          <p:nvPr>
            <p:ph type="body" idx="1"/>
          </p:nvPr>
        </p:nvSpPr>
        <p:spPr>
          <a:xfrm>
            <a:off x="277813" y="1514475"/>
            <a:ext cx="8519737" cy="5065713"/>
          </a:xfrm>
          <a:solidFill>
            <a:srgbClr val="FFFFFF"/>
          </a:solidFill>
          <a:ln w="76200">
            <a:solidFill>
              <a:schemeClr val="tx1"/>
            </a:solidFill>
          </a:ln>
          <a:effectLst>
            <a:prstShdw prst="shdw12">
              <a:srgbClr val="808080">
                <a:alpha val="50000"/>
              </a:srgbClr>
            </a:prstShdw>
          </a:effectLst>
        </p:spPr>
        <p:txBody>
          <a:bodyPr/>
          <a:lstStyle/>
          <a:p>
            <a:pPr>
              <a:lnSpc>
                <a:spcPct val="145000"/>
              </a:lnSpc>
              <a:spcBef>
                <a:spcPct val="40000"/>
              </a:spcBef>
              <a:buFont typeface="Wingdings" panose="05000000000000000000" pitchFamily="2" charset="2"/>
              <a:buChar char="l"/>
              <a:defRPr/>
            </a:pPr>
            <a:r>
              <a:rPr lang="zh-CN" altLang="en-US" sz="2100" b="1" dirty="0"/>
              <a:t>当系统的</a:t>
            </a:r>
            <a:r>
              <a:rPr lang="zh-CN" altLang="en-US" sz="2100" b="1" dirty="0">
                <a:solidFill>
                  <a:srgbClr val="FF0000"/>
                </a:solidFill>
              </a:rPr>
              <a:t>输入和输出</a:t>
            </a:r>
            <a:r>
              <a:rPr lang="zh-CN" altLang="en-US" sz="2100" b="1" dirty="0"/>
              <a:t>都是</a:t>
            </a:r>
            <a:r>
              <a:rPr lang="zh-CN" altLang="en-US" sz="2100" b="1" dirty="0">
                <a:solidFill>
                  <a:srgbClr val="0000FF"/>
                </a:solidFill>
              </a:rPr>
              <a:t>连续（时间）信号</a:t>
            </a:r>
            <a:r>
              <a:rPr lang="zh-CN" altLang="en-US" sz="2100" b="1" dirty="0"/>
              <a:t>时，则该系统称为</a:t>
            </a:r>
            <a:r>
              <a:rPr lang="zh-CN" altLang="en-US" sz="2100" b="1" dirty="0">
                <a:solidFill>
                  <a:srgbClr val="FF0000"/>
                </a:solidFill>
              </a:rPr>
              <a:t>连续（时间）系统</a:t>
            </a:r>
            <a:r>
              <a:rPr lang="zh-CN" altLang="en-US" sz="2100" b="1" dirty="0"/>
              <a:t>，相应地，当系统</a:t>
            </a:r>
            <a:r>
              <a:rPr lang="zh-CN" altLang="en-US" sz="2100" b="1" dirty="0">
                <a:solidFill>
                  <a:srgbClr val="FF0000"/>
                </a:solidFill>
              </a:rPr>
              <a:t>输入和输出</a:t>
            </a:r>
            <a:r>
              <a:rPr lang="zh-CN" altLang="en-US" sz="2100" b="1" dirty="0"/>
              <a:t>都是</a:t>
            </a:r>
            <a:r>
              <a:rPr lang="zh-CN" altLang="en-US" sz="2100" b="1" dirty="0">
                <a:solidFill>
                  <a:srgbClr val="0000FF"/>
                </a:solidFill>
              </a:rPr>
              <a:t>离散（时间）信号</a:t>
            </a:r>
            <a:r>
              <a:rPr lang="zh-CN" altLang="en-US" sz="2100" b="1" dirty="0"/>
              <a:t>时，则该系统称为</a:t>
            </a:r>
            <a:r>
              <a:rPr lang="zh-CN" altLang="en-US" sz="2100" b="1" dirty="0">
                <a:solidFill>
                  <a:srgbClr val="FF0000"/>
                </a:solidFill>
              </a:rPr>
              <a:t>离散（时间）系统</a:t>
            </a:r>
            <a:r>
              <a:rPr lang="zh-CN" altLang="en-US" sz="2100" b="1" dirty="0"/>
              <a:t>。</a:t>
            </a:r>
          </a:p>
          <a:p>
            <a:pPr>
              <a:lnSpc>
                <a:spcPct val="145000"/>
              </a:lnSpc>
              <a:spcBef>
                <a:spcPct val="40000"/>
              </a:spcBef>
              <a:buFont typeface="Wingdings" panose="05000000000000000000" pitchFamily="2" charset="2"/>
              <a:buChar char="l"/>
              <a:defRPr/>
            </a:pPr>
            <a:r>
              <a:rPr lang="zh-CN" altLang="en-US" sz="2100" b="1" dirty="0"/>
              <a:t>一个计算机则是典型的离散系统。</a:t>
            </a:r>
          </a:p>
          <a:p>
            <a:pPr>
              <a:lnSpc>
                <a:spcPct val="145000"/>
              </a:lnSpc>
              <a:spcBef>
                <a:spcPct val="40000"/>
              </a:spcBef>
              <a:buFont typeface="Wingdings" panose="05000000000000000000" pitchFamily="2" charset="2"/>
              <a:buChar char="l"/>
              <a:defRPr/>
            </a:pPr>
            <a:r>
              <a:rPr lang="zh-CN" altLang="en-US" sz="2100" b="1" dirty="0"/>
              <a:t>连续系统的数学模型是</a:t>
            </a:r>
            <a:r>
              <a:rPr lang="zh-CN" altLang="en-US" sz="2100" b="1" dirty="0">
                <a:solidFill>
                  <a:srgbClr val="FF0000"/>
                </a:solidFill>
              </a:rPr>
              <a:t>微分方程</a:t>
            </a:r>
            <a:r>
              <a:rPr lang="zh-CN" altLang="en-US" sz="2100" b="1" dirty="0"/>
              <a:t>，而离散系统的数学模型是</a:t>
            </a:r>
            <a:r>
              <a:rPr lang="zh-CN" altLang="en-US" sz="2100" b="1" dirty="0">
                <a:solidFill>
                  <a:srgbClr val="FF0000"/>
                </a:solidFill>
              </a:rPr>
              <a:t>差分方程</a:t>
            </a:r>
            <a:r>
              <a:rPr lang="zh-CN" altLang="en-US" sz="2100" b="1" dirty="0"/>
              <a:t>。</a:t>
            </a:r>
          </a:p>
          <a:p>
            <a:pPr>
              <a:lnSpc>
                <a:spcPct val="145000"/>
              </a:lnSpc>
              <a:spcBef>
                <a:spcPct val="40000"/>
              </a:spcBef>
              <a:buFont typeface="Wingdings" panose="05000000000000000000" pitchFamily="2" charset="2"/>
              <a:buChar char="l"/>
              <a:defRPr/>
            </a:pPr>
            <a:r>
              <a:rPr lang="zh-CN" altLang="en-US" sz="2100" b="1" dirty="0"/>
              <a:t>连续时间系统和离散时间系统都可以是</a:t>
            </a:r>
            <a:r>
              <a:rPr lang="zh-CN" altLang="en-US" sz="2100" b="1" dirty="0">
                <a:solidFill>
                  <a:srgbClr val="FF0000"/>
                </a:solidFill>
              </a:rPr>
              <a:t>线性的或非线性</a:t>
            </a:r>
            <a:r>
              <a:rPr lang="zh-CN" altLang="en-US" sz="2100" b="1" dirty="0"/>
              <a:t>的，同时也可以是</a:t>
            </a:r>
            <a:r>
              <a:rPr lang="zh-CN" altLang="en-US" sz="2100" b="1" dirty="0">
                <a:solidFill>
                  <a:srgbClr val="FF0000"/>
                </a:solidFill>
              </a:rPr>
              <a:t>时不变或时变</a:t>
            </a:r>
            <a:r>
              <a:rPr lang="zh-CN" altLang="en-US" sz="2100" b="1" dirty="0"/>
              <a:t>的。</a:t>
            </a:r>
          </a:p>
          <a:p>
            <a:pPr marL="0" indent="0">
              <a:spcBef>
                <a:spcPts val="0"/>
              </a:spcBef>
              <a:buFont typeface="Wingdings" panose="05000000000000000000" pitchFamily="2" charset="2"/>
              <a:buNone/>
              <a:defRPr/>
            </a:pPr>
            <a:r>
              <a:rPr lang="zh-CN" altLang="en-US" sz="2100" b="1" dirty="0"/>
              <a:t>           </a:t>
            </a:r>
            <a:r>
              <a:rPr lang="zh-CN" altLang="en-US" sz="2800" b="1" dirty="0"/>
              <a:t>本门课只研究</a:t>
            </a:r>
            <a:r>
              <a:rPr lang="zh-CN" altLang="en-US" sz="2800" b="1" dirty="0">
                <a:solidFill>
                  <a:srgbClr val="0000FF"/>
                </a:solidFill>
              </a:rPr>
              <a:t>集中参数线性时不变</a:t>
            </a:r>
            <a:r>
              <a:rPr lang="zh-CN" altLang="en-US" sz="2800" b="1" dirty="0">
                <a:solidFill>
                  <a:srgbClr val="FF3300"/>
                </a:solidFill>
              </a:rPr>
              <a:t>连续时间系统和离散时间系统</a:t>
            </a:r>
            <a:r>
              <a:rPr lang="zh-CN" altLang="en-US" sz="2800" b="1" dirty="0"/>
              <a:t>。</a:t>
            </a:r>
          </a:p>
        </p:txBody>
      </p:sp>
      <p:sp>
        <p:nvSpPr>
          <p:cNvPr id="151556" name="Text Box 4"/>
          <p:cNvSpPr txBox="1">
            <a:spLocks noChangeArrowheads="1"/>
          </p:cNvSpPr>
          <p:nvPr/>
        </p:nvSpPr>
        <p:spPr bwMode="auto">
          <a:xfrm>
            <a:off x="7397750" y="1065213"/>
            <a:ext cx="53340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lang="en-US" altLang="zh-CN" sz="2400">
              <a:latin typeface="Times New Roman" panose="02020603050405020304" pitchFamily="18" charset="0"/>
              <a:ea typeface="宋体" panose="02010600030101010101" pitchFamily="2" charset="-122"/>
            </a:endParaRPr>
          </a:p>
        </p:txBody>
      </p:sp>
      <p:sp>
        <p:nvSpPr>
          <p:cNvPr id="9" name="日期占位符 8"/>
          <p:cNvSpPr>
            <a:spLocks noGrp="1"/>
          </p:cNvSpPr>
          <p:nvPr>
            <p:ph type="dt" sz="quarter" idx="10"/>
          </p:nvPr>
        </p:nvSpPr>
        <p:spPr/>
        <p:txBody>
          <a:bodyPr/>
          <a:lstStyle/>
          <a:p>
            <a:pPr>
              <a:defRPr/>
            </a:pPr>
            <a:fld id="{FC81769F-E391-46CE-A348-354D5FCB77B3}" type="datetime3">
              <a:rPr lang="zh-CN" altLang="en-US"/>
              <a:t>2026年3月4日星期三</a:t>
            </a:fld>
            <a:endParaRPr lang="zh-CN" altLang="en-US"/>
          </a:p>
        </p:txBody>
      </p:sp>
    </p:spTree>
  </p:cSld>
  <p:clrMapOvr>
    <a:masterClrMapping/>
  </p:clrMapOvr>
  <p:transition advTm="22192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54435">
                                            <p:txEl>
                                              <p:pRg st="0" end="0"/>
                                            </p:txEl>
                                          </p:spTgt>
                                        </p:tgtEl>
                                        <p:attrNameLst>
                                          <p:attrName>style.visibility</p:attrName>
                                        </p:attrNameLst>
                                      </p:cBhvr>
                                      <p:to>
                                        <p:strVal val="visible"/>
                                      </p:to>
                                    </p:set>
                                    <p:anim calcmode="lin" valueType="num">
                                      <p:cBhvr>
                                        <p:cTn id="7" dur="1000" fill="hold"/>
                                        <p:tgtEl>
                                          <p:spTgt spid="155443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5443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5443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54435">
                                            <p:txEl>
                                              <p:pRg st="1" end="1"/>
                                            </p:txEl>
                                          </p:spTgt>
                                        </p:tgtEl>
                                        <p:attrNameLst>
                                          <p:attrName>style.visibility</p:attrName>
                                        </p:attrNameLst>
                                      </p:cBhvr>
                                      <p:to>
                                        <p:strVal val="visible"/>
                                      </p:to>
                                    </p:set>
                                    <p:anim calcmode="lin" valueType="num">
                                      <p:cBhvr>
                                        <p:cTn id="14" dur="1000" fill="hold"/>
                                        <p:tgtEl>
                                          <p:spTgt spid="1554435">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54435">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5443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554435">
                                            <p:txEl>
                                              <p:pRg st="2" end="2"/>
                                            </p:txEl>
                                          </p:spTgt>
                                        </p:tgtEl>
                                        <p:attrNameLst>
                                          <p:attrName>style.visibility</p:attrName>
                                        </p:attrNameLst>
                                      </p:cBhvr>
                                      <p:to>
                                        <p:strVal val="visible"/>
                                      </p:to>
                                    </p:set>
                                    <p:anim calcmode="lin" valueType="num">
                                      <p:cBhvr>
                                        <p:cTn id="21" dur="1000" fill="hold"/>
                                        <p:tgtEl>
                                          <p:spTgt spid="1554435">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554435">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55443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1554435">
                                            <p:txEl>
                                              <p:pRg st="3" end="3"/>
                                            </p:txEl>
                                          </p:spTgt>
                                        </p:tgtEl>
                                        <p:attrNameLst>
                                          <p:attrName>style.visibility</p:attrName>
                                        </p:attrNameLst>
                                      </p:cBhvr>
                                      <p:to>
                                        <p:strVal val="visible"/>
                                      </p:to>
                                    </p:set>
                                    <p:anim calcmode="lin" valueType="num">
                                      <p:cBhvr>
                                        <p:cTn id="28" dur="1000" fill="hold"/>
                                        <p:tgtEl>
                                          <p:spTgt spid="1554435">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554435">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55443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1554435">
                                            <p:txEl>
                                              <p:pRg st="4" end="4"/>
                                            </p:txEl>
                                          </p:spTgt>
                                        </p:tgtEl>
                                        <p:attrNameLst>
                                          <p:attrName>style.visibility</p:attrName>
                                        </p:attrNameLst>
                                      </p:cBhvr>
                                      <p:to>
                                        <p:strVal val="visible"/>
                                      </p:to>
                                    </p:set>
                                    <p:anim calcmode="lin" valueType="num">
                                      <p:cBhvr>
                                        <p:cTn id="35" dur="1000" fill="hold"/>
                                        <p:tgtEl>
                                          <p:spTgt spid="1554435">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554435">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5544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198783" y="807210"/>
            <a:ext cx="6619598" cy="488190"/>
          </a:xfrm>
        </p:spPr>
        <p:txBody>
          <a:bodyPr/>
          <a:lstStyle/>
          <a:p>
            <a:r>
              <a:rPr lang="zh-CN" altLang="en-US" sz="2800" b="1" dirty="0">
                <a:solidFill>
                  <a:srgbClr val="FF0000"/>
                </a:solidFill>
                <a:ea typeface="黑体" panose="02010609060101010101" pitchFamily="49" charset="-122"/>
              </a:rPr>
              <a:t>回顾  </a:t>
            </a:r>
            <a:r>
              <a:rPr lang="zh-CN" altLang="en-US" sz="2800" b="1" dirty="0">
                <a:solidFill>
                  <a:srgbClr val="0000FF"/>
                </a:solidFill>
                <a:ea typeface="黑体" panose="02010609060101010101" pitchFamily="49" charset="-122"/>
              </a:rPr>
              <a:t> 因果系统和非因果系统</a:t>
            </a:r>
          </a:p>
        </p:txBody>
      </p:sp>
      <p:sp>
        <p:nvSpPr>
          <p:cNvPr id="1556483" name="Rectangle 3"/>
          <p:cNvSpPr>
            <a:spLocks noGrp="1" noChangeArrowheads="1"/>
          </p:cNvSpPr>
          <p:nvPr>
            <p:ph type="body" sz="half" idx="1"/>
          </p:nvPr>
        </p:nvSpPr>
        <p:spPr>
          <a:xfrm>
            <a:off x="917575" y="1666875"/>
            <a:ext cx="7421563" cy="3990975"/>
          </a:xfrm>
          <a:solidFill>
            <a:srgbClr val="FFFFFF"/>
          </a:solidFill>
          <a:ln w="57150">
            <a:solidFill>
              <a:schemeClr val="tx1"/>
            </a:solidFill>
            <a:miter lim="800000"/>
          </a:ln>
          <a:effectLst>
            <a:prstShdw prst="shdw12">
              <a:srgbClr val="808080">
                <a:alpha val="50000"/>
              </a:srgbClr>
            </a:prstShdw>
          </a:effectLst>
        </p:spPr>
        <p:txBody>
          <a:bodyPr/>
          <a:lstStyle/>
          <a:p>
            <a:pPr>
              <a:lnSpc>
                <a:spcPct val="150000"/>
              </a:lnSpc>
              <a:spcBef>
                <a:spcPct val="55000"/>
              </a:spcBef>
              <a:buFont typeface="Wingdings" panose="05000000000000000000" pitchFamily="2" charset="2"/>
              <a:buChar char="l"/>
            </a:pPr>
            <a:r>
              <a:rPr lang="zh-CN" altLang="en-US" sz="2000" b="1"/>
              <a:t>如果一个系统必须有输入（激励）才会有输出（响应）（</a:t>
            </a:r>
            <a:r>
              <a:rPr lang="zh-CN" altLang="en-US" sz="2000" b="1">
                <a:solidFill>
                  <a:srgbClr val="FF0000"/>
                </a:solidFill>
              </a:rPr>
              <a:t>系统的响应不出现在激励之前</a:t>
            </a:r>
            <a:r>
              <a:rPr lang="zh-CN" altLang="en-US" sz="2000" b="1"/>
              <a:t>）则该系统为</a:t>
            </a:r>
            <a:r>
              <a:rPr lang="zh-CN" altLang="en-US" sz="2000" b="1">
                <a:solidFill>
                  <a:srgbClr val="FF0000"/>
                </a:solidFill>
              </a:rPr>
              <a:t>因果系统</a:t>
            </a:r>
            <a:r>
              <a:rPr lang="zh-CN" altLang="en-US" sz="2000" b="1"/>
              <a:t>。</a:t>
            </a:r>
          </a:p>
          <a:p>
            <a:pPr>
              <a:lnSpc>
                <a:spcPct val="145000"/>
              </a:lnSpc>
              <a:spcBef>
                <a:spcPct val="45000"/>
              </a:spcBef>
              <a:buFont typeface="Wingdings" panose="05000000000000000000" pitchFamily="2" charset="2"/>
              <a:buNone/>
            </a:pPr>
            <a:r>
              <a:rPr lang="zh-CN" altLang="en-US" sz="2000" b="1">
                <a:solidFill>
                  <a:srgbClr val="FF0000"/>
                </a:solidFill>
              </a:rPr>
              <a:t>                 若：</a:t>
            </a:r>
            <a:r>
              <a:rPr lang="zh-CN" altLang="en-US" sz="2000" b="1"/>
              <a:t>  </a:t>
            </a:r>
            <a:r>
              <a:rPr lang="en-US" altLang="zh-CN" sz="2000" b="1"/>
              <a:t>e(t) = 0</a:t>
            </a:r>
            <a:r>
              <a:rPr lang="zh-CN" altLang="en-US" sz="2000" b="1"/>
              <a:t>，</a:t>
            </a:r>
            <a:r>
              <a:rPr lang="en-US" altLang="zh-CN" sz="2000" b="1"/>
              <a:t>t&lt; t</a:t>
            </a:r>
            <a:r>
              <a:rPr lang="en-US" altLang="zh-CN" sz="2000" b="1" baseline="-25000"/>
              <a:t>0</a:t>
            </a:r>
            <a:endParaRPr lang="en-US" altLang="zh-CN" sz="2000" b="1"/>
          </a:p>
          <a:p>
            <a:pPr>
              <a:lnSpc>
                <a:spcPct val="145000"/>
              </a:lnSpc>
              <a:spcBef>
                <a:spcPct val="45000"/>
              </a:spcBef>
              <a:buFont typeface="Wingdings" panose="05000000000000000000" pitchFamily="2" charset="2"/>
              <a:buNone/>
            </a:pPr>
            <a:r>
              <a:rPr lang="en-US" altLang="zh-CN" sz="2000" b="1"/>
              <a:t>                 </a:t>
            </a:r>
            <a:r>
              <a:rPr lang="zh-CN" altLang="en-US" sz="2000" b="1">
                <a:solidFill>
                  <a:srgbClr val="FF0000"/>
                </a:solidFill>
              </a:rPr>
              <a:t>则：</a:t>
            </a:r>
            <a:r>
              <a:rPr lang="zh-CN" altLang="en-US" sz="2000" b="1"/>
              <a:t>  </a:t>
            </a:r>
            <a:r>
              <a:rPr lang="en-US" altLang="zh-CN" sz="2000" b="1"/>
              <a:t>r(t) = 0</a:t>
            </a:r>
            <a:r>
              <a:rPr lang="zh-CN" altLang="en-US" sz="2000" b="1"/>
              <a:t>，</a:t>
            </a:r>
            <a:r>
              <a:rPr lang="en-US" altLang="zh-CN" sz="2000" b="1"/>
              <a:t>t&lt; t</a:t>
            </a:r>
            <a:r>
              <a:rPr lang="en-US" altLang="zh-CN" sz="2000" b="1" baseline="-25000"/>
              <a:t>0</a:t>
            </a:r>
            <a:endParaRPr lang="en-US" altLang="zh-CN" sz="2000" b="1"/>
          </a:p>
          <a:p>
            <a:pPr>
              <a:lnSpc>
                <a:spcPct val="145000"/>
              </a:lnSpc>
              <a:spcBef>
                <a:spcPct val="45000"/>
              </a:spcBef>
              <a:buFont typeface="Wingdings" panose="05000000000000000000" pitchFamily="2" charset="2"/>
              <a:buChar char="l"/>
            </a:pPr>
            <a:r>
              <a:rPr lang="zh-CN" altLang="en-US" sz="2000" b="1"/>
              <a:t>若系统</a:t>
            </a:r>
            <a:r>
              <a:rPr lang="zh-CN" altLang="en-US" sz="2000" b="1">
                <a:solidFill>
                  <a:srgbClr val="FF0000"/>
                </a:solidFill>
              </a:rPr>
              <a:t>某一时刻的输出</a:t>
            </a:r>
            <a:r>
              <a:rPr lang="zh-CN" altLang="en-US" sz="2000" b="1"/>
              <a:t>只取决于</a:t>
            </a:r>
            <a:r>
              <a:rPr lang="zh-CN" altLang="en-US" sz="2000" b="1">
                <a:solidFill>
                  <a:srgbClr val="FF0000"/>
                </a:solidFill>
              </a:rPr>
              <a:t>当前时刻及其在此之前的输入</a:t>
            </a:r>
            <a:r>
              <a:rPr lang="zh-CN" altLang="en-US" sz="2000" b="1"/>
              <a:t>，则系统是</a:t>
            </a:r>
            <a:r>
              <a:rPr lang="zh-CN" altLang="en-US" sz="2000" b="1">
                <a:solidFill>
                  <a:srgbClr val="FF0000"/>
                </a:solidFill>
              </a:rPr>
              <a:t>因果</a:t>
            </a:r>
            <a:r>
              <a:rPr lang="zh-CN" altLang="en-US" sz="2000" b="1"/>
              <a:t>的。</a:t>
            </a:r>
          </a:p>
          <a:p>
            <a:pPr>
              <a:lnSpc>
                <a:spcPct val="150000"/>
              </a:lnSpc>
              <a:spcBef>
                <a:spcPct val="55000"/>
              </a:spcBef>
              <a:buFont typeface="Wingdings" panose="05000000000000000000" pitchFamily="2" charset="2"/>
              <a:buChar char="l"/>
            </a:pPr>
            <a:r>
              <a:rPr lang="zh-CN" altLang="en-US" sz="2000" b="1"/>
              <a:t>非因果系统在物理上是不可实现。</a:t>
            </a:r>
          </a:p>
        </p:txBody>
      </p:sp>
      <p:sp>
        <p:nvSpPr>
          <p:cNvPr id="7" name="日期占位符 6"/>
          <p:cNvSpPr>
            <a:spLocks noGrp="1"/>
          </p:cNvSpPr>
          <p:nvPr>
            <p:ph type="dt" sz="quarter" idx="10"/>
          </p:nvPr>
        </p:nvSpPr>
        <p:spPr/>
        <p:txBody>
          <a:bodyPr/>
          <a:lstStyle/>
          <a:p>
            <a:pPr>
              <a:defRPr/>
            </a:pPr>
            <a:fld id="{C0E33A12-0EDC-44A5-A9E4-94E34EC449C3}" type="datetime3">
              <a:rPr lang="zh-CN" altLang="en-US"/>
              <a:t>2026年3月4日星期三</a:t>
            </a:fld>
            <a:endParaRPr lang="en-US" altLang="zh-CN" dirty="0"/>
          </a:p>
        </p:txBody>
      </p:sp>
    </p:spTree>
    <p:custDataLst>
      <p:tags r:id="rId1"/>
    </p:custDataLst>
  </p:cSld>
  <p:clrMapOvr>
    <a:masterClrMapping/>
  </p:clrMapOvr>
  <p:transition spd="med" advTm="125787">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56483">
                                            <p:bg/>
                                          </p:spTgt>
                                        </p:tgtEl>
                                        <p:attrNameLst>
                                          <p:attrName>style.visibility</p:attrName>
                                        </p:attrNameLst>
                                      </p:cBhvr>
                                      <p:to>
                                        <p:strVal val="visible"/>
                                      </p:to>
                                    </p:set>
                                    <p:anim calcmode="lin" valueType="num">
                                      <p:cBhvr>
                                        <p:cTn id="7" dur="1000" fill="hold"/>
                                        <p:tgtEl>
                                          <p:spTgt spid="1556483">
                                            <p:bg/>
                                          </p:spTgt>
                                        </p:tgtEl>
                                        <p:attrNameLst>
                                          <p:attrName>ppt_w</p:attrName>
                                        </p:attrNameLst>
                                      </p:cBhvr>
                                      <p:tavLst>
                                        <p:tav tm="0">
                                          <p:val>
                                            <p:strVal val="#ppt_w*0.70"/>
                                          </p:val>
                                        </p:tav>
                                        <p:tav tm="100000">
                                          <p:val>
                                            <p:strVal val="#ppt_w"/>
                                          </p:val>
                                        </p:tav>
                                      </p:tavLst>
                                    </p:anim>
                                    <p:anim calcmode="lin" valueType="num">
                                      <p:cBhvr>
                                        <p:cTn id="8" dur="1000" fill="hold"/>
                                        <p:tgtEl>
                                          <p:spTgt spid="1556483">
                                            <p:bg/>
                                          </p:spTgt>
                                        </p:tgtEl>
                                        <p:attrNameLst>
                                          <p:attrName>ppt_h</p:attrName>
                                        </p:attrNameLst>
                                      </p:cBhvr>
                                      <p:tavLst>
                                        <p:tav tm="0">
                                          <p:val>
                                            <p:strVal val="#ppt_h"/>
                                          </p:val>
                                        </p:tav>
                                        <p:tav tm="100000">
                                          <p:val>
                                            <p:strVal val="#ppt_h"/>
                                          </p:val>
                                        </p:tav>
                                      </p:tavLst>
                                    </p:anim>
                                    <p:animEffect transition="in" filter="fade">
                                      <p:cBhvr>
                                        <p:cTn id="9" dur="1000"/>
                                        <p:tgtEl>
                                          <p:spTgt spid="1556483">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556483">
                                            <p:txEl>
                                              <p:pRg st="0" end="0"/>
                                            </p:txEl>
                                          </p:spTgt>
                                        </p:tgtEl>
                                        <p:attrNameLst>
                                          <p:attrName>style.visibility</p:attrName>
                                        </p:attrNameLst>
                                      </p:cBhvr>
                                      <p:to>
                                        <p:strVal val="visible"/>
                                      </p:to>
                                    </p:set>
                                    <p:anim calcmode="lin" valueType="num">
                                      <p:cBhvr>
                                        <p:cTn id="13" dur="1000" fill="hold"/>
                                        <p:tgtEl>
                                          <p:spTgt spid="1556483">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556483">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55648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556483">
                                            <p:txEl>
                                              <p:pRg st="1" end="1"/>
                                            </p:txEl>
                                          </p:spTgt>
                                        </p:tgtEl>
                                        <p:attrNameLst>
                                          <p:attrName>style.visibility</p:attrName>
                                        </p:attrNameLst>
                                      </p:cBhvr>
                                      <p:to>
                                        <p:strVal val="visible"/>
                                      </p:to>
                                    </p:set>
                                    <p:anim calcmode="lin" valueType="num">
                                      <p:cBhvr>
                                        <p:cTn id="20" dur="1000" fill="hold"/>
                                        <p:tgtEl>
                                          <p:spTgt spid="1556483">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1556483">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155648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1556483">
                                            <p:txEl>
                                              <p:pRg st="2" end="2"/>
                                            </p:txEl>
                                          </p:spTgt>
                                        </p:tgtEl>
                                        <p:attrNameLst>
                                          <p:attrName>style.visibility</p:attrName>
                                        </p:attrNameLst>
                                      </p:cBhvr>
                                      <p:to>
                                        <p:strVal val="visible"/>
                                      </p:to>
                                    </p:set>
                                    <p:anim calcmode="lin" valueType="num">
                                      <p:cBhvr>
                                        <p:cTn id="27" dur="1000" fill="hold"/>
                                        <p:tgtEl>
                                          <p:spTgt spid="1556483">
                                            <p:txEl>
                                              <p:pRg st="2" end="2"/>
                                            </p:txEl>
                                          </p:spTgt>
                                        </p:tgtEl>
                                        <p:attrNameLst>
                                          <p:attrName>ppt_w</p:attrName>
                                        </p:attrNameLst>
                                      </p:cBhvr>
                                      <p:tavLst>
                                        <p:tav tm="0">
                                          <p:val>
                                            <p:strVal val="#ppt_w*0.70"/>
                                          </p:val>
                                        </p:tav>
                                        <p:tav tm="100000">
                                          <p:val>
                                            <p:strVal val="#ppt_w"/>
                                          </p:val>
                                        </p:tav>
                                      </p:tavLst>
                                    </p:anim>
                                    <p:anim calcmode="lin" valueType="num">
                                      <p:cBhvr>
                                        <p:cTn id="28" dur="1000" fill="hold"/>
                                        <p:tgtEl>
                                          <p:spTgt spid="1556483">
                                            <p:txEl>
                                              <p:pRg st="2" end="2"/>
                                            </p:txEl>
                                          </p:spTgt>
                                        </p:tgtEl>
                                        <p:attrNameLst>
                                          <p:attrName>ppt_h</p:attrName>
                                        </p:attrNameLst>
                                      </p:cBhvr>
                                      <p:tavLst>
                                        <p:tav tm="0">
                                          <p:val>
                                            <p:strVal val="#ppt_h"/>
                                          </p:val>
                                        </p:tav>
                                        <p:tav tm="100000">
                                          <p:val>
                                            <p:strVal val="#ppt_h"/>
                                          </p:val>
                                        </p:tav>
                                      </p:tavLst>
                                    </p:anim>
                                    <p:animEffect transition="in" filter="fade">
                                      <p:cBhvr>
                                        <p:cTn id="29" dur="1000"/>
                                        <p:tgtEl>
                                          <p:spTgt spid="155648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1556483">
                                            <p:txEl>
                                              <p:pRg st="3" end="3"/>
                                            </p:txEl>
                                          </p:spTgt>
                                        </p:tgtEl>
                                        <p:attrNameLst>
                                          <p:attrName>style.visibility</p:attrName>
                                        </p:attrNameLst>
                                      </p:cBhvr>
                                      <p:to>
                                        <p:strVal val="visible"/>
                                      </p:to>
                                    </p:set>
                                    <p:anim calcmode="lin" valueType="num">
                                      <p:cBhvr>
                                        <p:cTn id="34" dur="1000" fill="hold"/>
                                        <p:tgtEl>
                                          <p:spTgt spid="1556483">
                                            <p:txEl>
                                              <p:pRg st="3" end="3"/>
                                            </p:txEl>
                                          </p:spTgt>
                                        </p:tgtEl>
                                        <p:attrNameLst>
                                          <p:attrName>ppt_w</p:attrName>
                                        </p:attrNameLst>
                                      </p:cBhvr>
                                      <p:tavLst>
                                        <p:tav tm="0">
                                          <p:val>
                                            <p:strVal val="#ppt_w*0.70"/>
                                          </p:val>
                                        </p:tav>
                                        <p:tav tm="100000">
                                          <p:val>
                                            <p:strVal val="#ppt_w"/>
                                          </p:val>
                                        </p:tav>
                                      </p:tavLst>
                                    </p:anim>
                                    <p:anim calcmode="lin" valueType="num">
                                      <p:cBhvr>
                                        <p:cTn id="35" dur="1000" fill="hold"/>
                                        <p:tgtEl>
                                          <p:spTgt spid="1556483">
                                            <p:txEl>
                                              <p:pRg st="3" end="3"/>
                                            </p:txEl>
                                          </p:spTgt>
                                        </p:tgtEl>
                                        <p:attrNameLst>
                                          <p:attrName>ppt_h</p:attrName>
                                        </p:attrNameLst>
                                      </p:cBhvr>
                                      <p:tavLst>
                                        <p:tav tm="0">
                                          <p:val>
                                            <p:strVal val="#ppt_h"/>
                                          </p:val>
                                        </p:tav>
                                        <p:tav tm="100000">
                                          <p:val>
                                            <p:strVal val="#ppt_h"/>
                                          </p:val>
                                        </p:tav>
                                      </p:tavLst>
                                    </p:anim>
                                    <p:animEffect transition="in" filter="fade">
                                      <p:cBhvr>
                                        <p:cTn id="36" dur="1000"/>
                                        <p:tgtEl>
                                          <p:spTgt spid="155648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grpId="0" nodeType="clickEffect">
                                  <p:stCondLst>
                                    <p:cond delay="0"/>
                                  </p:stCondLst>
                                  <p:childTnLst>
                                    <p:set>
                                      <p:cBhvr>
                                        <p:cTn id="40" dur="1" fill="hold">
                                          <p:stCondLst>
                                            <p:cond delay="0"/>
                                          </p:stCondLst>
                                        </p:cTn>
                                        <p:tgtEl>
                                          <p:spTgt spid="1556483">
                                            <p:txEl>
                                              <p:pRg st="4" end="4"/>
                                            </p:txEl>
                                          </p:spTgt>
                                        </p:tgtEl>
                                        <p:attrNameLst>
                                          <p:attrName>style.visibility</p:attrName>
                                        </p:attrNameLst>
                                      </p:cBhvr>
                                      <p:to>
                                        <p:strVal val="visible"/>
                                      </p:to>
                                    </p:set>
                                    <p:anim calcmode="lin" valueType="num">
                                      <p:cBhvr>
                                        <p:cTn id="41" dur="1000" fill="hold"/>
                                        <p:tgtEl>
                                          <p:spTgt spid="1556483">
                                            <p:txEl>
                                              <p:pRg st="4" end="4"/>
                                            </p:txEl>
                                          </p:spTgt>
                                        </p:tgtEl>
                                        <p:attrNameLst>
                                          <p:attrName>ppt_w</p:attrName>
                                        </p:attrNameLst>
                                      </p:cBhvr>
                                      <p:tavLst>
                                        <p:tav tm="0">
                                          <p:val>
                                            <p:strVal val="#ppt_w*0.70"/>
                                          </p:val>
                                        </p:tav>
                                        <p:tav tm="100000">
                                          <p:val>
                                            <p:strVal val="#ppt_w"/>
                                          </p:val>
                                        </p:tav>
                                      </p:tavLst>
                                    </p:anim>
                                    <p:anim calcmode="lin" valueType="num">
                                      <p:cBhvr>
                                        <p:cTn id="42" dur="1000" fill="hold"/>
                                        <p:tgtEl>
                                          <p:spTgt spid="1556483">
                                            <p:txEl>
                                              <p:pRg st="4" end="4"/>
                                            </p:txEl>
                                          </p:spTgt>
                                        </p:tgtEl>
                                        <p:attrNameLst>
                                          <p:attrName>ppt_h</p:attrName>
                                        </p:attrNameLst>
                                      </p:cBhvr>
                                      <p:tavLst>
                                        <p:tav tm="0">
                                          <p:val>
                                            <p:strVal val="#ppt_h"/>
                                          </p:val>
                                        </p:tav>
                                        <p:tav tm="100000">
                                          <p:val>
                                            <p:strVal val="#ppt_h"/>
                                          </p:val>
                                        </p:tav>
                                      </p:tavLst>
                                    </p:anim>
                                    <p:animEffect transition="in" filter="fade">
                                      <p:cBhvr>
                                        <p:cTn id="43" dur="1000"/>
                                        <p:tgtEl>
                                          <p:spTgt spid="1556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483" grpId="0" build="p"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5"/>
          <p:cNvSpPr>
            <a:spLocks noGrp="1" noChangeArrowheads="1"/>
          </p:cNvSpPr>
          <p:nvPr>
            <p:ph type="sldNum" sz="quarter" idx="4294967295"/>
          </p:nvPr>
        </p:nvSpPr>
        <p:spPr bwMode="auto">
          <a:xfrm>
            <a:off x="9555163" y="8677275"/>
            <a:ext cx="2778125" cy="635000"/>
          </a:xfrm>
          <a:prstGeom prst="rect">
            <a:avLst/>
          </a:prstGeom>
          <a:ln>
            <a:miter lim="800000"/>
          </a:ln>
        </p:spPr>
        <p:txBody>
          <a:bodyPr lIns="130618" tIns="65309" rIns="130618" bIns="65309"/>
          <a:lstStyle>
            <a:defPPr>
              <a:defRPr lang="zh-CN"/>
            </a:defPPr>
            <a:lvl1pPr algn="r" rtl="0" eaLnBrk="1" fontAlgn="base" hangingPunct="1">
              <a:spcBef>
                <a:spcPct val="50000"/>
              </a:spcBef>
              <a:spcAft>
                <a:spcPct val="0"/>
              </a:spcAft>
              <a:buFontTx/>
              <a:buNone/>
              <a:defRPr kumimoji="1" sz="2400" kern="1200">
                <a:solidFill>
                  <a:srgbClr val="FF0000"/>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2pPr>
            <a:lvl3pPr marL="9144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3pPr>
            <a:lvl4pPr marL="13716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4pPr>
            <a:lvl5pPr marL="1828800" algn="l" rtl="0" fontAlgn="base">
              <a:spcBef>
                <a:spcPct val="0"/>
              </a:spcBef>
              <a:spcAft>
                <a:spcPct val="0"/>
              </a:spcAft>
              <a:buFont typeface="Arial" panose="020B0604020202020204" pitchFamily="34" charset="0"/>
              <a:defRPr sz="6000" kern="1200">
                <a:solidFill>
                  <a:schemeClr val="tx1"/>
                </a:solidFill>
                <a:latin typeface="宋体" panose="02010600030101010101" pitchFamily="2" charset="-122"/>
                <a:ea typeface="隶书" panose="02010509060101010101" pitchFamily="49" charset="-122"/>
                <a:cs typeface="+mn-cs"/>
              </a:defRPr>
            </a:lvl5pPr>
            <a:lvl6pPr marL="22860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6pPr>
            <a:lvl7pPr marL="27432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7pPr>
            <a:lvl8pPr marL="32004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8pPr>
            <a:lvl9pPr marL="3657600" algn="l" defTabSz="914400" rtl="0" eaLnBrk="1" latinLnBrk="0" hangingPunct="1">
              <a:defRPr sz="6000" kern="1200">
                <a:solidFill>
                  <a:schemeClr val="tx1"/>
                </a:solidFill>
                <a:latin typeface="宋体" panose="02010600030101010101" pitchFamily="2" charset="-122"/>
                <a:ea typeface="隶书" panose="02010509060101010101" pitchFamily="49" charset="-122"/>
                <a:cs typeface="+mn-cs"/>
              </a:defRPr>
            </a:lvl9pPr>
          </a:lstStyle>
          <a:p>
            <a:pPr>
              <a:buFont typeface="Arial" panose="020B0604020202020204" pitchFamily="34" charset="0"/>
              <a:buChar char="•"/>
              <a:defRPr/>
            </a:pPr>
            <a:fld id="{BB0BDF62-8C9D-4871-8F68-516EE3B1B0CA}" type="slidenum">
              <a:rPr lang="en-US" altLang="zh-CN" smtClean="0"/>
              <a:t>84</a:t>
            </a:fld>
            <a:endParaRPr lang="en-US" altLang="zh-CN" sz="1645"/>
          </a:p>
        </p:txBody>
      </p:sp>
      <p:sp>
        <p:nvSpPr>
          <p:cNvPr id="94210" name="Rectangle 3"/>
          <p:cNvSpPr>
            <a:spLocks noGrp="1" noChangeArrowheads="1"/>
          </p:cNvSpPr>
          <p:nvPr>
            <p:ph idx="1"/>
          </p:nvPr>
        </p:nvSpPr>
        <p:spPr>
          <a:xfrm>
            <a:off x="374650" y="1895475"/>
            <a:ext cx="6172200" cy="4799013"/>
          </a:xfrm>
        </p:spPr>
        <p:txBody>
          <a:bodyPr/>
          <a:lstStyle/>
          <a:p>
            <a:pPr eaLnBrk="1" hangingPunct="1">
              <a:buFontTx/>
              <a:buNone/>
              <a:defRPr/>
            </a:pPr>
            <a:r>
              <a:rPr lang="en-US" altLang="zh-CN" sz="2195" dirty="0"/>
              <a:t>     </a:t>
            </a:r>
            <a:r>
              <a:rPr lang="en-US" altLang="zh-CN" sz="1920" dirty="0"/>
              <a:t>  </a:t>
            </a:r>
            <a:r>
              <a:rPr lang="en-US" altLang="zh-CN" sz="1920" dirty="0">
                <a:solidFill>
                  <a:srgbClr val="0000FF"/>
                </a:solidFill>
              </a:rPr>
              <a:t>1</a:t>
            </a:r>
            <a:r>
              <a:rPr lang="zh-CN" altLang="en-US" sz="1920" dirty="0">
                <a:solidFill>
                  <a:srgbClr val="0000FF"/>
                </a:solidFill>
              </a:rPr>
              <a:t>、建立系统的数学模型；</a:t>
            </a:r>
          </a:p>
          <a:p>
            <a:pPr eaLnBrk="1" hangingPunct="1">
              <a:buFontTx/>
              <a:buNone/>
              <a:defRPr/>
            </a:pPr>
            <a:endParaRPr lang="zh-CN" altLang="en-US" sz="1920" dirty="0">
              <a:solidFill>
                <a:srgbClr val="0000FF"/>
              </a:solidFill>
            </a:endParaRPr>
          </a:p>
          <a:p>
            <a:pPr eaLnBrk="1" hangingPunct="1">
              <a:buFontTx/>
              <a:buNone/>
              <a:defRPr/>
            </a:pPr>
            <a:endParaRPr lang="zh-CN" altLang="en-US" sz="1920" dirty="0">
              <a:solidFill>
                <a:srgbClr val="0000FF"/>
              </a:solidFill>
            </a:endParaRPr>
          </a:p>
          <a:p>
            <a:pPr eaLnBrk="1" hangingPunct="1">
              <a:buFontTx/>
              <a:buNone/>
              <a:defRPr/>
            </a:pPr>
            <a:r>
              <a:rPr lang="zh-CN" altLang="en-US" sz="1920" dirty="0">
                <a:solidFill>
                  <a:srgbClr val="0000FF"/>
                </a:solidFill>
              </a:rPr>
              <a:t>      </a:t>
            </a:r>
          </a:p>
          <a:p>
            <a:pPr eaLnBrk="1" hangingPunct="1">
              <a:buFontTx/>
              <a:buNone/>
              <a:defRPr/>
            </a:pPr>
            <a:r>
              <a:rPr lang="zh-CN" altLang="en-US" sz="1920" dirty="0">
                <a:solidFill>
                  <a:srgbClr val="0000FF"/>
                </a:solidFill>
              </a:rPr>
              <a:t>      </a:t>
            </a:r>
          </a:p>
          <a:p>
            <a:pPr eaLnBrk="1" hangingPunct="1">
              <a:buFontTx/>
              <a:buNone/>
              <a:defRPr/>
            </a:pPr>
            <a:r>
              <a:rPr lang="zh-CN" altLang="en-US" sz="1920" dirty="0">
                <a:solidFill>
                  <a:srgbClr val="0000FF"/>
                </a:solidFill>
              </a:rPr>
              <a:t>        </a:t>
            </a:r>
            <a:r>
              <a:rPr lang="en-US" altLang="zh-CN" sz="1920" dirty="0">
                <a:solidFill>
                  <a:srgbClr val="0000FF"/>
                </a:solidFill>
              </a:rPr>
              <a:t>2</a:t>
            </a:r>
            <a:r>
              <a:rPr lang="zh-CN" altLang="en-US" sz="1920" dirty="0">
                <a:solidFill>
                  <a:srgbClr val="0000FF"/>
                </a:solidFill>
              </a:rPr>
              <a:t>、解系统的数学模型；</a:t>
            </a:r>
          </a:p>
          <a:p>
            <a:pPr eaLnBrk="1" hangingPunct="1">
              <a:buFontTx/>
              <a:buNone/>
              <a:defRPr/>
            </a:pPr>
            <a:endParaRPr lang="zh-CN" altLang="en-US" sz="1920" dirty="0">
              <a:solidFill>
                <a:srgbClr val="0000FF"/>
              </a:solidFill>
            </a:endParaRPr>
          </a:p>
          <a:p>
            <a:pPr eaLnBrk="1" hangingPunct="1">
              <a:buFontTx/>
              <a:buNone/>
              <a:defRPr/>
            </a:pPr>
            <a:endParaRPr lang="zh-CN" altLang="en-US" sz="1920" dirty="0">
              <a:solidFill>
                <a:srgbClr val="0000FF"/>
              </a:solidFill>
            </a:endParaRPr>
          </a:p>
          <a:p>
            <a:pPr eaLnBrk="1" hangingPunct="1">
              <a:buFontTx/>
              <a:buNone/>
              <a:defRPr/>
            </a:pPr>
            <a:endParaRPr lang="zh-CN" altLang="en-US" sz="1920" dirty="0">
              <a:solidFill>
                <a:srgbClr val="0000FF"/>
              </a:solidFill>
            </a:endParaRPr>
          </a:p>
          <a:p>
            <a:pPr eaLnBrk="1" hangingPunct="1">
              <a:buFontTx/>
              <a:buNone/>
              <a:defRPr/>
            </a:pPr>
            <a:r>
              <a:rPr lang="zh-CN" altLang="en-US" sz="1920" dirty="0">
                <a:solidFill>
                  <a:srgbClr val="0000FF"/>
                </a:solidFill>
              </a:rPr>
              <a:t>   </a:t>
            </a:r>
          </a:p>
          <a:p>
            <a:pPr eaLnBrk="1" hangingPunct="1">
              <a:buFontTx/>
              <a:buNone/>
              <a:defRPr/>
            </a:pPr>
            <a:r>
              <a:rPr lang="zh-CN" altLang="en-US" sz="1920" dirty="0">
                <a:solidFill>
                  <a:srgbClr val="0000FF"/>
                </a:solidFill>
              </a:rPr>
              <a:t>     </a:t>
            </a:r>
          </a:p>
          <a:p>
            <a:pPr eaLnBrk="1" hangingPunct="1">
              <a:buFontTx/>
              <a:buNone/>
              <a:defRPr/>
            </a:pPr>
            <a:r>
              <a:rPr lang="zh-CN" altLang="en-US" sz="1920" dirty="0">
                <a:solidFill>
                  <a:srgbClr val="0000FF"/>
                </a:solidFill>
              </a:rPr>
              <a:t>       </a:t>
            </a:r>
            <a:r>
              <a:rPr lang="en-US" altLang="zh-CN" sz="1920" dirty="0">
                <a:solidFill>
                  <a:srgbClr val="0000FF"/>
                </a:solidFill>
              </a:rPr>
              <a:t>3</a:t>
            </a:r>
            <a:r>
              <a:rPr lang="zh-CN" altLang="en-US" sz="1920" dirty="0">
                <a:solidFill>
                  <a:srgbClr val="0000FF"/>
                </a:solidFill>
              </a:rPr>
              <a:t>、对系统的解进行物理解释。</a:t>
            </a:r>
          </a:p>
        </p:txBody>
      </p:sp>
      <p:grpSp>
        <p:nvGrpSpPr>
          <p:cNvPr id="2" name="Group 5"/>
          <p:cNvGrpSpPr/>
          <p:nvPr/>
        </p:nvGrpSpPr>
        <p:grpSpPr bwMode="auto">
          <a:xfrm>
            <a:off x="1560513" y="2490788"/>
            <a:ext cx="5086350" cy="933450"/>
            <a:chOff x="657" y="1661"/>
            <a:chExt cx="3901" cy="618"/>
          </a:xfrm>
        </p:grpSpPr>
        <p:sp>
          <p:nvSpPr>
            <p:cNvPr id="94213" name="Text Box 6"/>
            <p:cNvSpPr txBox="1">
              <a:spLocks noChangeArrowheads="1"/>
            </p:cNvSpPr>
            <p:nvPr/>
          </p:nvSpPr>
          <p:spPr bwMode="auto">
            <a:xfrm>
              <a:off x="793" y="2024"/>
              <a:ext cx="3765" cy="255"/>
            </a:xfrm>
            <a:prstGeom prst="rect">
              <a:avLst/>
            </a:prstGeom>
            <a:noFill/>
            <a:ln>
              <a:noFill/>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1920" dirty="0">
                  <a:latin typeface="Times New Roman" panose="02020603050405020304" pitchFamily="18" charset="0"/>
                  <a:ea typeface="宋体" panose="02010600030101010101" pitchFamily="2" charset="-122"/>
                </a:rPr>
                <a:t>离散系统：常系数线性差分方程（组）</a:t>
              </a:r>
            </a:p>
          </p:txBody>
        </p:sp>
        <p:sp>
          <p:nvSpPr>
            <p:cNvPr id="94214" name="Text Box 7"/>
            <p:cNvSpPr txBox="1">
              <a:spLocks noChangeArrowheads="1"/>
            </p:cNvSpPr>
            <p:nvPr/>
          </p:nvSpPr>
          <p:spPr bwMode="auto">
            <a:xfrm>
              <a:off x="793" y="1661"/>
              <a:ext cx="3538" cy="255"/>
            </a:xfrm>
            <a:prstGeom prst="rect">
              <a:avLst/>
            </a:prstGeom>
            <a:noFill/>
            <a:ln>
              <a:noFill/>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1920">
                  <a:latin typeface="Times New Roman" panose="02020603050405020304" pitchFamily="18" charset="0"/>
                  <a:ea typeface="宋体" panose="02010600030101010101" pitchFamily="2" charset="-122"/>
                </a:rPr>
                <a:t>连续系统：常系数线性微分方程（组）</a:t>
              </a:r>
            </a:p>
          </p:txBody>
        </p:sp>
        <p:sp>
          <p:nvSpPr>
            <p:cNvPr id="94215" name="AutoShape 8"/>
            <p:cNvSpPr/>
            <p:nvPr/>
          </p:nvSpPr>
          <p:spPr bwMode="auto">
            <a:xfrm>
              <a:off x="657" y="1797"/>
              <a:ext cx="136" cy="454"/>
            </a:xfrm>
            <a:prstGeom prst="leftBrace">
              <a:avLst>
                <a:gd name="adj1" fmla="val 27757"/>
                <a:gd name="adj2" fmla="val 50000"/>
              </a:avLst>
            </a:prstGeom>
            <a:noFill/>
            <a:ln w="9525">
              <a:solidFill>
                <a:schemeClr val="tx1"/>
              </a:solidFill>
              <a:round/>
            </a:ln>
          </p:spPr>
          <p:txBody>
            <a:bodyPr wrap="none" anchor="ct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lgn="ctr">
                <a:defRPr/>
              </a:pPr>
              <a:endParaRPr lang="zh-CN" altLang="en-US" sz="4115"/>
            </a:p>
          </p:txBody>
        </p:sp>
      </p:grpSp>
      <p:grpSp>
        <p:nvGrpSpPr>
          <p:cNvPr id="3" name="Group 9"/>
          <p:cNvGrpSpPr/>
          <p:nvPr/>
        </p:nvGrpSpPr>
        <p:grpSpPr bwMode="auto">
          <a:xfrm>
            <a:off x="1608138" y="4168775"/>
            <a:ext cx="5876925" cy="1484313"/>
            <a:chOff x="657" y="2659"/>
            <a:chExt cx="4219" cy="981"/>
          </a:xfrm>
        </p:grpSpPr>
        <p:sp>
          <p:nvSpPr>
            <p:cNvPr id="94217" name="Text Box 10"/>
            <p:cNvSpPr txBox="1">
              <a:spLocks noChangeArrowheads="1"/>
            </p:cNvSpPr>
            <p:nvPr/>
          </p:nvSpPr>
          <p:spPr bwMode="auto">
            <a:xfrm>
              <a:off x="748" y="3022"/>
              <a:ext cx="3764" cy="255"/>
            </a:xfrm>
            <a:prstGeom prst="rect">
              <a:avLst/>
            </a:prstGeom>
            <a:noFill/>
            <a:ln>
              <a:noFill/>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1920" dirty="0">
                  <a:latin typeface="Times New Roman" panose="02020603050405020304" pitchFamily="18" charset="0"/>
                  <a:ea typeface="宋体" panose="02010600030101010101" pitchFamily="2" charset="-122"/>
                </a:rPr>
                <a:t>系统分析法：时域</a:t>
              </a:r>
              <a:r>
                <a:rPr lang="en-US" altLang="zh-CN" sz="1920" dirty="0">
                  <a:latin typeface="Times New Roman" panose="02020603050405020304" pitchFamily="18" charset="0"/>
                  <a:ea typeface="宋体" panose="02010600030101010101" pitchFamily="2" charset="-122"/>
                </a:rPr>
                <a:t>+</a:t>
              </a:r>
              <a:r>
                <a:rPr lang="zh-CN" altLang="en-US" sz="1920" dirty="0">
                  <a:latin typeface="Times New Roman" panose="02020603050405020304" pitchFamily="18" charset="0"/>
                  <a:ea typeface="宋体" panose="02010600030101010101" pitchFamily="2" charset="-122"/>
                </a:rPr>
                <a:t>变换域；用于求零状态响应</a:t>
              </a:r>
            </a:p>
          </p:txBody>
        </p:sp>
        <p:sp>
          <p:nvSpPr>
            <p:cNvPr id="94218" name="Text Box 11"/>
            <p:cNvSpPr txBox="1">
              <a:spLocks noChangeArrowheads="1"/>
            </p:cNvSpPr>
            <p:nvPr/>
          </p:nvSpPr>
          <p:spPr bwMode="auto">
            <a:xfrm>
              <a:off x="748" y="2659"/>
              <a:ext cx="4128" cy="255"/>
            </a:xfrm>
            <a:prstGeom prst="rect">
              <a:avLst/>
            </a:prstGeom>
            <a:noFill/>
            <a:ln>
              <a:noFill/>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1920">
                  <a:latin typeface="Times New Roman" panose="02020603050405020304" pitchFamily="18" charset="0"/>
                  <a:ea typeface="宋体" panose="02010600030101010101" pitchFamily="2" charset="-122"/>
                </a:rPr>
                <a:t>直接法：齐次解（自由解）</a:t>
              </a:r>
              <a:r>
                <a:rPr lang="en-US" altLang="zh-CN" sz="1920">
                  <a:latin typeface="Times New Roman" panose="02020603050405020304" pitchFamily="18" charset="0"/>
                  <a:ea typeface="宋体" panose="02010600030101010101" pitchFamily="2" charset="-122"/>
                </a:rPr>
                <a:t>+</a:t>
              </a:r>
              <a:r>
                <a:rPr lang="zh-CN" altLang="en-US" sz="1920">
                  <a:latin typeface="Times New Roman" panose="02020603050405020304" pitchFamily="18" charset="0"/>
                  <a:ea typeface="宋体" panose="02010600030101010101" pitchFamily="2" charset="-122"/>
                </a:rPr>
                <a:t>特解（受迫解）</a:t>
              </a:r>
            </a:p>
          </p:txBody>
        </p:sp>
        <p:sp>
          <p:nvSpPr>
            <p:cNvPr id="94219" name="AutoShape 12"/>
            <p:cNvSpPr/>
            <p:nvPr/>
          </p:nvSpPr>
          <p:spPr bwMode="auto">
            <a:xfrm>
              <a:off x="657" y="2795"/>
              <a:ext cx="136" cy="770"/>
            </a:xfrm>
            <a:prstGeom prst="leftBrace">
              <a:avLst>
                <a:gd name="adj1" fmla="val 47138"/>
                <a:gd name="adj2" fmla="val 50000"/>
              </a:avLst>
            </a:prstGeom>
            <a:noFill/>
            <a:ln w="9525">
              <a:solidFill>
                <a:schemeClr val="tx1"/>
              </a:solidFill>
              <a:round/>
            </a:ln>
          </p:spPr>
          <p:txBody>
            <a:bodyPr wrap="none" anchor="ct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lgn="ctr">
                <a:defRPr/>
              </a:pPr>
              <a:endParaRPr lang="zh-CN" altLang="en-US" sz="4115"/>
            </a:p>
          </p:txBody>
        </p:sp>
        <p:sp>
          <p:nvSpPr>
            <p:cNvPr id="94220" name="Text Box 13"/>
            <p:cNvSpPr txBox="1">
              <a:spLocks noChangeArrowheads="1"/>
            </p:cNvSpPr>
            <p:nvPr/>
          </p:nvSpPr>
          <p:spPr bwMode="auto">
            <a:xfrm>
              <a:off x="748" y="3385"/>
              <a:ext cx="3764" cy="255"/>
            </a:xfrm>
            <a:prstGeom prst="rect">
              <a:avLst/>
            </a:prstGeom>
            <a:noFill/>
            <a:ln>
              <a:noFill/>
            </a:ln>
          </p:spPr>
          <p:txBody>
            <a:bodyPr lIns="89569" tIns="44785" rIns="89569" bIns="44785">
              <a:spAutoFit/>
            </a:bodyP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spcBef>
                  <a:spcPct val="50000"/>
                </a:spcBef>
                <a:defRPr/>
              </a:pPr>
              <a:r>
                <a:rPr lang="zh-CN" altLang="en-US" sz="1920">
                  <a:latin typeface="Times New Roman" panose="02020603050405020304" pitchFamily="18" charset="0"/>
                  <a:ea typeface="宋体" panose="02010600030101010101" pitchFamily="2" charset="-122"/>
                </a:rPr>
                <a:t>状态变量分析法</a:t>
              </a:r>
            </a:p>
          </p:txBody>
        </p:sp>
      </p:grpSp>
      <p:sp>
        <p:nvSpPr>
          <p:cNvPr id="94222" name="Rectangle 15"/>
          <p:cNvSpPr>
            <a:spLocks noChangeArrowheads="1"/>
          </p:cNvSpPr>
          <p:nvPr/>
        </p:nvSpPr>
        <p:spPr bwMode="auto">
          <a:xfrm>
            <a:off x="177800" y="712788"/>
            <a:ext cx="4838700" cy="542925"/>
          </a:xfrm>
          <a:prstGeom prst="rect">
            <a:avLst/>
          </a:prstGeom>
          <a:noFill/>
          <a:ln>
            <a:noFill/>
          </a:ln>
        </p:spPr>
        <p:txBody>
          <a:bodyPr lIns="89567" tIns="44783" rIns="89567" bIns="44783" anchor="ctr"/>
          <a:lstStyle>
            <a:lvl1pPr>
              <a:defRPr sz="6000">
                <a:solidFill>
                  <a:schemeClr val="tx1"/>
                </a:solidFill>
                <a:latin typeface="宋体" panose="02010600030101010101" pitchFamily="2" charset="-122"/>
                <a:ea typeface="隶书" panose="02010509060101010101" pitchFamily="49" charset="-122"/>
              </a:defRPr>
            </a:lvl1pPr>
            <a:lvl2pPr>
              <a:defRPr sz="6000">
                <a:solidFill>
                  <a:schemeClr val="tx1"/>
                </a:solidFill>
                <a:latin typeface="宋体" panose="02010600030101010101" pitchFamily="2" charset="-122"/>
                <a:ea typeface="隶书" panose="02010509060101010101" pitchFamily="49" charset="-122"/>
              </a:defRPr>
            </a:lvl2pPr>
            <a:lvl3pPr>
              <a:defRPr sz="6000">
                <a:solidFill>
                  <a:schemeClr val="tx1"/>
                </a:solidFill>
                <a:latin typeface="宋体" panose="02010600030101010101" pitchFamily="2" charset="-122"/>
                <a:ea typeface="隶书" panose="02010509060101010101" pitchFamily="49" charset="-122"/>
              </a:defRPr>
            </a:lvl3pPr>
            <a:lvl4pPr>
              <a:defRPr sz="6000">
                <a:solidFill>
                  <a:schemeClr val="tx1"/>
                </a:solidFill>
                <a:latin typeface="宋体" panose="02010600030101010101" pitchFamily="2" charset="-122"/>
                <a:ea typeface="隶书" panose="02010509060101010101" pitchFamily="49" charset="-122"/>
              </a:defRPr>
            </a:lvl4pPr>
            <a:lvl5pPr>
              <a:defRPr sz="6000">
                <a:solidFill>
                  <a:schemeClr val="tx1"/>
                </a:solidFill>
                <a:latin typeface="宋体" panose="02010600030101010101" pitchFamily="2" charset="-122"/>
                <a:ea typeface="隶书" panose="02010509060101010101" pitchFamily="49" charset="-122"/>
              </a:defRPr>
            </a:lvl5pPr>
            <a:lvl6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6pPr>
            <a:lvl7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7pPr>
            <a:lvl8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8pPr>
            <a:lvl9pPr fontAlgn="base">
              <a:spcBef>
                <a:spcPct val="0"/>
              </a:spcBef>
              <a:spcAft>
                <a:spcPct val="0"/>
              </a:spcAft>
              <a:buFont typeface="Arial" panose="020B0604020202020204" pitchFamily="34" charset="0"/>
              <a:defRPr sz="6000">
                <a:solidFill>
                  <a:schemeClr val="tx1"/>
                </a:solidFill>
                <a:latin typeface="宋体" panose="02010600030101010101" pitchFamily="2" charset="-122"/>
                <a:ea typeface="隶书" panose="02010509060101010101" pitchFamily="49" charset="-122"/>
              </a:defRPr>
            </a:lvl9pPr>
          </a:lstStyle>
          <a:p>
            <a:pPr algn="ctr">
              <a:defRPr/>
            </a:pPr>
            <a:r>
              <a:rPr lang="en-US" altLang="zh-CN" sz="2470">
                <a:solidFill>
                  <a:srgbClr val="FF0000"/>
                </a:solidFill>
                <a:latin typeface="黑体" panose="02010609060101010101" pitchFamily="49" charset="-122"/>
                <a:ea typeface="黑体" panose="02010609060101010101" pitchFamily="49" charset="-122"/>
              </a:rPr>
              <a:t>§1.5	</a:t>
            </a:r>
            <a:r>
              <a:rPr lang="zh-CN" altLang="en-US" sz="2470">
                <a:solidFill>
                  <a:srgbClr val="FF0000"/>
                </a:solidFill>
                <a:latin typeface="黑体" panose="02010609060101010101" pitchFamily="49" charset="-122"/>
                <a:ea typeface="黑体" panose="02010609060101010101" pitchFamily="49" charset="-122"/>
              </a:rPr>
              <a:t>线性时不变系统的分析</a:t>
            </a:r>
            <a:endParaRPr lang="zh-CN" altLang="en-US" sz="1920">
              <a:solidFill>
                <a:srgbClr val="FF0000"/>
              </a:solidFill>
              <a:latin typeface="黑体" panose="02010609060101010101" pitchFamily="49" charset="-122"/>
              <a:ea typeface="黑体" panose="02010609060101010101" pitchFamily="49" charset="-122"/>
            </a:endParaRPr>
          </a:p>
        </p:txBody>
      </p:sp>
      <p:sp>
        <p:nvSpPr>
          <p:cNvPr id="94223" name="Rectangle 17"/>
          <p:cNvSpPr>
            <a:spLocks noGrp="1" noChangeArrowheads="1"/>
          </p:cNvSpPr>
          <p:nvPr>
            <p:ph type="title"/>
          </p:nvPr>
        </p:nvSpPr>
        <p:spPr>
          <a:xfrm>
            <a:off x="573088" y="1255713"/>
            <a:ext cx="1579562" cy="495300"/>
          </a:xfrm>
        </p:spPr>
        <p:txBody>
          <a:bodyPr/>
          <a:lstStyle/>
          <a:p>
            <a:pPr eaLnBrk="1" hangingPunct="1">
              <a:defRPr/>
            </a:pPr>
            <a:r>
              <a:rPr lang="zh-CN" altLang="en-US" sz="1920">
                <a:ea typeface="黑体" panose="02010609060101010101" pitchFamily="49" charset="-122"/>
              </a:rPr>
              <a:t>分析步骤：</a:t>
            </a:r>
          </a:p>
        </p:txBody>
      </p:sp>
    </p:spTree>
    <p:custDataLst>
      <p:tags r:id="rId1"/>
    </p:custDataLst>
  </p:cSld>
  <p:clrMapOvr>
    <a:masterClrMapping/>
  </p:clrMapOvr>
  <p:transition spd="slow" advTm="12633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4210">
                                            <p:txEl>
                                              <p:pRg st="5" end="5"/>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strVal val="#ppt_w*0.70"/>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Effect transition="in" filter="fade">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42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7507" name="Rectangle 3"/>
          <p:cNvSpPr>
            <a:spLocks noGrp="1" noChangeArrowheads="1"/>
          </p:cNvSpPr>
          <p:nvPr>
            <p:ph type="body" sz="half" idx="1"/>
          </p:nvPr>
        </p:nvSpPr>
        <p:spPr>
          <a:xfrm>
            <a:off x="601663" y="3324225"/>
            <a:ext cx="8123237" cy="2670175"/>
          </a:xfrm>
          <a:solidFill>
            <a:srgbClr val="EEE4CE"/>
          </a:solidFill>
          <a:effectLst>
            <a:outerShdw dist="35921" dir="2700000" algn="ctr" rotWithShape="0">
              <a:srgbClr val="808080"/>
            </a:outerShdw>
          </a:effectLst>
        </p:spPr>
        <p:txBody>
          <a:bodyPr/>
          <a:lstStyle/>
          <a:p>
            <a:pPr>
              <a:lnSpc>
                <a:spcPct val="150000"/>
              </a:lnSpc>
              <a:buFont typeface="Wingdings" panose="05000000000000000000" pitchFamily="2" charset="2"/>
              <a:buChar char="l"/>
            </a:pPr>
            <a:r>
              <a:rPr lang="zh-CN" altLang="en-US" sz="1800" b="1" dirty="0"/>
              <a:t>许多实用的系统具有线性时不变的特性；</a:t>
            </a:r>
          </a:p>
          <a:p>
            <a:pPr>
              <a:lnSpc>
                <a:spcPct val="150000"/>
              </a:lnSpc>
              <a:buFont typeface="Wingdings" panose="05000000000000000000" pitchFamily="2" charset="2"/>
              <a:buChar char="l"/>
            </a:pPr>
            <a:r>
              <a:rPr lang="zh-CN" altLang="en-US" sz="1800" b="1" dirty="0"/>
              <a:t>系统理论中，目前</a:t>
            </a:r>
            <a:r>
              <a:rPr lang="zh-CN" altLang="en-US" sz="1800" b="1" dirty="0">
                <a:solidFill>
                  <a:srgbClr val="FF0000"/>
                </a:solidFill>
              </a:rPr>
              <a:t>只有线性时不变系统已经建立了一套完整的分析方法</a:t>
            </a:r>
            <a:r>
              <a:rPr lang="zh-CN" altLang="en-US" sz="1800" b="1" dirty="0"/>
              <a:t>；</a:t>
            </a:r>
          </a:p>
          <a:p>
            <a:pPr>
              <a:lnSpc>
                <a:spcPct val="150000"/>
              </a:lnSpc>
              <a:buFont typeface="Wingdings" panose="05000000000000000000" pitchFamily="2" charset="2"/>
              <a:buChar char="l"/>
            </a:pPr>
            <a:r>
              <a:rPr lang="zh-CN" altLang="en-US" sz="1800" b="1" dirty="0"/>
              <a:t>对于时变的尤其是非线性的系统的分析都存在一定的困难。对于它们的实用方法，大多是在线性时不变系统分析方法的基础上加以引申得来的。</a:t>
            </a:r>
          </a:p>
        </p:txBody>
      </p:sp>
      <p:grpSp>
        <p:nvGrpSpPr>
          <p:cNvPr id="2" name="Group 13"/>
          <p:cNvGrpSpPr/>
          <p:nvPr/>
        </p:nvGrpSpPr>
        <p:grpSpPr bwMode="auto">
          <a:xfrm>
            <a:off x="1312863" y="1925638"/>
            <a:ext cx="6354762" cy="831850"/>
            <a:chOff x="1224" y="1867"/>
            <a:chExt cx="5159" cy="727"/>
          </a:xfrm>
        </p:grpSpPr>
        <p:sp>
          <p:nvSpPr>
            <p:cNvPr id="163847" name="AutoShape 4"/>
            <p:cNvSpPr>
              <a:spLocks noChangeArrowheads="1"/>
            </p:cNvSpPr>
            <p:nvPr/>
          </p:nvSpPr>
          <p:spPr bwMode="auto">
            <a:xfrm>
              <a:off x="3538" y="2214"/>
              <a:ext cx="859" cy="315"/>
            </a:xfrm>
            <a:prstGeom prst="rightArrow">
              <a:avLst>
                <a:gd name="adj1" fmla="val 50000"/>
                <a:gd name="adj2" fmla="val 68175"/>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solidFill>
                  <a:srgbClr val="0000FF"/>
                </a:solidFill>
              </a:endParaRPr>
            </a:p>
          </p:txBody>
        </p:sp>
        <p:sp>
          <p:nvSpPr>
            <p:cNvPr id="163848" name="Text Box 5"/>
            <p:cNvSpPr txBox="1">
              <a:spLocks noChangeArrowheads="1"/>
            </p:cNvSpPr>
            <p:nvPr/>
          </p:nvSpPr>
          <p:spPr bwMode="auto">
            <a:xfrm>
              <a:off x="3537" y="1867"/>
              <a:ext cx="852"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000">
                  <a:solidFill>
                    <a:srgbClr val="0000FF"/>
                  </a:solidFill>
                  <a:latin typeface="Times New Roman" panose="02020603050405020304" pitchFamily="18" charset="0"/>
                  <a:ea typeface="宋体" panose="02010600030101010101" pitchFamily="2" charset="-122"/>
                </a:rPr>
                <a:t>逼近</a:t>
              </a:r>
            </a:p>
          </p:txBody>
        </p:sp>
        <p:sp>
          <p:nvSpPr>
            <p:cNvPr id="163849" name="Rectangle 6"/>
            <p:cNvSpPr>
              <a:spLocks noChangeArrowheads="1"/>
            </p:cNvSpPr>
            <p:nvPr/>
          </p:nvSpPr>
          <p:spPr bwMode="auto">
            <a:xfrm>
              <a:off x="1224" y="2118"/>
              <a:ext cx="2250"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3200">
                  <a:solidFill>
                    <a:srgbClr val="0000FF"/>
                  </a:solidFill>
                  <a:latin typeface="Times New Roman" panose="02020603050405020304" pitchFamily="18" charset="0"/>
                  <a:ea typeface="宋体" panose="02010600030101010101" pitchFamily="2" charset="-122"/>
                </a:rPr>
                <a:t>非线性模型</a:t>
              </a:r>
            </a:p>
          </p:txBody>
        </p:sp>
        <p:sp>
          <p:nvSpPr>
            <p:cNvPr id="163850" name="Rectangle 7"/>
            <p:cNvSpPr>
              <a:spLocks noChangeArrowheads="1"/>
            </p:cNvSpPr>
            <p:nvPr/>
          </p:nvSpPr>
          <p:spPr bwMode="auto">
            <a:xfrm>
              <a:off x="4464" y="2118"/>
              <a:ext cx="1919"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sz="3200">
                  <a:solidFill>
                    <a:srgbClr val="0000FF"/>
                  </a:solidFill>
                  <a:latin typeface="Times New Roman" panose="02020603050405020304" pitchFamily="18" charset="0"/>
                  <a:ea typeface="宋体" panose="02010600030101010101" pitchFamily="2" charset="-122"/>
                </a:rPr>
                <a:t>线性模型</a:t>
              </a:r>
            </a:p>
          </p:txBody>
        </p:sp>
      </p:grpSp>
      <p:sp>
        <p:nvSpPr>
          <p:cNvPr id="163844" name="Rectangle 10"/>
          <p:cNvSpPr>
            <a:spLocks noChangeArrowheads="1"/>
          </p:cNvSpPr>
          <p:nvPr/>
        </p:nvSpPr>
        <p:spPr bwMode="auto">
          <a:xfrm>
            <a:off x="177800" y="577850"/>
            <a:ext cx="483870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§1.5	</a:t>
            </a:r>
            <a:r>
              <a:rPr lang="zh-CN" altLang="en-US" sz="2500">
                <a:solidFill>
                  <a:srgbClr val="FF0000"/>
                </a:solidFill>
              </a:rPr>
              <a:t>线性时不变系统的分析</a:t>
            </a:r>
            <a:endParaRPr lang="zh-CN" altLang="en-US" sz="2000">
              <a:solidFill>
                <a:srgbClr val="FF0000"/>
              </a:solidFill>
            </a:endParaRPr>
          </a:p>
        </p:txBody>
      </p:sp>
      <p:sp>
        <p:nvSpPr>
          <p:cNvPr id="163845" name="Rectangle 12"/>
          <p:cNvSpPr>
            <a:spLocks noGrp="1" noChangeArrowheads="1"/>
          </p:cNvSpPr>
          <p:nvPr>
            <p:ph type="title"/>
          </p:nvPr>
        </p:nvSpPr>
        <p:spPr>
          <a:xfrm>
            <a:off x="573088" y="1355725"/>
            <a:ext cx="2073275" cy="519113"/>
          </a:xfrm>
          <a:noFill/>
        </p:spPr>
        <p:txBody>
          <a:bodyPr/>
          <a:lstStyle/>
          <a:p>
            <a:r>
              <a:rPr lang="zh-CN" altLang="en-US" sz="2000" b="1">
                <a:ea typeface="黑体" panose="02010609060101010101" pitchFamily="49" charset="-122"/>
              </a:rPr>
              <a:t>实际问题中：</a:t>
            </a:r>
          </a:p>
        </p:txBody>
      </p:sp>
      <p:sp>
        <p:nvSpPr>
          <p:cNvPr id="12" name="日期占位符 11"/>
          <p:cNvSpPr>
            <a:spLocks noGrp="1"/>
          </p:cNvSpPr>
          <p:nvPr>
            <p:ph type="dt" sz="quarter" idx="10"/>
          </p:nvPr>
        </p:nvSpPr>
        <p:spPr/>
        <p:txBody>
          <a:bodyPr/>
          <a:lstStyle/>
          <a:p>
            <a:pPr>
              <a:defRPr/>
            </a:pPr>
            <a:fld id="{E282A711-AE8A-4A5B-8A42-F3F90053A5DF}" type="datetime3">
              <a:rPr lang="zh-CN" altLang="en-US"/>
              <a:t>2026年3月4日星期三</a:t>
            </a:fld>
            <a:endParaRPr lang="zh-CN" altLang="en-US" dirty="0"/>
          </a:p>
        </p:txBody>
      </p:sp>
    </p:spTree>
  </p:cSld>
  <p:clrMapOvr>
    <a:masterClrMapping/>
  </p:clrMapOvr>
  <p:transition advTm="10863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57507">
                                            <p:txEl>
                                              <p:pRg st="0" end="0"/>
                                            </p:txEl>
                                          </p:spTgt>
                                        </p:tgtEl>
                                        <p:attrNameLst>
                                          <p:attrName>style.visibility</p:attrName>
                                        </p:attrNameLst>
                                      </p:cBhvr>
                                      <p:to>
                                        <p:strVal val="visible"/>
                                      </p:to>
                                    </p:set>
                                    <p:anim calcmode="lin" valueType="num">
                                      <p:cBhvr>
                                        <p:cTn id="14" dur="1000" fill="hold"/>
                                        <p:tgtEl>
                                          <p:spTgt spid="1557507">
                                            <p:txEl>
                                              <p:pRg st="0" end="0"/>
                                            </p:txEl>
                                          </p:spTgt>
                                        </p:tgtEl>
                                        <p:attrNameLst>
                                          <p:attrName>ppt_w</p:attrName>
                                        </p:attrNameLst>
                                      </p:cBhvr>
                                      <p:tavLst>
                                        <p:tav tm="0">
                                          <p:val>
                                            <p:strVal val="#ppt_w*0.70"/>
                                          </p:val>
                                        </p:tav>
                                        <p:tav tm="100000">
                                          <p:val>
                                            <p:strVal val="#ppt_w"/>
                                          </p:val>
                                        </p:tav>
                                      </p:tavLst>
                                    </p:anim>
                                    <p:anim calcmode="lin" valueType="num">
                                      <p:cBhvr>
                                        <p:cTn id="15" dur="1000" fill="hold"/>
                                        <p:tgtEl>
                                          <p:spTgt spid="1557507">
                                            <p:txEl>
                                              <p:pRg st="0" end="0"/>
                                            </p:txEl>
                                          </p:spTgt>
                                        </p:tgtEl>
                                        <p:attrNameLst>
                                          <p:attrName>ppt_h</p:attrName>
                                        </p:attrNameLst>
                                      </p:cBhvr>
                                      <p:tavLst>
                                        <p:tav tm="0">
                                          <p:val>
                                            <p:strVal val="#ppt_h"/>
                                          </p:val>
                                        </p:tav>
                                        <p:tav tm="100000">
                                          <p:val>
                                            <p:strVal val="#ppt_h"/>
                                          </p:val>
                                        </p:tav>
                                      </p:tavLst>
                                    </p:anim>
                                    <p:animEffect transition="in" filter="fade">
                                      <p:cBhvr>
                                        <p:cTn id="16" dur="1000"/>
                                        <p:tgtEl>
                                          <p:spTgt spid="155750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557507">
                                            <p:txEl>
                                              <p:pRg st="1" end="1"/>
                                            </p:txEl>
                                          </p:spTgt>
                                        </p:tgtEl>
                                        <p:attrNameLst>
                                          <p:attrName>style.visibility</p:attrName>
                                        </p:attrNameLst>
                                      </p:cBhvr>
                                      <p:to>
                                        <p:strVal val="visible"/>
                                      </p:to>
                                    </p:set>
                                    <p:anim calcmode="lin" valueType="num">
                                      <p:cBhvr>
                                        <p:cTn id="21" dur="1000" fill="hold"/>
                                        <p:tgtEl>
                                          <p:spTgt spid="1557507">
                                            <p:txEl>
                                              <p:pRg st="1" end="1"/>
                                            </p:txEl>
                                          </p:spTgt>
                                        </p:tgtEl>
                                        <p:attrNameLst>
                                          <p:attrName>ppt_w</p:attrName>
                                        </p:attrNameLst>
                                      </p:cBhvr>
                                      <p:tavLst>
                                        <p:tav tm="0">
                                          <p:val>
                                            <p:strVal val="#ppt_w*0.70"/>
                                          </p:val>
                                        </p:tav>
                                        <p:tav tm="100000">
                                          <p:val>
                                            <p:strVal val="#ppt_w"/>
                                          </p:val>
                                        </p:tav>
                                      </p:tavLst>
                                    </p:anim>
                                    <p:anim calcmode="lin" valueType="num">
                                      <p:cBhvr>
                                        <p:cTn id="22" dur="1000" fill="hold"/>
                                        <p:tgtEl>
                                          <p:spTgt spid="1557507">
                                            <p:txEl>
                                              <p:pRg st="1" end="1"/>
                                            </p:txEl>
                                          </p:spTgt>
                                        </p:tgtEl>
                                        <p:attrNameLst>
                                          <p:attrName>ppt_h</p:attrName>
                                        </p:attrNameLst>
                                      </p:cBhvr>
                                      <p:tavLst>
                                        <p:tav tm="0">
                                          <p:val>
                                            <p:strVal val="#ppt_h"/>
                                          </p:val>
                                        </p:tav>
                                        <p:tav tm="100000">
                                          <p:val>
                                            <p:strVal val="#ppt_h"/>
                                          </p:val>
                                        </p:tav>
                                      </p:tavLst>
                                    </p:anim>
                                    <p:animEffect transition="in" filter="fade">
                                      <p:cBhvr>
                                        <p:cTn id="23" dur="1000"/>
                                        <p:tgtEl>
                                          <p:spTgt spid="1557507">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557507">
                                            <p:txEl>
                                              <p:pRg st="2" end="2"/>
                                            </p:txEl>
                                          </p:spTgt>
                                        </p:tgtEl>
                                        <p:attrNameLst>
                                          <p:attrName>style.visibility</p:attrName>
                                        </p:attrNameLst>
                                      </p:cBhvr>
                                      <p:to>
                                        <p:strVal val="visible"/>
                                      </p:to>
                                    </p:set>
                                    <p:anim calcmode="lin" valueType="num">
                                      <p:cBhvr>
                                        <p:cTn id="28" dur="1000" fill="hold"/>
                                        <p:tgtEl>
                                          <p:spTgt spid="1557507">
                                            <p:txEl>
                                              <p:pRg st="2" end="2"/>
                                            </p:txEl>
                                          </p:spTgt>
                                        </p:tgtEl>
                                        <p:attrNameLst>
                                          <p:attrName>ppt_w</p:attrName>
                                        </p:attrNameLst>
                                      </p:cBhvr>
                                      <p:tavLst>
                                        <p:tav tm="0">
                                          <p:val>
                                            <p:strVal val="#ppt_w*0.70"/>
                                          </p:val>
                                        </p:tav>
                                        <p:tav tm="100000">
                                          <p:val>
                                            <p:strVal val="#ppt_w"/>
                                          </p:val>
                                        </p:tav>
                                      </p:tavLst>
                                    </p:anim>
                                    <p:anim calcmode="lin" valueType="num">
                                      <p:cBhvr>
                                        <p:cTn id="29" dur="1000" fill="hold"/>
                                        <p:tgtEl>
                                          <p:spTgt spid="1557507">
                                            <p:txEl>
                                              <p:pRg st="2" end="2"/>
                                            </p:txEl>
                                          </p:spTgt>
                                        </p:tgtEl>
                                        <p:attrNameLst>
                                          <p:attrName>ppt_h</p:attrName>
                                        </p:attrNameLst>
                                      </p:cBhvr>
                                      <p:tavLst>
                                        <p:tav tm="0">
                                          <p:val>
                                            <p:strVal val="#ppt_h"/>
                                          </p:val>
                                        </p:tav>
                                        <p:tav tm="100000">
                                          <p:val>
                                            <p:strVal val="#ppt_h"/>
                                          </p:val>
                                        </p:tav>
                                      </p:tavLst>
                                    </p:anim>
                                    <p:animEffect transition="in" filter="fade">
                                      <p:cBhvr>
                                        <p:cTn id="30" dur="1000"/>
                                        <p:tgtEl>
                                          <p:spTgt spid="15575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7507"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3"/>
          <p:cNvSpPr>
            <a:spLocks noGrp="1" noChangeArrowheads="1"/>
          </p:cNvSpPr>
          <p:nvPr>
            <p:ph type="body" sz="half" idx="1"/>
          </p:nvPr>
        </p:nvSpPr>
        <p:spPr>
          <a:xfrm>
            <a:off x="868363" y="1770063"/>
            <a:ext cx="7189787" cy="3295650"/>
          </a:xfrm>
          <a:solidFill>
            <a:schemeClr val="bg1"/>
          </a:solidFill>
          <a:ln w="57150" cap="flat" algn="ctr">
            <a:solidFill>
              <a:schemeClr val="hlink"/>
            </a:solidFill>
            <a:miter lim="800000"/>
          </a:ln>
          <a:effectLst>
            <a:prstShdw prst="shdw12">
              <a:schemeClr val="bg2">
                <a:alpha val="50000"/>
              </a:schemeClr>
            </a:prstShdw>
          </a:effectLst>
        </p:spPr>
        <p:txBody>
          <a:bodyPr lIns="91435" tIns="45718" rIns="91435" bIns="45718"/>
          <a:lstStyle/>
          <a:p>
            <a:pPr>
              <a:lnSpc>
                <a:spcPct val="160000"/>
              </a:lnSpc>
              <a:spcBef>
                <a:spcPct val="45000"/>
              </a:spcBef>
              <a:buFont typeface="Wingdings" panose="05000000000000000000" pitchFamily="2" charset="2"/>
              <a:buChar char="l"/>
            </a:pPr>
            <a:r>
              <a:rPr lang="en-US" altLang="zh-CN" sz="2200" b="1" dirty="0"/>
              <a:t> </a:t>
            </a:r>
            <a:r>
              <a:rPr lang="zh-CN" altLang="en-US" sz="2200" b="1" dirty="0"/>
              <a:t>数学模型相同的系统通常</a:t>
            </a:r>
            <a:r>
              <a:rPr lang="zh-CN" altLang="en-US" sz="2200" b="1" dirty="0">
                <a:solidFill>
                  <a:srgbClr val="FF3300"/>
                </a:solidFill>
              </a:rPr>
              <a:t>称为相似系统</a:t>
            </a:r>
            <a:r>
              <a:rPr lang="zh-CN" altLang="en-US" sz="2200" b="1" dirty="0"/>
              <a:t>；</a:t>
            </a:r>
          </a:p>
          <a:p>
            <a:pPr>
              <a:lnSpc>
                <a:spcPct val="160000"/>
              </a:lnSpc>
              <a:spcBef>
                <a:spcPct val="45000"/>
              </a:spcBef>
              <a:buFont typeface="Wingdings" panose="05000000000000000000" pitchFamily="2" charset="2"/>
              <a:buChar char="l"/>
            </a:pPr>
            <a:r>
              <a:rPr lang="zh-CN" altLang="en-US" sz="2200" b="1" dirty="0"/>
              <a:t>由于</a:t>
            </a:r>
            <a:r>
              <a:rPr lang="zh-CN" altLang="en-US" sz="2200" b="1" dirty="0">
                <a:solidFill>
                  <a:srgbClr val="FF3300"/>
                </a:solidFill>
              </a:rPr>
              <a:t>电系统的</a:t>
            </a:r>
            <a:r>
              <a:rPr lang="zh-CN" altLang="en-US" sz="2200" b="1" dirty="0"/>
              <a:t>分析、测量比较</a:t>
            </a:r>
            <a:r>
              <a:rPr lang="zh-CN" altLang="en-US" sz="2200" b="1" dirty="0">
                <a:solidFill>
                  <a:srgbClr val="FF3300"/>
                </a:solidFill>
              </a:rPr>
              <a:t>直观方便</a:t>
            </a:r>
            <a:r>
              <a:rPr lang="zh-CN" altLang="en-US" sz="2200" b="1" dirty="0"/>
              <a:t>，因此运用相似系统的概念，对</a:t>
            </a:r>
            <a:r>
              <a:rPr lang="zh-CN" altLang="en-US" sz="2200" b="1" dirty="0">
                <a:solidFill>
                  <a:srgbClr val="FF3300"/>
                </a:solidFill>
              </a:rPr>
              <a:t>非电系统的分析常可用相似的电系统的分析来代替</a:t>
            </a:r>
            <a:r>
              <a:rPr lang="zh-CN" altLang="en-US" sz="2200" b="1" dirty="0"/>
              <a:t>，从而为非电系统的分析提供了一种快速简洁的分析手段。</a:t>
            </a:r>
          </a:p>
        </p:txBody>
      </p:sp>
      <p:sp>
        <p:nvSpPr>
          <p:cNvPr id="164869" name="Rectangle 6"/>
          <p:cNvSpPr>
            <a:spLocks noChangeArrowheads="1"/>
          </p:cNvSpPr>
          <p:nvPr/>
        </p:nvSpPr>
        <p:spPr bwMode="auto">
          <a:xfrm>
            <a:off x="177800" y="681038"/>
            <a:ext cx="3751263"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§1.6	</a:t>
            </a:r>
            <a:r>
              <a:rPr lang="zh-CN" altLang="en-US" sz="2500">
                <a:solidFill>
                  <a:srgbClr val="FF0000"/>
                </a:solidFill>
              </a:rPr>
              <a:t>非电系统的分析</a:t>
            </a:r>
            <a:endParaRPr lang="zh-CN" altLang="en-US" sz="2000">
              <a:solidFill>
                <a:srgbClr val="FF0000"/>
              </a:solidFill>
            </a:endParaRPr>
          </a:p>
        </p:txBody>
      </p:sp>
      <p:sp>
        <p:nvSpPr>
          <p:cNvPr id="7" name="日期占位符 6"/>
          <p:cNvSpPr>
            <a:spLocks noGrp="1"/>
          </p:cNvSpPr>
          <p:nvPr>
            <p:ph type="dt" sz="quarter" idx="10"/>
          </p:nvPr>
        </p:nvSpPr>
        <p:spPr/>
        <p:txBody>
          <a:bodyPr/>
          <a:lstStyle/>
          <a:p>
            <a:pPr>
              <a:defRPr/>
            </a:pPr>
            <a:fld id="{DF30D9F5-3F30-4F0F-A12F-19F9BED1B781}" type="datetime3">
              <a:rPr lang="zh-CN" altLang="en-US"/>
              <a:t>2026年3月4日星期三</a:t>
            </a:fld>
            <a:endParaRPr lang="zh-CN" altLang="en-US" dirty="0"/>
          </a:p>
        </p:txBody>
      </p:sp>
    </p:spTree>
  </p:cSld>
  <p:clrMapOvr>
    <a:masterClrMapping/>
  </p:clrMapOvr>
  <p:transition advTm="9542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86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890" name="Object 5"/>
          <p:cNvGraphicFramePr>
            <a:graphicFrameLocks noGrp="1" noChangeAspect="1"/>
          </p:cNvGraphicFramePr>
          <p:nvPr>
            <p:ph idx="4294967295"/>
          </p:nvPr>
        </p:nvGraphicFramePr>
        <p:xfrm>
          <a:off x="1238250" y="1312863"/>
          <a:ext cx="6708775" cy="5159375"/>
        </p:xfrm>
        <a:graphic>
          <a:graphicData uri="http://schemas.openxmlformats.org/presentationml/2006/ole">
            <mc:AlternateContent xmlns:mc="http://schemas.openxmlformats.org/markup-compatibility/2006">
              <mc:Choice xmlns:v="urn:schemas-microsoft-com:vml" Requires="v">
                <p:oleObj spid="_x0000_s9238" name="Visio" r:id="rId3" imgW="6517640" imgH="5013325" progId="Visio.Drawing.11">
                  <p:embed/>
                </p:oleObj>
              </mc:Choice>
              <mc:Fallback>
                <p:oleObj name="Visio" r:id="rId3" imgW="6517640" imgH="5013325" progId="Visio.Drawing.11">
                  <p:embed/>
                  <p:pic>
                    <p:nvPicPr>
                      <p:cNvPr id="0" name="图片 9217"/>
                      <p:cNvPicPr>
                        <a:picLocks noChangeAspect="1" noChangeArrowheads="1"/>
                      </p:cNvPicPr>
                      <p:nvPr/>
                    </p:nvPicPr>
                    <p:blipFill>
                      <a:blip r:embed="rId4">
                        <a:lum bright="-18000"/>
                        <a:extLst>
                          <a:ext uri="{28A0092B-C50C-407E-A947-70E740481C1C}">
                            <a14:useLocalDpi xmlns:a14="http://schemas.microsoft.com/office/drawing/2010/main" val="0"/>
                          </a:ext>
                        </a:extLst>
                      </a:blip>
                      <a:srcRect/>
                      <a:stretch>
                        <a:fillRect/>
                      </a:stretch>
                    </p:blipFill>
                    <p:spPr bwMode="auto">
                      <a:xfrm>
                        <a:off x="1238250" y="1312863"/>
                        <a:ext cx="6708775" cy="515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5891" name="Rectangle 2"/>
          <p:cNvSpPr>
            <a:spLocks noChangeArrowheads="1"/>
          </p:cNvSpPr>
          <p:nvPr/>
        </p:nvSpPr>
        <p:spPr bwMode="auto">
          <a:xfrm>
            <a:off x="382588" y="496888"/>
            <a:ext cx="7112000"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1306830">
              <a:defRPr sz="2800" b="1">
                <a:solidFill>
                  <a:schemeClr val="tx1"/>
                </a:solidFill>
                <a:latin typeface="黑体" panose="02010609060101010101" pitchFamily="49" charset="-122"/>
                <a:ea typeface="黑体" panose="02010609060101010101" pitchFamily="49" charset="-122"/>
              </a:defRPr>
            </a:lvl1pPr>
            <a:lvl2pPr marL="742950" indent="-285750" defTabSz="1306830">
              <a:defRPr sz="2800" b="1">
                <a:solidFill>
                  <a:schemeClr val="tx1"/>
                </a:solidFill>
                <a:latin typeface="黑体" panose="02010609060101010101" pitchFamily="49" charset="-122"/>
                <a:ea typeface="黑体" panose="02010609060101010101" pitchFamily="49" charset="-122"/>
              </a:defRPr>
            </a:lvl2pPr>
            <a:lvl3pPr marL="1143000" indent="-228600" defTabSz="1306830">
              <a:defRPr sz="2800" b="1">
                <a:solidFill>
                  <a:schemeClr val="tx1"/>
                </a:solidFill>
                <a:latin typeface="黑体" panose="02010609060101010101" pitchFamily="49" charset="-122"/>
                <a:ea typeface="黑体" panose="02010609060101010101" pitchFamily="49" charset="-122"/>
              </a:defRPr>
            </a:lvl3pPr>
            <a:lvl4pPr marL="1600200" indent="-228600" defTabSz="1306830">
              <a:defRPr sz="2800" b="1">
                <a:solidFill>
                  <a:schemeClr val="tx1"/>
                </a:solidFill>
                <a:latin typeface="黑体" panose="02010609060101010101" pitchFamily="49" charset="-122"/>
                <a:ea typeface="黑体" panose="02010609060101010101" pitchFamily="49" charset="-122"/>
              </a:defRPr>
            </a:lvl4pPr>
            <a:lvl5pPr marL="2057400" indent="-228600" defTabSz="1306830">
              <a:defRPr sz="2800" b="1">
                <a:solidFill>
                  <a:schemeClr val="tx1"/>
                </a:solidFill>
                <a:latin typeface="黑体" panose="02010609060101010101" pitchFamily="49" charset="-122"/>
                <a:ea typeface="黑体" panose="02010609060101010101" pitchFamily="49" charset="-122"/>
              </a:defRPr>
            </a:lvl5pPr>
            <a:lvl6pPr marL="2514600" indent="-228600" defTabSz="130683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defTabSz="130683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defTabSz="130683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defTabSz="130683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r>
              <a:rPr lang="zh-CN" altLang="en-US" sz="4600">
                <a:latin typeface="Arial" panose="020B0604020202020204" pitchFamily="34" charset="0"/>
                <a:ea typeface="华文新魏" panose="02010800040101010101" pitchFamily="2" charset="-122"/>
              </a:rPr>
              <a:t>相似性原理及应用</a:t>
            </a:r>
          </a:p>
        </p:txBody>
      </p:sp>
      <p:sp>
        <p:nvSpPr>
          <p:cNvPr id="22" name="日期占位符 21"/>
          <p:cNvSpPr txBox="1">
            <a:spLocks noGrp="1"/>
          </p:cNvSpPr>
          <p:nvPr/>
        </p:nvSpPr>
        <p:spPr bwMode="auto">
          <a:xfrm>
            <a:off x="0" y="6475413"/>
            <a:ext cx="1370013" cy="382587"/>
          </a:xfrm>
          <a:prstGeom prst="rect">
            <a:avLst/>
          </a:prstGeom>
          <a:noFill/>
          <a:ln>
            <a:miter lim="800000"/>
          </a:ln>
        </p:spPr>
        <p:txBody>
          <a:bodyPr/>
          <a:lstStyle/>
          <a:p>
            <a:pPr eaLnBrk="1" hangingPunct="1">
              <a:defRPr/>
            </a:pPr>
            <a:fld id="{C76D3FE2-86E1-454C-B150-A7D660E158C6}" type="datetime1">
              <a:rPr lang="zh-CN" altLang="en-US" sz="1200">
                <a:latin typeface="+mn-lt"/>
                <a:ea typeface="+mj-ea"/>
              </a:rPr>
              <a:t>2026-03-04</a:t>
            </a:fld>
            <a:endParaRPr lang="zh-CN" altLang="en-US" sz="1200" dirty="0">
              <a:latin typeface="+mn-lt"/>
              <a:ea typeface="+mj-ea"/>
            </a:endParaRPr>
          </a:p>
        </p:txBody>
      </p:sp>
      <p:sp>
        <p:nvSpPr>
          <p:cNvPr id="5" name="日期占位符 4"/>
          <p:cNvSpPr>
            <a:spLocks noGrp="1"/>
          </p:cNvSpPr>
          <p:nvPr>
            <p:ph type="dt" sz="quarter" idx="10"/>
          </p:nvPr>
        </p:nvSpPr>
        <p:spPr/>
        <p:txBody>
          <a:bodyPr/>
          <a:lstStyle/>
          <a:p>
            <a:pPr>
              <a:defRPr/>
            </a:pPr>
            <a:fld id="{813074A8-1DF1-47DF-9151-FD171D04200F}" type="datetime3">
              <a:rPr lang="zh-CN" altLang="en-US"/>
              <a:t>2026年3月4日星期三</a:t>
            </a:fld>
            <a:endParaRPr lang="zh-CN" altLang="en-US" dirty="0"/>
          </a:p>
        </p:txBody>
      </p:sp>
      <p:sp>
        <p:nvSpPr>
          <p:cNvPr id="2" name="墨迹 1"/>
          <p:cNvSpPr/>
          <p:nvPr/>
        </p:nvSpPr>
        <p:spPr bwMode="auto">
          <a:xfrm>
            <a:off x="231120" y="1129680"/>
            <a:ext cx="8528760" cy="5283720"/>
          </a:xfrm>
        </p:spPr>
      </p:sp>
    </p:spTree>
  </p:cSld>
  <p:clrMapOvr>
    <a:masterClrMapping/>
  </p:clrMapOvr>
  <mc:AlternateContent xmlns:mc="http://schemas.openxmlformats.org/markup-compatibility/2006" xmlns:p14="http://schemas.microsoft.com/office/powerpoint/2010/main">
    <mc:Choice Requires="p14">
      <p:transition spd="slow" p14:dur="2000" advTm="210924"/>
    </mc:Choice>
    <mc:Fallback xmlns="">
      <p:transition spd="slow" advTm="2109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5"/>
          <p:cNvSpPr>
            <a:spLocks noChangeArrowheads="1"/>
          </p:cNvSpPr>
          <p:nvPr/>
        </p:nvSpPr>
        <p:spPr bwMode="auto">
          <a:xfrm>
            <a:off x="0" y="525463"/>
            <a:ext cx="3752850"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§1.6	</a:t>
            </a:r>
            <a:r>
              <a:rPr lang="zh-CN" altLang="en-US" sz="2500">
                <a:solidFill>
                  <a:srgbClr val="FF0000"/>
                </a:solidFill>
              </a:rPr>
              <a:t>非电系统的分析</a:t>
            </a:r>
            <a:endParaRPr lang="zh-CN" altLang="en-US" sz="2000">
              <a:solidFill>
                <a:srgbClr val="FF0000"/>
              </a:solidFill>
            </a:endParaRPr>
          </a:p>
        </p:txBody>
      </p:sp>
      <p:sp>
        <p:nvSpPr>
          <p:cNvPr id="166916" name="Rectangle 7"/>
          <p:cNvSpPr>
            <a:spLocks noGrp="1" noChangeArrowheads="1"/>
          </p:cNvSpPr>
          <p:nvPr>
            <p:ph type="title"/>
          </p:nvPr>
        </p:nvSpPr>
        <p:spPr>
          <a:xfrm>
            <a:off x="1101725" y="946150"/>
            <a:ext cx="7096125" cy="519113"/>
          </a:xfrm>
          <a:noFill/>
        </p:spPr>
        <p:txBody>
          <a:bodyPr/>
          <a:lstStyle/>
          <a:p>
            <a:r>
              <a:rPr lang="zh-CN" altLang="en-US" sz="2200">
                <a:solidFill>
                  <a:srgbClr val="0000FF"/>
                </a:solidFill>
                <a:ea typeface="黑体" panose="02010609060101010101" pitchFamily="49" charset="-122"/>
              </a:rPr>
              <a:t>机械系统                与            电系统对应的特性</a:t>
            </a:r>
          </a:p>
        </p:txBody>
      </p:sp>
      <p:grpSp>
        <p:nvGrpSpPr>
          <p:cNvPr id="2" name="Group 23"/>
          <p:cNvGrpSpPr/>
          <p:nvPr/>
        </p:nvGrpSpPr>
        <p:grpSpPr bwMode="auto">
          <a:xfrm>
            <a:off x="769938" y="1770063"/>
            <a:ext cx="2370137" cy="1601787"/>
            <a:chOff x="707" y="1549"/>
            <a:chExt cx="2178" cy="1401"/>
          </a:xfrm>
        </p:grpSpPr>
        <mc:AlternateContent xmlns:mc="http://schemas.openxmlformats.org/markup-compatibility/2006" xmlns:a14="http://schemas.microsoft.com/office/drawing/2010/main">
          <mc:Choice Requires="a14">
            <p:sp>
              <p:nvSpPr>
                <p:cNvPr id="166931" name="Object 5"/>
                <p:cNvSpPr txBox="1"/>
                <p:nvPr/>
              </p:nvSpPr>
              <p:spPr bwMode="auto">
                <a:xfrm>
                  <a:off x="707" y="1957"/>
                  <a:ext cx="2178" cy="993"/>
                </a:xfrm>
                <a:prstGeom prst="rect">
                  <a:avLst/>
                </a:prstGeom>
                <a:solidFill>
                  <a:srgbClr val="FFCC66"/>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𝑐𝑣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𝑐</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𝑑𝑥</m:t>
                            </m:r>
                          </m:num>
                          <m:den>
                            <m:r>
                              <a:rPr lang="zh-CN" altLang="en-US" i="1">
                                <a:solidFill>
                                  <a:srgbClr val="000000"/>
                                </a:solidFill>
                                <a:latin typeface="Cambria Math" panose="02040503050406030204" pitchFamily="18" charset="0"/>
                              </a:rPr>
                              <m:t>𝑑𝑡</m:t>
                            </m:r>
                          </m:den>
                        </m:f>
                      </m:oMath>
                    </m:oMathPara>
                  </a14:m>
                  <a:endParaRPr lang="zh-CN" altLang="en-US"/>
                </a:p>
              </p:txBody>
            </p:sp>
          </mc:Choice>
          <mc:Fallback xmlns="">
            <p:sp>
              <p:nvSpPr>
                <p:cNvPr id="166931" name="Object 5"/>
                <p:cNvSpPr txBox="1">
                  <a:spLocks noRot="1" noChangeAspect="1" noMove="1" noResize="1" noEditPoints="1" noAdjustHandles="1" noChangeArrowheads="1" noChangeShapeType="1" noTextEdit="1"/>
                </p:cNvSpPr>
                <p:nvPr/>
              </p:nvSpPr>
              <p:spPr bwMode="auto">
                <a:xfrm>
                  <a:off x="707" y="1957"/>
                  <a:ext cx="2178" cy="993"/>
                </a:xfrm>
                <a:prstGeom prst="rect">
                  <a:avLst/>
                </a:prstGeom>
                <a:blipFill rotWithShape="1">
                  <a:blip r:embed="rId3"/>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66932" name="Rectangle 10"/>
            <p:cNvSpPr>
              <a:spLocks noChangeArrowheads="1"/>
            </p:cNvSpPr>
            <p:nvPr/>
          </p:nvSpPr>
          <p:spPr bwMode="auto">
            <a:xfrm>
              <a:off x="1025" y="1549"/>
              <a:ext cx="1406"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200">
                  <a:latin typeface="Times New Roman" panose="02020603050405020304" pitchFamily="18" charset="0"/>
                </a:rPr>
                <a:t>阻尼作用</a:t>
              </a:r>
            </a:p>
          </p:txBody>
        </p:sp>
      </p:grpSp>
      <p:grpSp>
        <p:nvGrpSpPr>
          <p:cNvPr id="3" name="Group 24"/>
          <p:cNvGrpSpPr/>
          <p:nvPr/>
        </p:nvGrpSpPr>
        <p:grpSpPr bwMode="auto">
          <a:xfrm>
            <a:off x="5016500" y="1717675"/>
            <a:ext cx="2716213" cy="1608138"/>
            <a:chOff x="4608" y="1503"/>
            <a:chExt cx="2495" cy="1407"/>
          </a:xfrm>
        </p:grpSpPr>
        <mc:AlternateContent xmlns:mc="http://schemas.openxmlformats.org/markup-compatibility/2006" xmlns:a14="http://schemas.microsoft.com/office/drawing/2010/main">
          <mc:Choice Requires="a14">
            <p:sp>
              <p:nvSpPr>
                <p:cNvPr id="166929" name="Object 4"/>
                <p:cNvSpPr txBox="1"/>
                <p:nvPr/>
              </p:nvSpPr>
              <p:spPr bwMode="auto">
                <a:xfrm>
                  <a:off x="4608" y="1957"/>
                  <a:ext cx="2495" cy="953"/>
                </a:xfrm>
                <a:prstGeom prst="rect">
                  <a:avLst/>
                </a:prstGeom>
                <a:solidFill>
                  <a:srgbClr val="CADAC2"/>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𝑢</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𝑑𝑞</m:t>
                            </m:r>
                          </m:num>
                          <m:den>
                            <m:r>
                              <a:rPr lang="zh-CN" altLang="en-US" i="1">
                                <a:solidFill>
                                  <a:srgbClr val="000000"/>
                                </a:solidFill>
                                <a:latin typeface="Cambria Math" panose="02040503050406030204" pitchFamily="18" charset="0"/>
                              </a:rPr>
                              <m:t>𝑑𝑡</m:t>
                            </m:r>
                          </m:den>
                        </m:f>
                      </m:oMath>
                    </m:oMathPara>
                  </a14:m>
                  <a:endParaRPr lang="zh-CN" altLang="en-US" dirty="0"/>
                </a:p>
              </p:txBody>
            </p:sp>
          </mc:Choice>
          <mc:Fallback xmlns="">
            <p:sp>
              <p:nvSpPr>
                <p:cNvPr id="166929" name="Object 4"/>
                <p:cNvSpPr txBox="1">
                  <a:spLocks noRot="1" noChangeAspect="1" noMove="1" noResize="1" noEditPoints="1" noAdjustHandles="1" noChangeArrowheads="1" noChangeShapeType="1" noTextEdit="1"/>
                </p:cNvSpPr>
                <p:nvPr/>
              </p:nvSpPr>
              <p:spPr bwMode="auto">
                <a:xfrm>
                  <a:off x="4608" y="1957"/>
                  <a:ext cx="2495" cy="953"/>
                </a:xfrm>
                <a:prstGeom prst="rect">
                  <a:avLst/>
                </a:prstGeom>
                <a:blipFill rotWithShape="1">
                  <a:blip r:embed="rId4"/>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66930" name="Rectangle 11"/>
            <p:cNvSpPr>
              <a:spLocks noChangeArrowheads="1"/>
            </p:cNvSpPr>
            <p:nvPr/>
          </p:nvSpPr>
          <p:spPr bwMode="auto">
            <a:xfrm>
              <a:off x="5198" y="1503"/>
              <a:ext cx="1315"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200">
                  <a:latin typeface="Times New Roman" panose="02020603050405020304" pitchFamily="18" charset="0"/>
                </a:rPr>
                <a:t>电阻作用</a:t>
              </a:r>
            </a:p>
          </p:txBody>
        </p:sp>
      </p:grpSp>
      <p:grpSp>
        <p:nvGrpSpPr>
          <p:cNvPr id="4" name="Group 25"/>
          <p:cNvGrpSpPr/>
          <p:nvPr/>
        </p:nvGrpSpPr>
        <p:grpSpPr bwMode="auto">
          <a:xfrm>
            <a:off x="769938" y="3584575"/>
            <a:ext cx="2814637" cy="2757488"/>
            <a:chOff x="707" y="3136"/>
            <a:chExt cx="2586" cy="2412"/>
          </a:xfrm>
        </p:grpSpPr>
        <p:sp>
          <p:nvSpPr>
            <p:cNvPr id="166927" name="Rectangle 14"/>
            <p:cNvSpPr>
              <a:spLocks noChangeArrowheads="1"/>
            </p:cNvSpPr>
            <p:nvPr/>
          </p:nvSpPr>
          <p:spPr bwMode="auto">
            <a:xfrm>
              <a:off x="1116" y="3136"/>
              <a:ext cx="1406"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200">
                  <a:latin typeface="Times New Roman" panose="02020603050405020304" pitchFamily="18" charset="0"/>
                </a:rPr>
                <a:t>物体惯性</a:t>
              </a:r>
            </a:p>
          </p:txBody>
        </p:sp>
        <mc:AlternateContent xmlns:mc="http://schemas.openxmlformats.org/markup-compatibility/2006" xmlns:a14="http://schemas.microsoft.com/office/drawing/2010/main">
          <mc:Choice Requires="a14">
            <p:sp>
              <p:nvSpPr>
                <p:cNvPr id="166928" name="Object 3"/>
                <p:cNvSpPr txBox="1"/>
                <p:nvPr/>
              </p:nvSpPr>
              <p:spPr bwMode="auto">
                <a:xfrm>
                  <a:off x="707" y="3635"/>
                  <a:ext cx="2586" cy="1913"/>
                </a:xfrm>
                <a:prstGeom prst="rect">
                  <a:avLst/>
                </a:prstGeom>
                <a:solidFill>
                  <a:srgbClr val="FFCC66"/>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𝑑𝑣</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𝑑</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𝑥</m:t>
                            </m:r>
                          </m:num>
                          <m:den>
                            <m:r>
                              <a:rPr lang="zh-CN" altLang="en-US" i="1">
                                <a:solidFill>
                                  <a:srgbClr val="000000"/>
                                </a:solidFill>
                                <a:latin typeface="Cambria Math" panose="02040503050406030204" pitchFamily="18" charset="0"/>
                              </a:rPr>
                              <m:t>𝑑</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den>
                        </m:f>
                      </m:oMath>
                    </m:oMathPara>
                  </a14:m>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𝑊</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𝑀</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𝑣</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166928" name="Object 3"/>
                <p:cNvSpPr txBox="1">
                  <a:spLocks noRot="1" noChangeAspect="1" noMove="1" noResize="1" noEditPoints="1" noAdjustHandles="1" noChangeArrowheads="1" noChangeShapeType="1" noTextEdit="1"/>
                </p:cNvSpPr>
                <p:nvPr/>
              </p:nvSpPr>
              <p:spPr bwMode="auto">
                <a:xfrm>
                  <a:off x="707" y="3635"/>
                  <a:ext cx="2586" cy="1913"/>
                </a:xfrm>
                <a:prstGeom prst="rect">
                  <a:avLst/>
                </a:prstGeom>
                <a:blipFill>
                  <a:blip r:embed="rId5"/>
                  <a:stretch>
                    <a:fillRect/>
                  </a:stretch>
                </a:blipFill>
                <a:ln>
                  <a:noFill/>
                </a:ln>
                <a:effectLst>
                  <a:outerShdw dist="35921" dir="2700000" algn="ctr" rotWithShape="0">
                    <a:srgbClr val="808080"/>
                  </a:outerShdw>
                </a:effectLst>
              </p:spPr>
              <p:txBody>
                <a:bodyPr/>
                <a:lstStyle/>
                <a:p>
                  <a:r>
                    <a:rPr lang="zh-CN" altLang="en-US">
                      <a:noFill/>
                    </a:rPr>
                    <a:t> </a:t>
                  </a:r>
                </a:p>
              </p:txBody>
            </p:sp>
          </mc:Fallback>
        </mc:AlternateContent>
      </p:grpSp>
      <p:grpSp>
        <p:nvGrpSpPr>
          <p:cNvPr id="5" name="Group 26"/>
          <p:cNvGrpSpPr/>
          <p:nvPr/>
        </p:nvGrpSpPr>
        <p:grpSpPr bwMode="auto">
          <a:xfrm>
            <a:off x="5164138" y="3635375"/>
            <a:ext cx="2616200" cy="2852738"/>
            <a:chOff x="4744" y="3181"/>
            <a:chExt cx="2404" cy="2495"/>
          </a:xfrm>
        </p:grpSpPr>
        <p:sp>
          <p:nvSpPr>
            <p:cNvPr id="166925" name="Rectangle 15"/>
            <p:cNvSpPr>
              <a:spLocks noChangeArrowheads="1"/>
            </p:cNvSpPr>
            <p:nvPr/>
          </p:nvSpPr>
          <p:spPr bwMode="auto">
            <a:xfrm>
              <a:off x="5334" y="3181"/>
              <a:ext cx="1315"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200">
                  <a:latin typeface="Times New Roman" panose="02020603050405020304" pitchFamily="18" charset="0"/>
                </a:rPr>
                <a:t>电惯性</a:t>
              </a:r>
            </a:p>
          </p:txBody>
        </p:sp>
        <mc:AlternateContent xmlns:mc="http://schemas.openxmlformats.org/markup-compatibility/2006" xmlns:a14="http://schemas.microsoft.com/office/drawing/2010/main">
          <mc:Choice Requires="a14">
            <p:sp>
              <p:nvSpPr>
                <p:cNvPr id="166926" name="Object 2"/>
                <p:cNvSpPr txBox="1"/>
                <p:nvPr/>
              </p:nvSpPr>
              <p:spPr bwMode="auto">
                <a:xfrm>
                  <a:off x="4744" y="3635"/>
                  <a:ext cx="2404" cy="2041"/>
                </a:xfrm>
                <a:prstGeom prst="rect">
                  <a:avLst/>
                </a:prstGeom>
                <a:solidFill>
                  <a:srgbClr val="CADAC2"/>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𝑢</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𝑑𝑖</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𝑑</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𝑞</m:t>
                            </m:r>
                          </m:num>
                          <m:den>
                            <m:r>
                              <a:rPr lang="zh-CN" altLang="en-US" i="1">
                                <a:solidFill>
                                  <a:srgbClr val="000000"/>
                                </a:solidFill>
                                <a:latin typeface="Cambria Math" panose="02040503050406030204" pitchFamily="18" charset="0"/>
                              </a:rPr>
                              <m:t>𝑑</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den>
                        </m:f>
                      </m:oMath>
                    </m:oMathPara>
                  </a14:m>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r>
                    <a:rPr lang="zh-CN" altLang="en-US" i="1" dirty="0">
                      <a:solidFill>
                        <a:srgbClr val="000000"/>
                      </a:solidFill>
                      <a:latin typeface="Cambria Math" panose="02040503050406030204" pitchFamily="18" charset="0"/>
                    </a:rPr>
                    <a:t/>
                  </a: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𝑊</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𝐿</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𝑖</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166926" name="Object 2"/>
                <p:cNvSpPr txBox="1">
                  <a:spLocks noRot="1" noChangeAspect="1" noMove="1" noResize="1" noEditPoints="1" noAdjustHandles="1" noChangeArrowheads="1" noChangeShapeType="1" noTextEdit="1"/>
                </p:cNvSpPr>
                <p:nvPr/>
              </p:nvSpPr>
              <p:spPr bwMode="auto">
                <a:xfrm>
                  <a:off x="4744" y="3635"/>
                  <a:ext cx="2404" cy="2041"/>
                </a:xfrm>
                <a:prstGeom prst="rect">
                  <a:avLst/>
                </a:prstGeom>
                <a:blipFill>
                  <a:blip r:embed="rId6"/>
                  <a:stretch>
                    <a:fillRect/>
                  </a:stretch>
                </a:blipFill>
                <a:ln>
                  <a:noFill/>
                </a:ln>
                <a:effectLst>
                  <a:outerShdw dist="35921" dir="2700000" algn="ctr" rotWithShape="0">
                    <a:srgbClr val="808080"/>
                  </a:outerShdw>
                </a:effectLst>
              </p:spPr>
              <p:txBody>
                <a:bodyPr/>
                <a:lstStyle/>
                <a:p>
                  <a:r>
                    <a:rPr lang="zh-CN" altLang="en-US">
                      <a:noFill/>
                    </a:rPr>
                    <a:t> </a:t>
                  </a:r>
                </a:p>
              </p:txBody>
            </p:sp>
          </mc:Fallback>
        </mc:AlternateContent>
      </p:grpSp>
      <p:sp>
        <p:nvSpPr>
          <p:cNvPr id="1585172" name="AutoShape 20"/>
          <p:cNvSpPr>
            <a:spLocks noChangeArrowheads="1"/>
          </p:cNvSpPr>
          <p:nvPr/>
        </p:nvSpPr>
        <p:spPr bwMode="auto">
          <a:xfrm>
            <a:off x="3486150" y="2651125"/>
            <a:ext cx="1333500" cy="258763"/>
          </a:xfrm>
          <a:prstGeom prst="rightArrow">
            <a:avLst>
              <a:gd name="adj1" fmla="val 50000"/>
              <a:gd name="adj2" fmla="val 135276"/>
            </a:avLst>
          </a:prstGeom>
          <a:solidFill>
            <a:schemeClr val="accent1"/>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585173" name="AutoShape 21"/>
          <p:cNvSpPr>
            <a:spLocks noChangeArrowheads="1"/>
          </p:cNvSpPr>
          <p:nvPr/>
        </p:nvSpPr>
        <p:spPr bwMode="auto">
          <a:xfrm>
            <a:off x="3683000" y="4570413"/>
            <a:ext cx="1333500" cy="258762"/>
          </a:xfrm>
          <a:prstGeom prst="rightArrow">
            <a:avLst>
              <a:gd name="adj1" fmla="val 50000"/>
              <a:gd name="adj2" fmla="val 135276"/>
            </a:avLst>
          </a:prstGeom>
          <a:solidFill>
            <a:schemeClr val="accent1"/>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585174" name="AutoShape 22"/>
          <p:cNvSpPr>
            <a:spLocks noChangeArrowheads="1"/>
          </p:cNvSpPr>
          <p:nvPr/>
        </p:nvSpPr>
        <p:spPr bwMode="auto">
          <a:xfrm>
            <a:off x="3683000" y="5865813"/>
            <a:ext cx="1333500" cy="258762"/>
          </a:xfrm>
          <a:prstGeom prst="rightArrow">
            <a:avLst>
              <a:gd name="adj1" fmla="val 50000"/>
              <a:gd name="adj2" fmla="val 135276"/>
            </a:avLst>
          </a:prstGeom>
          <a:solidFill>
            <a:schemeClr val="accent1"/>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22" name="日期占位符 21"/>
          <p:cNvSpPr>
            <a:spLocks noGrp="1"/>
          </p:cNvSpPr>
          <p:nvPr>
            <p:ph type="dt" sz="quarter" idx="10"/>
          </p:nvPr>
        </p:nvSpPr>
        <p:spPr/>
        <p:txBody>
          <a:bodyPr/>
          <a:lstStyle/>
          <a:p>
            <a:pPr>
              <a:defRPr/>
            </a:pPr>
            <a:fld id="{E91E0055-2CAF-4599-BF8D-7F4563EBCF52}" type="datetime3">
              <a:rPr lang="zh-CN" altLang="en-US"/>
              <a:t>2026年3月4日星期三</a:t>
            </a:fld>
            <a:endParaRPr lang="zh-CN" altLang="en-US" dirty="0"/>
          </a:p>
        </p:txBody>
      </p:sp>
    </p:spTree>
    <p:custDataLst>
      <p:tags r:id="rId1"/>
    </p:custDataLst>
  </p:cSld>
  <p:clrMapOvr>
    <a:masterClrMapping/>
  </p:clrMapOvr>
  <p:transition advTm="7647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85172"/>
                                        </p:tgtEl>
                                        <p:attrNameLst>
                                          <p:attrName>style.visibility</p:attrName>
                                        </p:attrNameLst>
                                      </p:cBhvr>
                                      <p:to>
                                        <p:strVal val="visible"/>
                                      </p:to>
                                    </p:set>
                                    <p:anim calcmode="lin" valueType="num">
                                      <p:cBhvr>
                                        <p:cTn id="12" dur="1000" fill="hold"/>
                                        <p:tgtEl>
                                          <p:spTgt spid="1585172"/>
                                        </p:tgtEl>
                                        <p:attrNameLst>
                                          <p:attrName>ppt_w</p:attrName>
                                        </p:attrNameLst>
                                      </p:cBhvr>
                                      <p:tavLst>
                                        <p:tav tm="0">
                                          <p:val>
                                            <p:strVal val="#ppt_w*0.70"/>
                                          </p:val>
                                        </p:tav>
                                        <p:tav tm="100000">
                                          <p:val>
                                            <p:strVal val="#ppt_w"/>
                                          </p:val>
                                        </p:tav>
                                      </p:tavLst>
                                    </p:anim>
                                    <p:anim calcmode="lin" valueType="num">
                                      <p:cBhvr>
                                        <p:cTn id="13" dur="1000" fill="hold"/>
                                        <p:tgtEl>
                                          <p:spTgt spid="1585172"/>
                                        </p:tgtEl>
                                        <p:attrNameLst>
                                          <p:attrName>ppt_h</p:attrName>
                                        </p:attrNameLst>
                                      </p:cBhvr>
                                      <p:tavLst>
                                        <p:tav tm="0">
                                          <p:val>
                                            <p:strVal val="#ppt_h"/>
                                          </p:val>
                                        </p:tav>
                                        <p:tav tm="100000">
                                          <p:val>
                                            <p:strVal val="#ppt_h"/>
                                          </p:val>
                                        </p:tav>
                                      </p:tavLst>
                                    </p:anim>
                                    <p:animEffect transition="in" filter="fade">
                                      <p:cBhvr>
                                        <p:cTn id="14" dur="1000"/>
                                        <p:tgtEl>
                                          <p:spTgt spid="1585172"/>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strVal val="#ppt_w*0.70"/>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Effect transition="in" filter="fade">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strVal val="#ppt_w*0.70"/>
                                          </p:val>
                                        </p:tav>
                                        <p:tav tm="100000">
                                          <p:val>
                                            <p:strVal val="#ppt_w"/>
                                          </p:val>
                                        </p:tav>
                                      </p:tavLst>
                                    </p:anim>
                                    <p:anim calcmode="lin" valueType="num">
                                      <p:cBhvr>
                                        <p:cTn id="26" dur="1000" fill="hold"/>
                                        <p:tgtEl>
                                          <p:spTgt spid="4"/>
                                        </p:tgtEl>
                                        <p:attrNameLst>
                                          <p:attrName>ppt_h</p:attrName>
                                        </p:attrNameLst>
                                      </p:cBhvr>
                                      <p:tavLst>
                                        <p:tav tm="0">
                                          <p:val>
                                            <p:strVal val="#ppt_h"/>
                                          </p:val>
                                        </p:tav>
                                        <p:tav tm="100000">
                                          <p:val>
                                            <p:strVal val="#ppt_h"/>
                                          </p:val>
                                        </p:tav>
                                      </p:tavLst>
                                    </p:anim>
                                    <p:animEffect transition="in" filter="fade">
                                      <p:cBhvr>
                                        <p:cTn id="27" dur="1000"/>
                                        <p:tgtEl>
                                          <p:spTgt spid="4"/>
                                        </p:tgtEl>
                                      </p:cBhvr>
                                    </p:animEffect>
                                  </p:childTnLst>
                                </p:cTn>
                              </p:par>
                            </p:childTnLst>
                          </p:cTn>
                        </p:par>
                        <p:par>
                          <p:cTn id="28" fill="hold">
                            <p:stCondLst>
                              <p:cond delay="1000"/>
                            </p:stCondLst>
                            <p:childTnLst>
                              <p:par>
                                <p:cTn id="29" presetID="55" presetClass="entr" presetSubtype="0" fill="hold" grpId="0" nodeType="afterEffect">
                                  <p:stCondLst>
                                    <p:cond delay="0"/>
                                  </p:stCondLst>
                                  <p:childTnLst>
                                    <p:set>
                                      <p:cBhvr>
                                        <p:cTn id="30" dur="1" fill="hold">
                                          <p:stCondLst>
                                            <p:cond delay="0"/>
                                          </p:stCondLst>
                                        </p:cTn>
                                        <p:tgtEl>
                                          <p:spTgt spid="1585173"/>
                                        </p:tgtEl>
                                        <p:attrNameLst>
                                          <p:attrName>style.visibility</p:attrName>
                                        </p:attrNameLst>
                                      </p:cBhvr>
                                      <p:to>
                                        <p:strVal val="visible"/>
                                      </p:to>
                                    </p:set>
                                    <p:anim calcmode="lin" valueType="num">
                                      <p:cBhvr>
                                        <p:cTn id="31" dur="1000" fill="hold"/>
                                        <p:tgtEl>
                                          <p:spTgt spid="1585173"/>
                                        </p:tgtEl>
                                        <p:attrNameLst>
                                          <p:attrName>ppt_w</p:attrName>
                                        </p:attrNameLst>
                                      </p:cBhvr>
                                      <p:tavLst>
                                        <p:tav tm="0">
                                          <p:val>
                                            <p:strVal val="#ppt_w*0.70"/>
                                          </p:val>
                                        </p:tav>
                                        <p:tav tm="100000">
                                          <p:val>
                                            <p:strVal val="#ppt_w"/>
                                          </p:val>
                                        </p:tav>
                                      </p:tavLst>
                                    </p:anim>
                                    <p:anim calcmode="lin" valueType="num">
                                      <p:cBhvr>
                                        <p:cTn id="32" dur="1000" fill="hold"/>
                                        <p:tgtEl>
                                          <p:spTgt spid="1585173"/>
                                        </p:tgtEl>
                                        <p:attrNameLst>
                                          <p:attrName>ppt_h</p:attrName>
                                        </p:attrNameLst>
                                      </p:cBhvr>
                                      <p:tavLst>
                                        <p:tav tm="0">
                                          <p:val>
                                            <p:strVal val="#ppt_h"/>
                                          </p:val>
                                        </p:tav>
                                        <p:tav tm="100000">
                                          <p:val>
                                            <p:strVal val="#ppt_h"/>
                                          </p:val>
                                        </p:tav>
                                      </p:tavLst>
                                    </p:anim>
                                    <p:animEffect transition="in" filter="fade">
                                      <p:cBhvr>
                                        <p:cTn id="33" dur="1000"/>
                                        <p:tgtEl>
                                          <p:spTgt spid="1585173"/>
                                        </p:tgtEl>
                                      </p:cBhvr>
                                    </p:animEffect>
                                  </p:childTnLst>
                                </p:cTn>
                              </p:par>
                            </p:childTnLst>
                          </p:cTn>
                        </p:par>
                        <p:par>
                          <p:cTn id="34" fill="hold">
                            <p:stCondLst>
                              <p:cond delay="2000"/>
                            </p:stCondLst>
                            <p:childTnLst>
                              <p:par>
                                <p:cTn id="35" presetID="55" presetClass="entr" presetSubtype="0" fill="hold" grpId="0" nodeType="afterEffect">
                                  <p:stCondLst>
                                    <p:cond delay="0"/>
                                  </p:stCondLst>
                                  <p:childTnLst>
                                    <p:set>
                                      <p:cBhvr>
                                        <p:cTn id="36" dur="1" fill="hold">
                                          <p:stCondLst>
                                            <p:cond delay="0"/>
                                          </p:stCondLst>
                                        </p:cTn>
                                        <p:tgtEl>
                                          <p:spTgt spid="1585174"/>
                                        </p:tgtEl>
                                        <p:attrNameLst>
                                          <p:attrName>style.visibility</p:attrName>
                                        </p:attrNameLst>
                                      </p:cBhvr>
                                      <p:to>
                                        <p:strVal val="visible"/>
                                      </p:to>
                                    </p:set>
                                    <p:anim calcmode="lin" valueType="num">
                                      <p:cBhvr>
                                        <p:cTn id="37" dur="1000" fill="hold"/>
                                        <p:tgtEl>
                                          <p:spTgt spid="1585174"/>
                                        </p:tgtEl>
                                        <p:attrNameLst>
                                          <p:attrName>ppt_w</p:attrName>
                                        </p:attrNameLst>
                                      </p:cBhvr>
                                      <p:tavLst>
                                        <p:tav tm="0">
                                          <p:val>
                                            <p:strVal val="#ppt_w*0.70"/>
                                          </p:val>
                                        </p:tav>
                                        <p:tav tm="100000">
                                          <p:val>
                                            <p:strVal val="#ppt_w"/>
                                          </p:val>
                                        </p:tav>
                                      </p:tavLst>
                                    </p:anim>
                                    <p:anim calcmode="lin" valueType="num">
                                      <p:cBhvr>
                                        <p:cTn id="38" dur="1000" fill="hold"/>
                                        <p:tgtEl>
                                          <p:spTgt spid="1585174"/>
                                        </p:tgtEl>
                                        <p:attrNameLst>
                                          <p:attrName>ppt_h</p:attrName>
                                        </p:attrNameLst>
                                      </p:cBhvr>
                                      <p:tavLst>
                                        <p:tav tm="0">
                                          <p:val>
                                            <p:strVal val="#ppt_h"/>
                                          </p:val>
                                        </p:tav>
                                        <p:tav tm="100000">
                                          <p:val>
                                            <p:strVal val="#ppt_h"/>
                                          </p:val>
                                        </p:tav>
                                      </p:tavLst>
                                    </p:anim>
                                    <p:animEffect transition="in" filter="fade">
                                      <p:cBhvr>
                                        <p:cTn id="39" dur="1000"/>
                                        <p:tgtEl>
                                          <p:spTgt spid="1585174"/>
                                        </p:tgtEl>
                                      </p:cBhvr>
                                    </p:animEffect>
                                  </p:childTnLst>
                                </p:cTn>
                              </p:par>
                            </p:childTnLst>
                          </p:cTn>
                        </p:par>
                        <p:par>
                          <p:cTn id="40" fill="hold">
                            <p:stCondLst>
                              <p:cond delay="3000"/>
                            </p:stCondLst>
                            <p:childTnLst>
                              <p:par>
                                <p:cTn id="41" presetID="55" presetClass="entr" presetSubtype="0"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1000" fill="hold"/>
                                        <p:tgtEl>
                                          <p:spTgt spid="5"/>
                                        </p:tgtEl>
                                        <p:attrNameLst>
                                          <p:attrName>ppt_w</p:attrName>
                                        </p:attrNameLst>
                                      </p:cBhvr>
                                      <p:tavLst>
                                        <p:tav tm="0">
                                          <p:val>
                                            <p:strVal val="#ppt_w*0.70"/>
                                          </p:val>
                                        </p:tav>
                                        <p:tav tm="100000">
                                          <p:val>
                                            <p:strVal val="#ppt_w"/>
                                          </p:val>
                                        </p:tav>
                                      </p:tavLst>
                                    </p:anim>
                                    <p:anim calcmode="lin" valueType="num">
                                      <p:cBhvr>
                                        <p:cTn id="44" dur="1000" fill="hold"/>
                                        <p:tgtEl>
                                          <p:spTgt spid="5"/>
                                        </p:tgtEl>
                                        <p:attrNameLst>
                                          <p:attrName>ppt_h</p:attrName>
                                        </p:attrNameLst>
                                      </p:cBhvr>
                                      <p:tavLst>
                                        <p:tav tm="0">
                                          <p:val>
                                            <p:strVal val="#ppt_h"/>
                                          </p:val>
                                        </p:tav>
                                        <p:tav tm="100000">
                                          <p:val>
                                            <p:strVal val="#ppt_h"/>
                                          </p:val>
                                        </p:tav>
                                      </p:tavLst>
                                    </p:anim>
                                    <p:animEffect transition="in" filter="fade">
                                      <p:cBhvr>
                                        <p:cTn id="4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5172" grpId="0" animBg="1"/>
      <p:bldP spid="1585173" grpId="0" animBg="1"/>
      <p:bldP spid="158517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4"/>
          <p:cNvSpPr>
            <a:spLocks noChangeArrowheads="1"/>
          </p:cNvSpPr>
          <p:nvPr/>
        </p:nvSpPr>
        <p:spPr bwMode="auto">
          <a:xfrm>
            <a:off x="0" y="515938"/>
            <a:ext cx="3752850"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§1.6	</a:t>
            </a:r>
            <a:r>
              <a:rPr lang="zh-CN" altLang="en-US" sz="2500">
                <a:solidFill>
                  <a:srgbClr val="FF0000"/>
                </a:solidFill>
              </a:rPr>
              <a:t>非电系统的分析</a:t>
            </a:r>
            <a:endParaRPr lang="zh-CN" altLang="en-US" sz="2000">
              <a:solidFill>
                <a:srgbClr val="FF0000"/>
              </a:solidFill>
            </a:endParaRPr>
          </a:p>
        </p:txBody>
      </p:sp>
      <p:sp>
        <p:nvSpPr>
          <p:cNvPr id="167940" name="Rectangle 5"/>
          <p:cNvSpPr>
            <a:spLocks noGrp="1" noChangeArrowheads="1"/>
          </p:cNvSpPr>
          <p:nvPr>
            <p:ph type="title"/>
          </p:nvPr>
        </p:nvSpPr>
        <p:spPr>
          <a:xfrm>
            <a:off x="1038225" y="950913"/>
            <a:ext cx="7113588" cy="519112"/>
          </a:xfrm>
          <a:noFill/>
        </p:spPr>
        <p:txBody>
          <a:bodyPr/>
          <a:lstStyle/>
          <a:p>
            <a:r>
              <a:rPr lang="zh-CN" altLang="en-US" sz="2200">
                <a:solidFill>
                  <a:srgbClr val="0000FF"/>
                </a:solidFill>
                <a:ea typeface="黑体" panose="02010609060101010101" pitchFamily="49" charset="-122"/>
              </a:rPr>
              <a:t>热系统                与                 电系统对应的特性</a:t>
            </a:r>
          </a:p>
        </p:txBody>
      </p:sp>
      <p:sp>
        <p:nvSpPr>
          <p:cNvPr id="1586184" name="Rectangle 8"/>
          <p:cNvSpPr>
            <a:spLocks noChangeArrowheads="1"/>
          </p:cNvSpPr>
          <p:nvPr/>
        </p:nvSpPr>
        <p:spPr bwMode="auto">
          <a:xfrm>
            <a:off x="423863" y="2133600"/>
            <a:ext cx="4098925"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200">
                <a:latin typeface="Times New Roman" panose="02020603050405020304" pitchFamily="18" charset="0"/>
              </a:rPr>
              <a:t>物体中热能</a:t>
            </a:r>
            <a:r>
              <a:rPr lang="en-US" altLang="zh-CN" sz="2200">
                <a:latin typeface="Times New Roman" panose="02020603050405020304" pitchFamily="18" charset="0"/>
              </a:rPr>
              <a:t>Q</a:t>
            </a:r>
            <a:r>
              <a:rPr lang="zh-CN" altLang="en-US" sz="2200">
                <a:latin typeface="Times New Roman" panose="02020603050405020304" pitchFamily="18" charset="0"/>
              </a:rPr>
              <a:t>增加的速率与物体物体温度增长速率近似成正比</a:t>
            </a:r>
          </a:p>
        </p:txBody>
      </p:sp>
      <p:grpSp>
        <p:nvGrpSpPr>
          <p:cNvPr id="2" name="Group 23"/>
          <p:cNvGrpSpPr/>
          <p:nvPr/>
        </p:nvGrpSpPr>
        <p:grpSpPr bwMode="auto">
          <a:xfrm>
            <a:off x="5164138" y="3014663"/>
            <a:ext cx="2755900" cy="1866900"/>
            <a:chOff x="4744" y="2637"/>
            <a:chExt cx="2531" cy="1634"/>
          </a:xfrm>
        </p:grpSpPr>
        <mc:AlternateContent xmlns:mc="http://schemas.openxmlformats.org/markup-compatibility/2006" xmlns:a14="http://schemas.microsoft.com/office/drawing/2010/main">
          <mc:Choice Requires="a14">
            <p:sp>
              <p:nvSpPr>
                <p:cNvPr id="167947" name="Object 3"/>
                <p:cNvSpPr txBox="1"/>
                <p:nvPr/>
              </p:nvSpPr>
              <p:spPr bwMode="auto">
                <a:xfrm>
                  <a:off x="4744" y="3318"/>
                  <a:ext cx="2531" cy="953"/>
                </a:xfrm>
                <a:prstGeom prst="rect">
                  <a:avLst/>
                </a:prstGeom>
                <a:solidFill>
                  <a:srgbClr val="CADAC2"/>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𝑑𝑞</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𝑑𝑢</m:t>
                            </m:r>
                          </m:num>
                          <m:den>
                            <m:r>
                              <a:rPr lang="zh-CN" altLang="en-US" i="1">
                                <a:solidFill>
                                  <a:srgbClr val="000000"/>
                                </a:solidFill>
                                <a:latin typeface="Cambria Math" panose="02040503050406030204" pitchFamily="18" charset="0"/>
                              </a:rPr>
                              <m:t>𝑑𝑡</m:t>
                            </m:r>
                          </m:den>
                        </m:f>
                      </m:oMath>
                    </m:oMathPara>
                  </a14:m>
                  <a:endParaRPr lang="zh-CN" altLang="en-US"/>
                </a:p>
              </p:txBody>
            </p:sp>
          </mc:Choice>
          <mc:Fallback xmlns="">
            <p:sp>
              <p:nvSpPr>
                <p:cNvPr id="167947" name="Object 3"/>
                <p:cNvSpPr txBox="1">
                  <a:spLocks noRot="1" noChangeAspect="1" noMove="1" noResize="1" noEditPoints="1" noAdjustHandles="1" noChangeArrowheads="1" noChangeShapeType="1" noTextEdit="1"/>
                </p:cNvSpPr>
                <p:nvPr/>
              </p:nvSpPr>
              <p:spPr bwMode="auto">
                <a:xfrm>
                  <a:off x="4744" y="3318"/>
                  <a:ext cx="2531" cy="953"/>
                </a:xfrm>
                <a:prstGeom prst="rect">
                  <a:avLst/>
                </a:prstGeom>
                <a:blipFill rotWithShape="1">
                  <a:blip r:embed="rId5"/>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67948" name="Rectangle 11"/>
            <p:cNvSpPr>
              <a:spLocks noChangeArrowheads="1"/>
            </p:cNvSpPr>
            <p:nvPr/>
          </p:nvSpPr>
          <p:spPr bwMode="auto">
            <a:xfrm>
              <a:off x="5561" y="2637"/>
              <a:ext cx="1315"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200">
                  <a:latin typeface="Times New Roman" panose="02020603050405020304" pitchFamily="18" charset="0"/>
                </a:rPr>
                <a:t>电路中</a:t>
              </a:r>
            </a:p>
          </p:txBody>
        </p:sp>
      </p:grpSp>
      <p:sp>
        <p:nvSpPr>
          <p:cNvPr id="1586194" name="AutoShape 18"/>
          <p:cNvSpPr>
            <a:spLocks noChangeArrowheads="1"/>
          </p:cNvSpPr>
          <p:nvPr/>
        </p:nvSpPr>
        <p:spPr bwMode="auto">
          <a:xfrm>
            <a:off x="3486150" y="3998913"/>
            <a:ext cx="1333500" cy="258762"/>
          </a:xfrm>
          <a:prstGeom prst="rightArrow">
            <a:avLst>
              <a:gd name="adj1" fmla="val 50000"/>
              <a:gd name="adj2" fmla="val 135276"/>
            </a:avLst>
          </a:prstGeom>
          <a:solidFill>
            <a:schemeClr val="accent1"/>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mc:AlternateContent xmlns:mc="http://schemas.openxmlformats.org/markup-compatibility/2006" xmlns:a14="http://schemas.microsoft.com/office/drawing/2010/main">
        <mc:Choice Requires="a14">
          <p:sp>
            <p:nvSpPr>
              <p:cNvPr id="1586197" name="Object 2"/>
              <p:cNvSpPr txBox="1"/>
              <p:nvPr/>
            </p:nvSpPr>
            <p:spPr bwMode="auto">
              <a:xfrm>
                <a:off x="1214438" y="3792538"/>
                <a:ext cx="2025650" cy="1063625"/>
              </a:xfrm>
              <a:prstGeom prst="rect">
                <a:avLst/>
              </a:prstGeom>
              <a:solidFill>
                <a:srgbClr val="FFCC66"/>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𝑑𝑄</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𝑡</m:t>
                          </m:r>
                        </m:sub>
                      </m:sSub>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𝜃</m:t>
                          </m:r>
                        </m:num>
                        <m:den>
                          <m:r>
                            <a:rPr lang="zh-CN" altLang="en-US" i="1">
                              <a:solidFill>
                                <a:srgbClr val="000000"/>
                              </a:solidFill>
                              <a:latin typeface="Cambria Math" panose="02040503050406030204" pitchFamily="18" charset="0"/>
                            </a:rPr>
                            <m:t>𝑑𝑡</m:t>
                          </m:r>
                        </m:den>
                      </m:f>
                    </m:oMath>
                  </m:oMathPara>
                </a14:m>
                <a:endParaRPr lang="zh-CN" altLang="en-US" dirty="0"/>
              </a:p>
            </p:txBody>
          </p:sp>
        </mc:Choice>
        <mc:Fallback xmlns="">
          <p:sp>
            <p:nvSpPr>
              <p:cNvPr id="1586197" name="Object 2"/>
              <p:cNvSpPr txBox="1">
                <a:spLocks noRot="1" noChangeAspect="1" noMove="1" noResize="1" noEditPoints="1" noAdjustHandles="1" noChangeArrowheads="1" noChangeShapeType="1" noTextEdit="1"/>
              </p:cNvSpPr>
              <p:nvPr/>
            </p:nvSpPr>
            <p:spPr bwMode="auto">
              <a:xfrm>
                <a:off x="1214438" y="3792538"/>
                <a:ext cx="2025650" cy="1063625"/>
              </a:xfrm>
              <a:prstGeom prst="rect">
                <a:avLst/>
              </a:prstGeom>
              <a:blipFill rotWithShape="1">
                <a:blip r:embed="rId6"/>
                <a:stretch>
                  <a:fillRect l="-16" t="-30" r="-1238" b="-2358"/>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86198" name="AutoShape 22"/>
          <p:cNvSpPr>
            <a:spLocks noChangeArrowheads="1"/>
          </p:cNvSpPr>
          <p:nvPr/>
        </p:nvSpPr>
        <p:spPr bwMode="auto">
          <a:xfrm>
            <a:off x="2152650" y="3117850"/>
            <a:ext cx="246063" cy="569913"/>
          </a:xfrm>
          <a:prstGeom prst="downArrow">
            <a:avLst>
              <a:gd name="adj1" fmla="val 50000"/>
              <a:gd name="adj2" fmla="val 55147"/>
            </a:avLst>
          </a:prstGeom>
          <a:solidFill>
            <a:schemeClr val="accent1"/>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4" name="日期占位符 13"/>
          <p:cNvSpPr>
            <a:spLocks noGrp="1"/>
          </p:cNvSpPr>
          <p:nvPr>
            <p:ph type="dt" sz="quarter" idx="10"/>
          </p:nvPr>
        </p:nvSpPr>
        <p:spPr/>
        <p:txBody>
          <a:bodyPr/>
          <a:lstStyle/>
          <a:p>
            <a:pPr>
              <a:defRPr/>
            </a:pPr>
            <a:fld id="{1DA26C4C-93BC-4976-8C05-4E7C840D1095}" type="datetime3">
              <a:rPr lang="zh-CN" altLang="en-US"/>
              <a:t>2026年3月4日星期三</a:t>
            </a:fld>
            <a:endParaRPr lang="zh-CN" altLang="en-US" dirty="0"/>
          </a:p>
        </p:txBody>
      </p:sp>
      <p:pic>
        <p:nvPicPr>
          <p:cNvPr id="4" name="音频 3">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8659813" y="6373813"/>
            <a:ext cx="304800" cy="304800"/>
          </a:xfrm>
          <a:prstGeom prst="rect">
            <a:avLst/>
          </a:prstGeom>
        </p:spPr>
      </p:pic>
    </p:spTree>
    <p:custDataLst>
      <p:tags r:id="rId1"/>
    </p:custDataLst>
  </p:cSld>
  <p:clrMapOvr>
    <a:masterClrMapping/>
  </p:clrMapOvr>
  <p:transition advTm="242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par>
                          <p:cTn id="7" fill="hold">
                            <p:stCondLst>
                              <p:cond delay="0"/>
                            </p:stCondLst>
                            <p:childTnLst>
                              <p:par>
                                <p:cTn id="8" presetID="55" presetClass="entr" presetSubtype="0" fill="hold" grpId="0" nodeType="afterEffect">
                                  <p:stCondLst>
                                    <p:cond delay="0"/>
                                  </p:stCondLst>
                                  <p:childTnLst>
                                    <p:set>
                                      <p:cBhvr>
                                        <p:cTn id="9" dur="1" fill="hold">
                                          <p:stCondLst>
                                            <p:cond delay="0"/>
                                          </p:stCondLst>
                                        </p:cTn>
                                        <p:tgtEl>
                                          <p:spTgt spid="1586184"/>
                                        </p:tgtEl>
                                        <p:attrNameLst>
                                          <p:attrName>style.visibility</p:attrName>
                                        </p:attrNameLst>
                                      </p:cBhvr>
                                      <p:to>
                                        <p:strVal val="visible"/>
                                      </p:to>
                                    </p:set>
                                    <p:anim calcmode="lin" valueType="num">
                                      <p:cBhvr>
                                        <p:cTn id="10" dur="1000" fill="hold"/>
                                        <p:tgtEl>
                                          <p:spTgt spid="1586184"/>
                                        </p:tgtEl>
                                        <p:attrNameLst>
                                          <p:attrName>ppt_w</p:attrName>
                                        </p:attrNameLst>
                                      </p:cBhvr>
                                      <p:tavLst>
                                        <p:tav tm="0">
                                          <p:val>
                                            <p:strVal val="#ppt_w*0.70"/>
                                          </p:val>
                                        </p:tav>
                                        <p:tav tm="100000">
                                          <p:val>
                                            <p:strVal val="#ppt_w"/>
                                          </p:val>
                                        </p:tav>
                                      </p:tavLst>
                                    </p:anim>
                                    <p:anim calcmode="lin" valueType="num">
                                      <p:cBhvr>
                                        <p:cTn id="11" dur="1000" fill="hold"/>
                                        <p:tgtEl>
                                          <p:spTgt spid="1586184"/>
                                        </p:tgtEl>
                                        <p:attrNameLst>
                                          <p:attrName>ppt_h</p:attrName>
                                        </p:attrNameLst>
                                      </p:cBhvr>
                                      <p:tavLst>
                                        <p:tav tm="0">
                                          <p:val>
                                            <p:strVal val="#ppt_h"/>
                                          </p:val>
                                        </p:tav>
                                        <p:tav tm="100000">
                                          <p:val>
                                            <p:strVal val="#ppt_h"/>
                                          </p:val>
                                        </p:tav>
                                      </p:tavLst>
                                    </p:anim>
                                    <p:animEffect transition="in" filter="fade">
                                      <p:cBhvr>
                                        <p:cTn id="12" dur="1000"/>
                                        <p:tgtEl>
                                          <p:spTgt spid="1586184"/>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1586198"/>
                                        </p:tgtEl>
                                        <p:attrNameLst>
                                          <p:attrName>style.visibility</p:attrName>
                                        </p:attrNameLst>
                                      </p:cBhvr>
                                      <p:to>
                                        <p:strVal val="visible"/>
                                      </p:to>
                                    </p:set>
                                    <p:anim calcmode="lin" valueType="num">
                                      <p:cBhvr>
                                        <p:cTn id="17" dur="1000" fill="hold"/>
                                        <p:tgtEl>
                                          <p:spTgt spid="1586198"/>
                                        </p:tgtEl>
                                        <p:attrNameLst>
                                          <p:attrName>ppt_w</p:attrName>
                                        </p:attrNameLst>
                                      </p:cBhvr>
                                      <p:tavLst>
                                        <p:tav tm="0">
                                          <p:val>
                                            <p:strVal val="#ppt_w*0.70"/>
                                          </p:val>
                                        </p:tav>
                                        <p:tav tm="100000">
                                          <p:val>
                                            <p:strVal val="#ppt_w"/>
                                          </p:val>
                                        </p:tav>
                                      </p:tavLst>
                                    </p:anim>
                                    <p:anim calcmode="lin" valueType="num">
                                      <p:cBhvr>
                                        <p:cTn id="18" dur="1000" fill="hold"/>
                                        <p:tgtEl>
                                          <p:spTgt spid="1586198"/>
                                        </p:tgtEl>
                                        <p:attrNameLst>
                                          <p:attrName>ppt_h</p:attrName>
                                        </p:attrNameLst>
                                      </p:cBhvr>
                                      <p:tavLst>
                                        <p:tav tm="0">
                                          <p:val>
                                            <p:strVal val="#ppt_h"/>
                                          </p:val>
                                        </p:tav>
                                        <p:tav tm="100000">
                                          <p:val>
                                            <p:strVal val="#ppt_h"/>
                                          </p:val>
                                        </p:tav>
                                      </p:tavLst>
                                    </p:anim>
                                    <p:animEffect transition="in" filter="fade">
                                      <p:cBhvr>
                                        <p:cTn id="19" dur="1000"/>
                                        <p:tgtEl>
                                          <p:spTgt spid="1586198"/>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1586194"/>
                                        </p:tgtEl>
                                        <p:attrNameLst>
                                          <p:attrName>style.visibility</p:attrName>
                                        </p:attrNameLst>
                                      </p:cBhvr>
                                      <p:to>
                                        <p:strVal val="visible"/>
                                      </p:to>
                                    </p:set>
                                    <p:anim calcmode="lin" valueType="num">
                                      <p:cBhvr>
                                        <p:cTn id="24" dur="1000" fill="hold"/>
                                        <p:tgtEl>
                                          <p:spTgt spid="1586194"/>
                                        </p:tgtEl>
                                        <p:attrNameLst>
                                          <p:attrName>ppt_w</p:attrName>
                                        </p:attrNameLst>
                                      </p:cBhvr>
                                      <p:tavLst>
                                        <p:tav tm="0">
                                          <p:val>
                                            <p:strVal val="#ppt_w*0.70"/>
                                          </p:val>
                                        </p:tav>
                                        <p:tav tm="100000">
                                          <p:val>
                                            <p:strVal val="#ppt_w"/>
                                          </p:val>
                                        </p:tav>
                                      </p:tavLst>
                                    </p:anim>
                                    <p:anim calcmode="lin" valueType="num">
                                      <p:cBhvr>
                                        <p:cTn id="25" dur="1000" fill="hold"/>
                                        <p:tgtEl>
                                          <p:spTgt spid="1586194"/>
                                        </p:tgtEl>
                                        <p:attrNameLst>
                                          <p:attrName>ppt_h</p:attrName>
                                        </p:attrNameLst>
                                      </p:cBhvr>
                                      <p:tavLst>
                                        <p:tav tm="0">
                                          <p:val>
                                            <p:strVal val="#ppt_h"/>
                                          </p:val>
                                        </p:tav>
                                        <p:tav tm="100000">
                                          <p:val>
                                            <p:strVal val="#ppt_h"/>
                                          </p:val>
                                        </p:tav>
                                      </p:tavLst>
                                    </p:anim>
                                    <p:animEffect transition="in" filter="fade">
                                      <p:cBhvr>
                                        <p:cTn id="26" dur="1000"/>
                                        <p:tgtEl>
                                          <p:spTgt spid="1586194"/>
                                        </p:tgtEl>
                                      </p:cBhvr>
                                    </p:animEffec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1586197"/>
                                        </p:tgtEl>
                                        <p:attrNameLst>
                                          <p:attrName>style.visibility</p:attrName>
                                        </p:attrNameLst>
                                      </p:cBhvr>
                                      <p:to>
                                        <p:strVal val="visible"/>
                                      </p:to>
                                    </p:set>
                                  </p:childTnLst>
                                </p:cTn>
                              </p:par>
                            </p:childTnLst>
                          </p:cTn>
                        </p:par>
                        <p:par>
                          <p:cTn id="30" fill="hold">
                            <p:stCondLst>
                              <p:cond delay="1000"/>
                            </p:stCondLst>
                            <p:childTnLst>
                              <p:par>
                                <p:cTn id="31" presetID="55"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p:cTn id="33" dur="1000" fill="hold"/>
                                        <p:tgtEl>
                                          <p:spTgt spid="2"/>
                                        </p:tgtEl>
                                        <p:attrNameLst>
                                          <p:attrName>ppt_w</p:attrName>
                                        </p:attrNameLst>
                                      </p:cBhvr>
                                      <p:tavLst>
                                        <p:tav tm="0">
                                          <p:val>
                                            <p:strVal val="#ppt_w*0.70"/>
                                          </p:val>
                                        </p:tav>
                                        <p:tav tm="100000">
                                          <p:val>
                                            <p:strVal val="#ppt_w"/>
                                          </p:val>
                                        </p:tav>
                                      </p:tavLst>
                                    </p:anim>
                                    <p:anim calcmode="lin" valueType="num">
                                      <p:cBhvr>
                                        <p:cTn id="34" dur="1000" fill="hold"/>
                                        <p:tgtEl>
                                          <p:spTgt spid="2"/>
                                        </p:tgtEl>
                                        <p:attrNameLst>
                                          <p:attrName>ppt_h</p:attrName>
                                        </p:attrNameLst>
                                      </p:cBhvr>
                                      <p:tavLst>
                                        <p:tav tm="0">
                                          <p:val>
                                            <p:strVal val="#ppt_h"/>
                                          </p:val>
                                        </p:tav>
                                        <p:tav tm="100000">
                                          <p:val>
                                            <p:strVal val="#ppt_h"/>
                                          </p:val>
                                        </p:tav>
                                      </p:tavLst>
                                    </p:anim>
                                    <p:animEffect transition="in" filter="fade">
                                      <p:cBhvr>
                                        <p:cTn id="3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6" fill="hold" display="0">
                  <p:stCondLst>
                    <p:cond delay="indefinite"/>
                  </p:stCondLst>
                  <p:endCondLst>
                    <p:cond evt="onStopAudio" delay="0">
                      <p:tgtEl>
                        <p:sldTgt/>
                      </p:tgtEl>
                    </p:cond>
                  </p:endCondLst>
                </p:cTn>
                <p:tgtEl>
                  <p:spTgt spid="4"/>
                </p:tgtEl>
              </p:cMediaNode>
            </p:audio>
          </p:childTnLst>
        </p:cTn>
      </p:par>
    </p:tnLst>
    <p:bldLst>
      <p:bldP spid="1586184" grpId="0"/>
      <p:bldP spid="1586194" grpId="0" animBg="1"/>
      <p:bldP spid="1586197" grpId="0" animBg="1"/>
      <p:bldP spid="1586198"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Rectangle 4"/>
          <p:cNvSpPr>
            <a:spLocks noChangeArrowheads="1"/>
          </p:cNvSpPr>
          <p:nvPr/>
        </p:nvSpPr>
        <p:spPr bwMode="auto">
          <a:xfrm>
            <a:off x="0" y="525463"/>
            <a:ext cx="3752850"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500">
                <a:solidFill>
                  <a:srgbClr val="FF0000"/>
                </a:solidFill>
              </a:rPr>
              <a:t>§1.6	</a:t>
            </a:r>
            <a:r>
              <a:rPr lang="zh-CN" altLang="en-US" sz="2500">
                <a:solidFill>
                  <a:srgbClr val="FF0000"/>
                </a:solidFill>
              </a:rPr>
              <a:t>非电系统的分析</a:t>
            </a:r>
            <a:endParaRPr lang="zh-CN" altLang="en-US" sz="2000">
              <a:solidFill>
                <a:srgbClr val="FF0000"/>
              </a:solidFill>
            </a:endParaRPr>
          </a:p>
        </p:txBody>
      </p:sp>
      <p:sp>
        <p:nvSpPr>
          <p:cNvPr id="168965" name="Rectangle 5"/>
          <p:cNvSpPr>
            <a:spLocks noGrp="1" noChangeArrowheads="1"/>
          </p:cNvSpPr>
          <p:nvPr>
            <p:ph type="title"/>
          </p:nvPr>
        </p:nvSpPr>
        <p:spPr>
          <a:xfrm>
            <a:off x="4206875" y="823913"/>
            <a:ext cx="1677988" cy="519112"/>
          </a:xfrm>
          <a:noFill/>
        </p:spPr>
        <p:txBody>
          <a:bodyPr/>
          <a:lstStyle/>
          <a:p>
            <a:r>
              <a:rPr lang="zh-CN" altLang="en-US" sz="2200">
                <a:solidFill>
                  <a:srgbClr val="0000FF"/>
                </a:solidFill>
                <a:ea typeface="黑体" panose="02010609060101010101" pitchFamily="49" charset="-122"/>
              </a:rPr>
              <a:t>人口预测</a:t>
            </a:r>
          </a:p>
        </p:txBody>
      </p:sp>
      <p:sp>
        <p:nvSpPr>
          <p:cNvPr id="1587206" name="Rectangle 6"/>
          <p:cNvSpPr>
            <a:spLocks noChangeArrowheads="1"/>
          </p:cNvSpPr>
          <p:nvPr/>
        </p:nvSpPr>
        <p:spPr bwMode="auto">
          <a:xfrm>
            <a:off x="1016000" y="1406525"/>
            <a:ext cx="6813550" cy="1450975"/>
          </a:xfrm>
          <a:prstGeom prst="rect">
            <a:avLst/>
          </a:prstGeom>
          <a:noFill/>
          <a:ln w="57150">
            <a:solidFill>
              <a:schemeClr val="tx1"/>
            </a:solidFill>
            <a:miter lim="800000"/>
          </a:ln>
          <a:extLst>
            <a:ext uri="{909E8E84-426E-40DD-AFC4-6F175D3DCCD1}">
              <a14:hiddenFill xmlns:a14="http://schemas.microsoft.com/office/drawing/2010/main">
                <a:solidFill>
                  <a:srgbClr val="FFFFFF"/>
                </a:solidFill>
              </a14:hiddenFill>
            </a:ext>
          </a:extLst>
        </p:spPr>
        <p:txBody>
          <a:bodyPr lIns="91433" tIns="45716" rIns="91433" bIns="45716" anchor="ctr"/>
          <a:lstStyle>
            <a:lvl1pPr marL="252730" indent="-25273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5000"/>
              </a:lnSpc>
              <a:spcBef>
                <a:spcPct val="35000"/>
              </a:spcBef>
              <a:buClr>
                <a:schemeClr val="accent2"/>
              </a:buClr>
              <a:buFont typeface="Wingdings" panose="05000000000000000000" pitchFamily="2" charset="2"/>
              <a:buChar char="l"/>
            </a:pPr>
            <a:r>
              <a:rPr lang="zh-CN" altLang="en-US" sz="1700">
                <a:ea typeface="宋体" panose="02010600030101010101" pitchFamily="2" charset="-122"/>
              </a:rPr>
              <a:t>从宏观角度来看</a:t>
            </a:r>
            <a:r>
              <a:rPr lang="en-US" altLang="zh-CN" sz="1700">
                <a:ea typeface="宋体" panose="02010600030101010101" pitchFamily="2" charset="-122"/>
              </a:rPr>
              <a:t>,</a:t>
            </a:r>
            <a:r>
              <a:rPr lang="zh-CN" altLang="en-US" sz="1700">
                <a:ea typeface="宋体" panose="02010600030101010101" pitchFamily="2" charset="-122"/>
              </a:rPr>
              <a:t>人口是一个连续的时间函数</a:t>
            </a:r>
            <a:r>
              <a:rPr lang="en-US" altLang="zh-CN" sz="1700">
                <a:ea typeface="宋体" panose="02010600030101010101" pitchFamily="2" charset="-122"/>
              </a:rPr>
              <a:t>: P (t)</a:t>
            </a:r>
            <a:br>
              <a:rPr lang="en-US" altLang="zh-CN" sz="1700">
                <a:ea typeface="宋体" panose="02010600030101010101" pitchFamily="2" charset="-122"/>
              </a:rPr>
            </a:br>
            <a:r>
              <a:rPr lang="zh-CN" altLang="en-US" sz="1700">
                <a:ea typeface="宋体" panose="02010600030101010101" pitchFamily="2" charset="-122"/>
              </a:rPr>
              <a:t>假定某一地区根据历年统计表明，人口增长速度正比于总人口，则从某一时间开始的人口增长的简单数学模型如下：</a:t>
            </a:r>
          </a:p>
        </p:txBody>
      </p:sp>
      <mc:AlternateContent xmlns:mc="http://schemas.openxmlformats.org/markup-compatibility/2006" xmlns:a14="http://schemas.microsoft.com/office/drawing/2010/main">
        <mc:Choice Requires="a14">
          <p:sp>
            <p:nvSpPr>
              <p:cNvPr id="1587211" name="Object 2"/>
              <p:cNvSpPr txBox="1"/>
              <p:nvPr/>
            </p:nvSpPr>
            <p:spPr bwMode="auto">
              <a:xfrm>
                <a:off x="1263650" y="3014663"/>
                <a:ext cx="2351088" cy="1062037"/>
              </a:xfrm>
              <a:prstGeom prst="rect">
                <a:avLst/>
              </a:prstGeom>
              <a:solidFill>
                <a:srgbClr val="FFCC66"/>
              </a:solidFill>
              <a:ln>
                <a:noFill/>
              </a:ln>
              <a:effectLst>
                <a:outerShdw dist="35921" dir="2700000" algn="ctr" rotWithShape="0">
                  <a:srgbClr val="808080"/>
                </a:outerShdw>
              </a:effectLst>
            </p:spPr>
            <p:txBody>
              <a:bodyPr>
                <a:normAutofit fontScale="92500"/>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𝐾𝑃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587211" name="Object 2"/>
              <p:cNvSpPr txBox="1">
                <a:spLocks noRot="1" noChangeAspect="1" noMove="1" noResize="1" noEditPoints="1" noAdjustHandles="1" noChangeArrowheads="1" noChangeShapeType="1" noTextEdit="1"/>
              </p:cNvSpPr>
              <p:nvPr/>
            </p:nvSpPr>
            <p:spPr bwMode="auto">
              <a:xfrm>
                <a:off x="1263650" y="3014663"/>
                <a:ext cx="2351088" cy="1062037"/>
              </a:xfrm>
              <a:prstGeom prst="rect">
                <a:avLst/>
              </a:prstGeom>
              <a:blipFill rotWithShape="1">
                <a:blip r:embed="rId5"/>
                <a:stretch>
                  <a:fillRect t="-30" r="-1067" b="-2332"/>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7213" name="Object 3"/>
              <p:cNvSpPr txBox="1"/>
              <p:nvPr/>
            </p:nvSpPr>
            <p:spPr bwMode="auto">
              <a:xfrm>
                <a:off x="5657850" y="5035550"/>
                <a:ext cx="2584450" cy="873125"/>
              </a:xfrm>
              <a:prstGeom prst="rect">
                <a:avLst/>
              </a:prstGeom>
              <a:solidFill>
                <a:srgbClr val="CADAC2"/>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0</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𝑘𝑡</m:t>
                          </m:r>
                        </m:sup>
                      </m:sSup>
                    </m:oMath>
                  </m:oMathPara>
                </a14:m>
                <a:endParaRPr lang="zh-CN" altLang="en-US"/>
              </a:p>
            </p:txBody>
          </p:sp>
        </mc:Choice>
        <mc:Fallback xmlns="">
          <p:sp>
            <p:nvSpPr>
              <p:cNvPr id="1587213" name="Object 3"/>
              <p:cNvSpPr txBox="1">
                <a:spLocks noRot="1" noChangeAspect="1" noMove="1" noResize="1" noEditPoints="1" noAdjustHandles="1" noChangeArrowheads="1" noChangeShapeType="1" noTextEdit="1"/>
              </p:cNvSpPr>
              <p:nvPr/>
            </p:nvSpPr>
            <p:spPr bwMode="auto">
              <a:xfrm>
                <a:off x="5657850" y="5035550"/>
                <a:ext cx="2584450" cy="873125"/>
              </a:xfrm>
              <a:prstGeom prst="rect">
                <a:avLst/>
              </a:prstGeom>
              <a:blipFill rotWithShape="1">
                <a:blip r:embed="rId6"/>
                <a:stretch>
                  <a:fillRect r="-958" b="-2836"/>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7215" name="Object 4"/>
              <p:cNvSpPr txBox="1"/>
              <p:nvPr/>
            </p:nvSpPr>
            <p:spPr bwMode="auto">
              <a:xfrm>
                <a:off x="5510213" y="3479800"/>
                <a:ext cx="2716212" cy="766763"/>
              </a:xfrm>
              <a:prstGeom prst="rect">
                <a:avLst/>
              </a:prstGeom>
              <a:solidFill>
                <a:srgbClr val="CADAC2"/>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0</m:t>
                          </m:r>
                        </m:sub>
                      </m:sSub>
                    </m:oMath>
                  </m:oMathPara>
                </a14:m>
                <a:endParaRPr lang="zh-CN" altLang="en-US" dirty="0"/>
              </a:p>
            </p:txBody>
          </p:sp>
        </mc:Choice>
        <mc:Fallback xmlns="">
          <p:sp>
            <p:nvSpPr>
              <p:cNvPr id="1587215" name="Object 4"/>
              <p:cNvSpPr txBox="1">
                <a:spLocks noRot="1" noChangeAspect="1" noMove="1" noResize="1" noEditPoints="1" noAdjustHandles="1" noChangeArrowheads="1" noChangeShapeType="1" noTextEdit="1"/>
              </p:cNvSpPr>
              <p:nvPr/>
            </p:nvSpPr>
            <p:spPr bwMode="auto">
              <a:xfrm>
                <a:off x="5510213" y="3479800"/>
                <a:ext cx="2716212" cy="766763"/>
              </a:xfrm>
              <a:prstGeom prst="rect">
                <a:avLst/>
              </a:prstGeom>
              <a:blipFill rotWithShape="1">
                <a:blip r:embed="rId7"/>
                <a:stretch>
                  <a:fillRect l="-12" r="-912" b="-3271"/>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7216" name="Object 5"/>
              <p:cNvSpPr txBox="1"/>
              <p:nvPr/>
            </p:nvSpPr>
            <p:spPr bwMode="auto">
              <a:xfrm>
                <a:off x="1312863" y="4829175"/>
                <a:ext cx="2320925" cy="827088"/>
              </a:xfrm>
              <a:prstGeom prst="rect">
                <a:avLst/>
              </a:prstGeom>
              <a:solidFill>
                <a:srgbClr val="CADAC2"/>
              </a:solidFill>
              <a:ln>
                <a:noFill/>
              </a:ln>
              <a:effectLst>
                <a:outerShdw dist="35921" dir="2700000" algn="ctr" rotWithShape="0">
                  <a:srgbClr val="808080"/>
                </a:outerShdw>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𝑐</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𝑘𝑡</m:t>
                          </m:r>
                        </m:sup>
                      </m:sSup>
                    </m:oMath>
                  </m:oMathPara>
                </a14:m>
                <a:endParaRPr lang="zh-CN" altLang="en-US" dirty="0"/>
              </a:p>
            </p:txBody>
          </p:sp>
        </mc:Choice>
        <mc:Fallback xmlns="">
          <p:sp>
            <p:nvSpPr>
              <p:cNvPr id="1587216" name="Object 5"/>
              <p:cNvSpPr txBox="1">
                <a:spLocks noRot="1" noChangeAspect="1" noMove="1" noResize="1" noEditPoints="1" noAdjustHandles="1" noChangeArrowheads="1" noChangeShapeType="1" noTextEdit="1"/>
              </p:cNvSpPr>
              <p:nvPr/>
            </p:nvSpPr>
            <p:spPr bwMode="auto">
              <a:xfrm>
                <a:off x="1312863" y="4829175"/>
                <a:ext cx="2320925" cy="827088"/>
              </a:xfrm>
              <a:prstGeom prst="rect">
                <a:avLst/>
              </a:prstGeom>
              <a:blipFill rotWithShape="1">
                <a:blip r:embed="rId8"/>
                <a:stretch>
                  <a:fillRect l="-14" r="-1081" b="-3033"/>
                </a:stretch>
              </a:blipFill>
              <a:ln>
                <a:noFill/>
              </a:ln>
              <a:effectLst>
                <a:outerShdw dist="35921" dir="2700000" algn="ctr" rotWithShape="0">
                  <a:srgbClr val="808080"/>
                </a:outerShdw>
              </a:effectLst>
            </p:spPr>
            <p:txBody>
              <a:bodyPr/>
              <a:lstStyle/>
              <a:p>
                <a:r>
                  <a:rPr lang="zh-CN" altLang="en-US">
                    <a:noFill/>
                  </a:rPr>
                  <a:t> </a:t>
                </a:r>
              </a:p>
            </p:txBody>
          </p:sp>
        </mc:Fallback>
      </mc:AlternateContent>
      <p:sp>
        <p:nvSpPr>
          <p:cNvPr id="1587217" name="AutoShape 17"/>
          <p:cNvSpPr>
            <a:spLocks noChangeArrowheads="1"/>
          </p:cNvSpPr>
          <p:nvPr/>
        </p:nvSpPr>
        <p:spPr bwMode="auto">
          <a:xfrm>
            <a:off x="2201863" y="4206875"/>
            <a:ext cx="198437" cy="569913"/>
          </a:xfrm>
          <a:prstGeom prst="downArrow">
            <a:avLst>
              <a:gd name="adj1" fmla="val 50000"/>
              <a:gd name="adj2" fmla="val 68383"/>
            </a:avLst>
          </a:prstGeom>
          <a:solidFill>
            <a:schemeClr val="accent1"/>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587220" name="AutoShape 20"/>
          <p:cNvSpPr>
            <a:spLocks noChangeArrowheads="1"/>
          </p:cNvSpPr>
          <p:nvPr/>
        </p:nvSpPr>
        <p:spPr bwMode="auto">
          <a:xfrm>
            <a:off x="6794500" y="4310063"/>
            <a:ext cx="196850" cy="725487"/>
          </a:xfrm>
          <a:prstGeom prst="downArrow">
            <a:avLst>
              <a:gd name="adj1" fmla="val 50000"/>
              <a:gd name="adj2" fmla="val 87752"/>
            </a:avLst>
          </a:prstGeom>
          <a:solidFill>
            <a:schemeClr val="accent1"/>
          </a:solidFill>
          <a:ln w="12700" cap="sq">
            <a:solidFill>
              <a:schemeClr val="tx1"/>
            </a:solidFill>
            <a:miter lim="800000"/>
            <a:headEnd type="none" w="sm" len="sm"/>
            <a:tailEnd type="none" w="sm" len="sm"/>
          </a:ln>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grpSp>
        <p:nvGrpSpPr>
          <p:cNvPr id="2" name="Group 22"/>
          <p:cNvGrpSpPr/>
          <p:nvPr/>
        </p:nvGrpSpPr>
        <p:grpSpPr bwMode="auto">
          <a:xfrm>
            <a:off x="3732213" y="3998913"/>
            <a:ext cx="1679575" cy="1192212"/>
            <a:chOff x="3429" y="3499"/>
            <a:chExt cx="1543" cy="1043"/>
          </a:xfrm>
        </p:grpSpPr>
        <p:sp>
          <p:nvSpPr>
            <p:cNvPr id="168975" name="Line 19"/>
            <p:cNvSpPr>
              <a:spLocks noChangeShapeType="1"/>
            </p:cNvSpPr>
            <p:nvPr/>
          </p:nvSpPr>
          <p:spPr bwMode="auto">
            <a:xfrm flipV="1">
              <a:off x="3520" y="3499"/>
              <a:ext cx="1452" cy="1043"/>
            </a:xfrm>
            <a:prstGeom prst="line">
              <a:avLst/>
            </a:prstGeom>
            <a:noFill/>
            <a:ln w="762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131529" tIns="65765" rIns="131529" bIns="65765"/>
            <a:lstStyle/>
            <a:p>
              <a:endParaRPr lang="zh-CN" altLang="en-US"/>
            </a:p>
          </p:txBody>
        </p:sp>
        <p:sp>
          <p:nvSpPr>
            <p:cNvPr id="168976" name="Rectangle 21"/>
            <p:cNvSpPr>
              <a:spLocks noChangeArrowheads="1"/>
            </p:cNvSpPr>
            <p:nvPr/>
          </p:nvSpPr>
          <p:spPr bwMode="auto">
            <a:xfrm>
              <a:off x="3429" y="3680"/>
              <a:ext cx="1542" cy="5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0618" tIns="65309" rIns="130618" bIns="65309"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2200">
                  <a:solidFill>
                    <a:schemeClr val="accent2"/>
                  </a:solidFill>
                  <a:latin typeface="Times New Roman" panose="02020603050405020304" pitchFamily="18" charset="0"/>
                </a:rPr>
                <a:t>t=0</a:t>
              </a:r>
              <a:r>
                <a:rPr lang="zh-CN" altLang="en-US" sz="2200">
                  <a:solidFill>
                    <a:schemeClr val="accent2"/>
                  </a:solidFill>
                  <a:latin typeface="Times New Roman" panose="02020603050405020304" pitchFamily="18" charset="0"/>
                </a:rPr>
                <a:t>时，人口为</a:t>
              </a:r>
              <a:r>
                <a:rPr lang="en-US" altLang="zh-CN" sz="2200">
                  <a:solidFill>
                    <a:schemeClr val="accent2"/>
                  </a:solidFill>
                  <a:latin typeface="Times New Roman" panose="02020603050405020304" pitchFamily="18" charset="0"/>
                </a:rPr>
                <a:t>P</a:t>
              </a:r>
              <a:r>
                <a:rPr lang="en-US" altLang="zh-CN" sz="2200" baseline="-25000">
                  <a:solidFill>
                    <a:schemeClr val="accent2"/>
                  </a:solidFill>
                  <a:latin typeface="Times New Roman" panose="02020603050405020304" pitchFamily="18" charset="0"/>
                </a:rPr>
                <a:t>0</a:t>
              </a:r>
              <a:endParaRPr lang="en-US" altLang="zh-CN" sz="2200">
                <a:solidFill>
                  <a:schemeClr val="accent2"/>
                </a:solidFill>
                <a:latin typeface="Times New Roman" panose="02020603050405020304" pitchFamily="18" charset="0"/>
              </a:endParaRPr>
            </a:p>
          </p:txBody>
        </p:sp>
      </p:grpSp>
      <p:sp>
        <p:nvSpPr>
          <p:cNvPr id="17" name="日期占位符 16"/>
          <p:cNvSpPr>
            <a:spLocks noGrp="1"/>
          </p:cNvSpPr>
          <p:nvPr>
            <p:ph type="dt" sz="quarter" idx="10"/>
          </p:nvPr>
        </p:nvSpPr>
        <p:spPr/>
        <p:txBody>
          <a:bodyPr/>
          <a:lstStyle/>
          <a:p>
            <a:pPr>
              <a:defRPr/>
            </a:pPr>
            <a:fld id="{153C80C4-392B-43C7-A2D5-D3E167B7D119}" type="datetime3">
              <a:rPr lang="zh-CN" altLang="en-US"/>
              <a:t>2026年3月4日星期三</a:t>
            </a:fld>
            <a:endParaRPr lang="zh-CN" altLang="en-US" dirty="0"/>
          </a:p>
        </p:txBody>
      </p:sp>
      <p:pic>
        <p:nvPicPr>
          <p:cNvPr id="4" name="音频 3">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8659813" y="6373813"/>
            <a:ext cx="304800" cy="304800"/>
          </a:xfrm>
          <a:prstGeom prst="rect">
            <a:avLst/>
          </a:prstGeom>
        </p:spPr>
      </p:pic>
    </p:spTree>
    <p:custDataLst>
      <p:tags r:id="rId1"/>
    </p:custDataLst>
  </p:cSld>
  <p:clrMapOvr>
    <a:masterClrMapping/>
  </p:clrMapOvr>
  <p:transition advTm="8894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par>
                          <p:cTn id="7" fill="hold">
                            <p:stCondLst>
                              <p:cond delay="0"/>
                            </p:stCondLst>
                            <p:childTnLst>
                              <p:par>
                                <p:cTn id="8" presetID="55" presetClass="entr" presetSubtype="0" fill="hold" grpId="0" nodeType="afterEffect">
                                  <p:stCondLst>
                                    <p:cond delay="0"/>
                                  </p:stCondLst>
                                  <p:childTnLst>
                                    <p:set>
                                      <p:cBhvr>
                                        <p:cTn id="9" dur="1" fill="hold">
                                          <p:stCondLst>
                                            <p:cond delay="0"/>
                                          </p:stCondLst>
                                        </p:cTn>
                                        <p:tgtEl>
                                          <p:spTgt spid="1587206"/>
                                        </p:tgtEl>
                                        <p:attrNameLst>
                                          <p:attrName>style.visibility</p:attrName>
                                        </p:attrNameLst>
                                      </p:cBhvr>
                                      <p:to>
                                        <p:strVal val="visible"/>
                                      </p:to>
                                    </p:set>
                                    <p:anim calcmode="lin" valueType="num">
                                      <p:cBhvr>
                                        <p:cTn id="10" dur="1000" fill="hold"/>
                                        <p:tgtEl>
                                          <p:spTgt spid="1587206"/>
                                        </p:tgtEl>
                                        <p:attrNameLst>
                                          <p:attrName>ppt_w</p:attrName>
                                        </p:attrNameLst>
                                      </p:cBhvr>
                                      <p:tavLst>
                                        <p:tav tm="0">
                                          <p:val>
                                            <p:strVal val="#ppt_w*0.70"/>
                                          </p:val>
                                        </p:tav>
                                        <p:tav tm="100000">
                                          <p:val>
                                            <p:strVal val="#ppt_w"/>
                                          </p:val>
                                        </p:tav>
                                      </p:tavLst>
                                    </p:anim>
                                    <p:anim calcmode="lin" valueType="num">
                                      <p:cBhvr>
                                        <p:cTn id="11" dur="1000" fill="hold"/>
                                        <p:tgtEl>
                                          <p:spTgt spid="1587206"/>
                                        </p:tgtEl>
                                        <p:attrNameLst>
                                          <p:attrName>ppt_h</p:attrName>
                                        </p:attrNameLst>
                                      </p:cBhvr>
                                      <p:tavLst>
                                        <p:tav tm="0">
                                          <p:val>
                                            <p:strVal val="#ppt_h"/>
                                          </p:val>
                                        </p:tav>
                                        <p:tav tm="100000">
                                          <p:val>
                                            <p:strVal val="#ppt_h"/>
                                          </p:val>
                                        </p:tav>
                                      </p:tavLst>
                                    </p:anim>
                                    <p:animEffect transition="in" filter="fade">
                                      <p:cBhvr>
                                        <p:cTn id="12" dur="1000"/>
                                        <p:tgtEl>
                                          <p:spTgt spid="158720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872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587217"/>
                                        </p:tgtEl>
                                        <p:attrNameLst>
                                          <p:attrName>style.visibility</p:attrName>
                                        </p:attrNameLst>
                                      </p:cBhvr>
                                      <p:to>
                                        <p:strVal val="visible"/>
                                      </p:to>
                                    </p:set>
                                    <p:anim calcmode="lin" valueType="num">
                                      <p:cBhvr>
                                        <p:cTn id="21" dur="1000" fill="hold"/>
                                        <p:tgtEl>
                                          <p:spTgt spid="1587217"/>
                                        </p:tgtEl>
                                        <p:attrNameLst>
                                          <p:attrName>ppt_w</p:attrName>
                                        </p:attrNameLst>
                                      </p:cBhvr>
                                      <p:tavLst>
                                        <p:tav tm="0">
                                          <p:val>
                                            <p:strVal val="#ppt_w*0.70"/>
                                          </p:val>
                                        </p:tav>
                                        <p:tav tm="100000">
                                          <p:val>
                                            <p:strVal val="#ppt_w"/>
                                          </p:val>
                                        </p:tav>
                                      </p:tavLst>
                                    </p:anim>
                                    <p:anim calcmode="lin" valueType="num">
                                      <p:cBhvr>
                                        <p:cTn id="22" dur="1000" fill="hold"/>
                                        <p:tgtEl>
                                          <p:spTgt spid="1587217"/>
                                        </p:tgtEl>
                                        <p:attrNameLst>
                                          <p:attrName>ppt_h</p:attrName>
                                        </p:attrNameLst>
                                      </p:cBhvr>
                                      <p:tavLst>
                                        <p:tav tm="0">
                                          <p:val>
                                            <p:strVal val="#ppt_h"/>
                                          </p:val>
                                        </p:tav>
                                        <p:tav tm="100000">
                                          <p:val>
                                            <p:strVal val="#ppt_h"/>
                                          </p:val>
                                        </p:tav>
                                      </p:tavLst>
                                    </p:anim>
                                    <p:animEffect transition="in" filter="fade">
                                      <p:cBhvr>
                                        <p:cTn id="23" dur="1000"/>
                                        <p:tgtEl>
                                          <p:spTgt spid="158721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8721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1000" fill="hold"/>
                                        <p:tgtEl>
                                          <p:spTgt spid="2"/>
                                        </p:tgtEl>
                                        <p:attrNameLst>
                                          <p:attrName>ppt_w</p:attrName>
                                        </p:attrNameLst>
                                      </p:cBhvr>
                                      <p:tavLst>
                                        <p:tav tm="0">
                                          <p:val>
                                            <p:strVal val="#ppt_w*0.70"/>
                                          </p:val>
                                        </p:tav>
                                        <p:tav tm="100000">
                                          <p:val>
                                            <p:strVal val="#ppt_w"/>
                                          </p:val>
                                        </p:tav>
                                      </p:tavLst>
                                    </p:anim>
                                    <p:anim calcmode="lin" valueType="num">
                                      <p:cBhvr>
                                        <p:cTn id="33" dur="1000" fill="hold"/>
                                        <p:tgtEl>
                                          <p:spTgt spid="2"/>
                                        </p:tgtEl>
                                        <p:attrNameLst>
                                          <p:attrName>ppt_h</p:attrName>
                                        </p:attrNameLst>
                                      </p:cBhvr>
                                      <p:tavLst>
                                        <p:tav tm="0">
                                          <p:val>
                                            <p:strVal val="#ppt_h"/>
                                          </p:val>
                                        </p:tav>
                                        <p:tav tm="100000">
                                          <p:val>
                                            <p:strVal val="#ppt_h"/>
                                          </p:val>
                                        </p:tav>
                                      </p:tavLst>
                                    </p:anim>
                                    <p:animEffect transition="in" filter="fade">
                                      <p:cBhvr>
                                        <p:cTn id="34" dur="10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872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grpId="0" nodeType="clickEffect">
                                  <p:stCondLst>
                                    <p:cond delay="0"/>
                                  </p:stCondLst>
                                  <p:childTnLst>
                                    <p:set>
                                      <p:cBhvr>
                                        <p:cTn id="42" dur="1" fill="hold">
                                          <p:stCondLst>
                                            <p:cond delay="0"/>
                                          </p:stCondLst>
                                        </p:cTn>
                                        <p:tgtEl>
                                          <p:spTgt spid="1587220"/>
                                        </p:tgtEl>
                                        <p:attrNameLst>
                                          <p:attrName>style.visibility</p:attrName>
                                        </p:attrNameLst>
                                      </p:cBhvr>
                                      <p:to>
                                        <p:strVal val="visible"/>
                                      </p:to>
                                    </p:set>
                                    <p:anim calcmode="lin" valueType="num">
                                      <p:cBhvr>
                                        <p:cTn id="43" dur="1000" fill="hold"/>
                                        <p:tgtEl>
                                          <p:spTgt spid="1587220"/>
                                        </p:tgtEl>
                                        <p:attrNameLst>
                                          <p:attrName>ppt_w</p:attrName>
                                        </p:attrNameLst>
                                      </p:cBhvr>
                                      <p:tavLst>
                                        <p:tav tm="0">
                                          <p:val>
                                            <p:strVal val="#ppt_w*0.70"/>
                                          </p:val>
                                        </p:tav>
                                        <p:tav tm="100000">
                                          <p:val>
                                            <p:strVal val="#ppt_w"/>
                                          </p:val>
                                        </p:tav>
                                      </p:tavLst>
                                    </p:anim>
                                    <p:anim calcmode="lin" valueType="num">
                                      <p:cBhvr>
                                        <p:cTn id="44" dur="1000" fill="hold"/>
                                        <p:tgtEl>
                                          <p:spTgt spid="1587220"/>
                                        </p:tgtEl>
                                        <p:attrNameLst>
                                          <p:attrName>ppt_h</p:attrName>
                                        </p:attrNameLst>
                                      </p:cBhvr>
                                      <p:tavLst>
                                        <p:tav tm="0">
                                          <p:val>
                                            <p:strVal val="#ppt_h"/>
                                          </p:val>
                                        </p:tav>
                                        <p:tav tm="100000">
                                          <p:val>
                                            <p:strVal val="#ppt_h"/>
                                          </p:val>
                                        </p:tav>
                                      </p:tavLst>
                                    </p:anim>
                                    <p:animEffect transition="in" filter="fade">
                                      <p:cBhvr>
                                        <p:cTn id="45" dur="1000"/>
                                        <p:tgtEl>
                                          <p:spTgt spid="1587220"/>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587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50" fill="hold" display="0">
                  <p:stCondLst>
                    <p:cond delay="indefinite"/>
                  </p:stCondLst>
                  <p:endCondLst>
                    <p:cond evt="onStopAudio" delay="0">
                      <p:tgtEl>
                        <p:sldTgt/>
                      </p:tgtEl>
                    </p:cond>
                  </p:endCondLst>
                </p:cTn>
                <p:tgtEl>
                  <p:spTgt spid="4"/>
                </p:tgtEl>
              </p:cMediaNode>
            </p:audio>
          </p:childTnLst>
        </p:cTn>
      </p:par>
    </p:tnLst>
    <p:bldLst>
      <p:bldP spid="1587206" grpId="0" animBg="1"/>
      <p:bldP spid="1587211" grpId="0" animBg="1"/>
      <p:bldP spid="1587213" grpId="0" animBg="1"/>
      <p:bldP spid="1587215" grpId="0" animBg="1"/>
      <p:bldP spid="1587216" grpId="0" animBg="1"/>
      <p:bldP spid="1587217" grpId="0" animBg="1"/>
      <p:bldP spid="1587220"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Text Box 3"/>
          <p:cNvSpPr txBox="1">
            <a:spLocks noChangeArrowheads="1"/>
          </p:cNvSpPr>
          <p:nvPr/>
        </p:nvSpPr>
        <p:spPr bwMode="auto">
          <a:xfrm>
            <a:off x="0" y="0"/>
            <a:ext cx="9144000" cy="511175"/>
          </a:xfrm>
          <a:prstGeom prst="rect">
            <a:avLst/>
          </a:prstGeom>
          <a:gradFill rotWithShape="1">
            <a:gsLst>
              <a:gs pos="0">
                <a:srgbClr val="33CC33"/>
              </a:gs>
              <a:gs pos="50000">
                <a:srgbClr val="185E18"/>
              </a:gs>
              <a:gs pos="100000">
                <a:srgbClr val="33CC33"/>
              </a:gs>
            </a:gsLst>
            <a:lin ang="5400000" scaled="1"/>
          </a:gradFill>
          <a:ln w="9525">
            <a:solidFill>
              <a:schemeClr val="tx1"/>
            </a:solidFill>
            <a:miter lim="800000"/>
          </a:ln>
        </p:spPr>
        <p:txBody>
          <a:bodyPr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nSpc>
                <a:spcPct val="85000"/>
              </a:lnSpc>
              <a:spcBef>
                <a:spcPct val="50000"/>
              </a:spcBef>
              <a:buClr>
                <a:schemeClr val="accent2"/>
              </a:buClr>
              <a:buFont typeface="Wingdings" panose="05000000000000000000" pitchFamily="2" charset="2"/>
              <a:buNone/>
            </a:pPr>
            <a:r>
              <a:rPr lang="en-US" altLang="zh-CN" sz="2400">
                <a:solidFill>
                  <a:schemeClr val="bg1"/>
                </a:solidFill>
                <a:latin typeface="Verdana" panose="020B0604030504040204" pitchFamily="34" charset="0"/>
                <a:ea typeface="宋体" panose="02010600030101010101" pitchFamily="2" charset="-122"/>
              </a:rPr>
              <a:t>  </a:t>
            </a:r>
            <a:r>
              <a:rPr lang="zh-CN" altLang="en-US" sz="3200">
                <a:solidFill>
                  <a:schemeClr val="bg1"/>
                </a:solidFill>
                <a:latin typeface="楷体_GB2312" pitchFamily="49" charset="-122"/>
                <a:ea typeface="楷体_GB2312" pitchFamily="49" charset="-122"/>
              </a:rPr>
              <a:t>信号与系统                      第一章绪论</a:t>
            </a:r>
          </a:p>
        </p:txBody>
      </p:sp>
      <p:sp>
        <p:nvSpPr>
          <p:cNvPr id="169988" name="Rectangle 4"/>
          <p:cNvSpPr>
            <a:spLocks noChangeArrowheads="1"/>
          </p:cNvSpPr>
          <p:nvPr/>
        </p:nvSpPr>
        <p:spPr bwMode="auto">
          <a:xfrm>
            <a:off x="1112838" y="782638"/>
            <a:ext cx="25177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6" rIns="91433" bIns="4571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2500">
                <a:solidFill>
                  <a:srgbClr val="FF0000"/>
                </a:solidFill>
              </a:rPr>
              <a:t>小结</a:t>
            </a:r>
            <a:r>
              <a:rPr lang="en-US" altLang="zh-CN" sz="2500">
                <a:solidFill>
                  <a:srgbClr val="FF0000"/>
                </a:solidFill>
              </a:rPr>
              <a:t>-</a:t>
            </a:r>
            <a:r>
              <a:rPr lang="zh-CN" altLang="en-US" sz="2500">
                <a:solidFill>
                  <a:schemeClr val="hlink"/>
                </a:solidFill>
              </a:rPr>
              <a:t>知识要点</a:t>
            </a:r>
            <a:endParaRPr lang="zh-CN" altLang="en-US" sz="2000">
              <a:solidFill>
                <a:schemeClr val="hlink"/>
              </a:solidFill>
            </a:endParaRPr>
          </a:p>
        </p:txBody>
      </p:sp>
      <p:sp>
        <p:nvSpPr>
          <p:cNvPr id="1588230" name="Rectangle 6"/>
          <p:cNvSpPr>
            <a:spLocks noChangeArrowheads="1"/>
          </p:cNvSpPr>
          <p:nvPr/>
        </p:nvSpPr>
        <p:spPr bwMode="auto">
          <a:xfrm>
            <a:off x="720725" y="1873250"/>
            <a:ext cx="2962275" cy="2851150"/>
          </a:xfrm>
          <a:prstGeom prst="rect">
            <a:avLst/>
          </a:prstGeom>
          <a:solidFill>
            <a:schemeClr val="bg1"/>
          </a:solidFill>
          <a:ln w="57150">
            <a:solidFill>
              <a:schemeClr val="tx1"/>
            </a:solidFill>
            <a:miter lim="800000"/>
          </a:ln>
          <a:effectLst>
            <a:outerShdw sy="50000" kx="-2453608" rotWithShape="0">
              <a:srgbClr val="808080">
                <a:alpha val="50000"/>
              </a:srgbClr>
            </a:outerShdw>
          </a:effectLst>
        </p:spPr>
        <p:txBody>
          <a:bodyPr lIns="91433" tIns="45716" rIns="91433" bIns="45716" anchor="ctr"/>
          <a:lstStyle>
            <a:lvl1pPr marL="252730" indent="-25273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5000"/>
              </a:lnSpc>
              <a:spcBef>
                <a:spcPct val="35000"/>
              </a:spcBef>
              <a:buClr>
                <a:schemeClr val="accent2"/>
              </a:buClr>
              <a:buFont typeface="Wingdings" panose="05000000000000000000" pitchFamily="2" charset="2"/>
              <a:buChar char="l"/>
            </a:pPr>
            <a:r>
              <a:rPr lang="zh-CN" altLang="en-US" sz="1700">
                <a:ea typeface="宋体" panose="02010600030101010101" pitchFamily="2" charset="-122"/>
              </a:rPr>
              <a:t>信号定义、分类、特性</a:t>
            </a:r>
            <a:br>
              <a:rPr lang="zh-CN" altLang="en-US" sz="1700">
                <a:ea typeface="宋体" panose="02010600030101010101" pitchFamily="2" charset="-122"/>
              </a:rPr>
            </a:br>
            <a:r>
              <a:rPr lang="zh-CN" altLang="en-US" sz="1700">
                <a:ea typeface="宋体" panose="02010600030101010101" pitchFamily="2" charset="-122"/>
              </a:rPr>
              <a:t>信号运算</a:t>
            </a:r>
            <a:br>
              <a:rPr lang="zh-CN" altLang="en-US" sz="1700">
                <a:ea typeface="宋体" panose="02010600030101010101" pitchFamily="2" charset="-122"/>
              </a:rPr>
            </a:br>
            <a:r>
              <a:rPr lang="zh-CN" altLang="en-US" sz="1700">
                <a:ea typeface="宋体" panose="02010600030101010101" pitchFamily="2" charset="-122"/>
              </a:rPr>
              <a:t>   </a:t>
            </a:r>
            <a:r>
              <a:rPr lang="zh-CN" altLang="en-US" sz="1700">
                <a:solidFill>
                  <a:schemeClr val="hlink"/>
                </a:solidFill>
                <a:ea typeface="宋体" panose="02010600030101010101" pitchFamily="2" charset="-122"/>
              </a:rPr>
              <a:t>信号相加与相乘</a:t>
            </a:r>
            <a:br>
              <a:rPr lang="zh-CN" altLang="en-US" sz="1700">
                <a:solidFill>
                  <a:schemeClr val="hlink"/>
                </a:solidFill>
                <a:ea typeface="宋体" panose="02010600030101010101" pitchFamily="2" charset="-122"/>
              </a:rPr>
            </a:br>
            <a:r>
              <a:rPr lang="zh-CN" altLang="en-US" sz="1700">
                <a:solidFill>
                  <a:schemeClr val="hlink"/>
                </a:solidFill>
                <a:ea typeface="宋体" panose="02010600030101010101" pitchFamily="2" charset="-122"/>
              </a:rPr>
              <a:t>   信号的时移</a:t>
            </a:r>
            <a:br>
              <a:rPr lang="zh-CN" altLang="en-US" sz="1700">
                <a:solidFill>
                  <a:schemeClr val="hlink"/>
                </a:solidFill>
                <a:ea typeface="宋体" panose="02010600030101010101" pitchFamily="2" charset="-122"/>
              </a:rPr>
            </a:br>
            <a:r>
              <a:rPr lang="zh-CN" altLang="en-US" sz="1700">
                <a:solidFill>
                  <a:schemeClr val="hlink"/>
                </a:solidFill>
                <a:ea typeface="宋体" panose="02010600030101010101" pitchFamily="2" charset="-122"/>
              </a:rPr>
              <a:t>   信号的尺度变换与反褶</a:t>
            </a:r>
          </a:p>
        </p:txBody>
      </p:sp>
      <p:sp>
        <p:nvSpPr>
          <p:cNvPr id="1588241" name="Rectangle 17"/>
          <p:cNvSpPr>
            <a:spLocks noChangeArrowheads="1"/>
          </p:cNvSpPr>
          <p:nvPr/>
        </p:nvSpPr>
        <p:spPr bwMode="auto">
          <a:xfrm>
            <a:off x="4620987" y="2132838"/>
            <a:ext cx="2963091" cy="3680460"/>
          </a:xfrm>
          <a:prstGeom prst="rect">
            <a:avLst/>
          </a:prstGeom>
          <a:effectLst>
            <a:glow rad="101600">
              <a:schemeClr val="accent2">
                <a:satMod val="175000"/>
                <a:alpha val="40000"/>
              </a:schemeClr>
            </a:glow>
          </a:effectLst>
        </p:spPr>
        <p:style>
          <a:lnRef idx="2">
            <a:schemeClr val="accent1"/>
          </a:lnRef>
          <a:fillRef idx="1">
            <a:schemeClr val="lt1"/>
          </a:fillRef>
          <a:effectRef idx="0">
            <a:schemeClr val="accent1"/>
          </a:effectRef>
          <a:fontRef idx="minor">
            <a:schemeClr val="dk1"/>
          </a:fontRef>
        </p:style>
        <p:txBody>
          <a:bodyPr lIns="91433" tIns="45716" rIns="91433" bIns="45716" anchor="ctr"/>
          <a:lstStyle/>
          <a:p>
            <a:pPr marL="253365" indent="-253365" defTabSz="914400" eaLnBrk="1" hangingPunct="1">
              <a:lnSpc>
                <a:spcPct val="155000"/>
              </a:lnSpc>
              <a:spcBef>
                <a:spcPct val="35000"/>
              </a:spcBef>
              <a:buClr>
                <a:schemeClr val="accent2"/>
              </a:buClr>
              <a:buFont typeface="Wingdings" panose="05000000000000000000" pitchFamily="2" charset="2"/>
              <a:buChar char="l"/>
              <a:defRPr/>
            </a:pPr>
            <a:r>
              <a:rPr lang="zh-CN" altLang="en-US" sz="1700" dirty="0">
                <a:ea typeface="宋体" panose="02010600030101010101" pitchFamily="2" charset="-122"/>
              </a:rPr>
              <a:t>系统概念与分类</a:t>
            </a:r>
            <a:br>
              <a:rPr lang="zh-CN" altLang="en-US" sz="1700" dirty="0">
                <a:ea typeface="宋体" panose="02010600030101010101" pitchFamily="2" charset="-122"/>
              </a:rPr>
            </a:br>
            <a:r>
              <a:rPr lang="zh-CN" altLang="en-US" sz="1700" dirty="0">
                <a:ea typeface="宋体" panose="02010600030101010101" pitchFamily="2" charset="-122"/>
              </a:rPr>
              <a:t>系统的性质</a:t>
            </a:r>
            <a:br>
              <a:rPr lang="zh-CN" altLang="en-US" sz="1700" dirty="0">
                <a:ea typeface="宋体" panose="02010600030101010101" pitchFamily="2" charset="-122"/>
              </a:rPr>
            </a:br>
            <a:r>
              <a:rPr lang="zh-CN" altLang="en-US" sz="1700" dirty="0">
                <a:ea typeface="宋体" panose="02010600030101010101" pitchFamily="2" charset="-122"/>
              </a:rPr>
              <a:t>   	</a:t>
            </a:r>
            <a:r>
              <a:rPr lang="zh-CN" altLang="en-US" sz="1700" dirty="0">
                <a:solidFill>
                  <a:schemeClr val="hlink"/>
                </a:solidFill>
                <a:ea typeface="宋体" panose="02010600030101010101" pitchFamily="2" charset="-122"/>
              </a:rPr>
              <a:t>线性</a:t>
            </a:r>
            <a:br>
              <a:rPr lang="zh-CN" altLang="en-US" sz="1700" dirty="0">
                <a:solidFill>
                  <a:schemeClr val="hlink"/>
                </a:solidFill>
                <a:ea typeface="宋体" panose="02010600030101010101" pitchFamily="2" charset="-122"/>
              </a:rPr>
            </a:br>
            <a:r>
              <a:rPr lang="zh-CN" altLang="en-US" sz="1700" dirty="0">
                <a:solidFill>
                  <a:schemeClr val="hlink"/>
                </a:solidFill>
                <a:ea typeface="宋体" panose="02010600030101010101" pitchFamily="2" charset="-122"/>
              </a:rPr>
              <a:t>   	时不变性</a:t>
            </a:r>
            <a:br>
              <a:rPr lang="zh-CN" altLang="en-US" sz="1700" dirty="0">
                <a:solidFill>
                  <a:schemeClr val="hlink"/>
                </a:solidFill>
                <a:ea typeface="宋体" panose="02010600030101010101" pitchFamily="2" charset="-122"/>
              </a:rPr>
            </a:br>
            <a:r>
              <a:rPr lang="zh-CN" altLang="en-US" sz="1700" dirty="0">
                <a:solidFill>
                  <a:schemeClr val="hlink"/>
                </a:solidFill>
                <a:ea typeface="宋体" panose="02010600030101010101" pitchFamily="2" charset="-122"/>
              </a:rPr>
              <a:t>   	因果性</a:t>
            </a:r>
            <a:br>
              <a:rPr lang="zh-CN" altLang="en-US" sz="1700" dirty="0">
                <a:solidFill>
                  <a:schemeClr val="hlink"/>
                </a:solidFill>
                <a:ea typeface="宋体" panose="02010600030101010101" pitchFamily="2" charset="-122"/>
              </a:rPr>
            </a:br>
            <a:r>
              <a:rPr lang="zh-CN" altLang="en-US" sz="1700" dirty="0">
                <a:solidFill>
                  <a:schemeClr val="hlink"/>
                </a:solidFill>
                <a:ea typeface="宋体" panose="02010600030101010101" pitchFamily="2" charset="-122"/>
              </a:rPr>
              <a:t>   	稳定性</a:t>
            </a:r>
            <a:br>
              <a:rPr lang="zh-CN" altLang="en-US" sz="1700" dirty="0">
                <a:solidFill>
                  <a:schemeClr val="hlink"/>
                </a:solidFill>
                <a:ea typeface="宋体" panose="02010600030101010101" pitchFamily="2" charset="-122"/>
              </a:rPr>
            </a:br>
            <a:r>
              <a:rPr lang="zh-CN" altLang="en-US" sz="1700" dirty="0">
                <a:ea typeface="宋体" panose="02010600030101010101" pitchFamily="2" charset="-122"/>
              </a:rPr>
              <a:t>系统分析方法</a:t>
            </a:r>
          </a:p>
        </p:txBody>
      </p:sp>
      <p:sp>
        <p:nvSpPr>
          <p:cNvPr id="8" name="日期占位符 7"/>
          <p:cNvSpPr>
            <a:spLocks noGrp="1"/>
          </p:cNvSpPr>
          <p:nvPr>
            <p:ph type="dt" sz="quarter" idx="10"/>
          </p:nvPr>
        </p:nvSpPr>
        <p:spPr/>
        <p:txBody>
          <a:bodyPr/>
          <a:lstStyle/>
          <a:p>
            <a:pPr>
              <a:defRPr/>
            </a:pPr>
            <a:fld id="{1190C417-E6E6-4D20-95D4-D233F1D36E76}" type="datetime3">
              <a:rPr lang="zh-CN" altLang="en-US"/>
              <a:t>2026年3月4日星期三</a:t>
            </a:fld>
            <a:endParaRPr lang="zh-CN" altLang="en-US" dirty="0"/>
          </a:p>
        </p:txBody>
      </p:sp>
      <p:pic>
        <p:nvPicPr>
          <p:cNvPr id="2" name="音频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8659813" y="6373813"/>
            <a:ext cx="304800" cy="304800"/>
          </a:xfrm>
          <a:prstGeom prst="rect">
            <a:avLst/>
          </a:prstGeom>
        </p:spPr>
      </p:pic>
    </p:spTree>
    <p:custDataLst>
      <p:tags r:id="rId1"/>
    </p:custDataLst>
  </p:cSld>
  <p:clrMapOvr>
    <a:masterClrMapping/>
  </p:clrMapOvr>
  <p:transition advTm="405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55" presetClass="entr" presetSubtype="0" fill="hold" grpId="0" nodeType="afterEffect">
                                  <p:stCondLst>
                                    <p:cond delay="0"/>
                                  </p:stCondLst>
                                  <p:childTnLst>
                                    <p:set>
                                      <p:cBhvr>
                                        <p:cTn id="9" dur="1" fill="hold">
                                          <p:stCondLst>
                                            <p:cond delay="0"/>
                                          </p:stCondLst>
                                        </p:cTn>
                                        <p:tgtEl>
                                          <p:spTgt spid="1588230"/>
                                        </p:tgtEl>
                                        <p:attrNameLst>
                                          <p:attrName>style.visibility</p:attrName>
                                        </p:attrNameLst>
                                      </p:cBhvr>
                                      <p:to>
                                        <p:strVal val="visible"/>
                                      </p:to>
                                    </p:set>
                                    <p:anim calcmode="lin" valueType="num">
                                      <p:cBhvr>
                                        <p:cTn id="10" dur="1000" fill="hold"/>
                                        <p:tgtEl>
                                          <p:spTgt spid="1588230"/>
                                        </p:tgtEl>
                                        <p:attrNameLst>
                                          <p:attrName>ppt_w</p:attrName>
                                        </p:attrNameLst>
                                      </p:cBhvr>
                                      <p:tavLst>
                                        <p:tav tm="0">
                                          <p:val>
                                            <p:strVal val="#ppt_w*0.70"/>
                                          </p:val>
                                        </p:tav>
                                        <p:tav tm="100000">
                                          <p:val>
                                            <p:strVal val="#ppt_w"/>
                                          </p:val>
                                        </p:tav>
                                      </p:tavLst>
                                    </p:anim>
                                    <p:anim calcmode="lin" valueType="num">
                                      <p:cBhvr>
                                        <p:cTn id="11" dur="1000" fill="hold"/>
                                        <p:tgtEl>
                                          <p:spTgt spid="1588230"/>
                                        </p:tgtEl>
                                        <p:attrNameLst>
                                          <p:attrName>ppt_h</p:attrName>
                                        </p:attrNameLst>
                                      </p:cBhvr>
                                      <p:tavLst>
                                        <p:tav tm="0">
                                          <p:val>
                                            <p:strVal val="#ppt_h"/>
                                          </p:val>
                                        </p:tav>
                                        <p:tav tm="100000">
                                          <p:val>
                                            <p:strVal val="#ppt_h"/>
                                          </p:val>
                                        </p:tav>
                                      </p:tavLst>
                                    </p:anim>
                                    <p:animEffect transition="in" filter="fade">
                                      <p:cBhvr>
                                        <p:cTn id="12" dur="1000"/>
                                        <p:tgtEl>
                                          <p:spTgt spid="1588230"/>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588241"/>
                                        </p:tgtEl>
                                        <p:attrNameLst>
                                          <p:attrName>style.visibility</p:attrName>
                                        </p:attrNameLst>
                                      </p:cBhvr>
                                      <p:to>
                                        <p:strVal val="visible"/>
                                      </p:to>
                                    </p:set>
                                    <p:anim calcmode="lin" valueType="num">
                                      <p:cBhvr>
                                        <p:cTn id="17" dur="1000" fill="hold"/>
                                        <p:tgtEl>
                                          <p:spTgt spid="1588241"/>
                                        </p:tgtEl>
                                        <p:attrNameLst>
                                          <p:attrName>ppt_w</p:attrName>
                                        </p:attrNameLst>
                                      </p:cBhvr>
                                      <p:tavLst>
                                        <p:tav tm="0">
                                          <p:val>
                                            <p:strVal val="#ppt_w*0.70"/>
                                          </p:val>
                                        </p:tav>
                                        <p:tav tm="100000">
                                          <p:val>
                                            <p:strVal val="#ppt_w"/>
                                          </p:val>
                                        </p:tav>
                                      </p:tavLst>
                                    </p:anim>
                                    <p:anim calcmode="lin" valueType="num">
                                      <p:cBhvr>
                                        <p:cTn id="18" dur="1000" fill="hold"/>
                                        <p:tgtEl>
                                          <p:spTgt spid="1588241"/>
                                        </p:tgtEl>
                                        <p:attrNameLst>
                                          <p:attrName>ppt_h</p:attrName>
                                        </p:attrNameLst>
                                      </p:cBhvr>
                                      <p:tavLst>
                                        <p:tav tm="0">
                                          <p:val>
                                            <p:strVal val="#ppt_h"/>
                                          </p:val>
                                        </p:tav>
                                        <p:tav tm="100000">
                                          <p:val>
                                            <p:strVal val="#ppt_h"/>
                                          </p:val>
                                        </p:tav>
                                      </p:tavLst>
                                    </p:anim>
                                    <p:animEffect transition="in" filter="fade">
                                      <p:cBhvr>
                                        <p:cTn id="19" dur="1000"/>
                                        <p:tgtEl>
                                          <p:spTgt spid="1588241"/>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0" fill="hold" display="0">
                  <p:stCondLst>
                    <p:cond delay="indefinite"/>
                  </p:stCondLst>
                  <p:endCondLst>
                    <p:cond evt="onStopAudio" delay="0">
                      <p:tgtEl>
                        <p:sldTgt/>
                      </p:tgtEl>
                    </p:cond>
                  </p:endCondLst>
                </p:cTn>
                <p:tgtEl>
                  <p:spTgt spid="2"/>
                </p:tgtEl>
              </p:cMediaNode>
            </p:audio>
          </p:childTnLst>
        </p:cTn>
      </p:par>
    </p:tnLst>
    <p:bldLst>
      <p:bldP spid="1588230" grpId="0" animBg="1"/>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720725" y="2081213"/>
            <a:ext cx="7770813" cy="1143000"/>
          </a:xfrm>
        </p:spPr>
        <p:txBody>
          <a:bodyPr/>
          <a:lstStyle/>
          <a:p>
            <a:r>
              <a:rPr lang="zh-CN" altLang="en-US" sz="5600" b="1">
                <a:solidFill>
                  <a:srgbClr val="FF5050"/>
                </a:solidFill>
              </a:rPr>
              <a:t>结束</a:t>
            </a:r>
          </a:p>
        </p:txBody>
      </p:sp>
      <p:sp>
        <p:nvSpPr>
          <p:cNvPr id="171011" name="Rectangle 3"/>
          <p:cNvSpPr>
            <a:spLocks noChangeArrowheads="1"/>
          </p:cNvSpPr>
          <p:nvPr/>
        </p:nvSpPr>
        <p:spPr bwMode="auto">
          <a:xfrm>
            <a:off x="6537325" y="5065713"/>
            <a:ext cx="184150"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endParaRPr lang="zh-CN" altLang="zh-CN" sz="2000">
              <a:latin typeface="Times New Roman" panose="02020603050405020304" pitchFamily="18" charset="0"/>
              <a:ea typeface="宋体" panose="02010600030101010101" pitchFamily="2" charset="-122"/>
            </a:endParaRPr>
          </a:p>
        </p:txBody>
      </p:sp>
      <p:pic>
        <p:nvPicPr>
          <p:cNvPr id="1372165" name="Picture 5" descr="NA00864_"/>
          <p:cNvPicPr>
            <a:picLocks noGrp="1" noChangeAspect="1" noChangeArrowheads="1"/>
          </p:cNvPicPr>
          <p:nvPr>
            <p:ph idx="1"/>
          </p:nvPr>
        </p:nvPicPr>
        <p:blipFill>
          <a:blip r:embed="rId5" cstate="print">
            <a:extLst>
              <a:ext uri="{28A0092B-C50C-407E-A947-70E740481C1C}">
                <a14:useLocalDpi xmlns:a14="http://schemas.microsoft.com/office/drawing/2010/main" val="0"/>
              </a:ext>
            </a:extLst>
          </a:blip>
          <a:srcRect/>
          <a:stretch>
            <a:fillRect/>
          </a:stretch>
        </p:blipFill>
        <p:spPr>
          <a:xfrm>
            <a:off x="5854700" y="3846513"/>
            <a:ext cx="3436938" cy="3011487"/>
          </a:xfrm>
          <a:noFill/>
        </p:spPr>
      </p:pic>
      <p:sp>
        <p:nvSpPr>
          <p:cNvPr id="7" name="日期占位符 6"/>
          <p:cNvSpPr>
            <a:spLocks noGrp="1"/>
          </p:cNvSpPr>
          <p:nvPr>
            <p:ph type="dt" sz="quarter" idx="10"/>
          </p:nvPr>
        </p:nvSpPr>
        <p:spPr/>
        <p:txBody>
          <a:bodyPr/>
          <a:lstStyle/>
          <a:p>
            <a:pPr>
              <a:defRPr/>
            </a:pPr>
            <a:fld id="{3057DDC9-1853-4FBE-BD0E-F7231EA496B3}" type="datetime3">
              <a:rPr lang="zh-CN" altLang="en-US"/>
              <a:t>2026年3月4日星期三</a:t>
            </a:fld>
            <a:endParaRPr lang="zh-CN" altLang="en-US"/>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659813" y="6373813"/>
            <a:ext cx="304800" cy="304800"/>
          </a:xfrm>
          <a:prstGeom prst="rect">
            <a:avLst/>
          </a:prstGeom>
        </p:spPr>
      </p:pic>
    </p:spTree>
  </p:cSld>
  <p:clrMapOvr>
    <a:masterClrMapping/>
  </p:clrMapOvr>
  <p:transition advTm="844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3" presetClass="entr" presetSubtype="5" fill="hold" nodeType="afterEffect">
                                  <p:stCondLst>
                                    <p:cond delay="0"/>
                                  </p:stCondLst>
                                  <p:childTnLst>
                                    <p:set>
                                      <p:cBhvr>
                                        <p:cTn id="9" dur="1" fill="hold">
                                          <p:stCondLst>
                                            <p:cond delay="0"/>
                                          </p:stCondLst>
                                        </p:cTn>
                                        <p:tgtEl>
                                          <p:spTgt spid="1372165"/>
                                        </p:tgtEl>
                                        <p:attrNameLst>
                                          <p:attrName>style.visibility</p:attrName>
                                        </p:attrNameLst>
                                      </p:cBhvr>
                                      <p:to>
                                        <p:strVal val="visible"/>
                                      </p:to>
                                    </p:set>
                                    <p:animEffect transition="in" filter="blinds(vertical)">
                                      <p:cBhvr>
                                        <p:cTn id="10" dur="500"/>
                                        <p:tgtEl>
                                          <p:spTgt spid="137216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1"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c04f1fe0-20de-4507-8227-ca51aadd46a4"/>
  <p:tag name="COMMONDATA" val="eyJoZGlkIjoiMDJkMmE4NTJiZTUxNmFhNjczMWIzYTIzOTEwNzBjODkifQ=="/>
</p:tagLst>
</file>

<file path=ppt/tags/tag2.xml><?xml version="1.0" encoding="utf-8"?>
<p:tagLst xmlns:a="http://schemas.openxmlformats.org/drawingml/2006/main" xmlns:r="http://schemas.openxmlformats.org/officeDocument/2006/relationships" xmlns:p="http://schemas.openxmlformats.org/presentationml/2006/main">
  <p:tag name="TIMING" val="|43.7|27.4|18.9"/>
</p:tagLst>
</file>

<file path=ppt/tags/tag3.xml><?xml version="1.0" encoding="utf-8"?>
<p:tagLst xmlns:a="http://schemas.openxmlformats.org/drawingml/2006/main" xmlns:r="http://schemas.openxmlformats.org/officeDocument/2006/relationships" xmlns:p="http://schemas.openxmlformats.org/presentationml/2006/main">
  <p:tag name="TIMING" val="|16|7.5"/>
</p:tagLst>
</file>

<file path=ppt/tags/tag4.xml><?xml version="1.0" encoding="utf-8"?>
<p:tagLst xmlns:a="http://schemas.openxmlformats.org/drawingml/2006/main" xmlns:r="http://schemas.openxmlformats.org/officeDocument/2006/relationships" xmlns:p="http://schemas.openxmlformats.org/presentationml/2006/main">
  <p:tag name="TIMING" val="|40.5"/>
</p:tagLst>
</file>

<file path=ppt/tags/tag5.xml><?xml version="1.0" encoding="utf-8"?>
<p:tagLst xmlns:a="http://schemas.openxmlformats.org/drawingml/2006/main" xmlns:r="http://schemas.openxmlformats.org/officeDocument/2006/relationships" xmlns:p="http://schemas.openxmlformats.org/presentationml/2006/main">
  <p:tag name="TIMING" val="|1|1.5|1.2"/>
</p:tagLst>
</file>

<file path=ppt/tags/tag6.xml><?xml version="1.0" encoding="utf-8"?>
<p:tagLst xmlns:a="http://schemas.openxmlformats.org/drawingml/2006/main" xmlns:r="http://schemas.openxmlformats.org/officeDocument/2006/relationships" xmlns:p="http://schemas.openxmlformats.org/presentationml/2006/main">
  <p:tag name="TIMING" val="|79|37.1|23.4"/>
</p:tagLst>
</file>

<file path=ppt/tags/tag7.xml><?xml version="1.0" encoding="utf-8"?>
<p:tagLst xmlns:a="http://schemas.openxmlformats.org/drawingml/2006/main" xmlns:r="http://schemas.openxmlformats.org/officeDocument/2006/relationships" xmlns:p="http://schemas.openxmlformats.org/presentationml/2006/main">
  <p:tag name="TIMING" val="|7.3|7|14.8"/>
</p:tagLst>
</file>

<file path=ppt/tags/tag8.xml><?xml version="1.0" encoding="utf-8"?>
<p:tagLst xmlns:a="http://schemas.openxmlformats.org/drawingml/2006/main" xmlns:r="http://schemas.openxmlformats.org/officeDocument/2006/relationships" xmlns:p="http://schemas.openxmlformats.org/presentationml/2006/main">
  <p:tag name="TIMING" val="|26.9"/>
</p:tagLst>
</file>

<file path=ppt/tags/tag9.xml><?xml version="1.0" encoding="utf-8"?>
<p:tagLst xmlns:a="http://schemas.openxmlformats.org/drawingml/2006/main" xmlns:r="http://schemas.openxmlformats.org/officeDocument/2006/relationships" xmlns:p="http://schemas.openxmlformats.org/presentationml/2006/main">
  <p:tag name="TIMING" val="|7.6|62.5"/>
</p:tagLst>
</file>

<file path=ppt/tags/tag10.xml><?xml version="1.0" encoding="utf-8"?>
<p:tagLst xmlns:a="http://schemas.openxmlformats.org/drawingml/2006/main" xmlns:r="http://schemas.openxmlformats.org/officeDocument/2006/relationships" xmlns:p="http://schemas.openxmlformats.org/presentationml/2006/main">
  <p:tag name="TIMING" val="|19.3|22.8"/>
</p:tagLst>
</file>

<file path=ppt/tags/tag11.xml><?xml version="1.0" encoding="utf-8"?>
<p:tagLst xmlns:a="http://schemas.openxmlformats.org/drawingml/2006/main" xmlns:r="http://schemas.openxmlformats.org/officeDocument/2006/relationships" xmlns:p="http://schemas.openxmlformats.org/presentationml/2006/main">
  <p:tag name="TIMING" val="|6.7|4.6|9.2|3.7"/>
</p:tagLst>
</file>

<file path=ppt/tags/tag12.xml><?xml version="1.0" encoding="utf-8"?>
<p:tagLst xmlns:a="http://schemas.openxmlformats.org/drawingml/2006/main" xmlns:r="http://schemas.openxmlformats.org/officeDocument/2006/relationships" xmlns:p="http://schemas.openxmlformats.org/presentationml/2006/main">
  <p:tag name="TIMING" val="|30.6"/>
</p:tagLst>
</file>

<file path=ppt/tags/tag13.xml><?xml version="1.0" encoding="utf-8"?>
<p:tagLst xmlns:a="http://schemas.openxmlformats.org/drawingml/2006/main" xmlns:r="http://schemas.openxmlformats.org/officeDocument/2006/relationships" xmlns:p="http://schemas.openxmlformats.org/presentationml/2006/main">
  <p:tag name="TIMING" val="|22.8|29.9|16.9"/>
</p:tagLst>
</file>

<file path=ppt/tags/tag14.xml><?xml version="1.0" encoding="utf-8"?>
<p:tagLst xmlns:a="http://schemas.openxmlformats.org/drawingml/2006/main" xmlns:r="http://schemas.openxmlformats.org/officeDocument/2006/relationships" xmlns:p="http://schemas.openxmlformats.org/presentationml/2006/main">
  <p:tag name="TIMING" val="|8.6|29.1"/>
</p:tagLst>
</file>

<file path=ppt/tags/tag15.xml><?xml version="1.0" encoding="utf-8"?>
<p:tagLst xmlns:a="http://schemas.openxmlformats.org/drawingml/2006/main" xmlns:r="http://schemas.openxmlformats.org/officeDocument/2006/relationships" xmlns:p="http://schemas.openxmlformats.org/presentationml/2006/main">
  <p:tag name="TIMING" val="|21.2|6.9|38.4"/>
</p:tagLst>
</file>

<file path=ppt/tags/tag16.xml><?xml version="1.0" encoding="utf-8"?>
<p:tagLst xmlns:a="http://schemas.openxmlformats.org/drawingml/2006/main" xmlns:r="http://schemas.openxmlformats.org/officeDocument/2006/relationships" xmlns:p="http://schemas.openxmlformats.org/presentationml/2006/main">
  <p:tag name="TIMING" val="|34.1|38.4|46.3"/>
</p:tagLst>
</file>

<file path=ppt/tags/tag17.xml><?xml version="1.0" encoding="utf-8"?>
<p:tagLst xmlns:a="http://schemas.openxmlformats.org/drawingml/2006/main" xmlns:r="http://schemas.openxmlformats.org/officeDocument/2006/relationships" xmlns:p="http://schemas.openxmlformats.org/presentationml/2006/main">
  <p:tag name="TIMING" val="|12.5"/>
</p:tagLst>
</file>

<file path=ppt/tags/tag18.xml><?xml version="1.0" encoding="utf-8"?>
<p:tagLst xmlns:a="http://schemas.openxmlformats.org/drawingml/2006/main" xmlns:r="http://schemas.openxmlformats.org/officeDocument/2006/relationships" xmlns:p="http://schemas.openxmlformats.org/presentationml/2006/main">
  <p:tag name="TIMING" val="|3.4"/>
</p:tagLst>
</file>

<file path=ppt/tags/tag19.xml><?xml version="1.0" encoding="utf-8"?>
<p:tagLst xmlns:a="http://schemas.openxmlformats.org/drawingml/2006/main" xmlns:r="http://schemas.openxmlformats.org/officeDocument/2006/relationships" xmlns:p="http://schemas.openxmlformats.org/presentationml/2006/main">
  <p:tag name="TIMING" val="|16|10.5"/>
</p:tagLst>
</file>

<file path=ppt/tags/tag20.xml><?xml version="1.0" encoding="utf-8"?>
<p:tagLst xmlns:a="http://schemas.openxmlformats.org/drawingml/2006/main" xmlns:r="http://schemas.openxmlformats.org/officeDocument/2006/relationships" xmlns:p="http://schemas.openxmlformats.org/presentationml/2006/main">
  <p:tag name="TIMING" val="|47.1"/>
</p:tagLst>
</file>

<file path=ppt/tags/tag21.xml><?xml version="1.0" encoding="utf-8"?>
<p:tagLst xmlns:a="http://schemas.openxmlformats.org/drawingml/2006/main" xmlns:r="http://schemas.openxmlformats.org/officeDocument/2006/relationships" xmlns:p="http://schemas.openxmlformats.org/presentationml/2006/main">
  <p:tag name="TIMING" val="|33|9.5"/>
</p:tagLst>
</file>

<file path=ppt/tags/tag22.xml><?xml version="1.0" encoding="utf-8"?>
<p:tagLst xmlns:a="http://schemas.openxmlformats.org/drawingml/2006/main" xmlns:r="http://schemas.openxmlformats.org/officeDocument/2006/relationships" xmlns:p="http://schemas.openxmlformats.org/presentationml/2006/main">
  <p:tag name="TIMING" val="|44.3|35.5"/>
</p:tagLst>
</file>

<file path=ppt/tags/tag23.xml><?xml version="1.0" encoding="utf-8"?>
<p:tagLst xmlns:a="http://schemas.openxmlformats.org/drawingml/2006/main" xmlns:r="http://schemas.openxmlformats.org/officeDocument/2006/relationships" xmlns:p="http://schemas.openxmlformats.org/presentationml/2006/main">
  <p:tag name="TIMING" val="|4.4|24.9|1.8"/>
</p:tagLst>
</file>

<file path=ppt/tags/tag24.xml><?xml version="1.0" encoding="utf-8"?>
<p:tagLst xmlns:a="http://schemas.openxmlformats.org/drawingml/2006/main" xmlns:r="http://schemas.openxmlformats.org/officeDocument/2006/relationships" xmlns:p="http://schemas.openxmlformats.org/presentationml/2006/main">
  <p:tag name="TIMING" val="|47"/>
</p:tagLst>
</file>

<file path=ppt/tags/tag25.xml><?xml version="1.0" encoding="utf-8"?>
<p:tagLst xmlns:a="http://schemas.openxmlformats.org/drawingml/2006/main" xmlns:r="http://schemas.openxmlformats.org/officeDocument/2006/relationships" xmlns:p="http://schemas.openxmlformats.org/presentationml/2006/main">
  <p:tag name="TIMING" val="|36.1"/>
</p:tagLst>
</file>

<file path=ppt/tags/tag26.xml><?xml version="1.0" encoding="utf-8"?>
<p:tagLst xmlns:a="http://schemas.openxmlformats.org/drawingml/2006/main" xmlns:r="http://schemas.openxmlformats.org/officeDocument/2006/relationships" xmlns:p="http://schemas.openxmlformats.org/presentationml/2006/main">
  <p:tag name="TIMING" val="|73"/>
</p:tagLst>
</file>

<file path=ppt/tags/tag27.xml><?xml version="1.0" encoding="utf-8"?>
<p:tagLst xmlns:a="http://schemas.openxmlformats.org/drawingml/2006/main" xmlns:r="http://schemas.openxmlformats.org/officeDocument/2006/relationships" xmlns:p="http://schemas.openxmlformats.org/presentationml/2006/main">
  <p:tag name="TIMING" val="|20.3"/>
</p:tagLst>
</file>

<file path=ppt/tags/tag28.xml><?xml version="1.0" encoding="utf-8"?>
<p:tagLst xmlns:a="http://schemas.openxmlformats.org/drawingml/2006/main" xmlns:r="http://schemas.openxmlformats.org/officeDocument/2006/relationships" xmlns:p="http://schemas.openxmlformats.org/presentationml/2006/main">
  <p:tag name="TIMING" val="|47.6|45.4"/>
</p:tagLst>
</file>

<file path=ppt/tags/tag29.xml><?xml version="1.0" encoding="utf-8"?>
<p:tagLst xmlns:a="http://schemas.openxmlformats.org/drawingml/2006/main" xmlns:r="http://schemas.openxmlformats.org/officeDocument/2006/relationships" xmlns:p="http://schemas.openxmlformats.org/presentationml/2006/main">
  <p:tag name="TIMING" val="|27.8|4.4|27.6|2.7|34.4"/>
</p:tagLst>
</file>

<file path=ppt/tags/tag30.xml><?xml version="1.0" encoding="utf-8"?>
<p:tagLst xmlns:a="http://schemas.openxmlformats.org/drawingml/2006/main" xmlns:r="http://schemas.openxmlformats.org/officeDocument/2006/relationships" xmlns:p="http://schemas.openxmlformats.org/presentationml/2006/main">
  <p:tag name="TIMING" val="|73.7"/>
</p:tagLst>
</file>

<file path=ppt/tags/tag31.xml><?xml version="1.0" encoding="utf-8"?>
<p:tagLst xmlns:a="http://schemas.openxmlformats.org/drawingml/2006/main" xmlns:r="http://schemas.openxmlformats.org/officeDocument/2006/relationships" xmlns:p="http://schemas.openxmlformats.org/presentationml/2006/main">
  <p:tag name="TIMING" val="|34.4|44.6"/>
</p:tagLst>
</file>

<file path=ppt/tags/tag32.xml><?xml version="1.0" encoding="utf-8"?>
<p:tagLst xmlns:a="http://schemas.openxmlformats.org/drawingml/2006/main" xmlns:r="http://schemas.openxmlformats.org/officeDocument/2006/relationships" xmlns:p="http://schemas.openxmlformats.org/presentationml/2006/main">
  <p:tag name="TIMING" val="|5.2|21.9|10.5|6.8|9.9|13.1|1.4|4.9|8.3|36.8|8"/>
</p:tagLst>
</file>

<file path=ppt/tags/tag33.xml><?xml version="1.0" encoding="utf-8"?>
<p:tagLst xmlns:a="http://schemas.openxmlformats.org/drawingml/2006/main" xmlns:r="http://schemas.openxmlformats.org/officeDocument/2006/relationships" xmlns:p="http://schemas.openxmlformats.org/presentationml/2006/main">
  <p:tag name="TIMING" val="|21|8.6|11"/>
</p:tagLst>
</file>

<file path=ppt/tags/tag34.xml><?xml version="1.0" encoding="utf-8"?>
<p:tagLst xmlns:a="http://schemas.openxmlformats.org/drawingml/2006/main" xmlns:r="http://schemas.openxmlformats.org/officeDocument/2006/relationships" xmlns:p="http://schemas.openxmlformats.org/presentationml/2006/main">
  <p:tag name="TIMING" val="|6.2|3.4|3.1"/>
</p:tagLst>
</file>

<file path=ppt/tags/tag35.xml><?xml version="1.0" encoding="utf-8"?>
<p:tagLst xmlns:a="http://schemas.openxmlformats.org/drawingml/2006/main" xmlns:r="http://schemas.openxmlformats.org/officeDocument/2006/relationships" xmlns:p="http://schemas.openxmlformats.org/presentationml/2006/main">
  <p:tag name="TIMING" val="|40.5"/>
</p:tagLst>
</file>

<file path=ppt/tags/tag36.xml><?xml version="1.0" encoding="utf-8"?>
<p:tagLst xmlns:a="http://schemas.openxmlformats.org/drawingml/2006/main" xmlns:r="http://schemas.openxmlformats.org/officeDocument/2006/relationships" xmlns:p="http://schemas.openxmlformats.org/presentationml/2006/main">
  <p:tag name="TIMING" val="|0.9|0.4|0.2"/>
</p:tagLst>
</file>

<file path=ppt/tags/tag37.xml><?xml version="1.0" encoding="utf-8"?>
<p:tagLst xmlns:a="http://schemas.openxmlformats.org/drawingml/2006/main" xmlns:r="http://schemas.openxmlformats.org/officeDocument/2006/relationships" xmlns:p="http://schemas.openxmlformats.org/presentationml/2006/main">
  <p:tag name="TIMING" val="|0.9|0.4"/>
</p:tagLst>
</file>

<file path=ppt/tags/tag38.xml><?xml version="1.0" encoding="utf-8"?>
<p:tagLst xmlns:a="http://schemas.openxmlformats.org/drawingml/2006/main" xmlns:r="http://schemas.openxmlformats.org/officeDocument/2006/relationships" xmlns:p="http://schemas.openxmlformats.org/presentationml/2006/main">
  <p:tag name="TIMING" val="|64.9|26.7|3.8|4.6"/>
</p:tagLst>
</file>

<file path=ppt/tags/tag39.xml><?xml version="1.0" encoding="utf-8"?>
<p:tagLst xmlns:a="http://schemas.openxmlformats.org/drawingml/2006/main" xmlns:r="http://schemas.openxmlformats.org/officeDocument/2006/relationships" xmlns:p="http://schemas.openxmlformats.org/presentationml/2006/main">
  <p:tag name="TIMING" val="|170.4"/>
</p:tagLst>
</file>

<file path=ppt/tags/tag40.xml><?xml version="1.0" encoding="utf-8"?>
<p:tagLst xmlns:a="http://schemas.openxmlformats.org/drawingml/2006/main" xmlns:r="http://schemas.openxmlformats.org/officeDocument/2006/relationships" xmlns:p="http://schemas.openxmlformats.org/presentationml/2006/main">
  <p:tag name="TIMING" val="|13.2|35.6|35.8"/>
</p:tagLst>
</file>

<file path=ppt/tags/tag41.xml><?xml version="1.0" encoding="utf-8"?>
<p:tagLst xmlns:a="http://schemas.openxmlformats.org/drawingml/2006/main" xmlns:r="http://schemas.openxmlformats.org/officeDocument/2006/relationships" xmlns:p="http://schemas.openxmlformats.org/presentationml/2006/main">
  <p:tag name="TIMING" val="|26.3|2.6|30.4"/>
</p:tagLst>
</file>

<file path=ppt/tags/tag42.xml><?xml version="1.0" encoding="utf-8"?>
<p:tagLst xmlns:a="http://schemas.openxmlformats.org/drawingml/2006/main" xmlns:r="http://schemas.openxmlformats.org/officeDocument/2006/relationships" xmlns:p="http://schemas.openxmlformats.org/presentationml/2006/main">
  <p:tag name="TIMING" val="|16.9|2.1|45.5"/>
</p:tagLst>
</file>

<file path=ppt/tags/tag43.xml><?xml version="1.0" encoding="utf-8"?>
<p:tagLst xmlns:a="http://schemas.openxmlformats.org/drawingml/2006/main" xmlns:r="http://schemas.openxmlformats.org/officeDocument/2006/relationships" xmlns:p="http://schemas.openxmlformats.org/presentationml/2006/main">
  <p:tag name="TIMING" val="|17.9|2.4|20.7"/>
</p:tagLst>
</file>

<file path=ppt/tags/tag44.xml><?xml version="1.0" encoding="utf-8"?>
<p:tagLst xmlns:a="http://schemas.openxmlformats.org/drawingml/2006/main" xmlns:r="http://schemas.openxmlformats.org/officeDocument/2006/relationships" xmlns:p="http://schemas.openxmlformats.org/presentationml/2006/main">
  <p:tag name="TIMING" val="|23.1|1.8|17.8|7.1"/>
</p:tagLst>
</file>

<file path=ppt/tags/tag45.xml><?xml version="1.0" encoding="utf-8"?>
<p:tagLst xmlns:a="http://schemas.openxmlformats.org/drawingml/2006/main" xmlns:r="http://schemas.openxmlformats.org/officeDocument/2006/relationships" xmlns:p="http://schemas.openxmlformats.org/presentationml/2006/main">
  <p:tag name="TIMING" val="|7.7|14.6"/>
</p:tagLst>
</file>

<file path=ppt/tags/tag46.xml><?xml version="1.0" encoding="utf-8"?>
<p:tagLst xmlns:a="http://schemas.openxmlformats.org/drawingml/2006/main" xmlns:r="http://schemas.openxmlformats.org/officeDocument/2006/relationships" xmlns:p="http://schemas.openxmlformats.org/presentationml/2006/main">
  <p:tag name="TIMING" val="|13.8|31.1|21|39.7"/>
</p:tagLst>
</file>

<file path=ppt/tags/tag47.xml><?xml version="1.0" encoding="utf-8"?>
<p:tagLst xmlns:a="http://schemas.openxmlformats.org/drawingml/2006/main" xmlns:r="http://schemas.openxmlformats.org/officeDocument/2006/relationships" xmlns:p="http://schemas.openxmlformats.org/presentationml/2006/main">
  <p:tag name="TIMING" val="|223.4|7.6"/>
</p:tagLst>
</file>

<file path=ppt/tags/tag48.xml><?xml version="1.0" encoding="utf-8"?>
<p:tagLst xmlns:a="http://schemas.openxmlformats.org/drawingml/2006/main" xmlns:r="http://schemas.openxmlformats.org/officeDocument/2006/relationships" xmlns:p="http://schemas.openxmlformats.org/presentationml/2006/main">
  <p:tag name="TIMING" val="|24.9|10.1|27.2|19.8|2.8|39|1.2"/>
</p:tagLst>
</file>

<file path=ppt/tags/tag49.xml><?xml version="1.0" encoding="utf-8"?>
<p:tagLst xmlns:a="http://schemas.openxmlformats.org/drawingml/2006/main" xmlns:r="http://schemas.openxmlformats.org/officeDocument/2006/relationships" xmlns:p="http://schemas.openxmlformats.org/presentationml/2006/main">
  <p:tag name="TIMING" val="|103.7|38.5|25.7|36.5|9.5"/>
</p:tagLst>
</file>

<file path=ppt/tags/tag50.xml><?xml version="1.0" encoding="utf-8"?>
<p:tagLst xmlns:a="http://schemas.openxmlformats.org/drawingml/2006/main" xmlns:r="http://schemas.openxmlformats.org/officeDocument/2006/relationships" xmlns:p="http://schemas.openxmlformats.org/presentationml/2006/main">
  <p:tag name="TIMING" val="|18.1|18.2|7.7|6.9"/>
</p:tagLst>
</file>

<file path=ppt/tags/tag51.xml><?xml version="1.0" encoding="utf-8"?>
<p:tagLst xmlns:a="http://schemas.openxmlformats.org/drawingml/2006/main" xmlns:r="http://schemas.openxmlformats.org/officeDocument/2006/relationships" xmlns:p="http://schemas.openxmlformats.org/presentationml/2006/main">
  <p:tag name="TIMING" val="|34.3|3.2|30.9"/>
</p:tagLst>
</file>

<file path=ppt/tags/tag52.xml><?xml version="1.0" encoding="utf-8"?>
<p:tagLst xmlns:a="http://schemas.openxmlformats.org/drawingml/2006/main" xmlns:r="http://schemas.openxmlformats.org/officeDocument/2006/relationships" xmlns:p="http://schemas.openxmlformats.org/presentationml/2006/main">
  <p:tag name="TIMING" val="|17.5|33.9"/>
</p:tagLst>
</file>

<file path=ppt/tags/tag53.xml><?xml version="1.0" encoding="utf-8"?>
<p:tagLst xmlns:a="http://schemas.openxmlformats.org/drawingml/2006/main" xmlns:r="http://schemas.openxmlformats.org/officeDocument/2006/relationships" xmlns:p="http://schemas.openxmlformats.org/presentationml/2006/main">
  <p:tag name="TIMING" val="|62|9.3|7.5|14.5"/>
</p:tagLst>
</file>

<file path=ppt/tags/tag54.xml><?xml version="1.0" encoding="utf-8"?>
<p:tagLst xmlns:a="http://schemas.openxmlformats.org/drawingml/2006/main" xmlns:r="http://schemas.openxmlformats.org/officeDocument/2006/relationships" xmlns:p="http://schemas.openxmlformats.org/presentationml/2006/main">
  <p:tag name="TIMING" val="|36.9|7.3|8.5"/>
</p:tagLst>
</file>

<file path=ppt/tags/tag55.xml><?xml version="1.0" encoding="utf-8"?>
<p:tagLst xmlns:a="http://schemas.openxmlformats.org/drawingml/2006/main" xmlns:r="http://schemas.openxmlformats.org/officeDocument/2006/relationships" xmlns:p="http://schemas.openxmlformats.org/presentationml/2006/main">
  <p:tag name="TIMING" val="|12.6|7.8"/>
</p:tagLst>
</file>

<file path=ppt/tags/tag56.xml><?xml version="1.0" encoding="utf-8"?>
<p:tagLst xmlns:a="http://schemas.openxmlformats.org/drawingml/2006/main" xmlns:r="http://schemas.openxmlformats.org/officeDocument/2006/relationships" xmlns:p="http://schemas.openxmlformats.org/presentationml/2006/main">
  <p:tag name="TIMING" val="|14|13.8"/>
</p:tagLst>
</file>

<file path=ppt/tags/tag57.xml><?xml version="1.0" encoding="utf-8"?>
<p:tagLst xmlns:a="http://schemas.openxmlformats.org/drawingml/2006/main" xmlns:r="http://schemas.openxmlformats.org/officeDocument/2006/relationships" xmlns:p="http://schemas.openxmlformats.org/presentationml/2006/main">
  <p:tag name="TIMING" val="|18.4|1|6.4|0.9"/>
</p:tagLst>
</file>

<file path=ppt/tags/tag58.xml><?xml version="1.0" encoding="utf-8"?>
<p:tagLst xmlns:a="http://schemas.openxmlformats.org/drawingml/2006/main" xmlns:r="http://schemas.openxmlformats.org/officeDocument/2006/relationships" xmlns:p="http://schemas.openxmlformats.org/presentationml/2006/main">
  <p:tag name="TIMING" val="|0.1|50|2.3"/>
</p:tagLst>
</file>

<file path=ppt/tags/tag59.xml><?xml version="1.0" encoding="utf-8"?>
<p:tagLst xmlns:a="http://schemas.openxmlformats.org/drawingml/2006/main" xmlns:r="http://schemas.openxmlformats.org/officeDocument/2006/relationships" xmlns:p="http://schemas.openxmlformats.org/presentationml/2006/main">
  <p:tag name="TIMING" val="|103.7|38.5|25.7|36.5|9.5"/>
</p:tagLst>
</file>

<file path=ppt/tags/tag60.xml><?xml version="1.0" encoding="utf-8"?>
<p:tagLst xmlns:a="http://schemas.openxmlformats.org/drawingml/2006/main" xmlns:r="http://schemas.openxmlformats.org/officeDocument/2006/relationships" xmlns:p="http://schemas.openxmlformats.org/presentationml/2006/main">
  <p:tag name="TIMING" val="|62|9.3|7.5|14.5"/>
</p:tagLst>
</file>

<file path=ppt/tags/tag61.xml><?xml version="1.0" encoding="utf-8"?>
<p:tagLst xmlns:a="http://schemas.openxmlformats.org/drawingml/2006/main" xmlns:r="http://schemas.openxmlformats.org/officeDocument/2006/relationships" xmlns:p="http://schemas.openxmlformats.org/presentationml/2006/main">
  <p:tag name="TIMING" val="|11.9|29.8"/>
</p:tagLst>
</file>

<file path=ppt/tags/tag62.xml><?xml version="1.0" encoding="utf-8"?>
<p:tagLst xmlns:a="http://schemas.openxmlformats.org/drawingml/2006/main" xmlns:r="http://schemas.openxmlformats.org/officeDocument/2006/relationships" xmlns:p="http://schemas.openxmlformats.org/presentationml/2006/main">
  <p:tag name="TIMING" val="|6.7|33.2"/>
</p:tagLst>
</file>

<file path=ppt/tags/tag63.xml><?xml version="1.0" encoding="utf-8"?>
<p:tagLst xmlns:a="http://schemas.openxmlformats.org/drawingml/2006/main" xmlns:r="http://schemas.openxmlformats.org/officeDocument/2006/relationships" xmlns:p="http://schemas.openxmlformats.org/presentationml/2006/main">
  <p:tag name="TIMING" val="|9.3"/>
</p:tagLst>
</file>

<file path=ppt/tags/tag64.xml><?xml version="1.0" encoding="utf-8"?>
<p:tagLst xmlns:a="http://schemas.openxmlformats.org/drawingml/2006/main" xmlns:r="http://schemas.openxmlformats.org/officeDocument/2006/relationships" xmlns:p="http://schemas.openxmlformats.org/presentationml/2006/main">
  <p:tag name="TIMING" val="|24.9|13.2|13.2|29.6"/>
</p:tagLst>
</file>

<file path=ppt/tags/tag65.xml><?xml version="1.0" encoding="utf-8"?>
<p:tagLst xmlns:a="http://schemas.openxmlformats.org/drawingml/2006/main" xmlns:r="http://schemas.openxmlformats.org/officeDocument/2006/relationships" xmlns:p="http://schemas.openxmlformats.org/presentationml/2006/main">
  <p:tag name="TIMING" val="|21.5"/>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triangle" w="sm" len="sm"/>
        </a:ln>
      </a:spPr>
      <a:bodyPr vert="horz" wrap="square" lIns="91440" tIns="45720" rIns="91440" bIns="45720" numCol="1" anchor="t" anchorCtr="0" compatLnSpc="1">
        <a:spAutoFit/>
      </a:bodyPr>
      <a:lstStyle>
        <a:def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defRPr kumimoji="0" lang="en-US"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triangle" w="sm" len="sm"/>
        </a:ln>
      </a:spPr>
      <a:bodyPr vert="horz" wrap="square" lIns="91440" tIns="45720" rIns="91440" bIns="45720" numCol="1" anchor="t" anchorCtr="0" compatLnSpc="1">
        <a:spAutoFit/>
      </a:bodyPr>
      <a:lstStyle>
        <a:def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defRPr kumimoji="0" lang="en-US"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21</TotalTime>
  <Words>10548</Words>
  <Application>Microsoft Office PowerPoint</Application>
  <PresentationFormat>全屏显示(4:3)</PresentationFormat>
  <Paragraphs>1026</Paragraphs>
  <Slides>92</Slides>
  <Notes>69</Notes>
  <HiddenSlides>0</HiddenSlides>
  <MMClips>4</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92</vt:i4>
      </vt:variant>
    </vt:vector>
  </HeadingPairs>
  <TitlesOfParts>
    <vt:vector size="112" baseType="lpstr">
      <vt:lpstr>MS Mincho</vt:lpstr>
      <vt:lpstr>SimSun-ExtB</vt:lpstr>
      <vt:lpstr>黑体</vt:lpstr>
      <vt:lpstr>华文新魏</vt:lpstr>
      <vt:lpstr>楷体_GB2312</vt:lpstr>
      <vt:lpstr>隶书</vt:lpstr>
      <vt:lpstr>宋体</vt:lpstr>
      <vt:lpstr>Arial</vt:lpstr>
      <vt:lpstr>Calibri</vt:lpstr>
      <vt:lpstr>Cambria Math</vt:lpstr>
      <vt:lpstr>Times</vt:lpstr>
      <vt:lpstr>Times New Roman</vt:lpstr>
      <vt:lpstr>Verdana</vt:lpstr>
      <vt:lpstr>Wingdings</vt:lpstr>
      <vt:lpstr>Profile</vt:lpstr>
      <vt:lpstr>剪辑</vt:lpstr>
      <vt:lpstr>Bitmap Image</vt:lpstr>
      <vt:lpstr>Visio</vt:lpstr>
      <vt:lpstr>图片</vt:lpstr>
      <vt:lpstr>Picture</vt:lpstr>
      <vt:lpstr>PowerPoint 演示文稿</vt:lpstr>
      <vt:lpstr>PowerPoint 演示文稿</vt:lpstr>
      <vt:lpstr>PowerPoint 演示文稿</vt:lpstr>
      <vt:lpstr>PowerPoint 演示文稿</vt:lpstr>
      <vt:lpstr>PowerPoint 演示文稿</vt:lpstr>
      <vt:lpstr>PowerPoint 演示文稿</vt:lpstr>
      <vt:lpstr>信号与系统问题无处不在—通信</vt:lpstr>
      <vt:lpstr>信息科学已渗透到所有现代自然科学和社会科学领域</vt:lpstr>
      <vt:lpstr>要解决的问题</vt:lpstr>
      <vt:lpstr>要解决的问题</vt:lpstr>
      <vt:lpstr>要解决的问题</vt:lpstr>
      <vt:lpstr>能解决的问题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 引言</vt:lpstr>
      <vt:lpstr>PowerPoint 演示文稿</vt:lpstr>
      <vt:lpstr>PowerPoint 演示文稿</vt:lpstr>
      <vt:lpstr>PowerPoint 演示文稿</vt:lpstr>
      <vt:lpstr>PowerPoint 演示文稿</vt:lpstr>
      <vt:lpstr>PowerPoint 演示文稿</vt:lpstr>
      <vt:lpstr>信号的数学描述——表达式</vt:lpstr>
      <vt:lpstr>对阻尼振荡的数学描述</vt:lpstr>
      <vt:lpstr>一段鸟鸣的声音的时域波形</vt:lpstr>
      <vt:lpstr>PowerPoint 演示文稿</vt:lpstr>
      <vt:lpstr>确定信号和随机信号</vt:lpstr>
      <vt:lpstr>连续时间信号与离散时间信号</vt:lpstr>
      <vt:lpstr>连续时间信号与离散时间信号</vt:lpstr>
      <vt:lpstr>周期性信号与非周期性信号</vt:lpstr>
      <vt:lpstr>周期性信号与非周期性信号</vt:lpstr>
      <vt:lpstr>能量（有限）信号与功率（有限）信号</vt:lpstr>
      <vt:lpstr>能量（有限）信号与功率（有限）信号</vt:lpstr>
      <vt:lpstr>能量（有限）信号与功率（有限）信号</vt:lpstr>
      <vt:lpstr>PowerPoint 演示文稿</vt:lpstr>
      <vt:lpstr>信号的特性**</vt:lpstr>
      <vt:lpstr>PowerPoint 演示文稿</vt:lpstr>
      <vt:lpstr>PowerPoint 演示文稿</vt:lpstr>
      <vt:lpstr>信号运算</vt:lpstr>
      <vt:lpstr>PowerPoint 演示文稿</vt:lpstr>
      <vt:lpstr>PowerPoint 演示文稿</vt:lpstr>
      <vt:lpstr>回顾</vt:lpstr>
      <vt:lpstr>PowerPoint 演示文稿</vt:lpstr>
      <vt:lpstr>PowerPoint 演示文稿</vt:lpstr>
      <vt:lpstr>PowerPoint 演示文稿</vt:lpstr>
      <vt:lpstr>PowerPoint 演示文稿</vt:lpstr>
      <vt:lpstr>PowerPoint 演示文稿</vt:lpstr>
      <vt:lpstr>线性系统和非线性系统</vt:lpstr>
      <vt:lpstr>线性系统和非线性系统</vt:lpstr>
      <vt:lpstr>线性系统和非线性系统</vt:lpstr>
      <vt:lpstr>线性系统和非线性系统</vt:lpstr>
      <vt:lpstr>线性系统和非线性系统</vt:lpstr>
      <vt:lpstr>线性系统和非线性系统</vt:lpstr>
      <vt:lpstr>线性系统和非线性系统</vt:lpstr>
      <vt:lpstr>线性系统和非线性系统</vt:lpstr>
      <vt:lpstr>线性系统和非线性系统</vt:lpstr>
      <vt:lpstr>PowerPoint 演示文稿</vt:lpstr>
      <vt:lpstr>时不变系统与时变系统</vt:lpstr>
      <vt:lpstr>时变系统和时不变系统</vt:lpstr>
      <vt:lpstr>时变系统和时不变系统</vt:lpstr>
      <vt:lpstr>PowerPoint 演示文稿</vt:lpstr>
      <vt:lpstr>时变系统和时不变系统</vt:lpstr>
      <vt:lpstr>连续时间系统与离散时间系统</vt:lpstr>
      <vt:lpstr>因果系统和非因果系统</vt:lpstr>
      <vt:lpstr>因果系统和非因果系统</vt:lpstr>
      <vt:lpstr>因果系统和非因果系统</vt:lpstr>
      <vt:lpstr>因果系统和非因果系统</vt:lpstr>
      <vt:lpstr>PowerPoint 演示文稿</vt:lpstr>
      <vt:lpstr>PowerPoint 演示文稿</vt:lpstr>
      <vt:lpstr>PowerPoint 演示文稿</vt:lpstr>
      <vt:lpstr>回顾  时不变系统与时变系统</vt:lpstr>
      <vt:lpstr>回顾  连续时间系统与离散时间系统</vt:lpstr>
      <vt:lpstr>回顾   因果系统和非因果系统</vt:lpstr>
      <vt:lpstr>分析步骤：</vt:lpstr>
      <vt:lpstr>实际问题中：</vt:lpstr>
      <vt:lpstr>PowerPoint 演示文稿</vt:lpstr>
      <vt:lpstr>PowerPoint 演示文稿</vt:lpstr>
      <vt:lpstr>机械系统                与            电系统对应的特性</vt:lpstr>
      <vt:lpstr>热系统                与                 电系统对应的特性</vt:lpstr>
      <vt:lpstr>人口预测</vt:lpstr>
      <vt:lpstr>PowerPoint 演示文稿</vt:lpstr>
      <vt:lpstr>结束</vt:lpstr>
    </vt:vector>
  </TitlesOfParts>
  <Company>syict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翟正军</dc:creator>
  <cp:lastModifiedBy>Zhengjun</cp:lastModifiedBy>
  <cp:revision>359</cp:revision>
  <dcterms:created xsi:type="dcterms:W3CDTF">2000-06-04T02:32:00Z</dcterms:created>
  <dcterms:modified xsi:type="dcterms:W3CDTF">2026-03-04T05:14:01Z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CCEE8C9C34EE4F9596BDF46194688869_13</vt:lpwstr>
  </property>
</Properties>
</file>