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136"/>
  </p:handoutMasterIdLst>
  <p:sldIdLst>
    <p:sldId id="521" r:id="rId3"/>
    <p:sldId id="522" r:id="rId4"/>
    <p:sldId id="523" r:id="rId5"/>
    <p:sldId id="524" r:id="rId6"/>
    <p:sldId id="525" r:id="rId7"/>
    <p:sldId id="526" r:id="rId8"/>
    <p:sldId id="527" r:id="rId9"/>
    <p:sldId id="528" r:id="rId10"/>
    <p:sldId id="529" r:id="rId11"/>
    <p:sldId id="530" r:id="rId12"/>
    <p:sldId id="531" r:id="rId13"/>
    <p:sldId id="1473" r:id="rId14"/>
    <p:sldId id="1474" r:id="rId15"/>
    <p:sldId id="1475" r:id="rId16"/>
    <p:sldId id="532" r:id="rId17"/>
    <p:sldId id="533" r:id="rId18"/>
    <p:sldId id="534" r:id="rId19"/>
    <p:sldId id="535" r:id="rId20"/>
    <p:sldId id="536" r:id="rId21"/>
    <p:sldId id="1483" r:id="rId22"/>
    <p:sldId id="1453" r:id="rId23"/>
    <p:sldId id="539" r:id="rId25"/>
    <p:sldId id="540" r:id="rId26"/>
    <p:sldId id="541" r:id="rId27"/>
    <p:sldId id="542" r:id="rId28"/>
    <p:sldId id="1454" r:id="rId29"/>
    <p:sldId id="544" r:id="rId30"/>
    <p:sldId id="1455" r:id="rId31"/>
    <p:sldId id="546" r:id="rId32"/>
    <p:sldId id="1458" r:id="rId33"/>
    <p:sldId id="1459" r:id="rId34"/>
    <p:sldId id="1460" r:id="rId35"/>
    <p:sldId id="1461" r:id="rId36"/>
    <p:sldId id="1462" r:id="rId37"/>
    <p:sldId id="1463" r:id="rId38"/>
    <p:sldId id="1452" r:id="rId39"/>
    <p:sldId id="549" r:id="rId40"/>
    <p:sldId id="550" r:id="rId41"/>
    <p:sldId id="551" r:id="rId42"/>
    <p:sldId id="552" r:id="rId43"/>
    <p:sldId id="692" r:id="rId44"/>
    <p:sldId id="553" r:id="rId45"/>
    <p:sldId id="554" r:id="rId46"/>
    <p:sldId id="555" r:id="rId47"/>
    <p:sldId id="556" r:id="rId48"/>
    <p:sldId id="1464" r:id="rId49"/>
    <p:sldId id="558" r:id="rId50"/>
    <p:sldId id="559" r:id="rId51"/>
    <p:sldId id="560" r:id="rId52"/>
    <p:sldId id="561" r:id="rId53"/>
    <p:sldId id="1476" r:id="rId54"/>
    <p:sldId id="1477" r:id="rId55"/>
    <p:sldId id="1482" r:id="rId56"/>
    <p:sldId id="1478" r:id="rId57"/>
    <p:sldId id="572" r:id="rId58"/>
    <p:sldId id="573" r:id="rId59"/>
    <p:sldId id="574" r:id="rId60"/>
    <p:sldId id="575" r:id="rId61"/>
    <p:sldId id="576" r:id="rId62"/>
    <p:sldId id="577" r:id="rId63"/>
    <p:sldId id="578" r:id="rId64"/>
    <p:sldId id="579" r:id="rId65"/>
    <p:sldId id="580" r:id="rId66"/>
    <p:sldId id="581" r:id="rId67"/>
    <p:sldId id="1479" r:id="rId68"/>
    <p:sldId id="1480" r:id="rId69"/>
    <p:sldId id="590" r:id="rId70"/>
    <p:sldId id="591" r:id="rId71"/>
    <p:sldId id="592" r:id="rId72"/>
    <p:sldId id="593" r:id="rId73"/>
    <p:sldId id="594" r:id="rId74"/>
    <p:sldId id="595" r:id="rId75"/>
    <p:sldId id="596" r:id="rId76"/>
    <p:sldId id="597" r:id="rId77"/>
    <p:sldId id="598" r:id="rId78"/>
    <p:sldId id="693" r:id="rId79"/>
    <p:sldId id="599" r:id="rId80"/>
    <p:sldId id="600" r:id="rId81"/>
    <p:sldId id="601" r:id="rId82"/>
    <p:sldId id="602" r:id="rId83"/>
    <p:sldId id="666" r:id="rId84"/>
    <p:sldId id="667" r:id="rId85"/>
    <p:sldId id="1469" r:id="rId86"/>
    <p:sldId id="1471" r:id="rId87"/>
    <p:sldId id="1472" r:id="rId88"/>
    <p:sldId id="582" r:id="rId89"/>
    <p:sldId id="583" r:id="rId90"/>
    <p:sldId id="584" r:id="rId91"/>
    <p:sldId id="585" r:id="rId92"/>
    <p:sldId id="586" r:id="rId93"/>
    <p:sldId id="685" r:id="rId94"/>
    <p:sldId id="686" r:id="rId95"/>
    <p:sldId id="588" r:id="rId96"/>
    <p:sldId id="589" r:id="rId97"/>
    <p:sldId id="1436" r:id="rId98"/>
    <p:sldId id="1437" r:id="rId99"/>
    <p:sldId id="608" r:id="rId100"/>
    <p:sldId id="609" r:id="rId101"/>
    <p:sldId id="610" r:id="rId102"/>
    <p:sldId id="611" r:id="rId103"/>
    <p:sldId id="1484" r:id="rId104"/>
    <p:sldId id="613" r:id="rId105"/>
    <p:sldId id="614" r:id="rId106"/>
    <p:sldId id="643" r:id="rId107"/>
    <p:sldId id="616" r:id="rId108"/>
    <p:sldId id="617" r:id="rId109"/>
    <p:sldId id="1481" r:id="rId110"/>
    <p:sldId id="618" r:id="rId111"/>
    <p:sldId id="619" r:id="rId112"/>
    <p:sldId id="620" r:id="rId113"/>
    <p:sldId id="621" r:id="rId114"/>
    <p:sldId id="622" r:id="rId115"/>
    <p:sldId id="623" r:id="rId116"/>
    <p:sldId id="624" r:id="rId117"/>
    <p:sldId id="625" r:id="rId118"/>
    <p:sldId id="626" r:id="rId119"/>
    <p:sldId id="628" r:id="rId120"/>
    <p:sldId id="629" r:id="rId121"/>
    <p:sldId id="630" r:id="rId122"/>
    <p:sldId id="631" r:id="rId123"/>
    <p:sldId id="632" r:id="rId124"/>
    <p:sldId id="633" r:id="rId125"/>
    <p:sldId id="634" r:id="rId126"/>
    <p:sldId id="635" r:id="rId127"/>
    <p:sldId id="694" r:id="rId128"/>
    <p:sldId id="636" r:id="rId129"/>
    <p:sldId id="637" r:id="rId130"/>
    <p:sldId id="638" r:id="rId131"/>
    <p:sldId id="639" r:id="rId132"/>
    <p:sldId id="640" r:id="rId133"/>
    <p:sldId id="641" r:id="rId134"/>
    <p:sldId id="696" r:id="rId135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A68B7E8-48CD-4B2A-B5B6-5D831701D561}">
          <p14:sldIdLst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1473"/>
            <p14:sldId id="1474"/>
            <p14:sldId id="1475"/>
            <p14:sldId id="532"/>
            <p14:sldId id="533"/>
            <p14:sldId id="534"/>
            <p14:sldId id="535"/>
            <p14:sldId id="536"/>
            <p14:sldId id="1483"/>
            <p14:sldId id="1453"/>
            <p14:sldId id="539"/>
            <p14:sldId id="540"/>
            <p14:sldId id="541"/>
            <p14:sldId id="542"/>
            <p14:sldId id="1454"/>
            <p14:sldId id="544"/>
            <p14:sldId id="1455"/>
            <p14:sldId id="546"/>
            <p14:sldId id="1458"/>
            <p14:sldId id="1459"/>
            <p14:sldId id="1460"/>
            <p14:sldId id="1461"/>
            <p14:sldId id="1462"/>
            <p14:sldId id="1463"/>
            <p14:sldId id="1452"/>
            <p14:sldId id="549"/>
            <p14:sldId id="550"/>
            <p14:sldId id="551"/>
            <p14:sldId id="552"/>
            <p14:sldId id="692"/>
            <p14:sldId id="553"/>
            <p14:sldId id="554"/>
            <p14:sldId id="555"/>
            <p14:sldId id="556"/>
            <p14:sldId id="1464"/>
            <p14:sldId id="558"/>
            <p14:sldId id="559"/>
            <p14:sldId id="560"/>
            <p14:sldId id="561"/>
            <p14:sldId id="1476"/>
            <p14:sldId id="1477"/>
            <p14:sldId id="1482"/>
            <p14:sldId id="1478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1479"/>
            <p14:sldId id="1480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693"/>
            <p14:sldId id="599"/>
            <p14:sldId id="600"/>
            <p14:sldId id="601"/>
            <p14:sldId id="602"/>
            <p14:sldId id="666"/>
            <p14:sldId id="667"/>
            <p14:sldId id="1469"/>
            <p14:sldId id="1471"/>
            <p14:sldId id="1472"/>
            <p14:sldId id="582"/>
            <p14:sldId id="583"/>
            <p14:sldId id="584"/>
            <p14:sldId id="585"/>
            <p14:sldId id="586"/>
            <p14:sldId id="685"/>
            <p14:sldId id="686"/>
            <p14:sldId id="588"/>
            <p14:sldId id="589"/>
            <p14:sldId id="1436"/>
            <p14:sldId id="1437"/>
            <p14:sldId id="608"/>
            <p14:sldId id="609"/>
            <p14:sldId id="610"/>
            <p14:sldId id="611"/>
            <p14:sldId id="1484"/>
            <p14:sldId id="613"/>
            <p14:sldId id="614"/>
            <p14:sldId id="643"/>
            <p14:sldId id="616"/>
            <p14:sldId id="617"/>
            <p14:sldId id="1481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94"/>
            <p14:sldId id="636"/>
            <p14:sldId id="637"/>
            <p14:sldId id="638"/>
            <p14:sldId id="639"/>
            <p14:sldId id="640"/>
            <p14:sldId id="641"/>
            <p14:sldId id="696"/>
          </p14:sldIdLst>
        </p14:section>
        <p14:section name="无标题节" id="{51DE209B-75A9-44FF-A6ED-B45DEAE56B2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946" userDrawn="1">
          <p15:clr>
            <a:srgbClr val="A4A3A4"/>
          </p15:clr>
        </p15:guide>
        <p15:guide id="2" pos="22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33CC33"/>
    <a:srgbClr val="009999"/>
    <a:srgbClr val="A50021"/>
    <a:srgbClr val="CC0066"/>
    <a:srgbClr val="CCFF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2" autoAdjust="0"/>
    <p:restoredTop sz="90909" autoAdjust="0"/>
  </p:normalViewPr>
  <p:slideViewPr>
    <p:cSldViewPr snapToGrid="0" showGuides="1">
      <p:cViewPr varScale="1">
        <p:scale>
          <a:sx n="72" d="100"/>
          <a:sy n="72" d="100"/>
        </p:scale>
        <p:origin x="324" y="0"/>
      </p:cViewPr>
      <p:guideLst>
        <p:guide orient="horz" pos="2946"/>
        <p:guide pos="2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242"/>
    </p:cViewPr>
  </p:sorterViewPr>
  <p:notesViewPr>
    <p:cSldViewPr snapToGrid="0">
      <p:cViewPr varScale="1">
        <p:scale>
          <a:sx n="73" d="100"/>
          <a:sy n="73" d="100"/>
        </p:scale>
        <p:origin x="-2742" y="-90"/>
      </p:cViewPr>
      <p:guideLst>
        <p:guide orient="horz" pos="2307"/>
        <p:guide pos="2857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9" Type="http://schemas.openxmlformats.org/officeDocument/2006/relationships/tableStyles" Target="tableStyles.xml"/><Relationship Id="rId138" Type="http://schemas.openxmlformats.org/officeDocument/2006/relationships/viewProps" Target="viewProps.xml"/><Relationship Id="rId137" Type="http://schemas.openxmlformats.org/officeDocument/2006/relationships/presProps" Target="presProps.xml"/><Relationship Id="rId136" Type="http://schemas.openxmlformats.org/officeDocument/2006/relationships/handoutMaster" Target="handoutMasters/handoutMaster1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1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10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image" Target="../media/image19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image" Target="../media/image29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32.png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.emf"/><Relationship Id="rId8" Type="http://schemas.openxmlformats.org/officeDocument/2006/relationships/image" Target="../media/image63.wmf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1" Type="http://schemas.openxmlformats.org/officeDocument/2006/relationships/image" Target="../media/image66.wmf"/><Relationship Id="rId10" Type="http://schemas.openxmlformats.org/officeDocument/2006/relationships/image" Target="../media/image65.wmf"/><Relationship Id="rId1" Type="http://schemas.openxmlformats.org/officeDocument/2006/relationships/image" Target="../media/image5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image" Target="../media/image6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png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94.emf"/><Relationship Id="rId5" Type="http://schemas.openxmlformats.org/officeDocument/2006/relationships/image" Target="../media/image93.emf"/><Relationship Id="rId4" Type="http://schemas.openxmlformats.org/officeDocument/2006/relationships/image" Target="../media/image92.emf"/><Relationship Id="rId3" Type="http://schemas.openxmlformats.org/officeDocument/2006/relationships/image" Target="../media/image91.emf"/><Relationship Id="rId2" Type="http://schemas.openxmlformats.org/officeDocument/2006/relationships/image" Target="../media/image90.png"/><Relationship Id="rId1" Type="http://schemas.openxmlformats.org/officeDocument/2006/relationships/image" Target="../media/image8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png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8.png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e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6.wmf"/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52.png"/><Relationship Id="rId1" Type="http://schemas.openxmlformats.org/officeDocument/2006/relationships/image" Target="../media/image48.png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wmf"/><Relationship Id="rId8" Type="http://schemas.openxmlformats.org/officeDocument/2006/relationships/image" Target="../media/image66.wmf"/><Relationship Id="rId7" Type="http://schemas.openxmlformats.org/officeDocument/2006/relationships/image" Target="../media/image65.wmf"/><Relationship Id="rId6" Type="http://schemas.openxmlformats.org/officeDocument/2006/relationships/image" Target="../media/image63.wmf"/><Relationship Id="rId5" Type="http://schemas.openxmlformats.org/officeDocument/2006/relationships/image" Target="../media/image59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60.png"/><Relationship Id="rId1" Type="http://schemas.openxmlformats.org/officeDocument/2006/relationships/image" Target="../media/image56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image" Target="../media/image137.emf"/><Relationship Id="rId7" Type="http://schemas.openxmlformats.org/officeDocument/2006/relationships/image" Target="../media/image136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132.emf"/><Relationship Id="rId2" Type="http://schemas.openxmlformats.org/officeDocument/2006/relationships/image" Target="../media/image79.png"/><Relationship Id="rId10" Type="http://schemas.openxmlformats.org/officeDocument/2006/relationships/image" Target="../media/image139.wmf"/><Relationship Id="rId1" Type="http://schemas.openxmlformats.org/officeDocument/2006/relationships/image" Target="../media/image131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8.png"/><Relationship Id="rId6" Type="http://schemas.openxmlformats.org/officeDocument/2006/relationships/image" Target="../media/image107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Relationship Id="rId3" Type="http://schemas.openxmlformats.org/officeDocument/2006/relationships/image" Target="../media/image143.emf"/><Relationship Id="rId2" Type="http://schemas.openxmlformats.org/officeDocument/2006/relationships/image" Target="../media/image142.emf"/><Relationship Id="rId1" Type="http://schemas.openxmlformats.org/officeDocument/2006/relationships/image" Target="../media/image14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5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png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3.wmf"/><Relationship Id="rId8" Type="http://schemas.openxmlformats.org/officeDocument/2006/relationships/image" Target="../media/image182.wmf"/><Relationship Id="rId7" Type="http://schemas.openxmlformats.org/officeDocument/2006/relationships/image" Target="../media/image181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9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0.png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1.png"/><Relationship Id="rId8" Type="http://schemas.openxmlformats.org/officeDocument/2006/relationships/image" Target="../media/image340.png"/><Relationship Id="rId7" Type="http://schemas.openxmlformats.org/officeDocument/2006/relationships/image" Target="../media/image339.png"/><Relationship Id="rId6" Type="http://schemas.openxmlformats.org/officeDocument/2006/relationships/image" Target="../media/image338.wmf"/><Relationship Id="rId5" Type="http://schemas.openxmlformats.org/officeDocument/2006/relationships/image" Target="../media/image336.png"/><Relationship Id="rId4" Type="http://schemas.openxmlformats.org/officeDocument/2006/relationships/image" Target="../media/image335.png"/><Relationship Id="rId3" Type="http://schemas.openxmlformats.org/officeDocument/2006/relationships/image" Target="../media/image334.png"/><Relationship Id="rId2" Type="http://schemas.openxmlformats.org/officeDocument/2006/relationships/image" Target="../media/image333.png"/><Relationship Id="rId13" Type="http://schemas.openxmlformats.org/officeDocument/2006/relationships/image" Target="../media/image345.png"/><Relationship Id="rId12" Type="http://schemas.openxmlformats.org/officeDocument/2006/relationships/image" Target="../media/image344.png"/><Relationship Id="rId11" Type="http://schemas.openxmlformats.org/officeDocument/2006/relationships/image" Target="../media/image343.png"/><Relationship Id="rId10" Type="http://schemas.openxmlformats.org/officeDocument/2006/relationships/image" Target="../media/image342.png"/><Relationship Id="rId1" Type="http://schemas.openxmlformats.org/officeDocument/2006/relationships/image" Target="../media/image332.png"/></Relationships>
</file>

<file path=ppt/drawings/_rels/vmlDrawing2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8.wmf"/><Relationship Id="rId3" Type="http://schemas.openxmlformats.org/officeDocument/2006/relationships/image" Target="../media/image362.png"/><Relationship Id="rId2" Type="http://schemas.openxmlformats.org/officeDocument/2006/relationships/image" Target="../media/image333.png"/><Relationship Id="rId1" Type="http://schemas.openxmlformats.org/officeDocument/2006/relationships/image" Target="../media/image336.png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3.png"/><Relationship Id="rId1" Type="http://schemas.openxmlformats.org/officeDocument/2006/relationships/image" Target="../media/image33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计算机控制技术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625E9FE-A0DD-4F38-BC13-1989FD2C6853}" type="datetimeFigureOut">
              <a:rPr lang="en-US" altLang="zh-CN"/>
            </a:fld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507BDD4F-86BC-4FE9-BF1B-9C8B01A27BF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计算机控制技术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1F54205-653C-497F-AEAA-B2DDCF4AE973}" type="datetimeFigureOut">
              <a:rPr lang="en-US" altLang="zh-CN"/>
            </a:fld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7AE78C0-E1A4-49CE-AAD6-25DB8438AF6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计算机控制技术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479701-95CC-4697-9219-440ACEF00F4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4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055812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50FB8FED-71F8-484C-B415-5DAA019B68C5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/132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15"/>
          <p:cNvSpPr>
            <a:spLocks noChangeArrowheads="1"/>
          </p:cNvSpPr>
          <p:nvPr userDrawn="1"/>
        </p:nvSpPr>
        <p:spPr bwMode="auto">
          <a:xfrm>
            <a:off x="368300" y="1044575"/>
            <a:ext cx="8359775" cy="458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9" name="矩形 16"/>
          <p:cNvSpPr>
            <a:spLocks noChangeArrowheads="1"/>
          </p:cNvSpPr>
          <p:nvPr userDrawn="1"/>
        </p:nvSpPr>
        <p:spPr bwMode="auto">
          <a:xfrm>
            <a:off x="368300" y="1044575"/>
            <a:ext cx="8359775" cy="458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10" name="Rectangle 24"/>
          <p:cNvSpPr>
            <a:spLocks noChangeArrowheads="1"/>
          </p:cNvSpPr>
          <p:nvPr userDrawn="1"/>
        </p:nvSpPr>
        <p:spPr bwMode="auto">
          <a:xfrm>
            <a:off x="0" y="11113"/>
            <a:ext cx="384175" cy="683577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信号与系统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第七      章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散时间系统的时域分析</a:t>
            </a:r>
            <a:endParaRPr lang="zh-CN" altLang="en-US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581458"/>
            <a:ext cx="1139825" cy="3190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186A1-54CE-4CD0-BB16-8C8AEE2FC90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4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055812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0BA80B60-7622-4D9D-8C96-108B810A3C0E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/132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Rectangle 24"/>
          <p:cNvSpPr>
            <a:spLocks noChangeArrowheads="1"/>
          </p:cNvSpPr>
          <p:nvPr userDrawn="1"/>
        </p:nvSpPr>
        <p:spPr bwMode="auto">
          <a:xfrm>
            <a:off x="0" y="26988"/>
            <a:ext cx="354013" cy="683577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信号与系统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第七      章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离散时间系统的时域分析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0" name="矩形 16"/>
          <p:cNvSpPr>
            <a:spLocks noChangeArrowheads="1"/>
          </p:cNvSpPr>
          <p:nvPr userDrawn="1"/>
        </p:nvSpPr>
        <p:spPr bwMode="auto">
          <a:xfrm>
            <a:off x="368300" y="1044575"/>
            <a:ext cx="8359775" cy="458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484313"/>
            <a:ext cx="3924300" cy="4267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7888" y="1484313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-76200" y="6653213"/>
            <a:ext cx="1370013" cy="382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AC71E-8A63-4C4D-B7F4-87A7C651A1AB}" type="datetime1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77793" y="1261641"/>
            <a:ext cx="8507392" cy="471089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D9FBA-379C-447D-A70A-7864FCE1546D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4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055812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A9550B28-A1A6-478E-9461-E5BF907B2864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/132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24"/>
          <p:cNvSpPr>
            <a:spLocks noChangeArrowheads="1"/>
          </p:cNvSpPr>
          <p:nvPr userDrawn="1"/>
        </p:nvSpPr>
        <p:spPr bwMode="auto">
          <a:xfrm>
            <a:off x="0" y="46038"/>
            <a:ext cx="363538" cy="683577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信号与系统</a:t>
            </a:r>
            <a:endParaRPr lang="zh-CN" altLang="en-US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第七       章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散时间系统的时域分析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7" name="矩形 16"/>
          <p:cNvSpPr>
            <a:spLocks noChangeArrowheads="1"/>
          </p:cNvSpPr>
          <p:nvPr userDrawn="1"/>
        </p:nvSpPr>
        <p:spPr bwMode="auto">
          <a:xfrm>
            <a:off x="368300" y="1044575"/>
            <a:ext cx="8359775" cy="458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8" name="矩形 17"/>
          <p:cNvSpPr>
            <a:spLocks noChangeArrowheads="1"/>
          </p:cNvSpPr>
          <p:nvPr userDrawn="1"/>
        </p:nvSpPr>
        <p:spPr bwMode="auto">
          <a:xfrm>
            <a:off x="3857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99D8B-486F-4589-A4A8-A35DB19C5E60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4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055812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62597DC4-6D5B-4128-A5F6-18CF54742B4A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/132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24"/>
          <p:cNvSpPr>
            <a:spLocks noChangeArrowheads="1"/>
          </p:cNvSpPr>
          <p:nvPr userDrawn="1"/>
        </p:nvSpPr>
        <p:spPr bwMode="auto">
          <a:xfrm>
            <a:off x="0" y="1588"/>
            <a:ext cx="363538" cy="683577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信号与系统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第七      章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散时间系统的时域分析</a:t>
            </a:r>
            <a:endParaRPr lang="en-US" altLang="zh-CN" sz="240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1" name="矩形 16"/>
          <p:cNvSpPr>
            <a:spLocks noChangeArrowheads="1"/>
          </p:cNvSpPr>
          <p:nvPr userDrawn="1"/>
        </p:nvSpPr>
        <p:spPr bwMode="auto">
          <a:xfrm>
            <a:off x="368300" y="1044575"/>
            <a:ext cx="8359775" cy="458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889" y="610362"/>
            <a:ext cx="7770223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0"/>
          </p:nvPr>
        </p:nvSpPr>
        <p:spPr>
          <a:xfrm>
            <a:off x="-50800" y="662368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7D190-9B68-4349-8ECB-778141230BD4}" type="datetime1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889" y="610362"/>
            <a:ext cx="7770223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6889" y="1981963"/>
            <a:ext cx="3832860" cy="41136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4252" y="1981963"/>
            <a:ext cx="3832860" cy="20013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4252" y="4093083"/>
            <a:ext cx="3832860" cy="20025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-317" y="658685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92EC4-0122-4E42-A379-B51701E9A614}" type="datetime1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lvl1pPr>
          </a:lstStyle>
          <a:p>
            <a:fld id="{609952B6-6777-4735-AB6D-095DF05354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7450" y="1844675"/>
            <a:ext cx="34163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6150" y="1844675"/>
            <a:ext cx="34163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lvl1pPr>
          </a:lstStyle>
          <a:p>
            <a:fld id="{C40225F7-6DC0-405B-8458-2EDC3BFD9B0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76892" y="0"/>
            <a:ext cx="808412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87450" y="1310300"/>
            <a:ext cx="3416300" cy="224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56150" y="1310300"/>
            <a:ext cx="34163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187450" y="3710600"/>
            <a:ext cx="3416300" cy="22479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56150" y="3710600"/>
            <a:ext cx="34163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lvl1pPr>
          </a:lstStyle>
          <a:p>
            <a:fld id="{8B41CCFB-E2A2-434E-A817-27FCD74A9A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BB409-6D4D-4A63-A26B-DFFFE2973A1E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484313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1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40513"/>
            <a:ext cx="1190625" cy="369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1">
                <a:latin typeface="+mn-lt"/>
                <a:ea typeface="+mj-ea"/>
              </a:defRPr>
            </a:lvl1pPr>
          </a:lstStyle>
          <a:p>
            <a:pPr>
              <a:defRPr/>
            </a:pPr>
            <a:fld id="{A1564BF7-B5F3-4B34-9486-177A4EDBEF6E}" type="datetime1">
              <a:rPr lang="zh-CN" altLang="en-US"/>
            </a:fld>
            <a:endParaRPr lang="zh-CN" altLang="en-US"/>
          </a:p>
        </p:txBody>
      </p:sp>
      <p:pic>
        <p:nvPicPr>
          <p:cNvPr id="1031" name="图片 9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Box 9"/>
          <p:cNvSpPr txBox="1">
            <a:spLocks noChangeArrowheads="1"/>
          </p:cNvSpPr>
          <p:nvPr/>
        </p:nvSpPr>
        <p:spPr bwMode="auto">
          <a:xfrm>
            <a:off x="3030538" y="6581775"/>
            <a:ext cx="2055812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77761667-E16C-4A18-B243-38483EF1B31C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/132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3" name="Rectangle 24"/>
          <p:cNvSpPr>
            <a:spLocks noChangeArrowheads="1"/>
          </p:cNvSpPr>
          <p:nvPr/>
        </p:nvSpPr>
        <p:spPr bwMode="auto">
          <a:xfrm>
            <a:off x="8786" y="-387798"/>
            <a:ext cx="307975" cy="719735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第七       章</a:t>
            </a:r>
            <a:endParaRPr lang="en-US" altLang="zh-CN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散时间系统的时域分析</a:t>
            </a:r>
            <a:endParaRPr lang="en-US" altLang="zh-CN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400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034" name="矩形 10"/>
          <p:cNvSpPr>
            <a:spLocks noChangeArrowheads="1"/>
          </p:cNvSpPr>
          <p:nvPr/>
        </p:nvSpPr>
        <p:spPr bwMode="auto">
          <a:xfrm>
            <a:off x="368300" y="1044575"/>
            <a:ext cx="8359775" cy="458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ü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1.wav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7%20&#31163;&#25955;&#26102;&#38388;&#31995;&#32479;&#30340;&#26102;&#22495;&#20998;&#26512;2.ppt" TargetMode="Externa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oleObject" Target="../embeddings/oleObject3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3" Type="http://schemas.openxmlformats.org/officeDocument/2006/relationships/vmlDrawing" Target="../drawings/vmlDrawing3.vml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6.xml"/><Relationship Id="rId10" Type="http://schemas.openxmlformats.org/officeDocument/2006/relationships/image" Target="../media/image26.png"/><Relationship Id="rId1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oleObject" Target="../embeddings/oleObject7.bin"/><Relationship Id="rId7" Type="http://schemas.openxmlformats.org/officeDocument/2006/relationships/image" Target="../media/image25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oleObject" Target="../embeddings/oleObject6.bin"/><Relationship Id="rId2" Type="http://schemas.openxmlformats.org/officeDocument/2006/relationships/image" Target="../media/image28.png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7.xml"/><Relationship Id="rId11" Type="http://schemas.openxmlformats.org/officeDocument/2006/relationships/image" Target="../media/image26.png"/><Relationship Id="rId10" Type="http://schemas.openxmlformats.org/officeDocument/2006/relationships/oleObject" Target="../embeddings/oleObject8.bin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6.png"/><Relationship Id="rId4" Type="http://schemas.openxmlformats.org/officeDocument/2006/relationships/oleObject" Target="../embeddings/oleObject9.bin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oleObject" Target="../embeddings/oleObject13.bin"/><Relationship Id="rId7" Type="http://schemas.openxmlformats.org/officeDocument/2006/relationships/image" Target="../media/image42.png"/><Relationship Id="rId6" Type="http://schemas.openxmlformats.org/officeDocument/2006/relationships/oleObject" Target="../embeddings/oleObject12.bin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2.png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9.xml"/><Relationship Id="rId1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10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51.png"/><Relationship Id="rId7" Type="http://schemas.openxmlformats.org/officeDocument/2006/relationships/oleObject" Target="../embeddings/oleObject17.bin"/><Relationship Id="rId6" Type="http://schemas.openxmlformats.org/officeDocument/2006/relationships/image" Target="../media/image50.png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9.png"/><Relationship Id="rId38" Type="http://schemas.openxmlformats.org/officeDocument/2006/relationships/vmlDrawing" Target="../drawings/vmlDrawing7.vml"/><Relationship Id="rId37" Type="http://schemas.openxmlformats.org/officeDocument/2006/relationships/slideLayout" Target="../slideLayouts/slideLayout4.xml"/><Relationship Id="rId36" Type="http://schemas.openxmlformats.org/officeDocument/2006/relationships/tags" Target="../tags/tag33.xml"/><Relationship Id="rId35" Type="http://schemas.openxmlformats.org/officeDocument/2006/relationships/image" Target="../media/image55.png"/><Relationship Id="rId34" Type="http://schemas.openxmlformats.org/officeDocument/2006/relationships/image" Target="../media/image54.png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oleObject" Target="../embeddings/oleObject15.bin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image" Target="../media/image53.png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image" Target="../media/image48.png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image" Target="../media/image52.png"/><Relationship Id="rId1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20.bin"/><Relationship Id="rId25" Type="http://schemas.openxmlformats.org/officeDocument/2006/relationships/notesSlide" Target="../notesSlides/notesSlide1.xml"/><Relationship Id="rId24" Type="http://schemas.openxmlformats.org/officeDocument/2006/relationships/vmlDrawing" Target="../drawings/vmlDrawing8.vml"/><Relationship Id="rId23" Type="http://schemas.openxmlformats.org/officeDocument/2006/relationships/slideLayout" Target="../slideLayouts/slideLayout4.xml"/><Relationship Id="rId22" Type="http://schemas.openxmlformats.org/officeDocument/2006/relationships/image" Target="../media/image66.wmf"/><Relationship Id="rId21" Type="http://schemas.openxmlformats.org/officeDocument/2006/relationships/oleObject" Target="../embeddings/oleObject29.bin"/><Relationship Id="rId20" Type="http://schemas.openxmlformats.org/officeDocument/2006/relationships/image" Target="../media/image65.wmf"/><Relationship Id="rId2" Type="http://schemas.openxmlformats.org/officeDocument/2006/relationships/image" Target="../media/image56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64.e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63.w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62.png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61.png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60.png"/><Relationship Id="rId1" Type="http://schemas.openxmlformats.org/officeDocument/2006/relationships/oleObject" Target="../embeddings/oleObject1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34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oleObject" Target="../embeddings/oleObject30.bin"/><Relationship Id="rId1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35.xml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oleObject" Target="../embeddings/oleObject32.bin"/><Relationship Id="rId2" Type="http://schemas.openxmlformats.org/officeDocument/2006/relationships/image" Target="../media/image60.png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31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81.png"/><Relationship Id="rId7" Type="http://schemas.openxmlformats.org/officeDocument/2006/relationships/image" Target="../media/image80.png"/><Relationship Id="rId6" Type="http://schemas.openxmlformats.org/officeDocument/2006/relationships/image" Target="../media/image79.png"/><Relationship Id="rId5" Type="http://schemas.openxmlformats.org/officeDocument/2006/relationships/oleObject" Target="../embeddings/oleObject33.bin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3" Type="http://schemas.openxmlformats.org/officeDocument/2006/relationships/vmlDrawing" Target="../drawings/vmlDrawing11.vml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36.xml"/><Relationship Id="rId10" Type="http://schemas.openxmlformats.org/officeDocument/2006/relationships/image" Target="../media/image82.png"/><Relationship Id="rId1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0.png"/><Relationship Id="rId6" Type="http://schemas.openxmlformats.org/officeDocument/2006/relationships/image" Target="../media/image79.png"/><Relationship Id="rId5" Type="http://schemas.openxmlformats.org/officeDocument/2006/relationships/oleObject" Target="../embeddings/oleObject35.bin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37.xml"/><Relationship Id="rId1" Type="http://schemas.openxmlformats.org/officeDocument/2006/relationships/image" Target="../media/image83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92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91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90.png"/><Relationship Id="rId3" Type="http://schemas.openxmlformats.org/officeDocument/2006/relationships/oleObject" Target="../embeddings/oleObject37.bin"/><Relationship Id="rId2" Type="http://schemas.openxmlformats.org/officeDocument/2006/relationships/image" Target="../media/image89.w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4.xml"/><Relationship Id="rId12" Type="http://schemas.openxmlformats.org/officeDocument/2006/relationships/image" Target="../media/image94.e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93.emf"/><Relationship Id="rId1" Type="http://schemas.openxmlformats.org/officeDocument/2006/relationships/oleObject" Target="../embeddings/oleObject36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image" Target="../media/image101.png"/><Relationship Id="rId7" Type="http://schemas.openxmlformats.org/officeDocument/2006/relationships/image" Target="../media/image100.png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oleObject" Target="../embeddings/oleObject42.bin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1" Type="http://schemas.openxmlformats.org/officeDocument/2006/relationships/vmlDrawing" Target="../drawings/vmlDrawing14.v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95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104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103.e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102.emf"/><Relationship Id="rId16" Type="http://schemas.openxmlformats.org/officeDocument/2006/relationships/vmlDrawing" Target="../drawings/vmlDrawing15.v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108.png"/><Relationship Id="rId13" Type="http://schemas.openxmlformats.org/officeDocument/2006/relationships/oleObject" Target="../embeddings/oleObject49.bin"/><Relationship Id="rId12" Type="http://schemas.openxmlformats.org/officeDocument/2006/relationships/image" Target="../media/image107.w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106.wmf"/><Relationship Id="rId1" Type="http://schemas.openxmlformats.org/officeDocument/2006/relationships/oleObject" Target="../embeddings/oleObject43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image" Target="../media/image116.png"/><Relationship Id="rId7" Type="http://schemas.openxmlformats.org/officeDocument/2006/relationships/image" Target="../media/image115.png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0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2.png"/><Relationship Id="rId7" Type="http://schemas.openxmlformats.org/officeDocument/2006/relationships/image" Target="../media/image38.png"/><Relationship Id="rId6" Type="http://schemas.openxmlformats.org/officeDocument/2006/relationships/image" Target="../media/image121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0" Type="http://schemas.openxmlformats.org/officeDocument/2006/relationships/vmlDrawing" Target="../drawings/vmlDrawing16.vml"/><Relationship Id="rId1" Type="http://schemas.openxmlformats.org/officeDocument/2006/relationships/image" Target="../media/image117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6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124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123.w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5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2.png"/><Relationship Id="rId3" Type="http://schemas.openxmlformats.org/officeDocument/2006/relationships/oleObject" Target="../embeddings/oleObject56.bin"/><Relationship Id="rId2" Type="http://schemas.openxmlformats.org/officeDocument/2006/relationships/image" Target="../media/image48.png"/><Relationship Id="rId1" Type="http://schemas.openxmlformats.org/officeDocument/2006/relationships/oleObject" Target="../embeddings/oleObject5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0.png"/><Relationship Id="rId3" Type="http://schemas.openxmlformats.org/officeDocument/2006/relationships/oleObject" Target="../embeddings/oleObject59.bin"/><Relationship Id="rId20" Type="http://schemas.openxmlformats.org/officeDocument/2006/relationships/vmlDrawing" Target="../drawings/vmlDrawing19.vml"/><Relationship Id="rId2" Type="http://schemas.openxmlformats.org/officeDocument/2006/relationships/image" Target="../media/image56.wmf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30.wmf"/><Relationship Id="rId17" Type="http://schemas.openxmlformats.org/officeDocument/2006/relationships/oleObject" Target="../embeddings/oleObject66.bin"/><Relationship Id="rId16" Type="http://schemas.openxmlformats.org/officeDocument/2006/relationships/image" Target="../media/image66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65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63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58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9.png"/><Relationship Id="rId3" Type="http://schemas.openxmlformats.org/officeDocument/2006/relationships/oleObject" Target="../embeddings/oleObject68.bin"/><Relationship Id="rId23" Type="http://schemas.openxmlformats.org/officeDocument/2006/relationships/vmlDrawing" Target="../drawings/vmlDrawing20.v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40.png"/><Relationship Id="rId20" Type="http://schemas.openxmlformats.org/officeDocument/2006/relationships/image" Target="../media/image139.wmf"/><Relationship Id="rId2" Type="http://schemas.openxmlformats.org/officeDocument/2006/relationships/image" Target="../media/image131.wmf"/><Relationship Id="rId19" Type="http://schemas.openxmlformats.org/officeDocument/2006/relationships/oleObject" Target="../embeddings/oleObject76.bin"/><Relationship Id="rId18" Type="http://schemas.openxmlformats.org/officeDocument/2006/relationships/image" Target="../media/image138.wmf"/><Relationship Id="rId17" Type="http://schemas.openxmlformats.org/officeDocument/2006/relationships/oleObject" Target="../embeddings/oleObject75.bin"/><Relationship Id="rId16" Type="http://schemas.openxmlformats.org/officeDocument/2006/relationships/image" Target="../media/image137.emf"/><Relationship Id="rId15" Type="http://schemas.openxmlformats.org/officeDocument/2006/relationships/oleObject" Target="../embeddings/oleObject74.bin"/><Relationship Id="rId14" Type="http://schemas.openxmlformats.org/officeDocument/2006/relationships/image" Target="../media/image136.wmf"/><Relationship Id="rId13" Type="http://schemas.openxmlformats.org/officeDocument/2006/relationships/oleObject" Target="../embeddings/oleObject73.bin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67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105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143.e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142.e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141.emf"/><Relationship Id="rId16" Type="http://schemas.openxmlformats.org/officeDocument/2006/relationships/vmlDrawing" Target="../drawings/vmlDrawing21.vml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108.png"/><Relationship Id="rId13" Type="http://schemas.openxmlformats.org/officeDocument/2006/relationships/oleObject" Target="../embeddings/oleObject83.bin"/><Relationship Id="rId12" Type="http://schemas.openxmlformats.org/officeDocument/2006/relationships/image" Target="../media/image107.wmf"/><Relationship Id="rId11" Type="http://schemas.openxmlformats.org/officeDocument/2006/relationships/oleObject" Target="../embeddings/oleObject82.bin"/><Relationship Id="rId10" Type="http://schemas.openxmlformats.org/officeDocument/2006/relationships/image" Target="../media/image106.wmf"/><Relationship Id="rId1" Type="http://schemas.openxmlformats.org/officeDocument/2006/relationships/oleObject" Target="../embeddings/oleObject77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0.xml"/><Relationship Id="rId1" Type="http://schemas.openxmlformats.org/officeDocument/2006/relationships/image" Target="../media/image144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2.v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41.xml"/><Relationship Id="rId2" Type="http://schemas.openxmlformats.org/officeDocument/2006/relationships/image" Target="../media/image145.png"/><Relationship Id="rId1" Type="http://schemas.openxmlformats.org/officeDocument/2006/relationships/oleObject" Target="../embeddings/oleObject84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2.xml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oleObject" Target="../embeddings/oleObject85.bin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43.xml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image" Target="../media/image14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tags" Target="../tags/tag44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5.xml"/><Relationship Id="rId2" Type="http://schemas.openxmlformats.org/officeDocument/2006/relationships/image" Target="../media/image152.png"/><Relationship Id="rId1" Type="http://schemas.openxmlformats.org/officeDocument/2006/relationships/image" Target="../media/image158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46.xml"/><Relationship Id="rId7" Type="http://schemas.openxmlformats.org/officeDocument/2006/relationships/image" Target="../media/image165.png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image" Target="../media/image159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image" Target="../media/image159.png"/><Relationship Id="rId7" Type="http://schemas.openxmlformats.org/officeDocument/2006/relationships/image" Target="../media/image172.png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166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8.xml"/><Relationship Id="rId2" Type="http://schemas.openxmlformats.org/officeDocument/2006/relationships/image" Target="../media/image174.jpeg"/><Relationship Id="rId1" Type="http://schemas.openxmlformats.org/officeDocument/2006/relationships/image" Target="../media/image17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9.xml"/><Relationship Id="rId1" Type="http://schemas.openxmlformats.org/officeDocument/2006/relationships/image" Target="../media/image174.jpe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wmf"/><Relationship Id="rId8" Type="http://schemas.openxmlformats.org/officeDocument/2006/relationships/oleObject" Target="../embeddings/oleObject89.bin"/><Relationship Id="rId7" Type="http://schemas.openxmlformats.org/officeDocument/2006/relationships/image" Target="../media/image177.wmf"/><Relationship Id="rId6" Type="http://schemas.openxmlformats.org/officeDocument/2006/relationships/oleObject" Target="../embeddings/oleObject88.bin"/><Relationship Id="rId5" Type="http://schemas.openxmlformats.org/officeDocument/2006/relationships/image" Target="../media/image176.wmf"/><Relationship Id="rId4" Type="http://schemas.openxmlformats.org/officeDocument/2006/relationships/oleObject" Target="../embeddings/oleObject87.bin"/><Relationship Id="rId3" Type="http://schemas.openxmlformats.org/officeDocument/2006/relationships/image" Target="../media/image175.wmf"/><Relationship Id="rId21" Type="http://schemas.openxmlformats.org/officeDocument/2006/relationships/vmlDrawing" Target="../drawings/vmlDrawing24.vml"/><Relationship Id="rId20" Type="http://schemas.openxmlformats.org/officeDocument/2006/relationships/slideLayout" Target="../slideLayouts/slideLayout4.xml"/><Relationship Id="rId2" Type="http://schemas.openxmlformats.org/officeDocument/2006/relationships/oleObject" Target="../embeddings/oleObject86.bin"/><Relationship Id="rId19" Type="http://schemas.openxmlformats.org/officeDocument/2006/relationships/image" Target="../media/image183.wmf"/><Relationship Id="rId18" Type="http://schemas.openxmlformats.org/officeDocument/2006/relationships/oleObject" Target="../embeddings/oleObject94.bin"/><Relationship Id="rId17" Type="http://schemas.openxmlformats.org/officeDocument/2006/relationships/image" Target="../media/image182.wmf"/><Relationship Id="rId16" Type="http://schemas.openxmlformats.org/officeDocument/2006/relationships/oleObject" Target="../embeddings/oleObject93.bin"/><Relationship Id="rId15" Type="http://schemas.openxmlformats.org/officeDocument/2006/relationships/image" Target="../media/image181.wmf"/><Relationship Id="rId14" Type="http://schemas.openxmlformats.org/officeDocument/2006/relationships/oleObject" Target="../embeddings/oleObject92.bin"/><Relationship Id="rId13" Type="http://schemas.openxmlformats.org/officeDocument/2006/relationships/image" Target="../media/image180.wmf"/><Relationship Id="rId12" Type="http://schemas.openxmlformats.org/officeDocument/2006/relationships/oleObject" Target="../embeddings/oleObject91.bin"/><Relationship Id="rId11" Type="http://schemas.openxmlformats.org/officeDocument/2006/relationships/image" Target="../media/image179.wmf"/><Relationship Id="rId10" Type="http://schemas.openxmlformats.org/officeDocument/2006/relationships/oleObject" Target="../embeddings/oleObject90.bin"/><Relationship Id="rId1" Type="http://schemas.openxmlformats.org/officeDocument/2006/relationships/image" Target="../media/image174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50.xml"/><Relationship Id="rId1" Type="http://schemas.openxmlformats.org/officeDocument/2006/relationships/image" Target="../media/image174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5.png"/><Relationship Id="rId1" Type="http://schemas.openxmlformats.org/officeDocument/2006/relationships/image" Target="../media/image18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1.xml"/><Relationship Id="rId2" Type="http://schemas.openxmlformats.org/officeDocument/2006/relationships/image" Target="../media/image174.jpeg"/><Relationship Id="rId1" Type="http://schemas.openxmlformats.org/officeDocument/2006/relationships/image" Target="../media/image18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74.jpeg"/><Relationship Id="rId1" Type="http://schemas.openxmlformats.org/officeDocument/2006/relationships/image" Target="../media/image18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0.png"/><Relationship Id="rId1" Type="http://schemas.openxmlformats.org/officeDocument/2006/relationships/image" Target="../media/image18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2.png"/><Relationship Id="rId1" Type="http://schemas.openxmlformats.org/officeDocument/2006/relationships/image" Target="../media/image191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96.png"/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image" Target="../media/image193.png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image" Target="../media/image197.png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5.png"/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image" Target="../media/image202.png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210.png"/><Relationship Id="rId4" Type="http://schemas.openxmlformats.org/officeDocument/2006/relationships/image" Target="../media/image209.png"/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image" Target="../media/image206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16.png"/><Relationship Id="rId7" Type="http://schemas.openxmlformats.org/officeDocument/2006/relationships/image" Target="../media/image215.png"/><Relationship Id="rId6" Type="http://schemas.openxmlformats.org/officeDocument/2006/relationships/image" Target="../media/image214.png"/><Relationship Id="rId5" Type="http://schemas.openxmlformats.org/officeDocument/2006/relationships/image" Target="../media/image208.png"/><Relationship Id="rId4" Type="http://schemas.openxmlformats.org/officeDocument/2006/relationships/image" Target="../media/image207.png"/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image" Target="../media/image21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18.png"/><Relationship Id="rId1" Type="http://schemas.openxmlformats.org/officeDocument/2006/relationships/image" Target="../media/image217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9.png"/><Relationship Id="rId1" Type="http://schemas.openxmlformats.org/officeDocument/2006/relationships/oleObject" Target="../embeddings/oleObject95.bin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22.png"/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oleObject" Target="../embeddings/oleObject96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2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29.png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26.png"/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image" Target="../media/image22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1.png"/><Relationship Id="rId1" Type="http://schemas.openxmlformats.org/officeDocument/2006/relationships/image" Target="../media/image23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0.png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4.xml"/><Relationship Id="rId4" Type="http://schemas.openxmlformats.org/officeDocument/2006/relationships/image" Target="../media/image235.png"/><Relationship Id="rId3" Type="http://schemas.openxmlformats.org/officeDocument/2006/relationships/image" Target="../media/image234.png"/><Relationship Id="rId2" Type="http://schemas.openxmlformats.org/officeDocument/2006/relationships/image" Target="../media/image233.png"/><Relationship Id="rId1" Type="http://schemas.openxmlformats.org/officeDocument/2006/relationships/image" Target="../media/image232.pn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9.png"/><Relationship Id="rId3" Type="http://schemas.openxmlformats.org/officeDocument/2006/relationships/image" Target="../media/image238.png"/><Relationship Id="rId2" Type="http://schemas.openxmlformats.org/officeDocument/2006/relationships/image" Target="../media/image237.png"/><Relationship Id="rId1" Type="http://schemas.openxmlformats.org/officeDocument/2006/relationships/image" Target="../media/image236.png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5.xml"/><Relationship Id="rId4" Type="http://schemas.openxmlformats.org/officeDocument/2006/relationships/image" Target="../media/image243.png"/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image" Target="../media/image24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6.xml"/><Relationship Id="rId1" Type="http://schemas.openxmlformats.org/officeDocument/2006/relationships/image" Target="../media/image24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5.png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4.png"/><Relationship Id="rId8" Type="http://schemas.openxmlformats.org/officeDocument/2006/relationships/image" Target="../media/image253.png"/><Relationship Id="rId7" Type="http://schemas.openxmlformats.org/officeDocument/2006/relationships/image" Target="../media/image252.png"/><Relationship Id="rId6" Type="http://schemas.openxmlformats.org/officeDocument/2006/relationships/image" Target="../media/image251.png"/><Relationship Id="rId5" Type="http://schemas.openxmlformats.org/officeDocument/2006/relationships/image" Target="../media/image250.png"/><Relationship Id="rId4" Type="http://schemas.openxmlformats.org/officeDocument/2006/relationships/image" Target="../media/image249.png"/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57.xml"/><Relationship Id="rId12" Type="http://schemas.openxmlformats.org/officeDocument/2006/relationships/image" Target="../media/image257.png"/><Relationship Id="rId11" Type="http://schemas.openxmlformats.org/officeDocument/2006/relationships/image" Target="../media/image256.png"/><Relationship Id="rId10" Type="http://schemas.openxmlformats.org/officeDocument/2006/relationships/image" Target="../media/image255.png"/><Relationship Id="rId1" Type="http://schemas.openxmlformats.org/officeDocument/2006/relationships/image" Target="../media/image246.png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6.png"/><Relationship Id="rId8" Type="http://schemas.openxmlformats.org/officeDocument/2006/relationships/image" Target="../media/image265.png"/><Relationship Id="rId7" Type="http://schemas.openxmlformats.org/officeDocument/2006/relationships/image" Target="../media/image264.png"/><Relationship Id="rId6" Type="http://schemas.openxmlformats.org/officeDocument/2006/relationships/image" Target="../media/image263.png"/><Relationship Id="rId5" Type="http://schemas.openxmlformats.org/officeDocument/2006/relationships/image" Target="../media/image262.png"/><Relationship Id="rId4" Type="http://schemas.openxmlformats.org/officeDocument/2006/relationships/image" Target="../media/image261.png"/><Relationship Id="rId3" Type="http://schemas.openxmlformats.org/officeDocument/2006/relationships/image" Target="../media/image260.png"/><Relationship Id="rId2" Type="http://schemas.openxmlformats.org/officeDocument/2006/relationships/image" Target="../media/image259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58.xml"/><Relationship Id="rId1" Type="http://schemas.openxmlformats.org/officeDocument/2006/relationships/image" Target="../media/image258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9.xml"/><Relationship Id="rId2" Type="http://schemas.openxmlformats.org/officeDocument/2006/relationships/image" Target="../media/image268.png"/><Relationship Id="rId1" Type="http://schemas.openxmlformats.org/officeDocument/2006/relationships/image" Target="../media/image26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0.png"/><Relationship Id="rId1" Type="http://schemas.openxmlformats.org/officeDocument/2006/relationships/image" Target="../media/image269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/Relationships>
</file>

<file path=ppt/slides/_rels/slide8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2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Relationship Id="rId3" Type="http://schemas.openxmlformats.org/officeDocument/2006/relationships/image" Target="../media/image242.png"/><Relationship Id="rId2" Type="http://schemas.openxmlformats.org/officeDocument/2006/relationships/image" Target="../media/image272.png"/><Relationship Id="rId1" Type="http://schemas.openxmlformats.org/officeDocument/2006/relationships/image" Target="../media/image27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5.png"/></Relationships>
</file>

<file path=ppt/slides/_rels/slide8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.xml"/><Relationship Id="rId4" Type="http://schemas.openxmlformats.org/officeDocument/2006/relationships/image" Target="../media/image277.png"/><Relationship Id="rId3" Type="http://schemas.openxmlformats.org/officeDocument/2006/relationships/image" Target="../media/image269.png"/><Relationship Id="rId2" Type="http://schemas.openxmlformats.org/officeDocument/2006/relationships/image" Target="../media/image276.png"/><Relationship Id="rId1" Type="http://schemas.openxmlformats.org/officeDocument/2006/relationships/image" Target="../media/image275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8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7.v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65.xml"/><Relationship Id="rId4" Type="http://schemas.openxmlformats.org/officeDocument/2006/relationships/image" Target="../media/image280.png"/><Relationship Id="rId3" Type="http://schemas.openxmlformats.org/officeDocument/2006/relationships/oleObject" Target="../embeddings/oleObject97.bin"/><Relationship Id="rId2" Type="http://schemas.openxmlformats.org/officeDocument/2006/relationships/image" Target="../media/image279.png"/><Relationship Id="rId1" Type="http://schemas.openxmlformats.org/officeDocument/2006/relationships/image" Target="../media/image278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tags" Target="../tags/tag66.xml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4" Type="http://schemas.openxmlformats.org/officeDocument/2006/relationships/image" Target="../media/image284.png"/><Relationship Id="rId3" Type="http://schemas.openxmlformats.org/officeDocument/2006/relationships/image" Target="../media/image283.png"/><Relationship Id="rId2" Type="http://schemas.openxmlformats.org/officeDocument/2006/relationships/image" Target="../media/image282.png"/><Relationship Id="rId1" Type="http://schemas.openxmlformats.org/officeDocument/2006/relationships/image" Target="../media/image281.png"/></Relationships>
</file>

<file path=ppt/slides/_rels/slide8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7.xml"/><Relationship Id="rId4" Type="http://schemas.openxmlformats.org/officeDocument/2006/relationships/image" Target="../media/image290.png"/><Relationship Id="rId3" Type="http://schemas.openxmlformats.org/officeDocument/2006/relationships/image" Target="../media/image289.png"/><Relationship Id="rId2" Type="http://schemas.openxmlformats.org/officeDocument/2006/relationships/image" Target="../media/image288.png"/><Relationship Id="rId1" Type="http://schemas.openxmlformats.org/officeDocument/2006/relationships/image" Target="../media/image287.png"/></Relationships>
</file>

<file path=ppt/slides/_rels/slide9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68.xml"/><Relationship Id="rId3" Type="http://schemas.openxmlformats.org/officeDocument/2006/relationships/image" Target="../media/image292.png"/><Relationship Id="rId2" Type="http://schemas.openxmlformats.org/officeDocument/2006/relationships/image" Target="../media/image291.png"/><Relationship Id="rId1" Type="http://schemas.openxmlformats.org/officeDocument/2006/relationships/image" Target="../media/image192.png"/></Relationships>
</file>

<file path=ppt/slides/_rels/slide9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69.xml"/><Relationship Id="rId4" Type="http://schemas.openxmlformats.org/officeDocument/2006/relationships/image" Target="../media/image296.png"/><Relationship Id="rId3" Type="http://schemas.openxmlformats.org/officeDocument/2006/relationships/image" Target="../media/image295.png"/><Relationship Id="rId2" Type="http://schemas.openxmlformats.org/officeDocument/2006/relationships/image" Target="../media/image294.png"/><Relationship Id="rId1" Type="http://schemas.openxmlformats.org/officeDocument/2006/relationships/image" Target="../media/image293.png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4.png"/><Relationship Id="rId8" Type="http://schemas.openxmlformats.org/officeDocument/2006/relationships/image" Target="../media/image303.png"/><Relationship Id="rId7" Type="http://schemas.openxmlformats.org/officeDocument/2006/relationships/image" Target="../media/image302.png"/><Relationship Id="rId6" Type="http://schemas.openxmlformats.org/officeDocument/2006/relationships/image" Target="../media/image301.png"/><Relationship Id="rId5" Type="http://schemas.openxmlformats.org/officeDocument/2006/relationships/image" Target="../media/image300.png"/><Relationship Id="rId4" Type="http://schemas.openxmlformats.org/officeDocument/2006/relationships/image" Target="../media/image299.png"/><Relationship Id="rId3" Type="http://schemas.openxmlformats.org/officeDocument/2006/relationships/image" Target="../media/image298.png"/><Relationship Id="rId2" Type="http://schemas.openxmlformats.org/officeDocument/2006/relationships/image" Target="../media/image297.png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70.xml"/><Relationship Id="rId16" Type="http://schemas.openxmlformats.org/officeDocument/2006/relationships/image" Target="../media/image311.png"/><Relationship Id="rId15" Type="http://schemas.openxmlformats.org/officeDocument/2006/relationships/image" Target="../media/image310.png"/><Relationship Id="rId14" Type="http://schemas.openxmlformats.org/officeDocument/2006/relationships/image" Target="../media/image309.png"/><Relationship Id="rId13" Type="http://schemas.openxmlformats.org/officeDocument/2006/relationships/image" Target="../media/image308.png"/><Relationship Id="rId12" Type="http://schemas.openxmlformats.org/officeDocument/2006/relationships/image" Target="../media/image307.png"/><Relationship Id="rId11" Type="http://schemas.openxmlformats.org/officeDocument/2006/relationships/image" Target="../media/image306.png"/><Relationship Id="rId10" Type="http://schemas.openxmlformats.org/officeDocument/2006/relationships/image" Target="../media/image305.png"/><Relationship Id="rId1" Type="http://schemas.openxmlformats.org/officeDocument/2006/relationships/image" Target="../media/image295.png"/></Relationships>
</file>

<file path=ppt/slides/_rels/slide9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71.xml"/><Relationship Id="rId3" Type="http://schemas.openxmlformats.org/officeDocument/2006/relationships/image" Target="../media/image314.png"/><Relationship Id="rId2" Type="http://schemas.openxmlformats.org/officeDocument/2006/relationships/image" Target="../media/image313.png"/><Relationship Id="rId1" Type="http://schemas.openxmlformats.org/officeDocument/2006/relationships/image" Target="../media/image312.png"/></Relationships>
</file>

<file path=ppt/slides/_rels/slide9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72.xml"/><Relationship Id="rId5" Type="http://schemas.openxmlformats.org/officeDocument/2006/relationships/image" Target="../media/image318.png"/><Relationship Id="rId4" Type="http://schemas.openxmlformats.org/officeDocument/2006/relationships/image" Target="../media/image317.png"/><Relationship Id="rId3" Type="http://schemas.openxmlformats.org/officeDocument/2006/relationships/image" Target="../media/image316.png"/><Relationship Id="rId2" Type="http://schemas.openxmlformats.org/officeDocument/2006/relationships/image" Target="../media/image314.png"/><Relationship Id="rId1" Type="http://schemas.openxmlformats.org/officeDocument/2006/relationships/image" Target="../media/image315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19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0.png"/></Relationships>
</file>

<file path=ppt/slides/_rels/slide9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themeOverride" Target="../theme/themeOverride1.xml"/><Relationship Id="rId4" Type="http://schemas.openxmlformats.org/officeDocument/2006/relationships/tags" Target="../tags/tag73.xml"/><Relationship Id="rId3" Type="http://schemas.openxmlformats.org/officeDocument/2006/relationships/image" Target="../media/image322.png"/><Relationship Id="rId2" Type="http://schemas.openxmlformats.org/officeDocument/2006/relationships/image" Target="../media/image321.png"/><Relationship Id="rId1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74.xml"/><Relationship Id="rId3" Type="http://schemas.openxmlformats.org/officeDocument/2006/relationships/image" Target="../media/image325.png"/><Relationship Id="rId2" Type="http://schemas.openxmlformats.org/officeDocument/2006/relationships/image" Target="../media/image324.png"/><Relationship Id="rId1" Type="http://schemas.openxmlformats.org/officeDocument/2006/relationships/image" Target="../media/image323.png"/></Relationships>
</file>

<file path=ppt/slides/_rels/slide9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75.xml"/><Relationship Id="rId5" Type="http://schemas.openxmlformats.org/officeDocument/2006/relationships/image" Target="../media/image330.png"/><Relationship Id="rId4" Type="http://schemas.openxmlformats.org/officeDocument/2006/relationships/image" Target="../media/image329.png"/><Relationship Id="rId3" Type="http://schemas.openxmlformats.org/officeDocument/2006/relationships/image" Target="../media/image328.png"/><Relationship Id="rId2" Type="http://schemas.openxmlformats.org/officeDocument/2006/relationships/image" Target="../media/image327.png"/><Relationship Id="rId1" Type="http://schemas.openxmlformats.org/officeDocument/2006/relationships/image" Target="../media/image32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331.png"/></Relationships>
</file>

<file path=ppt/slides/_rels/slide10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335.png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334.png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333.png"/><Relationship Id="rId37" Type="http://schemas.openxmlformats.org/officeDocument/2006/relationships/vmlDrawing" Target="../drawings/vmlDrawing28.vml"/><Relationship Id="rId36" Type="http://schemas.openxmlformats.org/officeDocument/2006/relationships/slideLayout" Target="../slideLayouts/slideLayout4.xml"/><Relationship Id="rId35" Type="http://schemas.openxmlformats.org/officeDocument/2006/relationships/tags" Target="../tags/tag77.xml"/><Relationship Id="rId34" Type="http://schemas.openxmlformats.org/officeDocument/2006/relationships/image" Target="../media/image352.png"/><Relationship Id="rId33" Type="http://schemas.openxmlformats.org/officeDocument/2006/relationships/image" Target="../media/image351.png"/><Relationship Id="rId32" Type="http://schemas.openxmlformats.org/officeDocument/2006/relationships/image" Target="../media/image350.png"/><Relationship Id="rId31" Type="http://schemas.openxmlformats.org/officeDocument/2006/relationships/image" Target="../media/image349.png"/><Relationship Id="rId30" Type="http://schemas.openxmlformats.org/officeDocument/2006/relationships/image" Target="../media/image348.png"/><Relationship Id="rId3" Type="http://schemas.openxmlformats.org/officeDocument/2006/relationships/oleObject" Target="../embeddings/oleObject99.bin"/><Relationship Id="rId29" Type="http://schemas.openxmlformats.org/officeDocument/2006/relationships/image" Target="../media/image347.png"/><Relationship Id="rId28" Type="http://schemas.openxmlformats.org/officeDocument/2006/relationships/image" Target="../media/image346.png"/><Relationship Id="rId27" Type="http://schemas.openxmlformats.org/officeDocument/2006/relationships/image" Target="../media/image345.png"/><Relationship Id="rId26" Type="http://schemas.openxmlformats.org/officeDocument/2006/relationships/oleObject" Target="../embeddings/oleObject110.bin"/><Relationship Id="rId25" Type="http://schemas.openxmlformats.org/officeDocument/2006/relationships/image" Target="../media/image344.png"/><Relationship Id="rId24" Type="http://schemas.openxmlformats.org/officeDocument/2006/relationships/oleObject" Target="../embeddings/oleObject109.bin"/><Relationship Id="rId23" Type="http://schemas.openxmlformats.org/officeDocument/2006/relationships/image" Target="../media/image343.png"/><Relationship Id="rId22" Type="http://schemas.openxmlformats.org/officeDocument/2006/relationships/oleObject" Target="../embeddings/oleObject108.bin"/><Relationship Id="rId21" Type="http://schemas.openxmlformats.org/officeDocument/2006/relationships/image" Target="../media/image342.png"/><Relationship Id="rId20" Type="http://schemas.openxmlformats.org/officeDocument/2006/relationships/oleObject" Target="../embeddings/oleObject107.bin"/><Relationship Id="rId2" Type="http://schemas.openxmlformats.org/officeDocument/2006/relationships/image" Target="../media/image332.png"/><Relationship Id="rId19" Type="http://schemas.openxmlformats.org/officeDocument/2006/relationships/image" Target="../media/image341.png"/><Relationship Id="rId18" Type="http://schemas.openxmlformats.org/officeDocument/2006/relationships/oleObject" Target="../embeddings/oleObject106.bin"/><Relationship Id="rId17" Type="http://schemas.openxmlformats.org/officeDocument/2006/relationships/image" Target="../media/image340.png"/><Relationship Id="rId16" Type="http://schemas.openxmlformats.org/officeDocument/2006/relationships/oleObject" Target="../embeddings/oleObject105.bin"/><Relationship Id="rId15" Type="http://schemas.openxmlformats.org/officeDocument/2006/relationships/image" Target="../media/image339.png"/><Relationship Id="rId14" Type="http://schemas.openxmlformats.org/officeDocument/2006/relationships/oleObject" Target="../embeddings/oleObject104.bin"/><Relationship Id="rId13" Type="http://schemas.openxmlformats.org/officeDocument/2006/relationships/image" Target="../media/image338.wmf"/><Relationship Id="rId12" Type="http://schemas.openxmlformats.org/officeDocument/2006/relationships/oleObject" Target="../embeddings/oleObject103.bin"/><Relationship Id="rId11" Type="http://schemas.openxmlformats.org/officeDocument/2006/relationships/image" Target="../media/image337.png"/><Relationship Id="rId10" Type="http://schemas.openxmlformats.org/officeDocument/2006/relationships/image" Target="../media/image336.png"/><Relationship Id="rId1" Type="http://schemas.openxmlformats.org/officeDocument/2006/relationships/oleObject" Target="../embeddings/oleObject98.bin"/></Relationships>
</file>

<file path=ppt/slides/_rels/slide10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355.png"/><Relationship Id="rId2" Type="http://schemas.openxmlformats.org/officeDocument/2006/relationships/image" Target="../media/image354.png"/><Relationship Id="rId1" Type="http://schemas.openxmlformats.org/officeDocument/2006/relationships/image" Target="../media/image353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7" Type="http://schemas.openxmlformats.org/officeDocument/2006/relationships/tags" Target="../tags/tag79.xml"/><Relationship Id="rId6" Type="http://schemas.openxmlformats.org/officeDocument/2006/relationships/image" Target="../media/image361.png"/><Relationship Id="rId5" Type="http://schemas.openxmlformats.org/officeDocument/2006/relationships/image" Target="../media/image360.png"/><Relationship Id="rId4" Type="http://schemas.openxmlformats.org/officeDocument/2006/relationships/image" Target="../media/image359.png"/><Relationship Id="rId3" Type="http://schemas.openxmlformats.org/officeDocument/2006/relationships/image" Target="../media/image358.png"/><Relationship Id="rId2" Type="http://schemas.openxmlformats.org/officeDocument/2006/relationships/image" Target="../media/image357.png"/><Relationship Id="rId1" Type="http://schemas.openxmlformats.org/officeDocument/2006/relationships/image" Target="../media/image356.png"/></Relationships>
</file>

<file path=ppt/slides/_rels/slide10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8.wmf"/><Relationship Id="rId8" Type="http://schemas.openxmlformats.org/officeDocument/2006/relationships/oleObject" Target="../embeddings/oleObject114.bin"/><Relationship Id="rId7" Type="http://schemas.openxmlformats.org/officeDocument/2006/relationships/image" Target="../media/image363.png"/><Relationship Id="rId6" Type="http://schemas.openxmlformats.org/officeDocument/2006/relationships/image" Target="../media/image362.png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333.png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336.png"/><Relationship Id="rId19" Type="http://schemas.openxmlformats.org/officeDocument/2006/relationships/vmlDrawing" Target="../drawings/vmlDrawing29.v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80.xml"/><Relationship Id="rId16" Type="http://schemas.openxmlformats.org/officeDocument/2006/relationships/image" Target="../media/image370.png"/><Relationship Id="rId15" Type="http://schemas.openxmlformats.org/officeDocument/2006/relationships/image" Target="../media/image369.png"/><Relationship Id="rId14" Type="http://schemas.openxmlformats.org/officeDocument/2006/relationships/image" Target="../media/image368.png"/><Relationship Id="rId13" Type="http://schemas.openxmlformats.org/officeDocument/2006/relationships/image" Target="../media/image367.png"/><Relationship Id="rId12" Type="http://schemas.openxmlformats.org/officeDocument/2006/relationships/image" Target="../media/image366.png"/><Relationship Id="rId11" Type="http://schemas.openxmlformats.org/officeDocument/2006/relationships/image" Target="../media/image365.png"/><Relationship Id="rId10" Type="http://schemas.openxmlformats.org/officeDocument/2006/relationships/image" Target="../media/image364.png"/><Relationship Id="rId1" Type="http://schemas.openxmlformats.org/officeDocument/2006/relationships/oleObject" Target="../embeddings/oleObject111.bin"/></Relationships>
</file>

<file path=ppt/slides/_rels/slide10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5.png"/><Relationship Id="rId8" Type="http://schemas.openxmlformats.org/officeDocument/2006/relationships/image" Target="../media/image374.png"/><Relationship Id="rId7" Type="http://schemas.openxmlformats.org/officeDocument/2006/relationships/image" Target="../media/image373.png"/><Relationship Id="rId6" Type="http://schemas.openxmlformats.org/officeDocument/2006/relationships/image" Target="../media/image372.png"/><Relationship Id="rId5" Type="http://schemas.openxmlformats.org/officeDocument/2006/relationships/image" Target="../media/image371.png"/><Relationship Id="rId4" Type="http://schemas.openxmlformats.org/officeDocument/2006/relationships/image" Target="../media/image333.png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336.png"/><Relationship Id="rId17" Type="http://schemas.openxmlformats.org/officeDocument/2006/relationships/vmlDrawing" Target="../drawings/vmlDrawing30.v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81.xml"/><Relationship Id="rId14" Type="http://schemas.openxmlformats.org/officeDocument/2006/relationships/image" Target="../media/image380.png"/><Relationship Id="rId13" Type="http://schemas.openxmlformats.org/officeDocument/2006/relationships/image" Target="../media/image379.png"/><Relationship Id="rId12" Type="http://schemas.openxmlformats.org/officeDocument/2006/relationships/image" Target="../media/image378.png"/><Relationship Id="rId11" Type="http://schemas.openxmlformats.org/officeDocument/2006/relationships/image" Target="../media/image377.png"/><Relationship Id="rId10" Type="http://schemas.openxmlformats.org/officeDocument/2006/relationships/image" Target="../media/image376.png"/><Relationship Id="rId1" Type="http://schemas.openxmlformats.org/officeDocument/2006/relationships/oleObject" Target="../embeddings/oleObject115.bin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0.png"/></Relationships>
</file>

<file path=ppt/slides/_rels/slide10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383.png"/><Relationship Id="rId2" Type="http://schemas.openxmlformats.org/officeDocument/2006/relationships/image" Target="../media/image382.png"/><Relationship Id="rId1" Type="http://schemas.openxmlformats.org/officeDocument/2006/relationships/image" Target="../media/image381.png"/></Relationships>
</file>

<file path=ppt/slides/_rels/slide10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4.xml"/><Relationship Id="rId4" Type="http://schemas.openxmlformats.org/officeDocument/2006/relationships/image" Target="../media/image387.png"/><Relationship Id="rId3" Type="http://schemas.openxmlformats.org/officeDocument/2006/relationships/image" Target="../media/image386.png"/><Relationship Id="rId2" Type="http://schemas.openxmlformats.org/officeDocument/2006/relationships/image" Target="../media/image385.png"/><Relationship Id="rId1" Type="http://schemas.openxmlformats.org/officeDocument/2006/relationships/image" Target="../media/image384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5.xml"/><Relationship Id="rId6" Type="http://schemas.openxmlformats.org/officeDocument/2006/relationships/image" Target="../media/image393.png"/><Relationship Id="rId5" Type="http://schemas.openxmlformats.org/officeDocument/2006/relationships/image" Target="../media/image392.png"/><Relationship Id="rId4" Type="http://schemas.openxmlformats.org/officeDocument/2006/relationships/image" Target="../media/image391.png"/><Relationship Id="rId3" Type="http://schemas.openxmlformats.org/officeDocument/2006/relationships/image" Target="../media/image390.png"/><Relationship Id="rId2" Type="http://schemas.openxmlformats.org/officeDocument/2006/relationships/image" Target="../media/image389.png"/><Relationship Id="rId1" Type="http://schemas.openxmlformats.org/officeDocument/2006/relationships/image" Target="../media/image388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image" Target="../media/image394.png"/></Relationships>
</file>

<file path=ppt/slides/_rels/slide1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7.xml"/><Relationship Id="rId7" Type="http://schemas.openxmlformats.org/officeDocument/2006/relationships/image" Target="../media/image401.png"/><Relationship Id="rId6" Type="http://schemas.openxmlformats.org/officeDocument/2006/relationships/image" Target="../media/image400.png"/><Relationship Id="rId5" Type="http://schemas.openxmlformats.org/officeDocument/2006/relationships/image" Target="../media/image399.png"/><Relationship Id="rId4" Type="http://schemas.openxmlformats.org/officeDocument/2006/relationships/image" Target="../media/image398.png"/><Relationship Id="rId3" Type="http://schemas.openxmlformats.org/officeDocument/2006/relationships/image" Target="../media/image397.png"/><Relationship Id="rId2" Type="http://schemas.openxmlformats.org/officeDocument/2006/relationships/image" Target="../media/image396.png"/><Relationship Id="rId1" Type="http://schemas.openxmlformats.org/officeDocument/2006/relationships/image" Target="../media/image395.png"/></Relationships>
</file>

<file path=ppt/slides/_rels/slide1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image" Target="../media/image403.png"/><Relationship Id="rId1" Type="http://schemas.openxmlformats.org/officeDocument/2006/relationships/image" Target="../media/image402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tags" Target="../tags/tag89.xml"/><Relationship Id="rId6" Type="http://schemas.openxmlformats.org/officeDocument/2006/relationships/image" Target="../media/image409.png"/><Relationship Id="rId5" Type="http://schemas.openxmlformats.org/officeDocument/2006/relationships/image" Target="../media/image408.png"/><Relationship Id="rId4" Type="http://schemas.openxmlformats.org/officeDocument/2006/relationships/image" Target="../media/image407.png"/><Relationship Id="rId3" Type="http://schemas.openxmlformats.org/officeDocument/2006/relationships/image" Target="../media/image406.png"/><Relationship Id="rId2" Type="http://schemas.openxmlformats.org/officeDocument/2006/relationships/image" Target="../media/image405.png"/><Relationship Id="rId1" Type="http://schemas.openxmlformats.org/officeDocument/2006/relationships/image" Target="../media/image404.png"/></Relationships>
</file>

<file path=ppt/slides/_rels/slide1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8.png"/><Relationship Id="rId8" Type="http://schemas.openxmlformats.org/officeDocument/2006/relationships/image" Target="../media/image417.png"/><Relationship Id="rId7" Type="http://schemas.openxmlformats.org/officeDocument/2006/relationships/image" Target="../media/image416.png"/><Relationship Id="rId6" Type="http://schemas.openxmlformats.org/officeDocument/2006/relationships/image" Target="../media/image415.png"/><Relationship Id="rId5" Type="http://schemas.openxmlformats.org/officeDocument/2006/relationships/image" Target="../media/image414.png"/><Relationship Id="rId4" Type="http://schemas.openxmlformats.org/officeDocument/2006/relationships/image" Target="../media/image413.png"/><Relationship Id="rId3" Type="http://schemas.openxmlformats.org/officeDocument/2006/relationships/image" Target="../media/image412.png"/><Relationship Id="rId2" Type="http://schemas.openxmlformats.org/officeDocument/2006/relationships/image" Target="../media/image411.png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90.xml"/><Relationship Id="rId10" Type="http://schemas.openxmlformats.org/officeDocument/2006/relationships/image" Target="../media/image419.png"/><Relationship Id="rId1" Type="http://schemas.openxmlformats.org/officeDocument/2006/relationships/image" Target="../media/image410.png"/></Relationships>
</file>

<file path=ppt/slides/_rels/slide1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8.png"/><Relationship Id="rId8" Type="http://schemas.openxmlformats.org/officeDocument/2006/relationships/image" Target="../media/image427.png"/><Relationship Id="rId7" Type="http://schemas.openxmlformats.org/officeDocument/2006/relationships/image" Target="../media/image426.png"/><Relationship Id="rId6" Type="http://schemas.openxmlformats.org/officeDocument/2006/relationships/image" Target="../media/image425.png"/><Relationship Id="rId5" Type="http://schemas.openxmlformats.org/officeDocument/2006/relationships/image" Target="../media/image424.png"/><Relationship Id="rId4" Type="http://schemas.openxmlformats.org/officeDocument/2006/relationships/image" Target="../media/image423.png"/><Relationship Id="rId3" Type="http://schemas.openxmlformats.org/officeDocument/2006/relationships/image" Target="../media/image422.png"/><Relationship Id="rId2" Type="http://schemas.openxmlformats.org/officeDocument/2006/relationships/image" Target="../media/image421.png"/><Relationship Id="rId15" Type="http://schemas.openxmlformats.org/officeDocument/2006/relationships/slideLayout" Target="../slideLayouts/slideLayout4.xml"/><Relationship Id="rId14" Type="http://schemas.openxmlformats.org/officeDocument/2006/relationships/tags" Target="../tags/tag91.xml"/><Relationship Id="rId13" Type="http://schemas.openxmlformats.org/officeDocument/2006/relationships/image" Target="../media/image432.png"/><Relationship Id="rId12" Type="http://schemas.openxmlformats.org/officeDocument/2006/relationships/image" Target="../media/image431.png"/><Relationship Id="rId11" Type="http://schemas.openxmlformats.org/officeDocument/2006/relationships/image" Target="../media/image430.png"/><Relationship Id="rId10" Type="http://schemas.openxmlformats.org/officeDocument/2006/relationships/image" Target="../media/image429.png"/><Relationship Id="rId1" Type="http://schemas.openxmlformats.org/officeDocument/2006/relationships/image" Target="../media/image42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43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image" Target="../media/image434.png"/></Relationships>
</file>

<file path=ppt/slides/_rels/slide1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.xml"/><Relationship Id="rId4" Type="http://schemas.openxmlformats.org/officeDocument/2006/relationships/image" Target="../media/image438.png"/><Relationship Id="rId3" Type="http://schemas.openxmlformats.org/officeDocument/2006/relationships/image" Target="../media/image437.png"/><Relationship Id="rId2" Type="http://schemas.openxmlformats.org/officeDocument/2006/relationships/image" Target="../media/image436.png"/><Relationship Id="rId1" Type="http://schemas.openxmlformats.org/officeDocument/2006/relationships/image" Target="../media/image435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95.xml"/><Relationship Id="rId6" Type="http://schemas.openxmlformats.org/officeDocument/2006/relationships/image" Target="../media/image444.png"/><Relationship Id="rId5" Type="http://schemas.openxmlformats.org/officeDocument/2006/relationships/image" Target="../media/image443.png"/><Relationship Id="rId4" Type="http://schemas.openxmlformats.org/officeDocument/2006/relationships/image" Target="../media/image442.png"/><Relationship Id="rId3" Type="http://schemas.openxmlformats.org/officeDocument/2006/relationships/image" Target="../media/image441.png"/><Relationship Id="rId2" Type="http://schemas.openxmlformats.org/officeDocument/2006/relationships/image" Target="../media/image440.png"/><Relationship Id="rId1" Type="http://schemas.openxmlformats.org/officeDocument/2006/relationships/image" Target="../media/image439.png"/></Relationships>
</file>

<file path=ppt/slides/_rels/slide121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image" Target="../media/image452.png"/><Relationship Id="rId7" Type="http://schemas.openxmlformats.org/officeDocument/2006/relationships/image" Target="../media/image451.png"/><Relationship Id="rId6" Type="http://schemas.openxmlformats.org/officeDocument/2006/relationships/image" Target="../media/image450.png"/><Relationship Id="rId5" Type="http://schemas.openxmlformats.org/officeDocument/2006/relationships/image" Target="../media/image449.png"/><Relationship Id="rId4" Type="http://schemas.openxmlformats.org/officeDocument/2006/relationships/image" Target="../media/image448.png"/><Relationship Id="rId3" Type="http://schemas.openxmlformats.org/officeDocument/2006/relationships/image" Target="../media/image447.png"/><Relationship Id="rId2" Type="http://schemas.openxmlformats.org/officeDocument/2006/relationships/image" Target="../media/image446.png"/><Relationship Id="rId10" Type="http://schemas.openxmlformats.org/officeDocument/2006/relationships/slideLayout" Target="../slideLayouts/slideLayout9.xml"/><Relationship Id="rId1" Type="http://schemas.openxmlformats.org/officeDocument/2006/relationships/image" Target="../media/image445.png"/></Relationships>
</file>

<file path=ppt/slides/_rels/slide1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1.png"/><Relationship Id="rId8" Type="http://schemas.openxmlformats.org/officeDocument/2006/relationships/image" Target="../media/image460.png"/><Relationship Id="rId7" Type="http://schemas.openxmlformats.org/officeDocument/2006/relationships/image" Target="../media/image459.png"/><Relationship Id="rId6" Type="http://schemas.openxmlformats.org/officeDocument/2006/relationships/image" Target="../media/image458.png"/><Relationship Id="rId5" Type="http://schemas.openxmlformats.org/officeDocument/2006/relationships/image" Target="../media/image457.png"/><Relationship Id="rId4" Type="http://schemas.openxmlformats.org/officeDocument/2006/relationships/image" Target="../media/image456.png"/><Relationship Id="rId3" Type="http://schemas.openxmlformats.org/officeDocument/2006/relationships/image" Target="../media/image455.png"/><Relationship Id="rId2" Type="http://schemas.openxmlformats.org/officeDocument/2006/relationships/image" Target="../media/image454.png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97.xml"/><Relationship Id="rId14" Type="http://schemas.openxmlformats.org/officeDocument/2006/relationships/image" Target="../media/image466.png"/><Relationship Id="rId13" Type="http://schemas.openxmlformats.org/officeDocument/2006/relationships/image" Target="../media/image465.png"/><Relationship Id="rId12" Type="http://schemas.openxmlformats.org/officeDocument/2006/relationships/image" Target="../media/image464.png"/><Relationship Id="rId11" Type="http://schemas.openxmlformats.org/officeDocument/2006/relationships/image" Target="../media/image463.png"/><Relationship Id="rId10" Type="http://schemas.openxmlformats.org/officeDocument/2006/relationships/image" Target="../media/image462.png"/><Relationship Id="rId1" Type="http://schemas.openxmlformats.org/officeDocument/2006/relationships/image" Target="../media/image453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image" Target="../media/image467.png"/></Relationships>
</file>

<file path=ppt/slides/_rels/slide1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9.xml"/><Relationship Id="rId4" Type="http://schemas.openxmlformats.org/officeDocument/2006/relationships/image" Target="../media/image471.png"/><Relationship Id="rId3" Type="http://schemas.openxmlformats.org/officeDocument/2006/relationships/image" Target="../media/image470.png"/><Relationship Id="rId2" Type="http://schemas.openxmlformats.org/officeDocument/2006/relationships/image" Target="../media/image469.png"/><Relationship Id="rId1" Type="http://schemas.openxmlformats.org/officeDocument/2006/relationships/image" Target="../media/image468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72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image" Target="../media/image473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1.xml"/><Relationship Id="rId1" Type="http://schemas.openxmlformats.org/officeDocument/2006/relationships/image" Target="../media/image474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76.png"/><Relationship Id="rId1" Type="http://schemas.openxmlformats.org/officeDocument/2006/relationships/image" Target="../media/image475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2.xml"/></Relationships>
</file>

<file path=ppt/slides/_rels/slide1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3.xml"/><Relationship Id="rId3" Type="http://schemas.openxmlformats.org/officeDocument/2006/relationships/image" Target="../media/image479.png"/><Relationship Id="rId2" Type="http://schemas.openxmlformats.org/officeDocument/2006/relationships/image" Target="../media/image478.png"/><Relationship Id="rId1" Type="http://schemas.openxmlformats.org/officeDocument/2006/relationships/image" Target="../media/image477.png"/></Relationships>
</file>

<file path=ppt/slides/_rels/slide1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04.xml"/><Relationship Id="rId7" Type="http://schemas.openxmlformats.org/officeDocument/2006/relationships/image" Target="../media/image486.png"/><Relationship Id="rId6" Type="http://schemas.openxmlformats.org/officeDocument/2006/relationships/image" Target="../media/image485.png"/><Relationship Id="rId5" Type="http://schemas.openxmlformats.org/officeDocument/2006/relationships/image" Target="../media/image484.png"/><Relationship Id="rId4" Type="http://schemas.openxmlformats.org/officeDocument/2006/relationships/image" Target="../media/image483.png"/><Relationship Id="rId3" Type="http://schemas.openxmlformats.org/officeDocument/2006/relationships/image" Target="../media/image482.png"/><Relationship Id="rId2" Type="http://schemas.openxmlformats.org/officeDocument/2006/relationships/image" Target="../media/image481.png"/><Relationship Id="rId1" Type="http://schemas.openxmlformats.org/officeDocument/2006/relationships/image" Target="../media/image480.png"/></Relationships>
</file>

<file path=ppt/slides/_rels/slide1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tags" Target="../tags/tag105.xml"/><Relationship Id="rId2" Type="http://schemas.openxmlformats.org/officeDocument/2006/relationships/image" Target="../media/image488.png"/><Relationship Id="rId1" Type="http://schemas.openxmlformats.org/officeDocument/2006/relationships/image" Target="../media/image4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WordArt 2"/>
          <p:cNvSpPr>
            <a:spLocks noChangeArrowheads="1" noChangeShapeType="1" noTextEdit="1"/>
          </p:cNvSpPr>
          <p:nvPr/>
        </p:nvSpPr>
        <p:spPr bwMode="auto">
          <a:xfrm>
            <a:off x="1476375" y="1268413"/>
            <a:ext cx="4968875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信号与系统</a:t>
            </a:r>
            <a:endParaRPr lang="zh-CN" altLang="en-US" sz="3600" kern="10">
              <a:ln w="12700">
                <a:solidFill>
                  <a:srgbClr val="EAEAEA"/>
                </a:solidFill>
                <a:rou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2291" name="Picture 3" descr="head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76250"/>
            <a:ext cx="1133475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92" name="Object 2"/>
          <p:cNvGraphicFramePr>
            <a:graphicFrameLocks noChangeAspect="1"/>
          </p:cNvGraphicFramePr>
          <p:nvPr/>
        </p:nvGraphicFramePr>
        <p:xfrm>
          <a:off x="561975" y="5067300"/>
          <a:ext cx="1449388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3" name="剪辑" r:id="rId2" imgW="3954780" imgH="3497580" progId="">
                  <p:embed/>
                </p:oleObj>
              </mc:Choice>
              <mc:Fallback>
                <p:oleObj name="剪辑" r:id="rId2" imgW="3954780" imgH="349758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5067300"/>
                        <a:ext cx="1449388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3" name="Group 5"/>
          <p:cNvGrpSpPr/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sp>
          <p:nvSpPr>
            <p:cNvPr id="12296" name="Rectangle 6" descr="Narrow vertical"/>
            <p:cNvSpPr>
              <a:spLocks noChangeArrowheads="1"/>
            </p:cNvSpPr>
            <p:nvPr/>
          </p:nvSpPr>
          <p:spPr bwMode="auto">
            <a:xfrm>
              <a:off x="288" y="48"/>
              <a:ext cx="5184" cy="240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297" name="Rectangle 7" descr="Narrow horizontal"/>
            <p:cNvSpPr>
              <a:spLocks noChangeArrowheads="1"/>
            </p:cNvSpPr>
            <p:nvPr/>
          </p:nvSpPr>
          <p:spPr bwMode="auto">
            <a:xfrm>
              <a:off x="48" y="288"/>
              <a:ext cx="240" cy="374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298" name="Rectangle 8" descr="Narrow vertical"/>
            <p:cNvSpPr>
              <a:spLocks noChangeArrowheads="1"/>
            </p:cNvSpPr>
            <p:nvPr/>
          </p:nvSpPr>
          <p:spPr bwMode="auto">
            <a:xfrm>
              <a:off x="288" y="4032"/>
              <a:ext cx="5184" cy="240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299" name="Rectangle 9" descr="Narrow horizontal"/>
            <p:cNvSpPr>
              <a:spLocks noChangeArrowheads="1"/>
            </p:cNvSpPr>
            <p:nvPr/>
          </p:nvSpPr>
          <p:spPr bwMode="auto">
            <a:xfrm>
              <a:off x="5472" y="288"/>
              <a:ext cx="240" cy="374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300" name="Rectangle 10"/>
            <p:cNvSpPr>
              <a:spLocks noChangeArrowheads="1"/>
            </p:cNvSpPr>
            <p:nvPr/>
          </p:nvSpPr>
          <p:spPr bwMode="auto">
            <a:xfrm>
              <a:off x="288" y="288"/>
              <a:ext cx="5184" cy="3744"/>
            </a:xfrm>
            <a:prstGeom prst="rect">
              <a:avLst/>
            </a:prstGeom>
            <a:noFill/>
            <a:ln w="57150" cap="sq" cmpd="tri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2301" name="Rectangle 11"/>
            <p:cNvSpPr>
              <a:spLocks noChangeArrowheads="1"/>
            </p:cNvSpPr>
            <p:nvPr/>
          </p:nvSpPr>
          <p:spPr bwMode="auto">
            <a:xfrm>
              <a:off x="48" y="48"/>
              <a:ext cx="5664" cy="4224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2302" name="Group 12"/>
            <p:cNvGrpSpPr/>
            <p:nvPr/>
          </p:nvGrpSpPr>
          <p:grpSpPr bwMode="auto">
            <a:xfrm>
              <a:off x="0" y="0"/>
              <a:ext cx="384" cy="384"/>
              <a:chOff x="0" y="0"/>
              <a:chExt cx="384" cy="384"/>
            </a:xfrm>
          </p:grpSpPr>
          <p:sp>
            <p:nvSpPr>
              <p:cNvPr id="12312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6222" name="Oval 14"/>
              <p:cNvSpPr>
                <a:spLocks noChangeArrowheads="1"/>
              </p:cNvSpPr>
              <p:nvPr/>
            </p:nvSpPr>
            <p:spPr bwMode="auto">
              <a:xfrm>
                <a:off x="101" y="101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algn="ctr"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kumimoji="1" lang="zh-CN" altLang="zh-CN" sz="240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2303" name="Group 15"/>
            <p:cNvGrpSpPr/>
            <p:nvPr/>
          </p:nvGrpSpPr>
          <p:grpSpPr bwMode="auto">
            <a:xfrm>
              <a:off x="0" y="3935"/>
              <a:ext cx="384" cy="384"/>
              <a:chOff x="0" y="3935"/>
              <a:chExt cx="384" cy="384"/>
            </a:xfrm>
          </p:grpSpPr>
          <p:sp>
            <p:nvSpPr>
              <p:cNvPr id="12310" name="Rectangle 16"/>
              <p:cNvSpPr>
                <a:spLocks noChangeArrowheads="1"/>
              </p:cNvSpPr>
              <p:nvPr/>
            </p:nvSpPr>
            <p:spPr bwMode="auto">
              <a:xfrm>
                <a:off x="0" y="3935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6225" name="Oval 17"/>
              <p:cNvSpPr>
                <a:spLocks noChangeArrowheads="1"/>
              </p:cNvSpPr>
              <p:nvPr/>
            </p:nvSpPr>
            <p:spPr bwMode="auto">
              <a:xfrm>
                <a:off x="101" y="4036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algn="ctr"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kumimoji="1" lang="zh-CN" altLang="zh-CN" sz="240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2304" name="Group 18"/>
            <p:cNvGrpSpPr/>
            <p:nvPr/>
          </p:nvGrpSpPr>
          <p:grpSpPr bwMode="auto">
            <a:xfrm>
              <a:off x="5375" y="3935"/>
              <a:ext cx="384" cy="384"/>
              <a:chOff x="5375" y="3935"/>
              <a:chExt cx="384" cy="384"/>
            </a:xfrm>
          </p:grpSpPr>
          <p:sp>
            <p:nvSpPr>
              <p:cNvPr id="12308" name="Rectangle 19"/>
              <p:cNvSpPr>
                <a:spLocks noChangeArrowheads="1"/>
              </p:cNvSpPr>
              <p:nvPr/>
            </p:nvSpPr>
            <p:spPr bwMode="auto">
              <a:xfrm>
                <a:off x="5375" y="3935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6228" name="Oval 20"/>
              <p:cNvSpPr>
                <a:spLocks noChangeArrowheads="1"/>
              </p:cNvSpPr>
              <p:nvPr/>
            </p:nvSpPr>
            <p:spPr bwMode="auto">
              <a:xfrm>
                <a:off x="5476" y="4036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algn="ctr"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kumimoji="1" lang="zh-CN" altLang="zh-CN" sz="240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2305" name="Group 21"/>
            <p:cNvGrpSpPr/>
            <p:nvPr/>
          </p:nvGrpSpPr>
          <p:grpSpPr bwMode="auto">
            <a:xfrm>
              <a:off x="5375" y="0"/>
              <a:ext cx="384" cy="384"/>
              <a:chOff x="5375" y="0"/>
              <a:chExt cx="384" cy="384"/>
            </a:xfrm>
          </p:grpSpPr>
          <p:sp>
            <p:nvSpPr>
              <p:cNvPr id="12306" name="Rectangle 22"/>
              <p:cNvSpPr>
                <a:spLocks noChangeArrowheads="1"/>
              </p:cNvSpPr>
              <p:nvPr/>
            </p:nvSpPr>
            <p:spPr bwMode="auto">
              <a:xfrm>
                <a:off x="5375" y="0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kumimoji="1"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6231" name="Oval 23"/>
              <p:cNvSpPr>
                <a:spLocks noChangeArrowheads="1"/>
              </p:cNvSpPr>
              <p:nvPr/>
            </p:nvSpPr>
            <p:spPr bwMode="auto">
              <a:xfrm>
                <a:off x="5476" y="101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algn="ctr"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kumimoji="1" lang="zh-CN" altLang="zh-CN" sz="240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p:grpSp>
      </p:grpSp>
      <p:pic>
        <p:nvPicPr>
          <p:cNvPr id="12294" name="Picture 24" descr="Exa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725" y="4746625"/>
            <a:ext cx="1370013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6233" name="Rectangle 25"/>
          <p:cNvSpPr>
            <a:spLocks noChangeArrowheads="1"/>
          </p:cNvSpPr>
          <p:nvPr/>
        </p:nvSpPr>
        <p:spPr bwMode="auto">
          <a:xfrm>
            <a:off x="2051050" y="3644900"/>
            <a:ext cx="5640388" cy="842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30612" tIns="65306" rIns="130612" bIns="65306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i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第七章 离散时间系统的时域分析</a:t>
            </a:r>
            <a:endParaRPr lang="zh-CN" altLang="en-US" sz="2400" i="1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78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606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606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6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33" grpId="0" advAuto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5175" y="333375"/>
            <a:ext cx="8378825" cy="1143000"/>
          </a:xfrm>
        </p:spPr>
        <p:txBody>
          <a:bodyPr/>
          <a:lstStyle/>
          <a:p>
            <a:r>
              <a:rPr lang="zh-CN" altLang="en-US" sz="5400" b="1">
                <a:ea typeface="华文新魏" panose="02010800040101010101" pitchFamily="2" charset="-122"/>
              </a:rPr>
              <a:t>本章重点</a:t>
            </a:r>
            <a:endParaRPr lang="zh-CN" altLang="en-US" sz="5400" b="1">
              <a:ea typeface="华文新魏" panose="02010800040101010101" pitchFamily="2" charset="-122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411413" y="2133600"/>
            <a:ext cx="39052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9900FF"/>
              </a:buClr>
              <a:buFont typeface="Wingdings" panose="05000000000000000000" pitchFamily="2" charset="2"/>
              <a:buChar char="l"/>
            </a:pPr>
            <a:r>
              <a:rPr kumimoji="1" lang="zh-CN" altLang="en-US" sz="320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抽样定理</a:t>
            </a:r>
            <a:endParaRPr kumimoji="1" lang="zh-CN" altLang="en-US" sz="3200">
              <a:solidFill>
                <a:srgbClr val="9900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ctr" eaLnBrk="1" hangingPunct="1">
              <a:lnSpc>
                <a:spcPct val="130000"/>
              </a:lnSpc>
              <a:buClr>
                <a:srgbClr val="9900FF"/>
              </a:buClr>
              <a:buFont typeface="Wingdings" panose="05000000000000000000" pitchFamily="2" charset="2"/>
              <a:buChar char="l"/>
            </a:pPr>
            <a:endParaRPr kumimoji="1" lang="zh-CN" altLang="en-US" sz="3200">
              <a:solidFill>
                <a:srgbClr val="9900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Clr>
                <a:srgbClr val="9900FF"/>
              </a:buClr>
              <a:buFont typeface="Wingdings" panose="05000000000000000000" pitchFamily="2" charset="2"/>
              <a:buChar char="l"/>
            </a:pPr>
            <a:r>
              <a:rPr lang="zh-CN" altLang="en-US" sz="320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时域分析方法</a:t>
            </a:r>
            <a:endParaRPr lang="zh-CN" altLang="en-US" sz="3200">
              <a:solidFill>
                <a:srgbClr val="9900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B9D3971-44ED-45AB-9294-C6220FF7D1FF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489"/>
    </mc:Choice>
    <mc:Fallback>
      <p:transition spd="slow" advTm="314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11163" y="0"/>
            <a:ext cx="2808287" cy="608013"/>
          </a:xfrm>
          <a:solidFill>
            <a:schemeClr val="accent2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§7.1  </a:t>
            </a:r>
            <a:r>
              <a:rPr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概述</a:t>
            </a:r>
            <a:endParaRPr lang="zh-CN" alt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39813" y="1717675"/>
            <a:ext cx="6481762" cy="3887788"/>
          </a:xfrm>
          <a:solidFill>
            <a:schemeClr val="bg1"/>
          </a:solidFill>
          <a:ln w="28575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按时间特性：</a:t>
            </a:r>
            <a:endParaRPr lang="zh-CN" altLang="en-US" sz="2400" b="1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        连续（时间</a:t>
            </a:r>
            <a:r>
              <a:rPr lang="en-US" altLang="zh-CN" sz="2400" b="1"/>
              <a:t>t</a:t>
            </a:r>
            <a:r>
              <a:rPr lang="zh-CN" altLang="en-US" sz="2400" b="1"/>
              <a:t>可用全体实数描述）</a:t>
            </a:r>
            <a:endParaRPr lang="zh-CN" altLang="en-US" sz="2400" b="1"/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        离散（时间</a:t>
            </a:r>
            <a:r>
              <a:rPr lang="en-US" altLang="zh-CN" sz="2400" b="1"/>
              <a:t>t</a:t>
            </a:r>
            <a:r>
              <a:rPr lang="zh-CN" altLang="en-US" sz="2400" b="1"/>
              <a:t>用特定的实数描述）</a:t>
            </a:r>
            <a:endParaRPr lang="zh-CN" altLang="en-US" sz="2400" b="1"/>
          </a:p>
          <a:p>
            <a:pPr>
              <a:lnSpc>
                <a:spcPct val="125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按幅值特性：</a:t>
            </a:r>
            <a:endParaRPr lang="zh-CN" altLang="en-US" sz="2400" b="1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        连续（全体实数可以作为信号的取值）</a:t>
            </a:r>
            <a:endParaRPr lang="zh-CN" altLang="en-US" sz="2400" b="1"/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        量化（特定实数可以作为信号的取值） </a:t>
            </a:r>
            <a:endParaRPr lang="zh-CN" altLang="en-US" sz="2400" b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5EF4C66-EADF-4F98-A761-4386933CB918}" type="datetime1">
              <a:rPr lang="zh-CN" altLang="en-US"/>
            </a:fld>
            <a:endParaRPr lang="en-US" altLang="zh-CN" dirty="0"/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587375" y="881063"/>
            <a:ext cx="3221038" cy="625475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367030" indent="-187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125000"/>
              </a:lnSpc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</a:rPr>
              <a:t>一、对信号的划分</a:t>
            </a:r>
            <a:endParaRPr lang="zh-CN" altLang="en-US" sz="28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" name="墨迹 1"/>
          <p:cNvSpPr/>
          <p:nvPr/>
        </p:nvSpPr>
        <p:spPr bwMode="auto">
          <a:xfrm>
            <a:off x="7847459" y="2856239"/>
            <a:ext cx="2" cy="2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 advTm="14180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0723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0723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072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07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07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07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07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07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07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07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07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07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07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07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07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07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07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07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5" grpId="0" animBg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1439863"/>
            <a:ext cx="7102475" cy="3529012"/>
          </a:xfrm>
          <a:solidFill>
            <a:schemeClr val="bg1"/>
          </a:solidFill>
          <a:ln w="28575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lnSpc>
                <a:spcPct val="155000"/>
              </a:lnSpc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因此信号一般分为以下四类：</a:t>
            </a:r>
            <a:endParaRPr lang="zh-CN" altLang="en-US" sz="2400" b="1">
              <a:solidFill>
                <a:srgbClr val="FF0000"/>
              </a:solidFill>
            </a:endParaRPr>
          </a:p>
          <a:p>
            <a:pPr>
              <a:lnSpc>
                <a:spcPct val="155000"/>
              </a:lnSpc>
              <a:buFont typeface="Wingdings" panose="05000000000000000000" pitchFamily="2" charset="2"/>
              <a:buChar char="l"/>
            </a:pPr>
            <a:r>
              <a:rPr lang="zh-CN" altLang="en-US" sz="2400" b="1"/>
              <a:t>模拟信号：               时间连续，幅度连续</a:t>
            </a:r>
            <a:endParaRPr lang="zh-CN" altLang="en-US" sz="2400" b="1"/>
          </a:p>
          <a:p>
            <a:pPr>
              <a:lnSpc>
                <a:spcPct val="155000"/>
              </a:lnSpc>
              <a:buFont typeface="Wingdings" panose="05000000000000000000" pitchFamily="2" charset="2"/>
              <a:buChar char="l"/>
            </a:pPr>
            <a:r>
              <a:rPr lang="zh-CN" altLang="en-US" sz="2400" b="1"/>
              <a:t>量化信号</a:t>
            </a:r>
            <a:r>
              <a:rPr lang="en-US" altLang="zh-CN" sz="2400" b="1"/>
              <a:t>(</a:t>
            </a:r>
            <a:r>
              <a:rPr lang="zh-CN" altLang="en-US" sz="2400" b="1"/>
              <a:t>连续阶跃</a:t>
            </a:r>
            <a:r>
              <a:rPr lang="en-US" altLang="zh-CN" sz="2400" b="1"/>
              <a:t>)</a:t>
            </a:r>
            <a:r>
              <a:rPr lang="zh-CN" altLang="en-US" sz="2400" b="1"/>
              <a:t>：时间连续，幅度量化 </a:t>
            </a:r>
            <a:endParaRPr lang="zh-CN" altLang="en-US" sz="2400" b="1"/>
          </a:p>
          <a:p>
            <a:pPr>
              <a:lnSpc>
                <a:spcPct val="155000"/>
              </a:lnSpc>
              <a:buFont typeface="Wingdings" panose="05000000000000000000" pitchFamily="2" charset="2"/>
              <a:buChar char="l"/>
            </a:pPr>
            <a:r>
              <a:rPr lang="zh-CN" altLang="en-US" sz="2400" b="1"/>
              <a:t>抽样信号：               时间离散，幅度连续 </a:t>
            </a:r>
            <a:endParaRPr lang="zh-CN" altLang="en-US" sz="2400" b="1"/>
          </a:p>
          <a:p>
            <a:pPr>
              <a:lnSpc>
                <a:spcPct val="155000"/>
              </a:lnSpc>
              <a:buFont typeface="Wingdings" panose="05000000000000000000" pitchFamily="2" charset="2"/>
              <a:buChar char="l"/>
            </a:pPr>
            <a:r>
              <a:rPr lang="zh-CN" altLang="en-US" sz="2400" b="1"/>
              <a:t>数字信号：               时间离散，幅度离散       </a:t>
            </a:r>
            <a:endParaRPr lang="zh-CN" altLang="en-US" sz="2400" b="1"/>
          </a:p>
        </p:txBody>
      </p:sp>
      <p:sp>
        <p:nvSpPr>
          <p:cNvPr id="608261" name="Rectangle 5"/>
          <p:cNvSpPr>
            <a:spLocks noChangeArrowheads="1"/>
          </p:cNvSpPr>
          <p:nvPr/>
        </p:nvSpPr>
        <p:spPr bwMode="auto">
          <a:xfrm>
            <a:off x="441325" y="0"/>
            <a:ext cx="2808288" cy="60801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§7.1  </a:t>
            </a:r>
            <a:r>
              <a: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概述</a:t>
            </a: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34A4A7E-F90E-4284-B588-8B5753F6D5F0}" type="datetime1">
              <a:rPr lang="zh-CN" altLang="en-US"/>
            </a:fld>
            <a:endParaRPr lang="en-US" altLang="zh-CN"/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>
            <a:off x="6886575" y="2506663"/>
            <a:ext cx="531813" cy="338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sm" len="sm"/>
          </a:ln>
          <a:effectLst>
            <a:outerShdw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 flipV="1">
            <a:off x="6886575" y="2860675"/>
            <a:ext cx="546100" cy="338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sm" len="sm"/>
          </a:ln>
          <a:effectLst>
            <a:outerShdw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7434263" y="2563813"/>
            <a:ext cx="1709737" cy="455612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939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</a:rPr>
              <a:t>连续信号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15368" name="Line 9"/>
          <p:cNvSpPr>
            <a:spLocks noChangeShapeType="1"/>
          </p:cNvSpPr>
          <p:nvPr/>
        </p:nvSpPr>
        <p:spPr bwMode="auto">
          <a:xfrm>
            <a:off x="6931025" y="3760788"/>
            <a:ext cx="531813" cy="338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sm" len="sm"/>
          </a:ln>
          <a:effectLst>
            <a:outerShdw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69" name="Line 10"/>
          <p:cNvSpPr>
            <a:spLocks noChangeShapeType="1"/>
          </p:cNvSpPr>
          <p:nvPr/>
        </p:nvSpPr>
        <p:spPr bwMode="auto">
          <a:xfrm flipV="1">
            <a:off x="6931025" y="4114800"/>
            <a:ext cx="546100" cy="338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sm" len="sm"/>
          </a:ln>
          <a:effectLst>
            <a:outerShdw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70" name="Text Box 11"/>
          <p:cNvSpPr txBox="1">
            <a:spLocks noChangeArrowheads="1"/>
          </p:cNvSpPr>
          <p:nvPr/>
        </p:nvSpPr>
        <p:spPr bwMode="auto">
          <a:xfrm>
            <a:off x="7521575" y="3867150"/>
            <a:ext cx="1622425" cy="455613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</a:rPr>
              <a:t>离散信号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2" name="墨迹 1"/>
          <p:cNvSpPr/>
          <p:nvPr/>
        </p:nvSpPr>
        <p:spPr bwMode="auto">
          <a:xfrm>
            <a:off x="858960" y="1873440"/>
            <a:ext cx="7966440" cy="280944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 advTm="4946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0825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0825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082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0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0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08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08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08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08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08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08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08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08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08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08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08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08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58" grpId="0" animBg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89" name="Rectangle 13"/>
          <p:cNvSpPr>
            <a:spLocks noChangeArrowheads="1"/>
          </p:cNvSpPr>
          <p:nvPr/>
        </p:nvSpPr>
        <p:spPr bwMode="auto">
          <a:xfrm>
            <a:off x="560388" y="1082675"/>
            <a:ext cx="8027987" cy="5086350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262255" indent="-26225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离散信号与数字信号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spcBef>
                <a:spcPct val="25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离散信号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是只在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离散时间点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上才有定义的信号。它可由连续信号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抽取离散时间点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的值而得到。理论上讲，离散时间点可以是任意的 ；但在实际应用上，这种抽取则是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等间隔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的。</a:t>
            </a:r>
            <a:endParaRPr kumimoji="1"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spcBef>
                <a:spcPct val="25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 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幅值为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连续的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离散信号称为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离散序列（抽样序列）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。而幅值为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即幅值只能取若干有限值之一的离散时间信号叫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数字信号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。随着计算机的发展 ，数字信号占据的比重越来越大。</a:t>
            </a:r>
            <a:endParaRPr kumimoji="1"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06201" name="Rectangle 25"/>
          <p:cNvSpPr>
            <a:spLocks noChangeArrowheads="1"/>
          </p:cNvSpPr>
          <p:nvPr/>
        </p:nvSpPr>
        <p:spPr bwMode="auto">
          <a:xfrm>
            <a:off x="457200" y="0"/>
            <a:ext cx="2808288" cy="60801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§7.1  </a:t>
            </a:r>
            <a:r>
              <a: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概述</a:t>
            </a: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3304187-1772-4A78-A60D-9590D75D441D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008000" y="546840"/>
            <a:ext cx="6050160" cy="339012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527"/>
    </mc:Choice>
    <mc:Fallback>
      <p:transition spd="slow" advTm="1155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6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6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6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6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6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6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4E2D303-EF7D-4DBF-AB46-39334C9B45DC}" type="datetime1">
              <a:rPr lang="zh-CN" altLang="en-US"/>
            </a:fld>
            <a:endParaRPr lang="zh-CN" altLang="en-US"/>
          </a:p>
        </p:txBody>
      </p:sp>
      <p:sp>
        <p:nvSpPr>
          <p:cNvPr id="496643" name="Rectangle 3"/>
          <p:cNvSpPr>
            <a:spLocks noChangeArrowheads="1"/>
          </p:cNvSpPr>
          <p:nvPr/>
        </p:nvSpPr>
        <p:spPr bwMode="auto">
          <a:xfrm>
            <a:off x="755650" y="1196975"/>
            <a:ext cx="7848600" cy="3722688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离散时间系统与混合系统</a:t>
            </a:r>
            <a:endParaRPr kumimoji="1"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449580" indent="-449580" eaLnBrk="1" hangingPunct="1">
              <a:lnSpc>
                <a:spcPct val="13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一个系统若其输入信号与输出信号都是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离散时间信号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则称之为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离散时间系统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。如数字计算机。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449580" indent="-449580" eaLnBrk="1" hangingPunct="1">
              <a:lnSpc>
                <a:spcPct val="13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kumimoji="1"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工程应用</a:t>
            </a:r>
            <a:r>
              <a:rPr kumimoji="1"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中，常将离散时间系统与连续系统混合使用。即实用中一个系统的一部分可能是连续信号，另一部分可能是数字信号，则该系统称为混合系统。如工业控制系统。</a:t>
            </a:r>
            <a:endParaRPr kumimoji="1"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496645" name="Picture 5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5013325"/>
            <a:ext cx="8310563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6647" name="Rectangle 7"/>
          <p:cNvSpPr>
            <a:spLocks noChangeArrowheads="1"/>
          </p:cNvSpPr>
          <p:nvPr/>
        </p:nvSpPr>
        <p:spPr bwMode="auto">
          <a:xfrm>
            <a:off x="396875" y="0"/>
            <a:ext cx="3472760" cy="60801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§7.1  </a:t>
            </a:r>
            <a:r>
              <a: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概述</a:t>
            </a:r>
            <a:r>
              <a:rPr lang="en-US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**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2" name="墨迹 1"/>
          <p:cNvSpPr/>
          <p:nvPr/>
        </p:nvSpPr>
        <p:spPr bwMode="auto">
          <a:xfrm>
            <a:off x="661680" y="3316680"/>
            <a:ext cx="7494840" cy="34873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0354"/>
    </mc:Choice>
    <mc:Fallback>
      <p:transition spd="slow" advTm="3303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96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6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96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7" name="Rectangle 3"/>
          <p:cNvSpPr>
            <a:spLocks noChangeArrowheads="1"/>
          </p:cNvSpPr>
          <p:nvPr/>
        </p:nvSpPr>
        <p:spPr bwMode="auto">
          <a:xfrm>
            <a:off x="971550" y="1412875"/>
            <a:ext cx="7561263" cy="4554538"/>
          </a:xfrm>
          <a:prstGeom prst="rect">
            <a:avLst/>
          </a:prstGeom>
          <a:noFill/>
          <a:ln w="38100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58775" indent="-35877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离散系统的描述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 在</a:t>
            </a:r>
            <a:r>
              <a:rPr kumimoji="1" lang="zh-CN" altLang="en-US" sz="280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时域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中：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45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 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连续系统可用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微分方程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描述，集中参数线性时不变连续系统由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常系数常微分方程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描述。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45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 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离散系统可用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差分方程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描述 ，集中参数线性移不变离散系统用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常系数差分方程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描述。 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97669" name="Rectangle 5"/>
          <p:cNvSpPr>
            <a:spLocks noChangeArrowheads="1"/>
          </p:cNvSpPr>
          <p:nvPr/>
        </p:nvSpPr>
        <p:spPr bwMode="auto">
          <a:xfrm>
            <a:off x="350838" y="0"/>
            <a:ext cx="2808287" cy="60801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§7.1  </a:t>
            </a:r>
            <a:r>
              <a: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概述</a:t>
            </a: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ACB32F1-7DD7-4E3C-BC7F-57C268E03170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044360" y="2798280"/>
            <a:ext cx="7363080" cy="316476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150"/>
    </mc:Choice>
    <mc:Fallback>
      <p:transition spd="slow" advTm="70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9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9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97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97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97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1" name="Rectangle 3"/>
          <p:cNvSpPr>
            <a:spLocks noChangeArrowheads="1"/>
          </p:cNvSpPr>
          <p:nvPr/>
        </p:nvSpPr>
        <p:spPr bwMode="auto">
          <a:xfrm>
            <a:off x="1258888" y="1268413"/>
            <a:ext cx="6553200" cy="449262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频域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分析：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连续：</a:t>
            </a:r>
            <a:r>
              <a:rPr kumimoji="1" lang="en-US" altLang="zh-CN" sz="2800">
                <a:latin typeface="Times New Roman" panose="02020603050405020304" pitchFamily="18" charset="0"/>
                <a:ea typeface="华文中宋" panose="02010600040101010101" pitchFamily="2" charset="-122"/>
              </a:rPr>
              <a:t>FT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kumimoji="1" lang="en-US" altLang="zh-CN" sz="2800">
                <a:latin typeface="Times New Roman" panose="02020603050405020304" pitchFamily="18" charset="0"/>
                <a:ea typeface="华文中宋" panose="02010600040101010101" pitchFamily="2" charset="-122"/>
              </a:rPr>
              <a:t>LT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到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频域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 、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复频域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求解；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离散：</a:t>
            </a:r>
            <a:r>
              <a:rPr kumimoji="1" lang="en-US" altLang="zh-CN" sz="2800">
                <a:latin typeface="Times New Roman" panose="02020603050405020304" pitchFamily="18" charset="0"/>
                <a:ea typeface="华文中宋" panose="02010600040101010101" pitchFamily="2" charset="-122"/>
              </a:rPr>
              <a:t>ZT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到</a:t>
            </a:r>
            <a:r>
              <a:rPr kumimoji="1" lang="en-US" altLang="zh-CN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Z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域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求解。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可见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，离散系统与连续系统在分析方法上有许多的相似之处，但也有一些特殊之处。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98693" name="Rectangle 5"/>
          <p:cNvSpPr>
            <a:spLocks noChangeArrowheads="1"/>
          </p:cNvSpPr>
          <p:nvPr/>
        </p:nvSpPr>
        <p:spPr bwMode="auto">
          <a:xfrm>
            <a:off x="346075" y="0"/>
            <a:ext cx="2808288" cy="60801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§7.1  </a:t>
            </a:r>
            <a:r>
              <a:rPr lang="zh-CN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概述</a:t>
            </a:r>
            <a:endParaRPr lang="zh-CN" altLang="en-US" sz="32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0FE61A-0134-4D16-8F2C-6FFD42CA8B14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388520" y="1067760"/>
            <a:ext cx="6305400" cy="473148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912"/>
    </mc:Choice>
    <mc:Fallback>
      <p:transition spd="slow" advTm="879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9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2" name="Rectangle 4"/>
          <p:cNvSpPr>
            <a:spLocks noChangeArrowheads="1"/>
          </p:cNvSpPr>
          <p:nvPr/>
        </p:nvSpPr>
        <p:spPr bwMode="auto">
          <a:xfrm>
            <a:off x="539750" y="188913"/>
            <a:ext cx="8348218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805" indent="-908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Toots Regular" panose="02010600010101010101" charset="-122"/>
              <a:buChar char=" "/>
            </a:pP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</a:rPr>
              <a:t>二、  离散时间信号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Toots Regular" panose="02010600010101010101" charset="-122"/>
              <a:buChar char=" "/>
            </a:pP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、定义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dirty="0">
                <a:solidFill>
                  <a:srgbClr val="05013F"/>
                </a:solidFill>
                <a:latin typeface="华文中宋" panose="02010600040101010101" pitchFamily="2" charset="-122"/>
                <a:ea typeface="方正楷体_GB2312" panose="02000000000000000000" charset="-122"/>
              </a:rPr>
              <a:t>  </a:t>
            </a:r>
            <a:r>
              <a: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方正楷体_GB2312" panose="02000000000000000000" charset="-122"/>
              </a:rPr>
              <a:t>只在一系列离散的时间点上才有确定值的信号。</a:t>
            </a:r>
            <a:endParaRPr lang="zh-CN" altLang="en-US" sz="2400" dirty="0">
              <a:solidFill>
                <a:srgbClr val="800000"/>
              </a:solidFill>
              <a:latin typeface="Times New Roman" panose="02020603050405020304" pitchFamily="18" charset="0"/>
              <a:ea typeface="方正楷体_GB2312" panose="02000000000000000000" charset="-122"/>
            </a:endParaRPr>
          </a:p>
        </p:txBody>
      </p:sp>
      <p:sp>
        <p:nvSpPr>
          <p:cNvPr id="560133" name="Text Box 5"/>
          <p:cNvSpPr txBox="1">
            <a:spLocks noChangeArrowheads="1"/>
          </p:cNvSpPr>
          <p:nvPr/>
        </p:nvSpPr>
        <p:spPr bwMode="auto">
          <a:xfrm>
            <a:off x="442940" y="4064000"/>
            <a:ext cx="3682834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006600"/>
                </a:solidFill>
                <a:latin typeface="宋体" panose="02010600030101010101" pitchFamily="2" charset="-122"/>
              </a:rPr>
              <a:t>    取样间隔为均匀间隔</a:t>
            </a:r>
            <a:r>
              <a:rPr kumimoji="1" lang="en-US" altLang="zh-CN" sz="2400" dirty="0">
                <a:solidFill>
                  <a:srgbClr val="0000FF"/>
                </a:solidFill>
                <a:latin typeface="宋体" panose="02010600030101010101" pitchFamily="2" charset="-122"/>
              </a:rPr>
              <a:t>T</a:t>
            </a:r>
            <a:r>
              <a:rPr kumimoji="1" lang="zh-CN" altLang="en-US" sz="2400" dirty="0">
                <a:solidFill>
                  <a:srgbClr val="006600"/>
                </a:solidFill>
                <a:latin typeface="宋体" panose="02010600030101010101" pitchFamily="2" charset="-122"/>
              </a:rPr>
              <a:t>，得到抽样信号：</a:t>
            </a:r>
            <a:r>
              <a:rPr kumimoji="1" lang="en-US" altLang="zh-CN" sz="2400" dirty="0">
                <a:solidFill>
                  <a:srgbClr val="006600"/>
                </a:solidFill>
                <a:latin typeface="宋体" panose="02010600030101010101" pitchFamily="2" charset="-122"/>
              </a:rPr>
              <a:t>f(</a:t>
            </a:r>
            <a:r>
              <a:rPr kumimoji="1" lang="en-US" altLang="zh-CN" sz="2400" dirty="0" err="1">
                <a:solidFill>
                  <a:srgbClr val="006600"/>
                </a:solidFill>
                <a:latin typeface="宋体" panose="02010600030101010101" pitchFamily="2" charset="-122"/>
              </a:rPr>
              <a:t>kT</a:t>
            </a:r>
            <a:r>
              <a:rPr kumimoji="1" lang="en-US" altLang="zh-CN" sz="2400" dirty="0">
                <a:solidFill>
                  <a:srgbClr val="0066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或</a:t>
            </a:r>
            <a:r>
              <a:rPr kumimoji="1" lang="en-US" altLang="zh-CN" sz="2400" dirty="0">
                <a:solidFill>
                  <a:srgbClr val="006600"/>
                </a:solidFill>
                <a:latin typeface="宋体" panose="02010600030101010101" pitchFamily="2" charset="-122"/>
              </a:rPr>
              <a:t>f(</a:t>
            </a:r>
            <a:r>
              <a:rPr kumimoji="1" lang="en-US" altLang="zh-CN" sz="2400" dirty="0" err="1">
                <a:solidFill>
                  <a:srgbClr val="006600"/>
                </a:solidFill>
                <a:latin typeface="宋体" panose="02010600030101010101" pitchFamily="2" charset="-122"/>
              </a:rPr>
              <a:t>nT</a:t>
            </a:r>
            <a:r>
              <a:rPr kumimoji="1" lang="en-US" altLang="zh-CN" sz="2400" dirty="0">
                <a:solidFill>
                  <a:srgbClr val="0066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2400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560134" name="Text Box 6"/>
          <p:cNvSpPr txBox="1">
            <a:spLocks noChangeArrowheads="1"/>
          </p:cNvSpPr>
          <p:nvPr/>
        </p:nvSpPr>
        <p:spPr bwMode="auto">
          <a:xfrm>
            <a:off x="826294" y="1254125"/>
            <a:ext cx="8061674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kumimoji="1" lang="zh-CN" altLang="en-US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       而在其它的时间上无意义，因此它在时间上是不连续的序列</a:t>
            </a:r>
            <a:r>
              <a:rPr kumimoji="1" lang="en-US" altLang="zh-CN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是离散时间变量的</a:t>
            </a:r>
            <a:r>
              <a:rPr kumimoji="1" lang="en-US" altLang="zh-CN" sz="2400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t</a:t>
            </a:r>
            <a:r>
              <a:rPr kumimoji="1" lang="en-US" altLang="zh-CN" sz="2400" baseline="-25000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函数。</a:t>
            </a:r>
            <a:endParaRPr kumimoji="1"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560135" name="Text Box 7"/>
          <p:cNvSpPr txBox="1">
            <a:spLocks noChangeArrowheads="1"/>
          </p:cNvSpPr>
          <p:nvPr/>
        </p:nvSpPr>
        <p:spPr bwMode="auto">
          <a:xfrm>
            <a:off x="705142" y="2449513"/>
            <a:ext cx="2667000" cy="1400175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获取方法：</a:t>
            </a:r>
            <a:endParaRPr kumimoji="1" lang="zh-CN" altLang="en-US" sz="24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3300"/>
                </a:solidFill>
                <a:latin typeface="Tahoma" panose="020B0604030504040204" pitchFamily="34" charset="0"/>
              </a:rPr>
              <a:t>1</a:t>
            </a:r>
            <a:r>
              <a:rPr kumimoji="1" lang="zh-CN" altLang="en-US" sz="2400" dirty="0">
                <a:solidFill>
                  <a:srgbClr val="003300"/>
                </a:solidFill>
                <a:latin typeface="Tahoma" panose="020B0604030504040204" pitchFamily="34" charset="0"/>
              </a:rPr>
              <a:t>）直接获取</a:t>
            </a:r>
            <a:endParaRPr kumimoji="1" lang="zh-CN" altLang="en-US" sz="2400" dirty="0">
              <a:solidFill>
                <a:srgbClr val="0033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003300"/>
                </a:solidFill>
                <a:latin typeface="Tahoma" panose="020B0604030504040204" pitchFamily="34" charset="0"/>
              </a:rPr>
              <a:t>2</a:t>
            </a:r>
            <a:r>
              <a:rPr kumimoji="1" lang="zh-CN" altLang="en-US" sz="2400" dirty="0">
                <a:solidFill>
                  <a:srgbClr val="003300"/>
                </a:solidFill>
                <a:latin typeface="Tahoma" panose="020B0604030504040204" pitchFamily="34" charset="0"/>
              </a:rPr>
              <a:t>）连续信号取样</a:t>
            </a:r>
            <a:endParaRPr kumimoji="1" lang="zh-CN" altLang="en-US" sz="2400" dirty="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p:sp>
        <p:nvSpPr>
          <p:cNvPr id="560136" name="Text Box 8"/>
          <p:cNvSpPr txBox="1">
            <a:spLocks noChangeArrowheads="1"/>
          </p:cNvSpPr>
          <p:nvPr/>
        </p:nvSpPr>
        <p:spPr bwMode="auto">
          <a:xfrm>
            <a:off x="4331640" y="2350386"/>
            <a:ext cx="1981200" cy="1403350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表示方法：</a:t>
            </a:r>
            <a:endParaRPr kumimoji="1" lang="zh-CN" altLang="en-US" sz="24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800000"/>
                </a:solidFill>
                <a:latin typeface="Tahoma" panose="020B0604030504040204" pitchFamily="34" charset="0"/>
              </a:rPr>
              <a:t>1</a:t>
            </a: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</a:rPr>
              <a:t>）图形表示</a:t>
            </a:r>
            <a:endParaRPr kumimoji="1" lang="zh-CN" altLang="en-US" sz="2400" dirty="0">
              <a:solidFill>
                <a:srgbClr val="800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800000"/>
                </a:solidFill>
                <a:latin typeface="Tahoma" panose="020B0604030504040204" pitchFamily="34" charset="0"/>
              </a:rPr>
              <a:t>2</a:t>
            </a: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</a:rPr>
              <a:t>）数据表格</a:t>
            </a:r>
            <a:endParaRPr kumimoji="1" lang="zh-CN" altLang="en-US" sz="2400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560137" name="Group 9"/>
          <p:cNvGraphicFramePr>
            <a:graphicFrameLocks noGrp="1"/>
          </p:cNvGraphicFramePr>
          <p:nvPr/>
        </p:nvGraphicFramePr>
        <p:xfrm>
          <a:off x="4592231" y="3971365"/>
          <a:ext cx="3962400" cy="792162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t 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0.1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0.3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0.4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0.5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0.6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0.7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u(t)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1.4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1.7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1.1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1.9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1.8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0166" name="Text Box 38"/>
          <p:cNvSpPr txBox="1">
            <a:spLocks noChangeArrowheads="1"/>
          </p:cNvSpPr>
          <p:nvPr/>
        </p:nvSpPr>
        <p:spPr bwMode="auto">
          <a:xfrm>
            <a:off x="4378771" y="4987965"/>
            <a:ext cx="213360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 dirty="0">
                <a:solidFill>
                  <a:srgbClr val="800000"/>
                </a:solidFill>
                <a:latin typeface="Tahoma" panose="020B0604030504040204" pitchFamily="34" charset="0"/>
              </a:rPr>
              <a:t>3</a:t>
            </a:r>
            <a:r>
              <a:rPr kumimoji="1" lang="zh-CN" altLang="en-US" sz="2000" dirty="0">
                <a:solidFill>
                  <a:srgbClr val="800000"/>
                </a:solidFill>
                <a:latin typeface="Tahoma" panose="020B0604030504040204" pitchFamily="34" charset="0"/>
              </a:rPr>
              <a:t>）序列表示</a:t>
            </a:r>
            <a:endParaRPr kumimoji="1" lang="zh-CN" altLang="en-US" sz="2000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0167" name="Object 2"/>
              <p:cNvSpPr txBox="1"/>
              <p:nvPr/>
            </p:nvSpPr>
            <p:spPr bwMode="auto">
              <a:xfrm>
                <a:off x="5083524" y="5483084"/>
                <a:ext cx="2362200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60167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3524" y="5483084"/>
                <a:ext cx="2362200" cy="990600"/>
              </a:xfrm>
              <a:prstGeom prst="rect">
                <a:avLst/>
              </a:prstGeom>
              <a:blipFill rotWithShape="1">
                <a:blip r:embed="rId1"/>
                <a:stretch>
                  <a:fillRect l="-15" t="-4152" r="15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0168" name="Text Box 40"/>
          <p:cNvSpPr txBox="1">
            <a:spLocks noChangeArrowheads="1"/>
          </p:cNvSpPr>
          <p:nvPr/>
        </p:nvSpPr>
        <p:spPr bwMode="auto">
          <a:xfrm>
            <a:off x="847725" y="5279884"/>
            <a:ext cx="30241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800000"/>
                </a:solidFill>
                <a:latin typeface="宋体" panose="02010600030101010101" pitchFamily="2" charset="-122"/>
              </a:rPr>
              <a:t>简化记为</a:t>
            </a:r>
            <a:r>
              <a:rPr kumimoji="1" lang="en-US" altLang="zh-CN" sz="2400" dirty="0">
                <a:solidFill>
                  <a:srgbClr val="800000"/>
                </a:solidFill>
                <a:latin typeface="宋体" panose="02010600030101010101" pitchFamily="2" charset="-122"/>
              </a:rPr>
              <a:t>f(k)</a:t>
            </a:r>
            <a:r>
              <a:rPr kumimoji="1" lang="zh-CN" altLang="en-US" sz="2400" dirty="0">
                <a:solidFill>
                  <a:srgbClr val="800000"/>
                </a:solidFill>
                <a:latin typeface="宋体" panose="02010600030101010101" pitchFamily="2" charset="-122"/>
              </a:rPr>
              <a:t>或</a:t>
            </a:r>
            <a:r>
              <a:rPr kumimoji="1" lang="en-US" altLang="zh-CN" sz="2400" dirty="0">
                <a:solidFill>
                  <a:srgbClr val="800000"/>
                </a:solidFill>
                <a:latin typeface="宋体" panose="02010600030101010101" pitchFamily="2" charset="-122"/>
              </a:rPr>
              <a:t>f(n)</a:t>
            </a:r>
            <a:endParaRPr kumimoji="1" lang="en-US" altLang="zh-CN" sz="2400" dirty="0">
              <a:solidFill>
                <a:srgbClr val="800000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日期占位符 18"/>
          <p:cNvSpPr>
            <a:spLocks noGrp="1"/>
          </p:cNvSpPr>
          <p:nvPr>
            <p:ph type="dt" sz="quarter" idx="10"/>
          </p:nvPr>
        </p:nvSpPr>
        <p:spPr>
          <a:xfrm>
            <a:off x="0" y="6488113"/>
            <a:ext cx="1695450" cy="369887"/>
          </a:xfrm>
        </p:spPr>
        <p:txBody>
          <a:bodyPr/>
          <a:lstStyle/>
          <a:p>
            <a:pPr>
              <a:defRPr/>
            </a:pPr>
            <a:fld id="{273A5C3D-AFB9-4D33-95CC-6ABE43EAD69D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3" name="墨迹 2"/>
          <p:cNvSpPr/>
          <p:nvPr/>
        </p:nvSpPr>
        <p:spPr bwMode="auto">
          <a:xfrm>
            <a:off x="2278800" y="1256400"/>
            <a:ext cx="6086880" cy="501804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388" y="2169217"/>
            <a:ext cx="1740616" cy="158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3"/>
    </p:custDataLst>
  </p:cSld>
  <p:clrMapOvr>
    <a:masterClrMapping/>
  </p:clrMapOvr>
  <p:transition spd="med" advTm="22338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60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60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0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0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0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0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60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0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6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6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0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0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60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0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60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60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60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60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2" grpId="0" autoUpdateAnimBg="0" build="p"/>
      <p:bldP spid="560133" grpId="0"/>
      <p:bldP spid="560134" grpId="0" autoUpdateAnimBg="0"/>
      <p:bldP spid="560135" grpId="0" animBg="1"/>
      <p:bldP spid="560166" grpId="0" autoUpdateAnimBg="0"/>
      <p:bldP spid="560167" grpId="0"/>
      <p:bldP spid="5601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4438650" y="3333750"/>
            <a:ext cx="91440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4776" name="Object 2"/>
              <p:cNvSpPr txBox="1"/>
              <p:nvPr/>
            </p:nvSpPr>
            <p:spPr bwMode="auto">
              <a:xfrm>
                <a:off x="1875155" y="2093119"/>
                <a:ext cx="4570413" cy="1181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477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5155" y="2093119"/>
                <a:ext cx="4570413" cy="1181100"/>
              </a:xfrm>
              <a:prstGeom prst="rect">
                <a:avLst/>
              </a:prstGeom>
              <a:blipFill rotWithShape="1">
                <a:blip r:embed="rId1"/>
                <a:stretch>
                  <a:fillRect t="-13" r="7" b="-104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4778" name="Rectangle 10"/>
          <p:cNvSpPr>
            <a:spLocks noChangeArrowheads="1"/>
          </p:cNvSpPr>
          <p:nvPr/>
        </p:nvSpPr>
        <p:spPr bwMode="auto">
          <a:xfrm>
            <a:off x="611188" y="333375"/>
            <a:ext cx="9144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例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  <a:endParaRPr lang="en-US" altLang="zh-CN" sz="240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09" name="Object 3"/>
              <p:cNvSpPr txBox="1"/>
              <p:nvPr/>
            </p:nvSpPr>
            <p:spPr bwMode="auto">
              <a:xfrm>
                <a:off x="1476375" y="333375"/>
                <a:ext cx="19812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150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375" y="333375"/>
                <a:ext cx="1981200" cy="8382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0" name="Text Box 12"/>
          <p:cNvSpPr txBox="1">
            <a:spLocks noChangeArrowheads="1"/>
          </p:cNvSpPr>
          <p:nvPr/>
        </p:nvSpPr>
        <p:spPr bwMode="auto">
          <a:xfrm>
            <a:off x="3995738" y="476250"/>
            <a:ext cx="403860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000">
                <a:latin typeface="Times New Roman" panose="02020603050405020304" pitchFamily="18" charset="0"/>
              </a:rPr>
              <a:t>试写出其序列形式并画出图形。</a:t>
            </a:r>
            <a:endParaRPr kumimoji="1"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544781" name="Text Box 13"/>
          <p:cNvSpPr txBox="1">
            <a:spLocks noChangeArrowheads="1"/>
          </p:cNvSpPr>
          <p:nvPr/>
        </p:nvSpPr>
        <p:spPr bwMode="auto">
          <a:xfrm>
            <a:off x="1187450" y="1557338"/>
            <a:ext cx="20161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000">
                <a:latin typeface="Times New Roman" panose="02020603050405020304" pitchFamily="18" charset="0"/>
              </a:rPr>
              <a:t>解：</a:t>
            </a:r>
            <a:r>
              <a:rPr kumimoji="1" lang="zh-CN" altLang="en-US" sz="2000">
                <a:solidFill>
                  <a:srgbClr val="800000"/>
                </a:solidFill>
                <a:latin typeface="Times New Roman" panose="02020603050405020304" pitchFamily="18" charset="0"/>
              </a:rPr>
              <a:t>序列形式</a:t>
            </a:r>
            <a:endParaRPr kumimoji="1" lang="zh-CN" altLang="en-US" sz="20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4782" name="Text Box 14"/>
          <p:cNvSpPr txBox="1">
            <a:spLocks noChangeArrowheads="1"/>
          </p:cNvSpPr>
          <p:nvPr/>
        </p:nvSpPr>
        <p:spPr bwMode="auto">
          <a:xfrm>
            <a:off x="1692275" y="3357563"/>
            <a:ext cx="107950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000">
                <a:solidFill>
                  <a:srgbClr val="800000"/>
                </a:solidFill>
                <a:latin typeface="Times New Roman" panose="02020603050405020304" pitchFamily="18" charset="0"/>
              </a:rPr>
              <a:t>波形：</a:t>
            </a:r>
            <a:endParaRPr kumimoji="1" lang="zh-CN" altLang="en-US" sz="20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44793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3500438"/>
            <a:ext cx="3168650" cy="288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日期占位符 1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401767-B072-43DF-95A4-A3133101DD4F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4797000" y="2463120"/>
            <a:ext cx="496440" cy="2966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840"/>
    </mc:Choice>
    <mc:Fallback>
      <p:transition spd="slow" advTm="48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4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4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4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4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6" grpId="0"/>
      <p:bldP spid="544781" grpId="0" autoUpdateAnimBg="0"/>
      <p:bldP spid="54478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4438650" y="3333750"/>
            <a:ext cx="91440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4443413" y="3333750"/>
            <a:ext cx="91440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694283" name="Rectangle 11"/>
          <p:cNvSpPr>
            <a:spLocks noChangeArrowheads="1"/>
          </p:cNvSpPr>
          <p:nvPr/>
        </p:nvSpPr>
        <p:spPr bwMode="auto">
          <a:xfrm>
            <a:off x="827088" y="333375"/>
            <a:ext cx="2354262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宋体" panose="02010600030101010101" pitchFamily="2" charset="-122"/>
              </a:rPr>
              <a:t>序列的几种形式</a:t>
            </a:r>
            <a:endParaRPr kumimoji="1" lang="zh-CN" altLang="en-US" sz="24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694284" name="Text Box 12"/>
          <p:cNvSpPr txBox="1">
            <a:spLocks noChangeArrowheads="1"/>
          </p:cNvSpPr>
          <p:nvPr/>
        </p:nvSpPr>
        <p:spPr bwMode="auto">
          <a:xfrm>
            <a:off x="1042988" y="1557338"/>
            <a:ext cx="18002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单边序列：       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85" name="Text Box 13"/>
          <p:cNvSpPr txBox="1">
            <a:spLocks noChangeArrowheads="1"/>
          </p:cNvSpPr>
          <p:nvPr/>
        </p:nvSpPr>
        <p:spPr bwMode="auto">
          <a:xfrm>
            <a:off x="900113" y="3500438"/>
            <a:ext cx="17367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双边序列：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694286" name="Text Box 14"/>
          <p:cNvSpPr txBox="1">
            <a:spLocks noChangeArrowheads="1"/>
          </p:cNvSpPr>
          <p:nvPr/>
        </p:nvSpPr>
        <p:spPr bwMode="auto">
          <a:xfrm>
            <a:off x="827088" y="5013325"/>
            <a:ext cx="1879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有限序列：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pic>
        <p:nvPicPr>
          <p:cNvPr id="694287" name="Picture 1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188913"/>
            <a:ext cx="25050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4288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3284538"/>
            <a:ext cx="24574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4289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157788"/>
            <a:ext cx="222885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4290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1700213"/>
            <a:ext cx="24384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4291" name="Rectangle 19"/>
          <p:cNvSpPr>
            <a:spLocks noChangeArrowheads="1"/>
          </p:cNvSpPr>
          <p:nvPr/>
        </p:nvSpPr>
        <p:spPr bwMode="auto">
          <a:xfrm>
            <a:off x="2771775" y="1268413"/>
            <a:ext cx="31686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右序列： </a:t>
            </a: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k&lt;0</a:t>
            </a: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f(k)=0</a:t>
            </a:r>
            <a:endParaRPr kumimoji="1" lang="en-US" altLang="zh-CN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93" name="Rectangle 21"/>
          <p:cNvSpPr>
            <a:spLocks noChangeArrowheads="1"/>
          </p:cNvSpPr>
          <p:nvPr/>
        </p:nvSpPr>
        <p:spPr bwMode="auto">
          <a:xfrm>
            <a:off x="2700338" y="2349500"/>
            <a:ext cx="33845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</a:rPr>
              <a:t>左序列： 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</a:rPr>
              <a:t>f(k)=0</a:t>
            </a:r>
            <a:endParaRPr kumimoji="1" lang="en-US" altLang="zh-CN" sz="240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94" name="Text Box 22"/>
          <p:cNvSpPr txBox="1">
            <a:spLocks noChangeArrowheads="1"/>
          </p:cNvSpPr>
          <p:nvPr/>
        </p:nvSpPr>
        <p:spPr bwMode="auto">
          <a:xfrm>
            <a:off x="3203575" y="3500438"/>
            <a:ext cx="23764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-</a:t>
            </a:r>
            <a:r>
              <a:rPr kumimoji="1"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&lt;k&lt;, f(k)0</a:t>
            </a: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694295" name="Text Box 23"/>
          <p:cNvSpPr txBox="1">
            <a:spLocks noChangeArrowheads="1"/>
          </p:cNvSpPr>
          <p:nvPr/>
        </p:nvSpPr>
        <p:spPr bwMode="auto">
          <a:xfrm>
            <a:off x="3081655" y="5088076"/>
            <a:ext cx="23050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 dirty="0">
                <a:latin typeface="Times New Roman" panose="02020603050405020304" pitchFamily="18" charset="0"/>
              </a:rPr>
              <a:t>k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&lt;k&lt;k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,f(k)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0</a:t>
            </a:r>
            <a:endParaRPr kumimoji="1"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17" name="日期占位符 1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EAE0E35-F35D-4377-A6CC-0F16F25FC1BB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2861640" y="1623240"/>
            <a:ext cx="5813640" cy="44694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981"/>
    </mc:Choice>
    <mc:Fallback>
      <p:transition spd="slow" advTm="709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9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69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4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4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69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4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4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69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69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83" grpId="0" autoUpdateAnimBg="0"/>
      <p:bldP spid="694284" grpId="0" autoUpdateAnimBg="0"/>
      <p:bldP spid="694285" grpId="0" autoUpdateAnimBg="0"/>
      <p:bldP spid="694286" grpId="0" autoUpdateAnimBg="0"/>
      <p:bldP spid="694291" grpId="0" autoUpdateAnimBg="0"/>
      <p:bldP spid="694293" grpId="0" autoUpdateAnimBg="0"/>
      <p:bldP spid="694294" grpId="0" autoUpdateAnimBg="0"/>
      <p:bldP spid="69429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idx="1"/>
          </p:nvPr>
        </p:nvSpPr>
        <p:spPr>
          <a:xfrm>
            <a:off x="1355725" y="260350"/>
            <a:ext cx="7210425" cy="574675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/>
              <a:t>连续时间系统与离散时间系统的类比</a:t>
            </a:r>
            <a:endParaRPr lang="zh-CN" altLang="en-US" b="1" dirty="0"/>
          </a:p>
        </p:txBody>
      </p:sp>
      <p:sp>
        <p:nvSpPr>
          <p:cNvPr id="612355" name="Rectangle 3"/>
          <p:cNvSpPr/>
          <p:nvPr/>
        </p:nvSpPr>
        <p:spPr>
          <a:xfrm>
            <a:off x="663575" y="2035175"/>
            <a:ext cx="3810000" cy="4114800"/>
          </a:xfrm>
          <a:prstGeom prst="rect">
            <a:avLst/>
          </a:prstGeom>
          <a:noFill/>
          <a:ln w="38100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latin typeface="华文中宋" panose="02010600040101010101" pitchFamily="2" charset="-122"/>
                <a:ea typeface="华文行楷" panose="02010800040101010101" pitchFamily="2" charset="-122"/>
              </a:rPr>
              <a:t>微分方程</a:t>
            </a:r>
            <a:endParaRPr lang="zh-CN" altLang="en-US" sz="3200" b="1" dirty="0">
              <a:latin typeface="华文中宋" panose="02010600040101010101" pitchFamily="2" charset="-122"/>
              <a:ea typeface="华文行楷" panose="02010800040101010101" pitchFamily="2" charset="-122"/>
            </a:endParaRPr>
          </a:p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latin typeface="华文中宋" panose="02010600040101010101" pitchFamily="2" charset="-122"/>
                <a:ea typeface="华文行楷" panose="02010800040101010101" pitchFamily="2" charset="-122"/>
              </a:rPr>
              <a:t>卷积积分</a:t>
            </a:r>
            <a:endParaRPr lang="zh-CN" altLang="en-US" sz="3200" b="1" dirty="0">
              <a:latin typeface="华文中宋" panose="02010600040101010101" pitchFamily="2" charset="-122"/>
              <a:ea typeface="华文行楷" panose="02010800040101010101" pitchFamily="2" charset="-122"/>
            </a:endParaRPr>
          </a:p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latin typeface="华文中宋" panose="02010600040101010101" pitchFamily="2" charset="-122"/>
                <a:ea typeface="华文行楷" panose="02010800040101010101" pitchFamily="2" charset="-122"/>
              </a:rPr>
              <a:t>拉氏变换</a:t>
            </a:r>
            <a:endParaRPr lang="zh-CN" altLang="en-US" sz="3200" b="1" dirty="0">
              <a:latin typeface="华文中宋" panose="02010600040101010101" pitchFamily="2" charset="-122"/>
              <a:ea typeface="华文行楷" panose="02010800040101010101" pitchFamily="2" charset="-122"/>
            </a:endParaRPr>
          </a:p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latin typeface="华文中宋" panose="02010600040101010101" pitchFamily="2" charset="-122"/>
                <a:ea typeface="华文行楷" panose="02010800040101010101" pitchFamily="2" charset="-122"/>
              </a:rPr>
              <a:t>连续傅立叶变换</a:t>
            </a:r>
            <a:endParaRPr lang="zh-CN" altLang="en-US" sz="3200" b="1" dirty="0">
              <a:latin typeface="华文中宋" panose="02010600040101010101" pitchFamily="2" charset="-122"/>
              <a:ea typeface="华文行楷" panose="02010800040101010101" pitchFamily="2" charset="-122"/>
            </a:endParaRPr>
          </a:p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latin typeface="华文中宋" panose="02010600040101010101" pitchFamily="2" charset="-122"/>
                <a:ea typeface="华文行楷" panose="02010800040101010101" pitchFamily="2" charset="-122"/>
              </a:rPr>
              <a:t>卷积定理</a:t>
            </a:r>
            <a:endParaRPr lang="zh-CN" altLang="en-US" sz="2800" b="1" dirty="0">
              <a:latin typeface="华文中宋" panose="020106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12356" name="Rectangle 4"/>
          <p:cNvSpPr/>
          <p:nvPr/>
        </p:nvSpPr>
        <p:spPr>
          <a:xfrm>
            <a:off x="4756150" y="2058988"/>
            <a:ext cx="3810000" cy="4114800"/>
          </a:xfrm>
          <a:prstGeom prst="rect">
            <a:avLst/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差分方程</a:t>
            </a:r>
            <a:endParaRPr lang="zh-CN" altLang="en-US" sz="3200" b="1" dirty="0">
              <a:solidFill>
                <a:srgbClr val="FF3300"/>
              </a:solidFill>
              <a:latin typeface="华文中宋" panose="02010600040101010101" pitchFamily="2" charset="-122"/>
              <a:ea typeface="华文行楷" panose="02010800040101010101" pitchFamily="2" charset="-122"/>
            </a:endParaRPr>
          </a:p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en-US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卷积和</a:t>
            </a:r>
            <a:endParaRPr lang="zh-CN" altLang="en-US" sz="3200" b="1" dirty="0">
              <a:solidFill>
                <a:srgbClr val="FF3300"/>
              </a:solidFill>
              <a:latin typeface="华文中宋" panose="02010600040101010101" pitchFamily="2" charset="-122"/>
              <a:ea typeface="华文行楷" panose="02010800040101010101" pitchFamily="2" charset="-122"/>
            </a:endParaRPr>
          </a:p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en-US" altLang="zh-CN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Z</a:t>
            </a:r>
            <a:r>
              <a:rPr lang="zh-CN" altLang="zh-CN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变换</a:t>
            </a:r>
            <a:endParaRPr lang="zh-CN" altLang="zh-CN" sz="3200" b="1" dirty="0">
              <a:solidFill>
                <a:srgbClr val="FF3300"/>
              </a:solidFill>
              <a:latin typeface="华文中宋" panose="02010600040101010101" pitchFamily="2" charset="-122"/>
              <a:ea typeface="华文行楷" panose="02010800040101010101" pitchFamily="2" charset="-122"/>
            </a:endParaRPr>
          </a:p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zh-CN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离散傅立叶变换</a:t>
            </a:r>
            <a:endParaRPr lang="zh-CN" altLang="zh-CN" sz="3200" b="1" dirty="0">
              <a:solidFill>
                <a:srgbClr val="FF3300"/>
              </a:solidFill>
              <a:latin typeface="华文中宋" panose="02010600040101010101" pitchFamily="2" charset="-122"/>
              <a:ea typeface="华文行楷" panose="02010800040101010101" pitchFamily="2" charset="-122"/>
            </a:endParaRPr>
          </a:p>
          <a:p>
            <a:pPr marL="342900" lvl="0" indent="-342900" eaLnBrk="1" hangingPunct="1">
              <a:lnSpc>
                <a:spcPct val="85000"/>
              </a:lnSpc>
              <a:buFontTx/>
              <a:buChar char="•"/>
            </a:pPr>
            <a:r>
              <a:rPr lang="zh-CN" altLang="zh-CN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卷积</a:t>
            </a:r>
            <a:r>
              <a:rPr lang="zh-CN" altLang="en-US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和</a:t>
            </a:r>
            <a:r>
              <a:rPr lang="zh-CN" altLang="zh-CN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定理</a:t>
            </a:r>
            <a:endParaRPr lang="zh-CN" altLang="en-US" sz="2800" b="1" dirty="0">
              <a:solidFill>
                <a:srgbClr val="FF3300"/>
              </a:solidFill>
              <a:latin typeface="华文中宋" panose="020106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8917" name="WordArt 5">
            <a:hlinkClick r:id="rId1"/>
          </p:cNvPr>
          <p:cNvSpPr>
            <a:spLocks noTextEdit="1"/>
          </p:cNvSpPr>
          <p:nvPr/>
        </p:nvSpPr>
        <p:spPr>
          <a:xfrm>
            <a:off x="7524750" y="6400800"/>
            <a:ext cx="13716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7500" lnSpcReduction="20000"/>
          </a:bodyPr>
          <a:lstStyle/>
          <a:p>
            <a:pPr algn="l"/>
            <a:r>
              <a:rPr lang="zh-CN" altLang="en-US" sz="3600" b="1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下一节</a:t>
            </a:r>
            <a:endParaRPr lang="zh-CN" altLang="en-US" sz="3600" b="1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195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4294967295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+mn-lt"/>
              <a:ea typeface="+mj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+mn-lt"/>
              <a:ea typeface="+mj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</p:txBody>
      </p:sp>
      <p:sp>
        <p:nvSpPr>
          <p:cNvPr id="38919" name="矩形 6"/>
          <p:cNvSpPr/>
          <p:nvPr/>
        </p:nvSpPr>
        <p:spPr>
          <a:xfrm>
            <a:off x="1039813" y="1176338"/>
            <a:ext cx="1825625" cy="530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5000"/>
              </a:lnSpc>
              <a:buClr>
                <a:srgbClr val="CC0000"/>
              </a:buClr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连续系统</a:t>
            </a:r>
            <a:endParaRPr lang="zh-CN" altLang="en-US" sz="3200" b="1" dirty="0">
              <a:solidFill>
                <a:srgbClr val="000000"/>
              </a:solidFill>
              <a:latin typeface="华文中宋" panose="020106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8920" name="矩形 7"/>
          <p:cNvSpPr/>
          <p:nvPr/>
        </p:nvSpPr>
        <p:spPr>
          <a:xfrm>
            <a:off x="5248275" y="1125538"/>
            <a:ext cx="1827213" cy="5286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5000"/>
              </a:lnSpc>
              <a:buClr>
                <a:srgbClr val="CC0000"/>
              </a:buClr>
              <a:buNone/>
            </a:pPr>
            <a:r>
              <a:rPr lang="zh-CN" altLang="en-US" sz="3200" b="1" dirty="0">
                <a:solidFill>
                  <a:srgbClr val="FF3300"/>
                </a:solidFill>
                <a:latin typeface="华文中宋" panose="02010600040101010101" pitchFamily="2" charset="-122"/>
                <a:ea typeface="华文行楷" panose="02010800040101010101" pitchFamily="2" charset="-122"/>
              </a:rPr>
              <a:t>离散系统</a:t>
            </a:r>
            <a:endParaRPr lang="zh-CN" altLang="en-US" sz="3200" b="1" dirty="0">
              <a:solidFill>
                <a:srgbClr val="FF3300"/>
              </a:solidFill>
              <a:latin typeface="华文中宋" panose="020106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8921" name="Rectangle 2"/>
          <p:cNvSpPr/>
          <p:nvPr/>
        </p:nvSpPr>
        <p:spPr>
          <a:xfrm>
            <a:off x="500063" y="22225"/>
            <a:ext cx="10795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0805" lvl="0" indent="-90805"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0167" y="6592583"/>
            <a:ext cx="11592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49135BC-EFA6-4C54-BF94-4E3901F1B2CF}" type="datetime1">
              <a:rPr lang="zh-CN" altLang="en-US" sz="1200">
                <a:latin typeface="+mn-lt"/>
                <a:ea typeface="+mj-ea"/>
              </a:rPr>
            </a:fld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2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2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2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2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2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12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12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12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2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2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12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12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12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12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2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2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12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12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12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12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12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12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12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12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12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12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12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12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12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12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/>
          <p:nvPr/>
        </p:nvSpPr>
        <p:spPr>
          <a:xfrm>
            <a:off x="827088" y="260350"/>
            <a:ext cx="10795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0805" lvl="0" indent="-90805"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716804" name="Text Box 4"/>
          <p:cNvSpPr txBox="1"/>
          <p:nvPr/>
        </p:nvSpPr>
        <p:spPr>
          <a:xfrm>
            <a:off x="900113" y="908050"/>
            <a:ext cx="4176712" cy="534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lang="en-US" altLang="zh-CN" sz="2400" b="1" dirty="0">
                <a:solidFill>
                  <a:srgbClr val="05013F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05013F"/>
                </a:solidFill>
                <a:latin typeface="Times New Roman" panose="02020603050405020304" pitchFamily="18" charset="0"/>
              </a:rPr>
              <a:t>离散时间信号的表示方法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716806" name="Text Box 6"/>
          <p:cNvSpPr txBox="1"/>
          <p:nvPr/>
        </p:nvSpPr>
        <p:spPr>
          <a:xfrm>
            <a:off x="827088" y="2060575"/>
            <a:ext cx="1981200" cy="1901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ahoma" panose="020B0604030504040204" pitchFamily="34" charset="0"/>
              </a:rPr>
              <a:t>表示方法：</a:t>
            </a:r>
            <a:endParaRPr lang="zh-CN" altLang="en-US" sz="24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）图形表示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）数据表格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）序列表示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716848" name="Group 48"/>
          <p:cNvGraphicFramePr>
            <a:graphicFrameLocks noGrp="1"/>
          </p:cNvGraphicFramePr>
          <p:nvPr/>
        </p:nvGraphicFramePr>
        <p:xfrm>
          <a:off x="3995738" y="3500438"/>
          <a:ext cx="3962400" cy="863600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  <a:gridCol w="520700"/>
                <a:gridCol w="469900"/>
                <a:gridCol w="495300"/>
                <a:gridCol w="495300"/>
                <a:gridCol w="495300"/>
                <a:gridCol w="495300"/>
              </a:tblGrid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t 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0.1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0.3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0.4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0.5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0.6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0.7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u(t)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1.4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1.3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1.7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1.1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1.9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00"/>
                          </a:solidFill>
                          <a:effectLst/>
                          <a:latin typeface="华文中宋" panose="02010600040101010101" pitchFamily="2" charset="-122"/>
                          <a:ea typeface="宋体" panose="02010600030101010101" pitchFamily="2" charset="-122"/>
                        </a:rPr>
                        <a:t>1.8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3300"/>
                        </a:solidFill>
                        <a:effectLst/>
                        <a:latin typeface="华文中宋" panose="0201060004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16837" name="Object 2"/>
          <p:cNvGraphicFramePr>
            <a:graphicFrameLocks noChangeAspect="1"/>
          </p:cNvGraphicFramePr>
          <p:nvPr/>
        </p:nvGraphicFramePr>
        <p:xfrm>
          <a:off x="4067175" y="5157788"/>
          <a:ext cx="2362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254" name="" r:id="rId1" imgW="1260475" imgH="541020" progId="Equation.3">
                  <p:embed/>
                </p:oleObj>
              </mc:Choice>
              <mc:Fallback>
                <p:oleObj name="" r:id="rId1" imgW="1260475" imgH="541020" progId="Equation.3">
                  <p:embed/>
                  <p:pic>
                    <p:nvPicPr>
                      <p:cNvPr id="0" name="图片 17925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7175" y="5157788"/>
                        <a:ext cx="23622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9"/>
          <p:cNvGrpSpPr/>
          <p:nvPr/>
        </p:nvGrpSpPr>
        <p:grpSpPr>
          <a:xfrm>
            <a:off x="3924300" y="1557338"/>
            <a:ext cx="3402013" cy="1508125"/>
            <a:chOff x="3504" y="480"/>
            <a:chExt cx="2143" cy="950"/>
          </a:xfrm>
        </p:grpSpPr>
        <p:graphicFrame>
          <p:nvGraphicFramePr>
            <p:cNvPr id="39973" name="Object 3"/>
            <p:cNvGraphicFramePr>
              <a:graphicFrameLocks noChangeAspect="1"/>
            </p:cNvGraphicFramePr>
            <p:nvPr/>
          </p:nvGraphicFramePr>
          <p:xfrm>
            <a:off x="3504" y="480"/>
            <a:ext cx="2064" cy="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55" name="" r:id="rId3" imgW="3105150" imgH="1428750" progId="PBrush">
                    <p:embed/>
                  </p:oleObj>
                </mc:Choice>
                <mc:Fallback>
                  <p:oleObj name="" r:id="rId3" imgW="3105150" imgH="1428750" progId="PBrush">
                    <p:embed/>
                    <p:pic>
                      <p:nvPicPr>
                        <p:cNvPr id="0" name="图片 17925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04" y="480"/>
                          <a:ext cx="2064" cy="9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74" name="Text Box 41"/>
            <p:cNvSpPr txBox="1"/>
            <p:nvPr/>
          </p:nvSpPr>
          <p:spPr>
            <a:xfrm>
              <a:off x="3969" y="663"/>
              <a:ext cx="454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Tahoma" panose="020B0604030504040204" pitchFamily="34" charset="0"/>
                </a:rPr>
                <a:t>1.5</a:t>
              </a:r>
              <a:endParaRPr lang="en-US" altLang="zh-CN" sz="2400" b="1" dirty="0">
                <a:solidFill>
                  <a:srgbClr val="0066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5" name="Text Box 42"/>
            <p:cNvSpPr txBox="1"/>
            <p:nvPr/>
          </p:nvSpPr>
          <p:spPr>
            <a:xfrm>
              <a:off x="4830" y="754"/>
              <a:ext cx="40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Tahoma" panose="020B0604030504040204" pitchFamily="34" charset="0"/>
                </a:rPr>
                <a:t>1</a:t>
              </a:r>
              <a:endParaRPr lang="en-US" altLang="zh-CN" sz="2400" b="1" dirty="0">
                <a:solidFill>
                  <a:srgbClr val="0066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6" name="Text Box 43"/>
            <p:cNvSpPr txBox="1"/>
            <p:nvPr/>
          </p:nvSpPr>
          <p:spPr>
            <a:xfrm>
              <a:off x="4558" y="482"/>
              <a:ext cx="544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Tahoma" panose="020B0604030504040204" pitchFamily="34" charset="0"/>
                </a:rPr>
                <a:t>2</a:t>
              </a:r>
              <a:endParaRPr lang="en-US" altLang="zh-CN" sz="2400" b="1" dirty="0">
                <a:solidFill>
                  <a:srgbClr val="0066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7" name="Text Box 44"/>
            <p:cNvSpPr txBox="1"/>
            <p:nvPr/>
          </p:nvSpPr>
          <p:spPr>
            <a:xfrm>
              <a:off x="3787" y="618"/>
              <a:ext cx="40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Tahoma" panose="020B0604030504040204" pitchFamily="34" charset="0"/>
                </a:rPr>
                <a:t>2</a:t>
              </a:r>
              <a:endParaRPr lang="en-US" altLang="zh-CN" sz="2400" b="1" dirty="0">
                <a:solidFill>
                  <a:srgbClr val="0066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8" name="Text Box 45"/>
            <p:cNvSpPr txBox="1"/>
            <p:nvPr/>
          </p:nvSpPr>
          <p:spPr>
            <a:xfrm>
              <a:off x="3515" y="709"/>
              <a:ext cx="272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Tahoma" panose="020B0604030504040204" pitchFamily="34" charset="0"/>
                </a:rPr>
                <a:t>1</a:t>
              </a:r>
              <a:endParaRPr lang="en-US" altLang="zh-CN" sz="2400" b="1" dirty="0">
                <a:solidFill>
                  <a:srgbClr val="0066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9" name="Text Box 46"/>
            <p:cNvSpPr txBox="1"/>
            <p:nvPr/>
          </p:nvSpPr>
          <p:spPr>
            <a:xfrm>
              <a:off x="5012" y="799"/>
              <a:ext cx="635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6600"/>
                  </a:solidFill>
                  <a:latin typeface="Tahoma" panose="020B0604030504040204" pitchFamily="34" charset="0"/>
                </a:rPr>
                <a:t>0.5</a:t>
              </a:r>
              <a:endParaRPr lang="en-US" altLang="zh-CN" sz="2400" b="1" dirty="0">
                <a:solidFill>
                  <a:srgbClr val="0066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5" name="日期占位符 14"/>
          <p:cNvSpPr txBox="1">
            <a:spLocks noGrp="1"/>
          </p:cNvSpPr>
          <p:nvPr/>
        </p:nvSpPr>
        <p:spPr bwMode="auto">
          <a:xfrm>
            <a:off x="0" y="6488113"/>
            <a:ext cx="1190625" cy="369888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Tx/>
              <a:defRPr/>
            </a:pPr>
            <a:fld id="{C1A7C2D7-9A13-42BC-AD43-369B93DB45CF}" type="datetime1">
              <a:rPr kumimoji="0" lang="zh-CN" altLang="en-US" sz="1200" kern="1200" cap="none" spc="0" normalizeH="0" baseline="0" noProof="0">
                <a:latin typeface="+mn-lt"/>
                <a:ea typeface="+mj-ea"/>
                <a:cs typeface="+mn-cs"/>
              </a:rPr>
            </a:fld>
            <a:endParaRPr kumimoji="0" lang="en-US" altLang="zh-CN" sz="1200" kern="1200" cap="none" spc="0" normalizeH="0" baseline="0" noProof="0">
              <a:latin typeface="+mn-lt"/>
              <a:ea typeface="+mj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6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6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6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4" grpId="0"/>
      <p:bldP spid="71680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4438650" y="3333750"/>
            <a:ext cx="91440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4443413" y="3333750"/>
            <a:ext cx="91440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694283" name="Rectangle 11"/>
          <p:cNvSpPr>
            <a:spLocks noChangeArrowheads="1"/>
          </p:cNvSpPr>
          <p:nvPr/>
        </p:nvSpPr>
        <p:spPr bwMode="auto">
          <a:xfrm>
            <a:off x="827087" y="333375"/>
            <a:ext cx="3771417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回顾</a:t>
            </a:r>
            <a:r>
              <a:rPr kumimoji="1"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：序列的几种形式</a:t>
            </a:r>
            <a:endParaRPr kumimoji="1" lang="zh-CN" altLang="en-US" sz="240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694284" name="Text Box 12"/>
          <p:cNvSpPr txBox="1">
            <a:spLocks noChangeArrowheads="1"/>
          </p:cNvSpPr>
          <p:nvPr/>
        </p:nvSpPr>
        <p:spPr bwMode="auto">
          <a:xfrm>
            <a:off x="1042988" y="1557338"/>
            <a:ext cx="18002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单边序列：       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85" name="Text Box 13"/>
          <p:cNvSpPr txBox="1">
            <a:spLocks noChangeArrowheads="1"/>
          </p:cNvSpPr>
          <p:nvPr/>
        </p:nvSpPr>
        <p:spPr bwMode="auto">
          <a:xfrm>
            <a:off x="900113" y="3500438"/>
            <a:ext cx="17367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双边序列：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694286" name="Text Box 14"/>
          <p:cNvSpPr txBox="1">
            <a:spLocks noChangeArrowheads="1"/>
          </p:cNvSpPr>
          <p:nvPr/>
        </p:nvSpPr>
        <p:spPr bwMode="auto">
          <a:xfrm>
            <a:off x="827088" y="5013325"/>
            <a:ext cx="1879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有限序列：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pic>
        <p:nvPicPr>
          <p:cNvPr id="694287" name="Picture 1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188913"/>
            <a:ext cx="25050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4288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3284538"/>
            <a:ext cx="24574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4289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157788"/>
            <a:ext cx="222885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4290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1700213"/>
            <a:ext cx="24384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4291" name="Rectangle 19"/>
          <p:cNvSpPr>
            <a:spLocks noChangeArrowheads="1"/>
          </p:cNvSpPr>
          <p:nvPr/>
        </p:nvSpPr>
        <p:spPr bwMode="auto">
          <a:xfrm>
            <a:off x="2771775" y="1268413"/>
            <a:ext cx="31686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右序列： </a:t>
            </a: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k&lt;0</a:t>
            </a: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f(k)=0</a:t>
            </a:r>
            <a:endParaRPr kumimoji="1" lang="en-US" altLang="zh-CN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93" name="Rectangle 21"/>
          <p:cNvSpPr>
            <a:spLocks noChangeArrowheads="1"/>
          </p:cNvSpPr>
          <p:nvPr/>
        </p:nvSpPr>
        <p:spPr bwMode="auto">
          <a:xfrm>
            <a:off x="2700338" y="2349500"/>
            <a:ext cx="33845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</a:rPr>
              <a:t>左序列： 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</a:rPr>
              <a:t>f(k)=0</a:t>
            </a:r>
            <a:endParaRPr kumimoji="1" lang="en-US" altLang="zh-CN" sz="240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4294" name="Text Box 22"/>
          <p:cNvSpPr txBox="1">
            <a:spLocks noChangeArrowheads="1"/>
          </p:cNvSpPr>
          <p:nvPr/>
        </p:nvSpPr>
        <p:spPr bwMode="auto">
          <a:xfrm>
            <a:off x="3203575" y="3500438"/>
            <a:ext cx="23764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-</a:t>
            </a:r>
            <a:r>
              <a:rPr kumimoji="1"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&lt;k&lt;, f(k)0</a:t>
            </a: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694295" name="Text Box 23"/>
          <p:cNvSpPr txBox="1">
            <a:spLocks noChangeArrowheads="1"/>
          </p:cNvSpPr>
          <p:nvPr/>
        </p:nvSpPr>
        <p:spPr bwMode="auto">
          <a:xfrm>
            <a:off x="3081655" y="5088076"/>
            <a:ext cx="23050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 dirty="0">
                <a:latin typeface="Times New Roman" panose="02020603050405020304" pitchFamily="18" charset="0"/>
              </a:rPr>
              <a:t>k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&lt;k&lt;k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,f(k)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0</a:t>
            </a:r>
            <a:endParaRPr kumimoji="1"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17" name="日期占位符 1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EAE0E35-F35D-4377-A6CC-0F16F25FC1BB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2861640" y="1623240"/>
            <a:ext cx="5813640" cy="44694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981"/>
    </mc:Choice>
    <mc:Fallback>
      <p:transition spd="slow" advTm="709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4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9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69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4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4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69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4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4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4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69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94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69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83" grpId="0" autoUpdateAnimBg="0"/>
      <p:bldP spid="694284" grpId="0" autoUpdateAnimBg="0"/>
      <p:bldP spid="694285" grpId="0" autoUpdateAnimBg="0"/>
      <p:bldP spid="694286" grpId="0" autoUpdateAnimBg="0"/>
      <p:bldP spid="694291" grpId="0" autoUpdateAnimBg="0"/>
      <p:bldP spid="694293" grpId="0" autoUpdateAnimBg="0"/>
      <p:bldP spid="694294" grpId="0" autoUpdateAnimBg="0"/>
      <p:bldP spid="69429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744538" y="1252538"/>
            <a:ext cx="30480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Char char=" "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79425" y="309563"/>
            <a:ext cx="3421063" cy="381000"/>
          </a:xfrm>
        </p:spPr>
        <p:txBody>
          <a:bodyPr/>
          <a:lstStyle/>
          <a:p>
            <a:r>
              <a:rPr lang="en-US" altLang="zh-CN" sz="2000" b="1">
                <a:solidFill>
                  <a:srgbClr val="0000FF"/>
                </a:solidFill>
              </a:rPr>
              <a:t>2</a:t>
            </a:r>
            <a:r>
              <a:rPr lang="zh-CN" altLang="en-US" sz="2000" b="1">
                <a:solidFill>
                  <a:srgbClr val="0000FF"/>
                </a:solidFill>
              </a:rPr>
              <a:t>、离散信号时域运算</a:t>
            </a:r>
            <a:endParaRPr lang="zh-CN" altLang="en-US" sz="2000" b="1"/>
          </a:p>
        </p:txBody>
      </p:sp>
      <p:graphicFrame>
        <p:nvGraphicFramePr>
          <p:cNvPr id="545797" name="Object 2"/>
          <p:cNvGraphicFramePr>
            <a:graphicFrameLocks noChangeAspect="1"/>
          </p:cNvGraphicFramePr>
          <p:nvPr/>
        </p:nvGraphicFramePr>
        <p:xfrm>
          <a:off x="1049338" y="1633538"/>
          <a:ext cx="1790700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4" name="BMP 图象" r:id="rId1" imgW="2171700" imgH="1419225" progId="PBrush">
                  <p:embed/>
                </p:oleObj>
              </mc:Choice>
              <mc:Fallback>
                <p:oleObj name="BMP 图象" r:id="rId1" imgW="2171700" imgH="1419225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1633538"/>
                        <a:ext cx="1790700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798" name="Text Box 6"/>
          <p:cNvSpPr txBox="1">
            <a:spLocks noChangeArrowheads="1"/>
          </p:cNvSpPr>
          <p:nvPr/>
        </p:nvSpPr>
        <p:spPr bwMode="auto">
          <a:xfrm>
            <a:off x="3259138" y="1709738"/>
            <a:ext cx="304800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y(k)=f</a:t>
            </a:r>
            <a:r>
              <a:rPr kumimoji="1" lang="en-US" altLang="zh-CN" sz="2000" baseline="-25000">
                <a:solidFill>
                  <a:srgbClr val="003300"/>
                </a:solidFill>
                <a:latin typeface="Tahoma" panose="020B0604030504040204" pitchFamily="34" charset="0"/>
              </a:rPr>
              <a:t>1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(k)+f</a:t>
            </a:r>
            <a:r>
              <a:rPr kumimoji="1" lang="en-US" altLang="zh-CN" sz="2000" baseline="-25000">
                <a:solidFill>
                  <a:srgbClr val="003300"/>
                </a:solidFill>
                <a:latin typeface="Tahoma" panose="020B0604030504040204" pitchFamily="34" charset="0"/>
              </a:rPr>
              <a:t>2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(k)</a:t>
            </a:r>
            <a:endParaRPr kumimoji="1" lang="en-US" altLang="zh-CN" sz="200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5799" name="Object 3"/>
              <p:cNvSpPr txBox="1"/>
              <p:nvPr/>
            </p:nvSpPr>
            <p:spPr bwMode="auto">
              <a:xfrm>
                <a:off x="449580" y="2951480"/>
                <a:ext cx="2908935" cy="9182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,  −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sz="1600" i="1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579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580" y="2951480"/>
                <a:ext cx="2908935" cy="9182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5800" name="Object 4"/>
              <p:cNvSpPr txBox="1"/>
              <p:nvPr/>
            </p:nvSpPr>
            <p:spPr bwMode="auto">
              <a:xfrm>
                <a:off x="3435985" y="2951480"/>
                <a:ext cx="2600960" cy="7893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sz="16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,  −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sz="1600" i="1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580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5985" y="2951480"/>
                <a:ext cx="2600960" cy="789305"/>
              </a:xfrm>
              <a:prstGeom prst="rect">
                <a:avLst/>
              </a:prstGeom>
              <a:blipFill rotWithShape="1">
                <a:blip r:embed="rId4"/>
                <a:stretch>
                  <a:fillRect b="-39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5801" name="Object 5"/>
              <p:cNvSpPr txBox="1"/>
              <p:nvPr/>
            </p:nvSpPr>
            <p:spPr bwMode="auto">
              <a:xfrm>
                <a:off x="479108" y="4224338"/>
                <a:ext cx="3496449" cy="385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1800" i="1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580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108" y="4224338"/>
                <a:ext cx="3496449" cy="385762"/>
              </a:xfrm>
              <a:prstGeom prst="rect">
                <a:avLst/>
              </a:prstGeom>
              <a:blipFill rotWithShape="1">
                <a:blip r:embed="rId5"/>
                <a:stretch>
                  <a:fillRect l="-9" t="-82" r="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5802" name="Object 6"/>
              <p:cNvSpPr txBox="1"/>
              <p:nvPr/>
            </p:nvSpPr>
            <p:spPr bwMode="auto">
              <a:xfrm>
                <a:off x="969010" y="4757420"/>
                <a:ext cx="3006725" cy="8528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580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9010" y="4757420"/>
                <a:ext cx="3006725" cy="852805"/>
              </a:xfrm>
              <a:prstGeom prst="rect">
                <a:avLst/>
              </a:prstGeom>
              <a:blipFill rotWithShape="1">
                <a:blip r:embed="rId6"/>
                <a:stretch>
                  <a:fillRect t="-36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5796" name="Text Box 4"/>
          <p:cNvSpPr txBox="1">
            <a:spLocks noChangeArrowheads="1"/>
          </p:cNvSpPr>
          <p:nvPr/>
        </p:nvSpPr>
        <p:spPr bwMode="auto">
          <a:xfrm>
            <a:off x="347663" y="966788"/>
            <a:ext cx="5888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kumimoji="1" lang="zh-CN" altLang="en-US" sz="2000" dirty="0">
                <a:solidFill>
                  <a:srgbClr val="0000FF"/>
                </a:solidFill>
                <a:latin typeface="Tahoma" panose="020B0604030504040204" pitchFamily="34" charset="0"/>
              </a:rPr>
              <a:t>）相加</a:t>
            </a:r>
            <a:r>
              <a:rPr kumimoji="1" lang="en-US" altLang="zh-CN" sz="2000" dirty="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r>
              <a:rPr kumimoji="1"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 </a:t>
            </a:r>
            <a:r>
              <a:rPr kumimoji="1" lang="zh-CN" altLang="en-US" sz="2000" dirty="0">
                <a:latin typeface="Times New Roman" panose="02020603050405020304" pitchFamily="18" charset="0"/>
              </a:rPr>
              <a:t>用同序号的值对应相加后构成新的序列。</a:t>
            </a:r>
            <a:endParaRPr kumimoji="1"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4" name="日期占位符 1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37F95D-0A1D-4AE4-B067-DD83E0A0F705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3199320" y="2134440"/>
            <a:ext cx="644400" cy="4716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595" y="279308"/>
            <a:ext cx="2895749" cy="178444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224338"/>
            <a:ext cx="2888144" cy="2474670"/>
          </a:xfrm>
          <a:prstGeom prst="rect">
            <a:avLst/>
          </a:prstGeom>
        </p:spPr>
      </p:pic>
      <p:graphicFrame>
        <p:nvGraphicFramePr>
          <p:cNvPr id="545803" name="Object 7"/>
          <p:cNvGraphicFramePr>
            <a:graphicFrameLocks noChangeAspect="1"/>
          </p:cNvGraphicFramePr>
          <p:nvPr/>
        </p:nvGraphicFramePr>
        <p:xfrm>
          <a:off x="6114098" y="2181543"/>
          <a:ext cx="297180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6" name="位图图像" r:id="rId9" imgW="3048000" imgH="1771650" progId="PBrush">
                  <p:embed/>
                </p:oleObj>
              </mc:Choice>
              <mc:Fallback>
                <p:oleObj name="位图图像" r:id="rId9" imgW="3048000" imgH="1771650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4098" y="2181543"/>
                        <a:ext cx="2971800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1"/>
    </p:custDataLst>
  </p:cSld>
  <p:clrMapOvr>
    <a:masterClrMapping/>
  </p:clrMapOvr>
  <p:transition spd="med" advTm="8038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5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5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5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5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8" grpId="0" autoUpdateAnimBg="0"/>
      <p:bldP spid="545799" grpId="0" bldLvl="0" animBg="1"/>
      <p:bldP spid="545800" grpId="0" bldLvl="0" animBg="1"/>
      <p:bldP spid="545801" grpId="0" bldLvl="0" animBg="1"/>
      <p:bldP spid="545802" grpId="0" bldLvl="0" animBg="1"/>
      <p:bldP spid="54579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90600" y="990600"/>
            <a:ext cx="30480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Char char=" "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17500"/>
            <a:ext cx="6626225" cy="381000"/>
          </a:xfrm>
        </p:spPr>
        <p:txBody>
          <a:bodyPr/>
          <a:lstStyle/>
          <a:p>
            <a:r>
              <a:rPr lang="en-US" altLang="zh-CN" sz="2000" b="1">
                <a:solidFill>
                  <a:srgbClr val="0000FF"/>
                </a:solidFill>
              </a:rPr>
              <a:t>2</a:t>
            </a:r>
            <a:r>
              <a:rPr lang="zh-CN" altLang="en-US" sz="2000" b="1">
                <a:solidFill>
                  <a:srgbClr val="0000FF"/>
                </a:solidFill>
              </a:rPr>
              <a:t>）相乘</a:t>
            </a:r>
            <a:r>
              <a:rPr lang="en-US" altLang="zh-CN" sz="2000" b="1">
                <a:solidFill>
                  <a:srgbClr val="0000FF"/>
                </a:solidFill>
              </a:rPr>
              <a:t>:</a:t>
            </a:r>
            <a:r>
              <a:rPr lang="en-US" altLang="zh-CN" sz="2000" b="1">
                <a:solidFill>
                  <a:schemeClr val="hlink"/>
                </a:solidFill>
              </a:rPr>
              <a:t>  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同序号的数值对应相乘后构成新的序列。</a:t>
            </a:r>
            <a:endParaRPr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6820" name="Object 2"/>
              <p:cNvSpPr txBox="1"/>
              <p:nvPr/>
            </p:nvSpPr>
            <p:spPr bwMode="auto">
              <a:xfrm>
                <a:off x="473075" y="2514600"/>
                <a:ext cx="2971800" cy="1371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,  −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sz="1800" i="1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682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075" y="2514600"/>
                <a:ext cx="2971800" cy="13716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821" name="Object 3"/>
              <p:cNvSpPr txBox="1"/>
              <p:nvPr/>
            </p:nvSpPr>
            <p:spPr bwMode="auto">
              <a:xfrm>
                <a:off x="3767455" y="2514600"/>
                <a:ext cx="2703830" cy="9118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sz="27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sz="2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sz="2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sz="2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sz="27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,  −</m:t>
                          </m:r>
                          <m:r>
                            <a:rPr lang="zh-CN" altLang="en-US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sz="27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682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7455" y="2514600"/>
                <a:ext cx="2703830" cy="911860"/>
              </a:xfrm>
              <a:prstGeom prst="rect">
                <a:avLst/>
              </a:prstGeom>
              <a:blipFill rotWithShape="1">
                <a:blip r:embed="rId2"/>
                <a:stretch>
                  <a:fillRect t="-34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6822" name="Object 4"/>
          <p:cNvGraphicFramePr>
            <a:graphicFrameLocks noChangeAspect="1"/>
          </p:cNvGraphicFramePr>
          <p:nvPr/>
        </p:nvGraphicFramePr>
        <p:xfrm>
          <a:off x="1295400" y="1066800"/>
          <a:ext cx="19240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4" name="BMP 图象" r:id="rId3" imgW="2228850" imgH="1323975" progId="PBrush">
                  <p:embed/>
                </p:oleObj>
              </mc:Choice>
              <mc:Fallback>
                <p:oleObj name="BMP 图象" r:id="rId3" imgW="2228850" imgH="1323975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066800"/>
                        <a:ext cx="19240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23" name="Text Box 7"/>
          <p:cNvSpPr txBox="1">
            <a:spLocks noChangeArrowheads="1"/>
          </p:cNvSpPr>
          <p:nvPr/>
        </p:nvSpPr>
        <p:spPr bwMode="auto">
          <a:xfrm>
            <a:off x="3505200" y="1219200"/>
            <a:ext cx="2690495" cy="499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0">
                <a:solidFill>
                  <a:srgbClr val="003300"/>
                </a:solidFill>
                <a:latin typeface="Tahoma" panose="020B0604030504040204" pitchFamily="34" charset="0"/>
              </a:rPr>
              <a:t>y(k)=f</a:t>
            </a:r>
            <a:r>
              <a:rPr kumimoji="1" lang="en-US" altLang="zh-CN" sz="2000" b="0" baseline="-25000">
                <a:solidFill>
                  <a:srgbClr val="003300"/>
                </a:solidFill>
                <a:latin typeface="Tahoma" panose="020B0604030504040204" pitchFamily="34" charset="0"/>
              </a:rPr>
              <a:t>1</a:t>
            </a:r>
            <a:r>
              <a:rPr kumimoji="1" lang="en-US" altLang="zh-CN" sz="2000" b="0">
                <a:solidFill>
                  <a:srgbClr val="003300"/>
                </a:solidFill>
                <a:latin typeface="Tahoma" panose="020B0604030504040204" pitchFamily="34" charset="0"/>
              </a:rPr>
              <a:t>(k)f</a:t>
            </a:r>
            <a:r>
              <a:rPr kumimoji="1" lang="en-US" altLang="zh-CN" sz="2000" b="0" baseline="-25000">
                <a:solidFill>
                  <a:srgbClr val="003300"/>
                </a:solidFill>
                <a:latin typeface="Tahoma" panose="020B0604030504040204" pitchFamily="34" charset="0"/>
              </a:rPr>
              <a:t>2</a:t>
            </a:r>
            <a:r>
              <a:rPr kumimoji="1" lang="en-US" altLang="zh-CN" sz="2000" b="0">
                <a:solidFill>
                  <a:srgbClr val="003300"/>
                </a:solidFill>
                <a:latin typeface="Tahoma" panose="020B0604030504040204" pitchFamily="34" charset="0"/>
              </a:rPr>
              <a:t>(k)</a:t>
            </a:r>
            <a:endParaRPr kumimoji="1" lang="en-US" altLang="zh-CN" sz="2000" b="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6824" name="Object 5"/>
              <p:cNvSpPr txBox="1"/>
              <p:nvPr/>
            </p:nvSpPr>
            <p:spPr bwMode="auto">
              <a:xfrm>
                <a:off x="601345" y="4191000"/>
                <a:ext cx="2617788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)⋅</m:t>
                          </m:r>
                          <m:sSub>
                            <m:sSub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18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682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345" y="4191000"/>
                <a:ext cx="2617788" cy="457200"/>
              </a:xfrm>
              <a:prstGeom prst="rect">
                <a:avLst/>
              </a:prstGeom>
              <a:blipFill rotWithShape="1">
                <a:blip r:embed="rId5"/>
                <a:stretch>
                  <a:fillRect r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6825" name="Object 6"/>
              <p:cNvSpPr txBox="1"/>
              <p:nvPr/>
            </p:nvSpPr>
            <p:spPr bwMode="auto">
              <a:xfrm>
                <a:off x="1083945" y="4827270"/>
                <a:ext cx="2514600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sz="1800" i="1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682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3945" y="4827270"/>
                <a:ext cx="2514600" cy="12192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032E071-1FB8-4352-A6D2-DE4C5029E099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1726920" y="623880"/>
            <a:ext cx="2421000" cy="14436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149975" y="4307205"/>
            <a:ext cx="2994025" cy="2861945"/>
            <a:chOff x="5638802" y="3545130"/>
            <a:chExt cx="2888144" cy="286211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8802" y="3545130"/>
              <a:ext cx="2888144" cy="2474670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6506818" y="4426226"/>
              <a:ext cx="238539" cy="3372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2</a:t>
              </a:r>
              <a:endParaRPr lang="zh-CN" altLang="en-US" sz="16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771861" y="4943061"/>
              <a:ext cx="463826" cy="3067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0.5</a:t>
              </a:r>
              <a:endParaRPr lang="zh-CN" altLang="en-US" sz="1400" dirty="0"/>
            </a:p>
          </p:txBody>
        </p:sp>
        <p:cxnSp>
          <p:nvCxnSpPr>
            <p:cNvPr id="5" name="直接连接符 4"/>
            <p:cNvCxnSpPr/>
            <p:nvPr/>
          </p:nvCxnSpPr>
          <p:spPr bwMode="auto">
            <a:xfrm flipV="1">
              <a:off x="7120098" y="5204671"/>
              <a:ext cx="0" cy="175712"/>
            </a:xfrm>
            <a:prstGeom prst="line">
              <a:avLst/>
            </a:prstGeom>
            <a:ln w="19050">
              <a:headEnd type="none" w="med" len="med"/>
              <a:tailEnd type="oval" w="sm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/>
          </p:nvSpPr>
          <p:spPr bwMode="auto">
            <a:xfrm>
              <a:off x="6973353" y="5448115"/>
              <a:ext cx="463826" cy="63941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367030" marR="0" indent="-187325" algn="ctr" defTabSz="914400" rtl="0" eaLnBrk="1" fontAlgn="base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6745357" y="5767823"/>
              <a:ext cx="1052412" cy="63941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sm" len="sm"/>
            </a:ln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367030" marR="0" indent="-187325" algn="ctr" defTabSz="914400" rtl="0" eaLnBrk="1" fontAlgn="base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6271260" y="333375"/>
          <a:ext cx="289560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位图图像" r:id="rId8" imgW="2752725" imgH="1781175" progId="PBrush">
                  <p:embed/>
                </p:oleObj>
              </mc:Choice>
              <mc:Fallback>
                <p:oleObj name="位图图像" r:id="rId8" imgW="2752725" imgH="1781175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1260" y="333375"/>
                        <a:ext cx="2895600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195060" y="2162175"/>
          <a:ext cx="297180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位图图像" r:id="rId10" imgW="3048000" imgH="1771650" progId="PBrush">
                  <p:embed/>
                </p:oleObj>
              </mc:Choice>
              <mc:Fallback>
                <p:oleObj name="位图图像" r:id="rId10" imgW="3048000" imgH="1771650" progId="PBrush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5060" y="2162175"/>
                        <a:ext cx="2971800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2"/>
    </p:custDataLst>
  </p:cSld>
  <p:clrMapOvr>
    <a:masterClrMapping/>
  </p:clrMapOvr>
  <p:transition spd="med" advTm="286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6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4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46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6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6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19" grpId="0" autoUpdateAnimBg="0"/>
      <p:bldP spid="546820" grpId="0" bldLvl="0" animBg="1"/>
      <p:bldP spid="546821" grpId="0" bldLvl="0" animBg="1"/>
      <p:bldP spid="546823" grpId="0" autoUpdateAnimBg="0"/>
      <p:bldP spid="546824" grpId="0" bldLvl="0" animBg="1"/>
      <p:bldP spid="54682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990600" y="990600"/>
            <a:ext cx="30480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Char char=" "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54784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333375"/>
            <a:ext cx="5256212" cy="381000"/>
          </a:xfrm>
        </p:spPr>
        <p:txBody>
          <a:bodyPr/>
          <a:lstStyle/>
          <a:p>
            <a:r>
              <a:rPr lang="en-US" altLang="zh-CN" sz="2400" b="1">
                <a:solidFill>
                  <a:srgbClr val="0000FF"/>
                </a:solidFill>
              </a:rPr>
              <a:t>3</a:t>
            </a:r>
            <a:r>
              <a:rPr lang="zh-CN" altLang="en-US" sz="2400" b="1">
                <a:solidFill>
                  <a:srgbClr val="0000FF"/>
                </a:solidFill>
              </a:rPr>
              <a:t>）数乘</a:t>
            </a:r>
            <a:r>
              <a:rPr lang="en-US" altLang="zh-CN" sz="2400" b="1">
                <a:solidFill>
                  <a:srgbClr val="0000FF"/>
                </a:solidFill>
              </a:rPr>
              <a:t>:</a:t>
            </a:r>
            <a:r>
              <a:rPr lang="en-US" altLang="zh-CN" sz="2400" b="1">
                <a:solidFill>
                  <a:schemeClr val="hlink"/>
                </a:solidFill>
              </a:rPr>
              <a:t>  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完成序号值的比例运算。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7845" name="Text Box 5"/>
          <p:cNvSpPr txBox="1">
            <a:spLocks noChangeArrowheads="1"/>
          </p:cNvSpPr>
          <p:nvPr/>
        </p:nvSpPr>
        <p:spPr bwMode="auto">
          <a:xfrm>
            <a:off x="3543300" y="1120775"/>
            <a:ext cx="205740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y(k)=Af(k)</a:t>
            </a:r>
            <a:endParaRPr kumimoji="1" lang="en-US" altLang="zh-CN" sz="200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7846" name="Object 2"/>
              <p:cNvSpPr txBox="1"/>
              <p:nvPr/>
            </p:nvSpPr>
            <p:spPr bwMode="auto">
              <a:xfrm>
                <a:off x="813435" y="2317750"/>
                <a:ext cx="3068955" cy="8337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sz="1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,  −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sz="1800" i="1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784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3435" y="2317750"/>
                <a:ext cx="3068955" cy="833755"/>
              </a:xfrm>
              <a:prstGeom prst="rect">
                <a:avLst/>
              </a:prstGeom>
              <a:blipFill rotWithShape="1">
                <a:blip r:embed="rId1"/>
                <a:stretch>
                  <a:fillRect b="-99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7847" name="Object 3"/>
              <p:cNvSpPr txBox="1"/>
              <p:nvPr/>
            </p:nvSpPr>
            <p:spPr bwMode="auto">
              <a:xfrm>
                <a:off x="684213" y="3500438"/>
                <a:ext cx="2663825" cy="631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.Luce" panose="00000400000000000000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  <a:ea typeface="Ms.Luce" panose="00000400000000000000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784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213" y="3500438"/>
                <a:ext cx="2663825" cy="631825"/>
              </a:xfrm>
              <a:prstGeom prst="rect">
                <a:avLst/>
              </a:prstGeom>
              <a:blipFill rotWithShape="1">
                <a:blip r:embed="rId2"/>
                <a:stretch>
                  <a:fillRect l="-12" t="-50" r="12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7848" name="Object 4"/>
              <p:cNvSpPr txBox="1"/>
              <p:nvPr/>
            </p:nvSpPr>
            <p:spPr bwMode="auto">
              <a:xfrm>
                <a:off x="1437323" y="4437063"/>
                <a:ext cx="3382962" cy="1639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lim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zh-CN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zh-CN" alt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lim>
                          </m:limLow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,  −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4784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7323" y="4437063"/>
                <a:ext cx="3382962" cy="1639887"/>
              </a:xfrm>
              <a:prstGeom prst="rect">
                <a:avLst/>
              </a:prstGeom>
              <a:blipFill rotWithShape="1">
                <a:blip r:embed="rId3"/>
                <a:stretch>
                  <a:fillRect l="-9" t="-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47852" name="Object 5"/>
          <p:cNvGraphicFramePr>
            <a:graphicFrameLocks noChangeAspect="1"/>
          </p:cNvGraphicFramePr>
          <p:nvPr/>
        </p:nvGraphicFramePr>
        <p:xfrm>
          <a:off x="1219200" y="914400"/>
          <a:ext cx="204787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4" name="BMP 图象" r:id="rId4" imgW="2276475" imgH="1171575" progId="PBrush">
                  <p:embed/>
                </p:oleObj>
              </mc:Choice>
              <mc:Fallback>
                <p:oleObj name="BMP 图象" r:id="rId4" imgW="2276475" imgH="1171575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914400"/>
                        <a:ext cx="2047875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7855" name="Object 6"/>
          <p:cNvGraphicFramePr>
            <a:graphicFrameLocks noChangeAspect="1"/>
          </p:cNvGraphicFramePr>
          <p:nvPr/>
        </p:nvGraphicFramePr>
        <p:xfrm>
          <a:off x="5940424" y="3544992"/>
          <a:ext cx="2879725" cy="246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05" name="位图图像" r:id="rId6" imgW="2857500" imgH="2543175" progId="PBrush">
                  <p:embed/>
                </p:oleObj>
              </mc:Choice>
              <mc:Fallback>
                <p:oleObj name="位图图像" r:id="rId6" imgW="2857500" imgH="2543175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4" y="3544992"/>
                        <a:ext cx="2879725" cy="246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47858" name="Picture 1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545" y="1166495"/>
            <a:ext cx="2736850" cy="198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786AC5F-ED15-4357-B2A2-2B42A1F899D2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2111760" y="3970800"/>
            <a:ext cx="282960" cy="1148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p:transition spd="med" advTm="3706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7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7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7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7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47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47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3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47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47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4" grpId="0" autoUpdateAnimBg="0"/>
      <p:bldP spid="547845" grpId="0" autoUpdateAnimBg="0"/>
      <p:bldP spid="547846" grpId="0" bldLvl="0" animBg="1"/>
      <p:bldP spid="547847" grpId="0"/>
      <p:bldP spid="547848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5298" name="Object 2"/>
          <p:cNvGraphicFramePr>
            <a:graphicFrameLocks noChangeAspect="1"/>
          </p:cNvGraphicFramePr>
          <p:nvPr/>
        </p:nvGraphicFramePr>
        <p:xfrm>
          <a:off x="5022190" y="2174446"/>
          <a:ext cx="3168650" cy="189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4" name="位图图像" r:id="rId1" imgW="2752725" imgH="1781175" progId="PBrush">
                  <p:embed/>
                </p:oleObj>
              </mc:Choice>
              <mc:Fallback>
                <p:oleObj name="位图图像" r:id="rId1" imgW="2752725" imgH="1781175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190" y="2174446"/>
                        <a:ext cx="3168650" cy="189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5305" name="Text Box 9"/>
          <p:cNvSpPr txBox="1">
            <a:spLocks noChangeArrowheads="1"/>
          </p:cNvSpPr>
          <p:nvPr/>
        </p:nvSpPr>
        <p:spPr bwMode="auto">
          <a:xfrm>
            <a:off x="827088" y="404813"/>
            <a:ext cx="69850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4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</a:rPr>
              <a:t>）累加和</a:t>
            </a: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r>
              <a:rPr kumimoji="1"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  </a:t>
            </a:r>
            <a:r>
              <a:rPr kumimoji="1" lang="zh-CN" altLang="en-US" sz="2400">
                <a:latin typeface="Times New Roman" panose="02020603050405020304" pitchFamily="18" charset="0"/>
              </a:rPr>
              <a:t>序号前</a:t>
            </a:r>
            <a:r>
              <a:rPr kumimoji="1" lang="en-US" altLang="zh-CN" sz="2400">
                <a:latin typeface="Times New Roman" panose="02020603050405020304" pitchFamily="18" charset="0"/>
              </a:rPr>
              <a:t>k</a:t>
            </a:r>
            <a:r>
              <a:rPr kumimoji="1" lang="zh-CN" altLang="en-US" sz="2400">
                <a:latin typeface="Times New Roman" panose="02020603050405020304" pitchFamily="18" charset="0"/>
              </a:rPr>
              <a:t>项值累加得到一个新序列。</a:t>
            </a:r>
            <a:endParaRPr kumimoji="1"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5306" name="Object 3"/>
              <p:cNvSpPr txBox="1"/>
              <p:nvPr/>
            </p:nvSpPr>
            <p:spPr bwMode="auto">
              <a:xfrm>
                <a:off x="1026325" y="2894648"/>
                <a:ext cx="3024187" cy="1169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/>
                          </m:nary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9530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6325" y="2894648"/>
                <a:ext cx="3024187" cy="1169988"/>
              </a:xfrm>
              <a:prstGeom prst="rect">
                <a:avLst/>
              </a:prstGeom>
              <a:blipFill rotWithShape="1">
                <a:blip r:embed="rId3"/>
                <a:stretch>
                  <a:fillRect l="-5" t="-5183" r="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5307" name="Object 4"/>
              <p:cNvSpPr txBox="1"/>
              <p:nvPr/>
            </p:nvSpPr>
            <p:spPr bwMode="auto">
              <a:xfrm>
                <a:off x="1563867" y="4333017"/>
                <a:ext cx="2663825" cy="19986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≥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9530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3867" y="4333017"/>
                <a:ext cx="2663825" cy="1998663"/>
              </a:xfrm>
              <a:prstGeom prst="rect">
                <a:avLst/>
              </a:prstGeom>
              <a:blipFill rotWithShape="1">
                <a:blip r:embed="rId4"/>
                <a:stretch>
                  <a:fillRect l="-19" t="-21" r="19" b="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5309" name="Object 5"/>
              <p:cNvSpPr txBox="1"/>
              <p:nvPr/>
            </p:nvSpPr>
            <p:spPr bwMode="auto">
              <a:xfrm>
                <a:off x="3790633" y="1002183"/>
                <a:ext cx="3204535" cy="11139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>
                <a:normAutofit fontScale="875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953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0633" y="1002183"/>
                <a:ext cx="3204535" cy="1113956"/>
              </a:xfrm>
              <a:prstGeom prst="rect">
                <a:avLst/>
              </a:prstGeom>
              <a:blipFill rotWithShape="1">
                <a:blip r:embed="rId5"/>
                <a:stretch>
                  <a:fillRect l="-10" t="-14" b="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95310" name="Object 6"/>
          <p:cNvGraphicFramePr>
            <a:graphicFrameLocks noChangeAspect="1"/>
          </p:cNvGraphicFramePr>
          <p:nvPr/>
        </p:nvGraphicFramePr>
        <p:xfrm>
          <a:off x="1134428" y="1002030"/>
          <a:ext cx="228600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5" name="BMP 图象" r:id="rId6" imgW="2276475" imgH="1162050" progId="PBrush">
                  <p:embed/>
                </p:oleObj>
              </mc:Choice>
              <mc:Fallback>
                <p:oleObj name="BMP 图象" r:id="rId6" imgW="2276475" imgH="1162050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428" y="1002030"/>
                        <a:ext cx="2286000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日期占位符 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DFBEC3-1D63-47E9-8A5B-CBF2C09F53C8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888840" y="708840"/>
            <a:ext cx="5868360" cy="562284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95312" name="Object 7"/>
          <p:cNvGraphicFramePr>
            <a:graphicFrameLocks noChangeAspect="1"/>
          </p:cNvGraphicFramePr>
          <p:nvPr/>
        </p:nvGraphicFramePr>
        <p:xfrm>
          <a:off x="5022215" y="4724400"/>
          <a:ext cx="316706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2" name="位图图像" r:id="rId8" imgW="2876550" imgH="1447800" progId="PBrush">
                  <p:embed/>
                </p:oleObj>
              </mc:Choice>
              <mc:Fallback>
                <p:oleObj name="位图图像" r:id="rId8" imgW="2876550" imgH="1447800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215" y="4724400"/>
                        <a:ext cx="3167063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0"/>
    </p:custDataLst>
  </p:cSld>
  <p:clrMapOvr>
    <a:masterClrMapping/>
  </p:clrMapOvr>
  <p:transition spd="med" advTm="8788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69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95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95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5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5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305" grpId="0" autoUpdateAnimBg="0"/>
      <p:bldP spid="695306" grpId="0" bldLvl="0" animBg="1"/>
      <p:bldP spid="695307" grpId="0"/>
      <p:bldP spid="695309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Text Box 2"/>
          <p:cNvSpPr txBox="1">
            <a:spLocks noChangeArrowheads="1"/>
          </p:cNvSpPr>
          <p:nvPr/>
        </p:nvSpPr>
        <p:spPr bwMode="auto">
          <a:xfrm>
            <a:off x="539750" y="476250"/>
            <a:ext cx="807561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5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</a:rPr>
              <a:t>）差分</a:t>
            </a: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r>
              <a:rPr kumimoji="1"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    </a:t>
            </a:r>
            <a:r>
              <a:rPr kumimoji="1" lang="zh-CN" altLang="en-US" sz="2400">
                <a:latin typeface="Tahoma" panose="020B0604030504040204" pitchFamily="34" charset="0"/>
              </a:rPr>
              <a:t>序列与其移序序列的差而得到一个新序列。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48867" name="Rectangle 3"/>
          <p:cNvSpPr>
            <a:spLocks noChangeArrowheads="1"/>
          </p:cNvSpPr>
          <p:nvPr/>
        </p:nvSpPr>
        <p:spPr bwMode="auto">
          <a:xfrm>
            <a:off x="395288" y="1557338"/>
            <a:ext cx="2895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</a:rPr>
              <a:t>一阶后向差分：</a:t>
            </a:r>
            <a:endParaRPr kumimoji="1" lang="zh-CN" altLang="en-US" sz="4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548868" name="Rectangle 4"/>
          <p:cNvSpPr>
            <a:spLocks noChangeArrowheads="1"/>
          </p:cNvSpPr>
          <p:nvPr/>
        </p:nvSpPr>
        <p:spPr bwMode="auto">
          <a:xfrm>
            <a:off x="381000" y="2564765"/>
            <a:ext cx="27511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</a:rPr>
              <a:t>一阶前向差分：</a:t>
            </a:r>
            <a:endParaRPr kumimoji="1" lang="zh-CN" altLang="en-US" sz="4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548869" name="Rectangle 5"/>
          <p:cNvSpPr>
            <a:spLocks noChangeArrowheads="1"/>
          </p:cNvSpPr>
          <p:nvPr/>
        </p:nvSpPr>
        <p:spPr bwMode="auto">
          <a:xfrm>
            <a:off x="381000" y="3735705"/>
            <a:ext cx="2895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</a:rPr>
              <a:t>二阶后向差分：</a:t>
            </a:r>
            <a:endParaRPr kumimoji="1" lang="zh-CN" altLang="en-US" sz="4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548870" name="Rectangle 6"/>
          <p:cNvSpPr>
            <a:spLocks noChangeArrowheads="1"/>
          </p:cNvSpPr>
          <p:nvPr/>
        </p:nvSpPr>
        <p:spPr bwMode="auto">
          <a:xfrm>
            <a:off x="468313" y="5051108"/>
            <a:ext cx="31067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</a:rPr>
              <a:t>二阶前向差分：</a:t>
            </a:r>
            <a:endParaRPr kumimoji="1" lang="zh-CN" altLang="en-US" sz="4400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8871" name="Object 2"/>
              <p:cNvSpPr txBox="1"/>
              <p:nvPr/>
            </p:nvSpPr>
            <p:spPr bwMode="auto">
              <a:xfrm>
                <a:off x="3059113" y="1412875"/>
                <a:ext cx="4003675" cy="631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8871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113" y="1412875"/>
                <a:ext cx="4003675" cy="631825"/>
              </a:xfrm>
              <a:prstGeom prst="rect">
                <a:avLst/>
              </a:prstGeom>
              <a:blipFill rotWithShape="1">
                <a:blip r:embed="rId1"/>
                <a:stretch>
                  <a:fillRect l="-8" r="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8872" name="Object 3"/>
              <p:cNvSpPr txBox="1"/>
              <p:nvPr/>
            </p:nvSpPr>
            <p:spPr bwMode="auto">
              <a:xfrm>
                <a:off x="3132455" y="2468245"/>
                <a:ext cx="3962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887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2455" y="2468245"/>
                <a:ext cx="3962400" cy="6858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8873" name="Object 4"/>
              <p:cNvSpPr txBox="1"/>
              <p:nvPr/>
            </p:nvSpPr>
            <p:spPr bwMode="auto">
              <a:xfrm>
                <a:off x="2819146" y="3647758"/>
                <a:ext cx="5932488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887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146" y="3647758"/>
                <a:ext cx="5932488" cy="685800"/>
              </a:xfrm>
              <a:prstGeom prst="rect">
                <a:avLst/>
              </a:prstGeom>
              <a:blipFill rotWithShape="1">
                <a:blip r:embed="rId3"/>
                <a:stretch>
                  <a:fillRect l="-6" t="-46" r="1" b="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8874" name="Object 5"/>
              <p:cNvSpPr txBox="1"/>
              <p:nvPr/>
            </p:nvSpPr>
            <p:spPr bwMode="auto">
              <a:xfrm>
                <a:off x="2819146" y="4927283"/>
                <a:ext cx="6096000" cy="835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4887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146" y="4927283"/>
                <a:ext cx="6096000" cy="835025"/>
              </a:xfrm>
              <a:prstGeom prst="rect">
                <a:avLst/>
              </a:prstGeom>
              <a:blipFill rotWithShape="1">
                <a:blip r:embed="rId4"/>
                <a:stretch>
                  <a:fillRect l="-6" t="-38" r="6" b="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97DEF9-1F0E-4B9B-BA0B-613989207C39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667080" y="781920"/>
            <a:ext cx="8325360" cy="56440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 spd="med" advTm="19343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8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8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48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6" grpId="0" autoUpdateAnimBg="0" build="p"/>
      <p:bldP spid="548867" grpId="0" autoUpdateAnimBg="0" build="p"/>
      <p:bldP spid="548868" grpId="0" autoUpdateAnimBg="0" build="p"/>
      <p:bldP spid="548869" grpId="0" autoUpdateAnimBg="0" build="p"/>
      <p:bldP spid="548870" grpId="0" autoUpdateAnimBg="0" build="p"/>
      <p:bldP spid="548871" grpId="0"/>
      <p:bldP spid="548872" grpId="0"/>
      <p:bldP spid="548873" grpId="0"/>
      <p:bldP spid="5488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9890" name="Object 2"/>
          <p:cNvGraphicFramePr>
            <a:graphicFrameLocks noChangeAspect="1"/>
          </p:cNvGraphicFramePr>
          <p:nvPr/>
        </p:nvGraphicFramePr>
        <p:xfrm>
          <a:off x="4519930" y="102870"/>
          <a:ext cx="2057400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8" name="BMP 图象" r:id="rId1" imgW="2409825" imgH="2466975" progId="PBrush">
                  <p:embed/>
                </p:oleObj>
              </mc:Choice>
              <mc:Fallback>
                <p:oleObj name="BMP 图象" r:id="rId1" imgW="2409825" imgH="2466975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930" y="102870"/>
                        <a:ext cx="2057400" cy="16589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1" name="Object 3"/>
          <p:cNvGraphicFramePr>
            <a:graphicFrameLocks noChangeAspect="1"/>
          </p:cNvGraphicFramePr>
          <p:nvPr/>
        </p:nvGraphicFramePr>
        <p:xfrm>
          <a:off x="6977380" y="31750"/>
          <a:ext cx="2057400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9" name="BMP 图象" r:id="rId3" imgW="3457575" imgH="2752725" progId="PBrush">
                  <p:embed/>
                </p:oleObj>
              </mc:Choice>
              <mc:Fallback>
                <p:oleObj name="BMP 图象" r:id="rId3" imgW="3457575" imgH="2752725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380" y="31750"/>
                        <a:ext cx="2057400" cy="176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56883" y="157480"/>
            <a:ext cx="4235450" cy="476250"/>
          </a:xfrm>
        </p:spPr>
        <p:txBody>
          <a:bodyPr/>
          <a:lstStyle/>
          <a:p>
            <a:r>
              <a:rPr lang="zh-CN" altLang="en-US" sz="2400" b="1">
                <a:solidFill>
                  <a:srgbClr val="0000FF"/>
                </a:solidFill>
              </a:rPr>
              <a:t>三、离散信号时域变换</a:t>
            </a:r>
            <a:endParaRPr lang="zh-CN" altLang="en-US" sz="2400" b="1"/>
          </a:p>
        </p:txBody>
      </p:sp>
      <p:sp>
        <p:nvSpPr>
          <p:cNvPr id="549893" name="Text Box 5"/>
          <p:cNvSpPr txBox="1">
            <a:spLocks noChangeArrowheads="1"/>
          </p:cNvSpPr>
          <p:nvPr/>
        </p:nvSpPr>
        <p:spPr bwMode="auto">
          <a:xfrm>
            <a:off x="457200" y="1066800"/>
            <a:ext cx="3970338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6600CC"/>
                </a:solidFill>
                <a:latin typeface="Tahoma" panose="020B0604030504040204" pitchFamily="34" charset="0"/>
              </a:rPr>
              <a:t>1.</a:t>
            </a:r>
            <a:r>
              <a:rPr kumimoji="1" lang="zh-CN" altLang="en-US" sz="2000">
                <a:solidFill>
                  <a:srgbClr val="6600CC"/>
                </a:solidFill>
                <a:latin typeface="Tahoma" panose="020B0604030504040204" pitchFamily="34" charset="0"/>
              </a:rPr>
              <a:t>移序</a:t>
            </a:r>
            <a:r>
              <a:rPr kumimoji="1" lang="en-US" altLang="zh-CN" sz="2000">
                <a:solidFill>
                  <a:srgbClr val="6600CC"/>
                </a:solidFill>
                <a:latin typeface="Tahoma" panose="020B0604030504040204" pitchFamily="34" charset="0"/>
              </a:rPr>
              <a:t>:</a:t>
            </a:r>
            <a:r>
              <a:rPr kumimoji="1"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  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y(k)=f(k-m)  </a:t>
            </a: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</a:rPr>
              <a:t>求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f(k-1)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49894" name="Text Box 6"/>
          <p:cNvSpPr txBox="1">
            <a:spLocks noChangeArrowheads="1"/>
          </p:cNvSpPr>
          <p:nvPr/>
        </p:nvSpPr>
        <p:spPr bwMode="auto">
          <a:xfrm>
            <a:off x="373380" y="1551305"/>
            <a:ext cx="269494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6600CC"/>
                </a:solidFill>
                <a:latin typeface="Tahoma" panose="020B0604030504040204" pitchFamily="34" charset="0"/>
              </a:rPr>
              <a:t>2.</a:t>
            </a:r>
            <a:r>
              <a:rPr kumimoji="1" lang="zh-CN" altLang="en-US" sz="2000">
                <a:solidFill>
                  <a:srgbClr val="6600CC"/>
                </a:solidFill>
                <a:latin typeface="Tahoma" panose="020B0604030504040204" pitchFamily="34" charset="0"/>
              </a:rPr>
              <a:t>折叠</a:t>
            </a:r>
            <a:r>
              <a:rPr kumimoji="1" lang="en-US" altLang="zh-CN" sz="2000">
                <a:solidFill>
                  <a:srgbClr val="6600CC"/>
                </a:solidFill>
                <a:latin typeface="Tahoma" panose="020B0604030504040204" pitchFamily="34" charset="0"/>
              </a:rPr>
              <a:t>:</a:t>
            </a:r>
            <a:r>
              <a:rPr kumimoji="1"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  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y(k)=f(-k)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49895" name="Text Box 7"/>
          <p:cNvSpPr txBox="1">
            <a:spLocks noChangeArrowheads="1"/>
          </p:cNvSpPr>
          <p:nvPr/>
        </p:nvSpPr>
        <p:spPr bwMode="auto">
          <a:xfrm>
            <a:off x="3585210" y="2477770"/>
            <a:ext cx="279019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6600CC"/>
                </a:solidFill>
                <a:latin typeface="Tahoma" panose="020B0604030504040204" pitchFamily="34" charset="0"/>
              </a:rPr>
              <a:t>3.</a:t>
            </a:r>
            <a:r>
              <a:rPr kumimoji="1" lang="zh-CN" altLang="en-US" sz="2000">
                <a:solidFill>
                  <a:srgbClr val="6600CC"/>
                </a:solidFill>
                <a:latin typeface="Tahoma" panose="020B0604030504040204" pitchFamily="34" charset="0"/>
              </a:rPr>
              <a:t>倒相</a:t>
            </a:r>
            <a:r>
              <a:rPr kumimoji="1" lang="en-US" altLang="zh-CN" sz="2000">
                <a:solidFill>
                  <a:srgbClr val="6600CC"/>
                </a:solidFill>
                <a:latin typeface="Tahoma" panose="020B0604030504040204" pitchFamily="34" charset="0"/>
              </a:rPr>
              <a:t>:</a:t>
            </a:r>
            <a:r>
              <a:rPr kumimoji="1"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  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y(k)=-f(k)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49896" name="Text Box 8"/>
          <p:cNvSpPr txBox="1">
            <a:spLocks noChangeArrowheads="1"/>
          </p:cNvSpPr>
          <p:nvPr/>
        </p:nvSpPr>
        <p:spPr bwMode="auto">
          <a:xfrm>
            <a:off x="300038" y="3777615"/>
            <a:ext cx="396240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6600CC"/>
                </a:solidFill>
                <a:latin typeface="Tahoma" panose="020B0604030504040204" pitchFamily="34" charset="0"/>
              </a:rPr>
              <a:t>4.</a:t>
            </a:r>
            <a:r>
              <a:rPr kumimoji="1" lang="zh-CN" altLang="en-US" sz="2000">
                <a:solidFill>
                  <a:srgbClr val="6600CC"/>
                </a:solidFill>
                <a:latin typeface="Tahoma" panose="020B0604030504040204" pitchFamily="34" charset="0"/>
              </a:rPr>
              <a:t>展缩</a:t>
            </a:r>
            <a:r>
              <a:rPr kumimoji="1" lang="en-US" altLang="zh-CN" sz="2000">
                <a:solidFill>
                  <a:srgbClr val="6600CC"/>
                </a:solidFill>
                <a:latin typeface="Tahoma" panose="020B0604030504040204" pitchFamily="34" charset="0"/>
              </a:rPr>
              <a:t>:</a:t>
            </a:r>
            <a:r>
              <a:rPr kumimoji="1"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   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</a:rPr>
              <a:t>y(k)=f(ak)</a:t>
            </a:r>
            <a:endParaRPr kumimoji="1" lang="en-US" altLang="zh-CN" sz="200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549897" name="Object 4"/>
          <p:cNvGraphicFramePr>
            <a:graphicFrameLocks noChangeAspect="1"/>
          </p:cNvGraphicFramePr>
          <p:nvPr/>
        </p:nvGraphicFramePr>
        <p:xfrm>
          <a:off x="868363" y="1953895"/>
          <a:ext cx="198120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0" name="BMP 图象" r:id="rId5" imgW="2333625" imgH="2476500" progId="PBrush">
                  <p:embed/>
                </p:oleObj>
              </mc:Choice>
              <mc:Fallback>
                <p:oleObj name="BMP 图象" r:id="rId5" imgW="2333625" imgH="2476500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1953895"/>
                        <a:ext cx="1981200" cy="173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8" name="Object 5"/>
          <p:cNvGraphicFramePr>
            <a:graphicFrameLocks noChangeAspect="1"/>
          </p:cNvGraphicFramePr>
          <p:nvPr/>
        </p:nvGraphicFramePr>
        <p:xfrm>
          <a:off x="6375083" y="2063750"/>
          <a:ext cx="1981200" cy="170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1" name="BMP 图象" r:id="rId7" imgW="2362200" imgH="2124075" progId="PBrush">
                  <p:embed/>
                </p:oleObj>
              </mc:Choice>
              <mc:Fallback>
                <p:oleObj name="BMP 图象" r:id="rId7" imgW="2362200" imgH="2124075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083" y="2063750"/>
                        <a:ext cx="1981200" cy="170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9" name="Object 6"/>
          <p:cNvGraphicFramePr>
            <a:graphicFrameLocks noChangeAspect="1"/>
          </p:cNvGraphicFramePr>
          <p:nvPr/>
        </p:nvGraphicFramePr>
        <p:xfrm>
          <a:off x="602933" y="4748213"/>
          <a:ext cx="2376487" cy="210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2" name="位图图像" r:id="rId9" imgW="2390775" imgH="2219325" progId="PBrush">
                  <p:embed/>
                </p:oleObj>
              </mc:Choice>
              <mc:Fallback>
                <p:oleObj name="位图图像" r:id="rId9" imgW="2390775" imgH="2219325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933" y="4748213"/>
                        <a:ext cx="2376487" cy="210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900" name="Text Box 12"/>
          <p:cNvSpPr txBox="1">
            <a:spLocks noChangeArrowheads="1"/>
          </p:cNvSpPr>
          <p:nvPr/>
        </p:nvSpPr>
        <p:spPr bwMode="auto">
          <a:xfrm>
            <a:off x="1576705" y="4219893"/>
            <a:ext cx="25622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横坐标</a:t>
            </a: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只能取整数</a:t>
            </a: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0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9901" name="Text Box 13"/>
          <p:cNvSpPr txBox="1">
            <a:spLocks noChangeArrowheads="1"/>
          </p:cNvSpPr>
          <p:nvPr/>
        </p:nvSpPr>
        <p:spPr bwMode="auto">
          <a:xfrm>
            <a:off x="2871470" y="6422390"/>
            <a:ext cx="4572000" cy="4064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注意：</a:t>
            </a:r>
            <a:r>
              <a:rPr kumimoji="1" lang="zh-CN" altLang="en-US" sz="2400">
                <a:latin typeface="Tahoma" panose="020B0604030504040204" pitchFamily="34" charset="0"/>
              </a:rPr>
              <a:t>压缩后不能恢复原序列；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2" name="Group 64"/>
          <p:cNvGrpSpPr/>
          <p:nvPr>
            <p:custDataLst>
              <p:tags r:id="rId11"/>
            </p:custDataLst>
          </p:nvPr>
        </p:nvGrpSpPr>
        <p:grpSpPr bwMode="auto">
          <a:xfrm>
            <a:off x="5496047" y="3897131"/>
            <a:ext cx="3333195" cy="2150609"/>
            <a:chOff x="2644" y="2560"/>
            <a:chExt cx="2266" cy="1505"/>
          </a:xfrm>
        </p:grpSpPr>
        <p:sp>
          <p:nvSpPr>
            <p:cNvPr id="28689" name="Line 16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2925" y="3566"/>
              <a:ext cx="167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0" name="Line 17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rot="-5400000">
              <a:off x="2767" y="3453"/>
              <a:ext cx="122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1" name="Line 1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3016" y="3203"/>
              <a:ext cx="0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2" name="Line 19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3379" y="3022"/>
              <a:ext cx="0" cy="49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3" name="Line 20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V="1">
              <a:off x="3741" y="3249"/>
              <a:ext cx="0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4" name="Line 21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4104" y="3566"/>
              <a:ext cx="0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5" name="Line 2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4422" y="3385"/>
              <a:ext cx="0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6" name="Line 23"/>
            <p:cNvSpPr>
              <a:spLocks noChangeShapeType="1"/>
            </p:cNvSpPr>
            <p:nvPr/>
          </p:nvSpPr>
          <p:spPr bwMode="auto">
            <a:xfrm>
              <a:off x="3197" y="356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7" name="Line 24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3197" y="3533"/>
              <a:ext cx="0" cy="4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8" name="Line 25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3560" y="3533"/>
              <a:ext cx="0" cy="4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9" name="Line 26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3923" y="3542"/>
              <a:ext cx="0" cy="4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0" name="Line 27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258" y="3548"/>
              <a:ext cx="0" cy="4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701" name="Object 8"/>
                <p:cNvSpPr txBox="1"/>
                <p:nvPr/>
              </p:nvSpPr>
              <p:spPr bwMode="auto">
                <a:xfrm>
                  <a:off x="3309" y="2560"/>
                  <a:ext cx="501" cy="3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/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18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f</m:t>
                        </m:r>
                        <m:r>
                          <a:rPr lang="zh-CN" altLang="en-US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Ms.Luce" panose="00000400000000000000" charset="0"/>
                            <a:cs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zh-CN" altLang="en-US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180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  <m:t>k</m:t>
                            </m:r>
                          </m:num>
                          <m:den>
                            <m:r>
                              <a:rPr lang="zh-CN" altLang="en-US" sz="180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Ms.Luce" panose="00000400000000000000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zh-CN" altLang="en-US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Ms.Luce" panose="00000400000000000000" charset="0"/>
                            <a:cs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800" i="1">
                    <a:solidFill>
                      <a:srgbClr val="0000FF"/>
                    </a:solidFill>
                    <a:latin typeface="Cambria Math" panose="02040503050406030204" pitchFamily="18" charset="0"/>
                    <a:ea typeface="Ms.Luce" panose="00000400000000000000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8701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09" y="2560"/>
                  <a:ext cx="501" cy="339"/>
                </a:xfrm>
                <a:prstGeom prst="rect">
                  <a:avLst/>
                </a:prstGeom>
                <a:blipFill rotWithShape="1">
                  <a:blip r:embed="rId2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702" name="Text Box 2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651" y="3561"/>
              <a:ext cx="36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Tahoma" panose="020B0604030504040204" pitchFamily="34" charset="0"/>
                </a:rPr>
                <a:t>2</a:t>
              </a:r>
              <a:endParaRPr kumimoji="1" lang="en-US" altLang="zh-CN" sz="1400">
                <a:latin typeface="Tahoma" panose="020B0604030504040204" pitchFamily="34" charset="0"/>
              </a:endParaRPr>
            </a:p>
          </p:txBody>
        </p:sp>
        <p:sp>
          <p:nvSpPr>
            <p:cNvPr id="28703" name="Text Box 3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968" y="3334"/>
              <a:ext cx="3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Tahoma" panose="020B0604030504040204" pitchFamily="34" charset="0"/>
                </a:rPr>
                <a:t>4</a:t>
              </a:r>
              <a:endParaRPr kumimoji="1" lang="en-US" altLang="zh-CN" sz="1400">
                <a:latin typeface="Tahoma" panose="020B0604030504040204" pitchFamily="34" charset="0"/>
              </a:endParaRPr>
            </a:p>
          </p:txBody>
        </p:sp>
        <p:sp>
          <p:nvSpPr>
            <p:cNvPr id="28704" name="Text Box 3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286" y="3561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Tahoma" panose="020B0604030504040204" pitchFamily="34" charset="0"/>
                </a:rPr>
                <a:t>6</a:t>
              </a:r>
              <a:endParaRPr kumimoji="1" lang="en-US" altLang="zh-CN" sz="1400">
                <a:latin typeface="Tahoma" panose="020B0604030504040204" pitchFamily="34" charset="0"/>
              </a:endParaRPr>
            </a:p>
          </p:txBody>
        </p:sp>
        <p:sp>
          <p:nvSpPr>
            <p:cNvPr id="28705" name="Text Box 3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880" y="3561"/>
              <a:ext cx="36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Tahoma" panose="020B0604030504040204" pitchFamily="34" charset="0"/>
                </a:rPr>
                <a:t>-2</a:t>
              </a:r>
              <a:endParaRPr kumimoji="1" lang="en-US" altLang="zh-CN" sz="1400">
                <a:latin typeface="Tahoma" panose="020B0604030504040204" pitchFamily="34" charset="0"/>
              </a:endParaRPr>
            </a:p>
          </p:txBody>
        </p:sp>
        <p:sp>
          <p:nvSpPr>
            <p:cNvPr id="28706" name="Text Box 3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106" y="2931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200">
                  <a:solidFill>
                    <a:srgbClr val="800000"/>
                  </a:solidFill>
                  <a:latin typeface="Tahoma" panose="020B0604030504040204" pitchFamily="34" charset="0"/>
                </a:rPr>
                <a:t>f(0)</a:t>
              </a:r>
              <a:endParaRPr kumimoji="1" lang="en-US" altLang="zh-CN" sz="120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07" name="Text Box 3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644" y="3104"/>
              <a:ext cx="3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200">
                  <a:solidFill>
                    <a:srgbClr val="800000"/>
                  </a:solidFill>
                  <a:latin typeface="Tahoma" panose="020B0604030504040204" pitchFamily="34" charset="0"/>
                </a:rPr>
                <a:t>f(-1)</a:t>
              </a:r>
              <a:endParaRPr kumimoji="1" lang="en-US" altLang="zh-CN" sz="120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08" name="Text Box 35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516" y="3150"/>
              <a:ext cx="40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200">
                  <a:solidFill>
                    <a:srgbClr val="800000"/>
                  </a:solidFill>
                  <a:latin typeface="Tahoma" panose="020B0604030504040204" pitchFamily="34" charset="0"/>
                </a:rPr>
                <a:t>f(1)</a:t>
              </a:r>
              <a:endParaRPr kumimoji="1" lang="en-US" altLang="zh-CN" sz="120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09" name="Text Box 36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862" y="3793"/>
              <a:ext cx="4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200">
                  <a:solidFill>
                    <a:srgbClr val="800000"/>
                  </a:solidFill>
                  <a:latin typeface="Tahoma" panose="020B0604030504040204" pitchFamily="34" charset="0"/>
                </a:rPr>
                <a:t>f(2)</a:t>
              </a:r>
              <a:endParaRPr kumimoji="1" lang="en-US" altLang="zh-CN" sz="120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10" name="Text Box 3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260" y="3158"/>
              <a:ext cx="34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200">
                  <a:solidFill>
                    <a:srgbClr val="800000"/>
                  </a:solidFill>
                  <a:latin typeface="Tahoma" panose="020B0604030504040204" pitchFamily="34" charset="0"/>
                </a:rPr>
                <a:t>f(3)</a:t>
              </a:r>
              <a:endParaRPr kumimoji="1" lang="en-US" altLang="zh-CN" sz="120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11" name="Text Box 3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593" y="3457"/>
              <a:ext cx="31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800">
                  <a:solidFill>
                    <a:srgbClr val="0000FF"/>
                  </a:solidFill>
                  <a:latin typeface="Tahoma" panose="020B0604030504040204" pitchFamily="34" charset="0"/>
                </a:rPr>
                <a:t>k</a:t>
              </a:r>
              <a:endParaRPr kumimoji="1" lang="en-US" altLang="zh-CN" sz="180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9" name="日期占位符 3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AC2EDC7-0231-4295-89A4-ED122A021CFA}" type="datetime1">
              <a:rPr lang="zh-CN" altLang="en-US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7"/>
              <p:cNvSpPr txBox="1"/>
              <p:nvPr/>
            </p:nvSpPr>
            <p:spPr bwMode="auto">
              <a:xfrm>
                <a:off x="373380" y="4222115"/>
                <a:ext cx="1123950" cy="36576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1800" i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a</m:t>
                      </m:r>
                      <m:r>
                        <a:rPr lang="zh-CN" altLang="en-US" sz="1800" i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Ms.Luce" panose="00000400000000000000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zh-CN" altLang="en-US" sz="1800" i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Ms.Luce" panose="00000400000000000000" charset="0"/>
                          <a:cs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800" i="0">
                  <a:solidFill>
                    <a:schemeClr val="tx1"/>
                  </a:solidFill>
                  <a:highlight>
                    <a:srgbClr val="FFFF00"/>
                  </a:highlight>
                  <a:latin typeface="Cambria Math" panose="02040503050406030204" pitchFamily="18" charset="0"/>
                  <a:ea typeface="Ms.Luce" panose="00000400000000000000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380" y="4222115"/>
                <a:ext cx="1123950" cy="365760"/>
              </a:xfrm>
              <a:prstGeom prst="rect">
                <a:avLst/>
              </a:prstGeom>
              <a:blipFill rotWithShape="1"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298315" y="4083050"/>
                <a:ext cx="975360" cy="60452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00" i="0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800" i="0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800" i="0">
                  <a:solidFill>
                    <a:srgbClr val="00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315" y="4083050"/>
                <a:ext cx="975360" cy="604520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36"/>
    </p:custDataLst>
  </p:cSld>
  <p:clrMapOvr>
    <a:masterClrMapping/>
  </p:clrMapOvr>
  <p:transition spd="med" advTm="31393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54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54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54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54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2" grpId="0" autoUpdateAnimBg="0"/>
      <p:bldP spid="549893" grpId="0" autoUpdateAnimBg="0"/>
      <p:bldP spid="549894" grpId="0" autoUpdateAnimBg="0"/>
      <p:bldP spid="549895" grpId="0" autoUpdateAnimBg="0"/>
      <p:bldP spid="549896" grpId="0" autoUpdateAnimBg="0"/>
      <p:bldP spid="549900" grpId="0" autoUpdateAnimBg="0"/>
      <p:bldP spid="549901" grpId="0" bldLvl="0" animBg="1"/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765175"/>
            <a:ext cx="7367587" cy="457200"/>
          </a:xfrm>
        </p:spPr>
        <p:txBody>
          <a:bodyPr/>
          <a:lstStyle/>
          <a:p>
            <a:r>
              <a:rPr lang="en-US" altLang="zh-CN" sz="2000" b="1">
                <a:solidFill>
                  <a:srgbClr val="6600CC"/>
                </a:solidFill>
              </a:rPr>
              <a:t>1.</a:t>
            </a:r>
            <a:r>
              <a:rPr lang="zh-CN" altLang="en-US" sz="2000" b="1">
                <a:solidFill>
                  <a:srgbClr val="6600CC"/>
                </a:solidFill>
              </a:rPr>
              <a:t>单位序列</a:t>
            </a:r>
            <a:r>
              <a:rPr lang="zh-CN" altLang="en-US" sz="2000" b="1">
                <a:solidFill>
                  <a:srgbClr val="003300"/>
                </a:solidFill>
              </a:rPr>
              <a:t>（单位取样序列、单位脉冲序列、单位函数）</a:t>
            </a:r>
            <a:endParaRPr lang="zh-CN" altLang="en-US" sz="2000" b="1">
              <a:solidFill>
                <a:srgbClr val="003300"/>
              </a:solidFill>
            </a:endParaRPr>
          </a:p>
        </p:txBody>
      </p:sp>
      <p:graphicFrame>
        <p:nvGraphicFramePr>
          <p:cNvPr id="550915" name="Object 2"/>
          <p:cNvGraphicFramePr>
            <a:graphicFrameLocks noChangeAspect="1"/>
          </p:cNvGraphicFramePr>
          <p:nvPr/>
        </p:nvGraphicFramePr>
        <p:xfrm>
          <a:off x="2362200" y="1752600"/>
          <a:ext cx="2133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1" name="Equation" r:id="rId1" imgW="990600" imgH="457200" progId="Equation.3">
                  <p:embed/>
                </p:oleObj>
              </mc:Choice>
              <mc:Fallback>
                <p:oleObj name="Equation" r:id="rId1" imgW="9906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52600"/>
                        <a:ext cx="2133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16" name="Text Box 4"/>
          <p:cNvSpPr txBox="1">
            <a:spLocks noChangeArrowheads="1"/>
          </p:cNvSpPr>
          <p:nvPr/>
        </p:nvSpPr>
        <p:spPr bwMode="auto">
          <a:xfrm>
            <a:off x="611188" y="3141663"/>
            <a:ext cx="1171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推广：</a:t>
            </a: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50917" name="Object 3"/>
          <p:cNvGraphicFramePr>
            <a:graphicFrameLocks noChangeAspect="1"/>
          </p:cNvGraphicFramePr>
          <p:nvPr/>
        </p:nvGraphicFramePr>
        <p:xfrm>
          <a:off x="1116013" y="3357563"/>
          <a:ext cx="30480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2" name="Equation" r:id="rId3" imgW="1536700" imgH="457200" progId="Equation.3">
                  <p:embed/>
                </p:oleObj>
              </mc:Choice>
              <mc:Fallback>
                <p:oleObj name="Equation" r:id="rId3" imgW="15367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357563"/>
                        <a:ext cx="30480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18" name="Text Box 6"/>
          <p:cNvSpPr txBox="1">
            <a:spLocks noChangeArrowheads="1"/>
          </p:cNvSpPr>
          <p:nvPr/>
        </p:nvSpPr>
        <p:spPr bwMode="auto">
          <a:xfrm>
            <a:off x="4876800" y="3071813"/>
            <a:ext cx="12080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性质：</a:t>
            </a: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50919" name="Object 4"/>
          <p:cNvGraphicFramePr>
            <a:graphicFrameLocks noChangeAspect="1"/>
          </p:cNvGraphicFramePr>
          <p:nvPr/>
        </p:nvGraphicFramePr>
        <p:xfrm>
          <a:off x="1033463" y="4394200"/>
          <a:ext cx="32004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3" name="Equation" r:id="rId5" imgW="1459865" imgH="215900" progId="Equation.3">
                  <p:embed/>
                </p:oleObj>
              </mc:Choice>
              <mc:Fallback>
                <p:oleObj name="Equation" r:id="rId5" imgW="1459865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463" y="4394200"/>
                        <a:ext cx="32004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20" name="Text Box 8"/>
          <p:cNvSpPr txBox="1">
            <a:spLocks noChangeArrowheads="1"/>
          </p:cNvSpPr>
          <p:nvPr/>
        </p:nvSpPr>
        <p:spPr bwMode="auto">
          <a:xfrm>
            <a:off x="611188" y="5157788"/>
            <a:ext cx="30972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(k) </a:t>
            </a: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类似于</a:t>
            </a:r>
            <a:r>
              <a:rPr kumimoji="1"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(t)</a:t>
            </a: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kumimoji="1"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但二者有较大差别：</a:t>
            </a:r>
            <a:endParaRPr kumimoji="1"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550921" name="Object 5"/>
          <p:cNvGraphicFramePr>
            <a:graphicFrameLocks noChangeAspect="1"/>
          </p:cNvGraphicFramePr>
          <p:nvPr/>
        </p:nvGraphicFramePr>
        <p:xfrm>
          <a:off x="5003800" y="3644900"/>
          <a:ext cx="12001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4" name="公式" r:id="rId7" imgW="736600" imgH="203200" progId="Equation.3">
                  <p:embed/>
                </p:oleObj>
              </mc:Choice>
              <mc:Fallback>
                <p:oleObj name="公式" r:id="rId7" imgW="7366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644900"/>
                        <a:ext cx="12001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685800" y="152400"/>
            <a:ext cx="296386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</a:rPr>
              <a:t>四、常用离散信号</a:t>
            </a:r>
            <a:endParaRPr kumimoji="1" lang="zh-CN" altLang="en-US" sz="24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550923" name="Object 6"/>
          <p:cNvGraphicFramePr>
            <a:graphicFrameLocks noChangeAspect="1"/>
          </p:cNvGraphicFramePr>
          <p:nvPr/>
        </p:nvGraphicFramePr>
        <p:xfrm>
          <a:off x="381000" y="1371600"/>
          <a:ext cx="18859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5" name="BMP 图象" r:id="rId9" imgW="1885950" imgH="1524000" progId="PBrush">
                  <p:embed/>
                </p:oleObj>
              </mc:Choice>
              <mc:Fallback>
                <p:oleObj name="BMP 图象" r:id="rId9" imgW="1885950" imgH="1524000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18859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24" name="Object 7"/>
          <p:cNvGraphicFramePr>
            <a:graphicFrameLocks noChangeAspect="1"/>
          </p:cNvGraphicFramePr>
          <p:nvPr/>
        </p:nvGraphicFramePr>
        <p:xfrm>
          <a:off x="4800600" y="1447800"/>
          <a:ext cx="1933575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6" name="BMP 图象" r:id="rId11" imgW="1933575" imgH="1504950" progId="PBrush">
                  <p:embed/>
                </p:oleObj>
              </mc:Choice>
              <mc:Fallback>
                <p:oleObj name="BMP 图象" r:id="rId11" imgW="1933575" imgH="1504950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447800"/>
                        <a:ext cx="1933575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25" name="Object 8"/>
          <p:cNvGraphicFramePr>
            <a:graphicFrameLocks noChangeAspect="1"/>
          </p:cNvGraphicFramePr>
          <p:nvPr/>
        </p:nvGraphicFramePr>
        <p:xfrm>
          <a:off x="6781800" y="1447800"/>
          <a:ext cx="206692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7" name="BMP 图象" r:id="rId13" imgW="2066925" imgH="1447800" progId="PBrush">
                  <p:embed/>
                </p:oleObj>
              </mc:Choice>
              <mc:Fallback>
                <p:oleObj name="BMP 图象" r:id="rId13" imgW="2066925" imgH="1447800" progId="PBrush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447800"/>
                        <a:ext cx="2066925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26" name="Object 9"/>
          <p:cNvGraphicFramePr>
            <a:graphicFrameLocks noChangeAspect="1"/>
          </p:cNvGraphicFramePr>
          <p:nvPr/>
        </p:nvGraphicFramePr>
        <p:xfrm>
          <a:off x="5003800" y="4365625"/>
          <a:ext cx="16129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8" name="公式" r:id="rId15" imgW="989965" imgH="203200" progId="Equation.3">
                  <p:embed/>
                </p:oleObj>
              </mc:Choice>
              <mc:Fallback>
                <p:oleObj name="公式" r:id="rId15" imgW="989965" imgH="20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365625"/>
                        <a:ext cx="161290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27" name="Text Box 15"/>
          <p:cNvSpPr txBox="1">
            <a:spLocks noChangeArrowheads="1"/>
          </p:cNvSpPr>
          <p:nvPr/>
        </p:nvSpPr>
        <p:spPr bwMode="auto">
          <a:xfrm>
            <a:off x="3924300" y="5084763"/>
            <a:ext cx="49688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(t) </a:t>
            </a: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：奇异信号，数学抽象函数；</a:t>
            </a: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(k)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：非奇异信号，可实现信号。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550928" name="Object 10"/>
          <p:cNvGraphicFramePr>
            <a:graphicFrameLocks noChangeAspect="1"/>
          </p:cNvGraphicFramePr>
          <p:nvPr/>
        </p:nvGraphicFramePr>
        <p:xfrm>
          <a:off x="3708400" y="5157788"/>
          <a:ext cx="11874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09" name="Equation" r:id="rId17" imgW="191135" imgH="91440" progId="Equation.3">
                  <p:embed/>
                </p:oleObj>
              </mc:Choice>
              <mc:Fallback>
                <p:oleObj name="Equation" r:id="rId17" imgW="191135" imgH="914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157788"/>
                        <a:ext cx="118745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29" name="Line 17"/>
          <p:cNvSpPr>
            <a:spLocks noChangeShapeType="1"/>
          </p:cNvSpPr>
          <p:nvPr/>
        </p:nvSpPr>
        <p:spPr bwMode="auto">
          <a:xfrm>
            <a:off x="7164388" y="1989138"/>
            <a:ext cx="431800" cy="0"/>
          </a:xfrm>
          <a:prstGeom prst="line">
            <a:avLst/>
          </a:prstGeom>
          <a:noFill/>
          <a:ln w="25400">
            <a:solidFill>
              <a:schemeClr val="hlink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50930" name="Object 11"/>
          <p:cNvGraphicFramePr>
            <a:graphicFrameLocks noChangeAspect="1"/>
          </p:cNvGraphicFramePr>
          <p:nvPr/>
        </p:nvGraphicFramePr>
        <p:xfrm>
          <a:off x="6300788" y="3573463"/>
          <a:ext cx="16970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10" name="公式" r:id="rId19" imgW="1040765" imgH="215900" progId="Equation.3">
                  <p:embed/>
                </p:oleObj>
              </mc:Choice>
              <mc:Fallback>
                <p:oleObj name="公式" r:id="rId19" imgW="1040765" imgH="215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573463"/>
                        <a:ext cx="169703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31" name="Object 12"/>
          <p:cNvGraphicFramePr>
            <a:graphicFrameLocks noChangeAspect="1"/>
          </p:cNvGraphicFramePr>
          <p:nvPr/>
        </p:nvGraphicFramePr>
        <p:xfrm>
          <a:off x="6659563" y="4368800"/>
          <a:ext cx="22526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311" name="公式" r:id="rId21" imgW="1384300" imgH="203200" progId="Equation.3">
                  <p:embed/>
                </p:oleObj>
              </mc:Choice>
              <mc:Fallback>
                <p:oleObj name="公式" r:id="rId21" imgW="1384300" imgH="203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368800"/>
                        <a:ext cx="225266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日期占位符 1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4F20F85-D397-49C0-911F-5264C77A6C8B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0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0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0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0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0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0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0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0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0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0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5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0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0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0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0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550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0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50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50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50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0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0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50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50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50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50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50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50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50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50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50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50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50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50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50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50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50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509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14" grpId="0" autoUpdateAnimBg="0"/>
      <p:bldP spid="550916" grpId="0" autoUpdateAnimBg="0"/>
      <p:bldP spid="550918" grpId="0" autoUpdateAnimBg="0"/>
      <p:bldP spid="550920" grpId="0" autoUpdateAnimBg="0"/>
      <p:bldP spid="550927" grpId="0" autoUpdateAnimBg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476250"/>
            <a:ext cx="4495800" cy="457200"/>
          </a:xfrm>
        </p:spPr>
        <p:txBody>
          <a:bodyPr/>
          <a:lstStyle/>
          <a:p>
            <a:r>
              <a:rPr lang="zh-CN" altLang="en-US" sz="2400" b="1">
                <a:solidFill>
                  <a:srgbClr val="003300"/>
                </a:solidFill>
              </a:rPr>
              <a:t>利用单位序列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(k)</a:t>
            </a:r>
            <a:r>
              <a:rPr lang="zh-CN" altLang="en-US" sz="2400" b="1">
                <a:solidFill>
                  <a:srgbClr val="003300"/>
                </a:solidFill>
              </a:rPr>
              <a:t>表示任意序列</a:t>
            </a:r>
            <a:endParaRPr lang="zh-CN" altLang="en-US" sz="2400" b="1">
              <a:solidFill>
                <a:srgbClr val="0033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1939" name="Object 2"/>
              <p:cNvSpPr txBox="1"/>
              <p:nvPr/>
            </p:nvSpPr>
            <p:spPr bwMode="auto">
              <a:xfrm>
                <a:off x="5105400" y="228600"/>
                <a:ext cx="32004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5193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228600"/>
                <a:ext cx="3200400" cy="876300"/>
              </a:xfrm>
              <a:prstGeom prst="rect">
                <a:avLst/>
              </a:prstGeom>
              <a:blipFill rotWithShape="1">
                <a:blip r:embed="rId1"/>
                <a:stretch>
                  <a:fillRect t="-25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1940" name="Text Box 4"/>
          <p:cNvSpPr txBox="1">
            <a:spLocks noChangeArrowheads="1"/>
          </p:cNvSpPr>
          <p:nvPr/>
        </p:nvSpPr>
        <p:spPr bwMode="auto">
          <a:xfrm>
            <a:off x="900113" y="1196975"/>
            <a:ext cx="8001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6600CC"/>
                </a:solidFill>
                <a:latin typeface="Times New Roman" panose="02020603050405020304" pitchFamily="18" charset="0"/>
              </a:rPr>
              <a:t>例：</a:t>
            </a:r>
            <a:endParaRPr kumimoji="1" lang="zh-CN" altLang="en-US" sz="2400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51942" name="Object 3"/>
          <p:cNvGraphicFramePr>
            <a:graphicFrameLocks noChangeAspect="1"/>
          </p:cNvGraphicFramePr>
          <p:nvPr/>
        </p:nvGraphicFramePr>
        <p:xfrm>
          <a:off x="5364163" y="1916113"/>
          <a:ext cx="3543300" cy="173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2" name="BMP 图象" r:id="rId2" imgW="4152900" imgH="2028825" progId="PBrush">
                  <p:embed/>
                </p:oleObj>
              </mc:Choice>
              <mc:Fallback>
                <p:oleObj name="BMP 图象" r:id="rId2" imgW="4152900" imgH="2028825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916113"/>
                        <a:ext cx="3543300" cy="173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51943" name="Object 4"/>
              <p:cNvSpPr txBox="1"/>
              <p:nvPr/>
            </p:nvSpPr>
            <p:spPr bwMode="auto">
              <a:xfrm>
                <a:off x="669290" y="1916430"/>
                <a:ext cx="4438015" cy="1396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limLow>
                            <m:limLow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lim>
                              <m:limLow>
                                <m:limLow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plcHide m:val="on"/>
                                      <m:ctrlPr>
                                        <a:rPr lang="zh-CN" altLang="en-US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zh-CN" alt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↑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zh-CN" alt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zh-CN" alt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lim/>
                              </m:limLow>
                            </m:lim>
                          </m:limLow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</m:t>
                          </m:r>
                        </m:e>
                      </m:d>
                    </m:oMath>
                  </m:oMathPara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5194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290" y="1916430"/>
                <a:ext cx="4438015" cy="13963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1944" name="Object 5"/>
              <p:cNvSpPr txBox="1"/>
              <p:nvPr/>
            </p:nvSpPr>
            <p:spPr bwMode="auto">
              <a:xfrm>
                <a:off x="1692275" y="4076700"/>
                <a:ext cx="4968875" cy="600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5194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275" y="4076700"/>
                <a:ext cx="4968875" cy="6000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21AF243-2EDD-4560-9D1F-B803E7B2EB64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1863000" y="685800"/>
            <a:ext cx="6695640" cy="44420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 spd="med" advTm="7439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0" grpId="0" autoUpdateAnimBg="0"/>
      <p:bldP spid="551943" grpId="0" bldLvl="0" animBg="1"/>
      <p:bldP spid="5519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5" name="Text Box 5"/>
          <p:cNvSpPr txBox="1">
            <a:spLocks noChangeArrowheads="1"/>
          </p:cNvSpPr>
          <p:nvPr/>
        </p:nvSpPr>
        <p:spPr bwMode="auto">
          <a:xfrm>
            <a:off x="971550" y="549275"/>
            <a:ext cx="1366838" cy="4064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注意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kumimoji="1" lang="zh-CN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29" name="Text Box 9"/>
          <p:cNvSpPr txBox="1">
            <a:spLocks noChangeArrowheads="1"/>
          </p:cNvSpPr>
          <p:nvPr/>
        </p:nvSpPr>
        <p:spPr bwMode="auto">
          <a:xfrm>
            <a:off x="1258888" y="1268413"/>
            <a:ext cx="70564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(t)</a:t>
            </a:r>
            <a:r>
              <a:rPr kumimoji="1" lang="zh-CN" altLang="en-US" sz="2400">
                <a:latin typeface="Times New Roman" panose="02020603050405020304" pitchFamily="18" charset="0"/>
              </a:rPr>
              <a:t>用面积（强度）表示</a:t>
            </a:r>
            <a:r>
              <a:rPr kumimoji="1" lang="zh-CN" altLang="en-US" sz="2400">
                <a:latin typeface="Tahoma" panose="020B0604030504040204" pitchFamily="34" charset="0"/>
              </a:rPr>
              <a:t>， </a:t>
            </a:r>
            <a:r>
              <a:rPr kumimoji="1" lang="en-US" altLang="zh-CN" sz="2400">
                <a:latin typeface="Tahoma" panose="020B0604030504040204" pitchFamily="34" charset="0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</a:rPr>
              <a:t>幅度为</a:t>
            </a: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kumimoji="1"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强度为有限值</a:t>
            </a:r>
            <a:r>
              <a:rPr kumimoji="1" lang="en-US" altLang="zh-CN" sz="2400">
                <a:latin typeface="Tahoma" panose="020B0604030504040204" pitchFamily="34" charset="0"/>
              </a:rPr>
              <a:t>)</a:t>
            </a:r>
            <a:endParaRPr kumimoji="1" lang="en-US" altLang="zh-CN" sz="2400">
              <a:latin typeface="Tahoma" panose="020B0604030504040204" pitchFamily="34" charset="0"/>
            </a:endParaRPr>
          </a:p>
        </p:txBody>
      </p:sp>
      <p:graphicFrame>
        <p:nvGraphicFramePr>
          <p:cNvPr id="696330" name="Object 2"/>
          <p:cNvGraphicFramePr>
            <a:graphicFrameLocks noChangeAspect="1"/>
          </p:cNvGraphicFramePr>
          <p:nvPr/>
        </p:nvGraphicFramePr>
        <p:xfrm>
          <a:off x="1331913" y="4724400"/>
          <a:ext cx="2232025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7" name="BMP 图象" r:id="rId1" imgW="1885950" imgH="1524000" progId="PBrush">
                  <p:embed/>
                </p:oleObj>
              </mc:Choice>
              <mc:Fallback>
                <p:oleObj name="BMP 图象" r:id="rId1" imgW="1885950" imgH="152400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24400"/>
                        <a:ext cx="2232025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31" name="Rectangle 11"/>
          <p:cNvSpPr>
            <a:spLocks noChangeArrowheads="1"/>
          </p:cNvSpPr>
          <p:nvPr/>
        </p:nvSpPr>
        <p:spPr bwMode="auto">
          <a:xfrm>
            <a:off x="1116013" y="4005263"/>
            <a:ext cx="62642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(k)</a:t>
            </a: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的值就是</a:t>
            </a:r>
            <a:r>
              <a:rPr kumimoji="1" lang="en-US" altLang="zh-CN" sz="2400">
                <a:solidFill>
                  <a:srgbClr val="800000"/>
                </a:solidFill>
                <a:latin typeface="Times New Roman" panose="02020603050405020304" pitchFamily="18" charset="0"/>
              </a:rPr>
              <a:t>k=0</a:t>
            </a: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时的瞬时值（不是面积）</a:t>
            </a:r>
            <a:r>
              <a:rPr kumimoji="1" lang="zh-CN" altLang="en-US" sz="2400">
                <a:latin typeface="Tahoma" panose="020B0604030504040204" pitchFamily="34" charset="0"/>
              </a:rPr>
              <a:t> 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graphicFrame>
        <p:nvGraphicFramePr>
          <p:cNvPr id="696332" name="Object 3"/>
          <p:cNvGraphicFramePr>
            <a:graphicFrameLocks noChangeAspect="1"/>
          </p:cNvGraphicFramePr>
          <p:nvPr/>
        </p:nvGraphicFramePr>
        <p:xfrm>
          <a:off x="827088" y="1844675"/>
          <a:ext cx="2209800" cy="156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8" name="BMP 图象" r:id="rId3" imgW="3063240" imgH="2697480" progId="PBrush">
                  <p:embed/>
                </p:oleObj>
              </mc:Choice>
              <mc:Fallback>
                <p:oleObj name="BMP 图象" r:id="rId3" imgW="3063240" imgH="2697480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44675"/>
                        <a:ext cx="2209800" cy="156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96333" name="Object 4"/>
              <p:cNvSpPr txBox="1"/>
              <p:nvPr/>
            </p:nvSpPr>
            <p:spPr bwMode="auto">
              <a:xfrm>
                <a:off x="3563938" y="2133600"/>
                <a:ext cx="2087562" cy="10064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633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2133600"/>
                <a:ext cx="2087562" cy="1006475"/>
              </a:xfrm>
              <a:prstGeom prst="rect">
                <a:avLst/>
              </a:prstGeom>
              <a:blipFill rotWithShape="1">
                <a:blip r:embed="rId5"/>
                <a:stretch>
                  <a:fillRect l="-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334" name="Object 5"/>
              <p:cNvSpPr txBox="1"/>
              <p:nvPr/>
            </p:nvSpPr>
            <p:spPr bwMode="auto">
              <a:xfrm>
                <a:off x="6372225" y="2060575"/>
                <a:ext cx="2016125" cy="11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9633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2225" y="2060575"/>
                <a:ext cx="2016125" cy="1117600"/>
              </a:xfrm>
              <a:prstGeom prst="rect">
                <a:avLst/>
              </a:prstGeom>
              <a:blipFill rotWithShape="1">
                <a:blip r:embed="rId6"/>
                <a:stretch>
                  <a:fillRect t="-4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335" name="Object 6"/>
              <p:cNvSpPr txBox="1"/>
              <p:nvPr/>
            </p:nvSpPr>
            <p:spPr bwMode="auto">
              <a:xfrm>
                <a:off x="5219700" y="5084763"/>
                <a:ext cx="2089150" cy="1044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633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9700" y="5084763"/>
                <a:ext cx="2089150" cy="1044575"/>
              </a:xfrm>
              <a:prstGeom prst="rect">
                <a:avLst/>
              </a:prstGeom>
              <a:blipFill rotWithShape="1">
                <a:blip r:embed="rId7"/>
                <a:stretch>
                  <a:fillRect t="-30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日期占位符 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1558305-D2B0-48AC-8DBF-82D98919552B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1366920" y="1625040"/>
            <a:ext cx="4941360" cy="29062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8"/>
    </p:custDataLst>
  </p:cSld>
  <p:clrMapOvr>
    <a:masterClrMapping/>
  </p:clrMapOvr>
  <p:transition spd="med" advTm="4582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9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96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96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96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96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96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5" grpId="0" animBg="1" autoUpdateAnimBg="0"/>
      <p:bldP spid="696329" grpId="0" autoUpdateAnimBg="0"/>
      <p:bldP spid="696331" grpId="0" autoUpdateAnimBg="0"/>
      <p:bldP spid="696333" grpId="0" animBg="1"/>
      <p:bldP spid="696334" grpId="0"/>
      <p:bldP spid="6963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2962275" cy="457200"/>
          </a:xfrm>
        </p:spPr>
        <p:txBody>
          <a:bodyPr/>
          <a:lstStyle/>
          <a:p>
            <a:r>
              <a:rPr lang="en-US" altLang="zh-CN" sz="2400" b="1">
                <a:solidFill>
                  <a:srgbClr val="6600CC"/>
                </a:solidFill>
              </a:rPr>
              <a:t>2.</a:t>
            </a:r>
            <a:r>
              <a:rPr lang="zh-CN" altLang="en-US" sz="2400" b="1">
                <a:solidFill>
                  <a:srgbClr val="6600CC"/>
                </a:solidFill>
              </a:rPr>
              <a:t>单位阶跃序列</a:t>
            </a:r>
            <a:endParaRPr lang="zh-CN" altLang="en-US" sz="2400" b="1">
              <a:solidFill>
                <a:srgbClr val="6600CC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2963" name="Object 2"/>
              <p:cNvSpPr txBox="1"/>
              <p:nvPr/>
            </p:nvSpPr>
            <p:spPr bwMode="auto">
              <a:xfrm>
                <a:off x="1098550" y="838200"/>
                <a:ext cx="2146300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</m:mr>
                              </m: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plc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</m:mr>
                              </m: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5296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8550" y="838200"/>
                <a:ext cx="2146300" cy="8318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2968" name="Text Box 8"/>
          <p:cNvSpPr txBox="1">
            <a:spLocks noChangeArrowheads="1"/>
          </p:cNvSpPr>
          <p:nvPr/>
        </p:nvSpPr>
        <p:spPr bwMode="auto">
          <a:xfrm>
            <a:off x="900113" y="1989138"/>
            <a:ext cx="152241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推广：</a:t>
            </a: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2969" name="Object 3"/>
              <p:cNvSpPr txBox="1"/>
              <p:nvPr/>
            </p:nvSpPr>
            <p:spPr bwMode="auto">
              <a:xfrm>
                <a:off x="1476375" y="2636838"/>
                <a:ext cx="2740025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5296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375" y="2636838"/>
                <a:ext cx="2740025" cy="876300"/>
              </a:xfrm>
              <a:prstGeom prst="rect">
                <a:avLst/>
              </a:prstGeom>
              <a:blipFill rotWithShape="1">
                <a:blip r:embed="rId2"/>
                <a:stretch>
                  <a:fillRect t="-36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2970" name="Object 4"/>
              <p:cNvSpPr txBox="1"/>
              <p:nvPr/>
            </p:nvSpPr>
            <p:spPr bwMode="auto">
              <a:xfrm>
                <a:off x="1476375" y="3789363"/>
                <a:ext cx="2878138" cy="4270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5297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375" y="3789363"/>
                <a:ext cx="2878138" cy="427037"/>
              </a:xfrm>
              <a:prstGeom prst="rect">
                <a:avLst/>
              </a:prstGeom>
              <a:blipFill rotWithShape="1">
                <a:blip r:embed="rId3"/>
                <a:stretch>
                  <a:fillRect t="-74" r="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2971" name="Text Box 11"/>
          <p:cNvSpPr txBox="1">
            <a:spLocks noChangeArrowheads="1"/>
          </p:cNvSpPr>
          <p:nvPr/>
        </p:nvSpPr>
        <p:spPr bwMode="auto">
          <a:xfrm>
            <a:off x="1547813" y="4652963"/>
            <a:ext cx="17716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性质：</a:t>
            </a: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2972" name="Object 5"/>
              <p:cNvSpPr txBox="1"/>
              <p:nvPr/>
            </p:nvSpPr>
            <p:spPr bwMode="auto">
              <a:xfrm>
                <a:off x="2124074" y="5435155"/>
                <a:ext cx="1439863" cy="5354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5297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4" y="5435155"/>
                <a:ext cx="1439863" cy="535433"/>
              </a:xfrm>
              <a:prstGeom prst="rect">
                <a:avLst/>
              </a:prstGeom>
              <a:blipFill rotWithShape="1">
                <a:blip r:embed="rId4"/>
                <a:stretch>
                  <a:fillRect l="-44" t="-35" r="22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0"/>
          <p:cNvGrpSpPr/>
          <p:nvPr/>
        </p:nvGrpSpPr>
        <p:grpSpPr bwMode="auto">
          <a:xfrm>
            <a:off x="5219700" y="188913"/>
            <a:ext cx="2762250" cy="1781175"/>
            <a:chOff x="2256" y="0"/>
            <a:chExt cx="1740" cy="1122"/>
          </a:xfrm>
        </p:grpSpPr>
        <p:graphicFrame>
          <p:nvGraphicFramePr>
            <p:cNvPr id="32783" name="Object 9"/>
            <p:cNvGraphicFramePr>
              <a:graphicFrameLocks noChangeAspect="1"/>
            </p:cNvGraphicFramePr>
            <p:nvPr/>
          </p:nvGraphicFramePr>
          <p:xfrm>
            <a:off x="2256" y="96"/>
            <a:ext cx="1740" cy="1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49" name="位图图像" r:id="rId5" imgW="2762250" imgH="1628775" progId="PBrush">
                    <p:embed/>
                  </p:oleObj>
                </mc:Choice>
                <mc:Fallback>
                  <p:oleObj name="位图图像" r:id="rId5" imgW="2762250" imgH="1628775" progId="PBrush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96"/>
                          <a:ext cx="1740" cy="10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784" name="Object 10"/>
                <p:cNvSpPr txBox="1"/>
                <p:nvPr/>
              </p:nvSpPr>
              <p:spPr bwMode="auto">
                <a:xfrm>
                  <a:off x="2789" y="0"/>
                  <a:ext cx="487" cy="3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2784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9" y="0"/>
                  <a:ext cx="487" cy="308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2982" name="Object 6"/>
              <p:cNvSpPr txBox="1"/>
              <p:nvPr/>
            </p:nvSpPr>
            <p:spPr bwMode="auto">
              <a:xfrm>
                <a:off x="3564255" y="5314950"/>
                <a:ext cx="1495425" cy="5727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i="1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5298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4255" y="5314950"/>
                <a:ext cx="1495425" cy="572770"/>
              </a:xfrm>
              <a:prstGeom prst="rect">
                <a:avLst/>
              </a:prstGeom>
              <a:blipFill rotWithShape="1">
                <a:blip r:embed="rId8"/>
                <a:stretch>
                  <a:fillRect t="-1109" r="-236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日期占位符 1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D23AA35-4E4F-4B79-B83E-2F16D9F433FC}" type="datetime1">
              <a:rPr lang="zh-CN" altLang="en-US"/>
            </a:fld>
            <a:endParaRPr lang="en-US" altLang="zh-CN"/>
          </a:p>
        </p:txBody>
      </p:sp>
      <p:sp>
        <p:nvSpPr>
          <p:cNvPr id="4" name="墨迹 3"/>
          <p:cNvSpPr/>
          <p:nvPr/>
        </p:nvSpPr>
        <p:spPr bwMode="auto">
          <a:xfrm>
            <a:off x="1828800" y="1464120"/>
            <a:ext cx="4948920" cy="495144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253037" y="2492375"/>
            <a:ext cx="2695575" cy="1419225"/>
            <a:chOff x="5253037" y="2492375"/>
            <a:chExt cx="2695575" cy="1419225"/>
          </a:xfrm>
        </p:grpSpPr>
        <p:graphicFrame>
          <p:nvGraphicFramePr>
            <p:cNvPr id="32781" name="Object 7"/>
            <p:cNvGraphicFramePr>
              <a:graphicFrameLocks noChangeAspect="1"/>
            </p:cNvGraphicFramePr>
            <p:nvPr/>
          </p:nvGraphicFramePr>
          <p:xfrm>
            <a:off x="5253037" y="2492375"/>
            <a:ext cx="2695575" cy="1419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50" name="BMP 图像" r:id="rId9" imgW="2762250" imgH="1628775" progId="Paint.Picture">
                    <p:embed/>
                  </p:oleObj>
                </mc:Choice>
                <mc:Fallback>
                  <p:oleObj name="BMP 图像" r:id="rId9" imgW="2762250" imgH="1628775" progId="Paint.Picture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3037" y="2492375"/>
                          <a:ext cx="2695575" cy="1419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782" name="Object 8"/>
                <p:cNvSpPr txBox="1"/>
                <p:nvPr/>
              </p:nvSpPr>
              <p:spPr bwMode="auto">
                <a:xfrm>
                  <a:off x="6048376" y="2492375"/>
                  <a:ext cx="1268413" cy="4889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2782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48376" y="2492375"/>
                  <a:ext cx="1268413" cy="488950"/>
                </a:xfrm>
                <a:prstGeom prst="rect">
                  <a:avLst/>
                </a:prstGeom>
                <a:blipFill rotWithShape="1">
                  <a:blip r:embed="rId10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5791200" y="2968073"/>
              <a:ext cx="477078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cxnSp>
          <p:nvCxnSpPr>
            <p:cNvPr id="7" name="直接连接符 6"/>
            <p:cNvCxnSpPr/>
            <p:nvPr/>
          </p:nvCxnSpPr>
          <p:spPr bwMode="auto">
            <a:xfrm>
              <a:off x="5936974" y="2968073"/>
              <a:ext cx="0" cy="545065"/>
            </a:xfrm>
            <a:prstGeom prst="line">
              <a:avLst/>
            </a:prstGeom>
            <a:ln w="28575"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custDataLst>
      <p:tags r:id="rId11"/>
    </p:custDataLst>
  </p:cSld>
  <p:clrMapOvr>
    <a:masterClrMapping/>
  </p:clrMapOvr>
  <p:transition spd="med" advTm="6982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2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3" grpId="0"/>
      <p:bldP spid="552968" grpId="0" autoUpdateAnimBg="0"/>
      <p:bldP spid="552969" grpId="0"/>
      <p:bldP spid="552970" grpId="0"/>
      <p:bldP spid="552971" grpId="0" autoUpdateAnimBg="0"/>
      <p:bldP spid="552972" grpId="0"/>
      <p:bldP spid="55298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60350"/>
            <a:ext cx="2962275" cy="457200"/>
          </a:xfrm>
        </p:spPr>
        <p:txBody>
          <a:bodyPr/>
          <a:lstStyle/>
          <a:p>
            <a:r>
              <a:rPr lang="en-US" altLang="zh-CN" sz="2400" b="1">
                <a:solidFill>
                  <a:srgbClr val="6600CC"/>
                </a:solidFill>
              </a:rPr>
              <a:t>2.</a:t>
            </a:r>
            <a:r>
              <a:rPr lang="zh-CN" altLang="en-US" sz="2400" b="1">
                <a:solidFill>
                  <a:srgbClr val="6600CC"/>
                </a:solidFill>
              </a:rPr>
              <a:t>单位阶跃序列</a:t>
            </a:r>
            <a:endParaRPr lang="zh-CN" altLang="en-US" sz="2400" b="1">
              <a:solidFill>
                <a:srgbClr val="6600CC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7348" name="Object 2"/>
              <p:cNvSpPr txBox="1"/>
              <p:nvPr/>
            </p:nvSpPr>
            <p:spPr bwMode="auto">
              <a:xfrm>
                <a:off x="971550" y="5084763"/>
                <a:ext cx="911225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734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5084763"/>
                <a:ext cx="911225" cy="508000"/>
              </a:xfrm>
              <a:prstGeom prst="rect">
                <a:avLst/>
              </a:prstGeom>
              <a:blipFill rotWithShape="1">
                <a:blip r:embed="rId1"/>
                <a:stretch>
                  <a:fillRect t="-63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7349" name="Object 3"/>
              <p:cNvSpPr txBox="1"/>
              <p:nvPr/>
            </p:nvSpPr>
            <p:spPr bwMode="auto">
              <a:xfrm>
                <a:off x="1114425" y="4149725"/>
                <a:ext cx="768350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734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4425" y="4149725"/>
                <a:ext cx="768350" cy="4286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7350" name="Rectangle 6"/>
          <p:cNvSpPr>
            <a:spLocks noChangeArrowheads="1"/>
          </p:cNvSpPr>
          <p:nvPr/>
        </p:nvSpPr>
        <p:spPr bwMode="auto">
          <a:xfrm>
            <a:off x="539750" y="5805488"/>
            <a:ext cx="83883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l-GR" altLang="zh-CN" sz="2400" dirty="0">
                <a:solidFill>
                  <a:srgbClr val="003300"/>
                </a:solidFill>
                <a:latin typeface="Times New Roman" panose="02020603050405020304" pitchFamily="18" charset="0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ε</a:t>
            </a:r>
            <a:r>
              <a:rPr kumimoji="1" lang="en-US" altLang="zh-CN" sz="2400" dirty="0">
                <a:solidFill>
                  <a:srgbClr val="003300"/>
                </a:solidFill>
                <a:latin typeface="Times New Roman" panose="02020603050405020304" pitchFamily="18" charset="0"/>
              </a:rPr>
              <a:t>(k)</a:t>
            </a:r>
            <a:r>
              <a:rPr kumimoji="1" lang="zh-CN" altLang="en-US" sz="2400" dirty="0">
                <a:solidFill>
                  <a:srgbClr val="003300"/>
                </a:solidFill>
                <a:latin typeface="Times New Roman" panose="02020603050405020304" pitchFamily="18" charset="0"/>
              </a:rPr>
              <a:t>可以看作是无穷个出现在不同时刻的单位序列信号之和。</a:t>
            </a:r>
            <a:endParaRPr kumimoji="1" lang="zh-CN" altLang="en-US" sz="2400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7357" name="Text Box 13"/>
          <p:cNvSpPr txBox="1">
            <a:spLocks noChangeArrowheads="1"/>
          </p:cNvSpPr>
          <p:nvPr/>
        </p:nvSpPr>
        <p:spPr bwMode="auto">
          <a:xfrm>
            <a:off x="900113" y="981075"/>
            <a:ext cx="31670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l-GR" altLang="zh-CN" sz="2400">
                <a:latin typeface="Stymie Std Light Italic" panose="02010600010101010101" charset="-122"/>
                <a:ea typeface="Arial Unicode MS" panose="020B0604020202020204" charset="-122"/>
                <a:cs typeface="Times New Roman" panose="02020603050405020304" pitchFamily="18" charset="0"/>
                <a:sym typeface="Symbol" panose="05050102010706020507" pitchFamily="18" charset="2"/>
              </a:rPr>
              <a:t>ε</a:t>
            </a:r>
            <a:r>
              <a:rPr kumimoji="1" lang="en-US" altLang="zh-CN" sz="2400">
                <a:latin typeface="Times New Roman" panose="02020603050405020304" pitchFamily="18" charset="0"/>
                <a:ea typeface="Arial Unicode MS" panose="020B0604020202020204" charset="-122"/>
                <a:cs typeface="Times New Roman" panose="02020603050405020304" pitchFamily="18" charset="0"/>
                <a:sym typeface="Symbol" panose="05050102010706020507" pitchFamily="18" charset="2"/>
              </a:rPr>
              <a:t>(k) </a:t>
            </a:r>
            <a:r>
              <a:rPr kumimoji="1" lang="zh-CN" altLang="en-US" sz="2400">
                <a:latin typeface="Times New Roman" panose="02020603050405020304" pitchFamily="18" charset="0"/>
                <a:ea typeface="Arial Unicode MS" panose="020B0604020202020204" charset="-122"/>
                <a:cs typeface="Times New Roman" panose="02020603050405020304" pitchFamily="18" charset="0"/>
                <a:sym typeface="Symbol" panose="05050102010706020507" pitchFamily="18" charset="2"/>
              </a:rPr>
              <a:t>类似于</a:t>
            </a:r>
            <a:r>
              <a:rPr kumimoji="1" lang="el-GR" altLang="zh-CN" sz="2400">
                <a:latin typeface="黑体" panose="02010609060101010101" pitchFamily="49" charset="-122"/>
                <a:ea typeface="Arial Unicode MS" panose="020B0604020202020204" charset="-122"/>
                <a:cs typeface="Times New Roman" panose="02020603050405020304" pitchFamily="18" charset="0"/>
                <a:sym typeface="Symbol" panose="05050102010706020507" pitchFamily="18" charset="2"/>
              </a:rPr>
              <a:t>ε</a:t>
            </a:r>
            <a:r>
              <a:rPr kumimoji="1" lang="en-US" altLang="zh-CN" sz="2400">
                <a:latin typeface="Times New Roman" panose="02020603050405020304" pitchFamily="18" charset="0"/>
                <a:ea typeface="Arial Unicode MS" panose="020B0604020202020204" charset="-122"/>
                <a:cs typeface="Times New Roman" panose="02020603050405020304" pitchFamily="18" charset="0"/>
                <a:sym typeface="Symbol" panose="05050102010706020507" pitchFamily="18" charset="2"/>
              </a:rPr>
              <a:t>(t)</a:t>
            </a:r>
            <a:r>
              <a:rPr kumimoji="1" lang="zh-CN" altLang="en-US" sz="2400">
                <a:latin typeface="Times New Roman" panose="02020603050405020304" pitchFamily="18" charset="0"/>
                <a:ea typeface="Arial Unicode MS" panose="020B0604020202020204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kumimoji="1" lang="zh-CN" altLang="en-US" sz="2400">
              <a:latin typeface="Times New Roman" panose="02020603050405020304" pitchFamily="18" charset="0"/>
              <a:ea typeface="Arial Unicode MS" panose="020B0604020202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Arial Unicode MS" panose="020B0604020202020204" charset="-122"/>
                <a:cs typeface="Times New Roman" panose="02020603050405020304" pitchFamily="18" charset="0"/>
                <a:sym typeface="Symbol" panose="05050102010706020507" pitchFamily="18" charset="2"/>
              </a:rPr>
              <a:t>但二者有较大差别：</a:t>
            </a:r>
            <a:endParaRPr kumimoji="1" lang="zh-CN" altLang="en-US" sz="2400">
              <a:latin typeface="Times New Roman" panose="02020603050405020304" pitchFamily="18" charset="0"/>
              <a:ea typeface="Arial Unicode MS" panose="020B060402020202020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22"/>
          <p:cNvGrpSpPr/>
          <p:nvPr/>
        </p:nvGrpSpPr>
        <p:grpSpPr bwMode="auto">
          <a:xfrm>
            <a:off x="827088" y="2060575"/>
            <a:ext cx="5337175" cy="846138"/>
            <a:chOff x="611" y="1434"/>
            <a:chExt cx="3362" cy="533"/>
          </a:xfrm>
        </p:grpSpPr>
        <p:sp>
          <p:nvSpPr>
            <p:cNvPr id="33807" name="Text Box 12"/>
            <p:cNvSpPr txBox="1">
              <a:spLocks noChangeArrowheads="1"/>
            </p:cNvSpPr>
            <p:nvPr/>
          </p:nvSpPr>
          <p:spPr bwMode="auto">
            <a:xfrm>
              <a:off x="703" y="1434"/>
              <a:ext cx="3270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kumimoji="1" lang="en-US" altLang="zh-CN" sz="2400">
                  <a:solidFill>
                    <a:srgbClr val="8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l-GR" altLang="zh-CN" sz="2400">
                  <a:solidFill>
                    <a:srgbClr val="800000"/>
                  </a:solidFill>
                  <a:latin typeface="黑体" panose="02010609060101010101" pitchFamily="49" charset="-122"/>
                  <a:sym typeface="Symbol" panose="05050102010706020507" pitchFamily="18" charset="2"/>
                </a:rPr>
                <a:t>ε</a:t>
              </a:r>
              <a:r>
                <a:rPr kumimoji="1" lang="en-US" altLang="zh-CN" sz="2400">
                  <a:solidFill>
                    <a:srgbClr val="800000"/>
                  </a:solidFill>
                  <a:latin typeface="黑体" panose="02010609060101010101" pitchFamily="49" charset="-122"/>
                  <a:sym typeface="Symbol" panose="05050102010706020507" pitchFamily="18" charset="2"/>
                </a:rPr>
                <a:t>(t)</a:t>
              </a:r>
              <a:r>
                <a:rPr kumimoji="1" lang="en-US" altLang="zh-CN" sz="2800">
                  <a:latin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400">
                  <a:solidFill>
                    <a:srgbClr val="8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：奇异信号，数学抽象函数；</a:t>
              </a:r>
              <a:endPara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kumimoji="1" lang="zh-CN" altLang="en-US" sz="2400">
                  <a:solidFill>
                    <a:srgbClr val="00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l-GR" altLang="zh-CN" sz="2400">
                  <a:solidFill>
                    <a:srgbClr val="006600"/>
                  </a:solidFill>
                  <a:latin typeface="黑体" panose="02010609060101010101" pitchFamily="49" charset="-122"/>
                  <a:sym typeface="Symbol" panose="05050102010706020507" pitchFamily="18" charset="2"/>
                </a:rPr>
                <a:t>ε</a:t>
              </a:r>
              <a:r>
                <a:rPr kumimoji="1" lang="en-US" altLang="zh-CN" sz="2400">
                  <a:solidFill>
                    <a:srgbClr val="006600"/>
                  </a:solidFill>
                  <a:latin typeface="黑体" panose="02010609060101010101" pitchFamily="49" charset="-122"/>
                  <a:sym typeface="Symbol" panose="05050102010706020507" pitchFamily="18" charset="2"/>
                </a:rPr>
                <a:t>(k)</a:t>
              </a:r>
              <a:r>
                <a:rPr kumimoji="1" lang="zh-CN" altLang="en-US" sz="2400">
                  <a:solidFill>
                    <a:srgbClr val="0066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：</a:t>
              </a:r>
              <a:r>
                <a:rPr kumimoji="1" lang="zh-CN" altLang="en-US" sz="2400">
                  <a:solidFill>
                    <a:srgbClr val="00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非奇异信号，可实现信号。</a:t>
              </a:r>
              <a:endPara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808" name="Object 9"/>
                <p:cNvSpPr txBox="1"/>
                <p:nvPr/>
              </p:nvSpPr>
              <p:spPr bwMode="auto">
                <a:xfrm>
                  <a:off x="611" y="1480"/>
                  <a:ext cx="710" cy="4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plcHide m:val="on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/>
                              </m:d>
                            </m:e>
                            <m:e/>
                          </m:mr>
                        </m:m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808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1" y="1480"/>
                  <a:ext cx="710" cy="464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7359" name="Object 4"/>
              <p:cNvSpPr txBox="1"/>
              <p:nvPr/>
            </p:nvSpPr>
            <p:spPr bwMode="auto">
              <a:xfrm>
                <a:off x="1042987" y="3213100"/>
                <a:ext cx="2654300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关系：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735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2987" y="3213100"/>
                <a:ext cx="2654300" cy="488950"/>
              </a:xfrm>
              <a:prstGeom prst="rect">
                <a:avLst/>
              </a:prstGeom>
              <a:blipFill rotWithShape="1">
                <a:blip r:embed="rId4"/>
                <a:stretch>
                  <a:fillRect l="-12" r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16"/>
          <p:cNvGrpSpPr/>
          <p:nvPr/>
        </p:nvGrpSpPr>
        <p:grpSpPr bwMode="auto">
          <a:xfrm>
            <a:off x="5940425" y="549275"/>
            <a:ext cx="2762250" cy="1781175"/>
            <a:chOff x="2256" y="0"/>
            <a:chExt cx="1740" cy="1122"/>
          </a:xfrm>
        </p:grpSpPr>
        <p:graphicFrame>
          <p:nvGraphicFramePr>
            <p:cNvPr id="33805" name="Object 7"/>
            <p:cNvGraphicFramePr>
              <a:graphicFrameLocks noChangeAspect="1"/>
            </p:cNvGraphicFramePr>
            <p:nvPr/>
          </p:nvGraphicFramePr>
          <p:xfrm>
            <a:off x="2256" y="96"/>
            <a:ext cx="1740" cy="1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04" name="位图图像" r:id="rId5" imgW="2762250" imgH="1628775" progId="PBrush">
                    <p:embed/>
                  </p:oleObj>
                </mc:Choice>
                <mc:Fallback>
                  <p:oleObj name="位图图像" r:id="rId5" imgW="2762250" imgH="1628775" progId="PBrush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96"/>
                          <a:ext cx="1740" cy="10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806" name="Object 8"/>
                <p:cNvSpPr txBox="1"/>
                <p:nvPr/>
              </p:nvSpPr>
              <p:spPr bwMode="auto">
                <a:xfrm>
                  <a:off x="2789" y="0"/>
                  <a:ext cx="487" cy="3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806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9" y="0"/>
                  <a:ext cx="487" cy="308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7367" name="Object 5"/>
              <p:cNvSpPr txBox="1"/>
              <p:nvPr/>
            </p:nvSpPr>
            <p:spPr bwMode="auto">
              <a:xfrm>
                <a:off x="2124075" y="4076700"/>
                <a:ext cx="1944688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736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4076700"/>
                <a:ext cx="1944688" cy="533400"/>
              </a:xfrm>
              <a:prstGeom prst="rect">
                <a:avLst/>
              </a:prstGeom>
              <a:blipFill rotWithShape="1">
                <a:blip r:embed="rId8"/>
                <a:stretch>
                  <a:fillRect r="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7368" name="Object 6"/>
              <p:cNvSpPr txBox="1"/>
              <p:nvPr/>
            </p:nvSpPr>
            <p:spPr bwMode="auto">
              <a:xfrm>
                <a:off x="2051050" y="4797425"/>
                <a:ext cx="6783388" cy="1079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736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050" y="4797425"/>
                <a:ext cx="6783388" cy="1079500"/>
              </a:xfrm>
              <a:prstGeom prst="rect">
                <a:avLst/>
              </a:prstGeom>
              <a:blipFill rotWithShape="1">
                <a:blip r:embed="rId9"/>
                <a:stretch>
                  <a:fillRect t="-3176" r="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日期占位符 1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33FC7EE-B7F1-43B2-89D5-582731D2F33B}" type="datetime1">
              <a:rPr lang="zh-CN" altLang="en-US"/>
            </a:fld>
            <a:endParaRPr lang="en-US" altLang="zh-CN"/>
          </a:p>
        </p:txBody>
      </p:sp>
      <p:sp>
        <p:nvSpPr>
          <p:cNvPr id="4" name="墨迹 3"/>
          <p:cNvSpPr/>
          <p:nvPr/>
        </p:nvSpPr>
        <p:spPr bwMode="auto">
          <a:xfrm>
            <a:off x="893160" y="240840"/>
            <a:ext cx="8036280" cy="60469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0"/>
    </p:custDataLst>
  </p:cSld>
  <p:clrMapOvr>
    <a:masterClrMapping/>
  </p:clrMapOvr>
  <p:transition spd="med" advTm="18722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9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8" grpId="0"/>
      <p:bldP spid="697349" grpId="0"/>
      <p:bldP spid="697350" grpId="0"/>
      <p:bldP spid="697357" grpId="0" autoUpdateAnimBg="0"/>
      <p:bldP spid="697359" grpId="0"/>
      <p:bldP spid="697367" grpId="0"/>
      <p:bldP spid="69736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476250"/>
            <a:ext cx="4978400" cy="457200"/>
          </a:xfrm>
        </p:spPr>
        <p:txBody>
          <a:bodyPr/>
          <a:lstStyle/>
          <a:p>
            <a:r>
              <a:rPr lang="en-US" altLang="zh-CN" sz="2400" b="1">
                <a:solidFill>
                  <a:srgbClr val="6600CC"/>
                </a:solidFill>
              </a:rPr>
              <a:t>3.</a:t>
            </a:r>
            <a:r>
              <a:rPr lang="zh-CN" altLang="en-US" sz="2400" b="1">
                <a:solidFill>
                  <a:srgbClr val="6600CC"/>
                </a:solidFill>
              </a:rPr>
              <a:t>单位矩形序列（单位门序列）</a:t>
            </a:r>
            <a:endParaRPr lang="zh-CN" altLang="en-US" sz="2400" b="1">
              <a:solidFill>
                <a:srgbClr val="6600CC"/>
              </a:solidFill>
            </a:endParaRPr>
          </a:p>
        </p:txBody>
      </p:sp>
      <p:graphicFrame>
        <p:nvGraphicFramePr>
          <p:cNvPr id="553987" name="Object 2"/>
          <p:cNvGraphicFramePr>
            <a:graphicFrameLocks noChangeAspect="1"/>
          </p:cNvGraphicFramePr>
          <p:nvPr/>
        </p:nvGraphicFramePr>
        <p:xfrm>
          <a:off x="900113" y="1484313"/>
          <a:ext cx="41036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66" name="Equation" r:id="rId1" imgW="1816100" imgH="457200" progId="Equation.3">
                  <p:embed/>
                </p:oleObj>
              </mc:Choice>
              <mc:Fallback>
                <p:oleObj name="Equation" r:id="rId1" imgW="18161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484313"/>
                        <a:ext cx="410368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88" name="Object 3"/>
          <p:cNvGraphicFramePr>
            <a:graphicFrameLocks noChangeAspect="1"/>
          </p:cNvGraphicFramePr>
          <p:nvPr/>
        </p:nvGraphicFramePr>
        <p:xfrm>
          <a:off x="5364163" y="908050"/>
          <a:ext cx="3505200" cy="200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67" name="BMP 图象" r:id="rId3" imgW="3248025" imgH="1857375" progId="PBrush">
                  <p:embed/>
                </p:oleObj>
              </mc:Choice>
              <mc:Fallback>
                <p:oleObj name="BMP 图象" r:id="rId3" imgW="3248025" imgH="1857375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908050"/>
                        <a:ext cx="3505200" cy="200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90" name="Object 4"/>
          <p:cNvGraphicFramePr>
            <a:graphicFrameLocks noChangeAspect="1"/>
          </p:cNvGraphicFramePr>
          <p:nvPr/>
        </p:nvGraphicFramePr>
        <p:xfrm>
          <a:off x="1116013" y="2924175"/>
          <a:ext cx="143033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68" name="公式" r:id="rId5" imgW="303530" imgH="95885" progId="Equation.3">
                  <p:embed/>
                </p:oleObj>
              </mc:Choice>
              <mc:Fallback>
                <p:oleObj name="公式" r:id="rId5" imgW="303530" imgH="958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924175"/>
                        <a:ext cx="1430337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91" name="Object 5"/>
          <p:cNvGraphicFramePr>
            <a:graphicFrameLocks noChangeAspect="1"/>
          </p:cNvGraphicFramePr>
          <p:nvPr/>
        </p:nvGraphicFramePr>
        <p:xfrm>
          <a:off x="971550" y="3933825"/>
          <a:ext cx="54006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69" name="Equation" r:id="rId7" imgW="1487805" imgH="245110" progId="Equation.3">
                  <p:embed/>
                </p:oleObj>
              </mc:Choice>
              <mc:Fallback>
                <p:oleObj name="Equation" r:id="rId7" imgW="1487805" imgH="2451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933825"/>
                        <a:ext cx="5400675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92" name="Object 6"/>
          <p:cNvGraphicFramePr>
            <a:graphicFrameLocks noChangeAspect="1"/>
          </p:cNvGraphicFramePr>
          <p:nvPr/>
        </p:nvGraphicFramePr>
        <p:xfrm>
          <a:off x="2339975" y="5445125"/>
          <a:ext cx="37433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70" name="公式" r:id="rId9" imgW="989330" imgH="78740" progId="Equation.3">
                  <p:embed/>
                </p:oleObj>
              </mc:Choice>
              <mc:Fallback>
                <p:oleObj name="公式" r:id="rId9" imgW="989330" imgH="787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445125"/>
                        <a:ext cx="37433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04" name="Object 7"/>
          <p:cNvGraphicFramePr>
            <a:graphicFrameLocks noChangeAspect="1"/>
          </p:cNvGraphicFramePr>
          <p:nvPr/>
        </p:nvGraphicFramePr>
        <p:xfrm>
          <a:off x="2555875" y="2924175"/>
          <a:ext cx="27368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71" name="公式" r:id="rId11" imgW="589915" imgH="78740" progId="Equation.3">
                  <p:embed/>
                </p:oleObj>
              </mc:Choice>
              <mc:Fallback>
                <p:oleObj name="公式" r:id="rId11" imgW="589915" imgH="787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924175"/>
                        <a:ext cx="27368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日期占位符 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F183693-146A-47F0-8DD7-5C02EFB61D54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4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4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7" name="Rectangle 9"/>
          <p:cNvSpPr>
            <a:spLocks noChangeArrowheads="1"/>
          </p:cNvSpPr>
          <p:nvPr/>
        </p:nvSpPr>
        <p:spPr bwMode="auto">
          <a:xfrm>
            <a:off x="774700" y="541338"/>
            <a:ext cx="3673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0000FF"/>
                </a:solidFill>
                <a:latin typeface="+mn-ea"/>
                <a:ea typeface="+mn-ea"/>
              </a:rPr>
              <a:t>4.</a:t>
            </a:r>
            <a:r>
              <a:rPr kumimoji="1"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单位斜坡序列</a:t>
            </a:r>
            <a:endParaRPr kumimoji="1" lang="zh-CN" altLang="en-US" sz="28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8378" name="Object 2"/>
              <p:cNvSpPr txBox="1"/>
              <p:nvPr/>
            </p:nvSpPr>
            <p:spPr bwMode="auto">
              <a:xfrm>
                <a:off x="1763713" y="1700213"/>
                <a:ext cx="2128837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9837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713" y="1700213"/>
                <a:ext cx="2128837" cy="428625"/>
              </a:xfrm>
              <a:prstGeom prst="rect">
                <a:avLst/>
              </a:prstGeom>
              <a:blipFill rotWithShape="1">
                <a:blip r:embed="rId1"/>
                <a:stretch>
                  <a:fillRect l="-15" t="-74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8379" name="Rectangle 11"/>
          <p:cNvSpPr>
            <a:spLocks noChangeArrowheads="1"/>
          </p:cNvSpPr>
          <p:nvPr/>
        </p:nvSpPr>
        <p:spPr bwMode="auto">
          <a:xfrm>
            <a:off x="595312" y="3128963"/>
            <a:ext cx="3056621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rgbClr val="0000FF"/>
                </a:solidFill>
                <a:latin typeface="+mn-ea"/>
                <a:ea typeface="+mn-ea"/>
              </a:rPr>
              <a:t>5.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</a:rPr>
              <a:t>单边指数序列</a:t>
            </a:r>
            <a:endParaRPr kumimoji="1" lang="zh-CN" altLang="en-US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8380" name="Object 3"/>
              <p:cNvSpPr txBox="1"/>
              <p:nvPr/>
            </p:nvSpPr>
            <p:spPr bwMode="auto">
              <a:xfrm>
                <a:off x="3569016" y="3548063"/>
                <a:ext cx="2592388" cy="552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838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9016" y="3548063"/>
                <a:ext cx="2592388" cy="552450"/>
              </a:xfrm>
              <a:prstGeom prst="rect">
                <a:avLst/>
              </a:prstGeom>
              <a:blipFill rotWithShape="1">
                <a:blip r:embed="rId2"/>
                <a:stretch>
                  <a:fillRect l="-12" t="-58" r="24" b="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8381" name="Object 4"/>
              <p:cNvSpPr txBox="1"/>
              <p:nvPr/>
            </p:nvSpPr>
            <p:spPr bwMode="auto">
              <a:xfrm>
                <a:off x="1285081" y="4303249"/>
                <a:ext cx="6326187" cy="1817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 : </m:t>
                    </m:r>
                    <m:r>
                      <a:rPr lang="zh-CN" alt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收敛</m:t>
                    </m:r>
                    <m:r>
                      <a:rPr lang="zh-CN" altLang="en-US" sz="3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序列</m:t>
                    </m:r>
                  </m:oMath>
                </a14:m>
                <a:endParaRPr lang="en-US" altLang="zh-CN" sz="3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plcHide m:val="on"/>
                        <m:ctrlPr>
                          <a:rPr lang="zh-CN" alt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/>
                      </m:mr>
                    </m:m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  : </m:t>
                    </m:r>
                    <m:r>
                      <a:rPr lang="zh-CN" altLang="en-US" sz="3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递增</m:t>
                    </m:r>
                    <m:r>
                      <a:rPr lang="zh-CN" alt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序列</m:t>
                    </m:r>
                  </m:oMath>
                </a14:m>
                <a:endParaRPr lang="en-US" altLang="zh-CN" sz="3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 :  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正负相间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递减序列</m:t>
                    </m:r>
                  </m:oMath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      :  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正负相间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递增序列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9838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5081" y="4303249"/>
                <a:ext cx="6326187" cy="1817688"/>
              </a:xfrm>
              <a:prstGeom prst="rect">
                <a:avLst/>
              </a:prstGeom>
              <a:blipFill rotWithShape="1">
                <a:blip r:embed="rId3"/>
                <a:stretch>
                  <a:fillRect l="-8" t="-27" r="2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4"/>
          <p:cNvGrpSpPr/>
          <p:nvPr/>
        </p:nvGrpSpPr>
        <p:grpSpPr bwMode="auto">
          <a:xfrm>
            <a:off x="5003800" y="765175"/>
            <a:ext cx="2943225" cy="2157413"/>
            <a:chOff x="3504" y="1797"/>
            <a:chExt cx="1854" cy="1359"/>
          </a:xfrm>
        </p:grpSpPr>
        <p:graphicFrame>
          <p:nvGraphicFramePr>
            <p:cNvPr id="35849" name="Object 5"/>
            <p:cNvGraphicFramePr>
              <a:graphicFrameLocks noChangeAspect="1"/>
            </p:cNvGraphicFramePr>
            <p:nvPr/>
          </p:nvGraphicFramePr>
          <p:xfrm>
            <a:off x="3504" y="1824"/>
            <a:ext cx="1854" cy="1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28" name="位图图像" r:id="rId4" imgW="2943225" imgH="2114550" progId="PBrush">
                    <p:embed/>
                  </p:oleObj>
                </mc:Choice>
                <mc:Fallback>
                  <p:oleObj name="位图图像" r:id="rId4" imgW="2943225" imgH="2114550" progId="PBrush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824"/>
                          <a:ext cx="1854" cy="1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50" name="Group 16"/>
            <p:cNvGrpSpPr/>
            <p:nvPr/>
          </p:nvGrpSpPr>
          <p:grpSpPr bwMode="auto">
            <a:xfrm>
              <a:off x="4059" y="1797"/>
              <a:ext cx="669" cy="272"/>
              <a:chOff x="4377" y="3294"/>
              <a:chExt cx="669" cy="27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851" name="Object 6"/>
                  <p:cNvSpPr txBox="1"/>
                  <p:nvPr/>
                </p:nvSpPr>
                <p:spPr bwMode="auto">
                  <a:xfrm>
                    <a:off x="4377" y="3310"/>
                    <a:ext cx="231" cy="25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>
                    <a:normAutofit fontScale="700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35851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77" y="3310"/>
                    <a:ext cx="231" cy="256"/>
                  </a:xfrm>
                  <a:prstGeom prst="rect">
                    <a:avLst/>
                  </a:prstGeom>
                  <a:blipFill rotWithShape="1">
                    <a:blip r:embed="rId6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852" name="Object 7"/>
                  <p:cNvSpPr txBox="1"/>
                  <p:nvPr/>
                </p:nvSpPr>
                <p:spPr bwMode="auto">
                  <a:xfrm>
                    <a:off x="4513" y="3294"/>
                    <a:ext cx="533" cy="27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txBody>
                  <a:bodyPr>
                    <a:normAutofit fontScale="700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  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35852" name="Object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13" y="3294"/>
                    <a:ext cx="533" cy="272"/>
                  </a:xfrm>
                  <a:prstGeom prst="rect">
                    <a:avLst/>
                  </a:prstGeom>
                  <a:blipFill rotWithShape="1">
                    <a:blip r:embed="rId7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853" name="Object 8"/>
                  <p:cNvSpPr txBox="1"/>
                  <p:nvPr/>
                </p:nvSpPr>
                <p:spPr bwMode="auto">
                  <a:xfrm>
                    <a:off x="4694" y="3310"/>
                    <a:ext cx="231" cy="25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700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35853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694" y="3310"/>
                    <a:ext cx="231" cy="256"/>
                  </a:xfrm>
                  <a:prstGeom prst="rect">
                    <a:avLst/>
                  </a:prstGeom>
                  <a:blipFill rotWithShape="1">
                    <a:blip r:embed="rId8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4" name="日期占位符 1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1E03117-8827-4CC8-8842-6BC89F09F9EB}" type="datetime1">
              <a:rPr lang="zh-CN" altLang="en-US"/>
            </a:fld>
            <a:endParaRPr lang="en-US" altLang="zh-CN"/>
          </a:p>
        </p:txBody>
      </p:sp>
      <p:sp>
        <p:nvSpPr>
          <p:cNvPr id="5" name="墨迹 4"/>
          <p:cNvSpPr/>
          <p:nvPr/>
        </p:nvSpPr>
        <p:spPr bwMode="auto">
          <a:xfrm>
            <a:off x="4238640" y="509760"/>
            <a:ext cx="4174200" cy="566856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p:transition spd="med" advTm="12778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8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8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8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98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98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98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98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98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98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7" grpId="0" autoUpdateAnimBg="0"/>
      <p:bldP spid="698378" grpId="0"/>
      <p:bldP spid="698379" grpId="0" autoUpdateAnimBg="0"/>
      <p:bldP spid="69838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2588" y="228600"/>
            <a:ext cx="2284412" cy="457200"/>
          </a:xfrm>
        </p:spPr>
        <p:txBody>
          <a:bodyPr/>
          <a:lstStyle/>
          <a:p>
            <a:r>
              <a:rPr lang="en-US" altLang="zh-CN" sz="2400" b="1">
                <a:solidFill>
                  <a:srgbClr val="6600CC"/>
                </a:solidFill>
              </a:rPr>
              <a:t>6.</a:t>
            </a:r>
            <a:r>
              <a:rPr lang="zh-CN" altLang="en-US" sz="2400" b="1">
                <a:solidFill>
                  <a:srgbClr val="6600CC"/>
                </a:solidFill>
              </a:rPr>
              <a:t>正弦序列</a:t>
            </a:r>
            <a:endParaRPr lang="zh-CN" altLang="en-US" sz="2400" b="1">
              <a:solidFill>
                <a:srgbClr val="6600CC"/>
              </a:solidFill>
            </a:endParaRPr>
          </a:p>
        </p:txBody>
      </p:sp>
      <p:graphicFrame>
        <p:nvGraphicFramePr>
          <p:cNvPr id="555011" name="Object 2"/>
          <p:cNvGraphicFramePr>
            <a:graphicFrameLocks noChangeAspect="1"/>
          </p:cNvGraphicFramePr>
          <p:nvPr/>
        </p:nvGraphicFramePr>
        <p:xfrm>
          <a:off x="2771775" y="333375"/>
          <a:ext cx="4468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24" name="Equation" r:id="rId1" imgW="1487805" imgH="95885" progId="Equation.3">
                  <p:embed/>
                </p:oleObj>
              </mc:Choice>
              <mc:Fallback>
                <p:oleObj name="Equation" r:id="rId1" imgW="1487805" imgH="9588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33375"/>
                        <a:ext cx="44688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3" name="Object 3"/>
          <p:cNvGraphicFramePr>
            <a:graphicFrameLocks noChangeAspect="1"/>
          </p:cNvGraphicFramePr>
          <p:nvPr/>
        </p:nvGraphicFramePr>
        <p:xfrm>
          <a:off x="7235825" y="2565400"/>
          <a:ext cx="16764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25" name="Equation" r:id="rId3" imgW="677545" imgH="228600" progId="Equation.3">
                  <p:embed/>
                </p:oleObj>
              </mc:Choice>
              <mc:Fallback>
                <p:oleObj name="Equation" r:id="rId3" imgW="677545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565400"/>
                        <a:ext cx="16764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4" name="Object 4"/>
          <p:cNvGraphicFramePr>
            <a:graphicFrameLocks noChangeAspect="1"/>
          </p:cNvGraphicFramePr>
          <p:nvPr/>
        </p:nvGraphicFramePr>
        <p:xfrm>
          <a:off x="7235825" y="1557338"/>
          <a:ext cx="16002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26" name="Equation" r:id="rId5" imgW="589915" imgH="228600" progId="Equation.3">
                  <p:embed/>
                </p:oleObj>
              </mc:Choice>
              <mc:Fallback>
                <p:oleObj name="Equation" r:id="rId5" imgW="589915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1557338"/>
                        <a:ext cx="160020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5" name="Object 5"/>
          <p:cNvGraphicFramePr>
            <a:graphicFrameLocks noChangeAspect="1"/>
          </p:cNvGraphicFramePr>
          <p:nvPr/>
        </p:nvGraphicFramePr>
        <p:xfrm>
          <a:off x="827088" y="1557338"/>
          <a:ext cx="6265862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27" name="Equation" r:id="rId7" imgW="3429000" imgH="431800" progId="Equation.3">
                  <p:embed/>
                </p:oleObj>
              </mc:Choice>
              <mc:Fallback>
                <p:oleObj name="Equation" r:id="rId7" imgW="34290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557338"/>
                        <a:ext cx="6265862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6" name="Object 6"/>
          <p:cNvGraphicFramePr>
            <a:graphicFrameLocks noChangeAspect="1"/>
          </p:cNvGraphicFramePr>
          <p:nvPr/>
        </p:nvGraphicFramePr>
        <p:xfrm>
          <a:off x="755650" y="2492375"/>
          <a:ext cx="63373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28" name="Equation" r:id="rId9" imgW="3657600" imgH="431800" progId="Equation.3">
                  <p:embed/>
                </p:oleObj>
              </mc:Choice>
              <mc:Fallback>
                <p:oleObj name="Equation" r:id="rId9" imgW="36576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492375"/>
                        <a:ext cx="633730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7" name="Object 7"/>
          <p:cNvGraphicFramePr>
            <a:graphicFrameLocks noChangeAspect="1"/>
          </p:cNvGraphicFramePr>
          <p:nvPr/>
        </p:nvGraphicFramePr>
        <p:xfrm>
          <a:off x="755650" y="3500438"/>
          <a:ext cx="66960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29" name="Equation" r:id="rId11" imgW="3797300" imgH="431800" progId="Equation.3">
                  <p:embed/>
                </p:oleObj>
              </mc:Choice>
              <mc:Fallback>
                <p:oleObj name="Equation" r:id="rId11" imgW="37973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500438"/>
                        <a:ext cx="669607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19" name="Text Box 11"/>
          <p:cNvSpPr txBox="1">
            <a:spLocks noChangeArrowheads="1"/>
          </p:cNvSpPr>
          <p:nvPr/>
        </p:nvSpPr>
        <p:spPr bwMode="auto">
          <a:xfrm>
            <a:off x="1692275" y="5084763"/>
            <a:ext cx="28956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6600CC"/>
                </a:solidFill>
                <a:latin typeface="Tahoma" panose="020B0604030504040204" pitchFamily="34" charset="0"/>
              </a:rPr>
              <a:t>例</a:t>
            </a:r>
            <a:r>
              <a:rPr kumimoji="1"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：</a:t>
            </a: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Ω</a:t>
            </a:r>
            <a:r>
              <a:rPr kumimoji="1" lang="en-US" altLang="zh-CN" sz="2400" baseline="-2500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0</a:t>
            </a: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=0.2</a:t>
            </a:r>
            <a:endParaRPr kumimoji="1" lang="en-US" altLang="zh-CN" sz="2400">
              <a:solidFill>
                <a:srgbClr val="0000FF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      N=10</a:t>
            </a: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555020" name="Text Box 12"/>
          <p:cNvSpPr txBox="1">
            <a:spLocks noChangeArrowheads="1"/>
          </p:cNvSpPr>
          <p:nvPr/>
        </p:nvSpPr>
        <p:spPr bwMode="auto">
          <a:xfrm>
            <a:off x="1116013" y="908050"/>
            <a:ext cx="61928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FF33CC"/>
                </a:solidFill>
                <a:latin typeface="Tahoma" panose="020B0604030504040204" pitchFamily="34" charset="0"/>
              </a:rPr>
              <a:t>其中：</a:t>
            </a:r>
            <a:r>
              <a:rPr kumimoji="1" lang="el-GR" altLang="zh-CN" sz="2400">
                <a:solidFill>
                  <a:srgbClr val="FF33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Ω</a:t>
            </a:r>
            <a:r>
              <a:rPr kumimoji="1" lang="el-GR" altLang="zh-CN" sz="2400" baseline="-25000">
                <a:solidFill>
                  <a:srgbClr val="FF33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kumimoji="1" lang="zh-CN" altLang="en-US" sz="2400">
                <a:solidFill>
                  <a:srgbClr val="FF33CC"/>
                </a:solidFill>
                <a:latin typeface="Tahoma" panose="020B0604030504040204" pitchFamily="34" charset="0"/>
              </a:rPr>
              <a:t>为正弦序列的数字角频率。</a:t>
            </a:r>
            <a:endParaRPr kumimoji="1" lang="zh-CN" altLang="en-US" sz="2400">
              <a:solidFill>
                <a:srgbClr val="FF33CC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14"/>
          <p:cNvGrpSpPr/>
          <p:nvPr/>
        </p:nvGrpSpPr>
        <p:grpSpPr bwMode="auto">
          <a:xfrm>
            <a:off x="5580063" y="4221163"/>
            <a:ext cx="3190875" cy="2428875"/>
            <a:chOff x="3515" y="2659"/>
            <a:chExt cx="2010" cy="1530"/>
          </a:xfrm>
        </p:grpSpPr>
        <p:graphicFrame>
          <p:nvGraphicFramePr>
            <p:cNvPr id="36877" name="Object 8"/>
            <p:cNvGraphicFramePr>
              <a:graphicFrameLocks noChangeAspect="1"/>
            </p:cNvGraphicFramePr>
            <p:nvPr/>
          </p:nvGraphicFramePr>
          <p:xfrm>
            <a:off x="3515" y="2659"/>
            <a:ext cx="2010" cy="1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30" name="BMP 图象" r:id="rId13" imgW="3190875" imgH="2428875" progId="PBrush">
                    <p:embed/>
                  </p:oleObj>
                </mc:Choice>
                <mc:Fallback>
                  <p:oleObj name="BMP 图象" r:id="rId13" imgW="3190875" imgH="2428875" progId="PBrush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2659"/>
                          <a:ext cx="2010" cy="1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8" name="Rectangle 13"/>
            <p:cNvSpPr>
              <a:spLocks noChangeArrowheads="1"/>
            </p:cNvSpPr>
            <p:nvPr/>
          </p:nvSpPr>
          <p:spPr bwMode="auto">
            <a:xfrm>
              <a:off x="4286" y="3521"/>
              <a:ext cx="307" cy="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en-US" altLang="zh-CN" sz="2800">
                  <a:latin typeface="黑体" panose="02010609060101010101" pitchFamily="49" charset="-122"/>
                </a:rPr>
                <a:t>     5</a:t>
              </a:r>
              <a:endParaRPr lang="en-US" altLang="zh-CN" sz="2800">
                <a:latin typeface="黑体" panose="02010609060101010101" pitchFamily="49" charset="-122"/>
              </a:endParaRPr>
            </a:p>
          </p:txBody>
        </p:sp>
      </p:grpSp>
      <p:sp>
        <p:nvSpPr>
          <p:cNvPr id="15" name="日期占位符 1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264A5C9-9AE4-4F4D-9C51-1DF537D7319C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5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55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9" grpId="0" autoUpdateAnimBg="0" build="p"/>
      <p:bldP spid="5550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2"/>
          <p:cNvGrpSpPr/>
          <p:nvPr/>
        </p:nvGrpSpPr>
        <p:grpSpPr bwMode="auto">
          <a:xfrm>
            <a:off x="438150" y="608013"/>
            <a:ext cx="4686300" cy="2714625"/>
            <a:chOff x="144" y="336"/>
            <a:chExt cx="2952" cy="1710"/>
          </a:xfrm>
        </p:grpSpPr>
        <p:pic>
          <p:nvPicPr>
            <p:cNvPr id="37902" name="Picture 1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336"/>
              <a:ext cx="2952" cy="1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3" name="Rectangle 21"/>
            <p:cNvSpPr>
              <a:spLocks noChangeArrowheads="1"/>
            </p:cNvSpPr>
            <p:nvPr/>
          </p:nvSpPr>
          <p:spPr bwMode="auto">
            <a:xfrm>
              <a:off x="1413" y="1416"/>
              <a:ext cx="267" cy="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en-US" altLang="zh-CN" sz="2800">
                  <a:latin typeface="黑体" panose="02010609060101010101" pitchFamily="49" charset="-122"/>
                </a:rPr>
                <a:t>    5</a:t>
              </a:r>
              <a:endParaRPr lang="en-US" altLang="zh-CN" sz="2800">
                <a:latin typeface="黑体" panose="02010609060101010101" pitchFamily="49" charset="-122"/>
              </a:endParaRPr>
            </a:p>
          </p:txBody>
        </p:sp>
      </p:grpSp>
      <p:pic>
        <p:nvPicPr>
          <p:cNvPr id="37891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945" y="3695700"/>
            <a:ext cx="35052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505200"/>
            <a:ext cx="357187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613" y="457200"/>
            <a:ext cx="35306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2183" name="Rectangle 7"/>
          <p:cNvSpPr>
            <a:spLocks noChangeArrowheads="1"/>
          </p:cNvSpPr>
          <p:nvPr/>
        </p:nvSpPr>
        <p:spPr bwMode="auto">
          <a:xfrm>
            <a:off x="468313" y="0"/>
            <a:ext cx="259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离散正弦序列的周期</a:t>
            </a:r>
            <a:endParaRPr lang="zh-CN" altLang="en-US" sz="2000"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895" name="Object 2"/>
              <p:cNvSpPr txBox="1"/>
              <p:nvPr/>
            </p:nvSpPr>
            <p:spPr bwMode="auto">
              <a:xfrm>
                <a:off x="2394111" y="451971"/>
                <a:ext cx="2171593" cy="854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周期：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789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4111" y="451971"/>
                <a:ext cx="2171593" cy="854837"/>
              </a:xfrm>
              <a:prstGeom prst="rect">
                <a:avLst/>
              </a:prstGeom>
              <a:blipFill rotWithShape="1">
                <a:blip r:embed="rId5"/>
                <a:stretch>
                  <a:fillRect l="-7" t="-428" r="2" b="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896" name="Object 3"/>
              <p:cNvSpPr txBox="1"/>
              <p:nvPr/>
            </p:nvSpPr>
            <p:spPr bwMode="auto">
              <a:xfrm>
                <a:off x="6877050" y="404813"/>
                <a:ext cx="1784147" cy="6046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周期：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20</a:t>
                </a:r>
                <a:endParaRPr lang="zh-CN" altLang="en-US" dirty="0"/>
              </a:p>
            </p:txBody>
          </p:sp>
        </mc:Choice>
        <mc:Fallback>
          <p:sp>
            <p:nvSpPr>
              <p:cNvPr id="3789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7050" y="404813"/>
                <a:ext cx="1784147" cy="604685"/>
              </a:xfrm>
              <a:prstGeom prst="rect">
                <a:avLst/>
              </a:prstGeom>
              <a:blipFill rotWithShape="1">
                <a:blip r:embed="rId6"/>
                <a:stretch>
                  <a:fillRect t="-53" r="24" b="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897" name="Object 4"/>
              <p:cNvSpPr txBox="1"/>
              <p:nvPr/>
            </p:nvSpPr>
            <p:spPr bwMode="auto">
              <a:xfrm>
                <a:off x="2296119" y="3349158"/>
                <a:ext cx="2985493" cy="1085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周期：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789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6119" y="3349158"/>
                <a:ext cx="2985493" cy="1085188"/>
              </a:xfrm>
              <a:prstGeom prst="rect">
                <a:avLst/>
              </a:prstGeom>
              <a:blipFill rotWithShape="1">
                <a:blip r:embed="rId7"/>
                <a:stretch>
                  <a:fillRect l="-20" t="-1303" r="11" b="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2188" name="Object 5"/>
              <p:cNvSpPr txBox="1"/>
              <p:nvPr/>
            </p:nvSpPr>
            <p:spPr bwMode="auto">
              <a:xfrm>
                <a:off x="7308850" y="3644900"/>
                <a:ext cx="973138" cy="384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无周期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6218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8850" y="3644900"/>
                <a:ext cx="973138" cy="384175"/>
              </a:xfrm>
              <a:prstGeom prst="rect">
                <a:avLst/>
              </a:prstGeom>
              <a:blipFill rotWithShape="1">
                <a:blip r:embed="rId8"/>
                <a:stretch>
                  <a:fillRect r="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日期占位符 1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83CB7DF-E7BF-4649-B7E3-5209F2AE1F50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4138920" y="3478680"/>
            <a:ext cx="2158560" cy="16394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9755"/>
    </mc:Choice>
    <mc:Fallback>
      <p:transition spd="slow" advTm="1497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/>
      <p:bldP spid="37896" grpId="0"/>
      <p:bldP spid="37897" grpId="0"/>
      <p:bldP spid="56218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/>
          <p:nvPr/>
        </p:nvSpPr>
        <p:spPr>
          <a:xfrm>
            <a:off x="633413" y="47625"/>
            <a:ext cx="10795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0805" lvl="0" indent="-90805"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717827" name="Text Box 3"/>
          <p:cNvSpPr txBox="1"/>
          <p:nvPr/>
        </p:nvSpPr>
        <p:spPr>
          <a:xfrm>
            <a:off x="1671638" y="144463"/>
            <a:ext cx="4176712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lang="en-US" altLang="zh-CN" sz="2400" b="1" dirty="0">
                <a:solidFill>
                  <a:srgbClr val="05013F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05013F"/>
                </a:solidFill>
                <a:latin typeface="Times New Roman" panose="02020603050405020304" pitchFamily="18" charset="0"/>
              </a:rPr>
              <a:t>离散时间信号的时域运算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717828" name="Text Box 4"/>
          <p:cNvSpPr txBox="1"/>
          <p:nvPr/>
        </p:nvSpPr>
        <p:spPr>
          <a:xfrm>
            <a:off x="2197100" y="790575"/>
            <a:ext cx="1981200" cy="24003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）相加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）相乘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）数乘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4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）累加和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5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）差分运算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pic>
        <p:nvPicPr>
          <p:cNvPr id="717868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763" y="260350"/>
            <a:ext cx="1790700" cy="1169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870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888" y="1700213"/>
            <a:ext cx="1924050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872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863" y="3068638"/>
            <a:ext cx="2047875" cy="1054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874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863" y="4292600"/>
            <a:ext cx="2286000" cy="11668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17875" name="Object 2"/>
          <p:cNvGraphicFramePr>
            <a:graphicFrameLocks noChangeAspect="1"/>
          </p:cNvGraphicFramePr>
          <p:nvPr/>
        </p:nvGraphicFramePr>
        <p:xfrm>
          <a:off x="6516688" y="5589588"/>
          <a:ext cx="19446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39" name="" r:id="rId5" imgW="623570" imgH="253365" progId="Equation.3">
                  <p:embed/>
                </p:oleObj>
              </mc:Choice>
              <mc:Fallback>
                <p:oleObj name="" r:id="rId5" imgW="623570" imgH="253365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16688" y="5589588"/>
                        <a:ext cx="1944687" cy="7461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878" name="Picture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1913" y="3429000"/>
            <a:ext cx="2735262" cy="1631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879" name="Picture 5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8888" y="5229225"/>
            <a:ext cx="2854325" cy="151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日期占位符 11"/>
          <p:cNvSpPr txBox="1">
            <a:spLocks noGrp="1"/>
          </p:cNvSpPr>
          <p:nvPr/>
        </p:nvSpPr>
        <p:spPr bwMode="auto">
          <a:xfrm>
            <a:off x="0" y="6488113"/>
            <a:ext cx="1190625" cy="369888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Tx/>
              <a:defRPr/>
            </a:pPr>
            <a:fld id="{67E2C758-79B1-4C9C-8A0F-53B5BF2B4F03}" type="datetime1">
              <a:rPr kumimoji="0" lang="zh-CN" altLang="en-US" sz="1200" kern="1200" cap="none" spc="0" normalizeH="0" baseline="0" noProof="0">
                <a:latin typeface="+mn-lt"/>
                <a:ea typeface="+mj-ea"/>
                <a:cs typeface="+mn-cs"/>
              </a:rPr>
            </a:fld>
            <a:endParaRPr kumimoji="0" lang="en-US" altLang="zh-CN" sz="1200" kern="1200" cap="none" spc="0" normalizeH="0" baseline="0" noProof="0">
              <a:latin typeface="+mn-lt"/>
              <a:ea typeface="+mj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7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17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17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1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1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1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17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17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17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1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1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1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17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17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1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17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17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1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17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17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1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17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17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71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1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1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71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/>
          <p:nvPr/>
        </p:nvSpPr>
        <p:spPr>
          <a:xfrm>
            <a:off x="595313" y="882650"/>
            <a:ext cx="8075612" cy="4064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ahoma" panose="020B0604030504040204" pitchFamily="34" charset="0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Tahoma" panose="020B0604030504040204" pitchFamily="34" charset="0"/>
              </a:rPr>
              <a:t>）差分</a:t>
            </a:r>
            <a:r>
              <a:rPr lang="en-US" altLang="zh-CN" sz="2400" b="1" dirty="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r>
              <a:rPr lang="en-US" altLang="zh-CN" sz="2400" b="1" dirty="0">
                <a:solidFill>
                  <a:schemeClr val="hlink"/>
                </a:solidFill>
                <a:latin typeface="Tahoma" panose="020B0604030504040204" pitchFamily="34" charset="0"/>
              </a:rPr>
              <a:t>    </a:t>
            </a:r>
            <a:r>
              <a:rPr lang="zh-CN" altLang="en-US" sz="2400" b="1" dirty="0">
                <a:latin typeface="Tahoma" panose="020B0604030504040204" pitchFamily="34" charset="0"/>
              </a:rPr>
              <a:t>序列与其移序序列的差而得到一个新序列。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1987" name="Rectangle 3"/>
          <p:cNvSpPr/>
          <p:nvPr/>
        </p:nvSpPr>
        <p:spPr>
          <a:xfrm>
            <a:off x="395288" y="1557338"/>
            <a:ext cx="2895600" cy="381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一阶后向差分：</a:t>
            </a:r>
            <a:endParaRPr lang="zh-CN" altLang="en-US" sz="4400" b="1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41988" name="Rectangle 4"/>
          <p:cNvSpPr/>
          <p:nvPr/>
        </p:nvSpPr>
        <p:spPr>
          <a:xfrm>
            <a:off x="373062" y="2552700"/>
            <a:ext cx="2751138" cy="381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一阶前向差分：</a:t>
            </a:r>
            <a:endParaRPr lang="zh-CN" altLang="en-US" sz="4400" b="1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41989" name="Rectangle 5"/>
          <p:cNvSpPr/>
          <p:nvPr/>
        </p:nvSpPr>
        <p:spPr>
          <a:xfrm>
            <a:off x="373062" y="3493568"/>
            <a:ext cx="2895600" cy="381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二阶后向差分：</a:t>
            </a:r>
            <a:endParaRPr lang="zh-CN" altLang="en-US" sz="4400" b="1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41990" name="Rectangle 6"/>
          <p:cNvSpPr/>
          <p:nvPr/>
        </p:nvSpPr>
        <p:spPr>
          <a:xfrm>
            <a:off x="373062" y="4810888"/>
            <a:ext cx="3106737" cy="381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</a:rPr>
              <a:t>二阶前向差分：</a:t>
            </a:r>
            <a:endParaRPr lang="zh-CN" altLang="en-US" sz="4400" b="1" dirty="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41991" name="Object 2"/>
          <p:cNvGraphicFramePr>
            <a:graphicFrameLocks noChangeAspect="1"/>
          </p:cNvGraphicFramePr>
          <p:nvPr/>
        </p:nvGraphicFramePr>
        <p:xfrm>
          <a:off x="3059113" y="1412875"/>
          <a:ext cx="40036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02" name="" r:id="rId1" imgW="1473200" imgH="203200" progId="Equation.3">
                  <p:embed/>
                </p:oleObj>
              </mc:Choice>
              <mc:Fallback>
                <p:oleObj name="" r:id="rId1" imgW="1473200" imgH="2032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59113" y="1412875"/>
                        <a:ext cx="4003675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3"/>
          <p:cNvGraphicFramePr>
            <a:graphicFrameLocks noChangeAspect="1"/>
          </p:cNvGraphicFramePr>
          <p:nvPr/>
        </p:nvGraphicFramePr>
        <p:xfrm>
          <a:off x="3124200" y="2412207"/>
          <a:ext cx="3962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03" name="" r:id="rId3" imgW="1459865" imgH="203200" progId="Equation.3">
                  <p:embed/>
                </p:oleObj>
              </mc:Choice>
              <mc:Fallback>
                <p:oleObj name="" r:id="rId3" imgW="1459865" imgH="2032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2412207"/>
                        <a:ext cx="39624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4"/>
          <p:cNvGraphicFramePr>
            <a:graphicFrameLocks noChangeAspect="1"/>
          </p:cNvGraphicFramePr>
          <p:nvPr/>
        </p:nvGraphicFramePr>
        <p:xfrm>
          <a:off x="2621636" y="3345656"/>
          <a:ext cx="59324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04" name="" r:id="rId5" imgW="2286000" imgH="228600" progId="Equation.3">
                  <p:embed/>
                </p:oleObj>
              </mc:Choice>
              <mc:Fallback>
                <p:oleObj name="" r:id="rId5" imgW="2286000" imgH="2286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1636" y="3345656"/>
                        <a:ext cx="5932488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2954" name="Object 5"/>
          <p:cNvGraphicFramePr>
            <a:graphicFrameLocks noChangeAspect="1"/>
          </p:cNvGraphicFramePr>
          <p:nvPr/>
        </p:nvGraphicFramePr>
        <p:xfrm>
          <a:off x="2539880" y="4499547"/>
          <a:ext cx="60960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05" name="" r:id="rId7" imgW="2260600" imgH="228600" progId="Equation.3">
                  <p:embed/>
                </p:oleObj>
              </mc:Choice>
              <mc:Fallback>
                <p:oleObj name="" r:id="rId7" imgW="2260600" imgH="2286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39880" y="4499547"/>
                        <a:ext cx="6096000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日期占位符 10"/>
          <p:cNvSpPr txBox="1">
            <a:spLocks noGrp="1"/>
          </p:cNvSpPr>
          <p:nvPr/>
        </p:nvSpPr>
        <p:spPr bwMode="auto">
          <a:xfrm>
            <a:off x="0" y="6488113"/>
            <a:ext cx="1190625" cy="369888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Tx/>
              <a:defRPr/>
            </a:pPr>
            <a:fld id="{7D92EF92-F9E2-4271-B277-E80B0F4D5E65}" type="datetime1">
              <a:rPr kumimoji="0" lang="zh-CN" altLang="en-US" sz="1200" kern="1200" cap="none" spc="0" normalizeH="0" baseline="0" noProof="0">
                <a:latin typeface="+mn-lt"/>
                <a:ea typeface="+mj-ea"/>
                <a:cs typeface="+mn-cs"/>
              </a:rPr>
            </a:fld>
            <a:endParaRPr kumimoji="0" lang="en-US" altLang="zh-CN" sz="1200" kern="1200" cap="none" spc="0" normalizeH="0" baseline="0" noProof="0">
              <a:latin typeface="+mn-lt"/>
              <a:ea typeface="+mj-ea"/>
              <a:cs typeface="+mn-cs"/>
            </a:endParaRPr>
          </a:p>
        </p:txBody>
      </p:sp>
      <p:sp>
        <p:nvSpPr>
          <p:cNvPr id="41996" name="Rectangle 2"/>
          <p:cNvSpPr/>
          <p:nvPr/>
        </p:nvSpPr>
        <p:spPr>
          <a:xfrm>
            <a:off x="827088" y="260350"/>
            <a:ext cx="10795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0805" lvl="0" indent="-90805"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  <p:bldP spid="41988" grpId="0"/>
      <p:bldP spid="41989" grpId="0"/>
      <p:bldP spid="4199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4994" name="Object 2"/>
          <p:cNvGraphicFramePr>
            <a:graphicFrameLocks noChangeAspect="1"/>
          </p:cNvGraphicFramePr>
          <p:nvPr/>
        </p:nvGraphicFramePr>
        <p:xfrm>
          <a:off x="4787900" y="1196975"/>
          <a:ext cx="252095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13" name="" r:id="rId1" imgW="2409825" imgH="2466975" progId="PBrush">
                  <p:embed/>
                </p:oleObj>
              </mc:Choice>
              <mc:Fallback>
                <p:oleObj name="" r:id="rId1" imgW="2409825" imgH="2466975" progId="PBrush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87900" y="1196975"/>
                        <a:ext cx="2520950" cy="203200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rgbClr val="008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Rectangle 4"/>
          <p:cNvSpPr>
            <a:spLocks noGrp="1"/>
          </p:cNvSpPr>
          <p:nvPr>
            <p:ph type="title"/>
          </p:nvPr>
        </p:nvSpPr>
        <p:spPr>
          <a:xfrm>
            <a:off x="1619250" y="188913"/>
            <a:ext cx="3455988" cy="47625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3.</a:t>
            </a:r>
            <a:r>
              <a:rPr lang="zh-CN" altLang="en-US" sz="2400" b="1" dirty="0">
                <a:solidFill>
                  <a:srgbClr val="0000FF"/>
                </a:solidFill>
              </a:rPr>
              <a:t>离散信号时域变换</a:t>
            </a:r>
            <a:endParaRPr lang="zh-CN" altLang="en-US" sz="2400" b="1" dirty="0"/>
          </a:p>
        </p:txBody>
      </p:sp>
      <p:grpSp>
        <p:nvGrpSpPr>
          <p:cNvPr id="2" name="Group 40"/>
          <p:cNvGrpSpPr/>
          <p:nvPr/>
        </p:nvGrpSpPr>
        <p:grpSpPr>
          <a:xfrm>
            <a:off x="827088" y="1052513"/>
            <a:ext cx="2952750" cy="2009775"/>
            <a:chOff x="521" y="663"/>
            <a:chExt cx="1860" cy="1266"/>
          </a:xfrm>
        </p:grpSpPr>
        <p:sp>
          <p:nvSpPr>
            <p:cNvPr id="43042" name="Text Box 5"/>
            <p:cNvSpPr txBox="1"/>
            <p:nvPr/>
          </p:nvSpPr>
          <p:spPr>
            <a:xfrm>
              <a:off x="521" y="663"/>
              <a:ext cx="1860" cy="22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buNone/>
              </a:pPr>
              <a:r>
                <a:rPr lang="en-US" altLang="zh-CN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1) </a:t>
              </a:r>
              <a:r>
                <a:rPr lang="zh-CN" altLang="en-US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移序</a:t>
              </a:r>
              <a:r>
                <a:rPr lang="en-US" altLang="zh-CN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:</a:t>
              </a:r>
              <a:r>
                <a:rPr lang="en-US" altLang="zh-CN" sz="2000" b="1" dirty="0">
                  <a:solidFill>
                    <a:schemeClr val="hlink"/>
                  </a:solidFill>
                  <a:latin typeface="Tahoma" panose="020B0604030504040204" pitchFamily="34" charset="0"/>
                </a:rPr>
                <a:t>   </a:t>
              </a:r>
              <a:r>
                <a:rPr lang="en-US" altLang="zh-CN" sz="2000" b="1" dirty="0">
                  <a:solidFill>
                    <a:srgbClr val="003300"/>
                  </a:solidFill>
                  <a:latin typeface="Tahoma" panose="020B0604030504040204" pitchFamily="34" charset="0"/>
                </a:rPr>
                <a:t>y(k)=f(k-m)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043" name="Text Box 6"/>
            <p:cNvSpPr txBox="1"/>
            <p:nvPr/>
          </p:nvSpPr>
          <p:spPr>
            <a:xfrm>
              <a:off x="528" y="1017"/>
              <a:ext cx="1671" cy="22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buNone/>
              </a:pPr>
              <a:r>
                <a:rPr lang="en-US" altLang="zh-CN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2)</a:t>
              </a:r>
              <a:r>
                <a:rPr lang="zh-CN" altLang="en-US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折叠</a:t>
              </a:r>
              <a:r>
                <a:rPr lang="en-US" altLang="zh-CN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:</a:t>
              </a:r>
              <a:r>
                <a:rPr lang="en-US" altLang="zh-CN" sz="2000" b="1" dirty="0">
                  <a:solidFill>
                    <a:schemeClr val="hlink"/>
                  </a:solidFill>
                  <a:latin typeface="Tahoma" panose="020B0604030504040204" pitchFamily="34" charset="0"/>
                </a:rPr>
                <a:t>   </a:t>
              </a:r>
              <a:r>
                <a:rPr lang="en-US" altLang="zh-CN" sz="2000" b="1" dirty="0">
                  <a:solidFill>
                    <a:srgbClr val="003300"/>
                  </a:solidFill>
                  <a:latin typeface="Tahoma" panose="020B0604030504040204" pitchFamily="34" charset="0"/>
                </a:rPr>
                <a:t>y(k)=f(-k)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044" name="Text Box 7"/>
            <p:cNvSpPr txBox="1"/>
            <p:nvPr/>
          </p:nvSpPr>
          <p:spPr>
            <a:xfrm>
              <a:off x="528" y="1380"/>
              <a:ext cx="1671" cy="22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buNone/>
              </a:pPr>
              <a:r>
                <a:rPr lang="en-US" altLang="zh-CN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3)</a:t>
              </a:r>
              <a:r>
                <a:rPr lang="zh-CN" altLang="en-US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倒相</a:t>
              </a:r>
              <a:r>
                <a:rPr lang="en-US" altLang="zh-CN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:</a:t>
              </a:r>
              <a:r>
                <a:rPr lang="en-US" altLang="zh-CN" sz="2000" b="1" dirty="0">
                  <a:solidFill>
                    <a:schemeClr val="hlink"/>
                  </a:solidFill>
                  <a:latin typeface="Tahoma" panose="020B0604030504040204" pitchFamily="34" charset="0"/>
                </a:rPr>
                <a:t>   </a:t>
              </a:r>
              <a:r>
                <a:rPr lang="en-US" altLang="zh-CN" sz="2000" b="1" dirty="0">
                  <a:solidFill>
                    <a:srgbClr val="003300"/>
                  </a:solidFill>
                  <a:latin typeface="Tahoma" panose="020B0604030504040204" pitchFamily="34" charset="0"/>
                </a:rPr>
                <a:t>y(k)=-f(k)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3045" name="Text Box 8"/>
            <p:cNvSpPr txBox="1"/>
            <p:nvPr/>
          </p:nvSpPr>
          <p:spPr>
            <a:xfrm>
              <a:off x="521" y="1706"/>
              <a:ext cx="1815" cy="223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buNone/>
              </a:pPr>
              <a:r>
                <a:rPr lang="en-US" altLang="zh-CN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4)</a:t>
              </a:r>
              <a:r>
                <a:rPr lang="zh-CN" altLang="en-US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展缩</a:t>
              </a:r>
              <a:r>
                <a:rPr lang="en-US" altLang="zh-CN" sz="2000" b="1" dirty="0">
                  <a:solidFill>
                    <a:srgbClr val="6600CC"/>
                  </a:solidFill>
                  <a:latin typeface="Tahoma" panose="020B0604030504040204" pitchFamily="34" charset="0"/>
                </a:rPr>
                <a:t>:</a:t>
              </a:r>
              <a:r>
                <a:rPr lang="en-US" altLang="zh-CN" sz="2000" b="1" dirty="0">
                  <a:solidFill>
                    <a:schemeClr val="hlink"/>
                  </a:solidFill>
                  <a:latin typeface="Tahoma" panose="020B0604030504040204" pitchFamily="34" charset="0"/>
                </a:rPr>
                <a:t>    </a:t>
              </a:r>
              <a:r>
                <a:rPr lang="en-US" altLang="zh-CN" sz="2000" b="1" dirty="0">
                  <a:solidFill>
                    <a:srgbClr val="003300"/>
                  </a:solidFill>
                  <a:latin typeface="Tahoma" panose="020B0604030504040204" pitchFamily="34" charset="0"/>
                </a:rPr>
                <a:t>y(k)=f(ak)</a:t>
              </a:r>
              <a:endParaRPr lang="en-US" altLang="zh-CN" sz="2000" b="1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725003" name="Object 3"/>
          <p:cNvGraphicFramePr>
            <a:graphicFrameLocks noChangeAspect="1"/>
          </p:cNvGraphicFramePr>
          <p:nvPr/>
        </p:nvGraphicFramePr>
        <p:xfrm>
          <a:off x="1763713" y="3500438"/>
          <a:ext cx="2376487" cy="210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14" name="" r:id="rId3" imgW="2390775" imgH="2219325" progId="PBrush">
                  <p:embed/>
                </p:oleObj>
              </mc:Choice>
              <mc:Fallback>
                <p:oleObj name="" r:id="rId3" imgW="2390775" imgH="2219325" progId="PBrush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713" y="3500438"/>
                        <a:ext cx="2376487" cy="2100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04" name="Text Box 12"/>
          <p:cNvSpPr txBox="1"/>
          <p:nvPr/>
        </p:nvSpPr>
        <p:spPr>
          <a:xfrm>
            <a:off x="4859338" y="620713"/>
            <a:ext cx="2562225" cy="3540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横坐标</a:t>
            </a: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只能取整数</a:t>
            </a: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)</a:t>
            </a:r>
            <a:endParaRPr lang="en-US" altLang="zh-CN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5005" name="Text Box 13"/>
          <p:cNvSpPr txBox="1"/>
          <p:nvPr/>
        </p:nvSpPr>
        <p:spPr>
          <a:xfrm>
            <a:off x="1116013" y="5876925"/>
            <a:ext cx="4572000" cy="406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Tahoma" panose="020B0604030504040204" pitchFamily="34" charset="0"/>
              </a:rPr>
              <a:t>注意：</a:t>
            </a:r>
            <a:r>
              <a:rPr lang="zh-CN" altLang="en-US" sz="2400" b="1" dirty="0">
                <a:latin typeface="Tahoma" panose="020B0604030504040204" pitchFamily="34" charset="0"/>
              </a:rPr>
              <a:t>压缩后不能恢复原序列；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4716463" y="3573463"/>
            <a:ext cx="3671887" cy="2232025"/>
            <a:chOff x="2517" y="2659"/>
            <a:chExt cx="2313" cy="1406"/>
          </a:xfrm>
        </p:grpSpPr>
        <p:sp>
          <p:nvSpPr>
            <p:cNvPr id="43019" name="Line 15"/>
            <p:cNvSpPr/>
            <p:nvPr/>
          </p:nvSpPr>
          <p:spPr>
            <a:xfrm>
              <a:off x="2925" y="3566"/>
              <a:ext cx="1678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3020" name="Line 16"/>
            <p:cNvSpPr/>
            <p:nvPr/>
          </p:nvSpPr>
          <p:spPr>
            <a:xfrm rot="-5400000">
              <a:off x="2767" y="3453"/>
              <a:ext cx="1224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3021" name="Line 17"/>
            <p:cNvSpPr/>
            <p:nvPr/>
          </p:nvSpPr>
          <p:spPr>
            <a:xfrm flipV="1">
              <a:off x="3016" y="3203"/>
              <a:ext cx="0" cy="363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2" name="Line 18"/>
            <p:cNvSpPr/>
            <p:nvPr/>
          </p:nvSpPr>
          <p:spPr>
            <a:xfrm flipV="1">
              <a:off x="3379" y="3022"/>
              <a:ext cx="0" cy="49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3" name="Line 19"/>
            <p:cNvSpPr/>
            <p:nvPr/>
          </p:nvSpPr>
          <p:spPr>
            <a:xfrm flipV="1">
              <a:off x="3741" y="3249"/>
              <a:ext cx="0" cy="31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4" name="Line 20"/>
            <p:cNvSpPr/>
            <p:nvPr/>
          </p:nvSpPr>
          <p:spPr>
            <a:xfrm>
              <a:off x="4104" y="3566"/>
              <a:ext cx="0" cy="363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5" name="Line 21"/>
            <p:cNvSpPr/>
            <p:nvPr/>
          </p:nvSpPr>
          <p:spPr>
            <a:xfrm flipV="1">
              <a:off x="4422" y="3385"/>
              <a:ext cx="0" cy="1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6" name="Line 22"/>
            <p:cNvSpPr/>
            <p:nvPr/>
          </p:nvSpPr>
          <p:spPr>
            <a:xfrm>
              <a:off x="3197" y="3566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7" name="Line 23"/>
            <p:cNvSpPr/>
            <p:nvPr/>
          </p:nvSpPr>
          <p:spPr>
            <a:xfrm>
              <a:off x="3197" y="3533"/>
              <a:ext cx="0" cy="45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8" name="Line 24"/>
            <p:cNvSpPr/>
            <p:nvPr/>
          </p:nvSpPr>
          <p:spPr>
            <a:xfrm>
              <a:off x="3560" y="3533"/>
              <a:ext cx="0" cy="46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29" name="Line 25"/>
            <p:cNvSpPr/>
            <p:nvPr/>
          </p:nvSpPr>
          <p:spPr>
            <a:xfrm>
              <a:off x="3923" y="3542"/>
              <a:ext cx="0" cy="46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3030" name="Line 26"/>
            <p:cNvSpPr/>
            <p:nvPr/>
          </p:nvSpPr>
          <p:spPr>
            <a:xfrm>
              <a:off x="4258" y="3548"/>
              <a:ext cx="0" cy="46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43031" name="Object 4"/>
            <p:cNvGraphicFramePr>
              <a:graphicFrameLocks noChangeAspect="1"/>
            </p:cNvGraphicFramePr>
            <p:nvPr/>
          </p:nvGraphicFramePr>
          <p:xfrm>
            <a:off x="3424" y="2659"/>
            <a:ext cx="272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315" name="" r:id="rId5" imgW="330200" imgH="393700" progId="Equation.3">
                    <p:embed/>
                  </p:oleObj>
                </mc:Choice>
                <mc:Fallback>
                  <p:oleObj name="" r:id="rId5" imgW="330200" imgH="393700" progId="Equation.3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24" y="2659"/>
                          <a:ext cx="272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2" name="Text Box 28"/>
            <p:cNvSpPr txBox="1"/>
            <p:nvPr/>
          </p:nvSpPr>
          <p:spPr>
            <a:xfrm>
              <a:off x="3651" y="3521"/>
              <a:ext cx="363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ahoma" panose="020B0604030504040204" pitchFamily="34" charset="0"/>
                </a:rPr>
                <a:t>2</a:t>
              </a:r>
              <a:endParaRPr lang="en-US" altLang="zh-CN" sz="2400" b="1" dirty="0">
                <a:latin typeface="Tahoma" panose="020B0604030504040204" pitchFamily="34" charset="0"/>
              </a:endParaRPr>
            </a:p>
          </p:txBody>
        </p:sp>
        <p:sp>
          <p:nvSpPr>
            <p:cNvPr id="43033" name="Text Box 29"/>
            <p:cNvSpPr txBox="1"/>
            <p:nvPr/>
          </p:nvSpPr>
          <p:spPr>
            <a:xfrm>
              <a:off x="3968" y="3294"/>
              <a:ext cx="31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ahoma" panose="020B0604030504040204" pitchFamily="34" charset="0"/>
                </a:rPr>
                <a:t>4</a:t>
              </a:r>
              <a:endParaRPr lang="en-US" altLang="zh-CN" sz="2400" b="1" dirty="0">
                <a:latin typeface="Tahoma" panose="020B0604030504040204" pitchFamily="34" charset="0"/>
              </a:endParaRPr>
            </a:p>
          </p:txBody>
        </p:sp>
        <p:sp>
          <p:nvSpPr>
            <p:cNvPr id="43034" name="Text Box 30"/>
            <p:cNvSpPr txBox="1"/>
            <p:nvPr/>
          </p:nvSpPr>
          <p:spPr>
            <a:xfrm>
              <a:off x="4286" y="3521"/>
              <a:ext cx="272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ahoma" panose="020B0604030504040204" pitchFamily="34" charset="0"/>
                </a:rPr>
                <a:t>6</a:t>
              </a:r>
              <a:endParaRPr lang="en-US" altLang="zh-CN" sz="2400" b="1" dirty="0">
                <a:latin typeface="Tahoma" panose="020B0604030504040204" pitchFamily="34" charset="0"/>
              </a:endParaRPr>
            </a:p>
          </p:txBody>
        </p:sp>
        <p:sp>
          <p:nvSpPr>
            <p:cNvPr id="43035" name="Text Box 31"/>
            <p:cNvSpPr txBox="1"/>
            <p:nvPr/>
          </p:nvSpPr>
          <p:spPr>
            <a:xfrm>
              <a:off x="2880" y="3521"/>
              <a:ext cx="362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ahoma" panose="020B0604030504040204" pitchFamily="34" charset="0"/>
                </a:rPr>
                <a:t>-2</a:t>
              </a:r>
              <a:endParaRPr lang="en-US" altLang="zh-CN" sz="2400" b="1" dirty="0">
                <a:latin typeface="Tahoma" panose="020B0604030504040204" pitchFamily="34" charset="0"/>
              </a:endParaRPr>
            </a:p>
          </p:txBody>
        </p:sp>
        <p:sp>
          <p:nvSpPr>
            <p:cNvPr id="43036" name="Text Box 32"/>
            <p:cNvSpPr txBox="1"/>
            <p:nvPr/>
          </p:nvSpPr>
          <p:spPr>
            <a:xfrm>
              <a:off x="2970" y="2931"/>
              <a:ext cx="59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f(0)</a:t>
              </a:r>
              <a:endParaRPr lang="en-US" altLang="zh-CN" sz="2000" b="1" dirty="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037" name="Text Box 33"/>
            <p:cNvSpPr txBox="1"/>
            <p:nvPr/>
          </p:nvSpPr>
          <p:spPr>
            <a:xfrm>
              <a:off x="2517" y="3067"/>
              <a:ext cx="544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f(-1)</a:t>
              </a:r>
              <a:endParaRPr lang="en-US" altLang="zh-CN" sz="2000" b="1" dirty="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038" name="Text Box 34"/>
            <p:cNvSpPr txBox="1"/>
            <p:nvPr/>
          </p:nvSpPr>
          <p:spPr>
            <a:xfrm>
              <a:off x="3379" y="3113"/>
              <a:ext cx="409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f(1)</a:t>
              </a:r>
              <a:endParaRPr lang="en-US" altLang="zh-CN" sz="2000" b="1" dirty="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039" name="Text Box 35"/>
            <p:cNvSpPr txBox="1"/>
            <p:nvPr/>
          </p:nvSpPr>
          <p:spPr>
            <a:xfrm>
              <a:off x="3741" y="3793"/>
              <a:ext cx="635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f(2)</a:t>
              </a:r>
              <a:endParaRPr lang="en-US" altLang="zh-CN" sz="2000" b="1" dirty="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040" name="Text Box 36"/>
            <p:cNvSpPr txBox="1"/>
            <p:nvPr/>
          </p:nvSpPr>
          <p:spPr>
            <a:xfrm>
              <a:off x="4240" y="3158"/>
              <a:ext cx="408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f(3)</a:t>
              </a:r>
              <a:endParaRPr lang="en-US" altLang="zh-CN" sz="2000" b="1" dirty="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3041" name="Text Box 37"/>
            <p:cNvSpPr txBox="1"/>
            <p:nvPr/>
          </p:nvSpPr>
          <p:spPr>
            <a:xfrm>
              <a:off x="4513" y="3657"/>
              <a:ext cx="317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ahoma" panose="020B0604030504040204" pitchFamily="34" charset="0"/>
                </a:rPr>
                <a:t>k</a:t>
              </a:r>
              <a:endParaRPr lang="en-US" altLang="zh-CN" sz="2400" b="1" dirty="0">
                <a:latin typeface="Tahoma" panose="020B0604030504040204" pitchFamily="34" charset="0"/>
              </a:endParaRPr>
            </a:p>
          </p:txBody>
        </p:sp>
      </p:grpSp>
      <p:sp>
        <p:nvSpPr>
          <p:cNvPr id="43017" name="Rectangle 39"/>
          <p:cNvSpPr/>
          <p:nvPr/>
        </p:nvSpPr>
        <p:spPr>
          <a:xfrm>
            <a:off x="633413" y="47625"/>
            <a:ext cx="10795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0805" lvl="0" indent="-90805"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37" name="日期占位符 36"/>
          <p:cNvSpPr txBox="1">
            <a:spLocks noGrp="1"/>
          </p:cNvSpPr>
          <p:nvPr/>
        </p:nvSpPr>
        <p:spPr bwMode="auto">
          <a:xfrm>
            <a:off x="0" y="6488113"/>
            <a:ext cx="1190625" cy="369888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Tx/>
              <a:defRPr/>
            </a:pPr>
            <a:fld id="{300D0DCB-0519-4726-AEB6-5F9F1A67CB14}" type="datetime1">
              <a:rPr kumimoji="0" lang="zh-CN" altLang="en-US" sz="1200" kern="1200" cap="none" spc="0" normalizeH="0" baseline="0" noProof="0">
                <a:latin typeface="+mn-lt"/>
                <a:ea typeface="+mj-ea"/>
                <a:cs typeface="+mn-cs"/>
              </a:rPr>
            </a:fld>
            <a:endParaRPr kumimoji="0" lang="en-US" altLang="zh-CN" sz="1200" kern="1200" cap="none" spc="0" normalizeH="0" baseline="0" noProof="0">
              <a:latin typeface="+mn-lt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25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25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2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24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24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2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25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5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004" grpId="0"/>
      <p:bldP spid="72500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611188" y="765175"/>
            <a:ext cx="2592387" cy="45720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sz="2400" b="1" dirty="0">
                <a:solidFill>
                  <a:srgbClr val="6600CC"/>
                </a:solidFill>
              </a:rPr>
              <a:t>1)</a:t>
            </a:r>
            <a:r>
              <a:rPr lang="zh-CN" altLang="en-US" sz="2400" b="1" dirty="0">
                <a:solidFill>
                  <a:srgbClr val="003300"/>
                </a:solidFill>
              </a:rPr>
              <a:t>单位取样序列</a:t>
            </a:r>
            <a:endParaRPr lang="zh-CN" altLang="en-US" sz="2400" b="1" dirty="0">
              <a:solidFill>
                <a:srgbClr val="003300"/>
              </a:solidFill>
            </a:endParaRPr>
          </a:p>
        </p:txBody>
      </p:sp>
      <p:graphicFrame>
        <p:nvGraphicFramePr>
          <p:cNvPr id="726019" name="Object 2"/>
          <p:cNvGraphicFramePr>
            <a:graphicFrameLocks noChangeAspect="1"/>
          </p:cNvGraphicFramePr>
          <p:nvPr/>
        </p:nvGraphicFramePr>
        <p:xfrm>
          <a:off x="2627313" y="1773238"/>
          <a:ext cx="2133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24" name="" r:id="rId1" imgW="990600" imgH="457200" progId="Equation.3">
                  <p:embed/>
                </p:oleObj>
              </mc:Choice>
              <mc:Fallback>
                <p:oleObj name="" r:id="rId1" imgW="990600" imgH="4572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313" y="1773238"/>
                        <a:ext cx="21336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Rectangle 10"/>
          <p:cNvSpPr/>
          <p:nvPr/>
        </p:nvSpPr>
        <p:spPr>
          <a:xfrm>
            <a:off x="1619250" y="188913"/>
            <a:ext cx="2963863" cy="46513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ahoma" panose="020B0604030504040204" pitchFamily="34" charset="0"/>
              </a:rPr>
              <a:t>4.</a:t>
            </a:r>
            <a:r>
              <a:rPr lang="zh-CN" altLang="en-US" sz="2400" b="1" dirty="0">
                <a:solidFill>
                  <a:srgbClr val="0000FF"/>
                </a:solidFill>
                <a:latin typeface="Tahoma" panose="020B0604030504040204" pitchFamily="34" charset="0"/>
              </a:rPr>
              <a:t>常用离散信号</a:t>
            </a:r>
            <a:endParaRPr lang="zh-CN" altLang="en-US" sz="24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726027" name="Object 3"/>
          <p:cNvGraphicFramePr>
            <a:graphicFrameLocks noChangeAspect="1"/>
          </p:cNvGraphicFramePr>
          <p:nvPr/>
        </p:nvGraphicFramePr>
        <p:xfrm>
          <a:off x="684213" y="1341438"/>
          <a:ext cx="18859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25" name="" r:id="rId3" imgW="1885950" imgH="1524000" progId="PBrush">
                  <p:embed/>
                </p:oleObj>
              </mc:Choice>
              <mc:Fallback>
                <p:oleObj name="" r:id="rId3" imgW="1885950" imgH="1524000" progId="PBrush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1341438"/>
                        <a:ext cx="1885950" cy="152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20"/>
          <p:cNvSpPr/>
          <p:nvPr/>
        </p:nvSpPr>
        <p:spPr>
          <a:xfrm>
            <a:off x="633413" y="47625"/>
            <a:ext cx="10795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0805" lvl="0" indent="-90805"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726038" name="Object 4"/>
          <p:cNvGraphicFramePr>
            <a:graphicFrameLocks noChangeAspect="1"/>
          </p:cNvGraphicFramePr>
          <p:nvPr/>
        </p:nvGraphicFramePr>
        <p:xfrm>
          <a:off x="1403350" y="3933825"/>
          <a:ext cx="4105275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26" name="" r:id="rId5" imgW="1917065" imgH="812165" progId="Equation.3">
                  <p:embed/>
                </p:oleObj>
              </mc:Choice>
              <mc:Fallback>
                <p:oleObj name="" r:id="rId5" imgW="1917065" imgH="812165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350" y="3933825"/>
                        <a:ext cx="4105275" cy="188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39" name="Object 5"/>
          <p:cNvGraphicFramePr>
            <a:graphicFrameLocks noChangeAspect="1"/>
          </p:cNvGraphicFramePr>
          <p:nvPr/>
        </p:nvGraphicFramePr>
        <p:xfrm>
          <a:off x="1567815" y="5876925"/>
          <a:ext cx="4533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27" name="" r:id="rId7" imgW="1905000" imgH="215900" progId="Equation.3">
                  <p:embed/>
                </p:oleObj>
              </mc:Choice>
              <mc:Fallback>
                <p:oleObj name="" r:id="rId7" imgW="1905000" imgH="2159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67815" y="5876925"/>
                        <a:ext cx="4533900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/>
          <p:nvPr/>
        </p:nvGrpSpPr>
        <p:grpSpPr>
          <a:xfrm>
            <a:off x="5235575" y="417513"/>
            <a:ext cx="3908425" cy="3082925"/>
            <a:chOff x="3298" y="271"/>
            <a:chExt cx="2462" cy="1942"/>
          </a:xfrm>
        </p:grpSpPr>
        <p:sp>
          <p:nvSpPr>
            <p:cNvPr id="44044" name="Text Box 6"/>
            <p:cNvSpPr txBox="1"/>
            <p:nvPr/>
          </p:nvSpPr>
          <p:spPr>
            <a:xfrm>
              <a:off x="3334" y="271"/>
              <a:ext cx="761" cy="256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buNone/>
              </a:pPr>
              <a:r>
                <a:rPr lang="zh-CN" altLang="en-US" sz="2400" b="1" dirty="0">
                  <a:solidFill>
                    <a:srgbClr val="800000"/>
                  </a:solidFill>
                  <a:latin typeface="Times New Roman" panose="02020603050405020304" pitchFamily="18" charset="0"/>
                </a:rPr>
                <a:t>性质：</a:t>
              </a:r>
              <a:endPara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5" name="Line 17"/>
            <p:cNvSpPr/>
            <p:nvPr/>
          </p:nvSpPr>
          <p:spPr>
            <a:xfrm>
              <a:off x="4513" y="1253"/>
              <a:ext cx="272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dash"/>
              <a:miter/>
              <a:headEnd type="none" w="med" len="med"/>
              <a:tailEnd type="none" w="med" len="med"/>
            </a:ln>
          </p:spPr>
        </p:sp>
        <p:grpSp>
          <p:nvGrpSpPr>
            <p:cNvPr id="44046" name="Group 21"/>
            <p:cNvGrpSpPr/>
            <p:nvPr/>
          </p:nvGrpSpPr>
          <p:grpSpPr>
            <a:xfrm>
              <a:off x="3298" y="754"/>
              <a:ext cx="2462" cy="760"/>
              <a:chOff x="3152" y="2251"/>
              <a:chExt cx="2462" cy="760"/>
            </a:xfrm>
          </p:grpSpPr>
          <p:graphicFrame>
            <p:nvGraphicFramePr>
              <p:cNvPr id="44048" name="Object 7"/>
              <p:cNvGraphicFramePr>
                <a:graphicFrameLocks noChangeAspect="1"/>
              </p:cNvGraphicFramePr>
              <p:nvPr/>
            </p:nvGraphicFramePr>
            <p:xfrm>
              <a:off x="3152" y="2296"/>
              <a:ext cx="756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428" name="" r:id="rId9" imgW="736600" imgH="203200" progId="Equation.3">
                      <p:embed/>
                    </p:oleObj>
                  </mc:Choice>
                  <mc:Fallback>
                    <p:oleObj name="" r:id="rId9" imgW="736600" imgH="203200" progId="Equation.3">
                      <p:embed/>
                      <p:pic>
                        <p:nvPicPr>
                          <p:cNvPr id="0" name="Object 7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152" y="2296"/>
                            <a:ext cx="756" cy="26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49" name="Object 8"/>
              <p:cNvGraphicFramePr>
                <a:graphicFrameLocks noChangeAspect="1"/>
              </p:cNvGraphicFramePr>
              <p:nvPr/>
            </p:nvGraphicFramePr>
            <p:xfrm>
              <a:off x="3152" y="2750"/>
              <a:ext cx="1016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429" name="" r:id="rId11" imgW="989965" imgH="203200" progId="Equation.3">
                      <p:embed/>
                    </p:oleObj>
                  </mc:Choice>
                  <mc:Fallback>
                    <p:oleObj name="" r:id="rId11" imgW="989965" imgH="203200" progId="Equation.3">
                      <p:embed/>
                      <p:pic>
                        <p:nvPicPr>
                          <p:cNvPr id="0" name="Object 8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3152" y="2750"/>
                            <a:ext cx="1016" cy="2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50" name="Object 9"/>
              <p:cNvGraphicFramePr>
                <a:graphicFrameLocks noChangeAspect="1"/>
              </p:cNvGraphicFramePr>
              <p:nvPr/>
            </p:nvGraphicFramePr>
            <p:xfrm>
              <a:off x="3969" y="2251"/>
              <a:ext cx="1069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430" name="" r:id="rId13" imgW="1040765" imgH="215900" progId="Equation.3">
                      <p:embed/>
                    </p:oleObj>
                  </mc:Choice>
                  <mc:Fallback>
                    <p:oleObj name="" r:id="rId13" imgW="1040765" imgH="215900" progId="Equation.3">
                      <p:embed/>
                      <p:pic>
                        <p:nvPicPr>
                          <p:cNvPr id="0" name="Object 9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969" y="2251"/>
                            <a:ext cx="1069" cy="2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51" name="Object 10"/>
              <p:cNvGraphicFramePr>
                <a:graphicFrameLocks noChangeAspect="1"/>
              </p:cNvGraphicFramePr>
              <p:nvPr/>
            </p:nvGraphicFramePr>
            <p:xfrm>
              <a:off x="4195" y="2752"/>
              <a:ext cx="1419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3431" name="" r:id="rId15" imgW="1384300" imgH="203200" progId="Equation.3">
                      <p:embed/>
                    </p:oleObj>
                  </mc:Choice>
                  <mc:Fallback>
                    <p:oleObj name="" r:id="rId15" imgW="1384300" imgH="203200" progId="Equation.3">
                      <p:embed/>
                      <p:pic>
                        <p:nvPicPr>
                          <p:cNvPr id="0" name="Object 10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195" y="2752"/>
                            <a:ext cx="1419" cy="2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4047" name="Object 6"/>
            <p:cNvGraphicFramePr>
              <a:graphicFrameLocks noChangeAspect="1"/>
            </p:cNvGraphicFramePr>
            <p:nvPr/>
          </p:nvGraphicFramePr>
          <p:xfrm>
            <a:off x="3334" y="1661"/>
            <a:ext cx="2016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432" name="" r:id="rId17" imgW="1574800" imgH="431800" progId="Equation.3">
                    <p:embed/>
                  </p:oleObj>
                </mc:Choice>
                <mc:Fallback>
                  <p:oleObj name="" r:id="rId17" imgW="1574800" imgH="431800" progId="Equation.3">
                    <p:embed/>
                    <p:pic>
                      <p:nvPicPr>
                        <p:cNvPr id="0" name="Object 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34" y="1661"/>
                          <a:ext cx="2016" cy="5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6042" name="Rectangle 26"/>
          <p:cNvSpPr>
            <a:spLocks noChangeArrowheads="1"/>
          </p:cNvSpPr>
          <p:nvPr/>
        </p:nvSpPr>
        <p:spPr bwMode="auto">
          <a:xfrm>
            <a:off x="900113" y="3500438"/>
            <a:ext cx="4495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楷体_GB2312" panose="02000000000000000000" charset="-122"/>
                <a:ea typeface="黑体" panose="02010609060101010101" pitchFamily="49" charset="-122"/>
                <a:cs typeface="+mn-cs"/>
              </a:rPr>
              <a:t>利用单位序列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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(k)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方正楷体_GB2312" panose="02000000000000000000" charset="-122"/>
                <a:ea typeface="黑体" panose="02010609060101010101" pitchFamily="49" charset="-122"/>
                <a:cs typeface="+mn-cs"/>
              </a:rPr>
              <a:t>表示任意序列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方正楷体_GB2312" panose="02000000000000000000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日期占位符 18"/>
          <p:cNvSpPr txBox="1">
            <a:spLocks noGrp="1"/>
          </p:cNvSpPr>
          <p:nvPr/>
        </p:nvSpPr>
        <p:spPr bwMode="auto">
          <a:xfrm>
            <a:off x="0" y="6488113"/>
            <a:ext cx="1190625" cy="369888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Tx/>
              <a:defRPr/>
            </a:pPr>
            <a:fld id="{4F7F0993-3269-49F0-9381-6EB547FDDE10}" type="datetime1">
              <a:rPr kumimoji="0" lang="zh-CN" altLang="en-US" sz="1200" kern="1200" cap="none" spc="0" normalizeH="0" baseline="0" noProof="0">
                <a:latin typeface="+mn-lt"/>
                <a:ea typeface="+mj-ea"/>
                <a:cs typeface="+mn-cs"/>
              </a:rPr>
            </a:fld>
            <a:endParaRPr kumimoji="0" lang="en-US" altLang="zh-CN" sz="1200" kern="1200" cap="none" spc="0" normalizeH="0" baseline="0" noProof="0">
              <a:latin typeface="+mn-lt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26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6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2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26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26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6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26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2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26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26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2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26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6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2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4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1477963" y="295275"/>
            <a:ext cx="2962275" cy="45720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sz="2400" b="1" dirty="0">
                <a:solidFill>
                  <a:srgbClr val="6600CC"/>
                </a:solidFill>
              </a:rPr>
              <a:t>2)</a:t>
            </a:r>
            <a:r>
              <a:rPr lang="zh-CN" altLang="en-US" sz="2400" b="1" dirty="0">
                <a:solidFill>
                  <a:srgbClr val="6600CC"/>
                </a:solidFill>
              </a:rPr>
              <a:t>单位阶跃序列</a:t>
            </a:r>
            <a:endParaRPr lang="zh-CN" altLang="en-US" sz="2400" b="1" dirty="0">
              <a:solidFill>
                <a:srgbClr val="6600CC"/>
              </a:solidFill>
            </a:endParaRPr>
          </a:p>
        </p:txBody>
      </p:sp>
      <p:graphicFrame>
        <p:nvGraphicFramePr>
          <p:cNvPr id="730115" name="Object 2"/>
          <p:cNvGraphicFramePr>
            <a:graphicFrameLocks noChangeAspect="1"/>
          </p:cNvGraphicFramePr>
          <p:nvPr/>
        </p:nvGraphicFramePr>
        <p:xfrm>
          <a:off x="1098550" y="838200"/>
          <a:ext cx="2146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2" name="" r:id="rId1" imgW="1270000" imgH="457200" progId="Equation.3">
                  <p:embed/>
                </p:oleObj>
              </mc:Choice>
              <mc:Fallback>
                <p:oleObj name="" r:id="rId1" imgW="1270000" imgH="4572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98550" y="838200"/>
                        <a:ext cx="2146300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5219700" y="188913"/>
            <a:ext cx="2762250" cy="1781175"/>
            <a:chOff x="2256" y="0"/>
            <a:chExt cx="1740" cy="1122"/>
          </a:xfrm>
        </p:grpSpPr>
        <p:graphicFrame>
          <p:nvGraphicFramePr>
            <p:cNvPr id="45073" name="Object 10"/>
            <p:cNvGraphicFramePr>
              <a:graphicFrameLocks noChangeAspect="1"/>
            </p:cNvGraphicFramePr>
            <p:nvPr/>
          </p:nvGraphicFramePr>
          <p:xfrm>
            <a:off x="2256" y="96"/>
            <a:ext cx="1740" cy="1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53" name="" r:id="rId3" imgW="2762250" imgH="1628775" progId="PBrush">
                    <p:embed/>
                  </p:oleObj>
                </mc:Choice>
                <mc:Fallback>
                  <p:oleObj name="" r:id="rId3" imgW="2762250" imgH="1628775" progId="PBrush">
                    <p:embed/>
                    <p:pic>
                      <p:nvPicPr>
                        <p:cNvPr id="0" name="Object 1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56" y="96"/>
                          <a:ext cx="1740" cy="10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4" name="Object 11"/>
            <p:cNvGraphicFramePr>
              <a:graphicFrameLocks noChangeAspect="1"/>
            </p:cNvGraphicFramePr>
            <p:nvPr/>
          </p:nvGraphicFramePr>
          <p:xfrm>
            <a:off x="2789" y="0"/>
            <a:ext cx="48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54" name="" r:id="rId5" imgW="171450" imgH="88900" progId="Equation.3">
                    <p:embed/>
                  </p:oleObj>
                </mc:Choice>
                <mc:Fallback>
                  <p:oleObj name="" r:id="rId5" imgW="171450" imgH="88900" progId="Equation.3">
                    <p:embed/>
                    <p:pic>
                      <p:nvPicPr>
                        <p:cNvPr id="0" name="Object 1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89" y="0"/>
                          <a:ext cx="487" cy="30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/>
          <p:cNvGrpSpPr/>
          <p:nvPr/>
        </p:nvGrpSpPr>
        <p:grpSpPr>
          <a:xfrm>
            <a:off x="1187450" y="1989138"/>
            <a:ext cx="3549650" cy="1595437"/>
            <a:chOff x="975" y="2931"/>
            <a:chExt cx="2236" cy="1005"/>
          </a:xfrm>
        </p:grpSpPr>
        <p:sp>
          <p:nvSpPr>
            <p:cNvPr id="45070" name="Text Box 7"/>
            <p:cNvSpPr txBox="1"/>
            <p:nvPr/>
          </p:nvSpPr>
          <p:spPr>
            <a:xfrm>
              <a:off x="975" y="2931"/>
              <a:ext cx="1116" cy="256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buNone/>
              </a:pPr>
              <a:r>
                <a:rPr lang="zh-CN" altLang="en-US" sz="2400" b="1" dirty="0">
                  <a:solidFill>
                    <a:srgbClr val="800000"/>
                  </a:solidFill>
                  <a:latin typeface="Times New Roman" panose="02020603050405020304" pitchFamily="18" charset="0"/>
                </a:rPr>
                <a:t>性质：</a:t>
              </a:r>
              <a:endPara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5071" name="Object 8"/>
            <p:cNvGraphicFramePr>
              <a:graphicFrameLocks noChangeAspect="1"/>
            </p:cNvGraphicFramePr>
            <p:nvPr/>
          </p:nvGraphicFramePr>
          <p:xfrm>
            <a:off x="1338" y="3475"/>
            <a:ext cx="82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55" name="" r:id="rId7" imgW="736600" imgH="203200" progId="Equation.3">
                    <p:embed/>
                  </p:oleObj>
                </mc:Choice>
                <mc:Fallback>
                  <p:oleObj name="" r:id="rId7" imgW="736600" imgH="203200" progId="Equation.3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38" y="3475"/>
                          <a:ext cx="824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2" name="Object 9"/>
            <p:cNvGraphicFramePr>
              <a:graphicFrameLocks noChangeAspect="1"/>
            </p:cNvGraphicFramePr>
            <p:nvPr/>
          </p:nvGraphicFramePr>
          <p:xfrm>
            <a:off x="2245" y="3294"/>
            <a:ext cx="966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56" name="" r:id="rId9" imgW="862965" imgH="457200" progId="Equation.3">
                    <p:embed/>
                  </p:oleObj>
                </mc:Choice>
                <mc:Fallback>
                  <p:oleObj name="" r:id="rId9" imgW="862965" imgH="457200" progId="Equation.3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45" y="3294"/>
                          <a:ext cx="966" cy="6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0129" name="Object 3"/>
          <p:cNvGraphicFramePr>
            <a:graphicFrameLocks noChangeAspect="1"/>
          </p:cNvGraphicFramePr>
          <p:nvPr/>
        </p:nvGraphicFramePr>
        <p:xfrm>
          <a:off x="827088" y="5661025"/>
          <a:ext cx="9112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7" name="" r:id="rId11" imgW="431800" imgH="203200" progId="Equation.3">
                  <p:embed/>
                </p:oleObj>
              </mc:Choice>
              <mc:Fallback>
                <p:oleObj name="" r:id="rId11" imgW="431800" imgH="2032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7088" y="5661025"/>
                        <a:ext cx="91122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0" name="Object 4"/>
          <p:cNvGraphicFramePr>
            <a:graphicFrameLocks noChangeAspect="1"/>
          </p:cNvGraphicFramePr>
          <p:nvPr/>
        </p:nvGraphicFramePr>
        <p:xfrm>
          <a:off x="898525" y="4725988"/>
          <a:ext cx="7683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8" name="" r:id="rId13" imgW="444500" imgH="203200" progId="Equation.3">
                  <p:embed/>
                </p:oleObj>
              </mc:Choice>
              <mc:Fallback>
                <p:oleObj name="" r:id="rId13" imgW="444500" imgH="2032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8525" y="4725988"/>
                        <a:ext cx="76835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1" name="Object 5"/>
          <p:cNvGraphicFramePr>
            <a:graphicFrameLocks noChangeAspect="1"/>
          </p:cNvGraphicFramePr>
          <p:nvPr/>
        </p:nvGraphicFramePr>
        <p:xfrm>
          <a:off x="877888" y="3789363"/>
          <a:ext cx="26543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9" name="" r:id="rId15" imgW="732790" imgH="88900" progId="Equation.3">
                  <p:embed/>
                </p:oleObj>
              </mc:Choice>
              <mc:Fallback>
                <p:oleObj name="" r:id="rId15" imgW="732790" imgH="889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77888" y="3789363"/>
                        <a:ext cx="265430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2" name="Object 6"/>
          <p:cNvGraphicFramePr>
            <a:graphicFrameLocks noChangeAspect="1"/>
          </p:cNvGraphicFramePr>
          <p:nvPr/>
        </p:nvGraphicFramePr>
        <p:xfrm>
          <a:off x="1979613" y="4652963"/>
          <a:ext cx="19446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0" name="" r:id="rId17" imgW="901065" imgH="203200" progId="Equation.3">
                  <p:embed/>
                </p:oleObj>
              </mc:Choice>
              <mc:Fallback>
                <p:oleObj name="" r:id="rId17" imgW="901065" imgH="2032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79613" y="4652963"/>
                        <a:ext cx="1944687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3" name="Object 7"/>
          <p:cNvGraphicFramePr>
            <a:graphicFrameLocks noChangeAspect="1"/>
          </p:cNvGraphicFramePr>
          <p:nvPr/>
        </p:nvGraphicFramePr>
        <p:xfrm>
          <a:off x="1906588" y="5373688"/>
          <a:ext cx="67833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1" name="" r:id="rId19" imgW="3213100" imgH="431800" progId="Equation.3">
                  <p:embed/>
                </p:oleObj>
              </mc:Choice>
              <mc:Fallback>
                <p:oleObj name="" r:id="rId19" imgW="3213100" imgH="4318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06588" y="5373688"/>
                        <a:ext cx="6783387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0136" name="Picture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24525" y="2565400"/>
            <a:ext cx="1885950" cy="1524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日期占位符 16"/>
          <p:cNvSpPr txBox="1">
            <a:spLocks noGrp="1"/>
          </p:cNvSpPr>
          <p:nvPr/>
        </p:nvSpPr>
        <p:spPr bwMode="auto">
          <a:xfrm>
            <a:off x="0" y="6488113"/>
            <a:ext cx="1190625" cy="369888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Tx/>
              <a:defRPr/>
            </a:pPr>
            <a:fld id="{1A214F57-A4CD-4982-B52C-C85644722F38}" type="datetime1">
              <a:rPr kumimoji="0" lang="zh-CN" altLang="en-US" sz="1200" kern="1200" cap="none" spc="0" normalizeH="0" baseline="0" noProof="0">
                <a:latin typeface="+mn-lt"/>
                <a:ea typeface="+mj-ea"/>
                <a:cs typeface="+mn-cs"/>
              </a:rPr>
            </a:fld>
            <a:endParaRPr kumimoji="0" lang="en-US" altLang="zh-CN" sz="1200" kern="1200" cap="none" spc="0" normalizeH="0" baseline="0" noProof="0">
              <a:latin typeface="+mn-lt"/>
              <a:ea typeface="+mj-ea"/>
              <a:cs typeface="+mn-cs"/>
            </a:endParaRPr>
          </a:p>
        </p:txBody>
      </p:sp>
      <p:sp>
        <p:nvSpPr>
          <p:cNvPr id="45069" name="Rectangle 39"/>
          <p:cNvSpPr/>
          <p:nvPr/>
        </p:nvSpPr>
        <p:spPr>
          <a:xfrm>
            <a:off x="633413" y="47625"/>
            <a:ext cx="10795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0805" lvl="0" indent="-90805"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0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0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>
          <a:xfrm>
            <a:off x="382588" y="450850"/>
            <a:ext cx="2284412" cy="45720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sz="2400" b="1" dirty="0">
                <a:solidFill>
                  <a:srgbClr val="6600CC"/>
                </a:solidFill>
              </a:rPr>
              <a:t>3)</a:t>
            </a:r>
            <a:r>
              <a:rPr lang="zh-CN" altLang="en-US" sz="2400" b="1" dirty="0">
                <a:solidFill>
                  <a:srgbClr val="6600CC"/>
                </a:solidFill>
              </a:rPr>
              <a:t>正弦序列</a:t>
            </a:r>
            <a:endParaRPr lang="zh-CN" altLang="en-US" sz="2400" b="1" dirty="0">
              <a:solidFill>
                <a:srgbClr val="6600CC"/>
              </a:solidFill>
            </a:endParaRPr>
          </a:p>
        </p:txBody>
      </p:sp>
      <p:graphicFrame>
        <p:nvGraphicFramePr>
          <p:cNvPr id="555011" name="Object 2"/>
          <p:cNvGraphicFramePr>
            <a:graphicFrameLocks noChangeAspect="1"/>
          </p:cNvGraphicFramePr>
          <p:nvPr/>
        </p:nvGraphicFramePr>
        <p:xfrm>
          <a:off x="2822575" y="523875"/>
          <a:ext cx="4468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7" name="" r:id="rId1" imgW="1637030" imgH="109855" progId="Equation.3">
                  <p:embed/>
                </p:oleObj>
              </mc:Choice>
              <mc:Fallback>
                <p:oleObj name="" r:id="rId1" imgW="1637030" imgH="109855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22575" y="523875"/>
                        <a:ext cx="4468813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3" name="Object 3"/>
          <p:cNvGraphicFramePr>
            <a:graphicFrameLocks noChangeAspect="1"/>
          </p:cNvGraphicFramePr>
          <p:nvPr/>
        </p:nvGraphicFramePr>
        <p:xfrm>
          <a:off x="7235825" y="2565400"/>
          <a:ext cx="16764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8" name="" r:id="rId3" imgW="746760" imgH="253365" progId="Equation.3">
                  <p:embed/>
                </p:oleObj>
              </mc:Choice>
              <mc:Fallback>
                <p:oleObj name="" r:id="rId3" imgW="746760" imgH="253365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8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35825" y="2565400"/>
                        <a:ext cx="1676400" cy="709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4" name="Object 4"/>
          <p:cNvGraphicFramePr>
            <a:graphicFrameLocks noChangeAspect="1"/>
          </p:cNvGraphicFramePr>
          <p:nvPr/>
        </p:nvGraphicFramePr>
        <p:xfrm>
          <a:off x="7235825" y="1557338"/>
          <a:ext cx="16002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9" name="" r:id="rId5" imgW="650875" imgH="253365" progId="Equation.3">
                  <p:embed/>
                </p:oleObj>
              </mc:Choice>
              <mc:Fallback>
                <p:oleObj name="" r:id="rId5" imgW="650875" imgH="253365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35825" y="1557338"/>
                        <a:ext cx="1600200" cy="696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5" name="Object 5"/>
          <p:cNvGraphicFramePr>
            <a:graphicFrameLocks noChangeAspect="1"/>
          </p:cNvGraphicFramePr>
          <p:nvPr/>
        </p:nvGraphicFramePr>
        <p:xfrm>
          <a:off x="827088" y="1557338"/>
          <a:ext cx="6265862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0" name="" r:id="rId7" imgW="3429000" imgH="431800" progId="Equation.3">
                  <p:embed/>
                </p:oleObj>
              </mc:Choice>
              <mc:Fallback>
                <p:oleObj name="" r:id="rId7" imgW="3429000" imgH="4318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088" y="1557338"/>
                        <a:ext cx="6265862" cy="744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6" name="Object 6"/>
          <p:cNvGraphicFramePr>
            <a:graphicFrameLocks noChangeAspect="1"/>
          </p:cNvGraphicFramePr>
          <p:nvPr/>
        </p:nvGraphicFramePr>
        <p:xfrm>
          <a:off x="755650" y="2492375"/>
          <a:ext cx="63373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1" name="" r:id="rId9" imgW="3657600" imgH="431800" progId="Equation.3">
                  <p:embed/>
                </p:oleObj>
              </mc:Choice>
              <mc:Fallback>
                <p:oleObj name="" r:id="rId9" imgW="3657600" imgH="4318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650" y="2492375"/>
                        <a:ext cx="6337300" cy="706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5017" name="Object 7"/>
          <p:cNvGraphicFramePr>
            <a:graphicFrameLocks noChangeAspect="1"/>
          </p:cNvGraphicFramePr>
          <p:nvPr/>
        </p:nvGraphicFramePr>
        <p:xfrm>
          <a:off x="755650" y="3500438"/>
          <a:ext cx="66960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2" name="" r:id="rId11" imgW="3797300" imgH="431800" progId="Equation.3">
                  <p:embed/>
                </p:oleObj>
              </mc:Choice>
              <mc:Fallback>
                <p:oleObj name="" r:id="rId11" imgW="3797300" imgH="431800" progId="Equation.3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5650" y="3500438"/>
                        <a:ext cx="6696075" cy="719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019" name="Text Box 11"/>
          <p:cNvSpPr txBox="1"/>
          <p:nvPr/>
        </p:nvSpPr>
        <p:spPr>
          <a:xfrm>
            <a:off x="1692275" y="5084763"/>
            <a:ext cx="2895600" cy="904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6600CC"/>
                </a:solidFill>
                <a:latin typeface="Tahoma" panose="020B0604030504040204" pitchFamily="34" charset="0"/>
              </a:rPr>
              <a:t>例</a:t>
            </a:r>
            <a:r>
              <a:rPr lang="zh-CN" altLang="en-US" sz="2400" b="1" dirty="0">
                <a:solidFill>
                  <a:schemeClr val="hlink"/>
                </a:solidFill>
                <a:latin typeface="Tahoma" panose="020B0604030504040204" pitchFamily="34" charset="0"/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=0.2</a:t>
            </a:r>
            <a:endParaRPr lang="en-US" altLang="zh-CN" sz="2400" b="1" dirty="0">
              <a:solidFill>
                <a:srgbClr val="0000FF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      N=10</a:t>
            </a:r>
            <a:endParaRPr lang="en-US" altLang="zh-CN" sz="2400" b="1" dirty="0">
              <a:latin typeface="Tahoma" panose="020B0604030504040204" pitchFamily="34" charset="0"/>
            </a:endParaRPr>
          </a:p>
        </p:txBody>
      </p:sp>
      <p:sp>
        <p:nvSpPr>
          <p:cNvPr id="555020" name="Text Box 12"/>
          <p:cNvSpPr txBox="1"/>
          <p:nvPr/>
        </p:nvSpPr>
        <p:spPr>
          <a:xfrm>
            <a:off x="1173163" y="1111250"/>
            <a:ext cx="6192837" cy="406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33CC"/>
                </a:solidFill>
                <a:latin typeface="Tahoma" panose="020B0604030504040204" pitchFamily="34" charset="0"/>
              </a:rPr>
              <a:t>其中：</a:t>
            </a:r>
            <a:r>
              <a:rPr lang="el-GR" altLang="zh-CN" sz="2400" b="1" dirty="0">
                <a:solidFill>
                  <a:srgbClr val="FF33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Ω</a:t>
            </a:r>
            <a:r>
              <a:rPr lang="el-GR" altLang="zh-CN" sz="2400" b="1" baseline="-25000" dirty="0">
                <a:solidFill>
                  <a:srgbClr val="FF33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zh-CN" altLang="en-US" sz="2400" b="1" dirty="0">
                <a:solidFill>
                  <a:srgbClr val="FF33CC"/>
                </a:solidFill>
                <a:latin typeface="Tahoma" panose="020B0604030504040204" pitchFamily="34" charset="0"/>
              </a:rPr>
              <a:t>为正弦序列的数字角频率。</a:t>
            </a:r>
            <a:endParaRPr lang="zh-CN" altLang="en-US" sz="2400" b="1" dirty="0">
              <a:solidFill>
                <a:srgbClr val="FF33CC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5580063" y="4221163"/>
            <a:ext cx="3190875" cy="2428875"/>
            <a:chOff x="3515" y="2659"/>
            <a:chExt cx="2010" cy="1530"/>
          </a:xfrm>
        </p:grpSpPr>
        <p:graphicFrame>
          <p:nvGraphicFramePr>
            <p:cNvPr id="46094" name="Object 8"/>
            <p:cNvGraphicFramePr>
              <a:graphicFrameLocks noChangeAspect="1"/>
            </p:cNvGraphicFramePr>
            <p:nvPr/>
          </p:nvGraphicFramePr>
          <p:xfrm>
            <a:off x="3515" y="2659"/>
            <a:ext cx="2010" cy="1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43" name="" r:id="rId13" imgW="3190875" imgH="2428875" progId="PBrush">
                    <p:embed/>
                  </p:oleObj>
                </mc:Choice>
                <mc:Fallback>
                  <p:oleObj name="" r:id="rId13" imgW="3190875" imgH="2428875" progId="PBrush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515" y="2659"/>
                          <a:ext cx="2010" cy="15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5" name="Rectangle 13"/>
            <p:cNvSpPr/>
            <p:nvPr/>
          </p:nvSpPr>
          <p:spPr>
            <a:xfrm>
              <a:off x="4286" y="3521"/>
              <a:ext cx="307" cy="46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0" tIns="0" rIns="0" bIns="0" anchor="ctr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85000"/>
                </a:lnSpc>
                <a:buNone/>
              </a:pPr>
              <a:r>
                <a:rPr lang="en-US" altLang="zh-CN" sz="2800" b="1" dirty="0">
                  <a:latin typeface="黑体" panose="02010609060101010101" pitchFamily="49" charset="-122"/>
                </a:rPr>
                <a:t>     5</a:t>
              </a:r>
              <a:endParaRPr lang="en-US" altLang="zh-CN" sz="2800" b="1" dirty="0">
                <a:latin typeface="黑体" panose="02010609060101010101" pitchFamily="49" charset="-122"/>
              </a:endParaRPr>
            </a:p>
          </p:txBody>
        </p:sp>
      </p:grpSp>
      <p:sp>
        <p:nvSpPr>
          <p:cNvPr id="15" name="日期占位符 14"/>
          <p:cNvSpPr txBox="1">
            <a:spLocks noGrp="1"/>
          </p:cNvSpPr>
          <p:nvPr>
            <p:ph type="dt" sz="half" idx="4294967295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n-cs"/>
            </a:endParaRPr>
          </a:p>
        </p:txBody>
      </p:sp>
      <p:sp>
        <p:nvSpPr>
          <p:cNvPr id="46093" name="Rectangle 39"/>
          <p:cNvSpPr/>
          <p:nvPr/>
        </p:nvSpPr>
        <p:spPr>
          <a:xfrm>
            <a:off x="366713" y="-19050"/>
            <a:ext cx="10795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0805" lvl="0" indent="-90805"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5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5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55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9" grpId="0" build="p"/>
      <p:bldP spid="5550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01638" y="0"/>
            <a:ext cx="4824412" cy="576263"/>
          </a:xfrm>
          <a:solidFill>
            <a:schemeClr val="accent2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§7.2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抽样信号与抽样定理 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1338" y="1412875"/>
            <a:ext cx="4824412" cy="4752975"/>
          </a:xfrm>
          <a:solidFill>
            <a:schemeClr val="bg1"/>
          </a:solidFill>
          <a:ln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根据前面所述，离散信号可由连续信号经过</a:t>
            </a:r>
            <a:r>
              <a:rPr lang="zh-CN" altLang="en-US" sz="2800" b="1" dirty="0">
                <a:solidFill>
                  <a:srgbClr val="FF3300"/>
                </a:solidFill>
              </a:rPr>
              <a:t>抽样</a:t>
            </a:r>
            <a:r>
              <a:rPr lang="zh-CN" altLang="en-US" sz="2800" b="1" dirty="0"/>
              <a:t>得到。</a:t>
            </a:r>
            <a:endParaRPr lang="en-US" altLang="zh-CN" sz="2800" b="1" dirty="0"/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</a:t>
            </a:r>
            <a:r>
              <a:rPr lang="zh-CN" altLang="en-US" sz="2800" b="1" dirty="0">
                <a:latin typeface="Arial" panose="020B0604020202020204" pitchFamily="34" charset="0"/>
              </a:rPr>
              <a:t>“</a:t>
            </a:r>
            <a:r>
              <a:rPr lang="zh-CN" altLang="en-US" sz="2800" b="1" dirty="0"/>
              <a:t>抽样</a:t>
            </a:r>
            <a:r>
              <a:rPr lang="zh-CN" altLang="en-US" sz="2800" b="1" dirty="0">
                <a:latin typeface="Arial" panose="020B0604020202020204" pitchFamily="34" charset="0"/>
              </a:rPr>
              <a:t>”</a:t>
            </a:r>
            <a:r>
              <a:rPr lang="zh-CN" altLang="en-US" sz="2800" b="1" dirty="0"/>
              <a:t>指利用</a:t>
            </a:r>
            <a:r>
              <a:rPr lang="zh-CN" altLang="en-US" sz="2800" b="1" dirty="0">
                <a:solidFill>
                  <a:srgbClr val="FF3300"/>
                </a:solidFill>
              </a:rPr>
              <a:t>抽样脉冲序列</a:t>
            </a:r>
            <a:r>
              <a:rPr lang="en-US" altLang="zh-CN" sz="2800" b="1" dirty="0"/>
              <a:t>S</a:t>
            </a:r>
            <a:r>
              <a:rPr lang="en-US" altLang="zh-CN" sz="2800" b="1" dirty="0"/>
              <a:t>(t)</a:t>
            </a:r>
            <a:r>
              <a:rPr lang="zh-CN" altLang="en-US" sz="2800" b="1" dirty="0"/>
              <a:t>从连续信号</a:t>
            </a:r>
            <a:r>
              <a:rPr lang="en-US" altLang="zh-CN" sz="2800" b="1" dirty="0"/>
              <a:t>f(t)</a:t>
            </a:r>
            <a:r>
              <a:rPr lang="zh-CN" altLang="en-US" sz="2800" b="1" dirty="0"/>
              <a:t>中</a:t>
            </a: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800" b="1" dirty="0">
                <a:solidFill>
                  <a:srgbClr val="FF3300"/>
                </a:solidFill>
              </a:rPr>
              <a:t>抽取</a:t>
            </a: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dirty="0"/>
              <a:t>出一系列的</a:t>
            </a: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800" b="1" dirty="0">
                <a:solidFill>
                  <a:srgbClr val="FF3300"/>
                </a:solidFill>
              </a:rPr>
              <a:t>样本</a:t>
            </a: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dirty="0"/>
              <a:t>函数离散值，所得离散信号通常称为</a:t>
            </a: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800" b="1" dirty="0">
                <a:solidFill>
                  <a:srgbClr val="FF3300"/>
                </a:solidFill>
              </a:rPr>
              <a:t>抽样信号</a:t>
            </a:r>
            <a:r>
              <a:rPr lang="zh-CN" altLang="en-US" sz="2800" b="1" dirty="0">
                <a:solidFill>
                  <a:srgbClr val="FF3300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b="1" dirty="0"/>
              <a:t>。记为</a:t>
            </a:r>
            <a:r>
              <a:rPr lang="en-US" altLang="zh-CN" sz="2800" b="1" dirty="0"/>
              <a:t>f</a:t>
            </a:r>
            <a:r>
              <a:rPr lang="en-US" altLang="zh-CN" sz="2800" b="1" baseline="-25000" dirty="0"/>
              <a:t>S</a:t>
            </a:r>
            <a:r>
              <a:rPr lang="en-US" altLang="zh-CN" sz="2800" b="1" dirty="0"/>
              <a:t>(t)</a:t>
            </a:r>
            <a:r>
              <a:rPr lang="zh-CN" altLang="en-US" sz="2800" b="1" dirty="0"/>
              <a:t>如右图。</a:t>
            </a:r>
            <a:endParaRPr lang="zh-CN" altLang="en-US" sz="2800" b="1" dirty="0"/>
          </a:p>
        </p:txBody>
      </p:sp>
      <p:pic>
        <p:nvPicPr>
          <p:cNvPr id="563204" name="Picture 4" descr="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196975"/>
            <a:ext cx="3040063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>
          <a:xfrm>
            <a:off x="0" y="6538913"/>
            <a:ext cx="1985963" cy="319087"/>
          </a:xfrm>
        </p:spPr>
        <p:txBody>
          <a:bodyPr/>
          <a:lstStyle/>
          <a:p>
            <a:pPr algn="ctr">
              <a:defRPr/>
            </a:pPr>
            <a:fld id="{6FCD1AD1-3017-4593-933E-71A35759FA4D}" type="datetime1">
              <a:rPr lang="zh-CN" altLang="en-US" smtClean="0"/>
            </a:fld>
            <a:r>
              <a:rPr lang="zh-CN" altLang="en-US"/>
              <a:t>**</a:t>
            </a:r>
            <a:endParaRPr lang="zh-CN" altLang="en-US"/>
          </a:p>
        </p:txBody>
      </p:sp>
      <p:sp>
        <p:nvSpPr>
          <p:cNvPr id="47110" name="TextBox 5"/>
          <p:cNvSpPr txBox="1">
            <a:spLocks noChangeArrowheads="1"/>
          </p:cNvSpPr>
          <p:nvPr/>
        </p:nvSpPr>
        <p:spPr bwMode="auto">
          <a:xfrm>
            <a:off x="5995988" y="2878138"/>
            <a:ext cx="584200" cy="3003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pitchFamily="49" charset="-122"/>
              </a:rPr>
              <a:t>S(t)</a:t>
            </a:r>
            <a:endParaRPr lang="zh-CN" altLang="en-US" sz="1600" dirty="0">
              <a:latin typeface="黑体" panose="02010609060101010101" pitchFamily="49" charset="-122"/>
            </a:endParaRPr>
          </a:p>
        </p:txBody>
      </p:sp>
      <p:sp>
        <p:nvSpPr>
          <p:cNvPr id="2" name="墨迹 1"/>
          <p:cNvSpPr/>
          <p:nvPr/>
        </p:nvSpPr>
        <p:spPr bwMode="auto">
          <a:xfrm>
            <a:off x="6192000" y="2486160"/>
            <a:ext cx="872640" cy="38102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388"/>
    </mc:Choice>
    <mc:Fallback>
      <p:transition spd="slow" advTm="1153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6320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6320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320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63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3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63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63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63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6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3" grpId="0" animBg="1" build="p"/>
      <p:bldP spid="47110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4488" y="1106488"/>
            <a:ext cx="8799512" cy="5329237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一、取样信号</a:t>
            </a:r>
            <a:endParaRPr lang="zh-CN" altLang="en-US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信号的取样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800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开关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每隔时间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接通输入信号和接地各一次，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通时间是</a:t>
            </a:r>
            <a:r>
              <a:rPr lang="el-GR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τ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。取样器输出信号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(t)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就是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含有开关接通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时间内的输入信号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(t)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的一些小段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131" name="Object 2"/>
          <p:cNvGraphicFramePr>
            <a:graphicFrameLocks noChangeAspect="1"/>
          </p:cNvGraphicFramePr>
          <p:nvPr/>
        </p:nvGraphicFramePr>
        <p:xfrm>
          <a:off x="1692275" y="2205038"/>
          <a:ext cx="6121400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5" name="Image" r:id="rId1" imgW="7785100" imgH="3124200" progId="">
                  <p:embed/>
                </p:oleObj>
              </mc:Choice>
              <mc:Fallback>
                <p:oleObj name="Image" r:id="rId1" imgW="7785100" imgH="31242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205038"/>
                        <a:ext cx="6121400" cy="245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3381" name="Rectangle 5"/>
          <p:cNvSpPr>
            <a:spLocks noChangeArrowheads="1"/>
          </p:cNvSpPr>
          <p:nvPr/>
        </p:nvSpPr>
        <p:spPr bwMode="auto">
          <a:xfrm>
            <a:off x="611188" y="260350"/>
            <a:ext cx="4824412" cy="5762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§7.2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抽样信号与抽样定理 </a:t>
            </a:r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B0ADA23-D8E4-4025-B908-69E8ACCEADC0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2783520" y="272520"/>
            <a:ext cx="6234840" cy="39942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 advTm="46580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13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3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3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13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3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3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3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3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3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333375"/>
            <a:ext cx="7488238" cy="18732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>
                <a:solidFill>
                  <a:srgbClr val="FF0000"/>
                </a:solidFill>
              </a:rPr>
              <a:t>2. </a:t>
            </a:r>
            <a:r>
              <a:rPr lang="zh-CN" altLang="en-US" b="1">
                <a:solidFill>
                  <a:srgbClr val="FF0000"/>
                </a:solidFill>
              </a:rPr>
              <a:t>取样信号与原信号</a:t>
            </a:r>
            <a:endParaRPr lang="zh-CN" altLang="en-US" b="1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zh-CN" altLang="en-US" b="1"/>
              <a:t>       </a:t>
            </a:r>
            <a:endParaRPr lang="zh-CN" altLang="en-US" b="1"/>
          </a:p>
        </p:txBody>
      </p:sp>
      <p:graphicFrame>
        <p:nvGraphicFramePr>
          <p:cNvPr id="49155" name="Object 2"/>
          <p:cNvGraphicFramePr>
            <a:graphicFrameLocks noChangeAspect="1"/>
          </p:cNvGraphicFramePr>
          <p:nvPr/>
        </p:nvGraphicFramePr>
        <p:xfrm>
          <a:off x="1547813" y="1196975"/>
          <a:ext cx="5759450" cy="271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1" name="Image" r:id="rId1" imgW="5842000" imgH="2755900" progId="">
                  <p:embed/>
                </p:oleObj>
              </mc:Choice>
              <mc:Fallback>
                <p:oleObj name="Image" r:id="rId1" imgW="5842000" imgH="27559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196975"/>
                        <a:ext cx="5759450" cy="271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14405" name="Object 3"/>
              <p:cNvSpPr txBox="1"/>
              <p:nvPr/>
            </p:nvSpPr>
            <p:spPr bwMode="auto">
              <a:xfrm>
                <a:off x="2555875" y="5300663"/>
                <a:ext cx="2663825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440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5" y="5300663"/>
                <a:ext cx="2663825" cy="622300"/>
              </a:xfrm>
              <a:prstGeom prst="rect">
                <a:avLst/>
              </a:prstGeom>
              <a:blipFill rotWithShape="1">
                <a:blip r:embed="rId3"/>
                <a:stretch>
                  <a:fillRect t="-51" b="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407" name="Rectangle 7"/>
          <p:cNvSpPr>
            <a:spLocks noChangeArrowheads="1"/>
          </p:cNvSpPr>
          <p:nvPr/>
        </p:nvSpPr>
        <p:spPr bwMode="auto">
          <a:xfrm>
            <a:off x="1158875" y="3901285"/>
            <a:ext cx="6681788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49" charset="-122"/>
              </a:rPr>
              <a:t>    取样的过程可以用由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</a:rPr>
              <a:t>原信号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</a:rPr>
              <a:t>f(t)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</a:rPr>
              <a:t>与开关取样脉冲函数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</a:rPr>
              <a:t>S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</a:rPr>
              <a:t>(t)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</a:rPr>
              <a:t>相乘</a:t>
            </a:r>
            <a:r>
              <a:rPr lang="zh-CN" altLang="en-US" sz="2400" dirty="0">
                <a:latin typeface="黑体" panose="02010609060101010101" pitchFamily="49" charset="-122"/>
              </a:rPr>
              <a:t>的数学模型表示。</a:t>
            </a:r>
            <a:endParaRPr lang="zh-CN" altLang="en-US" sz="2400" dirty="0">
              <a:latin typeface="黑体" panose="02010609060101010101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898BCF0-FD83-4464-A08F-0DFF2D5288D1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2703240" y="4307040"/>
            <a:ext cx="3255840" cy="16462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 spd="med" advTm="2936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5" grpId="0"/>
      <p:bldP spid="61440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27087" y="2276475"/>
            <a:ext cx="7702057" cy="1036637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zh-CN" altLang="en-US" sz="2400" b="1" dirty="0">
                <a:solidFill>
                  <a:srgbClr val="FF3300"/>
                </a:solidFill>
                <a:latin typeface="+mj-ea"/>
                <a:ea typeface="+mj-ea"/>
              </a:rPr>
              <a:t>开关取样脉冲函数：</a:t>
            </a:r>
            <a:r>
              <a:rPr lang="zh-CN" altLang="en-US" sz="2400" b="1" dirty="0">
                <a:latin typeface="+mj-ea"/>
                <a:ea typeface="+mj-ea"/>
              </a:rPr>
              <a:t>是每个矩形脉冲的幅度为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，宽度</a:t>
            </a:r>
            <a:endParaRPr lang="zh-CN" altLang="en-US" sz="2400" b="1" dirty="0">
              <a:latin typeface="+mj-ea"/>
              <a:ea typeface="+mj-ea"/>
            </a:endParaRPr>
          </a:p>
          <a:p>
            <a:pPr>
              <a:buFontTx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                  为</a:t>
            </a:r>
            <a:r>
              <a:rPr lang="el-GR" altLang="zh-CN" sz="2400" b="1" i="1" dirty="0">
                <a:latin typeface="+mj-ea"/>
                <a:ea typeface="+mj-ea"/>
              </a:rPr>
              <a:t>τ</a:t>
            </a:r>
            <a:r>
              <a:rPr lang="zh-CN" altLang="en-US" sz="2400" b="1" dirty="0">
                <a:latin typeface="+mj-ea"/>
                <a:ea typeface="+mj-ea"/>
              </a:rPr>
              <a:t>的一个周期性门函数。</a:t>
            </a:r>
            <a:endParaRPr lang="zh-CN" altLang="en-US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5429" name="Object 2"/>
              <p:cNvSpPr txBox="1"/>
              <p:nvPr/>
            </p:nvSpPr>
            <p:spPr bwMode="auto">
              <a:xfrm>
                <a:off x="2268538" y="4581525"/>
                <a:ext cx="3281362" cy="10144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1542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4581525"/>
                <a:ext cx="3281362" cy="1014413"/>
              </a:xfrm>
              <a:prstGeom prst="rect">
                <a:avLst/>
              </a:prstGeom>
              <a:blipFill rotWithShape="1">
                <a:blip r:embed="rId1"/>
                <a:stretch>
                  <a:fillRect l="-10" t="-3756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430" name="Rectangle 6"/>
          <p:cNvSpPr>
            <a:spLocks noChangeArrowheads="1"/>
          </p:cNvSpPr>
          <p:nvPr/>
        </p:nvSpPr>
        <p:spPr bwMode="auto">
          <a:xfrm>
            <a:off x="943578" y="3789363"/>
            <a:ext cx="1800225" cy="314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+mj-ea"/>
                <a:ea typeface="+mj-ea"/>
              </a:rPr>
              <a:t>当</a:t>
            </a:r>
            <a:r>
              <a:rPr lang="el-GR" altLang="zh-CN" sz="2400" i="1" dirty="0">
                <a:latin typeface="+mj-ea"/>
                <a:ea typeface="+mj-ea"/>
              </a:rPr>
              <a:t>τ</a:t>
            </a:r>
            <a:r>
              <a:rPr lang="zh-CN" altLang="el-GR" sz="2400" dirty="0">
                <a:latin typeface="+mj-ea"/>
                <a:ea typeface="+mj-ea"/>
              </a:rPr>
              <a:t>很小时</a:t>
            </a:r>
            <a:endParaRPr lang="zh-CN" altLang="en-US" sz="2400" dirty="0">
              <a:latin typeface="+mj-ea"/>
              <a:ea typeface="+mj-ea"/>
            </a:endParaRPr>
          </a:p>
        </p:txBody>
      </p:sp>
      <p:pic>
        <p:nvPicPr>
          <p:cNvPr id="6154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0"/>
            <a:ext cx="3240087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789363"/>
            <a:ext cx="2592388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5433" name="Object 3"/>
              <p:cNvSpPr txBox="1"/>
              <p:nvPr/>
            </p:nvSpPr>
            <p:spPr bwMode="auto">
              <a:xfrm>
                <a:off x="1258888" y="4868863"/>
                <a:ext cx="925512" cy="4778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543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888" y="4868863"/>
                <a:ext cx="925512" cy="477837"/>
              </a:xfrm>
              <a:prstGeom prst="rect">
                <a:avLst/>
              </a:prstGeom>
              <a:blipFill rotWithShape="1">
                <a:blip r:embed="rId4"/>
                <a:stretch>
                  <a:fillRect l="-34" t="-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A662F6C-89D8-43D2-97B9-5DD4E6547DF4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1308960" y="650520"/>
            <a:ext cx="6680520" cy="46915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 spd="med" advTm="5570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15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15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5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5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15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5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5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15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15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15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1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15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15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1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26" grpId="0" build="p"/>
      <p:bldP spid="615429" grpId="0"/>
      <p:bldP spid="615430" grpId="0"/>
      <p:bldP spid="61543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11187" y="715898"/>
            <a:ext cx="2929681" cy="6477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当</a:t>
            </a:r>
            <a:r>
              <a:rPr lang="el-GR" altLang="zh-CN" sz="2400" b="1" i="1" dirty="0">
                <a:latin typeface="+mj-ea"/>
                <a:ea typeface="+mj-ea"/>
              </a:rPr>
              <a:t>τ</a:t>
            </a:r>
            <a:r>
              <a:rPr lang="zh-CN" altLang="en-US" sz="2400" b="1" dirty="0">
                <a:latin typeface="+mj-ea"/>
                <a:ea typeface="+mj-ea"/>
              </a:rPr>
              <a:t>无限趋小</a:t>
            </a:r>
            <a:r>
              <a:rPr lang="zh-CN" altLang="el-GR" sz="2400" b="1" dirty="0">
                <a:latin typeface="+mj-ea"/>
                <a:ea typeface="+mj-ea"/>
              </a:rPr>
              <a:t>时，</a:t>
            </a:r>
            <a:r>
              <a:rPr lang="zh-CN" altLang="en-US" sz="2400" b="1" i="1" dirty="0">
                <a:latin typeface="+mj-ea"/>
                <a:ea typeface="+mj-ea"/>
              </a:rPr>
              <a:t>  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620553" name="Text Box 9"/>
          <p:cNvSpPr txBox="1">
            <a:spLocks noChangeArrowheads="1"/>
          </p:cNvSpPr>
          <p:nvPr/>
        </p:nvSpPr>
        <p:spPr bwMode="auto">
          <a:xfrm>
            <a:off x="6372225" y="2637381"/>
            <a:ext cx="2241003" cy="4062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latin typeface="+mj-ea"/>
                <a:ea typeface="+mj-ea"/>
              </a:rPr>
              <a:t>抽样序列信号</a:t>
            </a:r>
            <a:endParaRPr kumimoji="1" lang="zh-CN" altLang="en-US" sz="2400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0555" name="Object 2"/>
              <p:cNvSpPr txBox="1"/>
              <p:nvPr/>
            </p:nvSpPr>
            <p:spPr bwMode="auto">
              <a:xfrm>
                <a:off x="3325611" y="506080"/>
                <a:ext cx="4535487" cy="882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2055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5611" y="506080"/>
                <a:ext cx="4535487" cy="882650"/>
              </a:xfrm>
              <a:prstGeom prst="rect">
                <a:avLst/>
              </a:prstGeom>
              <a:blipFill rotWithShape="1">
                <a:blip r:embed="rId1"/>
                <a:stretch>
                  <a:fillRect l="-3" t="-3380" r="10" b="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0556" name="Object 3"/>
              <p:cNvSpPr txBox="1"/>
              <p:nvPr/>
            </p:nvSpPr>
            <p:spPr bwMode="auto">
              <a:xfrm>
                <a:off x="415120" y="1424558"/>
                <a:ext cx="8585222" cy="8957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zh-CN" alt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抽样序列</m:t>
                      </m:r>
                      <m:r>
                        <a:rPr lang="zh-CN" alt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信号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代表的是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=⋯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等处的函数值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的离散点。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2055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120" y="1424558"/>
                <a:ext cx="8585222" cy="895783"/>
              </a:xfrm>
              <a:prstGeom prst="rect">
                <a:avLst/>
              </a:prstGeom>
              <a:blipFill rotWithShape="1">
                <a:blip r:embed="rId2"/>
                <a:stretch>
                  <a:fillRect l="-57" t="-595" r="-349" b="-3326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0558" name="Object 5"/>
              <p:cNvSpPr txBox="1"/>
              <p:nvPr/>
            </p:nvSpPr>
            <p:spPr bwMode="auto">
              <a:xfrm>
                <a:off x="728980" y="2636838"/>
                <a:ext cx="4537075" cy="620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055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980" y="2636838"/>
                <a:ext cx="4537075" cy="620712"/>
              </a:xfrm>
              <a:prstGeom prst="rect">
                <a:avLst/>
              </a:prstGeom>
              <a:blipFill rotWithShape="1">
                <a:blip r:embed="rId3"/>
                <a:stretch>
                  <a:fillRect t="-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0559" name="Object 6"/>
              <p:cNvSpPr txBox="1"/>
              <p:nvPr/>
            </p:nvSpPr>
            <p:spPr bwMode="auto">
              <a:xfrm>
                <a:off x="843368" y="5070744"/>
                <a:ext cx="8067675" cy="504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、S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分别是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和S(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的频谱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055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68" y="5070744"/>
                <a:ext cx="8067675" cy="504825"/>
              </a:xfrm>
              <a:prstGeom prst="rect">
                <a:avLst/>
              </a:prstGeom>
              <a:blipFill rotWithShape="1">
                <a:blip r:embed="rId4"/>
                <a:stretch>
                  <a:fillRect l="-1" t="-53" r="1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4262FA9-D4E9-4800-A69C-023804F0DFD3}" type="datetime1">
              <a:rPr lang="zh-CN" altLang="en-US"/>
            </a:fld>
            <a:endParaRPr lang="en-US" altLang="zh-CN"/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6167120" y="3717925"/>
            <a:ext cx="2976880" cy="4044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latin typeface="+mj-ea"/>
                <a:ea typeface="+mj-ea"/>
              </a:rPr>
              <a:t>抽样序列信号</a:t>
            </a:r>
            <a:r>
              <a:rPr kumimoji="1" lang="zh-CN" altLang="en-US" sz="2400" dirty="0">
                <a:latin typeface="+mj-ea"/>
                <a:ea typeface="+mj-ea"/>
              </a:rPr>
              <a:t>的频谱</a:t>
            </a:r>
            <a:endParaRPr kumimoji="1" lang="zh-CN" altLang="en-US" sz="2400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4"/>
              <p:cNvSpPr txBox="1"/>
              <p:nvPr/>
            </p:nvSpPr>
            <p:spPr bwMode="auto">
              <a:xfrm>
                <a:off x="980440" y="3574415"/>
                <a:ext cx="1489075" cy="557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0440" y="3574415"/>
                <a:ext cx="1489075" cy="557213"/>
              </a:xfrm>
              <a:prstGeom prst="rect">
                <a:avLst/>
              </a:prstGeom>
              <a:blipFill rotWithShape="1">
                <a:blip r:embed="rId5"/>
                <a:stretch>
                  <a:fillRect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7"/>
              <p:cNvSpPr txBox="1"/>
              <p:nvPr/>
            </p:nvSpPr>
            <p:spPr bwMode="auto">
              <a:xfrm>
                <a:off x="2707640" y="3429000"/>
                <a:ext cx="3008313" cy="960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7640" y="3429000"/>
                <a:ext cx="3008313" cy="960438"/>
              </a:xfrm>
              <a:prstGeom prst="rect">
                <a:avLst/>
              </a:prstGeom>
              <a:blipFill rotWithShape="1">
                <a:blip r:embed="rId6"/>
                <a:stretch>
                  <a:fillRect r="11" b="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458586" y="33004"/>
            <a:ext cx="28670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2400" b="1" kern="0">
                <a:solidFill>
                  <a:srgbClr val="FF3300"/>
                </a:solidFill>
                <a:latin typeface="+mj-ea"/>
                <a:ea typeface="+mj-ea"/>
              </a:rPr>
              <a:t>3. </a:t>
            </a:r>
            <a:r>
              <a:rPr lang="zh-CN" altLang="en-US" sz="2400" b="1" kern="0">
                <a:solidFill>
                  <a:srgbClr val="FF3300"/>
                </a:solidFill>
                <a:latin typeface="+mj-ea"/>
                <a:ea typeface="+mj-ea"/>
              </a:rPr>
              <a:t>理想取样信号</a:t>
            </a:r>
            <a:r>
              <a:rPr lang="zh-CN" altLang="en-US" sz="2400" b="1" i="1" kern="0">
                <a:solidFill>
                  <a:srgbClr val="FF3300"/>
                </a:solidFill>
                <a:latin typeface="+mj-ea"/>
                <a:ea typeface="+mj-ea"/>
              </a:rPr>
              <a:t>       </a:t>
            </a:r>
            <a:endParaRPr lang="zh-CN" altLang="en-US" sz="2400" b="1" kern="0" dirty="0">
              <a:solidFill>
                <a:srgbClr val="FF3300"/>
              </a:solidFill>
              <a:latin typeface="+mj-ea"/>
              <a:ea typeface="+mj-ea"/>
            </a:endParaRPr>
          </a:p>
        </p:txBody>
      </p:sp>
      <p:sp>
        <p:nvSpPr>
          <p:cNvPr id="8" name="墨迹 7"/>
          <p:cNvSpPr/>
          <p:nvPr/>
        </p:nvSpPr>
        <p:spPr bwMode="auto">
          <a:xfrm>
            <a:off x="503280" y="1166760"/>
            <a:ext cx="7392960" cy="55990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 spd="med" advTm="17782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0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20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553" grpId="0" bldLvl="0" animBg="1"/>
      <p:bldP spid="620556" grpId="0" bldLvl="0" animBg="1"/>
      <p:bldP spid="620558" grpId="0" bldLvl="0" animBg="1"/>
      <p:bldP spid="620559" grpId="0"/>
      <p:bldP spid="18" grpId="0" bldLvl="0" animBg="1"/>
      <p:bldP spid="19" grpId="0" bldLvl="0" animBg="1"/>
      <p:bldP spid="20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Object 2"/>
          <p:cNvSpPr txBox="1"/>
          <p:nvPr/>
        </p:nvSpPr>
        <p:spPr bwMode="auto">
          <a:xfrm>
            <a:off x="1933575" y="4044950"/>
            <a:ext cx="236538" cy="446088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1577" name="Object 4"/>
              <p:cNvSpPr txBox="1"/>
              <p:nvPr/>
            </p:nvSpPr>
            <p:spPr bwMode="auto">
              <a:xfrm>
                <a:off x="676910" y="820420"/>
                <a:ext cx="8339455" cy="6087745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</a:ln>
              <a:effectLst/>
            </p:spPr>
            <p:txBody>
              <a:bodyPr>
                <a:normAutofit fontScale="925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于S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周期信号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可以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表示为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傅里叶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级数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2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sz="22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s.Luce" panose="00000400000000000000" charset="0"/>
                        <a:cs typeface="Cambria Math" panose="02040503050406030204" pitchFamily="18" charset="0"/>
                      </a:rPr>
                      <m:t>  </m:t>
                    </m:r>
                    <m:r>
                      <a:rPr lang="en-US" altLang="zh-CN" sz="2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s.Luce" panose="00000400000000000000" charset="0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s.Luce" panose="00000400000000000000" charset="0"/>
                            <a:cs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s.Luce" panose="00000400000000000000" charset="0"/>
                            <a:cs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en-US" altLang="zh-CN" sz="22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20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22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2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2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s.Luce" panose="00000400000000000000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2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s.Luce" panose="00000400000000000000" charset="0"/>
                                <a:cs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US" altLang="zh-CN" sz="22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2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s.Luce" panose="00000400000000000000" charset="0"/>
                                <a:cs typeface="Cambria Math" panose="02040503050406030204" pitchFamily="18" charset="0"/>
                              </a:rPr>
                              <m:t>ɷS</m:t>
                            </m:r>
                            <m:r>
                              <a:rPr lang="en-US" altLang="zh-CN" sz="22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  <m:r>
                      <a:rPr lang="zh-CN" altLang="en-US" sz="2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ɷS=</m:t>
                    </m:r>
                    <m:f>
                      <m:fPr>
                        <m:ctrlP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, 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altLang="zh-CN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num>
                      <m:den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00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endParaRPr lang="en-US" altLang="zh-CN" dirty="0">
                  <a:solidFill>
                    <a:srgbClr val="000000"/>
                  </a:solidFill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其傅里叶变换为：</a:t>
                </a:r>
                <a:endParaRPr lang="en-US" altLang="zh-CN" dirty="0">
                  <a:solidFill>
                    <a:srgbClr val="000000"/>
                  </a:solidFill>
                </a:endParaRPr>
              </a:p>
              <a:p>
                <a:r>
                  <a:rPr lang="en-US" altLang="zh-CN" b="1" dirty="0">
                    <a:solidFill>
                      <a:srgbClr val="000000"/>
                    </a:solidFill>
                  </a:rPr>
                  <a:t>           </a:t>
                </a:r>
                <a:r>
                  <a:rPr lang="en-US" altLang="zh-CN" sz="2600" b="1" dirty="0">
                    <a:solidFill>
                      <a:srgbClr val="000000"/>
                    </a:solidFill>
                  </a:rPr>
                  <a:t>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2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sz="2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zh-CN" sz="22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en-US" altLang="zh-CN" sz="2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22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2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2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𝐹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ⅇ</m:t>
                                </m:r>
                              </m:e>
                              <m:sup>
                                <m:r>
                                  <a:rPr lang="en-US" altLang="zh-CN" sz="2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26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ɷS</m:t>
                                </m:r>
                                <m:r>
                                  <a:rPr lang="en-US" altLang="zh-CN" sz="2200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altLang="zh-CN" sz="8000" b="1" dirty="0">
                  <a:solidFill>
                    <a:srgbClr val="000000"/>
                  </a:solidFill>
                </a:endParaRPr>
              </a:p>
              <a:p>
                <a:endParaRPr lang="en-US" altLang="zh-CN" sz="1800" b="1" dirty="0">
                  <a:solidFill>
                    <a:srgbClr val="000000"/>
                  </a:solidFill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因为</a:t>
                </a:r>
                <a14:m>
                  <m:oMath xmlns:m="http://schemas.openxmlformats.org/officeDocument/2006/math"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l-GR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(t) 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groupChr>
                      <m:groupChrPr>
                        <m:chr m:val="↔"/>
                        <m:vertJc m:val="bot"/>
                        <m:ctrlP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groupChr>
                  </m:oMath>
                </a14:m>
                <a:r>
                  <a:rPr lang="el-GR" altLang="zh-CN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zh-CN" altLang="en-US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zh-CN" altLang="en-US" b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grow m:val="on"/>
                        <m:limLoc m:val="subSup"/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nary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1200"/>
                  </a:spcBef>
                </a:pPr>
                <a:r>
                  <a:rPr lang="en-US" altLang="zh-CN" dirty="0">
                    <a:solidFill>
                      <a:srgbClr val="000000"/>
                    </a:solidFill>
                  </a:rPr>
                  <a:t>    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limLoc m:val="subSup"/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nary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𝜋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zh-CN" altLang="en-US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所以：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𝑗𝑛</m:t>
                            </m:r>
                            <m: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ɷS</m:t>
                            </m:r>
                            <m: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zh-CN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limLoc m:val="subSup"/>
                        <m:ctrlP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ɷS</m:t>
                            </m:r>
                            <m: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US" altLang="zh-CN" sz="2400" i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nary>
                    <m:r>
                      <a:rPr lang="en-US" altLang="zh-CN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𝜋𝛿</m:t>
                    </m:r>
                    <m:d>
                      <m:dPr>
                        <m:ctrlP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40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ɷS</m:t>
                        </m:r>
                      </m:e>
                    </m:d>
                  </m:oMath>
                </a14:m>
                <a:endPara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</a:rPr>
                  <a:t>    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CN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f>
                          <m:f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b="1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ɷS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         =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ɷS</m:t>
                            </m:r>
                          </m:e>
                        </m:d>
                      </m:e>
                    </m:nary>
                  </m:oMath>
                </a14:m>
                <a:endParaRPr lang="en-US" altLang="zh-CN" baseline="-25000" dirty="0">
                  <a:solidFill>
                    <a:srgbClr val="000000"/>
                  </a:solidFill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         =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ɷS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aseline="-560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2157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910" y="820420"/>
                <a:ext cx="8339455" cy="60877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2857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日期占位符 14"/>
          <p:cNvSpPr>
            <a:spLocks noGrp="1"/>
          </p:cNvSpPr>
          <p:nvPr>
            <p:ph type="dt" sz="quarter" idx="10"/>
          </p:nvPr>
        </p:nvSpPr>
        <p:spPr>
          <a:xfrm>
            <a:off x="0" y="6617018"/>
            <a:ext cx="1190625" cy="369887"/>
          </a:xfrm>
        </p:spPr>
        <p:txBody>
          <a:bodyPr/>
          <a:lstStyle/>
          <a:p>
            <a:pPr>
              <a:defRPr/>
            </a:pPr>
            <a:fld id="{C7C5F352-E7F4-4994-B6C4-3ADC6C3DE444}" type="datetime1">
              <a:rPr lang="zh-CN" altLang="en-US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Object 2"/>
              <p:cNvSpPr txBox="1"/>
              <p:nvPr/>
            </p:nvSpPr>
            <p:spPr bwMode="auto">
              <a:xfrm>
                <a:off x="1525994" y="65771"/>
                <a:ext cx="4535487" cy="882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5994" y="65771"/>
                <a:ext cx="4535487" cy="882650"/>
              </a:xfrm>
              <a:prstGeom prst="rect">
                <a:avLst/>
              </a:prstGeom>
              <a:blipFill rotWithShape="1">
                <a:blip r:embed="rId2"/>
                <a:stretch>
                  <a:fillRect l="-2" t="-3351" r="9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1613" name="墨迹 621612"/>
          <p:cNvSpPr/>
          <p:nvPr/>
        </p:nvSpPr>
        <p:spPr bwMode="auto">
          <a:xfrm>
            <a:off x="1305720" y="259920"/>
            <a:ext cx="7711560" cy="620136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 advTm="41719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6216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Object 2"/>
          <p:cNvSpPr txBox="1"/>
          <p:nvPr/>
        </p:nvSpPr>
        <p:spPr bwMode="auto">
          <a:xfrm>
            <a:off x="1933575" y="4044950"/>
            <a:ext cx="236538" cy="446088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1575" name="Rectangle 7"/>
              <p:cNvSpPr>
                <a:spLocks noChangeArrowheads="1"/>
              </p:cNvSpPr>
              <p:nvPr/>
            </p:nvSpPr>
            <p:spPr bwMode="auto">
              <a:xfrm>
                <a:off x="633615" y="5471239"/>
                <a:ext cx="8310967" cy="923132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zh-CN" altLang="en-US" sz="3200" dirty="0">
                    <a:latin typeface="+mj-ea"/>
                    <a:ea typeface="+mj-ea"/>
                  </a:rPr>
                  <a:t>   可见，抽样得到的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+mj-ea"/>
                    <a:ea typeface="+mj-ea"/>
                  </a:rPr>
                  <a:t>离散信号的频谱</a:t>
                </a:r>
                <a:r>
                  <a:rPr lang="zh-CN" altLang="en-US" sz="3200" dirty="0">
                    <a:latin typeface="+mj-ea"/>
                    <a:ea typeface="+mj-ea"/>
                  </a:rPr>
                  <a:t>是原连续信号频谱的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+mj-ea"/>
                    <a:ea typeface="+mj-ea"/>
                  </a:rPr>
                  <a:t>周期拓展</a:t>
                </a:r>
                <a:r>
                  <a:rPr lang="zh-CN" altLang="en-US" sz="3200" dirty="0">
                    <a:latin typeface="+mj-ea"/>
                    <a:ea typeface="+mj-ea"/>
                  </a:rPr>
                  <a:t>，频谱的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+mj-ea"/>
                    <a:ea typeface="+mj-ea"/>
                  </a:rPr>
                  <a:t>周期为</a:t>
                </a:r>
                <a14:m>
                  <m:oMath xmlns:m="http://schemas.openxmlformats.org/officeDocument/2006/math">
                    <m:r>
                      <a:rPr lang="en-US" altLang="zh-CN" sz="4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ɷS</m:t>
                    </m:r>
                  </m:oMath>
                </a14:m>
                <a:r>
                  <a:rPr lang="zh-CN" altLang="en-US" sz="3200" dirty="0">
                    <a:latin typeface="+mj-ea"/>
                    <a:ea typeface="+mj-ea"/>
                  </a:rPr>
                  <a:t>。</a:t>
                </a:r>
                <a:endParaRPr lang="zh-CN" altLang="en-US" sz="3200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62157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15" y="5471239"/>
                <a:ext cx="8310967" cy="923132"/>
              </a:xfrm>
              <a:prstGeom prst="rect">
                <a:avLst/>
              </a:prstGeom>
              <a:blipFill rotWithShape="1">
                <a:blip r:embed="rId1"/>
                <a:stretch>
                  <a:fillRect l="-6" t="-9" r="7" b="-592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229" name="Object 3"/>
              <p:cNvSpPr txBox="1"/>
              <p:nvPr/>
            </p:nvSpPr>
            <p:spPr bwMode="auto">
              <a:xfrm>
                <a:off x="4070350" y="159385"/>
                <a:ext cx="4464050" cy="4368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222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0350" y="159385"/>
                <a:ext cx="4464050" cy="4368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580" name="Object 5"/>
              <p:cNvSpPr txBox="1"/>
              <p:nvPr/>
            </p:nvSpPr>
            <p:spPr bwMode="auto">
              <a:xfrm>
                <a:off x="1254868" y="578965"/>
                <a:ext cx="4913583" cy="7286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所以</m:t>
                          </m:r>
                          <m:r>
                            <a:rPr lang="zh-CN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：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/>
                      </m:sSub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62158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4868" y="578965"/>
                <a:ext cx="4913583" cy="728663"/>
              </a:xfrm>
              <a:prstGeom prst="rect">
                <a:avLst/>
              </a:prstGeom>
              <a:blipFill rotWithShape="1">
                <a:blip r:embed="rId3"/>
                <a:stretch>
                  <a:fillRect l="-2" t="-1112" r="1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582" name="Object 7"/>
              <p:cNvSpPr txBox="1"/>
              <p:nvPr/>
            </p:nvSpPr>
            <p:spPr bwMode="auto">
              <a:xfrm>
                <a:off x="2051844" y="2955382"/>
                <a:ext cx="5781978" cy="1209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ɷS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nary>
                        <m:naryPr>
                          <m:chr m:val="∑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ɷS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000" dirty="0"/>
              </a:p>
            </p:txBody>
          </p:sp>
        </mc:Choice>
        <mc:Fallback>
          <p:sp>
            <p:nvSpPr>
              <p:cNvPr id="62158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844" y="2955382"/>
                <a:ext cx="5781978" cy="1209675"/>
              </a:xfrm>
              <a:prstGeom prst="rect">
                <a:avLst/>
              </a:prstGeom>
              <a:blipFill rotWithShape="1">
                <a:blip r:embed="rId4"/>
                <a:stretch>
                  <a:fillRect l="-3" t="-8" r="8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583" name="Object 8"/>
              <p:cNvSpPr txBox="1"/>
              <p:nvPr/>
            </p:nvSpPr>
            <p:spPr bwMode="auto">
              <a:xfrm>
                <a:off x="1444591" y="4436527"/>
                <a:ext cx="4576829" cy="10112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所以：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ɷS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2158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4591" y="4436527"/>
                <a:ext cx="4576829" cy="1011256"/>
              </a:xfrm>
              <a:prstGeom prst="rect">
                <a:avLst/>
              </a:prstGeom>
              <a:blipFill rotWithShape="1">
                <a:blip r:embed="rId5"/>
                <a:stretch>
                  <a:fillRect l="-13" t="-3809" r="8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588" name="Object 10"/>
              <p:cNvSpPr txBox="1"/>
              <p:nvPr/>
            </p:nvSpPr>
            <p:spPr bwMode="auto">
              <a:xfrm>
                <a:off x="881248" y="2073282"/>
                <a:ext cx="7692654" cy="11235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所以：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)∗ɷS</m:t>
                      </m:r>
                      <m:nary>
                        <m:naryPr>
                          <m:chr m:val="∑"/>
                          <m:grow m:val="on"/>
                          <m:limLoc m:val="undOvr"/>
                          <m:ctrlPr>
                            <a:rPr lang="en-US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  <m:aln/>
                            </m:rPr>
                            <a:rPr lang="en-US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ɷS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62158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1248" y="2073282"/>
                <a:ext cx="7692654" cy="1123543"/>
              </a:xfrm>
              <a:prstGeom prst="rect">
                <a:avLst/>
              </a:prstGeom>
              <a:blipFill rotWithShape="1">
                <a:blip r:embed="rId6"/>
                <a:stretch>
                  <a:fillRect l="-7" t="-1" r="2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日期占位符 1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7C5F352-E7F4-4994-B6C4-3ADC6C3DE444}" type="datetime1">
              <a:rPr lang="zh-CN" altLang="en-US"/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95288" y="134292"/>
            <a:ext cx="3589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+mj-ea"/>
                <a:ea typeface="+mj-ea"/>
              </a:rPr>
              <a:t>依据</a:t>
            </a:r>
            <a:r>
              <a:rPr lang="en-US" altLang="zh-CN" sz="2400" dirty="0">
                <a:solidFill>
                  <a:srgbClr val="FF3300"/>
                </a:solidFill>
                <a:latin typeface="+mj-ea"/>
                <a:ea typeface="+mj-ea"/>
              </a:rPr>
              <a:t>FT</a:t>
            </a:r>
            <a:r>
              <a:rPr lang="zh-CN" altLang="en-US" sz="2400" dirty="0">
                <a:solidFill>
                  <a:srgbClr val="FF3300"/>
                </a:solidFill>
                <a:latin typeface="+mj-ea"/>
                <a:ea typeface="+mj-ea"/>
              </a:rPr>
              <a:t>的频域卷积定理：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805167" y="1319353"/>
                <a:ext cx="8139416" cy="6178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而：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=ɷS</m:t>
                    </m:r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CN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ɷS</m:t>
                            </m:r>
                          </m:e>
                        </m:d>
                      </m:e>
                    </m:nary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ɷS=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7" y="1319353"/>
                <a:ext cx="8139416" cy="617855"/>
              </a:xfrm>
              <a:prstGeom prst="rect">
                <a:avLst/>
              </a:prstGeom>
              <a:blipFill rotWithShape="1">
                <a:blip r:embed="rId7"/>
                <a:stretch>
                  <a:fillRect l="-8" t="-74" r="7" b="-15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633616" y="4012962"/>
            <a:ext cx="3281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利用冲激信号卷积不变性：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13" name="墨迹 12"/>
          <p:cNvSpPr/>
          <p:nvPr/>
        </p:nvSpPr>
        <p:spPr bwMode="auto">
          <a:xfrm>
            <a:off x="1544760" y="596220"/>
            <a:ext cx="6809040" cy="46036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8"/>
    </p:custDataLst>
  </p:cSld>
  <p:clrMapOvr>
    <a:masterClrMapping/>
  </p:clrMapOvr>
  <p:transition spd="med" advTm="22722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215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21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1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2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21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21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2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5" grpId="0" animBg="1"/>
      <p:bldP spid="621580" grpId="0"/>
      <p:bldP spid="621582" grpId="0"/>
      <p:bldP spid="621583" grpId="0"/>
      <p:bldP spid="621588" grpId="0"/>
      <p:bldP spid="4" grpId="0"/>
      <p:bldP spid="5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5648C71-9A27-4FDA-90F6-B64DBC5A4D44}" type="datetime1">
              <a:rPr lang="zh-CN" altLang="en-US"/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2" y="316897"/>
            <a:ext cx="2466993" cy="17222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9904" y="573607"/>
            <a:ext cx="1282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连续信号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60" y="2399918"/>
            <a:ext cx="2309829" cy="14186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6652" y="1999808"/>
            <a:ext cx="184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取样脉冲信号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9904" y="3839365"/>
            <a:ext cx="2477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相乘得到离散信号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04" y="4212971"/>
            <a:ext cx="3224236" cy="17222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9191" y="52549"/>
            <a:ext cx="2711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时间域的信号采样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70736" y="52549"/>
            <a:ext cx="2711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信号的频谱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237" y="452660"/>
            <a:ext cx="2152666" cy="153910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377138" y="573607"/>
            <a:ext cx="2152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0000FF"/>
                </a:solidFill>
              </a:rPr>
              <a:t>连续信号的频谱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736" y="1993509"/>
            <a:ext cx="2838471" cy="16907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224738" y="1833880"/>
            <a:ext cx="2152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0000FF"/>
                </a:solidFill>
              </a:rPr>
              <a:t>取样脉冲的频谱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773" y="4145436"/>
            <a:ext cx="2424130" cy="20431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3251" name="Object 3"/>
              <p:cNvSpPr txBox="1"/>
              <p:nvPr/>
            </p:nvSpPr>
            <p:spPr bwMode="auto">
              <a:xfrm>
                <a:off x="7365425" y="4783958"/>
                <a:ext cx="2087563" cy="574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5325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65425" y="4783958"/>
                <a:ext cx="2087563" cy="574675"/>
              </a:xfrm>
              <a:prstGeom prst="rect">
                <a:avLst/>
              </a:prstGeom>
              <a:blipFill rotWithShape="1">
                <a:blip r:embed="rId7"/>
                <a:stretch>
                  <a:fillRect l="-3" t="-88" r="18" b="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3891592" y="3818598"/>
            <a:ext cx="3224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0000FF"/>
                </a:solidFill>
              </a:rPr>
              <a:t>卷积得到离散信号的频谱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18" name="墨迹 17"/>
          <p:cNvSpPr/>
          <p:nvPr/>
        </p:nvSpPr>
        <p:spPr bwMode="auto">
          <a:xfrm>
            <a:off x="2253240" y="770400"/>
            <a:ext cx="5330160" cy="5517360"/>
          </a:xfr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396652" y="5985823"/>
                <a:ext cx="8310967" cy="923132"/>
              </a:xfrm>
              <a:prstGeom prst="rect">
                <a:avLst/>
              </a:prstGeom>
              <a:solidFill>
                <a:srgbClr val="FFFF00"/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zh-CN" altLang="en-US" sz="3200" dirty="0">
                    <a:latin typeface="+mj-ea"/>
                    <a:ea typeface="+mj-ea"/>
                  </a:rPr>
                  <a:t>   可见，抽样得到的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+mj-ea"/>
                    <a:ea typeface="+mj-ea"/>
                  </a:rPr>
                  <a:t>离散信号的频谱</a:t>
                </a:r>
                <a:r>
                  <a:rPr lang="zh-CN" altLang="en-US" sz="3200" dirty="0">
                    <a:latin typeface="+mj-ea"/>
                    <a:ea typeface="+mj-ea"/>
                  </a:rPr>
                  <a:t>是原连续信号频谱的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+mj-ea"/>
                    <a:ea typeface="+mj-ea"/>
                  </a:rPr>
                  <a:t>周期拓展</a:t>
                </a:r>
                <a:r>
                  <a:rPr lang="zh-CN" altLang="en-US" sz="3200" dirty="0">
                    <a:latin typeface="+mj-ea"/>
                    <a:ea typeface="+mj-ea"/>
                  </a:rPr>
                  <a:t>，频谱的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+mj-ea"/>
                    <a:ea typeface="+mj-ea"/>
                  </a:rPr>
                  <a:t>周期为</a:t>
                </a:r>
                <a14:m>
                  <m:oMath xmlns:m="http://schemas.openxmlformats.org/officeDocument/2006/math">
                    <m:r>
                      <a:rPr lang="en-US" altLang="zh-CN" sz="4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ɷS</m:t>
                    </m:r>
                  </m:oMath>
                </a14:m>
                <a:r>
                  <a:rPr lang="zh-CN" altLang="en-US" sz="3200" dirty="0">
                    <a:latin typeface="+mj-ea"/>
                    <a:ea typeface="+mj-ea"/>
                  </a:rPr>
                  <a:t>。</a:t>
                </a:r>
                <a:endParaRPr lang="zh-CN" altLang="en-US" sz="3200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1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652" y="5985823"/>
                <a:ext cx="8310967" cy="923132"/>
              </a:xfrm>
              <a:prstGeom prst="rect">
                <a:avLst/>
              </a:prstGeom>
              <a:blipFill rotWithShape="1">
                <a:blip r:embed="rId8"/>
                <a:stretch>
                  <a:fillRect l="-5" t="-34" r="6" b="-5899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9"/>
    </p:custDataLst>
  </p:cSld>
  <p:clrMapOvr>
    <a:masterClrMapping/>
  </p:clrMapOvr>
  <p:transition spd="med" advTm="1301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1" grpId="0"/>
      <p:bldP spid="12" grpId="0"/>
      <p:bldP spid="14" grpId="0"/>
      <p:bldP spid="16" grpId="0"/>
      <p:bldP spid="53251" grpId="0"/>
      <p:bldP spid="20" grpId="0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0319" y="127000"/>
            <a:ext cx="5111750" cy="64928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4.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取样信号的频谱特性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275" name="Object 2"/>
              <p:cNvSpPr txBox="1"/>
              <p:nvPr/>
            </p:nvSpPr>
            <p:spPr bwMode="auto">
              <a:xfrm>
                <a:off x="2916238" y="2276475"/>
                <a:ext cx="908050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427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2276475"/>
                <a:ext cx="908050" cy="685800"/>
              </a:xfrm>
              <a:prstGeom prst="rect">
                <a:avLst/>
              </a:prstGeom>
              <a:blipFill rotWithShape="1">
                <a:blip r:embed="rId1"/>
                <a:stretch>
                  <a:fillRect l="-35" r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276" name="Picture 7" descr="未命名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2"/>
          <a:stretch>
            <a:fillRect/>
          </a:stretch>
        </p:blipFill>
        <p:spPr bwMode="auto">
          <a:xfrm>
            <a:off x="697843" y="1194402"/>
            <a:ext cx="3019425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3624" name="Rectangle 8"/>
          <p:cNvSpPr>
            <a:spLocks noChangeArrowheads="1"/>
          </p:cNvSpPr>
          <p:nvPr/>
        </p:nvSpPr>
        <p:spPr bwMode="auto">
          <a:xfrm>
            <a:off x="3773488" y="1500823"/>
            <a:ext cx="5370512" cy="1511300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indent="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华文中宋" panose="02010600040101010101" pitchFamily="2" charset="-122"/>
              </a:rPr>
              <a:t>取样信号的频谱与原信号频谱</a:t>
            </a:r>
            <a:r>
              <a:rPr lang="en-US" altLang="zh-CN" sz="2400" dirty="0">
                <a:latin typeface="Times New Roman" panose="02020603050405020304" pitchFamily="18" charset="0"/>
              </a:rPr>
              <a:t>F(j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的形状相同，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尺度不同，</a:t>
            </a:r>
            <a:r>
              <a:rPr lang="zh-CN" altLang="en-US" sz="2400" dirty="0">
                <a:latin typeface="Times New Roman" panose="02020603050405020304" pitchFamily="18" charset="0"/>
              </a:rPr>
              <a:t>所有的幅值都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乘以一个公共因子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1/T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3625" name="Rectangle 9"/>
          <p:cNvSpPr>
            <a:spLocks noChangeArrowheads="1"/>
          </p:cNvSpPr>
          <p:nvPr/>
        </p:nvSpPr>
        <p:spPr bwMode="auto">
          <a:xfrm>
            <a:off x="3962785" y="3861703"/>
            <a:ext cx="4895850" cy="1150937"/>
          </a:xfrm>
          <a:prstGeom prst="rect">
            <a:avLst/>
          </a:prstGeom>
          <a:noFill/>
          <a:ln w="28575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indent="3651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相邻两个组成部分的中心频率之间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相隔一个取样频率</a:t>
            </a:r>
            <a:r>
              <a:rPr lang="el-GR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i="1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6E9E922-8FE1-4BA2-9FB0-9AD783F41CA5}" type="datetime1">
              <a:rPr lang="zh-CN" altLang="en-US"/>
            </a:fld>
            <a:endParaRPr lang="en-US" altLang="zh-CN"/>
          </a:p>
        </p:txBody>
      </p:sp>
      <p:pic>
        <p:nvPicPr>
          <p:cNvPr id="8" name="Picture 7" descr="未命名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5" t="47433" r="3655" b="652"/>
          <a:stretch>
            <a:fillRect/>
          </a:stretch>
        </p:blipFill>
        <p:spPr bwMode="auto">
          <a:xfrm>
            <a:off x="595312" y="3382689"/>
            <a:ext cx="3019425" cy="223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墨迹 1"/>
          <p:cNvSpPr/>
          <p:nvPr/>
        </p:nvSpPr>
        <p:spPr bwMode="auto">
          <a:xfrm>
            <a:off x="2037600" y="1972800"/>
            <a:ext cx="5311080" cy="29300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spd="med" advTm="5941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236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36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2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3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3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2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24" grpId="0" bldLvl="0" animBg="1"/>
      <p:bldP spid="6236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9763" y="0"/>
            <a:ext cx="5111750" cy="57626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二、 重构原信号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**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30789" name="Picture 5" descr="未命名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1269206"/>
            <a:ext cx="333375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0792" name="Rectangle 8"/>
          <p:cNvSpPr>
            <a:spLocks noChangeArrowheads="1"/>
          </p:cNvSpPr>
          <p:nvPr/>
        </p:nvSpPr>
        <p:spPr bwMode="auto">
          <a:xfrm>
            <a:off x="611188" y="1125538"/>
            <a:ext cx="4824412" cy="5040312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</a:rPr>
              <a:t>在右图的取样信号频谱中</a:t>
            </a:r>
            <a:r>
              <a:rPr lang="en-US" altLang="zh-CN" sz="2400" dirty="0">
                <a:latin typeface="Times New Roman" panose="02020603050405020304" pitchFamily="18" charset="0"/>
              </a:rPr>
              <a:t>: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虚线框内部分信号的频谱</a:t>
            </a:r>
            <a:r>
              <a:rPr lang="zh-CN" altLang="en-US" sz="2400" dirty="0">
                <a:latin typeface="Times New Roman" panose="02020603050405020304" pitchFamily="18" charset="0"/>
              </a:rPr>
              <a:t>在频率轴上的平移量为零，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与原信号频谱具有完全相同的结构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</a:rPr>
              <a:t>幅度是原频谱的</a:t>
            </a:r>
            <a:r>
              <a:rPr lang="en-US" altLang="zh-CN" sz="2400" dirty="0">
                <a:latin typeface="Times New Roman" panose="02020603050405020304" pitchFamily="18" charset="0"/>
              </a:rPr>
              <a:t>1/T;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Times New Roman" panose="02020603050405020304" pitchFamily="18" charset="0"/>
              </a:rPr>
              <a:t>只要将取样信号输入一理想低通滤波器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取出该部分频谱而滤除所有其它部分</a:t>
            </a:r>
            <a:r>
              <a:rPr lang="en-US" altLang="zh-CN" sz="2400" dirty="0">
                <a:latin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</a:rPr>
              <a:t>在滤波器的输出端就能得到原来的信号。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C9A5B6A-2E87-48B0-BEA3-46223F07EB66}" type="datetime1">
              <a:rPr lang="zh-CN" altLang="en-US"/>
            </a:fld>
            <a:endParaRPr lang="en-US" altLang="zh-CN"/>
          </a:p>
        </p:txBody>
      </p:sp>
    </p:spTree>
    <p:custDataLst>
      <p:tags r:id="rId2"/>
    </p:custDataLst>
  </p:cSld>
  <p:clrMapOvr>
    <a:masterClrMapping/>
  </p:clrMapOvr>
  <p:transition spd="med" advTm="30957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0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30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30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307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307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307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8313" y="64895"/>
            <a:ext cx="7837995" cy="57626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二、 重构原信号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---</a:t>
            </a:r>
            <a:r>
              <a:rPr lang="zh-CN" altLang="en-US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离散信号通过一个系统后恢复原模拟信号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pic>
        <p:nvPicPr>
          <p:cNvPr id="56323" name="Picture 3" descr="未命名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5" y="993775"/>
            <a:ext cx="3019425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1813" name="Rectangle 5"/>
          <p:cNvSpPr>
            <a:spLocks noChangeArrowheads="1"/>
          </p:cNvSpPr>
          <p:nvPr/>
        </p:nvSpPr>
        <p:spPr bwMode="auto">
          <a:xfrm>
            <a:off x="684213" y="1628775"/>
            <a:ext cx="54006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    </a:t>
            </a:r>
            <a:r>
              <a:rPr lang="zh-CN" altLang="en-US" sz="2400">
                <a:latin typeface="Times New Roman" panose="02020603050405020304" pitchFamily="18" charset="0"/>
              </a:rPr>
              <a:t>在通带内系统函数的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模量为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，相位特性为零，截止频率为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31819" name="Object 2"/>
          <p:cNvGraphicFramePr>
            <a:graphicFrameLocks noChangeAspect="1"/>
          </p:cNvGraphicFramePr>
          <p:nvPr/>
        </p:nvGraphicFramePr>
        <p:xfrm>
          <a:off x="1187450" y="3253423"/>
          <a:ext cx="81756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75" name="公式" r:id="rId2" imgW="393700" imgH="203200" progId="Equation.3">
                  <p:embed/>
                </p:oleObj>
              </mc:Choice>
              <mc:Fallback>
                <p:oleObj name="公式" r:id="rId2" imgW="393700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253423"/>
                        <a:ext cx="81756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21" name="Object 3"/>
          <p:cNvGraphicFramePr>
            <a:graphicFrameLocks noChangeAspect="1"/>
          </p:cNvGraphicFramePr>
          <p:nvPr/>
        </p:nvGraphicFramePr>
        <p:xfrm>
          <a:off x="1101725" y="4221322"/>
          <a:ext cx="3629025" cy="94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76" name="公式" r:id="rId4" imgW="1663700" imgH="431800" progId="Equation.3">
                  <p:embed/>
                </p:oleObj>
              </mc:Choice>
              <mc:Fallback>
                <p:oleObj name="公式" r:id="rId4" imgW="16637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4221322"/>
                        <a:ext cx="3629025" cy="941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4"/>
          <p:cNvGraphicFramePr>
            <a:graphicFrameLocks noChangeAspect="1"/>
          </p:cNvGraphicFramePr>
          <p:nvPr/>
        </p:nvGraphicFramePr>
        <p:xfrm>
          <a:off x="454025" y="881919"/>
          <a:ext cx="2476500" cy="506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77" name="公式" r:id="rId6" imgW="1117600" imgH="228600" progId="Equation.3">
                  <p:embed/>
                </p:oleObj>
              </mc:Choice>
              <mc:Fallback>
                <p:oleObj name="公式" r:id="rId6" imgW="1117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" y="881919"/>
                        <a:ext cx="2476500" cy="506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26" name="Object 5"/>
          <p:cNvGraphicFramePr>
            <a:graphicFrameLocks noChangeAspect="1"/>
          </p:cNvGraphicFramePr>
          <p:nvPr/>
        </p:nvGraphicFramePr>
        <p:xfrm>
          <a:off x="1042988" y="5516563"/>
          <a:ext cx="83026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78" name="公式" r:id="rId8" imgW="431800" imgH="203200" progId="Equation.3">
                  <p:embed/>
                </p:oleObj>
              </mc:Choice>
              <mc:Fallback>
                <p:oleObj name="公式" r:id="rId8" imgW="4318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516563"/>
                        <a:ext cx="83026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2" name="Object 6"/>
          <p:cNvGraphicFramePr>
            <a:graphicFrameLocks noChangeAspect="1"/>
          </p:cNvGraphicFramePr>
          <p:nvPr/>
        </p:nvGraphicFramePr>
        <p:xfrm>
          <a:off x="4029075" y="1981200"/>
          <a:ext cx="12969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79" name="公式" r:id="rId10" imgW="533400" imgH="393700" progId="Equation.3">
                  <p:embed/>
                </p:oleObj>
              </mc:Choice>
              <mc:Fallback>
                <p:oleObj name="公式" r:id="rId10" imgW="5334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75" y="1981200"/>
                        <a:ext cx="129698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27" name="Object 7"/>
          <p:cNvGraphicFramePr>
            <a:graphicFrameLocks noChangeAspect="1"/>
          </p:cNvGraphicFramePr>
          <p:nvPr/>
        </p:nvGraphicFramePr>
        <p:xfrm>
          <a:off x="5867400" y="5516563"/>
          <a:ext cx="295116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80" name="公式" r:id="rId12" imgW="1143000" imgH="228600" progId="Equation.3">
                  <p:embed/>
                </p:oleObj>
              </mc:Choice>
              <mc:Fallback>
                <p:oleObj name="公式" r:id="rId12" imgW="1143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516563"/>
                        <a:ext cx="2951163" cy="5889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8"/>
          <p:cNvGraphicFramePr>
            <a:graphicFrameLocks noChangeAspect="1"/>
          </p:cNvGraphicFramePr>
          <p:nvPr/>
        </p:nvGraphicFramePr>
        <p:xfrm>
          <a:off x="3280728" y="913765"/>
          <a:ext cx="3411855" cy="484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81" name="公式" r:id="rId14" imgW="1612900" imgH="228600" progId="Equation.3">
                  <p:embed/>
                </p:oleObj>
              </mc:Choice>
              <mc:Fallback>
                <p:oleObj name="公式" r:id="rId14" imgW="1612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0728" y="913765"/>
                        <a:ext cx="3411855" cy="4845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29" name="Object 9"/>
          <p:cNvGraphicFramePr>
            <a:graphicFrameLocks noChangeAspect="1"/>
          </p:cNvGraphicFramePr>
          <p:nvPr/>
        </p:nvGraphicFramePr>
        <p:xfrm>
          <a:off x="2124075" y="2997200"/>
          <a:ext cx="321627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82" name="公式" r:id="rId16" imgW="1548765" imgH="444500" progId="Equation.3">
                  <p:embed/>
                </p:oleObj>
              </mc:Choice>
              <mc:Fallback>
                <p:oleObj name="公式" r:id="rId16" imgW="1548765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997200"/>
                        <a:ext cx="321627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30" name="Object 10"/>
          <p:cNvGraphicFramePr>
            <a:graphicFrameLocks noChangeAspect="1"/>
          </p:cNvGraphicFramePr>
          <p:nvPr/>
        </p:nvGraphicFramePr>
        <p:xfrm>
          <a:off x="2051050" y="5373688"/>
          <a:ext cx="331311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83" name="公式" r:id="rId18" imgW="1612900" imgH="431800" progId="Equation.3">
                  <p:embed/>
                </p:oleObj>
              </mc:Choice>
              <mc:Fallback>
                <p:oleObj name="公式" r:id="rId18" imgW="1612900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373688"/>
                        <a:ext cx="3313113" cy="8874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日期占位符 1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817EF92-19CC-4AAA-BC25-22801E2DB90B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3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3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31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31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3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31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31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3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31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31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3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31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1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3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31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31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3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31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31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3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611188" y="188913"/>
            <a:ext cx="583247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FF0000"/>
                </a:solidFill>
                <a:latin typeface="宋体" panose="02010600030101010101" pitchFamily="2" charset="-122"/>
              </a:rPr>
              <a:t> 1.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重建原信号的必要条件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48" name="Rectangle 8"/>
          <p:cNvSpPr>
            <a:spLocks noChangeArrowheads="1"/>
          </p:cNvSpPr>
          <p:nvPr/>
        </p:nvSpPr>
        <p:spPr bwMode="auto">
          <a:xfrm>
            <a:off x="504825" y="1082675"/>
            <a:ext cx="5256213" cy="4895850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取样信号频谱中两个相邻的组成部分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不能相互叠合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>
                <a:latin typeface="华文中宋" panose="02010600040101010101" pitchFamily="2" charset="-122"/>
              </a:rPr>
              <a:t>信号频谱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l-G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华文中宋" panose="02010600040101010101" pitchFamily="2" charset="-122"/>
              </a:rPr>
              <a:t>的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</a:rPr>
              <a:t>频带是有限的</a:t>
            </a:r>
            <a:r>
              <a:rPr lang="zh-CN" altLang="en-US" sz="2800">
                <a:latin typeface="华文中宋" panose="02010600040101010101" pitchFamily="2" charset="-122"/>
              </a:rPr>
              <a:t>，或者是在信号中不包含有</a:t>
            </a:r>
            <a:r>
              <a:rPr lang="el-GR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l-GR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>
                <a:latin typeface="华文中宋" panose="02010600040101010101" pitchFamily="2" charset="-122"/>
              </a:rPr>
              <a:t>的频率分量；</a:t>
            </a:r>
            <a:endParaRPr lang="zh-CN" altLang="en-US" sz="2800">
              <a:latin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>
                <a:latin typeface="华文中宋" panose="02010600040101010101" pitchFamily="2" charset="-122"/>
              </a:rPr>
              <a:t>取样频率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</a:rPr>
              <a:t>大于或至少等于最高信号频率的两倍</a:t>
            </a:r>
            <a:r>
              <a:rPr lang="zh-CN" altLang="en-US" sz="2800">
                <a:latin typeface="华文中宋" panose="02010600040101010101" pitchFamily="2" charset="-122"/>
              </a:rPr>
              <a:t>，即：</a:t>
            </a:r>
            <a:endParaRPr lang="zh-CN" altLang="en-US" sz="2800">
              <a:latin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>
                <a:latin typeface="华文中宋" panose="02010600040101010101" pitchFamily="2" charset="-122"/>
              </a:rPr>
              <a:t>             </a:t>
            </a:r>
            <a:r>
              <a:rPr lang="el-GR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>
                <a:latin typeface="华文中宋" panose="02010600040101010101" pitchFamily="2" charset="-122"/>
              </a:rPr>
              <a:t> ≥2</a:t>
            </a:r>
            <a:r>
              <a:rPr lang="el-GR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l-GR" sz="2800" baseline="-25000"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baseline="-2500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800">
              <a:latin typeface="Times New Roman" panose="02020603050405020304" pitchFamily="18" charset="0"/>
            </a:endParaRPr>
          </a:p>
        </p:txBody>
      </p:sp>
      <p:pic>
        <p:nvPicPr>
          <p:cNvPr id="57348" name="Picture 9" descr="未命名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913" y="1052513"/>
            <a:ext cx="2928937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53D9137-20D6-4723-8C7C-A16E6810443A}" type="datetime1">
              <a:rPr lang="zh-CN" altLang="en-US"/>
            </a:fld>
            <a:endParaRPr lang="en-US" altLang="zh-CN"/>
          </a:p>
        </p:txBody>
      </p:sp>
    </p:spTree>
    <p:custDataLst>
      <p:tags r:id="rId2"/>
    </p:custDataLst>
  </p:cSld>
  <p:clrMapOvr>
    <a:masterClrMapping/>
  </p:clrMapOvr>
  <p:transition spd="med" advTm="5260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4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24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46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46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246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4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24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24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46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246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246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58165" y="1573530"/>
            <a:ext cx="8532495" cy="3459480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ct val="25000"/>
              </a:spcBef>
            </a:pPr>
            <a:r>
              <a:rPr lang="zh-CN" altLang="en-US" b="1">
                <a:cs typeface="Times New Roman" panose="02020603050405020304" pitchFamily="18" charset="0"/>
              </a:rPr>
              <a:t>最高频率             是最小的取样频率，称为奈奎斯特取样频率，或称</a:t>
            </a:r>
            <a:r>
              <a:rPr lang="zh-CN" altLang="en-US" b="1">
                <a:solidFill>
                  <a:srgbClr val="FF0000"/>
                </a:solidFill>
                <a:cs typeface="Times New Roman" panose="02020603050405020304" pitchFamily="18" charset="0"/>
              </a:rPr>
              <a:t>香农取样频率</a:t>
            </a:r>
            <a:r>
              <a:rPr lang="zh-CN" altLang="en-US" b="1">
                <a:cs typeface="Times New Roman" panose="02020603050405020304" pitchFamily="18" charset="0"/>
              </a:rPr>
              <a:t>；</a:t>
            </a:r>
            <a:endParaRPr lang="zh-CN" altLang="en-US" b="1">
              <a:cs typeface="Times New Roman" panose="02020603050405020304" pitchFamily="18" charset="0"/>
            </a:endParaRPr>
          </a:p>
          <a:p>
            <a:pPr marL="0" indent="0">
              <a:lnSpc>
                <a:spcPct val="135000"/>
              </a:lnSpc>
              <a:spcBef>
                <a:spcPct val="25000"/>
              </a:spcBef>
              <a:buNone/>
            </a:pPr>
            <a:endParaRPr lang="zh-CN" altLang="en-US" b="1">
              <a:cs typeface="Times New Roman" panose="02020603050405020304" pitchFamily="18" charset="0"/>
            </a:endParaRPr>
          </a:p>
          <a:p>
            <a:pPr>
              <a:lnSpc>
                <a:spcPct val="135000"/>
              </a:lnSpc>
              <a:spcBef>
                <a:spcPct val="25000"/>
              </a:spcBef>
            </a:pPr>
            <a:r>
              <a:rPr lang="zh-CN" altLang="en-US" b="1">
                <a:cs typeface="Times New Roman" panose="02020603050405020304" pitchFamily="18" charset="0"/>
              </a:rPr>
              <a:t> 其倒数       称为奈奎斯特取样间隔，或称</a:t>
            </a:r>
            <a:r>
              <a:rPr lang="zh-CN" altLang="en-US" b="1">
                <a:solidFill>
                  <a:srgbClr val="FF0000"/>
                </a:solidFill>
                <a:cs typeface="Times New Roman" panose="02020603050405020304" pitchFamily="18" charset="0"/>
              </a:rPr>
              <a:t>香农取样间隔</a:t>
            </a:r>
            <a:r>
              <a:rPr lang="zh-CN" altLang="en-US" b="1">
                <a:cs typeface="Times New Roman" panose="02020603050405020304" pitchFamily="18" charset="0"/>
              </a:rPr>
              <a:t>。</a:t>
            </a:r>
            <a:endParaRPr lang="zh-CN" altLang="en-US" b="1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71" name="Object 2"/>
              <p:cNvSpPr txBox="1"/>
              <p:nvPr/>
            </p:nvSpPr>
            <p:spPr bwMode="auto">
              <a:xfrm>
                <a:off x="2820035" y="1730375"/>
                <a:ext cx="1511300" cy="631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8371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0035" y="1730375"/>
                <a:ext cx="1511300" cy="631825"/>
              </a:xfrm>
              <a:prstGeom prst="rect">
                <a:avLst/>
              </a:prstGeom>
              <a:blipFill rotWithShape="1">
                <a:blip r:embed="rId1"/>
                <a:stretch>
                  <a:fillRect t="-1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372" name="Object 3"/>
              <p:cNvSpPr txBox="1"/>
              <p:nvPr/>
            </p:nvSpPr>
            <p:spPr bwMode="auto">
              <a:xfrm>
                <a:off x="2468563" y="3562033"/>
                <a:ext cx="688975" cy="9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837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8563" y="3562033"/>
                <a:ext cx="688975" cy="936625"/>
              </a:xfrm>
              <a:prstGeom prst="rect">
                <a:avLst/>
              </a:prstGeom>
              <a:blipFill rotWithShape="1">
                <a:blip r:embed="rId2"/>
                <a:stretch>
                  <a:fillRect l="-46" t="-34" r="46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5671" name="Rectangle 7"/>
          <p:cNvSpPr>
            <a:spLocks noChangeArrowheads="1"/>
          </p:cNvSpPr>
          <p:nvPr/>
        </p:nvSpPr>
        <p:spPr bwMode="auto">
          <a:xfrm>
            <a:off x="611188" y="260350"/>
            <a:ext cx="4824412" cy="5762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§7.2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抽样信号与抽样定理 </a:t>
            </a:r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426752E-95FE-4EE1-AD19-95B2C22F48E7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 advTm="8423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build="p"/>
      <p:bldP spid="58371" grpId="0" animBg="1"/>
      <p:bldP spid="58370" grpId="1" build="p"/>
      <p:bldP spid="58371" grpId="1" animBg="1"/>
      <p:bldP spid="58372" grpId="0" animBg="1"/>
      <p:bldP spid="58372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88913"/>
            <a:ext cx="6119813" cy="6477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均匀取样定理（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香农取样定理）</a:t>
            </a:r>
            <a:endParaRPr lang="zh-CN" altLang="en-US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DAAD8B2-E9C5-4C42-86DE-6E6E7D4C0C32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1515960" y="1071720"/>
            <a:ext cx="6102720" cy="3571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55650" y="1040883"/>
            <a:ext cx="79713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华文中宋" panose="02010600040101010101" pitchFamily="2" charset="-122"/>
                <a:cs typeface="Times New Roman" panose="02020603050405020304" pitchFamily="18" charset="0"/>
              </a:rPr>
              <a:t>一个在频谱中不包含有大于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频率</a:t>
            </a:r>
            <a:r>
              <a:rPr lang="el-GR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l-GR" altLang="zh-CN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的分量的有限频带</a:t>
            </a:r>
            <a:r>
              <a:rPr lang="zh-CN" altLang="en-US" dirty="0">
                <a:latin typeface="华文中宋" panose="02010600040101010101" pitchFamily="2" charset="-122"/>
                <a:cs typeface="Times New Roman" panose="02020603050405020304" pitchFamily="18" charset="0"/>
              </a:rPr>
              <a:t>的信号</a:t>
            </a:r>
            <a:r>
              <a:rPr lang="en-US" altLang="zh-CN" dirty="0">
                <a:latin typeface="华文中宋" panose="02010600040101010101" pitchFamily="2" charset="-122"/>
                <a:cs typeface="Times New Roman" panose="02020603050405020304" pitchFamily="18" charset="0"/>
              </a:rPr>
              <a:t>;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720073" y="1949883"/>
            <a:ext cx="8124004" cy="1104326"/>
            <a:chOff x="720073" y="1949883"/>
            <a:chExt cx="8124004" cy="1104326"/>
          </a:xfrm>
        </p:grpSpPr>
        <p:grpSp>
          <p:nvGrpSpPr>
            <p:cNvPr id="9" name="组合 8"/>
            <p:cNvGrpSpPr/>
            <p:nvPr/>
          </p:nvGrpSpPr>
          <p:grpSpPr>
            <a:xfrm>
              <a:off x="1247283" y="1949883"/>
              <a:ext cx="3900652" cy="719137"/>
              <a:chOff x="1247283" y="1949883"/>
              <a:chExt cx="3900652" cy="71913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398" name="Object 2"/>
                  <p:cNvSpPr txBox="1"/>
                  <p:nvPr/>
                </p:nvSpPr>
                <p:spPr bwMode="auto">
                  <a:xfrm>
                    <a:off x="4566602" y="1949883"/>
                    <a:ext cx="581333" cy="71913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70000" lnSpcReduction="20000"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59398" name="Object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66602" y="1949883"/>
                    <a:ext cx="581333" cy="719137"/>
                  </a:xfrm>
                  <a:prstGeom prst="rect">
                    <a:avLst/>
                  </a:prstGeom>
                  <a:blipFill rotWithShape="1">
                    <a:blip r:embed="rId1"/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矩形 3"/>
              <p:cNvSpPr/>
              <p:nvPr/>
            </p:nvSpPr>
            <p:spPr>
              <a:xfrm>
                <a:off x="1247283" y="2047546"/>
                <a:ext cx="35461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由对该信号</a:t>
                </a:r>
                <a:r>
                  <a:rPr lang="zh-CN" altLang="en-US" dirty="0">
                    <a:solidFill>
                      <a:srgbClr val="FF0000"/>
                    </a:solidFill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以不大于 </a:t>
                </a:r>
                <a:endParaRPr lang="zh-CN" altLang="en-US" dirty="0"/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3141231" y="2047546"/>
              <a:ext cx="570284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华文中宋" panose="02010600040101010101" pitchFamily="2" charset="-122"/>
                  <a:cs typeface="Times New Roman" panose="02020603050405020304" pitchFamily="18" charset="0"/>
                </a:rPr>
                <a:t>                 的时间间隔进行取样</a:t>
              </a:r>
              <a:r>
                <a:rPr lang="zh-CN" altLang="en-US" dirty="0">
                  <a:latin typeface="华文中宋" panose="02010600040101010101" pitchFamily="2" charset="-122"/>
                  <a:cs typeface="Times New Roman" panose="02020603050405020304" pitchFamily="18" charset="0"/>
                </a:rPr>
                <a:t>的</a:t>
              </a:r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720073" y="2530989"/>
              <a:ext cx="318548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华文中宋" panose="02010600040101010101" pitchFamily="2" charset="-122"/>
                  <a:cs typeface="Times New Roman" panose="02020603050405020304" pitchFamily="18" charset="0"/>
                </a:rPr>
                <a:t>取样值唯一地确定</a:t>
              </a:r>
              <a:r>
                <a:rPr lang="en-US" altLang="zh-CN" dirty="0">
                  <a:latin typeface="华文中宋" panose="0201060004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en-US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865495" y="3106765"/>
            <a:ext cx="8034665" cy="1964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45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华文中宋" panose="02010600040101010101" pitchFamily="2" charset="-122"/>
                <a:cs typeface="Times New Roman" panose="02020603050405020304" pitchFamily="18" charset="0"/>
              </a:rPr>
              <a:t>   当这样的取样信号通过其截止频率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华文中宋" panose="02010600040101010101" pitchFamily="2" charset="-122"/>
                <a:cs typeface="Times New Roman" panose="02020603050405020304" pitchFamily="18" charset="0"/>
              </a:rPr>
              <a:t>满足条件</a:t>
            </a:r>
            <a:r>
              <a:rPr lang="el-GR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l-GR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</a:rPr>
              <a:t>≤ </a:t>
            </a:r>
            <a:r>
              <a:rPr lang="el-GR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</a:rPr>
              <a:t> ≤</a:t>
            </a:r>
            <a:r>
              <a:rPr lang="el-GR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el-GR" altLang="zh-CN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FF"/>
                </a:solidFill>
                <a:latin typeface="华文中宋" panose="02010600040101010101" pitchFamily="2" charset="-122"/>
              </a:rPr>
              <a:t> -</a:t>
            </a:r>
            <a:r>
              <a:rPr lang="el-GR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i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的理想低通滤波器后，可以将原信号完全重建</a:t>
            </a:r>
            <a:r>
              <a:rPr lang="zh-CN" altLang="en-US" dirty="0">
                <a:latin typeface="华文中宋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Tm="19767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3459D60-07DF-4C4E-A187-3C663993A174}" type="datetime1">
              <a:rPr lang="zh-CN" altLang="en-US"/>
            </a:fld>
            <a:endParaRPr lang="zh-CN" altLang="en-US" dirty="0"/>
          </a:p>
        </p:txBody>
      </p:sp>
      <p:sp>
        <p:nvSpPr>
          <p:cNvPr id="569347" name="Rectangle 3"/>
          <p:cNvSpPr>
            <a:spLocks noChangeArrowheads="1"/>
          </p:cNvSpPr>
          <p:nvPr/>
        </p:nvSpPr>
        <p:spPr bwMode="auto">
          <a:xfrm>
            <a:off x="692150" y="1023938"/>
            <a:ext cx="8196263" cy="527875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香农取样定理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通迅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理论，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信号处理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理论以及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工业控制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中应用非常广泛。</a:t>
            </a:r>
            <a:endParaRPr kumimoji="1"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      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抽样定理讲的是理想情况 ：理想低通</a:t>
            </a:r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不可物理实现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，而且绝大多数信号的频谱带宽是无限大的。</a:t>
            </a:r>
            <a:endParaRPr kumimoji="1"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         实际应用中：</a:t>
            </a:r>
            <a:endParaRPr kumimoji="1"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  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①、</a:t>
            </a: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可以找到理想低通的近似逼近 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（如</a:t>
            </a:r>
            <a:r>
              <a:rPr kumimoji="1"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Battworth chebyShev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逼近、</a:t>
            </a:r>
            <a:r>
              <a:rPr kumimoji="1"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Caure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逼近等），特性近似理想；</a:t>
            </a:r>
            <a:endParaRPr kumimoji="1"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  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②、</a:t>
            </a: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一般信号之频谱具有收敛性 </a:t>
            </a:r>
            <a:r>
              <a:rPr kumimoji="1"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</a:t>
            </a:r>
            <a:endParaRPr kumimoji="1" lang="en-US" altLang="zh-CN" sz="240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这两点决定了抽样定理的可应用性。 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69350" name="Rectangle 6"/>
          <p:cNvSpPr>
            <a:spLocks noChangeArrowheads="1"/>
          </p:cNvSpPr>
          <p:nvPr/>
        </p:nvSpPr>
        <p:spPr bwMode="auto">
          <a:xfrm>
            <a:off x="611188" y="260350"/>
            <a:ext cx="4824412" cy="5762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§7.2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抽样信号与抽样定理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5538" name="Rectangle 2"/>
              <p:cNvSpPr txBox="1"/>
              <p:nvPr/>
            </p:nvSpPr>
            <p:spPr bwMode="auto">
              <a:xfrm>
                <a:off x="1524000" y="1397000"/>
                <a:ext cx="6096000" cy="406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5538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1397000"/>
                <a:ext cx="6096000" cy="4064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5236" name="Rectangle 4"/>
          <p:cNvSpPr>
            <a:spLocks noChangeArrowheads="1"/>
          </p:cNvSpPr>
          <p:nvPr/>
        </p:nvSpPr>
        <p:spPr bwMode="auto">
          <a:xfrm>
            <a:off x="755650" y="1185863"/>
            <a:ext cx="5256213" cy="526732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</a:rPr>
              <a:t>取样信号频谱中两个相邻的组成部分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不能相互叠合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华文中宋" panose="02010600040101010101" pitchFamily="2" charset="-122"/>
              </a:rPr>
              <a:t>信号频谱</a:t>
            </a:r>
            <a:r>
              <a:rPr lang="en-US" altLang="zh-CN" sz="2800" i="1" dirty="0">
                <a:latin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l-GR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华文中宋" panose="02010600040101010101" pitchFamily="2" charset="-122"/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  <a:latin typeface="华文中宋" panose="02010600040101010101" pitchFamily="2" charset="-122"/>
              </a:rPr>
              <a:t>频带是有限的，</a:t>
            </a:r>
            <a:r>
              <a:rPr lang="zh-CN" altLang="en-US" sz="2800" dirty="0">
                <a:latin typeface="华文中宋" panose="02010600040101010101" pitchFamily="2" charset="-122"/>
              </a:rPr>
              <a:t>或者是在信号中不包含有</a:t>
            </a:r>
            <a:r>
              <a:rPr lang="el-G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l-G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华文中宋" panose="02010600040101010101" pitchFamily="2" charset="-122"/>
              </a:rPr>
              <a:t>的频率分量；</a:t>
            </a:r>
            <a:endParaRPr lang="zh-CN" altLang="en-US" sz="2800" dirty="0">
              <a:latin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华文中宋" panose="02010600040101010101" pitchFamily="2" charset="-122"/>
              </a:rPr>
              <a:t>取样频率</a:t>
            </a:r>
            <a:r>
              <a:rPr lang="zh-CN" altLang="en-US" sz="2800" dirty="0">
                <a:solidFill>
                  <a:srgbClr val="0000FF"/>
                </a:solidFill>
                <a:latin typeface="华文中宋" panose="02010600040101010101" pitchFamily="2" charset="-122"/>
              </a:rPr>
              <a:t>大于或至少等于最高信号频率的两倍</a:t>
            </a:r>
            <a:r>
              <a:rPr lang="zh-CN" altLang="en-US" sz="2800" dirty="0">
                <a:latin typeface="华文中宋" panose="02010600040101010101" pitchFamily="2" charset="-122"/>
              </a:rPr>
              <a:t>，即：</a:t>
            </a:r>
            <a:endParaRPr lang="zh-CN" altLang="en-US" sz="2800" dirty="0">
              <a:latin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dirty="0">
                <a:latin typeface="华文中宋" panose="02010600040101010101" pitchFamily="2" charset="-122"/>
              </a:rPr>
              <a:t>             </a:t>
            </a:r>
            <a:r>
              <a:rPr lang="el-G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华文中宋" panose="02010600040101010101" pitchFamily="2" charset="-122"/>
              </a:rPr>
              <a:t> ≥2</a:t>
            </a:r>
            <a:r>
              <a:rPr lang="el-G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l-GR" sz="28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baseline="-250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5540" name="Picture 5" descr="未命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913" y="1052513"/>
            <a:ext cx="2928937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611188" y="260350"/>
            <a:ext cx="10795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805" indent="-908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</a:rPr>
              <a:t>回顾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1619250" y="333375"/>
            <a:ext cx="4699000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1.</a:t>
            </a:r>
            <a:r>
              <a:rPr lang="zh-CN" altLang="en-US" sz="2800">
                <a:solidFill>
                  <a:srgbClr val="0000FF"/>
                </a:solidFill>
                <a:latin typeface="黑体" panose="02010609060101010101" pitchFamily="49" charset="-122"/>
              </a:rPr>
              <a:t>重建原信号的必要条件</a:t>
            </a:r>
            <a:endParaRPr kumimoji="1" lang="zh-CN" altLang="en-US" sz="24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8" name="日期占位符 7"/>
          <p:cNvSpPr txBox="1">
            <a:spLocks noGrp="1"/>
          </p:cNvSpPr>
          <p:nvPr/>
        </p:nvSpPr>
        <p:spPr bwMode="auto">
          <a:xfrm>
            <a:off x="0" y="6488113"/>
            <a:ext cx="1828800" cy="369887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eaLnBrk="1" hangingPunct="1">
              <a:defRPr/>
            </a:pPr>
            <a:fld id="{E6508276-440D-4E8D-A6E4-9FB245F03C13}" type="datetime1">
              <a:rPr lang="zh-CN" altLang="en-US" sz="1200">
                <a:latin typeface="+mn-lt"/>
                <a:ea typeface="+mj-ea"/>
              </a:rPr>
            </a:fld>
            <a:endParaRPr lang="en-US" altLang="zh-CN" sz="1200" dirty="0">
              <a:latin typeface="+mn-lt"/>
              <a:ea typeface="+mj-ea"/>
            </a:endParaRPr>
          </a:p>
        </p:txBody>
      </p:sp>
      <p:sp>
        <p:nvSpPr>
          <p:cNvPr id="2" name="墨迹 1"/>
          <p:cNvSpPr/>
          <p:nvPr/>
        </p:nvSpPr>
        <p:spPr bwMode="auto">
          <a:xfrm>
            <a:off x="7432920" y="2538360"/>
            <a:ext cx="334800" cy="19044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 advTm="2433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3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3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35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35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35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35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35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35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35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35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35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35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476250"/>
            <a:ext cx="6119813" cy="647700"/>
          </a:xfrm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回顾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、均匀取样定理（</a:t>
            </a:r>
            <a:r>
              <a:rPr lang="zh-CN" altLang="en-US" sz="2400" b="1">
                <a:solidFill>
                  <a:srgbClr val="0000FF"/>
                </a:solidFill>
                <a:cs typeface="Times New Roman" panose="02020603050405020304" pitchFamily="18" charset="0"/>
              </a:rPr>
              <a:t>香农取样定理）</a:t>
            </a:r>
            <a:endParaRPr lang="zh-CN" altLang="en-US" sz="2400" b="1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566" name="Rectangle 4"/>
              <p:cNvSpPr>
                <a:spLocks noChangeArrowheads="1"/>
              </p:cNvSpPr>
              <p:nvPr/>
            </p:nvSpPr>
            <p:spPr bwMode="auto">
              <a:xfrm>
                <a:off x="684213" y="1341438"/>
                <a:ext cx="5219700" cy="4897437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145000"/>
                  </a:lnSpc>
                  <a:spcBef>
                    <a:spcPct val="30000"/>
                  </a:spcBef>
                  <a:buNone/>
                </a:pPr>
                <a:r>
                  <a:rPr lang="en-US" altLang="zh-CN" sz="2400" dirty="0"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一个在频谱中不包含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有大于频率</a:t>
                </a:r>
                <a:r>
                  <a:rPr lang="el-GR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l-GR" altLang="zh-CN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400" dirty="0"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的分量的有限频带的信号，由对该信号以采样频率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CN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  <m:r>
                      <a:rPr lang="zh-CN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CN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进行取样的取样值唯一地确定。当这样的取样信号通过其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截止频率</a:t>
                </a:r>
                <a:r>
                  <a:rPr lang="el-GR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l-GR" altLang="zh-CN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满足条件</a:t>
                </a:r>
                <a:r>
                  <a:rPr lang="el-GR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l-GR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</a:rPr>
                  <a:t>≤ </a:t>
                </a:r>
                <a:r>
                  <a:rPr lang="el-GR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</a:rPr>
                  <a:t> ≤</a:t>
                </a:r>
                <a:r>
                  <a:rPr lang="el-GR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ω</a:t>
                </a:r>
                <a:r>
                  <a:rPr lang="el-GR" altLang="zh-CN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华文中宋" panose="02010600040101010101" pitchFamily="2" charset="-122"/>
                  </a:rPr>
                  <a:t> -</a:t>
                </a:r>
                <a:r>
                  <a:rPr lang="el-GR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l-GR" altLang="zh-CN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400" dirty="0">
                    <a:latin typeface="华文中宋" panose="02010600040101010101" pitchFamily="2" charset="-122"/>
                    <a:cs typeface="Times New Roman" panose="02020603050405020304" pitchFamily="18" charset="0"/>
                  </a:rPr>
                  <a:t>的理想低通滤波器后，可以将原信号完全重建。</a:t>
                </a:r>
                <a:endParaRPr lang="zh-CN" altLang="en-US" sz="2400" dirty="0">
                  <a:latin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656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213" y="1341438"/>
                <a:ext cx="5219700" cy="4897437"/>
              </a:xfrm>
              <a:prstGeom prst="rect">
                <a:avLst/>
              </a:prstGeom>
              <a:blipFill rotWithShape="1">
                <a:blip r:embed="rId1"/>
                <a:stretch>
                  <a:fillRect l="-554" t="-590" r="-1028" b="-1089"/>
                </a:stretch>
              </a:blip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564" name="Picture 6" descr="未命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891" y="1717675"/>
            <a:ext cx="2928937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日期占位符 6"/>
          <p:cNvSpPr txBox="1">
            <a:spLocks noGrp="1"/>
          </p:cNvSpPr>
          <p:nvPr/>
        </p:nvSpPr>
        <p:spPr bwMode="auto">
          <a:xfrm>
            <a:off x="0" y="6488113"/>
            <a:ext cx="1190625" cy="369887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eaLnBrk="1" hangingPunct="1">
              <a:defRPr/>
            </a:pPr>
            <a:fld id="{E4503BF9-CF5C-46FE-BBCA-667452B523EC}" type="datetime1">
              <a:rPr lang="zh-CN" altLang="en-US" sz="1200">
                <a:latin typeface="+mn-lt"/>
                <a:ea typeface="+mj-ea"/>
              </a:rPr>
            </a:fld>
            <a:endParaRPr lang="en-US" altLang="zh-CN" sz="1200">
              <a:latin typeface="+mn-lt"/>
              <a:ea typeface="+mj-ea"/>
            </a:endParaRPr>
          </a:p>
        </p:txBody>
      </p:sp>
      <p:sp>
        <p:nvSpPr>
          <p:cNvPr id="3" name="墨迹 2"/>
          <p:cNvSpPr/>
          <p:nvPr/>
        </p:nvSpPr>
        <p:spPr bwMode="auto">
          <a:xfrm>
            <a:off x="7542360" y="4728240"/>
            <a:ext cx="14400" cy="126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advTm="52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5832475" cy="647700"/>
          </a:xfrm>
          <a:solidFill>
            <a:schemeClr val="accent2"/>
          </a:solidFill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§7.3 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离散时间系统的描述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E0EC2A-35F6-4BC3-824B-821C59B92133}" type="datetime1">
              <a:rPr lang="zh-CN" altLang="en-US"/>
            </a:fld>
            <a:endParaRPr lang="zh-CN" altLang="en-US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14583" y="1708944"/>
            <a:ext cx="7308850" cy="3440112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离散信号与离散系统有相当广泛的应用，尤其 是在数字技术飞速发展的今天。这些应用将在有关课程（如信号处理，编码理论，计算机控制原理等等）中介绍，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本课程只研究离散系统的分析方法这一基础理论</a:t>
            </a: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。 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519"/>
    </mc:Choice>
    <mc:Fallback>
      <p:transition spd="slow" advTm="43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5832475" cy="647700"/>
          </a:xfrm>
          <a:solidFill>
            <a:schemeClr val="accent2"/>
          </a:solidFill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§7.3 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离散时间系统的描述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8135937" cy="2447925"/>
          </a:xfrm>
          <a:ln w="38100">
            <a:solidFill>
              <a:srgbClr val="008000"/>
            </a:solidFill>
            <a:miter lim="800000"/>
          </a:ln>
        </p:spPr>
        <p:txBody>
          <a:bodyPr/>
          <a:lstStyle/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>
                <a:solidFill>
                  <a:schemeClr val="folHlink"/>
                </a:solidFill>
              </a:rPr>
              <a:t>   </a:t>
            </a:r>
            <a:r>
              <a:rPr lang="zh-CN" altLang="en-US" sz="2400" b="1">
                <a:solidFill>
                  <a:srgbClr val="FF0000"/>
                </a:solidFill>
              </a:rPr>
              <a:t>系统表示法                连续                 离散</a:t>
            </a:r>
            <a:endParaRPr lang="zh-CN" altLang="en-US" sz="2400" b="1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1</a:t>
            </a:r>
            <a:r>
              <a:rPr lang="zh-CN" altLang="en-US" sz="2400" b="1"/>
              <a:t>）系统</a:t>
            </a:r>
            <a:r>
              <a:rPr lang="en-US" altLang="zh-CN" sz="2400" b="1">
                <a:latin typeface="Times New Roman" panose="02020603050405020304" pitchFamily="18" charset="0"/>
              </a:rPr>
              <a:t>I/O</a:t>
            </a:r>
            <a:r>
              <a:rPr lang="zh-CN" altLang="en-US" sz="2400" b="1"/>
              <a:t>方程         微分方程          差分方程</a:t>
            </a:r>
            <a:endParaRPr lang="zh-CN" altLang="en-US" sz="2400" b="1"/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2</a:t>
            </a:r>
            <a:r>
              <a:rPr lang="zh-CN" altLang="en-US" sz="2400" b="1"/>
              <a:t>）框图模拟         三个基本单元     三个基本单元</a:t>
            </a:r>
            <a:endParaRPr lang="zh-CN" altLang="en-US" sz="2400" b="1"/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3</a:t>
            </a:r>
            <a:r>
              <a:rPr lang="zh-CN" altLang="en-US" sz="2400" b="1"/>
              <a:t>）系统函数               </a:t>
            </a:r>
            <a:r>
              <a:rPr lang="en-US" altLang="zh-CN" sz="2400" b="1"/>
              <a:t>H(S)                H(z) </a:t>
            </a:r>
            <a:endParaRPr lang="en-US" altLang="zh-CN" sz="2400" b="1"/>
          </a:p>
          <a:p>
            <a:pPr>
              <a:lnSpc>
                <a:spcPct val="125000"/>
              </a:lnSpc>
              <a:buFontTx/>
              <a:buNone/>
            </a:pPr>
            <a:endParaRPr lang="en-US" altLang="zh-CN" sz="2400" b="1"/>
          </a:p>
        </p:txBody>
      </p:sp>
      <p:grpSp>
        <p:nvGrpSpPr>
          <p:cNvPr id="2" name="Group 7"/>
          <p:cNvGrpSpPr/>
          <p:nvPr/>
        </p:nvGrpSpPr>
        <p:grpSpPr bwMode="auto">
          <a:xfrm>
            <a:off x="1006475" y="5121275"/>
            <a:ext cx="8137525" cy="863600"/>
            <a:chOff x="431" y="2797"/>
            <a:chExt cx="5126" cy="544"/>
          </a:xfrm>
        </p:grpSpPr>
        <p:sp>
          <p:nvSpPr>
            <p:cNvPr id="62470" name="AutoShape 4"/>
            <p:cNvSpPr>
              <a:spLocks noChangeArrowheads="1"/>
            </p:cNvSpPr>
            <p:nvPr/>
          </p:nvSpPr>
          <p:spPr bwMode="auto">
            <a:xfrm>
              <a:off x="2608" y="3113"/>
              <a:ext cx="544" cy="13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62471" name="AutoShape 5"/>
            <p:cNvSpPr>
              <a:spLocks noChangeArrowheads="1"/>
            </p:cNvSpPr>
            <p:nvPr/>
          </p:nvSpPr>
          <p:spPr bwMode="auto">
            <a:xfrm>
              <a:off x="2589" y="2831"/>
              <a:ext cx="544" cy="13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62472" name="Rectangle 6"/>
            <p:cNvSpPr>
              <a:spLocks noChangeArrowheads="1"/>
            </p:cNvSpPr>
            <p:nvPr/>
          </p:nvSpPr>
          <p:spPr bwMode="auto">
            <a:xfrm>
              <a:off x="431" y="2797"/>
              <a:ext cx="512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华文中宋" panose="02010600040101010101" pitchFamily="2" charset="-122"/>
                </a:rPr>
                <a:t>线性时不变连续系统                 线性常系数微分方程</a:t>
              </a:r>
              <a:endParaRPr lang="zh-CN" altLang="en-US" sz="2400">
                <a:latin typeface="华文中宋" panose="02010600040101010101" pitchFamily="2" charset="-122"/>
              </a:endParaRPr>
            </a:p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华文中宋" panose="02010600040101010101" pitchFamily="2" charset="-122"/>
                </a:rPr>
                <a:t>线性时</a:t>
              </a:r>
              <a:r>
                <a:rPr lang="en-US" altLang="zh-CN" sz="2400">
                  <a:latin typeface="华文中宋" panose="02010600040101010101" pitchFamily="2" charset="-122"/>
                </a:rPr>
                <a:t>/</a:t>
              </a:r>
              <a:r>
                <a:rPr lang="zh-CN" altLang="en-US" sz="2400">
                  <a:latin typeface="华文中宋" panose="02010600040101010101" pitchFamily="2" charset="-122"/>
                </a:rPr>
                <a:t>移不变离散系统            线性常系数差分方程</a:t>
              </a:r>
              <a:endParaRPr lang="zh-CN" altLang="en-US" sz="2400">
                <a:latin typeface="华文中宋" panose="02010600040101010101" pitchFamily="2" charset="-122"/>
              </a:endParaRPr>
            </a:p>
          </p:txBody>
        </p:sp>
      </p:grp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E0EC2A-35F6-4BC3-824B-821C59B92133}" type="datetime1">
              <a:rPr lang="zh-CN" altLang="en-US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519"/>
    </mc:Choice>
    <mc:Fallback>
      <p:transition spd="slow" advTm="43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283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283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28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5" grpId="0" animBg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6"/>
          <p:cNvSpPr>
            <a:spLocks noChangeArrowheads="1"/>
          </p:cNvSpPr>
          <p:nvPr/>
        </p:nvSpPr>
        <p:spPr bwMode="auto">
          <a:xfrm>
            <a:off x="468313" y="1052513"/>
            <a:ext cx="8229600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Char char="Ø"/>
            </a:pPr>
            <a:r>
              <a:rPr lang="zh-CN" altLang="en-US" sz="3200">
                <a:latin typeface="华文中宋" panose="02010600040101010101" pitchFamily="2" charset="-122"/>
              </a:rPr>
              <a:t>一阶线性差分方程：</a:t>
            </a:r>
            <a:endParaRPr lang="zh-CN" altLang="en-US" sz="3200">
              <a:latin typeface="华文中宋" panose="02010600040101010101" pitchFamily="2" charset="-122"/>
            </a:endParaRPr>
          </a:p>
        </p:txBody>
      </p:sp>
      <p:sp>
        <p:nvSpPr>
          <p:cNvPr id="633863" name="Rectangle 7"/>
          <p:cNvSpPr>
            <a:spLocks noChangeArrowheads="1"/>
          </p:cNvSpPr>
          <p:nvPr/>
        </p:nvSpPr>
        <p:spPr bwMode="auto">
          <a:xfrm>
            <a:off x="400685" y="4379913"/>
            <a:ext cx="43926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200">
                <a:latin typeface="华文中宋" panose="02010600040101010101" pitchFamily="2" charset="-122"/>
              </a:rPr>
              <a:t>二阶线性差分方程：</a:t>
            </a:r>
            <a:endParaRPr lang="zh-CN" altLang="en-US" sz="3200">
              <a:latin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3864" name="Object 2"/>
              <p:cNvSpPr txBox="1"/>
              <p:nvPr/>
            </p:nvSpPr>
            <p:spPr bwMode="auto">
              <a:xfrm>
                <a:off x="1190625" y="1545273"/>
                <a:ext cx="7507288" cy="2336800"/>
              </a:xfrm>
              <a:prstGeom prst="rect">
                <a:avLst/>
              </a:prstGeom>
              <a:noFill/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或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前向差分方程</m:t>
                      </m:r>
                    </m:oMath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或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plc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</m: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)=−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后向差分方程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3386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0625" y="1545273"/>
                <a:ext cx="7507288" cy="2336800"/>
              </a:xfrm>
              <a:prstGeom prst="rect">
                <a:avLst/>
              </a:prstGeom>
              <a:blipFill rotWithShape="1">
                <a:blip r:embed="rId1"/>
                <a:stretch>
                  <a:fillRect l="-254" t="-829" r="-250" b="-802"/>
                </a:stretch>
              </a:blipFill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3865" name="Object 3"/>
              <p:cNvSpPr txBox="1"/>
              <p:nvPr/>
            </p:nvSpPr>
            <p:spPr bwMode="auto">
              <a:xfrm>
                <a:off x="1568450" y="5103813"/>
                <a:ext cx="5905500" cy="118745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3386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8450" y="5103813"/>
                <a:ext cx="5905500" cy="1187450"/>
              </a:xfrm>
              <a:prstGeom prst="rect">
                <a:avLst/>
              </a:prstGeom>
              <a:blipFill rotWithShape="1">
                <a:blip r:embed="rId2"/>
                <a:stretch>
                  <a:fillRect l="-323" t="-1631" r="-323" b="-1577"/>
                </a:stretch>
              </a:blipFill>
              <a:ln w="38100">
                <a:solidFill>
                  <a:srgbClr val="FF0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0A4AA0B-4CA1-44C9-8C3D-BC074F6D561C}" type="datetime1">
              <a:rPr lang="zh-CN" altLang="en-US"/>
            </a:fld>
            <a:endParaRPr lang="en-US" altLang="zh-CN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00843" y="38894"/>
            <a:ext cx="5832475" cy="6477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8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§7.3  </a:t>
            </a:r>
            <a:r>
              <a:rPr lang="zh-CN" altLang="en-US" sz="28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离散时间系统的描述</a:t>
            </a:r>
            <a:endParaRPr lang="zh-CN" altLang="en-US" sz="28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3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3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63" grpId="0"/>
      <p:bldP spid="63386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1524" y="79375"/>
            <a:ext cx="7712075" cy="1152525"/>
          </a:xfr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marL="274955" indent="-274955">
              <a:lnSpc>
                <a:spcPct val="14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b="1">
                <a:solidFill>
                  <a:srgbClr val="FF0000"/>
                </a:solidFill>
              </a:rPr>
              <a:t>差分方程</a:t>
            </a:r>
            <a:r>
              <a:rPr kumimoji="1" lang="zh-CN" altLang="en-US" sz="2400" b="1"/>
              <a:t>：由激励序列、响应序列以及其移序序列组成的方程。</a:t>
            </a:r>
            <a:endParaRPr kumimoji="1" lang="zh-CN" altLang="en-US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4883" name="Object 2"/>
              <p:cNvSpPr txBox="1"/>
              <p:nvPr/>
            </p:nvSpPr>
            <p:spPr bwMode="auto">
              <a:xfrm>
                <a:off x="1670504" y="5372472"/>
                <a:ext cx="5214938" cy="592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488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0504" y="5372472"/>
                <a:ext cx="5214938" cy="592138"/>
              </a:xfrm>
              <a:prstGeom prst="rect">
                <a:avLst/>
              </a:prstGeom>
              <a:blipFill rotWithShape="1">
                <a:blip r:embed="rId1"/>
                <a:stretch>
                  <a:fillRect l="-9" t="-63" r="3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884" name="Rectangle 4"/>
          <p:cNvSpPr>
            <a:spLocks noChangeArrowheads="1"/>
          </p:cNvSpPr>
          <p:nvPr/>
        </p:nvSpPr>
        <p:spPr bwMode="auto">
          <a:xfrm>
            <a:off x="771524" y="4613710"/>
            <a:ext cx="7416800" cy="719138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>
                <a:solidFill>
                  <a:srgbClr val="FF0000"/>
                </a:solidFill>
                <a:latin typeface="华文中宋" panose="02010600040101010101" pitchFamily="2" charset="-122"/>
              </a:rPr>
              <a:t>差分方程阶数：</a:t>
            </a:r>
            <a:r>
              <a:rPr kumimoji="1" lang="zh-CN" altLang="en-US" sz="2400">
                <a:latin typeface="华文中宋" panose="02010600040101010101" pitchFamily="2" charset="-122"/>
              </a:rPr>
              <a:t>响应最高序号与最低序号的差值。</a:t>
            </a:r>
            <a:endParaRPr lang="zh-CN" altLang="en-US" sz="2400">
              <a:latin typeface="华文中宋" panose="02010600040101010101" pitchFamily="2" charset="-122"/>
            </a:endParaRPr>
          </a:p>
        </p:txBody>
      </p:sp>
      <p:sp>
        <p:nvSpPr>
          <p:cNvPr id="634885" name="Rectangle 5"/>
          <p:cNvSpPr>
            <a:spLocks noChangeArrowheads="1"/>
          </p:cNvSpPr>
          <p:nvPr/>
        </p:nvSpPr>
        <p:spPr bwMode="auto">
          <a:xfrm>
            <a:off x="790367" y="6061983"/>
            <a:ext cx="4824413" cy="6762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>
                <a:latin typeface="华文中宋" panose="02010600040101010101" pitchFamily="2" charset="-122"/>
              </a:rPr>
              <a:t>离散自变量</a:t>
            </a:r>
            <a:r>
              <a:rPr kumimoji="1" lang="en-US" altLang="zh-CN" sz="2400">
                <a:latin typeface="华文中宋" panose="02010600040101010101" pitchFamily="2" charset="-122"/>
              </a:rPr>
              <a:t>k</a:t>
            </a:r>
            <a:r>
              <a:rPr kumimoji="1" lang="zh-CN" altLang="en-US" sz="2400">
                <a:latin typeface="华文中宋" panose="02010600040101010101" pitchFamily="2" charset="-122"/>
              </a:rPr>
              <a:t>不一定限于时间。</a:t>
            </a:r>
            <a:endParaRPr lang="zh-CN" altLang="en-US" sz="2400">
              <a:latin typeface="华文中宋" panose="02010600040101010101" pitchFamily="2" charset="-122"/>
            </a:endParaRPr>
          </a:p>
        </p:txBody>
      </p:sp>
      <p:sp>
        <p:nvSpPr>
          <p:cNvPr id="634886" name="Rectangle 6"/>
          <p:cNvSpPr>
            <a:spLocks noChangeArrowheads="1"/>
          </p:cNvSpPr>
          <p:nvPr/>
        </p:nvSpPr>
        <p:spPr bwMode="auto">
          <a:xfrm>
            <a:off x="685005" y="1395740"/>
            <a:ext cx="7885112" cy="1368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4955" indent="-27495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华文中宋" panose="02010600040101010101" pitchFamily="2" charset="-122"/>
              </a:rPr>
              <a:t>含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y(k)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，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y(k-1)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，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y(k-2),</a:t>
            </a:r>
            <a:r>
              <a:rPr kumimoji="1" lang="en-US" altLang="zh-CN" sz="2400" dirty="0">
                <a:latin typeface="Arial" panose="020B0604020202020204" pitchFamily="34" charset="0"/>
              </a:rPr>
              <a:t>…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的差分方程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: </a:t>
            </a:r>
            <a:r>
              <a:rPr kumimoji="1"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</a:rPr>
              <a:t>后向差分方程</a:t>
            </a:r>
            <a:endParaRPr kumimoji="1" lang="zh-CN" altLang="en-US" sz="2400" dirty="0">
              <a:solidFill>
                <a:srgbClr val="0000FF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华文中宋" panose="02010600040101010101" pitchFamily="2" charset="-122"/>
              </a:rPr>
              <a:t>含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y(k)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，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y(k+1)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，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y(k+2),</a:t>
            </a:r>
            <a:r>
              <a:rPr kumimoji="1" lang="en-US" altLang="zh-CN" sz="2400" dirty="0">
                <a:latin typeface="Arial" panose="020B0604020202020204" pitchFamily="34" charset="0"/>
              </a:rPr>
              <a:t>…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的差分方程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: </a:t>
            </a:r>
            <a:r>
              <a:rPr kumimoji="1"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</a:rPr>
              <a:t>前向差分方程</a:t>
            </a:r>
            <a:endParaRPr kumimoji="1" lang="zh-CN" altLang="en-US" sz="2400" dirty="0">
              <a:solidFill>
                <a:srgbClr val="0000FF"/>
              </a:solidFill>
              <a:latin typeface="华文中宋" panose="02010600040101010101" pitchFamily="2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2CAA76F-4CA2-41CB-81B0-B88014492ED3}" type="datetime1">
              <a:rPr lang="zh-CN" altLang="en-US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2"/>
              <p:cNvSpPr txBox="1"/>
              <p:nvPr/>
            </p:nvSpPr>
            <p:spPr bwMode="auto">
              <a:xfrm>
                <a:off x="855681" y="3371624"/>
                <a:ext cx="7862837" cy="1045627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)+⋯+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5681" y="3371624"/>
                <a:ext cx="7862837" cy="1045627"/>
              </a:xfrm>
              <a:prstGeom prst="rect">
                <a:avLst/>
              </a:prstGeom>
              <a:blipFill rotWithShape="1">
                <a:blip r:embed="rId2"/>
                <a:stretch>
                  <a:fillRect l="-368" t="-2772" r="-679" b="-5144"/>
                </a:stretch>
              </a:blip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771524" y="2799090"/>
            <a:ext cx="44422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 n</a:t>
            </a:r>
            <a:r>
              <a:rPr lang="zh-CN" altLang="en-US" dirty="0">
                <a:latin typeface="Times New Roman" panose="02020603050405020304" pitchFamily="18" charset="0"/>
              </a:rPr>
              <a:t>阶离散系统的差分方程为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488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488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488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34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4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34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34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4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3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882" grpId="0" animBg="1" build="p"/>
      <p:bldP spid="634883" grpId="0"/>
      <p:bldP spid="634884" grpId="0" animBg="1"/>
      <p:bldP spid="634885" grpId="0" animBg="1"/>
      <p:bldP spid="634886" grpId="0" animBg="1"/>
      <p:bldP spid="8" grpId="0" animBg="1"/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8611" name="Object 3"/>
              <p:cNvSpPr txBox="1"/>
              <p:nvPr/>
            </p:nvSpPr>
            <p:spPr bwMode="auto">
              <a:xfrm>
                <a:off x="381318" y="2084388"/>
                <a:ext cx="5903912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为第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个月兔子的对数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61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318" y="2084388"/>
                <a:ext cx="5903912" cy="431800"/>
              </a:xfrm>
              <a:prstGeom prst="rect">
                <a:avLst/>
              </a:prstGeom>
              <a:blipFill rotWithShape="1">
                <a:blip r:embed="rId1"/>
                <a:stretch>
                  <a:fillRect l="-5" t="-74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5912" name="Object 4"/>
              <p:cNvSpPr txBox="1"/>
              <p:nvPr/>
            </p:nvSpPr>
            <p:spPr bwMode="auto">
              <a:xfrm>
                <a:off x="513080" y="2449830"/>
                <a:ext cx="8502650" cy="3316605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</a:ln>
              <a:effectLst/>
            </p:spPr>
            <p:txBody>
              <a:bodyPr>
                <a:normAutofit fontScale="35000" lnSpcReduction="10000"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显然,第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个月的兔子数y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无论大小,在第(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 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个月后长成大兔子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 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从而在第(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)个月中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生出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)个小兔子;</m:t>
                    </m:r>
                  </m:oMath>
                </a14:m>
                <a:endParaRPr lang="zh-CN" altLang="en-US" sz="56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r>
                      <a:rPr lang="zh-CN" altLang="en-US" sz="5600" i="1">
                        <a:latin typeface="Cambria Math" panose="02040503050406030204" pitchFamily="18" charset="0"/>
                      </a:rPr>
                      <m:t>因为假设兔子不会死亡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，因此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第(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)个月的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)对兔子在</m:t>
                    </m:r>
                  </m:oMath>
                </a14:m>
                <a:endParaRPr lang="zh-CN" altLang="en-US" sz="5600" i="1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50000"/>
                  </a:lnSpc>
                  <a:buClrTx/>
                  <a:buSzTx/>
                  <a:buFont typeface="Wingdings" panose="05000000000000000000" charset="0"/>
                  <a:buNone/>
                </a:pPr>
                <a:r>
                  <a:rPr lang="en-US" altLang="zh-CN" sz="5600" i="1">
                    <a:latin typeface="Cambria Math" panose="02040503050406030204" pitchFamily="18" charset="0"/>
                  </a:rPr>
                  <a:t> </a:t>
                </a:r>
                <a:r>
                  <a:rPr lang="zh-CN" altLang="en-US" sz="5600" i="1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zh-CN" altLang="en-US" sz="5600" i="1">
                        <a:latin typeface="Cambria Math" panose="02040503050406030204" pitchFamily="18" charset="0"/>
                      </a:rPr>
                      <m:t>第(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 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个月中依然存活</m:t>
                    </m:r>
                    <m:r>
                      <a:rPr lang="en-US" altLang="zh-CN" sz="56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5600" i="1">
                        <a:latin typeface="Cambria Math" panose="02040503050406030204" pitchFamily="18" charset="0"/>
                      </a:rPr>
                      <m:t>使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第(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5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)月中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大兔子的个数为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5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5600" b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；</a:t>
                </a:r>
                <a:r>
                  <a:rPr lang="en-US" altLang="zh-CN" sz="5600" b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   </a:t>
                </a:r>
                <a:endParaRPr lang="en-US" altLang="zh-CN" sz="5600" b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342900" indent="-342900" algn="l">
                  <a:lnSpc>
                    <a:spcPct val="150000"/>
                  </a:lnSpc>
                  <a:buClrTx/>
                  <a:buSzTx/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而第(</m:t>
                    </m:r>
                    <m:r>
                      <m:rPr>
                        <m:sty m:val="p"/>
                      </m:rP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)月</m:t>
                    </m:r>
                    <m:r>
                      <a:rPr lang="zh-CN" altLang="en-US" sz="5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增加了新生</m:t>
                    </m:r>
                    <m:r>
                      <m:rPr>
                        <m:sty m:val="p"/>
                      </m:rPr>
                      <a:rPr lang="zh-CN" altLang="en-US" sz="5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zh-CN" altLang="en-US" sz="5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CN" altLang="en-US" sz="5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zh-CN" altLang="en-US" sz="5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)个小兔子</m:t>
                    </m:r>
                    <m:r>
                      <a:rPr lang="en-US" altLang="zh-CN" sz="56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560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Wingdings" panose="05000000000000000000" charset="0"/>
                  <a:buChar char="Ø"/>
                </a:pPr>
                <a:r>
                  <a:rPr lang="zh-CN" altLang="en-US" sz="560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第(</m:t>
                    </m:r>
                    <m:r>
                      <m:rPr>
                        <m:sty m:val="p"/>
                      </m:rP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5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)月</m:t>
                    </m:r>
                  </m:oMath>
                </a14:m>
                <a:r>
                  <a:rPr lang="zh-CN" altLang="en-US" sz="560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底的兔子数：</a:t>
                </a:r>
                <a:endParaRPr lang="zh-CN" altLang="en-US" sz="560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50000"/>
                  </a:lnSpc>
                  <a:buClrTx/>
                  <a:buSzTx/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等于大兔子的对数</m:t>
                      </m:r>
                      <m:r>
                        <a:rPr lang="en-US" altLang="zh-CN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(k+</m:t>
                      </m:r>
                      <m:r>
                        <a:rPr lang="en-US" altLang="zh-CN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  <m:r>
                        <a:rPr lang="zh-CN" altLang="en-US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与小兔子对数</m:t>
                      </m:r>
                      <m:r>
                        <a:rPr lang="zh-CN" altLang="en-US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69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)之和</m:t>
                      </m:r>
                    </m:oMath>
                  </m:oMathPara>
                </a14:m>
                <a:endParaRPr lang="zh-CN" altLang="en-US" sz="6900" b="0">
                  <a:solidFill>
                    <a:srgbClr val="FF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359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080" y="2449830"/>
                <a:ext cx="8502650" cy="3316605"/>
              </a:xfrm>
              <a:prstGeom prst="rect">
                <a:avLst/>
              </a:prstGeom>
              <a:blipFill rotWithShape="1">
                <a:blip r:embed="rId2"/>
                <a:stretch>
                  <a:fillRect l="-224" t="-574" r="-224" b="-574"/>
                </a:stretch>
              </a:blipFill>
              <a:ln w="38100">
                <a:solidFill>
                  <a:srgbClr val="FF0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5914" name="Object 5"/>
              <p:cNvSpPr txBox="1"/>
              <p:nvPr/>
            </p:nvSpPr>
            <p:spPr bwMode="auto">
              <a:xfrm>
                <a:off x="868045" y="6000115"/>
                <a:ext cx="7920355" cy="635000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由此得到方程：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591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8045" y="6000115"/>
                <a:ext cx="7920355" cy="6350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1209A5D-8C30-455E-A95D-B97751361502}" type="datetime1">
              <a:rPr lang="zh-CN" altLang="en-US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97815" y="106045"/>
                <a:ext cx="8846185" cy="18256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例题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𝟕−𝟏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：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著名的斐波那契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（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  <a:cs typeface="Cambria Math" panose="02040503050406030204" pitchFamily="18" charset="0"/>
                        </a:rPr>
                        <m:t>𝐹𝑖𝑏𝑛𝑎𝑐𝑐𝑖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)数列问题。</m:t>
                      </m:r>
                    </m:oMath>
                  </m:oMathPara>
                </a14:m>
                <a:endParaRPr lang="zh-CN" altLang="en-US" i="1">
                  <a:solidFill>
                    <a:srgbClr val="FF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   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假设每对大兔子每个月生一对小兔子</m:t>
                      </m:r>
                      <m:r>
                        <a:rPr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，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而每对小兔子</m:t>
                      </m:r>
                    </m:oMath>
                  </m:oMathPara>
                </a14:m>
                <a:endParaRPr lang="zh-CN" altLang="en-US">
                  <a:solidFill>
                    <a:srgbClr val="00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一个月后长成大兔子</m:t>
                      </m:r>
                      <m:r>
                        <a:rPr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，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而且不会死亡。在最初一个月</m:t>
                      </m:r>
                    </m:oMath>
                  </m:oMathPara>
                </a14:m>
                <a:endParaRPr lang="zh-CN" altLang="en-US">
                  <a:solidFill>
                    <a:srgbClr val="00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内有一对大兔子,问第</m:t>
                      </m:r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  <a:cs typeface="Cambria Math" panose="02040503050406030204" pitchFamily="18" charset="0"/>
                        </a:rPr>
                        <m:t>n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个月时一共有几对兔子?</m:t>
                      </m:r>
                    </m:oMath>
                  </m:oMathPara>
                </a14:m>
                <a:endParaRPr lang="zh-CN" altLang="en-US">
                  <a:solidFill>
                    <a:srgbClr val="00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15" y="106045"/>
                <a:ext cx="8846185" cy="18256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9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59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ldLvl="0" animBg="1"/>
      <p:bldP spid="635914" grpId="0" bldLvl="0" animBg="1"/>
      <p:bldP spid="635912" grpId="0" bldLvl="0" animBg="1"/>
      <p:bldP spid="635912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9634" name="Object 2"/>
              <p:cNvSpPr txBox="1"/>
              <p:nvPr/>
            </p:nvSpPr>
            <p:spPr bwMode="auto">
              <a:xfrm>
                <a:off x="398780" y="78105"/>
                <a:ext cx="8745855" cy="276923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FF0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例题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plcHide m:val="on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</m:m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plcHide m:val="on"/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</m:m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C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         </m:t>
                    </m:r>
                    <m:r>
                      <a:rPr lang="zh-CN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一个空运控制系统，它用一台计算机每隔一秒钟计算一次飞机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应有的高度</m:t>
                    </m:r>
                    <m:r>
                      <m:rPr>
                        <m:sty m:val="p"/>
                      </m:rP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zh-CN" altLang="en-US" sz="18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另外用一雷达在计算的同时对飞机</m:t>
                      </m:r>
                      <m: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实测一次高度</m:t>
                      </m:r>
                      <m:r>
                        <m:rPr>
                          <m:sty m:val="p"/>
                        </m:rP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，把应有高度</m:t>
                      </m:r>
                      <m:r>
                        <m:rPr>
                          <m:sty m:val="p"/>
                        </m:rP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)与前一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秒的</m:t>
                      </m:r>
                    </m:oMath>
                  </m:oMathPara>
                </a14:m>
                <a:endParaRPr lang="zh-CN" altLang="en-US" sz="18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实测高度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𝒌−𝟏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相比较得一差值，飞机将根据此差值来改变。</m:t>
                      </m:r>
                    </m:oMath>
                  </m:oMathPara>
                </a14:m>
                <a:endParaRPr lang="zh-CN" altLang="en-US" sz="18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         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设飞机爬升的垂直速度为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K</m:t>
                      </m:r>
                      <m:r>
                        <a:rPr lang="en-US" altLang="zh-CN" sz="1800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v</m:t>
                      </m:r>
                      <m:r>
                        <a:rPr lang="en-US" altLang="zh-CN" sz="1800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则飞机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高度的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增加量正比于该差值，即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altLang="zh-CN" sz="18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                                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sz="18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  <a:buClrTx/>
                  <a:buSzTx/>
                  <a:buNone/>
                </a:pP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求该问题的差分方程。</m:t>
                    </m:r>
                  </m:oMath>
                </a14:m>
                <a:r>
                  <a:rPr lang="en-US" altLang="zh-C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  <a:endParaRPr lang="en-US" altLang="zh-CN" sz="20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  <a:cs typeface="Cambria Math" panose="02040503050406030204" pitchFamily="18" charset="0"/>
                        </a:rPr>
                        <m:t>          </m:t>
                      </m:r>
                    </m:oMath>
                  </m:oMathPara>
                </a14:m>
                <a:endParaRPr lang="zh-CN" altLang="en-US" sz="1800">
                  <a:solidFill>
                    <a:srgbClr val="000000"/>
                  </a:solidFill>
                  <a:latin typeface="Cambria Math" panose="02040503050406030204" pitchFamily="18" charset="0"/>
                  <a:ea typeface="+mj-ea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963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780" y="78105"/>
                <a:ext cx="8745855" cy="2769235"/>
              </a:xfrm>
              <a:prstGeom prst="rect">
                <a:avLst/>
              </a:prstGeom>
              <a:blipFill rotWithShape="1">
                <a:blip r:embed="rId1"/>
                <a:stretch>
                  <a:fillRect l="-58" t="-183" r="-341" b="-7819"/>
                </a:stretch>
              </a:blipFill>
              <a:ln w="9525">
                <a:solidFill>
                  <a:srgbClr val="FF0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3731" name="Object 3"/>
              <p:cNvSpPr txBox="1"/>
              <p:nvPr/>
            </p:nvSpPr>
            <p:spPr bwMode="auto">
              <a:xfrm>
                <a:off x="521018" y="3068638"/>
                <a:ext cx="6802437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从第（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秒到第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秒钟内飞机升高为：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1373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018" y="3068638"/>
                <a:ext cx="6802437" cy="431800"/>
              </a:xfrm>
              <a:prstGeom prst="rect">
                <a:avLst/>
              </a:prstGeom>
              <a:blipFill rotWithShape="1">
                <a:blip r:embed="rId2"/>
                <a:stretch>
                  <a:fillRect l="-5" t="-74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3734" name="Object 4"/>
              <p:cNvSpPr txBox="1"/>
              <p:nvPr/>
            </p:nvSpPr>
            <p:spPr bwMode="auto">
              <a:xfrm>
                <a:off x="2427288" y="3601085"/>
                <a:ext cx="4895850" cy="4572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373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7288" y="3601085"/>
                <a:ext cx="4895850" cy="457200"/>
              </a:xfrm>
              <a:prstGeom prst="rect">
                <a:avLst/>
              </a:prstGeom>
              <a:blipFill rotWithShape="1">
                <a:blip r:embed="rId3"/>
                <a:stretch>
                  <a:fillRect l="-97" t="-1111" r="-616" b="-6528"/>
                </a:stretch>
              </a:blipFill>
              <a:ln w="9525">
                <a:solidFill>
                  <a:schemeClr val="bg2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3735" name="Object 5"/>
              <p:cNvSpPr txBox="1"/>
              <p:nvPr/>
            </p:nvSpPr>
            <p:spPr bwMode="auto">
              <a:xfrm>
                <a:off x="1331913" y="4292600"/>
                <a:ext cx="1223962" cy="406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整理得：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1373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913" y="4292600"/>
                <a:ext cx="1223962" cy="406400"/>
              </a:xfrm>
              <a:prstGeom prst="rect">
                <a:avLst/>
              </a:prstGeom>
              <a:blipFill rotWithShape="1">
                <a:blip r:embed="rId4"/>
                <a:stretch>
                  <a:fillRect l="-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3736" name="Object 6"/>
              <p:cNvSpPr txBox="1"/>
              <p:nvPr/>
            </p:nvSpPr>
            <p:spPr bwMode="auto">
              <a:xfrm>
                <a:off x="2770505" y="5044440"/>
                <a:ext cx="4552950" cy="4572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2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373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0505" y="5044440"/>
                <a:ext cx="4552950" cy="457200"/>
              </a:xfrm>
              <a:prstGeom prst="rect">
                <a:avLst/>
              </a:prstGeom>
              <a:blipFill rotWithShape="1">
                <a:blip r:embed="rId5"/>
                <a:stretch>
                  <a:fillRect l="-112" t="-1111" r="-656" b="-6528"/>
                </a:stretch>
              </a:blipFill>
              <a:ln w="9525">
                <a:solidFill>
                  <a:schemeClr val="bg2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C781D5-A5F1-4491-9F12-32CDAD57EE2B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31" grpId="0" bldLvl="0" animBg="1"/>
      <p:bldP spid="713734" grpId="0" bldLvl="0" animBg="1"/>
      <p:bldP spid="713735" grpId="0" animBg="1"/>
      <p:bldP spid="713736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ChangeArrowheads="1"/>
          </p:cNvSpPr>
          <p:nvPr/>
        </p:nvSpPr>
        <p:spPr bwMode="auto">
          <a:xfrm>
            <a:off x="574675" y="188913"/>
            <a:ext cx="85693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例题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7-3   </a:t>
            </a:r>
            <a:r>
              <a:rPr lang="zh-CN" altLang="en-US" sz="2800" dirty="0">
                <a:latin typeface="Times New Roman" panose="02020603050405020304" pitchFamily="18" charset="0"/>
              </a:rPr>
              <a:t>一</a:t>
            </a:r>
            <a:r>
              <a:rPr lang="en-US" altLang="zh-CN" sz="2800" dirty="0">
                <a:latin typeface="Times New Roman" panose="02020603050405020304" pitchFamily="18" charset="0"/>
              </a:rPr>
              <a:t>RC</a:t>
            </a:r>
            <a:r>
              <a:rPr lang="zh-CN" altLang="en-US" sz="2800" dirty="0">
                <a:latin typeface="Times New Roman" panose="02020603050405020304" pitchFamily="18" charset="0"/>
              </a:rPr>
              <a:t>电路如图</a:t>
            </a:r>
            <a:r>
              <a:rPr lang="en-US" altLang="zh-CN" sz="2800" dirty="0">
                <a:latin typeface="Times New Roman" panose="02020603050405020304" pitchFamily="18" charset="0"/>
              </a:rPr>
              <a:t>7-10(a)</a:t>
            </a:r>
            <a:r>
              <a:rPr lang="zh-CN" altLang="en-US" sz="2800" dirty="0">
                <a:latin typeface="Times New Roman" panose="02020603050405020304" pitchFamily="18" charset="0"/>
              </a:rPr>
              <a:t>所示，若于输入端加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一离散的取样信号</a:t>
            </a:r>
            <a:r>
              <a:rPr lang="en-US" altLang="zh-CN" sz="2800" i="1" dirty="0">
                <a:latin typeface="Times New Roman" panose="02020603050405020304" pitchFamily="18" charset="0"/>
              </a:rPr>
              <a:t>e(k)</a:t>
            </a:r>
            <a:r>
              <a:rPr lang="zh-CN" altLang="en-US" sz="2800" dirty="0">
                <a:latin typeface="Times New Roman" panose="02020603050405020304" pitchFamily="18" charset="0"/>
              </a:rPr>
              <a:t>，如图 </a:t>
            </a:r>
            <a:r>
              <a:rPr lang="en-US" altLang="zh-CN" sz="2800" dirty="0">
                <a:latin typeface="Times New Roman" panose="02020603050405020304" pitchFamily="18" charset="0"/>
              </a:rPr>
              <a:t>7-10(b)</a:t>
            </a:r>
            <a:r>
              <a:rPr lang="zh-CN" altLang="en-US" sz="2800" dirty="0">
                <a:latin typeface="Times New Roman" panose="02020603050405020304" pitchFamily="18" charset="0"/>
              </a:rPr>
              <a:t>所示，现在要求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写出描写此系统工作时每隔时间</a:t>
            </a:r>
            <a:r>
              <a:rPr lang="en-US" altLang="zh-CN" sz="2800" dirty="0">
                <a:latin typeface="Times New Roman" panose="02020603050405020304" pitchFamily="18" charset="0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</a:rPr>
              <a:t>输出电压</a:t>
            </a:r>
            <a:r>
              <a:rPr lang="en-US" altLang="zh-CN" sz="2800" i="1" dirty="0">
                <a:latin typeface="Times New Roman" panose="02020603050405020304" pitchFamily="18" charset="0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与输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入信号间的关系的差分方程。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36934" name="Rectangle 6"/>
          <p:cNvSpPr>
            <a:spLocks noChangeArrowheads="1"/>
          </p:cNvSpPr>
          <p:nvPr/>
        </p:nvSpPr>
        <p:spPr bwMode="auto">
          <a:xfrm>
            <a:off x="574358" y="5433060"/>
            <a:ext cx="48450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黑体" panose="02010609060101010101" pitchFamily="49" charset="-122"/>
              </a:rPr>
              <a:t>e(k)</a:t>
            </a:r>
            <a:r>
              <a:rPr kumimoji="1" lang="zh-CN" altLang="en-US" sz="2400" dirty="0">
                <a:latin typeface="黑体" panose="02010609060101010101" pitchFamily="49" charset="-122"/>
              </a:rPr>
              <a:t>可表示为冲激序列之和：</a:t>
            </a:r>
            <a:endParaRPr kumimoji="1" lang="zh-CN" altLang="en-US" sz="2400" dirty="0"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6936" name="Object 3"/>
              <p:cNvSpPr txBox="1"/>
              <p:nvPr/>
            </p:nvSpPr>
            <p:spPr bwMode="auto">
              <a:xfrm>
                <a:off x="5419725" y="5304790"/>
                <a:ext cx="3118485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75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693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9725" y="5304790"/>
                <a:ext cx="3118485" cy="6985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6937" name="Object 4"/>
              <p:cNvSpPr txBox="1"/>
              <p:nvPr/>
            </p:nvSpPr>
            <p:spPr bwMode="auto">
              <a:xfrm>
                <a:off x="640715" y="4271010"/>
                <a:ext cx="5794375" cy="1082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微分方程为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693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715" y="4271010"/>
                <a:ext cx="5794375" cy="10826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04FDEB7-488C-4B38-8642-C48C24C1AE89}" type="datetime1">
              <a:rPr lang="zh-CN" altLang="en-US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"/>
              <p:cNvSpPr txBox="1"/>
              <p:nvPr/>
            </p:nvSpPr>
            <p:spPr bwMode="auto">
              <a:xfrm>
                <a:off x="4382770" y="5353685"/>
                <a:ext cx="1353820" cy="569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i="1" dirty="0">
                  <a:solidFill>
                    <a:srgbClr val="FF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2770" y="5353685"/>
                <a:ext cx="1353820" cy="5695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1084580" y="2188210"/>
            <a:ext cx="6263640" cy="2002790"/>
            <a:chOff x="1643" y="3813"/>
            <a:chExt cx="9864" cy="3154"/>
          </a:xfrm>
        </p:grpSpPr>
        <p:pic>
          <p:nvPicPr>
            <p:cNvPr id="70659" name="Picture 5" descr="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3" y="3813"/>
              <a:ext cx="9865" cy="3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文本框 1"/>
            <p:cNvSpPr txBox="1"/>
            <p:nvPr/>
          </p:nvSpPr>
          <p:spPr>
            <a:xfrm>
              <a:off x="1795" y="5197"/>
              <a:ext cx="1056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spAutoFit/>
            </a:bodyPr>
            <a:p>
              <a:r>
                <a:rPr kumimoji="1" lang="en-US" altLang="zh-CN" sz="1800" dirty="0">
                  <a:sym typeface="+mn-ea"/>
                </a:rPr>
                <a:t>e(k)</a:t>
              </a:r>
              <a:endParaRPr kumimoji="1" lang="en-US" altLang="zh-CN" sz="1800" dirty="0">
                <a:sym typeface="+mn-ea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334" y="3923"/>
              <a:ext cx="1056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spAutoFit/>
            </a:bodyPr>
            <a:p>
              <a:r>
                <a:rPr kumimoji="1" lang="en-US" altLang="zh-CN" sz="1800" dirty="0">
                  <a:sym typeface="+mn-ea"/>
                </a:rPr>
                <a:t>e(k)</a:t>
              </a:r>
              <a:endParaRPr kumimoji="1" lang="en-US" altLang="zh-CN" sz="1800" dirty="0"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804" y="5073"/>
              <a:ext cx="1056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spAutoFit/>
            </a:bodyPr>
            <a:p>
              <a:r>
                <a:rPr kumimoji="1" lang="en-US" altLang="zh-CN" sz="1800" dirty="0">
                  <a:sym typeface="+mn-ea"/>
                </a:rPr>
                <a:t>u(k)</a:t>
              </a:r>
              <a:endParaRPr kumimoji="1" lang="en-US" altLang="zh-CN" sz="1800" dirty="0"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3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4" grpId="0"/>
      <p:bldP spid="636936" grpId="0"/>
      <p:bldP spid="636937" grpId="0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3" name="Rectangle 3"/>
          <p:cNvSpPr>
            <a:spLocks noChangeArrowheads="1"/>
          </p:cNvSpPr>
          <p:nvPr/>
        </p:nvSpPr>
        <p:spPr bwMode="auto">
          <a:xfrm>
            <a:off x="755650" y="3141663"/>
            <a:ext cx="7705725" cy="12109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1"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    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计算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t≥kT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时的响应：设</a:t>
            </a: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t=kT-0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时的输出为</a:t>
            </a: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u(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kT</a:t>
            </a: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，则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t=kT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</a:t>
            </a: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u(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kT</a:t>
            </a:r>
            <a:r>
              <a:rPr kumimoji="1"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为其初始状态。</a:t>
            </a:r>
            <a:endParaRPr kumimoji="1"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8804" name="Object 2"/>
              <p:cNvSpPr txBox="1">
                <a:spLocks noGrp="1"/>
              </p:cNvSpPr>
              <p:nvPr>
                <p:ph sz="half" idx="1"/>
              </p:nvPr>
            </p:nvSpPr>
            <p:spPr bwMode="auto">
              <a:xfrm>
                <a:off x="1800859" y="4694238"/>
                <a:ext cx="4240225" cy="136368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𝑘𝑇</m:t>
                      </m:r>
                      <m:r>
                        <a:rPr lang="zh-CN" altLang="en-US"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5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5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5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5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𝐾𝑇</m:t>
                              </m:r>
                            </m:num>
                            <m:den>
                              <m:r>
                                <a:rPr lang="zh-CN" altLang="en-US" sz="5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8880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1800859" y="4694238"/>
                <a:ext cx="4240225" cy="1363687"/>
              </a:xfrm>
              <a:prstGeom prst="rect">
                <a:avLst/>
              </a:prstGeom>
              <a:blipFill rotWithShape="1">
                <a:blip r:embed="rId1"/>
                <a:stretch>
                  <a:fillRect l="-15" t="-536" r="8" b="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8811" name="Rectangle 11"/>
          <p:cNvSpPr>
            <a:spLocks noChangeArrowheads="1"/>
          </p:cNvSpPr>
          <p:nvPr/>
        </p:nvSpPr>
        <p:spPr bwMode="auto">
          <a:xfrm>
            <a:off x="565150" y="180975"/>
            <a:ext cx="5832475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§7.3 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离散时间系统的描述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71685" name="Rectangle 13"/>
          <p:cNvSpPr>
            <a:spLocks noChangeArrowheads="1"/>
          </p:cNvSpPr>
          <p:nvPr/>
        </p:nvSpPr>
        <p:spPr bwMode="auto">
          <a:xfrm>
            <a:off x="684213" y="968375"/>
            <a:ext cx="2519362" cy="6572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求零输入响应</a:t>
            </a:r>
            <a:endParaRPr kumimoji="1" lang="zh-CN" altLang="en-US" sz="2800">
              <a:solidFill>
                <a:srgbClr val="FF33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71686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0"/>
            <a:ext cx="2376487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1687" name="Object 3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6300788" y="2114233"/>
                <a:ext cx="2520950" cy="730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68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6300788" y="2114233"/>
                <a:ext cx="2520950" cy="730250"/>
              </a:xfrm>
              <a:prstGeom prst="rect">
                <a:avLst/>
              </a:prstGeom>
              <a:blipFill rotWithShape="1">
                <a:blip r:embed="rId3"/>
                <a:stretch>
                  <a:fillRect l="-13" t="-44" r="13" b="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688" name="Object 4"/>
              <p:cNvSpPr txBox="1"/>
              <p:nvPr/>
            </p:nvSpPr>
            <p:spPr bwMode="auto">
              <a:xfrm>
                <a:off x="438150" y="2066925"/>
                <a:ext cx="1679575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168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" y="2066925"/>
                <a:ext cx="1679575" cy="6413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8819" name="Object 5"/>
              <p:cNvSpPr txBox="1"/>
              <p:nvPr/>
            </p:nvSpPr>
            <p:spPr bwMode="auto">
              <a:xfrm>
                <a:off x="1988503" y="1817688"/>
                <a:ext cx="1604962" cy="9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32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8881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8503" y="1817688"/>
                <a:ext cx="1604962" cy="927100"/>
              </a:xfrm>
              <a:prstGeom prst="rect">
                <a:avLst/>
              </a:prstGeom>
              <a:blipFill rotWithShape="1">
                <a:blip r:embed="rId5"/>
                <a:stretch>
                  <a:fillRect l="-20" t="-34" r="-4510" b="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8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3" grpId="0" bldLvl="0" animBg="1"/>
      <p:bldP spid="588804" grpId="0" animBg="1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611188" y="1052513"/>
            <a:ext cx="2232025" cy="596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1" lang="en-US" altLang="zh-CN" sz="280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 </a:t>
            </a: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零状态响应</a:t>
            </a:r>
            <a:endParaRPr kumimoji="1" lang="zh-CN" altLang="en-US" sz="2800">
              <a:solidFill>
                <a:srgbClr val="FF33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7284" name="Object 2"/>
              <p:cNvSpPr txBox="1"/>
              <p:nvPr/>
            </p:nvSpPr>
            <p:spPr bwMode="auto">
              <a:xfrm>
                <a:off x="1116013" y="2775268"/>
                <a:ext cx="1028700" cy="512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3728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2775268"/>
                <a:ext cx="1028700" cy="512762"/>
              </a:xfrm>
              <a:prstGeom prst="rect">
                <a:avLst/>
              </a:prstGeom>
              <a:blipFill rotWithShape="1">
                <a:blip r:embed="rId1"/>
                <a:stretch>
                  <a:fillRect l="-31" t="-62" r="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285" name="Rectangle 5"/>
          <p:cNvSpPr>
            <a:spLocks noChangeArrowheads="1"/>
          </p:cNvSpPr>
          <p:nvPr/>
        </p:nvSpPr>
        <p:spPr bwMode="auto">
          <a:xfrm>
            <a:off x="544513" y="1726248"/>
            <a:ext cx="381635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该电路的冲激响应为： </a:t>
            </a:r>
            <a:endParaRPr kumimoji="1"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709" name="Object 3"/>
              <p:cNvSpPr txBox="1"/>
              <p:nvPr/>
            </p:nvSpPr>
            <p:spPr bwMode="auto">
              <a:xfrm>
                <a:off x="4509770" y="2682240"/>
                <a:ext cx="452755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激励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7270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9770" y="2682240"/>
                <a:ext cx="4527550" cy="6985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7287" name="Object 4"/>
              <p:cNvSpPr txBox="1"/>
              <p:nvPr/>
            </p:nvSpPr>
            <p:spPr bwMode="auto">
              <a:xfrm>
                <a:off x="386080" y="4653280"/>
                <a:ext cx="4606925" cy="1464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7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3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KT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KT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zh-CN" altLang="en-US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              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sSup>
                        <m:sSupPr>
                          <m:ctrlPr>
                            <a:rPr lang="zh-CN" alt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zh-CN" altLang="en-US" sz="3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𝑘𝑇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𝑘𝑇</m:t>
                      </m:r>
                      <m:r>
                        <a:rPr lang="zh-CN" altLang="en-US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3400" i="1" dirty="0">
                  <a:solidFill>
                    <a:srgbClr val="00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3728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080" y="4653280"/>
                <a:ext cx="4606925" cy="14643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288" name="Rectangle 8"/>
          <p:cNvSpPr>
            <a:spLocks noChangeArrowheads="1"/>
          </p:cNvSpPr>
          <p:nvPr/>
        </p:nvSpPr>
        <p:spPr bwMode="auto">
          <a:xfrm>
            <a:off x="611188" y="333375"/>
            <a:ext cx="5832475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§7.3 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离散时间系统的描述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pic>
        <p:nvPicPr>
          <p:cNvPr id="7271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0"/>
            <a:ext cx="2376487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2713" name="Object 5"/>
              <p:cNvSpPr txBox="1"/>
              <p:nvPr/>
            </p:nvSpPr>
            <p:spPr bwMode="auto">
              <a:xfrm>
                <a:off x="6300788" y="1989138"/>
                <a:ext cx="2520950" cy="730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271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0788" y="1989138"/>
                <a:ext cx="2520950" cy="730250"/>
              </a:xfrm>
              <a:prstGeom prst="rect">
                <a:avLst/>
              </a:prstGeom>
              <a:blipFill rotWithShape="1">
                <a:blip r:embed="rId5"/>
                <a:stretch>
                  <a:fillRect l="-13" t="-44" r="13" b="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7292" name="Object 6"/>
              <p:cNvSpPr txBox="1"/>
              <p:nvPr/>
            </p:nvSpPr>
            <p:spPr bwMode="auto">
              <a:xfrm>
                <a:off x="2339975" y="2414905"/>
                <a:ext cx="1446213" cy="1058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3729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975" y="2414905"/>
                <a:ext cx="1446213" cy="1058863"/>
              </a:xfrm>
              <a:prstGeom prst="rect">
                <a:avLst/>
              </a:prstGeom>
              <a:blipFill rotWithShape="1">
                <a:blip r:embed="rId6"/>
                <a:stretch>
                  <a:fillRect r="22" b="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7294" name="Object 7"/>
              <p:cNvSpPr txBox="1"/>
              <p:nvPr/>
            </p:nvSpPr>
            <p:spPr bwMode="auto">
              <a:xfrm>
                <a:off x="483553" y="3731895"/>
                <a:ext cx="8177212" cy="4778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第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个冲激分量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零状态响应分量为：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3729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553" y="3731895"/>
                <a:ext cx="8177212" cy="477838"/>
              </a:xfrm>
              <a:prstGeom prst="rect">
                <a:avLst/>
              </a:prstGeom>
              <a:blipFill rotWithShape="1">
                <a:blip r:embed="rId7"/>
                <a:stretch>
                  <a:fillRect l="-58" t="-1063" r="-365" b="-6312"/>
                </a:stretch>
              </a:blipFill>
              <a:ln w="9525">
                <a:solidFill>
                  <a:schemeClr val="accent2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7295" name="Object 8"/>
              <p:cNvSpPr txBox="1"/>
              <p:nvPr/>
            </p:nvSpPr>
            <p:spPr bwMode="auto">
              <a:xfrm>
                <a:off x="5160088" y="5081763"/>
                <a:ext cx="2160587" cy="1114425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3729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60088" y="5081763"/>
                <a:ext cx="2160587" cy="1114425"/>
              </a:xfrm>
              <a:prstGeom prst="rect">
                <a:avLst/>
              </a:prstGeom>
              <a:blipFill rotWithShape="1">
                <a:blip r:embed="rId8"/>
                <a:stretch>
                  <a:fillRect l="-298" t="-614" r="-1451" b="-2805"/>
                </a:stretch>
              </a:blipFill>
              <a:ln w="12700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9B6B68B-B3DB-4B75-BBA7-18C32B57CDBD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37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7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3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84" grpId="0"/>
      <p:bldP spid="737285" grpId="0"/>
      <p:bldP spid="737287" grpId="0" bldLvl="0" animBg="1"/>
      <p:bldP spid="737292" grpId="0"/>
      <p:bldP spid="737294" grpId="0" bldLvl="0" animBg="1"/>
      <p:bldP spid="737295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3730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2124075" y="765175"/>
                <a:ext cx="5832475" cy="95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zi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zS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kT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373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124075" y="765175"/>
                <a:ext cx="5832475" cy="954088"/>
              </a:xfrm>
              <a:prstGeom prst="rect">
                <a:avLst/>
              </a:prstGeom>
              <a:blipFill rotWithShape="1">
                <a:blip r:embed="rId1"/>
                <a:stretch>
                  <a:fillRect b="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9828" name="Rectangle 4"/>
          <p:cNvSpPr>
            <a:spLocks noChangeArrowheads="1"/>
          </p:cNvSpPr>
          <p:nvPr/>
        </p:nvSpPr>
        <p:spPr bwMode="auto">
          <a:xfrm>
            <a:off x="539750" y="0"/>
            <a:ext cx="5832475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§7.3 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离散时间系统的描述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9830" name="Object 3"/>
              <p:cNvSpPr txBox="1"/>
              <p:nvPr/>
            </p:nvSpPr>
            <p:spPr bwMode="auto">
              <a:xfrm>
                <a:off x="821055" y="1579880"/>
                <a:ext cx="8322945" cy="281813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 fontScale="8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zh-CN" altLang="en-US" sz="10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zh-CN" altLang="en-US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kT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𝑘𝑇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den>
                        </m:f>
                      </m:sup>
                    </m:sSup>
                  </m:oMath>
                </a14:m>
                <a:br>
                  <a:rPr lang="zh-CN" altLang="en-US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10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简记为：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br>
                  <a:rPr lang="zh-CN" altLang="en-US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10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𝑅𝐶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8983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055" y="1579880"/>
                <a:ext cx="8322945" cy="2818130"/>
              </a:xfrm>
              <a:prstGeom prst="rect">
                <a:avLst/>
              </a:prstGeom>
              <a:blipFill rotWithShape="1">
                <a:blip r:embed="rId2"/>
                <a:stretch>
                  <a:fillRect l="-61" t="-180" r="-359" b="-1059"/>
                </a:stretch>
              </a:blipFill>
              <a:ln w="9525">
                <a:solidFill>
                  <a:schemeClr val="accent2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33" name="Rectangle 7"/>
          <p:cNvSpPr>
            <a:spLocks noChangeArrowheads="1"/>
          </p:cNvSpPr>
          <p:nvPr/>
        </p:nvSpPr>
        <p:spPr bwMode="auto">
          <a:xfrm>
            <a:off x="611188" y="765175"/>
            <a:ext cx="1368425" cy="596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rgbClr val="FF33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全响应</a:t>
            </a:r>
            <a:endParaRPr kumimoji="1" lang="zh-CN" altLang="en-US" sz="2800">
              <a:solidFill>
                <a:srgbClr val="FF33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89833" name="Rectangle 9"/>
          <p:cNvSpPr>
            <a:spLocks noChangeArrowheads="1"/>
          </p:cNvSpPr>
          <p:nvPr/>
        </p:nvSpPr>
        <p:spPr bwMode="auto">
          <a:xfrm>
            <a:off x="365760" y="4624070"/>
            <a:ext cx="8778240" cy="93662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由该例可以看出，在一定条件下，对于连续时间系统的工作也可以用差分方程来描述；</a:t>
            </a:r>
            <a:endParaRPr lang="zh-CN" altLang="en-US" sz="240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89834" name="Rectangle 10"/>
          <p:cNvSpPr>
            <a:spLocks noChangeArrowheads="1"/>
          </p:cNvSpPr>
          <p:nvPr/>
        </p:nvSpPr>
        <p:spPr bwMode="auto">
          <a:xfrm>
            <a:off x="366395" y="5560695"/>
            <a:ext cx="8776970" cy="12973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     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差分方程是一种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处理离散变量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的函数关系的数学工具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,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离散变量不限于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时间变量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,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以下用一个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古典电阻网络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的例子来说明如何应用差分方程来描述其他离散变量的系统。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98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98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983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8983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898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89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9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89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8983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8983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898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89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89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89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33" grpId="0" animBg="1" build="allAtOnce"/>
      <p:bldP spid="589834" grpId="0" animBg="1" build="allAtOnce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06413" y="344488"/>
            <a:ext cx="8637587" cy="528955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例题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7-4   </a:t>
            </a:r>
            <a:r>
              <a:rPr lang="zh-CN" altLang="en-US" sz="2800">
                <a:latin typeface="Times New Roman" panose="02020603050405020304" pitchFamily="18" charset="0"/>
              </a:rPr>
              <a:t>图</a:t>
            </a:r>
            <a:r>
              <a:rPr lang="en-US" altLang="zh-CN" sz="2800">
                <a:latin typeface="Times New Roman" panose="02020603050405020304" pitchFamily="18" charset="0"/>
              </a:rPr>
              <a:t>7-11</a:t>
            </a:r>
            <a:r>
              <a:rPr lang="zh-CN" altLang="en-US" sz="2800">
                <a:latin typeface="Times New Roman" panose="02020603050405020304" pitchFamily="18" charset="0"/>
              </a:rPr>
              <a:t>所示为一电阻的梯形网络，其中每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一串联电阻值同为</a:t>
            </a:r>
            <a:r>
              <a:rPr lang="en-US" altLang="zh-CN" sz="2800" i="1">
                <a:latin typeface="Times New Roman" panose="02020603050405020304" pitchFamily="18" charset="0"/>
              </a:rPr>
              <a:t>R</a:t>
            </a:r>
            <a:r>
              <a:rPr lang="zh-CN" altLang="en-US" sz="2800">
                <a:latin typeface="Times New Roman" panose="02020603050405020304" pitchFamily="18" charset="0"/>
              </a:rPr>
              <a:t>，每一并联电阻值同为另一值</a:t>
            </a:r>
            <a:r>
              <a:rPr lang="en-US" altLang="zh-CN" sz="2800" i="1">
                <a:latin typeface="Times New Roman" panose="02020603050405020304" pitchFamily="18" charset="0"/>
              </a:rPr>
              <a:t>aR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为某一正实数。所以这网络是一重复的梯形结构。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该网络各个节点对公共节点的电压为</a:t>
            </a:r>
            <a:r>
              <a:rPr lang="en-US" altLang="zh-CN" sz="2800" i="1">
                <a:latin typeface="Times New Roman" panose="02020603050405020304" pitchFamily="18" charset="0"/>
              </a:rPr>
              <a:t>u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zh-CN" altLang="en-US" sz="2800">
                <a:latin typeface="Times New Roman" panose="02020603050405020304" pitchFamily="18" charset="0"/>
              </a:rPr>
              <a:t>分别为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…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。试写出这个系统的差分方程。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zh-CN"/>
          </a:p>
        </p:txBody>
      </p:sp>
      <p:graphicFrame>
        <p:nvGraphicFramePr>
          <p:cNvPr id="74755" name="Object 2"/>
          <p:cNvGraphicFramePr>
            <a:graphicFrameLocks noChangeAspect="1"/>
          </p:cNvGraphicFramePr>
          <p:nvPr/>
        </p:nvGraphicFramePr>
        <p:xfrm>
          <a:off x="1020763" y="3321050"/>
          <a:ext cx="7631112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6" name="Image" r:id="rId1" imgW="4407535" imgH="1536065" progId="">
                  <p:embed/>
                </p:oleObj>
              </mc:Choice>
              <mc:Fallback>
                <p:oleObj name="Image" r:id="rId1" imgW="4407535" imgH="1536065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3321050"/>
                        <a:ext cx="7631112" cy="2657475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EFB35E4-7D64-4EFA-9755-EE62832D0C7D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971550" y="4797425"/>
            <a:ext cx="7329488" cy="6477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再经整理，即得该系统的差分方程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graphicFrame>
        <p:nvGraphicFramePr>
          <p:cNvPr id="75779" name="Object 2"/>
          <p:cNvGraphicFramePr>
            <a:graphicFrameLocks noChangeAspect="1"/>
          </p:cNvGraphicFramePr>
          <p:nvPr/>
        </p:nvGraphicFramePr>
        <p:xfrm>
          <a:off x="1297305" y="0"/>
          <a:ext cx="6011545" cy="2429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89" name="Image" r:id="rId1" imgW="3712210" imgH="1499870" progId="">
                  <p:embed/>
                </p:oleObj>
              </mc:Choice>
              <mc:Fallback>
                <p:oleObj name="Image" r:id="rId1" imgW="3712210" imgH="149987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305" y="0"/>
                        <a:ext cx="6011545" cy="2429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38982" name="Object 3"/>
              <p:cNvSpPr txBox="1"/>
              <p:nvPr/>
            </p:nvSpPr>
            <p:spPr bwMode="auto">
              <a:xfrm>
                <a:off x="1347470" y="3796030"/>
                <a:ext cx="6593840" cy="1000760"/>
              </a:xfrm>
              <a:prstGeom prst="rect">
                <a:avLst/>
              </a:prstGeom>
              <a:noFill/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>
                <a:normAutofit fontScale="75000" lnSpcReduction="20000"/>
              </a:bodyPr>
              <a:lstStyle/>
              <a:p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𝑎𝑅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3898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7470" y="3796030"/>
                <a:ext cx="6593840" cy="1000760"/>
              </a:xfrm>
              <a:prstGeom prst="rect">
                <a:avLst/>
              </a:prstGeom>
              <a:blipFill rotWithShape="1">
                <a:blip r:embed="rId3"/>
                <a:stretch>
                  <a:fillRect l="-289" t="-1904" r="-289" b="-1904"/>
                </a:stretch>
              </a:blipFill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8983" name="Object 4"/>
              <p:cNvSpPr txBox="1"/>
              <p:nvPr/>
            </p:nvSpPr>
            <p:spPr bwMode="auto">
              <a:xfrm>
                <a:off x="2270760" y="5548630"/>
                <a:ext cx="4911090" cy="10077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80000" lnSpcReduction="20000"/>
              </a:bodyPr>
              <a:lstStyle/>
              <a:p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3898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0760" y="5548630"/>
                <a:ext cx="4911090" cy="1007745"/>
              </a:xfrm>
              <a:prstGeom prst="rect">
                <a:avLst/>
              </a:prstGeom>
              <a:blipFill rotWithShape="1">
                <a:blip r:embed="rId4"/>
                <a:stretch>
                  <a:fillRect l="-388" t="-1890" r="-892" b="-4348"/>
                </a:stretch>
              </a:blipFill>
              <a:ln w="3810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8984" name="Rectangle 8"/>
          <p:cNvSpPr>
            <a:spLocks noChangeArrowheads="1"/>
          </p:cNvSpPr>
          <p:nvPr/>
        </p:nvSpPr>
        <p:spPr bwMode="auto">
          <a:xfrm>
            <a:off x="611188" y="2429193"/>
            <a:ext cx="82296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解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>
                <a:latin typeface="Times New Roman" panose="02020603050405020304" pitchFamily="18" charset="0"/>
              </a:rPr>
              <a:t>把系统中第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k+</a:t>
            </a:r>
            <a:r>
              <a:rPr lang="en-US" altLang="zh-CN" sz="2400">
                <a:latin typeface="Times New Roman" panose="02020603050405020304" pitchFamily="18" charset="0"/>
              </a:rPr>
              <a:t>1)</a:t>
            </a:r>
            <a:r>
              <a:rPr lang="zh-CN" altLang="en-US" sz="2400">
                <a:latin typeface="Times New Roman" panose="02020603050405020304" pitchFamily="18" charset="0"/>
              </a:rPr>
              <a:t>个节点的电流关系特别画出如图 </a:t>
            </a:r>
            <a:r>
              <a:rPr lang="en-US" altLang="zh-CN" sz="2400">
                <a:latin typeface="Times New Roman" panose="02020603050405020304" pitchFamily="18" charset="0"/>
              </a:rPr>
              <a:t>7-12</a:t>
            </a:r>
            <a:r>
              <a:rPr lang="zh-CN" altLang="en-US" sz="2400">
                <a:latin typeface="Times New Roman" panose="02020603050405020304" pitchFamily="18" charset="0"/>
              </a:rPr>
              <a:t>所示。由图显然可见，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=i</a:t>
            </a:r>
            <a:r>
              <a:rPr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+i</a:t>
            </a:r>
            <a:r>
              <a:rPr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；</a:t>
            </a:r>
            <a:r>
              <a:rPr lang="zh-CN" altLang="en-US" sz="2400">
                <a:latin typeface="Times New Roman" panose="02020603050405020304" pitchFamily="18" charset="0"/>
              </a:rPr>
              <a:t>同时，根据图中电压电流的简单关系，此式即可写成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EFF64BB-211A-4CC2-9232-E5AF7F886B9B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38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38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8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38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38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38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78" grpId="0" build="p"/>
      <p:bldP spid="638982" grpId="0" bldLvl="0" animBg="1"/>
      <p:bldP spid="638983" grpId="0" bldLvl="0" animBg="1"/>
      <p:bldP spid="63898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773238"/>
            <a:ext cx="8135937" cy="2447925"/>
          </a:xfrm>
          <a:ln w="38100">
            <a:solidFill>
              <a:srgbClr val="008000"/>
            </a:solidFill>
            <a:miter lim="800000"/>
          </a:ln>
        </p:spPr>
        <p:txBody>
          <a:bodyPr/>
          <a:lstStyle/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>
                <a:solidFill>
                  <a:schemeClr val="folHlink"/>
                </a:solidFill>
              </a:rPr>
              <a:t>   </a:t>
            </a:r>
            <a:r>
              <a:rPr lang="zh-CN" altLang="en-US" sz="2400" b="1">
                <a:solidFill>
                  <a:srgbClr val="FF0000"/>
                </a:solidFill>
              </a:rPr>
              <a:t>系统表示法                连续                 离散</a:t>
            </a:r>
            <a:endParaRPr lang="zh-CN" altLang="en-US" sz="2400" b="1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1</a:t>
            </a:r>
            <a:r>
              <a:rPr lang="zh-CN" altLang="en-US" sz="2400" b="1"/>
              <a:t>）系统</a:t>
            </a:r>
            <a:r>
              <a:rPr lang="en-US" altLang="zh-CN" sz="2400" b="1">
                <a:latin typeface="Times New Roman" panose="02020603050405020304" pitchFamily="18" charset="0"/>
              </a:rPr>
              <a:t>I/O</a:t>
            </a:r>
            <a:r>
              <a:rPr lang="zh-CN" altLang="en-US" sz="2400" b="1"/>
              <a:t>方程         微分方程          差分方程</a:t>
            </a:r>
            <a:endParaRPr lang="zh-CN" altLang="en-US" sz="2400" b="1"/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2</a:t>
            </a:r>
            <a:r>
              <a:rPr lang="zh-CN" altLang="en-US" sz="2400" b="1"/>
              <a:t>）框图模拟         三个基本单元     三个基本单元</a:t>
            </a:r>
            <a:endParaRPr lang="zh-CN" altLang="en-US" sz="2400" b="1"/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3</a:t>
            </a:r>
            <a:r>
              <a:rPr lang="zh-CN" altLang="en-US" sz="2400" b="1"/>
              <a:t>）系统函数               </a:t>
            </a:r>
            <a:r>
              <a:rPr lang="en-US" altLang="zh-CN" sz="2400" b="1"/>
              <a:t>H(S)                H(z) </a:t>
            </a:r>
            <a:endParaRPr lang="en-US" altLang="zh-CN" sz="2400" b="1"/>
          </a:p>
          <a:p>
            <a:pPr>
              <a:lnSpc>
                <a:spcPct val="125000"/>
              </a:lnSpc>
              <a:buFontTx/>
              <a:buNone/>
            </a:pPr>
            <a:endParaRPr lang="en-US" altLang="zh-CN" sz="2400" b="1"/>
          </a:p>
        </p:txBody>
      </p:sp>
      <p:grpSp>
        <p:nvGrpSpPr>
          <p:cNvPr id="2" name="Group 7"/>
          <p:cNvGrpSpPr/>
          <p:nvPr/>
        </p:nvGrpSpPr>
        <p:grpSpPr bwMode="auto">
          <a:xfrm>
            <a:off x="1006475" y="5121275"/>
            <a:ext cx="8137525" cy="863600"/>
            <a:chOff x="431" y="2797"/>
            <a:chExt cx="5126" cy="544"/>
          </a:xfrm>
        </p:grpSpPr>
        <p:sp>
          <p:nvSpPr>
            <p:cNvPr id="67590" name="AutoShape 4"/>
            <p:cNvSpPr>
              <a:spLocks noChangeArrowheads="1"/>
            </p:cNvSpPr>
            <p:nvPr/>
          </p:nvSpPr>
          <p:spPr bwMode="auto">
            <a:xfrm>
              <a:off x="2608" y="3113"/>
              <a:ext cx="544" cy="13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67591" name="AutoShape 5"/>
            <p:cNvSpPr>
              <a:spLocks noChangeArrowheads="1"/>
            </p:cNvSpPr>
            <p:nvPr/>
          </p:nvSpPr>
          <p:spPr bwMode="auto">
            <a:xfrm>
              <a:off x="2589" y="2831"/>
              <a:ext cx="544" cy="13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67592" name="Rectangle 6"/>
            <p:cNvSpPr>
              <a:spLocks noChangeArrowheads="1"/>
            </p:cNvSpPr>
            <p:nvPr/>
          </p:nvSpPr>
          <p:spPr bwMode="auto">
            <a:xfrm>
              <a:off x="431" y="2797"/>
              <a:ext cx="512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华文中宋" panose="02010600040101010101" pitchFamily="2" charset="-122"/>
                </a:rPr>
                <a:t>线性时不变连续系统                 线性常系数微分方程</a:t>
              </a:r>
              <a:endParaRPr lang="zh-CN" altLang="en-US" sz="2400">
                <a:latin typeface="华文中宋" panose="02010600040101010101" pitchFamily="2" charset="-122"/>
              </a:endParaRPr>
            </a:p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华文中宋" panose="02010600040101010101" pitchFamily="2" charset="-122"/>
                </a:rPr>
                <a:t>线性时</a:t>
              </a:r>
              <a:r>
                <a:rPr lang="en-US" altLang="zh-CN" sz="2400">
                  <a:latin typeface="华文中宋" panose="02010600040101010101" pitchFamily="2" charset="-122"/>
                </a:rPr>
                <a:t>/</a:t>
              </a:r>
              <a:r>
                <a:rPr lang="zh-CN" altLang="en-US" sz="2400">
                  <a:latin typeface="华文中宋" panose="02010600040101010101" pitchFamily="2" charset="-122"/>
                </a:rPr>
                <a:t>移不变离散系统            线性常系数差分方程</a:t>
              </a:r>
              <a:endParaRPr lang="zh-CN" altLang="en-US" sz="2400">
                <a:latin typeface="华文中宋" panose="02010600040101010101" pitchFamily="2" charset="-122"/>
              </a:endParaRPr>
            </a:p>
          </p:txBody>
        </p:sp>
      </p:grpSp>
      <p:sp>
        <p:nvSpPr>
          <p:cNvPr id="8" name="日期占位符 7"/>
          <p:cNvSpPr txBox="1">
            <a:spLocks noGrp="1"/>
          </p:cNvSpPr>
          <p:nvPr/>
        </p:nvSpPr>
        <p:spPr bwMode="auto">
          <a:xfrm>
            <a:off x="0" y="6538913"/>
            <a:ext cx="1139825" cy="319087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eaLnBrk="1" hangingPunct="1">
              <a:defRPr/>
            </a:pPr>
            <a:fld id="{11E0EC2A-35F6-4BC3-824B-821C59B92133}" type="datetime1">
              <a:rPr lang="zh-CN" altLang="en-US" sz="1200">
                <a:latin typeface="+mn-lt"/>
                <a:ea typeface="+mj-ea"/>
              </a:rPr>
            </a:fld>
            <a:endParaRPr lang="zh-CN" altLang="en-US" sz="1200">
              <a:latin typeface="+mn-lt"/>
              <a:ea typeface="+mj-ea"/>
            </a:endParaRPr>
          </a:p>
        </p:txBody>
      </p:sp>
      <p:sp>
        <p:nvSpPr>
          <p:cNvPr id="67589" name="Rectangle 2"/>
          <p:cNvSpPr>
            <a:spLocks noChangeArrowheads="1"/>
          </p:cNvSpPr>
          <p:nvPr/>
        </p:nvSpPr>
        <p:spPr bwMode="auto">
          <a:xfrm>
            <a:off x="539750" y="476250"/>
            <a:ext cx="6119813" cy="6477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回顾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、离散系统的描述</a:t>
            </a:r>
            <a:endParaRPr lang="zh-CN" altLang="en-US" sz="240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283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283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28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3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5" grpId="0" animBg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4" name="Rectangle 4"/>
          <p:cNvSpPr>
            <a:spLocks noChangeArrowheads="1"/>
          </p:cNvSpPr>
          <p:nvPr/>
        </p:nvSpPr>
        <p:spPr bwMode="auto">
          <a:xfrm>
            <a:off x="878150" y="3304972"/>
            <a:ext cx="7416800" cy="719138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>
                <a:solidFill>
                  <a:srgbClr val="FF0000"/>
                </a:solidFill>
                <a:latin typeface="华文中宋" panose="02010600040101010101" pitchFamily="2" charset="-122"/>
              </a:rPr>
              <a:t>差分方程阶数：</a:t>
            </a:r>
            <a:r>
              <a:rPr kumimoji="1" lang="zh-CN" altLang="en-US" sz="2400">
                <a:latin typeface="华文中宋" panose="02010600040101010101" pitchFamily="2" charset="-122"/>
              </a:rPr>
              <a:t>响应最高序号与最低序号的差值。</a:t>
            </a:r>
            <a:endParaRPr lang="zh-CN" altLang="en-US" sz="2400">
              <a:latin typeface="华文中宋" panose="02010600040101010101" pitchFamily="2" charset="-122"/>
            </a:endParaRPr>
          </a:p>
        </p:txBody>
      </p:sp>
      <p:sp>
        <p:nvSpPr>
          <p:cNvPr id="634885" name="Rectangle 5"/>
          <p:cNvSpPr>
            <a:spLocks noChangeArrowheads="1"/>
          </p:cNvSpPr>
          <p:nvPr/>
        </p:nvSpPr>
        <p:spPr bwMode="auto">
          <a:xfrm>
            <a:off x="878150" y="4828126"/>
            <a:ext cx="4824413" cy="676275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latin typeface="华文中宋" panose="02010600040101010101" pitchFamily="2" charset="-122"/>
              </a:rPr>
              <a:t>离散自变量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k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不一定限于时间。</a:t>
            </a:r>
            <a:endParaRPr lang="zh-CN" altLang="en-US" sz="2400" dirty="0">
              <a:latin typeface="华文中宋" panose="02010600040101010101" pitchFamily="2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2CAA76F-4CA2-41CB-81B0-B88014492ED3}" type="datetime1">
              <a:rPr lang="zh-CN" altLang="en-US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2"/>
              <p:cNvSpPr txBox="1"/>
              <p:nvPr/>
            </p:nvSpPr>
            <p:spPr bwMode="auto">
              <a:xfrm>
                <a:off x="790367" y="1367913"/>
                <a:ext cx="7862837" cy="1045627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)+⋯+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367" y="1367913"/>
                <a:ext cx="7862837" cy="1045627"/>
              </a:xfrm>
              <a:prstGeom prst="rect">
                <a:avLst/>
              </a:prstGeom>
              <a:blipFill rotWithShape="1">
                <a:blip r:embed="rId1"/>
                <a:stretch>
                  <a:fillRect l="-369" t="-2745" r="-686" b="-5110"/>
                </a:stretch>
              </a:blip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790367" y="266948"/>
            <a:ext cx="63126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中宋" panose="02010600040101010101" pitchFamily="2" charset="-122"/>
              </a:rPr>
              <a:t>回顾   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阶离散系统的差分方程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884" grpId="0" animBg="1"/>
      <p:bldP spid="634885" grpId="0" animBg="1"/>
      <p:bldP spid="8" grpId="0" animBg="1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0"/>
            <a:ext cx="5689600" cy="647700"/>
          </a:xfrm>
          <a:solidFill>
            <a:schemeClr val="accent2"/>
          </a:solidFill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§7.4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离散时间系统的零输入响应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827088" y="1700213"/>
            <a:ext cx="7921625" cy="3868737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75000"/>
              </a:lnSpc>
              <a:spcBef>
                <a:spcPct val="25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和线性连续时间系统求解微分方程时使用的方法一样，对于离散时间系统，在求解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差分方程</a:t>
            </a:r>
            <a:r>
              <a: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时，也可以分别求其</a:t>
            </a:r>
            <a:r>
              <a:rPr lang="zh-CN" altLang="en-US" sz="280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零输入分量</a:t>
            </a:r>
            <a:r>
              <a: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lang="zh-CN" altLang="en-US" sz="280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零状态分量</a:t>
            </a:r>
            <a:r>
              <a: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，然后叠加得到方程的</a:t>
            </a:r>
            <a:r>
              <a:rPr lang="zh-CN" altLang="en-US" sz="2800">
                <a:solidFill>
                  <a:srgbClr val="99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完全解</a:t>
            </a:r>
            <a:r>
              <a:rPr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。而解这两个分量的方法，也同解微分方程有相似之处。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9050F69-25C8-4230-8DF7-AAB356895DBF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4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7088" y="1052513"/>
            <a:ext cx="3416300" cy="10795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zh-CN" sz="2400" b="1">
                <a:solidFill>
                  <a:srgbClr val="CC3300"/>
                </a:solidFill>
              </a:rPr>
              <a:t>1</a:t>
            </a:r>
            <a:r>
              <a:rPr lang="zh-CN" altLang="en-US" sz="2400" b="1">
                <a:solidFill>
                  <a:srgbClr val="CC3300"/>
                </a:solidFill>
              </a:rPr>
              <a:t>、零输入响应的解法</a:t>
            </a:r>
            <a:endParaRPr lang="zh-CN" altLang="en-US" sz="2400" b="1">
              <a:solidFill>
                <a:srgbClr val="CC3300"/>
              </a:solidFill>
            </a:endParaRPr>
          </a:p>
          <a:p>
            <a:pPr marL="609600" indent="-609600">
              <a:buFontTx/>
              <a:buAutoNum type="circleNumDbPlain"/>
            </a:pPr>
            <a:r>
              <a:rPr lang="zh-CN" altLang="en-US" sz="2400" b="1">
                <a:solidFill>
                  <a:srgbClr val="CC3300"/>
                </a:solidFill>
              </a:rPr>
              <a:t>一阶系统</a:t>
            </a:r>
            <a:endParaRPr lang="zh-CN" altLang="en-US" sz="2400" b="1">
              <a:solidFill>
                <a:srgbClr val="CC33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8203" name="Object 2"/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1203325" y="3524885"/>
                <a:ext cx="2075815" cy="4673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  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64820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1203325" y="3524885"/>
                <a:ext cx="2075815" cy="4673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068" name="Object 3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1238885" y="1946910"/>
                <a:ext cx="7054215" cy="137604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806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1238885" y="1946910"/>
                <a:ext cx="7054215" cy="1376045"/>
              </a:xfrm>
              <a:prstGeom prst="rect">
                <a:avLst/>
              </a:prstGeom>
              <a:blipFill rotWithShape="1">
                <a:blip r:embed="rId2"/>
                <a:stretch>
                  <a:fillRect l="-90" t="-461" r="-441" b="-2261"/>
                </a:stretch>
              </a:blipFill>
              <a:ln w="12700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8205" name="Object 4"/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1238250" y="4351338"/>
                <a:ext cx="2233613" cy="600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820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1238250" y="4351338"/>
                <a:ext cx="2233613" cy="600075"/>
              </a:xfrm>
              <a:prstGeom prst="rect">
                <a:avLst/>
              </a:prstGeom>
              <a:blipFill rotWithShape="1">
                <a:blip r:embed="rId3"/>
                <a:stretch>
                  <a:fillRect t="-53" r="14" b="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8208" name="Object 5"/>
              <p:cNvSpPr txBox="1"/>
              <p:nvPr/>
            </p:nvSpPr>
            <p:spPr bwMode="auto">
              <a:xfrm>
                <a:off x="1203325" y="5430838"/>
                <a:ext cx="2214563" cy="569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820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3325" y="5430838"/>
                <a:ext cx="2214563" cy="569912"/>
              </a:xfrm>
              <a:prstGeom prst="rect">
                <a:avLst/>
              </a:prstGeom>
              <a:blipFill rotWithShape="1">
                <a:blip r:embed="rId4"/>
                <a:stretch>
                  <a:fillRect t="-56" r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8209" name="Rectangle 17"/>
          <p:cNvSpPr>
            <a:spLocks noChangeArrowheads="1"/>
          </p:cNvSpPr>
          <p:nvPr/>
        </p:nvSpPr>
        <p:spPr bwMode="auto">
          <a:xfrm>
            <a:off x="684213" y="115888"/>
            <a:ext cx="5689600" cy="79216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§7.4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离散时间系统的零输入响应</a:t>
            </a:r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8211" name="Object 6"/>
              <p:cNvSpPr txBox="1"/>
              <p:nvPr/>
            </p:nvSpPr>
            <p:spPr bwMode="auto">
              <a:xfrm>
                <a:off x="3119088" y="3525044"/>
                <a:ext cx="1758950" cy="6334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4821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088" y="3525044"/>
                <a:ext cx="1758950" cy="633413"/>
              </a:xfrm>
              <a:prstGeom prst="rect">
                <a:avLst/>
              </a:prstGeom>
              <a:blipFill rotWithShape="1">
                <a:blip r:embed="rId5"/>
                <a:stretch>
                  <a:fillRect l="-34" t="-25" r="34" b="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8212" name="Object 7"/>
              <p:cNvSpPr txBox="1"/>
              <p:nvPr/>
            </p:nvSpPr>
            <p:spPr bwMode="auto">
              <a:xfrm>
                <a:off x="3721100" y="4348163"/>
                <a:ext cx="3336925" cy="555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4821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1100" y="4348163"/>
                <a:ext cx="3336925" cy="555625"/>
              </a:xfrm>
              <a:prstGeom prst="rect">
                <a:avLst/>
              </a:prstGeom>
              <a:blipFill rotWithShape="1">
                <a:blip r:embed="rId6"/>
                <a:stretch>
                  <a:fillRect t="-57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8213" name="Object 8"/>
              <p:cNvSpPr txBox="1"/>
              <p:nvPr/>
            </p:nvSpPr>
            <p:spPr bwMode="auto">
              <a:xfrm>
                <a:off x="3833813" y="5387975"/>
                <a:ext cx="2665412" cy="579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821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3813" y="5387975"/>
                <a:ext cx="2665412" cy="579438"/>
              </a:xfrm>
              <a:prstGeom prst="rect">
                <a:avLst/>
              </a:prstGeom>
              <a:blipFill rotWithShape="1">
                <a:blip r:embed="rId7"/>
                <a:stretch>
                  <a:fillRect l="-12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F563D23-072D-4FF0-BFEC-7F9F47A5EEF1}" type="datetime1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203" grpId="0" build="p"/>
      <p:bldP spid="648205" grpId="0" build="p"/>
      <p:bldP spid="648208" grpId="0"/>
      <p:bldP spid="648211" grpId="0" bldLvl="0" animBg="1"/>
      <p:bldP spid="648212" grpId="0"/>
      <p:bldP spid="64821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 </a:t>
            </a:r>
            <a:endParaRPr lang="en-US" altLang="zh-CN" b="1"/>
          </a:p>
        </p:txBody>
      </p:sp>
      <p:pic>
        <p:nvPicPr>
          <p:cNvPr id="649219" name="Picture 3"/>
          <p:cNvPicPr>
            <a:picLocks noChangeAspect="1" noChangeArrowheads="1"/>
          </p:cNvPicPr>
          <p:nvPr/>
        </p:nvPicPr>
        <p:blipFill>
          <a:blip r:embed="rId1">
            <a:lum bright="-4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1628775"/>
            <a:ext cx="6781800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11188" y="115888"/>
            <a:ext cx="8388350" cy="83661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 sz="2400" b="1"/>
              <a:t>    </a:t>
            </a:r>
            <a:r>
              <a:rPr lang="zh-CN" altLang="en-US" sz="2000" b="1"/>
              <a:t>假设</a:t>
            </a:r>
            <a:r>
              <a:rPr lang="en-US" altLang="zh-CN" sz="2000" b="1"/>
              <a:t>y(0)=1</a:t>
            </a:r>
            <a:r>
              <a:rPr lang="zh-CN" altLang="en-US" sz="2000" b="1"/>
              <a:t>，</a:t>
            </a:r>
            <a:r>
              <a:rPr lang="en-US" altLang="zh-CN" sz="2000" b="1"/>
              <a:t>k=0,1,2,3, </a:t>
            </a:r>
            <a:r>
              <a:rPr lang="en-US" altLang="zh-CN" sz="2000" b="1">
                <a:latin typeface="Arial" panose="020B0604020202020204" pitchFamily="34" charset="0"/>
              </a:rPr>
              <a:t>…</a:t>
            </a:r>
            <a:r>
              <a:rPr lang="zh-CN" altLang="en-US" sz="2000" b="1"/>
              <a:t>，取</a:t>
            </a:r>
            <a:r>
              <a:rPr lang="en-US" altLang="zh-CN" sz="2000" b="1"/>
              <a:t>a</a:t>
            </a:r>
            <a:r>
              <a:rPr lang="en-US" altLang="zh-CN" sz="2000" b="1" baseline="-25000"/>
              <a:t>0</a:t>
            </a:r>
            <a:r>
              <a:rPr lang="zh-CN" altLang="en-US" sz="2000" b="1"/>
              <a:t>的</a:t>
            </a:r>
            <a:r>
              <a:rPr lang="zh-CN" altLang="en-US" sz="2000" b="1">
                <a:solidFill>
                  <a:srgbClr val="FF0000"/>
                </a:solidFill>
              </a:rPr>
              <a:t>绝对值</a:t>
            </a:r>
            <a:r>
              <a:rPr lang="zh-CN" altLang="en-US" sz="2000" b="1"/>
              <a:t>为</a:t>
            </a:r>
            <a:r>
              <a:rPr lang="en-US" altLang="zh-CN" sz="2000" b="1"/>
              <a:t>0.9</a:t>
            </a:r>
            <a:r>
              <a:rPr lang="zh-CN" altLang="en-US" sz="2000" b="1"/>
              <a:t>，</a:t>
            </a:r>
            <a:r>
              <a:rPr lang="en-US" altLang="zh-CN" sz="2000" b="1"/>
              <a:t>1</a:t>
            </a:r>
            <a:r>
              <a:rPr lang="zh-CN" altLang="en-US" sz="2000" b="1"/>
              <a:t>，</a:t>
            </a:r>
            <a:r>
              <a:rPr lang="en-US" altLang="zh-CN" sz="2000" b="1"/>
              <a:t>1.1</a:t>
            </a:r>
            <a:r>
              <a:rPr lang="zh-CN" altLang="en-US" sz="2000" b="1"/>
              <a:t>一阶零输入响应图如下：</a:t>
            </a:r>
            <a:endParaRPr lang="zh-CN" altLang="en-US" sz="20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093" name="Object 2"/>
              <p:cNvSpPr txBox="1"/>
              <p:nvPr/>
            </p:nvSpPr>
            <p:spPr bwMode="auto">
              <a:xfrm>
                <a:off x="2627630" y="908050"/>
                <a:ext cx="4575175" cy="7200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95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909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630" y="908050"/>
                <a:ext cx="4575175" cy="72009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9D4926F-2A13-490A-8B8E-9F084438E56F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49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9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4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4227513"/>
            <a:ext cx="7653338" cy="24479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/>
              <a:t> </a:t>
            </a:r>
            <a:r>
              <a:rPr lang="zh-CN" altLang="en-US" sz="2400" b="1"/>
              <a:t>由图中（</a:t>
            </a:r>
            <a:r>
              <a:rPr lang="en-US" altLang="zh-CN" sz="2400" b="1"/>
              <a:t>a</a:t>
            </a:r>
            <a:r>
              <a:rPr lang="zh-CN" altLang="en-US" sz="2400" b="1"/>
              <a:t>）（</a:t>
            </a:r>
            <a:r>
              <a:rPr lang="en-US" altLang="zh-CN" sz="2400" b="1"/>
              <a:t>b</a:t>
            </a:r>
            <a:r>
              <a:rPr lang="zh-CN" altLang="en-US" sz="2400" b="1"/>
              <a:t>）（</a:t>
            </a:r>
            <a:r>
              <a:rPr lang="en-US" altLang="zh-CN" sz="2400" b="1"/>
              <a:t>c</a:t>
            </a:r>
            <a:r>
              <a:rPr lang="zh-CN" altLang="en-US" sz="2400" b="1"/>
              <a:t>）：</a:t>
            </a:r>
            <a:endParaRPr lang="zh-CN" altLang="en-US" sz="2400" b="1"/>
          </a:p>
          <a:p>
            <a:pPr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当</a:t>
            </a:r>
            <a:r>
              <a:rPr lang="en-US" altLang="zh-CN" sz="2400" b="1">
                <a:solidFill>
                  <a:srgbClr val="FF3300"/>
                </a:solidFill>
              </a:rPr>
              <a:t>- a</a:t>
            </a:r>
            <a:r>
              <a:rPr lang="en-US" altLang="zh-CN" sz="2400" b="1" baseline="-25000">
                <a:solidFill>
                  <a:srgbClr val="FF3300"/>
                </a:solidFill>
              </a:rPr>
              <a:t>0</a:t>
            </a:r>
            <a:r>
              <a:rPr lang="en-US" altLang="zh-CN" sz="2400" b="1">
                <a:solidFill>
                  <a:srgbClr val="FF3300"/>
                </a:solidFill>
              </a:rPr>
              <a:t> </a:t>
            </a:r>
            <a:r>
              <a:rPr lang="zh-CN" altLang="en-US" sz="2400" b="1">
                <a:solidFill>
                  <a:srgbClr val="FF3300"/>
                </a:solidFill>
              </a:rPr>
              <a:t>为正时</a:t>
            </a:r>
            <a:r>
              <a:rPr lang="zh-CN" altLang="en-US" sz="2400" b="1"/>
              <a:t>：</a:t>
            </a:r>
            <a:endParaRPr lang="zh-CN" altLang="en-US" sz="2400" b="1"/>
          </a:p>
          <a:p>
            <a:r>
              <a:rPr lang="en-US" altLang="zh-CN" sz="2400" b="1"/>
              <a:t>| a</a:t>
            </a:r>
            <a:r>
              <a:rPr lang="en-US" altLang="zh-CN" sz="2400" b="1" baseline="-25000"/>
              <a:t>0</a:t>
            </a:r>
            <a:r>
              <a:rPr lang="en-US" altLang="zh-CN" sz="2400" b="1"/>
              <a:t> |&lt;1</a:t>
            </a:r>
            <a:r>
              <a:rPr lang="zh-CN" altLang="en-US" sz="2400" b="1"/>
              <a:t>时，</a:t>
            </a:r>
            <a:r>
              <a:rPr lang="en-US" altLang="zh-CN" sz="2400" b="1"/>
              <a:t>y(k) </a:t>
            </a:r>
            <a:r>
              <a:rPr lang="zh-CN" altLang="en-US" sz="2400" b="1"/>
              <a:t>随</a:t>
            </a:r>
            <a:r>
              <a:rPr lang="en-US" altLang="zh-CN" sz="2400" b="1"/>
              <a:t>k</a:t>
            </a:r>
            <a:r>
              <a:rPr lang="zh-CN" altLang="en-US" sz="2400" b="1"/>
              <a:t>值的增加而单调减小；</a:t>
            </a:r>
            <a:endParaRPr lang="zh-CN" altLang="en-US" sz="2400" b="1"/>
          </a:p>
          <a:p>
            <a:r>
              <a:rPr lang="en-US" altLang="zh-CN" sz="2400" b="1"/>
              <a:t>| a</a:t>
            </a:r>
            <a:r>
              <a:rPr lang="en-US" altLang="zh-CN" sz="2400" b="1" baseline="-25000"/>
              <a:t>0</a:t>
            </a:r>
            <a:r>
              <a:rPr lang="en-US" altLang="zh-CN" sz="2400" b="1"/>
              <a:t> |</a:t>
            </a:r>
            <a:r>
              <a:rPr lang="zh-CN" altLang="en-US" sz="2400" b="1"/>
              <a:t>＝</a:t>
            </a:r>
            <a:r>
              <a:rPr lang="en-US" altLang="zh-CN" sz="2400" b="1"/>
              <a:t>1</a:t>
            </a:r>
            <a:r>
              <a:rPr lang="zh-CN" altLang="en-US" sz="2400" b="1"/>
              <a:t>时，</a:t>
            </a:r>
            <a:r>
              <a:rPr lang="en-US" altLang="zh-CN" sz="2400" b="1"/>
              <a:t>y(k)</a:t>
            </a:r>
            <a:r>
              <a:rPr lang="zh-CN" altLang="en-US" sz="2400" b="1"/>
              <a:t>恒等于</a:t>
            </a:r>
            <a:r>
              <a:rPr lang="en-US" altLang="zh-CN" sz="2400" b="1"/>
              <a:t>y(0)</a:t>
            </a:r>
            <a:r>
              <a:rPr lang="zh-CN" altLang="en-US" sz="2400" b="1"/>
              <a:t>；</a:t>
            </a:r>
            <a:endParaRPr lang="zh-CN" altLang="en-US" sz="2400" b="1"/>
          </a:p>
          <a:p>
            <a:r>
              <a:rPr lang="en-US" altLang="zh-CN" sz="2400" b="1"/>
              <a:t>| a</a:t>
            </a:r>
            <a:r>
              <a:rPr lang="en-US" altLang="zh-CN" sz="2400" b="1" baseline="-25000"/>
              <a:t>0</a:t>
            </a:r>
            <a:r>
              <a:rPr lang="en-US" altLang="zh-CN" sz="2400" b="1"/>
              <a:t> |&gt;1</a:t>
            </a:r>
            <a:r>
              <a:rPr lang="zh-CN" altLang="en-US" sz="2400" b="1"/>
              <a:t>时，</a:t>
            </a:r>
            <a:r>
              <a:rPr lang="en-US" altLang="zh-CN" sz="2400" b="1"/>
              <a:t>y(k) </a:t>
            </a:r>
            <a:r>
              <a:rPr lang="zh-CN" altLang="en-US" sz="2400" b="1"/>
              <a:t>随</a:t>
            </a:r>
            <a:r>
              <a:rPr lang="en-US" altLang="zh-CN" sz="2400" b="1"/>
              <a:t>k</a:t>
            </a:r>
            <a:r>
              <a:rPr lang="zh-CN" altLang="en-US" sz="2400" b="1"/>
              <a:t>值的增加而单调增加；</a:t>
            </a:r>
            <a:endParaRPr lang="zh-CN" altLang="en-US" sz="2400" b="1"/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1">
            <a:lum bright="-4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0"/>
            <a:ext cx="4537075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E9F6EE1-0B13-4175-B1D7-5E3379D4432E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5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5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5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5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5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5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5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0" y="3759200"/>
            <a:ext cx="8648700" cy="1827213"/>
          </a:xfrm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lang="zh-CN" altLang="en-US" sz="2400" b="1"/>
              <a:t>由（</a:t>
            </a:r>
            <a:r>
              <a:rPr lang="en-US" altLang="zh-CN" sz="2400" b="1"/>
              <a:t>d</a:t>
            </a:r>
            <a:r>
              <a:rPr lang="zh-CN" altLang="en-US" sz="2400" b="1"/>
              <a:t>）（</a:t>
            </a:r>
            <a:r>
              <a:rPr lang="en-US" altLang="zh-CN" sz="2400" b="1"/>
              <a:t>e</a:t>
            </a:r>
            <a:r>
              <a:rPr lang="zh-CN" altLang="en-US" sz="2400" b="1"/>
              <a:t>）（</a:t>
            </a:r>
            <a:r>
              <a:rPr lang="en-US" altLang="zh-CN" sz="2400" b="1"/>
              <a:t>f</a:t>
            </a:r>
            <a:r>
              <a:rPr lang="zh-CN" altLang="en-US" sz="2400" b="1"/>
              <a:t>）：</a:t>
            </a:r>
            <a:endParaRPr lang="zh-CN" altLang="en-US" sz="2400" b="1"/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400" b="1"/>
              <a:t>   当</a:t>
            </a:r>
            <a:r>
              <a:rPr lang="en-US" altLang="zh-CN" sz="2400" b="1">
                <a:solidFill>
                  <a:srgbClr val="FF0000"/>
                </a:solidFill>
              </a:rPr>
              <a:t>- a</a:t>
            </a:r>
            <a:r>
              <a:rPr lang="en-US" altLang="zh-CN" sz="2400" b="1" baseline="-25000">
                <a:solidFill>
                  <a:srgbClr val="FF0000"/>
                </a:solidFill>
              </a:rPr>
              <a:t>0</a:t>
            </a:r>
            <a:r>
              <a:rPr lang="en-US" altLang="zh-CN" sz="2400" b="1">
                <a:solidFill>
                  <a:srgbClr val="FF0000"/>
                </a:solidFill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为负</a:t>
            </a:r>
            <a:r>
              <a:rPr lang="zh-CN" altLang="en-US" sz="2400" b="1"/>
              <a:t>时，</a:t>
            </a:r>
            <a:r>
              <a:rPr lang="en-US" altLang="zh-CN" sz="2400" b="1"/>
              <a:t>y(k) </a:t>
            </a:r>
            <a:r>
              <a:rPr lang="zh-CN" altLang="en-US" sz="2400" b="1"/>
              <a:t>随</a:t>
            </a:r>
            <a:r>
              <a:rPr lang="en-US" altLang="zh-CN" sz="2400" b="1"/>
              <a:t>k</a:t>
            </a:r>
            <a:r>
              <a:rPr lang="zh-CN" altLang="en-US" sz="2400" b="1"/>
              <a:t>值的增加</a:t>
            </a:r>
            <a:r>
              <a:rPr lang="zh-CN" altLang="en-US" sz="2400" b="1">
                <a:solidFill>
                  <a:srgbClr val="FF0000"/>
                </a:solidFill>
              </a:rPr>
              <a:t>正负交替其值</a:t>
            </a:r>
            <a:r>
              <a:rPr lang="zh-CN" altLang="en-US" sz="2400" b="1"/>
              <a:t>；而</a:t>
            </a:r>
            <a:r>
              <a:rPr lang="en-US" altLang="zh-CN" sz="2400" b="1"/>
              <a:t>y(k) </a:t>
            </a:r>
            <a:r>
              <a:rPr lang="zh-CN" altLang="en-US" sz="2400" b="1"/>
              <a:t>的绝对值大小，仍按</a:t>
            </a:r>
            <a:r>
              <a:rPr lang="en-US" altLang="zh-CN" sz="2400" b="1"/>
              <a:t>| a</a:t>
            </a:r>
            <a:r>
              <a:rPr lang="en-US" altLang="zh-CN" sz="2400" b="1" baseline="-25000"/>
              <a:t>0</a:t>
            </a:r>
            <a:r>
              <a:rPr lang="en-US" altLang="zh-CN" sz="2400" b="1"/>
              <a:t> |&lt;1</a:t>
            </a:r>
            <a:r>
              <a:rPr lang="zh-CN" altLang="en-US" sz="2400" b="1"/>
              <a:t>， </a:t>
            </a:r>
            <a:r>
              <a:rPr lang="en-US" altLang="zh-CN" sz="2400" b="1"/>
              <a:t>| a</a:t>
            </a:r>
            <a:r>
              <a:rPr lang="en-US" altLang="zh-CN" sz="2400" b="1" baseline="-25000"/>
              <a:t>0</a:t>
            </a:r>
            <a:r>
              <a:rPr lang="en-US" altLang="zh-CN" sz="2400" b="1"/>
              <a:t> |</a:t>
            </a:r>
            <a:r>
              <a:rPr lang="zh-CN" altLang="en-US" sz="2400" b="1"/>
              <a:t>＝</a:t>
            </a:r>
            <a:r>
              <a:rPr lang="en-US" altLang="zh-CN" sz="2400" b="1"/>
              <a:t>1</a:t>
            </a:r>
            <a:r>
              <a:rPr lang="zh-CN" altLang="en-US" sz="2400" b="1"/>
              <a:t>和</a:t>
            </a:r>
            <a:r>
              <a:rPr lang="en-US" altLang="zh-CN" sz="2400" b="1"/>
              <a:t>| a</a:t>
            </a:r>
            <a:r>
              <a:rPr lang="en-US" altLang="zh-CN" sz="2400" b="1" baseline="-25000"/>
              <a:t>0</a:t>
            </a:r>
            <a:r>
              <a:rPr lang="en-US" altLang="zh-CN" sz="2400" b="1"/>
              <a:t> |&gt;1</a:t>
            </a:r>
            <a:r>
              <a:rPr lang="zh-CN" altLang="en-US" sz="2400" b="1"/>
              <a:t>三种情况分别作递减、不变和递增的变化。   </a:t>
            </a:r>
            <a:endParaRPr lang="zh-CN" altLang="en-US" sz="2400" b="1"/>
          </a:p>
        </p:txBody>
      </p:sp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1">
            <a:lum bright="-4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0" y="0"/>
            <a:ext cx="3960813" cy="3716338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3492" name="Rectangle 4"/>
          <p:cNvSpPr>
            <a:spLocks noChangeArrowheads="1"/>
          </p:cNvSpPr>
          <p:nvPr/>
        </p:nvSpPr>
        <p:spPr bwMode="auto">
          <a:xfrm>
            <a:off x="566738" y="5659438"/>
            <a:ext cx="8577262" cy="7381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</a:rPr>
              <a:t>   </a:t>
            </a:r>
            <a:r>
              <a:rPr lang="zh-CN" altLang="en-US" sz="2400">
                <a:solidFill>
                  <a:srgbClr val="0000FF"/>
                </a:solidFill>
                <a:latin typeface="黑体" panose="02010609060101010101" pitchFamily="49" charset="-122"/>
              </a:rPr>
              <a:t>齐次差分方程的上述形式的解具有典型意义，并可以此为基础推广求解一般的齐次方程。</a:t>
            </a:r>
            <a:endParaRPr lang="zh-CN" altLang="en-US" sz="240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7F06857-07EA-4776-A364-ED6BD6714858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0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0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0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0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0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08050"/>
            <a:ext cx="8064500" cy="1584325"/>
          </a:xfrm>
        </p:spPr>
        <p:txBody>
          <a:bodyPr/>
          <a:lstStyle/>
          <a:p>
            <a:pPr marL="0" indent="0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2</a:t>
            </a:r>
            <a:r>
              <a:rPr lang="zh-CN" altLang="en-US" sz="2400" b="1" dirty="0">
                <a:solidFill>
                  <a:srgbClr val="CC3300"/>
                </a:solidFill>
              </a:rPr>
              <a:t>、移序算子及其特性</a:t>
            </a:r>
            <a:r>
              <a:rPr lang="zh-CN" altLang="en-US" sz="2400" b="1" dirty="0"/>
              <a:t>     </a:t>
            </a:r>
            <a:endParaRPr lang="zh-CN" altLang="en-US" sz="2400" b="1" dirty="0"/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zh-CN" altLang="en-US" sz="2400" b="1" dirty="0"/>
              <a:t>     为了表述方便，与连续系统中的微分算子类似，我们定义一个</a:t>
            </a:r>
            <a:r>
              <a:rPr lang="zh-CN" altLang="en-US" sz="2400" b="1" dirty="0">
                <a:solidFill>
                  <a:srgbClr val="9900FF"/>
                </a:solidFill>
              </a:rPr>
              <a:t>移序算子</a:t>
            </a:r>
            <a:r>
              <a:rPr lang="en-US" altLang="zh-CN" sz="2400" b="1" dirty="0">
                <a:solidFill>
                  <a:srgbClr val="9900FF"/>
                </a:solidFill>
              </a:rPr>
              <a:t>S</a:t>
            </a:r>
            <a:r>
              <a:rPr lang="en-US" altLang="zh-CN" sz="2400" b="1" dirty="0"/>
              <a:t>(Shift)</a:t>
            </a:r>
            <a:r>
              <a:rPr lang="zh-CN" altLang="en-US" sz="2400" b="1" dirty="0"/>
              <a:t>：</a:t>
            </a:r>
            <a:endParaRPr lang="zh-CN" alt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6148" name="Object 2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2311400" y="2351088"/>
                <a:ext cx="4455160" cy="20875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614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2311400" y="2351088"/>
                <a:ext cx="4455160" cy="2087562"/>
              </a:xfrm>
              <a:prstGeom prst="rect">
                <a:avLst/>
              </a:prstGeom>
              <a:blipFill rotWithShape="1">
                <a:blip r:embed="rId1"/>
                <a:stretch>
                  <a:fillRect t="-15" b="-111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6149" name="Object 3"/>
              <p:cNvSpPr txBox="1"/>
              <p:nvPr/>
            </p:nvSpPr>
            <p:spPr bwMode="auto">
              <a:xfrm>
                <a:off x="915746" y="4794250"/>
                <a:ext cx="4098925" cy="647700"/>
              </a:xfrm>
              <a:prstGeom prst="rect">
                <a:avLst/>
              </a:prstGeom>
              <a:noFill/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4614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5746" y="4794250"/>
                <a:ext cx="4098925" cy="647700"/>
              </a:xfrm>
              <a:prstGeom prst="rect">
                <a:avLst/>
              </a:prstGeom>
              <a:blipFill rotWithShape="1">
                <a:blip r:embed="rId2"/>
                <a:stretch>
                  <a:fillRect l="-467" t="-2941" r="-463" b="-2941"/>
                </a:stretch>
              </a:blipFill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6150" name="Object 4"/>
              <p:cNvSpPr txBox="1"/>
              <p:nvPr/>
            </p:nvSpPr>
            <p:spPr bwMode="auto">
              <a:xfrm>
                <a:off x="5491480" y="4690313"/>
                <a:ext cx="3282950" cy="977494"/>
              </a:xfrm>
              <a:prstGeom prst="rect">
                <a:avLst/>
              </a:prstGeom>
              <a:noFill/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615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1480" y="4690313"/>
                <a:ext cx="3282950" cy="977494"/>
              </a:xfrm>
              <a:prstGeom prst="rect">
                <a:avLst/>
              </a:prstGeom>
              <a:blipFill rotWithShape="1">
                <a:blip r:embed="rId3"/>
                <a:stretch>
                  <a:fillRect l="-580" t="-1970" r="-580" b="-1905"/>
                </a:stretch>
              </a:blipFill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6152" name="Object 5"/>
              <p:cNvSpPr txBox="1"/>
              <p:nvPr/>
            </p:nvSpPr>
            <p:spPr bwMode="auto">
              <a:xfrm>
                <a:off x="1139825" y="5772150"/>
                <a:ext cx="6408738" cy="576263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称为该差分方程的特征方程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615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9825" y="5772150"/>
                <a:ext cx="6408738" cy="576263"/>
              </a:xfrm>
              <a:prstGeom prst="rect">
                <a:avLst/>
              </a:prstGeom>
              <a:blipFill rotWithShape="1">
                <a:blip r:embed="rId4"/>
                <a:stretch>
                  <a:fillRect r="5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6155" name="Rectangle 11"/>
          <p:cNvSpPr>
            <a:spLocks noChangeArrowheads="1"/>
          </p:cNvSpPr>
          <p:nvPr/>
        </p:nvSpPr>
        <p:spPr bwMode="auto">
          <a:xfrm>
            <a:off x="684213" y="188913"/>
            <a:ext cx="5689600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§7.4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离散时间系统的零输入响应</a:t>
            </a:r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quarter" idx="10"/>
          </p:nvPr>
        </p:nvSpPr>
        <p:spPr>
          <a:xfrm>
            <a:off x="0" y="6538913"/>
            <a:ext cx="1470355" cy="319087"/>
          </a:xfrm>
        </p:spPr>
        <p:txBody>
          <a:bodyPr/>
          <a:lstStyle/>
          <a:p>
            <a:pPr>
              <a:defRPr/>
            </a:pPr>
            <a:fld id="{EE9DE86E-6EEE-4B60-913A-291F68558032}" type="datetime1">
              <a:rPr lang="zh-CN" altLang="en-US"/>
            </a:fld>
            <a:endParaRPr lang="zh-CN" altLang="en-US" dirty="0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5212"/>
    </mc:Choice>
    <mc:Fallback>
      <p:transition spd="slow" advTm="1252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4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4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4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4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4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7" grpId="0" uiExpand="1" build="p"/>
      <p:bldP spid="646148" grpId="0" uiExpand="1" build="p"/>
      <p:bldP spid="646149" grpId="0" bldLvl="0" animBg="1"/>
      <p:bldP spid="646150" grpId="0" bldLvl="0" animBg="1"/>
      <p:bldP spid="64615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3186" name="Object 2"/>
              <p:cNvSpPr txBox="1"/>
              <p:nvPr/>
            </p:nvSpPr>
            <p:spPr bwMode="auto">
              <a:xfrm>
                <a:off x="971550" y="1405255"/>
                <a:ext cx="3671888" cy="647700"/>
              </a:xfrm>
              <a:prstGeom prst="rect">
                <a:avLst/>
              </a:prstGeom>
              <a:noFill/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>
                <a:normAutofit fontScale="67500" lnSpcReduction="20000"/>
              </a:bodyPr>
              <a:lstStyle/>
              <a:p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318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1405255"/>
                <a:ext cx="3671888" cy="647700"/>
              </a:xfrm>
              <a:prstGeom prst="rect">
                <a:avLst/>
              </a:prstGeom>
              <a:blipFill rotWithShape="1">
                <a:blip r:embed="rId1"/>
                <a:stretch>
                  <a:fillRect l="-519" t="-2941" r="-510" b="-2941"/>
                </a:stretch>
              </a:blipFill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187" name="Object 3"/>
              <p:cNvSpPr txBox="1"/>
              <p:nvPr/>
            </p:nvSpPr>
            <p:spPr bwMode="auto">
              <a:xfrm>
                <a:off x="5435600" y="1341120"/>
                <a:ext cx="3384550" cy="1007745"/>
              </a:xfrm>
              <a:prstGeom prst="rect">
                <a:avLst/>
              </a:prstGeom>
              <a:noFill/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318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600" y="1341120"/>
                <a:ext cx="3384550" cy="1007745"/>
              </a:xfrm>
              <a:prstGeom prst="rect">
                <a:avLst/>
              </a:prstGeom>
              <a:blipFill rotWithShape="1">
                <a:blip r:embed="rId2"/>
                <a:stretch>
                  <a:fillRect l="-563" t="-1890" r="-563" b="-1890"/>
                </a:stretch>
              </a:blipFill>
              <a:ln w="38100">
                <a:solidFill>
                  <a:srgbClr val="008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188" name="AutoShape 7"/>
          <p:cNvSpPr>
            <a:spLocks noChangeArrowheads="1"/>
          </p:cNvSpPr>
          <p:nvPr/>
        </p:nvSpPr>
        <p:spPr bwMode="auto">
          <a:xfrm>
            <a:off x="4714875" y="1701800"/>
            <a:ext cx="576263" cy="144463"/>
          </a:xfrm>
          <a:prstGeom prst="rightArrow">
            <a:avLst>
              <a:gd name="adj1" fmla="val 50000"/>
              <a:gd name="adj2" fmla="val 997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1512" name="Object 4"/>
              <p:cNvSpPr txBox="1"/>
              <p:nvPr/>
            </p:nvSpPr>
            <p:spPr bwMode="auto">
              <a:xfrm>
                <a:off x="684530" y="2910205"/>
                <a:ext cx="8101330" cy="120713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8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相当于特征根</m:t>
                      </m:r>
                    </m:oMath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i="1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其解和一阶微分方程一样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具有指数函数的形式</m:t>
                      </m:r>
                    </m:oMath>
                  </m:oMathPara>
                </a14:m>
                <a:endParaRPr lang="zh-CN" altLang="en-US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615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530" y="2910205"/>
                <a:ext cx="8101330" cy="1207135"/>
              </a:xfrm>
              <a:prstGeom prst="rect">
                <a:avLst/>
              </a:prstGeom>
              <a:blipFill rotWithShape="1">
                <a:blip r:embed="rId3"/>
                <a:stretch>
                  <a:fillRect r="-306" b="-2052"/>
                </a:stretch>
              </a:blip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1514" name="Object 5"/>
              <p:cNvSpPr txBox="1"/>
              <p:nvPr/>
            </p:nvSpPr>
            <p:spPr bwMode="auto">
              <a:xfrm>
                <a:off x="971550" y="4581525"/>
                <a:ext cx="7602538" cy="752475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由初始条件确定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151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4581525"/>
                <a:ext cx="7602538" cy="752475"/>
              </a:xfrm>
              <a:prstGeom prst="rect">
                <a:avLst/>
              </a:prstGeom>
              <a:blipFill rotWithShape="1">
                <a:blip r:embed="rId4"/>
                <a:stretch>
                  <a:fillRect r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1515" name="Rectangle 11"/>
          <p:cNvSpPr>
            <a:spLocks noChangeArrowheads="1"/>
          </p:cNvSpPr>
          <p:nvPr/>
        </p:nvSpPr>
        <p:spPr bwMode="auto">
          <a:xfrm>
            <a:off x="684213" y="260350"/>
            <a:ext cx="5689600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§7.4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离散时间系统的零输入响应</a:t>
            </a:r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FEA25A1-7579-4F98-9E92-7E672B9A3873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253"/>
    </mc:Choice>
    <mc:Fallback>
      <p:transition spd="slow" advTm="552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ldLvl="0" animBg="1"/>
      <p:bldP spid="661512" grpId="0" bldLvl="0" animBg="1"/>
      <p:bldP spid="66151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052513"/>
            <a:ext cx="3168650" cy="576262"/>
          </a:xfrm>
          <a:solidFill>
            <a:srgbClr val="FFFF99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marL="0" indent="0">
              <a:lnSpc>
                <a:spcPct val="120000"/>
              </a:lnSpc>
              <a:buFontTx/>
              <a:buNone/>
            </a:pPr>
            <a:r>
              <a:rPr lang="en-US" altLang="zh-CN" sz="2800" b="1">
                <a:solidFill>
                  <a:srgbClr val="FF3300"/>
                </a:solidFill>
              </a:rPr>
              <a:t> </a:t>
            </a:r>
            <a:r>
              <a:rPr lang="zh-CN" altLang="en-US" sz="2800" b="1">
                <a:solidFill>
                  <a:srgbClr val="FF3300"/>
                </a:solidFill>
              </a:rPr>
              <a:t>推广到</a:t>
            </a:r>
            <a:r>
              <a:rPr lang="en-US" altLang="zh-CN" sz="2800" b="1">
                <a:solidFill>
                  <a:srgbClr val="FF3300"/>
                </a:solidFill>
              </a:rPr>
              <a:t>N</a:t>
            </a:r>
            <a:r>
              <a:rPr lang="zh-CN" altLang="en-US" sz="2800" b="1">
                <a:solidFill>
                  <a:srgbClr val="FF3300"/>
                </a:solidFill>
              </a:rPr>
              <a:t>阶系统：</a:t>
            </a:r>
            <a:endParaRPr lang="zh-CN" altLang="en-US" sz="2800" b="1">
              <a:solidFill>
                <a:srgbClr val="FF33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0484" name="Object 2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827087" y="1682750"/>
                <a:ext cx="8529053" cy="1003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则有：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6048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827087" y="1682750"/>
                <a:ext cx="8529053" cy="1003301"/>
              </a:xfrm>
              <a:prstGeom prst="rect">
                <a:avLst/>
              </a:prstGeom>
              <a:blipFill rotWithShape="1">
                <a:blip r:embed="rId1"/>
                <a:stretch>
                  <a:fillRect l="-4" r="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0486" name="Rectangle 6"/>
          <p:cNvSpPr>
            <a:spLocks noChangeArrowheads="1"/>
          </p:cNvSpPr>
          <p:nvPr/>
        </p:nvSpPr>
        <p:spPr bwMode="auto">
          <a:xfrm>
            <a:off x="755650" y="2852738"/>
            <a:ext cx="3168650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330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800">
                <a:solidFill>
                  <a:srgbClr val="FF3300"/>
                </a:solidFill>
                <a:latin typeface="华文中宋" panose="02010600040101010101" pitchFamily="2" charset="-122"/>
              </a:rPr>
              <a:t>系统特征方程为：</a:t>
            </a:r>
            <a:endParaRPr lang="zh-CN" altLang="en-US" sz="2800">
              <a:solidFill>
                <a:srgbClr val="FF3300"/>
              </a:solidFill>
              <a:latin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0487" name="Object 3"/>
              <p:cNvSpPr txBox="1"/>
              <p:nvPr/>
            </p:nvSpPr>
            <p:spPr bwMode="auto">
              <a:xfrm>
                <a:off x="1441095" y="3595687"/>
                <a:ext cx="5486400" cy="593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6048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1095" y="3595687"/>
                <a:ext cx="5486400" cy="593725"/>
              </a:xfrm>
              <a:prstGeom prst="rect">
                <a:avLst/>
              </a:prstGeom>
              <a:blipFill rotWithShape="1">
                <a:blip r:embed="rId2"/>
                <a:stretch>
                  <a:fillRect l="-5" t="-53" r="5" b="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0488" name="Rectangle 8"/>
          <p:cNvSpPr>
            <a:spLocks noChangeArrowheads="1"/>
          </p:cNvSpPr>
          <p:nvPr/>
        </p:nvSpPr>
        <p:spPr bwMode="auto">
          <a:xfrm>
            <a:off x="717550" y="4221163"/>
            <a:ext cx="701516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None/>
            </a:pPr>
            <a:r>
              <a:rPr kumimoji="1"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当特征根均为单根</a:t>
            </a:r>
            <a:r>
              <a:rPr kumimoji="1" lang="en-US" altLang="zh-CN" sz="240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 err="1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时，则：</a:t>
            </a:r>
            <a:endParaRPr kumimoji="1"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0489" name="Object 4"/>
              <p:cNvSpPr txBox="1"/>
              <p:nvPr/>
            </p:nvSpPr>
            <p:spPr bwMode="auto">
              <a:xfrm>
                <a:off x="971550" y="4797425"/>
                <a:ext cx="7129463" cy="649288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048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4797425"/>
                <a:ext cx="7129463" cy="649288"/>
              </a:xfrm>
              <a:prstGeom prst="rect">
                <a:avLst/>
              </a:prstGeom>
              <a:blipFill rotWithShape="1">
                <a:blip r:embed="rId3"/>
                <a:stretch>
                  <a:fillRect r="4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490" name="Object 5"/>
              <p:cNvSpPr txBox="1"/>
              <p:nvPr/>
            </p:nvSpPr>
            <p:spPr bwMode="auto">
              <a:xfrm>
                <a:off x="409575" y="5855970"/>
                <a:ext cx="8510270" cy="1002030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     </m:t>
                        </m:r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为待定系数，由初始条件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),......,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)确定</m:t>
                    </m:r>
                  </m:oMath>
                </a14:m>
                <a:r>
                  <a:rPr lang="zh-CN" altLang="en-US" sz="2600" dirty="0"/>
                  <a:t>。</a:t>
                </a:r>
                <a:endParaRPr lang="zh-CN" altLang="en-US" sz="2600" dirty="0"/>
              </a:p>
            </p:txBody>
          </p:sp>
        </mc:Choice>
        <mc:Fallback>
          <p:sp>
            <p:nvSpPr>
              <p:cNvPr id="66049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575" y="5855970"/>
                <a:ext cx="8510270" cy="10020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0491" name="Rectangle 11"/>
          <p:cNvSpPr>
            <a:spLocks noChangeArrowheads="1"/>
          </p:cNvSpPr>
          <p:nvPr/>
        </p:nvSpPr>
        <p:spPr bwMode="auto">
          <a:xfrm>
            <a:off x="684213" y="188913"/>
            <a:ext cx="5689600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§7.4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离散时间系统的零输入响应</a:t>
            </a:r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2310"/>
    </mc:Choice>
    <mc:Fallback>
      <p:transition spd="slow" advTm="1623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604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604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604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6048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6048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604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6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6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6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6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6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uiExpand="1" build="p"/>
      <p:bldP spid="660484" grpId="0" build="p"/>
      <p:bldP spid="660486" grpId="0" animBg="1" build="p"/>
      <p:bldP spid="660487" grpId="0"/>
      <p:bldP spid="660488" grpId="0"/>
      <p:bldP spid="660489" grpId="0" animBg="1"/>
      <p:bldP spid="660490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20" name="Rectangle 8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5689600" cy="647700"/>
          </a:xfrm>
          <a:solidFill>
            <a:schemeClr val="accent2"/>
          </a:solidFill>
        </p:spPr>
        <p:txBody>
          <a:bodyPr/>
          <a:lstStyle/>
          <a:p>
            <a:pPr>
              <a:defRPr/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§7.4 </a:t>
            </a: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离散时间系统的零输入响应</a:t>
            </a:r>
            <a:endParaRPr lang="zh-CN" altLang="en-US" sz="28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9750" y="1052513"/>
            <a:ext cx="8424863" cy="647700"/>
          </a:xfrm>
        </p:spPr>
        <p:txBody>
          <a:bodyPr/>
          <a:lstStyle/>
          <a:p>
            <a:pPr marL="711200" indent="-711200">
              <a:buNone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ii)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设有一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重根</a:t>
            </a:r>
            <a:r>
              <a:rPr kumimoji="1" lang="en-US" altLang="zh-CN" sz="240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40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…=</a:t>
            </a:r>
            <a:r>
              <a:rPr kumimoji="1" lang="en-US" altLang="zh-CN" sz="2400" dirty="0" err="1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r+1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 err="1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时，则：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3316" name="Object 2"/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900113" y="1916113"/>
                <a:ext cx="7307262" cy="2087562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5331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900113" y="1916113"/>
                <a:ext cx="7307262" cy="2087562"/>
              </a:xfrm>
              <a:prstGeom prst="rect">
                <a:avLst/>
              </a:prstGeom>
              <a:blipFill rotWithShape="1">
                <a:blip r:embed="rId1"/>
                <a:stretch>
                  <a:fillRect l="-4" t="-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3318" name="Rectangle 6"/>
          <p:cNvSpPr>
            <a:spLocks noChangeArrowheads="1"/>
          </p:cNvSpPr>
          <p:nvPr/>
        </p:nvSpPr>
        <p:spPr bwMode="auto">
          <a:xfrm>
            <a:off x="863600" y="4476750"/>
            <a:ext cx="8280400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latin typeface="华文中宋" panose="02010600040101010101" pitchFamily="2" charset="-122"/>
              </a:rPr>
              <a:t>   </a:t>
            </a:r>
            <a:r>
              <a:rPr kumimoji="1" lang="zh-CN" altLang="en-US" sz="2400">
                <a:latin typeface="华文中宋" panose="02010600040101010101" pitchFamily="2" charset="-122"/>
              </a:rPr>
              <a:t>式中</a:t>
            </a:r>
            <a:r>
              <a:rPr kumimoji="1" lang="en-US" altLang="zh-CN" sz="2400">
                <a:latin typeface="华文中宋" panose="02010600040101010101" pitchFamily="2" charset="-122"/>
              </a:rPr>
              <a:t>c</a:t>
            </a:r>
            <a:r>
              <a:rPr kumimoji="1" lang="en-US" altLang="zh-CN" sz="2400" baseline="-25000">
                <a:latin typeface="华文中宋" panose="02010600040101010101" pitchFamily="2" charset="-122"/>
              </a:rPr>
              <a:t>1</a:t>
            </a:r>
            <a:r>
              <a:rPr kumimoji="1" lang="zh-CN" altLang="en-US" sz="2400">
                <a:latin typeface="华文中宋" panose="02010600040101010101" pitchFamily="2" charset="-122"/>
              </a:rPr>
              <a:t>，</a:t>
            </a:r>
            <a:r>
              <a:rPr kumimoji="1" lang="en-US" altLang="zh-CN" sz="2400">
                <a:latin typeface="华文中宋" panose="02010600040101010101" pitchFamily="2" charset="-122"/>
              </a:rPr>
              <a:t>c</a:t>
            </a:r>
            <a:r>
              <a:rPr kumimoji="1" lang="en-US" altLang="zh-CN" sz="2400" baseline="-25000">
                <a:latin typeface="华文中宋" panose="02010600040101010101" pitchFamily="2" charset="-122"/>
              </a:rPr>
              <a:t>2</a:t>
            </a:r>
            <a:r>
              <a:rPr kumimoji="1" lang="zh-CN" altLang="en-US" sz="2400">
                <a:latin typeface="华文中宋" panose="02010600040101010101" pitchFamily="2" charset="-122"/>
              </a:rPr>
              <a:t>，</a:t>
            </a:r>
            <a:r>
              <a:rPr kumimoji="1" lang="en-US" altLang="zh-CN" sz="2400">
                <a:latin typeface="Arial" panose="020B0604020202020204" pitchFamily="34" charset="0"/>
              </a:rPr>
              <a:t>…</a:t>
            </a:r>
            <a:r>
              <a:rPr kumimoji="1" lang="zh-CN" altLang="en-US" sz="2400">
                <a:latin typeface="华文中宋" panose="02010600040101010101" pitchFamily="2" charset="-122"/>
              </a:rPr>
              <a:t>，</a:t>
            </a:r>
            <a:r>
              <a:rPr kumimoji="1" lang="en-US" altLang="zh-CN" sz="2400">
                <a:latin typeface="华文中宋" panose="02010600040101010101" pitchFamily="2" charset="-122"/>
              </a:rPr>
              <a:t>c</a:t>
            </a:r>
            <a:r>
              <a:rPr kumimoji="1" lang="en-US" altLang="zh-CN" sz="2400" baseline="-25000">
                <a:latin typeface="华文中宋" panose="02010600040101010101" pitchFamily="2" charset="-122"/>
              </a:rPr>
              <a:t>n</a:t>
            </a:r>
            <a:r>
              <a:rPr kumimoji="1" lang="zh-CN" altLang="en-US" sz="2400">
                <a:latin typeface="华文中宋" panose="02010600040101010101" pitchFamily="2" charset="-122"/>
              </a:rPr>
              <a:t>为待定系数，可由初始条件</a:t>
            </a:r>
            <a:r>
              <a:rPr kumimoji="1" lang="en-US" altLang="zh-CN" sz="2400">
                <a:latin typeface="华文中宋" panose="02010600040101010101" pitchFamily="2" charset="-122"/>
              </a:rPr>
              <a:t>y(0)</a:t>
            </a:r>
            <a:r>
              <a:rPr kumimoji="1" lang="zh-CN" altLang="en-US" sz="2400">
                <a:latin typeface="华文中宋" panose="02010600040101010101" pitchFamily="2" charset="-122"/>
              </a:rPr>
              <a:t>，</a:t>
            </a:r>
            <a:r>
              <a:rPr kumimoji="1" lang="en-US" altLang="zh-CN" sz="2400">
                <a:latin typeface="华文中宋" panose="02010600040101010101" pitchFamily="2" charset="-122"/>
              </a:rPr>
              <a:t>y(1)</a:t>
            </a:r>
            <a:r>
              <a:rPr kumimoji="1" lang="zh-CN" altLang="en-US" sz="2400">
                <a:latin typeface="华文中宋" panose="02010600040101010101" pitchFamily="2" charset="-122"/>
              </a:rPr>
              <a:t>， </a:t>
            </a:r>
            <a:r>
              <a:rPr kumimoji="1" lang="en-US" altLang="zh-CN" sz="2400">
                <a:latin typeface="Arial" panose="020B0604020202020204" pitchFamily="34" charset="0"/>
              </a:rPr>
              <a:t>…</a:t>
            </a:r>
            <a:r>
              <a:rPr kumimoji="1" lang="zh-CN" altLang="en-US" sz="2400">
                <a:latin typeface="华文中宋" panose="02010600040101010101" pitchFamily="2" charset="-122"/>
              </a:rPr>
              <a:t>，</a:t>
            </a:r>
            <a:r>
              <a:rPr kumimoji="1" lang="en-US" altLang="zh-CN" sz="2400">
                <a:latin typeface="华文中宋" panose="02010600040101010101" pitchFamily="2" charset="-122"/>
              </a:rPr>
              <a:t>y(n-1)</a:t>
            </a:r>
            <a:r>
              <a:rPr kumimoji="1" lang="zh-CN" altLang="en-US" sz="2400">
                <a:latin typeface="华文中宋" panose="02010600040101010101" pitchFamily="2" charset="-122"/>
              </a:rPr>
              <a:t>确定。</a:t>
            </a:r>
            <a:endParaRPr kumimoji="1" lang="zh-CN" altLang="en-US" sz="2400" baseline="-25000">
              <a:latin typeface="华文中宋" panose="02010600040101010101" pitchFamily="2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7537121-5A3B-4296-AABA-1C52C9BF6466}" type="datetime1">
              <a:rPr lang="zh-CN" altLang="en-US"/>
            </a:fld>
            <a:endParaRPr lang="en-US" altLang="zh-CN" dirty="0"/>
          </a:p>
        </p:txBody>
      </p:sp>
      <p:sp>
        <p:nvSpPr>
          <p:cNvPr id="2" name="墨迹 1"/>
          <p:cNvSpPr/>
          <p:nvPr/>
        </p:nvSpPr>
        <p:spPr bwMode="auto">
          <a:xfrm>
            <a:off x="1468800" y="864000"/>
            <a:ext cx="6635520" cy="36082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med" advTm="7813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5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6" grpId="0" uiExpand="1" build="p"/>
      <p:bldP spid="65331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099D8B-486F-4589-A4A8-A35DB19C5E60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498" y="472965"/>
            <a:ext cx="8540502" cy="495562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7704138" cy="10080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24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24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已知某系统激励为零，初始值</a:t>
            </a:r>
            <a:r>
              <a:rPr lang="en-US" altLang="zh-CN" sz="24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y(0) =1 </a:t>
            </a:r>
            <a:r>
              <a:rPr lang="zh-CN" altLang="en-US" sz="24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 </a:t>
            </a:r>
            <a:r>
              <a:rPr lang="en-US" altLang="zh-CN" sz="24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y(1)=4</a:t>
            </a:r>
            <a:r>
              <a:rPr lang="zh-CN" altLang="en-US" sz="24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，描述系统的差分方程为</a:t>
            </a:r>
            <a:endParaRPr lang="zh-CN" altLang="en-US" sz="2400" b="1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981075"/>
            <a:ext cx="3000375" cy="431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  <a:defRPr/>
            </a:pP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求系统的响应 </a:t>
            </a:r>
            <a:r>
              <a:rPr lang="en-US" altLang="zh-CN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y(k)</a:t>
            </a:r>
            <a:r>
              <a:rPr lang="zh-CN" altLang="en-US" sz="24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4340" name="Object 2"/>
              <p:cNvSpPr txBox="1"/>
              <p:nvPr/>
            </p:nvSpPr>
            <p:spPr bwMode="auto">
              <a:xfrm>
                <a:off x="3419475" y="1557338"/>
                <a:ext cx="5546725" cy="5635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或</m:t>
                            </m:r>
                          </m:e>
                          <m:e/>
                        </m:mr>
                      </m:m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4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475" y="1557338"/>
                <a:ext cx="5546725" cy="563562"/>
              </a:xfrm>
              <a:prstGeom prst="rect">
                <a:avLst/>
              </a:prstGeom>
              <a:blipFill rotWithShape="1">
                <a:blip r:embed="rId1"/>
                <a:stretch>
                  <a:fillRect t="-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4341" name="Text Box 5"/>
          <p:cNvSpPr txBox="1">
            <a:spLocks noChangeArrowheads="1"/>
          </p:cNvSpPr>
          <p:nvPr/>
        </p:nvSpPr>
        <p:spPr bwMode="auto">
          <a:xfrm>
            <a:off x="684213" y="1557338"/>
            <a:ext cx="33845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99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解：移序算子式为：</a:t>
            </a:r>
            <a:endParaRPr kumimoji="1" lang="zh-CN" altLang="en-US" sz="2400">
              <a:solidFill>
                <a:srgbClr val="9900FF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262" name="Object 3"/>
              <p:cNvSpPr txBox="1"/>
              <p:nvPr/>
            </p:nvSpPr>
            <p:spPr bwMode="auto">
              <a:xfrm>
                <a:off x="3851275" y="655320"/>
                <a:ext cx="4249738" cy="4905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i="1" dirty="0">
                  <a:solidFill>
                    <a:srgbClr val="FF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626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1275" y="655320"/>
                <a:ext cx="4249738" cy="490538"/>
              </a:xfrm>
              <a:prstGeom prst="rect">
                <a:avLst/>
              </a:prstGeom>
              <a:blipFill rotWithShape="1">
                <a:blip r:embed="rId2"/>
                <a:stretch>
                  <a:fillRect r="7" b="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4344" name="Text Box 8"/>
          <p:cNvSpPr txBox="1">
            <a:spLocks noChangeArrowheads="1"/>
          </p:cNvSpPr>
          <p:nvPr/>
        </p:nvSpPr>
        <p:spPr bwMode="auto">
          <a:xfrm>
            <a:off x="900113" y="2276475"/>
            <a:ext cx="266541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方正楷体_GB2312" panose="02000000000000000000" charset="-122"/>
              </a:rPr>
              <a:t>系统自然频率为：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方正楷体_GB2312" panose="020000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4345" name="Object 4"/>
              <p:cNvSpPr txBox="1"/>
              <p:nvPr/>
            </p:nvSpPr>
            <p:spPr bwMode="auto">
              <a:xfrm>
                <a:off x="3635375" y="2205038"/>
                <a:ext cx="1008063" cy="592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4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375" y="2205038"/>
                <a:ext cx="1008063" cy="592137"/>
              </a:xfrm>
              <a:prstGeom prst="rect">
                <a:avLst/>
              </a:prstGeom>
              <a:blipFill rotWithShape="1">
                <a:blip r:embed="rId3"/>
                <a:stretch>
                  <a:fillRect t="-54" r="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46" name="Object 5"/>
              <p:cNvSpPr txBox="1"/>
              <p:nvPr/>
            </p:nvSpPr>
            <p:spPr bwMode="auto">
              <a:xfrm>
                <a:off x="5197475" y="2160588"/>
                <a:ext cx="1152525" cy="657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4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7475" y="2160588"/>
                <a:ext cx="1152525" cy="657225"/>
              </a:xfrm>
              <a:prstGeom prst="rect">
                <a:avLst/>
              </a:prstGeom>
              <a:blipFill rotWithShape="1">
                <a:blip r:embed="rId4"/>
                <a:stretch>
                  <a:fillRect t="-48" b="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47" name="Object 6"/>
              <p:cNvSpPr txBox="1"/>
              <p:nvPr/>
            </p:nvSpPr>
            <p:spPr bwMode="auto">
              <a:xfrm>
                <a:off x="1403350" y="2939465"/>
                <a:ext cx="1439863" cy="522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sty m:val="p"/>
                        </m:rPr>
                        <a:rPr lang="en-US" altLang="zh-CN" sz="2400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zi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5434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350" y="2939465"/>
                <a:ext cx="1439863" cy="522287"/>
              </a:xfrm>
              <a:prstGeom prst="rect">
                <a:avLst/>
              </a:prstGeom>
              <a:blipFill rotWithShape="1">
                <a:blip r:embed="rId5"/>
                <a:stretch>
                  <a:fillRect t="-10" r="22" b="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49" name="Object 7"/>
              <p:cNvSpPr txBox="1"/>
              <p:nvPr/>
            </p:nvSpPr>
            <p:spPr bwMode="auto">
              <a:xfrm>
                <a:off x="1476375" y="4005263"/>
                <a:ext cx="1154113" cy="479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4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6375" y="4005263"/>
                <a:ext cx="1154113" cy="479425"/>
              </a:xfrm>
              <a:prstGeom prst="rect">
                <a:avLst/>
              </a:prstGeom>
              <a:blipFill rotWithShape="1">
                <a:blip r:embed="rId6"/>
                <a:stretch>
                  <a:fillRect t="-66" r="28" b="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51" name="Object 8"/>
              <p:cNvSpPr txBox="1"/>
              <p:nvPr/>
            </p:nvSpPr>
            <p:spPr bwMode="auto">
              <a:xfrm>
                <a:off x="1506538" y="4797425"/>
                <a:ext cx="896937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51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6538" y="4797425"/>
                <a:ext cx="896937" cy="508000"/>
              </a:xfrm>
              <a:prstGeom prst="rect">
                <a:avLst/>
              </a:prstGeom>
              <a:blipFill rotWithShape="1">
                <a:blip r:embed="rId7"/>
                <a:stretch>
                  <a:fillRect l="-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53" name="Object 9"/>
              <p:cNvSpPr txBox="1"/>
              <p:nvPr/>
            </p:nvSpPr>
            <p:spPr bwMode="auto">
              <a:xfrm>
                <a:off x="6012180" y="4099560"/>
                <a:ext cx="1295400" cy="890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5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2180" y="4099560"/>
                <a:ext cx="1295400" cy="89027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55" name="Object 10"/>
              <p:cNvSpPr txBox="1"/>
              <p:nvPr/>
            </p:nvSpPr>
            <p:spPr bwMode="auto">
              <a:xfrm>
                <a:off x="1835150" y="5589588"/>
                <a:ext cx="5818188" cy="6254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33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zi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5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150" y="5589588"/>
                <a:ext cx="5818188" cy="625475"/>
              </a:xfrm>
              <a:prstGeom prst="rect">
                <a:avLst/>
              </a:prstGeom>
              <a:blipFill rotWithShape="1">
                <a:blip r:embed="rId9"/>
                <a:stretch>
                  <a:fillRect l="-87" t="-762" r="-518" b="-4822"/>
                </a:stretch>
              </a:blipFill>
              <a:ln w="9525">
                <a:solidFill>
                  <a:srgbClr val="FF33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56" name="Object 11"/>
              <p:cNvSpPr txBox="1"/>
              <p:nvPr/>
            </p:nvSpPr>
            <p:spPr bwMode="auto">
              <a:xfrm>
                <a:off x="2916238" y="2924175"/>
                <a:ext cx="4202112" cy="62071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5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2924175"/>
                <a:ext cx="4202112" cy="620713"/>
              </a:xfrm>
              <a:prstGeom prst="rect">
                <a:avLst/>
              </a:prstGeom>
              <a:blipFill rotWithShape="1">
                <a:blip r:embed="rId10"/>
                <a:stretch>
                  <a:fillRect l="-113" t="-818" r="-710" b="-4859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57" name="Object 12"/>
              <p:cNvSpPr txBox="1"/>
              <p:nvPr/>
            </p:nvSpPr>
            <p:spPr bwMode="auto">
              <a:xfrm>
                <a:off x="2590165" y="3971290"/>
                <a:ext cx="2102485" cy="5099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5435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165" y="3971290"/>
                <a:ext cx="2102485" cy="50990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4358" name="Object 13"/>
              <p:cNvSpPr txBox="1"/>
              <p:nvPr/>
            </p:nvSpPr>
            <p:spPr bwMode="auto">
              <a:xfrm>
                <a:off x="2678430" y="4797425"/>
                <a:ext cx="1765300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435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8430" y="4797425"/>
                <a:ext cx="1765300" cy="4032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4359" name="AutoShape 23"/>
          <p:cNvSpPr>
            <a:spLocks noChangeArrowheads="1"/>
          </p:cNvSpPr>
          <p:nvPr/>
        </p:nvSpPr>
        <p:spPr bwMode="auto">
          <a:xfrm>
            <a:off x="4768850" y="4211638"/>
            <a:ext cx="1166813" cy="727075"/>
          </a:xfrm>
          <a:prstGeom prst="rightArrow">
            <a:avLst>
              <a:gd name="adj1" fmla="val 34519"/>
              <a:gd name="adj2" fmla="val 550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19" name="日期占位符 1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91CAFD0-2165-428F-ABF7-013AB1F1337B}" type="datetime1">
              <a:rPr lang="zh-CN" altLang="en-US"/>
            </a:fld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7854"/>
    </mc:Choice>
    <mc:Fallback>
      <p:transition spd="slow" advTm="1578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4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4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543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543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/>
      <p:bldP spid="654341" grpId="0"/>
      <p:bldP spid="654344" grpId="0" autoUpdateAnimBg="0"/>
      <p:bldP spid="654345" grpId="0"/>
      <p:bldP spid="654346" grpId="0"/>
      <p:bldP spid="654347" grpId="0"/>
      <p:bldP spid="654349" grpId="0"/>
      <p:bldP spid="654351" grpId="0"/>
      <p:bldP spid="654353" grpId="0" bldLvl="0" animBg="1"/>
      <p:bldP spid="654355" grpId="0" animBg="1"/>
      <p:bldP spid="654356" grpId="0" animBg="1"/>
      <p:bldP spid="654357" grpId="0" bldLvl="0" animBg="1"/>
      <p:bldP spid="654358" grpId="0" bldLvl="0" animBg="1"/>
      <p:bldP spid="65435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539750" y="333375"/>
            <a:ext cx="86042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9900FF"/>
                </a:solidFill>
                <a:latin typeface="Tahoma" panose="020B0604030504040204" pitchFamily="34" charset="0"/>
              </a:rPr>
              <a:t>例</a:t>
            </a:r>
            <a:r>
              <a:rPr kumimoji="1" lang="en-US" altLang="zh-CN" sz="2400">
                <a:solidFill>
                  <a:srgbClr val="9900FF"/>
                </a:solidFill>
                <a:latin typeface="Tahoma" panose="020B0604030504040204" pitchFamily="34" charset="0"/>
              </a:rPr>
              <a:t>2</a:t>
            </a:r>
            <a:r>
              <a:rPr kumimoji="1" lang="zh-CN" altLang="en-US" sz="2400">
                <a:solidFill>
                  <a:srgbClr val="9900FF"/>
                </a:solidFill>
                <a:latin typeface="Tahoma" panose="020B0604030504040204" pitchFamily="34" charset="0"/>
              </a:rPr>
              <a:t>：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已知某离散系统初始值为</a:t>
            </a: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y(0)=2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，</a:t>
            </a: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y(1)=0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，传输算子</a:t>
            </a:r>
            <a:endParaRPr kumimoji="1" lang="zh-CN" altLang="en-US" sz="2400">
              <a:solidFill>
                <a:srgbClr val="0000FF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283" name="Object 2"/>
              <p:cNvSpPr txBox="1"/>
              <p:nvPr/>
            </p:nvSpPr>
            <p:spPr bwMode="auto">
              <a:xfrm>
                <a:off x="1187450" y="765175"/>
                <a:ext cx="2879725" cy="987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728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450" y="765175"/>
                <a:ext cx="2879725" cy="9874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4284663" y="1125538"/>
            <a:ext cx="460851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</a:rPr>
              <a:t>求激励为零时系统的响应</a:t>
            </a:r>
            <a:r>
              <a:rPr kumimoji="1"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y(k)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</a:rPr>
              <a:t>。</a:t>
            </a:r>
            <a:endParaRPr kumimoji="1" lang="zh-CN" altLang="en-US" sz="24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655365" name="Text Box 5"/>
          <p:cNvSpPr txBox="1">
            <a:spLocks noChangeArrowheads="1"/>
          </p:cNvSpPr>
          <p:nvPr/>
        </p:nvSpPr>
        <p:spPr bwMode="auto">
          <a:xfrm>
            <a:off x="720725" y="1844675"/>
            <a:ext cx="9302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000">
                <a:solidFill>
                  <a:srgbClr val="99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解：</a:t>
            </a:r>
            <a:endParaRPr kumimoji="1" lang="zh-CN" altLang="en-US" sz="2000">
              <a:solidFill>
                <a:srgbClr val="9900FF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5366" name="Object 3"/>
              <p:cNvSpPr txBox="1"/>
              <p:nvPr/>
            </p:nvSpPr>
            <p:spPr bwMode="auto">
              <a:xfrm>
                <a:off x="2268538" y="1989138"/>
                <a:ext cx="2303462" cy="538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5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536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1989138"/>
                <a:ext cx="2303462" cy="538162"/>
              </a:xfrm>
              <a:prstGeom prst="rect">
                <a:avLst/>
              </a:prstGeom>
              <a:blipFill rotWithShape="1">
                <a:blip r:embed="rId2"/>
                <a:stretch>
                  <a:fillRect l="-14" t="-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367" name="Object 4"/>
              <p:cNvSpPr txBox="1"/>
              <p:nvPr/>
            </p:nvSpPr>
            <p:spPr bwMode="auto">
              <a:xfrm>
                <a:off x="4859338" y="1989138"/>
                <a:ext cx="2786062" cy="5857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∴</m:t>
                            </m:r>
                          </m:e>
                          <m:e/>
                        </m:mr>
                      </m:m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536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9338" y="1989138"/>
                <a:ext cx="2786062" cy="585787"/>
              </a:xfrm>
              <a:prstGeom prst="rect">
                <a:avLst/>
              </a:prstGeom>
              <a:blipFill rotWithShape="1">
                <a:blip r:embed="rId3"/>
                <a:stretch>
                  <a:fillRect l="-11" t="-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368" name="Object 5"/>
              <p:cNvSpPr txBox="1"/>
              <p:nvPr/>
            </p:nvSpPr>
            <p:spPr bwMode="auto">
              <a:xfrm>
                <a:off x="1619250" y="2924175"/>
                <a:ext cx="1427163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5368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50" y="2924175"/>
                <a:ext cx="1427163" cy="558800"/>
              </a:xfrm>
              <a:prstGeom prst="rect">
                <a:avLst/>
              </a:prstGeom>
              <a:blipFill rotWithShape="1">
                <a:blip r:embed="rId4"/>
                <a:stretch>
                  <a:fillRect r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369" name="Object 6"/>
              <p:cNvSpPr txBox="1"/>
              <p:nvPr/>
            </p:nvSpPr>
            <p:spPr bwMode="auto">
              <a:xfrm>
                <a:off x="1301115" y="3879850"/>
                <a:ext cx="3173413" cy="581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5536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1115" y="3879850"/>
                <a:ext cx="3173413" cy="581025"/>
              </a:xfrm>
              <a:prstGeom prst="rect">
                <a:avLst/>
              </a:prstGeom>
              <a:blipFill rotWithShape="1">
                <a:blip r:embed="rId5"/>
                <a:stretch>
                  <a:fillRect r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370" name="Object 7"/>
              <p:cNvSpPr txBox="1"/>
              <p:nvPr/>
            </p:nvSpPr>
            <p:spPr bwMode="auto">
              <a:xfrm>
                <a:off x="1301115" y="4441825"/>
                <a:ext cx="4641850" cy="606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537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1115" y="4441825"/>
                <a:ext cx="4641850" cy="6064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373" name="Object 8"/>
              <p:cNvSpPr txBox="1"/>
              <p:nvPr/>
            </p:nvSpPr>
            <p:spPr bwMode="auto">
              <a:xfrm>
                <a:off x="2352675" y="5048250"/>
                <a:ext cx="1574800" cy="10534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5537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75" y="5048250"/>
                <a:ext cx="1574800" cy="1053465"/>
              </a:xfrm>
              <a:prstGeom prst="rect">
                <a:avLst/>
              </a:prstGeom>
              <a:blipFill rotWithShape="1">
                <a:blip r:embed="rId7"/>
                <a:stretch>
                  <a:fillRect l="-323" t="-482" r="-1895" b="-2833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375" name="Object 9"/>
              <p:cNvSpPr txBox="1"/>
              <p:nvPr/>
            </p:nvSpPr>
            <p:spPr bwMode="auto">
              <a:xfrm>
                <a:off x="1322388" y="6141720"/>
                <a:ext cx="5976937" cy="65246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33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5537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2388" y="6141720"/>
                <a:ext cx="5976937" cy="652463"/>
              </a:xfrm>
              <a:prstGeom prst="rect">
                <a:avLst/>
              </a:prstGeom>
              <a:blipFill rotWithShape="1">
                <a:blip r:embed="rId8"/>
                <a:stretch>
                  <a:fillRect l="-80" t="-779" r="-499" b="-4623"/>
                </a:stretch>
              </a:blipFill>
              <a:ln w="9525">
                <a:solidFill>
                  <a:srgbClr val="FF33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376" name="Object 10"/>
              <p:cNvSpPr txBox="1"/>
              <p:nvPr/>
            </p:nvSpPr>
            <p:spPr bwMode="auto">
              <a:xfrm>
                <a:off x="3203575" y="2852738"/>
                <a:ext cx="2935288" cy="62865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5537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575" y="2852738"/>
                <a:ext cx="2935288" cy="628650"/>
              </a:xfrm>
              <a:prstGeom prst="rect">
                <a:avLst/>
              </a:prstGeom>
              <a:blipFill rotWithShape="1">
                <a:blip r:embed="rId9"/>
                <a:stretch>
                  <a:fillRect l="-498" t="-2273" r="-1352" b="-6313"/>
                </a:stretch>
              </a:blipFill>
              <a:ln w="2857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日期占位符 1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51B299B-4720-43F6-9E6D-4E7BD33BB31E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365840" y="1450800"/>
            <a:ext cx="7731720" cy="49626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8880"/>
    </mc:Choice>
    <mc:Fallback>
      <p:transition spd="slow" advTm="2688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5" grpId="0" autoUpdateAnimBg="0" build="p"/>
      <p:bldP spid="655366" grpId="0"/>
      <p:bldP spid="655367" grpId="0"/>
      <p:bldP spid="655368" grpId="0"/>
      <p:bldP spid="655369" grpId="0" bldLvl="0" animBg="1"/>
      <p:bldP spid="655370" grpId="0" bldLvl="0" animBg="1"/>
      <p:bldP spid="655373" grpId="0" bldLvl="0" animBg="1"/>
      <p:bldP spid="655375" grpId="0" bldLvl="0" animBg="1"/>
      <p:bldP spid="65537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052513"/>
            <a:ext cx="8207375" cy="2160587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800" b="1" dirty="0">
                <a:solidFill>
                  <a:srgbClr val="FF3300"/>
                </a:solidFill>
              </a:rPr>
              <a:t>3</a:t>
            </a:r>
            <a:r>
              <a:rPr lang="zh-CN" altLang="en-US" sz="2800" b="1" dirty="0">
                <a:solidFill>
                  <a:srgbClr val="FF3300"/>
                </a:solidFill>
              </a:rPr>
              <a:t>、离散系统的稳定性</a:t>
            </a:r>
            <a:endParaRPr lang="zh-CN" altLang="en-US" sz="2800" b="1" dirty="0">
              <a:solidFill>
                <a:srgbClr val="FF3300"/>
              </a:solidFill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800" b="1" dirty="0"/>
              <a:t>      离散系统的稳定性定义与连续系统一样，即有限输入只能引起有限输出。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6388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116330" y="3523615"/>
                <a:ext cx="7272020" cy="116014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从上面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的表达式可以看出，当所有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</m:oMath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系统稳定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638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116330" y="3523615"/>
                <a:ext cx="7272020" cy="1160145"/>
              </a:xfrm>
              <a:prstGeom prst="rect">
                <a:avLst/>
              </a:prstGeom>
              <a:blipFill rotWithShape="1">
                <a:blip r:embed="rId1"/>
                <a:stretch>
                  <a:fillRect l="-70" t="-438" r="-410" b="-2573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6395" name="Rectangle 11"/>
          <p:cNvSpPr>
            <a:spLocks noChangeArrowheads="1"/>
          </p:cNvSpPr>
          <p:nvPr/>
        </p:nvSpPr>
        <p:spPr bwMode="auto">
          <a:xfrm>
            <a:off x="684213" y="260350"/>
            <a:ext cx="5689600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§7.4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离散时间系统的零输入响应</a:t>
            </a:r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6400" name="Object 3"/>
              <p:cNvSpPr txBox="1"/>
              <p:nvPr/>
            </p:nvSpPr>
            <p:spPr bwMode="auto">
              <a:xfrm>
                <a:off x="1131888" y="5229225"/>
                <a:ext cx="7416800" cy="625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当某些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系统不稳定。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640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1888" y="5229225"/>
                <a:ext cx="7416800" cy="625475"/>
              </a:xfrm>
              <a:prstGeom prst="rect">
                <a:avLst/>
              </a:prstGeom>
              <a:blipFill rotWithShape="1">
                <a:blip r:embed="rId2"/>
                <a:stretch>
                  <a:fillRect l="-4" r="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F3C926F-3CF1-4BEB-BEAA-C04A1D8EB8EF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545840" y="1676520"/>
            <a:ext cx="7422120" cy="414936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6090"/>
    </mc:Choice>
    <mc:Fallback>
      <p:transition spd="slow" advTm="1760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8" grpId="0" animBg="1" uiExpand="1" build="p"/>
      <p:bldP spid="65640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57414" name="Object 2"/>
              <p:cNvSpPr txBox="1"/>
              <p:nvPr/>
            </p:nvSpPr>
            <p:spPr bwMode="auto">
              <a:xfrm>
                <a:off x="584320" y="2439995"/>
                <a:ext cx="8435949" cy="630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当某些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，其余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时，系统边界稳定。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741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320" y="2439995"/>
                <a:ext cx="8435949" cy="630237"/>
              </a:xfrm>
              <a:prstGeom prst="rect">
                <a:avLst/>
              </a:prstGeom>
              <a:blipFill rotWithShape="1">
                <a:blip r:embed="rId1"/>
                <a:stretch>
                  <a:fillRect l="-1" t="-52" r="1" b="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7420" name="Rectangle 12"/>
          <p:cNvSpPr>
            <a:spLocks noChangeArrowheads="1"/>
          </p:cNvSpPr>
          <p:nvPr/>
        </p:nvSpPr>
        <p:spPr bwMode="auto">
          <a:xfrm>
            <a:off x="684213" y="260350"/>
            <a:ext cx="5689600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§7.4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离散时间系统的零输入响应</a:t>
            </a:r>
            <a:endParaRPr lang="zh-CN" altLang="en-US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7422" name="Object 3"/>
              <p:cNvSpPr txBox="1"/>
              <p:nvPr/>
            </p:nvSpPr>
            <p:spPr bwMode="auto">
              <a:xfrm>
                <a:off x="508267" y="4008332"/>
                <a:ext cx="8512002" cy="1547225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</p:spPr>
            <p:txBody>
              <a:bodyPr>
                <a:normAutofit lnSpcReduction="10000"/>
              </a:bodyPr>
              <a:lstStyle/>
              <a:p>
                <a:pPr marL="446405" indent="-446405">
                  <a:lnSpc>
                    <a:spcPct val="120000"/>
                  </a:lnSpc>
                  <a:tabLst>
                    <a:tab pos="17589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边界稳定情况下，若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的根为单重根，则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；</m:t>
                      </m:r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若为多重根，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，系统不稳定。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5742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267" y="4008332"/>
                <a:ext cx="8512002" cy="1547225"/>
              </a:xfrm>
              <a:prstGeom prst="rect">
                <a:avLst/>
              </a:prstGeom>
              <a:blipFill rotWithShape="1">
                <a:blip r:embed="rId2"/>
                <a:stretch>
                  <a:fillRect l="-3" t="-14" r="1" b="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333" name="Rectangle 16"/>
          <p:cNvSpPr>
            <a:spLocks noChangeArrowheads="1"/>
          </p:cNvSpPr>
          <p:nvPr/>
        </p:nvSpPr>
        <p:spPr bwMode="auto">
          <a:xfrm>
            <a:off x="508266" y="1214557"/>
            <a:ext cx="391453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FF3300"/>
                </a:solidFill>
                <a:latin typeface="黑体" panose="02010609060101010101" pitchFamily="49" charset="-122"/>
              </a:rPr>
              <a:t>3</a:t>
            </a:r>
            <a:r>
              <a:rPr lang="zh-CN" altLang="en-US" sz="3200" dirty="0">
                <a:solidFill>
                  <a:srgbClr val="FF3300"/>
                </a:solidFill>
                <a:latin typeface="黑体" panose="02010609060101010101" pitchFamily="49" charset="-122"/>
              </a:rPr>
              <a:t>、离散系统的稳定性</a:t>
            </a:r>
            <a:endParaRPr lang="zh-CN" altLang="en-US" sz="3200" dirty="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AA683BC-7B21-4A8A-9515-B24E6E294A9E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107720" y="1065960"/>
            <a:ext cx="7083360" cy="514764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746"/>
    </mc:Choice>
    <mc:Fallback>
      <p:transition spd="slow" advTm="727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4" grpId="0"/>
      <p:bldP spid="65742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0850" y="188913"/>
            <a:ext cx="8693150" cy="2357437"/>
          </a:xfrm>
        </p:spPr>
        <p:txBody>
          <a:bodyPr/>
          <a:lstStyle/>
          <a:p>
            <a:pPr>
              <a:lnSpc>
                <a:spcPct val="125000"/>
              </a:lnSpc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：有一离散时间系统，用下列差分方程描写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y(k+2)-3y(k+1)+2y(k)=e(k+1)-2e(k),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系统的初始条件为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zi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(0)=0,y</a:t>
            </a:r>
            <a:r>
              <a:rPr lang="en-US" altLang="zh-CN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zi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(1)=1.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求该系统的零输入响应。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8435" name="Rectangle 3"/>
          <p:cNvSpPr>
            <a:spLocks noChangeArrowheads="1"/>
          </p:cNvSpPr>
          <p:nvPr/>
        </p:nvSpPr>
        <p:spPr bwMode="auto">
          <a:xfrm>
            <a:off x="619125" y="2574925"/>
            <a:ext cx="7905750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FF0000"/>
                </a:solidFill>
                <a:latin typeface="华文中宋" panose="02010600040101010101" pitchFamily="2" charset="-122"/>
              </a:rPr>
              <a:t>解：</a:t>
            </a:r>
            <a:r>
              <a:rPr lang="zh-CN" altLang="en-US" sz="3200" dirty="0">
                <a:latin typeface="华文中宋" panose="02010600040101010101" pitchFamily="2" charset="-122"/>
              </a:rPr>
              <a:t>差分方程齐次式为：</a:t>
            </a:r>
            <a:endParaRPr lang="zh-CN" altLang="en-US" sz="3200" dirty="0">
              <a:latin typeface="华文中宋" panose="02010600040101010101" pitchFamily="2" charset="-122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latin typeface="华文中宋" panose="02010600040101010101" pitchFamily="2" charset="-122"/>
              </a:rPr>
              <a:t>           </a:t>
            </a:r>
            <a:r>
              <a:rPr lang="en-US" altLang="zh-CN" sz="3200" dirty="0">
                <a:latin typeface="华文中宋" panose="02010600040101010101" pitchFamily="2" charset="-122"/>
              </a:rPr>
              <a:t>y(k+2)-3y(k+1)+2y(k)=0</a:t>
            </a:r>
            <a:endParaRPr lang="en-US" altLang="zh-CN" sz="3200" dirty="0">
              <a:latin typeface="华文中宋" panose="02010600040101010101" pitchFamily="2" charset="-122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华文中宋" panose="02010600040101010101" pitchFamily="2" charset="-122"/>
              </a:rPr>
              <a:t>      </a:t>
            </a:r>
            <a:r>
              <a:rPr lang="zh-CN" altLang="en-US" sz="3200" dirty="0">
                <a:latin typeface="华文中宋" panose="02010600040101010101" pitchFamily="2" charset="-122"/>
              </a:rPr>
              <a:t>应用移序算子</a:t>
            </a:r>
            <a:endParaRPr lang="zh-CN" altLang="en-US" sz="3200" dirty="0">
              <a:latin typeface="华文中宋" panose="02010600040101010101" pitchFamily="2" charset="-122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latin typeface="华文中宋" panose="02010600040101010101" pitchFamily="2" charset="-122"/>
              </a:rPr>
              <a:t>         </a:t>
            </a:r>
            <a:r>
              <a:rPr lang="en-US" altLang="zh-CN" sz="3200" dirty="0">
                <a:latin typeface="华文中宋" panose="02010600040101010101" pitchFamily="2" charset="-122"/>
              </a:rPr>
              <a:t>S</a:t>
            </a:r>
            <a:r>
              <a:rPr lang="en-US" altLang="zh-CN" sz="3200" baseline="30000" dirty="0">
                <a:latin typeface="华文中宋" panose="02010600040101010101" pitchFamily="2" charset="-122"/>
              </a:rPr>
              <a:t>2</a:t>
            </a:r>
            <a:r>
              <a:rPr lang="en-US" altLang="zh-CN" sz="3200" dirty="0">
                <a:latin typeface="华文中宋" panose="02010600040101010101" pitchFamily="2" charset="-122"/>
              </a:rPr>
              <a:t>y(k)-3Sy(k)+2y(k)=0</a:t>
            </a:r>
            <a:endParaRPr lang="en-US" altLang="zh-CN" sz="3200" dirty="0">
              <a:latin typeface="华文中宋" panose="02010600040101010101" pitchFamily="2" charset="-122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华文中宋" panose="02010600040101010101" pitchFamily="2" charset="-122"/>
              </a:rPr>
              <a:t>     </a:t>
            </a:r>
            <a:r>
              <a:rPr lang="zh-CN" altLang="en-US" sz="3200" dirty="0">
                <a:latin typeface="华文中宋" panose="02010600040101010101" pitchFamily="2" charset="-122"/>
              </a:rPr>
              <a:t>特征方程为</a:t>
            </a:r>
            <a:endParaRPr lang="zh-CN" altLang="en-US" sz="3200" dirty="0">
              <a:latin typeface="华文中宋" panose="02010600040101010101" pitchFamily="2" charset="-122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latin typeface="华文中宋" panose="02010600040101010101" pitchFamily="2" charset="-122"/>
              </a:rPr>
              <a:t>		  </a:t>
            </a:r>
            <a:r>
              <a:rPr lang="en-US" altLang="zh-CN" sz="3200" dirty="0">
                <a:latin typeface="华文中宋" panose="02010600040101010101" pitchFamily="2" charset="-122"/>
              </a:rPr>
              <a:t>S</a:t>
            </a:r>
            <a:r>
              <a:rPr lang="en-US" altLang="zh-CN" sz="3200" baseline="30000" dirty="0">
                <a:latin typeface="华文中宋" panose="02010600040101010101" pitchFamily="2" charset="-122"/>
              </a:rPr>
              <a:t>2</a:t>
            </a:r>
            <a:r>
              <a:rPr lang="zh-CN" altLang="en-US" sz="3200" dirty="0">
                <a:latin typeface="华文中宋" panose="02010600040101010101" pitchFamily="2" charset="-122"/>
              </a:rPr>
              <a:t>－</a:t>
            </a:r>
            <a:r>
              <a:rPr lang="en-US" altLang="zh-CN" sz="3200" dirty="0">
                <a:latin typeface="华文中宋" panose="02010600040101010101" pitchFamily="2" charset="-122"/>
              </a:rPr>
              <a:t>3S</a:t>
            </a:r>
            <a:r>
              <a:rPr lang="zh-CN" altLang="en-US" sz="3200" dirty="0">
                <a:latin typeface="华文中宋" panose="02010600040101010101" pitchFamily="2" charset="-122"/>
              </a:rPr>
              <a:t>＋</a:t>
            </a:r>
            <a:r>
              <a:rPr lang="en-US" altLang="zh-CN" sz="3200" dirty="0">
                <a:latin typeface="华文中宋" panose="02010600040101010101" pitchFamily="2" charset="-122"/>
              </a:rPr>
              <a:t>2</a:t>
            </a:r>
            <a:r>
              <a:rPr lang="zh-CN" altLang="en-US" sz="3200" dirty="0">
                <a:latin typeface="华文中宋" panose="02010600040101010101" pitchFamily="2" charset="-122"/>
              </a:rPr>
              <a:t>＝</a:t>
            </a:r>
            <a:r>
              <a:rPr lang="en-US" altLang="zh-CN" sz="3200" dirty="0">
                <a:latin typeface="华文中宋" panose="02010600040101010101" pitchFamily="2" charset="-122"/>
              </a:rPr>
              <a:t>(S-1)(S-2)</a:t>
            </a:r>
            <a:r>
              <a:rPr lang="zh-CN" altLang="en-US" sz="3200" dirty="0">
                <a:latin typeface="华文中宋" panose="02010600040101010101" pitchFamily="2" charset="-122"/>
              </a:rPr>
              <a:t>＝</a:t>
            </a:r>
            <a:r>
              <a:rPr lang="en-US" altLang="zh-CN" sz="3200" dirty="0">
                <a:latin typeface="华文中宋" panose="02010600040101010101" pitchFamily="2" charset="-122"/>
              </a:rPr>
              <a:t>0</a:t>
            </a:r>
            <a:r>
              <a:rPr lang="en-US" altLang="zh-CN" sz="3600" dirty="0">
                <a:latin typeface="华文中宋" panose="02010600040101010101" pitchFamily="2" charset="-122"/>
              </a:rPr>
              <a:t>  </a:t>
            </a:r>
            <a:endParaRPr lang="en-US" altLang="zh-CN" sz="3200" dirty="0">
              <a:latin typeface="华文中宋" panose="0201060004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>
          <a:xfrm>
            <a:off x="0" y="6538913"/>
            <a:ext cx="2000250" cy="319087"/>
          </a:xfrm>
        </p:spPr>
        <p:txBody>
          <a:bodyPr/>
          <a:lstStyle/>
          <a:p>
            <a:pPr>
              <a:defRPr/>
            </a:pPr>
            <a:fld id="{92E0C175-488A-4877-BA07-0CFF23249EE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3832560" y="1741320"/>
            <a:ext cx="2527200" cy="8280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305"/>
    </mc:Choice>
    <mc:Fallback>
      <p:transition spd="slow" advTm="793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5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5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5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5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5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5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4488" y="0"/>
            <a:ext cx="8799512" cy="4956175"/>
          </a:xfrm>
        </p:spPr>
        <p:txBody>
          <a:bodyPr/>
          <a:lstStyle/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b="1" dirty="0"/>
              <a:t>     </a:t>
            </a:r>
            <a:r>
              <a:rPr lang="zh-CN" altLang="en-US" sz="2800" b="1" dirty="0"/>
              <a:t>解得特征根</a:t>
            </a:r>
            <a:r>
              <a:rPr lang="en-US" altLang="zh-CN" sz="2800" b="1" dirty="0"/>
              <a:t>v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=1,v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=2</a:t>
            </a:r>
            <a:r>
              <a:rPr lang="zh-CN" altLang="en-US" sz="2800" b="1" dirty="0"/>
              <a:t>。所以零输入响应为</a:t>
            </a:r>
            <a:endParaRPr lang="zh-CN" altLang="en-US" sz="2800" b="1" dirty="0"/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b="1" dirty="0"/>
              <a:t>              </a:t>
            </a:r>
            <a:r>
              <a:rPr lang="en-US" altLang="zh-CN" sz="2800" b="1" dirty="0" err="1"/>
              <a:t>y</a:t>
            </a:r>
            <a:r>
              <a:rPr lang="en-US" altLang="zh-CN" sz="2800" b="1" baseline="-25000" dirty="0" err="1"/>
              <a:t>zi</a:t>
            </a:r>
            <a:r>
              <a:rPr lang="en-US" altLang="zh-CN" sz="2800" b="1" dirty="0"/>
              <a:t>(k)=c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+c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2</a:t>
            </a:r>
            <a:r>
              <a:rPr lang="en-US" altLang="zh-CN" sz="2800" b="1" baseline="30000" dirty="0"/>
              <a:t>k</a:t>
            </a:r>
            <a:endParaRPr lang="en-US" altLang="zh-CN" sz="2800" b="1" baseline="30000" dirty="0"/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b="1" baseline="30000" dirty="0"/>
              <a:t>       </a:t>
            </a:r>
            <a:r>
              <a:rPr lang="zh-CN" altLang="en-US" sz="2800" b="1" dirty="0"/>
              <a:t>将初始条件代入上式求系数</a:t>
            </a:r>
            <a:r>
              <a:rPr lang="en-US" altLang="zh-CN" sz="2800" b="1" dirty="0"/>
              <a:t>c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c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有：</a:t>
            </a:r>
            <a:endParaRPr lang="zh-CN" altLang="en-US" sz="2800" b="1" dirty="0"/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b="1" dirty="0"/>
              <a:t>              </a:t>
            </a:r>
            <a:r>
              <a:rPr lang="en-US" altLang="zh-CN" sz="2800" b="1" dirty="0"/>
              <a:t>y(0)=c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+c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=0</a:t>
            </a:r>
            <a:endParaRPr lang="en-US" altLang="zh-CN" sz="2800" b="1" dirty="0"/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b="1" dirty="0"/>
              <a:t>              y(1)=c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+2c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=1</a:t>
            </a:r>
            <a:endParaRPr lang="en-US" altLang="zh-CN" sz="2800" b="1" dirty="0"/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b="1" dirty="0"/>
              <a:t>   </a:t>
            </a:r>
            <a:r>
              <a:rPr lang="zh-CN" altLang="en-US" sz="2800" b="1" dirty="0"/>
              <a:t>解方程组，得</a:t>
            </a:r>
            <a:r>
              <a:rPr lang="en-US" altLang="zh-CN" sz="2800" b="1" dirty="0"/>
              <a:t>c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=-1,c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=1.</a:t>
            </a:r>
            <a:endParaRPr lang="en-US" altLang="zh-CN" sz="2800" b="1" dirty="0"/>
          </a:p>
          <a:p>
            <a:pPr>
              <a:lnSpc>
                <a:spcPct val="135000"/>
              </a:lnSpc>
              <a:buFontTx/>
              <a:buNone/>
            </a:pPr>
            <a:r>
              <a:rPr lang="en-US" altLang="zh-CN" sz="2800" b="1" dirty="0"/>
              <a:t>   </a:t>
            </a:r>
            <a:r>
              <a:rPr lang="zh-CN" altLang="en-US" sz="2800" b="1" dirty="0"/>
              <a:t>于是系统的零输入响应为             </a:t>
            </a:r>
            <a:endParaRPr lang="zh-CN" altLang="en-US" sz="2800" b="1" dirty="0"/>
          </a:p>
          <a:p>
            <a:pPr>
              <a:lnSpc>
                <a:spcPct val="135000"/>
              </a:lnSpc>
              <a:buFontTx/>
              <a:buNone/>
            </a:pPr>
            <a:r>
              <a:rPr lang="zh-CN" altLang="en-US" sz="2800" b="1" dirty="0"/>
              <a:t>                </a:t>
            </a:r>
            <a:r>
              <a:rPr lang="en-US" altLang="zh-CN" sz="2800" b="1" dirty="0" err="1"/>
              <a:t>y</a:t>
            </a:r>
            <a:r>
              <a:rPr lang="en-US" altLang="zh-CN" sz="2800" b="1" baseline="-25000" dirty="0" err="1"/>
              <a:t>zi</a:t>
            </a:r>
            <a:r>
              <a:rPr lang="en-US" altLang="zh-CN" sz="2800" b="1" dirty="0"/>
              <a:t>(k)= =-1+2</a:t>
            </a:r>
            <a:r>
              <a:rPr lang="en-US" altLang="zh-CN" sz="2800" b="1" baseline="30000" dirty="0"/>
              <a:t>k</a:t>
            </a:r>
            <a:r>
              <a:rPr lang="en-US" altLang="zh-CN" sz="2800" b="1" dirty="0"/>
              <a:t>        k≥0</a:t>
            </a:r>
            <a:endParaRPr lang="en-US" altLang="zh-CN" sz="2800" b="1" baseline="30000" dirty="0">
              <a:solidFill>
                <a:srgbClr val="FF0000"/>
              </a:solidFill>
            </a:endParaRPr>
          </a:p>
        </p:txBody>
      </p:sp>
      <p:sp>
        <p:nvSpPr>
          <p:cNvPr id="659459" name="Rectangle 3"/>
          <p:cNvSpPr>
            <a:spLocks noChangeArrowheads="1"/>
          </p:cNvSpPr>
          <p:nvPr/>
        </p:nvSpPr>
        <p:spPr bwMode="auto">
          <a:xfrm>
            <a:off x="1112838" y="5300663"/>
            <a:ext cx="74882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pitchFamily="49" charset="-122"/>
              </a:rPr>
              <a:t>    可以看到此解包含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</a:rPr>
              <a:t>有一常数项和一底数大于</a:t>
            </a:r>
            <a:r>
              <a:rPr lang="en-US" altLang="zh-CN" sz="2400">
                <a:solidFill>
                  <a:srgbClr val="FF0000"/>
                </a:solidFill>
                <a:latin typeface="黑体" panose="02010609060101010101" pitchFamily="49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</a:rPr>
              <a:t>的乘幂，故此系统是不稳定的。</a:t>
            </a:r>
            <a:endParaRPr lang="zh-CN" altLang="en-US" sz="2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B8BA6BE-1841-460B-AD34-E45AA6D22E0A}" type="datetime1">
              <a:rPr lang="zh-CN" altLang="en-US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116"/>
    </mc:Choice>
    <mc:Fallback>
      <p:transition spd="slow" advTm="1321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5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5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5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5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5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5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5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5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5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5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5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5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5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5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5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5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5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5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5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887558"/>
            <a:ext cx="3168650" cy="470878"/>
          </a:xfrm>
          <a:solidFill>
            <a:srgbClr val="FFFF99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marL="0" indent="0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</a:rPr>
              <a:t> N</a:t>
            </a:r>
            <a:r>
              <a:rPr lang="zh-CN" altLang="en-US" sz="2400" b="1" dirty="0">
                <a:solidFill>
                  <a:srgbClr val="FF3300"/>
                </a:solidFill>
              </a:rPr>
              <a:t>阶系统：</a:t>
            </a:r>
            <a:endParaRPr lang="zh-CN" altLang="en-US" sz="2400" b="1" dirty="0">
              <a:solidFill>
                <a:srgbClr val="FF33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0484" name="Object 2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784225" y="1311910"/>
                <a:ext cx="8279765" cy="10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则有：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6048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784225" y="1311910"/>
                <a:ext cx="8279765" cy="1003300"/>
              </a:xfrm>
              <a:prstGeom prst="rect">
                <a:avLst/>
              </a:prstGeom>
              <a:blipFill rotWithShape="1">
                <a:blip r:embed="rId1"/>
                <a:stretch>
                  <a:fillRect b="-110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0486" name="Rectangle 6"/>
          <p:cNvSpPr>
            <a:spLocks noChangeArrowheads="1"/>
          </p:cNvSpPr>
          <p:nvPr/>
        </p:nvSpPr>
        <p:spPr bwMode="auto">
          <a:xfrm>
            <a:off x="457178" y="2404379"/>
            <a:ext cx="3168650" cy="51117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00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sz="2000" dirty="0">
                <a:solidFill>
                  <a:srgbClr val="FF3300"/>
                </a:solidFill>
                <a:latin typeface="华文中宋" panose="02010600040101010101" pitchFamily="2" charset="-122"/>
              </a:rPr>
              <a:t>系统特征方程为：</a:t>
            </a:r>
            <a:endParaRPr lang="zh-CN" altLang="en-US" sz="2000" dirty="0">
              <a:solidFill>
                <a:srgbClr val="FF3300"/>
              </a:solidFill>
              <a:latin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0487" name="Object 3"/>
              <p:cNvSpPr txBox="1"/>
              <p:nvPr/>
            </p:nvSpPr>
            <p:spPr bwMode="auto">
              <a:xfrm>
                <a:off x="1509148" y="2824967"/>
                <a:ext cx="5486400" cy="593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6048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9148" y="2824967"/>
                <a:ext cx="5486400" cy="593725"/>
              </a:xfrm>
              <a:prstGeom prst="rect">
                <a:avLst/>
              </a:prstGeom>
              <a:blipFill rotWithShape="1">
                <a:blip r:embed="rId2"/>
                <a:stretch>
                  <a:fillRect l="-7" t="-82" r="7" b="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0488" name="Rectangle 8"/>
          <p:cNvSpPr>
            <a:spLocks noChangeArrowheads="1"/>
          </p:cNvSpPr>
          <p:nvPr/>
        </p:nvSpPr>
        <p:spPr bwMode="auto">
          <a:xfrm>
            <a:off x="744766" y="3360135"/>
            <a:ext cx="701516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None/>
            </a:pPr>
            <a:r>
              <a:rPr kumimoji="1"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当特征根均为单根</a:t>
            </a:r>
            <a:r>
              <a:rPr kumimoji="1" lang="en-US" altLang="zh-CN" sz="240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dirty="0" err="1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时，则：</a:t>
            </a:r>
            <a:endParaRPr kumimoji="1"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0489" name="Object 4"/>
              <p:cNvSpPr txBox="1"/>
              <p:nvPr/>
            </p:nvSpPr>
            <p:spPr bwMode="auto">
              <a:xfrm>
                <a:off x="1007268" y="3766935"/>
                <a:ext cx="7129463" cy="649288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048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7268" y="3766935"/>
                <a:ext cx="7129463" cy="649288"/>
              </a:xfrm>
              <a:prstGeom prst="rect">
                <a:avLst/>
              </a:prstGeom>
              <a:blipFill rotWithShape="1">
                <a:blip r:embed="rId3"/>
                <a:stretch>
                  <a:fillRect l="-2" t="-18" r="7" b="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490" name="Object 5"/>
              <p:cNvSpPr txBox="1"/>
              <p:nvPr/>
            </p:nvSpPr>
            <p:spPr bwMode="auto">
              <a:xfrm>
                <a:off x="457200" y="5984240"/>
                <a:ext cx="8676005" cy="873760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为待定系数，由初始条件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),......,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)确定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6049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984240"/>
                <a:ext cx="8676005" cy="8737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0491" name="Rectangle 11"/>
          <p:cNvSpPr>
            <a:spLocks noChangeArrowheads="1"/>
          </p:cNvSpPr>
          <p:nvPr/>
        </p:nvSpPr>
        <p:spPr bwMode="auto">
          <a:xfrm>
            <a:off x="684213" y="188913"/>
            <a:ext cx="6553714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</a:rPr>
              <a:t>回顾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</a:rPr>
              <a:t>1  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离散时间系统的零输入响应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708301" y="4377831"/>
            <a:ext cx="84248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711200" indent="-711200">
              <a:buFont typeface="Wingdings" panose="05000000000000000000" pitchFamily="2" charset="2"/>
              <a:buNone/>
            </a:pPr>
            <a:r>
              <a:rPr kumimoji="1"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ii)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设有一</a:t>
            </a:r>
            <a:r>
              <a:rPr kumimoji="1"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重根</a:t>
            </a:r>
            <a:r>
              <a:rPr kumimoji="1" lang="en-US" altLang="zh-CN" sz="2400" b="0" kern="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kern="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400" b="0" kern="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kern="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…=</a:t>
            </a:r>
            <a:r>
              <a:rPr kumimoji="1" lang="en-US" altLang="zh-CN" sz="2400" b="0" kern="0" dirty="0" err="1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kern="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0" kern="0" dirty="0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kern="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r+1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400" b="0" kern="0" dirty="0" err="1">
                <a:solidFill>
                  <a:srgbClr val="0000FF"/>
                </a:solidFill>
                <a:latin typeface="PMingLiU-ExtB" panose="02020500000000000000" pitchFamily="18" charset="-120"/>
                <a:ea typeface="PMingLiU-ExtB" panose="02020500000000000000" pitchFamily="18" charset="-120"/>
                <a:cs typeface="Times New Roman" panose="02020603050405020304" pitchFamily="18" charset="0"/>
              </a:rPr>
              <a:t>ʋ</a:t>
            </a:r>
            <a:r>
              <a:rPr kumimoji="1" lang="en-US" altLang="zh-CN" sz="2400" b="1" kern="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时，则：</a:t>
            </a:r>
            <a:endParaRPr kumimoji="1" lang="zh-CN" altLang="en-US" sz="24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2"/>
              <p:cNvSpPr txBox="1"/>
              <p:nvPr/>
            </p:nvSpPr>
            <p:spPr bwMode="auto">
              <a:xfrm>
                <a:off x="876836" y="4835511"/>
                <a:ext cx="8039616" cy="123957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51430" indent="-398780" algn="l" rtl="0" fontAlgn="base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3008630" indent="-398780" algn="l" rtl="0" fontAlgn="base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65830" indent="-398780" algn="l" rtl="0" fontAlgn="base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923030" indent="-398780" algn="l" rtl="0" fontAlgn="base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ctrlPr>
                            <a:rPr lang="zh-CN" altLang="en-US" sz="24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4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zh-CN" altLang="en-US" sz="24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4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r>
                            <a:rPr lang="zh-CN" altLang="en-US" sz="24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1600" b="0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zh-CN" alt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16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16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sz="16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16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zh-CN" alt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b="0" kern="0" dirty="0"/>
              </a:p>
            </p:txBody>
          </p:sp>
        </mc:Choice>
        <mc:Fallback>
          <p:sp>
            <p:nvSpPr>
              <p:cNvPr id="1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6836" y="4835511"/>
                <a:ext cx="8039616" cy="1239575"/>
              </a:xfrm>
              <a:prstGeom prst="rect">
                <a:avLst/>
              </a:prstGeom>
              <a:blipFill rotWithShape="1">
                <a:blip r:embed="rId5"/>
                <a:stretch>
                  <a:fillRect l="-7" t="-50" r="5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2310"/>
    </mc:Choice>
    <mc:Fallback>
      <p:transition spd="slow" advTm="1623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04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04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604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6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6048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6048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604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6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6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60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6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build="p"/>
      <p:bldP spid="660484" grpId="0" build="p"/>
      <p:bldP spid="660486" grpId="0" animBg="1" build="p"/>
      <p:bldP spid="660487" grpId="0"/>
      <p:bldP spid="660488" grpId="0"/>
      <p:bldP spid="660489" grpId="0" animBg="1"/>
      <p:bldP spid="660490" grpId="0" bldLvl="0" animBg="1"/>
      <p:bldP spid="11" grpId="0"/>
      <p:bldP spid="1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099D8B-486F-4589-A4A8-A35DB19C5E60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498" y="472965"/>
            <a:ext cx="8540502" cy="4955627"/>
          </a:xfrm>
          <a:prstGeom prst="rect">
            <a:avLst/>
          </a:prstGeom>
        </p:spPr>
      </p:pic>
      <p:sp>
        <p:nvSpPr>
          <p:cNvPr id="4" name="Rectangle 8"/>
          <p:cNvSpPr txBox="1">
            <a:spLocks noChangeArrowheads="1"/>
          </p:cNvSpPr>
          <p:nvPr/>
        </p:nvSpPr>
        <p:spPr>
          <a:xfrm>
            <a:off x="684213" y="188913"/>
            <a:ext cx="6618108" cy="6477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回顾</a:t>
            </a:r>
            <a:r>
              <a:rPr lang="en-US" altLang="zh-CN" sz="28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    </a:t>
            </a:r>
            <a:r>
              <a:rPr lang="zh-CN" altLang="en-US" sz="28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离散时间系统的零输入响应</a:t>
            </a:r>
            <a:endParaRPr lang="zh-CN" altLang="en-US" sz="28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052513"/>
            <a:ext cx="8207375" cy="1420231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800" b="1" dirty="0"/>
              <a:t>离散系统的稳定性定义与连续系统一样，即有限输入只能引起有限输出。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6388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708051" y="2789316"/>
                <a:ext cx="8435949" cy="679325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当所有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系统稳定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5638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708051" y="2789316"/>
                <a:ext cx="8435949" cy="679325"/>
              </a:xfrm>
              <a:prstGeom prst="rect">
                <a:avLst/>
              </a:prstGeom>
              <a:blipFill rotWithShape="1">
                <a:blip r:embed="rId1"/>
                <a:stretch>
                  <a:fillRect t="-58" r="-294" b="-3699"/>
                </a:stretch>
              </a:blipFill>
              <a:ln w="9525">
                <a:noFill/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6395" name="Rectangle 11"/>
          <p:cNvSpPr>
            <a:spLocks noChangeArrowheads="1"/>
          </p:cNvSpPr>
          <p:nvPr/>
        </p:nvSpPr>
        <p:spPr bwMode="auto">
          <a:xfrm>
            <a:off x="684213" y="260350"/>
            <a:ext cx="5689600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</a:rPr>
              <a:t>回顾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</a:rPr>
              <a:t>3    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</a:rPr>
              <a:t>离散系统的稳定性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6400" name="Object 3"/>
              <p:cNvSpPr txBox="1"/>
              <p:nvPr/>
            </p:nvSpPr>
            <p:spPr bwMode="auto">
              <a:xfrm>
                <a:off x="708051" y="3785213"/>
                <a:ext cx="8435949" cy="625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当某些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系统不稳定。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5640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051" y="3785213"/>
                <a:ext cx="8435949" cy="625475"/>
              </a:xfrm>
              <a:prstGeom prst="rect">
                <a:avLst/>
              </a:prstGeom>
              <a:blipFill rotWithShape="1">
                <a:blip r:embed="rId2"/>
                <a:stretch>
                  <a:fillRect t="-98" b="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F3C926F-3CF1-4BEB-BEAA-C04A1D8EB8EF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545840" y="1676520"/>
            <a:ext cx="7422120" cy="4149360"/>
          </a:xfr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2"/>
              <p:cNvSpPr txBox="1"/>
              <p:nvPr/>
            </p:nvSpPr>
            <p:spPr bwMode="auto">
              <a:xfrm>
                <a:off x="708051" y="4572695"/>
                <a:ext cx="8435949" cy="630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当某些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，其余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时，系统边界稳定。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051" y="4572695"/>
                <a:ext cx="8435949" cy="630237"/>
              </a:xfrm>
              <a:prstGeom prst="rect">
                <a:avLst/>
              </a:prstGeom>
              <a:blipFill rotWithShape="1">
                <a:blip r:embed="rId3"/>
                <a:stretch>
                  <a:fillRect t="-10" b="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3"/>
              <p:cNvSpPr txBox="1"/>
              <p:nvPr/>
            </p:nvSpPr>
            <p:spPr bwMode="auto">
              <a:xfrm>
                <a:off x="611792" y="5310775"/>
                <a:ext cx="8532208" cy="1547225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 marL="446405" indent="-446405">
                  <a:tabLst>
                    <a:tab pos="17589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边界稳定情况下，若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的根为单重根，则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系统稳定；若为多重根，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系统稳定，系统不稳定。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792" y="5310775"/>
                <a:ext cx="8532208" cy="1547225"/>
              </a:xfrm>
              <a:prstGeom prst="rect">
                <a:avLst/>
              </a:prstGeom>
              <a:blipFill rotWithShape="1">
                <a:blip r:embed="rId4"/>
                <a:stretch>
                  <a:fillRect l="-3" t="-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6090"/>
    </mc:Choice>
    <mc:Fallback>
      <p:transition spd="slow" advTm="1760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8" grpId="0" animBg="1" build="p"/>
      <p:bldP spid="656400" grpId="0" animBg="1"/>
      <p:bldP spid="8" grpId="0"/>
      <p:bldP spid="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5" name="Rectangle 3"/>
          <p:cNvSpPr>
            <a:spLocks noChangeArrowheads="1"/>
          </p:cNvSpPr>
          <p:nvPr/>
        </p:nvSpPr>
        <p:spPr bwMode="auto">
          <a:xfrm>
            <a:off x="1046163" y="1506538"/>
            <a:ext cx="7612062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华文中宋" panose="02010600040101010101" pitchFamily="2" charset="-122"/>
              </a:rPr>
              <a:t>    离散系统的模拟与连续系统的模拟具有一定的相似之处。</a:t>
            </a:r>
            <a:r>
              <a:rPr kumimoji="1"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     </a:t>
            </a:r>
            <a:endParaRPr kumimoji="1" lang="zh-CN" altLang="en-US" sz="28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91876" name="Rectangle 4"/>
          <p:cNvSpPr>
            <a:spLocks noChangeArrowheads="1"/>
          </p:cNvSpPr>
          <p:nvPr/>
        </p:nvSpPr>
        <p:spPr bwMode="auto">
          <a:xfrm>
            <a:off x="457200" y="0"/>
            <a:ext cx="5832475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§7.5 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离散时间系统的模拟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91879" name="Rectangle 7"/>
          <p:cNvSpPr>
            <a:spLocks noChangeArrowheads="1"/>
          </p:cNvSpPr>
          <p:nvPr/>
        </p:nvSpPr>
        <p:spPr bwMode="auto">
          <a:xfrm>
            <a:off x="1330325" y="2894013"/>
            <a:ext cx="6624638" cy="2222500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>
            <a:spAutoFit/>
          </a:bodyPr>
          <a:lstStyle>
            <a:lvl1pPr marL="365125" indent="-3651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25000"/>
              </a:spcBef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黑体" panose="02010609060101010101" pitchFamily="49" charset="-122"/>
              </a:rPr>
              <a:t>连续系统模拟采用三种基本元件：加法器、标量乘法器、积分器。</a:t>
            </a:r>
            <a:endParaRPr kumimoji="1" lang="zh-CN" altLang="en-US" sz="2400" dirty="0">
              <a:latin typeface="黑体" panose="02010609060101010101" pitchFamily="49" charset="-122"/>
            </a:endParaRPr>
          </a:p>
          <a:p>
            <a:pPr eaLnBrk="1" hangingPunct="1">
              <a:lnSpc>
                <a:spcPct val="145000"/>
              </a:lnSpc>
              <a:spcBef>
                <a:spcPct val="25000"/>
              </a:spcBef>
              <a:buClr>
                <a:srgbClr val="FF3300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黑体" panose="02010609060101010101" pitchFamily="49" charset="-122"/>
              </a:rPr>
              <a:t>离散系统模拟采用三种基本元件：加法器、标量乘法器、延时器。 </a:t>
            </a:r>
            <a:endParaRPr kumimoji="1" lang="zh-CN" altLang="en-US" sz="2400" dirty="0">
              <a:latin typeface="黑体" panose="02010609060101010101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C42C3C-4427-4875-8344-8D593198A739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758960" y="3354840"/>
            <a:ext cx="6086880" cy="14605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801"/>
    </mc:Choice>
    <mc:Fallback>
      <p:transition spd="slow" advTm="398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1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1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9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7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900113" y="333375"/>
            <a:ext cx="5184775" cy="1223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1. </a:t>
            </a:r>
            <a:r>
              <a:rPr lang="zh-CN" altLang="en-US" b="1" dirty="0">
                <a:solidFill>
                  <a:srgbClr val="FF0000"/>
                </a:solidFill>
              </a:rPr>
              <a:t>基本运算单元 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2" name="Group 17"/>
          <p:cNvGrpSpPr/>
          <p:nvPr/>
        </p:nvGrpSpPr>
        <p:grpSpPr bwMode="auto">
          <a:xfrm>
            <a:off x="971550" y="1628775"/>
            <a:ext cx="3671888" cy="2117725"/>
            <a:chOff x="612" y="1162"/>
            <a:chExt cx="2313" cy="1334"/>
          </a:xfrm>
        </p:grpSpPr>
        <p:grpSp>
          <p:nvGrpSpPr>
            <p:cNvPr id="77838" name="Group 3"/>
            <p:cNvGrpSpPr/>
            <p:nvPr/>
          </p:nvGrpSpPr>
          <p:grpSpPr bwMode="auto">
            <a:xfrm>
              <a:off x="612" y="1480"/>
              <a:ext cx="2313" cy="1016"/>
              <a:chOff x="1701" y="1117"/>
              <a:chExt cx="2313" cy="1016"/>
            </a:xfrm>
          </p:grpSpPr>
          <p:sp>
            <p:nvSpPr>
              <p:cNvPr id="77840" name="Text Box 4"/>
              <p:cNvSpPr txBox="1">
                <a:spLocks noChangeArrowheads="1"/>
              </p:cNvSpPr>
              <p:nvPr/>
            </p:nvSpPr>
            <p:spPr bwMode="auto">
              <a:xfrm>
                <a:off x="1701" y="1320"/>
                <a:ext cx="6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000" b="0">
                    <a:latin typeface="Tahoma" panose="020B0604030504040204" pitchFamily="34" charset="0"/>
                  </a:rPr>
                  <a:t>f</a:t>
                </a:r>
                <a:r>
                  <a:rPr kumimoji="1" lang="en-US" altLang="zh-CN" sz="2000" b="0" baseline="-25000">
                    <a:latin typeface="Tahoma" panose="020B0604030504040204" pitchFamily="34" charset="0"/>
                  </a:rPr>
                  <a:t>1</a:t>
                </a:r>
                <a:r>
                  <a:rPr kumimoji="1" lang="en-US" altLang="zh-CN" sz="2000" b="0">
                    <a:latin typeface="Tahoma" panose="020B0604030504040204" pitchFamily="34" charset="0"/>
                  </a:rPr>
                  <a:t>(k)</a:t>
                </a:r>
                <a:endParaRPr kumimoji="1" lang="en-US" altLang="zh-CN" sz="2000" b="0">
                  <a:latin typeface="Tahoma" panose="020B0604030504040204" pitchFamily="34" charset="0"/>
                </a:endParaRPr>
              </a:p>
            </p:txBody>
          </p:sp>
          <p:sp>
            <p:nvSpPr>
              <p:cNvPr id="77841" name="Text Box 5"/>
              <p:cNvSpPr txBox="1">
                <a:spLocks noChangeArrowheads="1"/>
              </p:cNvSpPr>
              <p:nvPr/>
            </p:nvSpPr>
            <p:spPr bwMode="auto">
              <a:xfrm>
                <a:off x="3390" y="1298"/>
                <a:ext cx="6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000" b="0" dirty="0">
                    <a:latin typeface="Tahoma" panose="020B0604030504040204" pitchFamily="34" charset="0"/>
                  </a:rPr>
                  <a:t>y(k)</a:t>
                </a:r>
                <a:endParaRPr kumimoji="1" lang="en-US" altLang="zh-CN" sz="2000" b="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7842" name="Text Box 6"/>
              <p:cNvSpPr txBox="1">
                <a:spLocks noChangeArrowheads="1"/>
              </p:cNvSpPr>
              <p:nvPr/>
            </p:nvSpPr>
            <p:spPr bwMode="auto">
              <a:xfrm>
                <a:off x="2563" y="1910"/>
                <a:ext cx="6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000" b="0">
                    <a:latin typeface="Tahoma" panose="020B0604030504040204" pitchFamily="34" charset="0"/>
                  </a:rPr>
                  <a:t>f</a:t>
                </a:r>
                <a:r>
                  <a:rPr kumimoji="1" lang="en-US" altLang="zh-CN" sz="2000" b="0" baseline="-25000">
                    <a:latin typeface="Tahoma" panose="020B0604030504040204" pitchFamily="34" charset="0"/>
                  </a:rPr>
                  <a:t>2</a:t>
                </a:r>
                <a:r>
                  <a:rPr kumimoji="1" lang="en-US" altLang="zh-CN" sz="2000" b="0">
                    <a:latin typeface="Tahoma" panose="020B0604030504040204" pitchFamily="34" charset="0"/>
                  </a:rPr>
                  <a:t>(k)</a:t>
                </a:r>
                <a:endParaRPr kumimoji="1" lang="en-US" altLang="zh-CN" sz="2000" b="0">
                  <a:latin typeface="Tahoma" panose="020B0604030504040204" pitchFamily="34" charset="0"/>
                </a:endParaRPr>
              </a:p>
            </p:txBody>
          </p:sp>
          <p:pic>
            <p:nvPicPr>
              <p:cNvPr id="77843" name="Picture 7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7" y="1117"/>
                <a:ext cx="1200" cy="8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7839" name="Rectangle 14"/>
            <p:cNvSpPr>
              <a:spLocks noChangeArrowheads="1"/>
            </p:cNvSpPr>
            <p:nvPr/>
          </p:nvSpPr>
          <p:spPr bwMode="auto">
            <a:xfrm>
              <a:off x="1202" y="1162"/>
              <a:ext cx="862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400" b="0">
                  <a:solidFill>
                    <a:srgbClr val="FF3300"/>
                  </a:solidFill>
                  <a:latin typeface="黑体" panose="02010609060101010101" pitchFamily="49" charset="-122"/>
                </a:rPr>
                <a:t>加法器</a:t>
              </a:r>
              <a:endParaRPr lang="zh-CN" altLang="en-US" sz="2400" b="0">
                <a:solidFill>
                  <a:srgbClr val="FF3300"/>
                </a:solidFill>
                <a:latin typeface="黑体" panose="02010609060101010101" pitchFamily="49" charset="-122"/>
              </a:endParaRPr>
            </a:p>
          </p:txBody>
        </p:sp>
      </p:grpSp>
      <p:grpSp>
        <p:nvGrpSpPr>
          <p:cNvPr id="4" name="Group 18"/>
          <p:cNvGrpSpPr/>
          <p:nvPr/>
        </p:nvGrpSpPr>
        <p:grpSpPr bwMode="auto">
          <a:xfrm>
            <a:off x="5003800" y="1628775"/>
            <a:ext cx="3887788" cy="1665288"/>
            <a:chOff x="3243" y="1071"/>
            <a:chExt cx="2449" cy="1049"/>
          </a:xfrm>
        </p:grpSpPr>
        <p:grpSp>
          <p:nvGrpSpPr>
            <p:cNvPr id="77833" name="Group 13"/>
            <p:cNvGrpSpPr/>
            <p:nvPr/>
          </p:nvGrpSpPr>
          <p:grpSpPr bwMode="auto">
            <a:xfrm>
              <a:off x="3243" y="1434"/>
              <a:ext cx="2449" cy="686"/>
              <a:chOff x="3243" y="1434"/>
              <a:chExt cx="2449" cy="686"/>
            </a:xfrm>
          </p:grpSpPr>
          <p:sp>
            <p:nvSpPr>
              <p:cNvPr id="77835" name="Text Box 9"/>
              <p:cNvSpPr txBox="1">
                <a:spLocks noChangeArrowheads="1"/>
              </p:cNvSpPr>
              <p:nvPr/>
            </p:nvSpPr>
            <p:spPr bwMode="auto">
              <a:xfrm>
                <a:off x="3243" y="1661"/>
                <a:ext cx="62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000" b="0">
                    <a:latin typeface="Tahoma" panose="020B0604030504040204" pitchFamily="34" charset="0"/>
                  </a:rPr>
                  <a:t>f(k)</a:t>
                </a:r>
                <a:endParaRPr kumimoji="1" lang="en-US" altLang="zh-CN" sz="2000" b="0">
                  <a:latin typeface="Tahoma" panose="020B0604030504040204" pitchFamily="34" charset="0"/>
                </a:endParaRPr>
              </a:p>
            </p:txBody>
          </p:sp>
          <p:sp>
            <p:nvSpPr>
              <p:cNvPr id="77836" name="Text Box 10"/>
              <p:cNvSpPr txBox="1">
                <a:spLocks noChangeArrowheads="1"/>
              </p:cNvSpPr>
              <p:nvPr/>
            </p:nvSpPr>
            <p:spPr bwMode="auto">
              <a:xfrm>
                <a:off x="4740" y="1643"/>
                <a:ext cx="95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000" b="0">
                    <a:latin typeface="Tahoma" panose="020B0604030504040204" pitchFamily="34" charset="0"/>
                  </a:rPr>
                  <a:t>y(k)=Af(k)</a:t>
                </a:r>
                <a:endParaRPr kumimoji="1" lang="en-US" altLang="zh-CN" sz="2000" b="0">
                  <a:latin typeface="Tahoma" panose="020B0604030504040204" pitchFamily="34" charset="0"/>
                </a:endParaRPr>
              </a:p>
            </p:txBody>
          </p:sp>
          <p:pic>
            <p:nvPicPr>
              <p:cNvPr id="77837" name="Picture 1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96" y="1434"/>
                <a:ext cx="1085" cy="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7834" name="Rectangle 15"/>
            <p:cNvSpPr>
              <a:spLocks noChangeArrowheads="1"/>
            </p:cNvSpPr>
            <p:nvPr/>
          </p:nvSpPr>
          <p:spPr bwMode="auto">
            <a:xfrm>
              <a:off x="3787" y="1071"/>
              <a:ext cx="122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400" b="0">
                  <a:solidFill>
                    <a:srgbClr val="FF3300"/>
                  </a:solidFill>
                  <a:latin typeface="黑体" panose="02010609060101010101" pitchFamily="49" charset="-122"/>
                </a:rPr>
                <a:t>标量乘法器</a:t>
              </a:r>
              <a:endParaRPr lang="zh-CN" altLang="en-US" sz="2400" b="0">
                <a:solidFill>
                  <a:srgbClr val="FF3300"/>
                </a:solidFill>
                <a:latin typeface="黑体" panose="02010609060101010101" pitchFamily="49" charset="-122"/>
              </a:endParaRPr>
            </a:p>
          </p:txBody>
        </p:sp>
      </p:grpSp>
      <p:grpSp>
        <p:nvGrpSpPr>
          <p:cNvPr id="6" name="Group 19"/>
          <p:cNvGrpSpPr/>
          <p:nvPr/>
        </p:nvGrpSpPr>
        <p:grpSpPr bwMode="auto">
          <a:xfrm>
            <a:off x="1416050" y="3819525"/>
            <a:ext cx="7235825" cy="2705100"/>
            <a:chOff x="930" y="2746"/>
            <a:chExt cx="4558" cy="1690"/>
          </a:xfrm>
        </p:grpSpPr>
        <p:graphicFrame>
          <p:nvGraphicFramePr>
            <p:cNvPr id="77831" name="Object 2"/>
            <p:cNvGraphicFramePr>
              <a:graphicFrameLocks noChangeAspect="1"/>
            </p:cNvGraphicFramePr>
            <p:nvPr/>
          </p:nvGraphicFramePr>
          <p:xfrm>
            <a:off x="1519" y="2879"/>
            <a:ext cx="3969" cy="1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791" name="Image" r:id="rId3" imgW="3700145" imgH="1524000" progId="">
                    <p:embed/>
                  </p:oleObj>
                </mc:Choice>
                <mc:Fallback>
                  <p:oleObj name="Image" r:id="rId3" imgW="3700145" imgH="1524000" progId="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201" t="7858" r="6436" b="6046"/>
                        <a:stretch>
                          <a:fillRect/>
                        </a:stretch>
                      </p:blipFill>
                      <p:spPr bwMode="auto">
                        <a:xfrm>
                          <a:off x="1519" y="2879"/>
                          <a:ext cx="3969" cy="15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832" name="Rectangle 16"/>
            <p:cNvSpPr>
              <a:spLocks noChangeArrowheads="1"/>
            </p:cNvSpPr>
            <p:nvPr/>
          </p:nvSpPr>
          <p:spPr bwMode="auto">
            <a:xfrm>
              <a:off x="930" y="2746"/>
              <a:ext cx="582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400" b="0">
                  <a:solidFill>
                    <a:srgbClr val="FF3300"/>
                  </a:solidFill>
                  <a:latin typeface="黑体" panose="02010609060101010101" pitchFamily="49" charset="-122"/>
                </a:rPr>
                <a:t>延时器</a:t>
              </a:r>
              <a:endParaRPr lang="zh-CN" altLang="en-US" sz="2400" b="0">
                <a:solidFill>
                  <a:srgbClr val="FF3300"/>
                </a:solidFill>
                <a:latin typeface="黑体" panose="02010609060101010101" pitchFamily="49" charset="-122"/>
              </a:endParaRPr>
            </a:p>
          </p:txBody>
        </p:sp>
      </p:grpSp>
      <p:sp>
        <p:nvSpPr>
          <p:cNvPr id="19" name="日期占位符 1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680EB32-551A-48CE-8083-7073770A4F86}" type="datetime1">
              <a:rPr lang="zh-CN" altLang="en-US"/>
            </a:fld>
            <a:endParaRPr lang="en-US" altLang="zh-CN"/>
          </a:p>
        </p:txBody>
      </p:sp>
      <p:sp>
        <p:nvSpPr>
          <p:cNvPr id="3" name="墨迹 2"/>
          <p:cNvSpPr/>
          <p:nvPr/>
        </p:nvSpPr>
        <p:spPr bwMode="auto">
          <a:xfrm>
            <a:off x="903960" y="1577520"/>
            <a:ext cx="6750000" cy="41446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 spd="med" advTm="8863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476250"/>
            <a:ext cx="8229600" cy="1152525"/>
          </a:xfrm>
          <a:noFill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2. </a:t>
            </a:r>
            <a:r>
              <a:rPr lang="zh-CN" altLang="en-US" b="1" dirty="0">
                <a:solidFill>
                  <a:srgbClr val="FF0000"/>
                </a:solidFill>
              </a:rPr>
              <a:t>一阶离散时间系统的模拟</a:t>
            </a:r>
            <a:endParaRPr lang="zh-CN" altLang="en-US" b="1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/>
              <a:t>     设描写系统的一阶差分方程为   </a:t>
            </a:r>
            <a:endParaRPr lang="zh-CN" altLang="en-US" b="1" dirty="0"/>
          </a:p>
          <a:p>
            <a:pPr>
              <a:lnSpc>
                <a:spcPct val="90000"/>
              </a:lnSpc>
              <a:buFontTx/>
              <a:buNone/>
            </a:pPr>
            <a:endParaRPr lang="en-US" altLang="zh-CN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852" name="Object 3"/>
              <p:cNvSpPr txBox="1"/>
              <p:nvPr/>
            </p:nvSpPr>
            <p:spPr bwMode="auto">
              <a:xfrm>
                <a:off x="2195513" y="1916113"/>
                <a:ext cx="5111750" cy="752475"/>
              </a:xfrm>
              <a:prstGeom prst="rect">
                <a:avLst/>
              </a:prstGeom>
              <a:noFill/>
              <a:ln w="28575">
                <a:solidFill>
                  <a:srgbClr val="008000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885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513" y="1916113"/>
                <a:ext cx="5111750" cy="752475"/>
              </a:xfrm>
              <a:prstGeom prst="rect">
                <a:avLst/>
              </a:prstGeom>
              <a:blipFill rotWithShape="1">
                <a:blip r:embed="rId1"/>
                <a:stretch>
                  <a:fillRect l="-280" t="-1899" r="-279" b="-1899"/>
                </a:stretch>
              </a:blipFill>
              <a:ln w="28575">
                <a:solidFill>
                  <a:srgbClr val="008000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853" name="Object 4"/>
              <p:cNvSpPr txBox="1"/>
              <p:nvPr/>
            </p:nvSpPr>
            <p:spPr bwMode="auto">
              <a:xfrm>
                <a:off x="2484438" y="2997200"/>
                <a:ext cx="4176712" cy="576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885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438" y="2997200"/>
                <a:ext cx="4176712" cy="576263"/>
              </a:xfrm>
              <a:prstGeom prst="rect">
                <a:avLst/>
              </a:prstGeom>
              <a:blipFill rotWithShape="1">
                <a:blip r:embed="rId2"/>
                <a:stretch>
                  <a:fillRect l="-8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854" name="Rectangle 8"/>
          <p:cNvSpPr>
            <a:spLocks noChangeArrowheads="1"/>
          </p:cNvSpPr>
          <p:nvPr/>
        </p:nvSpPr>
        <p:spPr bwMode="auto">
          <a:xfrm>
            <a:off x="827088" y="2997200"/>
            <a:ext cx="1368425" cy="3143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</a:rPr>
              <a:t>改写成：</a:t>
            </a:r>
            <a:endParaRPr lang="zh-CN" altLang="en-US" sz="2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pPr>
              <a:defRPr/>
            </a:pPr>
            <a:fld id="{D3D210EB-05E0-48C6-B482-8B052B227EBB}" type="datetime1">
              <a:rPr lang="zh-CN" altLang="en-US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1472990" y="4268370"/>
                <a:ext cx="106939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990" y="4268370"/>
                <a:ext cx="1069395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40" t="-102" r="45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5875298" y="4349470"/>
                <a:ext cx="88357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298" y="4349470"/>
                <a:ext cx="883575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1" t="-68" r="-8775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1486929" y="4266209"/>
                <a:ext cx="106939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929" y="4266209"/>
                <a:ext cx="1069395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37" t="-53" r="42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5872979" y="4347495"/>
                <a:ext cx="14319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979" y="4347495"/>
                <a:ext cx="1431965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35" t="-54" r="38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4014277" y="5235504"/>
            <a:ext cx="598415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-a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2904675" y="4362189"/>
            <a:ext cx="494421" cy="47470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∑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>
            <a:off x="2502109" y="4586156"/>
            <a:ext cx="402566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/>
          <p:cNvCxnSpPr/>
          <p:nvPr/>
        </p:nvCxnSpPr>
        <p:spPr bwMode="auto">
          <a:xfrm rot="10800000" flipV="1">
            <a:off x="4626632" y="4616847"/>
            <a:ext cx="1030944" cy="857076"/>
          </a:xfrm>
          <a:prstGeom prst="bentConnector3">
            <a:avLst>
              <a:gd name="adj1" fmla="val 17234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/>
          <p:cNvCxnSpPr>
            <a:stCxn id="12" idx="1"/>
            <a:endCxn id="13" idx="4"/>
          </p:cNvCxnSpPr>
          <p:nvPr/>
        </p:nvCxnSpPr>
        <p:spPr bwMode="auto">
          <a:xfrm rot="10800000">
            <a:off x="3151887" y="4836891"/>
            <a:ext cx="862391" cy="629446"/>
          </a:xfrm>
          <a:prstGeom prst="bentConnector2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291341" y="3908567"/>
            <a:ext cx="12715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y(k+1)</a:t>
            </a:r>
            <a:endParaRPr lang="zh-CN" altLang="en-US" dirty="0"/>
          </a:p>
        </p:txBody>
      </p:sp>
      <p:cxnSp>
        <p:nvCxnSpPr>
          <p:cNvPr id="18" name="直接箭头连接符 17"/>
          <p:cNvCxnSpPr>
            <a:endCxn id="21" idx="1"/>
          </p:cNvCxnSpPr>
          <p:nvPr/>
        </p:nvCxnSpPr>
        <p:spPr bwMode="auto">
          <a:xfrm flipV="1">
            <a:off x="3402259" y="4609858"/>
            <a:ext cx="981959" cy="14885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305280" y="3902075"/>
            <a:ext cx="12715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y(k+1)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/>
              <p:nvPr/>
            </p:nvSpPr>
            <p:spPr>
              <a:xfrm>
                <a:off x="5873831" y="4345521"/>
                <a:ext cx="88357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831" y="4345521"/>
                <a:ext cx="883575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9" t="-41" r="-8798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4384218" y="4379025"/>
                <a:ext cx="783793" cy="4616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18" y="4379025"/>
                <a:ext cx="783793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1886" t="-3178" r="-1815" b="-300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/>
          <p:cNvCxnSpPr>
            <a:stCxn id="21" idx="3"/>
            <a:endCxn id="9" idx="1"/>
          </p:cNvCxnSpPr>
          <p:nvPr/>
        </p:nvCxnSpPr>
        <p:spPr bwMode="auto">
          <a:xfrm>
            <a:off x="5168011" y="4609858"/>
            <a:ext cx="707287" cy="122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墨迹 1"/>
          <p:cNvSpPr/>
          <p:nvPr/>
        </p:nvSpPr>
        <p:spPr bwMode="auto">
          <a:xfrm>
            <a:off x="2538000" y="3525120"/>
            <a:ext cx="930600" cy="644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 spd="med" advTm="64697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3" grpId="0"/>
      <p:bldP spid="78854" grpId="0"/>
      <p:bldP spid="8" grpId="0"/>
      <p:bldP spid="9" grpId="0"/>
      <p:bldP spid="10" grpId="0"/>
      <p:bldP spid="11" grpId="0"/>
      <p:bldP spid="12" grpId="0" animBg="1"/>
      <p:bldP spid="13" grpId="0" animBg="1"/>
      <p:bldP spid="17" grpId="0"/>
      <p:bldP spid="19" grpId="0"/>
      <p:bldP spid="20" grpId="0"/>
      <p:bldP spid="2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ChangeArrowheads="1"/>
          </p:cNvSpPr>
          <p:nvPr/>
        </p:nvSpPr>
        <p:spPr bwMode="auto">
          <a:xfrm>
            <a:off x="539750" y="603250"/>
            <a:ext cx="532765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：</a:t>
            </a:r>
            <a:r>
              <a:rPr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图示框图，写出差分方程</a:t>
            </a:r>
            <a:r>
              <a:rPr lang="zh-CN" altLang="en-US" baseline="-25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。</a:t>
            </a:r>
            <a:endParaRPr lang="zh-CN" altLang="en-US" baseline="-2500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95972" name="Rectangle 4"/>
          <p:cNvSpPr>
            <a:spLocks noChangeArrowheads="1"/>
          </p:cNvSpPr>
          <p:nvPr/>
        </p:nvSpPr>
        <p:spPr bwMode="auto">
          <a:xfrm>
            <a:off x="971550" y="3213100"/>
            <a:ext cx="26670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</a:rPr>
              <a:t>系统的差分方程为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5973" name="Object 2"/>
              <p:cNvSpPr txBox="1"/>
              <p:nvPr/>
            </p:nvSpPr>
            <p:spPr bwMode="auto">
              <a:xfrm>
                <a:off x="1692275" y="4221163"/>
                <a:ext cx="5473700" cy="766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9597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275" y="4221163"/>
                <a:ext cx="5473700" cy="766762"/>
              </a:xfrm>
              <a:prstGeom prst="rect">
                <a:avLst/>
              </a:prstGeom>
              <a:blipFill rotWithShape="1">
                <a:blip r:embed="rId1"/>
                <a:stretch>
                  <a:fillRect t="-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877" name="Group 6"/>
          <p:cNvGrpSpPr/>
          <p:nvPr/>
        </p:nvGrpSpPr>
        <p:grpSpPr bwMode="auto">
          <a:xfrm>
            <a:off x="5651500" y="620713"/>
            <a:ext cx="3124200" cy="2224087"/>
            <a:chOff x="3379" y="210"/>
            <a:chExt cx="1968" cy="1401"/>
          </a:xfrm>
        </p:grpSpPr>
        <p:pic>
          <p:nvPicPr>
            <p:cNvPr id="79880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" y="210"/>
              <a:ext cx="1968" cy="1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881" name="Object 4"/>
                <p:cNvSpPr txBox="1"/>
                <p:nvPr/>
              </p:nvSpPr>
              <p:spPr bwMode="auto">
                <a:xfrm>
                  <a:off x="4558" y="935"/>
                  <a:ext cx="248" cy="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>
                  <a:normAutofit fontScale="55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79881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58" y="935"/>
                  <a:ext cx="248" cy="221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5971" name="Object 3"/>
              <p:cNvSpPr txBox="1"/>
              <p:nvPr/>
            </p:nvSpPr>
            <p:spPr bwMode="auto">
              <a:xfrm>
                <a:off x="827088" y="2060575"/>
                <a:ext cx="5257800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9597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088" y="2060575"/>
                <a:ext cx="5257800" cy="685800"/>
              </a:xfrm>
              <a:prstGeom prst="rect">
                <a:avLst/>
              </a:prstGeom>
              <a:blipFill rotWithShape="1">
                <a:blip r:embed="rId4"/>
                <a:stretch>
                  <a:fillRect l="-6" r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日期占位符 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8238F12-AB1B-40C0-8919-4DB298AC04EB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686240" y="1225800"/>
            <a:ext cx="6722280" cy="45172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805"/>
    </mc:Choice>
    <mc:Fallback>
      <p:transition spd="slow" advTm="1248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2" grpId="0" autoUpdateAnimBg="0"/>
      <p:bldP spid="59597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95312" y="286570"/>
            <a:ext cx="8229600" cy="12573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 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阶离散时间系统的模拟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设描写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阶离散系统的差分方程为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642053" name="Rectangle 5"/>
          <p:cNvSpPr>
            <a:spLocks noChangeArrowheads="1"/>
          </p:cNvSpPr>
          <p:nvPr/>
        </p:nvSpPr>
        <p:spPr bwMode="auto">
          <a:xfrm>
            <a:off x="658734" y="3002952"/>
            <a:ext cx="2784417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</a:rPr>
              <a:t>其移序算子方程为：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2054" name="Object 2"/>
              <p:cNvSpPr txBox="1"/>
              <p:nvPr/>
            </p:nvSpPr>
            <p:spPr bwMode="auto">
              <a:xfrm>
                <a:off x="1037383" y="1723021"/>
                <a:ext cx="7862837" cy="1045627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)+⋯+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4205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7383" y="1723021"/>
                <a:ext cx="7862837" cy="1045627"/>
              </a:xfrm>
              <a:prstGeom prst="rect">
                <a:avLst/>
              </a:prstGeom>
              <a:blipFill rotWithShape="1">
                <a:blip r:embed="rId1"/>
                <a:stretch>
                  <a:fillRect l="-369" t="-2758" r="-686" b="-5157"/>
                </a:stretch>
              </a:blip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706B16B-F264-4860-80E8-552D3FB02F6F}" type="datetime1">
              <a:rPr lang="zh-CN" altLang="en-US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2"/>
              <p:cNvSpPr txBox="1"/>
              <p:nvPr/>
            </p:nvSpPr>
            <p:spPr bwMode="auto">
              <a:xfrm>
                <a:off x="1068381" y="3675187"/>
                <a:ext cx="7800843" cy="971551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     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p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baseline="-2500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p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8381" y="3675187"/>
                <a:ext cx="7800843" cy="971551"/>
              </a:xfrm>
              <a:prstGeom prst="rect">
                <a:avLst/>
              </a:prstGeom>
              <a:blipFill rotWithShape="1">
                <a:blip r:embed="rId2"/>
                <a:stretch>
                  <a:fillRect l="-370" t="-2987" r="-690" b="-5510"/>
                </a:stretch>
              </a:blip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2"/>
              <p:cNvSpPr txBox="1"/>
              <p:nvPr/>
            </p:nvSpPr>
            <p:spPr bwMode="auto">
              <a:xfrm>
                <a:off x="1027887" y="5115345"/>
                <a:ext cx="7831839" cy="656162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m:rPr>
                          <m:sty m:val="p"/>
                        </m:rP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7887" y="5115345"/>
                <a:ext cx="7831839" cy="656162"/>
              </a:xfrm>
              <a:prstGeom prst="rect">
                <a:avLst/>
              </a:prstGeom>
              <a:blipFill rotWithShape="1">
                <a:blip r:embed="rId3"/>
                <a:stretch>
                  <a:fillRect l="-371" t="-4419" r="-687" b="-8130"/>
                </a:stretch>
              </a:blipFill>
              <a:ln w="57150">
                <a:solidFill>
                  <a:srgbClr val="008000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"/>
    </p:custDataLst>
  </p:cSld>
  <p:clrMapOvr>
    <a:masterClrMapping/>
  </p:clrMapOvr>
  <p:transition spd="med" advTm="4280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/>
      <p:bldP spid="642053" grpId="0"/>
      <p:bldP spid="642054" grpId="0" animBg="1"/>
      <p:bldP spid="8" grpId="0" animBg="1"/>
      <p:bldP spid="1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099D8B-486F-4589-A4A8-A35DB19C5E60}" type="datetime1">
              <a:rPr lang="zh-CN" altLang="en-US" smtClean="0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298033" y="1084268"/>
                <a:ext cx="8076836" cy="5924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（S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）</m:t>
                    </m:r>
                    <m:r>
                      <a:rPr lang="zh-CN" altLang="en-US" sz="24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num>
                      <m:den>
                        <m: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ⅇ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zh-CN" alt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zh-CN" alt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zh-CN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num>
                      <m:den>
                        <m:r>
                          <a:rPr lang="zh-CN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zh-CN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den>
                    </m:f>
                    <m:r>
                      <a:rPr lang="zh-CN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引入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中间变量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q(k)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，可得：</a:t>
                </a:r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33" y="1084268"/>
                <a:ext cx="8076836" cy="592455"/>
              </a:xfrm>
              <a:prstGeom prst="rect">
                <a:avLst/>
              </a:prstGeom>
              <a:blipFill rotWithShape="1">
                <a:blip r:embed="rId1"/>
                <a:stretch>
                  <a:fillRect l="-1" t="-55" r="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54911" y="2026395"/>
                <a:ext cx="9013497" cy="15608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eqArr>
                                  <m:eqArr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ⅇ</m:t>
                                    </m:r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d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</m:d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d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+…+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d>
                                  </m:e>
                                  <m:e/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d>
                                    <m:r>
                                      <a:rPr lang="zh-CN" altLang="en-US" sz="2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d>
                                      <m:dPr>
                                        <m:ctrlPr>
                                          <a:rPr lang="en-US" altLang="zh-CN" sz="24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</m:d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e>
                                    </m:d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d>
                                      <m:dPr>
                                        <m:ctrlPr>
                                          <a:rPr lang="zh-CN" alt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p>
                                        </m:sSup>
                                        <m:r>
                                          <a:rPr lang="zh-CN" altLang="en-US" sz="24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altLang="zh-CN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e>
                                          <m:sup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  <m:r>
                                          <a:rPr lang="zh-CN" altLang="en-US" sz="24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+⋯+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b="1" i="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𝐒</m:t>
                                        </m:r>
                                        <m:r>
                                          <a:rPr lang="zh-CN" altLang="en-US" sz="240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24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altLang="zh-CN" sz="2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eqArr>
                              </m:e>
                              <m:e/>
                            </m:eqAr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11" y="2026395"/>
                <a:ext cx="9013497" cy="1560830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539964" y="3648597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</a:rPr>
              <a:t>变形为：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595312" y="4592639"/>
                <a:ext cx="930718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=ⅇ</m:t>
                    </m:r>
                    <m:d>
                      <m:dPr>
                        <m:ctrlP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(k+1)-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" y="4592639"/>
                <a:ext cx="930718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" t="-86" r="3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595312" y="5356464"/>
                <a:ext cx="86059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)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" y="5356464"/>
                <a:ext cx="8605934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4" t="-60" r="1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95312" y="513085"/>
            <a:ext cx="2524730" cy="36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</a:rPr>
              <a:t>其转移算子为：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墨迹 8"/>
          <p:cNvSpPr/>
          <p:nvPr/>
        </p:nvSpPr>
        <p:spPr bwMode="auto">
          <a:xfrm>
            <a:off x="588960" y="412560"/>
            <a:ext cx="8203320" cy="46094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 spd="med" advTm="11519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/>
          <p:cNvSpPr/>
          <p:nvPr/>
        </p:nvSpPr>
        <p:spPr>
          <a:xfrm>
            <a:off x="577291" y="121629"/>
            <a:ext cx="325029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为画图方便，假定</a:t>
            </a:r>
            <a:r>
              <a:rPr lang="en-US" altLang="zh-CN" sz="2000" dirty="0">
                <a:solidFill>
                  <a:srgbClr val="0000FF"/>
                </a:solidFill>
              </a:rPr>
              <a:t>m=n</a:t>
            </a:r>
            <a:r>
              <a:rPr lang="zh-CN" altLang="en-US" sz="2000" dirty="0">
                <a:solidFill>
                  <a:srgbClr val="0000FF"/>
                </a:solidFill>
              </a:rPr>
              <a:t>：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矩形 88"/>
              <p:cNvSpPr/>
              <p:nvPr/>
            </p:nvSpPr>
            <p:spPr>
              <a:xfrm>
                <a:off x="610826" y="591236"/>
                <a:ext cx="930718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=ⅇ</m:t>
                    </m:r>
                    <m:d>
                      <m:dPr>
                        <m:ctrlP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(k+1)-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9" name="矩形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26" y="591236"/>
                <a:ext cx="9307182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6" t="-14" r="6" b="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矩形 89"/>
              <p:cNvSpPr/>
              <p:nvPr/>
            </p:nvSpPr>
            <p:spPr>
              <a:xfrm>
                <a:off x="612871" y="1165795"/>
                <a:ext cx="86059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)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0" name="矩形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71" y="1165795"/>
                <a:ext cx="8605934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" t="-142" r="6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矩形 90"/>
          <p:cNvSpPr/>
          <p:nvPr/>
        </p:nvSpPr>
        <p:spPr>
          <a:xfrm>
            <a:off x="2545112" y="4662475"/>
            <a:ext cx="643429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-a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n-1</a:t>
            </a:r>
            <a:endParaRPr lang="zh-CN" altLang="en-US" sz="1600" baseline="-25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/>
              <p:cNvSpPr/>
              <p:nvPr/>
            </p:nvSpPr>
            <p:spPr>
              <a:xfrm>
                <a:off x="458366" y="4069386"/>
                <a:ext cx="7539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2" name="矩形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66" y="4069386"/>
                <a:ext cx="75398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0" t="-83" r="19" b="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接箭头连接符 92"/>
          <p:cNvCxnSpPr/>
          <p:nvPr/>
        </p:nvCxnSpPr>
        <p:spPr bwMode="auto">
          <a:xfrm>
            <a:off x="1107148" y="4271941"/>
            <a:ext cx="402566" cy="0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/>
          <p:cNvCxnSpPr>
            <a:endCxn id="91" idx="3"/>
          </p:cNvCxnSpPr>
          <p:nvPr/>
        </p:nvCxnSpPr>
        <p:spPr bwMode="auto">
          <a:xfrm rot="10800000" flipV="1">
            <a:off x="3188542" y="4298658"/>
            <a:ext cx="910993" cy="533093"/>
          </a:xfrm>
          <a:prstGeom prst="bentConnector3">
            <a:avLst>
              <a:gd name="adj1" fmla="val 50000"/>
            </a:avLst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91" idx="1"/>
            <a:endCxn id="96" idx="5"/>
          </p:cNvCxnSpPr>
          <p:nvPr/>
        </p:nvCxnSpPr>
        <p:spPr bwMode="auto">
          <a:xfrm flipH="1" flipV="1">
            <a:off x="1953287" y="4507456"/>
            <a:ext cx="591825" cy="32429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椭圆 95"/>
          <p:cNvSpPr/>
          <p:nvPr/>
        </p:nvSpPr>
        <p:spPr bwMode="auto">
          <a:xfrm>
            <a:off x="1531272" y="4102272"/>
            <a:ext cx="494421" cy="47470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∑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/>
              <p:cNvSpPr/>
              <p:nvPr/>
            </p:nvSpPr>
            <p:spPr>
              <a:xfrm>
                <a:off x="3229934" y="3781530"/>
                <a:ext cx="12538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7" name="矩形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934" y="3781530"/>
                <a:ext cx="1253854" cy="307777"/>
              </a:xfrm>
              <a:prstGeom prst="rect">
                <a:avLst/>
              </a:prstGeom>
              <a:blipFill rotWithShape="1">
                <a:blip r:embed="rId4"/>
                <a:stretch>
                  <a:fillRect l="-26" t="-34" r="4" b="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椭圆 98"/>
          <p:cNvSpPr/>
          <p:nvPr/>
        </p:nvSpPr>
        <p:spPr bwMode="auto">
          <a:xfrm>
            <a:off x="1531272" y="4118297"/>
            <a:ext cx="494421" cy="47470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∑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矩形 99"/>
              <p:cNvSpPr/>
              <p:nvPr/>
            </p:nvSpPr>
            <p:spPr>
              <a:xfrm>
                <a:off x="4590397" y="3841520"/>
                <a:ext cx="12538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0" name="矩形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397" y="3841520"/>
                <a:ext cx="1253854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49" t="-132" r="28" b="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/>
          <p:cNvSpPr/>
          <p:nvPr/>
        </p:nvSpPr>
        <p:spPr>
          <a:xfrm>
            <a:off x="3744216" y="5107881"/>
            <a:ext cx="602765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rgbClr val="FF0000"/>
                </a:solidFill>
              </a:rPr>
              <a:t>-a</a:t>
            </a:r>
            <a:r>
              <a:rPr lang="en-US" altLang="zh-CN" sz="1600" baseline="-25000">
                <a:solidFill>
                  <a:srgbClr val="FF0000"/>
                </a:solidFill>
              </a:rPr>
              <a:t>n-2</a:t>
            </a:r>
            <a:endParaRPr lang="zh-CN" altLang="en-US" sz="1600" baseline="-25000" dirty="0">
              <a:solidFill>
                <a:srgbClr val="FF0000"/>
              </a:solidFill>
            </a:endParaRPr>
          </a:p>
        </p:txBody>
      </p:sp>
      <p:cxnSp>
        <p:nvCxnSpPr>
          <p:cNvPr id="102" name="连接符: 肘形 101"/>
          <p:cNvCxnSpPr/>
          <p:nvPr/>
        </p:nvCxnSpPr>
        <p:spPr bwMode="auto">
          <a:xfrm rot="10800000" flipV="1">
            <a:off x="4346982" y="4328706"/>
            <a:ext cx="917435" cy="914554"/>
          </a:xfrm>
          <a:prstGeom prst="bentConnector3">
            <a:avLst>
              <a:gd name="adj1" fmla="val 50000"/>
            </a:avLst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stCxn id="101" idx="1"/>
          </p:cNvCxnSpPr>
          <p:nvPr/>
        </p:nvCxnSpPr>
        <p:spPr bwMode="auto">
          <a:xfrm flipH="1" flipV="1">
            <a:off x="2626390" y="5272467"/>
            <a:ext cx="1117826" cy="4691"/>
          </a:xfrm>
          <a:prstGeom prst="line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endCxn id="99" idx="5"/>
          </p:cNvCxnSpPr>
          <p:nvPr/>
        </p:nvCxnSpPr>
        <p:spPr bwMode="auto">
          <a:xfrm flipH="1" flipV="1">
            <a:off x="1953287" y="4523481"/>
            <a:ext cx="700814" cy="74898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椭圆 104"/>
          <p:cNvSpPr/>
          <p:nvPr/>
        </p:nvSpPr>
        <p:spPr bwMode="auto">
          <a:xfrm>
            <a:off x="1531274" y="4118297"/>
            <a:ext cx="494421" cy="47470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∑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5109425" y="5504169"/>
            <a:ext cx="596638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-a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1</a:t>
            </a:r>
            <a:endParaRPr lang="zh-CN" altLang="en-US" sz="1600" baseline="-25000" dirty="0">
              <a:solidFill>
                <a:srgbClr val="FF0000"/>
              </a:solidFill>
            </a:endParaRPr>
          </a:p>
        </p:txBody>
      </p:sp>
      <p:cxnSp>
        <p:nvCxnSpPr>
          <p:cNvPr id="107" name="连接符: 肘形 106"/>
          <p:cNvCxnSpPr/>
          <p:nvPr/>
        </p:nvCxnSpPr>
        <p:spPr bwMode="auto">
          <a:xfrm rot="5400000">
            <a:off x="5316581" y="4733277"/>
            <a:ext cx="1300154" cy="521188"/>
          </a:xfrm>
          <a:prstGeom prst="bentConnector3">
            <a:avLst>
              <a:gd name="adj1" fmla="val 99524"/>
            </a:avLst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106" idx="1"/>
          </p:cNvCxnSpPr>
          <p:nvPr/>
        </p:nvCxnSpPr>
        <p:spPr bwMode="auto">
          <a:xfrm flipH="1">
            <a:off x="2626390" y="5673446"/>
            <a:ext cx="2483035" cy="24037"/>
          </a:xfrm>
          <a:prstGeom prst="line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endCxn id="105" idx="4"/>
          </p:cNvCxnSpPr>
          <p:nvPr/>
        </p:nvCxnSpPr>
        <p:spPr bwMode="auto">
          <a:xfrm flipH="1" flipV="1">
            <a:off x="1778485" y="4592999"/>
            <a:ext cx="847905" cy="111755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矩形 109"/>
              <p:cNvSpPr/>
              <p:nvPr/>
            </p:nvSpPr>
            <p:spPr>
              <a:xfrm>
                <a:off x="5897572" y="3947988"/>
                <a:ext cx="91947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0" name="矩形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572" y="3947988"/>
                <a:ext cx="919479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36" t="-63" r="35" b="2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椭圆 110"/>
          <p:cNvSpPr/>
          <p:nvPr/>
        </p:nvSpPr>
        <p:spPr bwMode="auto">
          <a:xfrm>
            <a:off x="1532025" y="4118297"/>
            <a:ext cx="494421" cy="47470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∑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6166430" y="5956233"/>
            <a:ext cx="596638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-a</a:t>
            </a:r>
            <a:r>
              <a:rPr lang="en-US" altLang="zh-CN" sz="1600" baseline="-25000" dirty="0">
                <a:solidFill>
                  <a:srgbClr val="FF0000"/>
                </a:solidFill>
              </a:rPr>
              <a:t>0</a:t>
            </a:r>
            <a:endParaRPr lang="zh-CN" altLang="en-US" sz="1600" baseline="-25000" dirty="0">
              <a:solidFill>
                <a:srgbClr val="FF0000"/>
              </a:solidFill>
            </a:endParaRPr>
          </a:p>
        </p:txBody>
      </p:sp>
      <p:cxnSp>
        <p:nvCxnSpPr>
          <p:cNvPr id="113" name="连接符: 肘形 112"/>
          <p:cNvCxnSpPr/>
          <p:nvPr/>
        </p:nvCxnSpPr>
        <p:spPr bwMode="auto">
          <a:xfrm rot="5400000">
            <a:off x="6207604" y="4875436"/>
            <a:ext cx="1724759" cy="614572"/>
          </a:xfrm>
          <a:prstGeom prst="bentConnector2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112" idx="1"/>
          </p:cNvCxnSpPr>
          <p:nvPr/>
        </p:nvCxnSpPr>
        <p:spPr bwMode="auto">
          <a:xfrm flipH="1" flipV="1">
            <a:off x="2627141" y="6124548"/>
            <a:ext cx="3539289" cy="962"/>
          </a:xfrm>
          <a:prstGeom prst="line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>
            <a:endCxn id="111" idx="3"/>
          </p:cNvCxnSpPr>
          <p:nvPr/>
        </p:nvCxnSpPr>
        <p:spPr bwMode="auto">
          <a:xfrm flipH="1" flipV="1">
            <a:off x="1604431" y="4523481"/>
            <a:ext cx="1030721" cy="162163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矩形 115"/>
              <p:cNvSpPr/>
              <p:nvPr/>
            </p:nvSpPr>
            <p:spPr>
              <a:xfrm>
                <a:off x="7078468" y="3870419"/>
                <a:ext cx="61820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6" name="矩形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468" y="3870419"/>
                <a:ext cx="618208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20" t="-31" r="77" b="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直接箭头连接符 116"/>
          <p:cNvCxnSpPr/>
          <p:nvPr/>
        </p:nvCxnSpPr>
        <p:spPr bwMode="auto">
          <a:xfrm flipV="1">
            <a:off x="2047474" y="4292560"/>
            <a:ext cx="989093" cy="4970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矩形 117"/>
              <p:cNvSpPr/>
              <p:nvPr/>
            </p:nvSpPr>
            <p:spPr>
              <a:xfrm>
                <a:off x="1998820" y="3893252"/>
                <a:ext cx="103774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8" name="矩形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820" y="3893252"/>
                <a:ext cx="1037747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46" t="-22" r="61" b="1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矩形 118"/>
              <p:cNvSpPr/>
              <p:nvPr/>
            </p:nvSpPr>
            <p:spPr>
              <a:xfrm>
                <a:off x="5549566" y="4005288"/>
                <a:ext cx="519550" cy="58477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9" name="矩形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566" y="4005288"/>
                <a:ext cx="519550" cy="584775"/>
              </a:xfrm>
              <a:prstGeom prst="rect">
                <a:avLst/>
              </a:prstGeom>
              <a:blipFill rotWithShape="1">
                <a:blip r:embed="rId9"/>
                <a:stretch>
                  <a:fillRect l="-58" t="-59" r="81" b="48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接箭头连接符 123"/>
          <p:cNvCxnSpPr/>
          <p:nvPr/>
        </p:nvCxnSpPr>
        <p:spPr bwMode="auto">
          <a:xfrm>
            <a:off x="2042075" y="4299630"/>
            <a:ext cx="1037748" cy="15799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/>
              <p:cNvSpPr/>
              <p:nvPr/>
            </p:nvSpPr>
            <p:spPr>
              <a:xfrm>
                <a:off x="3056156" y="4095585"/>
                <a:ext cx="343858" cy="40011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5" name="矩形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156" y="4095585"/>
                <a:ext cx="343858" cy="400110"/>
              </a:xfrm>
              <a:prstGeom prst="rect">
                <a:avLst/>
              </a:prstGeom>
              <a:blipFill rotWithShape="1">
                <a:blip r:embed="rId10"/>
                <a:stretch>
                  <a:fillRect l="-4219" t="-3609" r="-3998" b="-351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矩形 125"/>
              <p:cNvSpPr/>
              <p:nvPr/>
            </p:nvSpPr>
            <p:spPr>
              <a:xfrm>
                <a:off x="3235333" y="3789554"/>
                <a:ext cx="12538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6" name="矩形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333" y="3789554"/>
                <a:ext cx="1253854" cy="307777"/>
              </a:xfrm>
              <a:prstGeom prst="rect">
                <a:avLst/>
              </a:prstGeom>
              <a:blipFill rotWithShape="1">
                <a:blip r:embed="rId4"/>
                <a:stretch>
                  <a:fillRect l="-1" t="-165" r="30" b="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直接箭头连接符 126"/>
          <p:cNvCxnSpPr>
            <a:stCxn id="125" idx="3"/>
          </p:cNvCxnSpPr>
          <p:nvPr/>
        </p:nvCxnSpPr>
        <p:spPr bwMode="auto">
          <a:xfrm>
            <a:off x="3400014" y="4295640"/>
            <a:ext cx="883004" cy="3990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矩形 127"/>
              <p:cNvSpPr/>
              <p:nvPr/>
            </p:nvSpPr>
            <p:spPr>
              <a:xfrm>
                <a:off x="1993421" y="3895352"/>
                <a:ext cx="103774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8" name="矩形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421" y="3895352"/>
                <a:ext cx="1037747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15" t="-85" r="30" b="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直接箭头连接符 129"/>
          <p:cNvCxnSpPr/>
          <p:nvPr/>
        </p:nvCxnSpPr>
        <p:spPr bwMode="auto">
          <a:xfrm flipV="1">
            <a:off x="4702298" y="4328979"/>
            <a:ext cx="887042" cy="5732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矩形 130"/>
              <p:cNvSpPr/>
              <p:nvPr/>
            </p:nvSpPr>
            <p:spPr>
              <a:xfrm>
                <a:off x="3235333" y="3783737"/>
                <a:ext cx="12538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1" name="矩形 1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333" y="3783737"/>
                <a:ext cx="1253854" cy="307777"/>
              </a:xfrm>
              <a:prstGeom prst="rect">
                <a:avLst/>
              </a:prstGeom>
              <a:blipFill rotWithShape="1">
                <a:blip r:embed="rId4"/>
                <a:stretch>
                  <a:fillRect l="-1" t="-132" r="30" b="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直接箭头连接符 131"/>
          <p:cNvCxnSpPr>
            <a:endCxn id="133" idx="1"/>
          </p:cNvCxnSpPr>
          <p:nvPr/>
        </p:nvCxnSpPr>
        <p:spPr bwMode="auto">
          <a:xfrm>
            <a:off x="3386043" y="4292380"/>
            <a:ext cx="919205" cy="18755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矩形 132"/>
              <p:cNvSpPr/>
              <p:nvPr/>
            </p:nvSpPr>
            <p:spPr>
              <a:xfrm>
                <a:off x="4305248" y="4111080"/>
                <a:ext cx="343858" cy="40011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3" name="矩形 1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248" y="4111080"/>
                <a:ext cx="343858" cy="400110"/>
              </a:xfrm>
              <a:prstGeom prst="rect">
                <a:avLst/>
              </a:prstGeom>
              <a:blipFill rotWithShape="1">
                <a:blip r:embed="rId10"/>
                <a:stretch>
                  <a:fillRect l="-4232" t="-3673" r="-3984" b="-345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矩形 133"/>
              <p:cNvSpPr/>
              <p:nvPr/>
            </p:nvSpPr>
            <p:spPr>
              <a:xfrm>
                <a:off x="4593770" y="3834491"/>
                <a:ext cx="12538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4" name="矩形 1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770" y="3834491"/>
                <a:ext cx="1253854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14" t="-117" r="43" b="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直接箭头连接符 136"/>
          <p:cNvCxnSpPr/>
          <p:nvPr/>
        </p:nvCxnSpPr>
        <p:spPr bwMode="auto">
          <a:xfrm>
            <a:off x="5999009" y="4331189"/>
            <a:ext cx="751633" cy="1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 bwMode="auto">
          <a:xfrm flipV="1">
            <a:off x="7140801" y="4314321"/>
            <a:ext cx="540582" cy="1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/>
              <p:cNvSpPr/>
              <p:nvPr/>
            </p:nvSpPr>
            <p:spPr>
              <a:xfrm>
                <a:off x="5559848" y="4003768"/>
                <a:ext cx="519550" cy="58477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9" name="矩形 1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848" y="4003768"/>
                <a:ext cx="519550" cy="584775"/>
              </a:xfrm>
              <a:prstGeom prst="rect">
                <a:avLst/>
              </a:prstGeom>
              <a:blipFill rotWithShape="1">
                <a:blip r:embed="rId9"/>
                <a:stretch>
                  <a:fillRect l="-81" t="-16" r="105" b="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矩形 139"/>
              <p:cNvSpPr/>
              <p:nvPr/>
            </p:nvSpPr>
            <p:spPr>
              <a:xfrm>
                <a:off x="5895965" y="3944484"/>
                <a:ext cx="91947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0" name="矩形 1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965" y="3944484"/>
                <a:ext cx="919479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68" t="-162" r="68" b="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/>
              <p:cNvSpPr/>
              <p:nvPr/>
            </p:nvSpPr>
            <p:spPr>
              <a:xfrm>
                <a:off x="6752632" y="4141861"/>
                <a:ext cx="343858" cy="40011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1" name="矩形 1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632" y="4141861"/>
                <a:ext cx="343858" cy="400110"/>
              </a:xfrm>
              <a:prstGeom prst="rect">
                <a:avLst/>
              </a:prstGeom>
              <a:blipFill rotWithShape="1">
                <a:blip r:embed="rId10"/>
                <a:stretch>
                  <a:fillRect l="-4260" t="-3589" r="-4141" b="-353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矩形 141"/>
              <p:cNvSpPr/>
              <p:nvPr/>
            </p:nvSpPr>
            <p:spPr>
              <a:xfrm>
                <a:off x="7078409" y="3872910"/>
                <a:ext cx="61820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2" name="矩形 1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409" y="3872910"/>
                <a:ext cx="618208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10" t="-15" r="67" b="1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矩形 142"/>
              <p:cNvSpPr/>
              <p:nvPr/>
            </p:nvSpPr>
            <p:spPr>
              <a:xfrm>
                <a:off x="3236064" y="3771599"/>
                <a:ext cx="12538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3" name="矩形 1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064" y="3771599"/>
                <a:ext cx="1253854" cy="307777"/>
              </a:xfrm>
              <a:prstGeom prst="rect">
                <a:avLst/>
              </a:prstGeom>
              <a:blipFill rotWithShape="1">
                <a:blip r:embed="rId4"/>
                <a:stretch>
                  <a:fillRect l="-8" t="-109" r="37" b="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/>
              <p:cNvSpPr/>
              <p:nvPr/>
            </p:nvSpPr>
            <p:spPr>
              <a:xfrm>
                <a:off x="1993421" y="3901185"/>
                <a:ext cx="103774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4" name="矩形 1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421" y="3901185"/>
                <a:ext cx="1037747" cy="307777"/>
              </a:xfrm>
              <a:prstGeom prst="rect">
                <a:avLst/>
              </a:prstGeom>
              <a:blipFill rotWithShape="1">
                <a:blip r:embed="rId8"/>
                <a:stretch>
                  <a:fillRect l="-15" t="-123" r="30" b="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椭圆 144"/>
          <p:cNvSpPr/>
          <p:nvPr/>
        </p:nvSpPr>
        <p:spPr bwMode="auto">
          <a:xfrm>
            <a:off x="8239151" y="4083911"/>
            <a:ext cx="494421" cy="47470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∑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46" name="直接箭头连接符 145"/>
          <p:cNvCxnSpPr/>
          <p:nvPr/>
        </p:nvCxnSpPr>
        <p:spPr bwMode="auto">
          <a:xfrm>
            <a:off x="8695754" y="4275412"/>
            <a:ext cx="402566" cy="0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/>
              <p:cNvSpPr/>
              <p:nvPr/>
            </p:nvSpPr>
            <p:spPr>
              <a:xfrm>
                <a:off x="8695754" y="3905567"/>
                <a:ext cx="6182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zh-CN" alt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7" name="矩形 1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754" y="3905567"/>
                <a:ext cx="618208" cy="338554"/>
              </a:xfrm>
              <a:prstGeom prst="rect">
                <a:avLst/>
              </a:prstGeom>
              <a:blipFill rotWithShape="1">
                <a:blip r:embed="rId11"/>
                <a:stretch>
                  <a:fillRect l="-10" t="-94" r="67" b="1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连接符: 肘形 147"/>
          <p:cNvCxnSpPr>
            <a:endCxn id="149" idx="1"/>
          </p:cNvCxnSpPr>
          <p:nvPr/>
        </p:nvCxnSpPr>
        <p:spPr bwMode="auto">
          <a:xfrm rot="5400000" flipH="1" flipV="1">
            <a:off x="2343094" y="2694052"/>
            <a:ext cx="2190824" cy="1087326"/>
          </a:xfrm>
          <a:prstGeom prst="bentConnector2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矩形 148"/>
              <p:cNvSpPr/>
              <p:nvPr/>
            </p:nvSpPr>
            <p:spPr>
              <a:xfrm>
                <a:off x="3982169" y="1911470"/>
                <a:ext cx="666049" cy="4616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altLang="zh-CN" sz="240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49" name="矩形 1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169" y="1911470"/>
                <a:ext cx="666049" cy="461665"/>
              </a:xfrm>
              <a:prstGeom prst="rect">
                <a:avLst/>
              </a:prstGeom>
              <a:blipFill rotWithShape="1">
                <a:blip r:embed="rId12"/>
                <a:stretch>
                  <a:fillRect l="-2205" t="-3190" r="-2095" b="-299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连接符: 肘形 149"/>
          <p:cNvCxnSpPr>
            <a:endCxn id="151" idx="1"/>
          </p:cNvCxnSpPr>
          <p:nvPr/>
        </p:nvCxnSpPr>
        <p:spPr bwMode="auto">
          <a:xfrm rot="5400000" flipH="1" flipV="1">
            <a:off x="3394812" y="3430624"/>
            <a:ext cx="1479438" cy="210646"/>
          </a:xfrm>
          <a:prstGeom prst="bentConnector2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矩形 150"/>
              <p:cNvSpPr/>
              <p:nvPr/>
            </p:nvSpPr>
            <p:spPr>
              <a:xfrm>
                <a:off x="4239854" y="2596173"/>
                <a:ext cx="859911" cy="40011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altLang="zh-CN" sz="200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00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51" name="矩形 1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854" y="2596173"/>
                <a:ext cx="859911" cy="400110"/>
              </a:xfrm>
              <a:prstGeom prst="rect">
                <a:avLst/>
              </a:prstGeom>
              <a:blipFill rotWithShape="1">
                <a:blip r:embed="rId13"/>
                <a:stretch>
                  <a:fillRect l="-1694" t="-3723" r="-1615" b="-35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直接连接符 151"/>
          <p:cNvCxnSpPr>
            <a:endCxn id="151" idx="3"/>
          </p:cNvCxnSpPr>
          <p:nvPr/>
        </p:nvCxnSpPr>
        <p:spPr bwMode="auto">
          <a:xfrm flipH="1">
            <a:off x="5099765" y="2785247"/>
            <a:ext cx="2537522" cy="10981"/>
          </a:xfrm>
          <a:prstGeom prst="line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 bwMode="auto">
          <a:xfrm flipH="1">
            <a:off x="4634345" y="2132962"/>
            <a:ext cx="3374272" cy="9340"/>
          </a:xfrm>
          <a:prstGeom prst="line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 bwMode="auto">
          <a:xfrm>
            <a:off x="7610625" y="2785247"/>
            <a:ext cx="886573" cy="129866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 bwMode="auto">
          <a:xfrm>
            <a:off x="7975373" y="2106836"/>
            <a:ext cx="696629" cy="2046593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矩形 161"/>
              <p:cNvSpPr/>
              <p:nvPr/>
            </p:nvSpPr>
            <p:spPr>
              <a:xfrm>
                <a:off x="5524468" y="3025835"/>
                <a:ext cx="918087" cy="40011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altLang="zh-CN" sz="200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00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62" name="矩形 1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468" y="3025835"/>
                <a:ext cx="918087" cy="400110"/>
              </a:xfrm>
              <a:prstGeom prst="rect">
                <a:avLst/>
              </a:prstGeom>
              <a:blipFill rotWithShape="1">
                <a:blip r:embed="rId14"/>
                <a:stretch>
                  <a:fillRect l="-1587" t="-3665" r="-1539" b="-34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" name="直接连接符 162"/>
          <p:cNvCxnSpPr/>
          <p:nvPr/>
        </p:nvCxnSpPr>
        <p:spPr bwMode="auto">
          <a:xfrm flipH="1">
            <a:off x="6412628" y="3189973"/>
            <a:ext cx="1197997" cy="1824"/>
          </a:xfrm>
          <a:prstGeom prst="line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椭圆 163"/>
          <p:cNvSpPr/>
          <p:nvPr/>
        </p:nvSpPr>
        <p:spPr bwMode="auto">
          <a:xfrm>
            <a:off x="8245648" y="4085199"/>
            <a:ext cx="494421" cy="47470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∑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矩形 164"/>
              <p:cNvSpPr/>
              <p:nvPr/>
            </p:nvSpPr>
            <p:spPr>
              <a:xfrm>
                <a:off x="4590784" y="3840169"/>
                <a:ext cx="12538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5" name="矩形 1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784" y="3840169"/>
                <a:ext cx="1253854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29" t="-105" r="8" b="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连接符: 肘形 165"/>
          <p:cNvCxnSpPr>
            <a:endCxn id="162" idx="1"/>
          </p:cNvCxnSpPr>
          <p:nvPr/>
        </p:nvCxnSpPr>
        <p:spPr bwMode="auto">
          <a:xfrm rot="5400000" flipH="1" flipV="1">
            <a:off x="4809614" y="3605489"/>
            <a:ext cx="1094453" cy="335256"/>
          </a:xfrm>
          <a:prstGeom prst="bentConnector2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endCxn id="164" idx="1"/>
          </p:cNvCxnSpPr>
          <p:nvPr/>
        </p:nvCxnSpPr>
        <p:spPr bwMode="auto">
          <a:xfrm>
            <a:off x="7613611" y="3189973"/>
            <a:ext cx="704443" cy="96474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矩形 169"/>
              <p:cNvSpPr/>
              <p:nvPr/>
            </p:nvSpPr>
            <p:spPr>
              <a:xfrm>
                <a:off x="5898411" y="3945513"/>
                <a:ext cx="91947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0" name="矩形 1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411" y="3945513"/>
                <a:ext cx="919479" cy="307777"/>
              </a:xfrm>
              <a:prstGeom prst="rect">
                <a:avLst/>
              </a:prstGeom>
              <a:blipFill rotWithShape="1">
                <a:blip r:embed="rId6"/>
                <a:stretch>
                  <a:fillRect l="-58" t="-84" r="58" b="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矩形 170"/>
              <p:cNvSpPr/>
              <p:nvPr/>
            </p:nvSpPr>
            <p:spPr>
              <a:xfrm>
                <a:off x="5913046" y="3142191"/>
                <a:ext cx="519550" cy="58477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1" name="矩形 1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046" y="3142191"/>
                <a:ext cx="519550" cy="584775"/>
              </a:xfrm>
              <a:prstGeom prst="rect">
                <a:avLst/>
              </a:prstGeom>
              <a:blipFill rotWithShape="1">
                <a:blip r:embed="rId9"/>
                <a:stretch>
                  <a:fillRect l="-108" t="-36" r="9" b="2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直接连接符 171"/>
          <p:cNvCxnSpPr/>
          <p:nvPr/>
        </p:nvCxnSpPr>
        <p:spPr bwMode="auto">
          <a:xfrm>
            <a:off x="7499198" y="3615736"/>
            <a:ext cx="824925" cy="58120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连接符: 肘形 172"/>
          <p:cNvCxnSpPr>
            <a:endCxn id="174" idx="1"/>
          </p:cNvCxnSpPr>
          <p:nvPr/>
        </p:nvCxnSpPr>
        <p:spPr bwMode="auto">
          <a:xfrm rot="5400000" flipH="1" flipV="1">
            <a:off x="6507933" y="3846897"/>
            <a:ext cx="618925" cy="302372"/>
          </a:xfrm>
          <a:prstGeom prst="bentConnector2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矩形 173"/>
              <p:cNvSpPr/>
              <p:nvPr/>
            </p:nvSpPr>
            <p:spPr>
              <a:xfrm>
                <a:off x="6968581" y="3488565"/>
                <a:ext cx="343858" cy="40011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000" i="1" baseline="-25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000" baseline="-250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74" name="矩形 1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581" y="3488565"/>
                <a:ext cx="343858" cy="400110"/>
              </a:xfrm>
              <a:prstGeom prst="rect">
                <a:avLst/>
              </a:prstGeom>
              <a:blipFill rotWithShape="1">
                <a:blip r:embed="rId15"/>
                <a:stretch>
                  <a:fillRect l="-4274" t="-3619" r="-4127" b="-350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5" name="直接连接符 174"/>
          <p:cNvCxnSpPr/>
          <p:nvPr/>
        </p:nvCxnSpPr>
        <p:spPr bwMode="auto">
          <a:xfrm flipH="1">
            <a:off x="7301858" y="3630863"/>
            <a:ext cx="186504" cy="0"/>
          </a:xfrm>
          <a:prstGeom prst="line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/>
          <p:cNvCxnSpPr/>
          <p:nvPr/>
        </p:nvCxnSpPr>
        <p:spPr bwMode="auto">
          <a:xfrm flipV="1">
            <a:off x="7141328" y="4316642"/>
            <a:ext cx="540582" cy="1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矩形 177"/>
              <p:cNvSpPr/>
              <p:nvPr/>
            </p:nvSpPr>
            <p:spPr>
              <a:xfrm>
                <a:off x="7694851" y="4175276"/>
                <a:ext cx="343858" cy="36933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80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zh-CN" sz="1800" baseline="-2500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8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78" name="矩形 1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851" y="4175276"/>
                <a:ext cx="343858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4224" t="-3995" r="-3992" b="-380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椭圆 178"/>
          <p:cNvSpPr/>
          <p:nvPr/>
        </p:nvSpPr>
        <p:spPr bwMode="auto">
          <a:xfrm>
            <a:off x="8248435" y="4082292"/>
            <a:ext cx="494421" cy="47470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∑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80" name="直接箭头连接符 179"/>
          <p:cNvCxnSpPr>
            <a:stCxn id="178" idx="3"/>
            <a:endCxn id="179" idx="2"/>
          </p:cNvCxnSpPr>
          <p:nvPr/>
        </p:nvCxnSpPr>
        <p:spPr bwMode="auto">
          <a:xfrm flipV="1">
            <a:off x="8038709" y="4319643"/>
            <a:ext cx="209726" cy="40299"/>
          </a:xfrm>
          <a:prstGeom prst="straightConnector1">
            <a:avLst/>
          </a:prstGeom>
          <a:solidFill>
            <a:schemeClr val="tx1"/>
          </a:solidFill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矩形 180"/>
              <p:cNvSpPr/>
              <p:nvPr/>
            </p:nvSpPr>
            <p:spPr>
              <a:xfrm>
                <a:off x="7082293" y="3875338"/>
                <a:ext cx="61820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1400" dirty="0">
                    <a:solidFill>
                      <a:schemeClr val="tx1"/>
                    </a:solidFill>
                  </a:rPr>
                  <a:t>)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1" name="矩形 1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293" y="3875338"/>
                <a:ext cx="618208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22" t="-185" r="79" b="1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墨迹 1"/>
          <p:cNvSpPr/>
          <p:nvPr/>
        </p:nvSpPr>
        <p:spPr bwMode="auto">
          <a:xfrm>
            <a:off x="713160" y="967680"/>
            <a:ext cx="3094200" cy="6368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224"/>
    </mc:Choice>
    <mc:Fallback>
      <p:transition spd="slow" advTm="1262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 animBg="1"/>
      <p:bldP spid="92" grpId="0"/>
      <p:bldP spid="96" grpId="0" animBg="1"/>
      <p:bldP spid="97" grpId="0"/>
      <p:bldP spid="99" grpId="0" animBg="1"/>
      <p:bldP spid="100" grpId="0"/>
      <p:bldP spid="101" grpId="0" animBg="1"/>
      <p:bldP spid="105" grpId="0" animBg="1"/>
      <p:bldP spid="106" grpId="0" animBg="1"/>
      <p:bldP spid="110" grpId="0" animBg="1"/>
      <p:bldP spid="111" grpId="0" animBg="1"/>
      <p:bldP spid="112" grpId="0" animBg="1"/>
      <p:bldP spid="116" grpId="0" animBg="1"/>
      <p:bldP spid="118" grpId="0" animBg="1"/>
      <p:bldP spid="119" grpId="0" animBg="1"/>
      <p:bldP spid="125" grpId="0" animBg="1"/>
      <p:bldP spid="126" grpId="0" animBg="1"/>
      <p:bldP spid="128" grpId="0" animBg="1"/>
      <p:bldP spid="131" grpId="0" animBg="1"/>
      <p:bldP spid="133" grpId="0" animBg="1"/>
      <p:bldP spid="134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7" grpId="0" animBg="1"/>
      <p:bldP spid="149" grpId="0" animBg="1"/>
      <p:bldP spid="151" grpId="0" animBg="1"/>
      <p:bldP spid="162" grpId="0" animBg="1"/>
      <p:bldP spid="164" grpId="0" animBg="1"/>
      <p:bldP spid="165" grpId="0"/>
      <p:bldP spid="170" grpId="0"/>
      <p:bldP spid="171" grpId="0"/>
      <p:bldP spid="174" grpId="0" animBg="1"/>
      <p:bldP spid="178" grpId="0" animBg="1"/>
      <p:bldP spid="179" grpId="0" animBg="1"/>
      <p:bldP spid="18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684530" y="-63500"/>
            <a:ext cx="8229600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>
                <a:latin typeface="Times New Roman" panose="02020603050405020304" pitchFamily="18" charset="0"/>
              </a:rPr>
              <a:t>例题</a:t>
            </a:r>
            <a:r>
              <a:rPr lang="en-US" altLang="zh-CN" sz="2800" b="0">
                <a:latin typeface="Times New Roman" panose="02020603050405020304" pitchFamily="18" charset="0"/>
              </a:rPr>
              <a:t>7-5   </a:t>
            </a:r>
            <a:r>
              <a:rPr lang="zh-CN" altLang="en-US" sz="2800" b="0">
                <a:latin typeface="Times New Roman" panose="02020603050405020304" pitchFamily="18" charset="0"/>
              </a:rPr>
              <a:t>一离散时间系统由以下差分方程描写 </a:t>
            </a:r>
            <a:endParaRPr lang="zh-CN" altLang="en-US" sz="2800" b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800" b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0">
                <a:latin typeface="Times New Roman" panose="02020603050405020304" pitchFamily="18" charset="0"/>
              </a:rPr>
              <a:t>试作出此系统的模拟框图。</a:t>
            </a:r>
            <a:endParaRPr lang="en-US" altLang="zh-CN" sz="2800" b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947" name="Object 2"/>
              <p:cNvSpPr txBox="1">
                <a:spLocks noGrp="1"/>
              </p:cNvSpPr>
              <p:nvPr>
                <p:ph/>
              </p:nvPr>
            </p:nvSpPr>
            <p:spPr bwMode="auto">
              <a:xfrm>
                <a:off x="1449388" y="924560"/>
                <a:ext cx="6335712" cy="503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>
                  <a:buNone/>
                </a:pPr>
                <a:r>
                  <a:rPr lang="en-US" altLang="zh-CN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82947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 bwMode="auto">
              <a:xfrm>
                <a:off x="1449388" y="924560"/>
                <a:ext cx="6335712" cy="503238"/>
              </a:xfrm>
              <a:prstGeom prst="rect">
                <a:avLst/>
              </a:prstGeom>
              <a:blipFill rotWithShape="1">
                <a:blip r:embed="rId1"/>
                <a:stretch>
                  <a:fillRect l="-5" b="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8022" name="Rectangle 6"/>
          <p:cNvSpPr>
            <a:spLocks noChangeArrowheads="1"/>
          </p:cNvSpPr>
          <p:nvPr/>
        </p:nvSpPr>
        <p:spPr bwMode="auto">
          <a:xfrm>
            <a:off x="340043" y="2239010"/>
            <a:ext cx="62642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</a:rPr>
              <a:t>解：</a:t>
            </a:r>
            <a:endParaRPr lang="zh-CN" altLang="en-US" sz="2400" b="0">
              <a:latin typeface="华文中宋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400" b="0">
              <a:latin typeface="华文中宋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en-US" altLang="zh-CN" sz="2400" b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8025" name="Object 4"/>
              <p:cNvSpPr txBox="1"/>
              <p:nvPr/>
            </p:nvSpPr>
            <p:spPr bwMode="auto">
              <a:xfrm>
                <a:off x="1124585" y="2239010"/>
                <a:ext cx="6111240" cy="2068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7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zh-CN" altLang="en-US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zh-CN" altLang="en-US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    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9802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4585" y="2239010"/>
                <a:ext cx="6111240" cy="20681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802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790" y="3832225"/>
            <a:ext cx="3457575" cy="257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BBCECB3-C041-48AE-BDF4-D9DD9F0A6A1B}" type="datetime1">
              <a:rPr lang="zh-CN" altLang="en-US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3440"/>
    </mc:Choice>
    <mc:Fallback>
      <p:transition spd="slow" advTm="103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98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98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98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22" grpId="0"/>
      <p:bldP spid="5980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00068" name="Object 2"/>
              <p:cNvSpPr txBox="1"/>
              <p:nvPr/>
            </p:nvSpPr>
            <p:spPr bwMode="auto">
              <a:xfrm>
                <a:off x="504825" y="-111760"/>
                <a:ext cx="8334375" cy="1758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如果有一系统的方程为：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             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其系统框图为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0006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825" y="-111760"/>
                <a:ext cx="8334375" cy="175831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00076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288" y="3749675"/>
            <a:ext cx="4176712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4"/>
          <p:cNvGrpSpPr/>
          <p:nvPr/>
        </p:nvGrpSpPr>
        <p:grpSpPr bwMode="auto">
          <a:xfrm>
            <a:off x="6011863" y="3068638"/>
            <a:ext cx="1657350" cy="1439862"/>
            <a:chOff x="2154" y="1298"/>
            <a:chExt cx="1044" cy="907"/>
          </a:xfrm>
        </p:grpSpPr>
        <p:grpSp>
          <p:nvGrpSpPr>
            <p:cNvPr id="83977" name="Group 11"/>
            <p:cNvGrpSpPr/>
            <p:nvPr/>
          </p:nvGrpSpPr>
          <p:grpSpPr bwMode="auto">
            <a:xfrm>
              <a:off x="2154" y="1480"/>
              <a:ext cx="545" cy="725"/>
              <a:chOff x="2154" y="1480"/>
              <a:chExt cx="545" cy="725"/>
            </a:xfrm>
          </p:grpSpPr>
          <p:sp>
            <p:nvSpPr>
              <p:cNvPr id="83979" name="Line 9"/>
              <p:cNvSpPr>
                <a:spLocks noChangeShapeType="1"/>
              </p:cNvSpPr>
              <p:nvPr/>
            </p:nvSpPr>
            <p:spPr bwMode="auto">
              <a:xfrm flipV="1">
                <a:off x="2154" y="1480"/>
                <a:ext cx="0" cy="725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3980" name="Line 10"/>
              <p:cNvSpPr>
                <a:spLocks noChangeShapeType="1"/>
              </p:cNvSpPr>
              <p:nvPr/>
            </p:nvSpPr>
            <p:spPr bwMode="auto">
              <a:xfrm>
                <a:off x="2154" y="1480"/>
                <a:ext cx="545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978" name="Object 5"/>
                <p:cNvSpPr txBox="1"/>
                <p:nvPr/>
              </p:nvSpPr>
              <p:spPr bwMode="auto">
                <a:xfrm>
                  <a:off x="2744" y="1298"/>
                  <a:ext cx="454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62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83978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44" y="1298"/>
                  <a:ext cx="454" cy="266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0079" name="Object 3"/>
              <p:cNvSpPr txBox="1"/>
              <p:nvPr/>
            </p:nvSpPr>
            <p:spPr bwMode="auto">
              <a:xfrm>
                <a:off x="684530" y="2853055"/>
                <a:ext cx="4768215" cy="136715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0" i="1">
                    <a:solidFill>
                      <a:srgbClr val="000000"/>
                    </a:solidFill>
                    <a:latin typeface="Cambria Math" panose="02040503050406030204" pitchFamily="18" charset="0"/>
                    <a:sym typeface="+mn-ea"/>
                  </a:rPr>
                  <a:t>y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/>
              </a:p>
            </p:txBody>
          </p:sp>
        </mc:Choice>
        <mc:Fallback>
          <p:sp>
            <p:nvSpPr>
              <p:cNvPr id="60007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530" y="2853055"/>
                <a:ext cx="4768215" cy="1367155"/>
              </a:xfrm>
              <a:prstGeom prst="rect">
                <a:avLst/>
              </a:prstGeom>
              <a:blipFill rotWithShape="1">
                <a:blip r:embed="rId4"/>
                <a:stretch>
                  <a:fillRect l="-107" t="-372" r="-626" b="-21087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080" name="Rectangle 16"/>
          <p:cNvSpPr>
            <a:spLocks noChangeArrowheads="1"/>
          </p:cNvSpPr>
          <p:nvPr/>
        </p:nvSpPr>
        <p:spPr bwMode="auto">
          <a:xfrm>
            <a:off x="450850" y="1646238"/>
            <a:ext cx="482441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</a:rPr>
              <a:t>解：令 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华文中宋" panose="02010600040101010101" pitchFamily="2" charset="-122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华文中宋" panose="02010600040101010101" pitchFamily="2" charset="-122"/>
              </a:rPr>
              <a:t>-1</a:t>
            </a:r>
            <a:r>
              <a:rPr lang="zh-CN" altLang="en-US" sz="2400">
                <a:latin typeface="华文中宋" panose="02010600040101010101" pitchFamily="2" charset="-122"/>
              </a:rPr>
              <a:t>，于是原方程为：</a:t>
            </a:r>
            <a:endParaRPr lang="zh-CN" altLang="en-US" sz="2400">
              <a:latin typeface="华文中宋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华文中宋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081" name="Object 4"/>
              <p:cNvSpPr txBox="1"/>
              <p:nvPr/>
            </p:nvSpPr>
            <p:spPr bwMode="auto">
              <a:xfrm>
                <a:off x="684213" y="2133600"/>
                <a:ext cx="5892800" cy="585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0008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213" y="2133600"/>
                <a:ext cx="5892800" cy="585788"/>
              </a:xfrm>
              <a:prstGeom prst="rect">
                <a:avLst/>
              </a:prstGeom>
              <a:blipFill rotWithShape="1">
                <a:blip r:embed="rId5"/>
                <a:stretch>
                  <a:fillRect l="-5" r="5" b="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日期占位符 1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E452E65-3CDE-4830-B3B1-3C05A261ABB1}" type="datetime1">
              <a:rPr lang="zh-CN" altLang="en-US"/>
            </a:fld>
            <a:endParaRPr lang="en-US" altLang="zh-CN"/>
          </a:p>
        </p:txBody>
      </p:sp>
    </p:spTree>
    <p:custDataLst>
      <p:tags r:id="rId6"/>
    </p:custDataLst>
  </p:cSld>
  <p:clrMapOvr>
    <a:masterClrMapping/>
  </p:clrMapOvr>
  <p:transition spd="med" advTm="112554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00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0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79" grpId="0" bldLvl="0" animBg="1"/>
      <p:bldP spid="600080" grpId="0"/>
      <p:bldP spid="60008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810" y="987972"/>
            <a:ext cx="8398006" cy="5286394"/>
          </a:xfrm>
          <a:prstGeom prst="rect">
            <a:avLst/>
          </a:prstGeom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42106" y="0"/>
            <a:ext cx="8459787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030"/>
    </mc:Choice>
    <mc:Fallback>
      <p:transition spd="slow" advTm="87030"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58" y="1520996"/>
            <a:ext cx="8024650" cy="4538217"/>
          </a:xfrm>
          <a:prstGeom prst="rect">
            <a:avLst/>
          </a:prstGeom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10944" y="71163"/>
            <a:ext cx="8459787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8" name="墨迹 7"/>
          <p:cNvSpPr/>
          <p:nvPr/>
        </p:nvSpPr>
        <p:spPr bwMode="auto">
          <a:xfrm>
            <a:off x="4186080" y="2676600"/>
            <a:ext cx="4400280" cy="35082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 advTm="95984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47700" y="996410"/>
            <a:ext cx="8496300" cy="903287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</a:pPr>
            <a:r>
              <a:rPr lang="zh-CN" altLang="en-US" sz="2800" b="1" dirty="0"/>
              <a:t>离散系统的零状态响应也可以用所谓的卷积法求得。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2532" name="Object 2"/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2268538" y="5274469"/>
                <a:ext cx="2940050" cy="9985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253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2268538" y="5274469"/>
                <a:ext cx="2940050" cy="998537"/>
              </a:xfrm>
              <a:prstGeom prst="rect">
                <a:avLst/>
              </a:prstGeom>
              <a:blipFill rotWithShape="1">
                <a:blip r:embed="rId2"/>
                <a:stretch>
                  <a:fillRect l="-11" t="-1224" r="11" b="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2535" name="Object 3"/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2517228" y="3753820"/>
                <a:ext cx="2854325" cy="960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m:rPr>
                                  <m:nor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253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2517228" y="3753820"/>
                <a:ext cx="2854325" cy="960438"/>
              </a:xfrm>
              <a:prstGeom prst="rect">
                <a:avLst/>
              </a:prstGeom>
              <a:blipFill rotWithShape="1">
                <a:blip r:embed="rId3"/>
                <a:stretch>
                  <a:fillRect l="-3" t="-1291" r="3" b="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054C89-E2C1-43AC-817B-C6758CE2B91F}" type="datetime1">
              <a:rPr lang="zh-CN" altLang="en-US"/>
            </a:fld>
            <a:endParaRPr lang="en-US" altLang="zh-CN" dirty="0"/>
          </a:p>
        </p:txBody>
      </p:sp>
      <p:sp>
        <p:nvSpPr>
          <p:cNvPr id="662533" name="Rectangle 5"/>
          <p:cNvSpPr>
            <a:spLocks noChangeArrowheads="1"/>
          </p:cNvSpPr>
          <p:nvPr/>
        </p:nvSpPr>
        <p:spPr bwMode="auto">
          <a:xfrm>
            <a:off x="547852" y="1580337"/>
            <a:ext cx="8162925" cy="2041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简单离散信号</a:t>
            </a:r>
            <a:r>
              <a:rPr lang="zh-CN" altLang="en-US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endParaRPr lang="en-US" altLang="zh-CN" sz="28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）单位（取样）函数：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亦称单位离散函数、单位函数或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Kronecker  δ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函数。    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           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62534" name="Rectangle 6"/>
          <p:cNvSpPr>
            <a:spLocks noChangeArrowheads="1"/>
          </p:cNvSpPr>
          <p:nvPr/>
        </p:nvSpPr>
        <p:spPr bwMode="auto">
          <a:xfrm>
            <a:off x="821833" y="4714258"/>
            <a:ext cx="43354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）单位阶跃序列：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       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62536" name="Rectangle 8"/>
          <p:cNvSpPr>
            <a:spLocks noChangeArrowheads="1"/>
          </p:cNvSpPr>
          <p:nvPr/>
        </p:nvSpPr>
        <p:spPr bwMode="auto">
          <a:xfrm>
            <a:off x="684213" y="260350"/>
            <a:ext cx="8459787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Tm="56727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2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2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6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6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2532" grpId="0" build="p"/>
      <p:bldP spid="662535" grpId="0" build="p"/>
      <p:bldP spid="662533" grpId="0" animBg="1"/>
      <p:bldP spid="662534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908050"/>
            <a:ext cx="5543550" cy="1008063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、离散信号的分解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zh-CN" altLang="en-US" sz="2800" b="1" dirty="0"/>
              <a:t>     任意有始离散信号可表示为：</a:t>
            </a:r>
            <a:endParaRPr lang="zh-CN" altLang="en-US" sz="2800" b="1" dirty="0"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               </a:t>
            </a:r>
            <a:r>
              <a:rPr lang="zh-CN" altLang="en-US" sz="2800" b="1" dirty="0"/>
              <a:t> </a:t>
            </a:r>
            <a:r>
              <a:rPr lang="zh-CN" altLang="en-US" sz="2800" b="1" dirty="0">
                <a:latin typeface="Arial" panose="020B0604020202020204" pitchFamily="34" charset="0"/>
              </a:rPr>
              <a:t>  </a:t>
            </a:r>
            <a:r>
              <a:rPr lang="zh-CN" altLang="en-US" sz="2800" b="1" dirty="0"/>
              <a:t> 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3556" name="Object 2"/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1403350" y="1989138"/>
                <a:ext cx="1009650" cy="488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355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1403350" y="1989138"/>
                <a:ext cx="1009650" cy="488950"/>
              </a:xfrm>
              <a:prstGeom prst="rect">
                <a:avLst/>
              </a:prstGeom>
              <a:blipFill rotWithShape="1">
                <a:blip r:embed="rId1"/>
                <a:stretch>
                  <a:fillRect t="-65" b="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76" name="Rectangle 5"/>
          <p:cNvSpPr>
            <a:spLocks noChangeArrowheads="1"/>
          </p:cNvSpPr>
          <p:nvPr/>
        </p:nvSpPr>
        <p:spPr bwMode="auto">
          <a:xfrm>
            <a:off x="2593975" y="5229225"/>
            <a:ext cx="33496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latin typeface="Arial" panose="020B0604020202020204" pitchFamily="34" charset="0"/>
                <a:ea typeface="华文楷体" panose="02010600040101010101" pitchFamily="2" charset="-122"/>
              </a:rPr>
              <a:t>  </a:t>
            </a:r>
            <a:r>
              <a:rPr lang="en-US" altLang="zh-CN" sz="110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en-US" altLang="zh-CN" sz="2800">
              <a:latin typeface="黑体" panose="02010609060101010101" pitchFamily="49" charset="-122"/>
            </a:endParaRPr>
          </a:p>
        </p:txBody>
      </p:sp>
      <p:sp>
        <p:nvSpPr>
          <p:cNvPr id="663558" name="Rectangle 6"/>
          <p:cNvSpPr>
            <a:spLocks noChangeArrowheads="1"/>
          </p:cNvSpPr>
          <p:nvPr/>
        </p:nvSpPr>
        <p:spPr bwMode="auto">
          <a:xfrm>
            <a:off x="684213" y="2595662"/>
            <a:ext cx="8280400" cy="2192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lt"/>
                <a:ea typeface="+mn-ea"/>
              </a:rPr>
              <a:t>3</a:t>
            </a:r>
            <a:r>
              <a:rPr lang="zh-CN" altLang="en-US" sz="2800" dirty="0">
                <a:solidFill>
                  <a:srgbClr val="0000FF"/>
                </a:solidFill>
                <a:latin typeface="+mn-lt"/>
                <a:ea typeface="+mn-ea"/>
              </a:rPr>
              <a:t>、单位函数响应（序列）</a:t>
            </a:r>
            <a:endParaRPr lang="zh-CN" altLang="en-US" sz="28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      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以单位（抽样）函数为离散系统输入所得到的系统零状态响应（序列），称为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单位函数响应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（序列） ，记为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h(k)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，即：           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63559" name="Rectangle 7"/>
          <p:cNvSpPr>
            <a:spLocks noChangeArrowheads="1"/>
          </p:cNvSpPr>
          <p:nvPr/>
        </p:nvSpPr>
        <p:spPr bwMode="auto">
          <a:xfrm>
            <a:off x="582613" y="5622925"/>
            <a:ext cx="77406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        </a:t>
            </a:r>
            <a:r>
              <a:rPr lang="zh-CN" altLang="en-US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对于因果系统，</a:t>
            </a:r>
            <a:r>
              <a:rPr lang="en-US" altLang="zh-CN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h(k)</a:t>
            </a:r>
            <a:r>
              <a:rPr lang="zh-CN" altLang="en-US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为有始序列。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3560" name="Object 3"/>
              <p:cNvSpPr txBox="1"/>
              <p:nvPr/>
            </p:nvSpPr>
            <p:spPr bwMode="auto">
              <a:xfrm>
                <a:off x="1835150" y="4868863"/>
                <a:ext cx="5967413" cy="4778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)→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356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150" y="4868863"/>
                <a:ext cx="5967413" cy="477837"/>
              </a:xfrm>
              <a:prstGeom prst="rect">
                <a:avLst/>
              </a:prstGeom>
              <a:blipFill rotWithShape="1">
                <a:blip r:embed="rId2"/>
                <a:stretch>
                  <a:fillRect t="-67" r="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3562" name="Rectangle 10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6696075" cy="503237"/>
          </a:xfrm>
          <a:solidFill>
            <a:schemeClr val="accent2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§7.6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离散时间系统的零状态响应及全响应求解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3563" name="Object 4"/>
              <p:cNvSpPr txBox="1"/>
              <p:nvPr/>
            </p:nvSpPr>
            <p:spPr bwMode="auto">
              <a:xfrm>
                <a:off x="2484438" y="1700213"/>
                <a:ext cx="6134100" cy="101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)+⋯+⋯=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356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438" y="1700213"/>
                <a:ext cx="6134100" cy="1016000"/>
              </a:xfrm>
              <a:prstGeom prst="rect">
                <a:avLst/>
              </a:prstGeom>
              <a:blipFill rotWithShape="1">
                <a:blip r:embed="rId3"/>
                <a:stretch>
                  <a:fillRect l="-5" t="-3406" r="5" b="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日期占位符 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31389AC-7CE1-4077-8A7B-5B59F807C1F2}" type="datetime1">
              <a:rPr lang="zh-CN" altLang="en-US"/>
            </a:fld>
            <a:endParaRPr lang="en-US" altLang="zh-CN" dirty="0"/>
          </a:p>
        </p:txBody>
      </p:sp>
    </p:spTree>
    <p:custDataLst>
      <p:tags r:id="rId4"/>
    </p:custDataLst>
  </p:cSld>
  <p:clrMapOvr>
    <a:masterClrMapping/>
  </p:clrMapOvr>
  <p:transition spd="med" advTm="11178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3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3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6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6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8" grpId="0"/>
      <p:bldP spid="663559" grpId="0"/>
      <p:bldP spid="663560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38151" y="774700"/>
            <a:ext cx="3125787" cy="503238"/>
          </a:xfrm>
        </p:spPr>
        <p:txBody>
          <a:bodyPr/>
          <a:lstStyle/>
          <a:p>
            <a:pPr marL="0" indent="0">
              <a:lnSpc>
                <a:spcPct val="85000"/>
              </a:lnSpc>
              <a:buNone/>
            </a:pPr>
            <a:r>
              <a:rPr lang="en-US" altLang="zh-CN" sz="28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8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、零状态响应     </a:t>
            </a:r>
            <a:endParaRPr lang="zh-CN" altLang="en-US" sz="2800" b="1" kern="1200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4580" name="Object 2"/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1908175" y="2349500"/>
                <a:ext cx="1439863" cy="617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25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zS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458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1908175" y="2349500"/>
                <a:ext cx="1439863" cy="617538"/>
              </a:xfrm>
              <a:prstGeom prst="rect">
                <a:avLst/>
              </a:prstGeom>
              <a:blipFill rotWithShape="1">
                <a:blip r:embed="rId1"/>
                <a:stretch>
                  <a:fillRect r="22" b="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00" name="Rectangle 5"/>
          <p:cNvSpPr>
            <a:spLocks noChangeArrowheads="1"/>
          </p:cNvSpPr>
          <p:nvPr/>
        </p:nvSpPr>
        <p:spPr bwMode="auto">
          <a:xfrm>
            <a:off x="2593975" y="5229225"/>
            <a:ext cx="33496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latin typeface="Arial" panose="020B0604020202020204" pitchFamily="34" charset="0"/>
                <a:ea typeface="华文楷体" panose="02010600040101010101" pitchFamily="2" charset="-122"/>
              </a:rPr>
              <a:t>  </a:t>
            </a:r>
            <a:r>
              <a:rPr lang="en-US" altLang="zh-CN" sz="110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en-US" altLang="zh-CN" sz="2800">
              <a:latin typeface="黑体" panose="02010609060101010101" pitchFamily="49" charset="-122"/>
            </a:endParaRPr>
          </a:p>
        </p:txBody>
      </p:sp>
      <p:sp>
        <p:nvSpPr>
          <p:cNvPr id="664582" name="Rectangle 6"/>
          <p:cNvSpPr>
            <a:spLocks noChangeArrowheads="1"/>
          </p:cNvSpPr>
          <p:nvPr/>
        </p:nvSpPr>
        <p:spPr bwMode="auto">
          <a:xfrm>
            <a:off x="684213" y="3213100"/>
            <a:ext cx="77041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定义两个序列的</a:t>
            </a:r>
            <a:r>
              <a:rPr lang="zh-CN" altLang="en-US" sz="24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卷积和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序列为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卷积和又称离散卷积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 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4583" name="Object 3"/>
              <p:cNvSpPr txBox="1"/>
              <p:nvPr/>
            </p:nvSpPr>
            <p:spPr bwMode="auto">
              <a:xfrm>
                <a:off x="1381125" y="3860800"/>
                <a:ext cx="6454775" cy="900113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FF33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limUpp>
                        <m:limUp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lim>
                      </m:limUpp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458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1125" y="3860800"/>
                <a:ext cx="6454775" cy="900113"/>
              </a:xfrm>
              <a:prstGeom prst="rect">
                <a:avLst/>
              </a:prstGeom>
              <a:blipFill rotWithShape="1">
                <a:blip r:embed="rId2"/>
                <a:stretch>
                  <a:fillRect l="-443" t="-3175" r="-826" b="-5961"/>
                </a:stretch>
              </a:blipFill>
              <a:ln w="57150">
                <a:solidFill>
                  <a:srgbClr val="FF33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4586" name="Rectangle 10"/>
          <p:cNvSpPr>
            <a:spLocks noChangeArrowheads="1"/>
          </p:cNvSpPr>
          <p:nvPr/>
        </p:nvSpPr>
        <p:spPr bwMode="auto">
          <a:xfrm>
            <a:off x="366713" y="0"/>
            <a:ext cx="66960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504" name="Object 4"/>
              <p:cNvSpPr txBox="1">
                <a:spLocks noGrp="1"/>
              </p:cNvSpPr>
              <p:nvPr>
                <p:ph sz="quarter" idx="4294967295"/>
              </p:nvPr>
            </p:nvSpPr>
            <p:spPr bwMode="auto">
              <a:xfrm>
                <a:off x="5649912" y="1454150"/>
                <a:ext cx="2449513" cy="808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55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650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 bwMode="auto">
              <a:xfrm>
                <a:off x="5649912" y="1454150"/>
                <a:ext cx="2449513" cy="808038"/>
              </a:xfrm>
              <a:prstGeom prst="rect">
                <a:avLst/>
              </a:prstGeom>
              <a:blipFill rotWithShape="1">
                <a:blip r:embed="rId3"/>
                <a:stretch>
                  <a:fillRect l="-13" t="-2672" b="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05" name="Rectangle 15"/>
          <p:cNvSpPr>
            <a:spLocks noChangeArrowheads="1"/>
          </p:cNvSpPr>
          <p:nvPr/>
        </p:nvSpPr>
        <p:spPr bwMode="auto">
          <a:xfrm>
            <a:off x="1042988" y="1700213"/>
            <a:ext cx="46402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黑体" panose="02010609060101010101" pitchFamily="49" charset="-122"/>
              </a:rPr>
              <a:t>根据线性时不变系统的</a:t>
            </a:r>
            <a:r>
              <a:rPr lang="zh-CN" altLang="en-US" sz="2400">
                <a:solidFill>
                  <a:srgbClr val="FF3300"/>
                </a:solidFill>
                <a:latin typeface="黑体" panose="02010609060101010101" pitchFamily="49" charset="-122"/>
              </a:rPr>
              <a:t>迭加性</a:t>
            </a:r>
            <a:r>
              <a:rPr lang="zh-CN" altLang="en-US" sz="2400">
                <a:latin typeface="黑体" panose="02010609060101010101" pitchFamily="49" charset="-122"/>
              </a:rPr>
              <a:t>有：</a:t>
            </a:r>
            <a:endParaRPr lang="zh-CN" altLang="en-US" sz="2400"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4592" name="Object 5"/>
              <p:cNvSpPr txBox="1"/>
              <p:nvPr/>
            </p:nvSpPr>
            <p:spPr bwMode="auto">
              <a:xfrm>
                <a:off x="3563938" y="2205038"/>
                <a:ext cx="2087562" cy="1014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459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2205038"/>
                <a:ext cx="2087562" cy="1014412"/>
              </a:xfrm>
              <a:prstGeom prst="rect">
                <a:avLst/>
              </a:prstGeom>
              <a:blipFill rotWithShape="1">
                <a:blip r:embed="rId4"/>
                <a:stretch>
                  <a:fillRect l="-15" t="-3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4593" name="Object 6"/>
              <p:cNvSpPr txBox="1"/>
              <p:nvPr/>
            </p:nvSpPr>
            <p:spPr bwMode="auto">
              <a:xfrm>
                <a:off x="2051050" y="5661025"/>
                <a:ext cx="6048375" cy="576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zS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459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050" y="5661025"/>
                <a:ext cx="6048375" cy="576263"/>
              </a:xfrm>
              <a:prstGeom prst="rect">
                <a:avLst/>
              </a:prstGeom>
              <a:blipFill rotWithShape="1">
                <a:blip r:embed="rId5"/>
                <a:stretch>
                  <a:fillRect b="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4594" name="Rectangle 18"/>
          <p:cNvSpPr>
            <a:spLocks noChangeArrowheads="1"/>
          </p:cNvSpPr>
          <p:nvPr/>
        </p:nvSpPr>
        <p:spPr bwMode="auto">
          <a:xfrm>
            <a:off x="827088" y="5013325"/>
            <a:ext cx="18002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华文中宋" panose="02010600040101010101" pitchFamily="2" charset="-122"/>
              </a:rPr>
              <a:t>于是有：</a:t>
            </a:r>
            <a:endParaRPr lang="zh-CN" altLang="en-US" sz="2800">
              <a:solidFill>
                <a:srgbClr val="FF3300"/>
              </a:solidFill>
              <a:latin typeface="华文中宋" panose="02010600040101010101" pitchFamily="2" charset="-122"/>
            </a:endParaRPr>
          </a:p>
        </p:txBody>
      </p:sp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1647391-EA7E-4728-97E2-AD76EE504BBD}" type="datetime1">
              <a:rPr lang="zh-CN" altLang="en-US"/>
            </a:fld>
            <a:endParaRPr lang="en-US" altLang="zh-CN" dirty="0"/>
          </a:p>
        </p:txBody>
      </p:sp>
    </p:spTree>
    <p:custDataLst>
      <p:tags r:id="rId6"/>
    </p:custDataLst>
  </p:cSld>
  <p:clrMapOvr>
    <a:masterClrMapping/>
  </p:clrMapOvr>
  <p:transition spd="med" advTm="21695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6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4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4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6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82" grpId="0"/>
      <p:bldP spid="664583" grpId="0" animBg="1"/>
      <p:bldP spid="664593" grpId="0"/>
      <p:bldP spid="664594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7700" y="769938"/>
            <a:ext cx="8172450" cy="1800225"/>
          </a:xfrm>
        </p:spPr>
        <p:txBody>
          <a:bodyPr/>
          <a:lstStyle/>
          <a:p>
            <a:pPr marL="381000" indent="-381000">
              <a:lnSpc>
                <a:spcPct val="120000"/>
              </a:lnSpc>
              <a:buFontTx/>
              <a:buNone/>
            </a:pPr>
            <a:r>
              <a:rPr lang="en-US" altLang="zh-CN" sz="28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sz="28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、卷积和的计算</a:t>
            </a:r>
            <a:endParaRPr lang="zh-CN" altLang="en-US" sz="2800" b="1" kern="1200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81000" indent="-381000">
              <a:lnSpc>
                <a:spcPct val="120000"/>
              </a:lnSpc>
              <a:buFontTx/>
              <a:buNone/>
            </a:pPr>
            <a:r>
              <a:rPr lang="zh-CN" altLang="en-US" sz="2000" b="1" dirty="0">
                <a:solidFill>
                  <a:srgbClr val="FF3300"/>
                </a:solidFill>
              </a:rPr>
              <a:t>           图解法、多项式乘法、解析法、列表法、性质（结合查表），</a:t>
            </a:r>
            <a:r>
              <a:rPr lang="en-US" altLang="zh-CN" sz="2000" b="1" dirty="0">
                <a:solidFill>
                  <a:srgbClr val="FF3300"/>
                </a:solidFill>
              </a:rPr>
              <a:t>Z</a:t>
            </a:r>
            <a:r>
              <a:rPr lang="zh-CN" altLang="en-US" sz="2000" b="1" dirty="0">
                <a:solidFill>
                  <a:srgbClr val="FF3300"/>
                </a:solidFill>
              </a:rPr>
              <a:t>变换法</a:t>
            </a:r>
            <a:endParaRPr lang="zh-CN" altLang="en-US" sz="2000" b="1" dirty="0">
              <a:solidFill>
                <a:srgbClr val="FF3300"/>
              </a:solidFill>
            </a:endParaRPr>
          </a:p>
          <a:p>
            <a:pPr marL="381000" indent="-381000">
              <a:lnSpc>
                <a:spcPct val="120000"/>
              </a:lnSpc>
              <a:buFontTx/>
              <a:buAutoNum type="circleNumDbPlain"/>
            </a:pPr>
            <a:r>
              <a:rPr lang="zh-CN" altLang="en-US" sz="2000" b="1" dirty="0"/>
              <a:t>图解法（有限长序列的卷积和）</a:t>
            </a:r>
            <a:endParaRPr lang="zh-CN" altLang="en-US" sz="2000" b="1" dirty="0"/>
          </a:p>
        </p:txBody>
      </p:sp>
      <p:pic>
        <p:nvPicPr>
          <p:cNvPr id="6666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6394" r="17960" b="16872"/>
          <a:stretch>
            <a:fillRect/>
          </a:stretch>
        </p:blipFill>
        <p:spPr>
          <a:xfrm>
            <a:off x="2479730" y="2570163"/>
            <a:ext cx="4973637" cy="3700463"/>
          </a:xfrm>
        </p:spPr>
      </p:pic>
      <p:sp>
        <p:nvSpPr>
          <p:cNvPr id="666631" name="Rectangle 7"/>
          <p:cNvSpPr>
            <a:spLocks noChangeArrowheads="1"/>
          </p:cNvSpPr>
          <p:nvPr/>
        </p:nvSpPr>
        <p:spPr bwMode="auto">
          <a:xfrm>
            <a:off x="684213" y="188913"/>
            <a:ext cx="6696075" cy="5032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BF1F20B-6D96-4E7B-BF0F-2F7864A3A07D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183680" y="504720"/>
            <a:ext cx="7248240" cy="399636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614"/>
    </mc:Choice>
    <mc:Fallback>
      <p:transition spd="slow" advTm="2506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6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6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628" grpId="0" bldLvl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3888" y="185738"/>
            <a:ext cx="8129587" cy="457200"/>
          </a:xfrm>
        </p:spPr>
        <p:txBody>
          <a:bodyPr/>
          <a:lstStyle/>
          <a:p>
            <a:r>
              <a:rPr lang="zh-CN" altLang="en-US" sz="2400" b="1">
                <a:solidFill>
                  <a:srgbClr val="FF0000"/>
                </a:solidFill>
              </a:rPr>
              <a:t>例</a:t>
            </a: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r>
              <a:rPr lang="zh-CN" altLang="en-US" sz="2400" b="1">
                <a:solidFill>
                  <a:srgbClr val="800000"/>
                </a:solidFill>
              </a:rPr>
              <a:t>用图解法求图示信号的卷积和</a:t>
            </a:r>
            <a:r>
              <a:rPr lang="en-US" altLang="zh-CN" sz="2400" b="1">
                <a:solidFill>
                  <a:srgbClr val="800000"/>
                </a:solidFill>
              </a:rPr>
              <a:t>y(k)=f(k)*h(k)</a:t>
            </a:r>
            <a:r>
              <a:rPr lang="zh-CN" altLang="en-US" sz="2400" b="1">
                <a:solidFill>
                  <a:srgbClr val="800000"/>
                </a:solidFill>
              </a:rPr>
              <a:t>。</a:t>
            </a:r>
            <a:endParaRPr lang="zh-CN" altLang="en-US" sz="2400" b="1">
              <a:solidFill>
                <a:srgbClr val="800000"/>
              </a:solidFill>
            </a:endParaRPr>
          </a:p>
        </p:txBody>
      </p:sp>
      <p:graphicFrame>
        <p:nvGraphicFramePr>
          <p:cNvPr id="667651" name="Object 2"/>
          <p:cNvGraphicFramePr>
            <a:graphicFrameLocks noChangeAspect="1"/>
          </p:cNvGraphicFramePr>
          <p:nvPr/>
        </p:nvGraphicFramePr>
        <p:xfrm>
          <a:off x="3886200" y="1828800"/>
          <a:ext cx="16002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28" name="位图图像" r:id="rId1" imgW="1400175" imgH="1047750" progId="PBrush">
                  <p:embed/>
                </p:oleObj>
              </mc:Choice>
              <mc:Fallback>
                <p:oleObj name="位图图像" r:id="rId1" imgW="1400175" imgH="104775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828800"/>
                        <a:ext cx="160020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8" name="Object 3"/>
          <p:cNvGraphicFramePr>
            <a:graphicFrameLocks noChangeAspect="1"/>
          </p:cNvGraphicFramePr>
          <p:nvPr/>
        </p:nvGraphicFramePr>
        <p:xfrm>
          <a:off x="800100" y="1094815"/>
          <a:ext cx="25908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29" name="BMP 图象" r:id="rId3" imgW="2066925" imgH="1971675" progId="PBrush">
                  <p:embed/>
                </p:oleObj>
              </mc:Choice>
              <mc:Fallback>
                <p:oleObj name="BMP 图象" r:id="rId3" imgW="2066925" imgH="1971675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1094815"/>
                        <a:ext cx="25908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3" name="Object 4"/>
          <p:cNvGraphicFramePr>
            <a:graphicFrameLocks noChangeAspect="1"/>
          </p:cNvGraphicFramePr>
          <p:nvPr/>
        </p:nvGraphicFramePr>
        <p:xfrm>
          <a:off x="6400800" y="838200"/>
          <a:ext cx="23622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0" name="BMP 图象" r:id="rId5" imgW="2076450" imgH="1943100" progId="PBrush">
                  <p:embed/>
                </p:oleObj>
              </mc:Choice>
              <mc:Fallback>
                <p:oleObj name="BMP 图象" r:id="rId5" imgW="2076450" imgH="1943100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838200"/>
                        <a:ext cx="23622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4" name="Object 5"/>
          <p:cNvGraphicFramePr>
            <a:graphicFrameLocks noChangeAspect="1"/>
          </p:cNvGraphicFramePr>
          <p:nvPr/>
        </p:nvGraphicFramePr>
        <p:xfrm>
          <a:off x="3924300" y="3716338"/>
          <a:ext cx="14478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1" name="BMP 图象" r:id="rId7" imgW="1314450" imgH="1066800" progId="PBrush">
                  <p:embed/>
                </p:oleObj>
              </mc:Choice>
              <mc:Fallback>
                <p:oleObj name="BMP 图象" r:id="rId7" imgW="1314450" imgH="1066800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716338"/>
                        <a:ext cx="14478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1" name="Object 6"/>
          <p:cNvGraphicFramePr>
            <a:graphicFrameLocks noChangeAspect="1"/>
          </p:cNvGraphicFramePr>
          <p:nvPr/>
        </p:nvGraphicFramePr>
        <p:xfrm>
          <a:off x="973138" y="3270989"/>
          <a:ext cx="2590800" cy="21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2" name="BMP 图象" r:id="rId9" imgW="2047875" imgH="1885950" progId="PBrush">
                  <p:embed/>
                </p:oleObj>
              </mc:Choice>
              <mc:Fallback>
                <p:oleObj name="BMP 图象" r:id="rId9" imgW="2047875" imgH="1885950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3270989"/>
                        <a:ext cx="2590800" cy="21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8552" name="Object 7"/>
              <p:cNvSpPr txBox="1"/>
              <p:nvPr/>
            </p:nvSpPr>
            <p:spPr bwMode="auto">
              <a:xfrm>
                <a:off x="595312" y="537081"/>
                <a:ext cx="4248150" cy="762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解：</m:t>
                            </m:r>
                          </m:e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855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312" y="537081"/>
                <a:ext cx="4248150" cy="762000"/>
              </a:xfrm>
              <a:prstGeom prst="rect">
                <a:avLst/>
              </a:prstGeom>
              <a:blipFill rotWithShape="1">
                <a:blip r:embed="rId11"/>
                <a:stretch>
                  <a:fillRect l="-7" t="-1816" r="7" b="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67657" name="Object 8"/>
          <p:cNvGraphicFramePr>
            <a:graphicFrameLocks noChangeAspect="1"/>
          </p:cNvGraphicFramePr>
          <p:nvPr/>
        </p:nvGraphicFramePr>
        <p:xfrm>
          <a:off x="325437" y="5467183"/>
          <a:ext cx="87217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3" name="Equation" r:id="rId12" imgW="3327400" imgH="584200" progId="Equation.DSMT4">
                  <p:embed/>
                </p:oleObj>
              </mc:Choice>
              <mc:Fallback>
                <p:oleObj name="Equation" r:id="rId12" imgW="3327400" imgH="584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7" y="5467183"/>
                        <a:ext cx="8721725" cy="1079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8" name="Object 9"/>
          <p:cNvGraphicFramePr>
            <a:graphicFrameLocks noChangeAspect="1"/>
          </p:cNvGraphicFramePr>
          <p:nvPr/>
        </p:nvGraphicFramePr>
        <p:xfrm>
          <a:off x="5410200" y="3429000"/>
          <a:ext cx="3124200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4" name="BMP 图象" r:id="rId14" imgW="2876550" imgH="1790700" progId="PBrush">
                  <p:embed/>
                </p:oleObj>
              </mc:Choice>
              <mc:Fallback>
                <p:oleObj name="BMP 图象" r:id="rId14" imgW="2876550" imgH="1790700" progId="PBrush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429000"/>
                        <a:ext cx="3124200" cy="194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9" name="Object 10"/>
          <p:cNvGraphicFramePr>
            <a:graphicFrameLocks noChangeAspect="1"/>
          </p:cNvGraphicFramePr>
          <p:nvPr/>
        </p:nvGraphicFramePr>
        <p:xfrm>
          <a:off x="5705247" y="3396418"/>
          <a:ext cx="30861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5" name="BMP 图象" r:id="rId16" imgW="3086100" imgH="1857375" progId="PBrush">
                  <p:embed/>
                </p:oleObj>
              </mc:Choice>
              <mc:Fallback>
                <p:oleObj name="BMP 图象" r:id="rId16" imgW="3086100" imgH="1857375" progId="PBrush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247" y="3396418"/>
                        <a:ext cx="30861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60" name="Object 11"/>
          <p:cNvGraphicFramePr>
            <a:graphicFrameLocks noChangeAspect="1"/>
          </p:cNvGraphicFramePr>
          <p:nvPr/>
        </p:nvGraphicFramePr>
        <p:xfrm>
          <a:off x="5369905" y="3396418"/>
          <a:ext cx="3206750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6" name="BMP 图象" r:id="rId18" imgW="3114675" imgH="1762125" progId="PBrush">
                  <p:embed/>
                </p:oleObj>
              </mc:Choice>
              <mc:Fallback>
                <p:oleObj name="BMP 图象" r:id="rId18" imgW="3114675" imgH="1762125" progId="PBrush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9905" y="3396418"/>
                        <a:ext cx="3206750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61" name="Object 12"/>
          <p:cNvGraphicFramePr>
            <a:graphicFrameLocks noChangeAspect="1"/>
          </p:cNvGraphicFramePr>
          <p:nvPr/>
        </p:nvGraphicFramePr>
        <p:xfrm>
          <a:off x="5486400" y="3383355"/>
          <a:ext cx="320675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7" name="BMP 图象" r:id="rId20" imgW="3057525" imgH="1771650" progId="PBrush">
                  <p:embed/>
                </p:oleObj>
              </mc:Choice>
              <mc:Fallback>
                <p:oleObj name="BMP 图象" r:id="rId20" imgW="3057525" imgH="1771650" progId="PBrush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383355"/>
                        <a:ext cx="320675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62" name="Object 13"/>
          <p:cNvGraphicFramePr>
            <a:graphicFrameLocks noChangeAspect="1"/>
          </p:cNvGraphicFramePr>
          <p:nvPr/>
        </p:nvGraphicFramePr>
        <p:xfrm>
          <a:off x="5399312" y="3396418"/>
          <a:ext cx="3266847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8" name="BMP 图象" r:id="rId22" imgW="3171825" imgH="1800225" progId="PBrush">
                  <p:embed/>
                </p:oleObj>
              </mc:Choice>
              <mc:Fallback>
                <p:oleObj name="BMP 图象" r:id="rId22" imgW="3171825" imgH="1800225" progId="PBrush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9312" y="3396418"/>
                        <a:ext cx="3266847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63" name="Object 14"/>
          <p:cNvGraphicFramePr>
            <a:graphicFrameLocks noChangeAspect="1"/>
          </p:cNvGraphicFramePr>
          <p:nvPr/>
        </p:nvGraphicFramePr>
        <p:xfrm>
          <a:off x="5785754" y="3442473"/>
          <a:ext cx="339944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39" name="BMP 图象" r:id="rId24" imgW="2895600" imgH="1704975" progId="PBrush">
                  <p:embed/>
                </p:oleObj>
              </mc:Choice>
              <mc:Fallback>
                <p:oleObj name="BMP 图象" r:id="rId24" imgW="2895600" imgH="1704975" progId="PBrush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5754" y="3442473"/>
                        <a:ext cx="339944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65" name="Object 16"/>
          <p:cNvGraphicFramePr>
            <a:graphicFrameLocks noChangeAspect="1"/>
          </p:cNvGraphicFramePr>
          <p:nvPr/>
        </p:nvGraphicFramePr>
        <p:xfrm>
          <a:off x="6188614" y="3166851"/>
          <a:ext cx="300437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41" name="位图图像" r:id="rId26" imgW="3057525" imgH="1752600" progId="PBrush">
                  <p:embed/>
                </p:oleObj>
              </mc:Choice>
              <mc:Fallback>
                <p:oleObj name="位图图像" r:id="rId26" imgW="3057525" imgH="1752600" progId="PBrush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614" y="3166851"/>
                        <a:ext cx="3004373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67666" name="Object 17"/>
              <p:cNvSpPr txBox="1"/>
              <p:nvPr/>
            </p:nvSpPr>
            <p:spPr bwMode="auto">
              <a:xfrm>
                <a:off x="2635250" y="5842446"/>
                <a:ext cx="792163" cy="5762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7666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5250" y="5842446"/>
                <a:ext cx="792163" cy="576263"/>
              </a:xfrm>
              <a:prstGeom prst="rect">
                <a:avLst/>
              </a:prstGeom>
              <a:blipFill rotWithShape="1">
                <a:blip r:embed="rId28"/>
                <a:stretch>
                  <a:fillRect t="-77" r="40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7667" name="Object 18"/>
              <p:cNvSpPr txBox="1"/>
              <p:nvPr/>
            </p:nvSpPr>
            <p:spPr bwMode="auto">
              <a:xfrm>
                <a:off x="3563938" y="5819140"/>
                <a:ext cx="936625" cy="5556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67667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5819140"/>
                <a:ext cx="936625" cy="555625"/>
              </a:xfrm>
              <a:prstGeom prst="rect">
                <a:avLst/>
              </a:prstGeom>
              <a:blipFill rotWithShape="1">
                <a:blip r:embed="rId29"/>
                <a:stretch>
                  <a:fillRect l="-34" r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7668" name="Object 19"/>
              <p:cNvSpPr txBox="1"/>
              <p:nvPr/>
            </p:nvSpPr>
            <p:spPr bwMode="auto">
              <a:xfrm>
                <a:off x="4444178" y="5827666"/>
                <a:ext cx="863600" cy="5318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67668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4178" y="5827666"/>
                <a:ext cx="863600" cy="531812"/>
              </a:xfrm>
              <a:prstGeom prst="rect">
                <a:avLst/>
              </a:prstGeom>
              <a:blipFill rotWithShape="1">
                <a:blip r:embed="rId30"/>
                <a:stretch>
                  <a:fillRect l="-52" t="-51" r="52" b="1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7669" name="Object 20"/>
              <p:cNvSpPr txBox="1"/>
              <p:nvPr/>
            </p:nvSpPr>
            <p:spPr bwMode="auto">
              <a:xfrm>
                <a:off x="5266502" y="5817553"/>
                <a:ext cx="936625" cy="5556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67669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6502" y="5817553"/>
                <a:ext cx="936625" cy="555625"/>
              </a:xfrm>
              <a:prstGeom prst="rect">
                <a:avLst/>
              </a:prstGeom>
              <a:blipFill rotWithShape="1">
                <a:blip r:embed="rId31"/>
                <a:stretch>
                  <a:fillRect l="-48" t="-57" r="48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7670" name="Object 21"/>
              <p:cNvSpPr txBox="1"/>
              <p:nvPr/>
            </p:nvSpPr>
            <p:spPr bwMode="auto">
              <a:xfrm>
                <a:off x="6139627" y="5825080"/>
                <a:ext cx="792162" cy="4699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09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7670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9627" y="5825080"/>
                <a:ext cx="792162" cy="469900"/>
              </a:xfrm>
              <a:prstGeom prst="rect">
                <a:avLst/>
              </a:prstGeom>
              <a:blipFill rotWithShape="1">
                <a:blip r:embed="rId32"/>
                <a:stretch>
                  <a:fillRect l="-56" t="-48" r="16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7671" name="Object 22"/>
              <p:cNvSpPr txBox="1"/>
              <p:nvPr/>
            </p:nvSpPr>
            <p:spPr bwMode="auto">
              <a:xfrm>
                <a:off x="7034976" y="5819140"/>
                <a:ext cx="720725" cy="4286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67671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4976" y="5819140"/>
                <a:ext cx="720725" cy="428625"/>
              </a:xfrm>
              <a:prstGeom prst="rect">
                <a:avLst/>
              </a:prstGeom>
              <a:blipFill rotWithShape="1">
                <a:blip r:embed="rId33"/>
                <a:stretch>
                  <a:fillRect l="-62" r="-2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7672" name="Object 23"/>
              <p:cNvSpPr txBox="1"/>
              <p:nvPr/>
            </p:nvSpPr>
            <p:spPr bwMode="auto">
              <a:xfrm>
                <a:off x="7869238" y="5852478"/>
                <a:ext cx="665162" cy="3873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67672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69238" y="5852478"/>
                <a:ext cx="665162" cy="387350"/>
              </a:xfrm>
              <a:prstGeom prst="rect">
                <a:avLst/>
              </a:prstGeom>
              <a:blipFill rotWithShape="1">
                <a:blip r:embed="rId34"/>
                <a:stretch>
                  <a:fillRect l="-48" t="-82" b="-61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日期占位符 2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CABB8C1-F4CE-4F14-A331-724685BD40D6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1208160" y="1080000"/>
            <a:ext cx="6656040" cy="4002840"/>
          </a:xfrm>
          <a:prstGeom prst="rect">
            <a:avLst/>
          </a:prstGeom>
        </p:spPr>
      </p:sp>
    </p:spTree>
    <p:custDataLst>
      <p:tags r:id="rId35"/>
    </p:custDataLst>
  </p:cSld>
  <p:clrMapOvr>
    <a:masterClrMapping/>
  </p:clrMapOvr>
  <p:transition spd="med" advTm="14383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6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6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6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6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6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6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6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6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6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2" grpId="0" bldLvl="0" animBg="1"/>
      <p:bldP spid="667666" grpId="0" bldLvl="0" animBg="1"/>
      <p:bldP spid="667667" grpId="0" bldLvl="0" animBg="1"/>
      <p:bldP spid="667668" grpId="0" bldLvl="0" animBg="1"/>
      <p:bldP spid="667669" grpId="0" bldLvl="0" animBg="1"/>
      <p:bldP spid="667670" grpId="0" bldLvl="0" animBg="1"/>
      <p:bldP spid="667671" grpId="0" bldLvl="0" animBg="1"/>
      <p:bldP spid="667672" grpId="0" bldLvl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67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6" t="46103" r="13568" b="45445"/>
          <a:stretch>
            <a:fillRect/>
          </a:stretch>
        </p:blipFill>
        <p:spPr bwMode="auto">
          <a:xfrm>
            <a:off x="971550" y="981075"/>
            <a:ext cx="5545138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8913"/>
            <a:ext cx="8243887" cy="792162"/>
          </a:xfrm>
          <a:solidFill>
            <a:schemeClr val="bg1"/>
          </a:solidFill>
          <a:ln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marL="0" indent="361950">
              <a:lnSpc>
                <a:spcPct val="90000"/>
              </a:lnSpc>
              <a:buFontTx/>
              <a:buNone/>
            </a:pPr>
            <a:r>
              <a:rPr lang="zh-CN" altLang="en-US" sz="2400" b="1"/>
              <a:t>进行卷积和的两个序列都是有限长序列，卷积和的计算过程可以用</a:t>
            </a:r>
            <a:r>
              <a:rPr lang="zh-CN" altLang="en-US" sz="2400" b="1">
                <a:solidFill>
                  <a:srgbClr val="FF3300"/>
                </a:solidFill>
              </a:rPr>
              <a:t>多项式乘法</a:t>
            </a:r>
            <a:r>
              <a:rPr lang="zh-CN" altLang="en-US" sz="2400" b="1"/>
              <a:t>的方式完成</a:t>
            </a:r>
            <a:endParaRPr lang="zh-CN" altLang="en-US" sz="2400" b="1"/>
          </a:p>
        </p:txBody>
      </p:sp>
      <p:pic>
        <p:nvPicPr>
          <p:cNvPr id="66868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700213"/>
            <a:ext cx="3521075" cy="367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868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5589588"/>
            <a:ext cx="73993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B5EA845-6B0C-4622-A782-AA23EBEFABE5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2155680" y="1451520"/>
            <a:ext cx="4172760" cy="39618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932"/>
    </mc:Choice>
    <mc:Fallback>
      <p:transition spd="slow" advTm="112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6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6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6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6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70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989138"/>
            <a:ext cx="5903913" cy="1027112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</p:pic>
      <p:pic>
        <p:nvPicPr>
          <p:cNvPr id="11059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88913"/>
            <a:ext cx="4721225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69705" name="Object 2"/>
              <p:cNvSpPr txBox="1">
                <a:spLocks noGrp="1"/>
              </p:cNvSpPr>
              <p:nvPr>
                <p:ph sz="half" idx="1"/>
              </p:nvPr>
            </p:nvSpPr>
            <p:spPr bwMode="auto">
              <a:xfrm>
                <a:off x="1116013" y="3500438"/>
                <a:ext cx="23622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970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1116013" y="3500438"/>
                <a:ext cx="2362200" cy="431800"/>
              </a:xfrm>
              <a:prstGeom prst="rect">
                <a:avLst/>
              </a:prstGeom>
              <a:blipFill rotWithShape="1">
                <a:blip r:embed="rId3"/>
                <a:stretch>
                  <a:fillRect l="-13" t="-74" r="13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9708" name="Object 3"/>
              <p:cNvSpPr txBox="1"/>
              <p:nvPr/>
            </p:nvSpPr>
            <p:spPr bwMode="auto">
              <a:xfrm>
                <a:off x="3635375" y="3261360"/>
                <a:ext cx="2303780" cy="671195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97500"/>
              </a:bodyPr>
              <a:lstStyle/>
              <a:p>
                <a:pPr marL="0" indent="0" latinLnBrk="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970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375" y="3261360"/>
                <a:ext cx="2303780" cy="671195"/>
              </a:xfrm>
              <a:prstGeom prst="rect">
                <a:avLst/>
              </a:prstGeom>
              <a:blipFill rotWithShape="1">
                <a:blip r:embed="rId4"/>
                <a:stretch>
                  <a:fillRect l="-276" t="-946" r="-1351" b="-4636"/>
                </a:stretch>
              </a:blipFill>
              <a:ln w="12700" cap="sq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9709" name="Object 4"/>
              <p:cNvSpPr txBox="1"/>
              <p:nvPr/>
            </p:nvSpPr>
            <p:spPr bwMode="auto">
              <a:xfrm>
                <a:off x="1116013" y="4941888"/>
                <a:ext cx="23622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6970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4941888"/>
                <a:ext cx="2362200" cy="431800"/>
              </a:xfrm>
              <a:prstGeom prst="rect">
                <a:avLst/>
              </a:prstGeom>
              <a:blipFill rotWithShape="1">
                <a:blip r:embed="rId5"/>
                <a:stretch>
                  <a:fillRect l="-13" t="-74" r="13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9710" name="Object 5"/>
              <p:cNvSpPr txBox="1"/>
              <p:nvPr/>
            </p:nvSpPr>
            <p:spPr bwMode="auto">
              <a:xfrm>
                <a:off x="3635375" y="4570095"/>
                <a:ext cx="5022850" cy="1176020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70000" lnSpcReduction="20000"/>
              </a:bodyPr>
              <a:lstStyle/>
              <a:p>
                <a:pPr marL="0" indent="0" latinLnBrk="0">
                  <a:lnSpc>
                    <a:spcPct val="13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6971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375" y="4570095"/>
                <a:ext cx="5022850" cy="1176020"/>
              </a:xfrm>
              <a:prstGeom prst="rect">
                <a:avLst/>
              </a:prstGeom>
              <a:blipFill rotWithShape="1">
                <a:blip r:embed="rId6"/>
                <a:stretch>
                  <a:fillRect l="-126" t="-540" r="-619" b="-2646"/>
                </a:stretch>
              </a:blipFill>
              <a:ln w="12700" cap="sq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墨迹 1"/>
          <p:cNvSpPr/>
          <p:nvPr/>
        </p:nvSpPr>
        <p:spPr bwMode="auto">
          <a:xfrm>
            <a:off x="1384200" y="490680"/>
            <a:ext cx="6328800" cy="48265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8445"/>
    </mc:Choice>
    <mc:Fallback>
      <p:transition spd="slow" advTm="1784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6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9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9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9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69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5" grpId="0" build="p"/>
      <p:bldP spid="669708" grpId="0" bldLvl="0" animBg="1"/>
      <p:bldP spid="669709" grpId="0"/>
      <p:bldP spid="669710" grpId="0" bldLvl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占位符 2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B3F6863-76AB-4DC7-9717-591B493A58D8}" type="datetime1">
              <a:rPr lang="zh-CN" altLang="en-US"/>
            </a:fld>
            <a:endParaRPr lang="en-US" altLang="zh-CN" dirty="0"/>
          </a:p>
        </p:txBody>
      </p:sp>
      <p:graphicFrame>
        <p:nvGraphicFramePr>
          <p:cNvPr id="671746" name="Object 2"/>
          <p:cNvGraphicFramePr>
            <a:graphicFrameLocks noChangeAspect="1"/>
          </p:cNvGraphicFramePr>
          <p:nvPr/>
        </p:nvGraphicFramePr>
        <p:xfrm>
          <a:off x="477838" y="2798763"/>
          <a:ext cx="250507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42" name="BMP 图象" r:id="rId1" imgW="2047875" imgH="1885950" progId="PBrush">
                  <p:embed/>
                </p:oleObj>
              </mc:Choice>
              <mc:Fallback>
                <p:oleObj name="BMP 图象" r:id="rId1" imgW="2047875" imgH="188595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8" y="2798763"/>
                        <a:ext cx="2505075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47" name="Object 3"/>
          <p:cNvGraphicFramePr>
            <a:graphicFrameLocks noChangeAspect="1"/>
          </p:cNvGraphicFramePr>
          <p:nvPr/>
        </p:nvGraphicFramePr>
        <p:xfrm>
          <a:off x="439738" y="504825"/>
          <a:ext cx="25908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43" name="BMP 图象" r:id="rId3" imgW="2066925" imgH="1971675" progId="PBrush">
                  <p:embed/>
                </p:oleObj>
              </mc:Choice>
              <mc:Fallback>
                <p:oleObj name="BMP 图象" r:id="rId3" imgW="2066925" imgH="1971675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8" y="504825"/>
                        <a:ext cx="25908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48" name="Object 4"/>
          <p:cNvGraphicFramePr>
            <a:graphicFrameLocks noChangeAspect="1"/>
          </p:cNvGraphicFramePr>
          <p:nvPr/>
        </p:nvGraphicFramePr>
        <p:xfrm>
          <a:off x="3124200" y="696913"/>
          <a:ext cx="6019800" cy="458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44" name="BMP 图象" r:id="rId5" imgW="4762500" imgH="3629025" progId="PBrush">
                  <p:embed/>
                </p:oleObj>
              </mc:Choice>
              <mc:Fallback>
                <p:oleObj name="BMP 图象" r:id="rId5" imgW="4762500" imgH="3629025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696913"/>
                        <a:ext cx="6019800" cy="458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49" name="Text Box 5"/>
          <p:cNvSpPr txBox="1">
            <a:spLocks noChangeArrowheads="1"/>
          </p:cNvSpPr>
          <p:nvPr/>
        </p:nvSpPr>
        <p:spPr bwMode="auto">
          <a:xfrm>
            <a:off x="4800600" y="2152650"/>
            <a:ext cx="9239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0.12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0" name="Text Box 6"/>
          <p:cNvSpPr txBox="1">
            <a:spLocks noChangeArrowheads="1"/>
          </p:cNvSpPr>
          <p:nvPr/>
        </p:nvSpPr>
        <p:spPr bwMode="auto">
          <a:xfrm>
            <a:off x="5565775" y="2152650"/>
            <a:ext cx="103346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0.09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1" name="Text Box 7"/>
          <p:cNvSpPr txBox="1">
            <a:spLocks noChangeArrowheads="1"/>
          </p:cNvSpPr>
          <p:nvPr/>
        </p:nvSpPr>
        <p:spPr bwMode="auto">
          <a:xfrm>
            <a:off x="6477000" y="215265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0.06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2" name="Text Box 8"/>
          <p:cNvSpPr txBox="1">
            <a:spLocks noChangeArrowheads="1"/>
          </p:cNvSpPr>
          <p:nvPr/>
        </p:nvSpPr>
        <p:spPr bwMode="auto">
          <a:xfrm>
            <a:off x="7475538" y="215265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0.03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3" name="Text Box 9"/>
          <p:cNvSpPr txBox="1">
            <a:spLocks noChangeArrowheads="1"/>
          </p:cNvSpPr>
          <p:nvPr/>
        </p:nvSpPr>
        <p:spPr bwMode="auto">
          <a:xfrm>
            <a:off x="8458200" y="215265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4" name="Text Box 10"/>
          <p:cNvSpPr txBox="1">
            <a:spLocks noChangeArrowheads="1"/>
          </p:cNvSpPr>
          <p:nvPr/>
        </p:nvSpPr>
        <p:spPr bwMode="auto">
          <a:xfrm>
            <a:off x="4800600" y="2620963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0.08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5" name="Text Box 11"/>
          <p:cNvSpPr txBox="1">
            <a:spLocks noChangeArrowheads="1"/>
          </p:cNvSpPr>
          <p:nvPr/>
        </p:nvSpPr>
        <p:spPr bwMode="auto">
          <a:xfrm>
            <a:off x="5638800" y="2620963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0.06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6" name="Text Box 12"/>
          <p:cNvSpPr txBox="1">
            <a:spLocks noChangeArrowheads="1"/>
          </p:cNvSpPr>
          <p:nvPr/>
        </p:nvSpPr>
        <p:spPr bwMode="auto">
          <a:xfrm>
            <a:off x="6477000" y="2620963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0.04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7" name="Text Box 13"/>
          <p:cNvSpPr txBox="1">
            <a:spLocks noChangeArrowheads="1"/>
          </p:cNvSpPr>
          <p:nvPr/>
        </p:nvSpPr>
        <p:spPr bwMode="auto">
          <a:xfrm>
            <a:off x="7489825" y="2620963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0.02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8" name="Text Box 14"/>
          <p:cNvSpPr txBox="1">
            <a:spLocks noChangeArrowheads="1"/>
          </p:cNvSpPr>
          <p:nvPr/>
        </p:nvSpPr>
        <p:spPr bwMode="auto">
          <a:xfrm>
            <a:off x="4772025" y="3030538"/>
            <a:ext cx="3697288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0.08     0.06     0.04      0.02   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0.08     0.06     0.04      0.02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0.04     0.03     0.02      0.01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671759" name="Line 15"/>
          <p:cNvSpPr>
            <a:spLocks noChangeShapeType="1"/>
          </p:cNvSpPr>
          <p:nvPr/>
        </p:nvSpPr>
        <p:spPr bwMode="auto">
          <a:xfrm flipH="1">
            <a:off x="5444331" y="2278063"/>
            <a:ext cx="1604963" cy="969962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1760" name="Line 16"/>
          <p:cNvSpPr>
            <a:spLocks noChangeShapeType="1"/>
          </p:cNvSpPr>
          <p:nvPr/>
        </p:nvSpPr>
        <p:spPr bwMode="auto">
          <a:xfrm flipH="1">
            <a:off x="5197475" y="2285207"/>
            <a:ext cx="844550" cy="534987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1761" name="Line 17"/>
          <p:cNvSpPr>
            <a:spLocks noChangeShapeType="1"/>
          </p:cNvSpPr>
          <p:nvPr/>
        </p:nvSpPr>
        <p:spPr bwMode="auto">
          <a:xfrm flipH="1">
            <a:off x="5176838" y="2335213"/>
            <a:ext cx="2574925" cy="1547812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1762" name="Line 18"/>
          <p:cNvSpPr>
            <a:spLocks noChangeShapeType="1"/>
          </p:cNvSpPr>
          <p:nvPr/>
        </p:nvSpPr>
        <p:spPr bwMode="auto">
          <a:xfrm flipH="1">
            <a:off x="5232400" y="2771775"/>
            <a:ext cx="2632075" cy="1687513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1763" name="Line 19"/>
          <p:cNvSpPr>
            <a:spLocks noChangeShapeType="1"/>
          </p:cNvSpPr>
          <p:nvPr/>
        </p:nvSpPr>
        <p:spPr bwMode="auto">
          <a:xfrm flipH="1">
            <a:off x="6203950" y="3455988"/>
            <a:ext cx="1644650" cy="106045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1764" name="Line 20"/>
          <p:cNvSpPr>
            <a:spLocks noChangeShapeType="1"/>
          </p:cNvSpPr>
          <p:nvPr/>
        </p:nvSpPr>
        <p:spPr bwMode="auto">
          <a:xfrm flipH="1">
            <a:off x="7075488" y="3897313"/>
            <a:ext cx="985837" cy="604837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1639" name="Text Box 22"/>
          <p:cNvSpPr txBox="1">
            <a:spLocks noChangeArrowheads="1"/>
          </p:cNvSpPr>
          <p:nvPr/>
        </p:nvSpPr>
        <p:spPr bwMode="auto">
          <a:xfrm>
            <a:off x="306388" y="0"/>
            <a:ext cx="3548062" cy="406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9900FF"/>
                </a:solidFill>
                <a:latin typeface="Tahoma" panose="020B0604030504040204" pitchFamily="34" charset="0"/>
              </a:rPr>
              <a:t>例</a:t>
            </a:r>
            <a:r>
              <a:rPr kumimoji="1" lang="en-US" altLang="zh-CN" sz="2400">
                <a:solidFill>
                  <a:srgbClr val="9900FF"/>
                </a:solidFill>
                <a:latin typeface="Tahoma" panose="020B0604030504040204" pitchFamily="34" charset="0"/>
              </a:rPr>
              <a:t>4</a:t>
            </a:r>
            <a:r>
              <a:rPr kumimoji="1" lang="zh-CN" altLang="en-US" sz="2400">
                <a:solidFill>
                  <a:srgbClr val="9900FF"/>
                </a:solidFill>
                <a:latin typeface="Tahoma" panose="020B0604030504040204" pitchFamily="34" charset="0"/>
              </a:rPr>
              <a:t>：</a:t>
            </a:r>
            <a:r>
              <a:rPr kumimoji="1" lang="zh-CN" altLang="en-US" sz="2400">
                <a:latin typeface="Tahoma" panose="020B0604030504040204" pitchFamily="34" charset="0"/>
              </a:rPr>
              <a:t>利用列表法求：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640" name="Object 6"/>
              <p:cNvSpPr txBox="1"/>
              <p:nvPr/>
            </p:nvSpPr>
            <p:spPr bwMode="auto">
              <a:xfrm>
                <a:off x="5003800" y="188913"/>
                <a:ext cx="2303463" cy="5635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164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3800" y="188913"/>
                <a:ext cx="2303463" cy="563562"/>
              </a:xfrm>
              <a:prstGeom prst="rect">
                <a:avLst/>
              </a:prstGeom>
              <a:blipFill rotWithShape="1">
                <a:blip r:embed="rId7"/>
                <a:stretch>
                  <a:fillRect t="-56" r="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1768" name="Text Box 24"/>
          <p:cNvSpPr txBox="1">
            <a:spLocks noChangeArrowheads="1"/>
          </p:cNvSpPr>
          <p:nvPr/>
        </p:nvSpPr>
        <p:spPr bwMode="auto">
          <a:xfrm>
            <a:off x="306705" y="6137275"/>
            <a:ext cx="8772525" cy="71818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9900FF"/>
                </a:solidFill>
                <a:latin typeface="Tahoma" panose="020B0604030504040204" pitchFamily="34" charset="0"/>
              </a:rPr>
              <a:t>    y(k)</a:t>
            </a:r>
            <a:r>
              <a:rPr kumimoji="1" lang="zh-CN" altLang="en-US" sz="2400" dirty="0">
                <a:solidFill>
                  <a:srgbClr val="9900FF"/>
                </a:solidFill>
                <a:latin typeface="Tahoma" panose="020B0604030504040204" pitchFamily="34" charset="0"/>
              </a:rPr>
              <a:t>的第一个非零值的序号为</a:t>
            </a:r>
            <a:r>
              <a:rPr kumimoji="1" lang="en-US" altLang="zh-CN" sz="2400" dirty="0">
                <a:solidFill>
                  <a:srgbClr val="9900FF"/>
                </a:solidFill>
                <a:latin typeface="Tahoma" panose="020B0604030504040204" pitchFamily="34" charset="0"/>
              </a:rPr>
              <a:t>f(k)</a:t>
            </a:r>
            <a:r>
              <a:rPr kumimoji="1" lang="zh-CN" altLang="en-US" sz="2400" dirty="0">
                <a:solidFill>
                  <a:srgbClr val="9900FF"/>
                </a:solidFill>
                <a:latin typeface="Tahoma" panose="020B0604030504040204" pitchFamily="34" charset="0"/>
              </a:rPr>
              <a:t>和</a:t>
            </a:r>
            <a:r>
              <a:rPr kumimoji="1" lang="en-US" altLang="zh-CN" sz="2400" dirty="0">
                <a:solidFill>
                  <a:srgbClr val="9900FF"/>
                </a:solidFill>
                <a:latin typeface="Tahoma" panose="020B0604030504040204" pitchFamily="34" charset="0"/>
              </a:rPr>
              <a:t>h(k)</a:t>
            </a:r>
            <a:r>
              <a:rPr kumimoji="1" lang="zh-CN" altLang="en-US" sz="2400" dirty="0">
                <a:solidFill>
                  <a:srgbClr val="9900FF"/>
                </a:solidFill>
                <a:latin typeface="Tahoma" panose="020B0604030504040204" pitchFamily="34" charset="0"/>
              </a:rPr>
              <a:t>第一个非零值序号之和。</a:t>
            </a:r>
            <a:endParaRPr kumimoji="1" lang="zh-CN" altLang="en-US" sz="2400" dirty="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30" name="Object 8"/>
          <p:cNvGraphicFramePr>
            <a:graphicFrameLocks noChangeAspect="1"/>
          </p:cNvGraphicFramePr>
          <p:nvPr/>
        </p:nvGraphicFramePr>
        <p:xfrm>
          <a:off x="357460" y="5084820"/>
          <a:ext cx="87217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45" name="Equation" r:id="rId8" imgW="3327400" imgH="584200" progId="Equation.DSMT4">
                  <p:embed/>
                </p:oleObj>
              </mc:Choice>
              <mc:Fallback>
                <p:oleObj name="Equation" r:id="rId8" imgW="3327400" imgH="584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460" y="5084820"/>
                        <a:ext cx="872172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17"/>
              <p:cNvSpPr txBox="1"/>
              <p:nvPr/>
            </p:nvSpPr>
            <p:spPr bwMode="auto">
              <a:xfrm>
                <a:off x="2645761" y="5450968"/>
                <a:ext cx="792163" cy="576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5761" y="5450968"/>
                <a:ext cx="792163" cy="576263"/>
              </a:xfrm>
              <a:prstGeom prst="rect">
                <a:avLst/>
              </a:prstGeom>
              <a:blipFill rotWithShape="1">
                <a:blip r:embed="rId10"/>
                <a:stretch>
                  <a:fillRect l="-44" t="-22" r="4" b="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18"/>
              <p:cNvSpPr txBox="1"/>
              <p:nvPr/>
            </p:nvSpPr>
            <p:spPr bwMode="auto">
              <a:xfrm>
                <a:off x="3574449" y="5427662"/>
                <a:ext cx="936625" cy="555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4449" y="5427662"/>
                <a:ext cx="936625" cy="555625"/>
              </a:xfrm>
              <a:prstGeom prst="rect">
                <a:avLst/>
              </a:prstGeom>
              <a:blipFill rotWithShape="1">
                <a:blip r:embed="rId11"/>
                <a:stretch>
                  <a:fillRect l="-4" t="-57" r="4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19"/>
              <p:cNvSpPr txBox="1"/>
              <p:nvPr/>
            </p:nvSpPr>
            <p:spPr bwMode="auto">
              <a:xfrm>
                <a:off x="4454689" y="5436188"/>
                <a:ext cx="863600" cy="531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4689" y="5436188"/>
                <a:ext cx="863600" cy="531812"/>
              </a:xfrm>
              <a:prstGeom prst="rect">
                <a:avLst/>
              </a:prstGeom>
              <a:blipFill rotWithShape="1">
                <a:blip r:embed="rId12"/>
                <a:stretch>
                  <a:fillRect l="-19" t="-111" r="19" b="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20"/>
              <p:cNvSpPr txBox="1"/>
              <p:nvPr/>
            </p:nvSpPr>
            <p:spPr bwMode="auto">
              <a:xfrm>
                <a:off x="5277013" y="5426075"/>
                <a:ext cx="936625" cy="555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7013" y="5426075"/>
                <a:ext cx="936625" cy="555625"/>
              </a:xfrm>
              <a:prstGeom prst="rect">
                <a:avLst/>
              </a:prstGeom>
              <a:blipFill rotWithShape="1">
                <a:blip r:embed="rId13"/>
                <a:stretch>
                  <a:fillRect l="-17" r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21"/>
              <p:cNvSpPr txBox="1"/>
              <p:nvPr/>
            </p:nvSpPr>
            <p:spPr bwMode="auto">
              <a:xfrm>
                <a:off x="6150138" y="5433602"/>
                <a:ext cx="792162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09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0138" y="5433602"/>
                <a:ext cx="792162" cy="469900"/>
              </a:xfrm>
              <a:prstGeom prst="rect">
                <a:avLst/>
              </a:prstGeom>
              <a:blipFill rotWithShape="1">
                <a:blip r:embed="rId14"/>
                <a:stretch>
                  <a:fillRect l="-21" t="-115" r="61" b="1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Object 22"/>
              <p:cNvSpPr txBox="1"/>
              <p:nvPr/>
            </p:nvSpPr>
            <p:spPr bwMode="auto">
              <a:xfrm>
                <a:off x="7045487" y="5427662"/>
                <a:ext cx="720725" cy="4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5487" y="5427662"/>
                <a:ext cx="720725" cy="428625"/>
              </a:xfrm>
              <a:prstGeom prst="rect">
                <a:avLst/>
              </a:prstGeom>
              <a:blipFill rotWithShape="1">
                <a:blip r:embed="rId15"/>
                <a:stretch>
                  <a:fillRect l="-22" t="-74" r="-242" b="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bject 23"/>
              <p:cNvSpPr txBox="1"/>
              <p:nvPr/>
            </p:nvSpPr>
            <p:spPr bwMode="auto">
              <a:xfrm>
                <a:off x="7879749" y="5433060"/>
                <a:ext cx="665162" cy="387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79749" y="5433060"/>
                <a:ext cx="665162" cy="387350"/>
              </a:xfrm>
              <a:prstGeom prst="rect">
                <a:avLst/>
              </a:prstGeom>
              <a:blipFill rotWithShape="1">
                <a:blip r:embed="rId16"/>
                <a:stretch>
                  <a:fillRect l="-5" r="53" b="-62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墨迹 1"/>
          <p:cNvSpPr/>
          <p:nvPr/>
        </p:nvSpPr>
        <p:spPr bwMode="auto">
          <a:xfrm>
            <a:off x="1147320" y="0"/>
            <a:ext cx="7537680" cy="45457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7"/>
    </p:custDataLst>
  </p:cSld>
  <p:clrMapOvr>
    <a:masterClrMapping/>
  </p:clrMapOvr>
  <p:transition spd="med" advTm="15060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67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7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7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7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7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7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7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7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7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7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71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71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71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7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7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67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67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67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7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71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71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9" grpId="0" autoUpdateAnimBg="0"/>
      <p:bldP spid="671750" grpId="0" autoUpdateAnimBg="0"/>
      <p:bldP spid="671751" grpId="0" autoUpdateAnimBg="0"/>
      <p:bldP spid="671752" grpId="0" autoUpdateAnimBg="0"/>
      <p:bldP spid="671753" grpId="0" autoUpdateAnimBg="0"/>
      <p:bldP spid="671754" grpId="0" autoUpdateAnimBg="0"/>
      <p:bldP spid="671755" grpId="0" autoUpdateAnimBg="0"/>
      <p:bldP spid="671756" grpId="0" autoUpdateAnimBg="0"/>
      <p:bldP spid="671757" grpId="0" autoUpdateAnimBg="0"/>
      <p:bldP spid="671758" grpId="0" autoUpdateAnimBg="0" build="p"/>
      <p:bldP spid="671768" grpId="0" bldLvl="0" animBg="1"/>
      <p:bldP spid="31" grpId="0"/>
      <p:bldP spid="32" grpId="0"/>
      <p:bldP spid="33" grpId="0"/>
      <p:bldP spid="34" grpId="0"/>
      <p:bldP spid="35" grpId="0"/>
      <p:bldP spid="36" grpId="0"/>
      <p:bldP spid="37" grpId="0" bldLvl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5778" name="Object 2"/>
          <p:cNvGraphicFramePr>
            <a:graphicFrameLocks noChangeAspect="1"/>
          </p:cNvGraphicFramePr>
          <p:nvPr/>
        </p:nvGraphicFramePr>
        <p:xfrm>
          <a:off x="2385378" y="676593"/>
          <a:ext cx="2286000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8" name="BMP 图象" r:id="rId1" imgW="2047875" imgH="1885950" progId="PBrush">
                  <p:embed/>
                </p:oleObj>
              </mc:Choice>
              <mc:Fallback>
                <p:oleObj name="BMP 图象" r:id="rId1" imgW="2047875" imgH="188595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5378" y="676593"/>
                        <a:ext cx="2286000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779" name="Object 3"/>
          <p:cNvGraphicFramePr>
            <a:graphicFrameLocks noChangeAspect="1"/>
          </p:cNvGraphicFramePr>
          <p:nvPr/>
        </p:nvGraphicFramePr>
        <p:xfrm>
          <a:off x="0" y="601028"/>
          <a:ext cx="25908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9" name="BMP 图象" r:id="rId3" imgW="2066925" imgH="1971675" progId="PBrush">
                  <p:embed/>
                </p:oleObj>
              </mc:Choice>
              <mc:Fallback>
                <p:oleObj name="BMP 图象" r:id="rId3" imgW="2066925" imgH="1971675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1028"/>
                        <a:ext cx="25908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15797" name="Object 4"/>
              <p:cNvSpPr txBox="1"/>
              <p:nvPr/>
            </p:nvSpPr>
            <p:spPr bwMode="auto">
              <a:xfrm>
                <a:off x="530860" y="5136515"/>
                <a:ext cx="9340215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lim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   </m:t>
                              </m:r>
                              <m:nary>
                                <m:naryPr>
                                  <m:chr m:val="↑"/>
                                  <m:supHide m:val="on"/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/>
                                <m:e/>
                              </m:nary>
                            </m:lim>
                          </m:limLow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       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                                                                                       </m:t>
                          </m:r>
                        </m:e>
                      </m:d>
                    </m:oMath>
                  </m:oMathPara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1579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860" y="5136515"/>
                <a:ext cx="9340215" cy="12192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45" name="Text Box 22"/>
          <p:cNvSpPr txBox="1">
            <a:spLocks noChangeArrowheads="1"/>
          </p:cNvSpPr>
          <p:nvPr/>
        </p:nvSpPr>
        <p:spPr bwMode="auto">
          <a:xfrm>
            <a:off x="278130" y="133668"/>
            <a:ext cx="33115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9900FF"/>
                </a:solidFill>
                <a:latin typeface="Tahoma" panose="020B0604030504040204" pitchFamily="34" charset="0"/>
              </a:rPr>
              <a:t>例</a:t>
            </a:r>
            <a:r>
              <a:rPr kumimoji="1" lang="en-US" altLang="zh-CN" sz="2400">
                <a:solidFill>
                  <a:srgbClr val="9900FF"/>
                </a:solidFill>
                <a:latin typeface="Tahoma" panose="020B0604030504040204" pitchFamily="34" charset="0"/>
              </a:rPr>
              <a:t>4</a:t>
            </a:r>
            <a:r>
              <a:rPr kumimoji="1" lang="zh-CN" altLang="en-US" sz="2400">
                <a:solidFill>
                  <a:srgbClr val="9900FF"/>
                </a:solidFill>
                <a:latin typeface="Tahoma" panose="020B0604030504040204" pitchFamily="34" charset="0"/>
              </a:rPr>
              <a:t>：</a:t>
            </a:r>
            <a:r>
              <a:rPr kumimoji="1" lang="zh-CN" altLang="en-US" sz="2400">
                <a:latin typeface="Tahoma" panose="020B0604030504040204" pitchFamily="34" charset="0"/>
              </a:rPr>
              <a:t>用多项式求：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646" name="Object 5"/>
              <p:cNvSpPr txBox="1"/>
              <p:nvPr/>
            </p:nvSpPr>
            <p:spPr bwMode="auto">
              <a:xfrm>
                <a:off x="3041015" y="151130"/>
                <a:ext cx="2303780" cy="439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264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1015" y="151130"/>
                <a:ext cx="2303780" cy="4394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5800" name="Text Box 24"/>
          <p:cNvSpPr txBox="1">
            <a:spLocks noChangeArrowheads="1"/>
          </p:cNvSpPr>
          <p:nvPr/>
        </p:nvSpPr>
        <p:spPr bwMode="auto">
          <a:xfrm>
            <a:off x="790575" y="6030913"/>
            <a:ext cx="7416800" cy="32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9900FF"/>
                </a:solidFill>
                <a:latin typeface="Tahoma" panose="020B0604030504040204" pitchFamily="34" charset="0"/>
              </a:rPr>
              <a:t>y(k)</a:t>
            </a:r>
            <a:r>
              <a:rPr kumimoji="1" lang="zh-CN" altLang="en-US" sz="1800" dirty="0">
                <a:solidFill>
                  <a:srgbClr val="9900FF"/>
                </a:solidFill>
                <a:latin typeface="Tahoma" panose="020B0604030504040204" pitchFamily="34" charset="0"/>
              </a:rPr>
              <a:t>序号的上下限为两个序列的上下限之和。</a:t>
            </a:r>
            <a:endParaRPr kumimoji="1" lang="zh-CN" altLang="en-US" sz="1800" dirty="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sp>
        <p:nvSpPr>
          <p:cNvPr id="112648" name="Object 6"/>
          <p:cNvSpPr txBox="1"/>
          <p:nvPr/>
        </p:nvSpPr>
        <p:spPr bwMode="auto">
          <a:xfrm>
            <a:off x="6664325" y="1281113"/>
            <a:ext cx="261938" cy="4508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 fontScale="92500" lnSpcReduction="10000"/>
          </a:bodyPr>
          <a:lstStyle/>
          <a:p>
            <a:endParaRPr lang="zh-CN" altLang="en-US"/>
          </a:p>
        </p:txBody>
      </p:sp>
      <p:grpSp>
        <p:nvGrpSpPr>
          <p:cNvPr id="2" name="Group 35"/>
          <p:cNvGrpSpPr/>
          <p:nvPr/>
        </p:nvGrpSpPr>
        <p:grpSpPr bwMode="auto">
          <a:xfrm>
            <a:off x="4993005" y="2047240"/>
            <a:ext cx="4703763" cy="1001713"/>
            <a:chOff x="3055" y="474"/>
            <a:chExt cx="2963" cy="631"/>
          </a:xfrm>
        </p:grpSpPr>
        <p:sp>
          <p:nvSpPr>
            <p:cNvPr id="112658" name="Text Box 26"/>
            <p:cNvSpPr txBox="1">
              <a:spLocks noChangeArrowheads="1"/>
            </p:cNvSpPr>
            <p:nvPr/>
          </p:nvSpPr>
          <p:spPr bwMode="auto">
            <a:xfrm>
              <a:off x="3157" y="474"/>
              <a:ext cx="280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000">
                  <a:solidFill>
                    <a:srgbClr val="9900FF"/>
                  </a:solidFill>
                  <a:latin typeface="Tahoma" panose="020B0604030504040204" pitchFamily="34" charset="0"/>
                </a:rPr>
                <a:t>0.4    0.3    0.2    0.1    0</a:t>
              </a:r>
              <a:endPara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2659" name="Text Box 27"/>
            <p:cNvSpPr txBox="1">
              <a:spLocks noChangeArrowheads="1"/>
            </p:cNvSpPr>
            <p:nvPr/>
          </p:nvSpPr>
          <p:spPr bwMode="auto">
            <a:xfrm>
              <a:off x="3157" y="778"/>
              <a:ext cx="2861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000" dirty="0">
                  <a:solidFill>
                    <a:srgbClr val="009999"/>
                  </a:solidFill>
                  <a:latin typeface="Tahoma" panose="020B0604030504040204" pitchFamily="34" charset="0"/>
                </a:rPr>
                <a:t>0.3</a:t>
              </a:r>
              <a:r>
                <a:rPr kumimoji="1" lang="en-US" altLang="zh-CN" sz="2000" dirty="0">
                  <a:solidFill>
                    <a:srgbClr val="9900FF"/>
                  </a:solidFill>
                  <a:latin typeface="Tahoma" panose="020B0604030504040204" pitchFamily="34" charset="0"/>
                </a:rPr>
                <a:t>    </a:t>
              </a:r>
              <a:r>
                <a:rPr kumimoji="1" lang="en-US" altLang="zh-CN" sz="2000" dirty="0">
                  <a:solidFill>
                    <a:srgbClr val="A50021"/>
                  </a:solidFill>
                  <a:latin typeface="Tahoma" panose="020B0604030504040204" pitchFamily="34" charset="0"/>
                </a:rPr>
                <a:t>0.2</a:t>
              </a:r>
              <a:r>
                <a:rPr kumimoji="1" lang="en-US" altLang="zh-CN" sz="2000" dirty="0">
                  <a:solidFill>
                    <a:srgbClr val="9900FF"/>
                  </a:solidFill>
                  <a:latin typeface="Tahoma" panose="020B0604030504040204" pitchFamily="34" charset="0"/>
                </a:rPr>
                <a:t>    </a:t>
              </a:r>
              <a:r>
                <a:rPr kumimoji="1" lang="en-US" altLang="zh-CN" sz="2000" dirty="0">
                  <a:solidFill>
                    <a:srgbClr val="33CC33"/>
                  </a:solidFill>
                  <a:latin typeface="Tahoma" panose="020B0604030504040204" pitchFamily="34" charset="0"/>
                </a:rPr>
                <a:t>0.2 </a:t>
              </a:r>
              <a:r>
                <a:rPr kumimoji="1" lang="en-US" altLang="zh-CN" sz="2000" dirty="0">
                  <a:solidFill>
                    <a:srgbClr val="9900FF"/>
                  </a:solidFill>
                  <a:latin typeface="Tahoma" panose="020B0604030504040204" pitchFamily="34" charset="0"/>
                </a:rPr>
                <a:t>   </a:t>
              </a:r>
              <a:r>
                <a:rPr kumimoji="1"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0.2</a:t>
              </a:r>
              <a:r>
                <a:rPr kumimoji="1" lang="en-US" altLang="zh-CN" sz="2000" dirty="0">
                  <a:solidFill>
                    <a:srgbClr val="9900FF"/>
                  </a:solidFill>
                  <a:latin typeface="Tahoma" panose="020B0604030504040204" pitchFamily="34" charset="0"/>
                </a:rPr>
                <a:t>    0.1</a:t>
              </a:r>
              <a:endParaRPr kumimoji="1" lang="en-US" altLang="zh-CN" sz="2000" dirty="0">
                <a:solidFill>
                  <a:srgbClr val="99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2660" name="Line 28"/>
            <p:cNvSpPr>
              <a:spLocks noChangeShapeType="1"/>
            </p:cNvSpPr>
            <p:nvPr/>
          </p:nvSpPr>
          <p:spPr bwMode="auto">
            <a:xfrm>
              <a:off x="3055" y="1105"/>
              <a:ext cx="26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15805" name="Text Box 29"/>
          <p:cNvSpPr txBox="1">
            <a:spLocks noChangeArrowheads="1"/>
          </p:cNvSpPr>
          <p:nvPr/>
        </p:nvSpPr>
        <p:spPr bwMode="auto">
          <a:xfrm>
            <a:off x="5026343" y="3110865"/>
            <a:ext cx="4471987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en-US" altLang="zh-CN" sz="2000">
                <a:solidFill>
                  <a:srgbClr val="9900FF"/>
                </a:solidFill>
                <a:latin typeface="Tahoma" panose="020B0604030504040204" pitchFamily="34" charset="0"/>
              </a:rPr>
              <a:t>0.04   0.03   0.02   0.01   0.00</a:t>
            </a:r>
            <a:endParaRPr kumimoji="1" lang="en-US" altLang="zh-CN" sz="2000">
              <a:solidFill>
                <a:srgbClr val="9900FF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Group 36"/>
          <p:cNvGrpSpPr/>
          <p:nvPr/>
        </p:nvGrpSpPr>
        <p:grpSpPr bwMode="auto">
          <a:xfrm>
            <a:off x="1652905" y="3517265"/>
            <a:ext cx="7459662" cy="1677987"/>
            <a:chOff x="1040" y="1427"/>
            <a:chExt cx="4699" cy="1057"/>
          </a:xfrm>
        </p:grpSpPr>
        <p:sp>
          <p:nvSpPr>
            <p:cNvPr id="112653" name="Text Box 30"/>
            <p:cNvSpPr txBox="1">
              <a:spLocks noChangeArrowheads="1"/>
            </p:cNvSpPr>
            <p:nvPr/>
          </p:nvSpPr>
          <p:spPr bwMode="auto">
            <a:xfrm>
              <a:off x="2591" y="1427"/>
              <a:ext cx="281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 0.08    0.06   0.04   0.02   0.00</a:t>
              </a:r>
              <a:endParaRPr kumimoji="1" lang="en-US" altLang="zh-CN" sz="2000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2654" name="Text Box 31"/>
            <p:cNvSpPr txBox="1">
              <a:spLocks noChangeArrowheads="1"/>
            </p:cNvSpPr>
            <p:nvPr/>
          </p:nvSpPr>
          <p:spPr bwMode="auto">
            <a:xfrm>
              <a:off x="1952" y="1724"/>
              <a:ext cx="278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000" dirty="0">
                  <a:solidFill>
                    <a:srgbClr val="33CC33"/>
                  </a:solidFill>
                  <a:latin typeface="Tahoma" panose="020B0604030504040204" pitchFamily="34" charset="0"/>
                </a:rPr>
                <a:t>  0.08     0.06    0.04   0.02   0.00</a:t>
              </a:r>
              <a:endParaRPr kumimoji="1" lang="en-US" altLang="zh-CN" sz="2000" dirty="0">
                <a:solidFill>
                  <a:srgbClr val="33CC33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2655" name="Text Box 32"/>
            <p:cNvSpPr txBox="1">
              <a:spLocks noChangeArrowheads="1"/>
            </p:cNvSpPr>
            <p:nvPr/>
          </p:nvSpPr>
          <p:spPr bwMode="auto">
            <a:xfrm>
              <a:off x="1583" y="1950"/>
              <a:ext cx="275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000" dirty="0">
                  <a:solidFill>
                    <a:srgbClr val="A50021"/>
                  </a:solidFill>
                  <a:latin typeface="Tahoma" panose="020B0604030504040204" pitchFamily="34" charset="0"/>
                </a:rPr>
                <a:t>0.08   0.06    0.04    0.02   0.00</a:t>
              </a:r>
              <a:endParaRPr kumimoji="1" lang="en-US" altLang="zh-CN" sz="2000" dirty="0">
                <a:solidFill>
                  <a:srgbClr val="A5002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2656" name="Text Box 33"/>
            <p:cNvSpPr txBox="1">
              <a:spLocks noChangeArrowheads="1"/>
            </p:cNvSpPr>
            <p:nvPr/>
          </p:nvSpPr>
          <p:spPr bwMode="auto">
            <a:xfrm>
              <a:off x="1040" y="2225"/>
              <a:ext cx="359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000" dirty="0">
                  <a:solidFill>
                    <a:srgbClr val="009999"/>
                  </a:solidFill>
                  <a:latin typeface="Tahoma" panose="020B0604030504040204" pitchFamily="34" charset="0"/>
                </a:rPr>
                <a:t>0.12    0.09   0.06    0.03    0.00</a:t>
              </a:r>
              <a:endParaRPr kumimoji="1" lang="en-US" altLang="zh-CN" sz="2000" dirty="0">
                <a:solidFill>
                  <a:srgbClr val="009999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12657" name="Line 34"/>
            <p:cNvSpPr>
              <a:spLocks noChangeShapeType="1"/>
            </p:cNvSpPr>
            <p:nvPr/>
          </p:nvSpPr>
          <p:spPr bwMode="auto">
            <a:xfrm>
              <a:off x="1092" y="2457"/>
              <a:ext cx="4647" cy="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0" name="日期占位符 1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EBEAD1A-ADBE-4EC7-BCB3-6A190ED88D9A}" type="datetime1">
              <a:rPr lang="zh-CN" altLang="en-US"/>
            </a:fld>
            <a:endParaRPr lang="en-US" altLang="zh-CN"/>
          </a:p>
        </p:txBody>
      </p:sp>
      <p:grpSp>
        <p:nvGrpSpPr>
          <p:cNvPr id="24" name="组合 23"/>
          <p:cNvGrpSpPr/>
          <p:nvPr/>
        </p:nvGrpSpPr>
        <p:grpSpPr>
          <a:xfrm>
            <a:off x="2550160" y="4348480"/>
            <a:ext cx="673100" cy="1338580"/>
            <a:chOff x="4016" y="6848"/>
            <a:chExt cx="1060" cy="2108"/>
          </a:xfrm>
        </p:grpSpPr>
        <p:sp>
          <p:nvSpPr>
            <p:cNvPr id="5" name="矩形 4"/>
            <p:cNvSpPr/>
            <p:nvPr/>
          </p:nvSpPr>
          <p:spPr>
            <a:xfrm>
              <a:off x="4081" y="6848"/>
              <a:ext cx="995" cy="2092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b" anchorCtr="0" compatLnSpc="1">
              <a:noAutofit/>
            </a:bodyPr>
            <a:p>
              <a:pPr marL="367030" marR="0" indent="-187325" algn="ctr" defTabSz="914400" rtl="0" eaLnBrk="1" fontAlgn="b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en-US" altLang="zh-CN" sz="2800" b="1" i="0" u="none" strike="noStrike" cap="none" normalizeH="0" baseline="0" smtClean="0">
                <a:ln>
                  <a:solidFill>
                    <a:schemeClr val="accent2"/>
                  </a:solidFill>
                </a:ln>
                <a:noFill/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4016" y="8328"/>
                  <a:ext cx="801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0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6" y="8328"/>
                  <a:ext cx="801" cy="628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/>
          <p:cNvGrpSpPr/>
          <p:nvPr/>
        </p:nvGrpSpPr>
        <p:grpSpPr>
          <a:xfrm>
            <a:off x="3275330" y="3988435"/>
            <a:ext cx="737870" cy="1688465"/>
            <a:chOff x="5158" y="6281"/>
            <a:chExt cx="1162" cy="2659"/>
          </a:xfrm>
        </p:grpSpPr>
        <p:sp>
          <p:nvSpPr>
            <p:cNvPr id="8" name="矩形 7"/>
            <p:cNvSpPr/>
            <p:nvPr/>
          </p:nvSpPr>
          <p:spPr>
            <a:xfrm>
              <a:off x="5251" y="6281"/>
              <a:ext cx="1069" cy="2659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b" anchorCtr="0" compatLnSpc="1">
              <a:noAutofit/>
            </a:bodyPr>
            <a:p>
              <a:pPr marL="367030" marR="0" indent="-187325" algn="ctr" defTabSz="914400" rtl="0" eaLnBrk="1" fontAlgn="b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en-US" altLang="zh-CN" sz="2800" b="1" i="0" u="none" strike="noStrike" cap="none" normalizeH="0" baseline="0" smtClean="0">
                <a:ln>
                  <a:solidFill>
                    <a:schemeClr val="accent2"/>
                  </a:solidFill>
                </a:ln>
                <a:noFill/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5158" y="8279"/>
                  <a:ext cx="991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18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8" y="8279"/>
                  <a:ext cx="991" cy="628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/>
          <p:cNvGrpSpPr/>
          <p:nvPr/>
        </p:nvGrpSpPr>
        <p:grpSpPr>
          <a:xfrm>
            <a:off x="4185920" y="3517900"/>
            <a:ext cx="696595" cy="2185035"/>
            <a:chOff x="6592" y="5540"/>
            <a:chExt cx="1097" cy="3441"/>
          </a:xfrm>
        </p:grpSpPr>
        <p:sp>
          <p:nvSpPr>
            <p:cNvPr id="9" name="矩形 8"/>
            <p:cNvSpPr/>
            <p:nvPr/>
          </p:nvSpPr>
          <p:spPr>
            <a:xfrm>
              <a:off x="6592" y="5540"/>
              <a:ext cx="1097" cy="3441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b" anchorCtr="0" compatLnSpc="1">
              <a:noAutofit/>
            </a:bodyPr>
            <a:p>
              <a:pPr marL="367030" marR="0" indent="-187325" algn="ctr" defTabSz="914400" rtl="0" eaLnBrk="1" fontAlgn="b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en-US" altLang="zh-CN" sz="2800" b="1" i="0" u="none" strike="noStrike" cap="none" normalizeH="0" baseline="0" smtClean="0">
                <a:ln>
                  <a:solidFill>
                    <a:schemeClr val="accent2"/>
                  </a:solidFill>
                </a:ln>
                <a:noFill/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6618" y="8278"/>
                  <a:ext cx="1069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0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8" y="8278"/>
                  <a:ext cx="1069" cy="628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/>
          <p:cNvGrpSpPr/>
          <p:nvPr/>
        </p:nvGrpSpPr>
        <p:grpSpPr>
          <a:xfrm>
            <a:off x="5026025" y="3100070"/>
            <a:ext cx="712470" cy="2607310"/>
            <a:chOff x="7915" y="4882"/>
            <a:chExt cx="1122" cy="4106"/>
          </a:xfrm>
        </p:grpSpPr>
        <p:sp>
          <p:nvSpPr>
            <p:cNvPr id="10" name="矩形 9"/>
            <p:cNvSpPr/>
            <p:nvPr/>
          </p:nvSpPr>
          <p:spPr>
            <a:xfrm>
              <a:off x="7961" y="4882"/>
              <a:ext cx="1077" cy="4057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b" anchorCtr="0" compatLnSpc="1">
              <a:noAutofit/>
            </a:bodyPr>
            <a:p>
              <a:pPr marL="367030" marR="0" indent="-187325" algn="ctr" defTabSz="914400" rtl="0" eaLnBrk="1" fontAlgn="b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en-US" altLang="zh-CN" sz="2800" b="1" i="0" u="none" strike="noStrike" cap="none" normalizeH="0" baseline="0" smtClean="0">
                <a:ln>
                  <a:solidFill>
                    <a:schemeClr val="accent2"/>
                  </a:solidFill>
                </a:ln>
                <a:noFill/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7915" y="8360"/>
                  <a:ext cx="1069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0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5" y="8360"/>
                  <a:ext cx="1069" cy="628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5843270" y="3100070"/>
            <a:ext cx="683260" cy="2600960"/>
            <a:chOff x="9202" y="4882"/>
            <a:chExt cx="1076" cy="4096"/>
          </a:xfrm>
        </p:grpSpPr>
        <p:sp>
          <p:nvSpPr>
            <p:cNvPr id="11" name="矩形 10"/>
            <p:cNvSpPr/>
            <p:nvPr/>
          </p:nvSpPr>
          <p:spPr>
            <a:xfrm>
              <a:off x="9202" y="4882"/>
              <a:ext cx="1077" cy="4057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b" anchorCtr="0" compatLnSpc="1">
              <a:noAutofit/>
            </a:bodyPr>
            <a:p>
              <a:pPr marL="367030" marR="0" indent="-187325" algn="ctr" defTabSz="914400" rtl="0" eaLnBrk="1" fontAlgn="b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en-US" altLang="zh-CN" sz="2800" b="1" i="0" u="none" strike="noStrike" cap="none" normalizeH="0" baseline="0" smtClean="0">
                <a:ln>
                  <a:solidFill>
                    <a:schemeClr val="accent2"/>
                  </a:solidFill>
                </a:ln>
                <a:noFill/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9210" y="8350"/>
                  <a:ext cx="1069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𝟎𝟗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0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0" y="8350"/>
                  <a:ext cx="1069" cy="628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/>
          <p:cNvGrpSpPr/>
          <p:nvPr/>
        </p:nvGrpSpPr>
        <p:grpSpPr>
          <a:xfrm>
            <a:off x="6616700" y="3110865"/>
            <a:ext cx="697865" cy="2584450"/>
            <a:chOff x="10420" y="4899"/>
            <a:chExt cx="1099" cy="4070"/>
          </a:xfrm>
        </p:grpSpPr>
        <p:sp>
          <p:nvSpPr>
            <p:cNvPr id="12" name="矩形 11"/>
            <p:cNvSpPr/>
            <p:nvPr/>
          </p:nvSpPr>
          <p:spPr>
            <a:xfrm>
              <a:off x="10443" y="4899"/>
              <a:ext cx="1077" cy="4057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b" anchorCtr="0" compatLnSpc="1">
              <a:noAutofit/>
            </a:bodyPr>
            <a:p>
              <a:pPr marL="367030" marR="0" indent="-187325" algn="ctr" defTabSz="914400" rtl="0" eaLnBrk="1" fontAlgn="b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en-US" altLang="zh-CN" sz="2800" b="1" i="0" u="none" strike="noStrike" cap="none" normalizeH="0" baseline="0" smtClean="0">
                <a:ln>
                  <a:solidFill>
                    <a:schemeClr val="accent2"/>
                  </a:solidFill>
                </a:ln>
                <a:noFill/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10420" y="8341"/>
                  <a:ext cx="1069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0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0" y="8341"/>
                  <a:ext cx="1069" cy="628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/>
          <p:cNvGrpSpPr/>
          <p:nvPr/>
        </p:nvGrpSpPr>
        <p:grpSpPr>
          <a:xfrm>
            <a:off x="7419340" y="3110865"/>
            <a:ext cx="723900" cy="2575560"/>
            <a:chOff x="11684" y="4899"/>
            <a:chExt cx="1140" cy="4056"/>
          </a:xfrm>
        </p:grpSpPr>
        <p:sp>
          <p:nvSpPr>
            <p:cNvPr id="13" name="矩形 12"/>
            <p:cNvSpPr/>
            <p:nvPr/>
          </p:nvSpPr>
          <p:spPr>
            <a:xfrm>
              <a:off x="11684" y="4899"/>
              <a:ext cx="1077" cy="4057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b" anchorCtr="0" compatLnSpc="1">
              <a:noAutofit/>
            </a:bodyPr>
            <a:p>
              <a:pPr marL="367030" marR="0" indent="-187325" algn="ctr" defTabSz="914400" rtl="0" eaLnBrk="1" fontAlgn="b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en-US" altLang="zh-CN" sz="2800" b="1" i="0" u="none" strike="noStrike" cap="none" normalizeH="0" baseline="0" smtClean="0">
                <a:ln>
                  <a:solidFill>
                    <a:schemeClr val="accent2"/>
                  </a:solidFill>
                </a:ln>
                <a:noFill/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11756" y="8327"/>
                  <a:ext cx="1069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0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56" y="8327"/>
                  <a:ext cx="1069" cy="628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/>
          <p:cNvGrpSpPr/>
          <p:nvPr/>
        </p:nvGrpSpPr>
        <p:grpSpPr>
          <a:xfrm>
            <a:off x="8207375" y="3100070"/>
            <a:ext cx="712470" cy="2586355"/>
            <a:chOff x="12925" y="4882"/>
            <a:chExt cx="1122" cy="4073"/>
          </a:xfrm>
        </p:grpSpPr>
        <p:sp>
          <p:nvSpPr>
            <p:cNvPr id="14" name="矩形 13"/>
            <p:cNvSpPr/>
            <p:nvPr/>
          </p:nvSpPr>
          <p:spPr>
            <a:xfrm>
              <a:off x="12925" y="4882"/>
              <a:ext cx="1077" cy="4057"/>
            </a:xfrm>
            <a:prstGeom prst="rect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91440" tIns="45720" rIns="91440" bIns="45720" numCol="1" anchor="b" anchorCtr="0" compatLnSpc="1">
              <a:noAutofit/>
            </a:bodyPr>
            <a:p>
              <a:pPr marL="367030" marR="0" indent="-187325" algn="ctr" defTabSz="914400" rtl="0" eaLnBrk="1" fontAlgn="b" latinLnBrk="0" hangingPunct="1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</a:pPr>
              <a:endParaRPr kumimoji="0" lang="en-US" altLang="zh-CN" sz="2800" b="1" i="0" u="none" strike="noStrike" cap="none" normalizeH="0" baseline="0" smtClean="0">
                <a:ln>
                  <a:solidFill>
                    <a:schemeClr val="accent2"/>
                  </a:solidFill>
                </a:ln>
                <a:noFill/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12979" y="8327"/>
                  <a:ext cx="1069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altLang="zh-CN" sz="2000" i="1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9" y="8327"/>
                  <a:ext cx="1069" cy="628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5"/>
    </p:custDataLst>
  </p:cSld>
  <p:clrMapOvr>
    <a:masterClrMapping/>
  </p:clrMapOvr>
  <p:transition spd="med" advTm="9739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1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5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5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5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5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1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15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15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805" grpId="0"/>
      <p:bldP spid="715797" grpId="0" bldLvl="0" animBg="1"/>
      <p:bldP spid="715797" grpId="1" animBg="1"/>
      <p:bldP spid="715800" grpId="0"/>
      <p:bldP spid="715800" grpId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2475" y="782226"/>
            <a:ext cx="8724900" cy="5558166"/>
          </a:xfrm>
          <a:solidFill>
            <a:schemeClr val="bg1"/>
          </a:solidFill>
          <a:ln w="57150">
            <a:solidFill>
              <a:srgbClr val="9900FF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marL="0" indent="0">
              <a:lnSpc>
                <a:spcPct val="145000"/>
              </a:lnSpc>
              <a:buFontTx/>
              <a:buNone/>
            </a:pPr>
            <a:r>
              <a:rPr lang="en-US" altLang="zh-CN" sz="28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sz="28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、卷积和的性质：</a:t>
            </a:r>
            <a:endParaRPr lang="zh-CN" altLang="en-US" sz="2800" b="1" kern="1200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lnSpc>
                <a:spcPct val="145000"/>
              </a:lnSpc>
              <a:buFontTx/>
              <a:buNone/>
            </a:pPr>
            <a:r>
              <a:rPr lang="zh-CN" altLang="en-US" sz="2800" b="1" dirty="0"/>
              <a:t>①变换律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 marL="0" indent="0">
              <a:lnSpc>
                <a:spcPct val="145000"/>
              </a:lnSpc>
              <a:buFontTx/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(k)*f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(k)= 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(k)*f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(k)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>
              <a:lnSpc>
                <a:spcPct val="145000"/>
              </a:lnSpc>
              <a:buFontTx/>
              <a:buNone/>
            </a:pPr>
            <a:r>
              <a:rPr lang="en-US" altLang="zh-CN" sz="2800" b="1" dirty="0"/>
              <a:t>②</a:t>
            </a:r>
            <a:r>
              <a:rPr lang="zh-CN" altLang="en-US" sz="2800" b="1" dirty="0"/>
              <a:t>分配律： </a:t>
            </a:r>
            <a:endParaRPr lang="en-US" altLang="zh-CN" sz="2800" b="1" dirty="0"/>
          </a:p>
          <a:p>
            <a:pPr marL="0" indent="0">
              <a:lnSpc>
                <a:spcPct val="145000"/>
              </a:lnSpc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      </a:t>
            </a:r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(k)*[f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(k)</a:t>
            </a:r>
            <a:r>
              <a:rPr lang="zh-CN" altLang="en-US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+f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</a:rPr>
              <a:t>(k)]=f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(k)*f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(k)+f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(k)*f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</a:rPr>
              <a:t>(k)</a:t>
            </a:r>
            <a:endParaRPr lang="en-US" altLang="zh-CN" sz="2400" b="1" baseline="-25000" dirty="0">
              <a:solidFill>
                <a:srgbClr val="0000FF"/>
              </a:solidFill>
            </a:endParaRPr>
          </a:p>
          <a:p>
            <a:pPr marL="0" indent="0">
              <a:lnSpc>
                <a:spcPct val="145000"/>
              </a:lnSpc>
              <a:buFontTx/>
              <a:buNone/>
            </a:pPr>
            <a:r>
              <a:rPr lang="en-US" altLang="zh-CN" sz="2800" b="1" dirty="0"/>
              <a:t>③</a:t>
            </a:r>
            <a:r>
              <a:rPr lang="zh-CN" altLang="en-US" sz="2800" b="1" dirty="0"/>
              <a:t>结合律：</a:t>
            </a:r>
            <a:endParaRPr lang="en-US" altLang="zh-CN" sz="2800" b="1" dirty="0"/>
          </a:p>
          <a:p>
            <a:pPr marL="0" indent="0">
              <a:lnSpc>
                <a:spcPct val="145000"/>
              </a:lnSpc>
              <a:buFontTx/>
              <a:buNone/>
            </a:pPr>
            <a:r>
              <a:rPr lang="zh-CN" altLang="en-US" sz="2800" b="1" dirty="0"/>
              <a:t>       </a:t>
            </a:r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(k)*f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(k)*f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</a:rPr>
              <a:t>(k)=[f(k)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*f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(k)]</a:t>
            </a:r>
            <a:r>
              <a:rPr lang="zh-CN" altLang="en-US" sz="2400" b="1" dirty="0">
                <a:solidFill>
                  <a:srgbClr val="0000FF"/>
                </a:solidFill>
              </a:rPr>
              <a:t>*</a:t>
            </a:r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</a:rPr>
              <a:t>(k)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>
              <a:lnSpc>
                <a:spcPct val="145000"/>
              </a:lnSpc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                                  = 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(k)*[f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</a:rPr>
              <a:t>(k)*f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</a:rPr>
              <a:t>(k)]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indent="0">
              <a:lnSpc>
                <a:spcPct val="145000"/>
              </a:lnSpc>
              <a:buFontTx/>
              <a:buNone/>
            </a:pPr>
            <a:endParaRPr lang="en-US" altLang="zh-CN" sz="2800" b="1" dirty="0"/>
          </a:p>
        </p:txBody>
      </p:sp>
      <p:sp>
        <p:nvSpPr>
          <p:cNvPr id="672774" name="Rectangle 6"/>
          <p:cNvSpPr>
            <a:spLocks noChangeArrowheads="1"/>
          </p:cNvSpPr>
          <p:nvPr/>
        </p:nvSpPr>
        <p:spPr bwMode="auto">
          <a:xfrm>
            <a:off x="442475" y="66346"/>
            <a:ext cx="66960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23B694D-A19B-4C93-BF13-1BE607081961}" type="datetime1">
              <a:rPr lang="zh-CN" altLang="en-US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141"/>
    </mc:Choice>
    <mc:Fallback>
      <p:transition spd="slow" advTm="61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277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277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7277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7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7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7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7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7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7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7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7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7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7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7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7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7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7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7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7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7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7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7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7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7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7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0" grpId="0" animBg="1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58" y="1520996"/>
            <a:ext cx="8024650" cy="4538217"/>
          </a:xfrm>
          <a:prstGeom prst="rect">
            <a:avLst/>
          </a:prstGeom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10944" y="71163"/>
            <a:ext cx="8459787" cy="6477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 advTm="95984">
    <p:random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6611" y="1090613"/>
            <a:ext cx="6757987" cy="60960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32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7</a:t>
            </a:r>
            <a:r>
              <a:rPr lang="zh-CN" altLang="en-US" sz="32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、单位函数响应</a:t>
            </a:r>
            <a:r>
              <a:rPr lang="en-US" altLang="zh-CN" sz="32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h(k)</a:t>
            </a:r>
            <a:r>
              <a:rPr lang="zh-CN" altLang="en-US" sz="32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的求法</a:t>
            </a:r>
            <a:endParaRPr lang="zh-CN" altLang="en-US" sz="3200" b="1" kern="1200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0" indent="0">
              <a:lnSpc>
                <a:spcPct val="80000"/>
              </a:lnSpc>
              <a:buFontTx/>
              <a:buNone/>
            </a:pPr>
            <a:endParaRPr lang="en-US" altLang="zh-CN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3796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012825" y="1700530"/>
                <a:ext cx="7035165" cy="1499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 sz="4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设</m:t>
                    </m:r>
                    <m:r>
                      <a:rPr lang="zh-CN" altLang="en-US" sz="4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特征根</m:t>
                    </m:r>
                  </m:oMath>
                </a14:m>
                <a:r>
                  <a:rPr lang="zh-CN" altLang="en-US" sz="42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全</a:t>
                </a:r>
                <a:r>
                  <a:rPr lang="zh-CN" altLang="en-US" sz="4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为单根</a:t>
                </a:r>
                <a:endParaRPr lang="en-US" altLang="zh-CN" sz="42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4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zh-CN" altLang="en-US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sz="4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379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012825" y="1700530"/>
                <a:ext cx="7035165" cy="14998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3800" name="Object 3"/>
              <p:cNvSpPr txBox="1"/>
              <p:nvPr/>
            </p:nvSpPr>
            <p:spPr bwMode="auto">
              <a:xfrm>
                <a:off x="1258888" y="3373438"/>
                <a:ext cx="3024187" cy="504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380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888" y="3373438"/>
                <a:ext cx="3024187" cy="504825"/>
              </a:xfrm>
              <a:prstGeom prst="rect">
                <a:avLst/>
              </a:prstGeom>
              <a:blipFill rotWithShape="1">
                <a:blip r:embed="rId2"/>
                <a:stretch>
                  <a:fillRect l="-11" t="-63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3801" name="Object 4"/>
              <p:cNvSpPr txBox="1"/>
              <p:nvPr/>
            </p:nvSpPr>
            <p:spPr bwMode="auto">
              <a:xfrm>
                <a:off x="1258887" y="4297363"/>
                <a:ext cx="5975350" cy="1277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380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887" y="4297363"/>
                <a:ext cx="5975350" cy="1277938"/>
              </a:xfrm>
              <a:prstGeom prst="rect">
                <a:avLst/>
              </a:prstGeom>
              <a:blipFill rotWithShape="1">
                <a:blip r:embed="rId3"/>
                <a:stretch>
                  <a:fillRect l="-5" t="-25" r="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3803" name="Rectangle 11"/>
          <p:cNvSpPr>
            <a:spLocks noChangeArrowheads="1"/>
          </p:cNvSpPr>
          <p:nvPr/>
        </p:nvSpPr>
        <p:spPr bwMode="auto">
          <a:xfrm>
            <a:off x="684213" y="188913"/>
            <a:ext cx="6696075" cy="5032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9D7816C-58E8-4F30-862A-BE91D9ABEBD1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2560680" y="753480"/>
            <a:ext cx="6508080" cy="44960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960"/>
    </mc:Choice>
    <mc:Fallback>
      <p:transition spd="slow" advTm="130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7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6" grpId="0" build="p"/>
      <p:bldP spid="673800" grpId="0"/>
      <p:bldP spid="67380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7275" y="1012825"/>
            <a:ext cx="4681538" cy="574675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m&lt;n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ʋ</a:t>
            </a:r>
            <a:r>
              <a:rPr lang="en-US" altLang="zh-CN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为单阶，则 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4820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825078" y="2701925"/>
                <a:ext cx="6502947" cy="722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系统的单位函数响应。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67482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825078" y="2701925"/>
                <a:ext cx="6502947" cy="722313"/>
              </a:xfrm>
              <a:prstGeom prst="rect">
                <a:avLst/>
              </a:prstGeom>
              <a:blipFill rotWithShape="1">
                <a:blip r:embed="rId1"/>
                <a:stretch>
                  <a:fillRect l="-1" b="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4823" name="Object 3"/>
              <p:cNvSpPr txBox="1"/>
              <p:nvPr/>
            </p:nvSpPr>
            <p:spPr bwMode="auto">
              <a:xfrm>
                <a:off x="1431131" y="1697038"/>
                <a:ext cx="6281737" cy="722312"/>
              </a:xfrm>
              <a:prstGeom prst="rect">
                <a:avLst/>
              </a:prstGeom>
              <a:noFill/>
              <a:ln w="28575">
                <a:solidFill>
                  <a:srgbClr val="9900FF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)+...+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7482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1131" y="1697038"/>
                <a:ext cx="6281737" cy="722312"/>
              </a:xfrm>
              <a:prstGeom prst="rect">
                <a:avLst/>
              </a:prstGeom>
              <a:blipFill rotWithShape="1">
                <a:blip r:embed="rId2"/>
                <a:stretch>
                  <a:fillRect l="-230" t="-1978" r="-220" b="-1934"/>
                </a:stretch>
              </a:blipFill>
              <a:ln w="28575">
                <a:solidFill>
                  <a:srgbClr val="9900FF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4824" name="Object 4"/>
              <p:cNvSpPr txBox="1"/>
              <p:nvPr/>
            </p:nvSpPr>
            <p:spPr bwMode="auto">
              <a:xfrm>
                <a:off x="1254917" y="3698876"/>
                <a:ext cx="6634163" cy="739775"/>
              </a:xfrm>
              <a:prstGeom prst="rect">
                <a:avLst/>
              </a:prstGeom>
              <a:noFill/>
              <a:ln w="38100">
                <a:solidFill>
                  <a:srgbClr val="9900FF"/>
                </a:solidFill>
                <a:miter lim="800000"/>
              </a:ln>
              <a:effectLst/>
            </p:spPr>
            <p:txBody>
              <a:bodyPr>
                <a:normAutofit fontScale="80000" lnSpcReduction="20000"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的单位函数响应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该系统差分方程为：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7482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4917" y="3698876"/>
                <a:ext cx="6634163" cy="739775"/>
              </a:xfrm>
              <a:prstGeom prst="rect">
                <a:avLst/>
              </a:prstGeom>
              <a:blipFill rotWithShape="1">
                <a:blip r:embed="rId3"/>
                <a:stretch>
                  <a:fillRect l="-290" t="-2575" r="-280" b="-2575"/>
                </a:stretch>
              </a:blipFill>
              <a:ln w="38100">
                <a:solidFill>
                  <a:srgbClr val="9900FF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4825" name="Object 5"/>
              <p:cNvSpPr txBox="1"/>
              <p:nvPr/>
            </p:nvSpPr>
            <p:spPr bwMode="auto">
              <a:xfrm>
                <a:off x="1455738" y="4740275"/>
                <a:ext cx="6872287" cy="14135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m:rPr>
                          <m:nor/>
                        </m:rPr>
                        <a:rPr lang="en-US" altLang="zh-CN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 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482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5738" y="4740275"/>
                <a:ext cx="6872287" cy="1413532"/>
              </a:xfrm>
              <a:prstGeom prst="rect">
                <a:avLst/>
              </a:prstGeom>
              <a:blipFill rotWithShape="1">
                <a:blip r:embed="rId4"/>
                <a:stretch>
                  <a:fillRect l="-5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4826" name="Rectangle 10"/>
          <p:cNvSpPr>
            <a:spLocks noChangeArrowheads="1"/>
          </p:cNvSpPr>
          <p:nvPr/>
        </p:nvSpPr>
        <p:spPr bwMode="auto">
          <a:xfrm>
            <a:off x="684213" y="188913"/>
            <a:ext cx="6696075" cy="5032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BC67C19-40A0-4ADF-AE81-74209A235982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521360" y="1384920"/>
            <a:ext cx="5697720" cy="47628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3518"/>
    </mc:Choice>
    <mc:Fallback>
      <p:transition spd="slow" advTm="1035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48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748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748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48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20" grpId="0" build="p"/>
      <p:bldP spid="6748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125538"/>
            <a:ext cx="7848600" cy="1328737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800" b="1" dirty="0"/>
              <a:t>      </a:t>
            </a:r>
            <a:r>
              <a:rPr lang="zh-CN" altLang="en-US" sz="2800" b="1" dirty="0"/>
              <a:t>而系统初始条件为零，且激励信号</a:t>
            </a:r>
            <a:r>
              <a:rPr lang="en-US" altLang="zh-CN" sz="2800" b="1" dirty="0"/>
              <a:t>k=0</a:t>
            </a:r>
            <a:r>
              <a:rPr lang="zh-CN" altLang="en-US" sz="2800" b="1" dirty="0"/>
              <a:t>时才可施加于系统上，</a:t>
            </a:r>
            <a:r>
              <a:rPr lang="zh-CN" altLang="en-US" sz="2800" b="1" dirty="0">
                <a:solidFill>
                  <a:srgbClr val="0000FF"/>
                </a:solidFill>
              </a:rPr>
              <a:t>因此</a:t>
            </a:r>
            <a:r>
              <a:rPr lang="en-US" altLang="zh-CN" sz="2800" b="1" dirty="0">
                <a:solidFill>
                  <a:srgbClr val="0000FF"/>
                </a:solidFill>
              </a:rPr>
              <a:t>h(-1)=0</a:t>
            </a:r>
            <a:r>
              <a:rPr lang="zh-CN" altLang="en-US" sz="2800" b="1" dirty="0"/>
              <a:t>。</a:t>
            </a:r>
            <a:endParaRPr lang="en-US" altLang="zh-CN" sz="2800" i="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>
              <a:lnSpc>
                <a:spcPct val="130000"/>
              </a:lnSpc>
              <a:buFontTx/>
              <a:buNone/>
            </a:pPr>
            <a:endParaRPr lang="en-US" altLang="zh-CN" sz="1800" i="1" dirty="0">
              <a:solidFill>
                <a:srgbClr val="00000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740" name="Object 3"/>
              <p:cNvSpPr txBox="1"/>
              <p:nvPr/>
            </p:nvSpPr>
            <p:spPr bwMode="auto">
              <a:xfrm>
                <a:off x="1763713" y="260350"/>
                <a:ext cx="5040312" cy="6556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674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713" y="260350"/>
                <a:ext cx="5040312" cy="655638"/>
              </a:xfrm>
              <a:prstGeom prst="rect">
                <a:avLst/>
              </a:prstGeom>
              <a:blipFill rotWithShape="1">
                <a:blip r:embed="rId1"/>
                <a:stretch>
                  <a:fillRect l="-94" t="-775" r="-592" b="-4600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4DB4732-0AFE-40BA-B1A3-027247DE93EC}" type="datetime1">
              <a:rPr lang="zh-CN" altLang="en-US"/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2101412" y="3242060"/>
                <a:ext cx="4572001" cy="52328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412" y="3242060"/>
                <a:ext cx="4572001" cy="523285"/>
              </a:xfrm>
              <a:prstGeom prst="rect">
                <a:avLst/>
              </a:prstGeom>
              <a:blipFill rotWithShape="1">
                <a:blip r:embed="rId2"/>
                <a:stretch>
                  <a:fillRect l="-4" t="-74" r="4" b="-71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123513" y="3827914"/>
                <a:ext cx="46805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𝐴𝑣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513" y="3827914"/>
                <a:ext cx="4680512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" t="-26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836682" y="4453451"/>
                <a:ext cx="547063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682" y="4453451"/>
                <a:ext cx="5470635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5" t="-37" r="7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393208" y="5506347"/>
                <a:ext cx="7190006" cy="656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推得：</m:t>
                      </m:r>
                      <m:r>
                        <m:rPr>
                          <m:nor/>
                        </m:rPr>
                        <a:rPr lang="zh-CN" altLang="en-US" sz="3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m:rPr>
                          <m:nor/>
                        </m:rPr>
                        <a:rPr lang="zh-CN" altLang="en-US" sz="36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zh-CN" altLang="en-US" sz="3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zh-CN" altLang="en-US" sz="3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3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3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3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08" y="5506347"/>
                <a:ext cx="7190006" cy="656270"/>
              </a:xfrm>
              <a:prstGeom prst="rect">
                <a:avLst/>
              </a:prstGeom>
              <a:blipFill rotWithShape="1">
                <a:blip r:embed="rId5"/>
                <a:stretch>
                  <a:fillRect l="-2" t="-40" r="1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613432" y="2499549"/>
                <a:ext cx="6969782" cy="6524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3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则：</m:t>
                      </m:r>
                      <m:r>
                        <a:rPr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32" y="2499549"/>
                <a:ext cx="6969782" cy="652486"/>
              </a:xfrm>
              <a:prstGeom prst="rect">
                <a:avLst/>
              </a:prstGeom>
              <a:blipFill rotWithShape="1">
                <a:blip r:embed="rId6"/>
                <a:stretch>
                  <a:fillRect t="-29" r="1" b="-8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墨迹 1"/>
          <p:cNvSpPr/>
          <p:nvPr/>
        </p:nvSpPr>
        <p:spPr bwMode="auto">
          <a:xfrm>
            <a:off x="1953000" y="756360"/>
            <a:ext cx="5940000" cy="54792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1754"/>
    </mc:Choice>
    <mc:Fallback>
      <p:transition spd="slow" advTm="1417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build="p"/>
      <p:bldP spid="7" grpId="0"/>
      <p:bldP spid="8" grpId="0"/>
      <p:bldP spid="9" grpId="0"/>
      <p:bldP spid="11" grpId="0"/>
      <p:bldP spid="12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88962" y="1049830"/>
            <a:ext cx="7848600" cy="1079500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400" b="1" dirty="0"/>
              <a:t>      </a:t>
            </a:r>
            <a:r>
              <a:rPr lang="zh-CN" altLang="en-US" sz="2400" b="1" dirty="0"/>
              <a:t>所以，得到一般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阶系统的单位函数响应为：</a:t>
            </a:r>
            <a:endParaRPr lang="zh-CN" alt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763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2051049" y="2146463"/>
                <a:ext cx="4924425" cy="160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776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051049" y="2146463"/>
                <a:ext cx="4924425" cy="1608138"/>
              </a:xfrm>
              <a:prstGeom prst="rect">
                <a:avLst/>
              </a:prstGeom>
              <a:blipFill rotWithShape="1">
                <a:blip r:embed="rId1"/>
                <a:stretch>
                  <a:fillRect l="-13" t="-10" r="13" b="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6869" name="Rectangle 5"/>
          <p:cNvSpPr>
            <a:spLocks noChangeArrowheads="1"/>
          </p:cNvSpPr>
          <p:nvPr/>
        </p:nvSpPr>
        <p:spPr bwMode="auto">
          <a:xfrm>
            <a:off x="827088" y="4244865"/>
            <a:ext cx="7848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华文中宋" panose="02010600040101010101" pitchFamily="2" charset="-122"/>
              </a:rPr>
              <a:t>      </a:t>
            </a:r>
            <a:r>
              <a:rPr lang="zh-CN" altLang="en-US" sz="2800" dirty="0">
                <a:latin typeface="华文中宋" panose="02010600040101010101" pitchFamily="2" charset="-122"/>
              </a:rPr>
              <a:t>在这里，我们假定了</a:t>
            </a:r>
            <a:r>
              <a:rPr lang="en-US" altLang="zh-CN" sz="2800" dirty="0">
                <a:solidFill>
                  <a:srgbClr val="0000FF"/>
                </a:solidFill>
                <a:latin typeface="华文中宋" panose="02010600040101010101" pitchFamily="2" charset="-122"/>
              </a:rPr>
              <a:t>m&lt;n</a:t>
            </a:r>
            <a:r>
              <a:rPr lang="zh-CN" altLang="en-US" sz="2800" dirty="0">
                <a:solidFill>
                  <a:srgbClr val="0000FF"/>
                </a:solidFill>
                <a:latin typeface="华文中宋" panose="02010600040101010101" pitchFamily="2" charset="-122"/>
              </a:rPr>
              <a:t>且单阶</a:t>
            </a:r>
            <a:r>
              <a:rPr lang="zh-CN" altLang="en-US" sz="2800" dirty="0">
                <a:latin typeface="华文中宋" panose="02010600040101010101" pitchFamily="2" charset="-122"/>
              </a:rPr>
              <a:t>。</a:t>
            </a:r>
            <a:endParaRPr lang="zh-CN" altLang="en-US" sz="2800" dirty="0">
              <a:latin typeface="华文中宋" panose="02010600040101010101" pitchFamily="2" charset="-122"/>
            </a:endParaRPr>
          </a:p>
        </p:txBody>
      </p:sp>
      <p:sp>
        <p:nvSpPr>
          <p:cNvPr id="676872" name="Rectangle 8"/>
          <p:cNvSpPr>
            <a:spLocks noChangeArrowheads="1"/>
          </p:cNvSpPr>
          <p:nvPr/>
        </p:nvSpPr>
        <p:spPr bwMode="auto">
          <a:xfrm>
            <a:off x="331788" y="0"/>
            <a:ext cx="66960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0D2AC7C-FC22-413A-B6E4-AA07F42904B1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4021200" y="1089720"/>
            <a:ext cx="4205160" cy="38437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782"/>
    </mc:Choice>
    <mc:Fallback>
      <p:transition spd="slow" advTm="337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3700" y="652463"/>
            <a:ext cx="7723188" cy="792162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800" b="1"/>
              <a:t>      </a:t>
            </a:r>
            <a:r>
              <a:rPr lang="zh-CN" altLang="en-US" sz="2800" b="1"/>
              <a:t>当</a:t>
            </a:r>
            <a:r>
              <a:rPr lang="en-US" altLang="zh-CN" sz="2800" b="1"/>
              <a:t>m=n</a:t>
            </a:r>
            <a:r>
              <a:rPr lang="zh-CN" altLang="en-US" sz="2800" b="1"/>
              <a:t>时，</a:t>
            </a:r>
            <a:r>
              <a:rPr lang="en-US" altLang="zh-CN" sz="2800" b="1"/>
              <a:t>y(k+1)-   y(k)=e(k+1)</a:t>
            </a:r>
            <a:endParaRPr lang="en-US" altLang="zh-CN" sz="2800" b="1"/>
          </a:p>
        </p:txBody>
      </p:sp>
      <p:sp>
        <p:nvSpPr>
          <p:cNvPr id="677893" name="Rectangle 5"/>
          <p:cNvSpPr>
            <a:spLocks noChangeArrowheads="1"/>
          </p:cNvSpPr>
          <p:nvPr/>
        </p:nvSpPr>
        <p:spPr bwMode="auto">
          <a:xfrm>
            <a:off x="407012" y="5827831"/>
            <a:ext cx="8280400" cy="981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华文中宋" panose="02010600040101010101" pitchFamily="2" charset="-122"/>
              </a:rPr>
              <a:t>      </a:t>
            </a:r>
            <a:r>
              <a:rPr lang="zh-CN" altLang="en-US" sz="2400" dirty="0">
                <a:latin typeface="华文中宋" panose="02010600040101010101" pitchFamily="2" charset="-122"/>
              </a:rPr>
              <a:t>转移因子分解为部分分式后，可以有多种形式，可以参照书上表</a:t>
            </a:r>
            <a:r>
              <a:rPr lang="en-US" altLang="zh-CN" sz="2400" dirty="0">
                <a:latin typeface="华文中宋" panose="02010600040101010101" pitchFamily="2" charset="-122"/>
              </a:rPr>
              <a:t>7-2</a:t>
            </a:r>
            <a:r>
              <a:rPr lang="zh-CN" altLang="en-US" sz="2400" dirty="0">
                <a:latin typeface="华文中宋" panose="02010600040101010101" pitchFamily="2" charset="-122"/>
              </a:rPr>
              <a:t>。</a:t>
            </a:r>
            <a:endParaRPr lang="zh-CN" altLang="en-US" sz="2400" dirty="0">
              <a:latin typeface="华文中宋" panose="02010600040101010101" pitchFamily="2" charset="-122"/>
            </a:endParaRPr>
          </a:p>
        </p:txBody>
      </p:sp>
      <p:sp>
        <p:nvSpPr>
          <p:cNvPr id="677896" name="Rectangle 8"/>
          <p:cNvSpPr>
            <a:spLocks noChangeArrowheads="1"/>
          </p:cNvSpPr>
          <p:nvPr/>
        </p:nvSpPr>
        <p:spPr bwMode="auto">
          <a:xfrm>
            <a:off x="458788" y="0"/>
            <a:ext cx="66960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7898" name="Object 3"/>
              <p:cNvSpPr txBox="1"/>
              <p:nvPr/>
            </p:nvSpPr>
            <p:spPr bwMode="auto">
              <a:xfrm>
                <a:off x="1595986" y="3858159"/>
                <a:ext cx="1533415" cy="4905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7789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5986" y="3858159"/>
                <a:ext cx="1533415" cy="490538"/>
              </a:xfrm>
              <a:prstGeom prst="rect">
                <a:avLst/>
              </a:prstGeom>
              <a:blipFill rotWithShape="1">
                <a:blip r:embed="rId1"/>
                <a:stretch>
                  <a:fillRect l="-15" t="-109" r="8" b="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7899" name="Object 4"/>
              <p:cNvSpPr txBox="1"/>
              <p:nvPr/>
            </p:nvSpPr>
            <p:spPr bwMode="auto">
              <a:xfrm>
                <a:off x="3177540" y="3768725"/>
                <a:ext cx="5509895" cy="6737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7789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7540" y="3768725"/>
                <a:ext cx="5509895" cy="673735"/>
              </a:xfrm>
              <a:prstGeom prst="rect">
                <a:avLst/>
              </a:prstGeom>
              <a:blipFill rotWithShape="1">
                <a:blip r:embed="rId2"/>
                <a:stretch>
                  <a:fillRect l="-92" t="-754" r="-542" b="-4430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7900" name="Object 5"/>
              <p:cNvSpPr txBox="1"/>
              <p:nvPr/>
            </p:nvSpPr>
            <p:spPr bwMode="auto">
              <a:xfrm>
                <a:off x="1353695" y="4855584"/>
                <a:ext cx="6852645" cy="792162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因此，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7790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3695" y="4855584"/>
                <a:ext cx="6852645" cy="792162"/>
              </a:xfrm>
              <a:prstGeom prst="rect">
                <a:avLst/>
              </a:prstGeom>
              <a:blipFill rotWithShape="1">
                <a:blip r:embed="rId3"/>
                <a:stretch>
                  <a:fillRect l="-72" t="-608" r="-432" b="-3760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794" name="Object 11"/>
              <p:cNvSpPr txBox="1"/>
              <p:nvPr/>
            </p:nvSpPr>
            <p:spPr bwMode="auto">
              <a:xfrm>
                <a:off x="4780280" y="697865"/>
                <a:ext cx="521970" cy="438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>
          <p:sp>
            <p:nvSpPr>
              <p:cNvPr id="118794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0280" y="697865"/>
                <a:ext cx="521970" cy="438150"/>
              </a:xfrm>
              <a:prstGeom prst="rect">
                <a:avLst/>
              </a:prstGeom>
              <a:blipFill rotWithShape="1">
                <a:blip r:embed="rId4"/>
                <a:stretch>
                  <a:fillRect b="-495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1595755" y="1421765"/>
                <a:ext cx="4775200" cy="784225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/>
              <a:p>
                <a:r>
                  <a:rPr lang="zh-CN" altLang="en-US" b="0" dirty="0">
                    <a:solidFill>
                      <a:srgbClr val="0000FF"/>
                    </a:solidFill>
                  </a:rPr>
                  <a:t>传输</a:t>
                </a:r>
                <a14:m>
                  <m:oMath xmlns:m="http://schemas.openxmlformats.org/officeDocument/2006/math">
                    <m:r>
                      <a:rPr lang="zh-CN" altLang="en-US" sz="3200" b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算子为</m:t>
                    </m:r>
                    <m:r>
                      <a:rPr lang="zh-CN" altLang="en-US" sz="32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m:rPr>
                        <m:sty m:val="p"/>
                      </m:rPr>
                      <a:rPr lang="zh-CN" altLang="en-US" sz="3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sz="3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(S)=</m:t>
                    </m:r>
                    <m:f>
                      <m:fPr>
                        <m:ctrlPr>
                          <a:rPr lang="zh-CN" altLang="en-US" sz="3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num>
                      <m:den>
                        <m:r>
                          <a:rPr lang="en-US" altLang="zh-CN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  <m:r>
                          <a:rPr lang="zh-CN" alt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3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endParaRPr lang="zh-CN" altLang="en-US" sz="3200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755" y="1421765"/>
                <a:ext cx="4775200" cy="78422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1550988" y="2213772"/>
                <a:ext cx="6609080" cy="1324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988" y="2213772"/>
                <a:ext cx="6609080" cy="1324610"/>
              </a:xfrm>
              <a:prstGeom prst="rect">
                <a:avLst/>
              </a:prstGeom>
              <a:blipFill rotWithShape="1">
                <a:blip r:embed="rId6"/>
                <a:stretch>
                  <a:fillRect l="-5" t="-12" r="-110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846301" y="3162177"/>
                <a:ext cx="37256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此时，单位函数响应为：</m:t>
                      </m:r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01" y="3162177"/>
                <a:ext cx="3725699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13" t="-111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墨迹 1"/>
          <p:cNvSpPr/>
          <p:nvPr/>
        </p:nvSpPr>
        <p:spPr bwMode="auto">
          <a:xfrm>
            <a:off x="884880" y="501840"/>
            <a:ext cx="7962840" cy="38430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202"/>
    </mc:Choice>
    <mc:Fallback>
      <p:transition spd="slow" advTm="1772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7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778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7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7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3" grpId="0" animBg="1"/>
      <p:bldP spid="677898" grpId="0" animBg="1"/>
      <p:bldP spid="677899" grpId="0" bldLvl="0" animBg="1"/>
      <p:bldP spid="677900" grpId="0" animBg="1"/>
      <p:bldP spid="13" grpId="0"/>
      <p:bldP spid="14" grpId="0"/>
      <p:bldP spid="1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1350" y="1000125"/>
            <a:ext cx="7991475" cy="1422509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</a:pPr>
            <a:r>
              <a:rPr lang="zh-CN" altLang="en-US" sz="2000" b="1" dirty="0"/>
              <a:t>例题</a:t>
            </a:r>
            <a:r>
              <a:rPr lang="en-US" altLang="zh-CN" sz="2000" b="1" dirty="0"/>
              <a:t>7-9</a:t>
            </a:r>
            <a:r>
              <a:rPr lang="zh-CN" altLang="en-US" sz="2000" b="1" dirty="0"/>
              <a:t>：差分方程</a:t>
            </a:r>
            <a:endParaRPr lang="zh-CN" altLang="en-US" sz="2000" b="1" dirty="0"/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000" b="1" dirty="0"/>
              <a:t>          y(k+2)-5y(k+1)+6y(k)=e(k+2)-3e(k)</a:t>
            </a:r>
            <a:endParaRPr lang="en-US" altLang="zh-CN" sz="2000" b="1" dirty="0"/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zh-CN" altLang="en-US" sz="2000" b="1" dirty="0"/>
              <a:t>试求此系统的单位函数响应。</a:t>
            </a:r>
            <a:endParaRPr lang="zh-CN" alt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8916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641350" y="2582545"/>
                <a:ext cx="6822440" cy="287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7500" lnSpcReduction="20000"/>
              </a:bodyPr>
              <a:lstStyle/>
              <a:p>
                <a:pPr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则：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(S)=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  <a:buNone/>
                </a:pPr>
                <a:r>
                  <a:rPr lang="zh-CN" altLang="en-US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altLang="zh-CN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  </m:t>
                    </m:r>
                    <m:r>
                      <a:rPr lang="zh-CN" alt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3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CN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3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zh-CN" alt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3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36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36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891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641350" y="2582545"/>
                <a:ext cx="6822440" cy="28797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8917" name="Object 3"/>
              <p:cNvSpPr txBox="1"/>
              <p:nvPr/>
            </p:nvSpPr>
            <p:spPr bwMode="auto">
              <a:xfrm>
                <a:off x="2000546" y="5462445"/>
                <a:ext cx="6119812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0000"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891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0546" y="5462445"/>
                <a:ext cx="6119812" cy="679450"/>
              </a:xfrm>
              <a:prstGeom prst="rect">
                <a:avLst/>
              </a:prstGeom>
              <a:blipFill rotWithShape="1">
                <a:blip r:embed="rId2"/>
                <a:stretch>
                  <a:fillRect l="-5" t="-26" r="10" b="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8920" name="Rectangle 8"/>
          <p:cNvSpPr>
            <a:spLocks noChangeArrowheads="1"/>
          </p:cNvSpPr>
          <p:nvPr/>
        </p:nvSpPr>
        <p:spPr bwMode="auto">
          <a:xfrm>
            <a:off x="684213" y="188913"/>
            <a:ext cx="6696075" cy="5032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048C027-9964-48FF-9324-06D780A04D62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650960" y="855360"/>
            <a:ext cx="7410240" cy="50180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777"/>
    </mc:Choice>
    <mc:Fallback>
      <p:transition spd="slow" advTm="86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89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16" grpId="0" build="p"/>
      <p:bldP spid="678917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ChangeArrowheads="1"/>
          </p:cNvSpPr>
          <p:nvPr/>
        </p:nvSpPr>
        <p:spPr bwMode="auto">
          <a:xfrm>
            <a:off x="611188" y="404813"/>
            <a:ext cx="1019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例</a:t>
            </a:r>
            <a:r>
              <a:rPr kumimoji="1" lang="en-US" altLang="zh-CN" sz="240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r>
              <a:rPr kumimoji="1" lang="zh-CN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：</a:t>
            </a:r>
            <a:endParaRPr kumimoji="1" lang="zh-CN" altLang="en-US" sz="24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835" name="Object 2"/>
              <p:cNvSpPr txBox="1"/>
              <p:nvPr/>
            </p:nvSpPr>
            <p:spPr bwMode="auto">
              <a:xfrm>
                <a:off x="1547813" y="260350"/>
                <a:ext cx="6811962" cy="844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已知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求单位阶跃响应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0835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813" y="260350"/>
                <a:ext cx="6811962" cy="844550"/>
              </a:xfrm>
              <a:prstGeom prst="rect">
                <a:avLst/>
              </a:prstGeom>
              <a:blipFill rotWithShape="1">
                <a:blip r:embed="rId1"/>
                <a:stretch>
                  <a:fillRect l="-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9940" name="Object 3"/>
              <p:cNvSpPr txBox="1"/>
              <p:nvPr/>
            </p:nvSpPr>
            <p:spPr bwMode="auto">
              <a:xfrm>
                <a:off x="2268538" y="4868863"/>
                <a:ext cx="4500562" cy="1008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994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4868863"/>
                <a:ext cx="4500562" cy="1008062"/>
              </a:xfrm>
              <a:prstGeom prst="rect">
                <a:avLst/>
              </a:prstGeom>
              <a:blipFill rotWithShape="1">
                <a:blip r:embed="rId2"/>
                <a:stretch>
                  <a:fillRect l="-7" t="-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9941" name="Text Box 5"/>
          <p:cNvSpPr txBox="1">
            <a:spLocks noChangeArrowheads="1"/>
          </p:cNvSpPr>
          <p:nvPr/>
        </p:nvSpPr>
        <p:spPr bwMode="auto">
          <a:xfrm>
            <a:off x="611188" y="1484313"/>
            <a:ext cx="9350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ahoma" panose="020B0604030504040204" pitchFamily="34" charset="0"/>
              </a:rPr>
              <a:t>解：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9942" name="Object 4"/>
              <p:cNvSpPr txBox="1"/>
              <p:nvPr/>
            </p:nvSpPr>
            <p:spPr bwMode="auto">
              <a:xfrm>
                <a:off x="1692275" y="1341438"/>
                <a:ext cx="5275263" cy="936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2S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(S−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)(S−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num>
                        <m:den>
                          <m:r>
                            <a:rPr lang="en-US" altLang="zh-CN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num>
                        <m:den>
                          <m:r>
                            <a:rPr lang="en-US" altLang="zh-CN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994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275" y="1341438"/>
                <a:ext cx="5275263" cy="936625"/>
              </a:xfrm>
              <a:prstGeom prst="rect">
                <a:avLst/>
              </a:prstGeom>
              <a:blipFill rotWithShape="1">
                <a:blip r:embed="rId3"/>
                <a:stretch>
                  <a:fillRect t="-983" r="6" b="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9943" name="Object 5"/>
              <p:cNvSpPr txBox="1"/>
              <p:nvPr/>
            </p:nvSpPr>
            <p:spPr bwMode="auto">
              <a:xfrm>
                <a:off x="1403350" y="2636838"/>
                <a:ext cx="5210175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r>
                  <a:rPr lang="en-US" altLang="zh-CN" b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)=[(</m:t>
                    </m:r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）</m:t>
                    </m:r>
                    <m:r>
                      <m:rPr>
                        <m:sty m:val="p"/>
                      </m:rPr>
                      <a:rPr lang="en-US" altLang="zh-CN" i="1" baseline="30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CN" alt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7994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350" y="2636838"/>
                <a:ext cx="5210175" cy="720725"/>
              </a:xfrm>
              <a:prstGeom prst="rect">
                <a:avLst/>
              </a:prstGeom>
              <a:blipFill rotWithShape="1">
                <a:blip r:embed="rId4"/>
                <a:stretch>
                  <a:fillRect t="-6035" b="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9944" name="Object 6"/>
              <p:cNvSpPr txBox="1"/>
              <p:nvPr/>
            </p:nvSpPr>
            <p:spPr bwMode="auto">
              <a:xfrm>
                <a:off x="714375" y="3789363"/>
                <a:ext cx="3251200" cy="5762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994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375" y="3789363"/>
                <a:ext cx="3251200" cy="576262"/>
              </a:xfrm>
              <a:prstGeom prst="rect">
                <a:avLst/>
              </a:prstGeom>
              <a:blipFill rotWithShape="1">
                <a:blip r:embed="rId5"/>
                <a:stretch>
                  <a:fillRect t="-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9945" name="Object 7"/>
              <p:cNvSpPr txBox="1"/>
              <p:nvPr/>
            </p:nvSpPr>
            <p:spPr bwMode="auto">
              <a:xfrm>
                <a:off x="4140200" y="3573463"/>
                <a:ext cx="4046538" cy="1008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7994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0200" y="3573463"/>
                <a:ext cx="4046538" cy="1008062"/>
              </a:xfrm>
              <a:prstGeom prst="rect">
                <a:avLst/>
              </a:prstGeom>
              <a:blipFill rotWithShape="1">
                <a:blip r:embed="rId6"/>
                <a:stretch>
                  <a:fillRect t="-32" r="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日期占位符 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281189-7C17-43B6-8174-C123AEA53AFA}" type="datetime1">
              <a:rPr lang="zh-CN" altLang="en-US"/>
            </a:fld>
            <a:endParaRPr lang="en-US" altLang="zh-CN"/>
          </a:p>
        </p:txBody>
      </p:sp>
    </p:spTree>
    <p:custDataLst>
      <p:tags r:id="rId7"/>
    </p:custDataLst>
  </p:cSld>
  <p:clrMapOvr>
    <a:masterClrMapping/>
  </p:clrMapOvr>
  <p:transition spd="med" advTm="15491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40" grpId="0"/>
      <p:bldP spid="679941" grpId="0"/>
      <p:bldP spid="679943" grpId="0"/>
      <p:bldP spid="679944" grpId="0"/>
      <p:bldP spid="67994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8138" y="115888"/>
            <a:ext cx="2133600" cy="533400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859" name="Object 2"/>
              <p:cNvSpPr txBox="1"/>
              <p:nvPr/>
            </p:nvSpPr>
            <p:spPr bwMode="auto">
              <a:xfrm>
                <a:off x="1021858" y="188913"/>
                <a:ext cx="8521535" cy="717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求：</m:t>
                            </m:r>
                          </m:e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)=?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12185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1858" y="188913"/>
                <a:ext cx="8521535" cy="717550"/>
              </a:xfrm>
              <a:prstGeom prst="rect">
                <a:avLst/>
              </a:prstGeom>
              <a:blipFill rotWithShape="1">
                <a:blip r:embed="rId1"/>
                <a:stretch>
                  <a:fillRect l="-2" t="-44" r="7" b="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467519" y="987624"/>
            <a:ext cx="86518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解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: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861" name="Object 3"/>
              <p:cNvSpPr txBox="1"/>
              <p:nvPr/>
            </p:nvSpPr>
            <p:spPr bwMode="auto">
              <a:xfrm>
                <a:off x="1420019" y="979488"/>
                <a:ext cx="2103438" cy="355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系统传输算子为：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>
          <p:sp>
            <p:nvSpPr>
              <p:cNvPr id="12186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0019" y="979488"/>
                <a:ext cx="2103438" cy="355600"/>
              </a:xfrm>
              <a:prstGeom prst="rect">
                <a:avLst/>
              </a:prstGeom>
              <a:blipFill rotWithShape="1">
                <a:blip r:embed="rId2"/>
                <a:stretch>
                  <a:fillRect l="-8" t="-89" r="23" b="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966" name="Object 4"/>
              <p:cNvSpPr txBox="1"/>
              <p:nvPr/>
            </p:nvSpPr>
            <p:spPr bwMode="auto">
              <a:xfrm>
                <a:off x="839131" y="4652567"/>
                <a:ext cx="2540000" cy="5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查表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，有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>
          <p:sp>
            <p:nvSpPr>
              <p:cNvPr id="68096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9131" y="4652567"/>
                <a:ext cx="2540000" cy="520700"/>
              </a:xfrm>
              <a:prstGeom prst="rect">
                <a:avLst/>
              </a:prstGeom>
              <a:blipFill rotWithShape="1">
                <a:blip r:embed="rId3"/>
                <a:stretch>
                  <a:fillRect l="-12" t="-107" r="12" b="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967" name="Object 5"/>
              <p:cNvSpPr txBox="1"/>
              <p:nvPr/>
            </p:nvSpPr>
            <p:spPr bwMode="auto">
              <a:xfrm>
                <a:off x="900113" y="5157788"/>
                <a:ext cx="7777162" cy="950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0000" lnSpcReduction="20000"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096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5157788"/>
                <a:ext cx="7777162" cy="950912"/>
              </a:xfrm>
              <a:prstGeom prst="rect">
                <a:avLst/>
              </a:prstGeom>
              <a:blipFill rotWithShape="1">
                <a:blip r:embed="rId4"/>
                <a:stretch>
                  <a:fillRect l="-4" t="-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968" name="Object 6"/>
              <p:cNvSpPr txBox="1"/>
              <p:nvPr/>
            </p:nvSpPr>
            <p:spPr bwMode="auto">
              <a:xfrm>
                <a:off x="1148913" y="1434735"/>
                <a:ext cx="3044824" cy="762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−𝟏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8096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8913" y="1434735"/>
                <a:ext cx="3044824" cy="762000"/>
              </a:xfrm>
              <a:prstGeom prst="rect">
                <a:avLst/>
              </a:prstGeom>
              <a:blipFill rotWithShape="1">
                <a:blip r:embed="rId5"/>
                <a:stretch>
                  <a:fillRect l="-7" t="-35" r="6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969" name="Object 7"/>
              <p:cNvSpPr txBox="1"/>
              <p:nvPr/>
            </p:nvSpPr>
            <p:spPr bwMode="auto">
              <a:xfrm>
                <a:off x="4322734" y="1434735"/>
                <a:ext cx="2240976" cy="762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8096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2734" y="1434735"/>
                <a:ext cx="2240976" cy="762000"/>
              </a:xfrm>
              <a:prstGeom prst="rect">
                <a:avLst/>
              </a:prstGeom>
              <a:blipFill rotWithShape="1">
                <a:blip r:embed="rId6"/>
                <a:stretch>
                  <a:fillRect l="-13" t="-35" r="16" b="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970" name="Object 8"/>
              <p:cNvSpPr txBox="1"/>
              <p:nvPr/>
            </p:nvSpPr>
            <p:spPr bwMode="auto">
              <a:xfrm>
                <a:off x="1148913" y="2331243"/>
                <a:ext cx="2430900" cy="8080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8097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8913" y="2331243"/>
                <a:ext cx="2430900" cy="808037"/>
              </a:xfrm>
              <a:prstGeom prst="rect">
                <a:avLst/>
              </a:prstGeom>
              <a:blipFill rotWithShape="1">
                <a:blip r:embed="rId7"/>
                <a:stretch>
                  <a:fillRect l="-8" t="-20" r="13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971" name="Object 9"/>
              <p:cNvSpPr txBox="1"/>
              <p:nvPr/>
            </p:nvSpPr>
            <p:spPr bwMode="auto">
              <a:xfrm>
                <a:off x="3188903" y="2342157"/>
                <a:ext cx="4187443" cy="760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68097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8903" y="2342157"/>
                <a:ext cx="4187443" cy="760412"/>
              </a:xfrm>
              <a:prstGeom prst="rect">
                <a:avLst/>
              </a:prstGeom>
              <a:blipFill rotWithShape="1">
                <a:blip r:embed="rId8"/>
                <a:stretch>
                  <a:fillRect l="-14" t="-36" r="4" b="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972" name="Object 10"/>
              <p:cNvSpPr txBox="1"/>
              <p:nvPr/>
            </p:nvSpPr>
            <p:spPr bwMode="auto">
              <a:xfrm>
                <a:off x="3188903" y="3058318"/>
                <a:ext cx="3702651" cy="7604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8097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8903" y="3058318"/>
                <a:ext cx="3702651" cy="760413"/>
              </a:xfrm>
              <a:prstGeom prst="rect">
                <a:avLst/>
              </a:prstGeom>
              <a:blipFill rotWithShape="1">
                <a:blip r:embed="rId9"/>
                <a:stretch>
                  <a:fillRect l="-15" t="-21" r="14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0973" name="Object 11"/>
              <p:cNvSpPr txBox="1"/>
              <p:nvPr/>
            </p:nvSpPr>
            <p:spPr bwMode="auto">
              <a:xfrm>
                <a:off x="986790" y="3827145"/>
                <a:ext cx="4490085" cy="8077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8097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6790" y="3827145"/>
                <a:ext cx="4490085" cy="80772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日期占位符 1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998AE4F-F344-4D2E-B9BF-5758F523737F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1183680" y="843120"/>
            <a:ext cx="6176880" cy="50464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1"/>
    </p:custDataLst>
  </p:cSld>
  <p:clrMapOvr>
    <a:masterClrMapping/>
  </p:clrMapOvr>
  <p:transition spd="med" advTm="13853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8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8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/>
      <p:bldP spid="121861" grpId="0" animBg="1"/>
      <p:bldP spid="680966" grpId="0"/>
      <p:bldP spid="680967" grpId="0"/>
      <p:bldP spid="680968" grpId="0"/>
      <p:bldP spid="680969" grpId="0"/>
      <p:bldP spid="680970" grpId="0"/>
      <p:bldP spid="680971" grpId="0"/>
      <p:bldP spid="680972" grpId="0"/>
      <p:bldP spid="680973" grpId="0" bldLvl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115888"/>
            <a:ext cx="6443663" cy="533400"/>
          </a:xfrm>
        </p:spPr>
        <p:txBody>
          <a:bodyPr/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zh-CN" altLang="en-US" sz="2800" b="1">
                <a:solidFill>
                  <a:srgbClr val="FF0000"/>
                </a:solidFill>
              </a:rPr>
              <a:t>：求零状态响应</a:t>
            </a:r>
            <a:r>
              <a:rPr lang="en-US" altLang="zh-CN" sz="2800" b="1">
                <a:solidFill>
                  <a:srgbClr val="FF0000"/>
                </a:solidFill>
              </a:rPr>
              <a:t>y</a:t>
            </a:r>
            <a:r>
              <a:rPr lang="en-US" altLang="zh-CN" sz="2800" b="1" baseline="-25000">
                <a:solidFill>
                  <a:srgbClr val="FF0000"/>
                </a:solidFill>
              </a:rPr>
              <a:t>zS</a:t>
            </a:r>
            <a:r>
              <a:rPr lang="en-US" altLang="zh-CN" sz="2800" b="1">
                <a:solidFill>
                  <a:srgbClr val="FF0000"/>
                </a:solidFill>
              </a:rPr>
              <a:t>(k)</a:t>
            </a:r>
            <a:r>
              <a:rPr lang="zh-CN" altLang="en-US" sz="2800" b="1">
                <a:solidFill>
                  <a:srgbClr val="FF0000"/>
                </a:solidFill>
              </a:rPr>
              <a:t>。</a:t>
            </a:r>
            <a:endParaRPr lang="zh-CN" altLang="en-US" sz="28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883" name="Object 2"/>
              <p:cNvSpPr txBox="1"/>
              <p:nvPr/>
            </p:nvSpPr>
            <p:spPr bwMode="auto">
              <a:xfrm>
                <a:off x="961040" y="647700"/>
                <a:ext cx="7554036" cy="787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1800"/>
              </a:p>
            </p:txBody>
          </p:sp>
        </mc:Choice>
        <mc:Fallback>
          <p:sp>
            <p:nvSpPr>
              <p:cNvPr id="12288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1040" y="647700"/>
                <a:ext cx="7554036" cy="787400"/>
              </a:xfrm>
              <a:prstGeom prst="rect">
                <a:avLst/>
              </a:prstGeom>
              <a:blipFill rotWithShape="1">
                <a:blip r:embed="rId1"/>
                <a:stretch>
                  <a:fillRect l="-4" r="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710927" y="1557338"/>
            <a:ext cx="719137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Times New Roman" panose="02020603050405020304" pitchFamily="18" charset="0"/>
              </a:rPr>
              <a:t>解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:</a:t>
            </a:r>
            <a:endParaRPr kumimoji="1" lang="en-US" altLang="zh-CN" sz="2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1990" name="Object 3"/>
              <p:cNvSpPr txBox="1"/>
              <p:nvPr/>
            </p:nvSpPr>
            <p:spPr bwMode="auto">
              <a:xfrm>
                <a:off x="3235325" y="3799205"/>
                <a:ext cx="5279390" cy="7251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)=[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8199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325" y="3799205"/>
                <a:ext cx="5279390" cy="7251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991" name="Object 4"/>
              <p:cNvSpPr txBox="1"/>
              <p:nvPr/>
            </p:nvSpPr>
            <p:spPr bwMode="auto">
              <a:xfrm>
                <a:off x="1611149" y="2887345"/>
                <a:ext cx="960602" cy="369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8199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1149" y="2887345"/>
                <a:ext cx="960602" cy="369888"/>
              </a:xfrm>
              <a:prstGeom prst="rect">
                <a:avLst/>
              </a:prstGeom>
              <a:blipFill rotWithShape="1">
                <a:blip r:embed="rId3"/>
                <a:stretch>
                  <a:fillRect l="-16" b="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992" name="Object 5"/>
              <p:cNvSpPr txBox="1"/>
              <p:nvPr/>
            </p:nvSpPr>
            <p:spPr bwMode="auto">
              <a:xfrm>
                <a:off x="2627313" y="2565400"/>
                <a:ext cx="1260475" cy="1108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8199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3" y="2565400"/>
                <a:ext cx="1260475" cy="1108075"/>
              </a:xfrm>
              <a:prstGeom prst="rect">
                <a:avLst/>
              </a:prstGeom>
              <a:blipFill rotWithShape="1">
                <a:blip r:embed="rId4"/>
                <a:stretch>
                  <a:fillRect l="-25" r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993" name="Object 6"/>
              <p:cNvSpPr txBox="1"/>
              <p:nvPr/>
            </p:nvSpPr>
            <p:spPr bwMode="auto">
              <a:xfrm>
                <a:off x="3879850" y="2649220"/>
                <a:ext cx="2285365" cy="1108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50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8199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9850" y="2649220"/>
                <a:ext cx="2285365" cy="11080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994" name="Object 7"/>
              <p:cNvSpPr txBox="1"/>
              <p:nvPr/>
            </p:nvSpPr>
            <p:spPr bwMode="auto">
              <a:xfrm>
                <a:off x="6157913" y="2560955"/>
                <a:ext cx="2055813" cy="1062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8199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7913" y="2560955"/>
                <a:ext cx="2055813" cy="1062038"/>
              </a:xfrm>
              <a:prstGeom prst="rect">
                <a:avLst/>
              </a:prstGeom>
              <a:blipFill rotWithShape="1">
                <a:blip r:embed="rId6"/>
                <a:stretch>
                  <a:fillRect l="-15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995" name="Object 8"/>
              <p:cNvSpPr txBox="1"/>
              <p:nvPr/>
            </p:nvSpPr>
            <p:spPr bwMode="auto">
              <a:xfrm>
                <a:off x="1805207" y="4625658"/>
                <a:ext cx="2366962" cy="515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8199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5207" y="4625658"/>
                <a:ext cx="2366962" cy="515938"/>
              </a:xfrm>
              <a:prstGeom prst="rect">
                <a:avLst/>
              </a:prstGeom>
              <a:blipFill rotWithShape="1">
                <a:blip r:embed="rId7"/>
                <a:stretch>
                  <a:fillRect l="-23" t="-62" r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996" name="Object 9"/>
              <p:cNvSpPr txBox="1"/>
              <p:nvPr/>
            </p:nvSpPr>
            <p:spPr bwMode="auto">
              <a:xfrm>
                <a:off x="1150363" y="2135188"/>
                <a:ext cx="1838106" cy="355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传输算子：</m:t>
                      </m:r>
                    </m:oMath>
                  </m:oMathPara>
                </a14:m>
                <a:endParaRPr lang="zh-CN" altLang="en-US" sz="1800"/>
              </a:p>
            </p:txBody>
          </p:sp>
        </mc:Choice>
        <mc:Fallback>
          <p:sp>
            <p:nvSpPr>
              <p:cNvPr id="681996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0363" y="2135188"/>
                <a:ext cx="1838106" cy="355600"/>
              </a:xfrm>
              <a:prstGeom prst="rect">
                <a:avLst/>
              </a:prstGeom>
              <a:blipFill rotWithShape="1">
                <a:blip r:embed="rId8"/>
                <a:stretch>
                  <a:fillRect l="-21" t="-89" r="9" b="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997" name="Object 10"/>
              <p:cNvSpPr txBox="1"/>
              <p:nvPr/>
            </p:nvSpPr>
            <p:spPr bwMode="auto">
              <a:xfrm>
                <a:off x="971550" y="4005263"/>
                <a:ext cx="2068513" cy="355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单位序列响应：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>
          <p:sp>
            <p:nvSpPr>
              <p:cNvPr id="681997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4005263"/>
                <a:ext cx="2068513" cy="355600"/>
              </a:xfrm>
              <a:prstGeom prst="rect">
                <a:avLst/>
              </a:prstGeom>
              <a:blipFill rotWithShape="1">
                <a:blip r:embed="rId9"/>
                <a:stretch>
                  <a:fillRect t="-89" r="15" b="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1999" name="Object 11"/>
              <p:cNvSpPr txBox="1"/>
              <p:nvPr/>
            </p:nvSpPr>
            <p:spPr bwMode="auto">
              <a:xfrm>
                <a:off x="2339975" y="5726113"/>
                <a:ext cx="1296988" cy="706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199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975" y="5726113"/>
                <a:ext cx="1296988" cy="706437"/>
              </a:xfrm>
              <a:prstGeom prst="rect">
                <a:avLst/>
              </a:prstGeom>
              <a:blipFill rotWithShape="1">
                <a:blip r:embed="rId10"/>
                <a:stretch>
                  <a:fillRect t="-45" r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2000" name="Object 12"/>
              <p:cNvSpPr txBox="1"/>
              <p:nvPr/>
            </p:nvSpPr>
            <p:spPr bwMode="auto">
              <a:xfrm>
                <a:off x="3708400" y="5573713"/>
                <a:ext cx="3916363" cy="854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200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8400" y="5573713"/>
                <a:ext cx="3916363" cy="854075"/>
              </a:xfrm>
              <a:prstGeom prst="rect">
                <a:avLst/>
              </a:prstGeom>
              <a:blipFill rotWithShape="1">
                <a:blip r:embed="rId11"/>
                <a:stretch>
                  <a:fillRect t="-929" r="8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2001" name="Object 13"/>
              <p:cNvSpPr txBox="1"/>
              <p:nvPr/>
            </p:nvSpPr>
            <p:spPr bwMode="auto">
              <a:xfrm>
                <a:off x="2005806" y="1352550"/>
                <a:ext cx="6263180" cy="787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1800"/>
              </a:p>
            </p:txBody>
          </p:sp>
        </mc:Choice>
        <mc:Fallback>
          <p:sp>
            <p:nvSpPr>
              <p:cNvPr id="68200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5806" y="1352550"/>
                <a:ext cx="6263180" cy="787400"/>
              </a:xfrm>
              <a:prstGeom prst="rect">
                <a:avLst/>
              </a:prstGeom>
              <a:blipFill rotWithShape="1">
                <a:blip r:embed="rId12"/>
                <a:stretch>
                  <a:fillRect l="-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2002" name="Object 14"/>
              <p:cNvSpPr txBox="1"/>
              <p:nvPr/>
            </p:nvSpPr>
            <p:spPr bwMode="auto">
              <a:xfrm>
                <a:off x="879475" y="5156200"/>
                <a:ext cx="2921000" cy="465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查表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，有</m:t>
                      </m:r>
                      <m:r>
                        <a:rPr lang="en-US" altLang="zh-CN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>
          <p:sp>
            <p:nvSpPr>
              <p:cNvPr id="68200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9475" y="5156200"/>
                <a:ext cx="2921000" cy="465138"/>
              </a:xfrm>
              <a:prstGeom prst="rect">
                <a:avLst/>
              </a:prstGeom>
              <a:blipFill rotWithShape="1">
                <a:blip r:embed="rId13"/>
                <a:stretch>
                  <a:fillRect b="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日期占位符 1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4F95DBA-5DC8-4DC7-BC21-509E7D3FC2E9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2263680" y="631440"/>
            <a:ext cx="5588640" cy="57888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4"/>
    </p:custDataLst>
  </p:cSld>
  <p:clrMapOvr>
    <a:masterClrMapping/>
  </p:clrMapOvr>
  <p:transition spd="med" advTm="14849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81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8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8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81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81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8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8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82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82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/>
      <p:bldP spid="681990" grpId="0" bldLvl="0" animBg="1"/>
      <p:bldP spid="681991" grpId="0" bldLvl="0" animBg="1"/>
      <p:bldP spid="681992" grpId="0"/>
      <p:bldP spid="681993" grpId="0" bldLvl="0" animBg="1"/>
      <p:bldP spid="681994" grpId="0" bldLvl="0" animBg="1"/>
      <p:bldP spid="681995" grpId="0" bldLvl="0" animBg="1"/>
      <p:bldP spid="681996" grpId="0" animBg="1"/>
      <p:bldP spid="681997" grpId="0" animBg="1"/>
      <p:bldP spid="681999" grpId="0"/>
      <p:bldP spid="682000" grpId="0" bldLvl="0" animBg="1"/>
      <p:bldP spid="682001" grpId="0"/>
      <p:bldP spid="68200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196975"/>
            <a:ext cx="8064500" cy="5400675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</a:rPr>
              <a:t>8</a:t>
            </a:r>
            <a:r>
              <a:rPr lang="zh-CN" altLang="en-US" sz="3200" b="1" dirty="0">
                <a:solidFill>
                  <a:srgbClr val="0000FF"/>
                </a:solidFill>
              </a:rPr>
              <a:t>、系统全响应求解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zh-CN" altLang="en-US" sz="2800" b="1" dirty="0"/>
              <a:t>           </a:t>
            </a:r>
            <a:r>
              <a:rPr lang="en-US" altLang="zh-CN" sz="2800" b="1" dirty="0"/>
              <a:t>y(k)=</a:t>
            </a:r>
            <a:r>
              <a:rPr lang="en-US" altLang="zh-CN" sz="2800" b="1" dirty="0" err="1"/>
              <a:t>y</a:t>
            </a:r>
            <a:r>
              <a:rPr lang="en-US" altLang="zh-CN" sz="2800" b="1" baseline="-25000" dirty="0" err="1"/>
              <a:t>zi</a:t>
            </a:r>
            <a:r>
              <a:rPr lang="en-US" altLang="zh-CN" sz="2800" b="1" dirty="0"/>
              <a:t>(k)+</a:t>
            </a:r>
            <a:r>
              <a:rPr lang="en-US" altLang="zh-CN" sz="2800" b="1" dirty="0" err="1"/>
              <a:t>y</a:t>
            </a:r>
            <a:r>
              <a:rPr lang="en-US" altLang="zh-CN" sz="2800" b="1" baseline="-25000" dirty="0" err="1"/>
              <a:t>zS</a:t>
            </a:r>
            <a:r>
              <a:rPr lang="en-US" altLang="zh-CN" sz="2800" b="1" dirty="0"/>
              <a:t>(k)</a:t>
            </a:r>
            <a:endParaRPr lang="en-US" altLang="zh-CN" sz="2800" b="1" dirty="0"/>
          </a:p>
          <a:p>
            <a:pPr marL="0" indent="0">
              <a:lnSpc>
                <a:spcPct val="130000"/>
              </a:lnSpc>
              <a:buFontTx/>
              <a:buNone/>
            </a:pPr>
            <a:endParaRPr lang="en-US" altLang="zh-CN" sz="2800" b="1" dirty="0"/>
          </a:p>
          <a:p>
            <a:pPr marL="0" indent="0">
              <a:lnSpc>
                <a:spcPct val="130000"/>
              </a:lnSpc>
              <a:buFontTx/>
              <a:buNone/>
            </a:pPr>
            <a:endParaRPr lang="en-US" altLang="zh-CN" sz="2800" b="1" dirty="0"/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800" b="1" dirty="0"/>
              <a:t>       </a:t>
            </a:r>
            <a:endParaRPr lang="en-US" altLang="zh-CN" sz="2800" b="1" dirty="0"/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800" b="1" dirty="0"/>
              <a:t>      </a:t>
            </a:r>
            <a:r>
              <a:rPr lang="zh-CN" altLang="en-US" sz="2800" b="1" dirty="0"/>
              <a:t>通常所给初始值，在没有特别说明的情况下，应该是系统</a:t>
            </a:r>
            <a:r>
              <a:rPr lang="zh-CN" altLang="en-US" sz="2800" b="1" dirty="0">
                <a:solidFill>
                  <a:srgbClr val="FF3300"/>
                </a:solidFill>
              </a:rPr>
              <a:t>全响应的初始条件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zh-CN" altLang="en-US" sz="2800" b="1" dirty="0"/>
              <a:t>       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3012" name="Object 2"/>
              <p:cNvSpPr txBox="1"/>
              <p:nvPr/>
            </p:nvSpPr>
            <p:spPr bwMode="auto">
              <a:xfrm>
                <a:off x="611188" y="2852738"/>
                <a:ext cx="8351837" cy="1214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初始条件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零输入时的初始条件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零状态时外加激励对系统作用而引起的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8301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2852738"/>
                <a:ext cx="8351837" cy="1214437"/>
              </a:xfrm>
              <a:prstGeom prst="rect">
                <a:avLst/>
              </a:prstGeom>
              <a:blipFill rotWithShape="1">
                <a:blip r:embed="rId1"/>
                <a:stretch>
                  <a:fillRect l="-4" t="-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3014" name="Rectangle 6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775575" cy="503238"/>
          </a:xfrm>
          <a:solidFill>
            <a:schemeClr val="accent2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§7.6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离散时间系统的零状态响应及全响应求解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65825E-2F2C-43B4-90E3-82BEF5FD94DE}" type="datetime1">
              <a:rPr lang="zh-CN" altLang="en-US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901"/>
    </mc:Choice>
    <mc:Fallback>
      <p:transition spd="slow" advTm="699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5954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611505" y="763905"/>
                <a:ext cx="8196580" cy="2251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0000"/>
              </a:bodyPr>
              <a:lstStyle/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例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(S)=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系统的初始条件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当系统输入为单位阶跃序列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时，试求系统的响应。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2595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611505" y="763905"/>
                <a:ext cx="8196580" cy="22510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4036" name="AutoShape 4"/>
          <p:cNvSpPr/>
          <p:nvPr/>
        </p:nvSpPr>
        <p:spPr bwMode="auto">
          <a:xfrm>
            <a:off x="1681480" y="3124200"/>
            <a:ext cx="4770120" cy="495935"/>
          </a:xfrm>
          <a:prstGeom prst="accentCallout3">
            <a:avLst>
              <a:gd name="adj1" fmla="val 65937"/>
              <a:gd name="adj2" fmla="val 100158"/>
              <a:gd name="adj3" fmla="val -1250"/>
              <a:gd name="adj4" fmla="val 100185"/>
              <a:gd name="adj5" fmla="val -153649"/>
              <a:gd name="adj6" fmla="val 49347"/>
              <a:gd name="adj7" fmla="val -149423"/>
              <a:gd name="adj8" fmla="val -3620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9900FF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rgbClr val="9900FF"/>
                </a:solidFill>
                <a:latin typeface="Times New Roman" panose="02020603050405020304" pitchFamily="18" charset="0"/>
              </a:rPr>
              <a:t>y(0)</a:t>
            </a:r>
            <a:r>
              <a:rPr lang="zh-CN" altLang="en-US" sz="2400" dirty="0">
                <a:solidFill>
                  <a:srgbClr val="99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9900FF"/>
                </a:solidFill>
                <a:latin typeface="Times New Roman" panose="02020603050405020304" pitchFamily="18" charset="0"/>
              </a:rPr>
              <a:t>y(1)</a:t>
            </a:r>
            <a:r>
              <a:rPr lang="zh-CN" altLang="en-US" sz="2400" dirty="0">
                <a:solidFill>
                  <a:srgbClr val="9900FF"/>
                </a:solidFill>
                <a:latin typeface="Times New Roman" panose="02020603050405020304" pitchFamily="18" charset="0"/>
              </a:rPr>
              <a:t>，不是</a:t>
            </a:r>
            <a:r>
              <a:rPr lang="en-US" altLang="zh-CN" sz="2400" dirty="0" err="1">
                <a:solidFill>
                  <a:srgbClr val="99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solidFill>
                  <a:srgbClr val="9900FF"/>
                </a:solidFill>
                <a:latin typeface="Times New Roman" panose="02020603050405020304" pitchFamily="18" charset="0"/>
              </a:rPr>
              <a:t>zi</a:t>
            </a:r>
            <a:r>
              <a:rPr lang="en-US" altLang="zh-CN" sz="2400" dirty="0">
                <a:solidFill>
                  <a:srgbClr val="9900FF"/>
                </a:solidFill>
                <a:latin typeface="Times New Roman" panose="02020603050405020304" pitchFamily="18" charset="0"/>
              </a:rPr>
              <a:t>(0)</a:t>
            </a:r>
            <a:r>
              <a:rPr lang="zh-CN" altLang="en-US" sz="2400" dirty="0">
                <a:solidFill>
                  <a:srgbClr val="99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dirty="0" err="1">
                <a:solidFill>
                  <a:srgbClr val="99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solidFill>
                  <a:srgbClr val="9900FF"/>
                </a:solidFill>
                <a:latin typeface="Times New Roman" panose="02020603050405020304" pitchFamily="18" charset="0"/>
              </a:rPr>
              <a:t>zi</a:t>
            </a:r>
            <a:r>
              <a:rPr lang="en-US" altLang="zh-CN" sz="2400" dirty="0">
                <a:solidFill>
                  <a:srgbClr val="9900FF"/>
                </a:solidFill>
                <a:latin typeface="Times New Roman" panose="02020603050405020304" pitchFamily="18" charset="0"/>
              </a:rPr>
              <a:t>(1)</a:t>
            </a:r>
            <a:endParaRPr lang="en-US" altLang="zh-CN" sz="2400" dirty="0">
              <a:solidFill>
                <a:srgbClr val="99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4039" name="Rectangle 7"/>
          <p:cNvSpPr>
            <a:spLocks noChangeArrowheads="1"/>
          </p:cNvSpPr>
          <p:nvPr/>
        </p:nvSpPr>
        <p:spPr bwMode="auto">
          <a:xfrm>
            <a:off x="611188" y="260350"/>
            <a:ext cx="77755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3C5A8A-3216-4E20-8A20-FFE572BF2843}" type="datetime1">
              <a:rPr lang="zh-CN" altLang="en-US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78"/>
    </mc:Choice>
    <mc:Fallback>
      <p:transition spd="slow" advTm="50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4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8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36" grpId="0" bldLvl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6406" y="1023144"/>
            <a:ext cx="8064500" cy="1944688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</a:pPr>
            <a:r>
              <a:rPr lang="zh-CN" altLang="en-US" sz="2800" b="1" dirty="0"/>
              <a:t>解：此时应</a:t>
            </a:r>
            <a:r>
              <a:rPr lang="zh-CN" altLang="en-US" sz="2800" b="1" dirty="0">
                <a:solidFill>
                  <a:srgbClr val="FF0000"/>
                </a:solidFill>
              </a:rPr>
              <a:t>先求解零状态响应</a:t>
            </a:r>
            <a:r>
              <a:rPr lang="zh-CN" altLang="en-US" sz="2800" b="1" dirty="0"/>
              <a:t>，然后分离出</a:t>
            </a:r>
            <a:r>
              <a:rPr lang="zh-CN" altLang="en-US" sz="2800" b="1" dirty="0">
                <a:solidFill>
                  <a:srgbClr val="FF3300"/>
                </a:solidFill>
              </a:rPr>
              <a:t>零输入响应的初始条件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800" b="1" dirty="0" err="1"/>
              <a:t>i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零状态响应：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5060" name="Object 2"/>
              <p:cNvSpPr txBox="1"/>
              <p:nvPr/>
            </p:nvSpPr>
            <p:spPr bwMode="auto">
              <a:xfrm>
                <a:off x="3460750" y="2276475"/>
                <a:ext cx="5056844" cy="2173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</m:oMath>
                  </m:oMathPara>
                </a14:m>
                <a:endParaRPr lang="en-US" altLang="zh-CN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solidFill>
                      <a:srgbClr val="00000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den>
                    </m:f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8506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0750" y="2276475"/>
                <a:ext cx="5056844" cy="2173288"/>
              </a:xfrm>
              <a:prstGeom prst="rect">
                <a:avLst/>
              </a:prstGeom>
              <a:blipFill rotWithShape="1">
                <a:blip r:embed="rId1"/>
                <a:stretch>
                  <a:fillRect r="7" b="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5061" name="Object 3"/>
              <p:cNvSpPr txBox="1"/>
              <p:nvPr/>
            </p:nvSpPr>
            <p:spPr bwMode="auto">
              <a:xfrm>
                <a:off x="2011363" y="4868863"/>
                <a:ext cx="7132637" cy="574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506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1363" y="4868863"/>
                <a:ext cx="7132637" cy="574675"/>
              </a:xfrm>
              <a:prstGeom prst="rect">
                <a:avLst/>
              </a:prstGeom>
              <a:blipFill rotWithShape="1">
                <a:blip r:embed="rId2"/>
                <a:stretch>
                  <a:fillRect l="-4" t="-55" b="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5064" name="Rectangle 8"/>
          <p:cNvSpPr>
            <a:spLocks noChangeArrowheads="1"/>
          </p:cNvSpPr>
          <p:nvPr/>
        </p:nvSpPr>
        <p:spPr bwMode="auto">
          <a:xfrm>
            <a:off x="388938" y="0"/>
            <a:ext cx="77755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5066" name="Object 4"/>
              <p:cNvSpPr txBox="1"/>
              <p:nvPr/>
            </p:nvSpPr>
            <p:spPr bwMode="auto">
              <a:xfrm>
                <a:off x="827088" y="4931728"/>
                <a:ext cx="1087437" cy="511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506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088" y="4931728"/>
                <a:ext cx="1087437" cy="511175"/>
              </a:xfrm>
              <a:prstGeom prst="rect">
                <a:avLst/>
              </a:prstGeom>
              <a:blipFill rotWithShape="1">
                <a:blip r:embed="rId3"/>
                <a:stretch>
                  <a:fillRect l="-29" t="-62" b="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5067" name="Object 5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1547813" y="5661025"/>
                <a:ext cx="4464050" cy="679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506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1547813" y="5661025"/>
                <a:ext cx="4464050" cy="679450"/>
              </a:xfrm>
              <a:prstGeom prst="rect">
                <a:avLst/>
              </a:prstGeom>
              <a:blipFill rotWithShape="1">
                <a:blip r:embed="rId4"/>
                <a:stretch>
                  <a:fillRect l="-7" r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40E67A-16E8-46DE-B0AA-85B5B90FDCA0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902880" y="753480"/>
            <a:ext cx="8178480" cy="55411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9333"/>
    </mc:Choice>
    <mc:Fallback>
      <p:transition spd="slow" advTm="2693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8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build="p"/>
      <p:bldP spid="685060" grpId="0"/>
      <p:bldP spid="685066" grpId="0"/>
      <p:bldP spid="685067" grpId="0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8002" name="Object 2"/>
              <p:cNvSpPr txBox="1"/>
              <p:nvPr/>
            </p:nvSpPr>
            <p:spPr bwMode="auto">
              <a:xfrm>
                <a:off x="659798" y="828347"/>
                <a:ext cx="3744912" cy="676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800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9798" y="828347"/>
                <a:ext cx="3744912" cy="676275"/>
              </a:xfrm>
              <a:prstGeom prst="rect">
                <a:avLst/>
              </a:prstGeom>
              <a:blipFill rotWithShape="1">
                <a:blip r:embed="rId1"/>
                <a:stretch>
                  <a:fillRect l="-1" t="-45" r="9" b="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084" name="Object 3"/>
              <p:cNvSpPr txBox="1"/>
              <p:nvPr/>
            </p:nvSpPr>
            <p:spPr bwMode="auto">
              <a:xfrm>
                <a:off x="1835150" y="4269105"/>
                <a:ext cx="5901690" cy="572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    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68608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150" y="4269105"/>
                <a:ext cx="5901690" cy="5727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085" name="Object 4"/>
              <p:cNvSpPr txBox="1"/>
              <p:nvPr/>
            </p:nvSpPr>
            <p:spPr bwMode="auto">
              <a:xfrm>
                <a:off x="3369825" y="5222872"/>
                <a:ext cx="5642796" cy="1146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3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68608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9825" y="5222872"/>
                <a:ext cx="5642796" cy="1146175"/>
              </a:xfrm>
              <a:prstGeom prst="rect">
                <a:avLst/>
              </a:prstGeom>
              <a:blipFill rotWithShape="1">
                <a:blip r:embed="rId3"/>
                <a:stretch>
                  <a:fillRect l="-9" t="-55" r="1" b="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088" name="Rectangle 8"/>
          <p:cNvSpPr>
            <a:spLocks noChangeArrowheads="1"/>
          </p:cNvSpPr>
          <p:nvPr/>
        </p:nvSpPr>
        <p:spPr bwMode="auto">
          <a:xfrm>
            <a:off x="403225" y="0"/>
            <a:ext cx="77755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6091" name="Object 5"/>
              <p:cNvSpPr txBox="1">
                <a:spLocks noGrp="1"/>
              </p:cNvSpPr>
              <p:nvPr>
                <p:ph sz="half" idx="1"/>
              </p:nvPr>
            </p:nvSpPr>
            <p:spPr bwMode="auto">
              <a:xfrm>
                <a:off x="2097087" y="3408362"/>
                <a:ext cx="6264986" cy="574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8609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2097087" y="3408362"/>
                <a:ext cx="6264986" cy="574675"/>
              </a:xfrm>
              <a:prstGeom prst="rect">
                <a:avLst/>
              </a:prstGeom>
              <a:blipFill rotWithShape="1">
                <a:blip r:embed="rId4"/>
                <a:stretch>
                  <a:fillRect l="-5" t="-55" r="6" b="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093" name="Object 6"/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2097087" y="2540547"/>
                <a:ext cx="6789409" cy="566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8609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2097087" y="2540547"/>
                <a:ext cx="6789409" cy="566738"/>
              </a:xfrm>
              <a:prstGeom prst="rect">
                <a:avLst/>
              </a:prstGeom>
              <a:blipFill rotWithShape="1">
                <a:blip r:embed="rId5"/>
                <a:stretch>
                  <a:fillRect l="-5" t="-97" r="5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008" name="Object 7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2097087" y="1699664"/>
                <a:ext cx="5760489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800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2097087" y="1699664"/>
                <a:ext cx="5760489" cy="558800"/>
              </a:xfrm>
              <a:prstGeom prst="rect">
                <a:avLst/>
              </a:prstGeom>
              <a:blipFill rotWithShape="1">
                <a:blip r:embed="rId6"/>
                <a:stretch>
                  <a:fillRect l="-6" t="-72" r="1" b="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日期占位符 8"/>
          <p:cNvSpPr>
            <a:spLocks noGrp="1"/>
          </p:cNvSpPr>
          <p:nvPr>
            <p:ph type="dt" sz="quarter" idx="10"/>
          </p:nvPr>
        </p:nvSpPr>
        <p:spPr>
          <a:xfrm>
            <a:off x="0" y="6554788"/>
            <a:ext cx="1905000" cy="303212"/>
          </a:xfrm>
        </p:spPr>
        <p:txBody>
          <a:bodyPr/>
          <a:lstStyle/>
          <a:p>
            <a:pPr>
              <a:defRPr/>
            </a:pPr>
            <a:fld id="{F874716D-55EA-4FFF-8F8B-A910D9ED97D0}" type="datetime1">
              <a:rPr lang="zh-CN" altLang="en-US"/>
            </a:fld>
            <a:endParaRPr lang="en-US" altLang="zh-CN" dirty="0"/>
          </a:p>
        </p:txBody>
      </p:sp>
      <p:sp>
        <p:nvSpPr>
          <p:cNvPr id="128010" name="矩形 9"/>
          <p:cNvSpPr>
            <a:spLocks noChangeArrowheads="1"/>
          </p:cNvSpPr>
          <p:nvPr/>
        </p:nvSpPr>
        <p:spPr bwMode="auto">
          <a:xfrm>
            <a:off x="741362" y="4992686"/>
            <a:ext cx="27114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  <a:buFontTx/>
              <a:buNone/>
            </a:pPr>
            <a:r>
              <a:rPr lang="en-US" altLang="zh-CN" sz="2800" dirty="0">
                <a:latin typeface="黑体" panose="02010609060101010101" pitchFamily="49" charset="-122"/>
              </a:rPr>
              <a:t>2)</a:t>
            </a:r>
            <a:r>
              <a:rPr lang="zh-CN" altLang="en-US" sz="2800" dirty="0">
                <a:latin typeface="黑体" panose="02010609060101010101" pitchFamily="49" charset="-122"/>
              </a:rPr>
              <a:t>零输入响应：</a:t>
            </a:r>
            <a:endParaRPr lang="zh-CN" altLang="en-US" sz="2800" dirty="0">
              <a:latin typeface="黑体" panose="02010609060101010101" pitchFamily="49" charset="-122"/>
            </a:endParaRPr>
          </a:p>
        </p:txBody>
      </p:sp>
    </p:spTree>
    <p:custDataLst>
      <p:tags r:id="rId7"/>
    </p:custDataLst>
  </p:cSld>
  <p:clrMapOvr>
    <a:masterClrMapping/>
  </p:clrMapOvr>
  <p:transition spd="med" advTm="11302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/>
      <p:bldP spid="686084" grpId="0"/>
      <p:bldP spid="686085" grpId="0"/>
      <p:bldP spid="686091" grpId="0" build="p"/>
      <p:bldP spid="686093" grpId="0" build="p"/>
      <p:bldP spid="128008" grpId="0" build="p"/>
      <p:bldP spid="128010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87107" name="Object 2"/>
              <p:cNvSpPr txBox="1"/>
              <p:nvPr/>
            </p:nvSpPr>
            <p:spPr bwMode="auto">
              <a:xfrm>
                <a:off x="1003847" y="3686966"/>
                <a:ext cx="6915698" cy="614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7107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3847" y="3686966"/>
                <a:ext cx="6915698" cy="614362"/>
              </a:xfrm>
              <a:prstGeom prst="rect">
                <a:avLst/>
              </a:prstGeom>
              <a:blipFill rotWithShape="1">
                <a:blip r:embed="rId1"/>
                <a:stretch>
                  <a:fillRect l="-8" t="-25" r="7" b="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7109" name="Object 3"/>
              <p:cNvSpPr txBox="1"/>
              <p:nvPr/>
            </p:nvSpPr>
            <p:spPr bwMode="auto">
              <a:xfrm>
                <a:off x="1003847" y="5214828"/>
                <a:ext cx="7202105" cy="129063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全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710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3847" y="5214828"/>
                <a:ext cx="7202105" cy="1290637"/>
              </a:xfrm>
              <a:prstGeom prst="rect">
                <a:avLst/>
              </a:prstGeom>
              <a:blipFill rotWithShape="1">
                <a:blip r:embed="rId2"/>
                <a:stretch>
                  <a:fillRect l="-69" t="-410" r="-417" b="-2321"/>
                </a:stretch>
              </a:blipFill>
              <a:ln w="9525">
                <a:solidFill>
                  <a:schemeClr val="accent2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7112" name="Rectangle 8"/>
          <p:cNvSpPr>
            <a:spLocks noChangeArrowheads="1"/>
          </p:cNvSpPr>
          <p:nvPr/>
        </p:nvSpPr>
        <p:spPr bwMode="auto">
          <a:xfrm>
            <a:off x="385763" y="0"/>
            <a:ext cx="77755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029" name="Object 4"/>
              <p:cNvSpPr txBox="1">
                <a:spLocks noGrp="1"/>
              </p:cNvSpPr>
              <p:nvPr>
                <p:ph sz="quarter" idx="1"/>
              </p:nvPr>
            </p:nvSpPr>
            <p:spPr bwMode="auto">
              <a:xfrm>
                <a:off x="1079227" y="629445"/>
                <a:ext cx="4958966" cy="792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902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 bwMode="auto">
              <a:xfrm>
                <a:off x="1079227" y="629445"/>
                <a:ext cx="4958966" cy="792162"/>
              </a:xfrm>
              <a:prstGeom prst="rect">
                <a:avLst/>
              </a:prstGeom>
              <a:blipFill rotWithShape="1">
                <a:blip r:embed="rId3"/>
                <a:stretch>
                  <a:fillRect l="-7" t="-20" r="12" b="-170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030" name="Object 5"/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1079227" y="1793561"/>
                <a:ext cx="1564125" cy="466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903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1079227" y="1793561"/>
                <a:ext cx="1564125" cy="466725"/>
              </a:xfrm>
              <a:prstGeom prst="rect">
                <a:avLst/>
              </a:prstGeom>
              <a:blipFill rotWithShape="1">
                <a:blip r:embed="rId4"/>
                <a:stretch>
                  <a:fillRect l="-23" t="-69" r="31" b="-11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7119" name="Object 6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689468" y="2570156"/>
                <a:ext cx="5480104" cy="9858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𝑧𝑖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𝑧𝑠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87119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689468" y="2570156"/>
                <a:ext cx="5480104" cy="985838"/>
              </a:xfrm>
              <a:prstGeom prst="rect">
                <a:avLst/>
              </a:prstGeom>
              <a:blipFill rotWithShape="1">
                <a:blip r:embed="rId5"/>
                <a:stretch>
                  <a:fillRect l="-9" t="-32" r="10" b="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7122" name="Object 7"/>
              <p:cNvSpPr txBox="1">
                <a:spLocks noGrp="1"/>
              </p:cNvSpPr>
              <p:nvPr>
                <p:ph sz="quarter" idx="4"/>
              </p:nvPr>
            </p:nvSpPr>
            <p:spPr bwMode="auto">
              <a:xfrm>
                <a:off x="5669401" y="2719422"/>
                <a:ext cx="3024187" cy="57626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得：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8712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 bwMode="auto">
              <a:xfrm>
                <a:off x="5669401" y="2719422"/>
                <a:ext cx="3024187" cy="576263"/>
              </a:xfrm>
              <a:prstGeom prst="rect">
                <a:avLst/>
              </a:prstGeom>
              <a:blipFill rotWithShape="1">
                <a:blip r:embed="rId6"/>
                <a:stretch>
                  <a:fillRect l="-172" t="-832" r="-993" b="-5173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7125" name="Object 8"/>
              <p:cNvSpPr txBox="1"/>
              <p:nvPr/>
            </p:nvSpPr>
            <p:spPr bwMode="auto">
              <a:xfrm>
                <a:off x="2680139" y="1752877"/>
                <a:ext cx="5584114" cy="6566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687125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0139" y="1752877"/>
                <a:ext cx="5584114" cy="656675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-448" b="-3813"/>
                </a:stretch>
              </a:blip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7126" name="Object 9"/>
              <p:cNvSpPr txBox="1"/>
              <p:nvPr/>
            </p:nvSpPr>
            <p:spPr bwMode="auto">
              <a:xfrm>
                <a:off x="1003847" y="4389396"/>
                <a:ext cx="6061075" cy="606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)=[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7126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3847" y="4389396"/>
                <a:ext cx="6061075" cy="606425"/>
              </a:xfrm>
              <a:prstGeom prst="rect">
                <a:avLst/>
              </a:prstGeom>
              <a:blipFill rotWithShape="1">
                <a:blip r:embed="rId8"/>
                <a:stretch>
                  <a:fillRect l="-9" t="-46" r="9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墨迹 1"/>
          <p:cNvSpPr/>
          <p:nvPr/>
        </p:nvSpPr>
        <p:spPr bwMode="auto">
          <a:xfrm>
            <a:off x="2560680" y="2309760"/>
            <a:ext cx="2908440" cy="34390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400"/>
    </mc:Choice>
    <mc:Fallback>
      <p:transition spd="slow" advTm="75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8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8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9" grpId="0" animBg="1"/>
      <p:bldP spid="129030" grpId="0" build="p"/>
      <p:bldP spid="687119" grpId="0" build="p"/>
      <p:bldP spid="687122" grpId="0" uiExpand="1" build="p"/>
      <p:bldP spid="687125" grpId="0" animBg="1"/>
      <p:bldP spid="687126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0663"/>
            <a:ext cx="939800" cy="533400"/>
          </a:xfrm>
        </p:spPr>
        <p:txBody>
          <a:bodyPr/>
          <a:lstStyle/>
          <a:p>
            <a:r>
              <a:rPr lang="zh-CN" altLang="en-US" sz="2400" b="1">
                <a:solidFill>
                  <a:srgbClr val="FF0000"/>
                </a:solidFill>
              </a:rPr>
              <a:t>例</a:t>
            </a:r>
            <a:r>
              <a:rPr lang="en-US" altLang="zh-CN" sz="2400" b="1">
                <a:solidFill>
                  <a:srgbClr val="FF0000"/>
                </a:solidFill>
              </a:rPr>
              <a:t>4:</a:t>
            </a:r>
            <a:endParaRPr lang="en-US" altLang="zh-CN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051" name="Object 2"/>
              <p:cNvSpPr txBox="1"/>
              <p:nvPr/>
            </p:nvSpPr>
            <p:spPr bwMode="auto">
              <a:xfrm>
                <a:off x="1457106" y="223017"/>
                <a:ext cx="7497708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30051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7106" y="223017"/>
                <a:ext cx="7497708" cy="457200"/>
              </a:xfrm>
              <a:prstGeom prst="rect">
                <a:avLst/>
              </a:prstGeom>
              <a:blipFill rotWithShape="1">
                <a:blip r:embed="rId1"/>
                <a:stretch>
                  <a:fillRect l="-6" t="-29" r="1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052" name="Object 3"/>
              <p:cNvSpPr txBox="1"/>
              <p:nvPr/>
            </p:nvSpPr>
            <p:spPr bwMode="auto">
              <a:xfrm>
                <a:off x="1762125" y="785813"/>
                <a:ext cx="52578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求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)=?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005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2125" y="785813"/>
                <a:ext cx="5257800" cy="457200"/>
              </a:xfrm>
              <a:prstGeom prst="rect">
                <a:avLst/>
              </a:prstGeom>
              <a:blipFill rotWithShape="1">
                <a:blip r:embed="rId2"/>
                <a:stretch>
                  <a:fillRect t="-70" b="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617538" y="1500243"/>
            <a:ext cx="7143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解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: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054" name="Object 4"/>
              <p:cNvSpPr txBox="1"/>
              <p:nvPr/>
            </p:nvSpPr>
            <p:spPr bwMode="auto">
              <a:xfrm>
                <a:off x="1397000" y="1500134"/>
                <a:ext cx="1455738" cy="465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3005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000" y="1500134"/>
                <a:ext cx="1455738" cy="465137"/>
              </a:xfrm>
              <a:prstGeom prst="rect">
                <a:avLst/>
              </a:prstGeom>
              <a:blipFill rotWithShape="1">
                <a:blip r:embed="rId3"/>
                <a:stretch>
                  <a:fillRect t="-57" r="22" b="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35" name="Object 5"/>
              <p:cNvSpPr txBox="1"/>
              <p:nvPr/>
            </p:nvSpPr>
            <p:spPr bwMode="auto">
              <a:xfrm>
                <a:off x="4966466" y="1554710"/>
                <a:ext cx="3205984" cy="5500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8813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6466" y="1554710"/>
                <a:ext cx="3205984" cy="550069"/>
              </a:xfrm>
              <a:prstGeom prst="rect">
                <a:avLst/>
              </a:prstGeom>
              <a:blipFill rotWithShape="1">
                <a:blip r:embed="rId4"/>
                <a:stretch>
                  <a:fillRect l="-4" t="-42" b="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37" name="Object 6"/>
              <p:cNvSpPr txBox="1"/>
              <p:nvPr/>
            </p:nvSpPr>
            <p:spPr bwMode="auto">
              <a:xfrm>
                <a:off x="735725" y="2420938"/>
                <a:ext cx="1596314" cy="439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𝑧𝑖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68813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25" y="2420938"/>
                <a:ext cx="1596314" cy="439737"/>
              </a:xfrm>
              <a:prstGeom prst="rect">
                <a:avLst/>
              </a:prstGeom>
              <a:blipFill rotWithShape="1">
                <a:blip r:embed="rId5"/>
                <a:stretch>
                  <a:fillRect l="-25" t="-72" r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38" name="Object 7"/>
              <p:cNvSpPr txBox="1"/>
              <p:nvPr/>
            </p:nvSpPr>
            <p:spPr bwMode="auto">
              <a:xfrm>
                <a:off x="4779413" y="2455863"/>
                <a:ext cx="4390862" cy="51435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≥−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8813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9413" y="2455863"/>
                <a:ext cx="4390862" cy="514350"/>
              </a:xfrm>
              <a:prstGeom prst="rect">
                <a:avLst/>
              </a:prstGeom>
              <a:blipFill rotWithShape="1">
                <a:blip r:embed="rId6"/>
                <a:stretch>
                  <a:fillRect l="-110" t="-926" r="-674" b="-5864"/>
                </a:stretch>
              </a:blipFill>
              <a:ln w="9525">
                <a:solidFill>
                  <a:schemeClr val="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40" name="Object 8"/>
              <p:cNvSpPr txBox="1"/>
              <p:nvPr/>
            </p:nvSpPr>
            <p:spPr bwMode="auto">
              <a:xfrm>
                <a:off x="4139406" y="3256702"/>
                <a:ext cx="4815408" cy="514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)=[−(−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8814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9406" y="3256702"/>
                <a:ext cx="4815408" cy="514350"/>
              </a:xfrm>
              <a:prstGeom prst="rect">
                <a:avLst/>
              </a:prstGeom>
              <a:blipFill rotWithShape="1">
                <a:blip r:embed="rId7"/>
                <a:stretch>
                  <a:fillRect l="-10" t="-82" r="1" b="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41" name="Object 9"/>
              <p:cNvSpPr txBox="1"/>
              <p:nvPr/>
            </p:nvSpPr>
            <p:spPr bwMode="auto">
              <a:xfrm>
                <a:off x="735724" y="3941023"/>
                <a:ext cx="8219089" cy="493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4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)∗[−(−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8814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24" y="3941023"/>
                <a:ext cx="8219089" cy="493713"/>
              </a:xfrm>
              <a:prstGeom prst="rect">
                <a:avLst/>
              </a:prstGeom>
              <a:blipFill rotWithShape="1">
                <a:blip r:embed="rId8"/>
                <a:stretch>
                  <a:fillRect l="-5" t="-43" r="1" b="1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42" name="Object 10"/>
              <p:cNvSpPr txBox="1"/>
              <p:nvPr/>
            </p:nvSpPr>
            <p:spPr bwMode="auto">
              <a:xfrm>
                <a:off x="1762125" y="4512467"/>
                <a:ext cx="4681537" cy="76517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8814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2125" y="4512467"/>
                <a:ext cx="4681537" cy="765175"/>
              </a:xfrm>
              <a:prstGeom prst="rect">
                <a:avLst/>
              </a:prstGeom>
              <a:blipFill rotWithShape="1">
                <a:blip r:embed="rId9"/>
                <a:stretch>
                  <a:fillRect l="-109" t="-684" r="-631" b="-3880"/>
                </a:stretch>
              </a:blipFill>
              <a:ln w="9525">
                <a:solidFill>
                  <a:schemeClr val="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43" name="Object 11"/>
              <p:cNvSpPr txBox="1"/>
              <p:nvPr/>
            </p:nvSpPr>
            <p:spPr bwMode="auto">
              <a:xfrm>
                <a:off x="562610" y="5634990"/>
                <a:ext cx="2432685" cy="4857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全响应为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  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8814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610" y="5634990"/>
                <a:ext cx="2432685" cy="48577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44" name="Object 12"/>
              <p:cNvSpPr txBox="1"/>
              <p:nvPr/>
            </p:nvSpPr>
            <p:spPr bwMode="auto">
              <a:xfrm>
                <a:off x="2500709" y="1373981"/>
                <a:ext cx="1929401" cy="892969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68814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0709" y="1373981"/>
                <a:ext cx="1929401" cy="892969"/>
              </a:xfrm>
              <a:prstGeom prst="rect">
                <a:avLst/>
              </a:prstGeom>
              <a:blipFill rotWithShape="1">
                <a:blip r:embed="rId11"/>
                <a:stretch>
                  <a:fillRect l="-333" t="-764" r="-1627" b="-3484"/>
                </a:stretch>
              </a:blipFill>
              <a:ln w="12700" cap="sq">
                <a:solidFill>
                  <a:schemeClr val="folHlink"/>
                </a:solidFill>
                <a:miter lim="800000"/>
                <a:headEnd type="none" w="sm" len="sm"/>
                <a:tailEnd type="none" w="sm" len="sm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45" name="Object 13"/>
              <p:cNvSpPr txBox="1"/>
              <p:nvPr/>
            </p:nvSpPr>
            <p:spPr bwMode="auto">
              <a:xfrm>
                <a:off x="2065584" y="2437553"/>
                <a:ext cx="2996707" cy="4746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8814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5584" y="2437553"/>
                <a:ext cx="2996707" cy="474661"/>
              </a:xfrm>
              <a:prstGeom prst="rect">
                <a:avLst/>
              </a:prstGeom>
              <a:blipFill rotWithShape="1">
                <a:blip r:embed="rId12"/>
                <a:stretch>
                  <a:fillRect l="-19" t="-89" r="2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46" name="Object 14"/>
              <p:cNvSpPr txBox="1"/>
              <p:nvPr/>
            </p:nvSpPr>
            <p:spPr bwMode="auto">
              <a:xfrm>
                <a:off x="805109" y="3206750"/>
                <a:ext cx="2996706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8814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109" y="3206750"/>
                <a:ext cx="2996706" cy="482600"/>
              </a:xfrm>
              <a:prstGeom prst="rect">
                <a:avLst/>
              </a:prstGeom>
              <a:blipFill rotWithShape="1">
                <a:blip r:embed="rId13"/>
                <a:stretch>
                  <a:fillRect l="-19" r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8148" name="Object 15"/>
              <p:cNvSpPr txBox="1"/>
              <p:nvPr/>
            </p:nvSpPr>
            <p:spPr bwMode="auto">
              <a:xfrm>
                <a:off x="2995295" y="5463540"/>
                <a:ext cx="4895850" cy="7518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+[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−(−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88148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5295" y="5463540"/>
                <a:ext cx="4895850" cy="751840"/>
              </a:xfrm>
              <a:prstGeom prst="rect">
                <a:avLst/>
              </a:prstGeom>
              <a:blipFill rotWithShape="1">
                <a:blip r:embed="rId14"/>
                <a:stretch>
                  <a:fillRect l="-104" t="-676" r="-610" b="-3970"/>
                </a:stretch>
              </a:blipFill>
              <a:ln w="9525">
                <a:solidFill>
                  <a:schemeClr val="hlink"/>
                </a:solidFill>
                <a:miter lim="800000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日期占位符 1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B7F1E02-1725-4CA4-B0E0-931641D271A9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1760040" y="647640"/>
            <a:ext cx="7287120" cy="41533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5"/>
    </p:custDataLst>
  </p:cSld>
  <p:clrMapOvr>
    <a:masterClrMapping/>
  </p:clrMapOvr>
  <p:transition spd="med" advTm="18814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88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8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8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8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88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88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88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88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88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88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88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4" grpId="0"/>
      <p:bldP spid="688137" grpId="0"/>
      <p:bldP spid="688138" grpId="0" animBg="1"/>
      <p:bldP spid="688140" grpId="0"/>
      <p:bldP spid="688141" grpId="0"/>
      <p:bldP spid="688142" grpId="0" animBg="1"/>
      <p:bldP spid="688143" grpId="0" bldLvl="0" animBg="1"/>
      <p:bldP spid="688144" grpId="0" animBg="1"/>
      <p:bldP spid="688145" grpId="0"/>
      <p:bldP spid="688146" grpId="0"/>
      <p:bldP spid="688148" grpId="0" bldLvl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0113" y="1125538"/>
            <a:ext cx="7704137" cy="3600450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</a:rPr>
              <a:t>9</a:t>
            </a:r>
            <a:r>
              <a:rPr lang="zh-CN" altLang="en-US" sz="3200" b="1" dirty="0">
                <a:solidFill>
                  <a:srgbClr val="0000FF"/>
                </a:solidFill>
              </a:rPr>
              <a:t>、离散时间系统的稳定性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800" b="1" dirty="0"/>
              <a:t>      离散系统的稳定性定义与连续系统一样，即有限输入只能引起有限输出。</a:t>
            </a:r>
            <a:endParaRPr lang="zh-CN" altLang="en-US" sz="2800" b="1" dirty="0"/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     </a:t>
            </a:r>
            <a:r>
              <a:rPr lang="zh-CN" altLang="en-US" sz="2800" b="1" dirty="0"/>
              <a:t> 系统稳定的</a:t>
            </a:r>
            <a:r>
              <a:rPr lang="zh-CN" altLang="en-US" sz="2800" b="1" dirty="0">
                <a:solidFill>
                  <a:srgbClr val="FF3300"/>
                </a:solidFill>
              </a:rPr>
              <a:t>充要条件</a:t>
            </a:r>
            <a:r>
              <a:rPr lang="zh-CN" altLang="en-US" sz="2800" b="1" dirty="0"/>
              <a:t>为其单位函数响应满足</a:t>
            </a:r>
            <a:r>
              <a:rPr lang="zh-CN" altLang="en-US" sz="2800" b="1" dirty="0">
                <a:solidFill>
                  <a:srgbClr val="FF3300"/>
                </a:solidFill>
              </a:rPr>
              <a:t>绝对可和</a:t>
            </a:r>
            <a:r>
              <a:rPr lang="zh-CN" altLang="en-US" sz="2800" b="1" dirty="0"/>
              <a:t>的条件，即存在</a:t>
            </a:r>
            <a:r>
              <a:rPr lang="en-US" altLang="zh-CN" sz="2800" b="1" dirty="0"/>
              <a:t>M</a:t>
            </a:r>
            <a:r>
              <a:rPr lang="zh-CN" altLang="en-US" sz="2800" b="1" dirty="0"/>
              <a:t>，使得下式成立：</a:t>
            </a:r>
            <a:endParaRPr lang="zh-CN" alt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9156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2627313" y="4797425"/>
                <a:ext cx="3384550" cy="1668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8915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627313" y="4797425"/>
                <a:ext cx="3384550" cy="1668463"/>
              </a:xfrm>
              <a:prstGeom prst="rect">
                <a:avLst/>
              </a:prstGeom>
              <a:blipFill rotWithShape="1">
                <a:blip r:embed="rId1"/>
                <a:stretch>
                  <a:fillRect l="-9" r="9" b="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9160" name="Rectangle 8"/>
          <p:cNvSpPr>
            <a:spLocks noChangeArrowheads="1"/>
          </p:cNvSpPr>
          <p:nvPr/>
        </p:nvSpPr>
        <p:spPr bwMode="auto">
          <a:xfrm>
            <a:off x="346075" y="0"/>
            <a:ext cx="77755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CC09688-6252-471F-B3E1-B3D840051082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132200" y="2601360"/>
            <a:ext cx="7652520" cy="14310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277"/>
    </mc:Choice>
    <mc:Fallback>
      <p:transition spd="slow" advTm="802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9156" grpId="0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41438"/>
            <a:ext cx="8394700" cy="3240087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ⅰ</a:t>
            </a:r>
            <a:r>
              <a:rPr lang="zh-CN" altLang="en-US" sz="2800" b="1" dirty="0">
                <a:latin typeface="+mn-ea"/>
              </a:rPr>
              <a:t>）从前面         之表达式可以看出，当所有的</a:t>
            </a:r>
            <a:endParaRPr lang="zh-CN" altLang="en-US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800" b="1" dirty="0">
                <a:latin typeface="+mn-ea"/>
              </a:rPr>
              <a:t>                 时，系统稳定。</a:t>
            </a:r>
            <a:endParaRPr lang="zh-CN" altLang="en-US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en-US" altLang="zh-CN" sz="2800" b="1" dirty="0">
                <a:latin typeface="+mn-ea"/>
              </a:rPr>
              <a:t>ⅱ</a:t>
            </a:r>
            <a:r>
              <a:rPr lang="zh-CN" altLang="en-US" sz="2800" b="1" dirty="0">
                <a:latin typeface="+mn-ea"/>
              </a:rPr>
              <a:t>）当有          时，系统不稳定。</a:t>
            </a:r>
            <a:endParaRPr lang="zh-CN" altLang="en-US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r>
              <a:rPr lang="zh-CN" altLang="en-US" sz="2800" b="1" dirty="0">
                <a:latin typeface="+mn-ea"/>
              </a:rPr>
              <a:t> </a:t>
            </a:r>
            <a:r>
              <a:rPr lang="en-US" altLang="zh-CN" sz="2800" b="1" dirty="0">
                <a:latin typeface="+mn-ea"/>
              </a:rPr>
              <a:t>iii</a:t>
            </a:r>
            <a:r>
              <a:rPr lang="zh-CN" altLang="en-US" sz="2800" b="1" dirty="0">
                <a:latin typeface="+mn-ea"/>
              </a:rPr>
              <a:t>）当有          且单根时，</a:t>
            </a:r>
            <a:r>
              <a:rPr lang="en-US" altLang="zh-CN" sz="2800" b="1" dirty="0">
                <a:latin typeface="+mn-ea"/>
              </a:rPr>
              <a:t> </a:t>
            </a:r>
            <a:r>
              <a:rPr lang="zh-CN" altLang="en-US" sz="2800" b="1" dirty="0">
                <a:latin typeface="+mn-ea"/>
              </a:rPr>
              <a:t>系统边界稳定。</a:t>
            </a:r>
            <a:endParaRPr lang="zh-CN" altLang="en-US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latin typeface="+mn-ea"/>
              </a:rPr>
              <a:t>                   若重根时，</a:t>
            </a:r>
            <a:r>
              <a:rPr lang="en-US" altLang="zh-CN" sz="2800" b="1" dirty="0">
                <a:latin typeface="+mn-ea"/>
              </a:rPr>
              <a:t> </a:t>
            </a:r>
            <a:r>
              <a:rPr lang="zh-CN" altLang="en-US" sz="2800" b="1" dirty="0">
                <a:latin typeface="+mn-ea"/>
              </a:rPr>
              <a:t>系统不稳定。</a:t>
            </a:r>
            <a:endParaRPr lang="zh-CN" altLang="en-US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buFontTx/>
              <a:buNone/>
            </a:pPr>
            <a:endParaRPr lang="en-US" altLang="zh-CN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0180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2555875" y="1524000"/>
                <a:ext cx="1175385" cy="5664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5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018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555875" y="1524000"/>
                <a:ext cx="1175385" cy="5664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0181" name="Object 3"/>
              <p:cNvSpPr txBox="1"/>
              <p:nvPr/>
            </p:nvSpPr>
            <p:spPr bwMode="auto">
              <a:xfrm>
                <a:off x="2349063" y="2268351"/>
                <a:ext cx="1703442" cy="630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9018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9063" y="2268351"/>
                <a:ext cx="1703442" cy="630237"/>
              </a:xfrm>
              <a:prstGeom prst="rect">
                <a:avLst/>
              </a:prstGeom>
              <a:blipFill rotWithShape="1">
                <a:blip r:embed="rId2"/>
                <a:stretch>
                  <a:fillRect l="-12" t="-21" r="33" b="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0182" name="Object 4"/>
              <p:cNvSpPr txBox="1"/>
              <p:nvPr/>
            </p:nvSpPr>
            <p:spPr bwMode="auto">
              <a:xfrm>
                <a:off x="2277570" y="3049828"/>
                <a:ext cx="1774825" cy="630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9018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7570" y="3049828"/>
                <a:ext cx="1774825" cy="630238"/>
              </a:xfrm>
              <a:prstGeom prst="rect">
                <a:avLst/>
              </a:prstGeom>
              <a:blipFill rotWithShape="1">
                <a:blip r:embed="rId3"/>
                <a:stretch>
                  <a:fillRect l="-26" t="-89" r="26" b="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0183" name="Object 5"/>
              <p:cNvSpPr txBox="1"/>
              <p:nvPr/>
            </p:nvSpPr>
            <p:spPr bwMode="auto">
              <a:xfrm>
                <a:off x="2555875" y="3751263"/>
                <a:ext cx="1311932" cy="630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9018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5" y="3751263"/>
                <a:ext cx="1311932" cy="630237"/>
              </a:xfrm>
              <a:prstGeom prst="rect">
                <a:avLst/>
              </a:prstGeom>
              <a:blipFill rotWithShape="1">
                <a:blip r:embed="rId4"/>
                <a:stretch>
                  <a:fillRect t="-50" r="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0186" name="Rectangle 10"/>
          <p:cNvSpPr>
            <a:spLocks noChangeArrowheads="1"/>
          </p:cNvSpPr>
          <p:nvPr/>
        </p:nvSpPr>
        <p:spPr bwMode="auto">
          <a:xfrm>
            <a:off x="430213" y="0"/>
            <a:ext cx="77755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3A92EB6-1C42-4403-857D-D0AB19BA2A06}" type="datetime1">
              <a:rPr lang="zh-CN" altLang="en-US"/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5"/>
              <p:cNvSpPr txBox="1"/>
              <p:nvPr/>
            </p:nvSpPr>
            <p:spPr bwMode="auto">
              <a:xfrm>
                <a:off x="2555875" y="4453943"/>
                <a:ext cx="1311932" cy="630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5" y="4453943"/>
                <a:ext cx="1311932" cy="630237"/>
              </a:xfrm>
              <a:prstGeom prst="rect">
                <a:avLst/>
              </a:prstGeom>
              <a:blipFill rotWithShape="1">
                <a:blip r:embed="rId4"/>
                <a:stretch>
                  <a:fillRect t="-8" r="2" b="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墨迹 1"/>
          <p:cNvSpPr/>
          <p:nvPr/>
        </p:nvSpPr>
        <p:spPr bwMode="auto">
          <a:xfrm>
            <a:off x="2465280" y="2718670"/>
            <a:ext cx="4809600" cy="15739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661"/>
    </mc:Choice>
    <mc:Fallback>
      <p:transition spd="slow" advTm="356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9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9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9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9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9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9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9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9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9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9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9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79" grpId="0" uiExpand="1" build="p"/>
      <p:bldP spid="690182" grpId="0"/>
      <p:bldP spid="690183" grpId="0"/>
      <p:bldP spid="17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099D8B-486F-4589-A4A8-A35DB19C5E60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384" y="246993"/>
            <a:ext cx="8825616" cy="5964621"/>
          </a:xfrm>
          <a:prstGeom prst="rect">
            <a:avLst/>
          </a:prstGeom>
        </p:spPr>
      </p:pic>
    </p:spTree>
  </p:cSld>
  <p:clrMapOvr>
    <a:masterClrMapping/>
  </p:clrMapOvr>
  <p:transition spd="med" advTm="6009">
    <p:random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006" y="1384299"/>
            <a:ext cx="7848600" cy="2665413"/>
          </a:xfrm>
        </p:spPr>
        <p:txBody>
          <a:bodyPr/>
          <a:lstStyle/>
          <a:p>
            <a:pPr marL="90805" indent="-90805">
              <a:lnSpc>
                <a:spcPct val="125000"/>
              </a:lnSpc>
              <a:buFontTx/>
              <a:buNone/>
            </a:pPr>
            <a:r>
              <a:rPr lang="en-US" altLang="zh-CN" sz="2400" b="1" dirty="0"/>
              <a:t>      </a:t>
            </a:r>
            <a:r>
              <a:rPr lang="zh-CN" altLang="en-US" sz="2400" b="1" dirty="0"/>
              <a:t>对于离散系统的稳定性也要综合零输入和零状态两部分考虑。前面已经讨论过零输入响应对系统稳定性的要求，零状态响应必须</a:t>
            </a:r>
            <a:r>
              <a:rPr lang="zh-CN" altLang="en-US" sz="2400" b="1" dirty="0">
                <a:solidFill>
                  <a:srgbClr val="FF3300"/>
                </a:solidFill>
              </a:rPr>
              <a:t>综合系统的激励信号</a:t>
            </a:r>
            <a:r>
              <a:rPr lang="zh-CN" altLang="en-US" sz="2400" b="1" dirty="0"/>
              <a:t>进行考察。</a:t>
            </a:r>
            <a:endParaRPr lang="zh-CN" altLang="en-US" sz="2400" b="1" dirty="0"/>
          </a:p>
          <a:p>
            <a:pPr marL="90805" indent="-90805">
              <a:lnSpc>
                <a:spcPct val="125000"/>
              </a:lnSpc>
              <a:buFontTx/>
              <a:buNone/>
            </a:pPr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rgbClr val="FF3300"/>
                </a:solidFill>
              </a:rPr>
              <a:t>稳定系统的定义</a:t>
            </a:r>
            <a:r>
              <a:rPr lang="zh-CN" altLang="en-US" sz="2400" b="1" dirty="0"/>
              <a:t>：对任意有界的输入激励都可以得到有界的输出的系统。  </a:t>
            </a:r>
            <a:endParaRPr lang="zh-CN" altLang="en-US" sz="2400" b="1" dirty="0">
              <a:solidFill>
                <a:schemeClr val="accent2"/>
              </a:solidFill>
            </a:endParaRPr>
          </a:p>
          <a:p>
            <a:pPr marL="90805" indent="-90805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                       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1203" name="Object 2"/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3335338" y="4930775"/>
                <a:ext cx="2447925" cy="1316038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)|≤</m:t>
                          </m:r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9120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3335338" y="4930775"/>
                <a:ext cx="2447925" cy="1316038"/>
              </a:xfrm>
              <a:prstGeom prst="rect">
                <a:avLst/>
              </a:prstGeom>
              <a:blipFill rotWithShape="1">
                <a:blip r:embed="rId1"/>
                <a:stretch>
                  <a:fillRect l="-13" r="13" b="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615141" y="856980"/>
            <a:ext cx="6554724" cy="418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</a:rPr>
              <a:t>10</a:t>
            </a:r>
            <a:r>
              <a:rPr lang="zh-CN" altLang="en-US" sz="3200" dirty="0">
                <a:solidFill>
                  <a:srgbClr val="0000FF"/>
                </a:solidFill>
                <a:latin typeface="黑体" panose="02010609060101010101" pitchFamily="49" charset="-122"/>
              </a:rPr>
              <a:t>、离散时间系统稳定的条件与判断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691205" name="Rectangle 5"/>
          <p:cNvSpPr>
            <a:spLocks noChangeArrowheads="1"/>
          </p:cNvSpPr>
          <p:nvPr/>
        </p:nvSpPr>
        <p:spPr bwMode="auto">
          <a:xfrm>
            <a:off x="971550" y="3789363"/>
            <a:ext cx="69135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accent2"/>
                </a:solidFill>
                <a:latin typeface="黑体" panose="02010609060101010101" pitchFamily="49" charset="-122"/>
              </a:rPr>
              <a:t>     </a:t>
            </a:r>
            <a:r>
              <a:rPr lang="zh-CN" altLang="en-US" sz="2400">
                <a:solidFill>
                  <a:schemeClr val="accent2"/>
                </a:solidFill>
                <a:latin typeface="黑体" panose="02010609060101010101" pitchFamily="49" charset="-122"/>
              </a:rPr>
              <a:t>稳定的充要条件：</a:t>
            </a:r>
            <a:r>
              <a:rPr lang="zh-CN" altLang="en-US" sz="2400">
                <a:latin typeface="黑体" panose="02010609060101010101" pitchFamily="49" charset="-122"/>
              </a:rPr>
              <a:t>系统的单位函数响应满足绝对可和条件，即存在</a:t>
            </a:r>
            <a:r>
              <a:rPr lang="en-US" altLang="zh-CN" sz="2400">
                <a:latin typeface="黑体" panose="02010609060101010101" pitchFamily="49" charset="-122"/>
              </a:rPr>
              <a:t>M,</a:t>
            </a:r>
            <a:r>
              <a:rPr lang="zh-CN" altLang="en-US" sz="2400">
                <a:latin typeface="黑体" panose="02010609060101010101" pitchFamily="49" charset="-122"/>
              </a:rPr>
              <a:t>使下式成立</a:t>
            </a:r>
            <a:r>
              <a:rPr lang="en-US" altLang="zh-CN" sz="2400">
                <a:latin typeface="黑体" panose="02010609060101010101" pitchFamily="49" charset="-122"/>
              </a:rPr>
              <a:t>:</a:t>
            </a:r>
            <a:endParaRPr lang="en-US" altLang="zh-CN" sz="2400">
              <a:latin typeface="黑体" panose="02010609060101010101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005AFDD-986C-4F8B-BE7B-FE835F439482}" type="datetime1">
              <a:rPr lang="zh-CN" altLang="en-US"/>
            </a:fld>
            <a:endParaRPr lang="zh-CN" alt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430213" y="0"/>
            <a:ext cx="77755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2" name="墨迹 1"/>
          <p:cNvSpPr/>
          <p:nvPr/>
        </p:nvSpPr>
        <p:spPr bwMode="auto">
          <a:xfrm>
            <a:off x="885600" y="1725840"/>
            <a:ext cx="7151040" cy="11214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035"/>
    </mc:Choice>
    <mc:Fallback>
      <p:transition spd="slow" advTm="410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9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9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9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9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9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9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91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1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9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203" grpId="0" uiExpand="1" build="p"/>
      <p:bldP spid="69120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12706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53656" y="677957"/>
                <a:ext cx="8834437" cy="6264275"/>
              </a:xfrm>
            </p:spPr>
            <p:txBody>
              <a:bodyPr/>
              <a:lstStyle/>
              <a:p>
                <a:pPr marL="0" indent="0">
                  <a:lnSpc>
                    <a:spcPct val="130000"/>
                  </a:lnSpc>
                  <a:buFontTx/>
                  <a:buNone/>
                  <a:defRPr/>
                </a:pPr>
                <a:r>
                  <a:rPr lang="zh-CN" altLang="en-US" sz="2400" b="1" dirty="0">
                    <a:solidFill>
                      <a:srgbClr val="FF0000"/>
                    </a:solidFill>
                  </a:rPr>
                  <a:t>分以下三种情况讨论：</a:t>
                </a:r>
                <a:endParaRPr lang="zh-CN" altLang="en-US" sz="2400" b="1" dirty="0">
                  <a:solidFill>
                    <a:srgbClr val="FF0000"/>
                  </a:solidFill>
                </a:endParaRPr>
              </a:p>
              <a:p>
                <a:pPr marL="365125" indent="-365125">
                  <a:lnSpc>
                    <a:spcPct val="130000"/>
                  </a:lnSpc>
                  <a:buFontTx/>
                  <a:buNone/>
                  <a:defRPr/>
                </a:pPr>
                <a:r>
                  <a:rPr lang="zh-CN" altLang="en-US" sz="2400" b="1" dirty="0">
                    <a:latin typeface="+mj-ea"/>
                    <a:ea typeface="+mj-ea"/>
                  </a:rPr>
                  <a:t>▲ 对于所有的</a:t>
                </a:r>
                <a:r>
                  <a:rPr lang="en-US" altLang="zh-CN" sz="2400" b="1" dirty="0">
                    <a:latin typeface="+mj-ea"/>
                    <a:ea typeface="+mj-ea"/>
                  </a:rPr>
                  <a:t>=1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，</a:t>
                </a:r>
                <a:r>
                  <a:rPr lang="en-US" altLang="zh-CN" sz="2400" b="1" dirty="0">
                    <a:latin typeface="+mj-ea"/>
                    <a:ea typeface="+mj-ea"/>
                  </a:rPr>
                  <a:t>2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，</a:t>
                </a:r>
                <a:r>
                  <a:rPr lang="en-US" altLang="zh-CN" sz="2400" b="1" dirty="0">
                    <a:latin typeface="+mj-ea"/>
                    <a:ea typeface="+mj-ea"/>
                  </a:rPr>
                  <a:t>…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，</a:t>
                </a:r>
                <a:r>
                  <a:rPr lang="en-US" altLang="zh-CN" sz="2400" b="1" dirty="0">
                    <a:latin typeface="+mj-ea"/>
                    <a:ea typeface="+mj-ea"/>
                  </a:rPr>
                  <a:t>n,</a:t>
                </a:r>
                <a:r>
                  <a:rPr lang="zh-CN" altLang="en-US" sz="2400" b="1" dirty="0">
                    <a:latin typeface="+mj-ea"/>
                    <a:ea typeface="+mj-ea"/>
                  </a:rPr>
                  <a:t>都有</a:t>
                </a:r>
                <a:r>
                  <a:rPr lang="en-US" altLang="zh-CN" sz="2400" b="1" dirty="0">
                    <a:latin typeface="+mj-ea"/>
                    <a:ea typeface="+mj-ea"/>
                  </a:rPr>
                  <a:t>|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400" b="1" baseline="-25000" dirty="0">
                    <a:latin typeface="+mj-ea"/>
                    <a:ea typeface="+mj-ea"/>
                  </a:rPr>
                  <a:t>i</a:t>
                </a:r>
                <a:r>
                  <a:rPr lang="en-US" altLang="zh-CN" sz="2400" b="1" dirty="0">
                    <a:latin typeface="+mj-ea"/>
                    <a:ea typeface="+mj-ea"/>
                  </a:rPr>
                  <a:t>|&lt;1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，上式一定成立，系统稳定；</a:t>
                </a:r>
                <a:endParaRPr lang="zh-CN" altLang="en-US" sz="2400" b="1" dirty="0">
                  <a:latin typeface="+mj-ea"/>
                  <a:ea typeface="+mj-ea"/>
                </a:endParaRPr>
              </a:p>
              <a:p>
                <a:pPr marL="365125" indent="-365125">
                  <a:lnSpc>
                    <a:spcPct val="130000"/>
                  </a:lnSpc>
                  <a:buFontTx/>
                  <a:buNone/>
                  <a:defRPr/>
                </a:pPr>
                <a:r>
                  <a:rPr lang="zh-CN" altLang="en-US" sz="2400" b="1" dirty="0">
                    <a:latin typeface="+mj-ea"/>
                    <a:ea typeface="+mj-ea"/>
                  </a:rPr>
                  <a:t>▲ 对于某个</a:t>
                </a:r>
                <a:r>
                  <a:rPr lang="en-US" altLang="zh-CN" sz="2400" b="1" dirty="0" err="1">
                    <a:latin typeface="+mj-ea"/>
                    <a:ea typeface="+mj-ea"/>
                  </a:rPr>
                  <a:t>i</a:t>
                </a:r>
                <a:r>
                  <a:rPr lang="en-US" altLang="zh-CN" sz="2400" b="1" dirty="0">
                    <a:latin typeface="+mj-ea"/>
                    <a:ea typeface="+mj-ea"/>
                  </a:rPr>
                  <a:t>,</a:t>
                </a:r>
                <a:r>
                  <a:rPr lang="zh-CN" altLang="en-US" sz="2400" b="1" dirty="0">
                    <a:latin typeface="+mj-ea"/>
                    <a:ea typeface="+mj-ea"/>
                  </a:rPr>
                  <a:t>有</a:t>
                </a:r>
                <a:r>
                  <a:rPr lang="en-US" altLang="zh-CN" sz="2400" b="1" dirty="0">
                    <a:latin typeface="+mj-ea"/>
                    <a:ea typeface="+mj-ea"/>
                  </a:rPr>
                  <a:t>|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400" b="1" baseline="-25000" dirty="0">
                    <a:latin typeface="+mj-ea"/>
                    <a:ea typeface="+mj-ea"/>
                  </a:rPr>
                  <a:t>i</a:t>
                </a:r>
                <a:r>
                  <a:rPr lang="en-US" altLang="zh-CN" sz="2400" b="1" dirty="0">
                    <a:latin typeface="+mj-ea"/>
                    <a:ea typeface="+mj-ea"/>
                  </a:rPr>
                  <a:t>|≥1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，那么上式不成立，系统不稳定；</a:t>
                </a:r>
                <a:endParaRPr lang="zh-CN" altLang="en-US" sz="2400" b="1" dirty="0">
                  <a:latin typeface="+mj-ea"/>
                  <a:ea typeface="+mj-ea"/>
                </a:endParaRPr>
              </a:p>
              <a:p>
                <a:pPr marL="365125" indent="-365125">
                  <a:lnSpc>
                    <a:spcPct val="130000"/>
                  </a:lnSpc>
                  <a:buFontTx/>
                  <a:buNone/>
                  <a:defRPr/>
                </a:pPr>
                <a:r>
                  <a:rPr lang="zh-CN" altLang="en-US" sz="2400" b="1" dirty="0">
                    <a:latin typeface="+mj-ea"/>
                    <a:ea typeface="+mj-ea"/>
                  </a:rPr>
                  <a:t>▲ </a:t>
                </a:r>
                <a:r>
                  <a:rPr lang="en-US" altLang="zh-CN" sz="2400" b="1" dirty="0">
                    <a:latin typeface="+mj-ea"/>
                    <a:ea typeface="+mj-ea"/>
                  </a:rPr>
                  <a:t>|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400" b="1" baseline="-25000" dirty="0">
                    <a:latin typeface="+mj-ea"/>
                    <a:ea typeface="+mj-ea"/>
                  </a:rPr>
                  <a:t>i</a:t>
                </a:r>
                <a:r>
                  <a:rPr lang="en-US" altLang="zh-CN" sz="2400" b="1" dirty="0">
                    <a:latin typeface="+mj-ea"/>
                    <a:ea typeface="+mj-ea"/>
                  </a:rPr>
                  <a:t>|=1</a:t>
                </a:r>
                <a:r>
                  <a:rPr lang="zh-CN" altLang="en-US" sz="2400" b="1" dirty="0">
                    <a:latin typeface="+mj-ea"/>
                    <a:ea typeface="+mj-ea"/>
                  </a:rPr>
                  <a:t>时</a:t>
                </a:r>
                <a:endParaRPr lang="zh-CN" altLang="en-US" sz="2400" b="1" dirty="0">
                  <a:latin typeface="+mj-ea"/>
                  <a:ea typeface="+mj-ea"/>
                </a:endParaRPr>
              </a:p>
              <a:p>
                <a:pPr marL="984250" lvl="1" indent="-546100">
                  <a:lnSpc>
                    <a:spcPct val="130000"/>
                  </a:lnSpc>
                  <a:buFontTx/>
                  <a:buNone/>
                  <a:defRPr/>
                </a:pPr>
                <a:r>
                  <a:rPr lang="en-US" altLang="zh-CN" sz="2400" b="1" dirty="0"/>
                  <a:t>1</a:t>
                </a:r>
                <a:r>
                  <a:rPr lang="zh-CN" altLang="en-US" sz="2400" b="1" dirty="0"/>
                  <a:t>）激励中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没有诸如</a:t>
                </a:r>
                <a:r>
                  <a:rPr lang="en-US" altLang="zh-CN" sz="2400" b="1" dirty="0" err="1">
                    <a:solidFill>
                      <a:srgbClr val="FF0000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400" b="1" baseline="30000" dirty="0" err="1">
                    <a:cs typeface="Arial" panose="020B0604020202020204" pitchFamily="34" charset="0"/>
                  </a:rPr>
                  <a:t>k</a:t>
                </a:r>
                <a:r>
                  <a:rPr lang="el-GR" altLang="zh-CN" sz="2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ε</a:t>
                </a:r>
                <a:r>
                  <a:rPr lang="en-US" altLang="zh-CN" sz="2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(k)</a:t>
                </a:r>
                <a:r>
                  <a:rPr lang="zh-CN" altLang="en-US" sz="2400" b="1" dirty="0">
                    <a:cs typeface="Arial" panose="020B0604020202020204" pitchFamily="34" charset="0"/>
                  </a:rPr>
                  <a:t>这样的信号分量，系统的零输入和零状态响应都不会随时间增加而趋向无穷大，系统稳定；</a:t>
                </a:r>
                <a:r>
                  <a:rPr lang="zh-CN" altLang="en-US" sz="2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临界稳定系统</a:t>
                </a:r>
                <a:r>
                  <a:rPr lang="zh-CN" altLang="en-US" sz="2400" b="1" dirty="0">
                    <a:cs typeface="Arial" panose="020B0604020202020204" pitchFamily="34" charset="0"/>
                  </a:rPr>
                  <a:t> </a:t>
                </a:r>
                <a:endParaRPr lang="zh-CN" altLang="el-GR" sz="2400" b="1" dirty="0">
                  <a:cs typeface="Arial" panose="020B0604020202020204" pitchFamily="34" charset="0"/>
                </a:endParaRPr>
              </a:p>
              <a:p>
                <a:pPr marL="984250" lvl="1" indent="-546100">
                  <a:lnSpc>
                    <a:spcPct val="130000"/>
                  </a:lnSpc>
                  <a:buFontTx/>
                  <a:buNone/>
                  <a:defRPr/>
                </a:pPr>
                <a:r>
                  <a:rPr lang="en-US" altLang="zh-CN" sz="2400" b="1" dirty="0">
                    <a:cs typeface="Arial" panose="020B0604020202020204" pitchFamily="34" charset="0"/>
                  </a:rPr>
                  <a:t>2</a:t>
                </a:r>
                <a:r>
                  <a:rPr lang="zh-CN" altLang="en-US" sz="2400" b="1" dirty="0">
                    <a:cs typeface="Arial" panose="020B0604020202020204" pitchFamily="34" charset="0"/>
                  </a:rPr>
                  <a:t>、若激励中</a:t>
                </a:r>
                <a:r>
                  <a:rPr lang="zh-CN" altLang="en-US" sz="2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有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k</a:t>
                </a:r>
                <a:r>
                  <a:rPr lang="el-GR" altLang="zh-CN" sz="2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ε</a:t>
                </a:r>
                <a:r>
                  <a:rPr lang="en-US" altLang="zh-CN" sz="2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(k)</a:t>
                </a:r>
                <a:r>
                  <a:rPr lang="zh-CN" altLang="en-US" sz="2400" b="1" dirty="0">
                    <a:cs typeface="Arial" panose="020B0604020202020204" pitchFamily="34" charset="0"/>
                  </a:rPr>
                  <a:t>分量，它与单位函数响应</a:t>
                </a:r>
                <a:r>
                  <a:rPr lang="en-US" altLang="zh-CN" sz="2400" b="1" dirty="0">
                    <a:cs typeface="Arial" panose="020B0604020202020204" pitchFamily="34" charset="0"/>
                  </a:rPr>
                  <a:t>h(t)</a:t>
                </a:r>
                <a:r>
                  <a:rPr lang="zh-CN" altLang="en-US" sz="2400" b="1" dirty="0">
                    <a:cs typeface="Arial" panose="020B0604020202020204" pitchFamily="34" charset="0"/>
                  </a:rPr>
                  <a:t>中的这个分量相卷积，结果中会出现 （ </a:t>
                </a:r>
                <a:r>
                  <a:rPr lang="en-US" altLang="zh-CN" sz="2400" b="1" dirty="0">
                    <a:cs typeface="Arial" panose="020B0604020202020204" pitchFamily="34" charset="0"/>
                  </a:rPr>
                  <a:t>k+1</a:t>
                </a:r>
                <a:r>
                  <a:rPr lang="zh-CN" altLang="en-US" sz="2400" b="1" dirty="0">
                    <a:cs typeface="Arial" panose="020B0604020202020204" pitchFamily="34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400" b="1" baseline="30000" dirty="0" err="1">
                    <a:cs typeface="Arial" panose="020B0604020202020204" pitchFamily="34" charset="0"/>
                  </a:rPr>
                  <a:t>k</a:t>
                </a:r>
                <a:r>
                  <a:rPr lang="en-US" altLang="zh-CN" sz="2400" b="1" dirty="0">
                    <a:cs typeface="Arial" panose="020B0604020202020204" pitchFamily="34" charset="0"/>
                  </a:rPr>
                  <a:t>,</a:t>
                </a:r>
                <a:r>
                  <a:rPr lang="zh-CN" altLang="en-US" sz="2400" b="1" dirty="0">
                    <a:cs typeface="Arial" panose="020B0604020202020204" pitchFamily="34" charset="0"/>
                  </a:rPr>
                  <a:t>它随时间增加而趋向无穷大，系统不稳定。</a:t>
                </a:r>
                <a:endParaRPr lang="zh-CN" altLang="en-US" sz="2400" b="1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12706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53656" y="677957"/>
                <a:ext cx="8834437" cy="6264275"/>
              </a:xfrm>
              <a:blipFill rotWithShape="1">
                <a:blip r:embed="rId1"/>
                <a:stretch>
                  <a:fillRect l="-7" t="-7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DD76E3E-25C4-4C79-91B6-E30C8439C783}" type="datetime1">
              <a:rPr lang="zh-CN" altLang="en-US"/>
            </a:fld>
            <a:endParaRPr lang="zh-CN" altLang="en-US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430213" y="0"/>
            <a:ext cx="7775575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§7.6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离散时间系统的零状态响应及全响应求解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46"/>
    </mc:Choice>
    <mc:Fallback>
      <p:transition spd="slow" advTm="33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1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1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1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12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12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>
          <a:xfrm>
            <a:off x="352425" y="14288"/>
            <a:ext cx="8524875" cy="608012"/>
          </a:xfrm>
          <a:solidFill>
            <a:schemeClr val="accent2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  <a:cs typeface="+mn-cs"/>
              </a:rPr>
              <a:t>§7.7 </a:t>
            </a:r>
            <a:r>
              <a:rPr lang="zh-CN" altLang="en-US" sz="2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  <a:cs typeface="+mn-cs"/>
              </a:rPr>
              <a:t>离散时间系统与连续时间系统时域分析法比较</a:t>
            </a:r>
            <a:endParaRPr lang="zh-CN" altLang="en-US" sz="28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407988" y="1096963"/>
            <a:ext cx="8637587" cy="5535612"/>
            <a:chOff x="0" y="475"/>
            <a:chExt cx="5760" cy="3845"/>
          </a:xfrm>
        </p:grpSpPr>
        <p:pic>
          <p:nvPicPr>
            <p:cNvPr id="135172" name="Picture 4"/>
            <p:cNvPicPr>
              <a:picLocks noChangeAspect="1" noChangeArrowheads="1"/>
            </p:cNvPicPr>
            <p:nvPr/>
          </p:nvPicPr>
          <p:blipFill>
            <a:blip r:embed="rId1">
              <a:lum contras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27" t="27049" r="13754" b="17178"/>
            <a:stretch>
              <a:fillRect/>
            </a:stretch>
          </p:blipFill>
          <p:spPr bwMode="auto">
            <a:xfrm>
              <a:off x="0" y="475"/>
              <a:ext cx="5760" cy="3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173" name="Object 2"/>
                <p:cNvSpPr txBox="1"/>
                <p:nvPr/>
              </p:nvSpPr>
              <p:spPr bwMode="auto">
                <a:xfrm>
                  <a:off x="3969" y="2523"/>
                  <a:ext cx="1791" cy="2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>
                  <a:normAutofit fontScale="4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+...+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5173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69" y="2523"/>
                  <a:ext cx="1791" cy="272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墨迹 2"/>
          <p:cNvSpPr/>
          <p:nvPr/>
        </p:nvSpPr>
        <p:spPr bwMode="auto">
          <a:xfrm>
            <a:off x="4268880" y="4360680"/>
            <a:ext cx="4682880" cy="201564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71"/>
    </mc:Choice>
    <mc:Fallback>
      <p:transition spd="slow" advTm="317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755650" y="260350"/>
            <a:ext cx="17287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805" indent="-908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>
                <a:solidFill>
                  <a:srgbClr val="FF0000"/>
                </a:solidFill>
                <a:latin typeface="华文中宋" panose="02010600040101010101" pitchFamily="2" charset="-122"/>
              </a:rPr>
              <a:t>本章小结</a:t>
            </a:r>
            <a:endParaRPr lang="zh-CN" altLang="en-US" sz="240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136195" name="Text Box 3"/>
          <p:cNvSpPr txBox="1">
            <a:spLocks noChangeArrowheads="1"/>
          </p:cNvSpPr>
          <p:nvPr/>
        </p:nvSpPr>
        <p:spPr bwMode="auto">
          <a:xfrm>
            <a:off x="900113" y="908050"/>
            <a:ext cx="417671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kumimoji="1" lang="en-US" altLang="zh-CN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）离散时间信号的表示方法</a:t>
            </a:r>
            <a:endParaRPr kumimoji="1"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748548" name="Text Box 4"/>
          <p:cNvSpPr txBox="1">
            <a:spLocks noChangeArrowheads="1"/>
          </p:cNvSpPr>
          <p:nvPr/>
        </p:nvSpPr>
        <p:spPr bwMode="auto">
          <a:xfrm>
            <a:off x="2411413" y="1628775"/>
            <a:ext cx="4824412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</a:rPr>
              <a:t>图形表示、数据表格、序列表示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36197" name="Text Box 43"/>
          <p:cNvSpPr txBox="1">
            <a:spLocks noChangeArrowheads="1"/>
          </p:cNvSpPr>
          <p:nvPr/>
        </p:nvSpPr>
        <p:spPr bwMode="auto">
          <a:xfrm>
            <a:off x="1042988" y="2205038"/>
            <a:ext cx="41767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kumimoji="1" lang="en-US" altLang="zh-CN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）离散时间信号的时域运算</a:t>
            </a:r>
            <a:endParaRPr kumimoji="1"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748588" name="Text Box 44"/>
          <p:cNvSpPr txBox="1">
            <a:spLocks noChangeArrowheads="1"/>
          </p:cNvSpPr>
          <p:nvPr/>
        </p:nvSpPr>
        <p:spPr bwMode="auto">
          <a:xfrm>
            <a:off x="2195513" y="2852738"/>
            <a:ext cx="5832475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</a:rPr>
              <a:t>相加、相乘、数乘、累加和、差分运算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748589" name="Rectangle 45"/>
          <p:cNvSpPr>
            <a:spLocks noChangeArrowheads="1"/>
          </p:cNvSpPr>
          <p:nvPr/>
        </p:nvSpPr>
        <p:spPr bwMode="auto">
          <a:xfrm>
            <a:off x="900113" y="3429000"/>
            <a:ext cx="3455987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方正楷体_GB2312" panose="02000000000000000000" charset="-122"/>
                <a:ea typeface="黑体" panose="02010609060101010101" pitchFamily="49" charset="-122"/>
              </a:rPr>
              <a:t>）离散信号时域变换</a:t>
            </a:r>
            <a:endParaRPr lang="zh-CN" alt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方正楷体_GB2312" panose="02000000000000000000" charset="-122"/>
              <a:ea typeface="黑体" panose="02010609060101010101" pitchFamily="49" charset="-122"/>
            </a:endParaRPr>
          </a:p>
        </p:txBody>
      </p:sp>
      <p:sp>
        <p:nvSpPr>
          <p:cNvPr id="748590" name="Text Box 46"/>
          <p:cNvSpPr txBox="1">
            <a:spLocks noChangeArrowheads="1"/>
          </p:cNvSpPr>
          <p:nvPr/>
        </p:nvSpPr>
        <p:spPr bwMode="auto">
          <a:xfrm>
            <a:off x="2627313" y="4076700"/>
            <a:ext cx="4103687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</a:rPr>
              <a:t>移序、反折、倒相、展缩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36201" name="Rectangle 47"/>
          <p:cNvSpPr>
            <a:spLocks noChangeArrowheads="1"/>
          </p:cNvSpPr>
          <p:nvPr/>
        </p:nvSpPr>
        <p:spPr bwMode="auto">
          <a:xfrm>
            <a:off x="1187450" y="4724400"/>
            <a:ext cx="489743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latin typeface="Tahoma" panose="020B0604030504040204" pitchFamily="34" charset="0"/>
              </a:rPr>
              <a:t>4</a:t>
            </a:r>
            <a:r>
              <a:rPr kumimoji="1" lang="zh-CN" altLang="en-US" sz="2400">
                <a:latin typeface="Tahoma" panose="020B0604030504040204" pitchFamily="34" charset="0"/>
              </a:rPr>
              <a:t>）单位取样序列和单位阶跃序列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36202" name="Rectangle 48"/>
          <p:cNvSpPr>
            <a:spLocks noChangeArrowheads="1"/>
          </p:cNvSpPr>
          <p:nvPr/>
        </p:nvSpPr>
        <p:spPr bwMode="auto">
          <a:xfrm>
            <a:off x="1258888" y="5445125"/>
            <a:ext cx="2963862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latin typeface="Tahoma" panose="020B0604030504040204" pitchFamily="34" charset="0"/>
              </a:rPr>
              <a:t>5</a:t>
            </a:r>
            <a:r>
              <a:rPr kumimoji="1" lang="zh-CN" altLang="en-US" sz="2400">
                <a:latin typeface="Tahoma" panose="020B0604030504040204" pitchFamily="34" charset="0"/>
              </a:rPr>
              <a:t>）采样定理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0E83D4-BCE9-43C6-94B7-A0FE57849FC1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3418920" y="5123520"/>
            <a:ext cx="4781880" cy="13291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med" advTm="6007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4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48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48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4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48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48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4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/>
      <p:bldP spid="748548" grpId="0" animBg="1"/>
      <p:bldP spid="136197" grpId="0"/>
      <p:bldP spid="748588" grpId="0" animBg="1"/>
      <p:bldP spid="748589" grpId="0"/>
      <p:bldP spid="748590" grpId="0" animBg="1"/>
      <p:bldP spid="136201" grpId="0"/>
      <p:bldP spid="13620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755650" y="260350"/>
            <a:ext cx="17287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805" indent="-908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>
                <a:solidFill>
                  <a:srgbClr val="FF0000"/>
                </a:solidFill>
                <a:latin typeface="华文中宋" panose="02010600040101010101" pitchFamily="2" charset="-122"/>
              </a:rPr>
              <a:t>本章小结</a:t>
            </a:r>
            <a:endParaRPr lang="zh-CN" altLang="en-US" sz="240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900113" y="908050"/>
            <a:ext cx="417671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kumimoji="1" lang="en-US" altLang="zh-CN" sz="2400">
                <a:solidFill>
                  <a:srgbClr val="05013F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sz="2400">
                <a:solidFill>
                  <a:srgbClr val="05013F"/>
                </a:solidFill>
                <a:latin typeface="Times New Roman" panose="02020603050405020304" pitchFamily="18" charset="0"/>
              </a:rPr>
              <a:t>）离散时间系统的表示方法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59812" name="Text Box 4"/>
          <p:cNvSpPr txBox="1">
            <a:spLocks noChangeArrowheads="1"/>
          </p:cNvSpPr>
          <p:nvPr/>
        </p:nvSpPr>
        <p:spPr bwMode="auto">
          <a:xfrm>
            <a:off x="2051050" y="1557338"/>
            <a:ext cx="4824413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</a:rPr>
              <a:t>模拟框图、差分方程、系统函数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</a:endParaRPr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889000" y="2162175"/>
            <a:ext cx="5834063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kumimoji="1" lang="en-US" altLang="zh-CN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）离散时间系统的零输入响应求解</a:t>
            </a:r>
            <a:endParaRPr kumimoji="1" lang="zh-CN" altLang="en-US" sz="2400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9820" name="Object 2"/>
              <p:cNvSpPr txBox="1"/>
              <p:nvPr/>
            </p:nvSpPr>
            <p:spPr bwMode="auto">
              <a:xfrm>
                <a:off x="1838325" y="2924175"/>
                <a:ext cx="5314950" cy="504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将差分方程写成移序算子的形式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5982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8325" y="2924175"/>
                <a:ext cx="5314950" cy="5048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9821" name="Object 3"/>
              <p:cNvSpPr txBox="1"/>
              <p:nvPr/>
            </p:nvSpPr>
            <p:spPr bwMode="auto">
              <a:xfrm>
                <a:off x="1838325" y="3607435"/>
                <a:ext cx="5140325" cy="1497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0000" lnSpcReduction="10000"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求特征方程的根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 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若为单根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则解的形式为：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  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若为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阶重根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则解的形式为：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5982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8325" y="3607435"/>
                <a:ext cx="5140325" cy="14973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9822" name="Object 4"/>
              <p:cNvSpPr txBox="1"/>
              <p:nvPr/>
            </p:nvSpPr>
            <p:spPr bwMode="auto">
              <a:xfrm>
                <a:off x="1838325" y="5373688"/>
                <a:ext cx="4032250" cy="5032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根据初始条件求解系数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5982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8325" y="5373688"/>
                <a:ext cx="4032250" cy="503237"/>
              </a:xfrm>
              <a:prstGeom prst="rect">
                <a:avLst/>
              </a:prstGeom>
              <a:blipFill rotWithShape="1">
                <a:blip r:embed="rId3"/>
                <a:stretch>
                  <a:fillRect t="-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日期占位符 8"/>
          <p:cNvSpPr>
            <a:spLocks noGrp="1"/>
          </p:cNvSpPr>
          <p:nvPr>
            <p:ph type="dt" sz="quarter" idx="10"/>
          </p:nvPr>
        </p:nvSpPr>
        <p:spPr>
          <a:xfrm>
            <a:off x="0" y="6624638"/>
            <a:ext cx="1190625" cy="369887"/>
          </a:xfrm>
        </p:spPr>
        <p:txBody>
          <a:bodyPr/>
          <a:lstStyle/>
          <a:p>
            <a:pPr>
              <a:defRPr/>
            </a:pPr>
            <a:fld id="{56EC7B5E-25B3-4DB0-87E1-27B7475B15B4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2683800" y="1836360"/>
            <a:ext cx="6308640" cy="34380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 spd="med" advTm="5550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5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12" grpId="0" animBg="1"/>
      <p:bldP spid="137221" grpId="0"/>
      <p:bldP spid="759820" grpId="0"/>
      <p:bldP spid="759821" grpId="0" bldLvl="0" animBg="1"/>
      <p:bldP spid="75982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ChangeArrowheads="1"/>
          </p:cNvSpPr>
          <p:nvPr/>
        </p:nvSpPr>
        <p:spPr bwMode="auto">
          <a:xfrm>
            <a:off x="474663" y="0"/>
            <a:ext cx="17287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805" indent="-908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Toots Regular" panose="02010600010101010101" charset="-122"/>
              <a:buNone/>
            </a:pPr>
            <a:r>
              <a:rPr lang="zh-CN" altLang="en-US" sz="2400">
                <a:solidFill>
                  <a:srgbClr val="FF0000"/>
                </a:solidFill>
                <a:latin typeface="华文中宋" panose="02010600040101010101" pitchFamily="2" charset="-122"/>
              </a:rPr>
              <a:t>本章小结</a:t>
            </a:r>
            <a:endParaRPr lang="zh-CN" altLang="en-US" sz="240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787400" y="569913"/>
            <a:ext cx="54006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kumimoji="1" lang="en-US" altLang="zh-CN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8</a:t>
            </a:r>
            <a:r>
              <a:rPr kumimoji="1" lang="zh-CN" altLang="en-US" sz="2400" dirty="0">
                <a:solidFill>
                  <a:srgbClr val="05013F"/>
                </a:solidFill>
                <a:latin typeface="Times New Roman" panose="02020603050405020304" pitchFamily="18" charset="0"/>
              </a:rPr>
              <a:t>）离散时间系统的零状态响应求解</a:t>
            </a:r>
            <a:endParaRPr kumimoji="1"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138244" name="Text Box 5"/>
          <p:cNvSpPr txBox="1">
            <a:spLocks noChangeArrowheads="1"/>
          </p:cNvSpPr>
          <p:nvPr/>
        </p:nvSpPr>
        <p:spPr bwMode="auto">
          <a:xfrm>
            <a:off x="812800" y="5694363"/>
            <a:ext cx="48974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folHlink"/>
              </a:buClr>
              <a:buSzPct val="60000"/>
              <a:buFont typeface="Toots Regular" panose="02010600010101010101" charset="-122"/>
              <a:buNone/>
            </a:pPr>
            <a:r>
              <a:rPr kumimoji="1" lang="en-US" altLang="zh-CN" sz="2400">
                <a:solidFill>
                  <a:srgbClr val="05013F"/>
                </a:solidFill>
                <a:latin typeface="Times New Roman" panose="02020603050405020304" pitchFamily="18" charset="0"/>
              </a:rPr>
              <a:t>9</a:t>
            </a:r>
            <a:r>
              <a:rPr kumimoji="1" lang="zh-CN" altLang="en-US" sz="2400">
                <a:solidFill>
                  <a:srgbClr val="05013F"/>
                </a:solidFill>
                <a:latin typeface="Times New Roman" panose="02020603050405020304" pitchFamily="18" charset="0"/>
              </a:rPr>
              <a:t>）离散时间系统的全响应求解</a:t>
            </a:r>
            <a:endParaRPr kumimoji="1" lang="zh-CN" altLang="en-US" sz="240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0838" name="Object 2"/>
              <p:cNvSpPr txBox="1"/>
              <p:nvPr/>
            </p:nvSpPr>
            <p:spPr bwMode="auto">
              <a:xfrm>
                <a:off x="1349375" y="1962150"/>
                <a:ext cx="1871663" cy="522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求解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6083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9375" y="1962150"/>
                <a:ext cx="1871663" cy="522288"/>
              </a:xfrm>
              <a:prstGeom prst="rect">
                <a:avLst/>
              </a:prstGeom>
              <a:blipFill rotWithShape="1">
                <a:blip r:embed="rId1"/>
                <a:stretch>
                  <a:fillRect r="17" b="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0841" name="Object 3"/>
              <p:cNvSpPr txBox="1"/>
              <p:nvPr/>
            </p:nvSpPr>
            <p:spPr bwMode="auto">
              <a:xfrm>
                <a:off x="2317750" y="1258888"/>
                <a:ext cx="2744788" cy="534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6084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7750" y="1258888"/>
                <a:ext cx="2744788" cy="534987"/>
              </a:xfrm>
              <a:prstGeom prst="rect">
                <a:avLst/>
              </a:prstGeom>
              <a:blipFill rotWithShape="1">
                <a:blip r:embed="rId2"/>
                <a:stretch>
                  <a:fillRect t="-59" r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0842" name="Object 4"/>
              <p:cNvSpPr txBox="1"/>
              <p:nvPr/>
            </p:nvSpPr>
            <p:spPr bwMode="auto">
              <a:xfrm>
                <a:off x="1435100" y="4222750"/>
                <a:ext cx="2232025" cy="528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做卷积运算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6084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5100" y="4222750"/>
                <a:ext cx="2232025" cy="528638"/>
              </a:xfrm>
              <a:prstGeom prst="rect">
                <a:avLst/>
              </a:prstGeom>
              <a:blipFill rotWithShape="1">
                <a:blip r:embed="rId3"/>
                <a:stretch>
                  <a:fillRect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0843" name="Object 5"/>
              <p:cNvSpPr txBox="1"/>
              <p:nvPr/>
            </p:nvSpPr>
            <p:spPr bwMode="auto">
              <a:xfrm>
                <a:off x="2124075" y="2565400"/>
                <a:ext cx="1511300" cy="7572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S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6084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2565400"/>
                <a:ext cx="1511300" cy="757238"/>
              </a:xfrm>
              <a:prstGeom prst="rect">
                <a:avLst/>
              </a:prstGeom>
              <a:blipFill rotWithShape="1">
                <a:blip r:embed="rId4"/>
                <a:stretch>
                  <a:fillRect b="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0844" name="Object 6"/>
              <p:cNvSpPr txBox="1"/>
              <p:nvPr/>
            </p:nvSpPr>
            <p:spPr bwMode="auto">
              <a:xfrm>
                <a:off x="4859338" y="2638425"/>
                <a:ext cx="3125787" cy="536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6084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9338" y="2638425"/>
                <a:ext cx="3125787" cy="536575"/>
              </a:xfrm>
              <a:prstGeom prst="rect">
                <a:avLst/>
              </a:prstGeom>
              <a:blipFill rotWithShape="1">
                <a:blip r:embed="rId5"/>
                <a:stretch>
                  <a:fillRect l="-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0845" name="Object 7"/>
              <p:cNvSpPr txBox="1"/>
              <p:nvPr/>
            </p:nvSpPr>
            <p:spPr bwMode="auto">
              <a:xfrm>
                <a:off x="2109788" y="3446463"/>
                <a:ext cx="1511300" cy="7572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6084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9788" y="3446463"/>
                <a:ext cx="1511300" cy="757237"/>
              </a:xfrm>
              <a:prstGeom prst="rect">
                <a:avLst/>
              </a:prstGeom>
              <a:blipFill rotWithShape="1">
                <a:blip r:embed="rId6"/>
                <a:stretch>
                  <a:fillRect l="-21" t="-42" r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0846" name="Object 8"/>
              <p:cNvSpPr txBox="1"/>
              <p:nvPr/>
            </p:nvSpPr>
            <p:spPr bwMode="auto">
              <a:xfrm>
                <a:off x="4894263" y="3532188"/>
                <a:ext cx="2249487" cy="536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6084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4263" y="3532188"/>
                <a:ext cx="2249487" cy="536575"/>
              </a:xfrm>
              <a:prstGeom prst="rect">
                <a:avLst/>
              </a:prstGeom>
              <a:blipFill rotWithShape="1">
                <a:blip r:embed="rId7"/>
                <a:stretch>
                  <a:fillRect l="-14" t="-59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0847" name="Rectangle 15"/>
          <p:cNvSpPr>
            <a:spLocks noChangeArrowheads="1"/>
          </p:cNvSpPr>
          <p:nvPr/>
        </p:nvSpPr>
        <p:spPr bwMode="auto">
          <a:xfrm>
            <a:off x="1617980" y="4749800"/>
            <a:ext cx="6696075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3300"/>
                </a:solidFill>
                <a:latin typeface="黑体" panose="02010609060101010101" pitchFamily="49" charset="-122"/>
              </a:rPr>
              <a:t>      图解法、多项式乘法、解析法、列表法、</a:t>
            </a:r>
            <a:endParaRPr lang="zh-CN" altLang="en-US" sz="2400">
              <a:solidFill>
                <a:srgbClr val="FF3300"/>
              </a:solidFill>
              <a:latin typeface="黑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3300"/>
                </a:solidFill>
                <a:latin typeface="黑体" panose="02010609060101010101" pitchFamily="49" charset="-122"/>
              </a:rPr>
              <a:t>性质（结合查表），</a:t>
            </a:r>
            <a:r>
              <a:rPr lang="en-US" altLang="zh-CN" sz="2400">
                <a:solidFill>
                  <a:srgbClr val="FF3300"/>
                </a:solidFill>
                <a:latin typeface="黑体" panose="02010609060101010101" pitchFamily="49" charset="-122"/>
              </a:rPr>
              <a:t>Z</a:t>
            </a:r>
            <a:r>
              <a:rPr lang="zh-CN" altLang="en-US" sz="2400">
                <a:solidFill>
                  <a:srgbClr val="FF3300"/>
                </a:solidFill>
                <a:latin typeface="黑体" panose="02010609060101010101" pitchFamily="49" charset="-122"/>
              </a:rPr>
              <a:t>变换法</a:t>
            </a:r>
            <a:endParaRPr lang="zh-CN" altLang="en-US" sz="240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E7A83FE-E0DF-4B6D-8952-CA6BC7D4A805}" type="datetime1">
              <a:rPr lang="zh-CN" altLang="en-US"/>
            </a:fld>
            <a:endParaRPr lang="en-US" altLang="zh-CN"/>
          </a:p>
        </p:txBody>
      </p:sp>
      <p:sp>
        <p:nvSpPr>
          <p:cNvPr id="2" name="墨迹 1"/>
          <p:cNvSpPr/>
          <p:nvPr/>
        </p:nvSpPr>
        <p:spPr bwMode="auto">
          <a:xfrm>
            <a:off x="2541240" y="1202040"/>
            <a:ext cx="5839560" cy="52459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8"/>
    </p:custDataLst>
  </p:cSld>
  <p:clrMapOvr>
    <a:masterClrMapping/>
  </p:clrMapOvr>
  <p:transition spd="med" advTm="8778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60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60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6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760838" grpId="0"/>
      <p:bldP spid="760841" grpId="0"/>
      <p:bldP spid="760842" grpId="0"/>
      <p:bldP spid="760843" grpId="0"/>
      <p:bldP spid="760844" grpId="0"/>
      <p:bldP spid="760845" grpId="0"/>
      <p:bldP spid="760846" grpId="0"/>
      <p:bldP spid="760847" grpId="0" bldLvl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47539" name="Object 3"/>
              <p:cNvSpPr txBox="1"/>
              <p:nvPr/>
            </p:nvSpPr>
            <p:spPr bwMode="auto">
              <a:xfrm>
                <a:off x="719137" y="1140619"/>
                <a:ext cx="7056438" cy="5889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根据系统特征方程的根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的取值来判断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4753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137" y="1140619"/>
                <a:ext cx="7056438" cy="588962"/>
              </a:xfrm>
              <a:prstGeom prst="rect">
                <a:avLst/>
              </a:prstGeom>
              <a:blipFill rotWithShape="1">
                <a:blip r:embed="rId1"/>
                <a:stretch>
                  <a:fillRect l="-76" t="-890" r="-423" b="-5094"/>
                </a:stretch>
              </a:blipFill>
              <a:ln w="9525">
                <a:solidFill>
                  <a:schemeClr val="folHlink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428" name="组合 9"/>
          <p:cNvGrpSpPr/>
          <p:nvPr/>
        </p:nvGrpSpPr>
        <p:grpSpPr bwMode="auto">
          <a:xfrm>
            <a:off x="719137" y="1883519"/>
            <a:ext cx="7056437" cy="4539447"/>
            <a:chOff x="789755" y="2294235"/>
            <a:chExt cx="7056437" cy="453944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429" name="Object 2"/>
                <p:cNvSpPr txBox="1"/>
                <p:nvPr/>
              </p:nvSpPr>
              <p:spPr bwMode="auto">
                <a:xfrm>
                  <a:off x="789755" y="2294235"/>
                  <a:ext cx="7056437" cy="453944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所有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时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当某些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时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当某些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，且其他的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时：</m:t>
                        </m:r>
                      </m:oMath>
                      <m:oMath xmlns:m="http://schemas.openxmlformats.org/officeDocument/2006/math"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若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的根为单重根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br>
                    <a:rPr lang="zh-CN" altLang="en-US" i="1" dirty="0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</a:br>
                  <a:br>
                    <a:rPr lang="zh-CN" altLang="en-US" i="1" dirty="0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</a:b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若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的根为多重根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3429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9755" y="2294235"/>
                  <a:ext cx="7056437" cy="4539447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430" name="Rectangle 21"/>
            <p:cNvSpPr>
              <a:spLocks noChangeArrowheads="1"/>
            </p:cNvSpPr>
            <p:nvPr/>
          </p:nvSpPr>
          <p:spPr bwMode="auto">
            <a:xfrm>
              <a:off x="3924300" y="2352468"/>
              <a:ext cx="1295400" cy="5032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35000"/>
                </a:lnSpc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chemeClr val="accent1"/>
                  </a:solidFill>
                  <a:latin typeface="黑体" panose="02010609060101010101" pitchFamily="49" charset="-122"/>
                </a:rPr>
                <a:t>系统稳定</a:t>
              </a:r>
              <a:endParaRPr lang="zh-CN" altLang="en-US" sz="2400">
                <a:solidFill>
                  <a:schemeClr val="accent1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3431" name="Rectangle 22"/>
            <p:cNvSpPr>
              <a:spLocks noChangeArrowheads="1"/>
            </p:cNvSpPr>
            <p:nvPr/>
          </p:nvSpPr>
          <p:spPr bwMode="auto">
            <a:xfrm>
              <a:off x="3924300" y="2997993"/>
              <a:ext cx="1800225" cy="5032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35000"/>
                </a:lnSpc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黑体" panose="02010609060101010101" pitchFamily="49" charset="-122"/>
                </a:rPr>
                <a:t>系统不稳定</a:t>
              </a:r>
              <a:endParaRPr lang="zh-CN" altLang="en-US" sz="2400">
                <a:latin typeface="黑体" panose="02010609060101010101" pitchFamily="49" charset="-122"/>
              </a:endParaRPr>
            </a:p>
          </p:txBody>
        </p:sp>
        <p:sp>
          <p:nvSpPr>
            <p:cNvPr id="103433" name="Rectangle 24"/>
            <p:cNvSpPr>
              <a:spLocks noChangeArrowheads="1"/>
            </p:cNvSpPr>
            <p:nvPr/>
          </p:nvSpPr>
          <p:spPr bwMode="auto">
            <a:xfrm>
              <a:off x="3924300" y="4797425"/>
              <a:ext cx="2232025" cy="5032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35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>
                  <a:solidFill>
                    <a:schemeClr val="accent2"/>
                  </a:solidFill>
                  <a:latin typeface="黑体" panose="02010609060101010101" pitchFamily="49" charset="-122"/>
                </a:rPr>
                <a:t>系统边界稳定</a:t>
              </a:r>
              <a:endParaRPr lang="zh-CN" altLang="en-US" sz="2400" dirty="0">
                <a:solidFill>
                  <a:schemeClr val="accent2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3434" name="Rectangle 26"/>
            <p:cNvSpPr>
              <a:spLocks noChangeArrowheads="1"/>
            </p:cNvSpPr>
            <p:nvPr/>
          </p:nvSpPr>
          <p:spPr bwMode="auto">
            <a:xfrm>
              <a:off x="3851275" y="6201569"/>
              <a:ext cx="1800225" cy="5032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35000"/>
                </a:lnSpc>
                <a:buFont typeface="Wingdings" panose="05000000000000000000" pitchFamily="2" charset="2"/>
                <a:buNone/>
              </a:pP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pitchFamily="49" charset="-122"/>
                </a:rPr>
                <a:t>系统不稳定</a:t>
              </a:r>
              <a:endParaRPr lang="zh-CN" altLang="en-US" sz="2400" dirty="0">
                <a:latin typeface="黑体" panose="02010609060101010101" pitchFamily="49" charset="-122"/>
              </a:endParaRPr>
            </a:p>
          </p:txBody>
        </p:sp>
      </p:grp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68338" y="0"/>
            <a:ext cx="41767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</a:rPr>
              <a:t>本章小结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</a:rPr>
              <a:t>—</a:t>
            </a:r>
            <a:r>
              <a:rPr lang="zh-CN" altLang="en-US" sz="2000" dirty="0">
                <a:latin typeface="黑体" panose="02010609060101010101" pitchFamily="49" charset="-122"/>
              </a:rPr>
              <a:t>离散时间系统的稳定性</a:t>
            </a:r>
            <a:endParaRPr lang="zh-CN" altLang="en-US" sz="2000" dirty="0">
              <a:latin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95"/>
    </mc:Choice>
    <mc:Fallback>
      <p:transition spd="slow" advTm="89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70.3"/>
</p:tagLst>
</file>

<file path=ppt/tags/tag2.xml><?xml version="1.0" encoding="utf-8"?>
<p:tagLst xmlns:p="http://schemas.openxmlformats.org/presentationml/2006/main">
  <p:tag name="TIMING" val="|34.6|86.2|45.9|54.8"/>
</p:tagLst>
</file>

<file path=ppt/tags/tag3.xml><?xml version="1.0" encoding="utf-8"?>
<p:tagLst xmlns:p="http://schemas.openxmlformats.org/presentationml/2006/main">
  <p:tag name="TIMING" val="|17.6|2|18.3"/>
</p:tagLst>
</file>

<file path=ppt/tags/tag4.xml><?xml version="1.0" encoding="utf-8"?>
<p:tagLst xmlns:p="http://schemas.openxmlformats.org/presentationml/2006/main">
  <p:tag name="TIMING" val="|13.8|10.7|8.2|35"/>
</p:tagLst>
</file>

<file path=ppt/tags/tag5.xml><?xml version="1.0" encoding="utf-8"?>
<p:tagLst xmlns:p="http://schemas.openxmlformats.org/presentationml/2006/main">
  <p:tag name="TIMING" val="|13.8|10.7|8.2|35"/>
</p:tagLst>
</file>

<file path=ppt/tags/tag6.xml><?xml version="1.0" encoding="utf-8"?>
<p:tagLst xmlns:p="http://schemas.openxmlformats.org/presentationml/2006/main">
  <p:tag name="TIMING" val="|68.2|7"/>
</p:tagLst>
</file>

<file path=ppt/tags/tag7.xml><?xml version="1.0" encoding="utf-8"?>
<p:tagLst xmlns:p="http://schemas.openxmlformats.org/presentationml/2006/main">
  <p:tag name="TIMING" val="|24.1|2.9"/>
</p:tagLst>
</file>

<file path=ppt/tags/tag8.xml><?xml version="1.0" encoding="utf-8"?>
<p:tagLst xmlns:p="http://schemas.openxmlformats.org/presentationml/2006/main">
  <p:tag name="TIMING" val="|27.5|4"/>
</p:tagLst>
</file>

<file path=ppt/tags/tag9.xml><?xml version="1.0" encoding="utf-8"?>
<p:tagLst xmlns:p="http://schemas.openxmlformats.org/presentationml/2006/main">
  <p:tag name="TIMING" val="|43|29.4"/>
</p:tagLst>
</file>

<file path=ppt/tags/tag10.xml><?xml version="1.0" encoding="utf-8"?>
<p:tagLst xmlns:p="http://schemas.openxmlformats.org/presentationml/2006/main">
  <p:tag name="TIMING" val="|18.2|5.5|52.1|9|22|18.3|30.5|3.2"/>
</p:tagLst>
</file>

<file path=ppt/tags/tag11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0.07496062992124}"/>
</p:tagLst>
</file>

<file path=ppt/tags/tag12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13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14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15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16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17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18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19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0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1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2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3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4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5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6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7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8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29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30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31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32.xml><?xml version="1.0" encoding="utf-8"?>
<p:tagLst xmlns:p="http://schemas.openxmlformats.org/presentationml/2006/main">
  <p:tag name="KSO_WM_DIAGRAM_VIRTUALLY_FRAME" val="{&quot;height&quot;:186.95,&quot;left&quot;:295.87503937007875,&quot;top&quot;:297.37503937007875,&quot;width&quot;:399.3408490864711}"/>
</p:tagLst>
</file>

<file path=ppt/tags/tag33.xml><?xml version="1.0" encoding="utf-8"?>
<p:tagLst xmlns:p="http://schemas.openxmlformats.org/presentationml/2006/main">
  <p:tag name="TIMING" val="|23.1|2.2|46|37.4|18.9|18|11.9|6.9|54.8|30.6|1.8|46.7"/>
</p:tagLst>
</file>

<file path=ppt/tags/tag34.xml><?xml version="1.0" encoding="utf-8"?>
<p:tagLst xmlns:p="http://schemas.openxmlformats.org/presentationml/2006/main">
  <p:tag name="TIMING" val="|43.6|2.4"/>
</p:tagLst>
</file>

<file path=ppt/tags/tag35.xml><?xml version="1.0" encoding="utf-8"?>
<p:tagLst xmlns:p="http://schemas.openxmlformats.org/presentationml/2006/main">
  <p:tag name="TIMING" val="|26.5"/>
</p:tagLst>
</file>

<file path=ppt/tags/tag36.xml><?xml version="1.0" encoding="utf-8"?>
<p:tagLst xmlns:p="http://schemas.openxmlformats.org/presentationml/2006/main">
  <p:tag name="TIMING" val="|10.1|33.3"/>
</p:tagLst>
</file>

<file path=ppt/tags/tag37.xml><?xml version="1.0" encoding="utf-8"?>
<p:tagLst xmlns:p="http://schemas.openxmlformats.org/presentationml/2006/main">
  <p:tag name="TIMING" val="|13.3|101.8|22.5"/>
</p:tagLst>
</file>

<file path=ppt/tags/tag38.xml><?xml version="1.0" encoding="utf-8"?>
<p:tagLst xmlns:p="http://schemas.openxmlformats.org/presentationml/2006/main">
  <p:tag name="TIMING" val="|19.5|16.6|33|26.2|21.3"/>
</p:tagLst>
</file>

<file path=ppt/tags/tag39.xml><?xml version="1.0" encoding="utf-8"?>
<p:tagLst xmlns:p="http://schemas.openxmlformats.org/presentationml/2006/main">
  <p:tag name="TIMING" val="|30.6|39.1|51.5"/>
</p:tagLst>
</file>

<file path=ppt/tags/tag40.xml><?xml version="1.0" encoding="utf-8"?>
<p:tagLst xmlns:p="http://schemas.openxmlformats.org/presentationml/2006/main">
  <p:tag name="TIMING" val="|32.8|9.9"/>
</p:tagLst>
</file>

<file path=ppt/tags/tag41.xml><?xml version="1.0" encoding="utf-8"?>
<p:tagLst xmlns:p="http://schemas.openxmlformats.org/presentationml/2006/main">
  <p:tag name="TIMING" val="|33.3"/>
</p:tagLst>
</file>

<file path=ppt/tags/tag42.xml><?xml version="1.0" encoding="utf-8"?>
<p:tagLst xmlns:p="http://schemas.openxmlformats.org/presentationml/2006/main">
  <p:tag name="TIMING" val="|4.5"/>
</p:tagLst>
</file>

<file path=ppt/tags/tag43.xml><?xml version="1.0" encoding="utf-8"?>
<p:tagLst xmlns:p="http://schemas.openxmlformats.org/presentationml/2006/main">
  <p:tag name="TIMING" val="|6|15.5|3.8"/>
</p:tagLst>
</file>

<file path=ppt/tags/tag44.xml><?xml version="1.0" encoding="utf-8"?>
<p:tagLst xmlns:p="http://schemas.openxmlformats.org/presentationml/2006/main">
  <p:tag name="TIMING" val="|10.8|35.4|15.2|20.3"/>
</p:tagLst>
</file>

<file path=ppt/tags/tag45.xml><?xml version="1.0" encoding="utf-8"?>
<p:tagLst xmlns:p="http://schemas.openxmlformats.org/presentationml/2006/main">
  <p:tag name="TIMING" val="|9.8|8.3|37.3|1.7|26.9|55.5|17.8|155.6|20.1|26.7"/>
</p:tagLst>
</file>

<file path=ppt/tags/tag46.xml><?xml version="1.0" encoding="utf-8"?>
<p:tagLst xmlns:p="http://schemas.openxmlformats.org/presentationml/2006/main">
  <p:tag name="TIMING" val="|12.1|11.6|15.6|21.6|13.8|105.2"/>
</p:tagLst>
</file>

<file path=ppt/tags/tag47.xml><?xml version="1.0" encoding="utf-8"?>
<p:tagLst xmlns:p="http://schemas.openxmlformats.org/presentationml/2006/main">
  <p:tag name="TIMING" val="|3.3|4.6|29|13.3|21.3|18.2"/>
</p:tagLst>
</file>

<file path=ppt/tags/tag48.xml><?xml version="1.0" encoding="utf-8"?>
<p:tagLst xmlns:p="http://schemas.openxmlformats.org/presentationml/2006/main">
  <p:tag name="TIMING" val="|1.2|11.2"/>
</p:tagLst>
</file>

<file path=ppt/tags/tag49.xml><?xml version="1.0" encoding="utf-8"?>
<p:tagLst xmlns:p="http://schemas.openxmlformats.org/presentationml/2006/main">
  <p:tag name="TIMING" val="|2.2|224.4"/>
</p:tagLst>
</file>

<file path=ppt/tags/tag50.xml><?xml version="1.0" encoding="utf-8"?>
<p:tagLst xmlns:p="http://schemas.openxmlformats.org/presentationml/2006/main">
  <p:tag name="TIMING" val="|26.5|9.6"/>
</p:tagLst>
</file>

<file path=ppt/tags/tag51.xml><?xml version="1.0" encoding="utf-8"?>
<p:tagLst xmlns:p="http://schemas.openxmlformats.org/presentationml/2006/main">
  <p:tag name="TIMING" val="|2.1|16.7"/>
</p:tagLst>
</file>

<file path=ppt/tags/tag52.xml><?xml version="1.0" encoding="utf-8"?>
<p:tagLst xmlns:p="http://schemas.openxmlformats.org/presentationml/2006/main">
  <p:tag name="TIMING" val="|22.9"/>
</p:tagLst>
</file>

<file path=ppt/tags/tag53.xml><?xml version="1.0" encoding="utf-8"?>
<p:tagLst xmlns:p="http://schemas.openxmlformats.org/presentationml/2006/main">
  <p:tag name="TIMING" val="|22.9"/>
</p:tagLst>
</file>

<file path=ppt/tags/tag54.xml><?xml version="1.0" encoding="utf-8"?>
<p:tagLst xmlns:p="http://schemas.openxmlformats.org/presentationml/2006/main">
  <p:tag name="TIMING" val="|102.1"/>
</p:tagLst>
</file>

<file path=ppt/tags/tag55.xml><?xml version="1.0" encoding="utf-8"?>
<p:tagLst xmlns:p="http://schemas.openxmlformats.org/presentationml/2006/main">
  <p:tag name="TIMING" val="|47.5|38"/>
</p:tagLst>
</file>

<file path=ppt/tags/tag56.xml><?xml version="1.0" encoding="utf-8"?>
<p:tagLst xmlns:p="http://schemas.openxmlformats.org/presentationml/2006/main">
  <p:tag name="TIMING" val="|20.6"/>
</p:tagLst>
</file>

<file path=ppt/tags/tag57.xml><?xml version="1.0" encoding="utf-8"?>
<p:tagLst xmlns:p="http://schemas.openxmlformats.org/presentationml/2006/main">
  <p:tag name="TIMING" val="|45.2|47.9|23.2|10.9|0.6|14.9"/>
</p:tagLst>
</file>

<file path=ppt/tags/tag58.xml><?xml version="1.0" encoding="utf-8"?>
<p:tagLst xmlns:p="http://schemas.openxmlformats.org/presentationml/2006/main">
  <p:tag name="TIMING" val="|46.1|6.6|172.1|5.8|9.1|10.6|3.7"/>
</p:tagLst>
</file>

<file path=ppt/tags/tag59.xml><?xml version="1.0" encoding="utf-8"?>
<p:tagLst xmlns:p="http://schemas.openxmlformats.org/presentationml/2006/main">
  <p:tag name="TIMING" val="|84.5|72.2"/>
</p:tagLst>
</file>

<file path=ppt/tags/tag60.xml><?xml version="1.0" encoding="utf-8"?>
<p:tagLst xmlns:p="http://schemas.openxmlformats.org/presentationml/2006/main">
  <p:tag name="TIMING" val="|54.8|4.9|11.1"/>
</p:tagLst>
</file>

<file path=ppt/tags/tag61.xml><?xml version="1.0" encoding="utf-8"?>
<p:tagLst xmlns:p="http://schemas.openxmlformats.org/presentationml/2006/main">
  <p:tag name="TIMING" val="|2.4|8.1|9.2|6.2|8|80.9"/>
</p:tagLst>
</file>

<file path=ppt/tags/tag62.xml><?xml version="1.0" encoding="utf-8"?>
<p:tagLst xmlns:p="http://schemas.openxmlformats.org/presentationml/2006/main">
  <p:tag name="TIMING" val="|47.5|38"/>
</p:tagLst>
</file>

<file path=ppt/tags/tag63.xml><?xml version="1.0" encoding="utf-8"?>
<p:tagLst xmlns:p="http://schemas.openxmlformats.org/presentationml/2006/main">
  <p:tag name="TIMING" val="|84.5|72.2"/>
</p:tagLst>
</file>

<file path=ppt/tags/tag64.xml><?xml version="1.0" encoding="utf-8"?>
<p:tagLst xmlns:p="http://schemas.openxmlformats.org/presentationml/2006/main">
  <p:tag name="TIMING" val="|16.4"/>
</p:tagLst>
</file>

<file path=ppt/tags/tag65.xml><?xml version="1.0" encoding="utf-8"?>
<p:tagLst xmlns:p="http://schemas.openxmlformats.org/presentationml/2006/main">
  <p:tag name="TIMING" val="|23.3|15.6"/>
</p:tagLst>
</file>

<file path=ppt/tags/tag66.xml><?xml version="1.0" encoding="utf-8"?>
<p:tagLst xmlns:p="http://schemas.openxmlformats.org/presentationml/2006/main">
  <p:tag name="TIMING" val="|23.6|10.3|4.3|6.7"/>
</p:tagLst>
</file>

<file path=ppt/tags/tag67.xml><?xml version="1.0" encoding="utf-8"?>
<p:tagLst xmlns:p="http://schemas.openxmlformats.org/presentationml/2006/main">
  <p:tag name="TIMING" val="|78|2.4"/>
</p:tagLst>
</file>

<file path=ppt/tags/tag68.xml><?xml version="1.0" encoding="utf-8"?>
<p:tagLst xmlns:p="http://schemas.openxmlformats.org/presentationml/2006/main">
  <p:tag name="TIMING" val="|2.7|5.1|2"/>
</p:tagLst>
</file>

<file path=ppt/tags/tag69.xml><?xml version="1.0" encoding="utf-8"?>
<p:tagLst xmlns:p="http://schemas.openxmlformats.org/presentationml/2006/main">
  <p:tag name="TIMING" val="|1.2|38.8|32.7|1.5|30.6"/>
</p:tagLst>
</file>

<file path=ppt/tags/tag70.xml><?xml version="1.0" encoding="utf-8"?>
<p:tagLst xmlns:p="http://schemas.openxmlformats.org/presentationml/2006/main">
  <p:tag name="TIMING" val="|2|13.8|15.4|6.4|1.5|3|4.1|11.1|7|2.8|15.4|10.2|9.2|8.7|3.2"/>
</p:tagLst>
</file>

<file path=ppt/tags/tag71.xml><?xml version="1.0" encoding="utf-8"?>
<p:tagLst xmlns:p="http://schemas.openxmlformats.org/presentationml/2006/main">
  <p:tag name="TIMING" val="|13.8|28.7"/>
</p:tagLst>
</file>

<file path=ppt/tags/tag72.xml><?xml version="1.0" encoding="utf-8"?>
<p:tagLst xmlns:p="http://schemas.openxmlformats.org/presentationml/2006/main">
  <p:tag name="TIMING" val="|19.3|43.2|47.5"/>
</p:tagLst>
</file>

<file path=ppt/tags/tag73.xml><?xml version="1.0" encoding="utf-8"?>
<p:tagLst xmlns:p="http://schemas.openxmlformats.org/presentationml/2006/main">
  <p:tag name="TIMING" val="|13.5|13.6|21.1|3.1"/>
</p:tagLst>
</file>

<file path=ppt/tags/tag74.xml><?xml version="1.0" encoding="utf-8"?>
<p:tagLst xmlns:p="http://schemas.openxmlformats.org/presentationml/2006/main">
  <p:tag name="TIMING" val="|44.1|16.7|48.5"/>
</p:tagLst>
</file>

<file path=ppt/tags/tag75.xml><?xml version="1.0" encoding="utf-8"?>
<p:tagLst xmlns:p="http://schemas.openxmlformats.org/presentationml/2006/main">
  <p:tag name="TIMING" val="|69.8|9.6|106.6|1.5"/>
</p:tagLst>
</file>

<file path=ppt/tags/tag76.xml><?xml version="1.0" encoding="utf-8"?>
<p:tagLst xmlns:p="http://schemas.openxmlformats.org/presentationml/2006/main">
  <p:tag name="TIMING" val="|170.8"/>
</p:tagLst>
</file>

<file path=ppt/tags/tag77.xml><?xml version="1.0" encoding="utf-8"?>
<p:tagLst xmlns:p="http://schemas.openxmlformats.org/presentationml/2006/main">
  <p:tag name="TIMING" val="|25.4|2.6|36.2|15.3|12|2|8.1|2.3|13.4|9.1|1.9"/>
</p:tagLst>
</file>

<file path=ppt/tags/tag78.xml><?xml version="1.0" encoding="utf-8"?>
<p:tagLst xmlns:p="http://schemas.openxmlformats.org/presentationml/2006/main">
  <p:tag name="TIMING" val="|23|47.4"/>
</p:tagLst>
</file>

<file path=ppt/tags/tag79.xml><?xml version="1.0" encoding="utf-8"?>
<p:tagLst xmlns:p="http://schemas.openxmlformats.org/presentationml/2006/main">
  <p:tag name="TIMING" val="|21.3|67.7|29.1"/>
</p:tagLst>
</file>

<file path=ppt/tags/tag80.xml><?xml version="1.0" encoding="utf-8"?>
<p:tagLst xmlns:p="http://schemas.openxmlformats.org/presentationml/2006/main">
  <p:tag name="TIMING" val="|9.2|14.7|1.9|2.4|1.3|0.8|0.8|0.8|0.7|0.7|0.7|0.7|5|16.6|22.9|2.7|17.9|11.3|7.7|2.4|1.6|15"/>
</p:tagLst>
</file>

<file path=ppt/tags/tag81.xml><?xml version="1.0" encoding="utf-8"?>
<p:tagLst xmlns:p="http://schemas.openxmlformats.org/presentationml/2006/main">
  <p:tag name="TIMING" val="|4.1|24.3|11.4|7.2|33.4"/>
</p:tagLst>
</file>

<file path=ppt/tags/tag82.xml><?xml version="1.0" encoding="utf-8"?>
<p:tagLst xmlns:p="http://schemas.openxmlformats.org/presentationml/2006/main">
  <p:tag name="TIMING" val="|25.1|7|1.9|11.9|1.4"/>
</p:tagLst>
</file>

<file path=ppt/tags/tag83.xml><?xml version="1.0" encoding="utf-8"?>
<p:tagLst xmlns:p="http://schemas.openxmlformats.org/presentationml/2006/main">
  <p:tag name="TIMING" val="|27|50.2|38.7|3.9"/>
</p:tagLst>
</file>

<file path=ppt/tags/tag84.xml><?xml version="1.0" encoding="utf-8"?>
<p:tagLst xmlns:p="http://schemas.openxmlformats.org/presentationml/2006/main">
  <p:tag name="TIMING" val="|29.2|16.3|13.1|22.5"/>
</p:tagLst>
</file>

<file path=ppt/tags/tag85.xml><?xml version="1.0" encoding="utf-8"?>
<p:tagLst xmlns:p="http://schemas.openxmlformats.org/presentationml/2006/main">
  <p:tag name="TIMING" val="|2.5|32|17.7|20.1|16.5|9.2"/>
</p:tagLst>
</file>

<file path=ppt/tags/tag86.xml><?xml version="1.0" encoding="utf-8"?>
<p:tagLst xmlns:p="http://schemas.openxmlformats.org/presentationml/2006/main">
  <p:tag name="TIMING" val="|3.3|28.4"/>
</p:tagLst>
</file>

<file path=ppt/tags/tag87.xml><?xml version="1.0" encoding="utf-8"?>
<p:tagLst xmlns:p="http://schemas.openxmlformats.org/presentationml/2006/main">
  <p:tag name="TIMING" val="|16.1|16|42.6|1.6|1.5|0.4|62.4"/>
</p:tagLst>
</file>

<file path=ppt/tags/tag88.xml><?xml version="1.0" encoding="utf-8"?>
<p:tagLst xmlns:p="http://schemas.openxmlformats.org/presentationml/2006/main">
  <p:tag name="TIMING" val="|15.1|7.1|38.7"/>
</p:tagLst>
</file>

<file path=ppt/tags/tag89.xml><?xml version="1.0" encoding="utf-8"?>
<p:tagLst xmlns:p="http://schemas.openxmlformats.org/presentationml/2006/main">
  <p:tag name="TIMING" val="|14.5|1.5|53.1|30.7|34.7"/>
</p:tagLst>
</file>

<file path=ppt/tags/tag90.xml><?xml version="1.0" encoding="utf-8"?>
<p:tagLst xmlns:p="http://schemas.openxmlformats.org/presentationml/2006/main">
  <p:tag name="TIMING" val="|21.9|3.3|8.9|11.9|16|12.4|9.3|24.1|1.2"/>
</p:tagLst>
</file>

<file path=ppt/tags/tag91.xml><?xml version="1.0" encoding="utf-8"?>
<p:tagLst xmlns:p="http://schemas.openxmlformats.org/presentationml/2006/main">
  <p:tag name="TIMING" val="|28.8|39.2|1.8|8|7.4|13.3|1.9|24.2|6.2|7.6"/>
</p:tagLst>
</file>

<file path=ppt/tags/tag92.xml><?xml version="1.0" encoding="utf-8"?>
<p:tagLst xmlns:p="http://schemas.openxmlformats.org/presentationml/2006/main">
  <p:tag name="TIMING" val="|41.1"/>
</p:tagLst>
</file>

<file path=ppt/tags/tag93.xml><?xml version="1.0" encoding="utf-8"?>
<p:tagLst xmlns:p="http://schemas.openxmlformats.org/presentationml/2006/main">
  <p:tag name="TIMING" val="|38"/>
</p:tagLst>
</file>

<file path=ppt/tags/tag94.xml><?xml version="1.0" encoding="utf-8"?>
<p:tagLst xmlns:p="http://schemas.openxmlformats.org/presentationml/2006/main">
  <p:tag name="TIMING" val="|1.4|92.7|2.2|112.3|0.9|9.4"/>
</p:tagLst>
</file>

<file path=ppt/tags/tag95.xml><?xml version="1.0" encoding="utf-8"?>
<p:tagLst xmlns:p="http://schemas.openxmlformats.org/presentationml/2006/main">
  <p:tag name="TIMING" val="|0.7|4.8|7.2|14.4|19.9|37.4|1.8"/>
</p:tagLst>
</file>

<file path=ppt/tags/tag96.xml><?xml version="1.0" encoding="utf-8"?>
<p:tagLst xmlns:p="http://schemas.openxmlformats.org/presentationml/2006/main">
  <p:tag name="TIMING" val="|1|11.5|10.2|3|15.1|3.3"/>
</p:tagLst>
</file>

<file path=ppt/tags/tag97.xml><?xml version="1.0" encoding="utf-8"?>
<p:tagLst xmlns:p="http://schemas.openxmlformats.org/presentationml/2006/main">
  <p:tag name="TIMING" val="|11.6|1.1|8.9|71.3|28.5|6.9|24.1|9.2|6.6|3.2"/>
</p:tagLst>
</file>

<file path=ppt/tags/tag98.xml><?xml version="1.0" encoding="utf-8"?>
<p:tagLst xmlns:p="http://schemas.openxmlformats.org/presentationml/2006/main">
  <p:tag name="TIMING" val="|16.3|15.7|0.6"/>
</p:tagLst>
</file>

<file path=ppt/tags/tag99.xml><?xml version="1.0" encoding="utf-8"?>
<p:tagLst xmlns:p="http://schemas.openxmlformats.org/presentationml/2006/main">
  <p:tag name="TIMING" val="|13.2|11.2|7.5"/>
</p:tagLst>
</file>

<file path=ppt/tags/tag100.xml><?xml version="1.0" encoding="utf-8"?>
<p:tagLst xmlns:p="http://schemas.openxmlformats.org/presentationml/2006/main">
  <p:tag name="TIMING" val="|26.5|6.6|6.9"/>
</p:tagLst>
</file>

<file path=ppt/tags/tag101.xml><?xml version="1.0" encoding="utf-8"?>
<p:tagLst xmlns:p="http://schemas.openxmlformats.org/presentationml/2006/main">
  <p:tag name="TIMING" val="|1|0.3|0.3|0.3|0.3"/>
</p:tagLst>
</file>

<file path=ppt/tags/tag102.xml><?xml version="1.0" encoding="utf-8"?>
<p:tagLst xmlns:p="http://schemas.openxmlformats.org/presentationml/2006/main">
  <p:tag name="TIMING" val="|1.5|0.2|0.3|0.5|0.4"/>
</p:tagLst>
</file>

<file path=ppt/tags/tag103.xml><?xml version="1.0" encoding="utf-8"?>
<p:tagLst xmlns:p="http://schemas.openxmlformats.org/presentationml/2006/main">
  <p:tag name="TIMING" val="|9.6|1.3|2.3|5|5.8"/>
</p:tagLst>
</file>

<file path=ppt/tags/tag104.xml><?xml version="1.0" encoding="utf-8"?>
<p:tagLst xmlns:p="http://schemas.openxmlformats.org/presentationml/2006/main">
  <p:tag name="TIMING" val="|1.2|11.9|7.5|4.9|12.4|1.2|8.6"/>
</p:tagLst>
</file>

<file path=ppt/tags/tag105.xml><?xml version="1.0" encoding="utf-8"?>
<p:tagLst xmlns:p="http://schemas.openxmlformats.org/presentationml/2006/main">
  <p:tag name="TIMING" val="|5.3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</a:spPr>
      <a:bodyPr vert="horz" wrap="square" lIns="91440" tIns="45720" rIns="91440" bIns="45720" numCol="1" anchor="t" anchorCtr="0" compatLnSpc="1">
        <a:spAutoFit/>
      </a:bodyPr>
      <a:lstStyle>
        <a:defPPr marL="367030" marR="0" indent="-187325" algn="ctr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</a:spPr>
      <a:bodyPr vert="horz" wrap="square" lIns="91440" tIns="45720" rIns="91440" bIns="45720" numCol="1" anchor="t" anchorCtr="0" compatLnSpc="1">
        <a:spAutoFit/>
      </a:bodyPr>
      <a:lstStyle>
        <a:defPPr marL="367030" marR="0" indent="-187325" algn="ctr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23976</Words>
  <Application>WPS 演示</Application>
  <PresentationFormat>全屏显示(4:3)</PresentationFormat>
  <Paragraphs>2134</Paragraphs>
  <Slides>132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110</vt:i4>
      </vt:variant>
      <vt:variant>
        <vt:lpstr>幻灯片标题</vt:lpstr>
      </vt:variant>
      <vt:variant>
        <vt:i4>132</vt:i4>
      </vt:variant>
    </vt:vector>
  </HeadingPairs>
  <TitlesOfParts>
    <vt:vector size="282" baseType="lpstr">
      <vt:lpstr>Arial</vt:lpstr>
      <vt:lpstr>宋体</vt:lpstr>
      <vt:lpstr>Wingdings</vt:lpstr>
      <vt:lpstr>黑体</vt:lpstr>
      <vt:lpstr>华文隶书</vt:lpstr>
      <vt:lpstr>Verdana</vt:lpstr>
      <vt:lpstr>Times New Roman</vt:lpstr>
      <vt:lpstr>隶书</vt:lpstr>
      <vt:lpstr>华文新魏</vt:lpstr>
      <vt:lpstr>华文中宋</vt:lpstr>
      <vt:lpstr>楷体_GB2312</vt:lpstr>
      <vt:lpstr>新宋体</vt:lpstr>
      <vt:lpstr>Monotype Sorts</vt:lpstr>
      <vt:lpstr>Wingdings</vt:lpstr>
      <vt:lpstr>Tahoma</vt:lpstr>
      <vt:lpstr>Cambria Math</vt:lpstr>
      <vt:lpstr>微软雅黑</vt:lpstr>
      <vt:lpstr>Arial Unicode MS</vt:lpstr>
      <vt:lpstr>Symbol</vt:lpstr>
      <vt:lpstr>华文行楷</vt:lpstr>
      <vt:lpstr>MS Mincho</vt:lpstr>
      <vt:lpstr>Harlow Solid Italic</vt:lpstr>
      <vt:lpstr>Italic</vt:lpstr>
      <vt:lpstr>PMingLiU-ExtB</vt:lpstr>
      <vt:lpstr>华文楷体</vt:lpstr>
      <vt:lpstr>AMGDT</vt:lpstr>
      <vt:lpstr>Monotype Sorts</vt:lpstr>
      <vt:lpstr>Symbol</vt:lpstr>
      <vt:lpstr>楷体_GB2312</vt:lpstr>
      <vt:lpstr>SWRomnd</vt:lpstr>
      <vt:lpstr>方正楷体_GB2312</vt:lpstr>
      <vt:lpstr>Toots Regular</vt:lpstr>
      <vt:lpstr>Ms.Luce</vt:lpstr>
      <vt:lpstr>Stymie Std Light Italic</vt:lpstr>
      <vt:lpstr>SWRomnc</vt:lpstr>
      <vt:lpstr>WPS灵秀黑</vt:lpstr>
      <vt:lpstr>Helvetica LT Pro</vt:lpstr>
      <vt:lpstr>HelveticaNeueLT Pro 55 Roman</vt:lpstr>
      <vt:lpstr>Segoe UI</vt:lpstr>
      <vt:lpstr>Profile</vt:lpstr>
      <vt:lpstr>PBrush</vt:lpstr>
      <vt:lpstr>PBrush</vt:lpstr>
      <vt:lpstr>PBrush</vt:lpstr>
      <vt:lpstr>PBrush</vt:lpstr>
      <vt:lpstr>Equation.DSMT4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Equation.DSMT4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Equation.3</vt:lpstr>
      <vt:lpstr>Equation.3</vt:lpstr>
      <vt:lpstr>Equation.3</vt:lpstr>
      <vt:lpstr>Equation.3</vt:lpstr>
      <vt:lpstr>Equation.3</vt:lpstr>
      <vt:lpstr>PBrush</vt:lpstr>
      <vt:lpstr>PBrush</vt:lpstr>
      <vt:lpstr>PBrush</vt:lpstr>
      <vt:lpstr>Equation.3</vt:lpstr>
      <vt:lpstr>Equation.3</vt:lpstr>
      <vt:lpstr>Equation.3</vt:lpstr>
      <vt:lpstr>Equation.3</vt:lpstr>
      <vt:lpstr>PBrush</vt:lpstr>
      <vt:lpstr>PBrush</vt:lpstr>
      <vt:lpstr>PBrush</vt:lpstr>
      <vt:lpstr>PBrush</vt:lpstr>
      <vt:lpstr>PBrush</vt:lpstr>
      <vt:lpstr>Paint.Picture</vt:lpstr>
      <vt:lpstr>PBrush</vt:lpstr>
      <vt:lpstr>Equation.3</vt:lpstr>
      <vt:lpstr>PBrush</vt:lpstr>
      <vt:lpstr>Equation.3</vt:lpstr>
      <vt:lpstr>Equation.3</vt:lpstr>
      <vt:lpstr>PBrush</vt:lpstr>
      <vt:lpstr>Equation.3</vt:lpstr>
      <vt:lpstr>Equation.3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PBrush</vt:lpstr>
      <vt:lpstr>PBrush</vt:lpstr>
      <vt:lpstr>Equation.3</vt:lpstr>
      <vt:lpstr>Equation.3</vt:lpstr>
      <vt:lpstr>Equation.3</vt:lpstr>
      <vt:lpstr>Equation.3</vt:lpstr>
      <vt:lpstr>Equation.3</vt:lpstr>
      <vt:lpstr>PBrush</vt:lpstr>
      <vt:lpstr>PBrush</vt:lpstr>
      <vt:lpstr>Equation.3</vt:lpstr>
      <vt:lpstr>Equation.3</vt:lpstr>
      <vt:lpstr>PBrush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PBrush</vt:lpstr>
      <vt:lpstr>Equation.3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PBrush</vt:lpstr>
      <vt:lpstr>Equation.3</vt:lpstr>
      <vt:lpstr>Equation.3</vt:lpstr>
      <vt:lpstr>Equation.3</vt:lpstr>
      <vt:lpstr>PBrush</vt:lpstr>
      <vt:lpstr>Equation.3</vt:lpstr>
      <vt:lpstr>Equation.3</vt:lpstr>
      <vt:lpstr>Equation.3</vt:lpstr>
      <vt:lpstr>Equation.3</vt:lpstr>
      <vt:lpstr>PBrush</vt:lpstr>
      <vt:lpstr>Equation.3</vt:lpstr>
      <vt:lpstr>Equation.3</vt:lpstr>
      <vt:lpstr>Equation.3</vt:lpstr>
      <vt:lpstr>Equation.3</vt:lpstr>
      <vt:lpstr>Equation.3</vt:lpstr>
      <vt:lpstr>PBrush</vt:lpstr>
      <vt:lpstr>PBrush</vt:lpstr>
      <vt:lpstr>PowerPoint 演示文稿</vt:lpstr>
      <vt:lpstr>本章重点</vt:lpstr>
      <vt:lpstr>§7.1  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2、离散信号时域运算</vt:lpstr>
      <vt:lpstr>2）相乘:  同序号的数值对应相乘后构成新的序列。</vt:lpstr>
      <vt:lpstr>3）数乘:  完成序号值的比例运算。</vt:lpstr>
      <vt:lpstr>PowerPoint 演示文稿</vt:lpstr>
      <vt:lpstr>PowerPoint 演示文稿</vt:lpstr>
      <vt:lpstr>三、离散信号时域变换</vt:lpstr>
      <vt:lpstr>1.单位序列（单位取样序列、单位脉冲序列、单位函数）</vt:lpstr>
      <vt:lpstr>利用单位序列(k)表示任意序列</vt:lpstr>
      <vt:lpstr>PowerPoint 演示文稿</vt:lpstr>
      <vt:lpstr>2.单位阶跃序列</vt:lpstr>
      <vt:lpstr>2.单位阶跃序列</vt:lpstr>
      <vt:lpstr>3.单位矩形序列（单位门序列）</vt:lpstr>
      <vt:lpstr>PowerPoint 演示文稿</vt:lpstr>
      <vt:lpstr>6.正弦序列</vt:lpstr>
      <vt:lpstr>PowerPoint 演示文稿</vt:lpstr>
      <vt:lpstr>PowerPoint 演示文稿</vt:lpstr>
      <vt:lpstr>PowerPoint 演示文稿</vt:lpstr>
      <vt:lpstr>3.离散信号时域变换</vt:lpstr>
      <vt:lpstr>1)单位取样序列</vt:lpstr>
      <vt:lpstr>2)单位阶跃序列</vt:lpstr>
      <vt:lpstr>3)正弦序列</vt:lpstr>
      <vt:lpstr>§7.2 抽样信号与抽样定理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§7.3  离散时间系统的描述</vt:lpstr>
      <vt:lpstr>§7.3  离散时间系统的描述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§7.4 离散时间系统的零输入响应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§7.4 离散时间系统的零输入响应</vt:lpstr>
      <vt:lpstr>PowerPoint 演示文稿</vt:lpstr>
      <vt:lpstr>例1：已知某系统激励为零，初始值y(0) =1 ， y(1)=4，描述系统的差分方程为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§7.6 离散时间系统的零状态响应及全响应求解</vt:lpstr>
      <vt:lpstr>PowerPoint 演示文稿</vt:lpstr>
      <vt:lpstr>PowerPoint 演示文稿</vt:lpstr>
      <vt:lpstr>例1：用图解法求图示信号的卷积和y(k)=f(k)*h(k)。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例2：</vt:lpstr>
      <vt:lpstr>例3：求零状态响应yzs(k)。</vt:lpstr>
      <vt:lpstr>§7.6 离散时间系统的零状态响应及全响应求解</vt:lpstr>
      <vt:lpstr>PowerPoint 演示文稿</vt:lpstr>
      <vt:lpstr>PowerPoint 演示文稿</vt:lpstr>
      <vt:lpstr>PowerPoint 演示文稿</vt:lpstr>
      <vt:lpstr>PowerPoint 演示文稿</vt:lpstr>
      <vt:lpstr>例4: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§7.7 离散时间系统与连续时间系统时域分析法比较</vt:lpstr>
      <vt:lpstr>PowerPoint 演示文稿</vt:lpstr>
      <vt:lpstr>PowerPoint 演示文稿</vt:lpstr>
      <vt:lpstr>PowerPoint 演示文稿</vt:lpstr>
      <vt:lpstr>PowerPoint 演示文稿</vt:lpstr>
    </vt:vector>
  </TitlesOfParts>
  <Company>syict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离散系统时域分析</dc:title>
  <dc:creator>翟正军</dc:creator>
  <cp:lastModifiedBy>缘聚（正军）</cp:lastModifiedBy>
  <cp:revision>386</cp:revision>
  <dcterms:created xsi:type="dcterms:W3CDTF">2000-06-04T02:32:00Z</dcterms:created>
  <dcterms:modified xsi:type="dcterms:W3CDTF">2026-05-12T12:42:48Z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5174363FBDEA4024BEE213B0BABD0272_13</vt:lpwstr>
  </property>
</Properties>
</file>