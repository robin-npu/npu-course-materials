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25"/>
  </p:notesMasterIdLst>
  <p:handoutMasterIdLst>
    <p:handoutMasterId r:id="rId126"/>
  </p:handoutMasterIdLst>
  <p:sldIdLst>
    <p:sldId id="522" r:id="rId2"/>
    <p:sldId id="365" r:id="rId3"/>
    <p:sldId id="523" r:id="rId4"/>
    <p:sldId id="525" r:id="rId5"/>
    <p:sldId id="526" r:id="rId6"/>
    <p:sldId id="531" r:id="rId7"/>
    <p:sldId id="532" r:id="rId8"/>
    <p:sldId id="534" r:id="rId9"/>
    <p:sldId id="533" r:id="rId10"/>
    <p:sldId id="535" r:id="rId11"/>
    <p:sldId id="536" r:id="rId12"/>
    <p:sldId id="548" r:id="rId13"/>
    <p:sldId id="549" r:id="rId14"/>
    <p:sldId id="550" r:id="rId15"/>
    <p:sldId id="524" r:id="rId16"/>
    <p:sldId id="556" r:id="rId17"/>
    <p:sldId id="551" r:id="rId18"/>
    <p:sldId id="657" r:id="rId19"/>
    <p:sldId id="658" r:id="rId20"/>
    <p:sldId id="659" r:id="rId21"/>
    <p:sldId id="660" r:id="rId22"/>
    <p:sldId id="661" r:id="rId23"/>
    <p:sldId id="554" r:id="rId24"/>
    <p:sldId id="566" r:id="rId25"/>
    <p:sldId id="555" r:id="rId26"/>
    <p:sldId id="560" r:id="rId27"/>
    <p:sldId id="561" r:id="rId28"/>
    <p:sldId id="567" r:id="rId29"/>
    <p:sldId id="568" r:id="rId30"/>
    <p:sldId id="569" r:id="rId31"/>
    <p:sldId id="562" r:id="rId32"/>
    <p:sldId id="563" r:id="rId33"/>
    <p:sldId id="564" r:id="rId34"/>
    <p:sldId id="570" r:id="rId35"/>
    <p:sldId id="571" r:id="rId36"/>
    <p:sldId id="572" r:id="rId37"/>
    <p:sldId id="573" r:id="rId38"/>
    <p:sldId id="574" r:id="rId39"/>
    <p:sldId id="575" r:id="rId40"/>
    <p:sldId id="577" r:id="rId41"/>
    <p:sldId id="576" r:id="rId42"/>
    <p:sldId id="578" r:id="rId43"/>
    <p:sldId id="579" r:id="rId44"/>
    <p:sldId id="580" r:id="rId45"/>
    <p:sldId id="581" r:id="rId46"/>
    <p:sldId id="582" r:id="rId47"/>
    <p:sldId id="583" r:id="rId48"/>
    <p:sldId id="537" r:id="rId49"/>
    <p:sldId id="538" r:id="rId50"/>
    <p:sldId id="539" r:id="rId51"/>
    <p:sldId id="584" r:id="rId52"/>
    <p:sldId id="585" r:id="rId53"/>
    <p:sldId id="540" r:id="rId54"/>
    <p:sldId id="541" r:id="rId55"/>
    <p:sldId id="542" r:id="rId56"/>
    <p:sldId id="543" r:id="rId57"/>
    <p:sldId id="617" r:id="rId58"/>
    <p:sldId id="618" r:id="rId59"/>
    <p:sldId id="619" r:id="rId60"/>
    <p:sldId id="527" r:id="rId61"/>
    <p:sldId id="662" r:id="rId62"/>
    <p:sldId id="663" r:id="rId63"/>
    <p:sldId id="600" r:id="rId64"/>
    <p:sldId id="602" r:id="rId65"/>
    <p:sldId id="604" r:id="rId66"/>
    <p:sldId id="606" r:id="rId67"/>
    <p:sldId id="607" r:id="rId68"/>
    <p:sldId id="608" r:id="rId69"/>
    <p:sldId id="609" r:id="rId70"/>
    <p:sldId id="610" r:id="rId71"/>
    <p:sldId id="616" r:id="rId72"/>
    <p:sldId id="614" r:id="rId73"/>
    <p:sldId id="613" r:id="rId74"/>
    <p:sldId id="529" r:id="rId75"/>
    <p:sldId id="620" r:id="rId76"/>
    <p:sldId id="611" r:id="rId77"/>
    <p:sldId id="621" r:id="rId78"/>
    <p:sldId id="622" r:id="rId79"/>
    <p:sldId id="623" r:id="rId80"/>
    <p:sldId id="624" r:id="rId81"/>
    <p:sldId id="625" r:id="rId82"/>
    <p:sldId id="530" r:id="rId83"/>
    <p:sldId id="626" r:id="rId84"/>
    <p:sldId id="603" r:id="rId85"/>
    <p:sldId id="627" r:id="rId86"/>
    <p:sldId id="605" r:id="rId87"/>
    <p:sldId id="628" r:id="rId88"/>
    <p:sldId id="629" r:id="rId89"/>
    <p:sldId id="632" r:id="rId90"/>
    <p:sldId id="633" r:id="rId91"/>
    <p:sldId id="634" r:id="rId92"/>
    <p:sldId id="635" r:id="rId93"/>
    <p:sldId id="586" r:id="rId94"/>
    <p:sldId id="631" r:id="rId95"/>
    <p:sldId id="590" r:id="rId96"/>
    <p:sldId id="636" r:id="rId97"/>
    <p:sldId id="589" r:id="rId98"/>
    <p:sldId id="601" r:id="rId99"/>
    <p:sldId id="637" r:id="rId100"/>
    <p:sldId id="638" r:id="rId101"/>
    <p:sldId id="639" r:id="rId102"/>
    <p:sldId id="587" r:id="rId103"/>
    <p:sldId id="591" r:id="rId104"/>
    <p:sldId id="640" r:id="rId105"/>
    <p:sldId id="592" r:id="rId106"/>
    <p:sldId id="641" r:id="rId107"/>
    <p:sldId id="642" r:id="rId108"/>
    <p:sldId id="643" r:id="rId109"/>
    <p:sldId id="644" r:id="rId110"/>
    <p:sldId id="645" r:id="rId111"/>
    <p:sldId id="588" r:id="rId112"/>
    <p:sldId id="594" r:id="rId113"/>
    <p:sldId id="595" r:id="rId114"/>
    <p:sldId id="596" r:id="rId115"/>
    <p:sldId id="646" r:id="rId116"/>
    <p:sldId id="597" r:id="rId117"/>
    <p:sldId id="598" r:id="rId118"/>
    <p:sldId id="652" r:id="rId119"/>
    <p:sldId id="656" r:id="rId120"/>
    <p:sldId id="653" r:id="rId121"/>
    <p:sldId id="654" r:id="rId122"/>
    <p:sldId id="655" r:id="rId123"/>
    <p:sldId id="664" r:id="rId124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FF00FF"/>
    <a:srgbClr val="6600CC"/>
    <a:srgbClr val="FF3300"/>
    <a:srgbClr val="FF3399"/>
    <a:srgbClr val="339933"/>
    <a:srgbClr val="000000"/>
    <a:srgbClr val="3333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99" d="100"/>
          <a:sy n="99" d="100"/>
        </p:scale>
        <p:origin x="1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2024-01-28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43174" y="357166"/>
            <a:ext cx="5072098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穷举法</a:t>
            </a: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85720" y="1928802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穷举法概述</a:t>
            </a:r>
          </a:p>
        </p:txBody>
      </p:sp>
      <p:sp>
        <p:nvSpPr>
          <p:cNvPr id="9" name="TextBox 8">
            <a:hlinkClick r:id="" action="ppaction://noaction"/>
          </p:cNvPr>
          <p:cNvSpPr txBox="1"/>
          <p:nvPr/>
        </p:nvSpPr>
        <p:spPr>
          <a:xfrm>
            <a:off x="285720" y="2812340"/>
            <a:ext cx="4320000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3.2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算法优化中常用</a:t>
            </a:r>
            <a:endParaRPr lang="en-US" altLang="zh-CN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的数据结构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714348" y="179432"/>
            <a:ext cx="1571636" cy="1463618"/>
            <a:chOff x="571472" y="2679762"/>
            <a:chExt cx="1571636" cy="1463618"/>
          </a:xfrm>
        </p:grpSpPr>
        <p:grpSp>
          <p:nvGrpSpPr>
            <p:cNvPr id="16" name="组合 79"/>
            <p:cNvGrpSpPr>
              <a:grpSpLocks/>
            </p:cNvGrpSpPr>
            <p:nvPr/>
          </p:nvGrpSpPr>
          <p:grpSpPr bwMode="auto">
            <a:xfrm>
              <a:off x="571472" y="2679762"/>
              <a:ext cx="1571636" cy="1463618"/>
              <a:chOff x="6379728" y="2488774"/>
              <a:chExt cx="2513016" cy="2533955"/>
            </a:xfrm>
          </p:grpSpPr>
          <p:sp>
            <p:nvSpPr>
              <p:cNvPr id="17" name="任意多边形 82"/>
              <p:cNvSpPr/>
              <p:nvPr/>
            </p:nvSpPr>
            <p:spPr>
              <a:xfrm rot="3738964">
                <a:off x="6379728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" name="任意多边形 83"/>
              <p:cNvSpPr/>
              <p:nvPr/>
            </p:nvSpPr>
            <p:spPr>
              <a:xfrm rot="16377237">
                <a:off x="6409519" y="2545928"/>
                <a:ext cx="2476803" cy="247679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" name="文本框 20"/>
            <p:cNvSpPr txBox="1">
              <a:spLocks noChangeArrowheads="1"/>
            </p:cNvSpPr>
            <p:nvPr/>
          </p:nvSpPr>
          <p:spPr bwMode="auto">
            <a:xfrm>
              <a:off x="619969" y="3485297"/>
              <a:ext cx="146299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1600" b="1" dirty="0">
                  <a:solidFill>
                    <a:srgbClr val="9900FF"/>
                  </a:solidFill>
                </a:rPr>
                <a:t>CONTENTS</a:t>
              </a:r>
              <a:endParaRPr lang="zh-CN" altLang="en-US" sz="1600" b="1" dirty="0">
                <a:solidFill>
                  <a:srgbClr val="9900FF"/>
                </a:solidFill>
              </a:endParaRPr>
            </a:p>
          </p:txBody>
        </p:sp>
        <p:sp>
          <p:nvSpPr>
            <p:cNvPr id="20" name="文本框 20"/>
            <p:cNvSpPr txBox="1">
              <a:spLocks noChangeArrowheads="1"/>
            </p:cNvSpPr>
            <p:nvPr/>
          </p:nvSpPr>
          <p:spPr bwMode="auto">
            <a:xfrm>
              <a:off x="872632" y="3022950"/>
              <a:ext cx="8903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zh-CN" altLang="en-US" b="1" dirty="0">
                  <a:solidFill>
                    <a:srgbClr val="008000"/>
                  </a:solidFill>
                </a:rPr>
                <a:t>提纲</a:t>
              </a:r>
            </a:p>
          </p:txBody>
        </p:sp>
      </p:grpSp>
      <p:sp>
        <p:nvSpPr>
          <p:cNvPr id="12" name="TextBox 11">
            <a:hlinkClick r:id="" action="ppaction://noaction"/>
          </p:cNvPr>
          <p:cNvSpPr txBox="1"/>
          <p:nvPr/>
        </p:nvSpPr>
        <p:spPr>
          <a:xfrm>
            <a:off x="285720" y="4109513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3.3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回文串个数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285720" y="4978058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3.4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最大连续子序列和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5" name="TextBox 14">
            <a:hlinkClick r:id="" action="ppaction://noaction"/>
          </p:cNvPr>
          <p:cNvSpPr txBox="1"/>
          <p:nvPr/>
        </p:nvSpPr>
        <p:spPr>
          <a:xfrm>
            <a:off x="285720" y="5820321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3.5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求幂集</a:t>
            </a:r>
          </a:p>
        </p:txBody>
      </p: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5072066" y="1928802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3.6 0/1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背包问题</a:t>
            </a:r>
          </a:p>
        </p:txBody>
      </p:sp>
      <p:sp>
        <p:nvSpPr>
          <p:cNvPr id="22" name="TextBox 21">
            <a:hlinkClick r:id="" action="ppaction://noaction"/>
          </p:cNvPr>
          <p:cNvSpPr txBox="1"/>
          <p:nvPr/>
        </p:nvSpPr>
        <p:spPr>
          <a:xfrm>
            <a:off x="5072066" y="3000372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3.7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求全排列</a:t>
            </a:r>
          </a:p>
        </p:txBody>
      </p:sp>
      <p:sp>
        <p:nvSpPr>
          <p:cNvPr id="23" name="TextBox 22">
            <a:hlinkClick r:id="" action="ppaction://noaction"/>
          </p:cNvPr>
          <p:cNvSpPr txBox="1"/>
          <p:nvPr/>
        </p:nvSpPr>
        <p:spPr>
          <a:xfrm>
            <a:off x="5072066" y="4109513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3.8 n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皇后问题</a:t>
            </a:r>
          </a:p>
        </p:txBody>
      </p:sp>
      <p:sp>
        <p:nvSpPr>
          <p:cNvPr id="24" name="TextBox 23">
            <a:hlinkClick r:id="" action="ppaction://noaction"/>
          </p:cNvPr>
          <p:cNvSpPr txBox="1"/>
          <p:nvPr/>
        </p:nvSpPr>
        <p:spPr>
          <a:xfrm>
            <a:off x="5072066" y="4978058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3.9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任务分配问题</a:t>
            </a:r>
          </a:p>
        </p:txBody>
      </p:sp>
      <p:sp>
        <p:nvSpPr>
          <p:cNvPr id="25" name="TextBox 24">
            <a:hlinkClick r:id="" action="ppaction://noaction"/>
          </p:cNvPr>
          <p:cNvSpPr txBox="1"/>
          <p:nvPr/>
        </p:nvSpPr>
        <p:spPr>
          <a:xfrm>
            <a:off x="5072066" y="5820321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3.10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问题</a:t>
            </a: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28596" y="1714488"/>
            <a:ext cx="400052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什么是穷举法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428860" y="428604"/>
            <a:ext cx="4000528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穷举法概述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2571744"/>
            <a:ext cx="8358246" cy="336245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穷举法又称枚举法或者列举法，其基本思想是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先确定有哪些穷举对象和穷举对象的顺序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按穷举对象的顺序逐一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列举每个穷举对象的所有情况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，再根据问题提出的约束条件检验哪些是问题的解，哪些应予排除。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主要用于解决“是否存在”和“有多少可能性”等类型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928670"/>
            <a:ext cx="278608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常用的列举方法</a:t>
            </a:r>
            <a:endParaRPr lang="zh-CN" altLang="zh-CN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785926"/>
            <a:ext cx="7643866" cy="32454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08000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顺序列举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是指答案范围内的各种情况很容易与自然数对应甚至就是自然数，可以按自然数的变化顺序去列举。</a:t>
            </a:r>
          </a:p>
          <a:p>
            <a:pPr marL="457200" indent="-457200" algn="l">
              <a:lnSpc>
                <a:spcPct val="1000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组合列举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当答案的数据形式为一些元素的组合时，往往需要用组合列举。组合是无序的。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ct val="100000"/>
              </a:lnSpc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排列列举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有时答案的数据形式是一组数的排列，列举出所有答案所在范围内的排列，为排列列举。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85728"/>
            <a:ext cx="278608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穷举法优点</a:t>
            </a:r>
            <a:endParaRPr lang="zh-CN" altLang="zh-CN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071546"/>
            <a:ext cx="8072494" cy="341346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08000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理论上讲穷举法可以解决可计算领域中的各种问题。</a:t>
            </a: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在实际应用中通常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用于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解决问题规模不大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穷举法算法一般逻辑清晰，编写的程序简洁明了。</a:t>
            </a: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穷举法算法一般不需要特别证明算法的正确性。</a:t>
            </a: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穷举法可作为某类问题时间性能的底限，用来衡量同样问题的更高效率的算法。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85728"/>
            <a:ext cx="4214842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穷举算法的框架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071546"/>
            <a:ext cx="8501122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假设问题的枚举变量是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，穷举次序是先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，均为顺序列举方式，它们的取值范围即值域分别是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），约束条件为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2714620"/>
            <a:ext cx="8286808" cy="35523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exhaustive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(x,n,y,m)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穷举算法框架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i=1;i&lt;=n;i++)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的所有可能的值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j=1;j&lt;=m;j++)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枚举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的所有可能的值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 (p(x[i],y[j]))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检测是否满足约束条件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输出一个解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zh-CN" altLang="zh-CN" sz="2000">
                <a:solidFill>
                  <a:srgbClr val="0000FF"/>
                </a:solidFill>
                <a:latin typeface="+mj-ea"/>
                <a:ea typeface="+mj-ea"/>
              </a:rPr>
              <a:t>…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71480"/>
            <a:ext cx="8072494" cy="136191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在象棋算式里，不同的棋子代表不同的数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字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，有如图所示的算式，设计一个算法求这些棋子各代表哪些数字。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4577" name="Group 1"/>
          <p:cNvGrpSpPr>
            <a:grpSpLocks noChangeAspect="1"/>
          </p:cNvGrpSpPr>
          <p:nvPr/>
        </p:nvGrpSpPr>
        <p:grpSpPr bwMode="auto">
          <a:xfrm>
            <a:off x="2500298" y="2071678"/>
            <a:ext cx="3000397" cy="1357322"/>
            <a:chOff x="4807" y="9717"/>
            <a:chExt cx="1604" cy="954"/>
          </a:xfrm>
        </p:grpSpPr>
        <p:sp>
          <p:nvSpPr>
            <p:cNvPr id="24583" name="AutoShape 7"/>
            <p:cNvSpPr>
              <a:spLocks noChangeAspect="1" noChangeArrowheads="1" noTextEdit="1"/>
            </p:cNvSpPr>
            <p:nvPr/>
          </p:nvSpPr>
          <p:spPr bwMode="auto">
            <a:xfrm>
              <a:off x="4807" y="9717"/>
              <a:ext cx="1604" cy="9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>
              <a:off x="5413" y="9717"/>
              <a:ext cx="788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兵炮马卒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宋体" pitchFamily="2" charset="-122"/>
              </a:endParaRPr>
            </a:p>
          </p:txBody>
        </p:sp>
        <p:sp>
          <p:nvSpPr>
            <p:cNvPr id="24581" name="Text Box 5"/>
            <p:cNvSpPr txBox="1">
              <a:spLocks noChangeArrowheads="1"/>
            </p:cNvSpPr>
            <p:nvPr/>
          </p:nvSpPr>
          <p:spPr bwMode="auto">
            <a:xfrm>
              <a:off x="5413" y="9990"/>
              <a:ext cx="788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兵炮车卒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宋体" pitchFamily="2" charset="-122"/>
              </a:endParaRPr>
            </a:p>
          </p:txBody>
        </p:sp>
        <p:sp>
          <p:nvSpPr>
            <p:cNvPr id="24580" name="Text Box 4"/>
            <p:cNvSpPr txBox="1">
              <a:spLocks noChangeArrowheads="1"/>
            </p:cNvSpPr>
            <p:nvPr/>
          </p:nvSpPr>
          <p:spPr bwMode="auto">
            <a:xfrm>
              <a:off x="5255" y="10400"/>
              <a:ext cx="946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车卒马兵卒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宋体" pitchFamily="2" charset="-122"/>
              </a:endParaRPr>
            </a:p>
          </p:txBody>
        </p:sp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>
              <a:off x="4821" y="10327"/>
              <a:ext cx="15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578" name="Text Box 2"/>
            <p:cNvSpPr txBox="1">
              <a:spLocks noChangeArrowheads="1"/>
            </p:cNvSpPr>
            <p:nvPr/>
          </p:nvSpPr>
          <p:spPr bwMode="auto">
            <a:xfrm>
              <a:off x="4966" y="10001"/>
              <a:ext cx="315" cy="2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＋</a:t>
              </a:r>
              <a:endPara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宋体" pitchFamily="2" charset="-122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2918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1428736"/>
            <a:ext cx="8215370" cy="363176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设兵、炮、马、卒和车的枚举变量分别为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的取值范围均为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且均不相等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枚举顺序为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顺序列举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分别表示象棋算式中三行对应的整数，则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m=a×1000+b×100+c×10+d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n=a×1000+b×100+e×10+d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s=e×10000+d×1000+c×100+a×10+d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根据题目的约束条件有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m+n=s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成立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42852"/>
            <a:ext cx="8715436" cy="64121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求象棋算式问题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a=1;a&lt;=9;a++)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b=0;b&lt;=9;b++)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c=0;c&lt;=9;c++)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for (int d=0;d&lt;=9;d++)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for (int e=0;e&lt;=9;e++)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if (a==b || a==c || a==d || a==e || b==c 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|| b==d || b==e || c==d || c==e || d==e)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continue;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避免重复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int m=a*1000+b*100+c*10+d;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int n=a*1000+b*100+e*10+d;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int s=e*10000+d*1000+c*100+a*10+d;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m+n==s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兵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炮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卒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:%d\n",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a,b,c,d,e);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8926" y="5357826"/>
            <a:ext cx="4572032" cy="40011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答案：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兵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:5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炮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:2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马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:4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卒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:0 </a:t>
            </a:r>
            <a:r>
              <a:rPr lang="zh-CN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车</a:t>
            </a:r>
            <a:r>
              <a:rPr lang="pt-BR" altLang="zh-CN" sz="20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</a:rPr>
              <a:t>:1</a:t>
            </a:r>
            <a:endParaRPr lang="zh-CN" altLang="en-US" sz="2000" b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29124" y="1214422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算法优化</a:t>
            </a:r>
            <a:endParaRPr lang="zh-CN" altLang="en-US" sz="2000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786050" y="357166"/>
            <a:ext cx="3000396" cy="571504"/>
          </a:xfrm>
          <a:prstGeom prst="roundRect">
            <a:avLst/>
          </a:prstGeom>
          <a:ln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穷举算法（低效）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2857488" y="1928802"/>
            <a:ext cx="3000396" cy="571504"/>
          </a:xfrm>
          <a:prstGeom prst="roundRect">
            <a:avLst/>
          </a:prstGeom>
          <a:solidFill>
            <a:srgbClr val="6600CC"/>
          </a:solidFill>
          <a:ln>
            <a:tailEnd type="none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  <a:spcBef>
                <a:spcPts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穷举算法（高效）</a:t>
            </a:r>
          </a:p>
        </p:txBody>
      </p:sp>
      <p:sp>
        <p:nvSpPr>
          <p:cNvPr id="6" name="下箭头 5"/>
          <p:cNvSpPr/>
          <p:nvPr/>
        </p:nvSpPr>
        <p:spPr>
          <a:xfrm>
            <a:off x="4071934" y="1142984"/>
            <a:ext cx="285752" cy="642942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85984" y="3143248"/>
            <a:ext cx="4714908" cy="230127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选择高效的数据结构。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减少重复计算。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将原问题化为更小的问题。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根据问题的性质进行剪支。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引进其他算法。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500174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3.2.1 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前缀和数组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1214414" y="357166"/>
            <a:ext cx="657229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3.2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算法优化中常用的数据结构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282" y="2285992"/>
            <a:ext cx="8786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假设有一个数组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，其前缀和数组用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个元素和，即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i="1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[0]+</a:t>
            </a:r>
            <a:r>
              <a:rPr lang="zh-CN" altLang="zh-CN">
                <a:solidFill>
                  <a:srgbClr val="C00000"/>
                </a:solidFill>
                <a:latin typeface="+mn-ea"/>
                <a:ea typeface="+mn-ea"/>
              </a:rPr>
              <a:t>…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数组的递推关系如下：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48" y="3714752"/>
            <a:ext cx="7429552" cy="11115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52000" tIns="144000" bIns="144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]=0				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]=psum[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-1]+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</a:rPr>
              <a:t>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4414" y="5357826"/>
            <a:ext cx="2928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O(n)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时间求出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psum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42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  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[0]+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[0]+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]+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FF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</a:t>
            </a:r>
            <a:endParaRPr lang="zh-CN" altLang="en-US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500174"/>
            <a:ext cx="692948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两式相减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]+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4000504"/>
            <a:ext cx="85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的元素和等于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 1</a:t>
            </a:r>
            <a:r>
              <a:rPr lang="zh-CN" altLang="zh-CN">
                <a:solidFill>
                  <a:srgbClr val="FF00FF"/>
                </a:solidFill>
                <a:latin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FF00FF"/>
                </a:solidFill>
                <a:latin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FF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2285984" y="3286124"/>
            <a:ext cx="357190" cy="500066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显然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区间下标满足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，通过枚举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可以求出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中任意子数组元素和，用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数组表示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285860"/>
            <a:ext cx="8643998" cy="54118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subarr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 a) {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求子数组和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ans(n,vector&lt;int&gt;(n,0));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psum[n+1];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psum[0]=0;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i=1;i&lt;=n;i++)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psum[i]=psum[i-1]+a[i-1];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ans[i][j]=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psum[j+1]-psum[i]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nums[i..j]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之和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649118"/>
            <a:ext cx="8715436" cy="370870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子数组之和（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LintCode138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★）。给定一个整数数组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，设计一个算法找到和为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的子数组，返回满足要求的子数组的起始位置和结束位置，测试数据保证至少有一个子数组的和为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，如果有多个子数组的和为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，返回其中任意一个子数组即可。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   vector&lt;int&gt; subarraySum(vector&lt;int&gt; &amp;nums)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4348" y="357166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502832"/>
            <a:ext cx="7715304" cy="196464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存放答案即和为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的子数组的起始位置和结束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采用穷举法，用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枚举所有的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，求出元素和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则置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286808" cy="57580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subarraySum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&amp;nums) {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int 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for(int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	int 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for(int k=i;k&lt;=j;k++) sum+=nums[k];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if(sum==0)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	ans.push_back(i);	ans.push_back(j);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{0,0};    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没有找到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357422" y="6143644"/>
            <a:ext cx="3214710" cy="461665"/>
            <a:chOff x="2357422" y="6143644"/>
            <a:chExt cx="3214710" cy="461665"/>
          </a:xfrm>
        </p:grpSpPr>
        <p:grpSp>
          <p:nvGrpSpPr>
            <p:cNvPr id="4" name="组合 9"/>
            <p:cNvGrpSpPr/>
            <p:nvPr/>
          </p:nvGrpSpPr>
          <p:grpSpPr>
            <a:xfrm>
              <a:off x="3571868" y="6143644"/>
              <a:ext cx="2000264" cy="461665"/>
              <a:chOff x="1071538" y="6286520"/>
              <a:chExt cx="2000264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857356" y="6286520"/>
                <a:ext cx="12144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超时</a:t>
                </a:r>
                <a:endPara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itchFamily="34" charset="0"/>
                    <a:ea typeface="仿宋" pitchFamily="49" charset="-122"/>
                    <a:cs typeface="Courier New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itchFamily="66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2357422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3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502832"/>
            <a:ext cx="8215370" cy="24904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采用前缀和数组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实现，设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数组后，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的元素和等于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+1]-psum[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通过枚举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求出元素和为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643998" cy="582220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subarraySum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&amp;nums) {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n=nums.size(); int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[n+1];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psum[0]=0;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i=1;i&lt;=n;i++)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psum[i]=psum[i-1]+nums[i-1];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vector&lt;int&gt;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for(int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int sum=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psum[j+1]-psum[i]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nums[i..j]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之和</a:t>
            </a: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if(sum==0)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	ans.push_back(i); ans.push_back(j);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{0,0};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85720" y="6039169"/>
            <a:ext cx="8072494" cy="461665"/>
            <a:chOff x="500034" y="6143644"/>
            <a:chExt cx="8072494" cy="461665"/>
          </a:xfrm>
        </p:grpSpPr>
        <p:grpSp>
          <p:nvGrpSpPr>
            <p:cNvPr id="2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904ms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10.47MB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itchFamily="34" charset="0"/>
                    <a:ea typeface="仿宋" pitchFamily="49" charset="-122"/>
                    <a:cs typeface="Courier New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itchFamily="66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85728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014747"/>
            <a:ext cx="8786874" cy="46576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采用前缀和数组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哈希表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进一步提高时间性能。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改为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个元素和即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]=nums[0]+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-1]+nums[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lvl="1"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psum[0]=nums[0]</a:t>
            </a:r>
            <a:endParaRPr lang="zh-CN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lvl="1"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psum[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]=psum[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-1]+nums[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				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&gt;0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时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]=nums[0]+</a:t>
            </a:r>
            <a:r>
              <a:rPr lang="zh-CN" altLang="zh-CN">
                <a:solidFill>
                  <a:srgbClr val="0066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psum[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]=nums[0]+</a:t>
            </a:r>
            <a:r>
              <a:rPr lang="zh-CN" altLang="zh-CN">
                <a:solidFill>
                  <a:srgbClr val="0066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+1]+</a:t>
            </a:r>
            <a:r>
              <a:rPr lang="zh-CN" altLang="zh-CN">
                <a:solidFill>
                  <a:srgbClr val="006600"/>
                </a:solidFill>
                <a:latin typeface="+mj-ea"/>
              </a:rPr>
              <a:t>…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两式相减得到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]-psum[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]=nums[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+1]+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+1]+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]=psum[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]-psum[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42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设计一个哈希表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unordered_map&lt;int,int&gt;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类型的容器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，用于存放以每个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为关键字的序号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(psum[</a:t>
            </a:r>
            <a:r>
              <a:rPr lang="en-US" altLang="zh-CN" i="1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],</a:t>
            </a:r>
            <a:r>
              <a:rPr lang="en-US" altLang="zh-CN" i="1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en-US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350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22"/>
          <p:cNvGrpSpPr/>
          <p:nvPr/>
        </p:nvGrpSpPr>
        <p:grpSpPr>
          <a:xfrm>
            <a:off x="357158" y="2042957"/>
            <a:ext cx="7786742" cy="1179253"/>
            <a:chOff x="357158" y="2042957"/>
            <a:chExt cx="7786742" cy="1179253"/>
          </a:xfrm>
        </p:grpSpPr>
        <p:sp>
          <p:nvSpPr>
            <p:cNvPr id="63501" name="Rectangle 13"/>
            <p:cNvSpPr>
              <a:spLocks noChangeArrowheads="1"/>
            </p:cNvSpPr>
            <p:nvPr/>
          </p:nvSpPr>
          <p:spPr bwMode="auto">
            <a:xfrm>
              <a:off x="441637" y="2042957"/>
              <a:ext cx="7702263" cy="5210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nums[0]  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  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宋体" pitchFamily="2" charset="-122"/>
              </a:endParaRPr>
            </a:p>
          </p:txBody>
        </p:sp>
        <p:sp>
          <p:nvSpPr>
            <p:cNvPr id="63500" name="Rectangle 12"/>
            <p:cNvSpPr>
              <a:spLocks noChangeArrowheads="1"/>
            </p:cNvSpPr>
            <p:nvPr/>
          </p:nvSpPr>
          <p:spPr bwMode="auto">
            <a:xfrm>
              <a:off x="357158" y="2873353"/>
              <a:ext cx="1571636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(psum[0],0)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3499" name="AutoShape 11"/>
            <p:cNvSpPr>
              <a:spLocks noChangeShapeType="1"/>
            </p:cNvSpPr>
            <p:nvPr/>
          </p:nvSpPr>
          <p:spPr bwMode="auto">
            <a:xfrm flipV="1">
              <a:off x="110339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63498" name="Rectangle 10"/>
            <p:cNvSpPr>
              <a:spLocks noChangeArrowheads="1"/>
            </p:cNvSpPr>
            <p:nvPr/>
          </p:nvSpPr>
          <p:spPr bwMode="auto">
            <a:xfrm>
              <a:off x="2120272" y="2869955"/>
              <a:ext cx="159447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3497" name="AutoShape 9"/>
            <p:cNvSpPr>
              <a:spLocks noChangeShapeType="1"/>
            </p:cNvSpPr>
            <p:nvPr/>
          </p:nvSpPr>
          <p:spPr bwMode="auto">
            <a:xfrm flipV="1">
              <a:off x="3141676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63496" name="Rectangle 8"/>
            <p:cNvSpPr>
              <a:spLocks noChangeArrowheads="1"/>
            </p:cNvSpPr>
            <p:nvPr/>
          </p:nvSpPr>
          <p:spPr bwMode="auto">
            <a:xfrm>
              <a:off x="4013235" y="2866557"/>
              <a:ext cx="2024375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3495" name="AutoShape 7"/>
            <p:cNvSpPr>
              <a:spLocks noChangeShapeType="1"/>
            </p:cNvSpPr>
            <p:nvPr/>
          </p:nvSpPr>
          <p:spPr bwMode="auto">
            <a:xfrm flipV="1">
              <a:off x="5036373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63494" name="Rectangle 6"/>
            <p:cNvSpPr>
              <a:spLocks noChangeArrowheads="1"/>
            </p:cNvSpPr>
            <p:nvPr/>
          </p:nvSpPr>
          <p:spPr bwMode="auto">
            <a:xfrm>
              <a:off x="6594547" y="2863159"/>
              <a:ext cx="14298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3493" name="AutoShape 5"/>
            <p:cNvSpPr>
              <a:spLocks noChangeShapeType="1"/>
            </p:cNvSpPr>
            <p:nvPr/>
          </p:nvSpPr>
          <p:spPr bwMode="auto">
            <a:xfrm flipV="1">
              <a:off x="722814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grpSp>
        <p:nvGrpSpPr>
          <p:cNvPr id="4" name="组合 23"/>
          <p:cNvGrpSpPr/>
          <p:nvPr/>
        </p:nvGrpSpPr>
        <p:grpSpPr>
          <a:xfrm>
            <a:off x="2957244" y="3212016"/>
            <a:ext cx="4272463" cy="645612"/>
            <a:chOff x="2957244" y="3212016"/>
            <a:chExt cx="4272463" cy="645612"/>
          </a:xfrm>
        </p:grpSpPr>
        <p:sp>
          <p:nvSpPr>
            <p:cNvPr id="63492" name="Freeform 4"/>
            <p:cNvSpPr>
              <a:spLocks/>
            </p:cNvSpPr>
            <p:nvPr/>
          </p:nvSpPr>
          <p:spPr bwMode="auto">
            <a:xfrm>
              <a:off x="2957244" y="3212016"/>
              <a:ext cx="4272463" cy="2378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10"/>
                </a:cxn>
                <a:cxn ang="0">
                  <a:pos x="2731" y="210"/>
                </a:cxn>
                <a:cxn ang="0">
                  <a:pos x="2731" y="0"/>
                </a:cxn>
              </a:cxnLst>
              <a:rect l="0" t="0" r="r" b="b"/>
              <a:pathLst>
                <a:path w="2731" h="210">
                  <a:moveTo>
                    <a:pt x="0" y="0"/>
                  </a:moveTo>
                  <a:lnTo>
                    <a:pt x="0" y="210"/>
                  </a:lnTo>
                  <a:lnTo>
                    <a:pt x="2731" y="210"/>
                  </a:lnTo>
                  <a:lnTo>
                    <a:pt x="2731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63491" name="Rectangle 3"/>
            <p:cNvSpPr>
              <a:spLocks noChangeArrowheads="1"/>
            </p:cNvSpPr>
            <p:nvPr/>
          </p:nvSpPr>
          <p:spPr bwMode="auto">
            <a:xfrm>
              <a:off x="3961609" y="3508771"/>
              <a:ext cx="2781560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]=psum[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成立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grpSp>
        <p:nvGrpSpPr>
          <p:cNvPr id="5" name="组合 24"/>
          <p:cNvGrpSpPr/>
          <p:nvPr/>
        </p:nvGrpSpPr>
        <p:grpSpPr>
          <a:xfrm>
            <a:off x="4291756" y="1571612"/>
            <a:ext cx="3442973" cy="890576"/>
            <a:chOff x="4291756" y="1571612"/>
            <a:chExt cx="3442973" cy="890576"/>
          </a:xfrm>
        </p:grpSpPr>
        <p:sp>
          <p:nvSpPr>
            <p:cNvPr id="63502" name="Rectangle 14"/>
            <p:cNvSpPr>
              <a:spLocks noChangeArrowheads="1"/>
            </p:cNvSpPr>
            <p:nvPr/>
          </p:nvSpPr>
          <p:spPr bwMode="auto">
            <a:xfrm>
              <a:off x="4643438" y="1571612"/>
              <a:ext cx="30912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nums[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+1..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元素和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3490" name="Rectangle 2"/>
            <p:cNvSpPr>
              <a:spLocks noChangeArrowheads="1"/>
            </p:cNvSpPr>
            <p:nvPr/>
          </p:nvSpPr>
          <p:spPr bwMode="auto">
            <a:xfrm>
              <a:off x="4291756" y="2055566"/>
              <a:ext cx="3352078" cy="40662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FF00FF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571604" y="4643446"/>
            <a:ext cx="7072362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]-psum[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]=nums[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+1]+</a:t>
            </a:r>
            <a:r>
              <a:rPr lang="zh-CN" altLang="zh-CN" sz="220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+nums[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]=0 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+1..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的元素和为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 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答案为（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+1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j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）即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hmap[psum[</a:t>
            </a:r>
            <a:r>
              <a:rPr lang="en-US" altLang="zh-CN" sz="22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]]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hmap[psum[</a:t>
            </a:r>
            <a:r>
              <a:rPr lang="en-US" altLang="zh-CN" sz="22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]]+1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26"/>
          <p:cNvGrpSpPr/>
          <p:nvPr/>
        </p:nvGrpSpPr>
        <p:grpSpPr>
          <a:xfrm>
            <a:off x="4643438" y="4000504"/>
            <a:ext cx="1571636" cy="500066"/>
            <a:chOff x="4643438" y="4000504"/>
            <a:chExt cx="1571636" cy="500066"/>
          </a:xfrm>
        </p:grpSpPr>
        <p:sp>
          <p:nvSpPr>
            <p:cNvPr id="22" name="下箭头 21"/>
            <p:cNvSpPr/>
            <p:nvPr/>
          </p:nvSpPr>
          <p:spPr>
            <a:xfrm>
              <a:off x="4643438" y="4000504"/>
              <a:ext cx="357190" cy="500066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00628" y="4071942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推导过程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324129"/>
            <a:ext cx="1857388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</a:rPr>
              <a:t>注意两点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282" y="2500306"/>
            <a:ext cx="8643998" cy="46166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答案起始位置为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是一种特殊情况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1,-1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。</a:t>
            </a:r>
          </a:p>
        </p:txBody>
      </p:sp>
      <p:grpSp>
        <p:nvGrpSpPr>
          <p:cNvPr id="2" name="组合 5"/>
          <p:cNvGrpSpPr/>
          <p:nvPr/>
        </p:nvGrpSpPr>
        <p:grpSpPr>
          <a:xfrm>
            <a:off x="571472" y="1000108"/>
            <a:ext cx="7786742" cy="1179253"/>
            <a:chOff x="357158" y="2042957"/>
            <a:chExt cx="7786742" cy="1179253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441637" y="2042957"/>
              <a:ext cx="7702263" cy="5210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nums[0]  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  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宋体" pitchFamily="2" charset="-122"/>
              </a:endParaRPr>
            </a:p>
          </p:txBody>
        </p: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357158" y="2873353"/>
              <a:ext cx="1571636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(psum[0],0)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AutoShape 11"/>
            <p:cNvSpPr>
              <a:spLocks noChangeShapeType="1"/>
            </p:cNvSpPr>
            <p:nvPr/>
          </p:nvSpPr>
          <p:spPr bwMode="auto">
            <a:xfrm flipV="1">
              <a:off x="110339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120272" y="2869955"/>
              <a:ext cx="159447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AutoShape 9"/>
            <p:cNvSpPr>
              <a:spLocks noChangeShapeType="1"/>
            </p:cNvSpPr>
            <p:nvPr/>
          </p:nvSpPr>
          <p:spPr bwMode="auto">
            <a:xfrm flipV="1">
              <a:off x="3141676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013235" y="2866557"/>
              <a:ext cx="2024375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AutoShape 7"/>
            <p:cNvSpPr>
              <a:spLocks noChangeShapeType="1"/>
            </p:cNvSpPr>
            <p:nvPr/>
          </p:nvSpPr>
          <p:spPr bwMode="auto">
            <a:xfrm flipV="1">
              <a:off x="5036373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6594547" y="2863159"/>
              <a:ext cx="14298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AutoShape 5"/>
            <p:cNvSpPr>
              <a:spLocks noChangeShapeType="1"/>
            </p:cNvSpPr>
            <p:nvPr/>
          </p:nvSpPr>
          <p:spPr bwMode="auto">
            <a:xfrm flipV="1">
              <a:off x="722814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14414" y="3077174"/>
            <a:ext cx="4286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0					 1					2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					-1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				2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5" name="组合 23"/>
          <p:cNvGrpSpPr/>
          <p:nvPr/>
        </p:nvGrpSpPr>
        <p:grpSpPr>
          <a:xfrm>
            <a:off x="714348" y="3792348"/>
            <a:ext cx="1643074" cy="1064282"/>
            <a:chOff x="714348" y="3792348"/>
            <a:chExt cx="1643074" cy="1064282"/>
          </a:xfrm>
        </p:grpSpPr>
        <p:cxnSp>
          <p:nvCxnSpPr>
            <p:cNvPr id="19" name="直接箭头连接符 18"/>
            <p:cNvCxnSpPr/>
            <p:nvPr/>
          </p:nvCxnSpPr>
          <p:spPr>
            <a:xfrm rot="5400000" flipH="1" flipV="1">
              <a:off x="1229407" y="3934430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14348" y="4148744"/>
              <a:ext cx="16430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psum[0]=1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插入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(1,0)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6" name="组合 24"/>
          <p:cNvGrpSpPr/>
          <p:nvPr/>
        </p:nvGrpSpPr>
        <p:grpSpPr>
          <a:xfrm>
            <a:off x="2643174" y="3791554"/>
            <a:ext cx="1643074" cy="1064282"/>
            <a:chOff x="2643174" y="3791554"/>
            <a:chExt cx="1643074" cy="1064282"/>
          </a:xfrm>
        </p:grpSpPr>
        <p:cxnSp>
          <p:nvCxnSpPr>
            <p:cNvPr id="21" name="直接箭头连接符 20"/>
            <p:cNvCxnSpPr/>
            <p:nvPr/>
          </p:nvCxnSpPr>
          <p:spPr>
            <a:xfrm rot="5400000" flipH="1" flipV="1">
              <a:off x="3158233" y="3933636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643174" y="4147950"/>
              <a:ext cx="16430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psum[1]=0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插入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(0,1)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18" name="组合 26"/>
          <p:cNvGrpSpPr/>
          <p:nvPr/>
        </p:nvGrpSpPr>
        <p:grpSpPr>
          <a:xfrm>
            <a:off x="4286248" y="3934430"/>
            <a:ext cx="4357718" cy="1015663"/>
            <a:chOff x="4286248" y="3934430"/>
            <a:chExt cx="4357718" cy="1015663"/>
          </a:xfrm>
        </p:grpSpPr>
        <p:sp>
          <p:nvSpPr>
            <p:cNvPr id="23" name="TextBox 22"/>
            <p:cNvSpPr txBox="1"/>
            <p:nvPr/>
          </p:nvSpPr>
          <p:spPr>
            <a:xfrm>
              <a:off x="4643438" y="3934430"/>
              <a:ext cx="40005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为了保证找到这样的答案需要事先在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hmap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中插入元素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(0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-1)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，即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hmap[0]=-1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26" name="左箭头 25"/>
            <p:cNvSpPr/>
            <p:nvPr/>
          </p:nvSpPr>
          <p:spPr>
            <a:xfrm>
              <a:off x="4286248" y="4286256"/>
              <a:ext cx="285752" cy="285752"/>
            </a:xfrm>
            <a:prstGeom prst="lef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9"/>
          <p:cNvGrpSpPr/>
          <p:nvPr/>
        </p:nvGrpSpPr>
        <p:grpSpPr>
          <a:xfrm>
            <a:off x="4000496" y="5214950"/>
            <a:ext cx="4786346" cy="757300"/>
            <a:chOff x="4000496" y="5214950"/>
            <a:chExt cx="4786346" cy="757300"/>
          </a:xfrm>
        </p:grpSpPr>
        <p:sp>
          <p:nvSpPr>
            <p:cNvPr id="28" name="下箭头 27"/>
            <p:cNvSpPr/>
            <p:nvPr/>
          </p:nvSpPr>
          <p:spPr>
            <a:xfrm>
              <a:off x="5786446" y="5214950"/>
              <a:ext cx="285752" cy="285752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00496" y="5572140"/>
              <a:ext cx="4786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hmap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：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(0,-1),(1,0)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，找到答案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{0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，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1}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02" y="3214686"/>
            <a:ext cx="7715336" cy="50270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不必采用前缀和数组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改为单个变量即可。</a:t>
            </a:r>
          </a:p>
        </p:txBody>
      </p:sp>
      <p:grpSp>
        <p:nvGrpSpPr>
          <p:cNvPr id="2" name="组合 5"/>
          <p:cNvGrpSpPr/>
          <p:nvPr/>
        </p:nvGrpSpPr>
        <p:grpSpPr>
          <a:xfrm>
            <a:off x="571472" y="1428736"/>
            <a:ext cx="7786742" cy="1179253"/>
            <a:chOff x="357158" y="2042957"/>
            <a:chExt cx="7786742" cy="1179253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441637" y="2042957"/>
              <a:ext cx="7702263" cy="52102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nums[0]  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   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nums[</a:t>
              </a:r>
              <a:r>
                <a:rPr kumimoji="0" lang="en-US" altLang="zh-CN" sz="200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  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宋体" pitchFamily="2" charset="-122"/>
              </a:endParaRPr>
            </a:p>
          </p:txBody>
        </p: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357158" y="2873353"/>
              <a:ext cx="1571636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(psum[0],0)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AutoShape 11"/>
            <p:cNvSpPr>
              <a:spLocks noChangeShapeType="1"/>
            </p:cNvSpPr>
            <p:nvPr/>
          </p:nvSpPr>
          <p:spPr bwMode="auto">
            <a:xfrm flipV="1">
              <a:off x="110339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120272" y="2869955"/>
              <a:ext cx="159447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AutoShape 9"/>
            <p:cNvSpPr>
              <a:spLocks noChangeShapeType="1"/>
            </p:cNvSpPr>
            <p:nvPr/>
          </p:nvSpPr>
          <p:spPr bwMode="auto">
            <a:xfrm flipV="1">
              <a:off x="3141676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013235" y="2866557"/>
              <a:ext cx="2024375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AutoShape 7"/>
            <p:cNvSpPr>
              <a:spLocks noChangeShapeType="1"/>
            </p:cNvSpPr>
            <p:nvPr/>
          </p:nvSpPr>
          <p:spPr bwMode="auto">
            <a:xfrm flipV="1">
              <a:off x="5036373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6594547" y="2863159"/>
              <a:ext cx="1429891" cy="3488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(psum[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],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AutoShape 5"/>
            <p:cNvSpPr>
              <a:spLocks noChangeShapeType="1"/>
            </p:cNvSpPr>
            <p:nvPr/>
          </p:nvSpPr>
          <p:spPr bwMode="auto">
            <a:xfrm flipV="1">
              <a:off x="7228142" y="2503571"/>
              <a:ext cx="1564" cy="38510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643998" cy="57452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subarraySum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&amp;nums) {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unordered_map&lt;int,int&gt; hmap;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vector&lt;int&gt; ans;  	int 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hmap[0]=-1; int psum=0;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 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psum+=nums[j];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hmap.count(psum)&gt;0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ans.push_back(hmap[psum]+1); ans.push_back(j);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hmap[psum]=j;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285720" y="6143644"/>
            <a:ext cx="8072494" cy="461665"/>
            <a:chOff x="500034" y="6143644"/>
            <a:chExt cx="8072494" cy="461665"/>
          </a:xfrm>
        </p:grpSpPr>
        <p:grpSp>
          <p:nvGrpSpPr>
            <p:cNvPr id="4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806ms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10.49MB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itchFamily="34" charset="0"/>
                    <a:ea typeface="仿宋" pitchFamily="49" charset="-122"/>
                    <a:cs typeface="Courier New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itchFamily="66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71480"/>
            <a:ext cx="307183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3.2.2 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并查集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48" y="1714488"/>
            <a:ext cx="7858180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并查集是解决不相交集合的一种数据结构。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857224" y="2857496"/>
            <a:ext cx="6357982" cy="1500198"/>
            <a:chOff x="857224" y="3286124"/>
            <a:chExt cx="6357982" cy="1500198"/>
          </a:xfrm>
        </p:grpSpPr>
        <p:sp>
          <p:nvSpPr>
            <p:cNvPr id="9" name="椭圆 8"/>
            <p:cNvSpPr/>
            <p:nvPr/>
          </p:nvSpPr>
          <p:spPr>
            <a:xfrm>
              <a:off x="1071538" y="34290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223938" y="35814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000100" y="3929066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857224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428728" y="3857628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357290" y="4143380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500166" y="328612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857356" y="414338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928662" y="4214818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500166" y="450057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928794" y="4572008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214546" y="378619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714480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右箭头 22"/>
            <p:cNvSpPr/>
            <p:nvPr/>
          </p:nvSpPr>
          <p:spPr>
            <a:xfrm>
              <a:off x="2786050" y="3786190"/>
              <a:ext cx="714380" cy="285752"/>
            </a:xfrm>
            <a:prstGeom prst="righ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6357950" y="34290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6510350" y="358140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3857620" y="3786190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6143636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000628" y="3643314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5214942" y="4000504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4214810" y="3500438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4429124" y="4429132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429388" y="3929066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4286248" y="400050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5429256" y="3643314"/>
              <a:ext cx="214314" cy="214314"/>
            </a:xfrm>
            <a:prstGeom prst="ellipse">
              <a:avLst/>
            </a:prstGeom>
            <a:solidFill>
              <a:srgbClr val="0000FF"/>
            </a:solidFill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6858016" y="400050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7000892" y="3643314"/>
              <a:ext cx="214314" cy="21431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1000108"/>
            <a:ext cx="8501122" cy="270843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个结点的集合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，结点编号为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，再给定一个等价关系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由等价关系产生所有结点的一个划分，每个结点属于一个等价类，所有等价类是不相交的。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现在的问题是求一个结点所属的等价类，以及合并两个等价类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4143380"/>
            <a:ext cx="8143932" cy="1733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Init()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：初始化。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：查找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）结点所属的等价类。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4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Union(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）所属的两个等价类合并。</a:t>
            </a:r>
          </a:p>
        </p:txBody>
      </p:sp>
      <p:sp>
        <p:nvSpPr>
          <p:cNvPr id="6" name="下箭头 5"/>
          <p:cNvSpPr/>
          <p:nvPr/>
        </p:nvSpPr>
        <p:spPr>
          <a:xfrm>
            <a:off x="3929058" y="3714752"/>
            <a:ext cx="357190" cy="428628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可选过程 6"/>
          <p:cNvSpPr/>
          <p:nvPr/>
        </p:nvSpPr>
        <p:spPr>
          <a:xfrm>
            <a:off x="3786182" y="6072206"/>
            <a:ext cx="1500198" cy="500066"/>
          </a:xfrm>
          <a:prstGeom prst="flowChartAlternateProcess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并查集</a:t>
            </a:r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158" y="142852"/>
            <a:ext cx="3286148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什么是并查集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306142"/>
            <a:ext cx="2928958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并查集的实现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342114"/>
            <a:ext cx="8001056" cy="181075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采用树结构来实现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将并查集看成一个森林，每个等价类用一棵树表示，包含该等价类的所有结点即结点子集，称为子集树，每个子集树通过根结点标识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2214546" y="3500438"/>
            <a:ext cx="1298313" cy="2056460"/>
            <a:chOff x="2214546" y="3500438"/>
            <a:chExt cx="1298313" cy="2056460"/>
          </a:xfrm>
        </p:grpSpPr>
        <p:sp>
          <p:nvSpPr>
            <p:cNvPr id="37891" name="AutoShape 3"/>
            <p:cNvSpPr>
              <a:spLocks noChangeArrowheads="1"/>
            </p:cNvSpPr>
            <p:nvPr/>
          </p:nvSpPr>
          <p:spPr bwMode="auto">
            <a:xfrm>
              <a:off x="2214546" y="4943017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890" name="AutoShape 2"/>
            <p:cNvSpPr>
              <a:spLocks noChangeArrowheads="1"/>
            </p:cNvSpPr>
            <p:nvPr/>
          </p:nvSpPr>
          <p:spPr bwMode="auto">
            <a:xfrm>
              <a:off x="3071802" y="4943017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2214546" y="4514389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2643174" y="3728571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3071802" y="4514389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18" idx="0"/>
              <a:endCxn id="19" idx="3"/>
            </p:cNvCxnSpPr>
            <p:nvPr/>
          </p:nvCxnSpPr>
          <p:spPr>
            <a:xfrm rot="5400000" flipH="1" flipV="1">
              <a:off x="2357422" y="4165867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20" idx="0"/>
              <a:endCxn id="19" idx="5"/>
            </p:cNvCxnSpPr>
            <p:nvPr/>
          </p:nvCxnSpPr>
          <p:spPr>
            <a:xfrm rot="16200000" flipV="1">
              <a:off x="2937594" y="4165866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任意多边形 24"/>
            <p:cNvSpPr/>
            <p:nvPr/>
          </p:nvSpPr>
          <p:spPr>
            <a:xfrm>
              <a:off x="2990299" y="3500438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7422" y="36433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857232"/>
            <a:ext cx="8358246" cy="29937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并查集的基本存储结构（实际上是森林的双亲存储结构）如下：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int parent[MAXN];	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并查集存储结构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int rnk[MAXN];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存储结点的秩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近似于高度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parent[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时，表示结点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的双亲结点是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rnk[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表示子树高度即秩，秩并不与高度完全相同，但它与高度成正比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428604"/>
            <a:ext cx="2071702" cy="5515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初始化算法</a:t>
            </a:r>
            <a:endParaRPr lang="zh-CN" altLang="en-US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214422"/>
            <a:ext cx="8643998" cy="26033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Init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并查集初始化</a:t>
            </a:r>
          </a:p>
          <a:p>
            <a:pPr algn="l" defTabSz="360000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i=1;i&lt;=n;i++)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parent[i]=i;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rnk[i]=0;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1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1306613"/>
            <a:ext cx="7929618" cy="90794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路径查找：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查找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结点所属子集树的根结点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查找中的路径压缩：</a:t>
            </a:r>
          </a:p>
        </p:txBody>
      </p:sp>
      <p:sp>
        <p:nvSpPr>
          <p:cNvPr id="90140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3" name="组合 72"/>
          <p:cNvGrpSpPr/>
          <p:nvPr/>
        </p:nvGrpSpPr>
        <p:grpSpPr>
          <a:xfrm>
            <a:off x="1142976" y="2639478"/>
            <a:ext cx="6655023" cy="3004100"/>
            <a:chOff x="631621" y="2011529"/>
            <a:chExt cx="6655023" cy="3004100"/>
          </a:xfrm>
        </p:grpSpPr>
        <p:sp>
          <p:nvSpPr>
            <p:cNvPr id="33" name="椭圆 32"/>
            <p:cNvSpPr/>
            <p:nvPr/>
          </p:nvSpPr>
          <p:spPr>
            <a:xfrm>
              <a:off x="2357422" y="2371249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85918" y="2928934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704547" y="2143116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214414" y="3429000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631621" y="3966637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AutoShape 3"/>
            <p:cNvSpPr>
              <a:spLocks noChangeArrowheads="1"/>
            </p:cNvSpPr>
            <p:nvPr/>
          </p:nvSpPr>
          <p:spPr bwMode="auto">
            <a:xfrm>
              <a:off x="2357422" y="2857496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857356" y="2957452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41" name="直接箭头连接符 40"/>
            <p:cNvCxnSpPr>
              <a:stCxn id="36" idx="7"/>
              <a:endCxn id="34" idx="3"/>
            </p:cNvCxnSpPr>
            <p:nvPr/>
          </p:nvCxnSpPr>
          <p:spPr>
            <a:xfrm rot="5400000" flipH="1" flipV="1">
              <a:off x="1612623" y="3254310"/>
              <a:ext cx="203714" cy="2684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4" idx="7"/>
              <a:endCxn id="33" idx="3"/>
            </p:cNvCxnSpPr>
            <p:nvPr/>
          </p:nvCxnSpPr>
          <p:spPr>
            <a:xfrm rot="5400000" flipH="1" flipV="1">
              <a:off x="2159382" y="2729499"/>
              <a:ext cx="253204" cy="2684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37" idx="7"/>
              <a:endCxn id="36" idx="3"/>
            </p:cNvCxnSpPr>
            <p:nvPr/>
          </p:nvCxnSpPr>
          <p:spPr>
            <a:xfrm rot="5400000" flipH="1" flipV="1">
              <a:off x="1016689" y="3767518"/>
              <a:ext cx="241285" cy="279707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AutoShape 3"/>
            <p:cNvSpPr>
              <a:spLocks noChangeArrowheads="1"/>
            </p:cNvSpPr>
            <p:nvPr/>
          </p:nvSpPr>
          <p:spPr bwMode="auto">
            <a:xfrm>
              <a:off x="1785918" y="3386623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1236992" y="3852822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AutoShape 3"/>
            <p:cNvSpPr>
              <a:spLocks noChangeArrowheads="1"/>
            </p:cNvSpPr>
            <p:nvPr/>
          </p:nvSpPr>
          <p:spPr bwMode="auto">
            <a:xfrm>
              <a:off x="642910" y="4401748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51985" y="3443993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C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8066" y="3972577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x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357422" y="2011529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6531237" y="2431398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5959733" y="298908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</a:rPr>
                <a:t>B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6878362" y="2203265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5369107" y="298908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</a:rPr>
                <a:t>C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4643438" y="298908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</a:rPr>
                <a:t>x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58" name="AutoShape 3"/>
            <p:cNvSpPr>
              <a:spLocks noChangeArrowheads="1"/>
            </p:cNvSpPr>
            <p:nvPr/>
          </p:nvSpPr>
          <p:spPr bwMode="auto">
            <a:xfrm>
              <a:off x="6531237" y="2917645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60" name="直接箭头连接符 59"/>
            <p:cNvCxnSpPr>
              <a:stCxn id="56" idx="7"/>
              <a:endCxn id="53" idx="2"/>
            </p:cNvCxnSpPr>
            <p:nvPr/>
          </p:nvCxnSpPr>
          <p:spPr>
            <a:xfrm rot="5400000" flipH="1" flipV="1">
              <a:off x="5930727" y="2449950"/>
              <a:ext cx="404747" cy="79627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54" idx="7"/>
              <a:endCxn id="53" idx="3"/>
            </p:cNvCxnSpPr>
            <p:nvPr/>
          </p:nvCxnSpPr>
          <p:spPr>
            <a:xfrm rot="5400000" flipH="1" flipV="1">
              <a:off x="6333197" y="2789648"/>
              <a:ext cx="253204" cy="2684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57" idx="7"/>
              <a:endCxn id="53" idx="1"/>
            </p:cNvCxnSpPr>
            <p:nvPr/>
          </p:nvCxnSpPr>
          <p:spPr>
            <a:xfrm rot="5400000" flipH="1" flipV="1">
              <a:off x="5523506" y="1979958"/>
              <a:ext cx="556290" cy="158471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AutoShape 3"/>
            <p:cNvSpPr>
              <a:spLocks noChangeArrowheads="1"/>
            </p:cNvSpPr>
            <p:nvPr/>
          </p:nvSpPr>
          <p:spPr bwMode="auto">
            <a:xfrm>
              <a:off x="5959733" y="3446772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AutoShape 3"/>
            <p:cNvSpPr>
              <a:spLocks noChangeArrowheads="1"/>
            </p:cNvSpPr>
            <p:nvPr/>
          </p:nvSpPr>
          <p:spPr bwMode="auto">
            <a:xfrm>
              <a:off x="5391685" y="3446772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AutoShape 3"/>
            <p:cNvSpPr>
              <a:spLocks noChangeArrowheads="1"/>
            </p:cNvSpPr>
            <p:nvPr/>
          </p:nvSpPr>
          <p:spPr bwMode="auto">
            <a:xfrm>
              <a:off x="4654727" y="3446772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531237" y="2071678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72" name="右箭头 71"/>
            <p:cNvSpPr/>
            <p:nvPr/>
          </p:nvSpPr>
          <p:spPr>
            <a:xfrm>
              <a:off x="3428992" y="3214686"/>
              <a:ext cx="785818" cy="357190"/>
            </a:xfrm>
            <a:prstGeom prst="righ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28596" y="428604"/>
            <a:ext cx="2071702" cy="5515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查找</a:t>
            </a:r>
            <a:r>
              <a:rPr lang="zh-CN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endParaRPr lang="zh-CN" altLang="en-US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2" name="灯片编号占位符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571480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路径查找算法（递归）：</a:t>
            </a:r>
            <a:endParaRPr lang="zh-CN" altLang="en-US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214422"/>
            <a:ext cx="8643998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x)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递归算法：并查集中查找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结点的根结点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(x!=parent[x])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parent[x]=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(parent[x]);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路径压缩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parent[x];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285728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路径查找算法（非递归）：</a:t>
            </a:r>
            <a:endParaRPr lang="zh-CN" altLang="en-US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928670"/>
            <a:ext cx="8643998" cy="48860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x)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非递归算法：并查集中查找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结点的根结点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rx=x;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(parent[rx]!=rx)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rx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rx=parent[rx];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y=x;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(y!=rx)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路径压缩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tmp=parent[y];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parent[y]=rx;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y=tmp;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rx;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返回根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428736"/>
            <a:ext cx="8286808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合并是给定一个等价关系（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）后，需要将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所属的两棵子集树合并为一棵树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先查找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所属子集树的根结点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rx=ry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，说明它们同属一棵子集树，不需要合并；否则需要合并，注意合并是根结点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的合并，并且希望合并后的树高度尽可能小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2071702" cy="55153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</a:pP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合并</a:t>
            </a:r>
            <a:r>
              <a:rPr lang="zh-CN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endParaRPr lang="zh-CN" altLang="en-US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285852" y="799613"/>
            <a:ext cx="428628" cy="428628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285852" y="1714488"/>
            <a:ext cx="428628" cy="419104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x</a:t>
            </a: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632977" y="571480"/>
            <a:ext cx="408282" cy="549392"/>
          </a:xfrm>
          <a:custGeom>
            <a:avLst/>
            <a:gdLst>
              <a:gd name="connsiteX0" fmla="*/ 79023 w 408282"/>
              <a:gd name="connsiteY0" fmla="*/ 449673 h 549392"/>
              <a:gd name="connsiteX1" fmla="*/ 338667 w 408282"/>
              <a:gd name="connsiteY1" fmla="*/ 494829 h 549392"/>
              <a:gd name="connsiteX2" fmla="*/ 372534 w 408282"/>
              <a:gd name="connsiteY2" fmla="*/ 122296 h 549392"/>
              <a:gd name="connsiteX3" fmla="*/ 124178 w 408282"/>
              <a:gd name="connsiteY3" fmla="*/ 20696 h 549392"/>
              <a:gd name="connsiteX4" fmla="*/ 0 w 408282"/>
              <a:gd name="connsiteY4" fmla="*/ 246473 h 54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282" h="549392">
                <a:moveTo>
                  <a:pt x="79023" y="449673"/>
                </a:moveTo>
                <a:cubicBezTo>
                  <a:pt x="184386" y="499532"/>
                  <a:pt x="289749" y="549392"/>
                  <a:pt x="338667" y="494829"/>
                </a:cubicBezTo>
                <a:cubicBezTo>
                  <a:pt x="387586" y="440266"/>
                  <a:pt x="408282" y="201318"/>
                  <a:pt x="372534" y="122296"/>
                </a:cubicBezTo>
                <a:cubicBezTo>
                  <a:pt x="336786" y="43274"/>
                  <a:pt x="186267" y="0"/>
                  <a:pt x="124178" y="20696"/>
                </a:cubicBezTo>
                <a:cubicBezTo>
                  <a:pt x="62089" y="41392"/>
                  <a:pt x="31044" y="143932"/>
                  <a:pt x="0" y="246473"/>
                </a:cubicBezTo>
              </a:path>
            </a:pathLst>
          </a:cu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42976" y="439893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rx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596" y="2571744"/>
            <a:ext cx="8143932" cy="30469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rnk[rx]&lt;rnk[ry]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，将高度较小的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的孩子结点，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树高度不变。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rnk[rx]&gt;rnk[ry]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，将高度较小的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的孩子结点，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树高度不变。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rnk[rx]=rnk[ry]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的孩子结点或者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的孩子结点均可，但此时合并后的树高度增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cxnSp>
        <p:nvCxnSpPr>
          <p:cNvPr id="9" name="直接箭头连接符 8"/>
          <p:cNvCxnSpPr>
            <a:stCxn id="4" idx="0"/>
            <a:endCxn id="3" idx="4"/>
          </p:cNvCxnSpPr>
          <p:nvPr/>
        </p:nvCxnSpPr>
        <p:spPr>
          <a:xfrm rot="5400000" flipH="1" flipV="1">
            <a:off x="1257043" y="1471365"/>
            <a:ext cx="486247" cy="1588"/>
          </a:xfrm>
          <a:prstGeom prst="straightConnector1">
            <a:avLst/>
          </a:prstGeom>
          <a:ln w="19050"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2602147" y="788324"/>
            <a:ext cx="428628" cy="428628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602147" y="1703199"/>
            <a:ext cx="428628" cy="419104"/>
          </a:xfrm>
          <a:prstGeom prst="ellipse">
            <a:avLst/>
          </a:prstGeom>
          <a:ln>
            <a:tailEnd type="none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y</a:t>
            </a:r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2949272" y="560191"/>
            <a:ext cx="408282" cy="549392"/>
          </a:xfrm>
          <a:custGeom>
            <a:avLst/>
            <a:gdLst>
              <a:gd name="connsiteX0" fmla="*/ 79023 w 408282"/>
              <a:gd name="connsiteY0" fmla="*/ 449673 h 549392"/>
              <a:gd name="connsiteX1" fmla="*/ 338667 w 408282"/>
              <a:gd name="connsiteY1" fmla="*/ 494829 h 549392"/>
              <a:gd name="connsiteX2" fmla="*/ 372534 w 408282"/>
              <a:gd name="connsiteY2" fmla="*/ 122296 h 549392"/>
              <a:gd name="connsiteX3" fmla="*/ 124178 w 408282"/>
              <a:gd name="connsiteY3" fmla="*/ 20696 h 549392"/>
              <a:gd name="connsiteX4" fmla="*/ 0 w 408282"/>
              <a:gd name="connsiteY4" fmla="*/ 246473 h 549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282" h="549392">
                <a:moveTo>
                  <a:pt x="79023" y="449673"/>
                </a:moveTo>
                <a:cubicBezTo>
                  <a:pt x="184386" y="499532"/>
                  <a:pt x="289749" y="549392"/>
                  <a:pt x="338667" y="494829"/>
                </a:cubicBezTo>
                <a:cubicBezTo>
                  <a:pt x="387586" y="440266"/>
                  <a:pt x="408282" y="201318"/>
                  <a:pt x="372534" y="122296"/>
                </a:cubicBezTo>
                <a:cubicBezTo>
                  <a:pt x="336786" y="43274"/>
                  <a:pt x="186267" y="0"/>
                  <a:pt x="124178" y="20696"/>
                </a:cubicBezTo>
                <a:cubicBezTo>
                  <a:pt x="62089" y="41392"/>
                  <a:pt x="31044" y="143932"/>
                  <a:pt x="0" y="246473"/>
                </a:cubicBezTo>
              </a:path>
            </a:pathLst>
          </a:cu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459271" y="428604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ry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cxnSp>
        <p:nvCxnSpPr>
          <p:cNvPr id="14" name="直接箭头连接符 13"/>
          <p:cNvCxnSpPr>
            <a:stCxn id="11" idx="0"/>
            <a:endCxn id="10" idx="4"/>
          </p:cNvCxnSpPr>
          <p:nvPr/>
        </p:nvCxnSpPr>
        <p:spPr>
          <a:xfrm rot="5400000" flipH="1" flipV="1">
            <a:off x="2573338" y="1460076"/>
            <a:ext cx="486247" cy="1588"/>
          </a:xfrm>
          <a:prstGeom prst="straightConnector1">
            <a:avLst/>
          </a:prstGeom>
          <a:ln w="19050"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285728"/>
            <a:ext cx="385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合并算法：</a:t>
            </a:r>
            <a:endParaRPr lang="zh-CN" altLang="en-US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928670"/>
            <a:ext cx="8643998" cy="452698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Union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x,int y)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并查集中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的两个集合的合并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rx=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ry=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(y);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(rx==ry) return;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属于同一棵树的情况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(rnk[rx]&lt;rnk[ry])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parent[rx]=ry;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//rx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结点作为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ry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的孩子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(rnk[rx]==rnk[ry])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秩相同，合并后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的秩增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rnk[rx]++;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parent[ry]=rx;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//ry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结点作为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的孩子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518925"/>
            <a:ext cx="8715436" cy="469615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1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3.3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寻找朋友圈数（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LintCode1857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★★）。班上有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）名学生，其中有些人是朋友，有些则不是。学生的友谊具有是传递性，如果已知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的朋友，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的朋友，那么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的朋友。朋友圈是指所有朋友的集合。给定一个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的对称矩阵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，表示班级中学生之间的朋友关系，如果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，表示已知学生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和学生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互为朋友关系，否则为不知道。设计一个算法求所有学生中的已知的朋友圈总数。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1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M={{1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，两个朋友圈是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1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1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  int findCircleNum(vector&lt;vector&lt;int&gt;&gt; &amp;M)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85786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572560" cy="391389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名学生的编号是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数组表示顶点所在的连通分量编号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首先将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个顶点看成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个连通分量，初始化顶点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的连通分量编号为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之间连一条边，同时将顶点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所在连通分量的全部顶点的连通分量编号改为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fno[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遍历完毕，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不同连通分量编号的个数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即为朋友圈总数。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60447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findCircleNum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&amp;M)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int n=M.size();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fno[n];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存放每个顶点的连通分量编号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i=0;i&lt;n;i++) fno[i]=i;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for(int j=i+1;j&lt;n;j++)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M[i][j]==1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	if(fno[i]==fno[j]) continue;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int sn1=fno[i];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int sn2=fno[j];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for(int k=0;k&lt;n;k++)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	if(fno[k]==sn1) fno[k]=sn2;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142984"/>
            <a:ext cx="864399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set&lt;int&gt; myset;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容器除重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myset.insert(fno[i]);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return myset.size();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714348" y="4429132"/>
            <a:ext cx="8072494" cy="461665"/>
            <a:chOff x="500034" y="6143644"/>
            <a:chExt cx="8072494" cy="461665"/>
          </a:xfrm>
        </p:grpSpPr>
        <p:grpSp>
          <p:nvGrpSpPr>
            <p:cNvPr id="4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163ms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5.21MB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071538" y="6286520"/>
                <a:ext cx="785818" cy="44396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itchFamily="34" charset="0"/>
                    <a:ea typeface="仿宋" pitchFamily="49" charset="-122"/>
                    <a:cs typeface="Courier New" pitchFamily="49" charset="0"/>
                  </a:rPr>
                  <a:t>EXE </a:t>
                </a:r>
                <a:endParaRPr lang="zh-CN" altLang="en-US" sz="2000">
                  <a:solidFill>
                    <a:srgbClr val="FF3300"/>
                  </a:solidFill>
                  <a:latin typeface="Forte" pitchFamily="66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3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502832"/>
            <a:ext cx="7715304" cy="338810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朋友关系是一种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等价关系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，求按朋友关系划分后得到的等价类的个数，为此采用并查集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每棵子集树表示一个朋友圈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所在子集树合并。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遍历完毕，每棵子集树的根结点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满足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parent[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，求根结点的个数即为朋友圈总数。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286808" cy="558041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parent;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vector&lt;int&gt; rnk;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findCircleNum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&amp;M)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n=M.size();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parent=vector&lt;int&gt;(n);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rnk=vector&lt;int&gt;(n);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Init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for(int j=i+1;j&lt;n;j++)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	if(M[i][j]==1)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Union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(i,j);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8286808" cy="237254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ans=0;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parent[i]==i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ans++;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928926" y="1929596"/>
            <a:ext cx="1298313" cy="3484426"/>
            <a:chOff x="2928926" y="1929596"/>
            <a:chExt cx="1298313" cy="348442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928926" y="4800141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AutoShape 2"/>
            <p:cNvSpPr>
              <a:spLocks noChangeArrowheads="1"/>
            </p:cNvSpPr>
            <p:nvPr/>
          </p:nvSpPr>
          <p:spPr bwMode="auto">
            <a:xfrm>
              <a:off x="3786182" y="4800141"/>
              <a:ext cx="441057" cy="613881"/>
            </a:xfrm>
            <a:prstGeom prst="triangle">
              <a:avLst>
                <a:gd name="adj" fmla="val 50000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2928926" y="4371513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3357554" y="3585695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3786182" y="4371513"/>
              <a:ext cx="428628" cy="419104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箭头连接符 9"/>
            <p:cNvCxnSpPr>
              <a:stCxn id="7" idx="0"/>
              <a:endCxn id="8" idx="3"/>
            </p:cNvCxnSpPr>
            <p:nvPr/>
          </p:nvCxnSpPr>
          <p:spPr>
            <a:xfrm rot="5400000" flipH="1" flipV="1">
              <a:off x="3071802" y="4022991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9" idx="0"/>
              <a:endCxn id="8" idx="5"/>
            </p:cNvCxnSpPr>
            <p:nvPr/>
          </p:nvCxnSpPr>
          <p:spPr>
            <a:xfrm rot="16200000" flipV="1">
              <a:off x="3651974" y="4022990"/>
              <a:ext cx="419961" cy="27708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任意多边形 11"/>
            <p:cNvSpPr/>
            <p:nvPr/>
          </p:nvSpPr>
          <p:spPr>
            <a:xfrm>
              <a:off x="3704679" y="3357562"/>
              <a:ext cx="408282" cy="549392"/>
            </a:xfrm>
            <a:custGeom>
              <a:avLst/>
              <a:gdLst>
                <a:gd name="connsiteX0" fmla="*/ 79023 w 408282"/>
                <a:gd name="connsiteY0" fmla="*/ 449673 h 549392"/>
                <a:gd name="connsiteX1" fmla="*/ 338667 w 408282"/>
                <a:gd name="connsiteY1" fmla="*/ 494829 h 549392"/>
                <a:gd name="connsiteX2" fmla="*/ 372534 w 408282"/>
                <a:gd name="connsiteY2" fmla="*/ 122296 h 549392"/>
                <a:gd name="connsiteX3" fmla="*/ 124178 w 408282"/>
                <a:gd name="connsiteY3" fmla="*/ 20696 h 549392"/>
                <a:gd name="connsiteX4" fmla="*/ 0 w 408282"/>
                <a:gd name="connsiteY4" fmla="*/ 246473 h 54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282" h="549392">
                  <a:moveTo>
                    <a:pt x="79023" y="449673"/>
                  </a:moveTo>
                  <a:cubicBezTo>
                    <a:pt x="184386" y="499532"/>
                    <a:pt x="289749" y="549392"/>
                    <a:pt x="338667" y="494829"/>
                  </a:cubicBezTo>
                  <a:cubicBezTo>
                    <a:pt x="387586" y="440266"/>
                    <a:pt x="408282" y="201318"/>
                    <a:pt x="372534" y="122296"/>
                  </a:cubicBezTo>
                  <a:cubicBezTo>
                    <a:pt x="336786" y="43274"/>
                    <a:pt x="186267" y="0"/>
                    <a:pt x="124178" y="20696"/>
                  </a:cubicBezTo>
                  <a:cubicBezTo>
                    <a:pt x="62089" y="41392"/>
                    <a:pt x="31044" y="143932"/>
                    <a:pt x="0" y="246473"/>
                  </a:cubicBezTo>
                </a:path>
              </a:pathLst>
            </a:cu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71802" y="3500438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rot="5400000">
              <a:off x="2714612" y="2714620"/>
              <a:ext cx="1571636" cy="1588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dash"/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组合 7"/>
          <p:cNvGrpSpPr/>
          <p:nvPr/>
        </p:nvGrpSpPr>
        <p:grpSpPr>
          <a:xfrm>
            <a:off x="285720" y="6039169"/>
            <a:ext cx="8072494" cy="461665"/>
            <a:chOff x="500034" y="6143644"/>
            <a:chExt cx="8072494" cy="461665"/>
          </a:xfrm>
        </p:grpSpPr>
        <p:grpSp>
          <p:nvGrpSpPr>
            <p:cNvPr id="19" name="组合 9"/>
            <p:cNvGrpSpPr/>
            <p:nvPr/>
          </p:nvGrpSpPr>
          <p:grpSpPr>
            <a:xfrm>
              <a:off x="1714480" y="6143644"/>
              <a:ext cx="6858048" cy="461665"/>
              <a:chOff x="1071538" y="6286520"/>
              <a:chExt cx="6858048" cy="461665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928794" y="6286520"/>
                <a:ext cx="60007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执行用时为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142ms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，内存消耗为</a:t>
                </a:r>
                <a:r>
                  <a:rPr lang="en-US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4.61MB</a:t>
                </a:r>
                <a:r>
                  <a:rPr lang="zh-CN" altLang="zh-CN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</a:rPr>
                  <a:t>。</a:t>
                </a:r>
                <a:endPara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071538" y="6286520"/>
                <a:ext cx="785818" cy="441018"/>
              </a:xfrm>
              <a:prstGeom prst="rect">
                <a:avLst/>
              </a:prstGeom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latin typeface="Eras Bold ITC" pitchFamily="34" charset="0"/>
                    <a:ea typeface="仿宋" pitchFamily="49" charset="-122"/>
                    <a:cs typeface="Courier New" pitchFamily="49" charset="0"/>
                  </a:rPr>
                  <a:t>EXE</a:t>
                </a:r>
                <a:endParaRPr lang="zh-CN" altLang="en-US" sz="2000">
                  <a:solidFill>
                    <a:srgbClr val="FF3300"/>
                  </a:solidFill>
                  <a:latin typeface="Forte" pitchFamily="66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500034" y="6143644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O(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r>
                <a:rPr lang="en-US" altLang="zh-CN" baseline="30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)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435135"/>
            <a:ext cx="8501122" cy="492282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回文子串（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LintCode1856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★）。小明喜欢玩文字游戏，今天他希望在一个字符串的子串中找到回文串。回文串是从左往右和从右往左读相同的字符串，例如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"121"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"tacocat"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是回文串。子串是一个字符串中任意几个连续的字符构成的字符串。现在给定一个字符串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的回文串个数。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s="mokkori"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，它的一些子串是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"m"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"o"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"r"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"i"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"mo"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"ok"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"mok"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"okk"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"kk"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"okko"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"m"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"o"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"r"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"i"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"kk"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"okko"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是回文子串，总共有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个不同的回文子串，答案是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  int countSubstrings(string &amp;s) { }</a:t>
            </a:r>
            <a:endParaRPr lang="zh-CN" altLang="en-US" sz="2000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TextBox 10">
            <a:hlinkClick r:id="" action="ppaction://noaction"/>
          </p:cNvPr>
          <p:cNvSpPr txBox="1"/>
          <p:nvPr/>
        </p:nvSpPr>
        <p:spPr>
          <a:xfrm>
            <a:off x="2714612" y="415333"/>
            <a:ext cx="371477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3.3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回文串个数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572560" cy="24904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这里是求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中不重复的回文子串个数，由于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中存在重复的字符，所以可能存在两个位置不同的子串。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为了到达子串除重目的，设计一个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set&lt;string&gt;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枚举所有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是回文，将其插入到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中，最后返回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的大小。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4862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countSubstrings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 &amp;s)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int n=s.size();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set&lt;string&gt; myset;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for(int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	if(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ispal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(s,i,j))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//s[i..j]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为回文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	myset.insert(s.substr(i,j-i+1));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return myset.size();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142984"/>
            <a:ext cx="8643998" cy="366001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ispal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 &amp;s,int low,int high) {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判断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s[i..j]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是否为回文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i=low,j=high;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while(i&lt;j)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if(s[i]!=s[j]) 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	i++; j--;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928662" y="5286388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507ms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2.07MB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94058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34342"/>
            <a:ext cx="8572560" cy="242309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上述算法在回文判断中存在冗余，例如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s="abba"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"bb"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"abba"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的回文判断是独立的，实际上当确定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"bb"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为回文后，左右两边均为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'a'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，则可以得出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"abba"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也是回文，以此作为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优化点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提高算法性能。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回文子串的中心点。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57356" y="4023082"/>
            <a:ext cx="1000132" cy="906116"/>
            <a:chOff x="1071538" y="4929198"/>
            <a:chExt cx="1000132" cy="906116"/>
          </a:xfrm>
        </p:grpSpPr>
        <p:sp>
          <p:nvSpPr>
            <p:cNvPr id="6" name="TextBox 5"/>
            <p:cNvSpPr txBox="1"/>
            <p:nvPr/>
          </p:nvSpPr>
          <p:spPr>
            <a:xfrm>
              <a:off x="107153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ba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rot="5400000" flipH="1" flipV="1">
              <a:off x="1145622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286116" y="4023082"/>
            <a:ext cx="1000132" cy="906116"/>
            <a:chOff x="2500298" y="4929198"/>
            <a:chExt cx="1000132" cy="906116"/>
          </a:xfrm>
        </p:grpSpPr>
        <p:sp>
          <p:nvSpPr>
            <p:cNvPr id="9" name="TextBox 8"/>
            <p:cNvSpPr txBox="1"/>
            <p:nvPr/>
          </p:nvSpPr>
          <p:spPr>
            <a:xfrm>
              <a:off x="250029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abba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rot="5400000" flipH="1" flipV="1">
              <a:off x="2675983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8" y="435254"/>
            <a:ext cx="9001156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set&lt;string&gt; myset;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countSubstrings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 &amp;s)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n=s.size();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c=0;c&lt;n;c++)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考虑每个字符为回文中心点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(s,c,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c=0;c&lt;n-1;c++)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考虑每两个字符中间为回文中心点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(s,c,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c+1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myset.size();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71538" y="4929198"/>
            <a:ext cx="1000132" cy="906116"/>
            <a:chOff x="1071538" y="4929198"/>
            <a:chExt cx="1000132" cy="906116"/>
          </a:xfrm>
        </p:grpSpPr>
        <p:sp>
          <p:nvSpPr>
            <p:cNvPr id="4" name="TextBox 3"/>
            <p:cNvSpPr txBox="1"/>
            <p:nvPr/>
          </p:nvSpPr>
          <p:spPr>
            <a:xfrm>
              <a:off x="107153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ba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 rot="5400000" flipH="1" flipV="1">
              <a:off x="1145622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2500298" y="4929198"/>
            <a:ext cx="1000132" cy="906116"/>
            <a:chOff x="2500298" y="4929198"/>
            <a:chExt cx="1000132" cy="906116"/>
          </a:xfrm>
        </p:grpSpPr>
        <p:sp>
          <p:nvSpPr>
            <p:cNvPr id="7" name="TextBox 6"/>
            <p:cNvSpPr txBox="1"/>
            <p:nvPr/>
          </p:nvSpPr>
          <p:spPr>
            <a:xfrm>
              <a:off x="2500298" y="4929198"/>
              <a:ext cx="10001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abba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 rot="5400000" flipH="1" flipV="1">
              <a:off x="2675983" y="5584487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285860"/>
            <a:ext cx="8643998" cy="29111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 &amp;s,int l,int r)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求回文子串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while (l&gt;=0 &amp;&amp; r&lt;n &amp;&amp; s[l]==s[r])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	myset.insert(s.substr(l,r-l+1));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	l--; r++;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571472" y="4786322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122ms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5.45MB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7158" y="1500174"/>
            <a:ext cx="8501122" cy="355235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）个整数的序列，要求求出其中最大连续子序列的和。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序列（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11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-4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）的最大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连续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子序列和为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20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序列（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-9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）的最大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连续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子序列和为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规定一个序列最大连续子序列和至少是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，其结果为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7" name="TextBox 6">
            <a:hlinkClick r:id="" action="ppaction://noaction"/>
          </p:cNvPr>
          <p:cNvSpPr txBox="1"/>
          <p:nvPr/>
        </p:nvSpPr>
        <p:spPr>
          <a:xfrm>
            <a:off x="2357422" y="428604"/>
            <a:ext cx="432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3.4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最大连续子序列和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5823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785918" y="2071678"/>
            <a:ext cx="6072230" cy="3500462"/>
            <a:chOff x="1785918" y="2071678"/>
            <a:chExt cx="5500726" cy="3092731"/>
          </a:xfrm>
        </p:grpSpPr>
        <p:sp>
          <p:nvSpPr>
            <p:cNvPr id="75821" name="Rectangle 45"/>
            <p:cNvSpPr>
              <a:spLocks noChangeArrowheads="1"/>
            </p:cNvSpPr>
            <p:nvPr/>
          </p:nvSpPr>
          <p:spPr bwMode="auto">
            <a:xfrm>
              <a:off x="2764277" y="305092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75820" name="Rectangle 44"/>
            <p:cNvSpPr>
              <a:spLocks noChangeArrowheads="1"/>
            </p:cNvSpPr>
            <p:nvPr/>
          </p:nvSpPr>
          <p:spPr bwMode="auto">
            <a:xfrm>
              <a:off x="2836367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5819" name="Rectangle 43"/>
            <p:cNvSpPr>
              <a:spLocks noChangeArrowheads="1"/>
            </p:cNvSpPr>
            <p:nvPr/>
          </p:nvSpPr>
          <p:spPr bwMode="auto">
            <a:xfrm>
              <a:off x="1785918" y="3079538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75818" name="Rectangle 42"/>
            <p:cNvSpPr>
              <a:spLocks noChangeArrowheads="1"/>
            </p:cNvSpPr>
            <p:nvPr/>
          </p:nvSpPr>
          <p:spPr bwMode="auto">
            <a:xfrm>
              <a:off x="3275770" y="305092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75817" name="Rectangle 41"/>
            <p:cNvSpPr>
              <a:spLocks noChangeArrowheads="1"/>
            </p:cNvSpPr>
            <p:nvPr/>
          </p:nvSpPr>
          <p:spPr bwMode="auto">
            <a:xfrm>
              <a:off x="3358158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5816" name="Rectangle 40"/>
            <p:cNvSpPr>
              <a:spLocks noChangeArrowheads="1"/>
            </p:cNvSpPr>
            <p:nvPr/>
          </p:nvSpPr>
          <p:spPr bwMode="auto">
            <a:xfrm>
              <a:off x="3790696" y="305092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75815" name="Rectangle 39"/>
            <p:cNvSpPr>
              <a:spLocks noChangeArrowheads="1"/>
            </p:cNvSpPr>
            <p:nvPr/>
          </p:nvSpPr>
          <p:spPr bwMode="auto">
            <a:xfrm>
              <a:off x="3862785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75814" name="Rectangle 38"/>
            <p:cNvSpPr>
              <a:spLocks noChangeArrowheads="1"/>
            </p:cNvSpPr>
            <p:nvPr/>
          </p:nvSpPr>
          <p:spPr bwMode="auto">
            <a:xfrm>
              <a:off x="4302188" y="305092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18</a:t>
              </a:r>
            </a:p>
          </p:txBody>
        </p:sp>
        <p:sp>
          <p:nvSpPr>
            <p:cNvPr id="75813" name="Rectangle 37"/>
            <p:cNvSpPr>
              <a:spLocks noChangeArrowheads="1"/>
            </p:cNvSpPr>
            <p:nvPr/>
          </p:nvSpPr>
          <p:spPr bwMode="auto">
            <a:xfrm>
              <a:off x="4405174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75812" name="Rectangle 36"/>
            <p:cNvSpPr>
              <a:spLocks noChangeArrowheads="1"/>
            </p:cNvSpPr>
            <p:nvPr/>
          </p:nvSpPr>
          <p:spPr bwMode="auto">
            <a:xfrm>
              <a:off x="4820547" y="305092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75811" name="Rectangle 35"/>
            <p:cNvSpPr>
              <a:spLocks noChangeArrowheads="1"/>
            </p:cNvSpPr>
            <p:nvPr/>
          </p:nvSpPr>
          <p:spPr bwMode="auto">
            <a:xfrm>
              <a:off x="4882338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75810" name="Rectangle 34"/>
            <p:cNvSpPr>
              <a:spLocks noChangeArrowheads="1"/>
            </p:cNvSpPr>
            <p:nvPr/>
          </p:nvSpPr>
          <p:spPr bwMode="auto">
            <a:xfrm>
              <a:off x="5332040" y="305092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75809" name="Rectangle 33"/>
            <p:cNvSpPr>
              <a:spLocks noChangeArrowheads="1"/>
            </p:cNvSpPr>
            <p:nvPr/>
          </p:nvSpPr>
          <p:spPr bwMode="auto">
            <a:xfrm>
              <a:off x="5435025" y="2425383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75808" name="Rectangle 32"/>
            <p:cNvSpPr>
              <a:spLocks noChangeArrowheads="1"/>
            </p:cNvSpPr>
            <p:nvPr/>
          </p:nvSpPr>
          <p:spPr bwMode="auto">
            <a:xfrm>
              <a:off x="3282635" y="3413372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75807" name="Rectangle 31"/>
            <p:cNvSpPr>
              <a:spLocks noChangeArrowheads="1"/>
            </p:cNvSpPr>
            <p:nvPr/>
          </p:nvSpPr>
          <p:spPr bwMode="auto">
            <a:xfrm>
              <a:off x="3797561" y="3413372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75806" name="Rectangle 30"/>
            <p:cNvSpPr>
              <a:spLocks noChangeArrowheads="1"/>
            </p:cNvSpPr>
            <p:nvPr/>
          </p:nvSpPr>
          <p:spPr bwMode="auto">
            <a:xfrm>
              <a:off x="4309054" y="3413372"/>
              <a:ext cx="519503" cy="270246"/>
            </a:xfrm>
            <a:prstGeom prst="rect">
              <a:avLst/>
            </a:prstGeom>
            <a:solidFill>
              <a:srgbClr val="FF0000"/>
            </a:solidFill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20</a:t>
              </a:r>
            </a:p>
          </p:txBody>
        </p:sp>
        <p:sp>
          <p:nvSpPr>
            <p:cNvPr id="75805" name="Rectangle 29"/>
            <p:cNvSpPr>
              <a:spLocks noChangeArrowheads="1"/>
            </p:cNvSpPr>
            <p:nvPr/>
          </p:nvSpPr>
          <p:spPr bwMode="auto">
            <a:xfrm>
              <a:off x="4827413" y="3413372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15</a:t>
              </a:r>
            </a:p>
          </p:txBody>
        </p:sp>
        <p:sp>
          <p:nvSpPr>
            <p:cNvPr id="75804" name="Rectangle 28"/>
            <p:cNvSpPr>
              <a:spLocks noChangeArrowheads="1"/>
            </p:cNvSpPr>
            <p:nvPr/>
          </p:nvSpPr>
          <p:spPr bwMode="auto">
            <a:xfrm>
              <a:off x="5338906" y="3413372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75803" name="Rectangle 27"/>
            <p:cNvSpPr>
              <a:spLocks noChangeArrowheads="1"/>
            </p:cNvSpPr>
            <p:nvPr/>
          </p:nvSpPr>
          <p:spPr bwMode="auto">
            <a:xfrm>
              <a:off x="2771143" y="2683707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75802" name="Rectangle 26"/>
            <p:cNvSpPr>
              <a:spLocks noChangeArrowheads="1"/>
            </p:cNvSpPr>
            <p:nvPr/>
          </p:nvSpPr>
          <p:spPr bwMode="auto">
            <a:xfrm>
              <a:off x="3282635" y="2683707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75801" name="Rectangle 25"/>
            <p:cNvSpPr>
              <a:spLocks noChangeArrowheads="1"/>
            </p:cNvSpPr>
            <p:nvPr/>
          </p:nvSpPr>
          <p:spPr bwMode="auto">
            <a:xfrm>
              <a:off x="3797561" y="2683707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75800" name="Rectangle 24"/>
            <p:cNvSpPr>
              <a:spLocks noChangeArrowheads="1"/>
            </p:cNvSpPr>
            <p:nvPr/>
          </p:nvSpPr>
          <p:spPr bwMode="auto">
            <a:xfrm>
              <a:off x="4309054" y="2683707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75799" name="Rectangle 23"/>
            <p:cNvSpPr>
              <a:spLocks noChangeArrowheads="1"/>
            </p:cNvSpPr>
            <p:nvPr/>
          </p:nvSpPr>
          <p:spPr bwMode="auto">
            <a:xfrm>
              <a:off x="4827413" y="2683707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-5</a:t>
              </a:r>
            </a:p>
          </p:txBody>
        </p:sp>
        <p:sp>
          <p:nvSpPr>
            <p:cNvPr id="75798" name="Rectangle 22"/>
            <p:cNvSpPr>
              <a:spLocks noChangeArrowheads="1"/>
            </p:cNvSpPr>
            <p:nvPr/>
          </p:nvSpPr>
          <p:spPr bwMode="auto">
            <a:xfrm>
              <a:off x="5338906" y="2683707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75797" name="Rectangle 21"/>
            <p:cNvSpPr>
              <a:spLocks noChangeArrowheads="1"/>
            </p:cNvSpPr>
            <p:nvPr/>
          </p:nvSpPr>
          <p:spPr bwMode="auto">
            <a:xfrm>
              <a:off x="6062090" y="2683707"/>
              <a:ext cx="1224554" cy="316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初始序列</a:t>
              </a:r>
            </a:p>
          </p:txBody>
        </p:sp>
        <p:sp>
          <p:nvSpPr>
            <p:cNvPr id="75796" name="Rectangle 20"/>
            <p:cNvSpPr>
              <a:spLocks noChangeArrowheads="1"/>
            </p:cNvSpPr>
            <p:nvPr/>
          </p:nvSpPr>
          <p:spPr bwMode="auto">
            <a:xfrm>
              <a:off x="3794128" y="3782973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75795" name="Rectangle 19"/>
            <p:cNvSpPr>
              <a:spLocks noChangeArrowheads="1"/>
            </p:cNvSpPr>
            <p:nvPr/>
          </p:nvSpPr>
          <p:spPr bwMode="auto">
            <a:xfrm>
              <a:off x="4305621" y="3782973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75794" name="Rectangle 18"/>
            <p:cNvSpPr>
              <a:spLocks noChangeArrowheads="1"/>
            </p:cNvSpPr>
            <p:nvPr/>
          </p:nvSpPr>
          <p:spPr bwMode="auto">
            <a:xfrm>
              <a:off x="4823980" y="3782973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75793" name="Rectangle 17"/>
            <p:cNvSpPr>
              <a:spLocks noChangeArrowheads="1"/>
            </p:cNvSpPr>
            <p:nvPr/>
          </p:nvSpPr>
          <p:spPr bwMode="auto">
            <a:xfrm>
              <a:off x="5335473" y="3782973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75792" name="Rectangle 16"/>
            <p:cNvSpPr>
              <a:spLocks noChangeArrowheads="1"/>
            </p:cNvSpPr>
            <p:nvPr/>
          </p:nvSpPr>
          <p:spPr bwMode="auto">
            <a:xfrm>
              <a:off x="4302188" y="415972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75791" name="Rectangle 15"/>
            <p:cNvSpPr>
              <a:spLocks noChangeArrowheads="1"/>
            </p:cNvSpPr>
            <p:nvPr/>
          </p:nvSpPr>
          <p:spPr bwMode="auto">
            <a:xfrm>
              <a:off x="4820547" y="415972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75790" name="Rectangle 14"/>
            <p:cNvSpPr>
              <a:spLocks noChangeArrowheads="1"/>
            </p:cNvSpPr>
            <p:nvPr/>
          </p:nvSpPr>
          <p:spPr bwMode="auto">
            <a:xfrm>
              <a:off x="5332040" y="415972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75789" name="Rectangle 13"/>
            <p:cNvSpPr>
              <a:spLocks noChangeArrowheads="1"/>
            </p:cNvSpPr>
            <p:nvPr/>
          </p:nvSpPr>
          <p:spPr bwMode="auto">
            <a:xfrm>
              <a:off x="5328607" y="4894163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75788" name="Rectangle 12"/>
            <p:cNvSpPr>
              <a:spLocks noChangeArrowheads="1"/>
            </p:cNvSpPr>
            <p:nvPr/>
          </p:nvSpPr>
          <p:spPr bwMode="auto">
            <a:xfrm>
              <a:off x="4817114" y="453648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-5</a:t>
              </a:r>
            </a:p>
          </p:txBody>
        </p:sp>
        <p:sp>
          <p:nvSpPr>
            <p:cNvPr id="75787" name="Rectangle 11"/>
            <p:cNvSpPr>
              <a:spLocks noChangeArrowheads="1"/>
            </p:cNvSpPr>
            <p:nvPr/>
          </p:nvSpPr>
          <p:spPr bwMode="auto">
            <a:xfrm>
              <a:off x="5328607" y="453648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-7</a:t>
              </a:r>
            </a:p>
          </p:txBody>
        </p:sp>
        <p:sp>
          <p:nvSpPr>
            <p:cNvPr id="75786" name="Rectangle 10"/>
            <p:cNvSpPr>
              <a:spLocks noChangeArrowheads="1"/>
            </p:cNvSpPr>
            <p:nvPr/>
          </p:nvSpPr>
          <p:spPr bwMode="auto">
            <a:xfrm>
              <a:off x="2770094" y="2071678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75785" name="Rectangle 9"/>
            <p:cNvSpPr>
              <a:spLocks noChangeArrowheads="1"/>
            </p:cNvSpPr>
            <p:nvPr/>
          </p:nvSpPr>
          <p:spPr bwMode="auto">
            <a:xfrm>
              <a:off x="2300844" y="307317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5784" name="Rectangle 8"/>
            <p:cNvSpPr>
              <a:spLocks noChangeArrowheads="1"/>
            </p:cNvSpPr>
            <p:nvPr/>
          </p:nvSpPr>
          <p:spPr bwMode="auto">
            <a:xfrm>
              <a:off x="2300844" y="3435627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5783" name="Rectangle 7"/>
            <p:cNvSpPr>
              <a:spLocks noChangeArrowheads="1"/>
            </p:cNvSpPr>
            <p:nvPr/>
          </p:nvSpPr>
          <p:spPr bwMode="auto">
            <a:xfrm>
              <a:off x="2300844" y="380522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75782" name="Rectangle 6"/>
            <p:cNvSpPr>
              <a:spLocks noChangeArrowheads="1"/>
            </p:cNvSpPr>
            <p:nvPr/>
          </p:nvSpPr>
          <p:spPr bwMode="auto">
            <a:xfrm>
              <a:off x="2300844" y="4181984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75781" name="Rectangle 5"/>
            <p:cNvSpPr>
              <a:spLocks noChangeArrowheads="1"/>
            </p:cNvSpPr>
            <p:nvPr/>
          </p:nvSpPr>
          <p:spPr bwMode="auto">
            <a:xfrm>
              <a:off x="2300844" y="455873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75780" name="Rectangle 4"/>
            <p:cNvSpPr>
              <a:spLocks noChangeArrowheads="1"/>
            </p:cNvSpPr>
            <p:nvPr/>
          </p:nvSpPr>
          <p:spPr bwMode="auto">
            <a:xfrm>
              <a:off x="2300844" y="4916418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75779" name="AutoShape 3"/>
            <p:cNvSpPr>
              <a:spLocks noChangeShapeType="1"/>
            </p:cNvSpPr>
            <p:nvPr/>
          </p:nvSpPr>
          <p:spPr bwMode="auto">
            <a:xfrm flipV="1">
              <a:off x="1998754" y="3179688"/>
              <a:ext cx="312388" cy="79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4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75778" name="AutoShape 2"/>
            <p:cNvSpPr>
              <a:spLocks noChangeShapeType="1"/>
            </p:cNvSpPr>
            <p:nvPr/>
          </p:nvSpPr>
          <p:spPr bwMode="auto">
            <a:xfrm>
              <a:off x="2997710" y="2143116"/>
              <a:ext cx="1144" cy="25200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4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1714480" y="1457254"/>
            <a:ext cx="5286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[0..5]={-2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11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-4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13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-5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-2}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5720" y="785794"/>
            <a:ext cx="8501122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个整数的序列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枚举所有连续子序列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7158" y="252691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7" name="灯片编号占位符 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500042"/>
            <a:ext cx="8643998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maxsum=0,cursum;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i=0;i&lt;n;i++) {	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cursum=0;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for (int k=i;k&lt;=j;k++)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		cursum+=a[k];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maxsum=max(maxsum,cursum);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maxsum;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747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5098681"/>
            <a:ext cx="7143800" cy="90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5823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57158" y="252691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7158" y="1000108"/>
            <a:ext cx="8286808" cy="463203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采用前缀和方法，用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psum(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表示子序列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元素和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个元素和，显然有如下递推关系：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psum(0)=0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psum(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)= psum(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-1)+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-1]	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&gt;0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假设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，则有：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[0]+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[1]+</a:t>
            </a:r>
            <a:r>
              <a:rPr lang="en-US" altLang="zh-CN" sz="2000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-1]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psum[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[0]+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[1]+</a:t>
            </a:r>
            <a:r>
              <a:rPr lang="en-US" altLang="zh-CN" sz="2000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-1]+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]+</a:t>
            </a:r>
            <a:r>
              <a:rPr lang="en-US" altLang="zh-CN" sz="2000">
                <a:solidFill>
                  <a:srgbClr val="006600"/>
                </a:solidFill>
                <a:latin typeface="+mj-ea"/>
                <a:ea typeface="+mj-ea"/>
              </a:rPr>
              <a:t>…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-1]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两式相减得的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]-psum[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]+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）循环可以求出所有连续子序列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之和，比较求最大值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357166"/>
            <a:ext cx="8643998" cy="486040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psum[n+1];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psum[0]=0;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for(int i=1;i&lt;=n;i++)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psum[i]=psum[i-1]+a[i-1];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int maxsum=0,cursum;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j=i+1;j&lt;=n;j++)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cursum=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psum[j]-psum[i]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maxsum=max(maxsum,cursum);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maxsum;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5500702"/>
            <a:ext cx="5238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00166" y="285728"/>
            <a:ext cx="742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优化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点：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Wingdings"/>
              </a:rPr>
              <a:t>避免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起始下标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开始的子序列的重复计算。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857232"/>
            <a:ext cx="8358246" cy="21698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Sum(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元素和，初始时置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Sum(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])=0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，显然有如下递推关系：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Sum(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])= Sum(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])+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	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当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zh-CN" altLang="zh-CN" sz="2000">
                <a:solidFill>
                  <a:srgbClr val="006600"/>
                </a:solidFill>
                <a:latin typeface="+mn-ea"/>
                <a:cs typeface="Times New Roman" pitchFamily="18" charset="0"/>
              </a:rPr>
              <a:t>≥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时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连续求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子序列和（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Times New Roman" pitchFamily="18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）时没有必要使用循环变量为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重循环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grpSp>
        <p:nvGrpSpPr>
          <p:cNvPr id="2" name="组合 54"/>
          <p:cNvGrpSpPr/>
          <p:nvPr/>
        </p:nvGrpSpPr>
        <p:grpSpPr>
          <a:xfrm>
            <a:off x="571472" y="3214686"/>
            <a:ext cx="7500990" cy="3349965"/>
            <a:chOff x="1714480" y="3214686"/>
            <a:chExt cx="5857916" cy="3349965"/>
          </a:xfrm>
        </p:grpSpPr>
        <p:sp>
          <p:nvSpPr>
            <p:cNvPr id="6" name="Rectangle 45"/>
            <p:cNvSpPr>
              <a:spLocks noChangeArrowheads="1"/>
            </p:cNvSpPr>
            <p:nvPr/>
          </p:nvSpPr>
          <p:spPr bwMode="auto">
            <a:xfrm>
              <a:off x="2692839" y="445116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7" name="Rectangle 44"/>
            <p:cNvSpPr>
              <a:spLocks noChangeArrowheads="1"/>
            </p:cNvSpPr>
            <p:nvPr/>
          </p:nvSpPr>
          <p:spPr bwMode="auto">
            <a:xfrm>
              <a:off x="2764929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" name="Rectangle 43"/>
            <p:cNvSpPr>
              <a:spLocks noChangeArrowheads="1"/>
            </p:cNvSpPr>
            <p:nvPr/>
          </p:nvSpPr>
          <p:spPr bwMode="auto">
            <a:xfrm>
              <a:off x="1714480" y="4479780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" name="Rectangle 42"/>
            <p:cNvSpPr>
              <a:spLocks noChangeArrowheads="1"/>
            </p:cNvSpPr>
            <p:nvPr/>
          </p:nvSpPr>
          <p:spPr bwMode="auto">
            <a:xfrm>
              <a:off x="3204332" y="445116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10" name="Rectangle 41"/>
            <p:cNvSpPr>
              <a:spLocks noChangeArrowheads="1"/>
            </p:cNvSpPr>
            <p:nvPr/>
          </p:nvSpPr>
          <p:spPr bwMode="auto">
            <a:xfrm>
              <a:off x="3286720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1" name="Rectangle 40"/>
            <p:cNvSpPr>
              <a:spLocks noChangeArrowheads="1"/>
            </p:cNvSpPr>
            <p:nvPr/>
          </p:nvSpPr>
          <p:spPr bwMode="auto">
            <a:xfrm>
              <a:off x="3719258" y="445116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2" name="Rectangle 39"/>
            <p:cNvSpPr>
              <a:spLocks noChangeArrowheads="1"/>
            </p:cNvSpPr>
            <p:nvPr/>
          </p:nvSpPr>
          <p:spPr bwMode="auto">
            <a:xfrm>
              <a:off x="3791347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3" name="Rectangle 38"/>
            <p:cNvSpPr>
              <a:spLocks noChangeArrowheads="1"/>
            </p:cNvSpPr>
            <p:nvPr/>
          </p:nvSpPr>
          <p:spPr bwMode="auto">
            <a:xfrm>
              <a:off x="4230750" y="445116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18</a:t>
              </a:r>
            </a:p>
          </p:txBody>
        </p:sp>
        <p:sp>
          <p:nvSpPr>
            <p:cNvPr id="14" name="Rectangle 37"/>
            <p:cNvSpPr>
              <a:spLocks noChangeArrowheads="1"/>
            </p:cNvSpPr>
            <p:nvPr/>
          </p:nvSpPr>
          <p:spPr bwMode="auto">
            <a:xfrm>
              <a:off x="4333736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5" name="Rectangle 36"/>
            <p:cNvSpPr>
              <a:spLocks noChangeArrowheads="1"/>
            </p:cNvSpPr>
            <p:nvPr/>
          </p:nvSpPr>
          <p:spPr bwMode="auto">
            <a:xfrm>
              <a:off x="4749109" y="445116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4810900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5260602" y="445116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18" name="Rectangle 33"/>
            <p:cNvSpPr>
              <a:spLocks noChangeArrowheads="1"/>
            </p:cNvSpPr>
            <p:nvPr/>
          </p:nvSpPr>
          <p:spPr bwMode="auto">
            <a:xfrm>
              <a:off x="5363587" y="3825625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3211197" y="481361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20" name="Rectangle 31"/>
            <p:cNvSpPr>
              <a:spLocks noChangeArrowheads="1"/>
            </p:cNvSpPr>
            <p:nvPr/>
          </p:nvSpPr>
          <p:spPr bwMode="auto">
            <a:xfrm>
              <a:off x="3726123" y="481361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4237616" y="4813614"/>
              <a:ext cx="519503" cy="270246"/>
            </a:xfrm>
            <a:prstGeom prst="rect">
              <a:avLst/>
            </a:prstGeom>
            <a:solidFill>
              <a:srgbClr val="FF0000"/>
            </a:solidFill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20</a:t>
              </a:r>
            </a:p>
          </p:txBody>
        </p:sp>
        <p:sp>
          <p:nvSpPr>
            <p:cNvPr id="22" name="Rectangle 29"/>
            <p:cNvSpPr>
              <a:spLocks noChangeArrowheads="1"/>
            </p:cNvSpPr>
            <p:nvPr/>
          </p:nvSpPr>
          <p:spPr bwMode="auto">
            <a:xfrm>
              <a:off x="4755975" y="481361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15</a:t>
              </a:r>
            </a:p>
          </p:txBody>
        </p:sp>
        <p:sp>
          <p:nvSpPr>
            <p:cNvPr id="23" name="Rectangle 28"/>
            <p:cNvSpPr>
              <a:spLocks noChangeArrowheads="1"/>
            </p:cNvSpPr>
            <p:nvPr/>
          </p:nvSpPr>
          <p:spPr bwMode="auto">
            <a:xfrm>
              <a:off x="5267468" y="4813614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2699705" y="408394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3211197" y="408394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726123" y="408394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4237616" y="408394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4755975" y="408394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-5</a:t>
              </a: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5267468" y="4083949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5990652" y="4083949"/>
              <a:ext cx="1153116" cy="2452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初始序列</a:t>
              </a:r>
            </a:p>
          </p:txBody>
        </p:sp>
        <p:sp>
          <p:nvSpPr>
            <p:cNvPr id="32" name="Rectangle 20"/>
            <p:cNvSpPr>
              <a:spLocks noChangeArrowheads="1"/>
            </p:cNvSpPr>
            <p:nvPr/>
          </p:nvSpPr>
          <p:spPr bwMode="auto">
            <a:xfrm>
              <a:off x="3722690" y="5183215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33" name="Rectangle 19"/>
            <p:cNvSpPr>
              <a:spLocks noChangeArrowheads="1"/>
            </p:cNvSpPr>
            <p:nvPr/>
          </p:nvSpPr>
          <p:spPr bwMode="auto">
            <a:xfrm>
              <a:off x="4234183" y="5183215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4752542" y="5183215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35" name="Rectangle 17"/>
            <p:cNvSpPr>
              <a:spLocks noChangeArrowheads="1"/>
            </p:cNvSpPr>
            <p:nvPr/>
          </p:nvSpPr>
          <p:spPr bwMode="auto">
            <a:xfrm>
              <a:off x="5264035" y="5183215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4230750" y="5559971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4749109" y="5559971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260602" y="5559971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39" name="Rectangle 13"/>
            <p:cNvSpPr>
              <a:spLocks noChangeArrowheads="1"/>
            </p:cNvSpPr>
            <p:nvPr/>
          </p:nvSpPr>
          <p:spPr bwMode="auto">
            <a:xfrm>
              <a:off x="5257169" y="6294405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40" name="Rectangle 12"/>
            <p:cNvSpPr>
              <a:spLocks noChangeArrowheads="1"/>
            </p:cNvSpPr>
            <p:nvPr/>
          </p:nvSpPr>
          <p:spPr bwMode="auto">
            <a:xfrm>
              <a:off x="4745676" y="593672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-5</a:t>
              </a:r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5257169" y="5936726"/>
              <a:ext cx="519503" cy="27024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-7</a:t>
              </a:r>
            </a:p>
          </p:txBody>
        </p:sp>
        <p:sp>
          <p:nvSpPr>
            <p:cNvPr id="42" name="Rectangle 10"/>
            <p:cNvSpPr>
              <a:spLocks noChangeArrowheads="1"/>
            </p:cNvSpPr>
            <p:nvPr/>
          </p:nvSpPr>
          <p:spPr bwMode="auto">
            <a:xfrm>
              <a:off x="2698656" y="3471920"/>
              <a:ext cx="161343" cy="2114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3" name="Rectangle 9"/>
            <p:cNvSpPr>
              <a:spLocks noChangeArrowheads="1"/>
            </p:cNvSpPr>
            <p:nvPr/>
          </p:nvSpPr>
          <p:spPr bwMode="auto">
            <a:xfrm>
              <a:off x="2229406" y="4473421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4" name="Rectangle 8"/>
            <p:cNvSpPr>
              <a:spLocks noChangeArrowheads="1"/>
            </p:cNvSpPr>
            <p:nvPr/>
          </p:nvSpPr>
          <p:spPr bwMode="auto">
            <a:xfrm>
              <a:off x="2229406" y="4835869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2229406" y="5205471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46" name="Rectangle 6"/>
            <p:cNvSpPr>
              <a:spLocks noChangeArrowheads="1"/>
            </p:cNvSpPr>
            <p:nvPr/>
          </p:nvSpPr>
          <p:spPr bwMode="auto">
            <a:xfrm>
              <a:off x="2229406" y="5582226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2229406" y="5958981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48" name="Rectangle 4"/>
            <p:cNvSpPr>
              <a:spLocks noChangeArrowheads="1"/>
            </p:cNvSpPr>
            <p:nvPr/>
          </p:nvSpPr>
          <p:spPr bwMode="auto">
            <a:xfrm>
              <a:off x="2229406" y="6316660"/>
              <a:ext cx="352438" cy="21222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ctr" defTabSz="914400" rtl="0" eaLnBrk="1" fontAlgn="base" latinLnBrk="0" hangingPunct="1">
                <a:lnSpc>
                  <a:spcPts val="22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49" name="AutoShape 3"/>
            <p:cNvSpPr>
              <a:spLocks noChangeShapeType="1"/>
            </p:cNvSpPr>
            <p:nvPr/>
          </p:nvSpPr>
          <p:spPr bwMode="auto">
            <a:xfrm flipV="1">
              <a:off x="1927316" y="4579930"/>
              <a:ext cx="312388" cy="79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0" name="AutoShape 2"/>
            <p:cNvSpPr>
              <a:spLocks noChangeShapeType="1"/>
            </p:cNvSpPr>
            <p:nvPr/>
          </p:nvSpPr>
          <p:spPr bwMode="auto">
            <a:xfrm>
              <a:off x="2926272" y="3543358"/>
              <a:ext cx="1144" cy="25200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3571868" y="3500438"/>
              <a:ext cx="1348231" cy="1085851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929190" y="3214686"/>
              <a:ext cx="2643206" cy="374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Sum[1]=Sum[0]+</a:t>
              </a:r>
              <a:r>
                <a:rPr lang="en-US" altLang="zh-CN" sz="2000" i="1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楷体" pitchFamily="49" charset="-122"/>
                  <a:cs typeface="Times New Roman" pitchFamily="18" charset="0"/>
                </a:rPr>
                <a:t>[1]=9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57158" y="252691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471914"/>
            <a:ext cx="8643998" cy="38857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maxsubsum3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3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maxsum=0,cursum;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cursum=0;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for (int j=i;j&lt;n;j++)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cursum+=a[j];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maxsum=max(maxsum,cursum);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maxsum;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pic>
        <p:nvPicPr>
          <p:cNvPr id="727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4929198"/>
            <a:ext cx="527792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857356" y="357166"/>
            <a:ext cx="4214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优化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点：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Wingdings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Wingdings"/>
              </a:rPr>
              <a:t>maxsum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Wingdings"/>
              </a:rPr>
              <a:t>至少为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Wingdings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44" y="1607347"/>
            <a:ext cx="85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 a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[]={-2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      11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			-4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		  13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		-5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rPr>
              <a:t>		  -2}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2844" y="1250951"/>
            <a:ext cx="70723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maxsum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=0,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cursum=0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cursum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表示以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结尾的最大和</a:t>
            </a:r>
            <a:r>
              <a:rPr lang="zh-CN" altLang="en-US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</a:t>
            </a:r>
            <a:endParaRPr lang="zh-CN" altLang="en-US" sz="2000">
              <a:latin typeface="Consolas" pitchFamily="49" charset="0"/>
            </a:endParaRPr>
          </a:p>
        </p:txBody>
      </p:sp>
      <p:grpSp>
        <p:nvGrpSpPr>
          <p:cNvPr id="2" name="组合 24"/>
          <p:cNvGrpSpPr/>
          <p:nvPr/>
        </p:nvGrpSpPr>
        <p:grpSpPr>
          <a:xfrm>
            <a:off x="428596" y="1979779"/>
            <a:ext cx="1857388" cy="2188272"/>
            <a:chOff x="571472" y="1586060"/>
            <a:chExt cx="1857388" cy="2188272"/>
          </a:xfrm>
        </p:grpSpPr>
        <p:cxnSp>
          <p:nvCxnSpPr>
            <p:cNvPr id="11" name="直接箭头连接符 10"/>
            <p:cNvCxnSpPr/>
            <p:nvPr/>
          </p:nvCxnSpPr>
          <p:spPr>
            <a:xfrm rot="5400000" flipH="1" flipV="1">
              <a:off x="1160923" y="1863390"/>
              <a:ext cx="557056" cy="239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71472" y="2143116"/>
              <a:ext cx="1857388" cy="1631216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0+(-2)=-2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=0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cursum&lt;0 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  <a:sym typeface="Wingdings"/>
                </a:rPr>
                <a:t></a:t>
              </a: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=0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5"/>
          <p:cNvGrpSpPr/>
          <p:nvPr/>
        </p:nvGrpSpPr>
        <p:grpSpPr>
          <a:xfrm>
            <a:off x="2000232" y="2036769"/>
            <a:ext cx="1547824" cy="2907960"/>
            <a:chOff x="2143108" y="1643050"/>
            <a:chExt cx="1547824" cy="2907960"/>
          </a:xfrm>
        </p:grpSpPr>
        <p:cxnSp>
          <p:nvCxnSpPr>
            <p:cNvPr id="14" name="直接箭头连接符 13"/>
            <p:cNvCxnSpPr/>
            <p:nvPr/>
          </p:nvCxnSpPr>
          <p:spPr>
            <a:xfrm rot="16200000" flipV="1">
              <a:off x="1819342" y="2609759"/>
              <a:ext cx="1942943" cy="952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143108" y="3535347"/>
              <a:ext cx="1547824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0+11=11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=11</a:t>
              </a:r>
            </a:p>
          </p:txBody>
        </p:sp>
      </p:grpSp>
      <p:grpSp>
        <p:nvGrpSpPr>
          <p:cNvPr id="5" name="组合 26"/>
          <p:cNvGrpSpPr/>
          <p:nvPr/>
        </p:nvGrpSpPr>
        <p:grpSpPr>
          <a:xfrm>
            <a:off x="3114665" y="1965331"/>
            <a:ext cx="1814525" cy="1572719"/>
            <a:chOff x="3257541" y="1571612"/>
            <a:chExt cx="1814525" cy="1572719"/>
          </a:xfrm>
        </p:grpSpPr>
        <p:cxnSp>
          <p:nvCxnSpPr>
            <p:cNvPr id="17" name="直接箭头连接符 16"/>
            <p:cNvCxnSpPr/>
            <p:nvPr/>
          </p:nvCxnSpPr>
          <p:spPr>
            <a:xfrm rot="5400000" flipH="1" flipV="1">
              <a:off x="3846992" y="1848942"/>
              <a:ext cx="557056" cy="239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257541" y="2128668"/>
              <a:ext cx="1814525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11+(-4)=7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=11</a:t>
              </a:r>
            </a:p>
          </p:txBody>
        </p:sp>
      </p:grpSp>
      <p:grpSp>
        <p:nvGrpSpPr>
          <p:cNvPr id="6" name="组合 28"/>
          <p:cNvGrpSpPr/>
          <p:nvPr/>
        </p:nvGrpSpPr>
        <p:grpSpPr>
          <a:xfrm>
            <a:off x="4714876" y="2046295"/>
            <a:ext cx="1485911" cy="2958606"/>
            <a:chOff x="4857752" y="1652576"/>
            <a:chExt cx="1485911" cy="2958606"/>
          </a:xfrm>
        </p:grpSpPr>
        <p:cxnSp>
          <p:nvCxnSpPr>
            <p:cNvPr id="19" name="直接箭头连接符 18"/>
            <p:cNvCxnSpPr/>
            <p:nvPr/>
          </p:nvCxnSpPr>
          <p:spPr>
            <a:xfrm rot="16200000" flipV="1">
              <a:off x="4595899" y="2619285"/>
              <a:ext cx="1942943" cy="952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57752" y="3595519"/>
              <a:ext cx="1485911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7+13=20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maxsu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m=20</a:t>
              </a:r>
            </a:p>
          </p:txBody>
        </p:sp>
      </p:grpSp>
      <p:grpSp>
        <p:nvGrpSpPr>
          <p:cNvPr id="7" name="组合 29"/>
          <p:cNvGrpSpPr/>
          <p:nvPr/>
        </p:nvGrpSpPr>
        <p:grpSpPr>
          <a:xfrm>
            <a:off x="5500694" y="1965331"/>
            <a:ext cx="1928826" cy="1572719"/>
            <a:chOff x="5643570" y="1571612"/>
            <a:chExt cx="1928826" cy="1572719"/>
          </a:xfrm>
        </p:grpSpPr>
        <p:cxnSp>
          <p:nvCxnSpPr>
            <p:cNvPr id="21" name="直接箭头连接符 20"/>
            <p:cNvCxnSpPr/>
            <p:nvPr/>
          </p:nvCxnSpPr>
          <p:spPr>
            <a:xfrm rot="5400000" flipH="1" flipV="1">
              <a:off x="6375897" y="1848942"/>
              <a:ext cx="557056" cy="239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643570" y="2128668"/>
              <a:ext cx="1928826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20+(-5)=15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=20</a:t>
              </a:r>
            </a:p>
          </p:txBody>
        </p:sp>
      </p:grpSp>
      <p:grpSp>
        <p:nvGrpSpPr>
          <p:cNvPr id="10" name="组合 30"/>
          <p:cNvGrpSpPr/>
          <p:nvPr/>
        </p:nvGrpSpPr>
        <p:grpSpPr>
          <a:xfrm>
            <a:off x="6786579" y="2062126"/>
            <a:ext cx="2000264" cy="2958606"/>
            <a:chOff x="6929455" y="1668407"/>
            <a:chExt cx="2000264" cy="2958606"/>
          </a:xfrm>
        </p:grpSpPr>
        <p:cxnSp>
          <p:nvCxnSpPr>
            <p:cNvPr id="23" name="直接箭头连接符 22"/>
            <p:cNvCxnSpPr/>
            <p:nvPr/>
          </p:nvCxnSpPr>
          <p:spPr>
            <a:xfrm rot="16200000" flipV="1">
              <a:off x="7081941" y="2635116"/>
              <a:ext cx="1942943" cy="952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6929455" y="3611350"/>
              <a:ext cx="2000264" cy="101566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cursum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15+(-2)=13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maxsum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=20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215206" y="5131370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maxsum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=20</a:t>
            </a:r>
          </a:p>
        </p:txBody>
      </p:sp>
      <p:sp>
        <p:nvSpPr>
          <p:cNvPr id="33" name="下箭头 32"/>
          <p:cNvSpPr/>
          <p:nvPr/>
        </p:nvSpPr>
        <p:spPr>
          <a:xfrm>
            <a:off x="7805704" y="4722838"/>
            <a:ext cx="214314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Consolas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0034" y="35716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4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2" grpId="0"/>
      <p:bldP spid="3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5720" y="642918"/>
            <a:ext cx="8643998" cy="38857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maxsubsum4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4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maxsum=0,cursum=0;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cursum+=a[i];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if(cursum&gt;=maxsum)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比较求最大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maxsum=cursum;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cursum&lt;0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cursum&lt;0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，从下一个位置开始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cursum=0;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max(maxsum,0);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5852" y="5072074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)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506242"/>
            <a:ext cx="8501122" cy="370870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3.4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最大子序和（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LeetCode53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★）。给定一个含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10^5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）个整数的数组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，设计一个算法找到一个具有最大和的连续子数组（子数组最少包含一个元素），返回其最大和。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int maxSubArray(vector&lt;int&gt;&amp;nums) 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21873"/>
            <a:ext cx="7143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844" y="1336253"/>
            <a:ext cx="8786874" cy="263149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60000" indent="-360000" algn="l" defTabSz="360000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最大连续子序列和可能为负数，例如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，结果为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，因此不能简单采用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3.1.2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节解法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的优化点，需要做两点修改：</a:t>
            </a:r>
          </a:p>
          <a:p>
            <a:pPr marL="360000" indent="-360000" algn="l" defTabSz="360000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初始化为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nums[0]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而不是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360000" indent="-360000"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 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后直接返回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maxsum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，而不是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     		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max(maxsum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0)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1425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maxSubArray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if(n==1) return nums[0];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int 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maxsum=nums[0]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,cursum=0;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for (int i=0;i&lt;n;i++)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cursum+=nums[i];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if(cursum&gt;=maxsum)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maxsum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maxsum=cursum;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if(cursum&lt;0)     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cursum&lt;0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，重置其为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cursum=0;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return 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 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14348" y="5429264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92ms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66.1MB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3000364" y="285728"/>
            <a:ext cx="321471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3.5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求幂集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58" y="1571612"/>
            <a:ext cx="8572560" cy="191334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对于给定的正整数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），求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构成的集合的幂集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ps={ {}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 }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（顺序可以任意）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71605" y="1000108"/>
          <a:ext cx="6500857" cy="321471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7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1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子集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对应的二进制数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对应的十进制数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000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{1}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001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{2}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010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011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100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101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{2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110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{1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3}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111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61</a:t>
            </a:fld>
            <a:r>
              <a:rPr lang="en-US" altLang="zh-CN"/>
              <a:t>/8</a:t>
            </a:r>
          </a:p>
        </p:txBody>
      </p:sp>
      <p:grpSp>
        <p:nvGrpSpPr>
          <p:cNvPr id="2" name="组合 16"/>
          <p:cNvGrpSpPr/>
          <p:nvPr/>
        </p:nvGrpSpPr>
        <p:grpSpPr>
          <a:xfrm>
            <a:off x="3929058" y="4572008"/>
            <a:ext cx="2286016" cy="2000264"/>
            <a:chOff x="3929058" y="4572008"/>
            <a:chExt cx="2286016" cy="2000264"/>
          </a:xfrm>
        </p:grpSpPr>
        <p:sp>
          <p:nvSpPr>
            <p:cNvPr id="5" name="TextBox 4"/>
            <p:cNvSpPr txBox="1"/>
            <p:nvPr/>
          </p:nvSpPr>
          <p:spPr>
            <a:xfrm>
              <a:off x="4000496" y="4572008"/>
              <a:ext cx="2000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		1		0 </a:t>
              </a:r>
            </a:p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		1		0</a:t>
              </a:r>
              <a:endParaRPr lang="zh-CN" altLang="en-US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000496" y="5529220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14876" y="5529220"/>
              <a:ext cx="357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rot="16200000" flipV="1">
              <a:off x="4021951" y="5420555"/>
              <a:ext cx="288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 flipV="1">
              <a:off x="4751323" y="5420555"/>
              <a:ext cx="288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929058" y="6172162"/>
              <a:ext cx="2286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kern="1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对应子集</a:t>
              </a:r>
              <a:r>
                <a:rPr lang="en-US" altLang="zh-CN" sz="2000" kern="1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{2</a:t>
              </a:r>
              <a:r>
                <a:rPr lang="zh-CN" altLang="zh-CN" sz="2000" kern="1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000" kern="1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3}</a:t>
              </a:r>
              <a:endParaRPr lang="zh-CN" altLang="zh-CN" sz="2000" kern="1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宋体"/>
              </a:endParaRPr>
            </a:p>
          </p:txBody>
        </p:sp>
        <p:sp>
          <p:nvSpPr>
            <p:cNvPr id="13" name="下箭头 12"/>
            <p:cNvSpPr/>
            <p:nvPr/>
          </p:nvSpPr>
          <p:spPr>
            <a:xfrm>
              <a:off x="4786314" y="5886410"/>
              <a:ext cx="214314" cy="285752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85720" y="142852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0166" y="150437"/>
            <a:ext cx="214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二进制</a:t>
            </a:r>
            <a:r>
              <a:rPr lang="zh-CN" altLang="en-US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表示法</a:t>
            </a:r>
            <a:endParaRPr lang="zh-CN" altLang="en-US">
              <a:solidFill>
                <a:srgbClr val="C00000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29124" y="500042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=3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8" name="右弧形箭头 17"/>
          <p:cNvSpPr/>
          <p:nvPr/>
        </p:nvSpPr>
        <p:spPr>
          <a:xfrm>
            <a:off x="5214942" y="3714752"/>
            <a:ext cx="285752" cy="928694"/>
          </a:xfrm>
          <a:prstGeom prst="curvedLeft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28"/>
          <p:cNvGrpSpPr/>
          <p:nvPr/>
        </p:nvGrpSpPr>
        <p:grpSpPr>
          <a:xfrm>
            <a:off x="1214414" y="1714488"/>
            <a:ext cx="6286544" cy="1714512"/>
            <a:chOff x="1214414" y="2500306"/>
            <a:chExt cx="6286544" cy="1714512"/>
          </a:xfrm>
        </p:grpSpPr>
        <p:sp>
          <p:nvSpPr>
            <p:cNvPr id="56340" name="Text Box 20"/>
            <p:cNvSpPr txBox="1">
              <a:spLocks noChangeArrowheads="1"/>
            </p:cNvSpPr>
            <p:nvPr/>
          </p:nvSpPr>
          <p:spPr bwMode="auto">
            <a:xfrm>
              <a:off x="1214414" y="3026896"/>
              <a:ext cx="1923769" cy="3121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二进制位序号</a:t>
              </a:r>
              <a:endPara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9" name="Text Box 19"/>
            <p:cNvSpPr txBox="1">
              <a:spLocks noChangeArrowheads="1"/>
            </p:cNvSpPr>
            <p:nvPr/>
          </p:nvSpPr>
          <p:spPr bwMode="auto">
            <a:xfrm>
              <a:off x="3455620" y="3026896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8" name="Text Box 18"/>
            <p:cNvSpPr txBox="1">
              <a:spLocks noChangeArrowheads="1"/>
            </p:cNvSpPr>
            <p:nvPr/>
          </p:nvSpPr>
          <p:spPr bwMode="auto">
            <a:xfrm>
              <a:off x="1214414" y="2500306"/>
              <a:ext cx="1794560" cy="3107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二进制位值</a:t>
              </a:r>
              <a:endPara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7" name="Text Box 17"/>
            <p:cNvSpPr txBox="1">
              <a:spLocks noChangeArrowheads="1"/>
            </p:cNvSpPr>
            <p:nvPr/>
          </p:nvSpPr>
          <p:spPr bwMode="auto">
            <a:xfrm>
              <a:off x="1214414" y="3901339"/>
              <a:ext cx="2008312" cy="3107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pt-BR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～</a:t>
              </a: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zh-CN" altLang="pt-BR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集合元素</a:t>
              </a:r>
              <a:endParaRPr kumimoji="0" lang="zh-CN" altLang="pt-BR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6" name="Text Box 16"/>
            <p:cNvSpPr txBox="1">
              <a:spLocks noChangeArrowheads="1"/>
            </p:cNvSpPr>
            <p:nvPr/>
          </p:nvSpPr>
          <p:spPr bwMode="auto">
            <a:xfrm>
              <a:off x="3527403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5" name="Text Box 15"/>
            <p:cNvSpPr txBox="1">
              <a:spLocks noChangeArrowheads="1"/>
            </p:cNvSpPr>
            <p:nvPr/>
          </p:nvSpPr>
          <p:spPr bwMode="auto">
            <a:xfrm>
              <a:off x="3527403" y="3901339"/>
              <a:ext cx="41155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4" name="Text Box 14"/>
            <p:cNvSpPr txBox="1">
              <a:spLocks noChangeArrowheads="1"/>
            </p:cNvSpPr>
            <p:nvPr/>
          </p:nvSpPr>
          <p:spPr bwMode="auto">
            <a:xfrm>
              <a:off x="4326580" y="3026896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6333" name="Text Box 13"/>
            <p:cNvSpPr txBox="1">
              <a:spLocks noChangeArrowheads="1"/>
            </p:cNvSpPr>
            <p:nvPr/>
          </p:nvSpPr>
          <p:spPr bwMode="auto">
            <a:xfrm>
              <a:off x="4369650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2" name="Text Box 12"/>
            <p:cNvSpPr txBox="1">
              <a:spLocks noChangeArrowheads="1"/>
            </p:cNvSpPr>
            <p:nvPr/>
          </p:nvSpPr>
          <p:spPr bwMode="auto">
            <a:xfrm>
              <a:off x="5269323" y="3026896"/>
              <a:ext cx="2998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1" name="Text Box 11"/>
            <p:cNvSpPr txBox="1">
              <a:spLocks noChangeArrowheads="1"/>
            </p:cNvSpPr>
            <p:nvPr/>
          </p:nvSpPr>
          <p:spPr bwMode="auto">
            <a:xfrm>
              <a:off x="5312392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30" name="Text Box 10"/>
            <p:cNvSpPr txBox="1">
              <a:spLocks noChangeArrowheads="1"/>
            </p:cNvSpPr>
            <p:nvPr/>
          </p:nvSpPr>
          <p:spPr bwMode="auto">
            <a:xfrm>
              <a:off x="5226253" y="3901339"/>
              <a:ext cx="539166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29" name="Text Box 9"/>
            <p:cNvSpPr txBox="1">
              <a:spLocks noChangeArrowheads="1"/>
            </p:cNvSpPr>
            <p:nvPr/>
          </p:nvSpPr>
          <p:spPr bwMode="auto">
            <a:xfrm>
              <a:off x="4269154" y="3901339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6328" name="Text Box 8"/>
            <p:cNvSpPr txBox="1">
              <a:spLocks noChangeArrowheads="1"/>
            </p:cNvSpPr>
            <p:nvPr/>
          </p:nvSpPr>
          <p:spPr bwMode="auto">
            <a:xfrm>
              <a:off x="6231207" y="3026896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6327" name="Text Box 7"/>
            <p:cNvSpPr txBox="1">
              <a:spLocks noChangeArrowheads="1"/>
            </p:cNvSpPr>
            <p:nvPr/>
          </p:nvSpPr>
          <p:spPr bwMode="auto">
            <a:xfrm>
              <a:off x="6274276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26" name="Text Box 6"/>
            <p:cNvSpPr txBox="1">
              <a:spLocks noChangeArrowheads="1"/>
            </p:cNvSpPr>
            <p:nvPr/>
          </p:nvSpPr>
          <p:spPr bwMode="auto">
            <a:xfrm>
              <a:off x="7173949" y="3026896"/>
              <a:ext cx="2998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25" name="Text Box 5"/>
            <p:cNvSpPr txBox="1">
              <a:spLocks noChangeArrowheads="1"/>
            </p:cNvSpPr>
            <p:nvPr/>
          </p:nvSpPr>
          <p:spPr bwMode="auto">
            <a:xfrm>
              <a:off x="7173949" y="2500306"/>
              <a:ext cx="256822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*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24" name="Text Box 4"/>
            <p:cNvSpPr txBox="1">
              <a:spLocks noChangeArrowheads="1"/>
            </p:cNvSpPr>
            <p:nvPr/>
          </p:nvSpPr>
          <p:spPr bwMode="auto">
            <a:xfrm>
              <a:off x="7173949" y="3901339"/>
              <a:ext cx="327009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56323" name="Text Box 3"/>
            <p:cNvSpPr txBox="1">
              <a:spLocks noChangeArrowheads="1"/>
            </p:cNvSpPr>
            <p:nvPr/>
          </p:nvSpPr>
          <p:spPr bwMode="auto">
            <a:xfrm>
              <a:off x="6274276" y="3901339"/>
              <a:ext cx="497691" cy="3134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56322" name="AutoShape 2"/>
            <p:cNvSpPr>
              <a:spLocks noChangeArrowheads="1"/>
            </p:cNvSpPr>
            <p:nvPr/>
          </p:nvSpPr>
          <p:spPr bwMode="auto">
            <a:xfrm>
              <a:off x="5287605" y="3450368"/>
              <a:ext cx="267988" cy="351977"/>
            </a:xfrm>
            <a:prstGeom prst="upDownArrow">
              <a:avLst>
                <a:gd name="adj1" fmla="val 50000"/>
                <a:gd name="adj2" fmla="val 30476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28662" y="4143380"/>
            <a:ext cx="7286676" cy="1849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144000" tIns="108000" bIns="108000" rtlCol="0">
            <a:spAutoFit/>
          </a:bodyPr>
          <a:lstStyle/>
          <a:p>
            <a:pPr marL="360000" indent="-3600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若二进制位</a:t>
            </a:r>
            <a:r>
              <a:rPr lang="en-US" altLang="zh-CN" i="1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，则对应的子集中包含整数</a:t>
            </a:r>
            <a:r>
              <a:rPr lang="en-US" altLang="zh-CN" i="1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，否则不包含整数</a:t>
            </a:r>
            <a:r>
              <a:rPr lang="en-US" altLang="zh-CN" i="1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chemeClr val="bg1"/>
              </a:solidFill>
              <a:latin typeface="Consolas" pitchFamily="49" charset="0"/>
              <a:ea typeface="仿宋" pitchFamily="49" charset="-122"/>
            </a:endParaRPr>
          </a:p>
          <a:p>
            <a:pPr marL="360000" indent="-3600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最大二进制是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，对应十进制数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chemeClr val="bg1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60000" indent="-360000" algn="l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en-US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的每个十进制数表示一个子集。</a:t>
            </a: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62</a:t>
            </a:fld>
            <a:r>
              <a:rPr lang="en-US" altLang="zh-CN"/>
              <a:t>/8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00" y="571480"/>
            <a:ext cx="1428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cs typeface="Consolas" pitchFamily="49" charset="0"/>
              </a:rPr>
              <a:t>归纳：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71914"/>
            <a:ext cx="8643998" cy="450319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ps;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i=0;i&lt;(1&lt;&lt;n);i++)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执行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2^n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次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i&amp;(1&lt;&lt;j)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的二进制位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的值是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e.push_back(j+1);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选取整数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j+1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ps.push_back(e);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将子集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3108" y="5286388"/>
            <a:ext cx="4429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时间复杂度：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285728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357290" y="250055"/>
            <a:ext cx="7500990" cy="96436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vector&lt;vector&lt;int&gt;&gt;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表示幂集。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为例，求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的幂集的过程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1498337" y="4807433"/>
            <a:ext cx="5073927" cy="907583"/>
            <a:chOff x="1498337" y="4807433"/>
            <a:chExt cx="5073927" cy="907583"/>
          </a:xfrm>
        </p:grpSpPr>
        <p:sp>
          <p:nvSpPr>
            <p:cNvPr id="33" name="AutoShape 10"/>
            <p:cNvSpPr>
              <a:spLocks noChangeArrowheads="1"/>
            </p:cNvSpPr>
            <p:nvPr/>
          </p:nvSpPr>
          <p:spPr bwMode="auto">
            <a:xfrm>
              <a:off x="2863225" y="4807433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1498337" y="5353503"/>
              <a:ext cx="5073927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{1,2}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{{},{1},{2},{1,2}}</a:t>
              </a: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174671" y="4807433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∪A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797207" y="1433237"/>
            <a:ext cx="2274728" cy="36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初始幂集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kumimoji="0" lang="en-US" altLang="zh-CN" sz="2000" baseline="-30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{{}}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2236834" y="3835491"/>
            <a:ext cx="4839942" cy="808678"/>
            <a:chOff x="2236834" y="3835491"/>
            <a:chExt cx="4839942" cy="808678"/>
          </a:xfrm>
        </p:grpSpPr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3146739" y="3846556"/>
              <a:ext cx="393003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2236834" y="4333968"/>
              <a:ext cx="2120852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{{2},{1,2}}</a:t>
              </a:r>
            </a:p>
          </p:txBody>
        </p:sp>
        <p:sp>
          <p:nvSpPr>
            <p:cNvPr id="46" name="AutoShape 10"/>
            <p:cNvSpPr>
              <a:spLocks noChangeArrowheads="1"/>
            </p:cNvSpPr>
            <p:nvPr/>
          </p:nvSpPr>
          <p:spPr bwMode="auto">
            <a:xfrm>
              <a:off x="2857488" y="3835491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835824" y="2863970"/>
            <a:ext cx="3379118" cy="904405"/>
            <a:chOff x="1835824" y="2863970"/>
            <a:chExt cx="3379118" cy="904405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835824" y="3406862"/>
              <a:ext cx="3379118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{1}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{{},{1}}</a:t>
              </a:r>
            </a:p>
          </p:txBody>
        </p:sp>
        <p:sp>
          <p:nvSpPr>
            <p:cNvPr id="48" name="AutoShape 10"/>
            <p:cNvSpPr>
              <a:spLocks noChangeArrowheads="1"/>
            </p:cNvSpPr>
            <p:nvPr/>
          </p:nvSpPr>
          <p:spPr bwMode="auto">
            <a:xfrm>
              <a:off x="2842450" y="2863970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9" name="Rectangle 8"/>
            <p:cNvSpPr>
              <a:spLocks noChangeArrowheads="1"/>
            </p:cNvSpPr>
            <p:nvPr/>
          </p:nvSpPr>
          <p:spPr bwMode="auto">
            <a:xfrm>
              <a:off x="3153896" y="2863970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∪A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357422" y="1892028"/>
            <a:ext cx="4429157" cy="808678"/>
            <a:chOff x="2357422" y="1892028"/>
            <a:chExt cx="4429157" cy="808678"/>
          </a:xfrm>
        </p:grpSpPr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3108123" y="1940665"/>
              <a:ext cx="3678456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" name="Rectangle 11"/>
            <p:cNvSpPr>
              <a:spLocks noChangeArrowheads="1"/>
            </p:cNvSpPr>
            <p:nvPr/>
          </p:nvSpPr>
          <p:spPr bwMode="auto">
            <a:xfrm>
              <a:off x="2357422" y="2390505"/>
              <a:ext cx="142724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{{1}}</a:t>
              </a:r>
            </a:p>
          </p:txBody>
        </p:sp>
        <p:sp>
          <p:nvSpPr>
            <p:cNvPr id="50" name="AutoShape 10"/>
            <p:cNvSpPr>
              <a:spLocks noChangeArrowheads="1"/>
            </p:cNvSpPr>
            <p:nvPr/>
          </p:nvSpPr>
          <p:spPr bwMode="auto">
            <a:xfrm>
              <a:off x="2836713" y="1892028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566998"/>
            <a:ext cx="8858312" cy="4862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ps;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ps.push_back(e);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空集合元素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i=1;i&lt;=n;i++)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vector&lt;vector&lt;int&gt;&gt; A=ps;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存放上一步得到的幂集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(auto it=A.begin();it!=A.end();++it)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(*it).push_back(i);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每个集合元素末尾添加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(auto it=A.begin();it!=A.end();++it)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ps.push_back(*it);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每个集合元素添加到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071546"/>
            <a:ext cx="8643998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pset3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3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 &gt; ps;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ps.push_back(e);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空集合元素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i=1;i&lt;=n;i++)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m=ps.size();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j=0;j&lt;m;j++)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vector&lt;int&gt; e=ps[j];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e=ps[j]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e.push_back(i);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的末尾添加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ps.push_back(e);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再将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357166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，直接在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的元素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071546"/>
            <a:ext cx="8643998" cy="46808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pset4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求幂集算法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4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if(n==0) return {{}};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ps;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ps=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pset4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(n-1);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求求出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1-n-1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的幂集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m=ps.size();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j=0;j&lt;m;j++)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e=ps[j];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e=ps[j]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e.push_back(n);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的末尾添加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ps.push_back(e);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再将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 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357166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递归算法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537397"/>
            <a:ext cx="8501122" cy="36061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pt-BR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3.5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子集（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★★）。给定一个含不同整数的集合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，设计一个算法求其所有的子集，要求子集中的元素不能以降序排列，解集不能包含重复的子集，但全部的子集可以按任意顺序输出。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{{3}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  vector&lt;vector&lt;int&gt;&gt; subsets(vector&lt;int&gt; &amp;nums)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23621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采用</a:t>
            </a:r>
            <a:r>
              <a: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二进制解法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集合的幂集改为求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集合的幂集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由于要求子集中的元素不能以降序排列，先就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递增排序。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5529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subset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s(vector&lt;int&gt; &amp;nums)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(nums.begin(),nums.end());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vector&lt;vector&lt;int&gt;&gt; ps;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for(int i=0;i&lt;(1&lt;&lt;n);i++) {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 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执行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2^n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次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for(int j=0;j&lt;n;j++)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i&amp;(1&lt;&lt;j)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e.push_back(nums[j]);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ps.push_back(e);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785786" y="6039169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3.82MB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67005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357290" y="250055"/>
            <a:ext cx="7429552" cy="96436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vector&lt;vector&lt;int&gt;&gt;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表示幂集。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4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为例，求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的幂集的过程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</a:p>
        </p:txBody>
      </p:sp>
      <p:grpSp>
        <p:nvGrpSpPr>
          <p:cNvPr id="2" name="组合 53"/>
          <p:cNvGrpSpPr/>
          <p:nvPr/>
        </p:nvGrpSpPr>
        <p:grpSpPr>
          <a:xfrm>
            <a:off x="1498337" y="4807433"/>
            <a:ext cx="5073927" cy="907583"/>
            <a:chOff x="1498337" y="4807433"/>
            <a:chExt cx="5073927" cy="907583"/>
          </a:xfrm>
        </p:grpSpPr>
        <p:sp>
          <p:nvSpPr>
            <p:cNvPr id="33" name="AutoShape 10"/>
            <p:cNvSpPr>
              <a:spLocks noChangeArrowheads="1"/>
            </p:cNvSpPr>
            <p:nvPr/>
          </p:nvSpPr>
          <p:spPr bwMode="auto">
            <a:xfrm>
              <a:off x="2863225" y="4807433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1498337" y="5353503"/>
              <a:ext cx="5073927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{1,2}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{{},{1},{2},{1,2}}</a:t>
              </a: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3174671" y="4807433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=M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∪A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797207" y="1433237"/>
            <a:ext cx="2274728" cy="361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初始幂集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kumimoji="0" lang="en-US" altLang="zh-CN" sz="2000" baseline="-30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{{}}</a:t>
            </a:r>
          </a:p>
        </p:txBody>
      </p:sp>
      <p:grpSp>
        <p:nvGrpSpPr>
          <p:cNvPr id="4" name="组合 52"/>
          <p:cNvGrpSpPr/>
          <p:nvPr/>
        </p:nvGrpSpPr>
        <p:grpSpPr>
          <a:xfrm>
            <a:off x="2236834" y="3835491"/>
            <a:ext cx="4839942" cy="808678"/>
            <a:chOff x="2236834" y="3835491"/>
            <a:chExt cx="4839942" cy="808678"/>
          </a:xfrm>
        </p:grpSpPr>
        <p:sp>
          <p:nvSpPr>
            <p:cNvPr id="31" name="Rectangle 12"/>
            <p:cNvSpPr>
              <a:spLocks noChangeArrowheads="1"/>
            </p:cNvSpPr>
            <p:nvPr/>
          </p:nvSpPr>
          <p:spPr bwMode="auto">
            <a:xfrm>
              <a:off x="3146739" y="3846556"/>
              <a:ext cx="393003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2236834" y="4333968"/>
              <a:ext cx="2120852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{{2},{1,2}}</a:t>
              </a:r>
            </a:p>
          </p:txBody>
        </p:sp>
        <p:sp>
          <p:nvSpPr>
            <p:cNvPr id="46" name="AutoShape 10"/>
            <p:cNvSpPr>
              <a:spLocks noChangeArrowheads="1"/>
            </p:cNvSpPr>
            <p:nvPr/>
          </p:nvSpPr>
          <p:spPr bwMode="auto">
            <a:xfrm>
              <a:off x="2857488" y="3835491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5" name="组合 51"/>
          <p:cNvGrpSpPr/>
          <p:nvPr/>
        </p:nvGrpSpPr>
        <p:grpSpPr>
          <a:xfrm>
            <a:off x="1835824" y="2863970"/>
            <a:ext cx="3379118" cy="904405"/>
            <a:chOff x="1835824" y="2863970"/>
            <a:chExt cx="3379118" cy="904405"/>
          </a:xfrm>
        </p:grpSpPr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835824" y="3406862"/>
              <a:ext cx="3379118" cy="3615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{1}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的幂集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{{},{1}}</a:t>
              </a:r>
            </a:p>
          </p:txBody>
        </p:sp>
        <p:sp>
          <p:nvSpPr>
            <p:cNvPr id="48" name="AutoShape 10"/>
            <p:cNvSpPr>
              <a:spLocks noChangeArrowheads="1"/>
            </p:cNvSpPr>
            <p:nvPr/>
          </p:nvSpPr>
          <p:spPr bwMode="auto">
            <a:xfrm>
              <a:off x="2842450" y="2863970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9" name="Rectangle 8"/>
            <p:cNvSpPr>
              <a:spLocks noChangeArrowheads="1"/>
            </p:cNvSpPr>
            <p:nvPr/>
          </p:nvSpPr>
          <p:spPr bwMode="auto">
            <a:xfrm>
              <a:off x="3153896" y="2863970"/>
              <a:ext cx="1203790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=M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∪A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6" name="组合 50"/>
          <p:cNvGrpSpPr/>
          <p:nvPr/>
        </p:nvGrpSpPr>
        <p:grpSpPr>
          <a:xfrm>
            <a:off x="2357422" y="1892028"/>
            <a:ext cx="4429157" cy="808678"/>
            <a:chOff x="2357422" y="1892028"/>
            <a:chExt cx="4429157" cy="808678"/>
          </a:xfrm>
        </p:grpSpPr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3108123" y="1940665"/>
              <a:ext cx="3678456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中每个集合元素添加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得到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" name="Rectangle 11"/>
            <p:cNvSpPr>
              <a:spLocks noChangeArrowheads="1"/>
            </p:cNvSpPr>
            <p:nvPr/>
          </p:nvSpPr>
          <p:spPr bwMode="auto">
            <a:xfrm>
              <a:off x="2357422" y="2390505"/>
              <a:ext cx="1427247" cy="3102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baseline="-30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{{1}}</a:t>
              </a:r>
            </a:p>
          </p:txBody>
        </p:sp>
        <p:sp>
          <p:nvSpPr>
            <p:cNvPr id="50" name="AutoShape 10"/>
            <p:cNvSpPr>
              <a:spLocks noChangeArrowheads="1"/>
            </p:cNvSpPr>
            <p:nvPr/>
          </p:nvSpPr>
          <p:spPr bwMode="auto">
            <a:xfrm>
              <a:off x="2836713" y="1892028"/>
              <a:ext cx="207630" cy="422154"/>
            </a:xfrm>
            <a:prstGeom prst="downArrow">
              <a:avLst>
                <a:gd name="adj1" fmla="val 50000"/>
                <a:gd name="adj2" fmla="val 50843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071546"/>
            <a:ext cx="7858180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集合的幂集改为求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集合的幂集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由于要求子集中的元素不能以降序排列，先就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递增排序。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ps={{}}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循环：置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A=ps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的每个集合元素中添加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nums[i]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的元素添加的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142852"/>
            <a:ext cx="8715436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subsets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 &amp;nums)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int 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if(n==0) return {{}};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(nums.begin(),nums.end());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vector&lt;vector&lt;int&gt;&gt; ps;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ps.push_back(e);    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 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空集合元素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for (int i=0;i&lt;n;i++) {     	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nums[0..n-1]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vector&lt;vector&lt;int&gt;&gt; A=ps;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存放上一步得到的幂集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for (auto it=A.begin();it!=A.end();++it)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(*it).push_back(nums[i]);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每个元素尾添加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for (auto it=A.begin();it!=A.end();++it)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ps.push_back(*it); 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集合元素添加到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6253483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3.89MB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00298" y="428604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3.6 0/1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背包问题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1428736"/>
            <a:ext cx="8215370" cy="22082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个物品，物品编号为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，重量为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，价值为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，给定一个容量为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的背包。现在从这些物品中选取若干物品装入该背包的方案，每个物品要么选中要么不选中，要求选中的物品总重量不超过背包容量并且具有最大的价值。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00232" y="4071942"/>
          <a:ext cx="4572033" cy="192882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524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314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物品编号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重量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价值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0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4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4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78"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  <a:spcAft>
                          <a:spcPts val="0"/>
                        </a:spcAft>
                      </a:pPr>
                      <a:r>
                        <a:rPr lang="pt-BR" sz="20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86578" y="4786322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</a:rPr>
              <a:t>W=6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285860"/>
            <a:ext cx="8501122" cy="417678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解向量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表示不选择物品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采用组合列举的穷举法求解，用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表示最优解的总价值，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表示最优解的总重量，用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表示最优解选择物品方案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的幂集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，然后枚举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中的每个子集，将每个子集看成是一种背包装入方案，求出所选物品总重量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和总价值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sumv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sumw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且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sumv&gt;maxv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成立，说明找到一个更优解，用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存放该解的编号，最后输出解。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44" y="142852"/>
            <a:ext cx="8715436" cy="60837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knap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w[],int v[],int W,int n)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背包问题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maxv=0,maxw=0,maxi;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ps=0;ps&lt;(1&lt;&lt;n);ps++)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执行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2^n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次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sumw=0,sumv=0;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i=0;i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ps&amp;(1&lt;&lt;i)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if() {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选择了物品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sumw+=w[i];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sumv+=v[i];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if(sumw&lt;=W &amp;&amp; maxv&lt;sumv)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找到更优解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maxw=sumw;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maxv=sumv;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maxi=ps;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44" y="142852"/>
            <a:ext cx="8715436" cy="34259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最佳方案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\n");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找到最优解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选中物品：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printf("{ 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if(maxi&amp;(1&lt;&lt;i)) printf("%d ",i);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printf("}\n");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总重量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=%d,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总价值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=%d\n",maxw,maxv);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4429132"/>
            <a:ext cx="8072494" cy="93871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knap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：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</a:t>
            </a:r>
            <a:r>
              <a:rPr lang="nb-NO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个物品，最主要时间花费在求幂集上，所以算法的时间复杂度为</a:t>
            </a:r>
            <a:r>
              <a:rPr lang="nb-NO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O(2</a:t>
            </a:r>
            <a:r>
              <a:rPr lang="nb-NO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nb-NO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388873"/>
            <a:ext cx="8501122" cy="468333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背包问题Ⅱ（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LintCode125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）个物品和一个容量为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）的背包，给定数组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A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表示每个物品的重量和数组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V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表示每个物品的价值。设计一个算法求最多能装入背包的总价值，物品不能被切分，每个物品只能取一次，同时装入背包的物品的总重量不能超过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A={2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，装入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A[1]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A[3]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可以得到最大价值，对应的价值为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V[1]+V[3]=9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int backPackII(int m,vector&lt;int&gt; &amp;A,vector&lt;int&gt; &amp;V) {}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1435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143885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采用前面求解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背包问题的穷举思路，由于测试数据中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最大为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，这样无法表示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所以采用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3.6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节解法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求幂集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7067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backPackII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m,vector&lt;int&gt; &amp;A,vector&lt;int&gt; &amp;V)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vector&lt;vector&lt;int&gt;&gt; ps=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int ans=0;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for(int i=0;i&lt;ps.size();i++)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int sumw=0,sumv=0;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for(int j=0;j&lt;ps[i].size();j++)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	sumw+=A[ps[i][j]];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sumv+=V[ps[i][j]];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if(sumw&lt;=m) ans=max(ans,sumv);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72560" cy="48860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pset2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0-n-1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的幂集算法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vector&lt;vector&lt;int&gt;&gt; ps;  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存放幂集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ps.push_back(e);      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{}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空集合元素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for (int i=0;i&lt;n;i++) {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vector&lt;vector&lt;int&gt;&gt; A=ps;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上一步得到的幂集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 (auto it=A.begin();it!=A.end();++it)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(*it).push_back(i);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每个元素末尾添加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 (auto it=A.begin();it!=A.end();++it)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ps.push_back(*it);  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每个元素添加到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return ps;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5786454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提交时内存超过限制</a:t>
              </a:r>
              <a:r>
                <a:rPr lang="zh-CN" altLang="en-US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，如何解决？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2571736" y="428604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3.7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求全排列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501122" cy="18620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对于给定的正整数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），求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的全排列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pm={{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（排列顺序可以任意）。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42876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7356" y="681319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增量穷举法</a:t>
            </a:r>
            <a:endParaRPr lang="zh-CN" altLang="en-US">
              <a:solidFill>
                <a:srgbClr val="C00000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1538" y="1714488"/>
            <a:ext cx="5286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为例，求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的全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排列的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步骤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4164940" y="2702895"/>
            <a:ext cx="33662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285720" y="3355662"/>
            <a:ext cx="2143141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插入到各位上</a:t>
            </a:r>
          </a:p>
        </p:txBody>
      </p:sp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3127908" y="3351591"/>
            <a:ext cx="33662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</a:t>
            </a: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2426146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123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3068183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132</a:t>
            </a: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3710221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312</a:t>
            </a:r>
          </a:p>
        </p:txBody>
      </p:sp>
      <p:sp>
        <p:nvSpPr>
          <p:cNvPr id="14" name="Freeform 18"/>
          <p:cNvSpPr>
            <a:spLocks/>
          </p:cNvSpPr>
          <p:nvPr/>
        </p:nvSpPr>
        <p:spPr bwMode="auto">
          <a:xfrm>
            <a:off x="2682689" y="3636583"/>
            <a:ext cx="556523" cy="477701"/>
          </a:xfrm>
          <a:custGeom>
            <a:avLst/>
            <a:gdLst/>
            <a:ahLst/>
            <a:cxnLst>
              <a:cxn ang="0">
                <a:pos x="468" y="0"/>
              </a:cxn>
              <a:cxn ang="0">
                <a:pos x="0" y="402"/>
              </a:cxn>
            </a:cxnLst>
            <a:rect l="0" t="0" r="r" b="b"/>
            <a:pathLst>
              <a:path w="468" h="402">
                <a:moveTo>
                  <a:pt x="468" y="0"/>
                </a:moveTo>
                <a:lnTo>
                  <a:pt x="0" y="40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3300294" y="3636583"/>
            <a:ext cx="0" cy="506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3385808" y="3636583"/>
            <a:ext cx="502228" cy="45734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23" y="384"/>
              </a:cxn>
            </a:cxnLst>
            <a:rect l="0" t="0" r="r" b="b"/>
            <a:pathLst>
              <a:path w="423" h="384">
                <a:moveTo>
                  <a:pt x="0" y="0"/>
                </a:moveTo>
                <a:lnTo>
                  <a:pt x="423" y="384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5223691" y="3351591"/>
            <a:ext cx="33662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21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4521929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213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163967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231</a:t>
            </a: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5806004" y="4093927"/>
            <a:ext cx="472366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321</a:t>
            </a:r>
          </a:p>
        </p:txBody>
      </p:sp>
      <p:sp>
        <p:nvSpPr>
          <p:cNvPr id="22" name="Freeform 11"/>
          <p:cNvSpPr>
            <a:spLocks/>
          </p:cNvSpPr>
          <p:nvPr/>
        </p:nvSpPr>
        <p:spPr bwMode="auto">
          <a:xfrm>
            <a:off x="4778473" y="3636583"/>
            <a:ext cx="556523" cy="477701"/>
          </a:xfrm>
          <a:custGeom>
            <a:avLst/>
            <a:gdLst/>
            <a:ahLst/>
            <a:cxnLst>
              <a:cxn ang="0">
                <a:pos x="468" y="0"/>
              </a:cxn>
              <a:cxn ang="0">
                <a:pos x="0" y="402"/>
              </a:cxn>
            </a:cxnLst>
            <a:rect l="0" t="0" r="r" b="b"/>
            <a:pathLst>
              <a:path w="468" h="402">
                <a:moveTo>
                  <a:pt x="468" y="0"/>
                </a:moveTo>
                <a:lnTo>
                  <a:pt x="0" y="40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>
            <a:off x="5396078" y="3636583"/>
            <a:ext cx="0" cy="506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4" name="Freeform 9"/>
          <p:cNvSpPr>
            <a:spLocks/>
          </p:cNvSpPr>
          <p:nvPr/>
        </p:nvSpPr>
        <p:spPr bwMode="auto">
          <a:xfrm>
            <a:off x="5481592" y="3636583"/>
            <a:ext cx="502228" cy="45734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23" y="384"/>
              </a:cxn>
            </a:cxnLst>
            <a:rect l="0" t="0" r="r" b="b"/>
            <a:pathLst>
              <a:path w="423" h="384">
                <a:moveTo>
                  <a:pt x="0" y="0"/>
                </a:moveTo>
                <a:lnTo>
                  <a:pt x="423" y="384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5" name="Freeform 8"/>
          <p:cNvSpPr>
            <a:spLocks/>
          </p:cNvSpPr>
          <p:nvPr/>
        </p:nvSpPr>
        <p:spPr bwMode="auto">
          <a:xfrm>
            <a:off x="3392595" y="2928174"/>
            <a:ext cx="880935" cy="445130"/>
          </a:xfrm>
          <a:custGeom>
            <a:avLst/>
            <a:gdLst/>
            <a:ahLst/>
            <a:cxnLst>
              <a:cxn ang="0">
                <a:pos x="741" y="0"/>
              </a:cxn>
              <a:cxn ang="0">
                <a:pos x="0" y="375"/>
              </a:cxn>
            </a:cxnLst>
            <a:rect l="0" t="0" r="r" b="b"/>
            <a:pathLst>
              <a:path w="741" h="375">
                <a:moveTo>
                  <a:pt x="741" y="0"/>
                </a:moveTo>
                <a:lnTo>
                  <a:pt x="0" y="3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4394336" y="2930888"/>
            <a:ext cx="917584" cy="45327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71" y="381"/>
              </a:cxn>
            </a:cxnLst>
            <a:rect l="0" t="0" r="r" b="b"/>
            <a:pathLst>
              <a:path w="771" h="381">
                <a:moveTo>
                  <a:pt x="0" y="0"/>
                </a:moveTo>
                <a:lnTo>
                  <a:pt x="771" y="381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214282" y="4093927"/>
            <a:ext cx="2214579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将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插入到各位上</a:t>
            </a: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500034" y="2720537"/>
            <a:ext cx="1886748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初始时为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6063905" y="3023171"/>
            <a:ext cx="1579929" cy="3365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求解中间结果</a:t>
            </a:r>
          </a:p>
        </p:txBody>
      </p:sp>
      <p:sp>
        <p:nvSpPr>
          <p:cNvPr id="30" name="AutoShape 3"/>
          <p:cNvSpPr>
            <a:spLocks/>
          </p:cNvSpPr>
          <p:nvPr/>
        </p:nvSpPr>
        <p:spPr bwMode="auto">
          <a:xfrm>
            <a:off x="5849440" y="2652682"/>
            <a:ext cx="169672" cy="1078898"/>
          </a:xfrm>
          <a:prstGeom prst="rightBrace">
            <a:avLst>
              <a:gd name="adj1" fmla="val 53000"/>
              <a:gd name="adj2" fmla="val 50000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6424966" y="4084427"/>
            <a:ext cx="1926112" cy="3352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求解的最终结果</a:t>
            </a: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285728"/>
            <a:ext cx="8572560" cy="586895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：迭代求全排列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pm={{1}};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存放全排列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i=2;i&lt;=n;i++)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vector&lt;vector&lt;int&gt;&gt; pm1=pm;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pm.clear();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(auto it=pm1.begin();it!=pm1.end();it++)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vector&lt;int&gt; e=(*it);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j=e.size();j&gt;=0;j--){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vector&lt;int&gt; e1=e;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auto it=e1.begin()+j;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求出插入位置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e1.insert(it,i);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pm.push_back(e1);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285728"/>
            <a:ext cx="8572560" cy="59587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：递归求的全排列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if(n==1) return {{1}};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pm1=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(n-1);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1-n-1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全排列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(auto it=pm1.begin();it!=pm1.end();it++) {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e=(*it);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j=e.size();j&gt;=0;j--)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vector&lt;int&gt; e1=e;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auto it=e1.begin()+j;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求出插入位置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e1.insert(it,n);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pm.push_back(e1);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500042"/>
            <a:ext cx="342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时间递推式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428736"/>
            <a:ext cx="7286676" cy="111579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T(1)=1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-1)+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&gt;1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48" y="3357562"/>
            <a:ext cx="564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可以推出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142876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7356" y="681319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楷体" pitchFamily="49" charset="-122"/>
              </a:rPr>
              <a:t>STL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  <a:ea typeface="楷体" pitchFamily="49" charset="-122"/>
              </a:rPr>
              <a:t>方法</a:t>
            </a:r>
            <a:endParaRPr lang="zh-CN" altLang="en-US">
              <a:solidFill>
                <a:srgbClr val="C0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1785926"/>
            <a:ext cx="8286808" cy="12945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中提供了求全排列的相关函数，如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next_permutation(beg,end)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，其功能是将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[beg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置为一个排列，若没有下一个排列时返回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false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85720" y="285728"/>
            <a:ext cx="8572560" cy="414412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perm3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：求全排列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pm;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1-n-1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全排列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i=1;i&lt;=n;i++)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e.push_back(i);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do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pm.push_back(e);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 while(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next_permutation(e.begin(),e.end())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的下一个排列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4786322"/>
            <a:ext cx="8215370" cy="110799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perm3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：该算法中调用一次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next_permutation()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do-while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循环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次，所以算法的时间复杂度为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1484431"/>
            <a:ext cx="8501122" cy="251607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3.7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全排列（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LeetCode46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★★）。给定一个不含重复数字的数组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，设计一个算法求其所有可能的全排列，可以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按任意顺序返回答案。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3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  vector&lt;vector&lt;int&gt;&gt; permute(vector&lt;int&gt;&amp; nums) {}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0100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90665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采用前面求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全排列的解法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增量穷举法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思路，仅仅初始序列由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改为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nums[0..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68141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vector&lt;vector&lt;int&gt;&gt;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permute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vector&lt;vector&lt;int&gt;&gt; pm={{nums[0]}};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存放全排列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for (int i=1;i&lt;n;i++) {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nums[1..-1]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vector&lt;vector&lt;int&gt;&gt; pm1=pm;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pm.clear();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for (auto it=pm1.begin();it!=pm1.end();it++)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vector&lt;int&gt; e=(*it);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 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for (int j=e.size();j&gt;=0;j--) {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每个位置插入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   	vector&lt;int&gt; e1=e;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    	auto it=e1.begin()+j;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求出插入位置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    	e1.insert(it,nums[i]);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    	pm.push_back(e1);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return 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9"/>
          <p:cNvGrpSpPr/>
          <p:nvPr/>
        </p:nvGrpSpPr>
        <p:grpSpPr>
          <a:xfrm>
            <a:off x="714348" y="928670"/>
            <a:ext cx="6858048" cy="461665"/>
            <a:chOff x="1071538" y="6286520"/>
            <a:chExt cx="68580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7.9MB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 b="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1473" y="2143117"/>
            <a:ext cx="6715171" cy="1190298"/>
            <a:chOff x="571473" y="2143117"/>
            <a:chExt cx="6715171" cy="1190298"/>
          </a:xfrm>
        </p:grpSpPr>
        <p:pic>
          <p:nvPicPr>
            <p:cNvPr id="14950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1473" y="2143117"/>
              <a:ext cx="1500198" cy="1190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2143108" y="2285992"/>
              <a:ext cx="51435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采用前面求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1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～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n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全排列的解法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2</a:t>
              </a:r>
              <a:r>
                <a:rPr lang="zh-CN" altLang="en-US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（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STL</a:t>
              </a:r>
              <a:r>
                <a:rPr lang="zh-CN" altLang="en-US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</a:rPr>
                <a:t>方法）求解！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714612" y="500042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3.8 n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皇后问题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72" y="1767118"/>
            <a:ext cx="7929618" cy="155427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的方格棋盘上，放置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个皇后，要求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皇后不同行、不同列、不同左右对角线。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4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设计一个算法求出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皇后问题的全部解。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2844" y="858078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2976" y="572326"/>
            <a:ext cx="7572428" cy="178510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个皇后编号为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，采用整数数组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皇后问题的求解结果，因为每行只能放一个皇后，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）存放皇后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所在的列号，即该皇后放在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2" name="组合 58"/>
          <p:cNvGrpSpPr/>
          <p:nvPr/>
        </p:nvGrpSpPr>
        <p:grpSpPr>
          <a:xfrm>
            <a:off x="2643174" y="2714620"/>
            <a:ext cx="2571768" cy="2632923"/>
            <a:chOff x="2643174" y="2500306"/>
            <a:chExt cx="2571768" cy="2632923"/>
          </a:xfrm>
        </p:grpSpPr>
        <p:sp>
          <p:nvSpPr>
            <p:cNvPr id="63" name="Rectangle 49"/>
            <p:cNvSpPr>
              <a:spLocks noChangeArrowheads="1"/>
            </p:cNvSpPr>
            <p:nvPr/>
          </p:nvSpPr>
          <p:spPr bwMode="auto">
            <a:xfrm>
              <a:off x="3392964" y="4778797"/>
              <a:ext cx="348337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4" name="Rectangle 48"/>
            <p:cNvSpPr>
              <a:spLocks noChangeArrowheads="1"/>
            </p:cNvSpPr>
            <p:nvPr/>
          </p:nvSpPr>
          <p:spPr bwMode="auto">
            <a:xfrm>
              <a:off x="3037215" y="4778797"/>
              <a:ext cx="350808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5" name="Rectangle 47"/>
            <p:cNvSpPr>
              <a:spLocks noChangeArrowheads="1"/>
            </p:cNvSpPr>
            <p:nvPr/>
          </p:nvSpPr>
          <p:spPr bwMode="auto">
            <a:xfrm>
              <a:off x="4098286" y="4778797"/>
              <a:ext cx="349573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3738831" y="4778797"/>
              <a:ext cx="350808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4803607" y="4778797"/>
              <a:ext cx="349573" cy="35072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8" name="Rectangle 44"/>
            <p:cNvSpPr>
              <a:spLocks noChangeArrowheads="1"/>
            </p:cNvSpPr>
            <p:nvPr/>
          </p:nvSpPr>
          <p:spPr bwMode="auto">
            <a:xfrm>
              <a:off x="4449094" y="4778797"/>
              <a:ext cx="350808" cy="350727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9" name="Rectangle 43"/>
            <p:cNvSpPr>
              <a:spLocks noChangeArrowheads="1"/>
            </p:cNvSpPr>
            <p:nvPr/>
          </p:nvSpPr>
          <p:spPr bwMode="auto">
            <a:xfrm>
              <a:off x="3392964" y="4416955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0" name="Rectangle 42"/>
            <p:cNvSpPr>
              <a:spLocks noChangeArrowheads="1"/>
            </p:cNvSpPr>
            <p:nvPr/>
          </p:nvSpPr>
          <p:spPr bwMode="auto">
            <a:xfrm>
              <a:off x="3037215" y="4416955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1" name="Rectangle 41"/>
            <p:cNvSpPr>
              <a:spLocks noChangeArrowheads="1"/>
            </p:cNvSpPr>
            <p:nvPr/>
          </p:nvSpPr>
          <p:spPr bwMode="auto">
            <a:xfrm>
              <a:off x="4098286" y="4416955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2" name="Rectangle 40"/>
            <p:cNvSpPr>
              <a:spLocks noChangeArrowheads="1"/>
            </p:cNvSpPr>
            <p:nvPr/>
          </p:nvSpPr>
          <p:spPr bwMode="auto">
            <a:xfrm>
              <a:off x="3738831" y="4416955"/>
              <a:ext cx="350808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3" name="Rectangle 39"/>
            <p:cNvSpPr>
              <a:spLocks noChangeArrowheads="1"/>
            </p:cNvSpPr>
            <p:nvPr/>
          </p:nvSpPr>
          <p:spPr bwMode="auto">
            <a:xfrm>
              <a:off x="4803607" y="4416955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4449094" y="4416955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5" name="Rectangle 37"/>
            <p:cNvSpPr>
              <a:spLocks noChangeArrowheads="1"/>
            </p:cNvSpPr>
            <p:nvPr/>
          </p:nvSpPr>
          <p:spPr bwMode="auto">
            <a:xfrm>
              <a:off x="3392964" y="4057584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6" name="Rectangle 36"/>
            <p:cNvSpPr>
              <a:spLocks noChangeArrowheads="1"/>
            </p:cNvSpPr>
            <p:nvPr/>
          </p:nvSpPr>
          <p:spPr bwMode="auto">
            <a:xfrm>
              <a:off x="3037215" y="4057584"/>
              <a:ext cx="350808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7" name="Rectangle 35"/>
            <p:cNvSpPr>
              <a:spLocks noChangeArrowheads="1"/>
            </p:cNvSpPr>
            <p:nvPr/>
          </p:nvSpPr>
          <p:spPr bwMode="auto">
            <a:xfrm>
              <a:off x="4098286" y="405758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8" name="Rectangle 34"/>
            <p:cNvSpPr>
              <a:spLocks noChangeArrowheads="1"/>
            </p:cNvSpPr>
            <p:nvPr/>
          </p:nvSpPr>
          <p:spPr bwMode="auto">
            <a:xfrm>
              <a:off x="3738831" y="405758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9" name="Rectangle 33"/>
            <p:cNvSpPr>
              <a:spLocks noChangeArrowheads="1"/>
            </p:cNvSpPr>
            <p:nvPr/>
          </p:nvSpPr>
          <p:spPr bwMode="auto">
            <a:xfrm>
              <a:off x="4803607" y="405758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0" name="Rectangle 32"/>
            <p:cNvSpPr>
              <a:spLocks noChangeArrowheads="1"/>
            </p:cNvSpPr>
            <p:nvPr/>
          </p:nvSpPr>
          <p:spPr bwMode="auto">
            <a:xfrm>
              <a:off x="4449094" y="405758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1" name="Rectangle 31"/>
            <p:cNvSpPr>
              <a:spLocks noChangeArrowheads="1"/>
            </p:cNvSpPr>
            <p:nvPr/>
          </p:nvSpPr>
          <p:spPr bwMode="auto">
            <a:xfrm>
              <a:off x="3392964" y="3690802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2" name="Rectangle 30"/>
            <p:cNvSpPr>
              <a:spLocks noChangeArrowheads="1"/>
            </p:cNvSpPr>
            <p:nvPr/>
          </p:nvSpPr>
          <p:spPr bwMode="auto">
            <a:xfrm>
              <a:off x="3037215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3" name="Rectangle 29"/>
            <p:cNvSpPr>
              <a:spLocks noChangeArrowheads="1"/>
            </p:cNvSpPr>
            <p:nvPr/>
          </p:nvSpPr>
          <p:spPr bwMode="auto">
            <a:xfrm>
              <a:off x="4098286" y="3690802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4" name="Rectangle 28"/>
            <p:cNvSpPr>
              <a:spLocks noChangeArrowheads="1"/>
            </p:cNvSpPr>
            <p:nvPr/>
          </p:nvSpPr>
          <p:spPr bwMode="auto">
            <a:xfrm>
              <a:off x="3738831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4803607" y="3690802"/>
              <a:ext cx="349573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6" name="Rectangle 26"/>
            <p:cNvSpPr>
              <a:spLocks noChangeArrowheads="1"/>
            </p:cNvSpPr>
            <p:nvPr/>
          </p:nvSpPr>
          <p:spPr bwMode="auto">
            <a:xfrm>
              <a:off x="4449094" y="3690802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7" name="Rectangle 25"/>
            <p:cNvSpPr>
              <a:spLocks noChangeArrowheads="1"/>
            </p:cNvSpPr>
            <p:nvPr/>
          </p:nvSpPr>
          <p:spPr bwMode="auto">
            <a:xfrm>
              <a:off x="3392964" y="3331430"/>
              <a:ext cx="348337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8" name="Rectangle 24"/>
            <p:cNvSpPr>
              <a:spLocks noChangeArrowheads="1"/>
            </p:cNvSpPr>
            <p:nvPr/>
          </p:nvSpPr>
          <p:spPr bwMode="auto">
            <a:xfrm>
              <a:off x="3037215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9" name="Rectangle 23"/>
            <p:cNvSpPr>
              <a:spLocks noChangeArrowheads="1"/>
            </p:cNvSpPr>
            <p:nvPr/>
          </p:nvSpPr>
          <p:spPr bwMode="auto">
            <a:xfrm>
              <a:off x="4098286" y="3331430"/>
              <a:ext cx="349573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0" name="Rectangle 22"/>
            <p:cNvSpPr>
              <a:spLocks noChangeArrowheads="1"/>
            </p:cNvSpPr>
            <p:nvPr/>
          </p:nvSpPr>
          <p:spPr bwMode="auto">
            <a:xfrm>
              <a:off x="3738831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4803607" y="3331430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2" name="Rectangle 20"/>
            <p:cNvSpPr>
              <a:spLocks noChangeArrowheads="1"/>
            </p:cNvSpPr>
            <p:nvPr/>
          </p:nvSpPr>
          <p:spPr bwMode="auto">
            <a:xfrm>
              <a:off x="4449094" y="3331430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3" name="Rectangle 19"/>
            <p:cNvSpPr>
              <a:spLocks noChangeArrowheads="1"/>
            </p:cNvSpPr>
            <p:nvPr/>
          </p:nvSpPr>
          <p:spPr bwMode="auto">
            <a:xfrm>
              <a:off x="3392964" y="2968354"/>
              <a:ext cx="348337" cy="349492"/>
            </a:xfrm>
            <a:prstGeom prst="rect">
              <a:avLst/>
            </a:prstGeom>
            <a:solidFill>
              <a:srgbClr val="FF00FF"/>
            </a:solidFill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4" name="Rectangle 18"/>
            <p:cNvSpPr>
              <a:spLocks noChangeArrowheads="1"/>
            </p:cNvSpPr>
            <p:nvPr/>
          </p:nvSpPr>
          <p:spPr bwMode="auto">
            <a:xfrm>
              <a:off x="3037215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5" name="Rectangle 17"/>
            <p:cNvSpPr>
              <a:spLocks noChangeArrowheads="1"/>
            </p:cNvSpPr>
            <p:nvPr/>
          </p:nvSpPr>
          <p:spPr bwMode="auto">
            <a:xfrm>
              <a:off x="4098286" y="296835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6" name="Rectangle 16"/>
            <p:cNvSpPr>
              <a:spLocks noChangeArrowheads="1"/>
            </p:cNvSpPr>
            <p:nvPr/>
          </p:nvSpPr>
          <p:spPr bwMode="auto">
            <a:xfrm>
              <a:off x="3738831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7" name="Rectangle 15"/>
            <p:cNvSpPr>
              <a:spLocks noChangeArrowheads="1"/>
            </p:cNvSpPr>
            <p:nvPr/>
          </p:nvSpPr>
          <p:spPr bwMode="auto">
            <a:xfrm>
              <a:off x="4803607" y="2968354"/>
              <a:ext cx="349573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8" name="Rectangle 14"/>
            <p:cNvSpPr>
              <a:spLocks noChangeArrowheads="1"/>
            </p:cNvSpPr>
            <p:nvPr/>
          </p:nvSpPr>
          <p:spPr bwMode="auto">
            <a:xfrm>
              <a:off x="4449094" y="2968354"/>
              <a:ext cx="350808" cy="34949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9" name="Rectangle 13"/>
            <p:cNvSpPr>
              <a:spLocks noChangeArrowheads="1"/>
            </p:cNvSpPr>
            <p:nvPr/>
          </p:nvSpPr>
          <p:spPr bwMode="auto">
            <a:xfrm>
              <a:off x="3405317" y="2500306"/>
              <a:ext cx="348337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0" name="Rectangle 12"/>
            <p:cNvSpPr>
              <a:spLocks noChangeArrowheads="1"/>
            </p:cNvSpPr>
            <p:nvPr/>
          </p:nvSpPr>
          <p:spPr bwMode="auto">
            <a:xfrm>
              <a:off x="3037215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1" name="Rectangle 11"/>
            <p:cNvSpPr>
              <a:spLocks noChangeArrowheads="1"/>
            </p:cNvSpPr>
            <p:nvPr/>
          </p:nvSpPr>
          <p:spPr bwMode="auto">
            <a:xfrm>
              <a:off x="4135343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2" name="Rectangle 10"/>
            <p:cNvSpPr>
              <a:spLocks noChangeArrowheads="1"/>
            </p:cNvSpPr>
            <p:nvPr/>
          </p:nvSpPr>
          <p:spPr bwMode="auto">
            <a:xfrm>
              <a:off x="3763536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3" name="Rectangle 9"/>
            <p:cNvSpPr>
              <a:spLocks noChangeArrowheads="1"/>
            </p:cNvSpPr>
            <p:nvPr/>
          </p:nvSpPr>
          <p:spPr bwMode="auto">
            <a:xfrm>
              <a:off x="4865369" y="2500306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4" name="Rectangle 8"/>
            <p:cNvSpPr>
              <a:spLocks noChangeArrowheads="1"/>
            </p:cNvSpPr>
            <p:nvPr/>
          </p:nvSpPr>
          <p:spPr bwMode="auto">
            <a:xfrm>
              <a:off x="4498503" y="2500306"/>
              <a:ext cx="350808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5" name="Rectangle 7"/>
            <p:cNvSpPr>
              <a:spLocks noChangeArrowheads="1"/>
            </p:cNvSpPr>
            <p:nvPr/>
          </p:nvSpPr>
          <p:spPr bwMode="auto">
            <a:xfrm>
              <a:off x="2643174" y="4783737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6" name="Rectangle 6"/>
            <p:cNvSpPr>
              <a:spLocks noChangeArrowheads="1"/>
            </p:cNvSpPr>
            <p:nvPr/>
          </p:nvSpPr>
          <p:spPr bwMode="auto">
            <a:xfrm>
              <a:off x="2643174" y="4420660"/>
              <a:ext cx="349573" cy="34825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7" name="Rectangle 5"/>
            <p:cNvSpPr>
              <a:spLocks noChangeArrowheads="1"/>
            </p:cNvSpPr>
            <p:nvPr/>
          </p:nvSpPr>
          <p:spPr bwMode="auto">
            <a:xfrm>
              <a:off x="2643174" y="4061288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8" name="Rectangle 4"/>
            <p:cNvSpPr>
              <a:spLocks noChangeArrowheads="1"/>
            </p:cNvSpPr>
            <p:nvPr/>
          </p:nvSpPr>
          <p:spPr bwMode="auto">
            <a:xfrm>
              <a:off x="2643174" y="3694507"/>
              <a:ext cx="349573" cy="35072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9" name="Rectangle 3"/>
            <p:cNvSpPr>
              <a:spLocks noChangeArrowheads="1"/>
            </p:cNvSpPr>
            <p:nvPr/>
          </p:nvSpPr>
          <p:spPr bwMode="auto">
            <a:xfrm>
              <a:off x="2643174" y="3335135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0" name="Rectangle 2"/>
            <p:cNvSpPr>
              <a:spLocks noChangeArrowheads="1"/>
            </p:cNvSpPr>
            <p:nvPr/>
          </p:nvSpPr>
          <p:spPr bwMode="auto">
            <a:xfrm>
              <a:off x="2643174" y="2972059"/>
              <a:ext cx="349573" cy="34949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6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2500298" y="5643578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[0..5]={1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1214422"/>
            <a:ext cx="7000924" cy="21441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(0,1) (1,3) (2,5) (3,0) (4,2) (5,4) 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(0,2) (1,5) (2,1) (3,4) (4,0) (5,3) 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(0,3) (1,0) (2,4) (3,1) (4,5) (5,2) 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4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个解：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(0,4) (1,2) (2,0) (3,5) (4,3) (5,1)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428604"/>
            <a:ext cx="457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57224" y="412932"/>
            <a:ext cx="8143932" cy="201593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位置上放皇后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，是否与已放好的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个皇后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有冲突呢？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位置与前面某个皇后同列，则有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位置与前面某个皇后同对角线，则恰好构成一个等腰直角三角形，即有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]|==|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成立。</a:t>
            </a:r>
          </a:p>
        </p:txBody>
      </p:sp>
      <p:sp>
        <p:nvSpPr>
          <p:cNvPr id="9115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14282" y="5214950"/>
            <a:ext cx="8715436" cy="9233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归纳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满足以下条件，则存在冲突，否则不冲突：</a:t>
            </a:r>
          </a:p>
          <a:p>
            <a:pPr algn="l">
              <a:lnSpc>
                <a:spcPct val="100000"/>
              </a:lnSpc>
            </a:pP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]==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|| (abs(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]-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)==abs(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</a:t>
            </a:r>
            <a:r>
              <a:rPr lang="nb-NO" altLang="zh-CN" sz="2000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nb-NO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-32" y="857232"/>
            <a:ext cx="64291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20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冲突判断</a:t>
            </a:r>
            <a:endParaRPr lang="zh-CN" altLang="zh-CN" sz="20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85720" y="2571744"/>
            <a:ext cx="8429684" cy="2428892"/>
            <a:chOff x="285720" y="2571744"/>
            <a:chExt cx="8429684" cy="2428892"/>
          </a:xfrm>
        </p:grpSpPr>
        <p:sp>
          <p:nvSpPr>
            <p:cNvPr id="91157" name="Text Box 21"/>
            <p:cNvSpPr txBox="1">
              <a:spLocks noChangeArrowheads="1"/>
            </p:cNvSpPr>
            <p:nvPr/>
          </p:nvSpPr>
          <p:spPr bwMode="auto">
            <a:xfrm>
              <a:off x="4929190" y="3546268"/>
              <a:ext cx="1093836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]-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180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6" name="Text Box 20"/>
            <p:cNvSpPr txBox="1">
              <a:spLocks noChangeArrowheads="1"/>
            </p:cNvSpPr>
            <p:nvPr/>
          </p:nvSpPr>
          <p:spPr bwMode="auto">
            <a:xfrm>
              <a:off x="285720" y="4121750"/>
              <a:ext cx="1106425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91154" name="Text Box 18"/>
            <p:cNvSpPr txBox="1">
              <a:spLocks noChangeArrowheads="1"/>
            </p:cNvSpPr>
            <p:nvPr/>
          </p:nvSpPr>
          <p:spPr bwMode="auto">
            <a:xfrm>
              <a:off x="2013225" y="4112923"/>
              <a:ext cx="487073" cy="24477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3" name="Line 17"/>
            <p:cNvSpPr>
              <a:spLocks noChangeShapeType="1"/>
            </p:cNvSpPr>
            <p:nvPr/>
          </p:nvSpPr>
          <p:spPr bwMode="auto">
            <a:xfrm flipH="1">
              <a:off x="1455001" y="2913075"/>
              <a:ext cx="1336443" cy="147415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2" name="AutoShape 16"/>
            <p:cNvSpPr>
              <a:spLocks noChangeArrowheads="1"/>
            </p:cNvSpPr>
            <p:nvPr/>
          </p:nvSpPr>
          <p:spPr bwMode="auto">
            <a:xfrm>
              <a:off x="2680698" y="2871851"/>
              <a:ext cx="148161" cy="163245"/>
            </a:xfrm>
            <a:prstGeom prst="flowChartConnector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51" name="Text Box 15"/>
            <p:cNvSpPr txBox="1">
              <a:spLocks noChangeArrowheads="1"/>
            </p:cNvSpPr>
            <p:nvPr/>
          </p:nvSpPr>
          <p:spPr bwMode="auto">
            <a:xfrm>
              <a:off x="2933619" y="2601425"/>
              <a:ext cx="1066877" cy="4138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])</a:t>
              </a:r>
            </a:p>
          </p:txBody>
        </p:sp>
        <p:sp>
          <p:nvSpPr>
            <p:cNvPr id="91150" name="Line 14"/>
            <p:cNvSpPr>
              <a:spLocks noChangeShapeType="1"/>
            </p:cNvSpPr>
            <p:nvPr/>
          </p:nvSpPr>
          <p:spPr bwMode="auto">
            <a:xfrm>
              <a:off x="1576225" y="4403719"/>
              <a:ext cx="1179302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9" name="Line 13"/>
            <p:cNvSpPr>
              <a:spLocks noChangeShapeType="1"/>
            </p:cNvSpPr>
            <p:nvPr/>
          </p:nvSpPr>
          <p:spPr bwMode="auto">
            <a:xfrm>
              <a:off x="2755526" y="3053236"/>
              <a:ext cx="0" cy="135048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8" name="Text Box 12"/>
            <p:cNvSpPr txBox="1">
              <a:spLocks noChangeArrowheads="1"/>
            </p:cNvSpPr>
            <p:nvPr/>
          </p:nvSpPr>
          <p:spPr bwMode="auto">
            <a:xfrm>
              <a:off x="2786050" y="3524833"/>
              <a:ext cx="1285883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</a:p>
          </p:txBody>
        </p:sp>
        <p:sp>
          <p:nvSpPr>
            <p:cNvPr id="91147" name="Text Box 11"/>
            <p:cNvSpPr txBox="1">
              <a:spLocks noChangeArrowheads="1"/>
            </p:cNvSpPr>
            <p:nvPr/>
          </p:nvSpPr>
          <p:spPr bwMode="auto">
            <a:xfrm>
              <a:off x="6570531" y="4090816"/>
              <a:ext cx="430361" cy="2761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6" name="Text Box 10"/>
            <p:cNvSpPr txBox="1">
              <a:spLocks noChangeArrowheads="1"/>
            </p:cNvSpPr>
            <p:nvPr/>
          </p:nvSpPr>
          <p:spPr bwMode="auto">
            <a:xfrm>
              <a:off x="7568746" y="4049196"/>
              <a:ext cx="1146658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91144" name="AutoShape 8"/>
            <p:cNvSpPr>
              <a:spLocks noChangeArrowheads="1"/>
            </p:cNvSpPr>
            <p:nvPr/>
          </p:nvSpPr>
          <p:spPr bwMode="auto">
            <a:xfrm>
              <a:off x="6081150" y="2819085"/>
              <a:ext cx="148161" cy="163245"/>
            </a:xfrm>
            <a:prstGeom prst="flowChartConnector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3" name="Text Box 7"/>
            <p:cNvSpPr txBox="1">
              <a:spLocks noChangeArrowheads="1"/>
            </p:cNvSpPr>
            <p:nvPr/>
          </p:nvSpPr>
          <p:spPr bwMode="auto">
            <a:xfrm>
              <a:off x="6413390" y="2571744"/>
              <a:ext cx="1087568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q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</a:p>
          </p:txBody>
        </p:sp>
        <p:sp>
          <p:nvSpPr>
            <p:cNvPr id="91142" name="Line 6"/>
            <p:cNvSpPr>
              <a:spLocks noChangeShapeType="1"/>
            </p:cNvSpPr>
            <p:nvPr/>
          </p:nvSpPr>
          <p:spPr bwMode="auto">
            <a:xfrm>
              <a:off x="6173938" y="4374038"/>
              <a:ext cx="121073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1" name="Line 5"/>
            <p:cNvSpPr>
              <a:spLocks noChangeShapeType="1"/>
            </p:cNvSpPr>
            <p:nvPr/>
          </p:nvSpPr>
          <p:spPr bwMode="auto">
            <a:xfrm>
              <a:off x="6157475" y="3030150"/>
              <a:ext cx="0" cy="1352133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0" name="Freeform 4"/>
            <p:cNvSpPr>
              <a:spLocks/>
            </p:cNvSpPr>
            <p:nvPr/>
          </p:nvSpPr>
          <p:spPr bwMode="auto">
            <a:xfrm>
              <a:off x="6212849" y="2954299"/>
              <a:ext cx="1248144" cy="13537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52" y="938"/>
                </a:cxn>
              </a:cxnLst>
              <a:rect l="0" t="0" r="r" b="b"/>
              <a:pathLst>
                <a:path w="952" h="938">
                  <a:moveTo>
                    <a:pt x="0" y="0"/>
                  </a:moveTo>
                  <a:lnTo>
                    <a:pt x="952" y="938"/>
                  </a:lnTo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39" name="Text Box 3"/>
            <p:cNvSpPr txBox="1">
              <a:spLocks noChangeArrowheads="1"/>
            </p:cNvSpPr>
            <p:nvPr/>
          </p:nvSpPr>
          <p:spPr bwMode="auto">
            <a:xfrm>
              <a:off x="1306841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1138" name="Text Box 2"/>
            <p:cNvSpPr txBox="1">
              <a:spLocks noChangeArrowheads="1"/>
            </p:cNvSpPr>
            <p:nvPr/>
          </p:nvSpPr>
          <p:spPr bwMode="auto">
            <a:xfrm>
              <a:off x="6025776" y="4591698"/>
              <a:ext cx="1513039" cy="4089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）对角线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1155" name="AutoShape 19"/>
            <p:cNvSpPr>
              <a:spLocks noChangeArrowheads="1"/>
            </p:cNvSpPr>
            <p:nvPr/>
          </p:nvSpPr>
          <p:spPr bwMode="auto">
            <a:xfrm>
              <a:off x="1393642" y="4311378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91145" name="AutoShape 9"/>
            <p:cNvSpPr>
              <a:spLocks noChangeArrowheads="1"/>
            </p:cNvSpPr>
            <p:nvPr/>
          </p:nvSpPr>
          <p:spPr bwMode="auto">
            <a:xfrm>
              <a:off x="7381675" y="4258612"/>
              <a:ext cx="148161" cy="16324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642918"/>
            <a:ext cx="8143932" cy="251607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为了简单，在枚举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皇后问题的解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时先置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-1}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当判定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是否为一个解后再直接利用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next_permutation(q,q+n)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函数得到下一个排列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直到枚举完所有的排列。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32958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cnt;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累计解个数</a:t>
            </a: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n,int q[])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皇后问题的一个解</a:t>
            </a: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个解：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",++cnt);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printf("(%d,%d) ",i,q[i]);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72560" cy="406531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i,int q[]) {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//(i,q[i])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是否与前的皇后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相容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if (i==0) return true;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皇后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一定没有冲突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k=0;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(k&lt;i) { 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//k=0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是已放置了皇后的行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((q[k]==q[i]) || (abs(q[k]-q[i])==abs(k-i)))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      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//(i,q[i])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与皇后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有冲突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k++;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715436" cy="305407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isaqueen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n,int q[]) {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判断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是否是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皇后问题的一个解</a:t>
            </a: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i=1;i&lt;n;i++)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if(!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valid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(i,q))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return 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46808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queen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cnt=0;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q[20];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//q[i]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存放皇后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的列号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for(int i=0;i&lt;n;i++)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q[i]=i;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ans=0;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do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isaqueen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(n,q))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//q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是一个解时输出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disp(n,q);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 while(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next_permutation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(q,q+n));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的下一个排列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5143512"/>
            <a:ext cx="8143932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queen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：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2857488" y="357166"/>
            <a:ext cx="392909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3.9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任务分配问题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20" y="1357298"/>
            <a:ext cx="8501122" cy="216736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8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问题描述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）个任务需要分配给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个人执行，每个任务只能分配给一个人，每个人只能执行一个任务。第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个人执行第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个任务的成本是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）。求出总成本最小的一种分配方案。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928794" y="4071942"/>
          <a:ext cx="5072099" cy="192882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99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56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人员</a:t>
                      </a: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任务</a:t>
                      </a: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0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2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5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1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8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3</a:t>
                      </a:r>
                      <a:endParaRPr lang="zh-CN" sz="2000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7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6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9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spcAft>
                          <a:spcPts val="0"/>
                        </a:spcAft>
                      </a:pPr>
                      <a:r>
                        <a:rPr lang="pt-BR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4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642918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538" y="642918"/>
            <a:ext cx="7572428" cy="327269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考虑为人员分配唯一的任务，用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表示人员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分配的任务编号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由于每个人有且仅有一个分配的任务，而任务编号是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每种分配方案一定是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的一个排列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，全部可能的分配方案恰好是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的全排列。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通过枚举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的全排列，计算出每种分配方案的成本，比较求出最小成本的方案，即最优方案。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314" y="142852"/>
            <a:ext cx="8858280" cy="586895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迭代求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的全排列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pm={{0}};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存放全排列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i=1;i&lt;n;i++)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vector&lt;vector&lt;int&gt;&gt; pm1=pm;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pm.clear();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(auto it=pm1.begin();it!=pm1.end();it++)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vector&lt;int&gt; e=(*it);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j=e.size();j&gt;=0;j--)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vector&lt;int&gt; e1=e;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auto it=e1.begin()+j;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求出插入位置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e1.insert(it,i);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pm.push_back(e1);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pm;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37364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allocate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(vector&lt;vector&lt;int&gt;&gt;&amp; c)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求任务分配问题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n=c.size();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pm=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bestx;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最优分配方案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mincost=INF;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最小成本（初始化为∞）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f=0;f&lt;pm.size();f++)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求每个分配方案的成本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x=pm[f];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取当前分配方案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cost=0;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i=0;i&lt;x.size();i++)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人员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分配任务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x[i] 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cost+=c[i][x[i]];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分配方案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:x=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for(int k=0;k&lt;x.size();k++)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printf("%d ",x[k]);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 总成本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=%d\n",cost);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(cost&lt;mincost)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比较求最小成本的方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案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mincost=cost;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071546"/>
            <a:ext cx="8572560" cy="21417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最优方案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:\n");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输出结果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i=0;i&lt;bestx.size();i++)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 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人员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分配任务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%d\n",i,bestx[i]);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 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总成本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=%d\n",mincost);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4143380"/>
            <a:ext cx="8143932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allocate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：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算法的时间复杂度为</a:t>
            </a:r>
            <a:r>
              <a:rPr lang="en-US" altLang="zh-CN" sz="2200"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200"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 i="1"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latin typeface="Consolas" pitchFamily="49" charset="0"/>
                <a:ea typeface="仿宋" pitchFamily="49" charset="-122"/>
              </a:rPr>
              <a:t>!)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2844" y="1142984"/>
            <a:ext cx="8786842" cy="51578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3.8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订单分配（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LintCode1909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）个订单，待分配给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个司机，每个订单在匹配司机前会对候选司机进行打分，打分的结果保存在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）代表订单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派给司机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分值。假定每个订单只能派给一位司机，司机只能分配到一个订单。设计一个算法求最终的派单结果，使得匹配的订单和司机的分值累加起来最大，并且所有订单得到分配。题目保证每组数据的最大分数都是唯一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score={{1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16}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22}}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个订单分别分派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司机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，对应的最大分值是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288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vector&lt;int&gt; orderAllocation(vector&lt;vector&lt;int&gt;&gt; &amp;score) {}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14414" y="-24"/>
            <a:ext cx="1000132" cy="1000132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00174"/>
            <a:ext cx="7572428" cy="13298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与前面讨论的求解任务分配问题类似，将司机看成人员，订单看成任务，仅仅将求最小成本改为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求最大得分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715436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orderAllocation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&amp;score)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int n=score.size();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vector&lt;vector&lt;int&gt;&gt; pm=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vector&lt;int&gt;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maxsum=0;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for(auto it=pm.begin();it!=pm.end();it++)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vector&lt;int&gt; x=(*it);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int 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for(int i=0;i&lt;n;i++)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sum+=score[i][x[i]];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sum&gt;maxsum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maxsum=sum;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return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314" y="142852"/>
            <a:ext cx="8858280" cy="57067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vector&lt;vector&lt;int&gt;&gt;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n) {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递归求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的全排列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if(n==0) return {{0}};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vector&lt;vector&lt;int&gt;&gt; pm1=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perm2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(n-1);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0-n-2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全排列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vector&lt;vector&lt;int&gt;&gt;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for (auto it=pm1.begin();it!=pm1.end();it++) {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vector&lt;int&gt; e=(*it);         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中一个元素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for (int j=e.size();j&gt;=0;j--)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的每个位置插入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vector&lt;int&gt; e1=e;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auto it=e1.begin()+j;        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求出插入位置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e1.insert(it,n);             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插入整数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.push_back(e1);  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6039169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184ms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5.38MB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hlinkClick r:id="" action="ppaction://noaction"/>
          </p:cNvPr>
          <p:cNvSpPr txBox="1"/>
          <p:nvPr/>
        </p:nvSpPr>
        <p:spPr>
          <a:xfrm>
            <a:off x="2643174" y="428604"/>
            <a:ext cx="360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3.10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58" y="1428736"/>
            <a:ext cx="8429684" cy="160310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36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假设有一个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旅行商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要拜访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个城市，他必须选择所要走的路径，路径的限制是每个城市只能拜访一次，而且最后要回到原来出发的城市，要求路径长度最短的路径。</a:t>
            </a:r>
          </a:p>
        </p:txBody>
      </p:sp>
      <p:grpSp>
        <p:nvGrpSpPr>
          <p:cNvPr id="8" name="组合 98"/>
          <p:cNvGrpSpPr/>
          <p:nvPr/>
        </p:nvGrpSpPr>
        <p:grpSpPr>
          <a:xfrm>
            <a:off x="785786" y="3428999"/>
            <a:ext cx="7286676" cy="2432914"/>
            <a:chOff x="1214414" y="3429000"/>
            <a:chExt cx="6286544" cy="2000264"/>
          </a:xfrm>
        </p:grpSpPr>
        <p:sp>
          <p:nvSpPr>
            <p:cNvPr id="9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0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11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13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4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26" name="Freeform 13"/>
            <p:cNvSpPr>
              <a:spLocks/>
            </p:cNvSpPr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32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3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4" name="Freeform 5"/>
            <p:cNvSpPr>
              <a:spLocks/>
            </p:cNvSpPr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5" name="Freeform 4"/>
            <p:cNvSpPr>
              <a:spLocks/>
            </p:cNvSpPr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6" name="Freeform 3"/>
            <p:cNvSpPr>
              <a:spLocks/>
            </p:cNvSpPr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7" name="Freeform 2"/>
            <p:cNvSpPr>
              <a:spLocks/>
            </p:cNvSpPr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14810" y="3429000"/>
              <a:ext cx="3286148" cy="1923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28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26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23</a:t>
              </a:r>
              <a:endParaRPr lang="zh-CN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984" y="1114866"/>
            <a:ext cx="8929718" cy="188769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设候选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路径中除了起始点和终点外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题目就是求从顶点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出发经过其他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个顶点并且回到顶点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的最短路径，除了起始点和终点外，路径中其他顶点不重复，如图所示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0" y="33777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643042" y="3195269"/>
            <a:ext cx="5975532" cy="1376739"/>
            <a:chOff x="1643042" y="3286124"/>
            <a:chExt cx="5975532" cy="1376739"/>
          </a:xfrm>
        </p:grpSpPr>
        <p:sp>
          <p:nvSpPr>
            <p:cNvPr id="17420" name="Oval 12"/>
            <p:cNvSpPr>
              <a:spLocks noChangeArrowheads="1"/>
            </p:cNvSpPr>
            <p:nvPr/>
          </p:nvSpPr>
          <p:spPr bwMode="auto">
            <a:xfrm>
              <a:off x="1643042" y="3286124"/>
              <a:ext cx="535193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2876038" y="4302367"/>
              <a:ext cx="3638996" cy="3604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共经过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个顶点，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不重复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8" name="Oval 10"/>
            <p:cNvSpPr>
              <a:spLocks noChangeArrowheads="1"/>
            </p:cNvSpPr>
            <p:nvPr/>
          </p:nvSpPr>
          <p:spPr bwMode="auto">
            <a:xfrm>
              <a:off x="2658172" y="3286124"/>
              <a:ext cx="535193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7" name="Oval 9"/>
            <p:cNvSpPr>
              <a:spLocks noChangeArrowheads="1"/>
            </p:cNvSpPr>
            <p:nvPr/>
          </p:nvSpPr>
          <p:spPr bwMode="auto">
            <a:xfrm>
              <a:off x="3720664" y="3286124"/>
              <a:ext cx="536772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6" name="Oval 8"/>
            <p:cNvSpPr>
              <a:spLocks noChangeArrowheads="1"/>
            </p:cNvSpPr>
            <p:nvPr/>
          </p:nvSpPr>
          <p:spPr bwMode="auto">
            <a:xfrm>
              <a:off x="5956161" y="3286124"/>
              <a:ext cx="626760" cy="53441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5" name="Oval 7"/>
            <p:cNvSpPr>
              <a:spLocks noChangeArrowheads="1"/>
            </p:cNvSpPr>
            <p:nvPr/>
          </p:nvSpPr>
          <p:spPr bwMode="auto">
            <a:xfrm>
              <a:off x="7083381" y="3286124"/>
              <a:ext cx="535193" cy="53600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4" name="AutoShape 6"/>
            <p:cNvSpPr>
              <a:spLocks noChangeShapeType="1"/>
            </p:cNvSpPr>
            <p:nvPr/>
          </p:nvSpPr>
          <p:spPr bwMode="auto">
            <a:xfrm>
              <a:off x="2178235" y="3554915"/>
              <a:ext cx="479937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7413" name="AutoShape 5"/>
            <p:cNvSpPr>
              <a:spLocks noChangeShapeType="1"/>
            </p:cNvSpPr>
            <p:nvPr/>
          </p:nvSpPr>
          <p:spPr bwMode="auto">
            <a:xfrm>
              <a:off x="3193365" y="3554915"/>
              <a:ext cx="527299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7412" name="AutoShape 4"/>
            <p:cNvSpPr>
              <a:spLocks noChangeShapeType="1"/>
            </p:cNvSpPr>
            <p:nvPr/>
          </p:nvSpPr>
          <p:spPr bwMode="auto">
            <a:xfrm flipV="1">
              <a:off x="4257436" y="3553334"/>
              <a:ext cx="1698725" cy="1581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7411" name="AutoShape 3"/>
            <p:cNvSpPr>
              <a:spLocks noChangeShapeType="1"/>
            </p:cNvSpPr>
            <p:nvPr/>
          </p:nvSpPr>
          <p:spPr bwMode="auto">
            <a:xfrm>
              <a:off x="6582920" y="3553334"/>
              <a:ext cx="500461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7410" name="AutoShape 2"/>
            <p:cNvSpPr>
              <a:spLocks/>
            </p:cNvSpPr>
            <p:nvPr/>
          </p:nvSpPr>
          <p:spPr bwMode="auto">
            <a:xfrm rot="16200000">
              <a:off x="4476649" y="2383693"/>
              <a:ext cx="308319" cy="3373768"/>
            </a:xfrm>
            <a:prstGeom prst="leftBrace">
              <a:avLst>
                <a:gd name="adj1" fmla="val 9132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42844" y="480625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984" y="4926562"/>
            <a:ext cx="8835734" cy="50270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称这样的路径为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路径，对应的路径长度称为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路径长度。</a:t>
            </a: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2918"/>
            <a:ext cx="8643998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初始时置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个顶点，将其作为第一条路径，求出路径长度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curlen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然后将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的每一个排列看成不同的路径，同样求出路径长度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curlen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，在所有的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curlen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中比较求最小值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bestlen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，对应的路径用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bestx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表示，那么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路径就是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bestx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68302" y="3509781"/>
            <a:ext cx="5975532" cy="1351285"/>
            <a:chOff x="1643042" y="3286124"/>
            <a:chExt cx="5975532" cy="1351285"/>
          </a:xfrm>
        </p:grpSpPr>
        <p:sp>
          <p:nvSpPr>
            <p:cNvPr id="5" name="Oval 12"/>
            <p:cNvSpPr>
              <a:spLocks noChangeArrowheads="1"/>
            </p:cNvSpPr>
            <p:nvPr/>
          </p:nvSpPr>
          <p:spPr bwMode="auto">
            <a:xfrm>
              <a:off x="1643042" y="3286124"/>
              <a:ext cx="535193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2876038" y="4276913"/>
              <a:ext cx="3638996" cy="36049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共经过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个顶点，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不重复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2658172" y="3286124"/>
              <a:ext cx="535193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3720664" y="3286124"/>
              <a:ext cx="536772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5956161" y="3286124"/>
              <a:ext cx="626760" cy="53441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7083381" y="3286124"/>
              <a:ext cx="535193" cy="53600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AutoShape 6"/>
            <p:cNvSpPr>
              <a:spLocks noChangeShapeType="1"/>
            </p:cNvSpPr>
            <p:nvPr/>
          </p:nvSpPr>
          <p:spPr bwMode="auto">
            <a:xfrm>
              <a:off x="2178235" y="3554915"/>
              <a:ext cx="479937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2" name="AutoShape 5"/>
            <p:cNvSpPr>
              <a:spLocks noChangeShapeType="1"/>
            </p:cNvSpPr>
            <p:nvPr/>
          </p:nvSpPr>
          <p:spPr bwMode="auto">
            <a:xfrm>
              <a:off x="3193365" y="3554915"/>
              <a:ext cx="527299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" name="AutoShape 4"/>
            <p:cNvSpPr>
              <a:spLocks noChangeShapeType="1"/>
            </p:cNvSpPr>
            <p:nvPr/>
          </p:nvSpPr>
          <p:spPr bwMode="auto">
            <a:xfrm flipV="1">
              <a:off x="4257436" y="3553334"/>
              <a:ext cx="1698725" cy="1581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AutoShape 3"/>
            <p:cNvSpPr>
              <a:spLocks noChangeShapeType="1"/>
            </p:cNvSpPr>
            <p:nvPr/>
          </p:nvSpPr>
          <p:spPr bwMode="auto">
            <a:xfrm>
              <a:off x="6582920" y="3553334"/>
              <a:ext cx="500461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" name="AutoShape 2"/>
            <p:cNvSpPr>
              <a:spLocks/>
            </p:cNvSpPr>
            <p:nvPr/>
          </p:nvSpPr>
          <p:spPr bwMode="auto">
            <a:xfrm rot="16200000">
              <a:off x="4476649" y="2383693"/>
              <a:ext cx="308319" cy="3373768"/>
            </a:xfrm>
            <a:prstGeom prst="leftBrace">
              <a:avLst>
                <a:gd name="adj1" fmla="val 9132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113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72560" cy="282138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disppath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(vector&lt;int&gt;&amp;x,int plen,int s) {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输出一条路径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x</a:t>
            </a:r>
            <a:endParaRPr lang="zh-CN" altLang="zh-CN" sz="2000">
              <a:solidFill>
                <a:srgbClr val="00B05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printf("%d",s);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i=0;i&lt;x.size();i++)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printf("-&gt;%d",x[i]);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printf("-&gt;%d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=%d\n",s,plen);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114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76" y="497537"/>
            <a:ext cx="8858280" cy="364584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bestlen=INF;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存放最短路径长度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bestx,x;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//bestx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存放最短路径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i=0;i&lt;n;i++)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的顶点添加到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if(i!=s) x.push_back(i);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printf("TSP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int cnt=0;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累计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115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62985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do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int curlen=0,u=s,j=0;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while(j&lt;x.size())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int v=x[j];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curlen+=A[u][v];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对应一条边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&lt;u,v&gt;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u=v;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j++;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curlen+=A[u][s];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%d:   ",++cnt);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disppath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(x,curlen,s);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if(curlen&lt;bestlen)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比较求最短路径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bestlen=curlen;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bestx=x;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 while(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next_permutation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(x.begin(),x.end()));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printf("  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最短路径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:");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disppath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(bestx,bestlen,s);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116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8429684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TSP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：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算法中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do-while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循环执行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次，一次调用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next_permutation()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，一次循环求路径长度的时间为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，合并总时间为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)+O(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117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158" y="674493"/>
            <a:ext cx="8572560" cy="468333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        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3.9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旅行计划（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LintCode1891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）个城市，城市编号为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。给出邻接矩阵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代表任意两个城市的距离，其中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）表示从城市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到城市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的距离。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在周末制定了一个游玩计划，她从所在的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开始，游玩其他的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1~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的全部城市，最后回到城市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想知道她能完成游玩计划需要行走的最小距离，返回这个最小距离。除了城市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之外每个城市都只能经过一次，且城市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只能是起点和终点，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中途不可经过城市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arr={{0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，对应的路径是城市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428992" y="5293973"/>
            <a:ext cx="2071702" cy="1421175"/>
            <a:chOff x="1928794" y="4936783"/>
            <a:chExt cx="2071702" cy="1421175"/>
          </a:xfrm>
        </p:grpSpPr>
        <p:sp>
          <p:nvSpPr>
            <p:cNvPr id="4" name="椭圆 3"/>
            <p:cNvSpPr/>
            <p:nvPr/>
          </p:nvSpPr>
          <p:spPr>
            <a:xfrm>
              <a:off x="1928794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0</a:t>
              </a:r>
              <a:endParaRPr lang="zh-CN" altLang="en-US" sz="2000">
                <a:latin typeface="Consolas" pitchFamily="49" charset="0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571868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1</a:t>
              </a:r>
              <a:endParaRPr lang="zh-CN" altLang="en-US" sz="2000">
                <a:latin typeface="Consolas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786050" y="5929330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2357422" y="5218654"/>
              <a:ext cx="1214446" cy="158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 flipH="1">
              <a:off x="2226917" y="5505665"/>
              <a:ext cx="554170" cy="55417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786050" y="528638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3108" y="5715016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19917" y="4936783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rot="10800000">
              <a:off x="2357422" y="5308966"/>
              <a:ext cx="1214446" cy="1588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rot="5400000">
              <a:off x="3082321" y="5451072"/>
              <a:ext cx="554170" cy="482732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109373" y="5444257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45454" y="5500702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57554" y="564357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24" name="直接箭头连接符 23"/>
            <p:cNvCxnSpPr>
              <a:stCxn id="6" idx="1"/>
              <a:endCxn id="4" idx="5"/>
            </p:cNvCxnSpPr>
            <p:nvPr/>
          </p:nvCxnSpPr>
          <p:spPr>
            <a:xfrm rot="16200000" flipV="1">
              <a:off x="2294651" y="5437931"/>
              <a:ext cx="554170" cy="55417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5400000" flipH="1" flipV="1">
              <a:off x="3138766" y="5518806"/>
              <a:ext cx="554170" cy="482732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30204" y="71414"/>
            <a:ext cx="1041400" cy="1044575"/>
            <a:chOff x="857224" y="1071546"/>
            <a:chExt cx="1041400" cy="1044575"/>
          </a:xfrm>
        </p:grpSpPr>
        <p:sp>
          <p:nvSpPr>
            <p:cNvPr id="25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118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85720" y="642918"/>
            <a:ext cx="8501122" cy="9900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    int travelPlan(vector&lt;vector&lt;int&gt;&gt; &amp;arr)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35985" y="229710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图的邻接矩阵</a:t>
            </a:r>
          </a:p>
        </p:txBody>
      </p:sp>
      <p:cxnSp>
        <p:nvCxnSpPr>
          <p:cNvPr id="6" name="直接箭头连接符 5"/>
          <p:cNvCxnSpPr/>
          <p:nvPr/>
        </p:nvCxnSpPr>
        <p:spPr>
          <a:xfrm rot="5400000" flipH="1" flipV="1">
            <a:off x="6143636" y="1928802"/>
            <a:ext cx="714380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119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645576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285860"/>
            <a:ext cx="8001056" cy="183640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最小距离的旅游路径就是一条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路径，这里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仅仅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1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采用穷举法求解本例的思路与前面讨论的求解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路径完全相同，仅仅将起始点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设置为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571604" y="3643314"/>
            <a:ext cx="5975532" cy="1857387"/>
            <a:chOff x="1571604" y="3643314"/>
            <a:chExt cx="5975532" cy="1857387"/>
          </a:xfrm>
        </p:grpSpPr>
        <p:sp>
          <p:nvSpPr>
            <p:cNvPr id="7" name="Oval 12"/>
            <p:cNvSpPr>
              <a:spLocks noChangeArrowheads="1"/>
            </p:cNvSpPr>
            <p:nvPr/>
          </p:nvSpPr>
          <p:spPr bwMode="auto">
            <a:xfrm>
              <a:off x="1571604" y="3643314"/>
              <a:ext cx="535193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804600" y="4773672"/>
              <a:ext cx="3638996" cy="7270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共经过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个顶点，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不重复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～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的排列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586734" y="3643314"/>
              <a:ext cx="535193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649226" y="3643314"/>
              <a:ext cx="536772" cy="53758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5884723" y="3643314"/>
              <a:ext cx="626760" cy="53441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x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7011943" y="3643314"/>
              <a:ext cx="535193" cy="53600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AutoShape 6"/>
            <p:cNvSpPr>
              <a:spLocks noChangeShapeType="1"/>
            </p:cNvSpPr>
            <p:nvPr/>
          </p:nvSpPr>
          <p:spPr bwMode="auto">
            <a:xfrm>
              <a:off x="2106797" y="3912105"/>
              <a:ext cx="479937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AutoShape 5"/>
            <p:cNvSpPr>
              <a:spLocks noChangeShapeType="1"/>
            </p:cNvSpPr>
            <p:nvPr/>
          </p:nvSpPr>
          <p:spPr bwMode="auto">
            <a:xfrm>
              <a:off x="3121927" y="3912105"/>
              <a:ext cx="527299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" name="AutoShape 4"/>
            <p:cNvSpPr>
              <a:spLocks noChangeShapeType="1"/>
            </p:cNvSpPr>
            <p:nvPr/>
          </p:nvSpPr>
          <p:spPr bwMode="auto">
            <a:xfrm flipV="1">
              <a:off x="4185998" y="3910524"/>
              <a:ext cx="1698725" cy="1581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" name="AutoShape 3"/>
            <p:cNvSpPr>
              <a:spLocks noChangeShapeType="1"/>
            </p:cNvSpPr>
            <p:nvPr/>
          </p:nvSpPr>
          <p:spPr bwMode="auto">
            <a:xfrm>
              <a:off x="6511482" y="3910524"/>
              <a:ext cx="500461" cy="1581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8" name="AutoShape 2"/>
            <p:cNvSpPr>
              <a:spLocks/>
            </p:cNvSpPr>
            <p:nvPr/>
          </p:nvSpPr>
          <p:spPr bwMode="auto">
            <a:xfrm rot="16200000">
              <a:off x="4405211" y="2740883"/>
              <a:ext cx="308319" cy="3373768"/>
            </a:xfrm>
            <a:prstGeom prst="leftBrace">
              <a:avLst>
                <a:gd name="adj1" fmla="val 9132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120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380883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const int INF=0x3f3f3f3f;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表示∞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travelPlan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&amp;arr)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int n=arr.size();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if(n==1)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path;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for(int i=1;i&lt;n;i++)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path={1,2,...,n-1}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path.push_back(i);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int ans=INF;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121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42852"/>
            <a:ext cx="8572560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do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  		int curlen=0,u=0,j=0;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 	while(j&lt;path.size())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int v=path[j];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curlen+=arr[u][v];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对应一条边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&lt;u,v&gt;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u=v;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 	j++;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curlen+=arr[u][0];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ans=min(ans,curlen);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} while(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next_permutation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(path.begin(),path.end()));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785786" y="5715016"/>
            <a:ext cx="6858048" cy="461665"/>
            <a:chOff x="1071538" y="6286520"/>
            <a:chExt cx="685804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284ms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5.59MB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537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Demi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Eras Demi ITC" pitchFamily="34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122</a:t>
            </a:fld>
            <a:r>
              <a:rPr lang="en-US" altLang="zh-CN"/>
              <a:t>/122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0A0610-AD93-6593-65D0-5597152D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123</a:t>
            </a:fld>
            <a:r>
              <a:rPr lang="en-US" altLang="zh-CN"/>
              <a:t>/122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240295-ABF4-5F65-D5C0-5EAEAF610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A281E37-F475-92AB-D30A-A685E37E3B35}"/>
              </a:ext>
            </a:extLst>
          </p:cNvPr>
          <p:cNvSpPr txBox="1"/>
          <p:nvPr/>
        </p:nvSpPr>
        <p:spPr>
          <a:xfrm>
            <a:off x="4139952" y="479715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思政</a:t>
            </a:r>
          </a:p>
        </p:txBody>
      </p:sp>
    </p:spTree>
    <p:extLst>
      <p:ext uri="{BB962C8B-B14F-4D97-AF65-F5344CB8AC3E}">
        <p14:creationId xmlns:p14="http://schemas.microsoft.com/office/powerpoint/2010/main" val="197097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楷体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5204</TotalTime>
  <Words>15363</Words>
  <Application>Microsoft Office PowerPoint</Application>
  <PresentationFormat>全屏显示(4:3)</PresentationFormat>
  <Paragraphs>1584</Paragraphs>
  <Slides>123</Slides>
  <Notes>112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123</vt:i4>
      </vt:variant>
    </vt:vector>
  </HeadingPairs>
  <TitlesOfParts>
    <vt:vector size="135" baseType="lpstr">
      <vt:lpstr>仿宋</vt:lpstr>
      <vt:lpstr>华文中宋</vt:lpstr>
      <vt:lpstr>楷体</vt:lpstr>
      <vt:lpstr>微软雅黑</vt:lpstr>
      <vt:lpstr>Arial</vt:lpstr>
      <vt:lpstr>Calibri</vt:lpstr>
      <vt:lpstr>Consolas</vt:lpstr>
      <vt:lpstr>Eras Bold ITC</vt:lpstr>
      <vt:lpstr>Eras Demi ITC</vt:lpstr>
      <vt:lpstr>Forte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jj wei</cp:lastModifiedBy>
  <cp:revision>1923</cp:revision>
  <dcterms:created xsi:type="dcterms:W3CDTF">2004-03-31T23:50:14Z</dcterms:created>
  <dcterms:modified xsi:type="dcterms:W3CDTF">2024-01-28T08:38:42Z</dcterms:modified>
</cp:coreProperties>
</file>